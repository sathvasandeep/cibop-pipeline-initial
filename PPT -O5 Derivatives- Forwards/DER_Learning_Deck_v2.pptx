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slideMasters/slideMaster59.xml" ContentType="application/vnd.openxmlformats-officedocument.presentationml.slideMaster+xml"/>
  <Override PartName="/ppt/slides/slide59.xml" ContentType="application/vnd.openxmlformats-officedocument.presentationml.slide+xml"/>
  <Override PartName="/ppt/slideMasters/slideMaster60.xml" ContentType="application/vnd.openxmlformats-officedocument.presentationml.slideMaster+xml"/>
  <Override PartName="/ppt/slides/slide60.xml" ContentType="application/vnd.openxmlformats-officedocument.presentationml.slide+xml"/>
  <Override PartName="/ppt/slideMasters/slideMaster61.xml" ContentType="application/vnd.openxmlformats-officedocument.presentationml.slideMaster+xml"/>
  <Override PartName="/ppt/slides/slide61.xml" ContentType="application/vnd.openxmlformats-officedocument.presentationml.slide+xml"/>
  <Override PartName="/ppt/slideMasters/slideMaster62.xml" ContentType="application/vnd.openxmlformats-officedocument.presentationml.slideMaster+xml"/>
  <Override PartName="/ppt/slides/slide62.xml" ContentType="application/vnd.openxmlformats-officedocument.presentationml.slide+xml"/>
  <Override PartName="/ppt/slideMasters/slideMaster63.xml" ContentType="application/vnd.openxmlformats-officedocument.presentationml.slideMaster+xml"/>
  <Override PartName="/ppt/slides/slide63.xml" ContentType="application/vnd.openxmlformats-officedocument.presentationml.slide+xml"/>
  <Override PartName="/ppt/slideMasters/slideMaster64.xml" ContentType="application/vnd.openxmlformats-officedocument.presentationml.slideMaster+xml"/>
  <Override PartName="/ppt/slides/slide64.xml" ContentType="application/vnd.openxmlformats-officedocument.presentationml.slide+xml"/>
  <Override PartName="/ppt/slideMasters/slideMaster65.xml" ContentType="application/vnd.openxmlformats-officedocument.presentationml.slideMaster+xml"/>
  <Override PartName="/ppt/slides/slide65.xml" ContentType="application/vnd.openxmlformats-officedocument.presentationml.slide+xml"/>
  <Override PartName="/ppt/slideMasters/slideMaster66.xml" ContentType="application/vnd.openxmlformats-officedocument.presentationml.slideMaster+xml"/>
  <Override PartName="/ppt/slides/slide66.xml" ContentType="application/vnd.openxmlformats-officedocument.presentationml.slide+xml"/>
  <Override PartName="/ppt/slideMasters/slideMaster67.xml" ContentType="application/vnd.openxmlformats-officedocument.presentationml.slideMaster+xml"/>
  <Override PartName="/ppt/slides/slide67.xml" ContentType="application/vnd.openxmlformats-officedocument.presentationml.slide+xml"/>
  <Override PartName="/ppt/slideMasters/slideMaster68.xml" ContentType="application/vnd.openxmlformats-officedocument.presentationml.slideMaster+xml"/>
  <Override PartName="/ppt/slides/slide68.xml" ContentType="application/vnd.openxmlformats-officedocument.presentationml.slide+xml"/>
  <Override PartName="/ppt/slideMasters/slideMaster69.xml" ContentType="application/vnd.openxmlformats-officedocument.presentationml.slideMaster+xml"/>
  <Override PartName="/ppt/slides/slide69.xml" ContentType="application/vnd.openxmlformats-officedocument.presentationml.slide+xml"/>
  <Override PartName="/ppt/slideMasters/slideMaster70.xml" ContentType="application/vnd.openxmlformats-officedocument.presentationml.slideMaster+xml"/>
  <Override PartName="/ppt/slides/slide70.xml" ContentType="application/vnd.openxmlformats-officedocument.presentationml.slide+xml"/>
  <Override PartName="/ppt/slideMasters/slideMaster71.xml" ContentType="application/vnd.openxmlformats-officedocument.presentationml.slideMaster+xml"/>
  <Override PartName="/ppt/slides/slide71.xml" ContentType="application/vnd.openxmlformats-officedocument.presentationml.slide+xml"/>
  <Override PartName="/ppt/slideMasters/slideMaster72.xml" ContentType="application/vnd.openxmlformats-officedocument.presentationml.slideMaster+xml"/>
  <Override PartName="/ppt/slides/slide72.xml" ContentType="application/vnd.openxmlformats-officedocument.presentationml.slide+xml"/>
  <Override PartName="/ppt/slideMasters/slideMaster73.xml" ContentType="application/vnd.openxmlformats-officedocument.presentationml.slideMaster+xml"/>
  <Override PartName="/ppt/slides/slide7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Lst>
  <p:notesMasterIdLst>
    <p:notesMasterId r:id="rId7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slide" Target="slides/slide67.xml"/><Relationship Id="rId69" Type="http://schemas.openxmlformats.org/officeDocument/2006/relationships/slide" Target="slides/slide68.xml"/><Relationship Id="rId70" Type="http://schemas.openxmlformats.org/officeDocument/2006/relationships/slide" Target="slides/slide69.xml"/><Relationship Id="rId71" Type="http://schemas.openxmlformats.org/officeDocument/2006/relationships/slide" Target="slides/slide70.xml"/><Relationship Id="rId72" Type="http://schemas.openxmlformats.org/officeDocument/2006/relationships/slide" Target="slides/slide71.xml"/><Relationship Id="rId73" Type="http://schemas.openxmlformats.org/officeDocument/2006/relationships/slide" Target="slides/slide72.xml"/><Relationship Id="rId74" Type="http://schemas.openxmlformats.org/officeDocument/2006/relationships/slide" Target="slides/slide73.xml"/><Relationship Id="rId75" Type="http://schemas.openxmlformats.org/officeDocument/2006/relationships/notesMaster" Target="notesMasters/notesMaster1.xml"/><Relationship Id="rId76" Type="http://schemas.openxmlformats.org/officeDocument/2006/relationships/presProps" Target="presProps.xml"/><Relationship Id="rId77" Type="http://schemas.openxmlformats.org/officeDocument/2006/relationships/viewProps" Target="viewProps.xml"/><Relationship Id="rId78" Type="http://schemas.openxmlformats.org/officeDocument/2006/relationships/theme" Target="theme/theme1.xml"/><Relationship Id="rId7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_rels/notesSlide5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9.xml"/>
		</Relationships>
</file>

<file path=ppt/notesSlides/_rels/notesSlide6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0.xml"/>
		</Relationships>
</file>

<file path=ppt/notesSlides/_rels/notesSlide6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1.xml"/>
		</Relationships>
</file>

<file path=ppt/notesSlides/_rels/notesSlide6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2.xml"/>
		</Relationships>
</file>

<file path=ppt/notesSlides/_rels/notesSlide6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3.xml"/>
		</Relationships>
</file>

<file path=ppt/notesSlides/_rels/notesSlide6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4.xml"/>
		</Relationships>
</file>

<file path=ppt/notesSlides/_rels/notesSlide6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5.xml"/>
		</Relationships>
</file>

<file path=ppt/notesSlides/_rels/notesSlide6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6.xml"/>
		</Relationships>
</file>

<file path=ppt/notesSlides/_rels/notesSlide6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7.xml"/>
		</Relationships>
</file>

<file path=ppt/notesSlides/_rels/notesSlide6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8.xml"/>
		</Relationships>
</file>

<file path=ppt/notesSlides/_rels/notesSlide6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9.xml"/>
		</Relationships>
</file>

<file path=ppt/notesSlides/_rels/notesSlide7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0.xml"/>
		</Relationships>
</file>

<file path=ppt/notesSlides/_rels/notesSlide7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1.xml"/>
		</Relationships>
</file>

<file path=ppt/notesSlides/_rels/notesSlide7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2.xml"/>
		</Relationships>
</file>

<file path=ppt/notesSlides/_rels/notesSlide7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9.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09728" cy="6858000"/>
          </a:xfrm>
          <a:prstGeom prst="rect">
            <a:avLst/>
          </a:prstGeom>
          <a:solidFill>
            <a:srgbClr val="B8860B"/>
          </a:solidFill>
          <a:ln/>
        </p:spPr>
      </p:sp>
      <p:sp>
        <p:nvSpPr>
          <p:cNvPr id="4" name="Text 2"/>
          <p:cNvSpPr/>
          <p:nvPr/>
        </p:nvSpPr>
        <p:spPr>
          <a:xfrm>
            <a:off x="365760" y="914400"/>
            <a:ext cx="11430000" cy="2926080"/>
          </a:xfrm>
          <a:prstGeom prst="rect">
            <a:avLst/>
          </a:prstGeom>
          <a:noFill/>
          <a:ln/>
        </p:spPr>
        <p:txBody>
          <a:bodyPr wrap="square" rtlCol="0" anchor="ctr"/>
          <a:lstStyle/>
          <a:p>
            <a:pPr algn="ctr" indent="0" marL="0">
              <a:buNone/>
            </a:pPr>
            <a:r>
              <a:rPr lang="en-US" sz="3000" b="1" dirty="0">
                <a:solidFill>
                  <a:srgbClr val="FFFFFF"/>
                </a:solidFill>
                <a:latin typeface="Calibri" pitchFamily="34" charset="0"/>
                <a:ea typeface="Calibri" pitchFamily="34" charset="-122"/>
                <a:cs typeface="Calibri" pitchFamily="34" charset="-120"/>
              </a:rPr>
              <a:t>"₹700 trillion in contracts. Not one of them has any value on its own. They all borrow it from something else."</a:t>
            </a:r>
            <a:endParaRPr lang="en-US" sz="3000" dirty="0"/>
          </a:p>
        </p:txBody>
      </p:sp>
      <p:sp>
        <p:nvSpPr>
          <p:cNvPr id="5" name="Shape 3"/>
          <p:cNvSpPr/>
          <p:nvPr/>
        </p:nvSpPr>
        <p:spPr>
          <a:xfrm>
            <a:off x="1828800" y="4023360"/>
            <a:ext cx="8229600" cy="0"/>
          </a:xfrm>
          <a:prstGeom prst="line">
            <a:avLst/>
          </a:prstGeom>
          <a:noFill/>
          <a:ln w="19050">
            <a:solidFill>
              <a:srgbClr val="B8860B"/>
            </a:solidFill>
            <a:prstDash val="solid"/>
          </a:ln>
        </p:spPr>
      </p:sp>
      <p:sp>
        <p:nvSpPr>
          <p:cNvPr id="6" name="Text 4"/>
          <p:cNvSpPr/>
          <p:nvPr/>
        </p:nvSpPr>
        <p:spPr>
          <a:xfrm>
            <a:off x="365760" y="4206240"/>
            <a:ext cx="11430000" cy="548640"/>
          </a:xfrm>
          <a:prstGeom prst="rect">
            <a:avLst/>
          </a:prstGeom>
          <a:noFill/>
          <a:ln/>
        </p:spPr>
        <p:txBody>
          <a:bodyPr wrap="square" rtlCol="0" anchor="ctr"/>
          <a:lstStyle/>
          <a:p>
            <a:pPr algn="ctr" indent="0" marL="0">
              <a:buNone/>
            </a:pPr>
            <a:r>
              <a:rPr lang="en-US" sz="1600" dirty="0">
                <a:solidFill>
                  <a:srgbClr val="CADCFC"/>
                </a:solidFill>
                <a:latin typeface="Calibri" pitchFamily="34" charset="0"/>
                <a:ea typeface="Calibri" pitchFamily="34" charset="-122"/>
                <a:cs typeface="Calibri" pitchFamily="34" charset="-120"/>
              </a:rPr>
              <a:t>Understanding derivatives is understanding how risk is priced, transferred, and managed in every financial market on earth.</a:t>
            </a:r>
            <a:endParaRPr lang="en-US" sz="1600" dirty="0"/>
          </a:p>
        </p:txBody>
      </p:sp>
      <p:sp>
        <p:nvSpPr>
          <p:cNvPr id="7" name="Text 5"/>
          <p:cNvSpPr/>
          <p:nvPr/>
        </p:nvSpPr>
        <p:spPr>
          <a:xfrm>
            <a:off x="365760" y="6217920"/>
            <a:ext cx="11430000" cy="365760"/>
          </a:xfrm>
          <a:prstGeom prst="rect">
            <a:avLst/>
          </a:prstGeom>
          <a:noFill/>
          <a:ln/>
        </p:spPr>
        <p:txBody>
          <a:bodyPr wrap="square" rtlCol="0" anchor="ctr"/>
          <a:lstStyle/>
          <a:p>
            <a:pPr algn="ctr" indent="0" marL="0">
              <a:buNone/>
            </a:pPr>
            <a:r>
              <a:rPr lang="en-US" sz="1100" b="1" dirty="0">
                <a:solidFill>
                  <a:srgbClr val="B8860B"/>
                </a:solidFill>
                <a:latin typeface="Calibri" pitchFamily="34" charset="0"/>
                <a:ea typeface="Calibri" pitchFamily="34" charset="-122"/>
                <a:cs typeface="Calibri" pitchFamily="34" charset="-120"/>
              </a:rPr>
              <a:t>CIBOP  ·  Derivatives – Forwards, Futures, CFD, FRA &amp; MLN  ·  Module 5</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DER.1 — What Is a Derivative &amp; Key Concepts</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"The derivative itself has no intrinsic value — it is just a contract about something else's value. So why is the global derivatives market worth 700 TRILLION dollars?"</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DER.1 · Video 1 — Identifying Derivatives (EAR: IDENTIFY)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AIG 2008: The Danger of Derivatives Without Underlying Exposure</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AIG Financial Products had written $440 billion in credit default swaps (CDS) — derivatives whose underlyings were mortgage-backed securities. When US housing prices fell, the underlyings deteriorated. AIG's CDS positions required enormous collateral payments.</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AIG had no hedges on these positions. The US government had to rescue AIG with $182 billion to prevent a systemic collapse of the financial system.</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AIG 2008:</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$440 Bn</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CDS written</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$182 Bn</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US govt bailout</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Sept 2008</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First insurance</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company systemic</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derivatives failure</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AIG was not a bank or broker — it was an insurance company. What does this tell us about who can be exposed to derivative risk, and what happens when leverage is applied to deteriorating underlyings?</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Core Derivative Concepts: Underlying, Leverage, Notional Value, Spot Price</a:t>
            </a:r>
            <a:endParaRPr lang="en-US" sz="2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2903220"/>
                <a:gridCol w="2903220"/>
                <a:gridCol w="2903220"/>
                <a:gridCol w="2903220"/>
              </a:tblGrid>
              <a:tr h="7010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DEFINITION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FORMULA / EXAMPLE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OPERATIONS RELEVANCE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Underlying Asset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The asset from which derivative value is derived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Equity, bond, FX, rate, commodity, weather</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Identify first — determines pricing model and settlement type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Spot Price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Current market price of underlying in cash/spot market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Infosys @ ₹1,540 on NSE today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Starting point for all derivative pricing</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Notional Value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Total position exposure implied by the contract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Contracts × Lot Size × Price</a:t>
                      </a:r>
                      <a:endParaRPr lang="en-US" sz="1000" dirty="0">
                        <a:latin typeface="Calibri" charset="0"/>
                        <a:ea typeface="Calibri" charset="0"/>
                        <a:cs typeface="Calibri" charset="0"/>
                      </a:endParaRPr>
                    </a:p>
                    <a:p>
                      <a:pPr indent="0" marL="0">
                        <a:buNone/>
                      </a:pPr>
                      <a:r>
                        <a:rPr lang="en-US" sz="1000" dirty="0">
                          <a:solidFill>
                            <a:srgbClr val="1A1A1A"/>
                          </a:solidFill>
                          <a:latin typeface="Calibri" pitchFamily="34" charset="0"/>
                          <a:ea typeface="Calibri" pitchFamily="34" charset="-122"/>
                          <a:cs typeface="Calibri" pitchFamily="34" charset="-120"/>
                        </a:rPr>
                        <a:t>10 × 250 × ₹1,540 = ₹38,50,000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True risk exposure — margin is only a fraction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Leverage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Controlling large exposure with small initial capital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10% margin on ₹1 lakh = ₹10,000 controls ₹1 lakh</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Amplifies P&amp;L — gains and losses equally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Contract Lot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Standardised quantity in one futures contract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NSE Nifty 50: lot size = 50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Determines minimum trade unit and notional calc</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In operations, always determine the underlying before processing — it determines settlement mode, documentation, and regulatory reporting requirements.</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About Derivatives and Why They Exist</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$700 Trillion Number Is Notional, Not Real</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Global OTC derivatives notional outstanding exceeds $700 trillion. This sounds catastrophic. But notional is the reference amount used to calculate cash flows — not money at risk. The actual mark-to-market exposure (what parties owe each other) is a small fraction of notional. Context matters.</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Leverage Is Neutral — Its Application Is Not</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Leverage amplifies outcomes in both directions with equal precision. A farmer using a forward to lock in wheat price at 1:10 leverage faces the same structural amplification as a speculator taking a directional bet at 1:10 leverage. The instrument is identical; the risk management intention is not.</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Weather Derivatives Are Real and Growing</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The CME Group offers weather derivatives based on temperature indices for major cities. Energy companies, agriculture businesses, and insurers use them to hedge revenue risk from abnormal weather. The underlying is a temperature measurement. Finance will monetise any quantifiable uncertainty.</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Operations Starts With the Underlying</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Every derivative operations workflow begins with identifying the underlying. Equity derivative → NSE settlement via NSCCL. FX derivative → CCIL/bilateral. Bond derivative → NDS-OM. Commodity derivative → exchange-specific delivery. The underlying determines everything downstream.</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"Derivatives are just gambling in expensive suits." Counter this argument using at least two real-world examples where derivatives serve a legitimate economic function.</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  Hint: Think about airline fuel hedging, farmer income protection, pension fund interest rate risk management, and corporate FX exposure management.</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is a derivative and what is its economic purpose?"</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 derivative is a financial contract whose value is derived from an underlying asset — which can be equity, bonds, FX rates, interest rates, commodities, or even non-financial assets like weather indices.</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The economic purposes are: risk transfer (hedging), price discovery, capital efficiency through leverage, and market liquidity provision.</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Key concepts: the underlying determines value; notional value measures true exposure; leverage amplifies both profits and losses; spot price is the starting point for all derivative pricing.</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In operations, identifying the underlying is the first step — it determines settlement mode, margining requirements, counterparty type, and regulatory reporting obligations.</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DER.2</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DER.2 — Contract Terms — Settlement, Expiry &amp; Lot Size</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"What is the minimum number of Infosys shares I can actually trade in one NSE futures contract — one share, one lot, or one contract?"</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DER.2 · Video 1 — Lot Size, Settlement &amp; Expiry (EAR: IDENTIFY)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DER.2</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DER.2</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NSE Equity Futures Physical Settlement (2019): Operations Teams Unprepared</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In October 2019, SEBI mandated that all single-stock equity derivatives in India move from cash settlement to physical settlement. Operations teams had weeks to adapt workflows that had run on cash-settlement logic for years.</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The change meant that holding a stock futures position to expiry now required actual share delivery — coordinating with depositories, custodians, and settlement banks, not just posting a cash P&amp;L.</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Many retail traders were caught off guard, triggering forced position closures by brokers.</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SEBI 2019:</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Oct 2019</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physical settlement</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mandated</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All stock F&amp;O</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affected</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Previous: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Cash-only</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New:</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Demat delivery</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required</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If you were running an equity derivatives operations desk in October 2019, what three workflow changes would you implement immediately to manage the shift from cash to physical settlement at expiry?</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DER.2</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DER.2</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Derivative Contract Terms: Lot Size, Settlement Date, Expiry Date</a:t>
            </a:r>
            <a:endParaRPr lang="en-US" sz="20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2903220"/>
                <a:gridCol w="2903220"/>
                <a:gridCol w="2903220"/>
                <a:gridCol w="2903220"/>
              </a:tblGrid>
              <a:tr h="7010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TERM</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DEFINITION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NSE EXAMPLE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OPERATIONS ACTION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Contract Lot / Lot Size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Standardised qty of underlying per contract — set by exchange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Reliance: 250 shares per lot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Use to calculate notional value and position sizing</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Settlement Date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Date on which contractual obligations (cash or delivery) are completed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Equity F&amp;O: day after expiry Thursday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Generate settlement instructions to depository/bank</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Expiry Date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Last day contract is valid — no new positions after this date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Equity F&amp;O: last Thursday of the month</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Roll positions before this date or prepare for settlement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Notional Value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Total exposure = contracts × lot size × price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5 contracts × 250 × ₹1,820 = ₹22,75,000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Confirm vs margin held — flag if under-margined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Price Tick</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Minimum price movement allowed by exchange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₹0.05 for most NSE futures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Price precision in trade capture and confirmation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Never assume expiry = settlement date. Always confirm both independently from the contract spec before processing.</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DER.2</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DER.2</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About Contract Terms and Their Operations Impact</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Lot Size Changes Create Position Cliff-Edges</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SEBI periodically revises lot sizes to maintain minimum notional value thresholds. When lot size changes, your book of contracts suddenly represents different underlying exposure. Operations must update position limits, margin calculations, and risk systems immediately on the effective date.</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Last Thursday Rule Has Exceptions</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Indian equity derivatives expire on the last Thursday of each month — unless that Thursday is a trading holiday, in which case expiry moves to the preceding trading day. This exception creates settlement date calculation errors if operations teams rely on formulaic date computation without holiday calendar validation.</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Physical Settlement Changed the Indian Market Structure</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Post-2019 physical settlement meant retail traders could no longer hold equity futures positions casually through expiry. The discipline required to manage physical delivery obligations migrated activity to index futures (still cash-settled) and reduced speculative single-stock positions near expiry — exactly SEBI's intention.</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Settlement Date vs Value Date vs Trade Date</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Three dates, three definitions. Trade date: when the deal is agreed. Settlement date / value date: when obligations complete. In FX, "value date" and "settlement date" are often interchangeable. In derivatives, "value date" typically means settlement date. Operations must use the correct date field in every settlement instruction — wrong date = failed settlement.</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DER.2</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DER.2</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"If lot size for Reliance futures is 250 shares and you want to hedge exactly 350 shares of Reliance — what is your problem, and what are your options?"</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  Hint: Think about basis risk from over/under hedging, the cost of hedging 500 shares (2 lots) vs 250 shares (1 lot), and whether OTC forwards offer a better solution for precise hedges.</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DER.2</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DER.2</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"Explain lot size, settlement date, and expiry date in futures contracts and why the distinction between settlement and expiry dates matters."</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Lot size is the standardised quantity of the underlying asset per futures contract, set by the exchange. On NSE, Reliance futures have a lot size of 250 — so one contract gives exposure to 250 shares, and five contracts to 1,250 shares.</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Expiry date is the last day the contract trades and no new positions can be opened. Settlement date is when actual financial obligations — cash payment or physical delivery — are completed. In Indian equity futures, expiry is the last Thursday and settlement is the following business day.</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Confusing these two dates causes settlement failures. Operations must always independently confirm both from contract specifications — never assume they are the same calendar day.</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In India, since October 2019, single-stock equity futures settle physically at expiry — requiring actual share delivery via NSDL/CDSL rather than simple cash P&amp;L settlement. Index futures remain cash-settled.</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DER.2</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DER.3</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DER.3 — Uses of Derivatives — Hedging vs Speculation</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 farmer and a hedge fund enter identical forward contracts on wheat. One is hedging; one is speculating. The contract is literally identical. How are they different?"</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DER.3 · Video 2 — Hedging vs Speculation (EAR: DIFFERENTIATE)</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DER.3</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DER.3</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IndiGo Airlines Fuel Hedging: When Hedging Saves ₹1,500 Crore</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IndiGo, India's largest airline, uses jet fuel derivatives (crude oil futures and forwards) to hedge a portion of its fuel costs. Jet fuel typically accounts for 35-40% of airline operating costs.</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In 2022, when crude oil spiked to $130/barrel following the Russia-Ukraine conflict, airlines with fuel hedges locked in at $80-90/barrel had a significant cost advantage — saving an estimated ₹1,500+ crore in fuel costs compared to spot prices.</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SpiceJet, which had significantly less hedging coverage, faced acute cash flow stress during the same period.</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INDIGO 2022:</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35-40%</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fuel cost %</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$130/barrel</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crude oil peak</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₹1,500+ Cr</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estimated hedge</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saving at peak</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SpiceJet:</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acute stress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without hedging</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IndiGo's fuel hedge at $90/barrel "lost" money when oil fell to $70/barrel in late 2022. A shareholder complained the hedging team had "wasted money." Construct IndiGo's response defending the hedge decision.</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DER.3</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DER.3</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Hedging vs Speculation: Complete Comparison</a:t>
            </a:r>
            <a:endParaRPr lang="en-US" sz="20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3870960"/>
                <a:gridCol w="3870960"/>
                <a:gridCol w="3870960"/>
              </a:tblGrid>
              <a:tr h="52578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DIMENSION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HEDGER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SPECULATOR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52578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Underlying Exposure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Has existing underlying exposure (owns/needs the asset)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 underlying exposure — position is the exposure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52578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Derivative Purpose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Reduce or offset existing price risk</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Profit from expected price movement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52578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Risk Direction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Derivative REDUCES total risk</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Derivative CREATES total risk</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52578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P&amp;L on Derivative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May lose on derivative if hedge works (offset by underlying gain)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Profits only if price prediction is correct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52578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Function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Transfers risk they don't want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Absorbs risk they want for a return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52578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Operations Classification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Hedge accounting treatment (if eligible)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Trading book treatment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52578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Examples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Airline buying fuel futures, farmer selling wheat forward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Prop desk buying Nifty futures on bullish view</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In operations, hedger positions may qualify for hedge accounting treatment under Ind AS 109 — different P&amp;L and balance sheet presentation from trading positions.</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DER.3</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DER.3</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Hedging, Speculation and Market Function</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A "Losing" Hedge Is Often a Successful Hedge</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When IndiGo's fuel hedge showed a loss because oil fell, the hedge had worked — it protected against the risk they feared (rising oil). A hedge that "loses money" because the underlying moved favourably is not a bad hedge. It is insurance that wasn't needed that year. You don't criticise your home insurance for not paying out.</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Speculators Are Not Villains — They Are Liquidity Providers</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When IndiGo buys crude oil forward contracts to hedge, someone must take the other side. Often it is a speculator who believes oil prices will fall. Without that speculator, the market would have no liquidity at that price. Speculators' willingness to take risk is what makes hedging markets function.</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Line Between Hedging and Speculation Can Blur</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 corporate treasury that regularly "rolls" a hedge position and adjusts its size based on market views is somewhere between hedging and speculation. Over-hedging (hedging more than the actual exposure) introduces speculative elements. Under-hedging leaves residual risk. Perfect hedges are rare outside textbooks.</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Hedge Accounting Has Strict Eligibility Criteria</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 derivative only qualifies for hedge accounting under Ind AS 109 if: it is designated as a hedge at inception, it hedges an identified risk, it is highly effective (80-125% offset range), and documentation exists. Non-qualifying hedges are marked to market through P&amp;L — increasing earnings volatility regardless of commercial intent.</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DER.3</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DER.3</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 CFO says: 'We never hedge — if we're wrong about price direction, we lose twice: on the hedge AND on the underlying.' Is this a valid argument against hedging? When is it right?"</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  Hint: Think about total risk management, the nature of corporate risk tolerance, and the asymmetry between hedging costs and catastrophic unhedged losses.</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DER.3</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DER.3</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is the difference between hedging and speculation in derivatives markets?"</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Hedging: a participant with existing underlying exposure uses a derivative to offset that risk. The derivative reduces their total market risk. Example: IndiGo buying crude oil futures to lock in jet fuel costs.</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Speculation: a participant with NO underlying exposure takes a derivative position to profit from a directional price view. The derivative creates market risk. Example: a prop desk buying Nifty futures expecting the market to rise.</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The same derivative contract can serve either purpose — the distinction lies entirely in the participant's existing exposure and intent, not the instrument itself.</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In operations, the classification matters for accounting treatment: qualifying hedges may use hedge accounting (Ind AS 109), reducing P&amp;L volatility. Trading/speculative positions are always marked to market through P&amp;L.</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DER.3</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DER.4</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DER.4 — Types of Derivatives — ETD vs OTC</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"You traded Nifty 50 futures today. You have absolutely no idea who sold you that contract — and that is considered a feature. Why?"</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DER.4 · Video 1 — ETD vs OTC (EAR: IDENTIFY)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DER.4</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DER.4</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The 2008 OTC Crisis: Why Central Clearing Was Mandated After Lehman</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Pre-2008, the majority of the $600+ trillion OTC derivatives market operated bilaterally — no clearing house, no standard margining. When Lehman Brothers filed for bankruptcy in September 2008, thousands of OTC contracts had no counterparty guarantee. Resolution took 6+ years.</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Post-2008, G20 mandated central clearing for standardised OTC derivatives. In India, SEBI and RBI implemented mandatory clearing through CCIL for interest rate swaps and FX derivatives — bringing exchange-like clearing to OTC instruments.</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2008 CRISIS:</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$600+ Tn</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OTC notional</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Lehman: $600+ Bn</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in OTC contracts</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6+ years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Lehman resolution</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Post-2008:</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G20 central</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clearing mandate</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India: CCIL</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centrally clears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IRS, FX</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A standardised 5-year interest rate swap could be centrally cleared (reducing counterparty risk), but a bespoke 6-year-4-month swap cannot be standardised. How does a treasury team manage the residual OTC counterparty risk on the bespoke instrument?</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DER.4</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DER.4</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ETD vs OTC: Full Structural Comparison</a:t>
            </a:r>
            <a:endParaRPr lang="en-US" sz="2000" dirty="0"/>
          </a:p>
        </p:txBody>
      </p:sp>
      <p:graphicFrame>
        <p:nvGraphicFramePr>
          <p:cNvPr id="23"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3870960"/>
                <a:gridCol w="3870960"/>
                <a:gridCol w="3870960"/>
              </a:tblGrid>
              <a:tr h="46736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DIMENSION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ETD (EXCHANGE-TRADED)</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OTC (OVER-THE-COUNTER)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Contract Terms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Standardised by exchange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Negotiated bilaterally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Counterparty Risk</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Eliminated by CCP novation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Exists — managed by ISDA/collateral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Transparency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High pre/post-trade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Low — private negotiation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Liquidity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High — fungible, tradeable with anyone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Low — bespoke, bilateral exit only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Flexibility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Fixed terms — limited customisation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Full customisation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Settlement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Daily MTM via clearing corp</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End-of-period or periodic (as agreed)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Operations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Standardised exchange confirmation files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Bilateral match, ISDA docs, CSA</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46736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Regulation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SEBI-regulated, transparent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RBI/SEBI, less transparent, post-trade reporting</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Since 2008, regulators globally have pushed OTC derivatives toward central clearing — attempting to give OTC instruments the safety of ETDs while preserving their flexibility.</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DER.4</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DER.4</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ETD vs OTC and the Post-2008 World</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Central Clearing Is Not ETD — It Is ETD Safety on OTC Terms</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When an IRS (interest rate swap) is centrally cleared through CCIL, it retains OTC flexibility (customised terms) but gains CCP novation (clearing house guarantee). This is the post-2008 compromise: not all OTC must become ETD, but standardised OTC must be cleared. The operations infrastructure for cleared OTC is more complex than for exchange-traded instruments.</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ISDA Documentation Is the Law of OTC Derivatives</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The International Swaps and Derivatives Association (ISDA) Master Agreement governs the legal relationship between OTC counterparties. The Credit Support Annex (CSA) defines collateral terms. Before any OTC derivative is executed, ISDA documentation must be in place. Operations cannot process or confirm an OTC trade without verified ISDA documentation.</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Operations Complexity Is Multiplied for OTC vs ETD</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An ETD trade: exchange sends confirmation file → margin calculated → T+1 settlement → done. An OTC trade: negotiate terms → confirm bilaterally (email/MarkitWire) → check ISDA/CSA → calculate initial margin → agree on CSA collateral → daily variation margin calls → periodic settlement → expiry processing. The ETD workflow might take minutes; OTC takes hours per trade.</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FX Forwards in India Are OTC — With CCIL Clearing</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In India, all USD/INR forward contracts beyond the spot date are OTC instruments. But SEBI/RBI mandates that bank-to-bank USD/INR transactions above certain thresholds are cleared through CCIL. This represents India's response to the post-2008 mandate — centrally clearing OTC FX without converting them to exchange-traded instruments.</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DER.4</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DER.4</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"ETDs can't do everything — some hedges require OTC customisation that no exchange can provide. But OTC brings counterparty risk back. Where do you draw the line between accepting OTC risk and forcing ETD standardisation?"</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  Hint: Think about the trade-off between precision hedging (needs OTC) and systemic safety (needs ETD/clearing). Consider which instruments were mandated for central clearing post-2008 and which were exempt.</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DER.4</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DER.4</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is the difference between exchange-traded and OTC derivatives? Which carries more counterparty risk and why?"</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ETDs are standardised contracts traded on regulated exchanges (e.g. NSE equity futures). Contract terms are fixed by the exchange. A clearing house (NSCCL) novates every trade — eliminating counterparty risk. Positions are settled daily via mark-to-market.</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OTC derivatives are privately negotiated bilateral agreements (e.g. forward contracts, interest rate swaps). Terms are customised. No CCP guarantees settlement — counterparty risk exists throughout the contract life, mitigated by ISDA documentation and collateral under a Credit Support Annex.</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OTC derivatives carry higher counterparty risk because there is no clearing house guarantee. The 2008 financial crisis demonstrated this at systemic scale — post-2008 G20 mandates required standard OTC derivatives to be centrally cleared.</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Operations for OTC is significantly more complex: bilateral confirmation matching, ISDA document verification, daily variation margin calls, and periodic settlement processing rather than the standardised exchange file-to-clearing-corporation workflow of ETDs.</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DER.4</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DER.5</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DER.5 — Forward Contracts — Concept &amp; Features</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"No money today. No delivery today. Just a promise. How does an agreement to transact in the future at today's agreed price create real financial value and real financial risk?"</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DER.5 · Video 1 — Forward Contract Structure (EAR: IDENTIFY)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DER.5</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DER.5</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Kingfisher Airlines 2012: Forward Contract Failure and Its Consequences</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When Kingfisher Airlines faced a liquidity crisis in 2011-2012, it had numerous forward contracts for jet fuel and foreign currency exposure. As the airline's financial distress deepened, counterparties began demanding additional collateral under credit support provisions — a "credit event" triggering clause.</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Kingfisher could not post the required collateral. Counterparties terminated contracts early, crystallising losses. The forward contracts designed to protect the airline from fuel price volatility became an additional source of financial stress when the company's credit quality deteriorated.</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KINGFISHER 2012:</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Licence suspended</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Oct 2012</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Forward contracts: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collateral triggered</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on credit events</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Debt: ₹7,000+ Cr</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No clearing house</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to guarantee OTC</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positions</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A forward contract that was entered as a hedge became a liquidity crisis accelerant for Kingfisher. What structural features of OTC forwards enabled this outcome — and how does exchange-traded futures avoid the same trap?</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DER.5</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DER.5</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Forward Contract: Six Key Features and Their Implications</a:t>
            </a:r>
            <a:endParaRPr lang="en-US" sz="2000" dirty="0"/>
          </a:p>
        </p:txBody>
      </p:sp>
      <p:graphicFrame>
        <p:nvGraphicFramePr>
          <p:cNvPr id="29"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3870960"/>
                <a:gridCol w="3870960"/>
                <a:gridCol w="3870960"/>
              </a:tblGrid>
              <a:tr h="600891">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FEATURE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IMPLICATION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OTC Contract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Not exchange-traded; no standard venue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 price transparency; bespoke documentation required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Bilateral Agreement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Exactly two counterparties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Direct credit exposure to each other throughout life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Customised Terms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All terms negotiated: size, price, date, settlement mode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Flexible but non-fungible — hard to exit early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Deferred Settlement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 cash flows on trade date — all at value date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Accumulating P&amp;L risk before settlement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Counterparty Risk</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 CCP guarantee; default risk to each party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ISDA master agreements and CSA collateral mitigate but cannot eliminate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Forward Price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Derived from spot price using cost-of-carry: F = S₀(1+r)^T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Price is mathematically determined — no arbitrage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Key operations rule: On trade date, confirm all six features match between counterparties before booking. Any mismatch is a dispute waiting to happen.</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DER.5</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DER.5</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Forward Contracts</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Forward Price Is Not a Forecast</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The forward price is the cost-of-carry price. If 6-month gold forward is $1,012 when spot is $1,000, this is NOT a prediction that gold will be $1,012 in 6 months. It is the price that makes storing gold for 6 months a break-even proposition. The forward price embeds financing costs, storage costs (for commodities), and dividends (for equities).</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Cash Settlement Eliminates Delivery But Not Payoff Risk</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Cash-settled forwards eliminate the need to arrange physical delivery — but the payoff risk (the P&amp;L magnitude) is identical. A cash-settled equity forward where spot settles at $200 vs a forward price of $170 requires the losing party to pay $30 per share — just as if physical delivery had been attempted.</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Collateral Requirements Depend Entirely on the ISDA/CSA Terms</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Some forward contracts require no initial collateral — purely on bilateral trust. Others require initial margin and daily variation margin under the Credit Support Annex. Kingfisher's problem was triggered by credit deterioration provisions in the CSA. The same forward structure behaves very differently depending on the collateral agreement governing it.</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ISIN and Product Codes in Forward Trade Economics</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 forward trade economics ticket includes the underlying's ISIN (or CUSIP/SEDOL for non-Indian). This is not optional — the ISIN uniquely identifies the specific security. An ISIN mismatch between counterparties means the parties have agreed to trade different assets. In equities, class and series matter: HDFC Bank ordinary vs preference shares have different ISINs.</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DER.5</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DER.5</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 corporate asks you to enter a 12-month USD/INR forward to hedge its export revenue. Before you execute it, what are the five things you need to know to build the trade economics ticket?"</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  Hint: Think about: notional amount, tenor/settlement date, forward rate, settlement mode (cash/physical), and ISDA/CSA documentation status with this counterparty.</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DER.5</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DER.5</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is a forward contract and what are its key features?"</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 forward contract is an OTC bilateral agreement to buy or sell an underlying asset at a price agreed on trade date, with settlement occurring on a specified future value date. No cash flows occur on trade date.</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Key features: OTC (not exchange-traded), bilateral (two parties with direct credit exposure), customised terms (size, price, date, settlement mode), deferred settlement, counterparty default risk, and forward pricing based on cost-of-carry formula F = S₀(1+r)^T.</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Settlement can be physical (actual asset delivery) or cash (net P&amp;L difference only). Most financial forwards use cash settlement for operational simplicity.</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For operations: confirm trade economics ticket fields match between counterparties, verify ISDA documentation is in place, and identify settlement mode before preparing any settlement instructions.</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DER.5</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DER.6</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DER.6 — Forward Contracts — Risks, Pricing &amp; Trade Economics</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"If forward pricing is just a formula — F = S₀(1+r)^T — why do sophisticated traders ever pay more or less than this price?"</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DER.6 · Video 2 — Forward Pricing Explained (EAR: EXPLAIN)</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DER.6</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DER.6</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FX Forward Mispricing: When the Formula Holds and When It Doesn't</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In theory, USD/INR forward prices should follow F = Spot × (1 + INR rate)/(1 + USD rate) — the interest rate parity formula. In 2022-23, the RBI sold dollars in spot and forward markets simultaneously to defend the rupee, creating artificial demand in the forward market.</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Forward USD/INR rates traded ABOVE their theoretical value for weeks — creating an arbitrage opportunity that sophisticated market participants exploited by borrowing in USD, converting to INR, investing at INR rates, and locking in the elevated forward rate.</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USD/INR 2022-23:</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₹83+</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peak spot rate</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RBI intervention:</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$30+ Bn</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spot+forward sales</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Forward premium</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deviated from</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theoretical IRP</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Arbitrageurs: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borrowed USD,</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deployed in INR</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How does interest rate parity arbitrage work in USD/INR forwards? What does it mean when forward rates deviate significantly from their theoretical cost-of-carry value, and who benefits?</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DER.6</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DER.6</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Forward Contract Risk Framework</a:t>
            </a:r>
            <a:endParaRPr lang="en-US" sz="2000" dirty="0"/>
          </a:p>
        </p:txBody>
      </p:sp>
      <p:graphicFrame>
        <p:nvGraphicFramePr>
          <p:cNvPr id="35"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2903220"/>
                <a:gridCol w="2903220"/>
                <a:gridCol w="2903220"/>
                <a:gridCol w="2903220"/>
              </a:tblGrid>
              <a:tr h="7010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RISK TYPE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UNIQUE TO FORWARDS?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MITIGATION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Counterparty Risk</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Default by other party before settlement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Yes — no CCP in OTC forwards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ISDA master agreement, CSA collateral, credit limits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Liquidity Risk</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Difficulty exiting or transferring the contract early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Yes — bespoke terms restrict transfer</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Early termination provisions in ISDA; offsetting forward (creates new CCR)</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Risk</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Adverse movement in underlying price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 — common to all derivatives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Position limits, stop-loss, delta hedging</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Basis Risk</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Imperfect correlation between hedge and underlying</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Yes — standard lot vs bespoke exposure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Use of multiple overlapping forwards; accept residual basis risk</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Operational Risk</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Confirmation mismatch, settlement failure, wrong ISIN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 — exists in all products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Bilateral confirmation, automated matching (MarkitWire), STP</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Counterparty risk and liquidity risk are the defining risk differentiators of OTC forwards vs exchange-traded futures.</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DER.6</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DER.6</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Forward Risks and Pricing</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Cost-of-Carry Has Asset-Specific Adjustments</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F = S₀(1+r)^T is the base formula. For dividend-paying stocks, the forward price is reduced by the present value of expected dividends (you lose dividends if you don't own the stock). For commodities, storage costs add to the forward price. For FX, the formula becomes S₀ × (1 + domestic rate)/(1 + foreign rate) — interest rate parity.</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Credit Support Annexes Define the Real Risk</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Two forward contracts with identical economics can have vastly different credit risk profiles depending on their CSA terms. A "zero-threshold CSA" requires daily full mark-to-market collateral posting — practically eliminating CCR. A "one-way CSA" where only the weaker party posts collateral creates asymmetric risk. ISDA CSA negotiation is where credit risk is actually determined.</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Cash Settlement Requires a Reference Rate Fixing</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For a cash-settled forward on an Indian stock, the settlement price is typically the exchange closing price on the settlement date. For a cash-settled FX forward, it might be the RBI reference rate. For a commodity, it might be an index fixing (e.g. NYMEX closing). Getting the right reference rate source correct is an operations-critical task — wrong rate source = wrong settlement amount.</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Trade Economics Ticket Is a Legal Document</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The forward trade economics ticket — with counterparty, ISIN, notional, forward price, settlement date, and settlement mode — forms the basis of the legal trade record. Under SEBI and RBI regulations, this must be retained for 5-7 years. Operations teams who treat confirmations as administrative rather than legal obligations create compliance exposure.</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DER.6</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DER.6</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"Counterparty risk in OTC forwards can be virtually eliminated with daily variation margin under a zero-threshold CSA. If so, why would anyone prefer exchange-traded futures over OTC forwards for standardisable products?"</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  Hint: Think about: who provides the CSA counterparty (your credit line), the operational cost of daily margin management, netting benefits of exchange clearing, and systemic risk concentration at CCP.</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DER.6</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DER.6</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are the main risks in a forward contract and how is the forward price calculated?"</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Main risks: counterparty/credit risk (no CCP guarantee, default risk if other party fails), liquidity risk (difficult to exit bespoke contract without bilateral agreement), market risk (underlying price moves against position), and basis risk (hedge may not perfectly offset the exposure).</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Forward pricing follows cost-of-carry: F = S₀ × (1+r)^T, where S₀ is the spot price, r is the risk-free rate, and T is time to delivery in years. The forward price is NOT a prediction — it is the no-arbitrage price ensuring no risk-free profit from buying spot and selling forward.</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Asset-specific adjustments: equities reduce forward price by present value of expected dividends; commodities add storage costs; FX forwards use interest rate parity.</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In operations, risk management requires: ISDA documentation before execution, CSA collateral monitoring if applicable, correct reference rate fixing for cash settlement, and full trade economics confirmation matching between both counterparties.</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DER.6</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DER.7</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DER.7 — Futures Contracts — Concept &amp; Standardisation</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"Futures are just forwards that grew up and got a job at an exchange." Explain everything this sentence gets right — and the one thing it misses.</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DER.7 · Video 2 — Futures vs Forwards (EAR: DIFFERENTIATE)</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DER.7</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DER.7</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NYMEX Crude Oil Futures: When Physical Delivery Goes Wrong (April 2020)</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On April 20, 2020, the WTI crude oil futures May contract settled at NEGATIVE $37.63 per barrel — the first negative commodity futures price in history. The cause: massive COVID demand destruction meant storage at Cushing, Oklahoma (the NYMEX delivery point) was nearly full.</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Traders holding long May contracts faced physical delivery obligations. With no storage available, they desperately sold at any price — including paying people to take the oil. This was not a financial crisis — it was a physical delivery logistics crisis in a futures market.</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WTI APR 2020:</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–$37.63/barrel</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all-time historic low</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20 April 2020</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Cushing capacity:</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~95% full</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COVID demand</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crash causing</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physical glut</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Cash-settled</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index futures: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normal prices</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What does the WTI negative price event reveal about the difference between financial futures (always cash-settled) and commodity futures (physical delivery)? How should an operations team prevent a similar scenario?</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DER.7</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DER.7</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Futures Contract: Standardisation Features</a:t>
            </a:r>
            <a:endParaRPr lang="en-US" sz="2000" dirty="0"/>
          </a:p>
        </p:txBody>
      </p:sp>
      <p:graphicFrame>
        <p:nvGraphicFramePr>
          <p:cNvPr id="41"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2903220"/>
                <a:gridCol w="2903220"/>
                <a:gridCol w="2903220"/>
                <a:gridCol w="2903220"/>
              </a:tblGrid>
              <a:tr h="600891">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STANDARDISED FEATURE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WHAT IT MEANS</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NSE EQUITY EXAMPLE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PURPOSE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Lot Size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Fixed quantity per contract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Nifty 50: 50 units; Reliance: 250 shares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Uniform exposure per contract; enables fungibility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Settlement Date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Fixed expiry per series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Last Thursday of contract month</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Predictable settlement calendar; no ambiguity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Margins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Exchange-determined initial and maintenance margins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SPAN + Exposure margin (e.g. 17% total)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Consistent risk protection across all participants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Contract Value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Standardised per contract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Lot size × price (variable but calculated the same way)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Uniform comparison across participants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Settlement Mode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Exchange-determined cash or physical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Indian equity futures: physical; Index: cash</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Predictable delivery/payment obligations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Currency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Denominated in home currency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NSE futures: INR</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 FX risk within the futures contract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Standardisation enables the clearing house to margin, net, and guarantee all contracts using consistent methodology — the foundation of the safety that ETDs provide.</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DER.7</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DER.7</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Futures vs Forwards</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Daily MTM Is More Than a Settlement Mechanism — It Is Price Discovery</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When futures prices are marked to market daily, they continuously incorporate new information. The closing futures price is a consensus market view of the underlying's fair value for that delivery date. Forward prices, by contrast, are bilateral — they may not reflect the full market's view. Futures create transparent, liquid price discovery; forwards do not.</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Open Interest Distinguishes Volume from Participation</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Trading volume measures how many contracts changed hands. Open interest measures how many remain open. High OI with low volume means the market is committed but not actively trading — positions held with conviction. High volume with declining OI means active closing/rollover. Reading both together gives the full picture of market positioning.</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Long-Short Balance Is Always Perfect in Futures</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For every long position, there is a short position somewhere. The net open interest from a long-short perspective is always zero. This mathematical constraint means that when the media says "institutional investors went net long", they are referring to the long side of open interest, not the total — someone took the short side too.</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Basis Risk in Futures Is Measurable and Managed</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Basis = futures price – spot price. At expiry, basis = zero (convergence). Between inception and expiry, basis fluctuates — creating basis risk. For a Nifty hedger whose portfolio does not perfectly replicate the Nifty composition, the imperfect correlation between the portfolio and the index creates additional basis risk beyond normal futures movement.</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DER.7</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DER.7</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"The WTI crude oil price went negative in April 2020. Nifty 50 index futures never have and never will go negative. Why not? What structural difference prevents it?"</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  Hint: Think about: physical delivery obligations in commodity futures vs cash settlement in index futures, and the fundamental difference between what "owning" a commodity futures position means vs owning an index futures position.</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DER.7</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DER.7</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is a futures contract and how does it differ from a forward contract?"</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 futures contract is an exchange-traded, standardised derivative agreement to buy or sell an underlying asset on a specified future date at a price agreed today. It is traded on a regulated exchange (NSE, CME) with a clearing house acting as central counterparty.</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Key differences from forwards: futures are standardised (fixed lot, expiry, settlement mode) vs forwards are customised; futures are cleared (no CCR) vs forwards are bilateral (CCR exists); futures have daily MTM settlement vs forwards settle in a single payment at maturity; futures are highly liquid vs forwards are bespoke and illiquid.</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Standardisation is the source of futures' key advantage — it enables fungibility (any contract can offset any other), clearing house guarantee, and daily margining that prevents systemic loss accumulation.</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In operations: futures generate daily MTM debits/credits requiring daily reconciliation and margin management. Forwards generate a single large settlement at maturity requiring bilateral confirmation but less daily workflow.</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DER.7</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DER.8</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DER.8 — Futures — Margins &amp; Mark-to-Market</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 trader's margin account fell below the maintenance threshold. They ignored the margin call for 48 hours. Walk through exactly what happened next — step by step."</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DER.8 · Video 1 — Margins &amp; Calls (EAR: IDENTIFY)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DER.8</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DER.8</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NSE Karvy Stockbroking 2019: Margins, Client Funds, and What Happens When They Mix</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In 2019, SEBI found that Karvy Stockbroking had misused client securities worth ₹2,300 crore — pledging client shares to raise funds for its own use, including to meet margin requirements on proprietary positions.</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NSE discovered the fraud through its enhanced margin monitoring systems, which flagged discrepancies between client holdings reported by Karvy and actual depository records.</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Karvy's trading membership was suspended. SEBI mandated stronger segregation of client and proprietary margin accounts.</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KARVY 2019:</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₹2,300 Cr</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client securities</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misused</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Nov 2019</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NSE suspension</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1.5 lakh+</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clients affected</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SEBI enhanced:</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client fund</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segregation rules</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What systemic control failure allowed Karvy to misuse client securities for over a year before detection? What daily margin monitoring controls should exchange surveillance run to catch this earlier?</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DER.8</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DER.8</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Futures Margin Mechanics: Initial, Maintenance, MTM</a:t>
            </a:r>
            <a:endParaRPr lang="en-US" sz="2000" dirty="0"/>
          </a:p>
        </p:txBody>
      </p:sp>
      <p:graphicFrame>
        <p:nvGraphicFramePr>
          <p:cNvPr id="47"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2903220"/>
                <a:gridCol w="2903220"/>
                <a:gridCol w="2903220"/>
                <a:gridCol w="2903220"/>
              </a:tblGrid>
              <a:tr h="600891">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MARGIN TYPE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DEFINITION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CALCULATION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TRIGGER</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Initial Margin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Upfront deposit to open position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TCV × IM% (SPAN + Exposure)</a:t>
                      </a:r>
                      <a:endParaRPr lang="en-US" sz="1000" dirty="0">
                        <a:latin typeface="Calibri" charset="0"/>
                        <a:ea typeface="Calibri" charset="0"/>
                        <a:cs typeface="Calibri" charset="0"/>
                      </a:endParaRPr>
                    </a:p>
                    <a:p>
                      <a:pPr indent="0" marL="0">
                        <a:buNone/>
                      </a:pPr>
                      <a:r>
                        <a:rPr lang="en-US" sz="1000" dirty="0">
                          <a:solidFill>
                            <a:srgbClr val="1A1A1A"/>
                          </a:solidFill>
                          <a:latin typeface="Calibri" pitchFamily="34" charset="0"/>
                          <a:ea typeface="Calibri" pitchFamily="34" charset="-122"/>
                          <a:cs typeface="Calibri" pitchFamily="34" charset="-120"/>
                        </a:rPr>
                        <a:t>₹7,28,000 × 17% = ₹1,23,760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Required before first trade; both buyer and seller</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SPAN Margin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Mandatory component of IM (VaR-based)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Exchange-calculated; 11% in example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Mandatory; failure to post = trade rejected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Exposure Margin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Optional additional buffer</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Exchange-specified; 6% in example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Optional but recommended additional buffer</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Maintenance Margin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Minimum balance to hold open position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TCV × MM% = ₹7,28,000 × 15% = ₹1,09,200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Account falls below → margin call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MTM Margin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Daily P&amp;L settlement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(Today close – Yesterday close) × lot</a:t>
                      </a:r>
                      <a:endParaRPr lang="en-US" sz="1000" dirty="0">
                        <a:latin typeface="Calibri" charset="0"/>
                        <a:ea typeface="Calibri" charset="0"/>
                        <a:cs typeface="Calibri" charset="0"/>
                      </a:endParaRPr>
                    </a:p>
                    <a:p>
                      <a:pPr indent="0" marL="0">
                        <a:buNone/>
                      </a:pPr>
                      <a:r>
                        <a:rPr lang="en-US" sz="1000" dirty="0">
                          <a:solidFill>
                            <a:srgbClr val="1A1A1A"/>
                          </a:solidFill>
                          <a:latin typeface="Calibri" pitchFamily="34" charset="0"/>
                          <a:ea typeface="Calibri" pitchFamily="34" charset="-122"/>
                          <a:cs typeface="Calibri" pitchFamily="34" charset="-120"/>
                        </a:rPr>
                        <a:t>(1800-1820) × 400 = –₹8,000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Every business day by cut-off time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Margin Call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Additional deposit when balance falls below maintenance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Restore to initial margin level</a:t>
                      </a:r>
                      <a:endParaRPr lang="en-US" sz="1000" dirty="0">
                        <a:latin typeface="Calibri" charset="0"/>
                        <a:ea typeface="Calibri" charset="0"/>
                        <a:cs typeface="Calibri" charset="0"/>
                      </a:endParaRPr>
                    </a:p>
                    <a:p>
                      <a:pPr indent="0" marL="0">
                        <a:buNone/>
                      </a:pPr>
                      <a:r>
                        <a:rPr lang="en-US" sz="1000" dirty="0">
                          <a:solidFill>
                            <a:srgbClr val="1A1A1A"/>
                          </a:solidFill>
                          <a:latin typeface="Calibri" pitchFamily="34" charset="0"/>
                          <a:ea typeface="Calibri" pitchFamily="34" charset="-122"/>
                          <a:cs typeface="Calibri" pitchFamily="34" charset="-120"/>
                        </a:rPr>
                        <a:t>₹1,23,760 – ₹1,07,760 = ₹16,000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Failure to pay → forced liquidation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Operations must process MTM settlements and margin calls within the clearing corporation's daily deadlines. Late payment = position closure by the clearing house.</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DER.8</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DER.8</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Futures Margins and Systemic Safety</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SPAN Margin Is Dynamic — It Changes Daily</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SPAN margin is recalculated daily based on position VaR, volatility, and portfolio composition. On high-volatility days, SPAN margin can spike significantly. Operations teams must monitor for intra-day margin increases during high-volatility market events (budget days, global crises) and be ready to process exceptional margin calls.</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Daily MTM Is Why the Clearing House Can Guarantee Settlement</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The clearing house's maximum exposure at any moment is exactly one day's price movement. All prior P&amp;L has been settled. This is why clearing house default funds — though large — are manageable relative to the market they guarantee. The daily settlement mechanism is the clearing house's greatest risk management tool.</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Client Margin Segregation Is a Legal and Regulatory Requirement</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Client margin and proprietary firm margin must be maintained in separate accounts. SEBI's enhanced margin framework post-Karvy requires daily reporting of client collateral and its utilisation. Operations teams are required to reconcile client margin positions daily and flag any utilisation of client funds for firm purposes — which is a criminal offence.</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Forced Liquidation Timing Determines Realised Loss</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When a broker liquidates a client's position due to an unmet margin call, the execution happens at market price at that moment — often at the worst point of a downmove. The realised loss crystallises at the worst price. Operations teams managing risk desk support must ensure margin call communication is early enough for clients to respond before forced liquidation becomes necessary.</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DER.8</a:t>
            </a:r>
            <a:endParaRPr lang="en-US" sz="8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DER.8</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"Daily mark-to-market settlement in futures means that by the time a contract expires, the total P&amp;L is the sum of all daily settlements — not a single large payment. Why does this reduce systemic risk compared to forwards?"</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  Hint: Think about what would happen if a large futures participant's daily losses of ₹1 crore accumulated silently for 30 days before the clearing house discovered a ₹30 crore shortfall.</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DER.8</a:t>
            </a:r>
            <a:endParaRPr lang="en-US" sz="8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DER.8</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"Explain how margin works in futures contracts, including initial margin, maintenance margin, and mark-to-market settlement."</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Initial margin is the upfront deposit required to open a futures position, calculated using VaR methodology (SPAN + optional exposure margin). Both buyer and seller must post it. For a ₹7,28,000 contract value at 17%, initial margin is ₹1,23,760.</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Maintenance margin is the minimum account balance to keep the position open. If daily MTM losses reduce the account below this level (e.g. 15% × ₹7,28,000 = ₹1,09,200), a margin call is triggered requiring restoration to initial margin level.</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Daily MTM settlement: each day, the clearing corporation calculates P&amp;L as (today's closing price – yesterday's closing price) × lot size. Profits are credited; losses are debited. This daily settlement prevents loss accumulation and limits clearing house exposure to one day's price movement.</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Failure to meet a margin call results in forced liquidation by the broker at market price, crystallising the loss. Operations must process MTM settlements and margin calls daily within the clearing corporation's deadlines.</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DER.8</a:t>
            </a:r>
            <a:endParaRPr lang="en-US" sz="8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DER.9</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DER.9 — Futures — Settlement, Open Interest &amp; Rollover</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"Open Interest for Nifty 50 futures rises 40% in the week before expiry. Rollover is 85%. What is the market telling you?"</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DER.9 · Video 2 — Open Interest &amp; Rollover (EAR: EXPLAIN)</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DER.9</a:t>
            </a:r>
            <a:endParaRPr lang="en-US" sz="80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DER.9</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India F&amp;O Expiry Week: The ₹50,000 Crore Rollovers That Move Markets</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In India, the last week of every month — when equity F&amp;O series expire on the last Thursday — witnesses an extraordinary concentration of activity. Typically, 80-90% of open positions in the expiring series roll to the next month.</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In January 2024, over ₹50,000 crore in Nifty futures open interest rolled from January to February series in a single week. The roll activity itself created temporary price divergence between January and February futures — creating arbitrage opportunities of a few basis points that HFT firms captured systematically.</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INDIA F&amp;O EXPIRY:</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80-90%</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typical rollover %</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₹50,000 Cr+</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Nifty rolls in</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Jan 2024</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Last Thursday</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of every month</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Expiry Friday:</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final settlement</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operations crunch</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Rollover activity in the week before expiry creates predictable price patterns. How does this affect operations team workload, and what specific workflows must be completed before market open on expiry Friday?</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DER.9</a:t>
            </a:r>
            <a:endParaRPr lang="en-US" sz="80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DER.9</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Futures Settlement, Open Interest and Rollover: Complete Framework</a:t>
            </a:r>
            <a:endParaRPr lang="en-US" sz="2000" dirty="0"/>
          </a:p>
        </p:txBody>
      </p:sp>
      <p:graphicFrame>
        <p:nvGraphicFramePr>
          <p:cNvPr id="53"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2903220"/>
                <a:gridCol w="2903220"/>
                <a:gridCol w="2903220"/>
                <a:gridCol w="2903220"/>
              </a:tblGrid>
              <a:tr h="7010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CONCEPT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DEFINITION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INDIA EXAMPLE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OPERATIONS IMPACT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Cash Settlement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P&amp;L only — no delivery of underlying</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Nifty 50 index futures always cash</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Process final MTM payment; no custody instructions needed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Physical Settlement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Actual underlying delivered against full payment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Indian single-stock equity futures (post-2019)</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Coordinate demat delivery via NSDL/CDSL; settlement bank funding</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Open Interest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Total open (unclosed) contracts for a series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Nifty Oct OI: 2.5 lakh contracts = ₹35,000 Cr</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High OI expiry weeks = high settlement volume; staff accordingly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Rollover</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Sell expiring month, buy next month</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Sell Oct, Buy Nov in same session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Double workflow: close Oct positions + open Nov positions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Final Settlement Price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Reference price for cash settlement at expiry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NSE Nifty closing value on expiry day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Must be confirmed from exchange — do not compute manually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Expiry week operations: pre-position settlement reports, confirm settlement mode, coordinate with custodians for physical delivery, process final MTM on expiry, open new series on first day post-expiry.</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DER.9</a:t>
            </a:r>
            <a:endParaRPr lang="en-US" sz="80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DER.9</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Settlement, OI and Rollover</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OI is a Leading Indicator — Volume Is a Coincident Indicator</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Trading volume tells you how active the market is today. Open interest tells you how committed participants are. Rising OI with rising prices = bulls building positions (bullish). Rising OI with falling prices = bears building positions (bearish). Falling OI regardless of price direction = position liquidation, not new positioning.</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Physical Settlement of Stock Futures Changed Indian Market Microstructure</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Pre-2019, expiry weeks saw maximum speculation near the money as cash settlement enabled risk-free holding to expiry. Post-physical settlement, traders near expiry must manage delivery logistics or close before settlement. This reduced "pin risk" around strikes but increased custodian and depository workload on expiry Thursday and Friday.</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Rollover Spread Is Tradeable</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The difference between near-month and far-month futures prices on rollover day is called the rollover spread or calendar spread. In a normal upward-sloping curve (contango), the far month trades at a premium to the near. When the market is in backwardation (far at discount to near), it signals supply stress or strong near-term demand. HFT firms trade the spread systematically on rollover days.</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Settlement Failure in Physical Equity Futures Has a Specific Resolution</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If a short futures position holder cannot deliver shares on physical settlement date, NSE runs a close-out auction. The defaulting seller pays the auction price (typically at a penalty above market) plus an administrative fine. Operations teams must proactively monitor for physical delivery obligations and alert risk desks well before the settlement window closes.</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DER.9</a:t>
            </a:r>
            <a:endParaRPr lang="en-US" sz="8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DER.9</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"It is expiry Thursday on NSE. You are the operations manager for a derivatives desk. By 3:30 PM, you have 45 open physical-settlement equity futures positions across 12 stocks. Walk through your settlement checklist for the next 18 hours."</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  Hint: Think about: final settlement price confirmation, demat delivery instructions to NSDL, settlement bank funding, counterparty identification through NSCCL, and what happens for any positions that might fail.</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DER.9</a:t>
            </a:r>
            <a:endParaRPr lang="en-US" sz="8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DER.9</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"Explain cash settlement vs physical settlement in futures, and what open interest and rollover tell market participants."</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Cash settlement: only the net P&amp;L changes hands at expiry — calculated as (final settlement price – contract price) × lot size. No physical delivery. Used for all index futures and (until 2019) equity futures in India. Operationally simpler.</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Physical settlement: the underlying asset is actually delivered against full payment. In India, all single-stock equity futures settle physically since October 2019. Requires demat delivery coordination with NSDL/CDSL and settlement bank funding.</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Open interest (OI): the total number of open (unclosed) futures contracts. Increasing OI indicates new positions being built; decreasing OI indicates position closure. High OI near expiry signals significant settlement activity ahead — operations must prepare accordingly.</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Rollover: closing a near-month position and opening the same position in the next month before expiry. Typically 80-90% of Indian equity futures OI rolls each expiry cycle. High rollover weeks create double operations workload — closing instructions for expiring contracts and opening confirmations for new series.</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DER.9</a:t>
            </a:r>
            <a:endParaRPr lang="en-US" sz="80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DER.10</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DER.10 — CFD — Contract for Difference</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"CFD: no exchange, no delivery, no clearing house — just a price agreement and a cash difference. So what exactly are you buying when you buy a CFD?"</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DER.10 · Video 1 — CFD Structure (EAR: IDENTIFY)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DER.10</a:t>
            </a:r>
            <a:endParaRPr lang="en-US" sz="800" dirty="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DER.10</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Archegos Capital 2021: When Leveraged CFD-Like Exposure Collapses</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Archegos Capital Management had built massive leveraged positions in US media stocks through "total return swaps" — instruments structurally similar to CFDs. Because the positions were OTC and bilateral, no single bank could see Archegos's total exposure across all its prime brokers.</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When several stocks fell 30-40% in March 2021, margin calls across multiple banks hit simultaneously. Archegos could not pay. Banks that liquidated quickly (Goldman, Morgan Stanley) lost less. Banks that waited (Credit Suisse, Nomura) lost $5.5 billion and $2 billion respectively.</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ARCHEGOS 2021:</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$20+ Bn</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position at peak</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$10 Bn+</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total bank losses</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Credit Suisse:</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$5.5 Bn loss</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Nomura:</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$2 Bn loss</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Mar 2021</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Position built via</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OTC TRS/CFD-like</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swaps</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Archegos used multiple OTC prime brokers to build a position that no single counterparty could see in full. What regulatory and operational controls did the 2021 incident reveal were missing — and what has changed since?</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DER.10</a:t>
            </a:r>
            <a:endParaRPr lang="en-US" sz="800" dirty="0"/>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DER.10</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CFD: Structure, Payoff and Operations</a:t>
            </a:r>
            <a:endParaRPr lang="en-US" sz="2000" dirty="0"/>
          </a:p>
        </p:txBody>
      </p:sp>
      <p:graphicFrame>
        <p:nvGraphicFramePr>
          <p:cNvPr id="59"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2903220"/>
                <a:gridCol w="2903220"/>
                <a:gridCol w="2903220"/>
                <a:gridCol w="2903220"/>
              </a:tblGrid>
              <a:tr h="600891">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DIMENSION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DETAIL</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OPERATIONS NOTE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What is a CFD?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OTC agreement to exchange price difference of underlying between open and close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Buy 200 @ $50; close @ $55; profit = $1,000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Bilateral confirmation; no exchange file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Leverage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Margin fraction of notional; gains/losses amplified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10% margin = $1,000 controls $10,000; 10:1 leverage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Initial margin posted and monitored daily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 Delivery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Underlying asset never physically exchanged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Can "short" a stock without borrowing it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Simplifies settlement — no custodial instructions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Counterparty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CFD provider (bank or platform) is direct counterparty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IG Markets, Saxo Bank, institutional prime broker</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Monitor CCR exposure to CFD provider</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Financing Cost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Overnight cost on full notional for long positions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(Notional × rate) / 365 per day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Calculate daily; debit/credit to client P&amp;L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 Fixed Expiry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Positions held until voluntarily closed or margin call</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Hold for days, months, indefinitely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Monitor open positions and margin adequacy daily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CFD operations: daily bilateral confirmation, daily financing calculation, daily margin monitoring, and P&amp;L reconciliation — no exchange infrastructure to automate this.</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DER.10</a:t>
            </a:r>
            <a:endParaRPr lang="en-US" sz="800" dirty="0"/>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name="Slide 5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DER.10</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CFDs and Leveraged OTC Instruments</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CFDs Are Retail-Friendly Futures Without the Exchange Infrastructure</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 CFD on Infosys lets a retail investor take a leveraged view on Infosys without opening a futures account, understanding lot sizes, or managing rolling. But the flexibility comes at a cost: the CFD provider is the counterparty, charges a financing spread, and can widen the bid-ask spread during volatile markets. The instrument is simple; the economics favour the provider.</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Total Return Swaps Are CFDs with a Credit Upgrade</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The instruments Archegos used were total return swaps (TRS) — structurally very similar to CFDs. The key difference: TRS counterparties are typically large banks providing prime brokerage, with full ISDA documentation and formal margining. The principle is the same: pay/receive the price difference on a notional amount without owning the underlying.</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Overnight Financing Is the Hidden Cost of CFD Leverage</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 CFD trader holding a $100,000 long position for 90 days at 5% annual financing rate pays approximately $1,233 in financing costs — before any price movement. For a 10% margin ($10,000 invested), this represents 12.3% of capital in financing alone. Long-term leveraged CFD positions have a structural drag from overnight financing that erodes returns.</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CFD Position Reporting Is a Regulatory Blind Spot Being Addressed</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The Archegos event revealed that large OTC CFD-like positions could be invisible to regulators because each bilateral trade was confidential. Post-Archegos, ESMA and the SEC have increased reporting requirements for prime brokers on large concentrated CFD/TRS positions. In India, SEBI requires reporting of large equity derivative exposures regardless of instrument type.</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DER.10</a:t>
            </a:r>
            <a:endParaRPr lang="en-US" sz="800" dirty="0"/>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name="Slide 6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DER.10</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 client holds 10 CFDs on Infosys at ₹1,400 per share with 15% margin (₹2,100 initial capital). Infosys falls 20% to ₹1,120. Walk through what happens to the margin account and at what point the broker issues a margin call."</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  Hint: Calculate total notional (10 × ₹1,400 = ₹14,000), initial margin (₹2,100), loss (10 × ₹280 = ₹2,800 &gt; initial margin of ₹2,100). What happens when loss exceeds initial margin?</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DER.10</a:t>
            </a:r>
            <a:endParaRPr lang="en-US" sz="800" dirty="0"/>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6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DER.10</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is a CFD and how does it differ from a futures contract?"</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 CFD (Contract for Difference) is an OTC agreement to exchange the price difference of an underlying asset between opening and closing of the contract. No underlying asset is delivered — only cash difference changes hands. No fixed expiry.</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Key differences from futures: CFDs are OTC (vs exchange-traded); no standard lot size (vs standardised); no fixed expiry (vs monthly/quarterly); counterparty risk to CFD provider (vs CCP clearing); overnight financing cost for long positions (vs daily MTM only).</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CFD payoff: profit = (closing price – opening price) × contracts for long; reverse for short. Leverage is applied through margin deposits — typically 5-20% of notional. Both gains and losses are proportionally amplified.</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Operations: bilateral daily confirmation with CFD provider, daily financing calculation on full notional, daily margin monitoring, and manual P&amp;L reconciliation — significantly more manual than ETD operations which benefit from standardised exchange confirmation infrastructure.</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DER.10</a:t>
            </a:r>
            <a:endParaRPr lang="en-US" sz="800" dirty="0"/>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name="Slide 6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DER.11</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DER.11 — Market-Linked Notes (MLN)</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"An MLN promises you cannot lose your principal — AND you can profit if the market rises. There is no free lunch in finance. So what are you actually giving up?"</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DER.11 · Video 1 — MLN Structure (EAR: IDENTIFY)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DER.11</a:t>
            </a:r>
            <a:endParaRPr lang="en-US" sz="800" dirty="0"/>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6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DER.11</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Equity Linked Notes in India: When Principal Protection Meets Illiquidity</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Following the 2020 COVID market crash and recovery, several Indian banks and NBFCs issued equity-linked notes (ELNs — a type of MLN) offering 100% principal protection and participation in Nifty 50 returns, capped at 150%.</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Many retail investors who purchased these 3-year notes needed liquidity in 2021 when they faced financial stress. The notes had no listed exchange and extremely thin secondary markets. Some were sold at discounts of 15-20% to NAV — effectively destroying the principal protection feature the investors had paid for.</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ELN INDIA 2020-22:</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Structure: 100%</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principal floor</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150% upside cap</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3-year tenor</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COVID liquidity:</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some sold at</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15-20% discount</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Not exchange listed:</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bilateral only</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or unlisted secondary</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The principal protection in an MLN is effective only if held to maturity. What does this tell you about how MLNs should be sold to retail investors — and what information must be disclosed about secondary market liquidity before purchase?</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DER.11</a:t>
            </a:r>
            <a:endParaRPr lang="en-US" sz="800" dirty="0"/>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64">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DER.11</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Market-Linked Notes: Structure, Payoff and Operations</a:t>
            </a:r>
            <a:endParaRPr lang="en-US" sz="2000" dirty="0"/>
          </a:p>
        </p:txBody>
      </p:sp>
      <p:graphicFrame>
        <p:nvGraphicFramePr>
          <p:cNvPr id="65"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2903220"/>
                <a:gridCol w="2903220"/>
                <a:gridCol w="2903220"/>
                <a:gridCol w="2903220"/>
              </a:tblGrid>
              <a:tr h="70104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COMPONENT</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DESCRIPTION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OPERATIONS ROLE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Zero-Coupon Bond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Grows to 100% of principal at maturity — provides capital guarantee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₹85 invested at zero-coupon grows to ₹100 by Year 3</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Process as bond issuance; track to maturity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Call Option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Provides conditional upside participation in underlying</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₹15 buys call option on Nifty 50 for 3 years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 option to market; flag to calculation agent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 Coupon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Investor foregoes interest — this funds the structure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₹100 principal = ₹85 bond + ₹15 option premium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 periodic coupon payments to process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Performance Calculation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Calculation agent applies payoff formula at maturity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If Nifty +40% → investor gets ₹140; if –20% → ₹100</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Verify calculation agent's formula and inputs at maturity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701040">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Redemption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Issuer pays principal + performance supplement at maturity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Nifty +80% → investor receives ₹150 (capped)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Process as corporate action: redemption payment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MLN operations: book as structured note issuance, no periodic coupons, monitor underlying performance against cap/floor, verify redemption calculation at maturity.</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DER.11</a:t>
            </a:r>
            <a:endParaRPr lang="en-US" sz="80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65">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DER.11</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MLNs and Structured Products</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Forfeited Coupon Is the Real Price of Protection</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An MLN investor foregoes 3 years of coupon income — perhaps 6-7% per annum. Over 3 years, that is 18-21% of the investment. This is the true cost of principal protection and upside participation. A rational investor must ask: would I rather have guaranteed coupon income or this optionality? The answer depends on their outlook and risk tolerance.</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Cap Is Structurally Determined by Option Pricing</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The issuer sets the cap at the level where the option premium they can afford (from the forfeited coupon) can purchase an at-the-money call option with that strike. Higher volatility → cheaper options → higher caps. Lower volatility → more expensive options → lower caps. The cap is not arbitrary — it is the solution to an option pricing equation.</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Credit Risk of the Issuer Is Real — Principal Protection Has Limits</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Principal protection is only as good as the issuer's ability to repay. If the bank that issued the MLN defaults before maturity, the zero-coupon bond is worthless. MLN investors are senior creditors of the issuing bank — but in a bank default, that may offer limited protection. This is why MLNs issued by weaker issuers trade at discounts that imply less than 100% principal protection.</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Calculation Agent Verification Is Critical in MLN Redemption</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The MLN payoff formula must be applied precisely at maturity — particularly around the cap and floor. Operations teams must obtain the official calculation from the designated calculation agent and verify it against independent computation. Errors in the payoff formula have resulted in disputes. The calculation agent is typically the issuing bank — creating potential for self-serving calculations that counterparties must verify.</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DER.11</a:t>
            </a:r>
            <a:endParaRPr lang="en-US" sz="800" dirty="0"/>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66">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DER.11</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"An investor has ₹10 lakh to invest for 3 years. Option A: FD at 7% per annum. Option B: MLN — 100% principal protection, Nifty-linked, capped at 150%. Under what market scenarios does the MLN outperform, underperform, and break even vs the FD?"</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  Hint: Calculate the FD value at 3 years (10 × 1.07^3 ≈ ₹12.25 lakh). MLN floor = ₹10 lakh. MLN cap = ₹15 lakh. Break even point: Nifty return that takes MLN to ₹12.25 lakh.</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DER.11</a:t>
            </a:r>
            <a:endParaRPr lang="en-US" sz="80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67">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DER.11</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is a Market-Linked Note and how does it achieve principal protection while offering upside participation?"</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 Market-Linked Note (MLN) is a structured product combining a fixed-income instrument (the principal protection layer) with a derivative (the performance participation layer). At maturity, the investor receives at minimum 100% of principal, plus additional return if the underlying asset performs well, capped at a stated maximum.</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The structure: the issuer invests most of the principal in a zero-coupon bond that grows to exactly 100% at maturity. The remaining amount purchases a call option on the underlying. The investor's foregone coupon income funds this structure — there is no free lunch.</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Payoff scenarios: underlying rises 80% → investor receives 150% (cap). Underlying rises 30% → investor receives 130%. Underlying falls 25% → investor receives 100% (floor). The floor holds because the zero-coupon bond delivers principal regardless.</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Operations processing: MLN is issued as a structured note (like a bond). No periodic coupons. At maturity, the calculation agent computes the final redemption amount using the payoff formula. Operations must verify this calculation independently and process the redemption as a corporate action.</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DER.11</a:t>
            </a:r>
            <a:endParaRPr lang="en-US" sz="800" dirty="0"/>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68">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1E3A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QUICK RECAP</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DER.12</a:t>
            </a:r>
            <a:endParaRPr lang="en-US" sz="1000" dirty="0"/>
          </a:p>
        </p:txBody>
      </p:sp>
      <p:sp>
        <p:nvSpPr>
          <p:cNvPr id="9" name="Text 7"/>
          <p:cNvSpPr/>
          <p:nvPr/>
        </p:nvSpPr>
        <p:spPr>
          <a:xfrm>
            <a:off x="8686800" y="1097280"/>
            <a:ext cx="3200400" cy="4572000"/>
          </a:xfrm>
          <a:prstGeom prst="rect">
            <a:avLst/>
          </a:prstGeom>
          <a:noFill/>
          <a:ln/>
        </p:spPr>
        <p:txBody>
          <a:bodyPr wrap="square" rtlCol="0" anchor="ctr"/>
          <a:lstStyle/>
          <a:p>
            <a:pPr algn="ctr" indent="0" marL="0">
              <a:buNone/>
            </a:pPr>
            <a:r>
              <a:rPr lang="en-US" sz="18000" b="1" dirty="0">
                <a:solidFill>
                  <a:srgbClr val="2E4A6E"/>
                </a:solidFill>
                <a:latin typeface="Calibri" pitchFamily="34" charset="0"/>
                <a:ea typeface="Calibri" pitchFamily="34" charset="-122"/>
                <a:cs typeface="Calibri" pitchFamily="34" charset="-120"/>
              </a:rPr>
              <a:t>?</a:t>
            </a:r>
            <a:endParaRPr lang="en-US" sz="18000" dirty="0"/>
          </a:p>
        </p:txBody>
      </p:sp>
      <p:sp>
        <p:nvSpPr>
          <p:cNvPr id="10" name="Text 8"/>
          <p:cNvSpPr/>
          <p:nvPr/>
        </p:nvSpPr>
        <p:spPr>
          <a:xfrm>
            <a:off x="365760" y="548640"/>
            <a:ext cx="8229600" cy="457200"/>
          </a:xfrm>
          <a:prstGeom prst="rect">
            <a:avLst/>
          </a:prstGeom>
          <a:noFill/>
          <a:ln/>
        </p:spPr>
        <p:txBody>
          <a:bodyPr wrap="square" rtlCol="0" anchor="ctr"/>
          <a:lstStyle/>
          <a:p>
            <a:pPr indent="0" marL="0">
              <a:buNone/>
            </a:pPr>
            <a:r>
              <a:rPr lang="en-US" sz="1300" b="1" dirty="0">
                <a:solidFill>
                  <a:srgbClr val="B8860B"/>
                </a:solidFill>
                <a:latin typeface="Calibri" pitchFamily="34" charset="0"/>
                <a:ea typeface="Calibri" pitchFamily="34" charset="-122"/>
                <a:cs typeface="Calibri" pitchFamily="34" charset="-120"/>
              </a:rPr>
              <a:t>DER.12 — Forward Rate Agreement (FRA)</a:t>
            </a:r>
            <a:endParaRPr lang="en-US" sz="1300" dirty="0"/>
          </a:p>
        </p:txBody>
      </p:sp>
      <p:sp>
        <p:nvSpPr>
          <p:cNvPr id="11" name="Text 9"/>
          <p:cNvSpPr/>
          <p:nvPr/>
        </p:nvSpPr>
        <p:spPr>
          <a:xfrm>
            <a:off x="365760" y="1280160"/>
            <a:ext cx="8229600" cy="3474720"/>
          </a:xfrm>
          <a:prstGeom prst="rect">
            <a:avLst/>
          </a:prstGeom>
          <a:noFill/>
          <a:ln/>
        </p:spPr>
        <p:txBody>
          <a:bodyPr wrap="square" rtlCol="0" anchor="ctr"/>
          <a:lstStyle/>
          <a:p>
            <a:pPr indent="0" marL="0">
              <a:buNone/>
            </a:pPr>
            <a:r>
              <a:rPr lang="en-US" sz="2400" b="1" dirty="0">
                <a:solidFill>
                  <a:srgbClr val="FFFFFF"/>
                </a:solidFill>
                <a:latin typeface="Calibri" pitchFamily="34" charset="0"/>
                <a:ea typeface="Calibri" pitchFamily="34" charset="-122"/>
                <a:cs typeface="Calibri" pitchFamily="34" charset="-120"/>
              </a:rPr>
              <a:t>"In an FRA, a notional of ₹500 crore changes hands between the parties." True or False — and explain why the answer matters enormously for operations processing.</a:t>
            </a:r>
            <a:endParaRPr lang="en-US" sz="2400" dirty="0"/>
          </a:p>
        </p:txBody>
      </p:sp>
      <p:sp>
        <p:nvSpPr>
          <p:cNvPr id="12" name="Shape 10"/>
          <p:cNvSpPr/>
          <p:nvPr/>
        </p:nvSpPr>
        <p:spPr>
          <a:xfrm>
            <a:off x="365760" y="4937760"/>
            <a:ext cx="8229600" cy="731520"/>
          </a:xfrm>
          <a:prstGeom prst="rect">
            <a:avLst/>
          </a:prstGeom>
          <a:solidFill>
            <a:srgbClr val="2E4A6E"/>
          </a:solidFill>
          <a:ln/>
        </p:spPr>
      </p:sp>
      <p:sp>
        <p:nvSpPr>
          <p:cNvPr id="13" name="Text 11"/>
          <p:cNvSpPr/>
          <p:nvPr/>
        </p:nvSpPr>
        <p:spPr>
          <a:xfrm>
            <a:off x="365760" y="4937760"/>
            <a:ext cx="8229600" cy="731520"/>
          </a:xfrm>
          <a:prstGeom prst="rect">
            <a:avLst/>
          </a:prstGeom>
          <a:noFill/>
          <a:ln/>
        </p:spPr>
        <p:txBody>
          <a:bodyPr wrap="square" rtlCol="0" anchor="ctr"/>
          <a:lstStyle/>
          <a:p>
            <a:pPr algn="l" indent="0" marL="0">
              <a:buNone/>
            </a:pPr>
            <a:r>
              <a:rPr lang="en-US" sz="1100" i="1" dirty="0">
                <a:solidFill>
                  <a:srgbClr val="CADCFC"/>
                </a:solidFill>
                <a:latin typeface="Calibri" pitchFamily="34" charset="0"/>
                <a:ea typeface="Calibri" pitchFamily="34" charset="-122"/>
                <a:cs typeface="Calibri" pitchFamily="34" charset="-120"/>
              </a:rPr>
              <a:t>📹  From: DER.12 · Video 1 — FRA Structure (EAR: IDENTIFY)</a:t>
            </a:r>
            <a:endParaRPr lang="en-US" sz="11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DER.12</a:t>
            </a:r>
            <a:endParaRPr lang="en-US" sz="80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name="Slide 69">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005F5F"/>
          </a:solidFill>
          <a:ln/>
        </p:spPr>
      </p:sp>
      <p:sp>
        <p:nvSpPr>
          <p:cNvPr id="5" name="Shape 3"/>
          <p:cNvSpPr/>
          <p:nvPr/>
        </p:nvSpPr>
        <p:spPr>
          <a:xfrm>
            <a:off x="0" y="73152"/>
            <a:ext cx="1828800" cy="347472"/>
          </a:xfrm>
          <a:prstGeom prst="rect">
            <a:avLst/>
          </a:prstGeom>
          <a:solidFill>
            <a:srgbClr val="C0392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SCENARIO</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DER.12</a:t>
            </a:r>
            <a:endParaRPr lang="en-US" sz="1000" dirty="0"/>
          </a:p>
        </p:txBody>
      </p:sp>
      <p:sp>
        <p:nvSpPr>
          <p:cNvPr id="9" name="Shape 7"/>
          <p:cNvSpPr/>
          <p:nvPr/>
        </p:nvSpPr>
        <p:spPr>
          <a:xfrm>
            <a:off x="0" y="420624"/>
            <a:ext cx="12192000" cy="914400"/>
          </a:xfrm>
          <a:prstGeom prst="rect">
            <a:avLst/>
          </a:prstGeom>
          <a:solidFill>
            <a:srgbClr val="1E3A5F"/>
          </a:solidFill>
          <a:ln/>
        </p:spPr>
      </p:sp>
      <p:sp>
        <p:nvSpPr>
          <p:cNvPr id="10" name="Text 8"/>
          <p:cNvSpPr/>
          <p:nvPr/>
        </p:nvSpPr>
        <p:spPr>
          <a:xfrm>
            <a:off x="365760" y="420624"/>
            <a:ext cx="11430000" cy="914400"/>
          </a:xfrm>
          <a:prstGeom prst="rect">
            <a:avLst/>
          </a:prstGeom>
          <a:noFill/>
          <a:ln/>
        </p:spPr>
        <p:txBody>
          <a:bodyPr wrap="square" rtlCol="0" anchor="ctr"/>
          <a:lstStyle/>
          <a:p>
            <a:pPr indent="0" marL="0">
              <a:buNone/>
            </a:pPr>
            <a:r>
              <a:rPr lang="en-US" sz="1800" b="1" dirty="0">
                <a:solidFill>
                  <a:srgbClr val="FFFFFF"/>
                </a:solidFill>
                <a:latin typeface="Calibri" pitchFamily="34" charset="0"/>
                <a:ea typeface="Calibri" pitchFamily="34" charset="-122"/>
                <a:cs typeface="Calibri" pitchFamily="34" charset="-120"/>
              </a:rPr>
              <a:t>MIBOR Transition and FRA Pricing: When the Reference Rate Changes</a:t>
            </a:r>
            <a:endParaRPr lang="en-US" sz="1800" dirty="0"/>
          </a:p>
        </p:txBody>
      </p:sp>
      <p:sp>
        <p:nvSpPr>
          <p:cNvPr id="11" name="Text 9"/>
          <p:cNvSpPr/>
          <p:nvPr/>
        </p:nvSpPr>
        <p:spPr>
          <a:xfrm>
            <a:off x="365760" y="1463040"/>
            <a:ext cx="7498080" cy="2926080"/>
          </a:xfrm>
          <a:prstGeom prst="rect">
            <a:avLst/>
          </a:prstGeom>
          <a:noFill/>
          <a:ln/>
        </p:spPr>
        <p:txBody>
          <a:bodyPr wrap="square" rtlCol="0" anchor="ctr"/>
          <a:lstStyle/>
          <a:p>
            <a:pPr indent="0" marL="0">
              <a:buNone/>
            </a:pPr>
            <a:r>
              <a:rPr lang="en-US" sz="1300" dirty="0">
                <a:solidFill>
                  <a:srgbClr val="1A1A1A"/>
                </a:solidFill>
                <a:latin typeface="Calibri" pitchFamily="34" charset="0"/>
                <a:ea typeface="Calibri" pitchFamily="34" charset="-122"/>
                <a:cs typeface="Calibri" pitchFamily="34" charset="-120"/>
              </a:rPr>
              <a:t>In 2022-23, Indian money markets were actively engaged in transitioning from MIBOR (Mumbai Interbank Offered Rate) to MITOR (Mumbai Interbank Repo Rate) as the reference rate for Indian Rupee derivatives — mirroring the global LIBOR-to-SOFR transition.</a:t>
            </a:r>
            <a:endParaRPr lang="en-US" sz="1300" dirty="0"/>
          </a:p>
          <a:p>
            <a:pPr indent="0" marL="0">
              <a:buNone/>
            </a:pPr>
            <a:endParaRPr lang="en-US" sz="1300" dirty="0"/>
          </a:p>
          <a:p>
            <a:pPr indent="0" marL="0">
              <a:buNone/>
            </a:pPr>
            <a:r>
              <a:rPr lang="en-US" sz="1300" dirty="0">
                <a:solidFill>
                  <a:srgbClr val="1A1A1A"/>
                </a:solidFill>
                <a:latin typeface="Calibri" pitchFamily="34" charset="0"/>
                <a:ea typeface="Calibri" pitchFamily="34" charset="-122"/>
                <a:cs typeface="Calibri" pitchFamily="34" charset="-120"/>
              </a:rPr>
              <a:t>FRAs referencing MIBOR had to be renegotiated or had fallback provisions applied. Operations teams had to identify all MIBOR-linked FRAs in their books, apply the approved fallback spread adjustment, and update the reference rate field in all confirmation documents — a significant operational exercise.</a:t>
            </a:r>
            <a:endParaRPr lang="en-US" sz="1300" dirty="0"/>
          </a:p>
        </p:txBody>
      </p:sp>
      <p:sp>
        <p:nvSpPr>
          <p:cNvPr id="12" name="Shape 10"/>
          <p:cNvSpPr/>
          <p:nvPr/>
        </p:nvSpPr>
        <p:spPr>
          <a:xfrm>
            <a:off x="8046720" y="1463040"/>
            <a:ext cx="3931920" cy="2926080"/>
          </a:xfrm>
          <a:prstGeom prst="rect">
            <a:avLst/>
          </a:prstGeom>
          <a:solidFill>
            <a:srgbClr val="D5E3F0"/>
          </a:solidFill>
          <a:ln w="12700">
            <a:solidFill>
              <a:srgbClr val="1E3A5F"/>
            </a:solidFill>
            <a:prstDash val="solid"/>
          </a:ln>
        </p:spPr>
      </p:sp>
      <p:sp>
        <p:nvSpPr>
          <p:cNvPr id="13" name="Text 11"/>
          <p:cNvSpPr/>
          <p:nvPr/>
        </p:nvSpPr>
        <p:spPr>
          <a:xfrm>
            <a:off x="8046720" y="1463040"/>
            <a:ext cx="3931920" cy="2926080"/>
          </a:xfrm>
          <a:prstGeom prst="rect">
            <a:avLst/>
          </a:prstGeom>
          <a:noFill/>
          <a:ln/>
        </p:spPr>
        <p:txBody>
          <a:bodyPr wrap="square" rtlCol="0" anchor="t"/>
          <a:lstStyle/>
          <a:p>
            <a:pPr indent="0" marL="0">
              <a:buNone/>
            </a:pPr>
            <a:r>
              <a:rPr lang="en-US" sz="1200" dirty="0">
                <a:solidFill>
                  <a:srgbClr val="1E3A5F"/>
                </a:solidFill>
                <a:latin typeface="Calibri" pitchFamily="34" charset="0"/>
                <a:ea typeface="Calibri" pitchFamily="34" charset="-122"/>
                <a:cs typeface="Calibri" pitchFamily="34" charset="-120"/>
              </a:rPr>
              <a:t>IBOR TRANSITION:</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Global: LIBOR → SOFR</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31 Dec 2021 (USD)</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India: MIBOR → MITOR</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(ongoing 2022-24)</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$400 Tn+</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global IBOR-linked</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notional outstanding</a:t>
            </a:r>
            <a:endParaRPr lang="en-US" sz="1200" dirty="0"/>
          </a:p>
          <a:p>
            <a:pPr indent="0" marL="0">
              <a:buNone/>
            </a:pP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Fallback spread:</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pre-calculated by</a:t>
            </a:r>
            <a:endParaRPr lang="en-US" sz="1200" dirty="0"/>
          </a:p>
          <a:p>
            <a:pPr indent="0" marL="0">
              <a:buNone/>
            </a:pPr>
            <a:r>
              <a:rPr lang="en-US" sz="1200" dirty="0">
                <a:solidFill>
                  <a:srgbClr val="1E3A5F"/>
                </a:solidFill>
                <a:latin typeface="Calibri" pitchFamily="34" charset="0"/>
                <a:ea typeface="Calibri" pitchFamily="34" charset="-122"/>
                <a:cs typeface="Calibri" pitchFamily="34" charset="-120"/>
              </a:rPr>
              <a:t>ISDA/ARRC</a:t>
            </a:r>
            <a:endParaRPr lang="en-US" sz="1200" dirty="0"/>
          </a:p>
        </p:txBody>
      </p:sp>
      <p:sp>
        <p:nvSpPr>
          <p:cNvPr id="14" name="Shape 12"/>
          <p:cNvSpPr/>
          <p:nvPr/>
        </p:nvSpPr>
        <p:spPr>
          <a:xfrm>
            <a:off x="0" y="4572000"/>
            <a:ext cx="12192000" cy="1188720"/>
          </a:xfrm>
          <a:prstGeom prst="rect">
            <a:avLst/>
          </a:prstGeom>
          <a:solidFill>
            <a:srgbClr val="005F5F"/>
          </a:solidFill>
          <a:ln/>
        </p:spPr>
      </p:sp>
      <p:sp>
        <p:nvSpPr>
          <p:cNvPr id="15" name="Text 13"/>
          <p:cNvSpPr/>
          <p:nvPr/>
        </p:nvSpPr>
        <p:spPr>
          <a:xfrm>
            <a:off x="365760" y="4572000"/>
            <a:ext cx="11430000" cy="1188720"/>
          </a:xfrm>
          <a:prstGeom prst="rect">
            <a:avLst/>
          </a:prstGeom>
          <a:noFill/>
          <a:ln/>
        </p:spPr>
        <p:txBody>
          <a:bodyPr wrap="square"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  Your desk has 200 open FRAs referencing MIBOR across various tenors. The transition to MITOR takes effect in 3 months. Walk through the operational steps required to complete the transition, and what could go wrong.</a:t>
            </a:r>
            <a:endParaRPr lang="en-US" sz="1500" dirty="0"/>
          </a:p>
        </p:txBody>
      </p:sp>
      <p:sp>
        <p:nvSpPr>
          <p:cNvPr id="16" name="Text 14"/>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DER.12</a:t>
            </a:r>
            <a:endParaRPr lang="en-US" sz="800" dirty="0"/>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name="Slide 70">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005F5F"/>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005F5F"/>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KEY CONCEPT</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DER.12</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FRA: Structure, Terms and Settlement Mechanics</a:t>
            </a:r>
            <a:endParaRPr lang="en-US" sz="2000" dirty="0"/>
          </a:p>
        </p:txBody>
      </p:sp>
      <p:graphicFrame>
        <p:nvGraphicFramePr>
          <p:cNvPr id="71" name="Table 0"/>
          <p:cNvGraphicFramePr>
            <a:graphicFrameLocks noGrp="1"/>
          </p:cNvGraphicFramePr>
          <p:nvPr>
            <p:extLst>
              <p:ext uri="{D42A27DB-BD31-4B8C-83A1-F6EECF244321}">
                <p14:modId xmlns:p14="http://schemas.microsoft.com/office/powerpoint/2010/main" val="1579011935"/>
              </p:ext>
            </p:extLst>
          </p:nvPr>
        </p:nvGraphicFramePr>
        <p:xfrm>
          <a:off x="274320" y="1280160"/>
          <a:ext cx="11612880" cy="4206240"/>
        </p:xfrm>
        <a:graphic>
          <a:graphicData uri="http://schemas.openxmlformats.org/drawingml/2006/table">
            <a:tbl>
              <a:tblPr/>
              <a:tblGrid>
                <a:gridCol w="2903220"/>
                <a:gridCol w="2903220"/>
                <a:gridCol w="2903220"/>
                <a:gridCol w="2903220"/>
              </a:tblGrid>
              <a:tr h="600891">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TERM</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DEFINITION</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EXAMPLE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OPERATIONS RELEVANCE</a:t>
                      </a:r>
                      <a:endParaRPr lang="en-US" sz="11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1E3A5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Notional Amount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Reference amount for interest calculation — NEVER exchanged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₹100 crore (reference only)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Confirm notional matches between counterparties; never appears in settlement instructions as a transfer</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Effective Date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Start of the interest period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3 months from today — FRA settlement date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Settlement instruction date; also the day cash payment is made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Termination Date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End of the interest period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6 months from today (3×6 FRA)</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Determines FRA duration for interest calculation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Fixed Rate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Agreed contracted rate; one party pays this</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4.50% per annum</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Must match both parties' confirmations exactly</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Reference Rate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Market benchmark for floating side</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MIBOR, SOFR, EURIBOR</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Confirm which fixing/publication date is used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FFFFFF"/>
                    </a:solidFill>
                  </a:tcPr>
                </a:tc>
              </a:tr>
              <a:tr h="600891">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Settlement</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Cash = (Float – Fixed) × Notional × Days/360 ÷ discount factor</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If MIBOR=5%: (5%–4.5%) × ₹100Cr × 90/360 discounted</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c>
                  <a:txBody>
                    <a:bodyPr/>
                    <a:lstStyle/>
                    <a:p>
                      <a:pPr indent="0" marL="0">
                        <a:buNone/>
                      </a:pPr>
                      <a:r>
                        <a:rPr lang="en-US" sz="1000" dirty="0">
                          <a:solidFill>
                            <a:srgbClr val="1A1A1A"/>
                          </a:solidFill>
                          <a:latin typeface="Calibri" pitchFamily="34" charset="0"/>
                          <a:ea typeface="Calibri" pitchFamily="34" charset="-122"/>
                          <a:cs typeface="Calibri" pitchFamily="34" charset="-120"/>
                        </a:rPr>
                        <a:t>Process net cash payment only; verify calculation agent computation</a:t>
                      </a:r>
                      <a:endParaRPr lang="en-US" sz="1000" dirty="0">
                        <a:latin typeface="Calibri" charset="0"/>
                        <a:ea typeface="Calibri" charset="0"/>
                        <a:cs typeface="Calibri" charset="0"/>
                      </a:endParaRPr>
                    </a:p>
                  </a:txBody>
                  <a:tcPr marL="91440" marR="91440" marT="45720" marB="45720">
                    <a:lnL w="6350" cap="flat" cmpd="sng" algn="ctr">
                      <a:solidFill>
                        <a:srgbClr val="AAAAAA"/>
                      </a:solidFill>
                      <a:prstDash val="solid"/>
                      <a:round/>
                      <a:headEnd type="none" w="med" len="med"/>
                      <a:tailEnd type="none" w="med" len="med"/>
                    </a:lnL>
                    <a:lnR w="6350" cap="flat" cmpd="sng" algn="ctr">
                      <a:solidFill>
                        <a:srgbClr val="AAAAAA"/>
                      </a:solidFill>
                      <a:prstDash val="solid"/>
                      <a:round/>
                      <a:headEnd type="none" w="med" len="med"/>
                      <a:tailEnd type="none" w="med" len="med"/>
                    </a:lnR>
                    <a:lnT w="6350" cap="flat" cmpd="sng" algn="ctr">
                      <a:solidFill>
                        <a:srgbClr val="AAAAAA"/>
                      </a:solidFill>
                      <a:prstDash val="solid"/>
                      <a:round/>
                      <a:headEnd type="none" w="med" len="med"/>
                      <a:tailEnd type="none" w="med" len="med"/>
                    </a:lnT>
                    <a:lnB w="6350" cap="flat" cmpd="sng" algn="ctr">
                      <a:solidFill>
                        <a:srgbClr val="AAAAAA"/>
                      </a:solidFill>
                      <a:prstDash val="solid"/>
                      <a:round/>
                      <a:headEnd type="none" w="med" len="med"/>
                      <a:tailEnd type="none" w="med" len="med"/>
                    </a:lnB>
                    <a:solidFill>
                      <a:srgbClr val="D5E3F0"/>
                    </a:solidFill>
                  </a:tcPr>
                </a:tc>
              </a:tr>
            </a:tbl>
          </a:graphicData>
        </a:graphic>
      </p:graphicFrame>
      <p:sp>
        <p:nvSpPr>
          <p:cNvPr id="11" name="Text 8"/>
          <p:cNvSpPr/>
          <p:nvPr/>
        </p:nvSpPr>
        <p:spPr>
          <a:xfrm>
            <a:off x="274320" y="6035040"/>
            <a:ext cx="11612880" cy="365760"/>
          </a:xfrm>
          <a:prstGeom prst="rect">
            <a:avLst/>
          </a:prstGeom>
          <a:noFill/>
          <a:ln/>
        </p:spPr>
        <p:txBody>
          <a:bodyPr wrap="square" rtlCol="0" anchor="ctr"/>
          <a:lstStyle/>
          <a:p>
            <a:pPr indent="0" marL="0">
              <a:buNone/>
            </a:pPr>
            <a:r>
              <a:rPr lang="en-US" sz="1000" dirty="0">
                <a:solidFill>
                  <a:srgbClr val="005F5F"/>
                </a:solidFill>
                <a:latin typeface="Calibri" pitchFamily="34" charset="0"/>
                <a:ea typeface="Calibri" pitchFamily="34" charset="-122"/>
                <a:cs typeface="Calibri" pitchFamily="34" charset="-120"/>
              </a:rPr>
              <a:t>⚡  Key operations rule: the notional never moves in an FRA. Only the net interest differential — discounted back to settlement date — is physically transferred.</a:t>
            </a:r>
            <a:endParaRPr lang="en-US" sz="1000" dirty="0"/>
          </a:p>
        </p:txBody>
      </p:sp>
      <p:sp>
        <p:nvSpPr>
          <p:cNvPr id="12" name="Text 9"/>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DER.12</a:t>
            </a:r>
            <a:endParaRPr lang="en-US" sz="800" dirty="0"/>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71">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1E3A5F"/>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GOING DEEPER</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DER.12</a:t>
            </a:r>
            <a:endParaRPr lang="en-US" sz="1000" dirty="0"/>
          </a:p>
        </p:txBody>
      </p:sp>
      <p:sp>
        <p:nvSpPr>
          <p:cNvPr id="9" name="Text 7"/>
          <p:cNvSpPr/>
          <p:nvPr/>
        </p:nvSpPr>
        <p:spPr>
          <a:xfrm>
            <a:off x="274320" y="502920"/>
            <a:ext cx="11612880" cy="640080"/>
          </a:xfrm>
          <a:prstGeom prst="rect">
            <a:avLst/>
          </a:prstGeom>
          <a:noFill/>
          <a:ln/>
        </p:spPr>
        <p:txBody>
          <a:bodyPr wrap="square" rtlCol="0" anchor="ctr"/>
          <a:lstStyle/>
          <a:p>
            <a:pPr indent="0" marL="0">
              <a:buNone/>
            </a:pPr>
            <a:r>
              <a:rPr lang="en-US" sz="2000" b="1" dirty="0">
                <a:solidFill>
                  <a:srgbClr val="1E3A5F"/>
                </a:solidFill>
                <a:latin typeface="Calibri" pitchFamily="34" charset="0"/>
                <a:ea typeface="Calibri" pitchFamily="34" charset="-122"/>
                <a:cs typeface="Calibri" pitchFamily="34" charset="-120"/>
              </a:rPr>
              <a:t>Four Insights on FRAs and Interest Rate Derivatives</a:t>
            </a:r>
            <a:endParaRPr lang="en-US" sz="2000" dirty="0"/>
          </a:p>
        </p:txBody>
      </p:sp>
      <p:sp>
        <p:nvSpPr>
          <p:cNvPr id="10" name="Shape 8"/>
          <p:cNvSpPr/>
          <p:nvPr/>
        </p:nvSpPr>
        <p:spPr>
          <a:xfrm>
            <a:off x="274320" y="1280160"/>
            <a:ext cx="5669280" cy="2377440"/>
          </a:xfrm>
          <a:prstGeom prst="rect">
            <a:avLst/>
          </a:prstGeom>
          <a:solidFill>
            <a:srgbClr val="D5E3F0"/>
          </a:solidFill>
          <a:ln w="6350">
            <a:solidFill>
              <a:srgbClr val="AAAAAA"/>
            </a:solidFill>
            <a:prstDash val="solid"/>
          </a:ln>
        </p:spPr>
      </p:sp>
      <p:sp>
        <p:nvSpPr>
          <p:cNvPr id="11" name="Shape 9"/>
          <p:cNvSpPr/>
          <p:nvPr/>
        </p:nvSpPr>
        <p:spPr>
          <a:xfrm>
            <a:off x="365760" y="1371600"/>
            <a:ext cx="457200" cy="457200"/>
          </a:xfrm>
          <a:prstGeom prst="ellipse">
            <a:avLst/>
          </a:prstGeom>
          <a:solidFill>
            <a:srgbClr val="1E3A5F"/>
          </a:solidFill>
          <a:ln/>
        </p:spPr>
      </p:sp>
      <p:sp>
        <p:nvSpPr>
          <p:cNvPr id="12" name="Text 10"/>
          <p:cNvSpPr/>
          <p:nvPr/>
        </p:nvSpPr>
        <p:spPr>
          <a:xfrm>
            <a:off x="36576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3" name="Text 11"/>
          <p:cNvSpPr/>
          <p:nvPr/>
        </p:nvSpPr>
        <p:spPr>
          <a:xfrm>
            <a:off x="91440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FRA Notation "3×6" Means Something Specific</a:t>
            </a:r>
            <a:endParaRPr lang="en-US" sz="1200" dirty="0"/>
          </a:p>
        </p:txBody>
      </p:sp>
      <p:sp>
        <p:nvSpPr>
          <p:cNvPr id="14" name="Text 12"/>
          <p:cNvSpPr/>
          <p:nvPr/>
        </p:nvSpPr>
        <p:spPr>
          <a:xfrm>
            <a:off x="41148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"3×6" means the FRA covers the interest period starting 3 months from today and ending 6 months from today — a 3-month interest period, starting in 3 months. "6×9" means 3 months starting in 6 months. Operations must parse this notation correctly in confirmation matching — misinterpreting a "3×6" as "3-6 month total tenor" creates wrong effective dates in trade systems.</a:t>
            </a:r>
            <a:endParaRPr lang="en-US" sz="1000" dirty="0"/>
          </a:p>
        </p:txBody>
      </p:sp>
      <p:sp>
        <p:nvSpPr>
          <p:cNvPr id="15" name="Shape 13"/>
          <p:cNvSpPr/>
          <p:nvPr/>
        </p:nvSpPr>
        <p:spPr>
          <a:xfrm>
            <a:off x="6126480" y="1280160"/>
            <a:ext cx="5669280" cy="2377440"/>
          </a:xfrm>
          <a:prstGeom prst="rect">
            <a:avLst/>
          </a:prstGeom>
          <a:solidFill>
            <a:srgbClr val="D4EFEF"/>
          </a:solidFill>
          <a:ln w="6350">
            <a:solidFill>
              <a:srgbClr val="AAAAAA"/>
            </a:solidFill>
            <a:prstDash val="solid"/>
          </a:ln>
        </p:spPr>
      </p:sp>
      <p:sp>
        <p:nvSpPr>
          <p:cNvPr id="16" name="Shape 14"/>
          <p:cNvSpPr/>
          <p:nvPr/>
        </p:nvSpPr>
        <p:spPr>
          <a:xfrm>
            <a:off x="6217920" y="1371600"/>
            <a:ext cx="457200" cy="457200"/>
          </a:xfrm>
          <a:prstGeom prst="ellipse">
            <a:avLst/>
          </a:prstGeom>
          <a:solidFill>
            <a:srgbClr val="005F5F"/>
          </a:solidFill>
          <a:ln/>
        </p:spPr>
      </p:sp>
      <p:sp>
        <p:nvSpPr>
          <p:cNvPr id="17" name="Text 15"/>
          <p:cNvSpPr/>
          <p:nvPr/>
        </p:nvSpPr>
        <p:spPr>
          <a:xfrm>
            <a:off x="6217920" y="137160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6"/>
          <p:cNvSpPr/>
          <p:nvPr/>
        </p:nvSpPr>
        <p:spPr>
          <a:xfrm>
            <a:off x="6766560" y="137160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The Discounting Makes FRA Settlement Non-Trivial</a:t>
            </a:r>
            <a:endParaRPr lang="en-US" sz="1200" dirty="0"/>
          </a:p>
        </p:txBody>
      </p:sp>
      <p:sp>
        <p:nvSpPr>
          <p:cNvPr id="19" name="Text 17"/>
          <p:cNvSpPr/>
          <p:nvPr/>
        </p:nvSpPr>
        <p:spPr>
          <a:xfrm>
            <a:off x="6263640" y="187452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Unlike a simple forward where settlement amount = (spot – forward) × quantity, FRA settlement must be discounted because payment is made at the START of the interest period (effective date), not the end. The discount factor is (1 + reference rate × days/360). Missing this discounting step overstates the settlement amount. The error may be small for short periods but significant for large notionals.</a:t>
            </a:r>
            <a:endParaRPr lang="en-US" sz="1000" dirty="0"/>
          </a:p>
        </p:txBody>
      </p:sp>
      <p:sp>
        <p:nvSpPr>
          <p:cNvPr id="20" name="Shape 18"/>
          <p:cNvSpPr/>
          <p:nvPr/>
        </p:nvSpPr>
        <p:spPr>
          <a:xfrm>
            <a:off x="274320" y="3840480"/>
            <a:ext cx="5669280" cy="2377440"/>
          </a:xfrm>
          <a:prstGeom prst="rect">
            <a:avLst/>
          </a:prstGeom>
          <a:solidFill>
            <a:srgbClr val="FEF9E7"/>
          </a:solidFill>
          <a:ln w="6350">
            <a:solidFill>
              <a:srgbClr val="AAAAAA"/>
            </a:solidFill>
            <a:prstDash val="solid"/>
          </a:ln>
        </p:spPr>
      </p:sp>
      <p:sp>
        <p:nvSpPr>
          <p:cNvPr id="21" name="Shape 19"/>
          <p:cNvSpPr/>
          <p:nvPr/>
        </p:nvSpPr>
        <p:spPr>
          <a:xfrm>
            <a:off x="365760" y="3931920"/>
            <a:ext cx="457200" cy="457200"/>
          </a:xfrm>
          <a:prstGeom prst="ellipse">
            <a:avLst/>
          </a:prstGeom>
          <a:solidFill>
            <a:srgbClr val="B8860B"/>
          </a:solidFill>
          <a:ln/>
        </p:spPr>
      </p:sp>
      <p:sp>
        <p:nvSpPr>
          <p:cNvPr id="22" name="Text 20"/>
          <p:cNvSpPr/>
          <p:nvPr/>
        </p:nvSpPr>
        <p:spPr>
          <a:xfrm>
            <a:off x="36576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3" name="Text 21"/>
          <p:cNvSpPr/>
          <p:nvPr/>
        </p:nvSpPr>
        <p:spPr>
          <a:xfrm>
            <a:off x="91440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IBOR Transition Changed 40+ Years of Reference Rate Infrastructure</a:t>
            </a:r>
            <a:endParaRPr lang="en-US" sz="1200" dirty="0"/>
          </a:p>
        </p:txBody>
      </p:sp>
      <p:sp>
        <p:nvSpPr>
          <p:cNvPr id="24" name="Text 22"/>
          <p:cNvSpPr/>
          <p:nvPr/>
        </p:nvSpPr>
        <p:spPr>
          <a:xfrm>
            <a:off x="41148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Every FRA, IRS, and floating-rate bond written before 2022 referenced LIBOR or equivalent. The transition to risk-free rates (SOFR, SONIA, MITOR) required: updating systems with new rate feeds, applying spread adjustments to outstanding contracts, amending ISDA confirmations under fallback protocols, and retraining operations teams on new fixing conventions. This was one of the largest coordinated operations projects in derivatives history.</a:t>
            </a:r>
            <a:endParaRPr lang="en-US" sz="1000" dirty="0"/>
          </a:p>
        </p:txBody>
      </p:sp>
      <p:sp>
        <p:nvSpPr>
          <p:cNvPr id="25" name="Shape 23"/>
          <p:cNvSpPr/>
          <p:nvPr/>
        </p:nvSpPr>
        <p:spPr>
          <a:xfrm>
            <a:off x="6126480" y="3840480"/>
            <a:ext cx="5669280" cy="2377440"/>
          </a:xfrm>
          <a:prstGeom prst="rect">
            <a:avLst/>
          </a:prstGeom>
          <a:solidFill>
            <a:srgbClr val="F3E5F5"/>
          </a:solidFill>
          <a:ln w="6350">
            <a:solidFill>
              <a:srgbClr val="AAAAAA"/>
            </a:solidFill>
            <a:prstDash val="solid"/>
          </a:ln>
        </p:spPr>
      </p:sp>
      <p:sp>
        <p:nvSpPr>
          <p:cNvPr id="26" name="Shape 24"/>
          <p:cNvSpPr/>
          <p:nvPr/>
        </p:nvSpPr>
        <p:spPr>
          <a:xfrm>
            <a:off x="6217920" y="3931920"/>
            <a:ext cx="457200" cy="457200"/>
          </a:xfrm>
          <a:prstGeom prst="ellipse">
            <a:avLst/>
          </a:prstGeom>
          <a:solidFill>
            <a:srgbClr val="1E3A5F"/>
          </a:solidFill>
          <a:ln/>
        </p:spPr>
      </p:sp>
      <p:sp>
        <p:nvSpPr>
          <p:cNvPr id="27" name="Text 25"/>
          <p:cNvSpPr/>
          <p:nvPr/>
        </p:nvSpPr>
        <p:spPr>
          <a:xfrm>
            <a:off x="6217920" y="3931920"/>
            <a:ext cx="457200" cy="457200"/>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6"/>
          <p:cNvSpPr/>
          <p:nvPr/>
        </p:nvSpPr>
        <p:spPr>
          <a:xfrm>
            <a:off x="6766560" y="3931920"/>
            <a:ext cx="4892040" cy="457200"/>
          </a:xfrm>
          <a:prstGeom prst="rect">
            <a:avLst/>
          </a:prstGeom>
          <a:noFill/>
          <a:ln/>
        </p:spPr>
        <p:txBody>
          <a:bodyPr wrap="square" rtlCol="0" anchor="ctr"/>
          <a:lstStyle/>
          <a:p>
            <a:pPr indent="0" marL="0">
              <a:buNone/>
            </a:pPr>
            <a:r>
              <a:rPr lang="en-US" sz="1200" b="1" dirty="0">
                <a:solidFill>
                  <a:srgbClr val="1A1A1A"/>
                </a:solidFill>
                <a:latin typeface="Calibri" pitchFamily="34" charset="0"/>
                <a:ea typeface="Calibri" pitchFamily="34" charset="-122"/>
                <a:cs typeface="Calibri" pitchFamily="34" charset="-120"/>
              </a:rPr>
              <a:t>FRAs Are the Building Blocks of Interest Rate Swaps</a:t>
            </a:r>
            <a:endParaRPr lang="en-US" sz="1200" dirty="0"/>
          </a:p>
        </p:txBody>
      </p:sp>
      <p:sp>
        <p:nvSpPr>
          <p:cNvPr id="29" name="Text 27"/>
          <p:cNvSpPr/>
          <p:nvPr/>
        </p:nvSpPr>
        <p:spPr>
          <a:xfrm>
            <a:off x="6263640" y="4434840"/>
            <a:ext cx="5394960" cy="1645920"/>
          </a:xfrm>
          <a:prstGeom prst="rect">
            <a:avLst/>
          </a:prstGeom>
          <a:noFill/>
          <a:ln/>
        </p:spPr>
        <p:txBody>
          <a:bodyPr wrap="square" rtlCol="0" anchor="ctr"/>
          <a:lstStyle/>
          <a:p>
            <a:pPr indent="0" marL="0">
              <a:buNone/>
            </a:pPr>
            <a:r>
              <a:rPr lang="en-US" sz="1000" dirty="0">
                <a:solidFill>
                  <a:srgbClr val="1A1A1A"/>
                </a:solidFill>
                <a:latin typeface="Calibri" pitchFamily="34" charset="0"/>
                <a:ea typeface="Calibri" pitchFamily="34" charset="-122"/>
                <a:cs typeface="Calibri" pitchFamily="34" charset="-120"/>
              </a:rPr>
              <a:t>An interest rate swap is economically equivalent to a portfolio of FRAs — each swap period can be replicated by a separate FRA covering that period. This mathematical equivalence means FRA pricing and swap pricing are intimately linked. A 2-year floating-to-fixed swap is priced to be consistent with the strip of FRAs covering each 6-month period of the swap. Understanding FRAs is foundational to understanding swap markets.</a:t>
            </a:r>
            <a:endParaRPr lang="en-US" sz="1000" dirty="0"/>
          </a:p>
        </p:txBody>
      </p:sp>
      <p:sp>
        <p:nvSpPr>
          <p:cNvPr id="30" name="Text 28"/>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DER.12</a:t>
            </a:r>
            <a:endParaRPr lang="en-US" sz="80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name="Slide 72">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005F5F"/>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B8860B"/>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THINK &amp; DISCUSS</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DER.12</a:t>
            </a:r>
            <a:endParaRPr lang="en-US" sz="1000" dirty="0"/>
          </a:p>
        </p:txBody>
      </p:sp>
      <p:sp>
        <p:nvSpPr>
          <p:cNvPr id="9" name="Shape 7"/>
          <p:cNvSpPr/>
          <p:nvPr/>
        </p:nvSpPr>
        <p:spPr>
          <a:xfrm>
            <a:off x="365760" y="914400"/>
            <a:ext cx="11155680" cy="3840480"/>
          </a:xfrm>
          <a:prstGeom prst="rect">
            <a:avLst/>
          </a:prstGeom>
          <a:solidFill>
            <a:srgbClr val="004444"/>
          </a:solidFill>
          <a:ln w="12700">
            <a:solidFill>
              <a:srgbClr val="B8860B"/>
            </a:solidFill>
            <a:prstDash val="solid"/>
          </a:ln>
        </p:spPr>
      </p:sp>
      <p:sp>
        <p:nvSpPr>
          <p:cNvPr id="10" name="Text 8"/>
          <p:cNvSpPr/>
          <p:nvPr/>
        </p:nvSpPr>
        <p:spPr>
          <a:xfrm>
            <a:off x="9144000" y="548640"/>
            <a:ext cx="2926080" cy="457200"/>
          </a:xfrm>
          <a:prstGeom prst="rect">
            <a:avLst/>
          </a:prstGeom>
          <a:noFill/>
          <a:ln/>
        </p:spPr>
        <p:txBody>
          <a:bodyPr wrap="square" rtlCol="0" anchor="ctr"/>
          <a:lstStyle/>
          <a:p>
            <a:pPr algn="r" indent="0" marL="0">
              <a:buNone/>
            </a:pPr>
            <a:r>
              <a:rPr lang="en-US" sz="1400" b="1" dirty="0">
                <a:solidFill>
                  <a:srgbClr val="B8860B"/>
                </a:solidFill>
                <a:latin typeface="Calibri" pitchFamily="34" charset="0"/>
                <a:ea typeface="Calibri" pitchFamily="34" charset="-122"/>
                <a:cs typeface="Calibri" pitchFamily="34" charset="-120"/>
              </a:rPr>
              <a:t>🕐  2 MINUTES</a:t>
            </a:r>
            <a:endParaRPr lang="en-US" sz="1400" dirty="0"/>
          </a:p>
        </p:txBody>
      </p:sp>
      <p:sp>
        <p:nvSpPr>
          <p:cNvPr id="11" name="Text 9"/>
          <p:cNvSpPr/>
          <p:nvPr/>
        </p:nvSpPr>
        <p:spPr>
          <a:xfrm>
            <a:off x="640080" y="1188720"/>
            <a:ext cx="10607040" cy="3108960"/>
          </a:xfrm>
          <a:prstGeom prst="rect">
            <a:avLst/>
          </a:prstGeom>
          <a:noFill/>
          <a:ln/>
        </p:spPr>
        <p:txBody>
          <a:bodyPr wrap="square"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"Your corporate client wants to know whether to use a FRA or an interest rate swap to hedge a 3-year floating rate loan. They only need the hedge for the first 6 months. What do you recommend and why?"</a:t>
            </a:r>
            <a:endParaRPr lang="en-US" sz="1800" dirty="0"/>
          </a:p>
        </p:txBody>
      </p:sp>
      <p:sp>
        <p:nvSpPr>
          <p:cNvPr id="12" name="Shape 10"/>
          <p:cNvSpPr/>
          <p:nvPr/>
        </p:nvSpPr>
        <p:spPr>
          <a:xfrm>
            <a:off x="0" y="5029200"/>
            <a:ext cx="12192000" cy="914400"/>
          </a:xfrm>
          <a:prstGeom prst="rect">
            <a:avLst/>
          </a:prstGeom>
          <a:solidFill>
            <a:srgbClr val="003333"/>
          </a:solidFill>
          <a:ln/>
        </p:spPr>
      </p:sp>
      <p:sp>
        <p:nvSpPr>
          <p:cNvPr id="13" name="Text 11"/>
          <p:cNvSpPr/>
          <p:nvPr/>
        </p:nvSpPr>
        <p:spPr>
          <a:xfrm>
            <a:off x="365760" y="5029200"/>
            <a:ext cx="11430000" cy="914400"/>
          </a:xfrm>
          <a:prstGeom prst="rect">
            <a:avLst/>
          </a:prstGeom>
          <a:noFill/>
          <a:ln/>
        </p:spPr>
        <p:txBody>
          <a:bodyPr wrap="square" rtlCol="0" anchor="ctr"/>
          <a:lstStyle/>
          <a:p>
            <a:pPr indent="0" marL="0">
              <a:buNone/>
            </a:pPr>
            <a:r>
              <a:rPr lang="en-US" sz="1300" dirty="0">
                <a:solidFill>
                  <a:srgbClr val="CADCFC"/>
                </a:solidFill>
                <a:latin typeface="Calibri" pitchFamily="34" charset="0"/>
                <a:ea typeface="Calibri" pitchFamily="34" charset="-122"/>
                <a:cs typeface="Calibri" pitchFamily="34" charset="-120"/>
              </a:rPr>
              <a:t>💡  Hint: Think about: FRA covers one specific period (perfect for 6-month hedge), swap covers multiple periods (overkill for 6 months), termination cost of unwinding a swap early vs simply letting an FRA expire.</a:t>
            </a:r>
            <a:endParaRPr lang="en-US" sz="1300" dirty="0"/>
          </a:p>
        </p:txBody>
      </p:sp>
      <p:sp>
        <p:nvSpPr>
          <p:cNvPr id="14" name="Text 12"/>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DER.12</a:t>
            </a:r>
            <a:endParaRPr lang="en-US" sz="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name="Slide 73">
    <p:spTree>
      <p:nvGrpSpPr>
        <p:cNvPr id="1" name=""/>
        <p:cNvGrpSpPr/>
        <p:nvPr/>
      </p:nvGrpSpPr>
      <p:grpSpPr>
        <a:xfrm>
          <a:off x="0" y="0"/>
          <a:ext cx="0" cy="0"/>
          <a:chOff x="0" y="0"/>
          <a:chExt cx="0" cy="0"/>
        </a:xfrm>
      </p:grpSpPr>
      <p:sp>
        <p:nvSpPr>
          <p:cNvPr id="2" name="Shape 0"/>
          <p:cNvSpPr/>
          <p:nvPr/>
        </p:nvSpPr>
        <p:spPr>
          <a:xfrm>
            <a:off x="0" y="0"/>
            <a:ext cx="12192000" cy="6858000"/>
          </a:xfrm>
          <a:prstGeom prst="rect">
            <a:avLst/>
          </a:prstGeom>
          <a:solidFill>
            <a:srgbClr val="F4F6FA"/>
          </a:solidFill>
          <a:ln/>
        </p:spPr>
      </p:sp>
      <p:sp>
        <p:nvSpPr>
          <p:cNvPr id="3" name="Shape 1"/>
          <p:cNvSpPr/>
          <p:nvPr/>
        </p:nvSpPr>
        <p:spPr>
          <a:xfrm>
            <a:off x="0" y="0"/>
            <a:ext cx="12192000" cy="73152"/>
          </a:xfrm>
          <a:prstGeom prst="rect">
            <a:avLst/>
          </a:prstGeom>
          <a:solidFill>
            <a:srgbClr val="B8860B"/>
          </a:solidFill>
          <a:ln/>
        </p:spPr>
      </p:sp>
      <p:sp>
        <p:nvSpPr>
          <p:cNvPr id="4" name="Shape 2"/>
          <p:cNvSpPr/>
          <p:nvPr/>
        </p:nvSpPr>
        <p:spPr>
          <a:xfrm>
            <a:off x="0" y="6784848"/>
            <a:ext cx="12192000" cy="73152"/>
          </a:xfrm>
          <a:prstGeom prst="rect">
            <a:avLst/>
          </a:prstGeom>
          <a:solidFill>
            <a:srgbClr val="1E3A5F"/>
          </a:solidFill>
          <a:ln/>
        </p:spPr>
      </p:sp>
      <p:sp>
        <p:nvSpPr>
          <p:cNvPr id="5" name="Shape 3"/>
          <p:cNvSpPr/>
          <p:nvPr/>
        </p:nvSpPr>
        <p:spPr>
          <a:xfrm>
            <a:off x="0" y="73152"/>
            <a:ext cx="1828800" cy="347472"/>
          </a:xfrm>
          <a:prstGeom prst="rect">
            <a:avLst/>
          </a:prstGeom>
          <a:solidFill>
            <a:srgbClr val="B8860B"/>
          </a:solidFill>
          <a:ln/>
        </p:spPr>
      </p:sp>
      <p:sp>
        <p:nvSpPr>
          <p:cNvPr id="6" name="Text 4"/>
          <p:cNvSpPr/>
          <p:nvPr/>
        </p:nvSpPr>
        <p:spPr>
          <a:xfrm>
            <a:off x="0"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INTERVIEW READY</a:t>
            </a:r>
            <a:endParaRPr lang="en-US" sz="1000" dirty="0"/>
          </a:p>
        </p:txBody>
      </p:sp>
      <p:sp>
        <p:nvSpPr>
          <p:cNvPr id="7" name="Shape 5"/>
          <p:cNvSpPr/>
          <p:nvPr/>
        </p:nvSpPr>
        <p:spPr>
          <a:xfrm>
            <a:off x="10360152" y="73152"/>
            <a:ext cx="1828800" cy="347472"/>
          </a:xfrm>
          <a:prstGeom prst="rect">
            <a:avLst/>
          </a:prstGeom>
          <a:solidFill>
            <a:srgbClr val="005F5F"/>
          </a:solidFill>
          <a:ln/>
        </p:spPr>
      </p:sp>
      <p:sp>
        <p:nvSpPr>
          <p:cNvPr id="8" name="Text 6"/>
          <p:cNvSpPr/>
          <p:nvPr/>
        </p:nvSpPr>
        <p:spPr>
          <a:xfrm>
            <a:off x="10360152" y="73152"/>
            <a:ext cx="1828800" cy="34747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DER.12</a:t>
            </a:r>
            <a:endParaRPr lang="en-US" sz="1000" dirty="0"/>
          </a:p>
        </p:txBody>
      </p:sp>
      <p:sp>
        <p:nvSpPr>
          <p:cNvPr id="9" name="Shape 7"/>
          <p:cNvSpPr/>
          <p:nvPr/>
        </p:nvSpPr>
        <p:spPr>
          <a:xfrm>
            <a:off x="0" y="420624"/>
            <a:ext cx="12192000" cy="1371600"/>
          </a:xfrm>
          <a:prstGeom prst="rect">
            <a:avLst/>
          </a:prstGeom>
          <a:solidFill>
            <a:srgbClr val="1E3A5F"/>
          </a:solidFill>
          <a:ln/>
        </p:spPr>
      </p:sp>
      <p:sp>
        <p:nvSpPr>
          <p:cNvPr id="10" name="Text 8"/>
          <p:cNvSpPr/>
          <p:nvPr/>
        </p:nvSpPr>
        <p:spPr>
          <a:xfrm>
            <a:off x="365760" y="502920"/>
            <a:ext cx="11430000" cy="365760"/>
          </a:xfrm>
          <a:prstGeom prst="rect">
            <a:avLst/>
          </a:prstGeom>
          <a:noFill/>
          <a:ln/>
        </p:spPr>
        <p:txBody>
          <a:bodyPr wrap="square" rtlCol="0" anchor="ctr"/>
          <a:lstStyle/>
          <a:p>
            <a:pPr indent="0" marL="0">
              <a:buNone/>
            </a:pPr>
            <a:r>
              <a:rPr lang="en-US" sz="1200" b="1" dirty="0">
                <a:solidFill>
                  <a:srgbClr val="B8860B"/>
                </a:solidFill>
                <a:latin typeface="Calibri" pitchFamily="34" charset="0"/>
                <a:ea typeface="Calibri" pitchFamily="34" charset="-122"/>
                <a:cs typeface="Calibri" pitchFamily="34" charset="-120"/>
              </a:rPr>
              <a:t>💼  Interview Question:</a:t>
            </a:r>
            <a:endParaRPr lang="en-US" sz="1200" dirty="0"/>
          </a:p>
        </p:txBody>
      </p:sp>
      <p:sp>
        <p:nvSpPr>
          <p:cNvPr id="11" name="Text 9"/>
          <p:cNvSpPr/>
          <p:nvPr/>
        </p:nvSpPr>
        <p:spPr>
          <a:xfrm>
            <a:off x="365760" y="914400"/>
            <a:ext cx="11430000" cy="822960"/>
          </a:xfrm>
          <a:prstGeom prst="rect">
            <a:avLst/>
          </a:prstGeom>
          <a:noFill/>
          <a:ln/>
        </p:spPr>
        <p:txBody>
          <a:bodyPr wrap="square"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"What is a Forward Rate Agreement, how does it work, and how is the settlement calculated?"</a:t>
            </a:r>
            <a:endParaRPr lang="en-US" sz="1600" dirty="0"/>
          </a:p>
        </p:txBody>
      </p:sp>
      <p:sp>
        <p:nvSpPr>
          <p:cNvPr id="12" name="Text 10"/>
          <p:cNvSpPr/>
          <p:nvPr/>
        </p:nvSpPr>
        <p:spPr>
          <a:xfrm>
            <a:off x="365760" y="1965960"/>
            <a:ext cx="11430000" cy="365760"/>
          </a:xfrm>
          <a:prstGeom prst="rect">
            <a:avLst/>
          </a:prstGeom>
          <a:noFill/>
          <a:ln/>
        </p:spPr>
        <p:txBody>
          <a:bodyPr wrap="square" rtlCol="0" anchor="ctr"/>
          <a:lstStyle/>
          <a:p>
            <a:pPr indent="0" marL="0">
              <a:buNone/>
            </a:pPr>
            <a:r>
              <a:rPr lang="en-US" sz="1100" b="1" dirty="0">
                <a:solidFill>
                  <a:srgbClr val="005F5F"/>
                </a:solidFill>
                <a:latin typeface="Calibri" pitchFamily="34" charset="0"/>
                <a:ea typeface="Calibri" pitchFamily="34" charset="-122"/>
                <a:cs typeface="Calibri" pitchFamily="34" charset="-120"/>
              </a:rPr>
              <a:t>STRONG ANSWER FRAMEWORK  (4 points):</a:t>
            </a:r>
            <a:endParaRPr lang="en-US" sz="1100" dirty="0"/>
          </a:p>
        </p:txBody>
      </p:sp>
      <p:sp>
        <p:nvSpPr>
          <p:cNvPr id="13" name="Shape 11"/>
          <p:cNvSpPr/>
          <p:nvPr/>
        </p:nvSpPr>
        <p:spPr>
          <a:xfrm>
            <a:off x="274320" y="2423160"/>
            <a:ext cx="457200" cy="640080"/>
          </a:xfrm>
          <a:prstGeom prst="rect">
            <a:avLst/>
          </a:prstGeom>
          <a:solidFill>
            <a:srgbClr val="1E3A5F"/>
          </a:solidFill>
          <a:ln/>
        </p:spPr>
      </p:sp>
      <p:sp>
        <p:nvSpPr>
          <p:cNvPr id="14" name="Text 12"/>
          <p:cNvSpPr/>
          <p:nvPr/>
        </p:nvSpPr>
        <p:spPr>
          <a:xfrm>
            <a:off x="274320" y="24231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5" name="Shape 13"/>
          <p:cNvSpPr/>
          <p:nvPr/>
        </p:nvSpPr>
        <p:spPr>
          <a:xfrm>
            <a:off x="822960" y="2423160"/>
            <a:ext cx="11064240" cy="640080"/>
          </a:xfrm>
          <a:prstGeom prst="rect">
            <a:avLst/>
          </a:prstGeom>
          <a:solidFill>
            <a:srgbClr val="D5E3F0"/>
          </a:solidFill>
          <a:ln w="6350">
            <a:solidFill>
              <a:srgbClr val="AAAAAA"/>
            </a:solidFill>
            <a:prstDash val="solid"/>
          </a:ln>
        </p:spPr>
      </p:sp>
      <p:sp>
        <p:nvSpPr>
          <p:cNvPr id="16" name="Text 14"/>
          <p:cNvSpPr/>
          <p:nvPr/>
        </p:nvSpPr>
        <p:spPr>
          <a:xfrm>
            <a:off x="914400" y="24231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An FRA is an OTC cash-settled contract between two parties that fixes the interest rate on a notional amount for a specified future period. Key feature: the notional principal is NEVER exchanged — only the net interest differential changes hands.</a:t>
            </a:r>
            <a:endParaRPr lang="en-US" sz="1200" dirty="0"/>
          </a:p>
        </p:txBody>
      </p:sp>
      <p:sp>
        <p:nvSpPr>
          <p:cNvPr id="17" name="Shape 15"/>
          <p:cNvSpPr/>
          <p:nvPr/>
        </p:nvSpPr>
        <p:spPr>
          <a:xfrm>
            <a:off x="274320" y="3337560"/>
            <a:ext cx="457200" cy="640080"/>
          </a:xfrm>
          <a:prstGeom prst="rect">
            <a:avLst/>
          </a:prstGeom>
          <a:solidFill>
            <a:srgbClr val="1E3A5F"/>
          </a:solidFill>
          <a:ln/>
        </p:spPr>
      </p:sp>
      <p:sp>
        <p:nvSpPr>
          <p:cNvPr id="18" name="Text 16"/>
          <p:cNvSpPr/>
          <p:nvPr/>
        </p:nvSpPr>
        <p:spPr>
          <a:xfrm>
            <a:off x="274320" y="33375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9" name="Shape 17"/>
          <p:cNvSpPr/>
          <p:nvPr/>
        </p:nvSpPr>
        <p:spPr>
          <a:xfrm>
            <a:off x="822960" y="3337560"/>
            <a:ext cx="11064240" cy="640080"/>
          </a:xfrm>
          <a:prstGeom prst="rect">
            <a:avLst/>
          </a:prstGeom>
          <a:solidFill>
            <a:srgbClr val="FFFFFF"/>
          </a:solidFill>
          <a:ln w="6350">
            <a:solidFill>
              <a:srgbClr val="AAAAAA"/>
            </a:solidFill>
            <a:prstDash val="solid"/>
          </a:ln>
        </p:spPr>
      </p:sp>
      <p:sp>
        <p:nvSpPr>
          <p:cNvPr id="20" name="Text 18"/>
          <p:cNvSpPr/>
          <p:nvPr/>
        </p:nvSpPr>
        <p:spPr>
          <a:xfrm>
            <a:off x="914400" y="33375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Structure: one party agrees to pay a fixed rate; the other pays/receives the floating reference rate (e.g. MIBOR, SOFR). On the settlement date (effective date of the interest period), the net difference is paid by the losing party to the winning party.</a:t>
            </a:r>
            <a:endParaRPr lang="en-US" sz="1200" dirty="0"/>
          </a:p>
        </p:txBody>
      </p:sp>
      <p:sp>
        <p:nvSpPr>
          <p:cNvPr id="21" name="Shape 19"/>
          <p:cNvSpPr/>
          <p:nvPr/>
        </p:nvSpPr>
        <p:spPr>
          <a:xfrm>
            <a:off x="274320" y="4251960"/>
            <a:ext cx="457200" cy="640080"/>
          </a:xfrm>
          <a:prstGeom prst="rect">
            <a:avLst/>
          </a:prstGeom>
          <a:solidFill>
            <a:srgbClr val="1E3A5F"/>
          </a:solidFill>
          <a:ln/>
        </p:spPr>
      </p:sp>
      <p:sp>
        <p:nvSpPr>
          <p:cNvPr id="22" name="Text 20"/>
          <p:cNvSpPr/>
          <p:nvPr/>
        </p:nvSpPr>
        <p:spPr>
          <a:xfrm>
            <a:off x="274320" y="42519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3" name="Shape 21"/>
          <p:cNvSpPr/>
          <p:nvPr/>
        </p:nvSpPr>
        <p:spPr>
          <a:xfrm>
            <a:off x="822960" y="4251960"/>
            <a:ext cx="11064240" cy="640080"/>
          </a:xfrm>
          <a:prstGeom prst="rect">
            <a:avLst/>
          </a:prstGeom>
          <a:solidFill>
            <a:srgbClr val="D5E3F0"/>
          </a:solidFill>
          <a:ln w="6350">
            <a:solidFill>
              <a:srgbClr val="AAAAAA"/>
            </a:solidFill>
            <a:prstDash val="solid"/>
          </a:ln>
        </p:spPr>
      </p:sp>
      <p:sp>
        <p:nvSpPr>
          <p:cNvPr id="24" name="Text 22"/>
          <p:cNvSpPr/>
          <p:nvPr/>
        </p:nvSpPr>
        <p:spPr>
          <a:xfrm>
            <a:off x="914400" y="42519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Settlement formula: (Reference rate – Fixed rate) × Notional × Days/360, divided by (1 + Reference rate × Days/360). The division discounts the payment back to the settlement date because payment is made at the start of the interest period, not the end.</a:t>
            </a:r>
            <a:endParaRPr lang="en-US" sz="1200" dirty="0"/>
          </a:p>
        </p:txBody>
      </p:sp>
      <p:sp>
        <p:nvSpPr>
          <p:cNvPr id="25" name="Shape 23"/>
          <p:cNvSpPr/>
          <p:nvPr/>
        </p:nvSpPr>
        <p:spPr>
          <a:xfrm>
            <a:off x="274320" y="5166360"/>
            <a:ext cx="457200" cy="640080"/>
          </a:xfrm>
          <a:prstGeom prst="rect">
            <a:avLst/>
          </a:prstGeom>
          <a:solidFill>
            <a:srgbClr val="1E3A5F"/>
          </a:solidFill>
          <a:ln/>
        </p:spPr>
      </p:sp>
      <p:sp>
        <p:nvSpPr>
          <p:cNvPr id="26" name="Text 24"/>
          <p:cNvSpPr/>
          <p:nvPr/>
        </p:nvSpPr>
        <p:spPr>
          <a:xfrm>
            <a:off x="274320" y="5166360"/>
            <a:ext cx="457200" cy="64008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7" name="Shape 25"/>
          <p:cNvSpPr/>
          <p:nvPr/>
        </p:nvSpPr>
        <p:spPr>
          <a:xfrm>
            <a:off x="822960" y="5166360"/>
            <a:ext cx="11064240" cy="640080"/>
          </a:xfrm>
          <a:prstGeom prst="rect">
            <a:avLst/>
          </a:prstGeom>
          <a:solidFill>
            <a:srgbClr val="FFFFFF"/>
          </a:solidFill>
          <a:ln w="6350">
            <a:solidFill>
              <a:srgbClr val="AAAAAA"/>
            </a:solidFill>
            <a:prstDash val="solid"/>
          </a:ln>
        </p:spPr>
      </p:sp>
      <p:sp>
        <p:nvSpPr>
          <p:cNvPr id="28" name="Text 26"/>
          <p:cNvSpPr/>
          <p:nvPr/>
        </p:nvSpPr>
        <p:spPr>
          <a:xfrm>
            <a:off x="914400" y="5166360"/>
            <a:ext cx="10881360" cy="640080"/>
          </a:xfrm>
          <a:prstGeom prst="rect">
            <a:avLst/>
          </a:prstGeom>
          <a:noFill/>
          <a:ln/>
        </p:spPr>
        <p:txBody>
          <a:bodyPr wrap="square" rtlCol="0" anchor="ctr"/>
          <a:lstStyle/>
          <a:p>
            <a:pPr indent="0" marL="0">
              <a:buNone/>
            </a:pPr>
            <a:r>
              <a:rPr lang="en-US" sz="1200" dirty="0">
                <a:solidFill>
                  <a:srgbClr val="1A1A1A"/>
                </a:solidFill>
                <a:latin typeface="Calibri" pitchFamily="34" charset="0"/>
                <a:ea typeface="Calibri" pitchFamily="34" charset="-122"/>
                <a:cs typeface="Calibri" pitchFamily="34" charset="-120"/>
              </a:rPr>
              <a:t>Operations checklist: confirm all fields (both rates, notional, effective date, termination date, reference rate benchmark) match both counterparties' confirmations; obtain reference rate fixing from authorised source; verify calculation agent settlement amount using approved formula; process net cash payment only — never the notional amount.</a:t>
            </a:r>
            <a:endParaRPr lang="en-US" sz="1200" dirty="0"/>
          </a:p>
        </p:txBody>
      </p:sp>
      <p:sp>
        <p:nvSpPr>
          <p:cNvPr id="29" name="Text 27"/>
          <p:cNvSpPr/>
          <p:nvPr/>
        </p:nvSpPr>
        <p:spPr>
          <a:xfrm>
            <a:off x="0" y="6601968"/>
            <a:ext cx="12192000" cy="182880"/>
          </a:xfrm>
          <a:prstGeom prst="rect">
            <a:avLst/>
          </a:prstGeom>
          <a:noFill/>
          <a:ln/>
        </p:spPr>
        <p:txBody>
          <a:bodyPr wrap="square" rtlCol="0" anchor="ctr"/>
          <a:lstStyle/>
          <a:p>
            <a:pPr algn="ctr" indent="0" marL="0">
              <a:buNone/>
            </a:pPr>
            <a:r>
              <a:rPr lang="en-US" sz="800" dirty="0">
                <a:solidFill>
                  <a:srgbClr val="AAAAAA"/>
                </a:solidFill>
                <a:latin typeface="Calibri" pitchFamily="34" charset="0"/>
                <a:ea typeface="Calibri" pitchFamily="34" charset="-122"/>
                <a:cs typeface="Calibri" pitchFamily="34" charset="-120"/>
              </a:rPr>
              <a:t>CIBOP · Module 5 · DER.12</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73</Slides>
  <Notes>73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73</vt:i4>
      </vt:variant>
    </vt:vector>
  </HeadingPairs>
  <TitlesOfParts>
    <vt:vector size="7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lpstr>Slide 59</vt:lpstr>
      <vt:lpstr>Slide 60</vt:lpstr>
      <vt:lpstr>Slide 61</vt:lpstr>
      <vt:lpstr>Slide 62</vt:lpstr>
      <vt:lpstr>Slide 63</vt:lpstr>
      <vt:lpstr>Slide 64</vt:lpstr>
      <vt:lpstr>Slide 65</vt:lpstr>
      <vt:lpstr>Slide 66</vt:lpstr>
      <vt:lpstr>Slide 67</vt:lpstr>
      <vt:lpstr>Slide 68</vt:lpstr>
      <vt:lpstr>Slide 69</vt:lpstr>
      <vt:lpstr>Slide 70</vt:lpstr>
      <vt:lpstr>Slide 71</vt:lpstr>
      <vt:lpstr>Slide 72</vt:lpstr>
      <vt:lpstr>Slide 73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2026-06-04T10:20:13Z</dcterms:created>
  <dcterms:modified xsi:type="dcterms:W3CDTF">2026-06-04T10:20:13Z</dcterms:modified>
</cp:coreProperties>
</file>