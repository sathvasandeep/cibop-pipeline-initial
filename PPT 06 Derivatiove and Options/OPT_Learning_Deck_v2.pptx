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Lst>
  <p:notesMasterIdLst>
    <p:notesMasterId r:id="rId6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notesMaster" Target="notesMasters/notesMaster1.xml"/><Relationship Id="rId70" Type="http://schemas.openxmlformats.org/officeDocument/2006/relationships/presProps" Target="presProps.xml"/><Relationship Id="rId71" Type="http://schemas.openxmlformats.org/officeDocument/2006/relationships/viewProps" Target="viewProps.xml"/><Relationship Id="rId72" Type="http://schemas.openxmlformats.org/officeDocument/2006/relationships/theme" Target="theme/theme1.xml"/><Relationship Id="rId7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3A5F"/>
          </a:solidFill>
          <a:ln/>
        </p:spPr>
      </p:sp>
      <p:sp>
        <p:nvSpPr>
          <p:cNvPr id="3" name="Shape 1"/>
          <p:cNvSpPr/>
          <p:nvPr/>
        </p:nvSpPr>
        <p:spPr>
          <a:xfrm>
            <a:off x="0" y="0"/>
            <a:ext cx="109728" cy="6858000"/>
          </a:xfrm>
          <a:prstGeom prst="rect">
            <a:avLst/>
          </a:prstGeom>
          <a:solidFill>
            <a:srgbClr val="B8860B"/>
          </a:solidFill>
          <a:ln/>
        </p:spPr>
      </p:sp>
      <p:sp>
        <p:nvSpPr>
          <p:cNvPr id="4" name="Text 2"/>
          <p:cNvSpPr/>
          <p:nvPr/>
        </p:nvSpPr>
        <p:spPr>
          <a:xfrm>
            <a:off x="365760" y="914400"/>
            <a:ext cx="11430000" cy="292608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"You paid ₹80 for the right to walk away. You chose not to walk away. Now the option is worth ₹0. Explain — in one sentence — why paying for a right you did not use is still rational."</a:t>
            </a:r>
            <a:endParaRPr lang="en-US" sz="3000" dirty="0"/>
          </a:p>
        </p:txBody>
      </p:sp>
      <p:sp>
        <p:nvSpPr>
          <p:cNvPr id="5" name="Shape 3"/>
          <p:cNvSpPr/>
          <p:nvPr/>
        </p:nvSpPr>
        <p:spPr>
          <a:xfrm>
            <a:off x="1828800" y="4023360"/>
            <a:ext cx="8229600" cy="0"/>
          </a:xfrm>
          <a:prstGeom prst="line">
            <a:avLst/>
          </a:prstGeom>
          <a:noFill/>
          <a:ln w="19050">
            <a:solidFill>
              <a:srgbClr val="B8860B"/>
            </a:solidFill>
            <a:prstDash val="solid"/>
          </a:ln>
        </p:spPr>
      </p:sp>
      <p:sp>
        <p:nvSpPr>
          <p:cNvPr id="6" name="Text 4"/>
          <p:cNvSpPr/>
          <p:nvPr/>
        </p:nvSpPr>
        <p:spPr>
          <a:xfrm>
            <a:off x="365760" y="4206240"/>
            <a:ext cx="11430000" cy="548640"/>
          </a:xfrm>
          <a:prstGeom prst="rect">
            <a:avLst/>
          </a:prstGeom>
          <a:noFill/>
          <a:ln/>
        </p:spPr>
        <p:txBody>
          <a:bodyPr wrap="square" rtlCol="0" anchor="ctr"/>
          <a:lstStyle/>
          <a:p>
            <a:pPr algn="ctr" indent="0" marL="0">
              <a:buNone/>
            </a:pPr>
            <a:r>
              <a:rPr lang="en-US" sz="1600" dirty="0">
                <a:solidFill>
                  <a:srgbClr val="CADCFC"/>
                </a:solidFill>
                <a:latin typeface="Calibri" pitchFamily="34" charset="0"/>
                <a:ea typeface="Calibri" pitchFamily="34" charset="-122"/>
                <a:cs typeface="Calibri" pitchFamily="34" charset="-120"/>
              </a:rPr>
              <a:t>Understanding options begins with understanding optionality itself — and why the right to choose is always worth something.</a:t>
            </a:r>
            <a:endParaRPr lang="en-US" sz="1600" dirty="0"/>
          </a:p>
        </p:txBody>
      </p:sp>
      <p:sp>
        <p:nvSpPr>
          <p:cNvPr id="7" name="Text 5"/>
          <p:cNvSpPr/>
          <p:nvPr/>
        </p:nvSpPr>
        <p:spPr>
          <a:xfrm>
            <a:off x="365760" y="6217920"/>
            <a:ext cx="11430000" cy="365760"/>
          </a:xfrm>
          <a:prstGeom prst="rect">
            <a:avLst/>
          </a:prstGeom>
          <a:noFill/>
          <a:ln/>
        </p:spPr>
        <p:txBody>
          <a:bodyPr wrap="square" rtlCol="0" anchor="ctr"/>
          <a:lstStyle/>
          <a:p>
            <a:pPr algn="ctr" indent="0" marL="0">
              <a:buNone/>
            </a:pPr>
            <a:r>
              <a:rPr lang="en-US" sz="1100" b="1" dirty="0">
                <a:solidFill>
                  <a:srgbClr val="B8860B"/>
                </a:solidFill>
                <a:latin typeface="Calibri" pitchFamily="34" charset="0"/>
                <a:ea typeface="Calibri" pitchFamily="34" charset="-122"/>
                <a:cs typeface="Calibri" pitchFamily="34" charset="-120"/>
              </a:rPr>
              <a:t>CIBOP  ·  Options — Calls, Puts &amp; Strategies  ·  Module 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3A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QUICK RECAP</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OPT.1</a:t>
            </a:r>
            <a:endParaRPr lang="en-US" sz="1000" dirty="0"/>
          </a:p>
        </p:txBody>
      </p:sp>
      <p:sp>
        <p:nvSpPr>
          <p:cNvPr id="9" name="Text 7"/>
          <p:cNvSpPr/>
          <p:nvPr/>
        </p:nvSpPr>
        <p:spPr>
          <a:xfrm>
            <a:off x="8686800" y="1097280"/>
            <a:ext cx="3200400" cy="4572000"/>
          </a:xfrm>
          <a:prstGeom prst="rect">
            <a:avLst/>
          </a:prstGeom>
          <a:noFill/>
          <a:ln/>
        </p:spPr>
        <p:txBody>
          <a:bodyPr wrap="square" rtlCol="0" anchor="ctr"/>
          <a:lstStyle/>
          <a:p>
            <a:pPr algn="ctr" indent="0" marL="0">
              <a:buNone/>
            </a:pPr>
            <a:r>
              <a:rPr lang="en-US" sz="18000" b="1" dirty="0">
                <a:solidFill>
                  <a:srgbClr val="2E4A6E"/>
                </a:solidFill>
                <a:latin typeface="Calibri" pitchFamily="34" charset="0"/>
                <a:ea typeface="Calibri" pitchFamily="34" charset="-122"/>
                <a:cs typeface="Calibri" pitchFamily="34" charset="-120"/>
              </a:rPr>
              <a:t>?</a:t>
            </a:r>
            <a:endParaRPr lang="en-US" sz="18000" dirty="0"/>
          </a:p>
        </p:txBody>
      </p:sp>
      <p:sp>
        <p:nvSpPr>
          <p:cNvPr id="10" name="Text 8"/>
          <p:cNvSpPr/>
          <p:nvPr/>
        </p:nvSpPr>
        <p:spPr>
          <a:xfrm>
            <a:off x="365760" y="548640"/>
            <a:ext cx="8229600" cy="457200"/>
          </a:xfrm>
          <a:prstGeom prst="rect">
            <a:avLst/>
          </a:prstGeom>
          <a:noFill/>
          <a:ln/>
        </p:spPr>
        <p:txBody>
          <a:bodyPr wrap="square" rtlCol="0" anchor="ctr"/>
          <a:lstStyle/>
          <a:p>
            <a:pPr indent="0" marL="0">
              <a:buNone/>
            </a:pPr>
            <a:r>
              <a:rPr lang="en-US" sz="1300" b="1" dirty="0">
                <a:solidFill>
                  <a:srgbClr val="B8860B"/>
                </a:solidFill>
                <a:latin typeface="Calibri" pitchFamily="34" charset="0"/>
                <a:ea typeface="Calibri" pitchFamily="34" charset="-122"/>
                <a:cs typeface="Calibri" pitchFamily="34" charset="-120"/>
              </a:rPr>
              <a:t>OPT.1 — What Is an Option</a:t>
            </a:r>
            <a:endParaRPr lang="en-US" sz="1300" dirty="0"/>
          </a:p>
        </p:txBody>
      </p:sp>
      <p:sp>
        <p:nvSpPr>
          <p:cNvPr id="11" name="Text 9"/>
          <p:cNvSpPr/>
          <p:nvPr/>
        </p:nvSpPr>
        <p:spPr>
          <a:xfrm>
            <a:off x="365760" y="1280160"/>
            <a:ext cx="8229600" cy="34747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"You paid ₹80 for the right to walk away. You chose not to walk away. Now the option is worth ₹0. Explain — in one sentence — why paying for a right you did not use is still rational."</a:t>
            </a:r>
            <a:endParaRPr lang="en-US" sz="2400" dirty="0"/>
          </a:p>
        </p:txBody>
      </p:sp>
      <p:sp>
        <p:nvSpPr>
          <p:cNvPr id="12" name="Shape 10"/>
          <p:cNvSpPr/>
          <p:nvPr/>
        </p:nvSpPr>
        <p:spPr>
          <a:xfrm>
            <a:off x="365760" y="4937760"/>
            <a:ext cx="8229600" cy="731520"/>
          </a:xfrm>
          <a:prstGeom prst="rect">
            <a:avLst/>
          </a:prstGeom>
          <a:solidFill>
            <a:srgbClr val="2E4A6E"/>
          </a:solidFill>
          <a:ln/>
        </p:spPr>
      </p:sp>
      <p:sp>
        <p:nvSpPr>
          <p:cNvPr id="13" name="Text 11"/>
          <p:cNvSpPr/>
          <p:nvPr/>
        </p:nvSpPr>
        <p:spPr>
          <a:xfrm>
            <a:off x="365760" y="4937760"/>
            <a:ext cx="8229600" cy="731520"/>
          </a:xfrm>
          <a:prstGeom prst="rect">
            <a:avLst/>
          </a:prstGeom>
          <a:noFill/>
          <a:ln/>
        </p:spPr>
        <p:txBody>
          <a:bodyPr wrap="square" rtlCol="0" anchor="ctr"/>
          <a:lstStyle/>
          <a:p>
            <a:pPr algn="l" indent="0" marL="0">
              <a:buNone/>
            </a:pPr>
            <a:r>
              <a:rPr lang="en-US" sz="1100" i="1" dirty="0">
                <a:solidFill>
                  <a:srgbClr val="CADCFC"/>
                </a:solidFill>
                <a:latin typeface="Calibri" pitchFamily="34" charset="0"/>
                <a:ea typeface="Calibri" pitchFamily="34" charset="-122"/>
                <a:cs typeface="Calibri" pitchFamily="34" charset="-120"/>
              </a:rPr>
              <a:t>From: OPT.1 · Video 1 — Identifying an Option Contract (EAR: IDENTIFY)</a:t>
            </a:r>
            <a:endParaRPr lang="en-US" sz="11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005F5F"/>
          </a:solidFill>
          <a:ln/>
        </p:spPr>
      </p:sp>
      <p:sp>
        <p:nvSpPr>
          <p:cNvPr id="5" name="Shape 3"/>
          <p:cNvSpPr/>
          <p:nvPr/>
        </p:nvSpPr>
        <p:spPr>
          <a:xfrm>
            <a:off x="0" y="73152"/>
            <a:ext cx="1828800" cy="347472"/>
          </a:xfrm>
          <a:prstGeom prst="rect">
            <a:avLst/>
          </a:prstGeom>
          <a:solidFill>
            <a:srgbClr val="C0392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SCENARIO</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OPT.1</a:t>
            </a:r>
            <a:endParaRPr lang="en-US" sz="1000" dirty="0"/>
          </a:p>
        </p:txBody>
      </p:sp>
      <p:sp>
        <p:nvSpPr>
          <p:cNvPr id="9" name="Shape 7"/>
          <p:cNvSpPr/>
          <p:nvPr/>
        </p:nvSpPr>
        <p:spPr>
          <a:xfrm>
            <a:off x="0" y="420624"/>
            <a:ext cx="12192000" cy="914400"/>
          </a:xfrm>
          <a:prstGeom prst="rect">
            <a:avLst/>
          </a:prstGeom>
          <a:solidFill>
            <a:srgbClr val="1E3A5F"/>
          </a:solidFill>
          <a:ln/>
        </p:spPr>
      </p:sp>
      <p:sp>
        <p:nvSpPr>
          <p:cNvPr id="10" name="Text 8"/>
          <p:cNvSpPr/>
          <p:nvPr/>
        </p:nvSpPr>
        <p:spPr>
          <a:xfrm>
            <a:off x="365760" y="420624"/>
            <a:ext cx="11430000" cy="91440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Lehman Brothers 2008: When Employee Stock Options Expired Worthless</a:t>
            </a:r>
            <a:endParaRPr lang="en-US" sz="1800" dirty="0"/>
          </a:p>
        </p:txBody>
      </p:sp>
      <p:sp>
        <p:nvSpPr>
          <p:cNvPr id="11" name="Text 9"/>
          <p:cNvSpPr/>
          <p:nvPr/>
        </p:nvSpPr>
        <p:spPr>
          <a:xfrm>
            <a:off x="365760" y="1463040"/>
            <a:ext cx="7498080" cy="2926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Lehman Brothers employees held hundreds of millions in employee stock options (ESOs) as part of their compensation packages. When Lehman filed for bankruptcy on September 15, 2008, the stock fell from $86 to $0.21 in weeks.</a:t>
            </a:r>
            <a:endParaRPr lang="en-US" sz="1300" dirty="0"/>
          </a:p>
          <a:p>
            <a:pPr indent="0" marL="0">
              <a:buNone/>
            </a:pP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All in-the-money and out-of-the-money options expired worthless. Unlike bondholders who received partial recovery through bankruptcy proceedings, option holders received nothing — their premium-equivalent compensation was entirely destroyed.</a:t>
            </a:r>
            <a:endParaRPr lang="en-US" sz="1300" dirty="0"/>
          </a:p>
          <a:p>
            <a:pPr indent="0" marL="0">
              <a:buNone/>
            </a:pP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This illustrates the fundamental option principle: maximum loss for the holder equals the premium (or compensation value) paid. At expiry with zero intrinsic value, the option is simply gone.</a:t>
            </a:r>
            <a:endParaRPr lang="en-US" sz="1300" dirty="0"/>
          </a:p>
        </p:txBody>
      </p:sp>
      <p:sp>
        <p:nvSpPr>
          <p:cNvPr id="12" name="Shape 10"/>
          <p:cNvSpPr/>
          <p:nvPr/>
        </p:nvSpPr>
        <p:spPr>
          <a:xfrm>
            <a:off x="8046720" y="1463040"/>
            <a:ext cx="3931920" cy="2926080"/>
          </a:xfrm>
          <a:prstGeom prst="rect">
            <a:avLst/>
          </a:prstGeom>
          <a:solidFill>
            <a:srgbClr val="D5E3F0"/>
          </a:solidFill>
          <a:ln w="12700">
            <a:solidFill>
              <a:srgbClr val="1E3A5F"/>
            </a:solidFill>
            <a:prstDash val="solid"/>
          </a:ln>
        </p:spPr>
      </p:sp>
      <p:sp>
        <p:nvSpPr>
          <p:cNvPr id="13" name="Text 11"/>
          <p:cNvSpPr/>
          <p:nvPr/>
        </p:nvSpPr>
        <p:spPr>
          <a:xfrm>
            <a:off x="8046720" y="1463040"/>
            <a:ext cx="3931920" cy="2926080"/>
          </a:xfrm>
          <a:prstGeom prst="rect">
            <a:avLst/>
          </a:prstGeom>
          <a:noFill/>
          <a:ln/>
        </p:spPr>
        <p:txBody>
          <a:bodyPr wrap="square" rtlCol="0" anchor="t"/>
          <a:lstStyle/>
          <a:p>
            <a:pPr indent="0" marL="0">
              <a:buNone/>
            </a:pPr>
            <a:r>
              <a:rPr lang="en-US" sz="1200" dirty="0">
                <a:solidFill>
                  <a:srgbClr val="1E3A5F"/>
                </a:solidFill>
                <a:latin typeface="Calibri" pitchFamily="34" charset="0"/>
                <a:ea typeface="Calibri" pitchFamily="34" charset="-122"/>
                <a:cs typeface="Calibri" pitchFamily="34" charset="-120"/>
              </a:rPr>
              <a:t>LEHMAN 2008:</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$86 → $0.21</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stock decline</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Sept 15, 2008</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Bankruptcy Day</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~$4.5 Bn</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staff option</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compensation lost</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Bondholders:</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partial recovery</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Option holders:</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zero recovery</a:t>
            </a:r>
            <a:endParaRPr lang="en-US" sz="1200" dirty="0"/>
          </a:p>
        </p:txBody>
      </p:sp>
      <p:sp>
        <p:nvSpPr>
          <p:cNvPr id="14" name="Shape 12"/>
          <p:cNvSpPr/>
          <p:nvPr/>
        </p:nvSpPr>
        <p:spPr>
          <a:xfrm>
            <a:off x="0" y="4572000"/>
            <a:ext cx="12192000" cy="1188720"/>
          </a:xfrm>
          <a:prstGeom prst="rect">
            <a:avLst/>
          </a:prstGeom>
          <a:solidFill>
            <a:srgbClr val="005F5F"/>
          </a:solidFill>
          <a:ln/>
        </p:spPr>
      </p:sp>
      <p:sp>
        <p:nvSpPr>
          <p:cNvPr id="15" name="Text 13"/>
          <p:cNvSpPr/>
          <p:nvPr/>
        </p:nvSpPr>
        <p:spPr>
          <a:xfrm>
            <a:off x="365760" y="4572000"/>
            <a:ext cx="11430000" cy="118872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Lehman bondholders received some recovery. Option holders received zero. What does this tell you about the seniority and risk profile of options compared to fixed-income instruments in the capital structure?</a:t>
            </a:r>
            <a:endParaRPr lang="en-US" sz="1500" dirty="0"/>
          </a:p>
        </p:txBody>
      </p:sp>
      <p:sp>
        <p:nvSpPr>
          <p:cNvPr id="16" name="Text 14"/>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OPT.1</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005F5F"/>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005F5F"/>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OPT.1</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Options vs Futures vs Forwards: The Key Comparison</a:t>
            </a:r>
            <a:endParaRPr lang="en-US" sz="2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274320" y="1280160"/>
          <a:ext cx="11612880" cy="4206240"/>
        </p:xfrm>
        <a:graphic>
          <a:graphicData uri="http://schemas.openxmlformats.org/drawingml/2006/table">
            <a:tbl>
              <a:tblPr/>
              <a:tblGrid>
                <a:gridCol w="2903220"/>
                <a:gridCol w="2903220"/>
                <a:gridCol w="2903220"/>
                <a:gridCol w="2903220"/>
              </a:tblGrid>
              <a:tr h="600891">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DIMENSION</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OPTION</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FUTURES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FORWARD</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Buyer Obligation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Right only — can choose not to transact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Legally obligated to settle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Legally obligated to settle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Seller Obligation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Must perform if buyer exercises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Legally obligated to settle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Legally obligated to settle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Upfront Cost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Premium paid by buyer</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No upfront cost — margin only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No upfront cost — may require collateral</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Max Buyer Loss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Premium paid</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Unlimited (price can fall to zero)</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Unlimited (price can fall significantly)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Max Buyer Gain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Unlimited (call) or up to strike (put)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Unlimited</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Unlimited</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Settlement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Exercise or lapse at expiry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Daily MTM + final at expiry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Single settlement at maturity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bl>
          </a:graphicData>
        </a:graphic>
      </p:graphicFrame>
      <p:sp>
        <p:nvSpPr>
          <p:cNvPr id="11" name="Text 8"/>
          <p:cNvSpPr/>
          <p:nvPr/>
        </p:nvSpPr>
        <p:spPr>
          <a:xfrm>
            <a:off x="274320" y="6035040"/>
            <a:ext cx="11612880" cy="365760"/>
          </a:xfrm>
          <a:prstGeom prst="rect">
            <a:avLst/>
          </a:prstGeom>
          <a:noFill/>
          <a:ln/>
        </p:spPr>
        <p:txBody>
          <a:bodyPr wrap="square" rtlCol="0" anchor="ctr"/>
          <a:lstStyle/>
          <a:p>
            <a:pPr indent="0" marL="0">
              <a:buNone/>
            </a:pPr>
            <a:r>
              <a:rPr lang="en-US" sz="1000" dirty="0">
                <a:solidFill>
                  <a:srgbClr val="005F5F"/>
                </a:solidFill>
                <a:latin typeface="Calibri" pitchFamily="34" charset="0"/>
                <a:ea typeface="Calibri" pitchFamily="34" charset="-122"/>
                <a:cs typeface="Calibri" pitchFamily="34" charset="-120"/>
              </a:rPr>
              <a:t>The premium is the price of asymmetry — the cost the buyer pays to have rights while the seller has obligations.</a:t>
            </a:r>
            <a:endParaRPr lang="en-US" sz="1000" dirty="0"/>
          </a:p>
        </p:txBody>
      </p:sp>
      <p:sp>
        <p:nvSpPr>
          <p:cNvPr id="12" name="Text 9"/>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OPT.1</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GOING DEEPER</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OPT.1</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Four Insights on Options and Asymmetry</a:t>
            </a:r>
            <a:endParaRPr lang="en-US" sz="2000" dirty="0"/>
          </a:p>
        </p:txBody>
      </p:sp>
      <p:sp>
        <p:nvSpPr>
          <p:cNvPr id="10" name="Shape 8"/>
          <p:cNvSpPr/>
          <p:nvPr/>
        </p:nvSpPr>
        <p:spPr>
          <a:xfrm>
            <a:off x="274320" y="1280160"/>
            <a:ext cx="5669280" cy="2377440"/>
          </a:xfrm>
          <a:prstGeom prst="rect">
            <a:avLst/>
          </a:prstGeom>
          <a:solidFill>
            <a:srgbClr val="D5E3F0"/>
          </a:solidFill>
          <a:ln w="6350">
            <a:solidFill>
              <a:srgbClr val="AAAAAA"/>
            </a:solidFill>
            <a:prstDash val="solid"/>
          </a:ln>
        </p:spPr>
      </p:sp>
      <p:sp>
        <p:nvSpPr>
          <p:cNvPr id="11" name="Shape 9"/>
          <p:cNvSpPr/>
          <p:nvPr/>
        </p:nvSpPr>
        <p:spPr>
          <a:xfrm>
            <a:off x="365760" y="1371600"/>
            <a:ext cx="457200" cy="457200"/>
          </a:xfrm>
          <a:prstGeom prst="ellipse">
            <a:avLst/>
          </a:prstGeom>
          <a:solidFill>
            <a:srgbClr val="1E3A5F"/>
          </a:solidFill>
          <a:ln/>
        </p:spPr>
      </p:sp>
      <p:sp>
        <p:nvSpPr>
          <p:cNvPr id="12" name="Text 10"/>
          <p:cNvSpPr/>
          <p:nvPr/>
        </p:nvSpPr>
        <p:spPr>
          <a:xfrm>
            <a:off x="36576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91440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The Premium Prices the Probability</a:t>
            </a:r>
            <a:endParaRPr lang="en-US" sz="1200" dirty="0"/>
          </a:p>
        </p:txBody>
      </p:sp>
      <p:sp>
        <p:nvSpPr>
          <p:cNvPr id="14" name="Text 12"/>
          <p:cNvSpPr/>
          <p:nvPr/>
        </p:nvSpPr>
        <p:spPr>
          <a:xfrm>
            <a:off x="41148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An option's premium reflects the probability-weighted expected value of exercise. A 90% probability of expiring ITM = high premium. A 5% probability = cheap premium. Options pricing is fundamentally about probability — which is why high-volatility events (earnings, RBI) spike premiums.</a:t>
            </a:r>
            <a:endParaRPr lang="en-US" sz="1000" dirty="0"/>
          </a:p>
        </p:txBody>
      </p:sp>
      <p:sp>
        <p:nvSpPr>
          <p:cNvPr id="15" name="Shape 13"/>
          <p:cNvSpPr/>
          <p:nvPr/>
        </p:nvSpPr>
        <p:spPr>
          <a:xfrm>
            <a:off x="6126480" y="1280160"/>
            <a:ext cx="5669280" cy="2377440"/>
          </a:xfrm>
          <a:prstGeom prst="rect">
            <a:avLst/>
          </a:prstGeom>
          <a:solidFill>
            <a:srgbClr val="D4EFEF"/>
          </a:solidFill>
          <a:ln w="6350">
            <a:solidFill>
              <a:srgbClr val="AAAAAA"/>
            </a:solidFill>
            <a:prstDash val="solid"/>
          </a:ln>
        </p:spPr>
      </p:sp>
      <p:sp>
        <p:nvSpPr>
          <p:cNvPr id="16" name="Shape 14"/>
          <p:cNvSpPr/>
          <p:nvPr/>
        </p:nvSpPr>
        <p:spPr>
          <a:xfrm>
            <a:off x="6217920" y="1371600"/>
            <a:ext cx="457200" cy="457200"/>
          </a:xfrm>
          <a:prstGeom prst="ellipse">
            <a:avLst/>
          </a:prstGeom>
          <a:solidFill>
            <a:srgbClr val="005F5F"/>
          </a:solidFill>
          <a:ln/>
        </p:spPr>
      </p:sp>
      <p:sp>
        <p:nvSpPr>
          <p:cNvPr id="17" name="Text 15"/>
          <p:cNvSpPr/>
          <p:nvPr/>
        </p:nvSpPr>
        <p:spPr>
          <a:xfrm>
            <a:off x="621792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676656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Right Not to Exercise Is Economically Rational</a:t>
            </a:r>
            <a:endParaRPr lang="en-US" sz="1200" dirty="0"/>
          </a:p>
        </p:txBody>
      </p:sp>
      <p:sp>
        <p:nvSpPr>
          <p:cNvPr id="19" name="Text 17"/>
          <p:cNvSpPr/>
          <p:nvPr/>
        </p:nvSpPr>
        <p:spPr>
          <a:xfrm>
            <a:off x="626364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Paying ₹80 premium and choosing not to exercise is rational when the option is OTM at expiry. You paid for the possibility of a favourable outcome — the possibility existed. Insurance premia paid on policies that don't claim are not wasted — they paid for protection that was available.</a:t>
            </a:r>
            <a:endParaRPr lang="en-US" sz="1000" dirty="0"/>
          </a:p>
        </p:txBody>
      </p:sp>
      <p:sp>
        <p:nvSpPr>
          <p:cNvPr id="20" name="Shape 18"/>
          <p:cNvSpPr/>
          <p:nvPr/>
        </p:nvSpPr>
        <p:spPr>
          <a:xfrm>
            <a:off x="274320" y="3840480"/>
            <a:ext cx="5669280" cy="2377440"/>
          </a:xfrm>
          <a:prstGeom prst="rect">
            <a:avLst/>
          </a:prstGeom>
          <a:solidFill>
            <a:srgbClr val="FEF9E7"/>
          </a:solidFill>
          <a:ln w="6350">
            <a:solidFill>
              <a:srgbClr val="AAAAAA"/>
            </a:solidFill>
            <a:prstDash val="solid"/>
          </a:ln>
        </p:spPr>
      </p:sp>
      <p:sp>
        <p:nvSpPr>
          <p:cNvPr id="21" name="Shape 19"/>
          <p:cNvSpPr/>
          <p:nvPr/>
        </p:nvSpPr>
        <p:spPr>
          <a:xfrm>
            <a:off x="365760" y="3931920"/>
            <a:ext cx="457200" cy="457200"/>
          </a:xfrm>
          <a:prstGeom prst="ellipse">
            <a:avLst/>
          </a:prstGeom>
          <a:solidFill>
            <a:srgbClr val="B8860B"/>
          </a:solidFill>
          <a:ln/>
        </p:spPr>
      </p:sp>
      <p:sp>
        <p:nvSpPr>
          <p:cNvPr id="22" name="Text 20"/>
          <p:cNvSpPr/>
          <p:nvPr/>
        </p:nvSpPr>
        <p:spPr>
          <a:xfrm>
            <a:off x="36576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91440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Operations Must Distinguish Rights from Obligations</a:t>
            </a:r>
            <a:endParaRPr lang="en-US" sz="1200" dirty="0"/>
          </a:p>
        </p:txBody>
      </p:sp>
      <p:sp>
        <p:nvSpPr>
          <p:cNvPr id="24" name="Text 22"/>
          <p:cNvSpPr/>
          <p:nvPr/>
        </p:nvSpPr>
        <p:spPr>
          <a:xfrm>
            <a:off x="41148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In options operations, the buyer position is monitored for exercise decisions. The seller position is monitored for margin adequacy and potential assignment. These are different workflows. Misclassifying buyer and seller creates wrong margin calls and missed exercise instructions.</a:t>
            </a:r>
            <a:endParaRPr lang="en-US" sz="1000" dirty="0"/>
          </a:p>
        </p:txBody>
      </p:sp>
      <p:sp>
        <p:nvSpPr>
          <p:cNvPr id="25" name="Shape 23"/>
          <p:cNvSpPr/>
          <p:nvPr/>
        </p:nvSpPr>
        <p:spPr>
          <a:xfrm>
            <a:off x="6126480" y="3840480"/>
            <a:ext cx="5669280" cy="2377440"/>
          </a:xfrm>
          <a:prstGeom prst="rect">
            <a:avLst/>
          </a:prstGeom>
          <a:solidFill>
            <a:srgbClr val="F3E5F5"/>
          </a:solidFill>
          <a:ln w="6350">
            <a:solidFill>
              <a:srgbClr val="AAAAAA"/>
            </a:solidFill>
            <a:prstDash val="solid"/>
          </a:ln>
        </p:spPr>
      </p:sp>
      <p:sp>
        <p:nvSpPr>
          <p:cNvPr id="26" name="Shape 24"/>
          <p:cNvSpPr/>
          <p:nvPr/>
        </p:nvSpPr>
        <p:spPr>
          <a:xfrm>
            <a:off x="6217920" y="3931920"/>
            <a:ext cx="457200" cy="457200"/>
          </a:xfrm>
          <a:prstGeom prst="ellipse">
            <a:avLst/>
          </a:prstGeom>
          <a:solidFill>
            <a:srgbClr val="1E3A5F"/>
          </a:solidFill>
          <a:ln/>
        </p:spPr>
      </p:sp>
      <p:sp>
        <p:nvSpPr>
          <p:cNvPr id="27" name="Text 25"/>
          <p:cNvSpPr/>
          <p:nvPr/>
        </p:nvSpPr>
        <p:spPr>
          <a:xfrm>
            <a:off x="621792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676656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Premium Settlement Is Immediate; Payoff Is Deferred</a:t>
            </a:r>
            <a:endParaRPr lang="en-US" sz="1200" dirty="0"/>
          </a:p>
        </p:txBody>
      </p:sp>
      <p:sp>
        <p:nvSpPr>
          <p:cNvPr id="29" name="Text 27"/>
          <p:cNvSpPr/>
          <p:nvPr/>
        </p:nvSpPr>
        <p:spPr>
          <a:xfrm>
            <a:off x="626364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Unlike futures (daily MTM), options have a single upfront premium payment and no further cash flows until exercise or expiry. Operations teams must track this difference: premium settles T+1, payoff (if any) settles at expiry. The two are separate operational events with different settlement instructions.</a:t>
            </a:r>
            <a:endParaRPr lang="en-US" sz="1000" dirty="0"/>
          </a:p>
        </p:txBody>
      </p:sp>
      <p:sp>
        <p:nvSpPr>
          <p:cNvPr id="30" name="Text 28"/>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OPT.1</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05F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THINK &amp; DISCUSS</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OPT.1</a:t>
            </a:r>
            <a:endParaRPr lang="en-US" sz="1000" dirty="0"/>
          </a:p>
        </p:txBody>
      </p:sp>
      <p:sp>
        <p:nvSpPr>
          <p:cNvPr id="9" name="Shape 7"/>
          <p:cNvSpPr/>
          <p:nvPr/>
        </p:nvSpPr>
        <p:spPr>
          <a:xfrm>
            <a:off x="365760" y="914400"/>
            <a:ext cx="11155680" cy="3840480"/>
          </a:xfrm>
          <a:prstGeom prst="rect">
            <a:avLst/>
          </a:prstGeom>
          <a:solidFill>
            <a:srgbClr val="004444"/>
          </a:solidFill>
          <a:ln w="12700">
            <a:solidFill>
              <a:srgbClr val="B8860B"/>
            </a:solidFill>
            <a:prstDash val="solid"/>
          </a:ln>
        </p:spPr>
      </p:sp>
      <p:sp>
        <p:nvSpPr>
          <p:cNvPr id="10" name="Text 8"/>
          <p:cNvSpPr/>
          <p:nvPr/>
        </p:nvSpPr>
        <p:spPr>
          <a:xfrm>
            <a:off x="9144000" y="548640"/>
            <a:ext cx="2926080" cy="457200"/>
          </a:xfrm>
          <a:prstGeom prst="rect">
            <a:avLst/>
          </a:prstGeom>
          <a:noFill/>
          <a:ln/>
        </p:spPr>
        <p:txBody>
          <a:bodyPr wrap="square" rtlCol="0" anchor="ctr"/>
          <a:lstStyle/>
          <a:p>
            <a:pPr algn="r" indent="0" marL="0">
              <a:buNone/>
            </a:pPr>
            <a:r>
              <a:rPr lang="en-US" sz="1400" b="1" dirty="0">
                <a:solidFill>
                  <a:srgbClr val="B8860B"/>
                </a:solidFill>
                <a:latin typeface="Calibri" pitchFamily="34" charset="0"/>
                <a:ea typeface="Calibri" pitchFamily="34" charset="-122"/>
                <a:cs typeface="Calibri" pitchFamily="34" charset="-120"/>
              </a:rPr>
              <a:t>2 MINUTES</a:t>
            </a:r>
            <a:endParaRPr lang="en-US" sz="1400" dirty="0"/>
          </a:p>
        </p:txBody>
      </p:sp>
      <p:sp>
        <p:nvSpPr>
          <p:cNvPr id="11" name="Text 9"/>
          <p:cNvSpPr/>
          <p:nvPr/>
        </p:nvSpPr>
        <p:spPr>
          <a:xfrm>
            <a:off x="640080" y="1188720"/>
            <a:ext cx="10607040" cy="310896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"Can you think of three examples from everyday life where you already trade in options — paying for a right without an obligation? Explain the premium and strike equivalent in each real-world example."</a:t>
            </a:r>
            <a:endParaRPr lang="en-US" sz="1800" dirty="0"/>
          </a:p>
        </p:txBody>
      </p:sp>
      <p:sp>
        <p:nvSpPr>
          <p:cNvPr id="12" name="Shape 10"/>
          <p:cNvSpPr/>
          <p:nvPr/>
        </p:nvSpPr>
        <p:spPr>
          <a:xfrm>
            <a:off x="0" y="5029200"/>
            <a:ext cx="12192000" cy="914400"/>
          </a:xfrm>
          <a:prstGeom prst="rect">
            <a:avLst/>
          </a:prstGeom>
          <a:solidFill>
            <a:srgbClr val="003333"/>
          </a:solidFill>
          <a:ln/>
        </p:spPr>
      </p:sp>
      <p:sp>
        <p:nvSpPr>
          <p:cNvPr id="13" name="Text 11"/>
          <p:cNvSpPr/>
          <p:nvPr/>
        </p:nvSpPr>
        <p:spPr>
          <a:xfrm>
            <a:off x="365760" y="5029200"/>
            <a:ext cx="11430000" cy="91440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Hint: Think about: concert ticket refund policies, real estate option agreements, airline fare flexibility upgrades, reservation deposits at restaurants.</a:t>
            </a:r>
            <a:endParaRPr lang="en-US" sz="13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OPT.1</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INTERVIEW READY</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OPT.1</a:t>
            </a:r>
            <a:endParaRPr lang="en-US" sz="1000" dirty="0"/>
          </a:p>
        </p:txBody>
      </p:sp>
      <p:sp>
        <p:nvSpPr>
          <p:cNvPr id="9" name="Shape 7"/>
          <p:cNvSpPr/>
          <p:nvPr/>
        </p:nvSpPr>
        <p:spPr>
          <a:xfrm>
            <a:off x="0" y="420624"/>
            <a:ext cx="12192000" cy="1371600"/>
          </a:xfrm>
          <a:prstGeom prst="rect">
            <a:avLst/>
          </a:prstGeom>
          <a:solidFill>
            <a:srgbClr val="1E3A5F"/>
          </a:solidFill>
          <a:ln/>
        </p:spPr>
      </p:sp>
      <p:sp>
        <p:nvSpPr>
          <p:cNvPr id="10" name="Text 8"/>
          <p:cNvSpPr/>
          <p:nvPr/>
        </p:nvSpPr>
        <p:spPr>
          <a:xfrm>
            <a:off x="365760" y="502920"/>
            <a:ext cx="11430000" cy="365760"/>
          </a:xfrm>
          <a:prstGeom prst="rect">
            <a:avLst/>
          </a:prstGeom>
          <a:noFill/>
          <a:ln/>
        </p:spPr>
        <p:txBody>
          <a:bodyPr wrap="square" rtlCol="0" anchor="ctr"/>
          <a:lstStyle/>
          <a:p>
            <a:pPr indent="0" marL="0">
              <a:buNone/>
            </a:pPr>
            <a:r>
              <a:rPr lang="en-US" sz="1200" b="1" dirty="0">
                <a:solidFill>
                  <a:srgbClr val="B8860B"/>
                </a:solidFill>
                <a:latin typeface="Calibri" pitchFamily="34" charset="0"/>
                <a:ea typeface="Calibri" pitchFamily="34" charset="-122"/>
                <a:cs typeface="Calibri" pitchFamily="34" charset="-120"/>
              </a:rPr>
              <a:t>Interview Question:</a:t>
            </a:r>
            <a:endParaRPr lang="en-US" sz="1200" dirty="0"/>
          </a:p>
        </p:txBody>
      </p:sp>
      <p:sp>
        <p:nvSpPr>
          <p:cNvPr id="11" name="Text 9"/>
          <p:cNvSpPr/>
          <p:nvPr/>
        </p:nvSpPr>
        <p:spPr>
          <a:xfrm>
            <a:off x="365760" y="914400"/>
            <a:ext cx="11430000" cy="8229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"What is an option contract and how does it differ from a futures contract?"</a:t>
            </a:r>
            <a:endParaRPr lang="en-US" sz="1600" dirty="0"/>
          </a:p>
        </p:txBody>
      </p:sp>
      <p:sp>
        <p:nvSpPr>
          <p:cNvPr id="12" name="Text 10"/>
          <p:cNvSpPr/>
          <p:nvPr/>
        </p:nvSpPr>
        <p:spPr>
          <a:xfrm>
            <a:off x="365760" y="1965960"/>
            <a:ext cx="11430000" cy="365760"/>
          </a:xfrm>
          <a:prstGeom prst="rect">
            <a:avLst/>
          </a:prstGeom>
          <a:noFill/>
          <a:ln/>
        </p:spPr>
        <p:txBody>
          <a:bodyPr wrap="square" rtlCol="0" anchor="ctr"/>
          <a:lstStyle/>
          <a:p>
            <a:pPr indent="0" marL="0">
              <a:buNone/>
            </a:pPr>
            <a:r>
              <a:rPr lang="en-US" sz="1100" b="1" dirty="0">
                <a:solidFill>
                  <a:srgbClr val="005F5F"/>
                </a:solidFill>
                <a:latin typeface="Calibri" pitchFamily="34" charset="0"/>
                <a:ea typeface="Calibri" pitchFamily="34" charset="-122"/>
                <a:cs typeface="Calibri" pitchFamily="34" charset="-120"/>
              </a:rPr>
              <a:t>STRONG ANSWER FRAMEWORK  (4 points):</a:t>
            </a:r>
            <a:endParaRPr lang="en-US" sz="1100" dirty="0"/>
          </a:p>
        </p:txBody>
      </p:sp>
      <p:sp>
        <p:nvSpPr>
          <p:cNvPr id="13" name="Shape 11"/>
          <p:cNvSpPr/>
          <p:nvPr/>
        </p:nvSpPr>
        <p:spPr>
          <a:xfrm>
            <a:off x="274320" y="2423160"/>
            <a:ext cx="457200" cy="640080"/>
          </a:xfrm>
          <a:prstGeom prst="rect">
            <a:avLst/>
          </a:prstGeom>
          <a:solidFill>
            <a:srgbClr val="1E3A5F"/>
          </a:solidFill>
          <a:ln/>
        </p:spPr>
      </p:sp>
      <p:sp>
        <p:nvSpPr>
          <p:cNvPr id="14" name="Text 12"/>
          <p:cNvSpPr/>
          <p:nvPr/>
        </p:nvSpPr>
        <p:spPr>
          <a:xfrm>
            <a:off x="274320" y="24231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Shape 13"/>
          <p:cNvSpPr/>
          <p:nvPr/>
        </p:nvSpPr>
        <p:spPr>
          <a:xfrm>
            <a:off x="822960" y="2423160"/>
            <a:ext cx="11064240" cy="640080"/>
          </a:xfrm>
          <a:prstGeom prst="rect">
            <a:avLst/>
          </a:prstGeom>
          <a:solidFill>
            <a:srgbClr val="D5E3F0"/>
          </a:solidFill>
          <a:ln w="6350">
            <a:solidFill>
              <a:srgbClr val="AAAAAA"/>
            </a:solidFill>
            <a:prstDash val="solid"/>
          </a:ln>
        </p:spPr>
      </p:sp>
      <p:sp>
        <p:nvSpPr>
          <p:cNvPr id="16" name="Text 14"/>
          <p:cNvSpPr/>
          <p:nvPr/>
        </p:nvSpPr>
        <p:spPr>
          <a:xfrm>
            <a:off x="914400" y="24231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An option contract gives the buyer the right — but not the obligation — to buy (call) or sell (put) an underlying asset at a predetermined strike price on or before the expiration date. The seller has the corresponding obligation to perform if the buyer exercises.</a:t>
            </a:r>
            <a:endParaRPr lang="en-US" sz="1200" dirty="0"/>
          </a:p>
        </p:txBody>
      </p:sp>
      <p:sp>
        <p:nvSpPr>
          <p:cNvPr id="17" name="Shape 15"/>
          <p:cNvSpPr/>
          <p:nvPr/>
        </p:nvSpPr>
        <p:spPr>
          <a:xfrm>
            <a:off x="274320" y="3337560"/>
            <a:ext cx="457200" cy="640080"/>
          </a:xfrm>
          <a:prstGeom prst="rect">
            <a:avLst/>
          </a:prstGeom>
          <a:solidFill>
            <a:srgbClr val="1E3A5F"/>
          </a:solidFill>
          <a:ln/>
        </p:spPr>
      </p:sp>
      <p:sp>
        <p:nvSpPr>
          <p:cNvPr id="18" name="Text 16"/>
          <p:cNvSpPr/>
          <p:nvPr/>
        </p:nvSpPr>
        <p:spPr>
          <a:xfrm>
            <a:off x="274320" y="33375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Shape 17"/>
          <p:cNvSpPr/>
          <p:nvPr/>
        </p:nvSpPr>
        <p:spPr>
          <a:xfrm>
            <a:off x="822960" y="3337560"/>
            <a:ext cx="11064240" cy="640080"/>
          </a:xfrm>
          <a:prstGeom prst="rect">
            <a:avLst/>
          </a:prstGeom>
          <a:solidFill>
            <a:srgbClr val="FFFFFF"/>
          </a:solidFill>
          <a:ln w="6350">
            <a:solidFill>
              <a:srgbClr val="AAAAAA"/>
            </a:solidFill>
            <a:prstDash val="solid"/>
          </a:ln>
        </p:spPr>
      </p:sp>
      <p:sp>
        <p:nvSpPr>
          <p:cNvPr id="20" name="Text 18"/>
          <p:cNvSpPr/>
          <p:nvPr/>
        </p:nvSpPr>
        <p:spPr>
          <a:xfrm>
            <a:off x="914400" y="33375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Key difference from futures: in a futures contract, both parties have symmetric obligations — both are legally required to settle. In an option, the buyer has a right and the seller has an obligation. This asymmetry creates the unique risk-reward profile of options.</a:t>
            </a:r>
            <a:endParaRPr lang="en-US" sz="1200" dirty="0"/>
          </a:p>
        </p:txBody>
      </p:sp>
      <p:sp>
        <p:nvSpPr>
          <p:cNvPr id="21" name="Shape 19"/>
          <p:cNvSpPr/>
          <p:nvPr/>
        </p:nvSpPr>
        <p:spPr>
          <a:xfrm>
            <a:off x="274320" y="4251960"/>
            <a:ext cx="457200" cy="640080"/>
          </a:xfrm>
          <a:prstGeom prst="rect">
            <a:avLst/>
          </a:prstGeom>
          <a:solidFill>
            <a:srgbClr val="1E3A5F"/>
          </a:solidFill>
          <a:ln/>
        </p:spPr>
      </p:sp>
      <p:sp>
        <p:nvSpPr>
          <p:cNvPr id="22" name="Text 20"/>
          <p:cNvSpPr/>
          <p:nvPr/>
        </p:nvSpPr>
        <p:spPr>
          <a:xfrm>
            <a:off x="274320" y="42519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Shape 21"/>
          <p:cNvSpPr/>
          <p:nvPr/>
        </p:nvSpPr>
        <p:spPr>
          <a:xfrm>
            <a:off x="822960" y="4251960"/>
            <a:ext cx="11064240" cy="640080"/>
          </a:xfrm>
          <a:prstGeom prst="rect">
            <a:avLst/>
          </a:prstGeom>
          <a:solidFill>
            <a:srgbClr val="D5E3F0"/>
          </a:solidFill>
          <a:ln w="6350">
            <a:solidFill>
              <a:srgbClr val="AAAAAA"/>
            </a:solidFill>
            <a:prstDash val="solid"/>
          </a:ln>
        </p:spPr>
      </p:sp>
      <p:sp>
        <p:nvSpPr>
          <p:cNvPr id="24" name="Text 22"/>
          <p:cNvSpPr/>
          <p:nvPr/>
        </p:nvSpPr>
        <p:spPr>
          <a:xfrm>
            <a:off x="914400" y="42519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The buyer pays a premium upfront — the price of the right. This premium is the buyer's maximum loss regardless of how adversely the underlying moves. The seller receives the premium and faces potentially unlimited loss if the underlying moves against them.</a:t>
            </a:r>
            <a:endParaRPr lang="en-US" sz="1200" dirty="0"/>
          </a:p>
        </p:txBody>
      </p:sp>
      <p:sp>
        <p:nvSpPr>
          <p:cNvPr id="25" name="Shape 23"/>
          <p:cNvSpPr/>
          <p:nvPr/>
        </p:nvSpPr>
        <p:spPr>
          <a:xfrm>
            <a:off x="274320" y="5166360"/>
            <a:ext cx="457200" cy="640080"/>
          </a:xfrm>
          <a:prstGeom prst="rect">
            <a:avLst/>
          </a:prstGeom>
          <a:solidFill>
            <a:srgbClr val="1E3A5F"/>
          </a:solidFill>
          <a:ln/>
        </p:spPr>
      </p:sp>
      <p:sp>
        <p:nvSpPr>
          <p:cNvPr id="26" name="Text 24"/>
          <p:cNvSpPr/>
          <p:nvPr/>
        </p:nvSpPr>
        <p:spPr>
          <a:xfrm>
            <a:off x="274320" y="51663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Shape 25"/>
          <p:cNvSpPr/>
          <p:nvPr/>
        </p:nvSpPr>
        <p:spPr>
          <a:xfrm>
            <a:off x="822960" y="5166360"/>
            <a:ext cx="11064240" cy="640080"/>
          </a:xfrm>
          <a:prstGeom prst="rect">
            <a:avLst/>
          </a:prstGeom>
          <a:solidFill>
            <a:srgbClr val="FFFFFF"/>
          </a:solidFill>
          <a:ln w="6350">
            <a:solidFill>
              <a:srgbClr val="AAAAAA"/>
            </a:solidFill>
            <a:prstDash val="solid"/>
          </a:ln>
        </p:spPr>
      </p:sp>
      <p:sp>
        <p:nvSpPr>
          <p:cNvPr id="28" name="Text 26"/>
          <p:cNvSpPr/>
          <p:nvPr/>
        </p:nvSpPr>
        <p:spPr>
          <a:xfrm>
            <a:off x="914400" y="51663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In operations: options require three distinct workflows — premium settlement (T+1), exercise monitoring throughout life, and payoff/lapse processing at expiry. Futures require only daily MTM and final expiry settlement.</a:t>
            </a:r>
            <a:endParaRPr lang="en-US" sz="1200" dirty="0"/>
          </a:p>
        </p:txBody>
      </p:sp>
      <p:sp>
        <p:nvSpPr>
          <p:cNvPr id="29" name="Text 27"/>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OPT.1</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3A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QUICK RECAP</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OPT.2</a:t>
            </a:r>
            <a:endParaRPr lang="en-US" sz="1000" dirty="0"/>
          </a:p>
        </p:txBody>
      </p:sp>
      <p:sp>
        <p:nvSpPr>
          <p:cNvPr id="9" name="Text 7"/>
          <p:cNvSpPr/>
          <p:nvPr/>
        </p:nvSpPr>
        <p:spPr>
          <a:xfrm>
            <a:off x="8686800" y="1097280"/>
            <a:ext cx="3200400" cy="4572000"/>
          </a:xfrm>
          <a:prstGeom prst="rect">
            <a:avLst/>
          </a:prstGeom>
          <a:noFill/>
          <a:ln/>
        </p:spPr>
        <p:txBody>
          <a:bodyPr wrap="square" rtlCol="0" anchor="ctr"/>
          <a:lstStyle/>
          <a:p>
            <a:pPr algn="ctr" indent="0" marL="0">
              <a:buNone/>
            </a:pPr>
            <a:r>
              <a:rPr lang="en-US" sz="18000" b="1" dirty="0">
                <a:solidFill>
                  <a:srgbClr val="2E4A6E"/>
                </a:solidFill>
                <a:latin typeface="Calibri" pitchFamily="34" charset="0"/>
                <a:ea typeface="Calibri" pitchFamily="34" charset="-122"/>
                <a:cs typeface="Calibri" pitchFamily="34" charset="-120"/>
              </a:rPr>
              <a:t>?</a:t>
            </a:r>
            <a:endParaRPr lang="en-US" sz="18000" dirty="0"/>
          </a:p>
        </p:txBody>
      </p:sp>
      <p:sp>
        <p:nvSpPr>
          <p:cNvPr id="10" name="Text 8"/>
          <p:cNvSpPr/>
          <p:nvPr/>
        </p:nvSpPr>
        <p:spPr>
          <a:xfrm>
            <a:off x="365760" y="548640"/>
            <a:ext cx="8229600" cy="457200"/>
          </a:xfrm>
          <a:prstGeom prst="rect">
            <a:avLst/>
          </a:prstGeom>
          <a:noFill/>
          <a:ln/>
        </p:spPr>
        <p:txBody>
          <a:bodyPr wrap="square" rtlCol="0" anchor="ctr"/>
          <a:lstStyle/>
          <a:p>
            <a:pPr indent="0" marL="0">
              <a:buNone/>
            </a:pPr>
            <a:r>
              <a:rPr lang="en-US" sz="1300" b="1" dirty="0">
                <a:solidFill>
                  <a:srgbClr val="B8860B"/>
                </a:solidFill>
                <a:latin typeface="Calibri" pitchFamily="34" charset="0"/>
                <a:ea typeface="Calibri" pitchFamily="34" charset="-122"/>
                <a:cs typeface="Calibri" pitchFamily="34" charset="-120"/>
              </a:rPr>
              <a:t>OPT.2 — Call and Put Options</a:t>
            </a:r>
            <a:endParaRPr lang="en-US" sz="1300" dirty="0"/>
          </a:p>
        </p:txBody>
      </p:sp>
      <p:sp>
        <p:nvSpPr>
          <p:cNvPr id="11" name="Text 9"/>
          <p:cNvSpPr/>
          <p:nvPr/>
        </p:nvSpPr>
        <p:spPr>
          <a:xfrm>
            <a:off x="365760" y="1280160"/>
            <a:ext cx="8229600" cy="34747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 call is a bet that the price goes up. A put is a bet that the price goes down. Same instrument category, same time to expiry, same underlying. Why would their premiums be different?"</a:t>
            </a:r>
            <a:endParaRPr lang="en-US" sz="2400" dirty="0"/>
          </a:p>
        </p:txBody>
      </p:sp>
      <p:sp>
        <p:nvSpPr>
          <p:cNvPr id="12" name="Shape 10"/>
          <p:cNvSpPr/>
          <p:nvPr/>
        </p:nvSpPr>
        <p:spPr>
          <a:xfrm>
            <a:off x="365760" y="4937760"/>
            <a:ext cx="8229600" cy="731520"/>
          </a:xfrm>
          <a:prstGeom prst="rect">
            <a:avLst/>
          </a:prstGeom>
          <a:solidFill>
            <a:srgbClr val="2E4A6E"/>
          </a:solidFill>
          <a:ln/>
        </p:spPr>
      </p:sp>
      <p:sp>
        <p:nvSpPr>
          <p:cNvPr id="13" name="Text 11"/>
          <p:cNvSpPr/>
          <p:nvPr/>
        </p:nvSpPr>
        <p:spPr>
          <a:xfrm>
            <a:off x="365760" y="4937760"/>
            <a:ext cx="8229600" cy="731520"/>
          </a:xfrm>
          <a:prstGeom prst="rect">
            <a:avLst/>
          </a:prstGeom>
          <a:noFill/>
          <a:ln/>
        </p:spPr>
        <p:txBody>
          <a:bodyPr wrap="square" rtlCol="0" anchor="ctr"/>
          <a:lstStyle/>
          <a:p>
            <a:pPr algn="l" indent="0" marL="0">
              <a:buNone/>
            </a:pPr>
            <a:r>
              <a:rPr lang="en-US" sz="1100" i="1" dirty="0">
                <a:solidFill>
                  <a:srgbClr val="CADCFC"/>
                </a:solidFill>
                <a:latin typeface="Calibri" pitchFamily="34" charset="0"/>
                <a:ea typeface="Calibri" pitchFamily="34" charset="-122"/>
                <a:cs typeface="Calibri" pitchFamily="34" charset="-120"/>
              </a:rPr>
              <a:t>From: OPT.2 · Video 2 — Put vs Call Options (EAR: DIFFERENTIATE)</a:t>
            </a:r>
            <a:endParaRPr lang="en-US" sz="11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OPT.2</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005F5F"/>
          </a:solidFill>
          <a:ln/>
        </p:spPr>
      </p:sp>
      <p:sp>
        <p:nvSpPr>
          <p:cNvPr id="5" name="Shape 3"/>
          <p:cNvSpPr/>
          <p:nvPr/>
        </p:nvSpPr>
        <p:spPr>
          <a:xfrm>
            <a:off x="0" y="73152"/>
            <a:ext cx="1828800" cy="347472"/>
          </a:xfrm>
          <a:prstGeom prst="rect">
            <a:avLst/>
          </a:prstGeom>
          <a:solidFill>
            <a:srgbClr val="C0392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SCENARIO</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OPT.2</a:t>
            </a:r>
            <a:endParaRPr lang="en-US" sz="1000" dirty="0"/>
          </a:p>
        </p:txBody>
      </p:sp>
      <p:sp>
        <p:nvSpPr>
          <p:cNvPr id="9" name="Shape 7"/>
          <p:cNvSpPr/>
          <p:nvPr/>
        </p:nvSpPr>
        <p:spPr>
          <a:xfrm>
            <a:off x="0" y="420624"/>
            <a:ext cx="12192000" cy="914400"/>
          </a:xfrm>
          <a:prstGeom prst="rect">
            <a:avLst/>
          </a:prstGeom>
          <a:solidFill>
            <a:srgbClr val="1E3A5F"/>
          </a:solidFill>
          <a:ln/>
        </p:spPr>
      </p:sp>
      <p:sp>
        <p:nvSpPr>
          <p:cNvPr id="10" name="Text 8"/>
          <p:cNvSpPr/>
          <p:nvPr/>
        </p:nvSpPr>
        <p:spPr>
          <a:xfrm>
            <a:off x="365760" y="420624"/>
            <a:ext cx="11430000" cy="91440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Infosys Q2 2022 Results: One Trading Day, Two Very Different Option Outcomes</a:t>
            </a:r>
            <a:endParaRPr lang="en-US" sz="1800" dirty="0"/>
          </a:p>
        </p:txBody>
      </p:sp>
      <p:sp>
        <p:nvSpPr>
          <p:cNvPr id="11" name="Text 9"/>
          <p:cNvSpPr/>
          <p:nvPr/>
        </p:nvSpPr>
        <p:spPr>
          <a:xfrm>
            <a:off x="365760" y="1463040"/>
            <a:ext cx="7498080" cy="2926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On October 13, 2022, Infosys reported Q2 2022 results that disappointed the market. The stock fell 13.7% intraday — from approximately ₹1,540 to ₹1,330.</a:t>
            </a:r>
            <a:endParaRPr lang="en-US" sz="1300" dirty="0"/>
          </a:p>
          <a:p>
            <a:pPr indent="0" marL="0">
              <a:buNone/>
            </a:pP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Traders who had bought put options at ₹1,500 strike profited handsomely — their right to sell at ₹1,500 when the stock was at ₹1,330 was worth ₹170 per share of intrinsic value.</a:t>
            </a:r>
            <a:endParaRPr lang="en-US" sz="1300" dirty="0"/>
          </a:p>
          <a:p>
            <a:pPr indent="0" marL="0">
              <a:buNone/>
            </a:pP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Traders who had bought call options at ₹1,500 or higher strikes saw those options expire worthless — their premium was entirely lost in the one-day move.</a:t>
            </a:r>
            <a:endParaRPr lang="en-US" sz="1300" dirty="0"/>
          </a:p>
        </p:txBody>
      </p:sp>
      <p:sp>
        <p:nvSpPr>
          <p:cNvPr id="12" name="Shape 10"/>
          <p:cNvSpPr/>
          <p:nvPr/>
        </p:nvSpPr>
        <p:spPr>
          <a:xfrm>
            <a:off x="8046720" y="1463040"/>
            <a:ext cx="3931920" cy="2926080"/>
          </a:xfrm>
          <a:prstGeom prst="rect">
            <a:avLst/>
          </a:prstGeom>
          <a:solidFill>
            <a:srgbClr val="D5E3F0"/>
          </a:solidFill>
          <a:ln w="12700">
            <a:solidFill>
              <a:srgbClr val="1E3A5F"/>
            </a:solidFill>
            <a:prstDash val="solid"/>
          </a:ln>
        </p:spPr>
      </p:sp>
      <p:sp>
        <p:nvSpPr>
          <p:cNvPr id="13" name="Text 11"/>
          <p:cNvSpPr/>
          <p:nvPr/>
        </p:nvSpPr>
        <p:spPr>
          <a:xfrm>
            <a:off x="8046720" y="1463040"/>
            <a:ext cx="3931920" cy="2926080"/>
          </a:xfrm>
          <a:prstGeom prst="rect">
            <a:avLst/>
          </a:prstGeom>
          <a:noFill/>
          <a:ln/>
        </p:spPr>
        <p:txBody>
          <a:bodyPr wrap="square" rtlCol="0" anchor="t"/>
          <a:lstStyle/>
          <a:p>
            <a:pPr indent="0" marL="0">
              <a:buNone/>
            </a:pPr>
            <a:r>
              <a:rPr lang="en-US" sz="1200" dirty="0">
                <a:solidFill>
                  <a:srgbClr val="1E3A5F"/>
                </a:solidFill>
                <a:latin typeface="Calibri" pitchFamily="34" charset="0"/>
                <a:ea typeface="Calibri" pitchFamily="34" charset="-122"/>
                <a:cs typeface="Calibri" pitchFamily="34" charset="-120"/>
              </a:rPr>
              <a:t>INFOSYS OCT 2022:</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₹1,540 → ₹1,330</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-13.7% intraday</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Oct 13, 2022</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Put buyers: ₹1,500</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strike = ₹170 ITM</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Call buyers at</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₹1,500+: premium</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lost entirely</a:t>
            </a:r>
            <a:endParaRPr lang="en-US" sz="1200" dirty="0"/>
          </a:p>
        </p:txBody>
      </p:sp>
      <p:sp>
        <p:nvSpPr>
          <p:cNvPr id="14" name="Shape 12"/>
          <p:cNvSpPr/>
          <p:nvPr/>
        </p:nvSpPr>
        <p:spPr>
          <a:xfrm>
            <a:off x="0" y="4572000"/>
            <a:ext cx="12192000" cy="1188720"/>
          </a:xfrm>
          <a:prstGeom prst="rect">
            <a:avLst/>
          </a:prstGeom>
          <a:solidFill>
            <a:srgbClr val="005F5F"/>
          </a:solidFill>
          <a:ln/>
        </p:spPr>
      </p:sp>
      <p:sp>
        <p:nvSpPr>
          <p:cNvPr id="15" name="Text 13"/>
          <p:cNvSpPr/>
          <p:nvPr/>
        </p:nvSpPr>
        <p:spPr>
          <a:xfrm>
            <a:off x="365760" y="4572000"/>
            <a:ext cx="11430000" cy="118872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Both call and put holders paid the same type of premium before the event. One group made large profits; the other lost 100% of premium. What determined which group was right — and what does this tell you about option selection and market timing?</a:t>
            </a:r>
            <a:endParaRPr lang="en-US" sz="1500" dirty="0"/>
          </a:p>
        </p:txBody>
      </p:sp>
      <p:sp>
        <p:nvSpPr>
          <p:cNvPr id="16" name="Text 14"/>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OPT.2</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005F5F"/>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005F5F"/>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OPT.2</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Call vs Put: Complete Comparison Matrix</a:t>
            </a:r>
            <a:endParaRPr lang="en-US" sz="2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274320" y="1280160"/>
          <a:ext cx="11612880" cy="4206240"/>
        </p:xfrm>
        <a:graphic>
          <a:graphicData uri="http://schemas.openxmlformats.org/drawingml/2006/table">
            <a:tbl>
              <a:tblPr/>
              <a:tblGrid>
                <a:gridCol w="2322576"/>
                <a:gridCol w="2322576"/>
                <a:gridCol w="2322576"/>
                <a:gridCol w="2322576"/>
                <a:gridCol w="2322576"/>
              </a:tblGrid>
              <a:tr h="52578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DIMENSION</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LONG CALL</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LONG PUT</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SHORT CALL</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SHORT PUT</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r>
              <a:tr h="52578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View</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Bullish</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Bearish or Hedging</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Bearish/Neutral</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Bullish/Neutral</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52578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Premium</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Pay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Pay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Receive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Receive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52578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Right/Obligation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Right to BUY at strike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Right to SELL at strike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Obligated to SELL if exercised</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Obligated to BUY if exercised</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52578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Breakeven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Strike + Premium</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Strike – Premium</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Strike + Premium</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Strike – Premium</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52578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Max Loss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Premium paid</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Premium paid</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Unlimited</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Strike – Premium</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52578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Max Gain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Unlimited</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Strike – Premium (to zero)</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Premium</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Premium</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52578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ITM When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Market &gt; Strike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Market &lt; Strike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Market &gt; Strike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Market &lt; Strike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bl>
          </a:graphicData>
        </a:graphic>
      </p:graphicFrame>
      <p:sp>
        <p:nvSpPr>
          <p:cNvPr id="11" name="Text 8"/>
          <p:cNvSpPr/>
          <p:nvPr/>
        </p:nvSpPr>
        <p:spPr>
          <a:xfrm>
            <a:off x="274320" y="6035040"/>
            <a:ext cx="11612880" cy="365760"/>
          </a:xfrm>
          <a:prstGeom prst="rect">
            <a:avLst/>
          </a:prstGeom>
          <a:noFill/>
          <a:ln/>
        </p:spPr>
        <p:txBody>
          <a:bodyPr wrap="square" rtlCol="0" anchor="ctr"/>
          <a:lstStyle/>
          <a:p>
            <a:pPr indent="0" marL="0">
              <a:buNone/>
            </a:pPr>
            <a:r>
              <a:rPr lang="en-US" sz="1000" dirty="0">
                <a:solidFill>
                  <a:srgbClr val="005F5F"/>
                </a:solidFill>
                <a:latin typeface="Calibri" pitchFamily="34" charset="0"/>
                <a:ea typeface="Calibri" pitchFamily="34" charset="-122"/>
                <a:cs typeface="Calibri" pitchFamily="34" charset="-120"/>
              </a:rPr>
              <a:t>These four positions are the building blocks of every options strategy in existence.</a:t>
            </a:r>
            <a:endParaRPr lang="en-US" sz="1000" dirty="0"/>
          </a:p>
        </p:txBody>
      </p:sp>
      <p:sp>
        <p:nvSpPr>
          <p:cNvPr id="12" name="Text 9"/>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OPT.2</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GOING DEEPER</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OPT.2</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Four Insights on Calls, Puts and Option Strategy</a:t>
            </a:r>
            <a:endParaRPr lang="en-US" sz="2000" dirty="0"/>
          </a:p>
        </p:txBody>
      </p:sp>
      <p:sp>
        <p:nvSpPr>
          <p:cNvPr id="10" name="Shape 8"/>
          <p:cNvSpPr/>
          <p:nvPr/>
        </p:nvSpPr>
        <p:spPr>
          <a:xfrm>
            <a:off x="274320" y="1280160"/>
            <a:ext cx="5669280" cy="2377440"/>
          </a:xfrm>
          <a:prstGeom prst="rect">
            <a:avLst/>
          </a:prstGeom>
          <a:solidFill>
            <a:srgbClr val="D5E3F0"/>
          </a:solidFill>
          <a:ln w="6350">
            <a:solidFill>
              <a:srgbClr val="AAAAAA"/>
            </a:solidFill>
            <a:prstDash val="solid"/>
          </a:ln>
        </p:spPr>
      </p:sp>
      <p:sp>
        <p:nvSpPr>
          <p:cNvPr id="11" name="Shape 9"/>
          <p:cNvSpPr/>
          <p:nvPr/>
        </p:nvSpPr>
        <p:spPr>
          <a:xfrm>
            <a:off x="365760" y="1371600"/>
            <a:ext cx="457200" cy="457200"/>
          </a:xfrm>
          <a:prstGeom prst="ellipse">
            <a:avLst/>
          </a:prstGeom>
          <a:solidFill>
            <a:srgbClr val="1E3A5F"/>
          </a:solidFill>
          <a:ln/>
        </p:spPr>
      </p:sp>
      <p:sp>
        <p:nvSpPr>
          <p:cNvPr id="12" name="Text 10"/>
          <p:cNvSpPr/>
          <p:nvPr/>
        </p:nvSpPr>
        <p:spPr>
          <a:xfrm>
            <a:off x="36576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91440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Put-Call Parity: Calls and Puts Are Mathematically Related</a:t>
            </a:r>
            <a:endParaRPr lang="en-US" sz="1200" dirty="0"/>
          </a:p>
        </p:txBody>
      </p:sp>
      <p:sp>
        <p:nvSpPr>
          <p:cNvPr id="14" name="Text 12"/>
          <p:cNvSpPr/>
          <p:nvPr/>
        </p:nvSpPr>
        <p:spPr>
          <a:xfrm>
            <a:off x="41148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Put-Call Parity: C – P = S – PV(K), where C=call price, P=put price, S=spot, K=strike. If this breaks down, arbitrageurs immediately exploit it. This means you can synthetically create any option position from the other: a synthetic call = long put + long stock. Operations must understand these relationships for position reconciliation.</a:t>
            </a:r>
            <a:endParaRPr lang="en-US" sz="1000" dirty="0"/>
          </a:p>
        </p:txBody>
      </p:sp>
      <p:sp>
        <p:nvSpPr>
          <p:cNvPr id="15" name="Shape 13"/>
          <p:cNvSpPr/>
          <p:nvPr/>
        </p:nvSpPr>
        <p:spPr>
          <a:xfrm>
            <a:off x="6126480" y="1280160"/>
            <a:ext cx="5669280" cy="2377440"/>
          </a:xfrm>
          <a:prstGeom prst="rect">
            <a:avLst/>
          </a:prstGeom>
          <a:solidFill>
            <a:srgbClr val="D4EFEF"/>
          </a:solidFill>
          <a:ln w="6350">
            <a:solidFill>
              <a:srgbClr val="AAAAAA"/>
            </a:solidFill>
            <a:prstDash val="solid"/>
          </a:ln>
        </p:spPr>
      </p:sp>
      <p:sp>
        <p:nvSpPr>
          <p:cNvPr id="16" name="Shape 14"/>
          <p:cNvSpPr/>
          <p:nvPr/>
        </p:nvSpPr>
        <p:spPr>
          <a:xfrm>
            <a:off x="6217920" y="1371600"/>
            <a:ext cx="457200" cy="457200"/>
          </a:xfrm>
          <a:prstGeom prst="ellipse">
            <a:avLst/>
          </a:prstGeom>
          <a:solidFill>
            <a:srgbClr val="005F5F"/>
          </a:solidFill>
          <a:ln/>
        </p:spPr>
      </p:sp>
      <p:sp>
        <p:nvSpPr>
          <p:cNvPr id="17" name="Text 15"/>
          <p:cNvSpPr/>
          <p:nvPr/>
        </p:nvSpPr>
        <p:spPr>
          <a:xfrm>
            <a:off x="621792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676656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Covered Call: Selling Your Upside for Income</a:t>
            </a:r>
            <a:endParaRPr lang="en-US" sz="1200" dirty="0"/>
          </a:p>
        </p:txBody>
      </p:sp>
      <p:sp>
        <p:nvSpPr>
          <p:cNvPr id="19" name="Text 17"/>
          <p:cNvSpPr/>
          <p:nvPr/>
        </p:nvSpPr>
        <p:spPr>
          <a:xfrm>
            <a:off x="626364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A covered call combines holding the underlying stock with selling a call option on it. The call premium provides income; if the stock rises above the strike, the shares are called away at the strike. Used by institutional investors to generate income on existing equity portfolios. The long stock position is the collateral for the short call margin.</a:t>
            </a:r>
            <a:endParaRPr lang="en-US" sz="1000" dirty="0"/>
          </a:p>
        </p:txBody>
      </p:sp>
      <p:sp>
        <p:nvSpPr>
          <p:cNvPr id="20" name="Shape 18"/>
          <p:cNvSpPr/>
          <p:nvPr/>
        </p:nvSpPr>
        <p:spPr>
          <a:xfrm>
            <a:off x="274320" y="3840480"/>
            <a:ext cx="5669280" cy="2377440"/>
          </a:xfrm>
          <a:prstGeom prst="rect">
            <a:avLst/>
          </a:prstGeom>
          <a:solidFill>
            <a:srgbClr val="FEF9E7"/>
          </a:solidFill>
          <a:ln w="6350">
            <a:solidFill>
              <a:srgbClr val="AAAAAA"/>
            </a:solidFill>
            <a:prstDash val="solid"/>
          </a:ln>
        </p:spPr>
      </p:sp>
      <p:sp>
        <p:nvSpPr>
          <p:cNvPr id="21" name="Shape 19"/>
          <p:cNvSpPr/>
          <p:nvPr/>
        </p:nvSpPr>
        <p:spPr>
          <a:xfrm>
            <a:off x="365760" y="3931920"/>
            <a:ext cx="457200" cy="457200"/>
          </a:xfrm>
          <a:prstGeom prst="ellipse">
            <a:avLst/>
          </a:prstGeom>
          <a:solidFill>
            <a:srgbClr val="B8860B"/>
          </a:solidFill>
          <a:ln/>
        </p:spPr>
      </p:sp>
      <p:sp>
        <p:nvSpPr>
          <p:cNvPr id="22" name="Text 20"/>
          <p:cNvSpPr/>
          <p:nvPr/>
        </p:nvSpPr>
        <p:spPr>
          <a:xfrm>
            <a:off x="36576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91440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Directional vs Volatility Plays</a:t>
            </a:r>
            <a:endParaRPr lang="en-US" sz="1200" dirty="0"/>
          </a:p>
        </p:txBody>
      </p:sp>
      <p:sp>
        <p:nvSpPr>
          <p:cNvPr id="24" name="Text 22"/>
          <p:cNvSpPr/>
          <p:nvPr/>
        </p:nvSpPr>
        <p:spPr>
          <a:xfrm>
            <a:off x="41148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Long calls and puts are directional bets — you need the market to move the right way. But options also allow pure volatility bets: a straddle (long call + long put at same strike) profits if the market moves significantly in either direction. This is impossible with direct stock or futures positions. Volatility trading is a distinct options strategy entirely.</a:t>
            </a:r>
            <a:endParaRPr lang="en-US" sz="1000" dirty="0"/>
          </a:p>
        </p:txBody>
      </p:sp>
      <p:sp>
        <p:nvSpPr>
          <p:cNvPr id="25" name="Shape 23"/>
          <p:cNvSpPr/>
          <p:nvPr/>
        </p:nvSpPr>
        <p:spPr>
          <a:xfrm>
            <a:off x="6126480" y="3840480"/>
            <a:ext cx="5669280" cy="2377440"/>
          </a:xfrm>
          <a:prstGeom prst="rect">
            <a:avLst/>
          </a:prstGeom>
          <a:solidFill>
            <a:srgbClr val="F3E5F5"/>
          </a:solidFill>
          <a:ln w="6350">
            <a:solidFill>
              <a:srgbClr val="AAAAAA"/>
            </a:solidFill>
            <a:prstDash val="solid"/>
          </a:ln>
        </p:spPr>
      </p:sp>
      <p:sp>
        <p:nvSpPr>
          <p:cNvPr id="26" name="Shape 24"/>
          <p:cNvSpPr/>
          <p:nvPr/>
        </p:nvSpPr>
        <p:spPr>
          <a:xfrm>
            <a:off x="6217920" y="3931920"/>
            <a:ext cx="457200" cy="457200"/>
          </a:xfrm>
          <a:prstGeom prst="ellipse">
            <a:avLst/>
          </a:prstGeom>
          <a:solidFill>
            <a:srgbClr val="1E3A5F"/>
          </a:solidFill>
          <a:ln/>
        </p:spPr>
      </p:sp>
      <p:sp>
        <p:nvSpPr>
          <p:cNvPr id="27" name="Text 25"/>
          <p:cNvSpPr/>
          <p:nvPr/>
        </p:nvSpPr>
        <p:spPr>
          <a:xfrm>
            <a:off x="621792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676656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The Zero-Sum Relationship Has Operational Implications</a:t>
            </a:r>
            <a:endParaRPr lang="en-US" sz="1200" dirty="0"/>
          </a:p>
        </p:txBody>
      </p:sp>
      <p:sp>
        <p:nvSpPr>
          <p:cNvPr id="29" name="Text 27"/>
          <p:cNvSpPr/>
          <p:nvPr/>
        </p:nvSpPr>
        <p:spPr>
          <a:xfrm>
            <a:off x="626364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For every long call position in operations, there is an equal short call position somewhere. For every premium paid by a buyer, the same amount is received by a seller. This zero-sum property means that when operations reconciles positions, total net premium across all counterparties must equal zero. Position imbalances are an immediate red flag.</a:t>
            </a:r>
            <a:endParaRPr lang="en-US" sz="1000" dirty="0"/>
          </a:p>
        </p:txBody>
      </p:sp>
      <p:sp>
        <p:nvSpPr>
          <p:cNvPr id="30" name="Text 28"/>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OPT.2</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05F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THINK &amp; DISCUSS</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OPT.2</a:t>
            </a:r>
            <a:endParaRPr lang="en-US" sz="1000" dirty="0"/>
          </a:p>
        </p:txBody>
      </p:sp>
      <p:sp>
        <p:nvSpPr>
          <p:cNvPr id="9" name="Shape 7"/>
          <p:cNvSpPr/>
          <p:nvPr/>
        </p:nvSpPr>
        <p:spPr>
          <a:xfrm>
            <a:off x="365760" y="914400"/>
            <a:ext cx="11155680" cy="3840480"/>
          </a:xfrm>
          <a:prstGeom prst="rect">
            <a:avLst/>
          </a:prstGeom>
          <a:solidFill>
            <a:srgbClr val="004444"/>
          </a:solidFill>
          <a:ln w="12700">
            <a:solidFill>
              <a:srgbClr val="B8860B"/>
            </a:solidFill>
            <a:prstDash val="solid"/>
          </a:ln>
        </p:spPr>
      </p:sp>
      <p:sp>
        <p:nvSpPr>
          <p:cNvPr id="10" name="Text 8"/>
          <p:cNvSpPr/>
          <p:nvPr/>
        </p:nvSpPr>
        <p:spPr>
          <a:xfrm>
            <a:off x="9144000" y="548640"/>
            <a:ext cx="2926080" cy="457200"/>
          </a:xfrm>
          <a:prstGeom prst="rect">
            <a:avLst/>
          </a:prstGeom>
          <a:noFill/>
          <a:ln/>
        </p:spPr>
        <p:txBody>
          <a:bodyPr wrap="square" rtlCol="0" anchor="ctr"/>
          <a:lstStyle/>
          <a:p>
            <a:pPr algn="r" indent="0" marL="0">
              <a:buNone/>
            </a:pPr>
            <a:r>
              <a:rPr lang="en-US" sz="1400" b="1" dirty="0">
                <a:solidFill>
                  <a:srgbClr val="B8860B"/>
                </a:solidFill>
                <a:latin typeface="Calibri" pitchFamily="34" charset="0"/>
                <a:ea typeface="Calibri" pitchFamily="34" charset="-122"/>
                <a:cs typeface="Calibri" pitchFamily="34" charset="-120"/>
              </a:rPr>
              <a:t>2 MINUTES</a:t>
            </a:r>
            <a:endParaRPr lang="en-US" sz="1400" dirty="0"/>
          </a:p>
        </p:txBody>
      </p:sp>
      <p:sp>
        <p:nvSpPr>
          <p:cNvPr id="11" name="Text 9"/>
          <p:cNvSpPr/>
          <p:nvPr/>
        </p:nvSpPr>
        <p:spPr>
          <a:xfrm>
            <a:off x="640080" y="1188720"/>
            <a:ext cx="10607040" cy="310896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"You hold 1,000 Infosys shares bought at ₹1,500. You are worried the price may fall ahead of the next quarterly results. Design a hedging strategy using put options and explain: what strike to choose, what expiry, and what the trade-off is compared to simply selling your shares."</a:t>
            </a:r>
            <a:endParaRPr lang="en-US" sz="1800" dirty="0"/>
          </a:p>
        </p:txBody>
      </p:sp>
      <p:sp>
        <p:nvSpPr>
          <p:cNvPr id="12" name="Shape 10"/>
          <p:cNvSpPr/>
          <p:nvPr/>
        </p:nvSpPr>
        <p:spPr>
          <a:xfrm>
            <a:off x="0" y="5029200"/>
            <a:ext cx="12192000" cy="914400"/>
          </a:xfrm>
          <a:prstGeom prst="rect">
            <a:avLst/>
          </a:prstGeom>
          <a:solidFill>
            <a:srgbClr val="003333"/>
          </a:solidFill>
          <a:ln/>
        </p:spPr>
      </p:sp>
      <p:sp>
        <p:nvSpPr>
          <p:cNvPr id="13" name="Text 11"/>
          <p:cNvSpPr/>
          <p:nvPr/>
        </p:nvSpPr>
        <p:spPr>
          <a:xfrm>
            <a:off x="365760" y="5029200"/>
            <a:ext cx="11430000" cy="91440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Hint: Think about: protection level needed (strike selection), cost of protection (premium), time needed (expiry), what happens if Infosys rises after the hedge is placed.</a:t>
            </a:r>
            <a:endParaRPr lang="en-US" sz="13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INTERVIEW READY</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OPT.2</a:t>
            </a:r>
            <a:endParaRPr lang="en-US" sz="1000" dirty="0"/>
          </a:p>
        </p:txBody>
      </p:sp>
      <p:sp>
        <p:nvSpPr>
          <p:cNvPr id="9" name="Shape 7"/>
          <p:cNvSpPr/>
          <p:nvPr/>
        </p:nvSpPr>
        <p:spPr>
          <a:xfrm>
            <a:off x="0" y="420624"/>
            <a:ext cx="12192000" cy="1371600"/>
          </a:xfrm>
          <a:prstGeom prst="rect">
            <a:avLst/>
          </a:prstGeom>
          <a:solidFill>
            <a:srgbClr val="1E3A5F"/>
          </a:solidFill>
          <a:ln/>
        </p:spPr>
      </p:sp>
      <p:sp>
        <p:nvSpPr>
          <p:cNvPr id="10" name="Text 8"/>
          <p:cNvSpPr/>
          <p:nvPr/>
        </p:nvSpPr>
        <p:spPr>
          <a:xfrm>
            <a:off x="365760" y="502920"/>
            <a:ext cx="11430000" cy="365760"/>
          </a:xfrm>
          <a:prstGeom prst="rect">
            <a:avLst/>
          </a:prstGeom>
          <a:noFill/>
          <a:ln/>
        </p:spPr>
        <p:txBody>
          <a:bodyPr wrap="square" rtlCol="0" anchor="ctr"/>
          <a:lstStyle/>
          <a:p>
            <a:pPr indent="0" marL="0">
              <a:buNone/>
            </a:pPr>
            <a:r>
              <a:rPr lang="en-US" sz="1200" b="1" dirty="0">
                <a:solidFill>
                  <a:srgbClr val="B8860B"/>
                </a:solidFill>
                <a:latin typeface="Calibri" pitchFamily="34" charset="0"/>
                <a:ea typeface="Calibri" pitchFamily="34" charset="-122"/>
                <a:cs typeface="Calibri" pitchFamily="34" charset="-120"/>
              </a:rPr>
              <a:t>Interview Question:</a:t>
            </a:r>
            <a:endParaRPr lang="en-US" sz="1200" dirty="0"/>
          </a:p>
        </p:txBody>
      </p:sp>
      <p:sp>
        <p:nvSpPr>
          <p:cNvPr id="11" name="Text 9"/>
          <p:cNvSpPr/>
          <p:nvPr/>
        </p:nvSpPr>
        <p:spPr>
          <a:xfrm>
            <a:off x="365760" y="914400"/>
            <a:ext cx="11430000" cy="8229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"What is the difference between a call option and a put option?"</a:t>
            </a:r>
            <a:endParaRPr lang="en-US" sz="1600" dirty="0"/>
          </a:p>
        </p:txBody>
      </p:sp>
      <p:sp>
        <p:nvSpPr>
          <p:cNvPr id="12" name="Text 10"/>
          <p:cNvSpPr/>
          <p:nvPr/>
        </p:nvSpPr>
        <p:spPr>
          <a:xfrm>
            <a:off x="365760" y="1965960"/>
            <a:ext cx="11430000" cy="365760"/>
          </a:xfrm>
          <a:prstGeom prst="rect">
            <a:avLst/>
          </a:prstGeom>
          <a:noFill/>
          <a:ln/>
        </p:spPr>
        <p:txBody>
          <a:bodyPr wrap="square" rtlCol="0" anchor="ctr"/>
          <a:lstStyle/>
          <a:p>
            <a:pPr indent="0" marL="0">
              <a:buNone/>
            </a:pPr>
            <a:r>
              <a:rPr lang="en-US" sz="1100" b="1" dirty="0">
                <a:solidFill>
                  <a:srgbClr val="005F5F"/>
                </a:solidFill>
                <a:latin typeface="Calibri" pitchFamily="34" charset="0"/>
                <a:ea typeface="Calibri" pitchFamily="34" charset="-122"/>
                <a:cs typeface="Calibri" pitchFamily="34" charset="-120"/>
              </a:rPr>
              <a:t>STRONG ANSWER FRAMEWORK  (4 points):</a:t>
            </a:r>
            <a:endParaRPr lang="en-US" sz="1100" dirty="0"/>
          </a:p>
        </p:txBody>
      </p:sp>
      <p:sp>
        <p:nvSpPr>
          <p:cNvPr id="13" name="Shape 11"/>
          <p:cNvSpPr/>
          <p:nvPr/>
        </p:nvSpPr>
        <p:spPr>
          <a:xfrm>
            <a:off x="274320" y="2423160"/>
            <a:ext cx="457200" cy="640080"/>
          </a:xfrm>
          <a:prstGeom prst="rect">
            <a:avLst/>
          </a:prstGeom>
          <a:solidFill>
            <a:srgbClr val="1E3A5F"/>
          </a:solidFill>
          <a:ln/>
        </p:spPr>
      </p:sp>
      <p:sp>
        <p:nvSpPr>
          <p:cNvPr id="14" name="Text 12"/>
          <p:cNvSpPr/>
          <p:nvPr/>
        </p:nvSpPr>
        <p:spPr>
          <a:xfrm>
            <a:off x="274320" y="24231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Shape 13"/>
          <p:cNvSpPr/>
          <p:nvPr/>
        </p:nvSpPr>
        <p:spPr>
          <a:xfrm>
            <a:off x="822960" y="2423160"/>
            <a:ext cx="11064240" cy="640080"/>
          </a:xfrm>
          <a:prstGeom prst="rect">
            <a:avLst/>
          </a:prstGeom>
          <a:solidFill>
            <a:srgbClr val="D5E3F0"/>
          </a:solidFill>
          <a:ln w="6350">
            <a:solidFill>
              <a:srgbClr val="AAAAAA"/>
            </a:solidFill>
            <a:prstDash val="solid"/>
          </a:ln>
        </p:spPr>
      </p:sp>
      <p:sp>
        <p:nvSpPr>
          <p:cNvPr id="16" name="Text 14"/>
          <p:cNvSpPr/>
          <p:nvPr/>
        </p:nvSpPr>
        <p:spPr>
          <a:xfrm>
            <a:off x="914400" y="24231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A call option gives the holder the right to BUY the underlying asset at the strike price. It is profitable when the market price exceeds the strike price (ITM). Long call breakeven = Strike + Premium. Maximum loss = premium paid; maximum gain = theoretically unlimited.</a:t>
            </a:r>
            <a:endParaRPr lang="en-US" sz="1200" dirty="0"/>
          </a:p>
        </p:txBody>
      </p:sp>
      <p:sp>
        <p:nvSpPr>
          <p:cNvPr id="17" name="Shape 15"/>
          <p:cNvSpPr/>
          <p:nvPr/>
        </p:nvSpPr>
        <p:spPr>
          <a:xfrm>
            <a:off x="274320" y="3337560"/>
            <a:ext cx="457200" cy="640080"/>
          </a:xfrm>
          <a:prstGeom prst="rect">
            <a:avLst/>
          </a:prstGeom>
          <a:solidFill>
            <a:srgbClr val="1E3A5F"/>
          </a:solidFill>
          <a:ln/>
        </p:spPr>
      </p:sp>
      <p:sp>
        <p:nvSpPr>
          <p:cNvPr id="18" name="Text 16"/>
          <p:cNvSpPr/>
          <p:nvPr/>
        </p:nvSpPr>
        <p:spPr>
          <a:xfrm>
            <a:off x="274320" y="33375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Shape 17"/>
          <p:cNvSpPr/>
          <p:nvPr/>
        </p:nvSpPr>
        <p:spPr>
          <a:xfrm>
            <a:off x="822960" y="3337560"/>
            <a:ext cx="11064240" cy="640080"/>
          </a:xfrm>
          <a:prstGeom prst="rect">
            <a:avLst/>
          </a:prstGeom>
          <a:solidFill>
            <a:srgbClr val="FFFFFF"/>
          </a:solidFill>
          <a:ln w="6350">
            <a:solidFill>
              <a:srgbClr val="AAAAAA"/>
            </a:solidFill>
            <a:prstDash val="solid"/>
          </a:ln>
        </p:spPr>
      </p:sp>
      <p:sp>
        <p:nvSpPr>
          <p:cNvPr id="20" name="Text 18"/>
          <p:cNvSpPr/>
          <p:nvPr/>
        </p:nvSpPr>
        <p:spPr>
          <a:xfrm>
            <a:off x="914400" y="33375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A put option gives the holder the right to SELL the underlying asset at the strike price. It is profitable when the market price falls below the strike price (ITM). Long put breakeven = Strike – Premium. Maximum loss = premium paid; maximum gain = Strike – Premium (stock to zero).</a:t>
            </a:r>
            <a:endParaRPr lang="en-US" sz="1200" dirty="0"/>
          </a:p>
        </p:txBody>
      </p:sp>
      <p:sp>
        <p:nvSpPr>
          <p:cNvPr id="21" name="Shape 19"/>
          <p:cNvSpPr/>
          <p:nvPr/>
        </p:nvSpPr>
        <p:spPr>
          <a:xfrm>
            <a:off x="274320" y="4251960"/>
            <a:ext cx="457200" cy="640080"/>
          </a:xfrm>
          <a:prstGeom prst="rect">
            <a:avLst/>
          </a:prstGeom>
          <a:solidFill>
            <a:srgbClr val="1E3A5F"/>
          </a:solidFill>
          <a:ln/>
        </p:spPr>
      </p:sp>
      <p:sp>
        <p:nvSpPr>
          <p:cNvPr id="22" name="Text 20"/>
          <p:cNvSpPr/>
          <p:nvPr/>
        </p:nvSpPr>
        <p:spPr>
          <a:xfrm>
            <a:off x="274320" y="42519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Shape 21"/>
          <p:cNvSpPr/>
          <p:nvPr/>
        </p:nvSpPr>
        <p:spPr>
          <a:xfrm>
            <a:off x="822960" y="4251960"/>
            <a:ext cx="11064240" cy="640080"/>
          </a:xfrm>
          <a:prstGeom prst="rect">
            <a:avLst/>
          </a:prstGeom>
          <a:solidFill>
            <a:srgbClr val="D5E3F0"/>
          </a:solidFill>
          <a:ln w="6350">
            <a:solidFill>
              <a:srgbClr val="AAAAAA"/>
            </a:solidFill>
            <a:prstDash val="solid"/>
          </a:ln>
        </p:spPr>
      </p:sp>
      <p:sp>
        <p:nvSpPr>
          <p:cNvPr id="24" name="Text 22"/>
          <p:cNvSpPr/>
          <p:nvPr/>
        </p:nvSpPr>
        <p:spPr>
          <a:xfrm>
            <a:off x="914400" y="42519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Both are purchased by paying a premium. Both have maximum loss equal to the premium for the buyer. The key difference is directional view: call = bullish; put = bearish or protective.</a:t>
            </a:r>
            <a:endParaRPr lang="en-US" sz="1200" dirty="0"/>
          </a:p>
        </p:txBody>
      </p:sp>
      <p:sp>
        <p:nvSpPr>
          <p:cNvPr id="25" name="Shape 23"/>
          <p:cNvSpPr/>
          <p:nvPr/>
        </p:nvSpPr>
        <p:spPr>
          <a:xfrm>
            <a:off x="274320" y="5166360"/>
            <a:ext cx="457200" cy="640080"/>
          </a:xfrm>
          <a:prstGeom prst="rect">
            <a:avLst/>
          </a:prstGeom>
          <a:solidFill>
            <a:srgbClr val="1E3A5F"/>
          </a:solidFill>
          <a:ln/>
        </p:spPr>
      </p:sp>
      <p:sp>
        <p:nvSpPr>
          <p:cNvPr id="26" name="Text 24"/>
          <p:cNvSpPr/>
          <p:nvPr/>
        </p:nvSpPr>
        <p:spPr>
          <a:xfrm>
            <a:off x="274320" y="51663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Shape 25"/>
          <p:cNvSpPr/>
          <p:nvPr/>
        </p:nvSpPr>
        <p:spPr>
          <a:xfrm>
            <a:off x="822960" y="5166360"/>
            <a:ext cx="11064240" cy="640080"/>
          </a:xfrm>
          <a:prstGeom prst="rect">
            <a:avLst/>
          </a:prstGeom>
          <a:solidFill>
            <a:srgbClr val="FFFFFF"/>
          </a:solidFill>
          <a:ln w="6350">
            <a:solidFill>
              <a:srgbClr val="AAAAAA"/>
            </a:solidFill>
            <a:prstDash val="solid"/>
          </a:ln>
        </p:spPr>
      </p:sp>
      <p:sp>
        <p:nvSpPr>
          <p:cNvPr id="28" name="Text 26"/>
          <p:cNvSpPr/>
          <p:nvPr/>
        </p:nvSpPr>
        <p:spPr>
          <a:xfrm>
            <a:off x="914400" y="51663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In operations: both require premium settlement on T+1, exercise monitoring, and expiry processing. For physical settlement options, exercise of a call results in share delivery; exercise of a put results in share receipt. The settlement instruction direction is opposite for calls vs puts.</a:t>
            </a:r>
            <a:endParaRPr lang="en-US" sz="1200" dirty="0"/>
          </a:p>
        </p:txBody>
      </p:sp>
      <p:sp>
        <p:nvSpPr>
          <p:cNvPr id="29" name="Text 27"/>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OPT.2</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3A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QUICK RECAP</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OPT.3</a:t>
            </a:r>
            <a:endParaRPr lang="en-US" sz="1000" dirty="0"/>
          </a:p>
        </p:txBody>
      </p:sp>
      <p:sp>
        <p:nvSpPr>
          <p:cNvPr id="9" name="Text 7"/>
          <p:cNvSpPr/>
          <p:nvPr/>
        </p:nvSpPr>
        <p:spPr>
          <a:xfrm>
            <a:off x="8686800" y="1097280"/>
            <a:ext cx="3200400" cy="4572000"/>
          </a:xfrm>
          <a:prstGeom prst="rect">
            <a:avLst/>
          </a:prstGeom>
          <a:noFill/>
          <a:ln/>
        </p:spPr>
        <p:txBody>
          <a:bodyPr wrap="square" rtlCol="0" anchor="ctr"/>
          <a:lstStyle/>
          <a:p>
            <a:pPr algn="ctr" indent="0" marL="0">
              <a:buNone/>
            </a:pPr>
            <a:r>
              <a:rPr lang="en-US" sz="18000" b="1" dirty="0">
                <a:solidFill>
                  <a:srgbClr val="2E4A6E"/>
                </a:solidFill>
                <a:latin typeface="Calibri" pitchFamily="34" charset="0"/>
                <a:ea typeface="Calibri" pitchFamily="34" charset="-122"/>
                <a:cs typeface="Calibri" pitchFamily="34" charset="-120"/>
              </a:rPr>
              <a:t>?</a:t>
            </a:r>
            <a:endParaRPr lang="en-US" sz="18000" dirty="0"/>
          </a:p>
        </p:txBody>
      </p:sp>
      <p:sp>
        <p:nvSpPr>
          <p:cNvPr id="10" name="Text 8"/>
          <p:cNvSpPr/>
          <p:nvPr/>
        </p:nvSpPr>
        <p:spPr>
          <a:xfrm>
            <a:off x="365760" y="548640"/>
            <a:ext cx="8229600" cy="457200"/>
          </a:xfrm>
          <a:prstGeom prst="rect">
            <a:avLst/>
          </a:prstGeom>
          <a:noFill/>
          <a:ln/>
        </p:spPr>
        <p:txBody>
          <a:bodyPr wrap="square" rtlCol="0" anchor="ctr"/>
          <a:lstStyle/>
          <a:p>
            <a:pPr indent="0" marL="0">
              <a:buNone/>
            </a:pPr>
            <a:r>
              <a:rPr lang="en-US" sz="1300" b="1" dirty="0">
                <a:solidFill>
                  <a:srgbClr val="B8860B"/>
                </a:solidFill>
                <a:latin typeface="Calibri" pitchFamily="34" charset="0"/>
                <a:ea typeface="Calibri" pitchFamily="34" charset="-122"/>
                <a:cs typeface="Calibri" pitchFamily="34" charset="-120"/>
              </a:rPr>
              <a:t>OPT.3 — Exercise Styles</a:t>
            </a:r>
            <a:endParaRPr lang="en-US" sz="1300" dirty="0"/>
          </a:p>
        </p:txBody>
      </p:sp>
      <p:sp>
        <p:nvSpPr>
          <p:cNvPr id="11" name="Text 9"/>
          <p:cNvSpPr/>
          <p:nvPr/>
        </p:nvSpPr>
        <p:spPr>
          <a:xfrm>
            <a:off x="365760" y="1280160"/>
            <a:ext cx="8229600" cy="34747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"NSE Nifty 50 and Bank Nifty options are European style — exercise only at expiry. You cannot exercise early even if the option is ₹1,000 in the money right now. Why did the exchange design it this way — what does European style simplify?"</a:t>
            </a:r>
            <a:endParaRPr lang="en-US" sz="2400" dirty="0"/>
          </a:p>
        </p:txBody>
      </p:sp>
      <p:sp>
        <p:nvSpPr>
          <p:cNvPr id="12" name="Shape 10"/>
          <p:cNvSpPr/>
          <p:nvPr/>
        </p:nvSpPr>
        <p:spPr>
          <a:xfrm>
            <a:off x="365760" y="4937760"/>
            <a:ext cx="8229600" cy="731520"/>
          </a:xfrm>
          <a:prstGeom prst="rect">
            <a:avLst/>
          </a:prstGeom>
          <a:solidFill>
            <a:srgbClr val="2E4A6E"/>
          </a:solidFill>
          <a:ln/>
        </p:spPr>
      </p:sp>
      <p:sp>
        <p:nvSpPr>
          <p:cNvPr id="13" name="Text 11"/>
          <p:cNvSpPr/>
          <p:nvPr/>
        </p:nvSpPr>
        <p:spPr>
          <a:xfrm>
            <a:off x="365760" y="4937760"/>
            <a:ext cx="8229600" cy="731520"/>
          </a:xfrm>
          <a:prstGeom prst="rect">
            <a:avLst/>
          </a:prstGeom>
          <a:noFill/>
          <a:ln/>
        </p:spPr>
        <p:txBody>
          <a:bodyPr wrap="square" rtlCol="0" anchor="ctr"/>
          <a:lstStyle/>
          <a:p>
            <a:pPr algn="l" indent="0" marL="0">
              <a:buNone/>
            </a:pPr>
            <a:r>
              <a:rPr lang="en-US" sz="1100" i="1" dirty="0">
                <a:solidFill>
                  <a:srgbClr val="CADCFC"/>
                </a:solidFill>
                <a:latin typeface="Calibri" pitchFamily="34" charset="0"/>
                <a:ea typeface="Calibri" pitchFamily="34" charset="-122"/>
                <a:cs typeface="Calibri" pitchFamily="34" charset="-120"/>
              </a:rPr>
              <a:t>From: OPT.3 · Video 1 — American and European Exercise Styles (EAR: IDENTIFY)</a:t>
            </a:r>
            <a:endParaRPr lang="en-US" sz="11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OPT.3</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005F5F"/>
          </a:solidFill>
          <a:ln/>
        </p:spPr>
      </p:sp>
      <p:sp>
        <p:nvSpPr>
          <p:cNvPr id="5" name="Shape 3"/>
          <p:cNvSpPr/>
          <p:nvPr/>
        </p:nvSpPr>
        <p:spPr>
          <a:xfrm>
            <a:off x="0" y="73152"/>
            <a:ext cx="1828800" cy="347472"/>
          </a:xfrm>
          <a:prstGeom prst="rect">
            <a:avLst/>
          </a:prstGeom>
          <a:solidFill>
            <a:srgbClr val="C0392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SCENARIO</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OPT.3</a:t>
            </a:r>
            <a:endParaRPr lang="en-US" sz="1000" dirty="0"/>
          </a:p>
        </p:txBody>
      </p:sp>
      <p:sp>
        <p:nvSpPr>
          <p:cNvPr id="9" name="Shape 7"/>
          <p:cNvSpPr/>
          <p:nvPr/>
        </p:nvSpPr>
        <p:spPr>
          <a:xfrm>
            <a:off x="0" y="420624"/>
            <a:ext cx="12192000" cy="914400"/>
          </a:xfrm>
          <a:prstGeom prst="rect">
            <a:avLst/>
          </a:prstGeom>
          <a:solidFill>
            <a:srgbClr val="1E3A5F"/>
          </a:solidFill>
          <a:ln/>
        </p:spPr>
      </p:sp>
      <p:sp>
        <p:nvSpPr>
          <p:cNvPr id="10" name="Text 8"/>
          <p:cNvSpPr/>
          <p:nvPr/>
        </p:nvSpPr>
        <p:spPr>
          <a:xfrm>
            <a:off x="365760" y="420624"/>
            <a:ext cx="11430000" cy="91440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US Equity Options: The Dividend Early Exercise Problem Operations Teams Miss</a:t>
            </a:r>
            <a:endParaRPr lang="en-US" sz="1800" dirty="0"/>
          </a:p>
        </p:txBody>
      </p:sp>
      <p:sp>
        <p:nvSpPr>
          <p:cNvPr id="11" name="Text 9"/>
          <p:cNvSpPr/>
          <p:nvPr/>
        </p:nvSpPr>
        <p:spPr>
          <a:xfrm>
            <a:off x="365760" y="1463040"/>
            <a:ext cx="7498080" cy="2926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American-style stock options on US exchanges can be exercised early — and there is one specific scenario where early exercise is rational: just before the ex-dividend date.</a:t>
            </a:r>
            <a:endParaRPr lang="en-US" sz="1300" dirty="0"/>
          </a:p>
          <a:p>
            <a:pPr indent="0" marL="0">
              <a:buNone/>
            </a:pP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A holder of deep ITM call options on a dividend-paying stock should exercise early if the dividend to be received exceeds the time value remaining in the option. By exercising early, they become a shareholder and receive the dividend. If they do not, the stock price drops on the ex-div date and the option value falls accordingly.</a:t>
            </a:r>
            <a:endParaRPr lang="en-US" sz="1300" dirty="0"/>
          </a:p>
          <a:p>
            <a:pPr indent="0" marL="0">
              <a:buNone/>
            </a:pP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This is a recurring operational challenge for firms processing US equity options — missing the early exercise window around ex-dividend dates is a measurable financial loss.</a:t>
            </a:r>
            <a:endParaRPr lang="en-US" sz="1300" dirty="0"/>
          </a:p>
        </p:txBody>
      </p:sp>
      <p:sp>
        <p:nvSpPr>
          <p:cNvPr id="12" name="Shape 10"/>
          <p:cNvSpPr/>
          <p:nvPr/>
        </p:nvSpPr>
        <p:spPr>
          <a:xfrm>
            <a:off x="8046720" y="1463040"/>
            <a:ext cx="3931920" cy="2926080"/>
          </a:xfrm>
          <a:prstGeom prst="rect">
            <a:avLst/>
          </a:prstGeom>
          <a:solidFill>
            <a:srgbClr val="D5E3F0"/>
          </a:solidFill>
          <a:ln w="12700">
            <a:solidFill>
              <a:srgbClr val="1E3A5F"/>
            </a:solidFill>
            <a:prstDash val="solid"/>
          </a:ln>
        </p:spPr>
      </p:sp>
      <p:sp>
        <p:nvSpPr>
          <p:cNvPr id="13" name="Text 11"/>
          <p:cNvSpPr/>
          <p:nvPr/>
        </p:nvSpPr>
        <p:spPr>
          <a:xfrm>
            <a:off x="8046720" y="1463040"/>
            <a:ext cx="3931920" cy="2926080"/>
          </a:xfrm>
          <a:prstGeom prst="rect">
            <a:avLst/>
          </a:prstGeom>
          <a:noFill/>
          <a:ln/>
        </p:spPr>
        <p:txBody>
          <a:bodyPr wrap="square" rtlCol="0" anchor="t"/>
          <a:lstStyle/>
          <a:p>
            <a:pPr indent="0" marL="0">
              <a:buNone/>
            </a:pPr>
            <a:r>
              <a:rPr lang="en-US" sz="1200" dirty="0">
                <a:solidFill>
                  <a:srgbClr val="1E3A5F"/>
                </a:solidFill>
                <a:latin typeface="Calibri" pitchFamily="34" charset="0"/>
                <a:ea typeface="Calibri" pitchFamily="34" charset="-122"/>
                <a:cs typeface="Calibri" pitchFamily="34" charset="-120"/>
              </a:rPr>
              <a:t>US EQUITY OPTIONS:</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American style</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 early exercise anytime</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Ex-div early exercise:</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Dividend &gt; Time Value</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 exercise optimal</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Miss the window:</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stock falls ex-div</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option value reduced</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Operations risk:</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financial loss from</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missed exercise</a:t>
            </a:r>
            <a:endParaRPr lang="en-US" sz="1200" dirty="0"/>
          </a:p>
        </p:txBody>
      </p:sp>
      <p:sp>
        <p:nvSpPr>
          <p:cNvPr id="14" name="Shape 12"/>
          <p:cNvSpPr/>
          <p:nvPr/>
        </p:nvSpPr>
        <p:spPr>
          <a:xfrm>
            <a:off x="0" y="4572000"/>
            <a:ext cx="12192000" cy="1188720"/>
          </a:xfrm>
          <a:prstGeom prst="rect">
            <a:avLst/>
          </a:prstGeom>
          <a:solidFill>
            <a:srgbClr val="005F5F"/>
          </a:solidFill>
          <a:ln/>
        </p:spPr>
      </p:sp>
      <p:sp>
        <p:nvSpPr>
          <p:cNvPr id="15" name="Text 13"/>
          <p:cNvSpPr/>
          <p:nvPr/>
        </p:nvSpPr>
        <p:spPr>
          <a:xfrm>
            <a:off x="365760" y="4572000"/>
            <a:ext cx="11430000" cy="118872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Your operations team processes 50 deeply ITM call options on US dividend-paying stocks. Three of them have ex-dividend dates in 4 business days. What process do you need in place to ensure no profitable early exercise opportunity is missed?</a:t>
            </a:r>
            <a:endParaRPr lang="en-US" sz="1500" dirty="0"/>
          </a:p>
        </p:txBody>
      </p:sp>
      <p:sp>
        <p:nvSpPr>
          <p:cNvPr id="16" name="Text 14"/>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OPT.3</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005F5F"/>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005F5F"/>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OPT.3</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Exercise Styles: Complete Comparison</a:t>
            </a:r>
            <a:endParaRPr lang="en-US" sz="2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274320" y="1280160"/>
          <a:ext cx="11612880" cy="4206240"/>
        </p:xfrm>
        <a:graphic>
          <a:graphicData uri="http://schemas.openxmlformats.org/drawingml/2006/table">
            <a:tbl>
              <a:tblPr/>
              <a:tblGrid>
                <a:gridCol w="2903220"/>
                <a:gridCol w="2903220"/>
                <a:gridCol w="2903220"/>
                <a:gridCol w="2903220"/>
              </a:tblGrid>
              <a:tr h="600891">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DIMENSION</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AMERICAN</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EUROPEAN</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BERMUDAN</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Exercise Timing</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Any time before or on expiry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Only on expiry date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Specific predetermined dates only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Premium Level</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Highest — most flexibility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Lowest — simplest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Intermediate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Pricing Complexity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Complex — all future dates valued</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Simplest — single expiry valued</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Moderate — specific dates valued</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India Examples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N/A for listed options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NSE index and equity options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OTC bond options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US Examples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Most US stock options (CBOE)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Most US index options (S&amp;P500)</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Some OTC structured products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Operations Monitoring</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Daily throughout option life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Expiry date only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Each scheduled exercise window date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bl>
          </a:graphicData>
        </a:graphic>
      </p:graphicFrame>
      <p:sp>
        <p:nvSpPr>
          <p:cNvPr id="11" name="Text 8"/>
          <p:cNvSpPr/>
          <p:nvPr/>
        </p:nvSpPr>
        <p:spPr>
          <a:xfrm>
            <a:off x="274320" y="6035040"/>
            <a:ext cx="11612880" cy="365760"/>
          </a:xfrm>
          <a:prstGeom prst="rect">
            <a:avLst/>
          </a:prstGeom>
          <a:noFill/>
          <a:ln/>
        </p:spPr>
        <p:txBody>
          <a:bodyPr wrap="square" rtlCol="0" anchor="ctr"/>
          <a:lstStyle/>
          <a:p>
            <a:pPr indent="0" marL="0">
              <a:buNone/>
            </a:pPr>
            <a:r>
              <a:rPr lang="en-US" sz="1000" dirty="0">
                <a:solidFill>
                  <a:srgbClr val="005F5F"/>
                </a:solidFill>
                <a:latin typeface="Calibri" pitchFamily="34" charset="0"/>
                <a:ea typeface="Calibri" pitchFamily="34" charset="-122"/>
                <a:cs typeface="Calibri" pitchFamily="34" charset="-120"/>
              </a:rPr>
              <a:t>Operations rule: confirm exercise style on Day 1. It determines the monitoring calendar for the entire option life.</a:t>
            </a:r>
            <a:endParaRPr lang="en-US" sz="1000" dirty="0"/>
          </a:p>
        </p:txBody>
      </p:sp>
      <p:sp>
        <p:nvSpPr>
          <p:cNvPr id="12" name="Text 9"/>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OPT.3</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GOING DEEPER</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OPT.3</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Four Insights on Exercise Styles and Operations</a:t>
            </a:r>
            <a:endParaRPr lang="en-US" sz="2000" dirty="0"/>
          </a:p>
        </p:txBody>
      </p:sp>
      <p:sp>
        <p:nvSpPr>
          <p:cNvPr id="10" name="Shape 8"/>
          <p:cNvSpPr/>
          <p:nvPr/>
        </p:nvSpPr>
        <p:spPr>
          <a:xfrm>
            <a:off x="274320" y="1280160"/>
            <a:ext cx="5669280" cy="2377440"/>
          </a:xfrm>
          <a:prstGeom prst="rect">
            <a:avLst/>
          </a:prstGeom>
          <a:solidFill>
            <a:srgbClr val="D5E3F0"/>
          </a:solidFill>
          <a:ln w="6350">
            <a:solidFill>
              <a:srgbClr val="AAAAAA"/>
            </a:solidFill>
            <a:prstDash val="solid"/>
          </a:ln>
        </p:spPr>
      </p:sp>
      <p:sp>
        <p:nvSpPr>
          <p:cNvPr id="11" name="Shape 9"/>
          <p:cNvSpPr/>
          <p:nvPr/>
        </p:nvSpPr>
        <p:spPr>
          <a:xfrm>
            <a:off x="365760" y="1371600"/>
            <a:ext cx="457200" cy="457200"/>
          </a:xfrm>
          <a:prstGeom prst="ellipse">
            <a:avLst/>
          </a:prstGeom>
          <a:solidFill>
            <a:srgbClr val="1E3A5F"/>
          </a:solidFill>
          <a:ln/>
        </p:spPr>
      </p:sp>
      <p:sp>
        <p:nvSpPr>
          <p:cNvPr id="12" name="Text 10"/>
          <p:cNvSpPr/>
          <p:nvPr/>
        </p:nvSpPr>
        <p:spPr>
          <a:xfrm>
            <a:off x="36576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91440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Why NSE Chose European Style for All Listed Options</a:t>
            </a:r>
            <a:endParaRPr lang="en-US" sz="1200" dirty="0"/>
          </a:p>
        </p:txBody>
      </p:sp>
      <p:sp>
        <p:nvSpPr>
          <p:cNvPr id="14" name="Text 12"/>
          <p:cNvSpPr/>
          <p:nvPr/>
        </p:nvSpPr>
        <p:spPr>
          <a:xfrm>
            <a:off x="41148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NSE standardised on European style for operational simplicity, reduced early exercise risk, and easier theoretical pricing. Daily exercise monitoring for American-style options would require significant systems infrastructure. European style means the exchange clearing corporation only needs to process exercises once — at expiry — dramatically reducing operational complexity.</a:t>
            </a:r>
            <a:endParaRPr lang="en-US" sz="1000" dirty="0"/>
          </a:p>
        </p:txBody>
      </p:sp>
      <p:sp>
        <p:nvSpPr>
          <p:cNvPr id="15" name="Shape 13"/>
          <p:cNvSpPr/>
          <p:nvPr/>
        </p:nvSpPr>
        <p:spPr>
          <a:xfrm>
            <a:off x="6126480" y="1280160"/>
            <a:ext cx="5669280" cy="2377440"/>
          </a:xfrm>
          <a:prstGeom prst="rect">
            <a:avLst/>
          </a:prstGeom>
          <a:solidFill>
            <a:srgbClr val="D4EFEF"/>
          </a:solidFill>
          <a:ln w="6350">
            <a:solidFill>
              <a:srgbClr val="AAAAAA"/>
            </a:solidFill>
            <a:prstDash val="solid"/>
          </a:ln>
        </p:spPr>
      </p:sp>
      <p:sp>
        <p:nvSpPr>
          <p:cNvPr id="16" name="Shape 14"/>
          <p:cNvSpPr/>
          <p:nvPr/>
        </p:nvSpPr>
        <p:spPr>
          <a:xfrm>
            <a:off x="6217920" y="1371600"/>
            <a:ext cx="457200" cy="457200"/>
          </a:xfrm>
          <a:prstGeom prst="ellipse">
            <a:avLst/>
          </a:prstGeom>
          <a:solidFill>
            <a:srgbClr val="005F5F"/>
          </a:solidFill>
          <a:ln/>
        </p:spPr>
      </p:sp>
      <p:sp>
        <p:nvSpPr>
          <p:cNvPr id="17" name="Text 15"/>
          <p:cNvSpPr/>
          <p:nvPr/>
        </p:nvSpPr>
        <p:spPr>
          <a:xfrm>
            <a:off x="621792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676656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Early Exercise Is Suboptimal Except Near Dividends</a:t>
            </a:r>
            <a:endParaRPr lang="en-US" sz="1200" dirty="0"/>
          </a:p>
        </p:txBody>
      </p:sp>
      <p:sp>
        <p:nvSpPr>
          <p:cNvPr id="19" name="Text 17"/>
          <p:cNvSpPr/>
          <p:nvPr/>
        </p:nvSpPr>
        <p:spPr>
          <a:xfrm>
            <a:off x="626364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For most options, selling the option in the market produces better economics than early exercise — because selling captures both intrinsic and time value, while early exercise only captures intrinsic value. The exception: deeply ITM calls on high-dividend stocks just before ex-dividend. The dividend exceeds the time value premium being forfeited.</a:t>
            </a:r>
            <a:endParaRPr lang="en-US" sz="1000" dirty="0"/>
          </a:p>
        </p:txBody>
      </p:sp>
      <p:sp>
        <p:nvSpPr>
          <p:cNvPr id="20" name="Shape 18"/>
          <p:cNvSpPr/>
          <p:nvPr/>
        </p:nvSpPr>
        <p:spPr>
          <a:xfrm>
            <a:off x="274320" y="3840480"/>
            <a:ext cx="5669280" cy="2377440"/>
          </a:xfrm>
          <a:prstGeom prst="rect">
            <a:avLst/>
          </a:prstGeom>
          <a:solidFill>
            <a:srgbClr val="FEF9E7"/>
          </a:solidFill>
          <a:ln w="6350">
            <a:solidFill>
              <a:srgbClr val="AAAAAA"/>
            </a:solidFill>
            <a:prstDash val="solid"/>
          </a:ln>
        </p:spPr>
      </p:sp>
      <p:sp>
        <p:nvSpPr>
          <p:cNvPr id="21" name="Shape 19"/>
          <p:cNvSpPr/>
          <p:nvPr/>
        </p:nvSpPr>
        <p:spPr>
          <a:xfrm>
            <a:off x="365760" y="3931920"/>
            <a:ext cx="457200" cy="457200"/>
          </a:xfrm>
          <a:prstGeom prst="ellipse">
            <a:avLst/>
          </a:prstGeom>
          <a:solidFill>
            <a:srgbClr val="B8860B"/>
          </a:solidFill>
          <a:ln/>
        </p:spPr>
      </p:sp>
      <p:sp>
        <p:nvSpPr>
          <p:cNvPr id="22" name="Text 20"/>
          <p:cNvSpPr/>
          <p:nvPr/>
        </p:nvSpPr>
        <p:spPr>
          <a:xfrm>
            <a:off x="36576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91440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Bermudan Options Are Predominantly OTC</a:t>
            </a:r>
            <a:endParaRPr lang="en-US" sz="1200" dirty="0"/>
          </a:p>
        </p:txBody>
      </p:sp>
      <p:sp>
        <p:nvSpPr>
          <p:cNvPr id="24" name="Text 22"/>
          <p:cNvSpPr/>
          <p:nvPr/>
        </p:nvSpPr>
        <p:spPr>
          <a:xfrm>
            <a:off x="41148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Bermudan options do not appear on standard exchange-traded option chains. They are structured in OTC markets for specific client needs — particularly in interest rate and bond option markets where periodic exercise opportunities align with coupon payment dates. Operations teams must maintain a bespoke exercise calendar for each contract.</a:t>
            </a:r>
            <a:endParaRPr lang="en-US" sz="1000" dirty="0"/>
          </a:p>
        </p:txBody>
      </p:sp>
      <p:sp>
        <p:nvSpPr>
          <p:cNvPr id="25" name="Shape 23"/>
          <p:cNvSpPr/>
          <p:nvPr/>
        </p:nvSpPr>
        <p:spPr>
          <a:xfrm>
            <a:off x="6126480" y="3840480"/>
            <a:ext cx="5669280" cy="2377440"/>
          </a:xfrm>
          <a:prstGeom prst="rect">
            <a:avLst/>
          </a:prstGeom>
          <a:solidFill>
            <a:srgbClr val="F3E5F5"/>
          </a:solidFill>
          <a:ln w="6350">
            <a:solidFill>
              <a:srgbClr val="AAAAAA"/>
            </a:solidFill>
            <a:prstDash val="solid"/>
          </a:ln>
        </p:spPr>
      </p:sp>
      <p:sp>
        <p:nvSpPr>
          <p:cNvPr id="26" name="Shape 24"/>
          <p:cNvSpPr/>
          <p:nvPr/>
        </p:nvSpPr>
        <p:spPr>
          <a:xfrm>
            <a:off x="6217920" y="3931920"/>
            <a:ext cx="457200" cy="457200"/>
          </a:xfrm>
          <a:prstGeom prst="ellipse">
            <a:avLst/>
          </a:prstGeom>
          <a:solidFill>
            <a:srgbClr val="1E3A5F"/>
          </a:solidFill>
          <a:ln/>
        </p:spPr>
      </p:sp>
      <p:sp>
        <p:nvSpPr>
          <p:cNvPr id="27" name="Text 25"/>
          <p:cNvSpPr/>
          <p:nvPr/>
        </p:nvSpPr>
        <p:spPr>
          <a:xfrm>
            <a:off x="621792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676656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The ISDA Confirmation Specifies Exercise Style</a:t>
            </a:r>
            <a:endParaRPr lang="en-US" sz="1200" dirty="0"/>
          </a:p>
        </p:txBody>
      </p:sp>
      <p:sp>
        <p:nvSpPr>
          <p:cNvPr id="29" name="Text 27"/>
          <p:cNvSpPr/>
          <p:nvPr/>
        </p:nvSpPr>
        <p:spPr>
          <a:xfrm>
            <a:off x="626364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For OTC options, the ISDA confirmation includes explicit exercise provisions — exercise dates, exercise notice periods, automatic exercise triggers, and fallback provisions. Missing an exercise notice deadline can be legally and financially catastrophic for the holder. Operations teams must set calendar alerts for every exercise date in every OTC option agreement.</a:t>
            </a:r>
            <a:endParaRPr lang="en-US" sz="1000" dirty="0"/>
          </a:p>
        </p:txBody>
      </p:sp>
      <p:sp>
        <p:nvSpPr>
          <p:cNvPr id="30" name="Text 28"/>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OPT.3</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05F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THINK &amp; DISCUSS</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OPT.3</a:t>
            </a:r>
            <a:endParaRPr lang="en-US" sz="1000" dirty="0"/>
          </a:p>
        </p:txBody>
      </p:sp>
      <p:sp>
        <p:nvSpPr>
          <p:cNvPr id="9" name="Shape 7"/>
          <p:cNvSpPr/>
          <p:nvPr/>
        </p:nvSpPr>
        <p:spPr>
          <a:xfrm>
            <a:off x="365760" y="914400"/>
            <a:ext cx="11155680" cy="3840480"/>
          </a:xfrm>
          <a:prstGeom prst="rect">
            <a:avLst/>
          </a:prstGeom>
          <a:solidFill>
            <a:srgbClr val="004444"/>
          </a:solidFill>
          <a:ln w="12700">
            <a:solidFill>
              <a:srgbClr val="B8860B"/>
            </a:solidFill>
            <a:prstDash val="solid"/>
          </a:ln>
        </p:spPr>
      </p:sp>
      <p:sp>
        <p:nvSpPr>
          <p:cNvPr id="10" name="Text 8"/>
          <p:cNvSpPr/>
          <p:nvPr/>
        </p:nvSpPr>
        <p:spPr>
          <a:xfrm>
            <a:off x="9144000" y="548640"/>
            <a:ext cx="2926080" cy="457200"/>
          </a:xfrm>
          <a:prstGeom prst="rect">
            <a:avLst/>
          </a:prstGeom>
          <a:noFill/>
          <a:ln/>
        </p:spPr>
        <p:txBody>
          <a:bodyPr wrap="square" rtlCol="0" anchor="ctr"/>
          <a:lstStyle/>
          <a:p>
            <a:pPr algn="r" indent="0" marL="0">
              <a:buNone/>
            </a:pPr>
            <a:r>
              <a:rPr lang="en-US" sz="1400" b="1" dirty="0">
                <a:solidFill>
                  <a:srgbClr val="B8860B"/>
                </a:solidFill>
                <a:latin typeface="Calibri" pitchFamily="34" charset="0"/>
                <a:ea typeface="Calibri" pitchFamily="34" charset="-122"/>
                <a:cs typeface="Calibri" pitchFamily="34" charset="-120"/>
              </a:rPr>
              <a:t>2 MINUTES</a:t>
            </a:r>
            <a:endParaRPr lang="en-US" sz="1400" dirty="0"/>
          </a:p>
        </p:txBody>
      </p:sp>
      <p:sp>
        <p:nvSpPr>
          <p:cNvPr id="11" name="Text 9"/>
          <p:cNvSpPr/>
          <p:nvPr/>
        </p:nvSpPr>
        <p:spPr>
          <a:xfrm>
            <a:off x="640080" y="1188720"/>
            <a:ext cx="10607040" cy="310896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"You are an investment bank structuring a 2-year interest rate option for a corporate client who wants the right to lock in a fixed rate at three specific quarterly dates over the next 2 years. Should you offer American, European, or Bermudan style? Justify your choice and explain the premium implication."</a:t>
            </a:r>
            <a:endParaRPr lang="en-US" sz="1800" dirty="0"/>
          </a:p>
        </p:txBody>
      </p:sp>
      <p:sp>
        <p:nvSpPr>
          <p:cNvPr id="12" name="Shape 10"/>
          <p:cNvSpPr/>
          <p:nvPr/>
        </p:nvSpPr>
        <p:spPr>
          <a:xfrm>
            <a:off x="0" y="5029200"/>
            <a:ext cx="12192000" cy="914400"/>
          </a:xfrm>
          <a:prstGeom prst="rect">
            <a:avLst/>
          </a:prstGeom>
          <a:solidFill>
            <a:srgbClr val="003333"/>
          </a:solidFill>
          <a:ln/>
        </p:spPr>
      </p:sp>
      <p:sp>
        <p:nvSpPr>
          <p:cNvPr id="13" name="Text 11"/>
          <p:cNvSpPr/>
          <p:nvPr/>
        </p:nvSpPr>
        <p:spPr>
          <a:xfrm>
            <a:off x="365760" y="5029200"/>
            <a:ext cx="11430000" cy="91440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Hint: Think about: which style aligns with the client's quarterly hedging windows, the premium cost difference, and the operational monitoring burden for each.</a:t>
            </a:r>
            <a:endParaRPr lang="en-US" sz="13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OPT.3</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INTERVIEW READY</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OPT.3</a:t>
            </a:r>
            <a:endParaRPr lang="en-US" sz="1000" dirty="0"/>
          </a:p>
        </p:txBody>
      </p:sp>
      <p:sp>
        <p:nvSpPr>
          <p:cNvPr id="9" name="Shape 7"/>
          <p:cNvSpPr/>
          <p:nvPr/>
        </p:nvSpPr>
        <p:spPr>
          <a:xfrm>
            <a:off x="0" y="420624"/>
            <a:ext cx="12192000" cy="1371600"/>
          </a:xfrm>
          <a:prstGeom prst="rect">
            <a:avLst/>
          </a:prstGeom>
          <a:solidFill>
            <a:srgbClr val="1E3A5F"/>
          </a:solidFill>
          <a:ln/>
        </p:spPr>
      </p:sp>
      <p:sp>
        <p:nvSpPr>
          <p:cNvPr id="10" name="Text 8"/>
          <p:cNvSpPr/>
          <p:nvPr/>
        </p:nvSpPr>
        <p:spPr>
          <a:xfrm>
            <a:off x="365760" y="502920"/>
            <a:ext cx="11430000" cy="365760"/>
          </a:xfrm>
          <a:prstGeom prst="rect">
            <a:avLst/>
          </a:prstGeom>
          <a:noFill/>
          <a:ln/>
        </p:spPr>
        <p:txBody>
          <a:bodyPr wrap="square" rtlCol="0" anchor="ctr"/>
          <a:lstStyle/>
          <a:p>
            <a:pPr indent="0" marL="0">
              <a:buNone/>
            </a:pPr>
            <a:r>
              <a:rPr lang="en-US" sz="1200" b="1" dirty="0">
                <a:solidFill>
                  <a:srgbClr val="B8860B"/>
                </a:solidFill>
                <a:latin typeface="Calibri" pitchFamily="34" charset="0"/>
                <a:ea typeface="Calibri" pitchFamily="34" charset="-122"/>
                <a:cs typeface="Calibri" pitchFamily="34" charset="-120"/>
              </a:rPr>
              <a:t>Interview Question:</a:t>
            </a:r>
            <a:endParaRPr lang="en-US" sz="1200" dirty="0"/>
          </a:p>
        </p:txBody>
      </p:sp>
      <p:sp>
        <p:nvSpPr>
          <p:cNvPr id="11" name="Text 9"/>
          <p:cNvSpPr/>
          <p:nvPr/>
        </p:nvSpPr>
        <p:spPr>
          <a:xfrm>
            <a:off x="365760" y="914400"/>
            <a:ext cx="11430000" cy="8229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"What are the three exercise styles in options, and how does the exercise style affect operations workflow?"</a:t>
            </a:r>
            <a:endParaRPr lang="en-US" sz="1600" dirty="0"/>
          </a:p>
        </p:txBody>
      </p:sp>
      <p:sp>
        <p:nvSpPr>
          <p:cNvPr id="12" name="Text 10"/>
          <p:cNvSpPr/>
          <p:nvPr/>
        </p:nvSpPr>
        <p:spPr>
          <a:xfrm>
            <a:off x="365760" y="1965960"/>
            <a:ext cx="11430000" cy="365760"/>
          </a:xfrm>
          <a:prstGeom prst="rect">
            <a:avLst/>
          </a:prstGeom>
          <a:noFill/>
          <a:ln/>
        </p:spPr>
        <p:txBody>
          <a:bodyPr wrap="square" rtlCol="0" anchor="ctr"/>
          <a:lstStyle/>
          <a:p>
            <a:pPr indent="0" marL="0">
              <a:buNone/>
            </a:pPr>
            <a:r>
              <a:rPr lang="en-US" sz="1100" b="1" dirty="0">
                <a:solidFill>
                  <a:srgbClr val="005F5F"/>
                </a:solidFill>
                <a:latin typeface="Calibri" pitchFamily="34" charset="0"/>
                <a:ea typeface="Calibri" pitchFamily="34" charset="-122"/>
                <a:cs typeface="Calibri" pitchFamily="34" charset="-120"/>
              </a:rPr>
              <a:t>STRONG ANSWER FRAMEWORK  (4 points):</a:t>
            </a:r>
            <a:endParaRPr lang="en-US" sz="1100" dirty="0"/>
          </a:p>
        </p:txBody>
      </p:sp>
      <p:sp>
        <p:nvSpPr>
          <p:cNvPr id="13" name="Shape 11"/>
          <p:cNvSpPr/>
          <p:nvPr/>
        </p:nvSpPr>
        <p:spPr>
          <a:xfrm>
            <a:off x="274320" y="2423160"/>
            <a:ext cx="457200" cy="640080"/>
          </a:xfrm>
          <a:prstGeom prst="rect">
            <a:avLst/>
          </a:prstGeom>
          <a:solidFill>
            <a:srgbClr val="1E3A5F"/>
          </a:solidFill>
          <a:ln/>
        </p:spPr>
      </p:sp>
      <p:sp>
        <p:nvSpPr>
          <p:cNvPr id="14" name="Text 12"/>
          <p:cNvSpPr/>
          <p:nvPr/>
        </p:nvSpPr>
        <p:spPr>
          <a:xfrm>
            <a:off x="274320" y="24231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Shape 13"/>
          <p:cNvSpPr/>
          <p:nvPr/>
        </p:nvSpPr>
        <p:spPr>
          <a:xfrm>
            <a:off x="822960" y="2423160"/>
            <a:ext cx="11064240" cy="640080"/>
          </a:xfrm>
          <a:prstGeom prst="rect">
            <a:avLst/>
          </a:prstGeom>
          <a:solidFill>
            <a:srgbClr val="D5E3F0"/>
          </a:solidFill>
          <a:ln w="6350">
            <a:solidFill>
              <a:srgbClr val="AAAAAA"/>
            </a:solidFill>
            <a:prstDash val="solid"/>
          </a:ln>
        </p:spPr>
      </p:sp>
      <p:sp>
        <p:nvSpPr>
          <p:cNvPr id="16" name="Text 14"/>
          <p:cNvSpPr/>
          <p:nvPr/>
        </p:nvSpPr>
        <p:spPr>
          <a:xfrm>
            <a:off x="914400" y="24231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American style: can be exercised any time before or on expiry. Most US equity options are American style. Operations must monitor daily for early exercise notices, particularly around dividend dates when early exercise becomes rational.</a:t>
            </a:r>
            <a:endParaRPr lang="en-US" sz="1200" dirty="0"/>
          </a:p>
        </p:txBody>
      </p:sp>
      <p:sp>
        <p:nvSpPr>
          <p:cNvPr id="17" name="Shape 15"/>
          <p:cNvSpPr/>
          <p:nvPr/>
        </p:nvSpPr>
        <p:spPr>
          <a:xfrm>
            <a:off x="274320" y="3337560"/>
            <a:ext cx="457200" cy="640080"/>
          </a:xfrm>
          <a:prstGeom prst="rect">
            <a:avLst/>
          </a:prstGeom>
          <a:solidFill>
            <a:srgbClr val="1E3A5F"/>
          </a:solidFill>
          <a:ln/>
        </p:spPr>
      </p:sp>
      <p:sp>
        <p:nvSpPr>
          <p:cNvPr id="18" name="Text 16"/>
          <p:cNvSpPr/>
          <p:nvPr/>
        </p:nvSpPr>
        <p:spPr>
          <a:xfrm>
            <a:off x="274320" y="33375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Shape 17"/>
          <p:cNvSpPr/>
          <p:nvPr/>
        </p:nvSpPr>
        <p:spPr>
          <a:xfrm>
            <a:off x="822960" y="3337560"/>
            <a:ext cx="11064240" cy="640080"/>
          </a:xfrm>
          <a:prstGeom prst="rect">
            <a:avLst/>
          </a:prstGeom>
          <a:solidFill>
            <a:srgbClr val="FFFFFF"/>
          </a:solidFill>
          <a:ln w="6350">
            <a:solidFill>
              <a:srgbClr val="AAAAAA"/>
            </a:solidFill>
            <a:prstDash val="solid"/>
          </a:ln>
        </p:spPr>
      </p:sp>
      <p:sp>
        <p:nvSpPr>
          <p:cNvPr id="20" name="Text 18"/>
          <p:cNvSpPr/>
          <p:nvPr/>
        </p:nvSpPr>
        <p:spPr>
          <a:xfrm>
            <a:off x="914400" y="33375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European style: can only be exercised on the expiry date. Most NSE listed options (index and equity) are European. Operations only needs to process exercise at the single expiry date — dramatically simpler than American.</a:t>
            </a:r>
            <a:endParaRPr lang="en-US" sz="1200" dirty="0"/>
          </a:p>
        </p:txBody>
      </p:sp>
      <p:sp>
        <p:nvSpPr>
          <p:cNvPr id="21" name="Shape 19"/>
          <p:cNvSpPr/>
          <p:nvPr/>
        </p:nvSpPr>
        <p:spPr>
          <a:xfrm>
            <a:off x="274320" y="4251960"/>
            <a:ext cx="457200" cy="640080"/>
          </a:xfrm>
          <a:prstGeom prst="rect">
            <a:avLst/>
          </a:prstGeom>
          <a:solidFill>
            <a:srgbClr val="1E3A5F"/>
          </a:solidFill>
          <a:ln/>
        </p:spPr>
      </p:sp>
      <p:sp>
        <p:nvSpPr>
          <p:cNvPr id="22" name="Text 20"/>
          <p:cNvSpPr/>
          <p:nvPr/>
        </p:nvSpPr>
        <p:spPr>
          <a:xfrm>
            <a:off x="274320" y="42519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Shape 21"/>
          <p:cNvSpPr/>
          <p:nvPr/>
        </p:nvSpPr>
        <p:spPr>
          <a:xfrm>
            <a:off x="822960" y="4251960"/>
            <a:ext cx="11064240" cy="640080"/>
          </a:xfrm>
          <a:prstGeom prst="rect">
            <a:avLst/>
          </a:prstGeom>
          <a:solidFill>
            <a:srgbClr val="D5E3F0"/>
          </a:solidFill>
          <a:ln w="6350">
            <a:solidFill>
              <a:srgbClr val="AAAAAA"/>
            </a:solidFill>
            <a:prstDash val="solid"/>
          </a:ln>
        </p:spPr>
      </p:sp>
      <p:sp>
        <p:nvSpPr>
          <p:cNvPr id="24" name="Text 22"/>
          <p:cNvSpPr/>
          <p:nvPr/>
        </p:nvSpPr>
        <p:spPr>
          <a:xfrm>
            <a:off x="914400" y="42519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Bermudan style: can be exercised on specific predetermined dates before or on expiry. Used in OTC markets, particularly interest rate and bond options. Operations must maintain a bespoke calendar of exercise windows for each contract.</a:t>
            </a:r>
            <a:endParaRPr lang="en-US" sz="1200" dirty="0"/>
          </a:p>
        </p:txBody>
      </p:sp>
      <p:sp>
        <p:nvSpPr>
          <p:cNvPr id="25" name="Shape 23"/>
          <p:cNvSpPr/>
          <p:nvPr/>
        </p:nvSpPr>
        <p:spPr>
          <a:xfrm>
            <a:off x="274320" y="5166360"/>
            <a:ext cx="457200" cy="640080"/>
          </a:xfrm>
          <a:prstGeom prst="rect">
            <a:avLst/>
          </a:prstGeom>
          <a:solidFill>
            <a:srgbClr val="1E3A5F"/>
          </a:solidFill>
          <a:ln/>
        </p:spPr>
      </p:sp>
      <p:sp>
        <p:nvSpPr>
          <p:cNvPr id="26" name="Text 24"/>
          <p:cNvSpPr/>
          <p:nvPr/>
        </p:nvSpPr>
        <p:spPr>
          <a:xfrm>
            <a:off x="274320" y="51663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Shape 25"/>
          <p:cNvSpPr/>
          <p:nvPr/>
        </p:nvSpPr>
        <p:spPr>
          <a:xfrm>
            <a:off x="822960" y="5166360"/>
            <a:ext cx="11064240" cy="640080"/>
          </a:xfrm>
          <a:prstGeom prst="rect">
            <a:avLst/>
          </a:prstGeom>
          <a:solidFill>
            <a:srgbClr val="FFFFFF"/>
          </a:solidFill>
          <a:ln w="6350">
            <a:solidFill>
              <a:srgbClr val="AAAAAA"/>
            </a:solidFill>
            <a:prstDash val="solid"/>
          </a:ln>
        </p:spPr>
      </p:sp>
      <p:sp>
        <p:nvSpPr>
          <p:cNvPr id="28" name="Text 26"/>
          <p:cNvSpPr/>
          <p:nvPr/>
        </p:nvSpPr>
        <p:spPr>
          <a:xfrm>
            <a:off x="914400" y="51663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Operations rule: the exercise style must be confirmed at trade inception — it determines the entire monitoring calendar. American: daily monitoring. European: expiry-only. Bermudan: scheduled window monitoring. Misidentifying the style creates missed exercises, financial loss, and potential dispute.</a:t>
            </a:r>
            <a:endParaRPr lang="en-US" sz="1200" dirty="0"/>
          </a:p>
        </p:txBody>
      </p:sp>
      <p:sp>
        <p:nvSpPr>
          <p:cNvPr id="29" name="Text 27"/>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OPT.3</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3A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QUICK RECAP</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OPT.4</a:t>
            </a:r>
            <a:endParaRPr lang="en-US" sz="1000" dirty="0"/>
          </a:p>
        </p:txBody>
      </p:sp>
      <p:sp>
        <p:nvSpPr>
          <p:cNvPr id="9" name="Text 7"/>
          <p:cNvSpPr/>
          <p:nvPr/>
        </p:nvSpPr>
        <p:spPr>
          <a:xfrm>
            <a:off x="8686800" y="1097280"/>
            <a:ext cx="3200400" cy="4572000"/>
          </a:xfrm>
          <a:prstGeom prst="rect">
            <a:avLst/>
          </a:prstGeom>
          <a:noFill/>
          <a:ln/>
        </p:spPr>
        <p:txBody>
          <a:bodyPr wrap="square" rtlCol="0" anchor="ctr"/>
          <a:lstStyle/>
          <a:p>
            <a:pPr algn="ctr" indent="0" marL="0">
              <a:buNone/>
            </a:pPr>
            <a:r>
              <a:rPr lang="en-US" sz="18000" b="1" dirty="0">
                <a:solidFill>
                  <a:srgbClr val="2E4A6E"/>
                </a:solidFill>
                <a:latin typeface="Calibri" pitchFamily="34" charset="0"/>
                <a:ea typeface="Calibri" pitchFamily="34" charset="-122"/>
                <a:cs typeface="Calibri" pitchFamily="34" charset="-120"/>
              </a:rPr>
              <a:t>?</a:t>
            </a:r>
            <a:endParaRPr lang="en-US" sz="18000" dirty="0"/>
          </a:p>
        </p:txBody>
      </p:sp>
      <p:sp>
        <p:nvSpPr>
          <p:cNvPr id="10" name="Text 8"/>
          <p:cNvSpPr/>
          <p:nvPr/>
        </p:nvSpPr>
        <p:spPr>
          <a:xfrm>
            <a:off x="365760" y="548640"/>
            <a:ext cx="8229600" cy="457200"/>
          </a:xfrm>
          <a:prstGeom prst="rect">
            <a:avLst/>
          </a:prstGeom>
          <a:noFill/>
          <a:ln/>
        </p:spPr>
        <p:txBody>
          <a:bodyPr wrap="square" rtlCol="0" anchor="ctr"/>
          <a:lstStyle/>
          <a:p>
            <a:pPr indent="0" marL="0">
              <a:buNone/>
            </a:pPr>
            <a:r>
              <a:rPr lang="en-US" sz="1300" b="1" dirty="0">
                <a:solidFill>
                  <a:srgbClr val="B8860B"/>
                </a:solidFill>
                <a:latin typeface="Calibri" pitchFamily="34" charset="0"/>
                <a:ea typeface="Calibri" pitchFamily="34" charset="-122"/>
                <a:cs typeface="Calibri" pitchFamily="34" charset="-120"/>
              </a:rPr>
              <a:t>OPT.4 — Options Premium</a:t>
            </a:r>
            <a:endParaRPr lang="en-US" sz="1300" dirty="0"/>
          </a:p>
        </p:txBody>
      </p:sp>
      <p:sp>
        <p:nvSpPr>
          <p:cNvPr id="11" name="Text 9"/>
          <p:cNvSpPr/>
          <p:nvPr/>
        </p:nvSpPr>
        <p:spPr>
          <a:xfrm>
            <a:off x="365760" y="1280160"/>
            <a:ext cx="8229600" cy="34747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"The option is ₹50 in the money. The premium paid was ₹80. A colleague says: Exercise now and get your ₹50 back. You say: Wait. Who is right — and what does the ₹30 difference represent?"</a:t>
            </a:r>
            <a:endParaRPr lang="en-US" sz="2400" dirty="0"/>
          </a:p>
        </p:txBody>
      </p:sp>
      <p:sp>
        <p:nvSpPr>
          <p:cNvPr id="12" name="Shape 10"/>
          <p:cNvSpPr/>
          <p:nvPr/>
        </p:nvSpPr>
        <p:spPr>
          <a:xfrm>
            <a:off x="365760" y="4937760"/>
            <a:ext cx="8229600" cy="731520"/>
          </a:xfrm>
          <a:prstGeom prst="rect">
            <a:avLst/>
          </a:prstGeom>
          <a:solidFill>
            <a:srgbClr val="2E4A6E"/>
          </a:solidFill>
          <a:ln/>
        </p:spPr>
      </p:sp>
      <p:sp>
        <p:nvSpPr>
          <p:cNvPr id="13" name="Text 11"/>
          <p:cNvSpPr/>
          <p:nvPr/>
        </p:nvSpPr>
        <p:spPr>
          <a:xfrm>
            <a:off x="365760" y="4937760"/>
            <a:ext cx="8229600" cy="731520"/>
          </a:xfrm>
          <a:prstGeom prst="rect">
            <a:avLst/>
          </a:prstGeom>
          <a:noFill/>
          <a:ln/>
        </p:spPr>
        <p:txBody>
          <a:bodyPr wrap="square" rtlCol="0" anchor="ctr"/>
          <a:lstStyle/>
          <a:p>
            <a:pPr algn="l" indent="0" marL="0">
              <a:buNone/>
            </a:pPr>
            <a:r>
              <a:rPr lang="en-US" sz="1100" i="1" dirty="0">
                <a:solidFill>
                  <a:srgbClr val="CADCFC"/>
                </a:solidFill>
                <a:latin typeface="Calibri" pitchFamily="34" charset="0"/>
                <a:ea typeface="Calibri" pitchFamily="34" charset="-122"/>
                <a:cs typeface="Calibri" pitchFamily="34" charset="-120"/>
              </a:rPr>
              <a:t>From: OPT.4 · Video 2 — Intrinsic Value and Time Value (EAR: EXPLAIN)</a:t>
            </a:r>
            <a:endParaRPr lang="en-US" sz="11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OPT.4</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005F5F"/>
          </a:solidFill>
          <a:ln/>
        </p:spPr>
      </p:sp>
      <p:sp>
        <p:nvSpPr>
          <p:cNvPr id="5" name="Shape 3"/>
          <p:cNvSpPr/>
          <p:nvPr/>
        </p:nvSpPr>
        <p:spPr>
          <a:xfrm>
            <a:off x="0" y="73152"/>
            <a:ext cx="1828800" cy="347472"/>
          </a:xfrm>
          <a:prstGeom prst="rect">
            <a:avLst/>
          </a:prstGeom>
          <a:solidFill>
            <a:srgbClr val="C0392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SCENARIO</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OPT.4</a:t>
            </a:r>
            <a:endParaRPr lang="en-US" sz="1000" dirty="0"/>
          </a:p>
        </p:txBody>
      </p:sp>
      <p:sp>
        <p:nvSpPr>
          <p:cNvPr id="9" name="Shape 7"/>
          <p:cNvSpPr/>
          <p:nvPr/>
        </p:nvSpPr>
        <p:spPr>
          <a:xfrm>
            <a:off x="0" y="420624"/>
            <a:ext cx="12192000" cy="914400"/>
          </a:xfrm>
          <a:prstGeom prst="rect">
            <a:avLst/>
          </a:prstGeom>
          <a:solidFill>
            <a:srgbClr val="1E3A5F"/>
          </a:solidFill>
          <a:ln/>
        </p:spPr>
      </p:sp>
      <p:sp>
        <p:nvSpPr>
          <p:cNvPr id="10" name="Text 8"/>
          <p:cNvSpPr/>
          <p:nvPr/>
        </p:nvSpPr>
        <p:spPr>
          <a:xfrm>
            <a:off x="365760" y="420624"/>
            <a:ext cx="11430000" cy="91440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SEBI 2023: Upfront Premium Collection — The Day Options Broking Changed</a:t>
            </a:r>
            <a:endParaRPr lang="en-US" sz="1800" dirty="0"/>
          </a:p>
        </p:txBody>
      </p:sp>
      <p:sp>
        <p:nvSpPr>
          <p:cNvPr id="11" name="Text 9"/>
          <p:cNvSpPr/>
          <p:nvPr/>
        </p:nvSpPr>
        <p:spPr>
          <a:xfrm>
            <a:off x="365760" y="1463040"/>
            <a:ext cx="7498080" cy="2926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On February 1, 2023, SEBI mandated that option buyers must pay the full premium upfront on T+0 (trade date) — ending the practice where some brokers allowed T+1 settlement.</a:t>
            </a:r>
            <a:endParaRPr lang="en-US" sz="1300" dirty="0"/>
          </a:p>
          <a:p>
            <a:pPr indent="0" marL="0">
              <a:buNone/>
            </a:pP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Rationale: SEBI found that some brokers were allowing clients to take option positions without collecting full premium, creating unsettled obligations.</a:t>
            </a:r>
            <a:endParaRPr lang="en-US" sz="1300" dirty="0"/>
          </a:p>
          <a:p>
            <a:pPr indent="0" marL="0">
              <a:buNone/>
            </a:pP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Impact: significant intraday liquidity pressure for retail option buyers who previously relied on T+1 to fund premium payments. Trading volumes temporarily dropped as clients adjusted. Brokers updated margin and settlement systems within days.</a:t>
            </a:r>
            <a:endParaRPr lang="en-US" sz="1300" dirty="0"/>
          </a:p>
        </p:txBody>
      </p:sp>
      <p:sp>
        <p:nvSpPr>
          <p:cNvPr id="12" name="Shape 10"/>
          <p:cNvSpPr/>
          <p:nvPr/>
        </p:nvSpPr>
        <p:spPr>
          <a:xfrm>
            <a:off x="8046720" y="1463040"/>
            <a:ext cx="3931920" cy="2926080"/>
          </a:xfrm>
          <a:prstGeom prst="rect">
            <a:avLst/>
          </a:prstGeom>
          <a:solidFill>
            <a:srgbClr val="D5E3F0"/>
          </a:solidFill>
          <a:ln w="12700">
            <a:solidFill>
              <a:srgbClr val="1E3A5F"/>
            </a:solidFill>
            <a:prstDash val="solid"/>
          </a:ln>
        </p:spPr>
      </p:sp>
      <p:sp>
        <p:nvSpPr>
          <p:cNvPr id="13" name="Text 11"/>
          <p:cNvSpPr/>
          <p:nvPr/>
        </p:nvSpPr>
        <p:spPr>
          <a:xfrm>
            <a:off x="8046720" y="1463040"/>
            <a:ext cx="3931920" cy="2926080"/>
          </a:xfrm>
          <a:prstGeom prst="rect">
            <a:avLst/>
          </a:prstGeom>
          <a:noFill/>
          <a:ln/>
        </p:spPr>
        <p:txBody>
          <a:bodyPr wrap="square" rtlCol="0" anchor="t"/>
          <a:lstStyle/>
          <a:p>
            <a:pPr indent="0" marL="0">
              <a:buNone/>
            </a:pPr>
            <a:r>
              <a:rPr lang="en-US" sz="1200" dirty="0">
                <a:solidFill>
                  <a:srgbClr val="1E3A5F"/>
                </a:solidFill>
                <a:latin typeface="Calibri" pitchFamily="34" charset="0"/>
                <a:ea typeface="Calibri" pitchFamily="34" charset="-122"/>
                <a:cs typeface="Calibri" pitchFamily="34" charset="-120"/>
              </a:rPr>
              <a:t>SEBI 2023:</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Feb 2023</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T+0 premium</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collection mandated</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Previous: T+1</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(end of day)</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Impact: intraday</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liquidity pressure</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Volumes: temporarily</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reduced</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Broker systems:</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immediate update</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required</a:t>
            </a:r>
            <a:endParaRPr lang="en-US" sz="1200" dirty="0"/>
          </a:p>
        </p:txBody>
      </p:sp>
      <p:sp>
        <p:nvSpPr>
          <p:cNvPr id="14" name="Shape 12"/>
          <p:cNvSpPr/>
          <p:nvPr/>
        </p:nvSpPr>
        <p:spPr>
          <a:xfrm>
            <a:off x="0" y="4572000"/>
            <a:ext cx="12192000" cy="1188720"/>
          </a:xfrm>
          <a:prstGeom prst="rect">
            <a:avLst/>
          </a:prstGeom>
          <a:solidFill>
            <a:srgbClr val="005F5F"/>
          </a:solidFill>
          <a:ln/>
        </p:spPr>
      </p:sp>
      <p:sp>
        <p:nvSpPr>
          <p:cNvPr id="15" name="Text 13"/>
          <p:cNvSpPr/>
          <p:nvPr/>
        </p:nvSpPr>
        <p:spPr>
          <a:xfrm>
            <a:off x="365760" y="4572000"/>
            <a:ext cx="11430000" cy="118872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SEBI's T+0 premium collection rule changed the cash flow timing for option buyers. What operational controls should a broker's operations team implement to enforce T+0 premium collection without disrupting trading activity?</a:t>
            </a:r>
            <a:endParaRPr lang="en-US" sz="1500" dirty="0"/>
          </a:p>
        </p:txBody>
      </p:sp>
      <p:sp>
        <p:nvSpPr>
          <p:cNvPr id="16" name="Text 14"/>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OPT.4</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005F5F"/>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005F5F"/>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OPT.4</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Options Premium: Intrinsic Value + Time Value Decomposition</a:t>
            </a:r>
            <a:endParaRPr lang="en-US" sz="2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274320" y="1280160"/>
          <a:ext cx="11612880" cy="4206240"/>
        </p:xfrm>
        <a:graphic>
          <a:graphicData uri="http://schemas.openxmlformats.org/drawingml/2006/table">
            <a:tbl>
              <a:tblPr/>
              <a:tblGrid>
                <a:gridCol w="1935480"/>
                <a:gridCol w="1935480"/>
                <a:gridCol w="1935480"/>
                <a:gridCol w="1935480"/>
                <a:gridCol w="1935480"/>
                <a:gridCol w="1935480"/>
              </a:tblGrid>
              <a:tr h="70104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MONEYNESS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EXAMPLE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INTRINSIC VALUE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TIME VALUE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TOTAL PREMIUM</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DECAY SPEED</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r>
              <a:tr h="70104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Deep ITM Call</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Strike ₹80, Stock ₹120</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₹40 (120–80)</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₹42</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Slow</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70104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Slightly ITM Call</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Strike ₹100, Stock ₹108</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₹14</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Moderate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70104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ATM Call</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Strike ₹100, Stock ₹100</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₹12 (max)</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Fast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70104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Slightly OTM Call</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Strike ₹110, Stock ₹100</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Very Fast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70104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Deep OTM Call</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Strike ₹150, Stock ₹100</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Fastest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bl>
          </a:graphicData>
        </a:graphic>
      </p:graphicFrame>
      <p:sp>
        <p:nvSpPr>
          <p:cNvPr id="11" name="Text 8"/>
          <p:cNvSpPr/>
          <p:nvPr/>
        </p:nvSpPr>
        <p:spPr>
          <a:xfrm>
            <a:off x="274320" y="6035040"/>
            <a:ext cx="11612880" cy="365760"/>
          </a:xfrm>
          <a:prstGeom prst="rect">
            <a:avLst/>
          </a:prstGeom>
          <a:noFill/>
          <a:ln/>
        </p:spPr>
        <p:txBody>
          <a:bodyPr wrap="square" rtlCol="0" anchor="ctr"/>
          <a:lstStyle/>
          <a:p>
            <a:pPr indent="0" marL="0">
              <a:buNone/>
            </a:pPr>
            <a:r>
              <a:rPr lang="en-US" sz="1000" dirty="0">
                <a:solidFill>
                  <a:srgbClr val="005F5F"/>
                </a:solidFill>
                <a:latin typeface="Calibri" pitchFamily="34" charset="0"/>
                <a:ea typeface="Calibri" pitchFamily="34" charset="-122"/>
                <a:cs typeface="Calibri" pitchFamily="34" charset="-120"/>
              </a:rPr>
              <a:t>ATM options have maximum time value. Deep OTM options have the fastest time decay as a percentage of premium.</a:t>
            </a:r>
            <a:endParaRPr lang="en-US" sz="1000" dirty="0"/>
          </a:p>
        </p:txBody>
      </p:sp>
      <p:sp>
        <p:nvSpPr>
          <p:cNvPr id="12" name="Text 9"/>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OPT.4</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GOING DEEPER</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OPT.4</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Four Insights on Premium Structure and Theta Decay</a:t>
            </a:r>
            <a:endParaRPr lang="en-US" sz="2000" dirty="0"/>
          </a:p>
        </p:txBody>
      </p:sp>
      <p:sp>
        <p:nvSpPr>
          <p:cNvPr id="10" name="Shape 8"/>
          <p:cNvSpPr/>
          <p:nvPr/>
        </p:nvSpPr>
        <p:spPr>
          <a:xfrm>
            <a:off x="274320" y="1280160"/>
            <a:ext cx="5669280" cy="2377440"/>
          </a:xfrm>
          <a:prstGeom prst="rect">
            <a:avLst/>
          </a:prstGeom>
          <a:solidFill>
            <a:srgbClr val="D5E3F0"/>
          </a:solidFill>
          <a:ln w="6350">
            <a:solidFill>
              <a:srgbClr val="AAAAAA"/>
            </a:solidFill>
            <a:prstDash val="solid"/>
          </a:ln>
        </p:spPr>
      </p:sp>
      <p:sp>
        <p:nvSpPr>
          <p:cNvPr id="11" name="Shape 9"/>
          <p:cNvSpPr/>
          <p:nvPr/>
        </p:nvSpPr>
        <p:spPr>
          <a:xfrm>
            <a:off x="365760" y="1371600"/>
            <a:ext cx="457200" cy="457200"/>
          </a:xfrm>
          <a:prstGeom prst="ellipse">
            <a:avLst/>
          </a:prstGeom>
          <a:solidFill>
            <a:srgbClr val="1E3A5F"/>
          </a:solidFill>
          <a:ln/>
        </p:spPr>
      </p:sp>
      <p:sp>
        <p:nvSpPr>
          <p:cNvPr id="12" name="Text 10"/>
          <p:cNvSpPr/>
          <p:nvPr/>
        </p:nvSpPr>
        <p:spPr>
          <a:xfrm>
            <a:off x="36576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91440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Theta Is Not Linear — It Accelerates Near Expiry</a:t>
            </a:r>
            <a:endParaRPr lang="en-US" sz="1200" dirty="0"/>
          </a:p>
        </p:txBody>
      </p:sp>
      <p:sp>
        <p:nvSpPr>
          <p:cNvPr id="14" name="Text 12"/>
          <p:cNvSpPr/>
          <p:nvPr/>
        </p:nvSpPr>
        <p:spPr>
          <a:xfrm>
            <a:off x="41148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Time value does not decay at a constant daily rate. For a 90-day option, the daily theta might be ₹0.50. For the same option with 5 days left, daily theta might be ₹5. The acceleration in the final weeks creates theta traps for option buyers who think they have time — the last few days see the most dramatic value destruction.</a:t>
            </a:r>
            <a:endParaRPr lang="en-US" sz="1000" dirty="0"/>
          </a:p>
        </p:txBody>
      </p:sp>
      <p:sp>
        <p:nvSpPr>
          <p:cNvPr id="15" name="Shape 13"/>
          <p:cNvSpPr/>
          <p:nvPr/>
        </p:nvSpPr>
        <p:spPr>
          <a:xfrm>
            <a:off x="6126480" y="1280160"/>
            <a:ext cx="5669280" cy="2377440"/>
          </a:xfrm>
          <a:prstGeom prst="rect">
            <a:avLst/>
          </a:prstGeom>
          <a:solidFill>
            <a:srgbClr val="D4EFEF"/>
          </a:solidFill>
          <a:ln w="6350">
            <a:solidFill>
              <a:srgbClr val="AAAAAA"/>
            </a:solidFill>
            <a:prstDash val="solid"/>
          </a:ln>
        </p:spPr>
      </p:sp>
      <p:sp>
        <p:nvSpPr>
          <p:cNvPr id="16" name="Shape 14"/>
          <p:cNvSpPr/>
          <p:nvPr/>
        </p:nvSpPr>
        <p:spPr>
          <a:xfrm>
            <a:off x="6217920" y="1371600"/>
            <a:ext cx="457200" cy="457200"/>
          </a:xfrm>
          <a:prstGeom prst="ellipse">
            <a:avLst/>
          </a:prstGeom>
          <a:solidFill>
            <a:srgbClr val="005F5F"/>
          </a:solidFill>
          <a:ln/>
        </p:spPr>
      </p:sp>
      <p:sp>
        <p:nvSpPr>
          <p:cNvPr id="17" name="Text 15"/>
          <p:cNvSpPr/>
          <p:nvPr/>
        </p:nvSpPr>
        <p:spPr>
          <a:xfrm>
            <a:off x="621792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676656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For European Options, Never Exercise Before Expiry</a:t>
            </a:r>
            <a:endParaRPr lang="en-US" sz="1200" dirty="0"/>
          </a:p>
        </p:txBody>
      </p:sp>
      <p:sp>
        <p:nvSpPr>
          <p:cNvPr id="19" name="Text 17"/>
          <p:cNvSpPr/>
          <p:nvPr/>
        </p:nvSpPr>
        <p:spPr>
          <a:xfrm>
            <a:off x="626364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Early exercise of a European option is impossible — but even for American-style options, it is almost always irrational to exercise before expiry (except dividend cases). Selling the option captures intrinsic PLUS time value. Exercising captures only intrinsic value. The time value is forfeited upon early exercise — a guaranteed loss of the remaining time premium.</a:t>
            </a:r>
            <a:endParaRPr lang="en-US" sz="1000" dirty="0"/>
          </a:p>
        </p:txBody>
      </p:sp>
      <p:sp>
        <p:nvSpPr>
          <p:cNvPr id="20" name="Shape 18"/>
          <p:cNvSpPr/>
          <p:nvPr/>
        </p:nvSpPr>
        <p:spPr>
          <a:xfrm>
            <a:off x="274320" y="3840480"/>
            <a:ext cx="5669280" cy="2377440"/>
          </a:xfrm>
          <a:prstGeom prst="rect">
            <a:avLst/>
          </a:prstGeom>
          <a:solidFill>
            <a:srgbClr val="FEF9E7"/>
          </a:solidFill>
          <a:ln w="6350">
            <a:solidFill>
              <a:srgbClr val="AAAAAA"/>
            </a:solidFill>
            <a:prstDash val="solid"/>
          </a:ln>
        </p:spPr>
      </p:sp>
      <p:sp>
        <p:nvSpPr>
          <p:cNvPr id="21" name="Shape 19"/>
          <p:cNvSpPr/>
          <p:nvPr/>
        </p:nvSpPr>
        <p:spPr>
          <a:xfrm>
            <a:off x="365760" y="3931920"/>
            <a:ext cx="457200" cy="457200"/>
          </a:xfrm>
          <a:prstGeom prst="ellipse">
            <a:avLst/>
          </a:prstGeom>
          <a:solidFill>
            <a:srgbClr val="B8860B"/>
          </a:solidFill>
          <a:ln/>
        </p:spPr>
      </p:sp>
      <p:sp>
        <p:nvSpPr>
          <p:cNvPr id="22" name="Text 20"/>
          <p:cNvSpPr/>
          <p:nvPr/>
        </p:nvSpPr>
        <p:spPr>
          <a:xfrm>
            <a:off x="36576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91440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Option Sellers Collect Theta Daily Like a Salary</a:t>
            </a:r>
            <a:endParaRPr lang="en-US" sz="1200" dirty="0"/>
          </a:p>
        </p:txBody>
      </p:sp>
      <p:sp>
        <p:nvSpPr>
          <p:cNvPr id="24" name="Text 22"/>
          <p:cNvSpPr/>
          <p:nvPr/>
        </p:nvSpPr>
        <p:spPr>
          <a:xfrm>
            <a:off x="41148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Option writers who sell options and are not exercised earn theta income every day the option moves closer to expiry. A professional option writer with 100 open short positions may collect significant daily theta income in normal conditions. This is the appeal of systematic option writing strategies — regular income, until a market shock ends it abruptly.</a:t>
            </a:r>
            <a:endParaRPr lang="en-US" sz="1000" dirty="0"/>
          </a:p>
        </p:txBody>
      </p:sp>
      <p:sp>
        <p:nvSpPr>
          <p:cNvPr id="25" name="Shape 23"/>
          <p:cNvSpPr/>
          <p:nvPr/>
        </p:nvSpPr>
        <p:spPr>
          <a:xfrm>
            <a:off x="6126480" y="3840480"/>
            <a:ext cx="5669280" cy="2377440"/>
          </a:xfrm>
          <a:prstGeom prst="rect">
            <a:avLst/>
          </a:prstGeom>
          <a:solidFill>
            <a:srgbClr val="F3E5F5"/>
          </a:solidFill>
          <a:ln w="6350">
            <a:solidFill>
              <a:srgbClr val="AAAAAA"/>
            </a:solidFill>
            <a:prstDash val="solid"/>
          </a:ln>
        </p:spPr>
      </p:sp>
      <p:sp>
        <p:nvSpPr>
          <p:cNvPr id="26" name="Shape 24"/>
          <p:cNvSpPr/>
          <p:nvPr/>
        </p:nvSpPr>
        <p:spPr>
          <a:xfrm>
            <a:off x="6217920" y="3931920"/>
            <a:ext cx="457200" cy="457200"/>
          </a:xfrm>
          <a:prstGeom prst="ellipse">
            <a:avLst/>
          </a:prstGeom>
          <a:solidFill>
            <a:srgbClr val="1E3A5F"/>
          </a:solidFill>
          <a:ln/>
        </p:spPr>
      </p:sp>
      <p:sp>
        <p:nvSpPr>
          <p:cNvPr id="27" name="Text 25"/>
          <p:cNvSpPr/>
          <p:nvPr/>
        </p:nvSpPr>
        <p:spPr>
          <a:xfrm>
            <a:off x="621792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676656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Premium Settlement and Payoff Settlement Are Different Operations Events</a:t>
            </a:r>
            <a:endParaRPr lang="en-US" sz="1200" dirty="0"/>
          </a:p>
        </p:txBody>
      </p:sp>
      <p:sp>
        <p:nvSpPr>
          <p:cNvPr id="29" name="Text 27"/>
          <p:cNvSpPr/>
          <p:nvPr/>
        </p:nvSpPr>
        <p:spPr>
          <a:xfrm>
            <a:off x="626364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In operations, confusing premium settlement (T+1 at trade inception, or T+0 per SEBI 2023) with payoff settlement (at expiry, if exercised) causes serious errors. The premium leg is a transfer between buyer and seller at trade date. The payoff leg is conditional — it only occurs if the option is exercised. Operations must track both and confirm each separately.</a:t>
            </a:r>
            <a:endParaRPr lang="en-US" sz="1000" dirty="0"/>
          </a:p>
        </p:txBody>
      </p:sp>
      <p:sp>
        <p:nvSpPr>
          <p:cNvPr id="30" name="Text 28"/>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OPT.4</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05F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THINK &amp; DISCUSS</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OPT.4</a:t>
            </a:r>
            <a:endParaRPr lang="en-US" sz="1000" dirty="0"/>
          </a:p>
        </p:txBody>
      </p:sp>
      <p:sp>
        <p:nvSpPr>
          <p:cNvPr id="9" name="Shape 7"/>
          <p:cNvSpPr/>
          <p:nvPr/>
        </p:nvSpPr>
        <p:spPr>
          <a:xfrm>
            <a:off x="365760" y="914400"/>
            <a:ext cx="11155680" cy="3840480"/>
          </a:xfrm>
          <a:prstGeom prst="rect">
            <a:avLst/>
          </a:prstGeom>
          <a:solidFill>
            <a:srgbClr val="004444"/>
          </a:solidFill>
          <a:ln w="12700">
            <a:solidFill>
              <a:srgbClr val="B8860B"/>
            </a:solidFill>
            <a:prstDash val="solid"/>
          </a:ln>
        </p:spPr>
      </p:sp>
      <p:sp>
        <p:nvSpPr>
          <p:cNvPr id="10" name="Text 8"/>
          <p:cNvSpPr/>
          <p:nvPr/>
        </p:nvSpPr>
        <p:spPr>
          <a:xfrm>
            <a:off x="9144000" y="548640"/>
            <a:ext cx="2926080" cy="457200"/>
          </a:xfrm>
          <a:prstGeom prst="rect">
            <a:avLst/>
          </a:prstGeom>
          <a:noFill/>
          <a:ln/>
        </p:spPr>
        <p:txBody>
          <a:bodyPr wrap="square" rtlCol="0" anchor="ctr"/>
          <a:lstStyle/>
          <a:p>
            <a:pPr algn="r" indent="0" marL="0">
              <a:buNone/>
            </a:pPr>
            <a:r>
              <a:rPr lang="en-US" sz="1400" b="1" dirty="0">
                <a:solidFill>
                  <a:srgbClr val="B8860B"/>
                </a:solidFill>
                <a:latin typeface="Calibri" pitchFamily="34" charset="0"/>
                <a:ea typeface="Calibri" pitchFamily="34" charset="-122"/>
                <a:cs typeface="Calibri" pitchFamily="34" charset="-120"/>
              </a:rPr>
              <a:t>2 MINUTES</a:t>
            </a:r>
            <a:endParaRPr lang="en-US" sz="1400" dirty="0"/>
          </a:p>
        </p:txBody>
      </p:sp>
      <p:sp>
        <p:nvSpPr>
          <p:cNvPr id="11" name="Text 9"/>
          <p:cNvSpPr/>
          <p:nvPr/>
        </p:nvSpPr>
        <p:spPr>
          <a:xfrm>
            <a:off x="640080" y="1188720"/>
            <a:ext cx="10607040" cy="310896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"An option is ₹50 in the money with 3 weeks to expiry. The premium (market price) is ₹65. Your manager says: Exercise now and crystallise the ₹50. You say: Sell the option instead for ₹65. Explain precisely why selling is better than exercising early."</a:t>
            </a:r>
            <a:endParaRPr lang="en-US" sz="1800" dirty="0"/>
          </a:p>
        </p:txBody>
      </p:sp>
      <p:sp>
        <p:nvSpPr>
          <p:cNvPr id="12" name="Shape 10"/>
          <p:cNvSpPr/>
          <p:nvPr/>
        </p:nvSpPr>
        <p:spPr>
          <a:xfrm>
            <a:off x="0" y="5029200"/>
            <a:ext cx="12192000" cy="914400"/>
          </a:xfrm>
          <a:prstGeom prst="rect">
            <a:avLst/>
          </a:prstGeom>
          <a:solidFill>
            <a:srgbClr val="003333"/>
          </a:solidFill>
          <a:ln/>
        </p:spPr>
      </p:sp>
      <p:sp>
        <p:nvSpPr>
          <p:cNvPr id="13" name="Text 11"/>
          <p:cNvSpPr/>
          <p:nvPr/>
        </p:nvSpPr>
        <p:spPr>
          <a:xfrm>
            <a:off x="365760" y="5029200"/>
            <a:ext cx="11430000" cy="91440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Hint: Exercise captures intrinsic value only (₹50). Selling captures intrinsic + remaining time value (₹65). The ₹15 time value is destroyed by exercising early. You are giving up ₹15 for no reason.</a:t>
            </a:r>
            <a:endParaRPr lang="en-US" sz="13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OPT.4</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INTERVIEW READY</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OPT.4</a:t>
            </a:r>
            <a:endParaRPr lang="en-US" sz="1000" dirty="0"/>
          </a:p>
        </p:txBody>
      </p:sp>
      <p:sp>
        <p:nvSpPr>
          <p:cNvPr id="9" name="Shape 7"/>
          <p:cNvSpPr/>
          <p:nvPr/>
        </p:nvSpPr>
        <p:spPr>
          <a:xfrm>
            <a:off x="0" y="420624"/>
            <a:ext cx="12192000" cy="1371600"/>
          </a:xfrm>
          <a:prstGeom prst="rect">
            <a:avLst/>
          </a:prstGeom>
          <a:solidFill>
            <a:srgbClr val="1E3A5F"/>
          </a:solidFill>
          <a:ln/>
        </p:spPr>
      </p:sp>
      <p:sp>
        <p:nvSpPr>
          <p:cNvPr id="10" name="Text 8"/>
          <p:cNvSpPr/>
          <p:nvPr/>
        </p:nvSpPr>
        <p:spPr>
          <a:xfrm>
            <a:off x="365760" y="502920"/>
            <a:ext cx="11430000" cy="365760"/>
          </a:xfrm>
          <a:prstGeom prst="rect">
            <a:avLst/>
          </a:prstGeom>
          <a:noFill/>
          <a:ln/>
        </p:spPr>
        <p:txBody>
          <a:bodyPr wrap="square" rtlCol="0" anchor="ctr"/>
          <a:lstStyle/>
          <a:p>
            <a:pPr indent="0" marL="0">
              <a:buNone/>
            </a:pPr>
            <a:r>
              <a:rPr lang="en-US" sz="1200" b="1" dirty="0">
                <a:solidFill>
                  <a:srgbClr val="B8860B"/>
                </a:solidFill>
                <a:latin typeface="Calibri" pitchFamily="34" charset="0"/>
                <a:ea typeface="Calibri" pitchFamily="34" charset="-122"/>
                <a:cs typeface="Calibri" pitchFamily="34" charset="-120"/>
              </a:rPr>
              <a:t>Interview Question:</a:t>
            </a:r>
            <a:endParaRPr lang="en-US" sz="1200" dirty="0"/>
          </a:p>
        </p:txBody>
      </p:sp>
      <p:sp>
        <p:nvSpPr>
          <p:cNvPr id="11" name="Text 9"/>
          <p:cNvSpPr/>
          <p:nvPr/>
        </p:nvSpPr>
        <p:spPr>
          <a:xfrm>
            <a:off x="365760" y="914400"/>
            <a:ext cx="11430000" cy="8229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"What is an option premium and how is it decomposed into intrinsic value and time value?"</a:t>
            </a:r>
            <a:endParaRPr lang="en-US" sz="1600" dirty="0"/>
          </a:p>
        </p:txBody>
      </p:sp>
      <p:sp>
        <p:nvSpPr>
          <p:cNvPr id="12" name="Text 10"/>
          <p:cNvSpPr/>
          <p:nvPr/>
        </p:nvSpPr>
        <p:spPr>
          <a:xfrm>
            <a:off x="365760" y="1965960"/>
            <a:ext cx="11430000" cy="365760"/>
          </a:xfrm>
          <a:prstGeom prst="rect">
            <a:avLst/>
          </a:prstGeom>
          <a:noFill/>
          <a:ln/>
        </p:spPr>
        <p:txBody>
          <a:bodyPr wrap="square" rtlCol="0" anchor="ctr"/>
          <a:lstStyle/>
          <a:p>
            <a:pPr indent="0" marL="0">
              <a:buNone/>
            </a:pPr>
            <a:r>
              <a:rPr lang="en-US" sz="1100" b="1" dirty="0">
                <a:solidFill>
                  <a:srgbClr val="005F5F"/>
                </a:solidFill>
                <a:latin typeface="Calibri" pitchFamily="34" charset="0"/>
                <a:ea typeface="Calibri" pitchFamily="34" charset="-122"/>
                <a:cs typeface="Calibri" pitchFamily="34" charset="-120"/>
              </a:rPr>
              <a:t>STRONG ANSWER FRAMEWORK  (4 points):</a:t>
            </a:r>
            <a:endParaRPr lang="en-US" sz="1100" dirty="0"/>
          </a:p>
        </p:txBody>
      </p:sp>
      <p:sp>
        <p:nvSpPr>
          <p:cNvPr id="13" name="Shape 11"/>
          <p:cNvSpPr/>
          <p:nvPr/>
        </p:nvSpPr>
        <p:spPr>
          <a:xfrm>
            <a:off x="274320" y="2423160"/>
            <a:ext cx="457200" cy="640080"/>
          </a:xfrm>
          <a:prstGeom prst="rect">
            <a:avLst/>
          </a:prstGeom>
          <a:solidFill>
            <a:srgbClr val="1E3A5F"/>
          </a:solidFill>
          <a:ln/>
        </p:spPr>
      </p:sp>
      <p:sp>
        <p:nvSpPr>
          <p:cNvPr id="14" name="Text 12"/>
          <p:cNvSpPr/>
          <p:nvPr/>
        </p:nvSpPr>
        <p:spPr>
          <a:xfrm>
            <a:off x="274320" y="24231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Shape 13"/>
          <p:cNvSpPr/>
          <p:nvPr/>
        </p:nvSpPr>
        <p:spPr>
          <a:xfrm>
            <a:off x="822960" y="2423160"/>
            <a:ext cx="11064240" cy="640080"/>
          </a:xfrm>
          <a:prstGeom prst="rect">
            <a:avLst/>
          </a:prstGeom>
          <a:solidFill>
            <a:srgbClr val="D5E3F0"/>
          </a:solidFill>
          <a:ln w="6350">
            <a:solidFill>
              <a:srgbClr val="AAAAAA"/>
            </a:solidFill>
            <a:prstDash val="solid"/>
          </a:ln>
        </p:spPr>
      </p:sp>
      <p:sp>
        <p:nvSpPr>
          <p:cNvPr id="16" name="Text 14"/>
          <p:cNvSpPr/>
          <p:nvPr/>
        </p:nvSpPr>
        <p:spPr>
          <a:xfrm>
            <a:off x="914400" y="24231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Option premium = intrinsic value + time value. Intrinsic value is the immediate exercise profit: for a call, max(0, market price – strike price). For a put, max(0, strike price – market price). It is zero for OTM and ATM options.</a:t>
            </a:r>
            <a:endParaRPr lang="en-US" sz="1200" dirty="0"/>
          </a:p>
        </p:txBody>
      </p:sp>
      <p:sp>
        <p:nvSpPr>
          <p:cNvPr id="17" name="Shape 15"/>
          <p:cNvSpPr/>
          <p:nvPr/>
        </p:nvSpPr>
        <p:spPr>
          <a:xfrm>
            <a:off x="274320" y="3337560"/>
            <a:ext cx="457200" cy="640080"/>
          </a:xfrm>
          <a:prstGeom prst="rect">
            <a:avLst/>
          </a:prstGeom>
          <a:solidFill>
            <a:srgbClr val="1E3A5F"/>
          </a:solidFill>
          <a:ln/>
        </p:spPr>
      </p:sp>
      <p:sp>
        <p:nvSpPr>
          <p:cNvPr id="18" name="Text 16"/>
          <p:cNvSpPr/>
          <p:nvPr/>
        </p:nvSpPr>
        <p:spPr>
          <a:xfrm>
            <a:off x="274320" y="33375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Shape 17"/>
          <p:cNvSpPr/>
          <p:nvPr/>
        </p:nvSpPr>
        <p:spPr>
          <a:xfrm>
            <a:off x="822960" y="3337560"/>
            <a:ext cx="11064240" cy="640080"/>
          </a:xfrm>
          <a:prstGeom prst="rect">
            <a:avLst/>
          </a:prstGeom>
          <a:solidFill>
            <a:srgbClr val="FFFFFF"/>
          </a:solidFill>
          <a:ln w="6350">
            <a:solidFill>
              <a:srgbClr val="AAAAAA"/>
            </a:solidFill>
            <a:prstDash val="solid"/>
          </a:ln>
        </p:spPr>
      </p:sp>
      <p:sp>
        <p:nvSpPr>
          <p:cNvPr id="20" name="Text 18"/>
          <p:cNvSpPr/>
          <p:nvPr/>
        </p:nvSpPr>
        <p:spPr>
          <a:xfrm>
            <a:off x="914400" y="33375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Time value (extrinsic value) is the remainder of the premium above intrinsic value. It reflects the possibility of the option becoming more valuable before expiry. Time value is maximised at ATM and declines for both ITM and OTM options.</a:t>
            </a:r>
            <a:endParaRPr lang="en-US" sz="1200" dirty="0"/>
          </a:p>
        </p:txBody>
      </p:sp>
      <p:sp>
        <p:nvSpPr>
          <p:cNvPr id="21" name="Shape 19"/>
          <p:cNvSpPr/>
          <p:nvPr/>
        </p:nvSpPr>
        <p:spPr>
          <a:xfrm>
            <a:off x="274320" y="4251960"/>
            <a:ext cx="457200" cy="640080"/>
          </a:xfrm>
          <a:prstGeom prst="rect">
            <a:avLst/>
          </a:prstGeom>
          <a:solidFill>
            <a:srgbClr val="1E3A5F"/>
          </a:solidFill>
          <a:ln/>
        </p:spPr>
      </p:sp>
      <p:sp>
        <p:nvSpPr>
          <p:cNvPr id="22" name="Text 20"/>
          <p:cNvSpPr/>
          <p:nvPr/>
        </p:nvSpPr>
        <p:spPr>
          <a:xfrm>
            <a:off x="274320" y="42519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Shape 21"/>
          <p:cNvSpPr/>
          <p:nvPr/>
        </p:nvSpPr>
        <p:spPr>
          <a:xfrm>
            <a:off x="822960" y="4251960"/>
            <a:ext cx="11064240" cy="640080"/>
          </a:xfrm>
          <a:prstGeom prst="rect">
            <a:avLst/>
          </a:prstGeom>
          <a:solidFill>
            <a:srgbClr val="D5E3F0"/>
          </a:solidFill>
          <a:ln w="6350">
            <a:solidFill>
              <a:srgbClr val="AAAAAA"/>
            </a:solidFill>
            <a:prstDash val="solid"/>
          </a:ln>
        </p:spPr>
      </p:sp>
      <p:sp>
        <p:nvSpPr>
          <p:cNvPr id="24" name="Text 22"/>
          <p:cNvSpPr/>
          <p:nvPr/>
        </p:nvSpPr>
        <p:spPr>
          <a:xfrm>
            <a:off x="914400" y="42519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Time decay (theta) erodes time value daily — slowly at first and accelerating sharply in the final weeks before expiry. At expiry, time value equals zero. The premium at expiry equals intrinsic value only — or zero if OTM.</a:t>
            </a:r>
            <a:endParaRPr lang="en-US" sz="1200" dirty="0"/>
          </a:p>
        </p:txBody>
      </p:sp>
      <p:sp>
        <p:nvSpPr>
          <p:cNvPr id="25" name="Shape 23"/>
          <p:cNvSpPr/>
          <p:nvPr/>
        </p:nvSpPr>
        <p:spPr>
          <a:xfrm>
            <a:off x="274320" y="5166360"/>
            <a:ext cx="457200" cy="640080"/>
          </a:xfrm>
          <a:prstGeom prst="rect">
            <a:avLst/>
          </a:prstGeom>
          <a:solidFill>
            <a:srgbClr val="1E3A5F"/>
          </a:solidFill>
          <a:ln/>
        </p:spPr>
      </p:sp>
      <p:sp>
        <p:nvSpPr>
          <p:cNvPr id="26" name="Text 24"/>
          <p:cNvSpPr/>
          <p:nvPr/>
        </p:nvSpPr>
        <p:spPr>
          <a:xfrm>
            <a:off x="274320" y="51663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Shape 25"/>
          <p:cNvSpPr/>
          <p:nvPr/>
        </p:nvSpPr>
        <p:spPr>
          <a:xfrm>
            <a:off x="822960" y="5166360"/>
            <a:ext cx="11064240" cy="640080"/>
          </a:xfrm>
          <a:prstGeom prst="rect">
            <a:avLst/>
          </a:prstGeom>
          <a:solidFill>
            <a:srgbClr val="FFFFFF"/>
          </a:solidFill>
          <a:ln w="6350">
            <a:solidFill>
              <a:srgbClr val="AAAAAA"/>
            </a:solidFill>
            <a:prstDash val="solid"/>
          </a:ln>
        </p:spPr>
      </p:sp>
      <p:sp>
        <p:nvSpPr>
          <p:cNvPr id="28" name="Text 26"/>
          <p:cNvSpPr/>
          <p:nvPr/>
        </p:nvSpPr>
        <p:spPr>
          <a:xfrm>
            <a:off x="914400" y="51663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Operations implication: premium settlement is separate from exercise payoff. Premium is paid upfront (T+0 per SEBI 2023 mandate). Exercise payoff (if any) settles at expiry. Operations must track both as independent settlement events.</a:t>
            </a:r>
            <a:endParaRPr lang="en-US" sz="1200" dirty="0"/>
          </a:p>
        </p:txBody>
      </p:sp>
      <p:sp>
        <p:nvSpPr>
          <p:cNvPr id="29" name="Text 27"/>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OPT.4</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3A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QUICK RECAP</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OPT.5</a:t>
            </a:r>
            <a:endParaRPr lang="en-US" sz="1000" dirty="0"/>
          </a:p>
        </p:txBody>
      </p:sp>
      <p:sp>
        <p:nvSpPr>
          <p:cNvPr id="9" name="Text 7"/>
          <p:cNvSpPr/>
          <p:nvPr/>
        </p:nvSpPr>
        <p:spPr>
          <a:xfrm>
            <a:off x="8686800" y="1097280"/>
            <a:ext cx="3200400" cy="4572000"/>
          </a:xfrm>
          <a:prstGeom prst="rect">
            <a:avLst/>
          </a:prstGeom>
          <a:noFill/>
          <a:ln/>
        </p:spPr>
        <p:txBody>
          <a:bodyPr wrap="square" rtlCol="0" anchor="ctr"/>
          <a:lstStyle/>
          <a:p>
            <a:pPr algn="ctr" indent="0" marL="0">
              <a:buNone/>
            </a:pPr>
            <a:r>
              <a:rPr lang="en-US" sz="18000" b="1" dirty="0">
                <a:solidFill>
                  <a:srgbClr val="2E4A6E"/>
                </a:solidFill>
                <a:latin typeface="Calibri" pitchFamily="34" charset="0"/>
                <a:ea typeface="Calibri" pitchFamily="34" charset="-122"/>
                <a:cs typeface="Calibri" pitchFamily="34" charset="-120"/>
              </a:rPr>
              <a:t>?</a:t>
            </a:r>
            <a:endParaRPr lang="en-US" sz="18000" dirty="0"/>
          </a:p>
        </p:txBody>
      </p:sp>
      <p:sp>
        <p:nvSpPr>
          <p:cNvPr id="10" name="Text 8"/>
          <p:cNvSpPr/>
          <p:nvPr/>
        </p:nvSpPr>
        <p:spPr>
          <a:xfrm>
            <a:off x="365760" y="548640"/>
            <a:ext cx="8229600" cy="457200"/>
          </a:xfrm>
          <a:prstGeom prst="rect">
            <a:avLst/>
          </a:prstGeom>
          <a:noFill/>
          <a:ln/>
        </p:spPr>
        <p:txBody>
          <a:bodyPr wrap="square" rtlCol="0" anchor="ctr"/>
          <a:lstStyle/>
          <a:p>
            <a:pPr indent="0" marL="0">
              <a:buNone/>
            </a:pPr>
            <a:r>
              <a:rPr lang="en-US" sz="1300" b="1" dirty="0">
                <a:solidFill>
                  <a:srgbClr val="B8860B"/>
                </a:solidFill>
                <a:latin typeface="Calibri" pitchFamily="34" charset="0"/>
                <a:ea typeface="Calibri" pitchFamily="34" charset="-122"/>
                <a:cs typeface="Calibri" pitchFamily="34" charset="-120"/>
              </a:rPr>
              <a:t>OPT.5 — Factors Affecting Premium</a:t>
            </a:r>
            <a:endParaRPr lang="en-US" sz="1300" dirty="0"/>
          </a:p>
        </p:txBody>
      </p:sp>
      <p:sp>
        <p:nvSpPr>
          <p:cNvPr id="11" name="Text 9"/>
          <p:cNvSpPr/>
          <p:nvPr/>
        </p:nvSpPr>
        <p:spPr>
          <a:xfrm>
            <a:off x="365760" y="1280160"/>
            <a:ext cx="8229600" cy="34747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"Before an RBI rate decision, Nifty ATM option premiums are ₹150. The day after the announcement — with Nifty barely moved — premiums collapse to ₹90. What destroyed ₹60 of premium value overnight without the index moving?"</a:t>
            </a:r>
            <a:endParaRPr lang="en-US" sz="2400" dirty="0"/>
          </a:p>
        </p:txBody>
      </p:sp>
      <p:sp>
        <p:nvSpPr>
          <p:cNvPr id="12" name="Shape 10"/>
          <p:cNvSpPr/>
          <p:nvPr/>
        </p:nvSpPr>
        <p:spPr>
          <a:xfrm>
            <a:off x="365760" y="4937760"/>
            <a:ext cx="8229600" cy="731520"/>
          </a:xfrm>
          <a:prstGeom prst="rect">
            <a:avLst/>
          </a:prstGeom>
          <a:solidFill>
            <a:srgbClr val="2E4A6E"/>
          </a:solidFill>
          <a:ln/>
        </p:spPr>
      </p:sp>
      <p:sp>
        <p:nvSpPr>
          <p:cNvPr id="13" name="Text 11"/>
          <p:cNvSpPr/>
          <p:nvPr/>
        </p:nvSpPr>
        <p:spPr>
          <a:xfrm>
            <a:off x="365760" y="4937760"/>
            <a:ext cx="8229600" cy="731520"/>
          </a:xfrm>
          <a:prstGeom prst="rect">
            <a:avLst/>
          </a:prstGeom>
          <a:noFill/>
          <a:ln/>
        </p:spPr>
        <p:txBody>
          <a:bodyPr wrap="square" rtlCol="0" anchor="ctr"/>
          <a:lstStyle/>
          <a:p>
            <a:pPr algn="l" indent="0" marL="0">
              <a:buNone/>
            </a:pPr>
            <a:r>
              <a:rPr lang="en-US" sz="1100" i="1" dirty="0">
                <a:solidFill>
                  <a:srgbClr val="CADCFC"/>
                </a:solidFill>
                <a:latin typeface="Calibri" pitchFamily="34" charset="0"/>
                <a:ea typeface="Calibri" pitchFamily="34" charset="-122"/>
                <a:cs typeface="Calibri" pitchFamily="34" charset="-120"/>
              </a:rPr>
              <a:t>From: OPT.5 · Video 1 — Volatility and Time to Expiry (EAR: IDENTIFY)</a:t>
            </a:r>
            <a:endParaRPr lang="en-US" sz="11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OPT.5</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005F5F"/>
          </a:solidFill>
          <a:ln/>
        </p:spPr>
      </p:sp>
      <p:sp>
        <p:nvSpPr>
          <p:cNvPr id="5" name="Shape 3"/>
          <p:cNvSpPr/>
          <p:nvPr/>
        </p:nvSpPr>
        <p:spPr>
          <a:xfrm>
            <a:off x="0" y="73152"/>
            <a:ext cx="1828800" cy="347472"/>
          </a:xfrm>
          <a:prstGeom prst="rect">
            <a:avLst/>
          </a:prstGeom>
          <a:solidFill>
            <a:srgbClr val="C0392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SCENARIO</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OPT.5</a:t>
            </a:r>
            <a:endParaRPr lang="en-US" sz="1000" dirty="0"/>
          </a:p>
        </p:txBody>
      </p:sp>
      <p:sp>
        <p:nvSpPr>
          <p:cNvPr id="9" name="Shape 7"/>
          <p:cNvSpPr/>
          <p:nvPr/>
        </p:nvSpPr>
        <p:spPr>
          <a:xfrm>
            <a:off x="0" y="420624"/>
            <a:ext cx="12192000" cy="914400"/>
          </a:xfrm>
          <a:prstGeom prst="rect">
            <a:avLst/>
          </a:prstGeom>
          <a:solidFill>
            <a:srgbClr val="1E3A5F"/>
          </a:solidFill>
          <a:ln/>
        </p:spPr>
      </p:sp>
      <p:sp>
        <p:nvSpPr>
          <p:cNvPr id="10" name="Text 8"/>
          <p:cNvSpPr/>
          <p:nvPr/>
        </p:nvSpPr>
        <p:spPr>
          <a:xfrm>
            <a:off x="365760" y="420624"/>
            <a:ext cx="11430000" cy="91440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Budget Day 2024: Nifty Volatility Surge and the Straddle Traders</a:t>
            </a:r>
            <a:endParaRPr lang="en-US" sz="1800" dirty="0"/>
          </a:p>
        </p:txBody>
      </p:sp>
      <p:sp>
        <p:nvSpPr>
          <p:cNvPr id="11" name="Text 9"/>
          <p:cNvSpPr/>
          <p:nvPr/>
        </p:nvSpPr>
        <p:spPr>
          <a:xfrm>
            <a:off x="365760" y="1463040"/>
            <a:ext cx="7498080" cy="2926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On February 1, 2024 (Union Budget day), Nifty 50 opened at approximately 21,800. Option traders who had purchased ATM straddles (long call + long put at the same strike) the day before were holding positions.</a:t>
            </a:r>
            <a:endParaRPr lang="en-US" sz="1300" dirty="0"/>
          </a:p>
          <a:p>
            <a:pPr indent="0" marL="0">
              <a:buNone/>
            </a:pP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Nifty swung 10% intraday — initially falling, then recovering. Option premiums spiked as implied volatility surged from ~12% to ~28%.</a:t>
            </a:r>
            <a:endParaRPr lang="en-US" sz="1300" dirty="0"/>
          </a:p>
          <a:p>
            <a:pPr indent="0" marL="0">
              <a:buNone/>
            </a:pP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Traders who had bought straddles captured the volatility spike. Traders who had SOLD straddles — expecting a quiet budget — faced margin calls as both legs moved against them simultaneously.</a:t>
            </a:r>
            <a:endParaRPr lang="en-US" sz="1300" dirty="0"/>
          </a:p>
        </p:txBody>
      </p:sp>
      <p:sp>
        <p:nvSpPr>
          <p:cNvPr id="12" name="Shape 10"/>
          <p:cNvSpPr/>
          <p:nvPr/>
        </p:nvSpPr>
        <p:spPr>
          <a:xfrm>
            <a:off x="8046720" y="1463040"/>
            <a:ext cx="3931920" cy="2926080"/>
          </a:xfrm>
          <a:prstGeom prst="rect">
            <a:avLst/>
          </a:prstGeom>
          <a:solidFill>
            <a:srgbClr val="D5E3F0"/>
          </a:solidFill>
          <a:ln w="12700">
            <a:solidFill>
              <a:srgbClr val="1E3A5F"/>
            </a:solidFill>
            <a:prstDash val="solid"/>
          </a:ln>
        </p:spPr>
      </p:sp>
      <p:sp>
        <p:nvSpPr>
          <p:cNvPr id="13" name="Text 11"/>
          <p:cNvSpPr/>
          <p:nvPr/>
        </p:nvSpPr>
        <p:spPr>
          <a:xfrm>
            <a:off x="8046720" y="1463040"/>
            <a:ext cx="3931920" cy="2926080"/>
          </a:xfrm>
          <a:prstGeom prst="rect">
            <a:avLst/>
          </a:prstGeom>
          <a:noFill/>
          <a:ln/>
        </p:spPr>
        <p:txBody>
          <a:bodyPr wrap="square" rtlCol="0" anchor="t"/>
          <a:lstStyle/>
          <a:p>
            <a:pPr indent="0" marL="0">
              <a:buNone/>
            </a:pPr>
            <a:r>
              <a:rPr lang="en-US" sz="1200" dirty="0">
                <a:solidFill>
                  <a:srgbClr val="1E3A5F"/>
                </a:solidFill>
                <a:latin typeface="Calibri" pitchFamily="34" charset="0"/>
                <a:ea typeface="Calibri" pitchFamily="34" charset="-122"/>
                <a:cs typeface="Calibri" pitchFamily="34" charset="-120"/>
              </a:rPr>
              <a:t>BUDGET 2024:</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Nifty: 21,800</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10% intraday swing</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IV: 12% → 28%</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pre/post budget</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Straddle: ₹200</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 ₹600 post-move</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Sellers: margin calls</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Buyers: 200% profit</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IV crush next day</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 premiums fall</a:t>
            </a:r>
            <a:endParaRPr lang="en-US" sz="1200" dirty="0"/>
          </a:p>
        </p:txBody>
      </p:sp>
      <p:sp>
        <p:nvSpPr>
          <p:cNvPr id="14" name="Shape 12"/>
          <p:cNvSpPr/>
          <p:nvPr/>
        </p:nvSpPr>
        <p:spPr>
          <a:xfrm>
            <a:off x="0" y="4572000"/>
            <a:ext cx="12192000" cy="1188720"/>
          </a:xfrm>
          <a:prstGeom prst="rect">
            <a:avLst/>
          </a:prstGeom>
          <a:solidFill>
            <a:srgbClr val="005F5F"/>
          </a:solidFill>
          <a:ln/>
        </p:spPr>
      </p:sp>
      <p:sp>
        <p:nvSpPr>
          <p:cNvPr id="15" name="Text 13"/>
          <p:cNvSpPr/>
          <p:nvPr/>
        </p:nvSpPr>
        <p:spPr>
          <a:xfrm>
            <a:off x="365760" y="4572000"/>
            <a:ext cx="11430000" cy="118872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 trader sold an ATM straddle on Nifty before Budget Day at ₹200 combined premium. After the 10% intraday swing, the straddle was worth ₹600. Calculate the loss and explain which of the six premium factors drove this move.</a:t>
            </a:r>
            <a:endParaRPr lang="en-US" sz="1500" dirty="0"/>
          </a:p>
        </p:txBody>
      </p:sp>
      <p:sp>
        <p:nvSpPr>
          <p:cNvPr id="16" name="Text 14"/>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OPT.5</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005F5F"/>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005F5F"/>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OPT.5</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Six Premium Drivers: Direction and Magnitude</a:t>
            </a:r>
            <a:endParaRPr lang="en-US" sz="2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274320" y="1280160"/>
          <a:ext cx="11612880" cy="4206240"/>
        </p:xfrm>
        <a:graphic>
          <a:graphicData uri="http://schemas.openxmlformats.org/drawingml/2006/table">
            <a:tbl>
              <a:tblPr/>
              <a:tblGrid>
                <a:gridCol w="2903220"/>
                <a:gridCol w="2903220"/>
                <a:gridCol w="2903220"/>
                <a:gridCol w="2903220"/>
              </a:tblGrid>
              <a:tr h="600891">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FACTOR</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CALL PREMIUM IMPACT</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PUT PREMIUM IMPACT</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DOMINANT OR SECONDARY</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Underlying Price Increases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Increases (more intrinsic)</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Decreases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Dominant — real time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Time to Expiry Increases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Increases (more time value)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Increases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Dominant — erodes daily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Implied Volatility Increases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Increases (more uncertainty)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Increases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Dominant — spikes on events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Dividend (ex-date)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Decreases (stock falls ex-div)</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Increases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Secondary — periodic</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Interest Rates Increase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Slightly increases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Slightly decreases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Secondary — gradual</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Exercise Style (American)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Higher than European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Higher than European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Secondary — structural</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bl>
          </a:graphicData>
        </a:graphic>
      </p:graphicFrame>
      <p:sp>
        <p:nvSpPr>
          <p:cNvPr id="11" name="Text 8"/>
          <p:cNvSpPr/>
          <p:nvPr/>
        </p:nvSpPr>
        <p:spPr>
          <a:xfrm>
            <a:off x="274320" y="6035040"/>
            <a:ext cx="11612880" cy="365760"/>
          </a:xfrm>
          <a:prstGeom prst="rect">
            <a:avLst/>
          </a:prstGeom>
          <a:noFill/>
          <a:ln/>
        </p:spPr>
        <p:txBody>
          <a:bodyPr wrap="square" rtlCol="0" anchor="ctr"/>
          <a:lstStyle/>
          <a:p>
            <a:pPr indent="0" marL="0">
              <a:buNone/>
            </a:pPr>
            <a:r>
              <a:rPr lang="en-US" sz="1000" dirty="0">
                <a:solidFill>
                  <a:srgbClr val="005F5F"/>
                </a:solidFill>
                <a:latin typeface="Calibri" pitchFamily="34" charset="0"/>
                <a:ea typeface="Calibri" pitchFamily="34" charset="-122"/>
                <a:cs typeface="Calibri" pitchFamily="34" charset="-120"/>
              </a:rPr>
              <a:t>Volatility, time to expiry, and underlying price movements are the dominant daily drivers. The other three are secondary structural factors.</a:t>
            </a:r>
            <a:endParaRPr lang="en-US" sz="1000" dirty="0"/>
          </a:p>
        </p:txBody>
      </p:sp>
      <p:sp>
        <p:nvSpPr>
          <p:cNvPr id="12" name="Text 9"/>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OPT.5</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GOING DEEPER</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OPT.5</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Four Insights on Premium Drivers and Volatility</a:t>
            </a:r>
            <a:endParaRPr lang="en-US" sz="2000" dirty="0"/>
          </a:p>
        </p:txBody>
      </p:sp>
      <p:sp>
        <p:nvSpPr>
          <p:cNvPr id="10" name="Shape 8"/>
          <p:cNvSpPr/>
          <p:nvPr/>
        </p:nvSpPr>
        <p:spPr>
          <a:xfrm>
            <a:off x="274320" y="1280160"/>
            <a:ext cx="5669280" cy="2377440"/>
          </a:xfrm>
          <a:prstGeom prst="rect">
            <a:avLst/>
          </a:prstGeom>
          <a:solidFill>
            <a:srgbClr val="D5E3F0"/>
          </a:solidFill>
          <a:ln w="6350">
            <a:solidFill>
              <a:srgbClr val="AAAAAA"/>
            </a:solidFill>
            <a:prstDash val="solid"/>
          </a:ln>
        </p:spPr>
      </p:sp>
      <p:sp>
        <p:nvSpPr>
          <p:cNvPr id="11" name="Shape 9"/>
          <p:cNvSpPr/>
          <p:nvPr/>
        </p:nvSpPr>
        <p:spPr>
          <a:xfrm>
            <a:off x="365760" y="1371600"/>
            <a:ext cx="457200" cy="457200"/>
          </a:xfrm>
          <a:prstGeom prst="ellipse">
            <a:avLst/>
          </a:prstGeom>
          <a:solidFill>
            <a:srgbClr val="1E3A5F"/>
          </a:solidFill>
          <a:ln/>
        </p:spPr>
      </p:sp>
      <p:sp>
        <p:nvSpPr>
          <p:cNvPr id="12" name="Text 10"/>
          <p:cNvSpPr/>
          <p:nvPr/>
        </p:nvSpPr>
        <p:spPr>
          <a:xfrm>
            <a:off x="36576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91440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Implied Volatility Is a Market Forecast, Not a Historical Measure</a:t>
            </a:r>
            <a:endParaRPr lang="en-US" sz="1200" dirty="0"/>
          </a:p>
        </p:txBody>
      </p:sp>
      <p:sp>
        <p:nvSpPr>
          <p:cNvPr id="14" name="Text 12"/>
          <p:cNvSpPr/>
          <p:nvPr/>
        </p:nvSpPr>
        <p:spPr>
          <a:xfrm>
            <a:off x="41148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Implied volatility is extracted from current option prices using the Black-Scholes model — it is the market's forward-looking estimate of expected movement. Historical volatility measures past movement. When IV is significantly higher than historical volatility, the market expects more movement than has occurred. Option sellers interpret this as a selling opportunity; buyers as justified insurance cost.</a:t>
            </a:r>
            <a:endParaRPr lang="en-US" sz="1000" dirty="0"/>
          </a:p>
        </p:txBody>
      </p:sp>
      <p:sp>
        <p:nvSpPr>
          <p:cNvPr id="15" name="Shape 13"/>
          <p:cNvSpPr/>
          <p:nvPr/>
        </p:nvSpPr>
        <p:spPr>
          <a:xfrm>
            <a:off x="6126480" y="1280160"/>
            <a:ext cx="5669280" cy="2377440"/>
          </a:xfrm>
          <a:prstGeom prst="rect">
            <a:avLst/>
          </a:prstGeom>
          <a:solidFill>
            <a:srgbClr val="D4EFEF"/>
          </a:solidFill>
          <a:ln w="6350">
            <a:solidFill>
              <a:srgbClr val="AAAAAA"/>
            </a:solidFill>
            <a:prstDash val="solid"/>
          </a:ln>
        </p:spPr>
      </p:sp>
      <p:sp>
        <p:nvSpPr>
          <p:cNvPr id="16" name="Shape 14"/>
          <p:cNvSpPr/>
          <p:nvPr/>
        </p:nvSpPr>
        <p:spPr>
          <a:xfrm>
            <a:off x="6217920" y="1371600"/>
            <a:ext cx="457200" cy="457200"/>
          </a:xfrm>
          <a:prstGeom prst="ellipse">
            <a:avLst/>
          </a:prstGeom>
          <a:solidFill>
            <a:srgbClr val="005F5F"/>
          </a:solidFill>
          <a:ln/>
        </p:spPr>
      </p:sp>
      <p:sp>
        <p:nvSpPr>
          <p:cNvPr id="17" name="Text 15"/>
          <p:cNvSpPr/>
          <p:nvPr/>
        </p:nvSpPr>
        <p:spPr>
          <a:xfrm>
            <a:off x="621792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676656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The VIX Index Is IV at Market Scale</a:t>
            </a:r>
            <a:endParaRPr lang="en-US" sz="1200" dirty="0"/>
          </a:p>
        </p:txBody>
      </p:sp>
      <p:sp>
        <p:nvSpPr>
          <p:cNvPr id="19" name="Text 17"/>
          <p:cNvSpPr/>
          <p:nvPr/>
        </p:nvSpPr>
        <p:spPr>
          <a:xfrm>
            <a:off x="626364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India VIX (calculated by NSE) is the implied volatility of Nifty 50 ATM options over the next 30 days. When India VIX is at 12, the market expects Nifty to move approximately 3.5% over the next month. When VIX is at 25, approximately 7.2%. VIX is the most important single number for option premium levels — monitoring it daily is essential for any derivatives operations desk.</a:t>
            </a:r>
            <a:endParaRPr lang="en-US" sz="1000" dirty="0"/>
          </a:p>
        </p:txBody>
      </p:sp>
      <p:sp>
        <p:nvSpPr>
          <p:cNvPr id="20" name="Shape 18"/>
          <p:cNvSpPr/>
          <p:nvPr/>
        </p:nvSpPr>
        <p:spPr>
          <a:xfrm>
            <a:off x="274320" y="3840480"/>
            <a:ext cx="5669280" cy="2377440"/>
          </a:xfrm>
          <a:prstGeom prst="rect">
            <a:avLst/>
          </a:prstGeom>
          <a:solidFill>
            <a:srgbClr val="FEF9E7"/>
          </a:solidFill>
          <a:ln w="6350">
            <a:solidFill>
              <a:srgbClr val="AAAAAA"/>
            </a:solidFill>
            <a:prstDash val="solid"/>
          </a:ln>
        </p:spPr>
      </p:sp>
      <p:sp>
        <p:nvSpPr>
          <p:cNvPr id="21" name="Shape 19"/>
          <p:cNvSpPr/>
          <p:nvPr/>
        </p:nvSpPr>
        <p:spPr>
          <a:xfrm>
            <a:off x="365760" y="3931920"/>
            <a:ext cx="457200" cy="457200"/>
          </a:xfrm>
          <a:prstGeom prst="ellipse">
            <a:avLst/>
          </a:prstGeom>
          <a:solidFill>
            <a:srgbClr val="B8860B"/>
          </a:solidFill>
          <a:ln/>
        </p:spPr>
      </p:sp>
      <p:sp>
        <p:nvSpPr>
          <p:cNvPr id="22" name="Text 20"/>
          <p:cNvSpPr/>
          <p:nvPr/>
        </p:nvSpPr>
        <p:spPr>
          <a:xfrm>
            <a:off x="36576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91440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Dividend Dates Create Specific Operations Calendar Events</a:t>
            </a:r>
            <a:endParaRPr lang="en-US" sz="1200" dirty="0"/>
          </a:p>
        </p:txBody>
      </p:sp>
      <p:sp>
        <p:nvSpPr>
          <p:cNvPr id="24" name="Text 22"/>
          <p:cNvSpPr/>
          <p:nvPr/>
        </p:nvSpPr>
        <p:spPr>
          <a:xfrm>
            <a:off x="41148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For equity options on dividend-paying stocks, the ex-dividend date changes option economics. Operations teams must flag all option positions where the underlying has an upcoming dividend and the option expiry is after the ex-dividend date. The adjustment affects both premium marking and early exercise decisions for American-style options.</a:t>
            </a:r>
            <a:endParaRPr lang="en-US" sz="1000" dirty="0"/>
          </a:p>
        </p:txBody>
      </p:sp>
      <p:sp>
        <p:nvSpPr>
          <p:cNvPr id="25" name="Shape 23"/>
          <p:cNvSpPr/>
          <p:nvPr/>
        </p:nvSpPr>
        <p:spPr>
          <a:xfrm>
            <a:off x="6126480" y="3840480"/>
            <a:ext cx="5669280" cy="2377440"/>
          </a:xfrm>
          <a:prstGeom prst="rect">
            <a:avLst/>
          </a:prstGeom>
          <a:solidFill>
            <a:srgbClr val="F3E5F5"/>
          </a:solidFill>
          <a:ln w="6350">
            <a:solidFill>
              <a:srgbClr val="AAAAAA"/>
            </a:solidFill>
            <a:prstDash val="solid"/>
          </a:ln>
        </p:spPr>
      </p:sp>
      <p:sp>
        <p:nvSpPr>
          <p:cNvPr id="26" name="Shape 24"/>
          <p:cNvSpPr/>
          <p:nvPr/>
        </p:nvSpPr>
        <p:spPr>
          <a:xfrm>
            <a:off x="6217920" y="3931920"/>
            <a:ext cx="457200" cy="457200"/>
          </a:xfrm>
          <a:prstGeom prst="ellipse">
            <a:avLst/>
          </a:prstGeom>
          <a:solidFill>
            <a:srgbClr val="1E3A5F"/>
          </a:solidFill>
          <a:ln/>
        </p:spPr>
      </p:sp>
      <p:sp>
        <p:nvSpPr>
          <p:cNvPr id="27" name="Text 25"/>
          <p:cNvSpPr/>
          <p:nvPr/>
        </p:nvSpPr>
        <p:spPr>
          <a:xfrm>
            <a:off x="621792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676656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Vega: The Premium Driver That Does Not Show in the Price</a:t>
            </a:r>
            <a:endParaRPr lang="en-US" sz="1200" dirty="0"/>
          </a:p>
        </p:txBody>
      </p:sp>
      <p:sp>
        <p:nvSpPr>
          <p:cNvPr id="29" name="Text 27"/>
          <p:cNvSpPr/>
          <p:nvPr/>
        </p:nvSpPr>
        <p:spPr>
          <a:xfrm>
            <a:off x="626364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Vega measures the sensitivity of an option's premium to changes in implied volatility. A vega of ₹5 means a 1% increase in IV increases the premium by ₹5. A large options book with high positive vega benefits from rising volatility. Negative vega benefits from falling volatility. Operations must report vega alongside delta and theta in daily risk summaries.</a:t>
            </a:r>
            <a:endParaRPr lang="en-US" sz="1000" dirty="0"/>
          </a:p>
        </p:txBody>
      </p:sp>
      <p:sp>
        <p:nvSpPr>
          <p:cNvPr id="30" name="Text 28"/>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OPT.5</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05F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THINK &amp; DISCUSS</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OPT.5</a:t>
            </a:r>
            <a:endParaRPr lang="en-US" sz="1000" dirty="0"/>
          </a:p>
        </p:txBody>
      </p:sp>
      <p:sp>
        <p:nvSpPr>
          <p:cNvPr id="9" name="Shape 7"/>
          <p:cNvSpPr/>
          <p:nvPr/>
        </p:nvSpPr>
        <p:spPr>
          <a:xfrm>
            <a:off x="365760" y="914400"/>
            <a:ext cx="11155680" cy="3840480"/>
          </a:xfrm>
          <a:prstGeom prst="rect">
            <a:avLst/>
          </a:prstGeom>
          <a:solidFill>
            <a:srgbClr val="004444"/>
          </a:solidFill>
          <a:ln w="12700">
            <a:solidFill>
              <a:srgbClr val="B8860B"/>
            </a:solidFill>
            <a:prstDash val="solid"/>
          </a:ln>
        </p:spPr>
      </p:sp>
      <p:sp>
        <p:nvSpPr>
          <p:cNvPr id="10" name="Text 8"/>
          <p:cNvSpPr/>
          <p:nvPr/>
        </p:nvSpPr>
        <p:spPr>
          <a:xfrm>
            <a:off x="9144000" y="548640"/>
            <a:ext cx="2926080" cy="457200"/>
          </a:xfrm>
          <a:prstGeom prst="rect">
            <a:avLst/>
          </a:prstGeom>
          <a:noFill/>
          <a:ln/>
        </p:spPr>
        <p:txBody>
          <a:bodyPr wrap="square" rtlCol="0" anchor="ctr"/>
          <a:lstStyle/>
          <a:p>
            <a:pPr algn="r" indent="0" marL="0">
              <a:buNone/>
            </a:pPr>
            <a:r>
              <a:rPr lang="en-US" sz="1400" b="1" dirty="0">
                <a:solidFill>
                  <a:srgbClr val="B8860B"/>
                </a:solidFill>
                <a:latin typeface="Calibri" pitchFamily="34" charset="0"/>
                <a:ea typeface="Calibri" pitchFamily="34" charset="-122"/>
                <a:cs typeface="Calibri" pitchFamily="34" charset="-120"/>
              </a:rPr>
              <a:t>2 MINUTES</a:t>
            </a:r>
            <a:endParaRPr lang="en-US" sz="1400" dirty="0"/>
          </a:p>
        </p:txBody>
      </p:sp>
      <p:sp>
        <p:nvSpPr>
          <p:cNvPr id="11" name="Text 9"/>
          <p:cNvSpPr/>
          <p:nvPr/>
        </p:nvSpPr>
        <p:spPr>
          <a:xfrm>
            <a:off x="640080" y="1188720"/>
            <a:ext cx="10607040" cy="310896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"India VIX is currently at 25 — significantly higher than its 1-year average of 14. An option trader says: VIX at 25 means option premiums are overpriced — we should sell options to collect the premium. A risk manager says: VIX at 25 means something is wrong — we should buy options for protection. Whose side are you on, and under what conditions?"</a:t>
            </a:r>
            <a:endParaRPr lang="en-US" sz="1800" dirty="0"/>
          </a:p>
        </p:txBody>
      </p:sp>
      <p:sp>
        <p:nvSpPr>
          <p:cNvPr id="12" name="Shape 10"/>
          <p:cNvSpPr/>
          <p:nvPr/>
        </p:nvSpPr>
        <p:spPr>
          <a:xfrm>
            <a:off x="0" y="5029200"/>
            <a:ext cx="12192000" cy="914400"/>
          </a:xfrm>
          <a:prstGeom prst="rect">
            <a:avLst/>
          </a:prstGeom>
          <a:solidFill>
            <a:srgbClr val="003333"/>
          </a:solidFill>
          <a:ln/>
        </p:spPr>
      </p:sp>
      <p:sp>
        <p:nvSpPr>
          <p:cNvPr id="13" name="Text 11"/>
          <p:cNvSpPr/>
          <p:nvPr/>
        </p:nvSpPr>
        <p:spPr>
          <a:xfrm>
            <a:off x="365760" y="5029200"/>
            <a:ext cx="11430000" cy="91440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Hint: VIX at 25 could mean: expected event risk (budget/elections) where the spike is justified, or general market fear that will normalise (seller's opportunity). The key question: is the elevated IV justified by upcoming uncertainty?</a:t>
            </a:r>
            <a:endParaRPr lang="en-US" sz="13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OPT.5</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INTERVIEW READY</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OPT.5</a:t>
            </a:r>
            <a:endParaRPr lang="en-US" sz="1000" dirty="0"/>
          </a:p>
        </p:txBody>
      </p:sp>
      <p:sp>
        <p:nvSpPr>
          <p:cNvPr id="9" name="Shape 7"/>
          <p:cNvSpPr/>
          <p:nvPr/>
        </p:nvSpPr>
        <p:spPr>
          <a:xfrm>
            <a:off x="0" y="420624"/>
            <a:ext cx="12192000" cy="1371600"/>
          </a:xfrm>
          <a:prstGeom prst="rect">
            <a:avLst/>
          </a:prstGeom>
          <a:solidFill>
            <a:srgbClr val="1E3A5F"/>
          </a:solidFill>
          <a:ln/>
        </p:spPr>
      </p:sp>
      <p:sp>
        <p:nvSpPr>
          <p:cNvPr id="10" name="Text 8"/>
          <p:cNvSpPr/>
          <p:nvPr/>
        </p:nvSpPr>
        <p:spPr>
          <a:xfrm>
            <a:off x="365760" y="502920"/>
            <a:ext cx="11430000" cy="365760"/>
          </a:xfrm>
          <a:prstGeom prst="rect">
            <a:avLst/>
          </a:prstGeom>
          <a:noFill/>
          <a:ln/>
        </p:spPr>
        <p:txBody>
          <a:bodyPr wrap="square" rtlCol="0" anchor="ctr"/>
          <a:lstStyle/>
          <a:p>
            <a:pPr indent="0" marL="0">
              <a:buNone/>
            </a:pPr>
            <a:r>
              <a:rPr lang="en-US" sz="1200" b="1" dirty="0">
                <a:solidFill>
                  <a:srgbClr val="B8860B"/>
                </a:solidFill>
                <a:latin typeface="Calibri" pitchFamily="34" charset="0"/>
                <a:ea typeface="Calibri" pitchFamily="34" charset="-122"/>
                <a:cs typeface="Calibri" pitchFamily="34" charset="-120"/>
              </a:rPr>
              <a:t>Interview Question:</a:t>
            </a:r>
            <a:endParaRPr lang="en-US" sz="1200" dirty="0"/>
          </a:p>
        </p:txBody>
      </p:sp>
      <p:sp>
        <p:nvSpPr>
          <p:cNvPr id="11" name="Text 9"/>
          <p:cNvSpPr/>
          <p:nvPr/>
        </p:nvSpPr>
        <p:spPr>
          <a:xfrm>
            <a:off x="365760" y="914400"/>
            <a:ext cx="11430000" cy="8229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"What are the main factors affecting options premium, and which two dominate?"</a:t>
            </a:r>
            <a:endParaRPr lang="en-US" sz="1600" dirty="0"/>
          </a:p>
        </p:txBody>
      </p:sp>
      <p:sp>
        <p:nvSpPr>
          <p:cNvPr id="12" name="Text 10"/>
          <p:cNvSpPr/>
          <p:nvPr/>
        </p:nvSpPr>
        <p:spPr>
          <a:xfrm>
            <a:off x="365760" y="1965960"/>
            <a:ext cx="11430000" cy="365760"/>
          </a:xfrm>
          <a:prstGeom prst="rect">
            <a:avLst/>
          </a:prstGeom>
          <a:noFill/>
          <a:ln/>
        </p:spPr>
        <p:txBody>
          <a:bodyPr wrap="square" rtlCol="0" anchor="ctr"/>
          <a:lstStyle/>
          <a:p>
            <a:pPr indent="0" marL="0">
              <a:buNone/>
            </a:pPr>
            <a:r>
              <a:rPr lang="en-US" sz="1100" b="1" dirty="0">
                <a:solidFill>
                  <a:srgbClr val="005F5F"/>
                </a:solidFill>
                <a:latin typeface="Calibri" pitchFamily="34" charset="0"/>
                <a:ea typeface="Calibri" pitchFamily="34" charset="-122"/>
                <a:cs typeface="Calibri" pitchFamily="34" charset="-120"/>
              </a:rPr>
              <a:t>STRONG ANSWER FRAMEWORK  (4 points):</a:t>
            </a:r>
            <a:endParaRPr lang="en-US" sz="1100" dirty="0"/>
          </a:p>
        </p:txBody>
      </p:sp>
      <p:sp>
        <p:nvSpPr>
          <p:cNvPr id="13" name="Shape 11"/>
          <p:cNvSpPr/>
          <p:nvPr/>
        </p:nvSpPr>
        <p:spPr>
          <a:xfrm>
            <a:off x="274320" y="2423160"/>
            <a:ext cx="457200" cy="640080"/>
          </a:xfrm>
          <a:prstGeom prst="rect">
            <a:avLst/>
          </a:prstGeom>
          <a:solidFill>
            <a:srgbClr val="1E3A5F"/>
          </a:solidFill>
          <a:ln/>
        </p:spPr>
      </p:sp>
      <p:sp>
        <p:nvSpPr>
          <p:cNvPr id="14" name="Text 12"/>
          <p:cNvSpPr/>
          <p:nvPr/>
        </p:nvSpPr>
        <p:spPr>
          <a:xfrm>
            <a:off x="274320" y="24231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Shape 13"/>
          <p:cNvSpPr/>
          <p:nvPr/>
        </p:nvSpPr>
        <p:spPr>
          <a:xfrm>
            <a:off x="822960" y="2423160"/>
            <a:ext cx="11064240" cy="640080"/>
          </a:xfrm>
          <a:prstGeom prst="rect">
            <a:avLst/>
          </a:prstGeom>
          <a:solidFill>
            <a:srgbClr val="D5E3F0"/>
          </a:solidFill>
          <a:ln w="6350">
            <a:solidFill>
              <a:srgbClr val="AAAAAA"/>
            </a:solidFill>
            <a:prstDash val="solid"/>
          </a:ln>
        </p:spPr>
      </p:sp>
      <p:sp>
        <p:nvSpPr>
          <p:cNvPr id="16" name="Text 14"/>
          <p:cNvSpPr/>
          <p:nvPr/>
        </p:nvSpPr>
        <p:spPr>
          <a:xfrm>
            <a:off x="914400" y="24231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Six factors affect option premium: (1) Underlying price vs strike — intrinsic value changes directly with price; (2) Time to expiry — longer time = higher premium; (3) Implied volatility — higher IV = higher premium; (4) Dividends — ex-dividend lowers call, raises put; (5) Interest rates — higher rates slightly increase call, decrease put; (6) Exercise style — American &gt; European.</a:t>
            </a:r>
            <a:endParaRPr lang="en-US" sz="1200" dirty="0"/>
          </a:p>
        </p:txBody>
      </p:sp>
      <p:sp>
        <p:nvSpPr>
          <p:cNvPr id="17" name="Shape 15"/>
          <p:cNvSpPr/>
          <p:nvPr/>
        </p:nvSpPr>
        <p:spPr>
          <a:xfrm>
            <a:off x="274320" y="3337560"/>
            <a:ext cx="457200" cy="640080"/>
          </a:xfrm>
          <a:prstGeom prst="rect">
            <a:avLst/>
          </a:prstGeom>
          <a:solidFill>
            <a:srgbClr val="1E3A5F"/>
          </a:solidFill>
          <a:ln/>
        </p:spPr>
      </p:sp>
      <p:sp>
        <p:nvSpPr>
          <p:cNvPr id="18" name="Text 16"/>
          <p:cNvSpPr/>
          <p:nvPr/>
        </p:nvSpPr>
        <p:spPr>
          <a:xfrm>
            <a:off x="274320" y="33375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Shape 17"/>
          <p:cNvSpPr/>
          <p:nvPr/>
        </p:nvSpPr>
        <p:spPr>
          <a:xfrm>
            <a:off x="822960" y="3337560"/>
            <a:ext cx="11064240" cy="640080"/>
          </a:xfrm>
          <a:prstGeom prst="rect">
            <a:avLst/>
          </a:prstGeom>
          <a:solidFill>
            <a:srgbClr val="FFFFFF"/>
          </a:solidFill>
          <a:ln w="6350">
            <a:solidFill>
              <a:srgbClr val="AAAAAA"/>
            </a:solidFill>
            <a:prstDash val="solid"/>
          </a:ln>
        </p:spPr>
      </p:sp>
      <p:sp>
        <p:nvSpPr>
          <p:cNvPr id="20" name="Text 18"/>
          <p:cNvSpPr/>
          <p:nvPr/>
        </p:nvSpPr>
        <p:spPr>
          <a:xfrm>
            <a:off x="914400" y="33375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Volatility and time to expiry dominate daily premium changes. Implied volatility spikes before known events (earnings, RBI policy, budget) and collapses after — called IV crush. Time decay erodes the option daily, accelerating near expiry.</a:t>
            </a:r>
            <a:endParaRPr lang="en-US" sz="1200" dirty="0"/>
          </a:p>
        </p:txBody>
      </p:sp>
      <p:sp>
        <p:nvSpPr>
          <p:cNvPr id="21" name="Shape 19"/>
          <p:cNvSpPr/>
          <p:nvPr/>
        </p:nvSpPr>
        <p:spPr>
          <a:xfrm>
            <a:off x="274320" y="4251960"/>
            <a:ext cx="457200" cy="640080"/>
          </a:xfrm>
          <a:prstGeom prst="rect">
            <a:avLst/>
          </a:prstGeom>
          <a:solidFill>
            <a:srgbClr val="1E3A5F"/>
          </a:solidFill>
          <a:ln/>
        </p:spPr>
      </p:sp>
      <p:sp>
        <p:nvSpPr>
          <p:cNvPr id="22" name="Text 20"/>
          <p:cNvSpPr/>
          <p:nvPr/>
        </p:nvSpPr>
        <p:spPr>
          <a:xfrm>
            <a:off x="274320" y="42519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Shape 21"/>
          <p:cNvSpPr/>
          <p:nvPr/>
        </p:nvSpPr>
        <p:spPr>
          <a:xfrm>
            <a:off x="822960" y="4251960"/>
            <a:ext cx="11064240" cy="640080"/>
          </a:xfrm>
          <a:prstGeom prst="rect">
            <a:avLst/>
          </a:prstGeom>
          <a:solidFill>
            <a:srgbClr val="D5E3F0"/>
          </a:solidFill>
          <a:ln w="6350">
            <a:solidFill>
              <a:srgbClr val="AAAAAA"/>
            </a:solidFill>
            <a:prstDash val="solid"/>
          </a:ln>
        </p:spPr>
      </p:sp>
      <p:sp>
        <p:nvSpPr>
          <p:cNvPr id="24" name="Text 22"/>
          <p:cNvSpPr/>
          <p:nvPr/>
        </p:nvSpPr>
        <p:spPr>
          <a:xfrm>
            <a:off x="914400" y="42519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India VIX is the most important volatility indicator for Nifty options — it measures expected 30-day movement implied by ATM option prices. Monitoring VIX daily is essential for derivatives operations.</a:t>
            </a:r>
            <a:endParaRPr lang="en-US" sz="1200" dirty="0"/>
          </a:p>
        </p:txBody>
      </p:sp>
      <p:sp>
        <p:nvSpPr>
          <p:cNvPr id="25" name="Shape 23"/>
          <p:cNvSpPr/>
          <p:nvPr/>
        </p:nvSpPr>
        <p:spPr>
          <a:xfrm>
            <a:off x="274320" y="5166360"/>
            <a:ext cx="457200" cy="640080"/>
          </a:xfrm>
          <a:prstGeom prst="rect">
            <a:avLst/>
          </a:prstGeom>
          <a:solidFill>
            <a:srgbClr val="1E3A5F"/>
          </a:solidFill>
          <a:ln/>
        </p:spPr>
      </p:sp>
      <p:sp>
        <p:nvSpPr>
          <p:cNvPr id="26" name="Text 24"/>
          <p:cNvSpPr/>
          <p:nvPr/>
        </p:nvSpPr>
        <p:spPr>
          <a:xfrm>
            <a:off x="274320" y="51663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Shape 25"/>
          <p:cNvSpPr/>
          <p:nvPr/>
        </p:nvSpPr>
        <p:spPr>
          <a:xfrm>
            <a:off x="822960" y="5166360"/>
            <a:ext cx="11064240" cy="640080"/>
          </a:xfrm>
          <a:prstGeom prst="rect">
            <a:avLst/>
          </a:prstGeom>
          <a:solidFill>
            <a:srgbClr val="FFFFFF"/>
          </a:solidFill>
          <a:ln w="6350">
            <a:solidFill>
              <a:srgbClr val="AAAAAA"/>
            </a:solidFill>
            <a:prstDash val="solid"/>
          </a:ln>
        </p:spPr>
      </p:sp>
      <p:sp>
        <p:nvSpPr>
          <p:cNvPr id="28" name="Text 26"/>
          <p:cNvSpPr/>
          <p:nvPr/>
        </p:nvSpPr>
        <p:spPr>
          <a:xfrm>
            <a:off x="914400" y="51663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In operations: premium changes driven by price moves and volatility must be reflected in daily mark-to-market valuations. Vega (sensitivity to volatility change) must be reported alongside delta and theta in daily risk reports.</a:t>
            </a:r>
            <a:endParaRPr lang="en-US" sz="1200" dirty="0"/>
          </a:p>
        </p:txBody>
      </p:sp>
      <p:sp>
        <p:nvSpPr>
          <p:cNvPr id="29" name="Text 27"/>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OPT.5</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3A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QUICK RECAP</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OPT.6</a:t>
            </a:r>
            <a:endParaRPr lang="en-US" sz="1000" dirty="0"/>
          </a:p>
        </p:txBody>
      </p:sp>
      <p:sp>
        <p:nvSpPr>
          <p:cNvPr id="9" name="Text 7"/>
          <p:cNvSpPr/>
          <p:nvPr/>
        </p:nvSpPr>
        <p:spPr>
          <a:xfrm>
            <a:off x="8686800" y="1097280"/>
            <a:ext cx="3200400" cy="4572000"/>
          </a:xfrm>
          <a:prstGeom prst="rect">
            <a:avLst/>
          </a:prstGeom>
          <a:noFill/>
          <a:ln/>
        </p:spPr>
        <p:txBody>
          <a:bodyPr wrap="square" rtlCol="0" anchor="ctr"/>
          <a:lstStyle/>
          <a:p>
            <a:pPr algn="ctr" indent="0" marL="0">
              <a:buNone/>
            </a:pPr>
            <a:r>
              <a:rPr lang="en-US" sz="18000" b="1" dirty="0">
                <a:solidFill>
                  <a:srgbClr val="2E4A6E"/>
                </a:solidFill>
                <a:latin typeface="Calibri" pitchFamily="34" charset="0"/>
                <a:ea typeface="Calibri" pitchFamily="34" charset="-122"/>
                <a:cs typeface="Calibri" pitchFamily="34" charset="-120"/>
              </a:rPr>
              <a:t>?</a:t>
            </a:r>
            <a:endParaRPr lang="en-US" sz="18000" dirty="0"/>
          </a:p>
        </p:txBody>
      </p:sp>
      <p:sp>
        <p:nvSpPr>
          <p:cNvPr id="10" name="Text 8"/>
          <p:cNvSpPr/>
          <p:nvPr/>
        </p:nvSpPr>
        <p:spPr>
          <a:xfrm>
            <a:off x="365760" y="548640"/>
            <a:ext cx="8229600" cy="457200"/>
          </a:xfrm>
          <a:prstGeom prst="rect">
            <a:avLst/>
          </a:prstGeom>
          <a:noFill/>
          <a:ln/>
        </p:spPr>
        <p:txBody>
          <a:bodyPr wrap="square" rtlCol="0" anchor="ctr"/>
          <a:lstStyle/>
          <a:p>
            <a:pPr indent="0" marL="0">
              <a:buNone/>
            </a:pPr>
            <a:r>
              <a:rPr lang="en-US" sz="1300" b="1" dirty="0">
                <a:solidFill>
                  <a:srgbClr val="B8860B"/>
                </a:solidFill>
                <a:latin typeface="Calibri" pitchFamily="34" charset="0"/>
                <a:ea typeface="Calibri" pitchFamily="34" charset="-122"/>
                <a:cs typeface="Calibri" pitchFamily="34" charset="-120"/>
              </a:rPr>
              <a:t>OPT.6 — Trade Economics</a:t>
            </a:r>
            <a:endParaRPr lang="en-US" sz="1300" dirty="0"/>
          </a:p>
        </p:txBody>
      </p:sp>
      <p:sp>
        <p:nvSpPr>
          <p:cNvPr id="11" name="Text 9"/>
          <p:cNvSpPr/>
          <p:nvPr/>
        </p:nvSpPr>
        <p:spPr>
          <a:xfrm>
            <a:off x="365760" y="1280160"/>
            <a:ext cx="8229600" cy="34747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"An option seller received ₹15 premium per option on a call. The underlying then rallied ₹200 above the strike. What is the seller's total P&amp;L per option — and why is the seller in this position despite having received money upfront?"</a:t>
            </a:r>
            <a:endParaRPr lang="en-US" sz="2400" dirty="0"/>
          </a:p>
        </p:txBody>
      </p:sp>
      <p:sp>
        <p:nvSpPr>
          <p:cNvPr id="12" name="Shape 10"/>
          <p:cNvSpPr/>
          <p:nvPr/>
        </p:nvSpPr>
        <p:spPr>
          <a:xfrm>
            <a:off x="365760" y="4937760"/>
            <a:ext cx="8229600" cy="731520"/>
          </a:xfrm>
          <a:prstGeom prst="rect">
            <a:avLst/>
          </a:prstGeom>
          <a:solidFill>
            <a:srgbClr val="2E4A6E"/>
          </a:solidFill>
          <a:ln/>
        </p:spPr>
      </p:sp>
      <p:sp>
        <p:nvSpPr>
          <p:cNvPr id="13" name="Text 11"/>
          <p:cNvSpPr/>
          <p:nvPr/>
        </p:nvSpPr>
        <p:spPr>
          <a:xfrm>
            <a:off x="365760" y="4937760"/>
            <a:ext cx="8229600" cy="731520"/>
          </a:xfrm>
          <a:prstGeom prst="rect">
            <a:avLst/>
          </a:prstGeom>
          <a:noFill/>
          <a:ln/>
        </p:spPr>
        <p:txBody>
          <a:bodyPr wrap="square" rtlCol="0" anchor="ctr"/>
          <a:lstStyle/>
          <a:p>
            <a:pPr algn="l" indent="0" marL="0">
              <a:buNone/>
            </a:pPr>
            <a:r>
              <a:rPr lang="en-US" sz="1100" i="1" dirty="0">
                <a:solidFill>
                  <a:srgbClr val="CADCFC"/>
                </a:solidFill>
                <a:latin typeface="Calibri" pitchFamily="34" charset="0"/>
                <a:ea typeface="Calibri" pitchFamily="34" charset="-122"/>
                <a:cs typeface="Calibri" pitchFamily="34" charset="-120"/>
              </a:rPr>
              <a:t>From: OPT.6 · Video 2 — Seller Economics (EAR: EXPLAIN)</a:t>
            </a:r>
            <a:endParaRPr lang="en-US" sz="11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OPT.6</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005F5F"/>
          </a:solidFill>
          <a:ln/>
        </p:spPr>
      </p:sp>
      <p:sp>
        <p:nvSpPr>
          <p:cNvPr id="5" name="Shape 3"/>
          <p:cNvSpPr/>
          <p:nvPr/>
        </p:nvSpPr>
        <p:spPr>
          <a:xfrm>
            <a:off x="0" y="73152"/>
            <a:ext cx="1828800" cy="347472"/>
          </a:xfrm>
          <a:prstGeom prst="rect">
            <a:avLst/>
          </a:prstGeom>
          <a:solidFill>
            <a:srgbClr val="C0392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SCENARIO</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OPT.6</a:t>
            </a:r>
            <a:endParaRPr lang="en-US" sz="1000" dirty="0"/>
          </a:p>
        </p:txBody>
      </p:sp>
      <p:sp>
        <p:nvSpPr>
          <p:cNvPr id="9" name="Shape 7"/>
          <p:cNvSpPr/>
          <p:nvPr/>
        </p:nvSpPr>
        <p:spPr>
          <a:xfrm>
            <a:off x="0" y="420624"/>
            <a:ext cx="12192000" cy="914400"/>
          </a:xfrm>
          <a:prstGeom prst="rect">
            <a:avLst/>
          </a:prstGeom>
          <a:solidFill>
            <a:srgbClr val="1E3A5F"/>
          </a:solidFill>
          <a:ln/>
        </p:spPr>
      </p:sp>
      <p:sp>
        <p:nvSpPr>
          <p:cNvPr id="10" name="Text 8"/>
          <p:cNvSpPr/>
          <p:nvPr/>
        </p:nvSpPr>
        <p:spPr>
          <a:xfrm>
            <a:off x="365760" y="420624"/>
            <a:ext cx="11430000" cy="91440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Volmageddon 2018: When Systematic Volatility Selling Blew Up in One Day</a:t>
            </a:r>
            <a:endParaRPr lang="en-US" sz="1800" dirty="0"/>
          </a:p>
        </p:txBody>
      </p:sp>
      <p:sp>
        <p:nvSpPr>
          <p:cNvPr id="11" name="Text 9"/>
          <p:cNvSpPr/>
          <p:nvPr/>
        </p:nvSpPr>
        <p:spPr>
          <a:xfrm>
            <a:off x="365760" y="1463040"/>
            <a:ext cx="7498080" cy="2926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In February 2018, VIX — the US volatility index — surged from 17 to 37 in a single trading session (Volmageddon). Systematic strategies that sold short volatility (VIX call options and inverse VIX products) suffered catastrophic losses.</a:t>
            </a:r>
            <a:endParaRPr lang="en-US" sz="1300" dirty="0"/>
          </a:p>
          <a:p>
            <a:pPr indent="0" marL="0">
              <a:buNone/>
            </a:pP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One popular ETF (XIV — inverse VIX) lost 96% of its value in a single day and was terminated. Retail investors who had been collecting steady premium income from short volatility positions saw years of income wiped out overnight.</a:t>
            </a:r>
            <a:endParaRPr lang="en-US" sz="1300" dirty="0"/>
          </a:p>
          <a:p>
            <a:pPr indent="0" marL="0">
              <a:buNone/>
            </a:pP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The episode is a textbook case of the option seller's unlimited loss risk materialising simultaneously across thousands of positions.</a:t>
            </a:r>
            <a:endParaRPr lang="en-US" sz="1300" dirty="0"/>
          </a:p>
        </p:txBody>
      </p:sp>
      <p:sp>
        <p:nvSpPr>
          <p:cNvPr id="12" name="Shape 10"/>
          <p:cNvSpPr/>
          <p:nvPr/>
        </p:nvSpPr>
        <p:spPr>
          <a:xfrm>
            <a:off x="8046720" y="1463040"/>
            <a:ext cx="3931920" cy="2926080"/>
          </a:xfrm>
          <a:prstGeom prst="rect">
            <a:avLst/>
          </a:prstGeom>
          <a:solidFill>
            <a:srgbClr val="D5E3F0"/>
          </a:solidFill>
          <a:ln w="12700">
            <a:solidFill>
              <a:srgbClr val="1E3A5F"/>
            </a:solidFill>
            <a:prstDash val="solid"/>
          </a:ln>
        </p:spPr>
      </p:sp>
      <p:sp>
        <p:nvSpPr>
          <p:cNvPr id="13" name="Text 11"/>
          <p:cNvSpPr/>
          <p:nvPr/>
        </p:nvSpPr>
        <p:spPr>
          <a:xfrm>
            <a:off x="8046720" y="1463040"/>
            <a:ext cx="3931920" cy="2926080"/>
          </a:xfrm>
          <a:prstGeom prst="rect">
            <a:avLst/>
          </a:prstGeom>
          <a:noFill/>
          <a:ln/>
        </p:spPr>
        <p:txBody>
          <a:bodyPr wrap="square" rtlCol="0" anchor="t"/>
          <a:lstStyle/>
          <a:p>
            <a:pPr indent="0" marL="0">
              <a:buNone/>
            </a:pPr>
            <a:r>
              <a:rPr lang="en-US" sz="1200" dirty="0">
                <a:solidFill>
                  <a:srgbClr val="1E3A5F"/>
                </a:solidFill>
                <a:latin typeface="Calibri" pitchFamily="34" charset="0"/>
                <a:ea typeface="Calibri" pitchFamily="34" charset="-122"/>
                <a:cs typeface="Calibri" pitchFamily="34" charset="-120"/>
              </a:rPr>
              <a:t>VOLMAGEDDON FEB 2018:</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VIX: 17 → 37</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(+117% in 1 day)</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XIV (inverse VIX):</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-96% in 1 day</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Product terminated</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9 years of gains</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wiped in hours</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Short vol sellers:</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years of premium</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lost in one session</a:t>
            </a:r>
            <a:endParaRPr lang="en-US" sz="1200" dirty="0"/>
          </a:p>
        </p:txBody>
      </p:sp>
      <p:sp>
        <p:nvSpPr>
          <p:cNvPr id="14" name="Shape 12"/>
          <p:cNvSpPr/>
          <p:nvPr/>
        </p:nvSpPr>
        <p:spPr>
          <a:xfrm>
            <a:off x="0" y="4572000"/>
            <a:ext cx="12192000" cy="1188720"/>
          </a:xfrm>
          <a:prstGeom prst="rect">
            <a:avLst/>
          </a:prstGeom>
          <a:solidFill>
            <a:srgbClr val="005F5F"/>
          </a:solidFill>
          <a:ln/>
        </p:spPr>
      </p:sp>
      <p:sp>
        <p:nvSpPr>
          <p:cNvPr id="15" name="Text 13"/>
          <p:cNvSpPr/>
          <p:nvPr/>
        </p:nvSpPr>
        <p:spPr>
          <a:xfrm>
            <a:off x="365760" y="4572000"/>
            <a:ext cx="11430000" cy="118872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XIV inverse VIX product had generated positive returns for 9 consecutive years before its collapse. What does this tell you about the sustainability of systematic option selling strategies, and what risk controls would have protected against this outcome?</a:t>
            </a:r>
            <a:endParaRPr lang="en-US" sz="1500" dirty="0"/>
          </a:p>
        </p:txBody>
      </p:sp>
      <p:sp>
        <p:nvSpPr>
          <p:cNvPr id="16" name="Text 14"/>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OPT.6</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005F5F"/>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005F5F"/>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OPT.6</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Option Trade Economics: Buyer vs Seller Complete Comparison</a:t>
            </a:r>
            <a:endParaRPr lang="en-US" sz="2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274320" y="1280160"/>
          <a:ext cx="11612880" cy="4206240"/>
        </p:xfrm>
        <a:graphic>
          <a:graphicData uri="http://schemas.openxmlformats.org/drawingml/2006/table">
            <a:tbl>
              <a:tblPr/>
              <a:tblGrid>
                <a:gridCol w="3870960"/>
                <a:gridCol w="3870960"/>
                <a:gridCol w="3870960"/>
              </a:tblGrid>
              <a:tr h="46736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ECONOMICS FIELD</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BUYER</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SELLER</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r>
              <a:tr h="46736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Premium</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Pays on T+0 or T+1</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Receives on T+0 or T+1</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46736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Max Loss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Premium paid (known upfront)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Unlimited (short call) / Strike–Premium (short put)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46736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Max Gain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Unlimited (call) / Strike–Premium (put)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Premium received (fixed)</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46736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Breakeven (Call)</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Strike + Premium</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Strike + Premium</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46736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Margin Required</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None — premium is prepaid</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Yes — reflects unlimited loss potential</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46736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At Expiry (ITM)</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Exercises — receives payoff</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Must deliver (call) or buy (put) at strike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46736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At Expiry (OTM)</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Option lapses — loss = premium</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Option lapses — gain = premium kept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46736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Operations Workflow</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Premium payment + exercise monitoring</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Premium receipt + margin monitoring + potential assignment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bl>
          </a:graphicData>
        </a:graphic>
      </p:graphicFrame>
      <p:sp>
        <p:nvSpPr>
          <p:cNvPr id="11" name="Text 8"/>
          <p:cNvSpPr/>
          <p:nvPr/>
        </p:nvSpPr>
        <p:spPr>
          <a:xfrm>
            <a:off x="274320" y="6035040"/>
            <a:ext cx="11612880" cy="365760"/>
          </a:xfrm>
          <a:prstGeom prst="rect">
            <a:avLst/>
          </a:prstGeom>
          <a:noFill/>
          <a:ln/>
        </p:spPr>
        <p:txBody>
          <a:bodyPr wrap="square" rtlCol="0" anchor="ctr"/>
          <a:lstStyle/>
          <a:p>
            <a:pPr indent="0" marL="0">
              <a:buNone/>
            </a:pPr>
            <a:r>
              <a:rPr lang="en-US" sz="1000" dirty="0">
                <a:solidFill>
                  <a:srgbClr val="005F5F"/>
                </a:solidFill>
                <a:latin typeface="Calibri" pitchFamily="34" charset="0"/>
                <a:ea typeface="Calibri" pitchFamily="34" charset="-122"/>
                <a:cs typeface="Calibri" pitchFamily="34" charset="-120"/>
              </a:rPr>
              <a:t>The option buyer's economics are completely defined at inception. The seller's economics remain open until expiry.</a:t>
            </a:r>
            <a:endParaRPr lang="en-US" sz="1000" dirty="0"/>
          </a:p>
        </p:txBody>
      </p:sp>
      <p:sp>
        <p:nvSpPr>
          <p:cNvPr id="12" name="Text 9"/>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OPT.6</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GOING DEEPER</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OPT.6</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Four Insights on Trade Economics and Seller Risk</a:t>
            </a:r>
            <a:endParaRPr lang="en-US" sz="2000" dirty="0"/>
          </a:p>
        </p:txBody>
      </p:sp>
      <p:sp>
        <p:nvSpPr>
          <p:cNvPr id="10" name="Shape 8"/>
          <p:cNvSpPr/>
          <p:nvPr/>
        </p:nvSpPr>
        <p:spPr>
          <a:xfrm>
            <a:off x="274320" y="1280160"/>
            <a:ext cx="5669280" cy="2377440"/>
          </a:xfrm>
          <a:prstGeom prst="rect">
            <a:avLst/>
          </a:prstGeom>
          <a:solidFill>
            <a:srgbClr val="D5E3F0"/>
          </a:solidFill>
          <a:ln w="6350">
            <a:solidFill>
              <a:srgbClr val="AAAAAA"/>
            </a:solidFill>
            <a:prstDash val="solid"/>
          </a:ln>
        </p:spPr>
      </p:sp>
      <p:sp>
        <p:nvSpPr>
          <p:cNvPr id="11" name="Shape 9"/>
          <p:cNvSpPr/>
          <p:nvPr/>
        </p:nvSpPr>
        <p:spPr>
          <a:xfrm>
            <a:off x="365760" y="1371600"/>
            <a:ext cx="457200" cy="457200"/>
          </a:xfrm>
          <a:prstGeom prst="ellipse">
            <a:avLst/>
          </a:prstGeom>
          <a:solidFill>
            <a:srgbClr val="1E3A5F"/>
          </a:solidFill>
          <a:ln/>
        </p:spPr>
      </p:sp>
      <p:sp>
        <p:nvSpPr>
          <p:cNvPr id="12" name="Text 10"/>
          <p:cNvSpPr/>
          <p:nvPr/>
        </p:nvSpPr>
        <p:spPr>
          <a:xfrm>
            <a:off x="36576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91440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Covered Calls Reduce But Do Not Eliminate Seller Risk</a:t>
            </a:r>
            <a:endParaRPr lang="en-US" sz="1200" dirty="0"/>
          </a:p>
        </p:txBody>
      </p:sp>
      <p:sp>
        <p:nvSpPr>
          <p:cNvPr id="14" name="Text 12"/>
          <p:cNvSpPr/>
          <p:nvPr/>
        </p:nvSpPr>
        <p:spPr>
          <a:xfrm>
            <a:off x="41148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A covered call (own the stock + sell a call) is safer than a naked call because if the call is exercised, the writer delivers their existing shares rather than buying in the market. But the stock must have been purchased first — capital is tied up. Covered call writing generates premium income but caps upside: if the stock surges, the writer only receives the strike price.</a:t>
            </a:r>
            <a:endParaRPr lang="en-US" sz="1000" dirty="0"/>
          </a:p>
        </p:txBody>
      </p:sp>
      <p:sp>
        <p:nvSpPr>
          <p:cNvPr id="15" name="Shape 13"/>
          <p:cNvSpPr/>
          <p:nvPr/>
        </p:nvSpPr>
        <p:spPr>
          <a:xfrm>
            <a:off x="6126480" y="1280160"/>
            <a:ext cx="5669280" cy="2377440"/>
          </a:xfrm>
          <a:prstGeom prst="rect">
            <a:avLst/>
          </a:prstGeom>
          <a:solidFill>
            <a:srgbClr val="D4EFEF"/>
          </a:solidFill>
          <a:ln w="6350">
            <a:solidFill>
              <a:srgbClr val="AAAAAA"/>
            </a:solidFill>
            <a:prstDash val="solid"/>
          </a:ln>
        </p:spPr>
      </p:sp>
      <p:sp>
        <p:nvSpPr>
          <p:cNvPr id="16" name="Shape 14"/>
          <p:cNvSpPr/>
          <p:nvPr/>
        </p:nvSpPr>
        <p:spPr>
          <a:xfrm>
            <a:off x="6217920" y="1371600"/>
            <a:ext cx="457200" cy="457200"/>
          </a:xfrm>
          <a:prstGeom prst="ellipse">
            <a:avLst/>
          </a:prstGeom>
          <a:solidFill>
            <a:srgbClr val="005F5F"/>
          </a:solidFill>
          <a:ln/>
        </p:spPr>
      </p:sp>
      <p:sp>
        <p:nvSpPr>
          <p:cNvPr id="17" name="Text 15"/>
          <p:cNvSpPr/>
          <p:nvPr/>
        </p:nvSpPr>
        <p:spPr>
          <a:xfrm>
            <a:off x="621792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676656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Margin Requirements Reflect Potential Loss Distribution</a:t>
            </a:r>
            <a:endParaRPr lang="en-US" sz="1200" dirty="0"/>
          </a:p>
        </p:txBody>
      </p:sp>
      <p:sp>
        <p:nvSpPr>
          <p:cNvPr id="19" name="Text 17"/>
          <p:cNvSpPr/>
          <p:nvPr/>
        </p:nvSpPr>
        <p:spPr>
          <a:xfrm>
            <a:off x="626364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The clearing corporation sets option seller margin using VaR models that estimate the loss under extreme market scenarios (typically 99% confidence over 1 day). Higher implied volatility means higher margin. NSE adjusts margin requirements in real-time during volatile sessions. Operations teams must be prepared for margin calls that arrive within hours of opening positions.</a:t>
            </a:r>
            <a:endParaRPr lang="en-US" sz="1000" dirty="0"/>
          </a:p>
        </p:txBody>
      </p:sp>
      <p:sp>
        <p:nvSpPr>
          <p:cNvPr id="20" name="Shape 18"/>
          <p:cNvSpPr/>
          <p:nvPr/>
        </p:nvSpPr>
        <p:spPr>
          <a:xfrm>
            <a:off x="274320" y="3840480"/>
            <a:ext cx="5669280" cy="2377440"/>
          </a:xfrm>
          <a:prstGeom prst="rect">
            <a:avLst/>
          </a:prstGeom>
          <a:solidFill>
            <a:srgbClr val="FEF9E7"/>
          </a:solidFill>
          <a:ln w="6350">
            <a:solidFill>
              <a:srgbClr val="AAAAAA"/>
            </a:solidFill>
            <a:prstDash val="solid"/>
          </a:ln>
        </p:spPr>
      </p:sp>
      <p:sp>
        <p:nvSpPr>
          <p:cNvPr id="21" name="Shape 19"/>
          <p:cNvSpPr/>
          <p:nvPr/>
        </p:nvSpPr>
        <p:spPr>
          <a:xfrm>
            <a:off x="365760" y="3931920"/>
            <a:ext cx="457200" cy="457200"/>
          </a:xfrm>
          <a:prstGeom prst="ellipse">
            <a:avLst/>
          </a:prstGeom>
          <a:solidFill>
            <a:srgbClr val="B8860B"/>
          </a:solidFill>
          <a:ln/>
        </p:spPr>
      </p:sp>
      <p:sp>
        <p:nvSpPr>
          <p:cNvPr id="22" name="Text 20"/>
          <p:cNvSpPr/>
          <p:nvPr/>
        </p:nvSpPr>
        <p:spPr>
          <a:xfrm>
            <a:off x="36576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91440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The Trade Economics Ticket Is a Legal Document</a:t>
            </a:r>
            <a:endParaRPr lang="en-US" sz="1200" dirty="0"/>
          </a:p>
        </p:txBody>
      </p:sp>
      <p:sp>
        <p:nvSpPr>
          <p:cNvPr id="24" name="Text 22"/>
          <p:cNvSpPr/>
          <p:nvPr/>
        </p:nvSpPr>
        <p:spPr>
          <a:xfrm>
            <a:off x="41148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The option confirmation — trade date, style, type, buyer, seller, underlying ISIN, number of options, strike, premium, expiry, settlement method — is a legally binding document. Any discrepancy between counterparties' records of these fields creates a trade break that must be resolved before settlement. In operations, unmatched confirmations are escalated immediately.</a:t>
            </a:r>
            <a:endParaRPr lang="en-US" sz="1000" dirty="0"/>
          </a:p>
        </p:txBody>
      </p:sp>
      <p:sp>
        <p:nvSpPr>
          <p:cNvPr id="25" name="Shape 23"/>
          <p:cNvSpPr/>
          <p:nvPr/>
        </p:nvSpPr>
        <p:spPr>
          <a:xfrm>
            <a:off x="6126480" y="3840480"/>
            <a:ext cx="5669280" cy="2377440"/>
          </a:xfrm>
          <a:prstGeom prst="rect">
            <a:avLst/>
          </a:prstGeom>
          <a:solidFill>
            <a:srgbClr val="F3E5F5"/>
          </a:solidFill>
          <a:ln w="6350">
            <a:solidFill>
              <a:srgbClr val="AAAAAA"/>
            </a:solidFill>
            <a:prstDash val="solid"/>
          </a:ln>
        </p:spPr>
      </p:sp>
      <p:sp>
        <p:nvSpPr>
          <p:cNvPr id="26" name="Shape 24"/>
          <p:cNvSpPr/>
          <p:nvPr/>
        </p:nvSpPr>
        <p:spPr>
          <a:xfrm>
            <a:off x="6217920" y="3931920"/>
            <a:ext cx="457200" cy="457200"/>
          </a:xfrm>
          <a:prstGeom prst="ellipse">
            <a:avLst/>
          </a:prstGeom>
          <a:solidFill>
            <a:srgbClr val="1E3A5F"/>
          </a:solidFill>
          <a:ln/>
        </p:spPr>
      </p:sp>
      <p:sp>
        <p:nvSpPr>
          <p:cNvPr id="27" name="Text 25"/>
          <p:cNvSpPr/>
          <p:nvPr/>
        </p:nvSpPr>
        <p:spPr>
          <a:xfrm>
            <a:off x="621792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676656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OTC Option Premium: Different Settlement Convention</a:t>
            </a:r>
            <a:endParaRPr lang="en-US" sz="1200" dirty="0"/>
          </a:p>
        </p:txBody>
      </p:sp>
      <p:sp>
        <p:nvSpPr>
          <p:cNvPr id="29" name="Text 27"/>
          <p:cNvSpPr/>
          <p:nvPr/>
        </p:nvSpPr>
        <p:spPr>
          <a:xfrm>
            <a:off x="626364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For OTC options, premium settlement conventions vary by market. FX options in London typically settle T+2. Interest rate options may have premium settlement aligned with the effective date. Unlike NSE listed options (T+0 per SEBI 2023), OTC premium settlement must be confirmed from the ISDA confirmation for each trade individually.</a:t>
            </a:r>
            <a:endParaRPr lang="en-US" sz="1000" dirty="0"/>
          </a:p>
        </p:txBody>
      </p:sp>
      <p:sp>
        <p:nvSpPr>
          <p:cNvPr id="30" name="Text 28"/>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OPT.6</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05F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THINK &amp; DISCUSS</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OPT.6</a:t>
            </a:r>
            <a:endParaRPr lang="en-US" sz="1000" dirty="0"/>
          </a:p>
        </p:txBody>
      </p:sp>
      <p:sp>
        <p:nvSpPr>
          <p:cNvPr id="9" name="Shape 7"/>
          <p:cNvSpPr/>
          <p:nvPr/>
        </p:nvSpPr>
        <p:spPr>
          <a:xfrm>
            <a:off x="365760" y="914400"/>
            <a:ext cx="11155680" cy="3840480"/>
          </a:xfrm>
          <a:prstGeom prst="rect">
            <a:avLst/>
          </a:prstGeom>
          <a:solidFill>
            <a:srgbClr val="004444"/>
          </a:solidFill>
          <a:ln w="12700">
            <a:solidFill>
              <a:srgbClr val="B8860B"/>
            </a:solidFill>
            <a:prstDash val="solid"/>
          </a:ln>
        </p:spPr>
      </p:sp>
      <p:sp>
        <p:nvSpPr>
          <p:cNvPr id="10" name="Text 8"/>
          <p:cNvSpPr/>
          <p:nvPr/>
        </p:nvSpPr>
        <p:spPr>
          <a:xfrm>
            <a:off x="9144000" y="548640"/>
            <a:ext cx="2926080" cy="457200"/>
          </a:xfrm>
          <a:prstGeom prst="rect">
            <a:avLst/>
          </a:prstGeom>
          <a:noFill/>
          <a:ln/>
        </p:spPr>
        <p:txBody>
          <a:bodyPr wrap="square" rtlCol="0" anchor="ctr"/>
          <a:lstStyle/>
          <a:p>
            <a:pPr algn="r" indent="0" marL="0">
              <a:buNone/>
            </a:pPr>
            <a:r>
              <a:rPr lang="en-US" sz="1400" b="1" dirty="0">
                <a:solidFill>
                  <a:srgbClr val="B8860B"/>
                </a:solidFill>
                <a:latin typeface="Calibri" pitchFamily="34" charset="0"/>
                <a:ea typeface="Calibri" pitchFamily="34" charset="-122"/>
                <a:cs typeface="Calibri" pitchFamily="34" charset="-120"/>
              </a:rPr>
              <a:t>2 MINUTES</a:t>
            </a:r>
            <a:endParaRPr lang="en-US" sz="1400" dirty="0"/>
          </a:p>
        </p:txBody>
      </p:sp>
      <p:sp>
        <p:nvSpPr>
          <p:cNvPr id="11" name="Text 9"/>
          <p:cNvSpPr/>
          <p:nvPr/>
        </p:nvSpPr>
        <p:spPr>
          <a:xfrm>
            <a:off x="640080" y="1188720"/>
            <a:ext cx="10607040" cy="310896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"You receive an OTC European call option confirmation with the following details: Buyer: Client A, Seller: Your firm, Underlying: Infosys ISIN IN0009017749, Strike: ₹1,450, Premium: ₹85 per option, Number: 5,000 options, Expiry: 30 June 2025. List six specific checks your operations team performs before accepting this confirmation."</a:t>
            </a:r>
            <a:endParaRPr lang="en-US" sz="1800" dirty="0"/>
          </a:p>
        </p:txBody>
      </p:sp>
      <p:sp>
        <p:nvSpPr>
          <p:cNvPr id="12" name="Shape 10"/>
          <p:cNvSpPr/>
          <p:nvPr/>
        </p:nvSpPr>
        <p:spPr>
          <a:xfrm>
            <a:off x="0" y="5029200"/>
            <a:ext cx="12192000" cy="914400"/>
          </a:xfrm>
          <a:prstGeom prst="rect">
            <a:avLst/>
          </a:prstGeom>
          <a:solidFill>
            <a:srgbClr val="003333"/>
          </a:solidFill>
          <a:ln/>
        </p:spPr>
      </p:sp>
      <p:sp>
        <p:nvSpPr>
          <p:cNvPr id="13" name="Text 11"/>
          <p:cNvSpPr/>
          <p:nvPr/>
        </p:nvSpPr>
        <p:spPr>
          <a:xfrm>
            <a:off x="365760" y="5029200"/>
            <a:ext cx="11430000" cy="91440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Hint: Think about: ISIN verification, premium amount calculation (₹85 × 5,000 = ₹4,25,000), ISDA documentation status, exercise style confirmation, premium settlement date, expiry date calendar confirmation.</a:t>
            </a:r>
            <a:endParaRPr lang="en-US" sz="13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OPT.6</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INTERVIEW READY</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OPT.6</a:t>
            </a:r>
            <a:endParaRPr lang="en-US" sz="1000" dirty="0"/>
          </a:p>
        </p:txBody>
      </p:sp>
      <p:sp>
        <p:nvSpPr>
          <p:cNvPr id="9" name="Shape 7"/>
          <p:cNvSpPr/>
          <p:nvPr/>
        </p:nvSpPr>
        <p:spPr>
          <a:xfrm>
            <a:off x="0" y="420624"/>
            <a:ext cx="12192000" cy="1371600"/>
          </a:xfrm>
          <a:prstGeom prst="rect">
            <a:avLst/>
          </a:prstGeom>
          <a:solidFill>
            <a:srgbClr val="1E3A5F"/>
          </a:solidFill>
          <a:ln/>
        </p:spPr>
      </p:sp>
      <p:sp>
        <p:nvSpPr>
          <p:cNvPr id="10" name="Text 8"/>
          <p:cNvSpPr/>
          <p:nvPr/>
        </p:nvSpPr>
        <p:spPr>
          <a:xfrm>
            <a:off x="365760" y="502920"/>
            <a:ext cx="11430000" cy="365760"/>
          </a:xfrm>
          <a:prstGeom prst="rect">
            <a:avLst/>
          </a:prstGeom>
          <a:noFill/>
          <a:ln/>
        </p:spPr>
        <p:txBody>
          <a:bodyPr wrap="square" rtlCol="0" anchor="ctr"/>
          <a:lstStyle/>
          <a:p>
            <a:pPr indent="0" marL="0">
              <a:buNone/>
            </a:pPr>
            <a:r>
              <a:rPr lang="en-US" sz="1200" b="1" dirty="0">
                <a:solidFill>
                  <a:srgbClr val="B8860B"/>
                </a:solidFill>
                <a:latin typeface="Calibri" pitchFamily="34" charset="0"/>
                <a:ea typeface="Calibri" pitchFamily="34" charset="-122"/>
                <a:cs typeface="Calibri" pitchFamily="34" charset="-120"/>
              </a:rPr>
              <a:t>Interview Question:</a:t>
            </a:r>
            <a:endParaRPr lang="en-US" sz="1200" dirty="0"/>
          </a:p>
        </p:txBody>
      </p:sp>
      <p:sp>
        <p:nvSpPr>
          <p:cNvPr id="11" name="Text 9"/>
          <p:cNvSpPr/>
          <p:nvPr/>
        </p:nvSpPr>
        <p:spPr>
          <a:xfrm>
            <a:off x="365760" y="914400"/>
            <a:ext cx="11430000" cy="8229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"Explain the trade economics of an option from both buyer and seller perspectives."</a:t>
            </a:r>
            <a:endParaRPr lang="en-US" sz="1600" dirty="0"/>
          </a:p>
        </p:txBody>
      </p:sp>
      <p:sp>
        <p:nvSpPr>
          <p:cNvPr id="12" name="Text 10"/>
          <p:cNvSpPr/>
          <p:nvPr/>
        </p:nvSpPr>
        <p:spPr>
          <a:xfrm>
            <a:off x="365760" y="1965960"/>
            <a:ext cx="11430000" cy="365760"/>
          </a:xfrm>
          <a:prstGeom prst="rect">
            <a:avLst/>
          </a:prstGeom>
          <a:noFill/>
          <a:ln/>
        </p:spPr>
        <p:txBody>
          <a:bodyPr wrap="square" rtlCol="0" anchor="ctr"/>
          <a:lstStyle/>
          <a:p>
            <a:pPr indent="0" marL="0">
              <a:buNone/>
            </a:pPr>
            <a:r>
              <a:rPr lang="en-US" sz="1100" b="1" dirty="0">
                <a:solidFill>
                  <a:srgbClr val="005F5F"/>
                </a:solidFill>
                <a:latin typeface="Calibri" pitchFamily="34" charset="0"/>
                <a:ea typeface="Calibri" pitchFamily="34" charset="-122"/>
                <a:cs typeface="Calibri" pitchFamily="34" charset="-120"/>
              </a:rPr>
              <a:t>STRONG ANSWER FRAMEWORK  (4 points):</a:t>
            </a:r>
            <a:endParaRPr lang="en-US" sz="1100" dirty="0"/>
          </a:p>
        </p:txBody>
      </p:sp>
      <p:sp>
        <p:nvSpPr>
          <p:cNvPr id="13" name="Shape 11"/>
          <p:cNvSpPr/>
          <p:nvPr/>
        </p:nvSpPr>
        <p:spPr>
          <a:xfrm>
            <a:off x="274320" y="2423160"/>
            <a:ext cx="457200" cy="640080"/>
          </a:xfrm>
          <a:prstGeom prst="rect">
            <a:avLst/>
          </a:prstGeom>
          <a:solidFill>
            <a:srgbClr val="1E3A5F"/>
          </a:solidFill>
          <a:ln/>
        </p:spPr>
      </p:sp>
      <p:sp>
        <p:nvSpPr>
          <p:cNvPr id="14" name="Text 12"/>
          <p:cNvSpPr/>
          <p:nvPr/>
        </p:nvSpPr>
        <p:spPr>
          <a:xfrm>
            <a:off x="274320" y="24231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Shape 13"/>
          <p:cNvSpPr/>
          <p:nvPr/>
        </p:nvSpPr>
        <p:spPr>
          <a:xfrm>
            <a:off x="822960" y="2423160"/>
            <a:ext cx="11064240" cy="640080"/>
          </a:xfrm>
          <a:prstGeom prst="rect">
            <a:avLst/>
          </a:prstGeom>
          <a:solidFill>
            <a:srgbClr val="D5E3F0"/>
          </a:solidFill>
          <a:ln w="6350">
            <a:solidFill>
              <a:srgbClr val="AAAAAA"/>
            </a:solidFill>
            <a:prstDash val="solid"/>
          </a:ln>
        </p:spPr>
      </p:sp>
      <p:sp>
        <p:nvSpPr>
          <p:cNvPr id="16" name="Text 14"/>
          <p:cNvSpPr/>
          <p:nvPr/>
        </p:nvSpPr>
        <p:spPr>
          <a:xfrm>
            <a:off x="914400" y="24231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Buyer economics: pays premium upfront (T+0 per SEBI mandate). Maximum loss = premium paid — fixed and known at inception. At expiry, if ITM: exercises and receives payoff (market – strike for call). If OTM: option lapses, loss = premium. Breakeven = Strike + Premium (call) or Strike – Premium (put).</a:t>
            </a:r>
            <a:endParaRPr lang="en-US" sz="1200" dirty="0"/>
          </a:p>
        </p:txBody>
      </p:sp>
      <p:sp>
        <p:nvSpPr>
          <p:cNvPr id="17" name="Shape 15"/>
          <p:cNvSpPr/>
          <p:nvPr/>
        </p:nvSpPr>
        <p:spPr>
          <a:xfrm>
            <a:off x="274320" y="3337560"/>
            <a:ext cx="457200" cy="640080"/>
          </a:xfrm>
          <a:prstGeom prst="rect">
            <a:avLst/>
          </a:prstGeom>
          <a:solidFill>
            <a:srgbClr val="1E3A5F"/>
          </a:solidFill>
          <a:ln/>
        </p:spPr>
      </p:sp>
      <p:sp>
        <p:nvSpPr>
          <p:cNvPr id="18" name="Text 16"/>
          <p:cNvSpPr/>
          <p:nvPr/>
        </p:nvSpPr>
        <p:spPr>
          <a:xfrm>
            <a:off x="274320" y="33375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Shape 17"/>
          <p:cNvSpPr/>
          <p:nvPr/>
        </p:nvSpPr>
        <p:spPr>
          <a:xfrm>
            <a:off x="822960" y="3337560"/>
            <a:ext cx="11064240" cy="640080"/>
          </a:xfrm>
          <a:prstGeom prst="rect">
            <a:avLst/>
          </a:prstGeom>
          <a:solidFill>
            <a:srgbClr val="FFFFFF"/>
          </a:solidFill>
          <a:ln w="6350">
            <a:solidFill>
              <a:srgbClr val="AAAAAA"/>
            </a:solidFill>
            <a:prstDash val="solid"/>
          </a:ln>
        </p:spPr>
      </p:sp>
      <p:sp>
        <p:nvSpPr>
          <p:cNvPr id="20" name="Text 18"/>
          <p:cNvSpPr/>
          <p:nvPr/>
        </p:nvSpPr>
        <p:spPr>
          <a:xfrm>
            <a:off x="914400" y="33375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Seller economics: receives premium upfront. Maximum gain = premium received. Maximum loss = theoretically unlimited for short call (as underlying rises); up to Strike – Premium for short put. Seller must post margin with clearing house reflecting unlimited loss potential.</a:t>
            </a:r>
            <a:endParaRPr lang="en-US" sz="1200" dirty="0"/>
          </a:p>
        </p:txBody>
      </p:sp>
      <p:sp>
        <p:nvSpPr>
          <p:cNvPr id="21" name="Shape 19"/>
          <p:cNvSpPr/>
          <p:nvPr/>
        </p:nvSpPr>
        <p:spPr>
          <a:xfrm>
            <a:off x="274320" y="4251960"/>
            <a:ext cx="457200" cy="640080"/>
          </a:xfrm>
          <a:prstGeom prst="rect">
            <a:avLst/>
          </a:prstGeom>
          <a:solidFill>
            <a:srgbClr val="1E3A5F"/>
          </a:solidFill>
          <a:ln/>
        </p:spPr>
      </p:sp>
      <p:sp>
        <p:nvSpPr>
          <p:cNvPr id="22" name="Text 20"/>
          <p:cNvSpPr/>
          <p:nvPr/>
        </p:nvSpPr>
        <p:spPr>
          <a:xfrm>
            <a:off x="274320" y="42519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Shape 21"/>
          <p:cNvSpPr/>
          <p:nvPr/>
        </p:nvSpPr>
        <p:spPr>
          <a:xfrm>
            <a:off x="822960" y="4251960"/>
            <a:ext cx="11064240" cy="640080"/>
          </a:xfrm>
          <a:prstGeom prst="rect">
            <a:avLst/>
          </a:prstGeom>
          <a:solidFill>
            <a:srgbClr val="D5E3F0"/>
          </a:solidFill>
          <a:ln w="6350">
            <a:solidFill>
              <a:srgbClr val="AAAAAA"/>
            </a:solidFill>
            <a:prstDash val="solid"/>
          </a:ln>
        </p:spPr>
      </p:sp>
      <p:sp>
        <p:nvSpPr>
          <p:cNvPr id="24" name="Text 22"/>
          <p:cNvSpPr/>
          <p:nvPr/>
        </p:nvSpPr>
        <p:spPr>
          <a:xfrm>
            <a:off x="914400" y="42519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Key asymmetry: buyer has complete certainty about maximum loss from day one. Seller has uncertainty — their loss grows with each adverse price move and only ends at expiry.</a:t>
            </a:r>
            <a:endParaRPr lang="en-US" sz="1200" dirty="0"/>
          </a:p>
        </p:txBody>
      </p:sp>
      <p:sp>
        <p:nvSpPr>
          <p:cNvPr id="25" name="Shape 23"/>
          <p:cNvSpPr/>
          <p:nvPr/>
        </p:nvSpPr>
        <p:spPr>
          <a:xfrm>
            <a:off x="274320" y="5166360"/>
            <a:ext cx="457200" cy="640080"/>
          </a:xfrm>
          <a:prstGeom prst="rect">
            <a:avLst/>
          </a:prstGeom>
          <a:solidFill>
            <a:srgbClr val="1E3A5F"/>
          </a:solidFill>
          <a:ln/>
        </p:spPr>
      </p:sp>
      <p:sp>
        <p:nvSpPr>
          <p:cNvPr id="26" name="Text 24"/>
          <p:cNvSpPr/>
          <p:nvPr/>
        </p:nvSpPr>
        <p:spPr>
          <a:xfrm>
            <a:off x="274320" y="51663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Shape 25"/>
          <p:cNvSpPr/>
          <p:nvPr/>
        </p:nvSpPr>
        <p:spPr>
          <a:xfrm>
            <a:off x="822960" y="5166360"/>
            <a:ext cx="11064240" cy="640080"/>
          </a:xfrm>
          <a:prstGeom prst="rect">
            <a:avLst/>
          </a:prstGeom>
          <a:solidFill>
            <a:srgbClr val="FFFFFF"/>
          </a:solidFill>
          <a:ln w="6350">
            <a:solidFill>
              <a:srgbClr val="AAAAAA"/>
            </a:solidFill>
            <a:prstDash val="solid"/>
          </a:ln>
        </p:spPr>
      </p:sp>
      <p:sp>
        <p:nvSpPr>
          <p:cNvPr id="28" name="Text 26"/>
          <p:cNvSpPr/>
          <p:nvPr/>
        </p:nvSpPr>
        <p:spPr>
          <a:xfrm>
            <a:off x="914400" y="51663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In operations: buyers require premium settlement instruction (T+0/T+1) and exercise monitoring. Sellers require premium receipt confirmation, daily margin monitoring, and potential assignment notification at expiry. Separate workflows, even for the same underlying and expiry.</a:t>
            </a:r>
            <a:endParaRPr lang="en-US" sz="1200" dirty="0"/>
          </a:p>
        </p:txBody>
      </p:sp>
      <p:sp>
        <p:nvSpPr>
          <p:cNvPr id="29" name="Text 27"/>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OPT.6</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3A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QUICK RECAP</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OPT.7</a:t>
            </a:r>
            <a:endParaRPr lang="en-US" sz="1000" dirty="0"/>
          </a:p>
        </p:txBody>
      </p:sp>
      <p:sp>
        <p:nvSpPr>
          <p:cNvPr id="9" name="Text 7"/>
          <p:cNvSpPr/>
          <p:nvPr/>
        </p:nvSpPr>
        <p:spPr>
          <a:xfrm>
            <a:off x="8686800" y="1097280"/>
            <a:ext cx="3200400" cy="4572000"/>
          </a:xfrm>
          <a:prstGeom prst="rect">
            <a:avLst/>
          </a:prstGeom>
          <a:noFill/>
          <a:ln/>
        </p:spPr>
        <p:txBody>
          <a:bodyPr wrap="square" rtlCol="0" anchor="ctr"/>
          <a:lstStyle/>
          <a:p>
            <a:pPr algn="ctr" indent="0" marL="0">
              <a:buNone/>
            </a:pPr>
            <a:r>
              <a:rPr lang="en-US" sz="18000" b="1" dirty="0">
                <a:solidFill>
                  <a:srgbClr val="2E4A6E"/>
                </a:solidFill>
                <a:latin typeface="Calibri" pitchFamily="34" charset="0"/>
                <a:ea typeface="Calibri" pitchFamily="34" charset="-122"/>
                <a:cs typeface="Calibri" pitchFamily="34" charset="-120"/>
              </a:rPr>
              <a:t>?</a:t>
            </a:r>
            <a:endParaRPr lang="en-US" sz="18000" dirty="0"/>
          </a:p>
        </p:txBody>
      </p:sp>
      <p:sp>
        <p:nvSpPr>
          <p:cNvPr id="10" name="Text 8"/>
          <p:cNvSpPr/>
          <p:nvPr/>
        </p:nvSpPr>
        <p:spPr>
          <a:xfrm>
            <a:off x="365760" y="548640"/>
            <a:ext cx="8229600" cy="457200"/>
          </a:xfrm>
          <a:prstGeom prst="rect">
            <a:avLst/>
          </a:prstGeom>
          <a:noFill/>
          <a:ln/>
        </p:spPr>
        <p:txBody>
          <a:bodyPr wrap="square" rtlCol="0" anchor="ctr"/>
          <a:lstStyle/>
          <a:p>
            <a:pPr indent="0" marL="0">
              <a:buNone/>
            </a:pPr>
            <a:r>
              <a:rPr lang="en-US" sz="1300" b="1" dirty="0">
                <a:solidFill>
                  <a:srgbClr val="B8860B"/>
                </a:solidFill>
                <a:latin typeface="Calibri" pitchFamily="34" charset="0"/>
                <a:ea typeface="Calibri" pitchFamily="34" charset="-122"/>
                <a:cs typeface="Calibri" pitchFamily="34" charset="-120"/>
              </a:rPr>
              <a:t>OPT.7 — Long Call and Short Call</a:t>
            </a:r>
            <a:endParaRPr lang="en-US" sz="1300" dirty="0"/>
          </a:p>
        </p:txBody>
      </p:sp>
      <p:sp>
        <p:nvSpPr>
          <p:cNvPr id="11" name="Text 9"/>
          <p:cNvSpPr/>
          <p:nvPr/>
        </p:nvSpPr>
        <p:spPr>
          <a:xfrm>
            <a:off x="365760" y="1280160"/>
            <a:ext cx="8229600" cy="34747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"Long call: limited loss, unlimited gain. Short call: limited gain, unlimited loss. Given this asymmetry, why does any rational, profit-seeking entity ever sell a call option?"</a:t>
            </a:r>
            <a:endParaRPr lang="en-US" sz="2400" dirty="0"/>
          </a:p>
        </p:txBody>
      </p:sp>
      <p:sp>
        <p:nvSpPr>
          <p:cNvPr id="12" name="Shape 10"/>
          <p:cNvSpPr/>
          <p:nvPr/>
        </p:nvSpPr>
        <p:spPr>
          <a:xfrm>
            <a:off x="365760" y="4937760"/>
            <a:ext cx="8229600" cy="731520"/>
          </a:xfrm>
          <a:prstGeom prst="rect">
            <a:avLst/>
          </a:prstGeom>
          <a:solidFill>
            <a:srgbClr val="2E4A6E"/>
          </a:solidFill>
          <a:ln/>
        </p:spPr>
      </p:sp>
      <p:sp>
        <p:nvSpPr>
          <p:cNvPr id="13" name="Text 11"/>
          <p:cNvSpPr/>
          <p:nvPr/>
        </p:nvSpPr>
        <p:spPr>
          <a:xfrm>
            <a:off x="365760" y="4937760"/>
            <a:ext cx="8229600" cy="731520"/>
          </a:xfrm>
          <a:prstGeom prst="rect">
            <a:avLst/>
          </a:prstGeom>
          <a:noFill/>
          <a:ln/>
        </p:spPr>
        <p:txBody>
          <a:bodyPr wrap="square" rtlCol="0" anchor="ctr"/>
          <a:lstStyle/>
          <a:p>
            <a:pPr algn="l" indent="0" marL="0">
              <a:buNone/>
            </a:pPr>
            <a:r>
              <a:rPr lang="en-US" sz="1100" i="1" dirty="0">
                <a:solidFill>
                  <a:srgbClr val="CADCFC"/>
                </a:solidFill>
                <a:latin typeface="Calibri" pitchFamily="34" charset="0"/>
                <a:ea typeface="Calibri" pitchFamily="34" charset="-122"/>
                <a:cs typeface="Calibri" pitchFamily="34" charset="-120"/>
              </a:rPr>
              <a:t>From: OPT.7 · Video 2 — Short Call vs Long Call (EAR: COMPARE)</a:t>
            </a:r>
            <a:endParaRPr lang="en-US" sz="11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OPT.7</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005F5F"/>
          </a:solidFill>
          <a:ln/>
        </p:spPr>
      </p:sp>
      <p:sp>
        <p:nvSpPr>
          <p:cNvPr id="5" name="Shape 3"/>
          <p:cNvSpPr/>
          <p:nvPr/>
        </p:nvSpPr>
        <p:spPr>
          <a:xfrm>
            <a:off x="0" y="73152"/>
            <a:ext cx="1828800" cy="347472"/>
          </a:xfrm>
          <a:prstGeom prst="rect">
            <a:avLst/>
          </a:prstGeom>
          <a:solidFill>
            <a:srgbClr val="C0392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SCENARIO</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OPT.7</a:t>
            </a:r>
            <a:endParaRPr lang="en-US" sz="1000" dirty="0"/>
          </a:p>
        </p:txBody>
      </p:sp>
      <p:sp>
        <p:nvSpPr>
          <p:cNvPr id="9" name="Shape 7"/>
          <p:cNvSpPr/>
          <p:nvPr/>
        </p:nvSpPr>
        <p:spPr>
          <a:xfrm>
            <a:off x="0" y="420624"/>
            <a:ext cx="12192000" cy="914400"/>
          </a:xfrm>
          <a:prstGeom prst="rect">
            <a:avLst/>
          </a:prstGeom>
          <a:solidFill>
            <a:srgbClr val="1E3A5F"/>
          </a:solidFill>
          <a:ln/>
        </p:spPr>
      </p:sp>
      <p:sp>
        <p:nvSpPr>
          <p:cNvPr id="10" name="Text 8"/>
          <p:cNvSpPr/>
          <p:nvPr/>
        </p:nvSpPr>
        <p:spPr>
          <a:xfrm>
            <a:off x="365760" y="420624"/>
            <a:ext cx="11430000" cy="91440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GameStop 2021: Short Call Writers and the Meme Stock Catastrophe</a:t>
            </a:r>
            <a:endParaRPr lang="en-US" sz="1800" dirty="0"/>
          </a:p>
        </p:txBody>
      </p:sp>
      <p:sp>
        <p:nvSpPr>
          <p:cNvPr id="11" name="Text 9"/>
          <p:cNvSpPr/>
          <p:nvPr/>
        </p:nvSpPr>
        <p:spPr>
          <a:xfrm>
            <a:off x="365760" y="1463040"/>
            <a:ext cx="7498080" cy="2926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In January 2021, retail investors coordinated on Reddit to drive GameStop (GME) stock from approximately $20 to $483 in weeks.</a:t>
            </a:r>
            <a:endParaRPr lang="en-US" sz="1300" dirty="0"/>
          </a:p>
          <a:p>
            <a:pPr indent="0" marL="0">
              <a:buNone/>
            </a:pP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Institutional investors had sold massive amounts of call options on GME expecting the stock to remain depressed. As GME surged, these short call positions faced catastrophic losses — their obligation to sell at $20-30 strike while the stock was at $300-480 resulted in hundreds of millions in losses.</a:t>
            </a:r>
            <a:endParaRPr lang="en-US" sz="1300" dirty="0"/>
          </a:p>
          <a:p>
            <a:pPr indent="0" marL="0">
              <a:buNone/>
            </a:pP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One hedge fund (Melvin Capital) reported losses of approximately $6.8 billion in January 2021. The event is a real-world demonstration of the unlimited loss potential in short call writing.</a:t>
            </a:r>
            <a:endParaRPr lang="en-US" sz="1300" dirty="0"/>
          </a:p>
        </p:txBody>
      </p:sp>
      <p:sp>
        <p:nvSpPr>
          <p:cNvPr id="12" name="Shape 10"/>
          <p:cNvSpPr/>
          <p:nvPr/>
        </p:nvSpPr>
        <p:spPr>
          <a:xfrm>
            <a:off x="8046720" y="1463040"/>
            <a:ext cx="3931920" cy="2926080"/>
          </a:xfrm>
          <a:prstGeom prst="rect">
            <a:avLst/>
          </a:prstGeom>
          <a:solidFill>
            <a:srgbClr val="D5E3F0"/>
          </a:solidFill>
          <a:ln w="12700">
            <a:solidFill>
              <a:srgbClr val="1E3A5F"/>
            </a:solidFill>
            <a:prstDash val="solid"/>
          </a:ln>
        </p:spPr>
      </p:sp>
      <p:sp>
        <p:nvSpPr>
          <p:cNvPr id="13" name="Text 11"/>
          <p:cNvSpPr/>
          <p:nvPr/>
        </p:nvSpPr>
        <p:spPr>
          <a:xfrm>
            <a:off x="8046720" y="1463040"/>
            <a:ext cx="3931920" cy="2926080"/>
          </a:xfrm>
          <a:prstGeom prst="rect">
            <a:avLst/>
          </a:prstGeom>
          <a:noFill/>
          <a:ln/>
        </p:spPr>
        <p:txBody>
          <a:bodyPr wrap="square" rtlCol="0" anchor="t"/>
          <a:lstStyle/>
          <a:p>
            <a:pPr indent="0" marL="0">
              <a:buNone/>
            </a:pPr>
            <a:r>
              <a:rPr lang="en-US" sz="1200" dirty="0">
                <a:solidFill>
                  <a:srgbClr val="1E3A5F"/>
                </a:solidFill>
                <a:latin typeface="Calibri" pitchFamily="34" charset="0"/>
                <a:ea typeface="Calibri" pitchFamily="34" charset="-122"/>
                <a:cs typeface="Calibri" pitchFamily="34" charset="-120"/>
              </a:rPr>
              <a:t>GAMESTOP 2021:</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$20 → $483</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Jan 2021 peak</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Melvin Capital:</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~$6.8 Bn loss</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Short calls at $30:</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loss = $453/share</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if stock at $483</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Meme stock:</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Retail vs Institutional</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Call writers:</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catastrophic assignment</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risk</a:t>
            </a:r>
            <a:endParaRPr lang="en-US" sz="1200" dirty="0"/>
          </a:p>
        </p:txBody>
      </p:sp>
      <p:sp>
        <p:nvSpPr>
          <p:cNvPr id="14" name="Shape 12"/>
          <p:cNvSpPr/>
          <p:nvPr/>
        </p:nvSpPr>
        <p:spPr>
          <a:xfrm>
            <a:off x="0" y="4572000"/>
            <a:ext cx="12192000" cy="1188720"/>
          </a:xfrm>
          <a:prstGeom prst="rect">
            <a:avLst/>
          </a:prstGeom>
          <a:solidFill>
            <a:srgbClr val="005F5F"/>
          </a:solidFill>
          <a:ln/>
        </p:spPr>
      </p:sp>
      <p:sp>
        <p:nvSpPr>
          <p:cNvPr id="15" name="Text 13"/>
          <p:cNvSpPr/>
          <p:nvPr/>
        </p:nvSpPr>
        <p:spPr>
          <a:xfrm>
            <a:off x="365760" y="4572000"/>
            <a:ext cx="11430000" cy="118872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Melvin Capital was short GME calls when the stock went from $20 to $483. If they held calls at $30 strike and the stock went to $300, what is the loss per share? How could delta hedging have limited this loss — and what would the hedge have required operationally?</a:t>
            </a:r>
            <a:endParaRPr lang="en-US" sz="1500" dirty="0"/>
          </a:p>
        </p:txBody>
      </p:sp>
      <p:sp>
        <p:nvSpPr>
          <p:cNvPr id="16" name="Text 14"/>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OPT.7</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005F5F"/>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005F5F"/>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OPT.7</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Long Call vs Short Call: Complete Payoff Comparison</a:t>
            </a:r>
            <a:endParaRPr lang="en-US" sz="20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274320" y="1280160"/>
          <a:ext cx="11612880" cy="4206240"/>
        </p:xfrm>
        <a:graphic>
          <a:graphicData uri="http://schemas.openxmlformats.org/drawingml/2006/table">
            <a:tbl>
              <a:tblPr/>
              <a:tblGrid>
                <a:gridCol w="3870960"/>
                <a:gridCol w="3870960"/>
                <a:gridCol w="3870960"/>
              </a:tblGrid>
              <a:tr h="46736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SCENARIO (CISCO)</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LONG CALL P&amp;L</a:t>
                      </a:r>
                      <a:endParaRPr lang="en-US" sz="1100" dirty="0">
                        <a:latin typeface="Calibri" charset="0"/>
                        <a:ea typeface="Calibri" charset="0"/>
                        <a:cs typeface="Calibri" charset="0"/>
                      </a:endParaRPr>
                    </a:p>
                    <a:p>
                      <a:pPr algn="ctr" indent="0" marL="0">
                        <a:buNone/>
                      </a:pPr>
                      <a:r>
                        <a:rPr lang="en-US" sz="1100" b="1" dirty="0">
                          <a:solidFill>
                            <a:srgbClr val="FFFFFF"/>
                          </a:solidFill>
                          <a:latin typeface="Calibri" pitchFamily="34" charset="0"/>
                          <a:ea typeface="Calibri" pitchFamily="34" charset="-122"/>
                          <a:cs typeface="Calibri" pitchFamily="34" charset="-120"/>
                        </a:rPr>
                        <a:t>(Strike $50, Premium $10)</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SHORT CALL P&amp;L</a:t>
                      </a:r>
                      <a:endParaRPr lang="en-US" sz="1100" dirty="0">
                        <a:latin typeface="Calibri" charset="0"/>
                        <a:ea typeface="Calibri" charset="0"/>
                        <a:cs typeface="Calibri" charset="0"/>
                      </a:endParaRPr>
                    </a:p>
                    <a:p>
                      <a:pPr algn="ctr" indent="0" marL="0">
                        <a:buNone/>
                      </a:pPr>
                      <a:r>
                        <a:rPr lang="en-US" sz="1100" b="1" dirty="0">
                          <a:solidFill>
                            <a:srgbClr val="FFFFFF"/>
                          </a:solidFill>
                          <a:latin typeface="Calibri" pitchFamily="34" charset="0"/>
                          <a:ea typeface="Calibri" pitchFamily="34" charset="-122"/>
                          <a:cs typeface="Calibri" pitchFamily="34" charset="-120"/>
                        </a:rPr>
                        <a:t>(Strike $50, Premium $10)</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r>
              <a:tr h="46736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Stock at $30</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–$10 (premium lost)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+$10 (premium kept)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46736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Stock at $50</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–$10 (option worthless)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+$10 (option worthless)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46736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Stock at $55</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–$5 (partial recovery)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+$5 (partial)</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46736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Stock at $60 (BEP)</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$0 (breakeven)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$0 (breakeven)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46736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Stock at $70</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+$10 profit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–$10 loss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46736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Stock at $90</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+$30 profit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–$30 loss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46736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Stock at $200</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+$140 profit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–$140 loss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46736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Stock at $500</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+$440 profit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–$440 loss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bl>
          </a:graphicData>
        </a:graphic>
      </p:graphicFrame>
      <p:sp>
        <p:nvSpPr>
          <p:cNvPr id="11" name="Text 8"/>
          <p:cNvSpPr/>
          <p:nvPr/>
        </p:nvSpPr>
        <p:spPr>
          <a:xfrm>
            <a:off x="274320" y="6035040"/>
            <a:ext cx="11612880" cy="365760"/>
          </a:xfrm>
          <a:prstGeom prst="rect">
            <a:avLst/>
          </a:prstGeom>
          <a:noFill/>
          <a:ln/>
        </p:spPr>
        <p:txBody>
          <a:bodyPr wrap="square" rtlCol="0" anchor="ctr"/>
          <a:lstStyle/>
          <a:p>
            <a:pPr indent="0" marL="0">
              <a:buNone/>
            </a:pPr>
            <a:r>
              <a:rPr lang="en-US" sz="1000" dirty="0">
                <a:solidFill>
                  <a:srgbClr val="005F5F"/>
                </a:solidFill>
                <a:latin typeface="Calibri" pitchFamily="34" charset="0"/>
                <a:ea typeface="Calibri" pitchFamily="34" charset="-122"/>
                <a:cs typeface="Calibri" pitchFamily="34" charset="-120"/>
              </a:rPr>
              <a:t>These positions are mirror images. Every dollar of long call profit is exactly the short call seller's loss. Zero-sum.</a:t>
            </a:r>
            <a:endParaRPr lang="en-US" sz="1000" dirty="0"/>
          </a:p>
        </p:txBody>
      </p:sp>
      <p:sp>
        <p:nvSpPr>
          <p:cNvPr id="12" name="Text 9"/>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OPT.7</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GOING DEEPER</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OPT.7</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Four Insights on Long Call, Short Call and Delta Hedging</a:t>
            </a:r>
            <a:endParaRPr lang="en-US" sz="2000" dirty="0"/>
          </a:p>
        </p:txBody>
      </p:sp>
      <p:sp>
        <p:nvSpPr>
          <p:cNvPr id="10" name="Shape 8"/>
          <p:cNvSpPr/>
          <p:nvPr/>
        </p:nvSpPr>
        <p:spPr>
          <a:xfrm>
            <a:off x="274320" y="1280160"/>
            <a:ext cx="5669280" cy="2377440"/>
          </a:xfrm>
          <a:prstGeom prst="rect">
            <a:avLst/>
          </a:prstGeom>
          <a:solidFill>
            <a:srgbClr val="D5E3F0"/>
          </a:solidFill>
          <a:ln w="6350">
            <a:solidFill>
              <a:srgbClr val="AAAAAA"/>
            </a:solidFill>
            <a:prstDash val="solid"/>
          </a:ln>
        </p:spPr>
      </p:sp>
      <p:sp>
        <p:nvSpPr>
          <p:cNvPr id="11" name="Shape 9"/>
          <p:cNvSpPr/>
          <p:nvPr/>
        </p:nvSpPr>
        <p:spPr>
          <a:xfrm>
            <a:off x="365760" y="1371600"/>
            <a:ext cx="457200" cy="457200"/>
          </a:xfrm>
          <a:prstGeom prst="ellipse">
            <a:avLst/>
          </a:prstGeom>
          <a:solidFill>
            <a:srgbClr val="1E3A5F"/>
          </a:solidFill>
          <a:ln/>
        </p:spPr>
      </p:sp>
      <p:sp>
        <p:nvSpPr>
          <p:cNvPr id="12" name="Text 10"/>
          <p:cNvSpPr/>
          <p:nvPr/>
        </p:nvSpPr>
        <p:spPr>
          <a:xfrm>
            <a:off x="36576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91440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Delta Hedging: How Call Sellers Manage Unlimited Risk</a:t>
            </a:r>
            <a:endParaRPr lang="en-US" sz="1200" dirty="0"/>
          </a:p>
        </p:txBody>
      </p:sp>
      <p:sp>
        <p:nvSpPr>
          <p:cNvPr id="14" name="Text 12"/>
          <p:cNvSpPr/>
          <p:nvPr/>
        </p:nvSpPr>
        <p:spPr>
          <a:xfrm>
            <a:off x="41148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Professional call sellers (market makers) hedge their delta exposure by buying the underlying stock proportional to the option's delta. A short call with delta 0.5 means the seller holds 50 shares per 100 call options. As the stock rises (delta increases toward 1), they buy more shares. This continuous hedging eliminates the unlimited loss theoretically — but requires significant capital and perfect execution.</a:t>
            </a:r>
            <a:endParaRPr lang="en-US" sz="1000" dirty="0"/>
          </a:p>
        </p:txBody>
      </p:sp>
      <p:sp>
        <p:nvSpPr>
          <p:cNvPr id="15" name="Shape 13"/>
          <p:cNvSpPr/>
          <p:nvPr/>
        </p:nvSpPr>
        <p:spPr>
          <a:xfrm>
            <a:off x="6126480" y="1280160"/>
            <a:ext cx="5669280" cy="2377440"/>
          </a:xfrm>
          <a:prstGeom prst="rect">
            <a:avLst/>
          </a:prstGeom>
          <a:solidFill>
            <a:srgbClr val="D4EFEF"/>
          </a:solidFill>
          <a:ln w="6350">
            <a:solidFill>
              <a:srgbClr val="AAAAAA"/>
            </a:solidFill>
            <a:prstDash val="solid"/>
          </a:ln>
        </p:spPr>
      </p:sp>
      <p:sp>
        <p:nvSpPr>
          <p:cNvPr id="16" name="Shape 14"/>
          <p:cNvSpPr/>
          <p:nvPr/>
        </p:nvSpPr>
        <p:spPr>
          <a:xfrm>
            <a:off x="6217920" y="1371600"/>
            <a:ext cx="457200" cy="457200"/>
          </a:xfrm>
          <a:prstGeom prst="ellipse">
            <a:avLst/>
          </a:prstGeom>
          <a:solidFill>
            <a:srgbClr val="005F5F"/>
          </a:solidFill>
          <a:ln/>
        </p:spPr>
      </p:sp>
      <p:sp>
        <p:nvSpPr>
          <p:cNvPr id="17" name="Text 15"/>
          <p:cNvSpPr/>
          <p:nvPr/>
        </p:nvSpPr>
        <p:spPr>
          <a:xfrm>
            <a:off x="621792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676656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Why Option Writers Are Typically Institutions</a:t>
            </a:r>
            <a:endParaRPr lang="en-US" sz="1200" dirty="0"/>
          </a:p>
        </p:txBody>
      </p:sp>
      <p:sp>
        <p:nvSpPr>
          <p:cNvPr id="19" name="Text 17"/>
          <p:cNvSpPr/>
          <p:nvPr/>
        </p:nvSpPr>
        <p:spPr>
          <a:xfrm>
            <a:off x="626364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Naked short call writing requires substantial margin, daily monitoring, and the capacity to absorb losses during volatile periods. This is why professional option writing is predominantly institutional — market makers, hedge funds, and banks. Retail traders who sell naked calls are taking on professional-level risk without professional-level risk management infrastructure.</a:t>
            </a:r>
            <a:endParaRPr lang="en-US" sz="1000" dirty="0"/>
          </a:p>
        </p:txBody>
      </p:sp>
      <p:sp>
        <p:nvSpPr>
          <p:cNvPr id="20" name="Shape 18"/>
          <p:cNvSpPr/>
          <p:nvPr/>
        </p:nvSpPr>
        <p:spPr>
          <a:xfrm>
            <a:off x="274320" y="3840480"/>
            <a:ext cx="5669280" cy="2377440"/>
          </a:xfrm>
          <a:prstGeom prst="rect">
            <a:avLst/>
          </a:prstGeom>
          <a:solidFill>
            <a:srgbClr val="FEF9E7"/>
          </a:solidFill>
          <a:ln w="6350">
            <a:solidFill>
              <a:srgbClr val="AAAAAA"/>
            </a:solidFill>
            <a:prstDash val="solid"/>
          </a:ln>
        </p:spPr>
      </p:sp>
      <p:sp>
        <p:nvSpPr>
          <p:cNvPr id="21" name="Shape 19"/>
          <p:cNvSpPr/>
          <p:nvPr/>
        </p:nvSpPr>
        <p:spPr>
          <a:xfrm>
            <a:off x="365760" y="3931920"/>
            <a:ext cx="457200" cy="457200"/>
          </a:xfrm>
          <a:prstGeom prst="ellipse">
            <a:avLst/>
          </a:prstGeom>
          <a:solidFill>
            <a:srgbClr val="B8860B"/>
          </a:solidFill>
          <a:ln/>
        </p:spPr>
      </p:sp>
      <p:sp>
        <p:nvSpPr>
          <p:cNvPr id="22" name="Text 20"/>
          <p:cNvSpPr/>
          <p:nvPr/>
        </p:nvSpPr>
        <p:spPr>
          <a:xfrm>
            <a:off x="36576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91440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Covered Calls vs Naked Calls: The Operations Difference</a:t>
            </a:r>
            <a:endParaRPr lang="en-US" sz="1200" dirty="0"/>
          </a:p>
        </p:txBody>
      </p:sp>
      <p:sp>
        <p:nvSpPr>
          <p:cNvPr id="24" name="Text 22"/>
          <p:cNvSpPr/>
          <p:nvPr/>
        </p:nvSpPr>
        <p:spPr>
          <a:xfrm>
            <a:off x="41148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A covered call writer owns the underlying stock — if assigned, they deliver shares they already hold. Margin is lower; risk is bounded. A naked call writer does not own the underlying — if assigned, they must buy in the market at whatever price prevails. Operations must flag naked call positions separately from covered positions: different margin requirements, different assignment procedures.</a:t>
            </a:r>
            <a:endParaRPr lang="en-US" sz="1000" dirty="0"/>
          </a:p>
        </p:txBody>
      </p:sp>
      <p:sp>
        <p:nvSpPr>
          <p:cNvPr id="25" name="Shape 23"/>
          <p:cNvSpPr/>
          <p:nvPr/>
        </p:nvSpPr>
        <p:spPr>
          <a:xfrm>
            <a:off x="6126480" y="3840480"/>
            <a:ext cx="5669280" cy="2377440"/>
          </a:xfrm>
          <a:prstGeom prst="rect">
            <a:avLst/>
          </a:prstGeom>
          <a:solidFill>
            <a:srgbClr val="F3E5F5"/>
          </a:solidFill>
          <a:ln w="6350">
            <a:solidFill>
              <a:srgbClr val="AAAAAA"/>
            </a:solidFill>
            <a:prstDash val="solid"/>
          </a:ln>
        </p:spPr>
      </p:sp>
      <p:sp>
        <p:nvSpPr>
          <p:cNvPr id="26" name="Shape 24"/>
          <p:cNvSpPr/>
          <p:nvPr/>
        </p:nvSpPr>
        <p:spPr>
          <a:xfrm>
            <a:off x="6217920" y="3931920"/>
            <a:ext cx="457200" cy="457200"/>
          </a:xfrm>
          <a:prstGeom prst="ellipse">
            <a:avLst/>
          </a:prstGeom>
          <a:solidFill>
            <a:srgbClr val="1E3A5F"/>
          </a:solidFill>
          <a:ln/>
        </p:spPr>
      </p:sp>
      <p:sp>
        <p:nvSpPr>
          <p:cNvPr id="27" name="Text 25"/>
          <p:cNvSpPr/>
          <p:nvPr/>
        </p:nvSpPr>
        <p:spPr>
          <a:xfrm>
            <a:off x="621792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676656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The Short Call Break-Even Is the Long Call Buyer's Entry Point</a:t>
            </a:r>
            <a:endParaRPr lang="en-US" sz="1200" dirty="0"/>
          </a:p>
        </p:txBody>
      </p:sp>
      <p:sp>
        <p:nvSpPr>
          <p:cNvPr id="29" name="Text 27"/>
          <p:cNvSpPr/>
          <p:nvPr/>
        </p:nvSpPr>
        <p:spPr>
          <a:xfrm>
            <a:off x="626364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The breakeven price (Strike + Premium) is simultaneously where the long call buyer starts profiting AND where the short call seller starts losing. This price level is where the zero-sum wealth transfer begins. In professional options markets, this level is watched carefully — dealers who have written many calls near-breakeven face increasing risk as the market approaches that level.</a:t>
            </a:r>
            <a:endParaRPr lang="en-US" sz="1000" dirty="0"/>
          </a:p>
        </p:txBody>
      </p:sp>
      <p:sp>
        <p:nvSpPr>
          <p:cNvPr id="30" name="Text 28"/>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OPT.7</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05F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THINK &amp; DISCUSS</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OPT.7</a:t>
            </a:r>
            <a:endParaRPr lang="en-US" sz="1000" dirty="0"/>
          </a:p>
        </p:txBody>
      </p:sp>
      <p:sp>
        <p:nvSpPr>
          <p:cNvPr id="9" name="Shape 7"/>
          <p:cNvSpPr/>
          <p:nvPr/>
        </p:nvSpPr>
        <p:spPr>
          <a:xfrm>
            <a:off x="365760" y="914400"/>
            <a:ext cx="11155680" cy="3840480"/>
          </a:xfrm>
          <a:prstGeom prst="rect">
            <a:avLst/>
          </a:prstGeom>
          <a:solidFill>
            <a:srgbClr val="004444"/>
          </a:solidFill>
          <a:ln w="12700">
            <a:solidFill>
              <a:srgbClr val="B8860B"/>
            </a:solidFill>
            <a:prstDash val="solid"/>
          </a:ln>
        </p:spPr>
      </p:sp>
      <p:sp>
        <p:nvSpPr>
          <p:cNvPr id="10" name="Text 8"/>
          <p:cNvSpPr/>
          <p:nvPr/>
        </p:nvSpPr>
        <p:spPr>
          <a:xfrm>
            <a:off x="9144000" y="548640"/>
            <a:ext cx="2926080" cy="457200"/>
          </a:xfrm>
          <a:prstGeom prst="rect">
            <a:avLst/>
          </a:prstGeom>
          <a:noFill/>
          <a:ln/>
        </p:spPr>
        <p:txBody>
          <a:bodyPr wrap="square" rtlCol="0" anchor="ctr"/>
          <a:lstStyle/>
          <a:p>
            <a:pPr algn="r" indent="0" marL="0">
              <a:buNone/>
            </a:pPr>
            <a:r>
              <a:rPr lang="en-US" sz="1400" b="1" dirty="0">
                <a:solidFill>
                  <a:srgbClr val="B8860B"/>
                </a:solidFill>
                <a:latin typeface="Calibri" pitchFamily="34" charset="0"/>
                <a:ea typeface="Calibri" pitchFamily="34" charset="-122"/>
                <a:cs typeface="Calibri" pitchFamily="34" charset="-120"/>
              </a:rPr>
              <a:t>2 MINUTES</a:t>
            </a:r>
            <a:endParaRPr lang="en-US" sz="1400" dirty="0"/>
          </a:p>
        </p:txBody>
      </p:sp>
      <p:sp>
        <p:nvSpPr>
          <p:cNvPr id="11" name="Text 9"/>
          <p:cNvSpPr/>
          <p:nvPr/>
        </p:nvSpPr>
        <p:spPr>
          <a:xfrm>
            <a:off x="640080" y="1188720"/>
            <a:ext cx="10607040" cy="310896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"Walk through the P&amp;L for a long call and short call position on CISCO (Strike ₹50, Premium ₹10) at expiry prices of ₹30, ₹50, ₹55, ₹60, ₹70, ₹90. Confirm that long + short P&amp;L equals zero at every price point. What does this reveal about how options markets work?"</a:t>
            </a:r>
            <a:endParaRPr lang="en-US" sz="1800" dirty="0"/>
          </a:p>
        </p:txBody>
      </p:sp>
      <p:sp>
        <p:nvSpPr>
          <p:cNvPr id="12" name="Shape 10"/>
          <p:cNvSpPr/>
          <p:nvPr/>
        </p:nvSpPr>
        <p:spPr>
          <a:xfrm>
            <a:off x="0" y="5029200"/>
            <a:ext cx="12192000" cy="914400"/>
          </a:xfrm>
          <a:prstGeom prst="rect">
            <a:avLst/>
          </a:prstGeom>
          <a:solidFill>
            <a:srgbClr val="003333"/>
          </a:solidFill>
          <a:ln/>
        </p:spPr>
      </p:sp>
      <p:sp>
        <p:nvSpPr>
          <p:cNvPr id="13" name="Text 11"/>
          <p:cNvSpPr/>
          <p:nvPr/>
        </p:nvSpPr>
        <p:spPr>
          <a:xfrm>
            <a:off x="365760" y="5029200"/>
            <a:ext cx="11430000" cy="91440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Hint: Build the table: Long P&amp;L = max(0, S–50)–10. Short P&amp;L = 10–max(0, S–50). Sum = 0 at every price. The zero-sum relationship shows how premium simply redistributes wealth between buyer and seller.</a:t>
            </a:r>
            <a:endParaRPr lang="en-US" sz="13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OPT.7</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INTERVIEW READY</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OPT.7</a:t>
            </a:r>
            <a:endParaRPr lang="en-US" sz="1000" dirty="0"/>
          </a:p>
        </p:txBody>
      </p:sp>
      <p:sp>
        <p:nvSpPr>
          <p:cNvPr id="9" name="Shape 7"/>
          <p:cNvSpPr/>
          <p:nvPr/>
        </p:nvSpPr>
        <p:spPr>
          <a:xfrm>
            <a:off x="0" y="420624"/>
            <a:ext cx="12192000" cy="1371600"/>
          </a:xfrm>
          <a:prstGeom prst="rect">
            <a:avLst/>
          </a:prstGeom>
          <a:solidFill>
            <a:srgbClr val="1E3A5F"/>
          </a:solidFill>
          <a:ln/>
        </p:spPr>
      </p:sp>
      <p:sp>
        <p:nvSpPr>
          <p:cNvPr id="10" name="Text 8"/>
          <p:cNvSpPr/>
          <p:nvPr/>
        </p:nvSpPr>
        <p:spPr>
          <a:xfrm>
            <a:off x="365760" y="502920"/>
            <a:ext cx="11430000" cy="365760"/>
          </a:xfrm>
          <a:prstGeom prst="rect">
            <a:avLst/>
          </a:prstGeom>
          <a:noFill/>
          <a:ln/>
        </p:spPr>
        <p:txBody>
          <a:bodyPr wrap="square" rtlCol="0" anchor="ctr"/>
          <a:lstStyle/>
          <a:p>
            <a:pPr indent="0" marL="0">
              <a:buNone/>
            </a:pPr>
            <a:r>
              <a:rPr lang="en-US" sz="1200" b="1" dirty="0">
                <a:solidFill>
                  <a:srgbClr val="B8860B"/>
                </a:solidFill>
                <a:latin typeface="Calibri" pitchFamily="34" charset="0"/>
                <a:ea typeface="Calibri" pitchFamily="34" charset="-122"/>
                <a:cs typeface="Calibri" pitchFamily="34" charset="-120"/>
              </a:rPr>
              <a:t>Interview Question:</a:t>
            </a:r>
            <a:endParaRPr lang="en-US" sz="1200" dirty="0"/>
          </a:p>
        </p:txBody>
      </p:sp>
      <p:sp>
        <p:nvSpPr>
          <p:cNvPr id="11" name="Text 9"/>
          <p:cNvSpPr/>
          <p:nvPr/>
        </p:nvSpPr>
        <p:spPr>
          <a:xfrm>
            <a:off x="365760" y="914400"/>
            <a:ext cx="11430000" cy="8229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"Explain long call and short call strategies — payoff, breakeven, and when each is used."</a:t>
            </a:r>
            <a:endParaRPr lang="en-US" sz="1600" dirty="0"/>
          </a:p>
        </p:txBody>
      </p:sp>
      <p:sp>
        <p:nvSpPr>
          <p:cNvPr id="12" name="Text 10"/>
          <p:cNvSpPr/>
          <p:nvPr/>
        </p:nvSpPr>
        <p:spPr>
          <a:xfrm>
            <a:off x="365760" y="1965960"/>
            <a:ext cx="11430000" cy="365760"/>
          </a:xfrm>
          <a:prstGeom prst="rect">
            <a:avLst/>
          </a:prstGeom>
          <a:noFill/>
          <a:ln/>
        </p:spPr>
        <p:txBody>
          <a:bodyPr wrap="square" rtlCol="0" anchor="ctr"/>
          <a:lstStyle/>
          <a:p>
            <a:pPr indent="0" marL="0">
              <a:buNone/>
            </a:pPr>
            <a:r>
              <a:rPr lang="en-US" sz="1100" b="1" dirty="0">
                <a:solidFill>
                  <a:srgbClr val="005F5F"/>
                </a:solidFill>
                <a:latin typeface="Calibri" pitchFamily="34" charset="0"/>
                <a:ea typeface="Calibri" pitchFamily="34" charset="-122"/>
                <a:cs typeface="Calibri" pitchFamily="34" charset="-120"/>
              </a:rPr>
              <a:t>STRONG ANSWER FRAMEWORK  (4 points):</a:t>
            </a:r>
            <a:endParaRPr lang="en-US" sz="1100" dirty="0"/>
          </a:p>
        </p:txBody>
      </p:sp>
      <p:sp>
        <p:nvSpPr>
          <p:cNvPr id="13" name="Shape 11"/>
          <p:cNvSpPr/>
          <p:nvPr/>
        </p:nvSpPr>
        <p:spPr>
          <a:xfrm>
            <a:off x="274320" y="2423160"/>
            <a:ext cx="457200" cy="640080"/>
          </a:xfrm>
          <a:prstGeom prst="rect">
            <a:avLst/>
          </a:prstGeom>
          <a:solidFill>
            <a:srgbClr val="1E3A5F"/>
          </a:solidFill>
          <a:ln/>
        </p:spPr>
      </p:sp>
      <p:sp>
        <p:nvSpPr>
          <p:cNvPr id="14" name="Text 12"/>
          <p:cNvSpPr/>
          <p:nvPr/>
        </p:nvSpPr>
        <p:spPr>
          <a:xfrm>
            <a:off x="274320" y="24231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Shape 13"/>
          <p:cNvSpPr/>
          <p:nvPr/>
        </p:nvSpPr>
        <p:spPr>
          <a:xfrm>
            <a:off x="822960" y="2423160"/>
            <a:ext cx="11064240" cy="640080"/>
          </a:xfrm>
          <a:prstGeom prst="rect">
            <a:avLst/>
          </a:prstGeom>
          <a:solidFill>
            <a:srgbClr val="D5E3F0"/>
          </a:solidFill>
          <a:ln w="6350">
            <a:solidFill>
              <a:srgbClr val="AAAAAA"/>
            </a:solidFill>
            <a:prstDash val="solid"/>
          </a:ln>
        </p:spPr>
      </p:sp>
      <p:sp>
        <p:nvSpPr>
          <p:cNvPr id="16" name="Text 14"/>
          <p:cNvSpPr/>
          <p:nvPr/>
        </p:nvSpPr>
        <p:spPr>
          <a:xfrm>
            <a:off x="914400" y="24231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Long call (buy call): bullish strategy. Pay premium upfront. Right to buy at strike. Maximum loss = premium. Maximum gain = unlimited. Breakeven = Strike + Premium. Profitable above breakeven. Used for: leveraged bullish exposure with known downside, speculation on rising prices.</a:t>
            </a:r>
            <a:endParaRPr lang="en-US" sz="1200" dirty="0"/>
          </a:p>
        </p:txBody>
      </p:sp>
      <p:sp>
        <p:nvSpPr>
          <p:cNvPr id="17" name="Shape 15"/>
          <p:cNvSpPr/>
          <p:nvPr/>
        </p:nvSpPr>
        <p:spPr>
          <a:xfrm>
            <a:off x="274320" y="3337560"/>
            <a:ext cx="457200" cy="640080"/>
          </a:xfrm>
          <a:prstGeom prst="rect">
            <a:avLst/>
          </a:prstGeom>
          <a:solidFill>
            <a:srgbClr val="1E3A5F"/>
          </a:solidFill>
          <a:ln/>
        </p:spPr>
      </p:sp>
      <p:sp>
        <p:nvSpPr>
          <p:cNvPr id="18" name="Text 16"/>
          <p:cNvSpPr/>
          <p:nvPr/>
        </p:nvSpPr>
        <p:spPr>
          <a:xfrm>
            <a:off x="274320" y="33375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Shape 17"/>
          <p:cNvSpPr/>
          <p:nvPr/>
        </p:nvSpPr>
        <p:spPr>
          <a:xfrm>
            <a:off x="822960" y="3337560"/>
            <a:ext cx="11064240" cy="640080"/>
          </a:xfrm>
          <a:prstGeom prst="rect">
            <a:avLst/>
          </a:prstGeom>
          <a:solidFill>
            <a:srgbClr val="FFFFFF"/>
          </a:solidFill>
          <a:ln w="6350">
            <a:solidFill>
              <a:srgbClr val="AAAAAA"/>
            </a:solidFill>
            <a:prstDash val="solid"/>
          </a:ln>
        </p:spPr>
      </p:sp>
      <p:sp>
        <p:nvSpPr>
          <p:cNvPr id="20" name="Text 18"/>
          <p:cNvSpPr/>
          <p:nvPr/>
        </p:nvSpPr>
        <p:spPr>
          <a:xfrm>
            <a:off x="914400" y="33375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Short call (sell/write call): bearish or neutral strategy. Receive premium upfront. Obligation to sell at strike if exercised. Maximum gain = premium. Maximum loss = theoretically unlimited. Breakeven = Strike + Premium. Profitable when stock stays below breakeven. Used for: premium income generation, covered calls on existing stock holdings.</a:t>
            </a:r>
            <a:endParaRPr lang="en-US" sz="1200" dirty="0"/>
          </a:p>
        </p:txBody>
      </p:sp>
      <p:sp>
        <p:nvSpPr>
          <p:cNvPr id="21" name="Shape 19"/>
          <p:cNvSpPr/>
          <p:nvPr/>
        </p:nvSpPr>
        <p:spPr>
          <a:xfrm>
            <a:off x="274320" y="4251960"/>
            <a:ext cx="457200" cy="640080"/>
          </a:xfrm>
          <a:prstGeom prst="rect">
            <a:avLst/>
          </a:prstGeom>
          <a:solidFill>
            <a:srgbClr val="1E3A5F"/>
          </a:solidFill>
          <a:ln/>
        </p:spPr>
      </p:sp>
      <p:sp>
        <p:nvSpPr>
          <p:cNvPr id="22" name="Text 20"/>
          <p:cNvSpPr/>
          <p:nvPr/>
        </p:nvSpPr>
        <p:spPr>
          <a:xfrm>
            <a:off x="274320" y="42519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Shape 21"/>
          <p:cNvSpPr/>
          <p:nvPr/>
        </p:nvSpPr>
        <p:spPr>
          <a:xfrm>
            <a:off x="822960" y="4251960"/>
            <a:ext cx="11064240" cy="640080"/>
          </a:xfrm>
          <a:prstGeom prst="rect">
            <a:avLst/>
          </a:prstGeom>
          <a:solidFill>
            <a:srgbClr val="D5E3F0"/>
          </a:solidFill>
          <a:ln w="6350">
            <a:solidFill>
              <a:srgbClr val="AAAAAA"/>
            </a:solidFill>
            <a:prstDash val="solid"/>
          </a:ln>
        </p:spPr>
      </p:sp>
      <p:sp>
        <p:nvSpPr>
          <p:cNvPr id="24" name="Text 22"/>
          <p:cNvSpPr/>
          <p:nvPr/>
        </p:nvSpPr>
        <p:spPr>
          <a:xfrm>
            <a:off x="914400" y="42519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Key comparison: same breakeven, opposite sides. Long call needs price above breakeven. Short call needs price below breakeven. They are mirror images: any profit for the long is an exact loss for the short.</a:t>
            </a:r>
            <a:endParaRPr lang="en-US" sz="1200" dirty="0"/>
          </a:p>
        </p:txBody>
      </p:sp>
      <p:sp>
        <p:nvSpPr>
          <p:cNvPr id="25" name="Shape 23"/>
          <p:cNvSpPr/>
          <p:nvPr/>
        </p:nvSpPr>
        <p:spPr>
          <a:xfrm>
            <a:off x="274320" y="5166360"/>
            <a:ext cx="457200" cy="640080"/>
          </a:xfrm>
          <a:prstGeom prst="rect">
            <a:avLst/>
          </a:prstGeom>
          <a:solidFill>
            <a:srgbClr val="1E3A5F"/>
          </a:solidFill>
          <a:ln/>
        </p:spPr>
      </p:sp>
      <p:sp>
        <p:nvSpPr>
          <p:cNvPr id="26" name="Text 24"/>
          <p:cNvSpPr/>
          <p:nvPr/>
        </p:nvSpPr>
        <p:spPr>
          <a:xfrm>
            <a:off x="274320" y="51663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Shape 25"/>
          <p:cNvSpPr/>
          <p:nvPr/>
        </p:nvSpPr>
        <p:spPr>
          <a:xfrm>
            <a:off x="822960" y="5166360"/>
            <a:ext cx="11064240" cy="640080"/>
          </a:xfrm>
          <a:prstGeom prst="rect">
            <a:avLst/>
          </a:prstGeom>
          <a:solidFill>
            <a:srgbClr val="FFFFFF"/>
          </a:solidFill>
          <a:ln w="6350">
            <a:solidFill>
              <a:srgbClr val="AAAAAA"/>
            </a:solidFill>
            <a:prstDash val="solid"/>
          </a:ln>
        </p:spPr>
      </p:sp>
      <p:sp>
        <p:nvSpPr>
          <p:cNvPr id="28" name="Text 26"/>
          <p:cNvSpPr/>
          <p:nvPr/>
        </p:nvSpPr>
        <p:spPr>
          <a:xfrm>
            <a:off x="914400" y="51663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Operations: long call requires premium payment and exercise monitoring. Short call requires premium receipt, daily margin monitoring (unlimited loss = high margin), and assignment processing if exercised. Naked short calls are flagged separately from covered calls with different margin treatment.</a:t>
            </a:r>
            <a:endParaRPr lang="en-US" sz="1200" dirty="0"/>
          </a:p>
        </p:txBody>
      </p:sp>
      <p:sp>
        <p:nvSpPr>
          <p:cNvPr id="29" name="Text 27"/>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OPT.7</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3A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QUICK RECAP</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OPT.8</a:t>
            </a:r>
            <a:endParaRPr lang="en-US" sz="1000" dirty="0"/>
          </a:p>
        </p:txBody>
      </p:sp>
      <p:sp>
        <p:nvSpPr>
          <p:cNvPr id="9" name="Text 7"/>
          <p:cNvSpPr/>
          <p:nvPr/>
        </p:nvSpPr>
        <p:spPr>
          <a:xfrm>
            <a:off x="8686800" y="1097280"/>
            <a:ext cx="3200400" cy="4572000"/>
          </a:xfrm>
          <a:prstGeom prst="rect">
            <a:avLst/>
          </a:prstGeom>
          <a:noFill/>
          <a:ln/>
        </p:spPr>
        <p:txBody>
          <a:bodyPr wrap="square" rtlCol="0" anchor="ctr"/>
          <a:lstStyle/>
          <a:p>
            <a:pPr algn="ctr" indent="0" marL="0">
              <a:buNone/>
            </a:pPr>
            <a:r>
              <a:rPr lang="en-US" sz="18000" b="1" dirty="0">
                <a:solidFill>
                  <a:srgbClr val="2E4A6E"/>
                </a:solidFill>
                <a:latin typeface="Calibri" pitchFamily="34" charset="0"/>
                <a:ea typeface="Calibri" pitchFamily="34" charset="-122"/>
                <a:cs typeface="Calibri" pitchFamily="34" charset="-120"/>
              </a:rPr>
              <a:t>?</a:t>
            </a:r>
            <a:endParaRPr lang="en-US" sz="18000" dirty="0"/>
          </a:p>
        </p:txBody>
      </p:sp>
      <p:sp>
        <p:nvSpPr>
          <p:cNvPr id="10" name="Text 8"/>
          <p:cNvSpPr/>
          <p:nvPr/>
        </p:nvSpPr>
        <p:spPr>
          <a:xfrm>
            <a:off x="365760" y="548640"/>
            <a:ext cx="8229600" cy="457200"/>
          </a:xfrm>
          <a:prstGeom prst="rect">
            <a:avLst/>
          </a:prstGeom>
          <a:noFill/>
          <a:ln/>
        </p:spPr>
        <p:txBody>
          <a:bodyPr wrap="square" rtlCol="0" anchor="ctr"/>
          <a:lstStyle/>
          <a:p>
            <a:pPr indent="0" marL="0">
              <a:buNone/>
            </a:pPr>
            <a:r>
              <a:rPr lang="en-US" sz="1300" b="1" dirty="0">
                <a:solidFill>
                  <a:srgbClr val="B8860B"/>
                </a:solidFill>
                <a:latin typeface="Calibri" pitchFamily="34" charset="0"/>
                <a:ea typeface="Calibri" pitchFamily="34" charset="-122"/>
                <a:cs typeface="Calibri" pitchFamily="34" charset="-120"/>
              </a:rPr>
              <a:t>OPT.8 — Long Put and Short Put</a:t>
            </a:r>
            <a:endParaRPr lang="en-US" sz="1300" dirty="0"/>
          </a:p>
        </p:txBody>
      </p:sp>
      <p:sp>
        <p:nvSpPr>
          <p:cNvPr id="11" name="Text 9"/>
          <p:cNvSpPr/>
          <p:nvPr/>
        </p:nvSpPr>
        <p:spPr>
          <a:xfrm>
            <a:off x="365760" y="1280160"/>
            <a:ext cx="8229600" cy="34747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 fund manager's put options expired worthless for three consecutive quarters. The CFO says: These puts cost us ₹5 crore each quarter for nothing. The fund manager says: We got exactly what we paid for. Who is right?"</a:t>
            </a:r>
            <a:endParaRPr lang="en-US" sz="2400" dirty="0"/>
          </a:p>
        </p:txBody>
      </p:sp>
      <p:sp>
        <p:nvSpPr>
          <p:cNvPr id="12" name="Shape 10"/>
          <p:cNvSpPr/>
          <p:nvPr/>
        </p:nvSpPr>
        <p:spPr>
          <a:xfrm>
            <a:off x="365760" y="4937760"/>
            <a:ext cx="8229600" cy="731520"/>
          </a:xfrm>
          <a:prstGeom prst="rect">
            <a:avLst/>
          </a:prstGeom>
          <a:solidFill>
            <a:srgbClr val="2E4A6E"/>
          </a:solidFill>
          <a:ln/>
        </p:spPr>
      </p:sp>
      <p:sp>
        <p:nvSpPr>
          <p:cNvPr id="13" name="Text 11"/>
          <p:cNvSpPr/>
          <p:nvPr/>
        </p:nvSpPr>
        <p:spPr>
          <a:xfrm>
            <a:off x="365760" y="4937760"/>
            <a:ext cx="8229600" cy="731520"/>
          </a:xfrm>
          <a:prstGeom prst="rect">
            <a:avLst/>
          </a:prstGeom>
          <a:noFill/>
          <a:ln/>
        </p:spPr>
        <p:txBody>
          <a:bodyPr wrap="square" rtlCol="0" anchor="ctr"/>
          <a:lstStyle/>
          <a:p>
            <a:pPr algn="l" indent="0" marL="0">
              <a:buNone/>
            </a:pPr>
            <a:r>
              <a:rPr lang="en-US" sz="1100" i="1" dirty="0">
                <a:solidFill>
                  <a:srgbClr val="CADCFC"/>
                </a:solidFill>
                <a:latin typeface="Calibri" pitchFamily="34" charset="0"/>
                <a:ea typeface="Calibri" pitchFamily="34" charset="-122"/>
                <a:cs typeface="Calibri" pitchFamily="34" charset="-120"/>
              </a:rPr>
              <a:t>From: OPT.8 · Video 2 — Short Put vs Long Put (EAR: COMPARE)</a:t>
            </a:r>
            <a:endParaRPr lang="en-US" sz="11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OPT.8</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005F5F"/>
          </a:solidFill>
          <a:ln/>
        </p:spPr>
      </p:sp>
      <p:sp>
        <p:nvSpPr>
          <p:cNvPr id="5" name="Shape 3"/>
          <p:cNvSpPr/>
          <p:nvPr/>
        </p:nvSpPr>
        <p:spPr>
          <a:xfrm>
            <a:off x="0" y="73152"/>
            <a:ext cx="1828800" cy="347472"/>
          </a:xfrm>
          <a:prstGeom prst="rect">
            <a:avLst/>
          </a:prstGeom>
          <a:solidFill>
            <a:srgbClr val="C0392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SCENARIO</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OPT.8</a:t>
            </a:r>
            <a:endParaRPr lang="en-US" sz="1000" dirty="0"/>
          </a:p>
        </p:txBody>
      </p:sp>
      <p:sp>
        <p:nvSpPr>
          <p:cNvPr id="9" name="Shape 7"/>
          <p:cNvSpPr/>
          <p:nvPr/>
        </p:nvSpPr>
        <p:spPr>
          <a:xfrm>
            <a:off x="0" y="420624"/>
            <a:ext cx="12192000" cy="914400"/>
          </a:xfrm>
          <a:prstGeom prst="rect">
            <a:avLst/>
          </a:prstGeom>
          <a:solidFill>
            <a:srgbClr val="1E3A5F"/>
          </a:solidFill>
          <a:ln/>
        </p:spPr>
      </p:sp>
      <p:sp>
        <p:nvSpPr>
          <p:cNvPr id="10" name="Text 8"/>
          <p:cNvSpPr/>
          <p:nvPr/>
        </p:nvSpPr>
        <p:spPr>
          <a:xfrm>
            <a:off x="365760" y="420624"/>
            <a:ext cx="11430000" cy="91440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COVID March 2020: Protective Puts Saved Portfolios While Unhedged Funds Collapsed</a:t>
            </a:r>
            <a:endParaRPr lang="en-US" sz="1800" dirty="0"/>
          </a:p>
        </p:txBody>
      </p:sp>
      <p:sp>
        <p:nvSpPr>
          <p:cNvPr id="11" name="Text 9"/>
          <p:cNvSpPr/>
          <p:nvPr/>
        </p:nvSpPr>
        <p:spPr>
          <a:xfrm>
            <a:off x="365760" y="1463040"/>
            <a:ext cx="7498080" cy="2926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Between February 20 and March 23, 2020, the Nifty 50 index fell from approximately 12,000 to 7,511 — a 37% decline in 31 trading days.</a:t>
            </a:r>
            <a:endParaRPr lang="en-US" sz="1300" dirty="0"/>
          </a:p>
          <a:p>
            <a:pPr indent="0" marL="0">
              <a:buNone/>
            </a:pP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Fund managers who held Nifty put options at strikes around 10,000–11,000 (purchased as insurance when Nifty was at 12,000) generated substantial payoffs — up to ₹3,500+ per lot on Nifty puts — offsetting significant portfolio losses.</a:t>
            </a:r>
            <a:endParaRPr lang="en-US" sz="1300" dirty="0"/>
          </a:p>
          <a:p>
            <a:pPr indent="0" marL="0">
              <a:buNone/>
            </a:pP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Fund managers without hedges suffered full 37% drawdowns. Some redemption pressures forced forced selling at the worst prices. The event made portfolio insurance via options mainstream in Indian institutional fund management.</a:t>
            </a:r>
            <a:endParaRPr lang="en-US" sz="1300" dirty="0"/>
          </a:p>
        </p:txBody>
      </p:sp>
      <p:sp>
        <p:nvSpPr>
          <p:cNvPr id="12" name="Shape 10"/>
          <p:cNvSpPr/>
          <p:nvPr/>
        </p:nvSpPr>
        <p:spPr>
          <a:xfrm>
            <a:off x="8046720" y="1463040"/>
            <a:ext cx="3931920" cy="2926080"/>
          </a:xfrm>
          <a:prstGeom prst="rect">
            <a:avLst/>
          </a:prstGeom>
          <a:solidFill>
            <a:srgbClr val="D5E3F0"/>
          </a:solidFill>
          <a:ln w="12700">
            <a:solidFill>
              <a:srgbClr val="1E3A5F"/>
            </a:solidFill>
            <a:prstDash val="solid"/>
          </a:ln>
        </p:spPr>
      </p:sp>
      <p:sp>
        <p:nvSpPr>
          <p:cNvPr id="13" name="Text 11"/>
          <p:cNvSpPr/>
          <p:nvPr/>
        </p:nvSpPr>
        <p:spPr>
          <a:xfrm>
            <a:off x="8046720" y="1463040"/>
            <a:ext cx="3931920" cy="2926080"/>
          </a:xfrm>
          <a:prstGeom prst="rect">
            <a:avLst/>
          </a:prstGeom>
          <a:noFill/>
          <a:ln/>
        </p:spPr>
        <p:txBody>
          <a:bodyPr wrap="square" rtlCol="0" anchor="t"/>
          <a:lstStyle/>
          <a:p>
            <a:pPr indent="0" marL="0">
              <a:buNone/>
            </a:pPr>
            <a:r>
              <a:rPr lang="en-US" sz="1200" dirty="0">
                <a:solidFill>
                  <a:srgbClr val="1E3A5F"/>
                </a:solidFill>
                <a:latin typeface="Calibri" pitchFamily="34" charset="0"/>
                <a:ea typeface="Calibri" pitchFamily="34" charset="-122"/>
                <a:cs typeface="Calibri" pitchFamily="34" charset="-120"/>
              </a:rPr>
              <a:t>COVID CRASH 2020:</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Nifty: 12,000 → 7,511</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-37% in 31 days</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Feb 20 – Mar 23, 2020</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Put option at 11,000</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strike: payoff = 3,489</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per lot at 7,511</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Unhedged funds:</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37% drawdown</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 redemption pressure</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Hedged funds:</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protected from</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~8.3% of index level</a:t>
            </a:r>
            <a:endParaRPr lang="en-US" sz="1200" dirty="0"/>
          </a:p>
        </p:txBody>
      </p:sp>
      <p:sp>
        <p:nvSpPr>
          <p:cNvPr id="14" name="Shape 12"/>
          <p:cNvSpPr/>
          <p:nvPr/>
        </p:nvSpPr>
        <p:spPr>
          <a:xfrm>
            <a:off x="0" y="4572000"/>
            <a:ext cx="12192000" cy="1188720"/>
          </a:xfrm>
          <a:prstGeom prst="rect">
            <a:avLst/>
          </a:prstGeom>
          <a:solidFill>
            <a:srgbClr val="005F5F"/>
          </a:solidFill>
          <a:ln/>
        </p:spPr>
      </p:sp>
      <p:sp>
        <p:nvSpPr>
          <p:cNvPr id="15" name="Text 13"/>
          <p:cNvSpPr/>
          <p:nvPr/>
        </p:nvSpPr>
        <p:spPr>
          <a:xfrm>
            <a:off x="365760" y="4572000"/>
            <a:ext cx="11430000" cy="118872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 fund manager holds ₹50 crore in Nifty-tracking equity at 12,000 Nifty level. They buy Nifty put options at 11,000 strike paying ₹150 per lot (lot size 50). How many lots do they need? What is the total premium cost? And what happens to their hedged portfolio if Nifty falls to 7,500?</a:t>
            </a:r>
            <a:endParaRPr lang="en-US" sz="1500" dirty="0"/>
          </a:p>
        </p:txBody>
      </p:sp>
      <p:sp>
        <p:nvSpPr>
          <p:cNvPr id="16" name="Text 14"/>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OPT.8</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005F5F"/>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005F5F"/>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OPT.8</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Long Put vs Short Put: Complete Comparison</a:t>
            </a:r>
            <a:endParaRPr lang="en-US" sz="20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274320" y="1280160"/>
          <a:ext cx="11612880" cy="4206240"/>
        </p:xfrm>
        <a:graphic>
          <a:graphicData uri="http://schemas.openxmlformats.org/drawingml/2006/table">
            <a:tbl>
              <a:tblPr/>
              <a:tblGrid>
                <a:gridCol w="3870960"/>
                <a:gridCol w="3870960"/>
                <a:gridCol w="3870960"/>
              </a:tblGrid>
              <a:tr h="46736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DIMENSION</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LONG PUT</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SHORT PUT</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r>
              <a:tr h="46736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View</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Bearish or Hedging</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Bullish or Neutral</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46736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Premium</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Pay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Receive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46736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Right/Obligation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Right to SELL at strike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Obligation to BUY at strike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46736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Max Loss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Premium paid</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Strike – Premium (stock to zero)</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46736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Max Gain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Strike – Premium</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Premium received</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46736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Breakeven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Strike – Premium</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Strike – Premium</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46736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ITM When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Market &lt; Strike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Market &gt; Strike (seller loses)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46736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Common Use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Portfolio insurance, bearish speculation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Income generation, discounted stock purchase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bl>
          </a:graphicData>
        </a:graphic>
      </p:graphicFrame>
      <p:sp>
        <p:nvSpPr>
          <p:cNvPr id="11" name="Text 8"/>
          <p:cNvSpPr/>
          <p:nvPr/>
        </p:nvSpPr>
        <p:spPr>
          <a:xfrm>
            <a:off x="274320" y="6035040"/>
            <a:ext cx="11612880" cy="365760"/>
          </a:xfrm>
          <a:prstGeom prst="rect">
            <a:avLst/>
          </a:prstGeom>
          <a:noFill/>
          <a:ln/>
        </p:spPr>
        <p:txBody>
          <a:bodyPr wrap="square" rtlCol="0" anchor="ctr"/>
          <a:lstStyle/>
          <a:p>
            <a:pPr indent="0" marL="0">
              <a:buNone/>
            </a:pPr>
            <a:r>
              <a:rPr lang="en-US" sz="1000" dirty="0">
                <a:solidFill>
                  <a:srgbClr val="005F5F"/>
                </a:solidFill>
                <a:latin typeface="Calibri" pitchFamily="34" charset="0"/>
                <a:ea typeface="Calibri" pitchFamily="34" charset="-122"/>
                <a:cs typeface="Calibri" pitchFamily="34" charset="-120"/>
              </a:rPr>
              <a:t>Long and short puts are mirror images. The protective put (long stock + long put) is one of the most widely used institutional hedging strategies.</a:t>
            </a:r>
            <a:endParaRPr lang="en-US" sz="1000" dirty="0"/>
          </a:p>
        </p:txBody>
      </p:sp>
      <p:sp>
        <p:nvSpPr>
          <p:cNvPr id="12" name="Text 9"/>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OPT.8</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GOING DEEPER</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OPT.8</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Four Insights on Long Put, Short Put and Portfolio Hedging</a:t>
            </a:r>
            <a:endParaRPr lang="en-US" sz="2000" dirty="0"/>
          </a:p>
        </p:txBody>
      </p:sp>
      <p:sp>
        <p:nvSpPr>
          <p:cNvPr id="10" name="Shape 8"/>
          <p:cNvSpPr/>
          <p:nvPr/>
        </p:nvSpPr>
        <p:spPr>
          <a:xfrm>
            <a:off x="274320" y="1280160"/>
            <a:ext cx="5669280" cy="2377440"/>
          </a:xfrm>
          <a:prstGeom prst="rect">
            <a:avLst/>
          </a:prstGeom>
          <a:solidFill>
            <a:srgbClr val="D5E3F0"/>
          </a:solidFill>
          <a:ln w="6350">
            <a:solidFill>
              <a:srgbClr val="AAAAAA"/>
            </a:solidFill>
            <a:prstDash val="solid"/>
          </a:ln>
        </p:spPr>
      </p:sp>
      <p:sp>
        <p:nvSpPr>
          <p:cNvPr id="11" name="Shape 9"/>
          <p:cNvSpPr/>
          <p:nvPr/>
        </p:nvSpPr>
        <p:spPr>
          <a:xfrm>
            <a:off x="365760" y="1371600"/>
            <a:ext cx="457200" cy="457200"/>
          </a:xfrm>
          <a:prstGeom prst="ellipse">
            <a:avLst/>
          </a:prstGeom>
          <a:solidFill>
            <a:srgbClr val="1E3A5F"/>
          </a:solidFill>
          <a:ln/>
        </p:spPr>
      </p:sp>
      <p:sp>
        <p:nvSpPr>
          <p:cNvPr id="12" name="Text 10"/>
          <p:cNvSpPr/>
          <p:nvPr/>
        </p:nvSpPr>
        <p:spPr>
          <a:xfrm>
            <a:off x="36576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91440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The Protective Put Is Portfolio Insurance — Charge It Accordingly</a:t>
            </a:r>
            <a:endParaRPr lang="en-US" sz="1200" dirty="0"/>
          </a:p>
        </p:txBody>
      </p:sp>
      <p:sp>
        <p:nvSpPr>
          <p:cNvPr id="14" name="Text 12"/>
          <p:cNvSpPr/>
          <p:nvPr/>
        </p:nvSpPr>
        <p:spPr>
          <a:xfrm>
            <a:off x="41148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A fund manager who pays 1.5% of portfolio value per quarter for Nifty put options is spending 6% annually on insurance. If the market never crashes, this is 6% of annual returns foregone. If the market crashes 37%, the puts potentially save 20-30% of portfolio value. The insurance analogy is precise — you pay premiums regularly for protection that you hope never triggers.</a:t>
            </a:r>
            <a:endParaRPr lang="en-US" sz="1000" dirty="0"/>
          </a:p>
        </p:txBody>
      </p:sp>
      <p:sp>
        <p:nvSpPr>
          <p:cNvPr id="15" name="Shape 13"/>
          <p:cNvSpPr/>
          <p:nvPr/>
        </p:nvSpPr>
        <p:spPr>
          <a:xfrm>
            <a:off x="6126480" y="1280160"/>
            <a:ext cx="5669280" cy="2377440"/>
          </a:xfrm>
          <a:prstGeom prst="rect">
            <a:avLst/>
          </a:prstGeom>
          <a:solidFill>
            <a:srgbClr val="D4EFEF"/>
          </a:solidFill>
          <a:ln w="6350">
            <a:solidFill>
              <a:srgbClr val="AAAAAA"/>
            </a:solidFill>
            <a:prstDash val="solid"/>
          </a:ln>
        </p:spPr>
      </p:sp>
      <p:sp>
        <p:nvSpPr>
          <p:cNvPr id="16" name="Shape 14"/>
          <p:cNvSpPr/>
          <p:nvPr/>
        </p:nvSpPr>
        <p:spPr>
          <a:xfrm>
            <a:off x="6217920" y="1371600"/>
            <a:ext cx="457200" cy="457200"/>
          </a:xfrm>
          <a:prstGeom prst="ellipse">
            <a:avLst/>
          </a:prstGeom>
          <a:solidFill>
            <a:srgbClr val="005F5F"/>
          </a:solidFill>
          <a:ln/>
        </p:spPr>
      </p:sp>
      <p:sp>
        <p:nvSpPr>
          <p:cNvPr id="17" name="Text 15"/>
          <p:cNvSpPr/>
          <p:nvPr/>
        </p:nvSpPr>
        <p:spPr>
          <a:xfrm>
            <a:off x="621792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676656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Put-Call Parity: Puts and Calls Are Interchangeable</a:t>
            </a:r>
            <a:endParaRPr lang="en-US" sz="1200" dirty="0"/>
          </a:p>
        </p:txBody>
      </p:sp>
      <p:sp>
        <p:nvSpPr>
          <p:cNvPr id="19" name="Text 17"/>
          <p:cNvSpPr/>
          <p:nvPr/>
        </p:nvSpPr>
        <p:spPr>
          <a:xfrm>
            <a:off x="626364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Put-Call Parity states: C – P = S – PV(K). You can create a synthetic long put by combining a long call, short stock, and borrowing. This relationship means options dealers price puts and calls consistently — any deviation creates immediate arbitrage. For operations, put and call prices should be checked for consistency with the put-call parity relationship.</a:t>
            </a:r>
            <a:endParaRPr lang="en-US" sz="1000" dirty="0"/>
          </a:p>
        </p:txBody>
      </p:sp>
      <p:sp>
        <p:nvSpPr>
          <p:cNvPr id="20" name="Shape 18"/>
          <p:cNvSpPr/>
          <p:nvPr/>
        </p:nvSpPr>
        <p:spPr>
          <a:xfrm>
            <a:off x="274320" y="3840480"/>
            <a:ext cx="5669280" cy="2377440"/>
          </a:xfrm>
          <a:prstGeom prst="rect">
            <a:avLst/>
          </a:prstGeom>
          <a:solidFill>
            <a:srgbClr val="FEF9E7"/>
          </a:solidFill>
          <a:ln w="6350">
            <a:solidFill>
              <a:srgbClr val="AAAAAA"/>
            </a:solidFill>
            <a:prstDash val="solid"/>
          </a:ln>
        </p:spPr>
      </p:sp>
      <p:sp>
        <p:nvSpPr>
          <p:cNvPr id="21" name="Shape 19"/>
          <p:cNvSpPr/>
          <p:nvPr/>
        </p:nvSpPr>
        <p:spPr>
          <a:xfrm>
            <a:off x="365760" y="3931920"/>
            <a:ext cx="457200" cy="457200"/>
          </a:xfrm>
          <a:prstGeom prst="ellipse">
            <a:avLst/>
          </a:prstGeom>
          <a:solidFill>
            <a:srgbClr val="B8860B"/>
          </a:solidFill>
          <a:ln/>
        </p:spPr>
      </p:sp>
      <p:sp>
        <p:nvSpPr>
          <p:cNvPr id="22" name="Text 20"/>
          <p:cNvSpPr/>
          <p:nvPr/>
        </p:nvSpPr>
        <p:spPr>
          <a:xfrm>
            <a:off x="36576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91440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Cash-Secured Put Writing as a Stock Accumulation Strategy</a:t>
            </a:r>
            <a:endParaRPr lang="en-US" sz="1200" dirty="0"/>
          </a:p>
        </p:txBody>
      </p:sp>
      <p:sp>
        <p:nvSpPr>
          <p:cNvPr id="24" name="Text 22"/>
          <p:cNvSpPr/>
          <p:nvPr/>
        </p:nvSpPr>
        <p:spPr>
          <a:xfrm>
            <a:off x="41148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Sell a put on a stock you want to own. Receive premium. If the stock falls below strike, you are assigned — you buy the stock at an effective cost of Strike minus Premium received. This is often cheaper than buying at the current market price. If the stock does not fall, you keep the premium as income. Warren Buffett famously used this strategy to accumulate positions in major companies.</a:t>
            </a:r>
            <a:endParaRPr lang="en-US" sz="1000" dirty="0"/>
          </a:p>
        </p:txBody>
      </p:sp>
      <p:sp>
        <p:nvSpPr>
          <p:cNvPr id="25" name="Shape 23"/>
          <p:cNvSpPr/>
          <p:nvPr/>
        </p:nvSpPr>
        <p:spPr>
          <a:xfrm>
            <a:off x="6126480" y="3840480"/>
            <a:ext cx="5669280" cy="2377440"/>
          </a:xfrm>
          <a:prstGeom prst="rect">
            <a:avLst/>
          </a:prstGeom>
          <a:solidFill>
            <a:srgbClr val="F3E5F5"/>
          </a:solidFill>
          <a:ln w="6350">
            <a:solidFill>
              <a:srgbClr val="AAAAAA"/>
            </a:solidFill>
            <a:prstDash val="solid"/>
          </a:ln>
        </p:spPr>
      </p:sp>
      <p:sp>
        <p:nvSpPr>
          <p:cNvPr id="26" name="Shape 24"/>
          <p:cNvSpPr/>
          <p:nvPr/>
        </p:nvSpPr>
        <p:spPr>
          <a:xfrm>
            <a:off x="6217920" y="3931920"/>
            <a:ext cx="457200" cy="457200"/>
          </a:xfrm>
          <a:prstGeom prst="ellipse">
            <a:avLst/>
          </a:prstGeom>
          <a:solidFill>
            <a:srgbClr val="1E3A5F"/>
          </a:solidFill>
          <a:ln/>
        </p:spPr>
      </p:sp>
      <p:sp>
        <p:nvSpPr>
          <p:cNvPr id="27" name="Text 25"/>
          <p:cNvSpPr/>
          <p:nvPr/>
        </p:nvSpPr>
        <p:spPr>
          <a:xfrm>
            <a:off x="621792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676656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Short Put Assignment Creates Unexpected Long Stock Positions</a:t>
            </a:r>
            <a:endParaRPr lang="en-US" sz="1200" dirty="0"/>
          </a:p>
        </p:txBody>
      </p:sp>
      <p:sp>
        <p:nvSpPr>
          <p:cNvPr id="29" name="Text 27"/>
          <p:cNvSpPr/>
          <p:nvPr/>
        </p:nvSpPr>
        <p:spPr>
          <a:xfrm>
            <a:off x="626364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When a short put is exercised by the holder, the put writer is assigned — they receive shares of the underlying stock at the strike price. Operations must be prepared to process this physical share delivery (for physically-settled options) and update the position from short put to long stock in all books and records. The assignment often arrives with minimal notice.</a:t>
            </a:r>
            <a:endParaRPr lang="en-US" sz="1000" dirty="0"/>
          </a:p>
        </p:txBody>
      </p:sp>
      <p:sp>
        <p:nvSpPr>
          <p:cNvPr id="30" name="Text 28"/>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OPT.8</a:t>
            </a:r>
            <a:endParaRPr lang="en-US" sz="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05F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THINK &amp; DISCUSS</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OPT.8</a:t>
            </a:r>
            <a:endParaRPr lang="en-US" sz="1000" dirty="0"/>
          </a:p>
        </p:txBody>
      </p:sp>
      <p:sp>
        <p:nvSpPr>
          <p:cNvPr id="9" name="Shape 7"/>
          <p:cNvSpPr/>
          <p:nvPr/>
        </p:nvSpPr>
        <p:spPr>
          <a:xfrm>
            <a:off x="365760" y="914400"/>
            <a:ext cx="11155680" cy="3840480"/>
          </a:xfrm>
          <a:prstGeom prst="rect">
            <a:avLst/>
          </a:prstGeom>
          <a:solidFill>
            <a:srgbClr val="004444"/>
          </a:solidFill>
          <a:ln w="12700">
            <a:solidFill>
              <a:srgbClr val="B8860B"/>
            </a:solidFill>
            <a:prstDash val="solid"/>
          </a:ln>
        </p:spPr>
      </p:sp>
      <p:sp>
        <p:nvSpPr>
          <p:cNvPr id="10" name="Text 8"/>
          <p:cNvSpPr/>
          <p:nvPr/>
        </p:nvSpPr>
        <p:spPr>
          <a:xfrm>
            <a:off x="9144000" y="548640"/>
            <a:ext cx="2926080" cy="457200"/>
          </a:xfrm>
          <a:prstGeom prst="rect">
            <a:avLst/>
          </a:prstGeom>
          <a:noFill/>
          <a:ln/>
        </p:spPr>
        <p:txBody>
          <a:bodyPr wrap="square" rtlCol="0" anchor="ctr"/>
          <a:lstStyle/>
          <a:p>
            <a:pPr algn="r" indent="0" marL="0">
              <a:buNone/>
            </a:pPr>
            <a:r>
              <a:rPr lang="en-US" sz="1400" b="1" dirty="0">
                <a:solidFill>
                  <a:srgbClr val="B8860B"/>
                </a:solidFill>
                <a:latin typeface="Calibri" pitchFamily="34" charset="0"/>
                <a:ea typeface="Calibri" pitchFamily="34" charset="-122"/>
                <a:cs typeface="Calibri" pitchFamily="34" charset="-120"/>
              </a:rPr>
              <a:t>2 MINUTES</a:t>
            </a:r>
            <a:endParaRPr lang="en-US" sz="1400" dirty="0"/>
          </a:p>
        </p:txBody>
      </p:sp>
      <p:sp>
        <p:nvSpPr>
          <p:cNvPr id="11" name="Text 9"/>
          <p:cNvSpPr/>
          <p:nvPr/>
        </p:nvSpPr>
        <p:spPr>
          <a:xfrm>
            <a:off x="640080" y="1188720"/>
            <a:ext cx="10607040" cy="310896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 company CFO holds USD receivables worth $10 million due in 6 months. The CFO is worried the USD will weaken against the rupee. Compare two hedging strategies: (1) Buy USD put options at current spot, and (2) Enter a USD/INR forward contract. What are the trade-offs in terms of cost, certainty, and upside retention?"</a:t>
            </a:r>
            <a:endParaRPr lang="en-US" sz="1800" dirty="0"/>
          </a:p>
        </p:txBody>
      </p:sp>
      <p:sp>
        <p:nvSpPr>
          <p:cNvPr id="12" name="Shape 10"/>
          <p:cNvSpPr/>
          <p:nvPr/>
        </p:nvSpPr>
        <p:spPr>
          <a:xfrm>
            <a:off x="0" y="5029200"/>
            <a:ext cx="12192000" cy="914400"/>
          </a:xfrm>
          <a:prstGeom prst="rect">
            <a:avLst/>
          </a:prstGeom>
          <a:solidFill>
            <a:srgbClr val="003333"/>
          </a:solidFill>
          <a:ln/>
        </p:spPr>
      </p:sp>
      <p:sp>
        <p:nvSpPr>
          <p:cNvPr id="13" name="Text 11"/>
          <p:cNvSpPr/>
          <p:nvPr/>
        </p:nvSpPr>
        <p:spPr>
          <a:xfrm>
            <a:off x="365760" y="5029200"/>
            <a:ext cx="11430000" cy="91440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Hint: Forward: locks in exact rate, no premium, no upside if USD strengthens. Put: costs premium, but retains upside if USD strengthens beyond strike. The premium is the cost of keeping the upside option open.</a:t>
            </a:r>
            <a:endParaRPr lang="en-US" sz="13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OPT.8</a:t>
            </a:r>
            <a:endParaRPr lang="en-US" sz="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INTERVIEW READY</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OPT.8</a:t>
            </a:r>
            <a:endParaRPr lang="en-US" sz="1000" dirty="0"/>
          </a:p>
        </p:txBody>
      </p:sp>
      <p:sp>
        <p:nvSpPr>
          <p:cNvPr id="9" name="Shape 7"/>
          <p:cNvSpPr/>
          <p:nvPr/>
        </p:nvSpPr>
        <p:spPr>
          <a:xfrm>
            <a:off x="0" y="420624"/>
            <a:ext cx="12192000" cy="1371600"/>
          </a:xfrm>
          <a:prstGeom prst="rect">
            <a:avLst/>
          </a:prstGeom>
          <a:solidFill>
            <a:srgbClr val="1E3A5F"/>
          </a:solidFill>
          <a:ln/>
        </p:spPr>
      </p:sp>
      <p:sp>
        <p:nvSpPr>
          <p:cNvPr id="10" name="Text 8"/>
          <p:cNvSpPr/>
          <p:nvPr/>
        </p:nvSpPr>
        <p:spPr>
          <a:xfrm>
            <a:off x="365760" y="502920"/>
            <a:ext cx="11430000" cy="365760"/>
          </a:xfrm>
          <a:prstGeom prst="rect">
            <a:avLst/>
          </a:prstGeom>
          <a:noFill/>
          <a:ln/>
        </p:spPr>
        <p:txBody>
          <a:bodyPr wrap="square" rtlCol="0" anchor="ctr"/>
          <a:lstStyle/>
          <a:p>
            <a:pPr indent="0" marL="0">
              <a:buNone/>
            </a:pPr>
            <a:r>
              <a:rPr lang="en-US" sz="1200" b="1" dirty="0">
                <a:solidFill>
                  <a:srgbClr val="B8860B"/>
                </a:solidFill>
                <a:latin typeface="Calibri" pitchFamily="34" charset="0"/>
                <a:ea typeface="Calibri" pitchFamily="34" charset="-122"/>
                <a:cs typeface="Calibri" pitchFamily="34" charset="-120"/>
              </a:rPr>
              <a:t>Interview Question:</a:t>
            </a:r>
            <a:endParaRPr lang="en-US" sz="1200" dirty="0"/>
          </a:p>
        </p:txBody>
      </p:sp>
      <p:sp>
        <p:nvSpPr>
          <p:cNvPr id="11" name="Text 9"/>
          <p:cNvSpPr/>
          <p:nvPr/>
        </p:nvSpPr>
        <p:spPr>
          <a:xfrm>
            <a:off x="365760" y="914400"/>
            <a:ext cx="11430000" cy="8229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"Explain long put and short put strategies, including payoff, breakeven, and practical uses."</a:t>
            </a:r>
            <a:endParaRPr lang="en-US" sz="1600" dirty="0"/>
          </a:p>
        </p:txBody>
      </p:sp>
      <p:sp>
        <p:nvSpPr>
          <p:cNvPr id="12" name="Text 10"/>
          <p:cNvSpPr/>
          <p:nvPr/>
        </p:nvSpPr>
        <p:spPr>
          <a:xfrm>
            <a:off x="365760" y="1965960"/>
            <a:ext cx="11430000" cy="365760"/>
          </a:xfrm>
          <a:prstGeom prst="rect">
            <a:avLst/>
          </a:prstGeom>
          <a:noFill/>
          <a:ln/>
        </p:spPr>
        <p:txBody>
          <a:bodyPr wrap="square" rtlCol="0" anchor="ctr"/>
          <a:lstStyle/>
          <a:p>
            <a:pPr indent="0" marL="0">
              <a:buNone/>
            </a:pPr>
            <a:r>
              <a:rPr lang="en-US" sz="1100" b="1" dirty="0">
                <a:solidFill>
                  <a:srgbClr val="005F5F"/>
                </a:solidFill>
                <a:latin typeface="Calibri" pitchFamily="34" charset="0"/>
                <a:ea typeface="Calibri" pitchFamily="34" charset="-122"/>
                <a:cs typeface="Calibri" pitchFamily="34" charset="-120"/>
              </a:rPr>
              <a:t>STRONG ANSWER FRAMEWORK  (4 points):</a:t>
            </a:r>
            <a:endParaRPr lang="en-US" sz="1100" dirty="0"/>
          </a:p>
        </p:txBody>
      </p:sp>
      <p:sp>
        <p:nvSpPr>
          <p:cNvPr id="13" name="Shape 11"/>
          <p:cNvSpPr/>
          <p:nvPr/>
        </p:nvSpPr>
        <p:spPr>
          <a:xfrm>
            <a:off x="274320" y="2423160"/>
            <a:ext cx="457200" cy="640080"/>
          </a:xfrm>
          <a:prstGeom prst="rect">
            <a:avLst/>
          </a:prstGeom>
          <a:solidFill>
            <a:srgbClr val="1E3A5F"/>
          </a:solidFill>
          <a:ln/>
        </p:spPr>
      </p:sp>
      <p:sp>
        <p:nvSpPr>
          <p:cNvPr id="14" name="Text 12"/>
          <p:cNvSpPr/>
          <p:nvPr/>
        </p:nvSpPr>
        <p:spPr>
          <a:xfrm>
            <a:off x="274320" y="24231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Shape 13"/>
          <p:cNvSpPr/>
          <p:nvPr/>
        </p:nvSpPr>
        <p:spPr>
          <a:xfrm>
            <a:off x="822960" y="2423160"/>
            <a:ext cx="11064240" cy="640080"/>
          </a:xfrm>
          <a:prstGeom prst="rect">
            <a:avLst/>
          </a:prstGeom>
          <a:solidFill>
            <a:srgbClr val="D5E3F0"/>
          </a:solidFill>
          <a:ln w="6350">
            <a:solidFill>
              <a:srgbClr val="AAAAAA"/>
            </a:solidFill>
            <a:prstDash val="solid"/>
          </a:ln>
        </p:spPr>
      </p:sp>
      <p:sp>
        <p:nvSpPr>
          <p:cNvPr id="16" name="Text 14"/>
          <p:cNvSpPr/>
          <p:nvPr/>
        </p:nvSpPr>
        <p:spPr>
          <a:xfrm>
            <a:off x="914400" y="24231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Long put (buy put): bearish strategy or portfolio hedge. Pay premium. Right to sell at strike. Maximum loss = premium. Maximum gain = Strike – Premium (limited by stock going to zero). Breakeven = Strike – Premium. Profitable below breakeven. Used for: bearish speculation on declining prices, or protective put to hedge existing long stock position.</a:t>
            </a:r>
            <a:endParaRPr lang="en-US" sz="1200" dirty="0"/>
          </a:p>
        </p:txBody>
      </p:sp>
      <p:sp>
        <p:nvSpPr>
          <p:cNvPr id="17" name="Shape 15"/>
          <p:cNvSpPr/>
          <p:nvPr/>
        </p:nvSpPr>
        <p:spPr>
          <a:xfrm>
            <a:off x="274320" y="3337560"/>
            <a:ext cx="457200" cy="640080"/>
          </a:xfrm>
          <a:prstGeom prst="rect">
            <a:avLst/>
          </a:prstGeom>
          <a:solidFill>
            <a:srgbClr val="1E3A5F"/>
          </a:solidFill>
          <a:ln/>
        </p:spPr>
      </p:sp>
      <p:sp>
        <p:nvSpPr>
          <p:cNvPr id="18" name="Text 16"/>
          <p:cNvSpPr/>
          <p:nvPr/>
        </p:nvSpPr>
        <p:spPr>
          <a:xfrm>
            <a:off x="274320" y="33375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Shape 17"/>
          <p:cNvSpPr/>
          <p:nvPr/>
        </p:nvSpPr>
        <p:spPr>
          <a:xfrm>
            <a:off x="822960" y="3337560"/>
            <a:ext cx="11064240" cy="640080"/>
          </a:xfrm>
          <a:prstGeom prst="rect">
            <a:avLst/>
          </a:prstGeom>
          <a:solidFill>
            <a:srgbClr val="FFFFFF"/>
          </a:solidFill>
          <a:ln w="6350">
            <a:solidFill>
              <a:srgbClr val="AAAAAA"/>
            </a:solidFill>
            <a:prstDash val="solid"/>
          </a:ln>
        </p:spPr>
      </p:sp>
      <p:sp>
        <p:nvSpPr>
          <p:cNvPr id="20" name="Text 18"/>
          <p:cNvSpPr/>
          <p:nvPr/>
        </p:nvSpPr>
        <p:spPr>
          <a:xfrm>
            <a:off x="914400" y="33375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Short put (sell/write put): bullish or neutral strategy. Receive premium. Obligation to buy stock at strike if exercised. Maximum gain = premium. Maximum loss = Strike – Premium (if stock goes to zero). Breakeven = Strike – Premium. Profitable when stock stays above breakeven.</a:t>
            </a:r>
            <a:endParaRPr lang="en-US" sz="1200" dirty="0"/>
          </a:p>
        </p:txBody>
      </p:sp>
      <p:sp>
        <p:nvSpPr>
          <p:cNvPr id="21" name="Shape 19"/>
          <p:cNvSpPr/>
          <p:nvPr/>
        </p:nvSpPr>
        <p:spPr>
          <a:xfrm>
            <a:off x="274320" y="4251960"/>
            <a:ext cx="457200" cy="640080"/>
          </a:xfrm>
          <a:prstGeom prst="rect">
            <a:avLst/>
          </a:prstGeom>
          <a:solidFill>
            <a:srgbClr val="1E3A5F"/>
          </a:solidFill>
          <a:ln/>
        </p:spPr>
      </p:sp>
      <p:sp>
        <p:nvSpPr>
          <p:cNvPr id="22" name="Text 20"/>
          <p:cNvSpPr/>
          <p:nvPr/>
        </p:nvSpPr>
        <p:spPr>
          <a:xfrm>
            <a:off x="274320" y="42519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Shape 21"/>
          <p:cNvSpPr/>
          <p:nvPr/>
        </p:nvSpPr>
        <p:spPr>
          <a:xfrm>
            <a:off x="822960" y="4251960"/>
            <a:ext cx="11064240" cy="640080"/>
          </a:xfrm>
          <a:prstGeom prst="rect">
            <a:avLst/>
          </a:prstGeom>
          <a:solidFill>
            <a:srgbClr val="D5E3F0"/>
          </a:solidFill>
          <a:ln w="6350">
            <a:solidFill>
              <a:srgbClr val="AAAAAA"/>
            </a:solidFill>
            <a:prstDash val="solid"/>
          </a:ln>
        </p:spPr>
      </p:sp>
      <p:sp>
        <p:nvSpPr>
          <p:cNvPr id="24" name="Text 22"/>
          <p:cNvSpPr/>
          <p:nvPr/>
        </p:nvSpPr>
        <p:spPr>
          <a:xfrm>
            <a:off x="914400" y="42519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Key use case — protective put: combines long stock with long put. Creates a floor under portfolio value. If stock falls below strike, put payoff offsets stock loss. Cost = premium paid. This is portfolio insurance — widely used by institutional fund managers.</a:t>
            </a:r>
            <a:endParaRPr lang="en-US" sz="1200" dirty="0"/>
          </a:p>
        </p:txBody>
      </p:sp>
      <p:sp>
        <p:nvSpPr>
          <p:cNvPr id="25" name="Shape 23"/>
          <p:cNvSpPr/>
          <p:nvPr/>
        </p:nvSpPr>
        <p:spPr>
          <a:xfrm>
            <a:off x="274320" y="5166360"/>
            <a:ext cx="457200" cy="640080"/>
          </a:xfrm>
          <a:prstGeom prst="rect">
            <a:avLst/>
          </a:prstGeom>
          <a:solidFill>
            <a:srgbClr val="1E3A5F"/>
          </a:solidFill>
          <a:ln/>
        </p:spPr>
      </p:sp>
      <p:sp>
        <p:nvSpPr>
          <p:cNvPr id="26" name="Text 24"/>
          <p:cNvSpPr/>
          <p:nvPr/>
        </p:nvSpPr>
        <p:spPr>
          <a:xfrm>
            <a:off x="274320" y="51663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Shape 25"/>
          <p:cNvSpPr/>
          <p:nvPr/>
        </p:nvSpPr>
        <p:spPr>
          <a:xfrm>
            <a:off x="822960" y="5166360"/>
            <a:ext cx="11064240" cy="640080"/>
          </a:xfrm>
          <a:prstGeom prst="rect">
            <a:avLst/>
          </a:prstGeom>
          <a:solidFill>
            <a:srgbClr val="FFFFFF"/>
          </a:solidFill>
          <a:ln w="6350">
            <a:solidFill>
              <a:srgbClr val="AAAAAA"/>
            </a:solidFill>
            <a:prstDash val="solid"/>
          </a:ln>
        </p:spPr>
      </p:sp>
      <p:sp>
        <p:nvSpPr>
          <p:cNvPr id="28" name="Text 26"/>
          <p:cNvSpPr/>
          <p:nvPr/>
        </p:nvSpPr>
        <p:spPr>
          <a:xfrm>
            <a:off x="914400" y="51663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Operations: long put = premium payment, bearish exercise monitoring. Short put = premium receipt, margin monitoring, and potential stock receipt on assignment. Assignment of a short put creates a new long stock position that must be booked in all systems.</a:t>
            </a:r>
            <a:endParaRPr lang="en-US" sz="1200" dirty="0"/>
          </a:p>
        </p:txBody>
      </p:sp>
      <p:sp>
        <p:nvSpPr>
          <p:cNvPr id="29" name="Text 27"/>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OPT.8</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3A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QUICK RECAP</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OPT.9</a:t>
            </a:r>
            <a:endParaRPr lang="en-US" sz="1000" dirty="0"/>
          </a:p>
        </p:txBody>
      </p:sp>
      <p:sp>
        <p:nvSpPr>
          <p:cNvPr id="9" name="Text 7"/>
          <p:cNvSpPr/>
          <p:nvPr/>
        </p:nvSpPr>
        <p:spPr>
          <a:xfrm>
            <a:off x="8686800" y="1097280"/>
            <a:ext cx="3200400" cy="4572000"/>
          </a:xfrm>
          <a:prstGeom prst="rect">
            <a:avLst/>
          </a:prstGeom>
          <a:noFill/>
          <a:ln/>
        </p:spPr>
        <p:txBody>
          <a:bodyPr wrap="square" rtlCol="0" anchor="ctr"/>
          <a:lstStyle/>
          <a:p>
            <a:pPr algn="ctr" indent="0" marL="0">
              <a:buNone/>
            </a:pPr>
            <a:r>
              <a:rPr lang="en-US" sz="18000" b="1" dirty="0">
                <a:solidFill>
                  <a:srgbClr val="2E4A6E"/>
                </a:solidFill>
                <a:latin typeface="Calibri" pitchFamily="34" charset="0"/>
                <a:ea typeface="Calibri" pitchFamily="34" charset="-122"/>
                <a:cs typeface="Calibri" pitchFamily="34" charset="-120"/>
              </a:rPr>
              <a:t>?</a:t>
            </a:r>
            <a:endParaRPr lang="en-US" sz="18000" dirty="0"/>
          </a:p>
        </p:txBody>
      </p:sp>
      <p:sp>
        <p:nvSpPr>
          <p:cNvPr id="10" name="Text 8"/>
          <p:cNvSpPr/>
          <p:nvPr/>
        </p:nvSpPr>
        <p:spPr>
          <a:xfrm>
            <a:off x="365760" y="548640"/>
            <a:ext cx="8229600" cy="457200"/>
          </a:xfrm>
          <a:prstGeom prst="rect">
            <a:avLst/>
          </a:prstGeom>
          <a:noFill/>
          <a:ln/>
        </p:spPr>
        <p:txBody>
          <a:bodyPr wrap="square" rtlCol="0" anchor="ctr"/>
          <a:lstStyle/>
          <a:p>
            <a:pPr indent="0" marL="0">
              <a:buNone/>
            </a:pPr>
            <a:r>
              <a:rPr lang="en-US" sz="1300" b="1" dirty="0">
                <a:solidFill>
                  <a:srgbClr val="B8860B"/>
                </a:solidFill>
                <a:latin typeface="Calibri" pitchFamily="34" charset="0"/>
                <a:ea typeface="Calibri" pitchFamily="34" charset="-122"/>
                <a:cs typeface="Calibri" pitchFamily="34" charset="-120"/>
              </a:rPr>
              <a:t>OPT.9 — ITM, ATM and OTM</a:t>
            </a:r>
            <a:endParaRPr lang="en-US" sz="1300" dirty="0"/>
          </a:p>
        </p:txBody>
      </p:sp>
      <p:sp>
        <p:nvSpPr>
          <p:cNvPr id="11" name="Text 9"/>
          <p:cNvSpPr/>
          <p:nvPr/>
        </p:nvSpPr>
        <p:spPr>
          <a:xfrm>
            <a:off x="365760" y="1280160"/>
            <a:ext cx="8229600" cy="34747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"Three Nifty calls expire today. Strike 19,000 (market 19,500). Strike 19,500 (market 19,500). Strike 20,000 (market 19,500). Without calculating — which one is ITM, which is ATM, and which is OTM? And which one will the clearing house automatically exercise?"</a:t>
            </a:r>
            <a:endParaRPr lang="en-US" sz="2400" dirty="0"/>
          </a:p>
        </p:txBody>
      </p:sp>
      <p:sp>
        <p:nvSpPr>
          <p:cNvPr id="12" name="Shape 10"/>
          <p:cNvSpPr/>
          <p:nvPr/>
        </p:nvSpPr>
        <p:spPr>
          <a:xfrm>
            <a:off x="365760" y="4937760"/>
            <a:ext cx="8229600" cy="731520"/>
          </a:xfrm>
          <a:prstGeom prst="rect">
            <a:avLst/>
          </a:prstGeom>
          <a:solidFill>
            <a:srgbClr val="2E4A6E"/>
          </a:solidFill>
          <a:ln/>
        </p:spPr>
      </p:sp>
      <p:sp>
        <p:nvSpPr>
          <p:cNvPr id="13" name="Text 11"/>
          <p:cNvSpPr/>
          <p:nvPr/>
        </p:nvSpPr>
        <p:spPr>
          <a:xfrm>
            <a:off x="365760" y="4937760"/>
            <a:ext cx="8229600" cy="731520"/>
          </a:xfrm>
          <a:prstGeom prst="rect">
            <a:avLst/>
          </a:prstGeom>
          <a:noFill/>
          <a:ln/>
        </p:spPr>
        <p:txBody>
          <a:bodyPr wrap="square" rtlCol="0" anchor="ctr"/>
          <a:lstStyle/>
          <a:p>
            <a:pPr algn="l" indent="0" marL="0">
              <a:buNone/>
            </a:pPr>
            <a:r>
              <a:rPr lang="en-US" sz="1100" i="1" dirty="0">
                <a:solidFill>
                  <a:srgbClr val="CADCFC"/>
                </a:solidFill>
                <a:latin typeface="Calibri" pitchFamily="34" charset="0"/>
                <a:ea typeface="Calibri" pitchFamily="34" charset="-122"/>
                <a:cs typeface="Calibri" pitchFamily="34" charset="-120"/>
              </a:rPr>
              <a:t>From: OPT.9 · Video 2 — Moneyness and Premium Classification (EAR: CLASSIFY)</a:t>
            </a:r>
            <a:endParaRPr lang="en-US" sz="11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OPT.9</a:t>
            </a:r>
            <a:endParaRPr lang="en-US" sz="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005F5F"/>
          </a:solidFill>
          <a:ln/>
        </p:spPr>
      </p:sp>
      <p:sp>
        <p:nvSpPr>
          <p:cNvPr id="5" name="Shape 3"/>
          <p:cNvSpPr/>
          <p:nvPr/>
        </p:nvSpPr>
        <p:spPr>
          <a:xfrm>
            <a:off x="0" y="73152"/>
            <a:ext cx="1828800" cy="347472"/>
          </a:xfrm>
          <a:prstGeom prst="rect">
            <a:avLst/>
          </a:prstGeom>
          <a:solidFill>
            <a:srgbClr val="C0392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SCENARIO</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OPT.9</a:t>
            </a:r>
            <a:endParaRPr lang="en-US" sz="1000" dirty="0"/>
          </a:p>
        </p:txBody>
      </p:sp>
      <p:sp>
        <p:nvSpPr>
          <p:cNvPr id="9" name="Shape 7"/>
          <p:cNvSpPr/>
          <p:nvPr/>
        </p:nvSpPr>
        <p:spPr>
          <a:xfrm>
            <a:off x="0" y="420624"/>
            <a:ext cx="12192000" cy="914400"/>
          </a:xfrm>
          <a:prstGeom prst="rect">
            <a:avLst/>
          </a:prstGeom>
          <a:solidFill>
            <a:srgbClr val="1E3A5F"/>
          </a:solidFill>
          <a:ln/>
        </p:spPr>
      </p:sp>
      <p:sp>
        <p:nvSpPr>
          <p:cNvPr id="10" name="Text 8"/>
          <p:cNvSpPr/>
          <p:nvPr/>
        </p:nvSpPr>
        <p:spPr>
          <a:xfrm>
            <a:off x="365760" y="420624"/>
            <a:ext cx="11430000" cy="91440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NSE Expiry Thursday: The Gamma Trap Near ATM Strikes</a:t>
            </a:r>
            <a:endParaRPr lang="en-US" sz="1800" dirty="0"/>
          </a:p>
        </p:txBody>
      </p:sp>
      <p:sp>
        <p:nvSpPr>
          <p:cNvPr id="11" name="Text 9"/>
          <p:cNvSpPr/>
          <p:nvPr/>
        </p:nvSpPr>
        <p:spPr>
          <a:xfrm>
            <a:off x="365760" y="1463040"/>
            <a:ext cx="7498080" cy="2926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On NSE expiry Thursdays, options that are close to ATM — within 0.5% of the current market price — experience what traders call gamma explosion. Their delta (sensitivity to price moves) approaches 1 rapidly as expiry nears.</a:t>
            </a:r>
            <a:endParaRPr lang="en-US" sz="1300" dirty="0"/>
          </a:p>
          <a:p>
            <a:pPr indent="0" marL="0">
              <a:buNone/>
            </a:pP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In practical terms: a ₹1 option (deep OTM at 9 AM) can trade at ₹100 by 3 PM if the market moves 1.5% in the option's favour.</a:t>
            </a:r>
            <a:endParaRPr lang="en-US" sz="1300" dirty="0"/>
          </a:p>
          <a:p>
            <a:pPr indent="0" marL="0">
              <a:buNone/>
            </a:pP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For operations teams, this creates challenges: a book of options showing zero intrinsic value in the morning can generate millions in payoff by market close. Daily MTM calculations must be updated in near-real-time on expiry days.</a:t>
            </a:r>
            <a:endParaRPr lang="en-US" sz="1300" dirty="0"/>
          </a:p>
        </p:txBody>
      </p:sp>
      <p:sp>
        <p:nvSpPr>
          <p:cNvPr id="12" name="Shape 10"/>
          <p:cNvSpPr/>
          <p:nvPr/>
        </p:nvSpPr>
        <p:spPr>
          <a:xfrm>
            <a:off x="8046720" y="1463040"/>
            <a:ext cx="3931920" cy="2926080"/>
          </a:xfrm>
          <a:prstGeom prst="rect">
            <a:avLst/>
          </a:prstGeom>
          <a:solidFill>
            <a:srgbClr val="D5E3F0"/>
          </a:solidFill>
          <a:ln w="12700">
            <a:solidFill>
              <a:srgbClr val="1E3A5F"/>
            </a:solidFill>
            <a:prstDash val="solid"/>
          </a:ln>
        </p:spPr>
      </p:sp>
      <p:sp>
        <p:nvSpPr>
          <p:cNvPr id="13" name="Text 11"/>
          <p:cNvSpPr/>
          <p:nvPr/>
        </p:nvSpPr>
        <p:spPr>
          <a:xfrm>
            <a:off x="8046720" y="1463040"/>
            <a:ext cx="3931920" cy="2926080"/>
          </a:xfrm>
          <a:prstGeom prst="rect">
            <a:avLst/>
          </a:prstGeom>
          <a:noFill/>
          <a:ln/>
        </p:spPr>
        <p:txBody>
          <a:bodyPr wrap="square" rtlCol="0" anchor="t"/>
          <a:lstStyle/>
          <a:p>
            <a:pPr indent="0" marL="0">
              <a:buNone/>
            </a:pPr>
            <a:r>
              <a:rPr lang="en-US" sz="1200" dirty="0">
                <a:solidFill>
                  <a:srgbClr val="1E3A5F"/>
                </a:solidFill>
                <a:latin typeface="Calibri" pitchFamily="34" charset="0"/>
                <a:ea typeface="Calibri" pitchFamily="34" charset="-122"/>
                <a:cs typeface="Calibri" pitchFamily="34" charset="-120"/>
              </a:rPr>
              <a:t>NSE EXPIRY THURSDAY:</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Morning: OTM options</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at ₹1-5 premium</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Afternoon rally:</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same options → ₹100+</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30x+ moves possible</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Operations deadline:</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3:30 PM market close</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Auto-exercise:</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ITM options at expiry</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Lapse confirmation:</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OTM options</a:t>
            </a:r>
            <a:endParaRPr lang="en-US" sz="1200" dirty="0"/>
          </a:p>
        </p:txBody>
      </p:sp>
      <p:sp>
        <p:nvSpPr>
          <p:cNvPr id="14" name="Shape 12"/>
          <p:cNvSpPr/>
          <p:nvPr/>
        </p:nvSpPr>
        <p:spPr>
          <a:xfrm>
            <a:off x="0" y="4572000"/>
            <a:ext cx="12192000" cy="1188720"/>
          </a:xfrm>
          <a:prstGeom prst="rect">
            <a:avLst/>
          </a:prstGeom>
          <a:solidFill>
            <a:srgbClr val="005F5F"/>
          </a:solidFill>
          <a:ln/>
        </p:spPr>
      </p:sp>
      <p:sp>
        <p:nvSpPr>
          <p:cNvPr id="15" name="Text 13"/>
          <p:cNvSpPr/>
          <p:nvPr/>
        </p:nvSpPr>
        <p:spPr>
          <a:xfrm>
            <a:off x="365760" y="4572000"/>
            <a:ext cx="11430000" cy="118872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Your options operations desk holds 5,000 Nifty call options at 19,600 strike at 9 AM on expiry Thursday. Nifty is at 19,450 (OTM). By 3 PM, Nifty has rallied to 19,700. Walk through: (1) status at 9 AM, (2) status at 3 PM, (3) what operations must do before 3:30 PM close.</a:t>
            </a:r>
            <a:endParaRPr lang="en-US" sz="1500" dirty="0"/>
          </a:p>
        </p:txBody>
      </p:sp>
      <p:sp>
        <p:nvSpPr>
          <p:cNvPr id="16" name="Text 14"/>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OPT.9</a:t>
            </a:r>
            <a:endParaRPr lang="en-US" sz="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005F5F"/>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005F5F"/>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OPT.9</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ITM, ATM, OTM: Status, Exercise, and Premium Structure</a:t>
            </a:r>
            <a:endParaRPr lang="en-US" sz="20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274320" y="1280160"/>
          <a:ext cx="11612880" cy="4206240"/>
        </p:xfrm>
        <a:graphic>
          <a:graphicData uri="http://schemas.openxmlformats.org/drawingml/2006/table">
            <a:tbl>
              <a:tblPr/>
              <a:tblGrid>
                <a:gridCol w="1935480"/>
                <a:gridCol w="1935480"/>
                <a:gridCol w="1935480"/>
                <a:gridCol w="1935480"/>
                <a:gridCol w="1935480"/>
                <a:gridCol w="1935480"/>
              </a:tblGrid>
              <a:tr h="70104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CALL (Strike vs Market)</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PUT (Strike vs Market)</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INTRINSIC VALUE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EXERCISE DECISION</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PREMIUM STRUCTURE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r>
              <a:tr h="70104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Deep ITM</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Market &gt;&gt; Strike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Market &lt;&lt; Strike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High (Market–Strike)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Exercise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Mostly intrinsic, little time value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70104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Slightly ITM</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Market &gt; Strike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Market &lt; Strike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Moderate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Exercise (check cost)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Mix of intrinsic and time value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70104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ATM</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Market = Strike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Market = Strike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Zero</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Knife-edge — costs matter</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Maximum time value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70104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Slightly OTM</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Market &lt; Strike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Market &gt; Strike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Zero</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Do not exercise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Mostly time value (decaying fast)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70104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Deep OTM</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Market &lt;&lt; Strike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Market &gt;&gt; Strike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Zero</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Let lapse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Almost all time value (very low)</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bl>
          </a:graphicData>
        </a:graphic>
      </p:graphicFrame>
      <p:sp>
        <p:nvSpPr>
          <p:cNvPr id="11" name="Text 8"/>
          <p:cNvSpPr/>
          <p:nvPr/>
        </p:nvSpPr>
        <p:spPr>
          <a:xfrm>
            <a:off x="274320" y="6035040"/>
            <a:ext cx="11612880" cy="365760"/>
          </a:xfrm>
          <a:prstGeom prst="rect">
            <a:avLst/>
          </a:prstGeom>
          <a:noFill/>
          <a:ln/>
        </p:spPr>
        <p:txBody>
          <a:bodyPr wrap="square" rtlCol="0" anchor="ctr"/>
          <a:lstStyle/>
          <a:p>
            <a:pPr indent="0" marL="0">
              <a:buNone/>
            </a:pPr>
            <a:r>
              <a:rPr lang="en-US" sz="1000" dirty="0">
                <a:solidFill>
                  <a:srgbClr val="005F5F"/>
                </a:solidFill>
                <a:latin typeface="Calibri" pitchFamily="34" charset="0"/>
                <a:ea typeface="Calibri" pitchFamily="34" charset="-122"/>
                <a:cs typeface="Calibri" pitchFamily="34" charset="-120"/>
              </a:rPr>
              <a:t>Automatic exercise applies to ITM options at expiry. OTM options lapse automatically. ATM options near expiry require judgment.</a:t>
            </a:r>
            <a:endParaRPr lang="en-US" sz="1000" dirty="0"/>
          </a:p>
        </p:txBody>
      </p:sp>
      <p:sp>
        <p:nvSpPr>
          <p:cNvPr id="12" name="Text 9"/>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OPT.9</a:t>
            </a:r>
            <a:endParaRPr lang="en-US" sz="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GOING DEEPER</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OPT.9</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Four Insights on Moneyness and Expiry Day Operations</a:t>
            </a:r>
            <a:endParaRPr lang="en-US" sz="2000" dirty="0"/>
          </a:p>
        </p:txBody>
      </p:sp>
      <p:sp>
        <p:nvSpPr>
          <p:cNvPr id="10" name="Shape 8"/>
          <p:cNvSpPr/>
          <p:nvPr/>
        </p:nvSpPr>
        <p:spPr>
          <a:xfrm>
            <a:off x="274320" y="1280160"/>
            <a:ext cx="5669280" cy="2377440"/>
          </a:xfrm>
          <a:prstGeom prst="rect">
            <a:avLst/>
          </a:prstGeom>
          <a:solidFill>
            <a:srgbClr val="D5E3F0"/>
          </a:solidFill>
          <a:ln w="6350">
            <a:solidFill>
              <a:srgbClr val="AAAAAA"/>
            </a:solidFill>
            <a:prstDash val="solid"/>
          </a:ln>
        </p:spPr>
      </p:sp>
      <p:sp>
        <p:nvSpPr>
          <p:cNvPr id="11" name="Shape 9"/>
          <p:cNvSpPr/>
          <p:nvPr/>
        </p:nvSpPr>
        <p:spPr>
          <a:xfrm>
            <a:off x="365760" y="1371600"/>
            <a:ext cx="457200" cy="457200"/>
          </a:xfrm>
          <a:prstGeom prst="ellipse">
            <a:avLst/>
          </a:prstGeom>
          <a:solidFill>
            <a:srgbClr val="1E3A5F"/>
          </a:solidFill>
          <a:ln/>
        </p:spPr>
      </p:sp>
      <p:sp>
        <p:nvSpPr>
          <p:cNvPr id="12" name="Text 10"/>
          <p:cNvSpPr/>
          <p:nvPr/>
        </p:nvSpPr>
        <p:spPr>
          <a:xfrm>
            <a:off x="36576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91440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Gamma Explodes Near ATM on Expiry Day</a:t>
            </a:r>
            <a:endParaRPr lang="en-US" sz="1200" dirty="0"/>
          </a:p>
        </p:txBody>
      </p:sp>
      <p:sp>
        <p:nvSpPr>
          <p:cNvPr id="14" name="Text 12"/>
          <p:cNvSpPr/>
          <p:nvPr/>
        </p:nvSpPr>
        <p:spPr>
          <a:xfrm>
            <a:off x="41148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Gamma measures how quickly delta changes as the price moves. Near expiry, ATM options have extreme gamma — a 1% price move can take an option from 0% probability of being ITM to 100% in minutes. This is why expiry Thursdays are volatile: small moves create massive P&amp;L swings for options books with large ATM open interest.</a:t>
            </a:r>
            <a:endParaRPr lang="en-US" sz="1000" dirty="0"/>
          </a:p>
        </p:txBody>
      </p:sp>
      <p:sp>
        <p:nvSpPr>
          <p:cNvPr id="15" name="Shape 13"/>
          <p:cNvSpPr/>
          <p:nvPr/>
        </p:nvSpPr>
        <p:spPr>
          <a:xfrm>
            <a:off x="6126480" y="1280160"/>
            <a:ext cx="5669280" cy="2377440"/>
          </a:xfrm>
          <a:prstGeom prst="rect">
            <a:avLst/>
          </a:prstGeom>
          <a:solidFill>
            <a:srgbClr val="D4EFEF"/>
          </a:solidFill>
          <a:ln w="6350">
            <a:solidFill>
              <a:srgbClr val="AAAAAA"/>
            </a:solidFill>
            <a:prstDash val="solid"/>
          </a:ln>
        </p:spPr>
      </p:sp>
      <p:sp>
        <p:nvSpPr>
          <p:cNvPr id="16" name="Shape 14"/>
          <p:cNvSpPr/>
          <p:nvPr/>
        </p:nvSpPr>
        <p:spPr>
          <a:xfrm>
            <a:off x="6217920" y="1371600"/>
            <a:ext cx="457200" cy="457200"/>
          </a:xfrm>
          <a:prstGeom prst="ellipse">
            <a:avLst/>
          </a:prstGeom>
          <a:solidFill>
            <a:srgbClr val="005F5F"/>
          </a:solidFill>
          <a:ln/>
        </p:spPr>
      </p:sp>
      <p:sp>
        <p:nvSpPr>
          <p:cNvPr id="17" name="Text 15"/>
          <p:cNvSpPr/>
          <p:nvPr/>
        </p:nvSpPr>
        <p:spPr>
          <a:xfrm>
            <a:off x="621792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676656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Automatic Exercise: Protection and Its Override</a:t>
            </a:r>
            <a:endParaRPr lang="en-US" sz="1200" dirty="0"/>
          </a:p>
        </p:txBody>
      </p:sp>
      <p:sp>
        <p:nvSpPr>
          <p:cNvPr id="19" name="Text 17"/>
          <p:cNvSpPr/>
          <p:nvPr/>
        </p:nvSpPr>
        <p:spPr>
          <a:xfrm>
            <a:off x="626364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NSE's clearing corporation automatically exercises all options that are ITM by even a single rupee at expiry. This protects holders from accidentally letting valuable options lapse through inattention. However, holders can file an opt-out of automatic exercise instruction — used when transaction costs exceed the intrinsic value. Operations must process these opt-out instructions before the exercise deadline.</a:t>
            </a:r>
            <a:endParaRPr lang="en-US" sz="1000" dirty="0"/>
          </a:p>
        </p:txBody>
      </p:sp>
      <p:sp>
        <p:nvSpPr>
          <p:cNvPr id="20" name="Shape 18"/>
          <p:cNvSpPr/>
          <p:nvPr/>
        </p:nvSpPr>
        <p:spPr>
          <a:xfrm>
            <a:off x="274320" y="3840480"/>
            <a:ext cx="5669280" cy="2377440"/>
          </a:xfrm>
          <a:prstGeom prst="rect">
            <a:avLst/>
          </a:prstGeom>
          <a:solidFill>
            <a:srgbClr val="FEF9E7"/>
          </a:solidFill>
          <a:ln w="6350">
            <a:solidFill>
              <a:srgbClr val="AAAAAA"/>
            </a:solidFill>
            <a:prstDash val="solid"/>
          </a:ln>
        </p:spPr>
      </p:sp>
      <p:sp>
        <p:nvSpPr>
          <p:cNvPr id="21" name="Shape 19"/>
          <p:cNvSpPr/>
          <p:nvPr/>
        </p:nvSpPr>
        <p:spPr>
          <a:xfrm>
            <a:off x="365760" y="3931920"/>
            <a:ext cx="457200" cy="457200"/>
          </a:xfrm>
          <a:prstGeom prst="ellipse">
            <a:avLst/>
          </a:prstGeom>
          <a:solidFill>
            <a:srgbClr val="B8860B"/>
          </a:solidFill>
          <a:ln/>
        </p:spPr>
      </p:sp>
      <p:sp>
        <p:nvSpPr>
          <p:cNvPr id="22" name="Text 20"/>
          <p:cNvSpPr/>
          <p:nvPr/>
        </p:nvSpPr>
        <p:spPr>
          <a:xfrm>
            <a:off x="36576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91440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OTM Premium Is 100% Time Value — And It Disappears at Expiry</a:t>
            </a:r>
            <a:endParaRPr lang="en-US" sz="1200" dirty="0"/>
          </a:p>
        </p:txBody>
      </p:sp>
      <p:sp>
        <p:nvSpPr>
          <p:cNvPr id="24" name="Text 22"/>
          <p:cNvSpPr/>
          <p:nvPr/>
        </p:nvSpPr>
        <p:spPr>
          <a:xfrm>
            <a:off x="41148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A deep OTM option's premium consists entirely of time value. At expiry, time value goes to zero. The option is worthless. A trader who paid ₹10 for a deep OTM option and holds it to expiry loses 100% of the ₹10. This is why experienced option buyers either close positions before expiry or accept the 100% loss on deep OTM holdings without emotion — it is an expected outcome of the strategy.</a:t>
            </a:r>
            <a:endParaRPr lang="en-US" sz="1000" dirty="0"/>
          </a:p>
        </p:txBody>
      </p:sp>
      <p:sp>
        <p:nvSpPr>
          <p:cNvPr id="25" name="Shape 23"/>
          <p:cNvSpPr/>
          <p:nvPr/>
        </p:nvSpPr>
        <p:spPr>
          <a:xfrm>
            <a:off x="6126480" y="3840480"/>
            <a:ext cx="5669280" cy="2377440"/>
          </a:xfrm>
          <a:prstGeom prst="rect">
            <a:avLst/>
          </a:prstGeom>
          <a:solidFill>
            <a:srgbClr val="F3E5F5"/>
          </a:solidFill>
          <a:ln w="6350">
            <a:solidFill>
              <a:srgbClr val="AAAAAA"/>
            </a:solidFill>
            <a:prstDash val="solid"/>
          </a:ln>
        </p:spPr>
      </p:sp>
      <p:sp>
        <p:nvSpPr>
          <p:cNvPr id="26" name="Shape 24"/>
          <p:cNvSpPr/>
          <p:nvPr/>
        </p:nvSpPr>
        <p:spPr>
          <a:xfrm>
            <a:off x="6217920" y="3931920"/>
            <a:ext cx="457200" cy="457200"/>
          </a:xfrm>
          <a:prstGeom prst="ellipse">
            <a:avLst/>
          </a:prstGeom>
          <a:solidFill>
            <a:srgbClr val="1E3A5F"/>
          </a:solidFill>
          <a:ln/>
        </p:spPr>
      </p:sp>
      <p:sp>
        <p:nvSpPr>
          <p:cNvPr id="27" name="Text 25"/>
          <p:cNvSpPr/>
          <p:nvPr/>
        </p:nvSpPr>
        <p:spPr>
          <a:xfrm>
            <a:off x="621792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676656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Moneyness Changes Daily — Operations Must Reclassify</a:t>
            </a:r>
            <a:endParaRPr lang="en-US" sz="1200" dirty="0"/>
          </a:p>
        </p:txBody>
      </p:sp>
      <p:sp>
        <p:nvSpPr>
          <p:cNvPr id="29" name="Text 27"/>
          <p:cNvSpPr/>
          <p:nvPr/>
        </p:nvSpPr>
        <p:spPr>
          <a:xfrm>
            <a:off x="626364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An option that is OTM today may be ATM tomorrow and ITM next week. Operations systems must reclassify every option's moneyness status daily using the current market price versus the strike. This reclassification triggers different monitoring workflows (increasing attention as options move toward ATM) and informs exercise decisions as expiry approaches.</a:t>
            </a:r>
            <a:endParaRPr lang="en-US" sz="1000" dirty="0"/>
          </a:p>
        </p:txBody>
      </p:sp>
      <p:sp>
        <p:nvSpPr>
          <p:cNvPr id="30" name="Text 28"/>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OPT.9</a:t>
            </a:r>
            <a:endParaRPr lang="en-US" sz="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05F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THINK &amp; DISCUSS</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OPT.9</a:t>
            </a:r>
            <a:endParaRPr lang="en-US" sz="1000" dirty="0"/>
          </a:p>
        </p:txBody>
      </p:sp>
      <p:sp>
        <p:nvSpPr>
          <p:cNvPr id="9" name="Shape 7"/>
          <p:cNvSpPr/>
          <p:nvPr/>
        </p:nvSpPr>
        <p:spPr>
          <a:xfrm>
            <a:off x="365760" y="914400"/>
            <a:ext cx="11155680" cy="3840480"/>
          </a:xfrm>
          <a:prstGeom prst="rect">
            <a:avLst/>
          </a:prstGeom>
          <a:solidFill>
            <a:srgbClr val="004444"/>
          </a:solidFill>
          <a:ln w="12700">
            <a:solidFill>
              <a:srgbClr val="B8860B"/>
            </a:solidFill>
            <a:prstDash val="solid"/>
          </a:ln>
        </p:spPr>
      </p:sp>
      <p:sp>
        <p:nvSpPr>
          <p:cNvPr id="10" name="Text 8"/>
          <p:cNvSpPr/>
          <p:nvPr/>
        </p:nvSpPr>
        <p:spPr>
          <a:xfrm>
            <a:off x="9144000" y="548640"/>
            <a:ext cx="2926080" cy="457200"/>
          </a:xfrm>
          <a:prstGeom prst="rect">
            <a:avLst/>
          </a:prstGeom>
          <a:noFill/>
          <a:ln/>
        </p:spPr>
        <p:txBody>
          <a:bodyPr wrap="square" rtlCol="0" anchor="ctr"/>
          <a:lstStyle/>
          <a:p>
            <a:pPr algn="r" indent="0" marL="0">
              <a:buNone/>
            </a:pPr>
            <a:r>
              <a:rPr lang="en-US" sz="1400" b="1" dirty="0">
                <a:solidFill>
                  <a:srgbClr val="B8860B"/>
                </a:solidFill>
                <a:latin typeface="Calibri" pitchFamily="34" charset="0"/>
                <a:ea typeface="Calibri" pitchFamily="34" charset="-122"/>
                <a:cs typeface="Calibri" pitchFamily="34" charset="-120"/>
              </a:rPr>
              <a:t>2 MINUTES</a:t>
            </a:r>
            <a:endParaRPr lang="en-US" sz="1400" dirty="0"/>
          </a:p>
        </p:txBody>
      </p:sp>
      <p:sp>
        <p:nvSpPr>
          <p:cNvPr id="11" name="Text 9"/>
          <p:cNvSpPr/>
          <p:nvPr/>
        </p:nvSpPr>
        <p:spPr>
          <a:xfrm>
            <a:off x="640080" y="1188720"/>
            <a:ext cx="10607040" cy="310896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"It is 3:15 PM on NSE expiry Thursday. Market closes at 3:30 PM. Your operations desk holds: (a) 1,000 Nifty calls at 19,500 strike — Nifty currently at 19,510. (b) 500 Nifty puts at 19,400 strike — Nifty at 19,510. (c) 200 Nifty calls at 20,000 strike — Nifty at 19,510. For each position: ITM/ATM/OTM? Exercise or lapse? What operations actions are required in the next 15 minutes?"</a:t>
            </a:r>
            <a:endParaRPr lang="en-US" sz="1800" dirty="0"/>
          </a:p>
        </p:txBody>
      </p:sp>
      <p:sp>
        <p:nvSpPr>
          <p:cNvPr id="12" name="Shape 10"/>
          <p:cNvSpPr/>
          <p:nvPr/>
        </p:nvSpPr>
        <p:spPr>
          <a:xfrm>
            <a:off x="0" y="5029200"/>
            <a:ext cx="12192000" cy="914400"/>
          </a:xfrm>
          <a:prstGeom prst="rect">
            <a:avLst/>
          </a:prstGeom>
          <a:solidFill>
            <a:srgbClr val="003333"/>
          </a:solidFill>
          <a:ln/>
        </p:spPr>
      </p:sp>
      <p:sp>
        <p:nvSpPr>
          <p:cNvPr id="13" name="Text 11"/>
          <p:cNvSpPr/>
          <p:nvPr/>
        </p:nvSpPr>
        <p:spPr>
          <a:xfrm>
            <a:off x="365760" y="5029200"/>
            <a:ext cx="11430000" cy="91440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Hint: (a) ₹10 ITM → exercise unless transaction cost &gt; ₹10 per lot; (b) OTM (19,510 &gt; 19,400 for put) → lapse; (c) OTM (19,510 &lt; 20,000 for call) → lapse. Actions: confirm exercise instructions for (a), confirm lapse for (b) and (c), process auto-exercise.</a:t>
            </a:r>
            <a:endParaRPr lang="en-US" sz="13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OPT.9</a:t>
            </a:r>
            <a:endParaRPr lang="en-US" sz="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INTERVIEW READY</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OPT.9</a:t>
            </a:r>
            <a:endParaRPr lang="en-US" sz="1000" dirty="0"/>
          </a:p>
        </p:txBody>
      </p:sp>
      <p:sp>
        <p:nvSpPr>
          <p:cNvPr id="9" name="Shape 7"/>
          <p:cNvSpPr/>
          <p:nvPr/>
        </p:nvSpPr>
        <p:spPr>
          <a:xfrm>
            <a:off x="0" y="420624"/>
            <a:ext cx="12192000" cy="1371600"/>
          </a:xfrm>
          <a:prstGeom prst="rect">
            <a:avLst/>
          </a:prstGeom>
          <a:solidFill>
            <a:srgbClr val="1E3A5F"/>
          </a:solidFill>
          <a:ln/>
        </p:spPr>
      </p:sp>
      <p:sp>
        <p:nvSpPr>
          <p:cNvPr id="10" name="Text 8"/>
          <p:cNvSpPr/>
          <p:nvPr/>
        </p:nvSpPr>
        <p:spPr>
          <a:xfrm>
            <a:off x="365760" y="502920"/>
            <a:ext cx="11430000" cy="365760"/>
          </a:xfrm>
          <a:prstGeom prst="rect">
            <a:avLst/>
          </a:prstGeom>
          <a:noFill/>
          <a:ln/>
        </p:spPr>
        <p:txBody>
          <a:bodyPr wrap="square" rtlCol="0" anchor="ctr"/>
          <a:lstStyle/>
          <a:p>
            <a:pPr indent="0" marL="0">
              <a:buNone/>
            </a:pPr>
            <a:r>
              <a:rPr lang="en-US" sz="1200" b="1" dirty="0">
                <a:solidFill>
                  <a:srgbClr val="B8860B"/>
                </a:solidFill>
                <a:latin typeface="Calibri" pitchFamily="34" charset="0"/>
                <a:ea typeface="Calibri" pitchFamily="34" charset="-122"/>
                <a:cs typeface="Calibri" pitchFamily="34" charset="-120"/>
              </a:rPr>
              <a:t>Interview Question:</a:t>
            </a:r>
            <a:endParaRPr lang="en-US" sz="1200" dirty="0"/>
          </a:p>
        </p:txBody>
      </p:sp>
      <p:sp>
        <p:nvSpPr>
          <p:cNvPr id="11" name="Text 9"/>
          <p:cNvSpPr/>
          <p:nvPr/>
        </p:nvSpPr>
        <p:spPr>
          <a:xfrm>
            <a:off x="365760" y="914400"/>
            <a:ext cx="11430000" cy="8229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"Explain ITM, ATM and OTM for both calls and puts, and how moneyness affects the exercise decision."</a:t>
            </a:r>
            <a:endParaRPr lang="en-US" sz="1600" dirty="0"/>
          </a:p>
        </p:txBody>
      </p:sp>
      <p:sp>
        <p:nvSpPr>
          <p:cNvPr id="12" name="Text 10"/>
          <p:cNvSpPr/>
          <p:nvPr/>
        </p:nvSpPr>
        <p:spPr>
          <a:xfrm>
            <a:off x="365760" y="1965960"/>
            <a:ext cx="11430000" cy="365760"/>
          </a:xfrm>
          <a:prstGeom prst="rect">
            <a:avLst/>
          </a:prstGeom>
          <a:noFill/>
          <a:ln/>
        </p:spPr>
        <p:txBody>
          <a:bodyPr wrap="square" rtlCol="0" anchor="ctr"/>
          <a:lstStyle/>
          <a:p>
            <a:pPr indent="0" marL="0">
              <a:buNone/>
            </a:pPr>
            <a:r>
              <a:rPr lang="en-US" sz="1100" b="1" dirty="0">
                <a:solidFill>
                  <a:srgbClr val="005F5F"/>
                </a:solidFill>
                <a:latin typeface="Calibri" pitchFamily="34" charset="0"/>
                <a:ea typeface="Calibri" pitchFamily="34" charset="-122"/>
                <a:cs typeface="Calibri" pitchFamily="34" charset="-120"/>
              </a:rPr>
              <a:t>STRONG ANSWER FRAMEWORK  (4 points):</a:t>
            </a:r>
            <a:endParaRPr lang="en-US" sz="1100" dirty="0"/>
          </a:p>
        </p:txBody>
      </p:sp>
      <p:sp>
        <p:nvSpPr>
          <p:cNvPr id="13" name="Shape 11"/>
          <p:cNvSpPr/>
          <p:nvPr/>
        </p:nvSpPr>
        <p:spPr>
          <a:xfrm>
            <a:off x="274320" y="2423160"/>
            <a:ext cx="457200" cy="640080"/>
          </a:xfrm>
          <a:prstGeom prst="rect">
            <a:avLst/>
          </a:prstGeom>
          <a:solidFill>
            <a:srgbClr val="1E3A5F"/>
          </a:solidFill>
          <a:ln/>
        </p:spPr>
      </p:sp>
      <p:sp>
        <p:nvSpPr>
          <p:cNvPr id="14" name="Text 12"/>
          <p:cNvSpPr/>
          <p:nvPr/>
        </p:nvSpPr>
        <p:spPr>
          <a:xfrm>
            <a:off x="274320" y="24231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Shape 13"/>
          <p:cNvSpPr/>
          <p:nvPr/>
        </p:nvSpPr>
        <p:spPr>
          <a:xfrm>
            <a:off x="822960" y="2423160"/>
            <a:ext cx="11064240" cy="640080"/>
          </a:xfrm>
          <a:prstGeom prst="rect">
            <a:avLst/>
          </a:prstGeom>
          <a:solidFill>
            <a:srgbClr val="D5E3F0"/>
          </a:solidFill>
          <a:ln w="6350">
            <a:solidFill>
              <a:srgbClr val="AAAAAA"/>
            </a:solidFill>
            <a:prstDash val="solid"/>
          </a:ln>
        </p:spPr>
      </p:sp>
      <p:sp>
        <p:nvSpPr>
          <p:cNvPr id="16" name="Text 14"/>
          <p:cNvSpPr/>
          <p:nvPr/>
        </p:nvSpPr>
        <p:spPr>
          <a:xfrm>
            <a:off x="914400" y="24231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ITM (In The Money): For calls — market price &gt; strike price. Immediate exercise has positive value. For puts — market price &lt; strike price. Exercising the right to sell at the higher strike generates profit.</a:t>
            </a:r>
            <a:endParaRPr lang="en-US" sz="1200" dirty="0"/>
          </a:p>
        </p:txBody>
      </p:sp>
      <p:sp>
        <p:nvSpPr>
          <p:cNvPr id="17" name="Shape 15"/>
          <p:cNvSpPr/>
          <p:nvPr/>
        </p:nvSpPr>
        <p:spPr>
          <a:xfrm>
            <a:off x="274320" y="3337560"/>
            <a:ext cx="457200" cy="640080"/>
          </a:xfrm>
          <a:prstGeom prst="rect">
            <a:avLst/>
          </a:prstGeom>
          <a:solidFill>
            <a:srgbClr val="1E3A5F"/>
          </a:solidFill>
          <a:ln/>
        </p:spPr>
      </p:sp>
      <p:sp>
        <p:nvSpPr>
          <p:cNvPr id="18" name="Text 16"/>
          <p:cNvSpPr/>
          <p:nvPr/>
        </p:nvSpPr>
        <p:spPr>
          <a:xfrm>
            <a:off x="274320" y="33375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Shape 17"/>
          <p:cNvSpPr/>
          <p:nvPr/>
        </p:nvSpPr>
        <p:spPr>
          <a:xfrm>
            <a:off x="822960" y="3337560"/>
            <a:ext cx="11064240" cy="640080"/>
          </a:xfrm>
          <a:prstGeom prst="rect">
            <a:avLst/>
          </a:prstGeom>
          <a:solidFill>
            <a:srgbClr val="FFFFFF"/>
          </a:solidFill>
          <a:ln w="6350">
            <a:solidFill>
              <a:srgbClr val="AAAAAA"/>
            </a:solidFill>
            <a:prstDash val="solid"/>
          </a:ln>
        </p:spPr>
      </p:sp>
      <p:sp>
        <p:nvSpPr>
          <p:cNvPr id="20" name="Text 18"/>
          <p:cNvSpPr/>
          <p:nvPr/>
        </p:nvSpPr>
        <p:spPr>
          <a:xfrm>
            <a:off x="914400" y="33375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ATM (At The Money): market price equals strike price. Exercise is neutral — no immediate profit. Options at ATM have maximum time value and are the most actively traded.</a:t>
            </a:r>
            <a:endParaRPr lang="en-US" sz="1200" dirty="0"/>
          </a:p>
        </p:txBody>
      </p:sp>
      <p:sp>
        <p:nvSpPr>
          <p:cNvPr id="21" name="Shape 19"/>
          <p:cNvSpPr/>
          <p:nvPr/>
        </p:nvSpPr>
        <p:spPr>
          <a:xfrm>
            <a:off x="274320" y="4251960"/>
            <a:ext cx="457200" cy="640080"/>
          </a:xfrm>
          <a:prstGeom prst="rect">
            <a:avLst/>
          </a:prstGeom>
          <a:solidFill>
            <a:srgbClr val="1E3A5F"/>
          </a:solidFill>
          <a:ln/>
        </p:spPr>
      </p:sp>
      <p:sp>
        <p:nvSpPr>
          <p:cNvPr id="22" name="Text 20"/>
          <p:cNvSpPr/>
          <p:nvPr/>
        </p:nvSpPr>
        <p:spPr>
          <a:xfrm>
            <a:off x="274320" y="42519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Shape 21"/>
          <p:cNvSpPr/>
          <p:nvPr/>
        </p:nvSpPr>
        <p:spPr>
          <a:xfrm>
            <a:off x="822960" y="4251960"/>
            <a:ext cx="11064240" cy="640080"/>
          </a:xfrm>
          <a:prstGeom prst="rect">
            <a:avLst/>
          </a:prstGeom>
          <a:solidFill>
            <a:srgbClr val="D5E3F0"/>
          </a:solidFill>
          <a:ln w="6350">
            <a:solidFill>
              <a:srgbClr val="AAAAAA"/>
            </a:solidFill>
            <a:prstDash val="solid"/>
          </a:ln>
        </p:spPr>
      </p:sp>
      <p:sp>
        <p:nvSpPr>
          <p:cNvPr id="24" name="Text 22"/>
          <p:cNvSpPr/>
          <p:nvPr/>
        </p:nvSpPr>
        <p:spPr>
          <a:xfrm>
            <a:off x="914400" y="42519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OTM (Out of The Money): For calls — market price &lt; strike price. Exercising buys above market — no value. For puts — market price &gt; strike price. The right to sell below market has no value. OTM options at expiry lapse worthless.</a:t>
            </a:r>
            <a:endParaRPr lang="en-US" sz="1200" dirty="0"/>
          </a:p>
        </p:txBody>
      </p:sp>
      <p:sp>
        <p:nvSpPr>
          <p:cNvPr id="25" name="Shape 23"/>
          <p:cNvSpPr/>
          <p:nvPr/>
        </p:nvSpPr>
        <p:spPr>
          <a:xfrm>
            <a:off x="274320" y="5166360"/>
            <a:ext cx="457200" cy="640080"/>
          </a:xfrm>
          <a:prstGeom prst="rect">
            <a:avLst/>
          </a:prstGeom>
          <a:solidFill>
            <a:srgbClr val="1E3A5F"/>
          </a:solidFill>
          <a:ln/>
        </p:spPr>
      </p:sp>
      <p:sp>
        <p:nvSpPr>
          <p:cNvPr id="26" name="Text 24"/>
          <p:cNvSpPr/>
          <p:nvPr/>
        </p:nvSpPr>
        <p:spPr>
          <a:xfrm>
            <a:off x="274320" y="51663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Shape 25"/>
          <p:cNvSpPr/>
          <p:nvPr/>
        </p:nvSpPr>
        <p:spPr>
          <a:xfrm>
            <a:off x="822960" y="5166360"/>
            <a:ext cx="11064240" cy="640080"/>
          </a:xfrm>
          <a:prstGeom prst="rect">
            <a:avLst/>
          </a:prstGeom>
          <a:solidFill>
            <a:srgbClr val="FFFFFF"/>
          </a:solidFill>
          <a:ln w="6350">
            <a:solidFill>
              <a:srgbClr val="AAAAAA"/>
            </a:solidFill>
            <a:prstDash val="solid"/>
          </a:ln>
        </p:spPr>
      </p:sp>
      <p:sp>
        <p:nvSpPr>
          <p:cNvPr id="28" name="Text 26"/>
          <p:cNvSpPr/>
          <p:nvPr/>
        </p:nvSpPr>
        <p:spPr>
          <a:xfrm>
            <a:off x="914400" y="51663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Exercise decision at expiry: ITM options should be exercised (or are auto-exercised by clearing corporation). OTM options lapse. ATM options near expiry need judgment based on transaction costs. Operations must process all exercise/lapse confirmations within the exchange deadline on expiry Thursday.</a:t>
            </a:r>
            <a:endParaRPr lang="en-US" sz="1200" dirty="0"/>
          </a:p>
        </p:txBody>
      </p:sp>
      <p:sp>
        <p:nvSpPr>
          <p:cNvPr id="29" name="Text 27"/>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OPT.9</a:t>
            </a:r>
            <a:endParaRPr lang="en-US" sz="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3A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QUICK RECAP</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OPT.10</a:t>
            </a:r>
            <a:endParaRPr lang="en-US" sz="1000" dirty="0"/>
          </a:p>
        </p:txBody>
      </p:sp>
      <p:sp>
        <p:nvSpPr>
          <p:cNvPr id="9" name="Text 7"/>
          <p:cNvSpPr/>
          <p:nvPr/>
        </p:nvSpPr>
        <p:spPr>
          <a:xfrm>
            <a:off x="8686800" y="1097280"/>
            <a:ext cx="3200400" cy="4572000"/>
          </a:xfrm>
          <a:prstGeom prst="rect">
            <a:avLst/>
          </a:prstGeom>
          <a:noFill/>
          <a:ln/>
        </p:spPr>
        <p:txBody>
          <a:bodyPr wrap="square" rtlCol="0" anchor="ctr"/>
          <a:lstStyle/>
          <a:p>
            <a:pPr algn="ctr" indent="0" marL="0">
              <a:buNone/>
            </a:pPr>
            <a:r>
              <a:rPr lang="en-US" sz="18000" b="1" dirty="0">
                <a:solidFill>
                  <a:srgbClr val="2E4A6E"/>
                </a:solidFill>
                <a:latin typeface="Calibri" pitchFamily="34" charset="0"/>
                <a:ea typeface="Calibri" pitchFamily="34" charset="-122"/>
                <a:cs typeface="Calibri" pitchFamily="34" charset="-120"/>
              </a:rPr>
              <a:t>?</a:t>
            </a:r>
            <a:endParaRPr lang="en-US" sz="18000" dirty="0"/>
          </a:p>
        </p:txBody>
      </p:sp>
      <p:sp>
        <p:nvSpPr>
          <p:cNvPr id="10" name="Text 8"/>
          <p:cNvSpPr/>
          <p:nvPr/>
        </p:nvSpPr>
        <p:spPr>
          <a:xfrm>
            <a:off x="365760" y="548640"/>
            <a:ext cx="8229600" cy="457200"/>
          </a:xfrm>
          <a:prstGeom prst="rect">
            <a:avLst/>
          </a:prstGeom>
          <a:noFill/>
          <a:ln/>
        </p:spPr>
        <p:txBody>
          <a:bodyPr wrap="square" rtlCol="0" anchor="ctr"/>
          <a:lstStyle/>
          <a:p>
            <a:pPr indent="0" marL="0">
              <a:buNone/>
            </a:pPr>
            <a:r>
              <a:rPr lang="en-US" sz="1300" b="1" dirty="0">
                <a:solidFill>
                  <a:srgbClr val="B8860B"/>
                </a:solidFill>
                <a:latin typeface="Calibri" pitchFamily="34" charset="0"/>
                <a:ea typeface="Calibri" pitchFamily="34" charset="-122"/>
                <a:cs typeface="Calibri" pitchFamily="34" charset="-120"/>
              </a:rPr>
              <a:t>OPT.10 — Pros and Cons of Options</a:t>
            </a:r>
            <a:endParaRPr lang="en-US" sz="1300" dirty="0"/>
          </a:p>
        </p:txBody>
      </p:sp>
      <p:sp>
        <p:nvSpPr>
          <p:cNvPr id="11" name="Text 9"/>
          <p:cNvSpPr/>
          <p:nvPr/>
        </p:nvSpPr>
        <p:spPr>
          <a:xfrm>
            <a:off x="365760" y="1280160"/>
            <a:ext cx="8229600" cy="34747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 systematic option selling strategy wins 75% of the time — collecting premium in every losing expiry. Then it loses catastrophically in one session and wipes out 3 years of gains. What structural feature of short option positions makes this possible?"</a:t>
            </a:r>
            <a:endParaRPr lang="en-US" sz="2400" dirty="0"/>
          </a:p>
        </p:txBody>
      </p:sp>
      <p:sp>
        <p:nvSpPr>
          <p:cNvPr id="12" name="Shape 10"/>
          <p:cNvSpPr/>
          <p:nvPr/>
        </p:nvSpPr>
        <p:spPr>
          <a:xfrm>
            <a:off x="365760" y="4937760"/>
            <a:ext cx="8229600" cy="731520"/>
          </a:xfrm>
          <a:prstGeom prst="rect">
            <a:avLst/>
          </a:prstGeom>
          <a:solidFill>
            <a:srgbClr val="2E4A6E"/>
          </a:solidFill>
          <a:ln/>
        </p:spPr>
      </p:sp>
      <p:sp>
        <p:nvSpPr>
          <p:cNvPr id="13" name="Text 11"/>
          <p:cNvSpPr/>
          <p:nvPr/>
        </p:nvSpPr>
        <p:spPr>
          <a:xfrm>
            <a:off x="365760" y="4937760"/>
            <a:ext cx="8229600" cy="731520"/>
          </a:xfrm>
          <a:prstGeom prst="rect">
            <a:avLst/>
          </a:prstGeom>
          <a:noFill/>
          <a:ln/>
        </p:spPr>
        <p:txBody>
          <a:bodyPr wrap="square" rtlCol="0" anchor="ctr"/>
          <a:lstStyle/>
          <a:p>
            <a:pPr algn="l" indent="0" marL="0">
              <a:buNone/>
            </a:pPr>
            <a:r>
              <a:rPr lang="en-US" sz="1100" i="1" dirty="0">
                <a:solidFill>
                  <a:srgbClr val="CADCFC"/>
                </a:solidFill>
                <a:latin typeface="Calibri" pitchFamily="34" charset="0"/>
                <a:ea typeface="Calibri" pitchFamily="34" charset="-122"/>
                <a:cs typeface="Calibri" pitchFamily="34" charset="-120"/>
              </a:rPr>
              <a:t>From: OPT.10 · Video 2 — Limitations of Options Trading (EAR: EXPLAIN)</a:t>
            </a:r>
            <a:endParaRPr lang="en-US" sz="11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OPT.10</a:t>
            </a:r>
            <a:endParaRPr lang="en-US" sz="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005F5F"/>
          </a:solidFill>
          <a:ln/>
        </p:spPr>
      </p:sp>
      <p:sp>
        <p:nvSpPr>
          <p:cNvPr id="5" name="Shape 3"/>
          <p:cNvSpPr/>
          <p:nvPr/>
        </p:nvSpPr>
        <p:spPr>
          <a:xfrm>
            <a:off x="0" y="73152"/>
            <a:ext cx="1828800" cy="347472"/>
          </a:xfrm>
          <a:prstGeom prst="rect">
            <a:avLst/>
          </a:prstGeom>
          <a:solidFill>
            <a:srgbClr val="C0392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SCENARIO</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OPT.10</a:t>
            </a:r>
            <a:endParaRPr lang="en-US" sz="1000" dirty="0"/>
          </a:p>
        </p:txBody>
      </p:sp>
      <p:sp>
        <p:nvSpPr>
          <p:cNvPr id="9" name="Shape 7"/>
          <p:cNvSpPr/>
          <p:nvPr/>
        </p:nvSpPr>
        <p:spPr>
          <a:xfrm>
            <a:off x="0" y="420624"/>
            <a:ext cx="12192000" cy="914400"/>
          </a:xfrm>
          <a:prstGeom prst="rect">
            <a:avLst/>
          </a:prstGeom>
          <a:solidFill>
            <a:srgbClr val="1E3A5F"/>
          </a:solidFill>
          <a:ln/>
        </p:spPr>
      </p:sp>
      <p:sp>
        <p:nvSpPr>
          <p:cNvPr id="10" name="Text 8"/>
          <p:cNvSpPr/>
          <p:nvPr/>
        </p:nvSpPr>
        <p:spPr>
          <a:xfrm>
            <a:off x="365760" y="420624"/>
            <a:ext cx="11430000" cy="91440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LTCM 1998: When Volatility Selling Strategies Meet Systemic Crises</a:t>
            </a:r>
            <a:endParaRPr lang="en-US" sz="1800" dirty="0"/>
          </a:p>
        </p:txBody>
      </p:sp>
      <p:sp>
        <p:nvSpPr>
          <p:cNvPr id="11" name="Text 9"/>
          <p:cNvSpPr/>
          <p:nvPr/>
        </p:nvSpPr>
        <p:spPr>
          <a:xfrm>
            <a:off x="365760" y="1463040"/>
            <a:ext cx="7498080" cy="2926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Long Term Capital Management (LTCM) was run by Nobel Prize winners and former Salomon Brothers traders. Their strategies included selling options on the premise that implied volatility was systematically overpriced vs historical volatility.</a:t>
            </a:r>
            <a:endParaRPr lang="en-US" sz="1300" dirty="0"/>
          </a:p>
          <a:p>
            <a:pPr indent="0" marL="0">
              <a:buNone/>
            </a:pP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When Russia defaulted on its debt in August 1998, global volatility spiked simultaneously across all asset classes. LTCM's short option positions lost money everywhere at once — their diversification assumption collapsed. Total losses: $4.6 billion. The Federal Reserve organised a $3.65 billion bank bailout to prevent systemic contagion.</a:t>
            </a:r>
            <a:endParaRPr lang="en-US" sz="1300" dirty="0"/>
          </a:p>
        </p:txBody>
      </p:sp>
      <p:sp>
        <p:nvSpPr>
          <p:cNvPr id="12" name="Shape 10"/>
          <p:cNvSpPr/>
          <p:nvPr/>
        </p:nvSpPr>
        <p:spPr>
          <a:xfrm>
            <a:off x="8046720" y="1463040"/>
            <a:ext cx="3931920" cy="2926080"/>
          </a:xfrm>
          <a:prstGeom prst="rect">
            <a:avLst/>
          </a:prstGeom>
          <a:solidFill>
            <a:srgbClr val="D5E3F0"/>
          </a:solidFill>
          <a:ln w="12700">
            <a:solidFill>
              <a:srgbClr val="1E3A5F"/>
            </a:solidFill>
            <a:prstDash val="solid"/>
          </a:ln>
        </p:spPr>
      </p:sp>
      <p:sp>
        <p:nvSpPr>
          <p:cNvPr id="13" name="Text 11"/>
          <p:cNvSpPr/>
          <p:nvPr/>
        </p:nvSpPr>
        <p:spPr>
          <a:xfrm>
            <a:off x="8046720" y="1463040"/>
            <a:ext cx="3931920" cy="2926080"/>
          </a:xfrm>
          <a:prstGeom prst="rect">
            <a:avLst/>
          </a:prstGeom>
          <a:noFill/>
          <a:ln/>
        </p:spPr>
        <p:txBody>
          <a:bodyPr wrap="square" rtlCol="0" anchor="t"/>
          <a:lstStyle/>
          <a:p>
            <a:pPr indent="0" marL="0">
              <a:buNone/>
            </a:pPr>
            <a:r>
              <a:rPr lang="en-US" sz="1200" dirty="0">
                <a:solidFill>
                  <a:srgbClr val="1E3A5F"/>
                </a:solidFill>
                <a:latin typeface="Calibri" pitchFamily="34" charset="0"/>
                <a:ea typeface="Calibri" pitchFamily="34" charset="-122"/>
                <a:cs typeface="Calibri" pitchFamily="34" charset="-120"/>
              </a:rPr>
              <a:t>LTCM 1998:</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$4.6 Bn losses</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Aug–Sep 1998</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Russia default:</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Aug 17, 1998</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Fed bailout:</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$3.65 Bn</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14 banks involved</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Volatility:</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all asset classes</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spiked simultaneously</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Nobel Prize models</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failed in extremis</a:t>
            </a:r>
            <a:endParaRPr lang="en-US" sz="1200" dirty="0"/>
          </a:p>
        </p:txBody>
      </p:sp>
      <p:sp>
        <p:nvSpPr>
          <p:cNvPr id="14" name="Shape 12"/>
          <p:cNvSpPr/>
          <p:nvPr/>
        </p:nvSpPr>
        <p:spPr>
          <a:xfrm>
            <a:off x="0" y="4572000"/>
            <a:ext cx="12192000" cy="1188720"/>
          </a:xfrm>
          <a:prstGeom prst="rect">
            <a:avLst/>
          </a:prstGeom>
          <a:solidFill>
            <a:srgbClr val="005F5F"/>
          </a:solidFill>
          <a:ln/>
        </p:spPr>
      </p:sp>
      <p:sp>
        <p:nvSpPr>
          <p:cNvPr id="15" name="Text 13"/>
          <p:cNvSpPr/>
          <p:nvPr/>
        </p:nvSpPr>
        <p:spPr>
          <a:xfrm>
            <a:off x="365760" y="4572000"/>
            <a:ext cx="11430000" cy="118872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LTCM's strategy assumed that different markets would not all move adversely at the same time — their correlations would limit combined losses. What does the 1998 crisis reveal about correlation assumptions in options portfolios, and how should risk models account for this?</a:t>
            </a:r>
            <a:endParaRPr lang="en-US" sz="1500" dirty="0"/>
          </a:p>
        </p:txBody>
      </p:sp>
      <p:sp>
        <p:nvSpPr>
          <p:cNvPr id="16" name="Text 14"/>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OPT.10</a:t>
            </a:r>
            <a:endParaRPr lang="en-US" sz="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005F5F"/>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005F5F"/>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OPT.10</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Options Trading: Pros and Cons</a:t>
            </a:r>
            <a:endParaRPr lang="en-US" sz="20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274320" y="1280160"/>
          <a:ext cx="11612880" cy="4206240"/>
        </p:xfrm>
        <a:graphic>
          <a:graphicData uri="http://schemas.openxmlformats.org/drawingml/2006/table">
            <a:tbl>
              <a:tblPr/>
              <a:tblGrid>
                <a:gridCol w="2903220"/>
                <a:gridCol w="2903220"/>
                <a:gridCol w="2903220"/>
                <a:gridCol w="2903220"/>
              </a:tblGrid>
              <a:tr h="46736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ADVANTAGE / DISADVANTAGE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DESCRIPTION</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WHO BENEFITS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PRACTICAL IMPACT</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r>
              <a:tr h="46736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Advantage: Leverage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Control large exposure with small premium</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Buyers seeking capital efficiency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5:1 to 20:1 leverage typical for near-ATM options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46736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Advantage: Defined Buyer Risk</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Max loss = premium — known upfront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Risk-conscious buyers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Can size position confidently knowing exact worst case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46736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Advantage: Strategic Flexibility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Create payoff profiles impossible with stocks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Sophisticated traders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Straddles, condors, butterflies — direction-neutral strategies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46736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Advantage: Capital-Efficient Hedging</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Hedge large portfolio for 2% premium</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Institutional fund managers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Protective puts, collars, portfolio insurance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46736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Disadvantage: Time Decay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Erodes buyer premium daily — even in flat markets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Sellers benefit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ATM option loses ~30% of time value in final week</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46736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Disadvantage: Complexity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Six pricing variables, non-linear payoffs, Greeks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Everyone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Operational errors, mis-hedging, wrong risk attribution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46736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Disadvantage: Seller Unlimited Risk</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Short call loss theoretically infinite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Naked call writers at risk</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GameStop 2021: short call writers lost billions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46736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Disadvantage: Wide Spreads / Costs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High % transaction cost relative to premium</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Active traders penalised</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OTM options: bid-ask may be 20-30% of premium</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bl>
          </a:graphicData>
        </a:graphic>
      </p:graphicFrame>
      <p:sp>
        <p:nvSpPr>
          <p:cNvPr id="11" name="Text 8"/>
          <p:cNvSpPr/>
          <p:nvPr/>
        </p:nvSpPr>
        <p:spPr>
          <a:xfrm>
            <a:off x="274320" y="6035040"/>
            <a:ext cx="11612880" cy="365760"/>
          </a:xfrm>
          <a:prstGeom prst="rect">
            <a:avLst/>
          </a:prstGeom>
          <a:noFill/>
          <a:ln/>
        </p:spPr>
        <p:txBody>
          <a:bodyPr wrap="square" rtlCol="0" anchor="ctr"/>
          <a:lstStyle/>
          <a:p>
            <a:pPr indent="0" marL="0">
              <a:buNone/>
            </a:pPr>
            <a:r>
              <a:rPr lang="en-US" sz="1000" dirty="0">
                <a:solidFill>
                  <a:srgbClr val="005F5F"/>
                </a:solidFill>
                <a:latin typeface="Calibri" pitchFamily="34" charset="0"/>
                <a:ea typeface="Calibri" pitchFamily="34" charset="-122"/>
                <a:cs typeface="Calibri" pitchFamily="34" charset="-120"/>
              </a:rPr>
              <a:t>Options are precision instruments. Used correctly: extraordinary. Used incorrectly — especially by sellers: catastrophic.</a:t>
            </a:r>
            <a:endParaRPr lang="en-US" sz="1000" dirty="0"/>
          </a:p>
        </p:txBody>
      </p:sp>
      <p:sp>
        <p:nvSpPr>
          <p:cNvPr id="12" name="Text 9"/>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OPT.10</a:t>
            </a:r>
            <a:endParaRPr lang="en-US" sz="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GOING DEEPER</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OPT.10</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Four Insights on Options Advantages, Risks and Greeks</a:t>
            </a:r>
            <a:endParaRPr lang="en-US" sz="2000" dirty="0"/>
          </a:p>
        </p:txBody>
      </p:sp>
      <p:sp>
        <p:nvSpPr>
          <p:cNvPr id="10" name="Shape 8"/>
          <p:cNvSpPr/>
          <p:nvPr/>
        </p:nvSpPr>
        <p:spPr>
          <a:xfrm>
            <a:off x="274320" y="1280160"/>
            <a:ext cx="5669280" cy="2377440"/>
          </a:xfrm>
          <a:prstGeom prst="rect">
            <a:avLst/>
          </a:prstGeom>
          <a:solidFill>
            <a:srgbClr val="D5E3F0"/>
          </a:solidFill>
          <a:ln w="6350">
            <a:solidFill>
              <a:srgbClr val="AAAAAA"/>
            </a:solidFill>
            <a:prstDash val="solid"/>
          </a:ln>
        </p:spPr>
      </p:sp>
      <p:sp>
        <p:nvSpPr>
          <p:cNvPr id="11" name="Shape 9"/>
          <p:cNvSpPr/>
          <p:nvPr/>
        </p:nvSpPr>
        <p:spPr>
          <a:xfrm>
            <a:off x="365760" y="1371600"/>
            <a:ext cx="457200" cy="457200"/>
          </a:xfrm>
          <a:prstGeom prst="ellipse">
            <a:avLst/>
          </a:prstGeom>
          <a:solidFill>
            <a:srgbClr val="1E3A5F"/>
          </a:solidFill>
          <a:ln/>
        </p:spPr>
      </p:sp>
      <p:sp>
        <p:nvSpPr>
          <p:cNvPr id="12" name="Text 10"/>
          <p:cNvSpPr/>
          <p:nvPr/>
        </p:nvSpPr>
        <p:spPr>
          <a:xfrm>
            <a:off x="36576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91440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Options Greeks Are Not Academic — They Are Operations Tools</a:t>
            </a:r>
            <a:endParaRPr lang="en-US" sz="1200" dirty="0"/>
          </a:p>
        </p:txBody>
      </p:sp>
      <p:sp>
        <p:nvSpPr>
          <p:cNvPr id="14" name="Text 12"/>
          <p:cNvSpPr/>
          <p:nvPr/>
        </p:nvSpPr>
        <p:spPr>
          <a:xfrm>
            <a:off x="41148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Delta (price sensitivity), Gamma (rate of delta change), Vega (volatility sensitivity), Theta (time decay), Rho (rate sensitivity) — these are the five Greeks. Operations teams use them for daily P&amp;L attribution: how much of today's move is delta P&amp;L vs theta decay vs vega change? Getting this attribution wrong means incorrect risk reporting and flawed hedging decisions.</a:t>
            </a:r>
            <a:endParaRPr lang="en-US" sz="1000" dirty="0"/>
          </a:p>
        </p:txBody>
      </p:sp>
      <p:sp>
        <p:nvSpPr>
          <p:cNvPr id="15" name="Shape 13"/>
          <p:cNvSpPr/>
          <p:nvPr/>
        </p:nvSpPr>
        <p:spPr>
          <a:xfrm>
            <a:off x="6126480" y="1280160"/>
            <a:ext cx="5669280" cy="2377440"/>
          </a:xfrm>
          <a:prstGeom prst="rect">
            <a:avLst/>
          </a:prstGeom>
          <a:solidFill>
            <a:srgbClr val="D4EFEF"/>
          </a:solidFill>
          <a:ln w="6350">
            <a:solidFill>
              <a:srgbClr val="AAAAAA"/>
            </a:solidFill>
            <a:prstDash val="solid"/>
          </a:ln>
        </p:spPr>
      </p:sp>
      <p:sp>
        <p:nvSpPr>
          <p:cNvPr id="16" name="Shape 14"/>
          <p:cNvSpPr/>
          <p:nvPr/>
        </p:nvSpPr>
        <p:spPr>
          <a:xfrm>
            <a:off x="6217920" y="1371600"/>
            <a:ext cx="457200" cy="457200"/>
          </a:xfrm>
          <a:prstGeom prst="ellipse">
            <a:avLst/>
          </a:prstGeom>
          <a:solidFill>
            <a:srgbClr val="005F5F"/>
          </a:solidFill>
          <a:ln/>
        </p:spPr>
      </p:sp>
      <p:sp>
        <p:nvSpPr>
          <p:cNvPr id="17" name="Text 15"/>
          <p:cNvSpPr/>
          <p:nvPr/>
        </p:nvSpPr>
        <p:spPr>
          <a:xfrm>
            <a:off x="621792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676656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Retail Traders Lose 80%+ of the Time on Option Buying</a:t>
            </a:r>
            <a:endParaRPr lang="en-US" sz="1200" dirty="0"/>
          </a:p>
        </p:txBody>
      </p:sp>
      <p:sp>
        <p:nvSpPr>
          <p:cNvPr id="19" name="Text 17"/>
          <p:cNvSpPr/>
          <p:nvPr/>
        </p:nvSpPr>
        <p:spPr>
          <a:xfrm>
            <a:off x="626364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SEBI studies show that 80-90% of retail option buyers lose money over time. The primary culprits: buying OTM options that expire worthless, holding through time decay in flat markets, and overpaying for premium in high-IV environments. Professional option buyers are selective, size precisely, and use defined-risk structures. Retail traders often do the opposite.</a:t>
            </a:r>
            <a:endParaRPr lang="en-US" sz="1000" dirty="0"/>
          </a:p>
        </p:txBody>
      </p:sp>
      <p:sp>
        <p:nvSpPr>
          <p:cNvPr id="20" name="Shape 18"/>
          <p:cNvSpPr/>
          <p:nvPr/>
        </p:nvSpPr>
        <p:spPr>
          <a:xfrm>
            <a:off x="274320" y="3840480"/>
            <a:ext cx="5669280" cy="2377440"/>
          </a:xfrm>
          <a:prstGeom prst="rect">
            <a:avLst/>
          </a:prstGeom>
          <a:solidFill>
            <a:srgbClr val="FEF9E7"/>
          </a:solidFill>
          <a:ln w="6350">
            <a:solidFill>
              <a:srgbClr val="AAAAAA"/>
            </a:solidFill>
            <a:prstDash val="solid"/>
          </a:ln>
        </p:spPr>
      </p:sp>
      <p:sp>
        <p:nvSpPr>
          <p:cNvPr id="21" name="Shape 19"/>
          <p:cNvSpPr/>
          <p:nvPr/>
        </p:nvSpPr>
        <p:spPr>
          <a:xfrm>
            <a:off x="365760" y="3931920"/>
            <a:ext cx="457200" cy="457200"/>
          </a:xfrm>
          <a:prstGeom prst="ellipse">
            <a:avLst/>
          </a:prstGeom>
          <a:solidFill>
            <a:srgbClr val="B8860B"/>
          </a:solidFill>
          <a:ln/>
        </p:spPr>
      </p:sp>
      <p:sp>
        <p:nvSpPr>
          <p:cNvPr id="22" name="Text 20"/>
          <p:cNvSpPr/>
          <p:nvPr/>
        </p:nvSpPr>
        <p:spPr>
          <a:xfrm>
            <a:off x="36576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91440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Selling Options Requires Infrastructure That Most Retail Traders Lack</a:t>
            </a:r>
            <a:endParaRPr lang="en-US" sz="1200" dirty="0"/>
          </a:p>
        </p:txBody>
      </p:sp>
      <p:sp>
        <p:nvSpPr>
          <p:cNvPr id="24" name="Text 22"/>
          <p:cNvSpPr/>
          <p:nvPr/>
        </p:nvSpPr>
        <p:spPr>
          <a:xfrm>
            <a:off x="41148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Professional option writing requires: real-time delta hedging infrastructure, intraday margin monitoring, access to liquidity at any time, risk models that account for tail scenarios. Retail traders who write options typically have none of these. The steady premium income strategy works until it does not — and when it fails, the losses are disproportionate to prior gains.</a:t>
            </a:r>
            <a:endParaRPr lang="en-US" sz="1000" dirty="0"/>
          </a:p>
        </p:txBody>
      </p:sp>
      <p:sp>
        <p:nvSpPr>
          <p:cNvPr id="25" name="Shape 23"/>
          <p:cNvSpPr/>
          <p:nvPr/>
        </p:nvSpPr>
        <p:spPr>
          <a:xfrm>
            <a:off x="6126480" y="3840480"/>
            <a:ext cx="5669280" cy="2377440"/>
          </a:xfrm>
          <a:prstGeom prst="rect">
            <a:avLst/>
          </a:prstGeom>
          <a:solidFill>
            <a:srgbClr val="F3E5F5"/>
          </a:solidFill>
          <a:ln w="6350">
            <a:solidFill>
              <a:srgbClr val="AAAAAA"/>
            </a:solidFill>
            <a:prstDash val="solid"/>
          </a:ln>
        </p:spPr>
      </p:sp>
      <p:sp>
        <p:nvSpPr>
          <p:cNvPr id="26" name="Shape 24"/>
          <p:cNvSpPr/>
          <p:nvPr/>
        </p:nvSpPr>
        <p:spPr>
          <a:xfrm>
            <a:off x="6217920" y="3931920"/>
            <a:ext cx="457200" cy="457200"/>
          </a:xfrm>
          <a:prstGeom prst="ellipse">
            <a:avLst/>
          </a:prstGeom>
          <a:solidFill>
            <a:srgbClr val="1E3A5F"/>
          </a:solidFill>
          <a:ln/>
        </p:spPr>
      </p:sp>
      <p:sp>
        <p:nvSpPr>
          <p:cNvPr id="27" name="Text 25"/>
          <p:cNvSpPr/>
          <p:nvPr/>
        </p:nvSpPr>
        <p:spPr>
          <a:xfrm>
            <a:off x="621792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676656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The Greeks Must Appear in Operations Daily Risk Reports</a:t>
            </a:r>
            <a:endParaRPr lang="en-US" sz="1200" dirty="0"/>
          </a:p>
        </p:txBody>
      </p:sp>
      <p:sp>
        <p:nvSpPr>
          <p:cNvPr id="29" name="Text 27"/>
          <p:cNvSpPr/>
          <p:nvPr/>
        </p:nvSpPr>
        <p:spPr>
          <a:xfrm>
            <a:off x="626364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A derivatives operations team's daily P&amp;L report should attribute performance to: delta P&amp;L (from price moves), theta P&amp;L (from time decay), vega P&amp;L (from IV changes), and gamma P&amp;L (from convexity). If operations reports only the total P&amp;L without this decomposition, the risk team cannot understand what is driving the book — or hedge it correctly.</a:t>
            </a:r>
            <a:endParaRPr lang="en-US" sz="1000" dirty="0"/>
          </a:p>
        </p:txBody>
      </p:sp>
      <p:sp>
        <p:nvSpPr>
          <p:cNvPr id="30" name="Text 28"/>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OPT.10</a:t>
            </a:r>
            <a:endParaRPr lang="en-US" sz="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05F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THINK &amp; DISCUSS</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OPT.10</a:t>
            </a:r>
            <a:endParaRPr lang="en-US" sz="1000" dirty="0"/>
          </a:p>
        </p:txBody>
      </p:sp>
      <p:sp>
        <p:nvSpPr>
          <p:cNvPr id="9" name="Shape 7"/>
          <p:cNvSpPr/>
          <p:nvPr/>
        </p:nvSpPr>
        <p:spPr>
          <a:xfrm>
            <a:off x="365760" y="914400"/>
            <a:ext cx="11155680" cy="3840480"/>
          </a:xfrm>
          <a:prstGeom prst="rect">
            <a:avLst/>
          </a:prstGeom>
          <a:solidFill>
            <a:srgbClr val="004444"/>
          </a:solidFill>
          <a:ln w="12700">
            <a:solidFill>
              <a:srgbClr val="B8860B"/>
            </a:solidFill>
            <a:prstDash val="solid"/>
          </a:ln>
        </p:spPr>
      </p:sp>
      <p:sp>
        <p:nvSpPr>
          <p:cNvPr id="10" name="Text 8"/>
          <p:cNvSpPr/>
          <p:nvPr/>
        </p:nvSpPr>
        <p:spPr>
          <a:xfrm>
            <a:off x="9144000" y="548640"/>
            <a:ext cx="2926080" cy="457200"/>
          </a:xfrm>
          <a:prstGeom prst="rect">
            <a:avLst/>
          </a:prstGeom>
          <a:noFill/>
          <a:ln/>
        </p:spPr>
        <p:txBody>
          <a:bodyPr wrap="square" rtlCol="0" anchor="ctr"/>
          <a:lstStyle/>
          <a:p>
            <a:pPr algn="r" indent="0" marL="0">
              <a:buNone/>
            </a:pPr>
            <a:r>
              <a:rPr lang="en-US" sz="1400" b="1" dirty="0">
                <a:solidFill>
                  <a:srgbClr val="B8860B"/>
                </a:solidFill>
                <a:latin typeface="Calibri" pitchFamily="34" charset="0"/>
                <a:ea typeface="Calibri" pitchFamily="34" charset="-122"/>
                <a:cs typeface="Calibri" pitchFamily="34" charset="-120"/>
              </a:rPr>
              <a:t>2 MINUTES</a:t>
            </a:r>
            <a:endParaRPr lang="en-US" sz="1400" dirty="0"/>
          </a:p>
        </p:txBody>
      </p:sp>
      <p:sp>
        <p:nvSpPr>
          <p:cNvPr id="11" name="Text 9"/>
          <p:cNvSpPr/>
          <p:nvPr/>
        </p:nvSpPr>
        <p:spPr>
          <a:xfrm>
            <a:off x="640080" y="1188720"/>
            <a:ext cx="10607040" cy="310896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 new analyst proposes: Let's sell OTM Nifty puts every month at 5% below current market. Backtest shows 85% win rate over 5 years. A risk manager responds: Show me the 15% loss months first. What should the 15% loss analysis contain — and what tail scenario would you specifically stress test?"</a:t>
            </a:r>
            <a:endParaRPr lang="en-US" sz="1800" dirty="0"/>
          </a:p>
        </p:txBody>
      </p:sp>
      <p:sp>
        <p:nvSpPr>
          <p:cNvPr id="12" name="Shape 10"/>
          <p:cNvSpPr/>
          <p:nvPr/>
        </p:nvSpPr>
        <p:spPr>
          <a:xfrm>
            <a:off x="0" y="5029200"/>
            <a:ext cx="12192000" cy="914400"/>
          </a:xfrm>
          <a:prstGeom prst="rect">
            <a:avLst/>
          </a:prstGeom>
          <a:solidFill>
            <a:srgbClr val="003333"/>
          </a:solidFill>
          <a:ln/>
        </p:spPr>
      </p:sp>
      <p:sp>
        <p:nvSpPr>
          <p:cNvPr id="13" name="Text 11"/>
          <p:cNvSpPr/>
          <p:nvPr/>
        </p:nvSpPr>
        <p:spPr>
          <a:xfrm>
            <a:off x="365760" y="5029200"/>
            <a:ext cx="11430000" cy="91440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Hint: 15% loss months likely include: COVID March 2020 (-37%), IL&amp;FS 2018, Lehman September 2008 analog. Stress tests: simultaneous 20% drawdown + IV spike from 15 to 40. Check: would margin calls be met? Would losses exceed capital reserves?</a:t>
            </a:r>
            <a:endParaRPr lang="en-US" sz="13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OPT.10</a:t>
            </a:r>
            <a:endParaRPr lang="en-US" sz="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INTERVIEW READY</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OPT.10</a:t>
            </a:r>
            <a:endParaRPr lang="en-US" sz="1000" dirty="0"/>
          </a:p>
        </p:txBody>
      </p:sp>
      <p:sp>
        <p:nvSpPr>
          <p:cNvPr id="9" name="Shape 7"/>
          <p:cNvSpPr/>
          <p:nvPr/>
        </p:nvSpPr>
        <p:spPr>
          <a:xfrm>
            <a:off x="0" y="420624"/>
            <a:ext cx="12192000" cy="1371600"/>
          </a:xfrm>
          <a:prstGeom prst="rect">
            <a:avLst/>
          </a:prstGeom>
          <a:solidFill>
            <a:srgbClr val="1E3A5F"/>
          </a:solidFill>
          <a:ln/>
        </p:spPr>
      </p:sp>
      <p:sp>
        <p:nvSpPr>
          <p:cNvPr id="10" name="Text 8"/>
          <p:cNvSpPr/>
          <p:nvPr/>
        </p:nvSpPr>
        <p:spPr>
          <a:xfrm>
            <a:off x="365760" y="502920"/>
            <a:ext cx="11430000" cy="365760"/>
          </a:xfrm>
          <a:prstGeom prst="rect">
            <a:avLst/>
          </a:prstGeom>
          <a:noFill/>
          <a:ln/>
        </p:spPr>
        <p:txBody>
          <a:bodyPr wrap="square" rtlCol="0" anchor="ctr"/>
          <a:lstStyle/>
          <a:p>
            <a:pPr indent="0" marL="0">
              <a:buNone/>
            </a:pPr>
            <a:r>
              <a:rPr lang="en-US" sz="1200" b="1" dirty="0">
                <a:solidFill>
                  <a:srgbClr val="B8860B"/>
                </a:solidFill>
                <a:latin typeface="Calibri" pitchFamily="34" charset="0"/>
                <a:ea typeface="Calibri" pitchFamily="34" charset="-122"/>
                <a:cs typeface="Calibri" pitchFamily="34" charset="-120"/>
              </a:rPr>
              <a:t>Interview Question:</a:t>
            </a:r>
            <a:endParaRPr lang="en-US" sz="1200" dirty="0"/>
          </a:p>
        </p:txBody>
      </p:sp>
      <p:sp>
        <p:nvSpPr>
          <p:cNvPr id="11" name="Text 9"/>
          <p:cNvSpPr/>
          <p:nvPr/>
        </p:nvSpPr>
        <p:spPr>
          <a:xfrm>
            <a:off x="365760" y="914400"/>
            <a:ext cx="11430000" cy="8229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"What are the main advantages and disadvantages of options trading?"</a:t>
            </a:r>
            <a:endParaRPr lang="en-US" sz="1600" dirty="0"/>
          </a:p>
        </p:txBody>
      </p:sp>
      <p:sp>
        <p:nvSpPr>
          <p:cNvPr id="12" name="Text 10"/>
          <p:cNvSpPr/>
          <p:nvPr/>
        </p:nvSpPr>
        <p:spPr>
          <a:xfrm>
            <a:off x="365760" y="1965960"/>
            <a:ext cx="11430000" cy="365760"/>
          </a:xfrm>
          <a:prstGeom prst="rect">
            <a:avLst/>
          </a:prstGeom>
          <a:noFill/>
          <a:ln/>
        </p:spPr>
        <p:txBody>
          <a:bodyPr wrap="square" rtlCol="0" anchor="ctr"/>
          <a:lstStyle/>
          <a:p>
            <a:pPr indent="0" marL="0">
              <a:buNone/>
            </a:pPr>
            <a:r>
              <a:rPr lang="en-US" sz="1100" b="1" dirty="0">
                <a:solidFill>
                  <a:srgbClr val="005F5F"/>
                </a:solidFill>
                <a:latin typeface="Calibri" pitchFamily="34" charset="0"/>
                <a:ea typeface="Calibri" pitchFamily="34" charset="-122"/>
                <a:cs typeface="Calibri" pitchFamily="34" charset="-120"/>
              </a:rPr>
              <a:t>STRONG ANSWER FRAMEWORK  (4 points):</a:t>
            </a:r>
            <a:endParaRPr lang="en-US" sz="1100" dirty="0"/>
          </a:p>
        </p:txBody>
      </p:sp>
      <p:sp>
        <p:nvSpPr>
          <p:cNvPr id="13" name="Shape 11"/>
          <p:cNvSpPr/>
          <p:nvPr/>
        </p:nvSpPr>
        <p:spPr>
          <a:xfrm>
            <a:off x="274320" y="2423160"/>
            <a:ext cx="457200" cy="640080"/>
          </a:xfrm>
          <a:prstGeom prst="rect">
            <a:avLst/>
          </a:prstGeom>
          <a:solidFill>
            <a:srgbClr val="1E3A5F"/>
          </a:solidFill>
          <a:ln/>
        </p:spPr>
      </p:sp>
      <p:sp>
        <p:nvSpPr>
          <p:cNvPr id="14" name="Text 12"/>
          <p:cNvSpPr/>
          <p:nvPr/>
        </p:nvSpPr>
        <p:spPr>
          <a:xfrm>
            <a:off x="274320" y="24231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Shape 13"/>
          <p:cNvSpPr/>
          <p:nvPr/>
        </p:nvSpPr>
        <p:spPr>
          <a:xfrm>
            <a:off x="822960" y="2423160"/>
            <a:ext cx="11064240" cy="640080"/>
          </a:xfrm>
          <a:prstGeom prst="rect">
            <a:avLst/>
          </a:prstGeom>
          <a:solidFill>
            <a:srgbClr val="D5E3F0"/>
          </a:solidFill>
          <a:ln w="6350">
            <a:solidFill>
              <a:srgbClr val="AAAAAA"/>
            </a:solidFill>
            <a:prstDash val="solid"/>
          </a:ln>
        </p:spPr>
      </p:sp>
      <p:sp>
        <p:nvSpPr>
          <p:cNvPr id="16" name="Text 14"/>
          <p:cNvSpPr/>
          <p:nvPr/>
        </p:nvSpPr>
        <p:spPr>
          <a:xfrm>
            <a:off x="914400" y="24231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Advantages: (1) Leverage — control large exposure with small premium; (2) Defined buyer risk — max loss = premium known upfront; (3) Strategic flexibility — unique payoff profiles (straddles, spreads) impossible with stocks; (4) Capital-efficient hedging — protect portfolios for 1-2% of value.</a:t>
            </a:r>
            <a:endParaRPr lang="en-US" sz="1200" dirty="0"/>
          </a:p>
        </p:txBody>
      </p:sp>
      <p:sp>
        <p:nvSpPr>
          <p:cNvPr id="17" name="Shape 15"/>
          <p:cNvSpPr/>
          <p:nvPr/>
        </p:nvSpPr>
        <p:spPr>
          <a:xfrm>
            <a:off x="274320" y="3337560"/>
            <a:ext cx="457200" cy="640080"/>
          </a:xfrm>
          <a:prstGeom prst="rect">
            <a:avLst/>
          </a:prstGeom>
          <a:solidFill>
            <a:srgbClr val="1E3A5F"/>
          </a:solidFill>
          <a:ln/>
        </p:spPr>
      </p:sp>
      <p:sp>
        <p:nvSpPr>
          <p:cNvPr id="18" name="Text 16"/>
          <p:cNvSpPr/>
          <p:nvPr/>
        </p:nvSpPr>
        <p:spPr>
          <a:xfrm>
            <a:off x="274320" y="33375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Shape 17"/>
          <p:cNvSpPr/>
          <p:nvPr/>
        </p:nvSpPr>
        <p:spPr>
          <a:xfrm>
            <a:off x="822960" y="3337560"/>
            <a:ext cx="11064240" cy="640080"/>
          </a:xfrm>
          <a:prstGeom prst="rect">
            <a:avLst/>
          </a:prstGeom>
          <a:solidFill>
            <a:srgbClr val="FFFFFF"/>
          </a:solidFill>
          <a:ln w="6350">
            <a:solidFill>
              <a:srgbClr val="AAAAAA"/>
            </a:solidFill>
            <a:prstDash val="solid"/>
          </a:ln>
        </p:spPr>
      </p:sp>
      <p:sp>
        <p:nvSpPr>
          <p:cNvPr id="20" name="Text 18"/>
          <p:cNvSpPr/>
          <p:nvPr/>
        </p:nvSpPr>
        <p:spPr>
          <a:xfrm>
            <a:off x="914400" y="33375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Disadvantages: (1) Time decay — premium erodes daily against buyers; (2) Complexity — six pricing variables and non-linear payoffs create operational and analytical errors; (3) Unlimited seller risk — short call losses are theoretically unbounded; (4) Wide bid-ask spreads — OTM options have high transaction costs as a percentage of premium.</a:t>
            </a:r>
            <a:endParaRPr lang="en-US" sz="1200" dirty="0"/>
          </a:p>
        </p:txBody>
      </p:sp>
      <p:sp>
        <p:nvSpPr>
          <p:cNvPr id="21" name="Shape 19"/>
          <p:cNvSpPr/>
          <p:nvPr/>
        </p:nvSpPr>
        <p:spPr>
          <a:xfrm>
            <a:off x="274320" y="4251960"/>
            <a:ext cx="457200" cy="640080"/>
          </a:xfrm>
          <a:prstGeom prst="rect">
            <a:avLst/>
          </a:prstGeom>
          <a:solidFill>
            <a:srgbClr val="1E3A5F"/>
          </a:solidFill>
          <a:ln/>
        </p:spPr>
      </p:sp>
      <p:sp>
        <p:nvSpPr>
          <p:cNvPr id="22" name="Text 20"/>
          <p:cNvSpPr/>
          <p:nvPr/>
        </p:nvSpPr>
        <p:spPr>
          <a:xfrm>
            <a:off x="274320" y="42519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Shape 21"/>
          <p:cNvSpPr/>
          <p:nvPr/>
        </p:nvSpPr>
        <p:spPr>
          <a:xfrm>
            <a:off x="822960" y="4251960"/>
            <a:ext cx="11064240" cy="640080"/>
          </a:xfrm>
          <a:prstGeom prst="rect">
            <a:avLst/>
          </a:prstGeom>
          <a:solidFill>
            <a:srgbClr val="D5E3F0"/>
          </a:solidFill>
          <a:ln w="6350">
            <a:solidFill>
              <a:srgbClr val="AAAAAA"/>
            </a:solidFill>
            <a:prstDash val="solid"/>
          </a:ln>
        </p:spPr>
      </p:sp>
      <p:sp>
        <p:nvSpPr>
          <p:cNvPr id="24" name="Text 22"/>
          <p:cNvSpPr/>
          <p:nvPr/>
        </p:nvSpPr>
        <p:spPr>
          <a:xfrm>
            <a:off x="914400" y="42519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Most critical risk for sellers: the steady premium income strategy can generate years of small gains followed by one catastrophic loss. The LTCM 1998 and Volmageddon 2018 episodes demonstrate that systematic option selling strategies must account for fat-tail correlation events.</a:t>
            </a:r>
            <a:endParaRPr lang="en-US" sz="1200" dirty="0"/>
          </a:p>
        </p:txBody>
      </p:sp>
      <p:sp>
        <p:nvSpPr>
          <p:cNvPr id="25" name="Shape 23"/>
          <p:cNvSpPr/>
          <p:nvPr/>
        </p:nvSpPr>
        <p:spPr>
          <a:xfrm>
            <a:off x="274320" y="5166360"/>
            <a:ext cx="457200" cy="640080"/>
          </a:xfrm>
          <a:prstGeom prst="rect">
            <a:avLst/>
          </a:prstGeom>
          <a:solidFill>
            <a:srgbClr val="1E3A5F"/>
          </a:solidFill>
          <a:ln/>
        </p:spPr>
      </p:sp>
      <p:sp>
        <p:nvSpPr>
          <p:cNvPr id="26" name="Text 24"/>
          <p:cNvSpPr/>
          <p:nvPr/>
        </p:nvSpPr>
        <p:spPr>
          <a:xfrm>
            <a:off x="274320" y="51663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Shape 25"/>
          <p:cNvSpPr/>
          <p:nvPr/>
        </p:nvSpPr>
        <p:spPr>
          <a:xfrm>
            <a:off x="822960" y="5166360"/>
            <a:ext cx="11064240" cy="640080"/>
          </a:xfrm>
          <a:prstGeom prst="rect">
            <a:avLst/>
          </a:prstGeom>
          <a:solidFill>
            <a:srgbClr val="FFFFFF"/>
          </a:solidFill>
          <a:ln w="6350">
            <a:solidFill>
              <a:srgbClr val="AAAAAA"/>
            </a:solidFill>
            <a:prstDash val="solid"/>
          </a:ln>
        </p:spPr>
      </p:sp>
      <p:sp>
        <p:nvSpPr>
          <p:cNvPr id="28" name="Text 26"/>
          <p:cNvSpPr/>
          <p:nvPr/>
        </p:nvSpPr>
        <p:spPr>
          <a:xfrm>
            <a:off x="914400" y="51663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In operations: Greeks must be reported daily for P&amp;L attribution (delta, theta, vega, gamma). Options books require daily margin monitoring for all short positions. Risk reports must show Greeks decomposition, not just total P&amp;L.</a:t>
            </a:r>
            <a:endParaRPr lang="en-US" sz="1200" dirty="0"/>
          </a:p>
        </p:txBody>
      </p:sp>
      <p:sp>
        <p:nvSpPr>
          <p:cNvPr id="29" name="Text 27"/>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OPT.10</a:t>
            </a:r>
            <a:endParaRPr lang="en-US" sz="8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3A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QUICK RECAP</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OPT.11</a:t>
            </a:r>
            <a:endParaRPr lang="en-US" sz="1000" dirty="0"/>
          </a:p>
        </p:txBody>
      </p:sp>
      <p:sp>
        <p:nvSpPr>
          <p:cNvPr id="9" name="Text 7"/>
          <p:cNvSpPr/>
          <p:nvPr/>
        </p:nvSpPr>
        <p:spPr>
          <a:xfrm>
            <a:off x="8686800" y="1097280"/>
            <a:ext cx="3200400" cy="4572000"/>
          </a:xfrm>
          <a:prstGeom prst="rect">
            <a:avLst/>
          </a:prstGeom>
          <a:noFill/>
          <a:ln/>
        </p:spPr>
        <p:txBody>
          <a:bodyPr wrap="square" rtlCol="0" anchor="ctr"/>
          <a:lstStyle/>
          <a:p>
            <a:pPr algn="ctr" indent="0" marL="0">
              <a:buNone/>
            </a:pPr>
            <a:r>
              <a:rPr lang="en-US" sz="18000" b="1" dirty="0">
                <a:solidFill>
                  <a:srgbClr val="2E4A6E"/>
                </a:solidFill>
                <a:latin typeface="Calibri" pitchFamily="34" charset="0"/>
                <a:ea typeface="Calibri" pitchFamily="34" charset="-122"/>
                <a:cs typeface="Calibri" pitchFamily="34" charset="-120"/>
              </a:rPr>
              <a:t>?</a:t>
            </a:r>
            <a:endParaRPr lang="en-US" sz="18000" dirty="0"/>
          </a:p>
        </p:txBody>
      </p:sp>
      <p:sp>
        <p:nvSpPr>
          <p:cNvPr id="10" name="Text 8"/>
          <p:cNvSpPr/>
          <p:nvPr/>
        </p:nvSpPr>
        <p:spPr>
          <a:xfrm>
            <a:off x="365760" y="548640"/>
            <a:ext cx="8229600" cy="457200"/>
          </a:xfrm>
          <a:prstGeom prst="rect">
            <a:avLst/>
          </a:prstGeom>
          <a:noFill/>
          <a:ln/>
        </p:spPr>
        <p:txBody>
          <a:bodyPr wrap="square" rtlCol="0" anchor="ctr"/>
          <a:lstStyle/>
          <a:p>
            <a:pPr indent="0" marL="0">
              <a:buNone/>
            </a:pPr>
            <a:r>
              <a:rPr lang="en-US" sz="1300" b="1" dirty="0">
                <a:solidFill>
                  <a:srgbClr val="B8860B"/>
                </a:solidFill>
                <a:latin typeface="Calibri" pitchFamily="34" charset="0"/>
                <a:ea typeface="Calibri" pitchFamily="34" charset="-122"/>
                <a:cs typeface="Calibri" pitchFamily="34" charset="-120"/>
              </a:rPr>
              <a:t>OPT.11 — Option Chain</a:t>
            </a:r>
            <a:endParaRPr lang="en-US" sz="1300" dirty="0"/>
          </a:p>
        </p:txBody>
      </p:sp>
      <p:sp>
        <p:nvSpPr>
          <p:cNvPr id="11" name="Text 9"/>
          <p:cNvSpPr/>
          <p:nvPr/>
        </p:nvSpPr>
        <p:spPr>
          <a:xfrm>
            <a:off x="365760" y="1280160"/>
            <a:ext cx="8229600" cy="34747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"An experienced trader looks at the Nifty option chain for 30 seconds and says: Market is nervous, support at 19,000, resistance at 20,500, IV is elevated. They did not look at a chart. They did not read news. They read the option chain. What three numbers did they extract?"</a:t>
            </a:r>
            <a:endParaRPr lang="en-US" sz="2400" dirty="0"/>
          </a:p>
        </p:txBody>
      </p:sp>
      <p:sp>
        <p:nvSpPr>
          <p:cNvPr id="12" name="Shape 10"/>
          <p:cNvSpPr/>
          <p:nvPr/>
        </p:nvSpPr>
        <p:spPr>
          <a:xfrm>
            <a:off x="365760" y="4937760"/>
            <a:ext cx="8229600" cy="731520"/>
          </a:xfrm>
          <a:prstGeom prst="rect">
            <a:avLst/>
          </a:prstGeom>
          <a:solidFill>
            <a:srgbClr val="2E4A6E"/>
          </a:solidFill>
          <a:ln/>
        </p:spPr>
      </p:sp>
      <p:sp>
        <p:nvSpPr>
          <p:cNvPr id="13" name="Text 11"/>
          <p:cNvSpPr/>
          <p:nvPr/>
        </p:nvSpPr>
        <p:spPr>
          <a:xfrm>
            <a:off x="365760" y="4937760"/>
            <a:ext cx="8229600" cy="731520"/>
          </a:xfrm>
          <a:prstGeom prst="rect">
            <a:avLst/>
          </a:prstGeom>
          <a:noFill/>
          <a:ln/>
        </p:spPr>
        <p:txBody>
          <a:bodyPr wrap="square" rtlCol="0" anchor="ctr"/>
          <a:lstStyle/>
          <a:p>
            <a:pPr algn="l" indent="0" marL="0">
              <a:buNone/>
            </a:pPr>
            <a:r>
              <a:rPr lang="en-US" sz="1100" i="1" dirty="0">
                <a:solidFill>
                  <a:srgbClr val="CADCFC"/>
                </a:solidFill>
                <a:latin typeface="Calibri" pitchFamily="34" charset="0"/>
                <a:ea typeface="Calibri" pitchFamily="34" charset="-122"/>
                <a:cs typeface="Calibri" pitchFamily="34" charset="-120"/>
              </a:rPr>
              <a:t>From: OPT.11 · Video 2 — Interpreting Option Chains (EAR: INTERPRET)</a:t>
            </a:r>
            <a:endParaRPr lang="en-US" sz="11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OPT.11</a:t>
            </a:r>
            <a:endParaRPr lang="en-US" sz="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005F5F"/>
          </a:solidFill>
          <a:ln/>
        </p:spPr>
      </p:sp>
      <p:sp>
        <p:nvSpPr>
          <p:cNvPr id="5" name="Shape 3"/>
          <p:cNvSpPr/>
          <p:nvPr/>
        </p:nvSpPr>
        <p:spPr>
          <a:xfrm>
            <a:off x="0" y="73152"/>
            <a:ext cx="1828800" cy="347472"/>
          </a:xfrm>
          <a:prstGeom prst="rect">
            <a:avLst/>
          </a:prstGeom>
          <a:solidFill>
            <a:srgbClr val="C0392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SCENARIO</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OPT.11</a:t>
            </a:r>
            <a:endParaRPr lang="en-US" sz="1000" dirty="0"/>
          </a:p>
        </p:txBody>
      </p:sp>
      <p:sp>
        <p:nvSpPr>
          <p:cNvPr id="9" name="Shape 7"/>
          <p:cNvSpPr/>
          <p:nvPr/>
        </p:nvSpPr>
        <p:spPr>
          <a:xfrm>
            <a:off x="0" y="420624"/>
            <a:ext cx="12192000" cy="914400"/>
          </a:xfrm>
          <a:prstGeom prst="rect">
            <a:avLst/>
          </a:prstGeom>
          <a:solidFill>
            <a:srgbClr val="1E3A5F"/>
          </a:solidFill>
          <a:ln/>
        </p:spPr>
      </p:sp>
      <p:sp>
        <p:nvSpPr>
          <p:cNvPr id="10" name="Text 8"/>
          <p:cNvSpPr/>
          <p:nvPr/>
        </p:nvSpPr>
        <p:spPr>
          <a:xfrm>
            <a:off x="365760" y="420624"/>
            <a:ext cx="11430000" cy="91440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Nifty Option Chain: General Election 2024 — Reading the Market Before Results</a:t>
            </a:r>
            <a:endParaRPr lang="en-US" sz="1800" dirty="0"/>
          </a:p>
        </p:txBody>
      </p:sp>
      <p:sp>
        <p:nvSpPr>
          <p:cNvPr id="11" name="Text 9"/>
          <p:cNvSpPr/>
          <p:nvPr/>
        </p:nvSpPr>
        <p:spPr>
          <a:xfrm>
            <a:off x="365760" y="1463040"/>
            <a:ext cx="7498080" cy="2926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On June 3, 2024 (the day before India General Election 2024 results), the Nifty 50 option chain showed extraordinary positioning:</a:t>
            </a: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 Put open interest was concentrated at 21,000-22,000 strikes (13-17% below market)</a:t>
            </a: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 Call open interest was concentrated at 24,000-25,000 strikes (5-12% above market)</a:t>
            </a: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 India VIX had surged to 26 — highest since COVID</a:t>
            </a:r>
            <a:endParaRPr lang="en-US" sz="1300" dirty="0"/>
          </a:p>
          <a:p>
            <a:pPr indent="0" marL="0">
              <a:buNone/>
            </a:pP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When results came on June 4, Nifty initially crashed to 21,884 (below some put strikes) before recovering sharply to 23,000+. The option chain had correctly predicted the range and the volatility — but not the direction.</a:t>
            </a:r>
            <a:endParaRPr lang="en-US" sz="1300" dirty="0"/>
          </a:p>
        </p:txBody>
      </p:sp>
      <p:sp>
        <p:nvSpPr>
          <p:cNvPr id="12" name="Shape 10"/>
          <p:cNvSpPr/>
          <p:nvPr/>
        </p:nvSpPr>
        <p:spPr>
          <a:xfrm>
            <a:off x="8046720" y="1463040"/>
            <a:ext cx="3931920" cy="2926080"/>
          </a:xfrm>
          <a:prstGeom prst="rect">
            <a:avLst/>
          </a:prstGeom>
          <a:solidFill>
            <a:srgbClr val="D5E3F0"/>
          </a:solidFill>
          <a:ln w="12700">
            <a:solidFill>
              <a:srgbClr val="1E3A5F"/>
            </a:solidFill>
            <a:prstDash val="solid"/>
          </a:ln>
        </p:spPr>
      </p:sp>
      <p:sp>
        <p:nvSpPr>
          <p:cNvPr id="13" name="Text 11"/>
          <p:cNvSpPr/>
          <p:nvPr/>
        </p:nvSpPr>
        <p:spPr>
          <a:xfrm>
            <a:off x="8046720" y="1463040"/>
            <a:ext cx="3931920" cy="2926080"/>
          </a:xfrm>
          <a:prstGeom prst="rect">
            <a:avLst/>
          </a:prstGeom>
          <a:noFill/>
          <a:ln/>
        </p:spPr>
        <p:txBody>
          <a:bodyPr wrap="square" rtlCol="0" anchor="t"/>
          <a:lstStyle/>
          <a:p>
            <a:pPr indent="0" marL="0">
              <a:buNone/>
            </a:pPr>
            <a:r>
              <a:rPr lang="en-US" sz="1200" dirty="0">
                <a:solidFill>
                  <a:srgbClr val="1E3A5F"/>
                </a:solidFill>
                <a:latin typeface="Calibri" pitchFamily="34" charset="0"/>
                <a:ea typeface="Calibri" pitchFamily="34" charset="-122"/>
                <a:cs typeface="Calibri" pitchFamily="34" charset="-120"/>
              </a:rPr>
              <a:t>ELECTION 2024:</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Nifty pre-results:</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~23,100</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VIX: 26</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(vs avg of 14)</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Put OI: 21,000-22,000</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Call OI: 24,000-25,000</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Results day (Jun 4):</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Nifty: 21,884 low</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then 23,000+ recovery</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Option chain:</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predicted range,</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not direction</a:t>
            </a:r>
            <a:endParaRPr lang="en-US" sz="1200" dirty="0"/>
          </a:p>
        </p:txBody>
      </p:sp>
      <p:sp>
        <p:nvSpPr>
          <p:cNvPr id="14" name="Shape 12"/>
          <p:cNvSpPr/>
          <p:nvPr/>
        </p:nvSpPr>
        <p:spPr>
          <a:xfrm>
            <a:off x="0" y="4572000"/>
            <a:ext cx="12192000" cy="1188720"/>
          </a:xfrm>
          <a:prstGeom prst="rect">
            <a:avLst/>
          </a:prstGeom>
          <a:solidFill>
            <a:srgbClr val="005F5F"/>
          </a:solidFill>
          <a:ln/>
        </p:spPr>
      </p:sp>
      <p:sp>
        <p:nvSpPr>
          <p:cNvPr id="15" name="Text 13"/>
          <p:cNvSpPr/>
          <p:nvPr/>
        </p:nvSpPr>
        <p:spPr>
          <a:xfrm>
            <a:off x="365760" y="4572000"/>
            <a:ext cx="11430000" cy="118872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option chain before the election showed high VIX and concentrated OI at specific strikes. What was the market telling you about its expectations — and how would you have positioned differently knowing only the option chain data without any news or political analysis?</a:t>
            </a:r>
            <a:endParaRPr lang="en-US" sz="1500" dirty="0"/>
          </a:p>
        </p:txBody>
      </p:sp>
      <p:sp>
        <p:nvSpPr>
          <p:cNvPr id="16" name="Text 14"/>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OPT.11</a:t>
            </a:r>
            <a:endParaRPr lang="en-US" sz="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005F5F"/>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005F5F"/>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OPT.11</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Option Chain: Anatomy and Interpretation</a:t>
            </a:r>
            <a:endParaRPr lang="en-US" sz="20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274320" y="1280160"/>
          <a:ext cx="11612880" cy="4206240"/>
        </p:xfrm>
        <a:graphic>
          <a:graphicData uri="http://schemas.openxmlformats.org/drawingml/2006/table">
            <a:tbl>
              <a:tblPr/>
              <a:tblGrid>
                <a:gridCol w="2903220"/>
                <a:gridCol w="2903220"/>
                <a:gridCol w="2903220"/>
                <a:gridCol w="2903220"/>
              </a:tblGrid>
              <a:tr h="600891">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ELEMENT</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LOCATION</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WHAT IT TELLS YOU</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OPERATIONS USE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Strikes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Centre column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All available exercise prices — ATM closest to current market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Classify each option in book as ITM/ATM/OTM</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Call Data (Bid/Ask/OI/IV)</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Left of strikes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Supply/demand for upside at each level; resistance zones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Mark call positions, monitor exercise on call OI</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Put Data (Bid/Ask/OI/IV)</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Right of strikes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Demand for downside protection; support zones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Mark put positions, monitor protective put levels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Open Interest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Both sides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Where large positions are concentrated — key levels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Flag high-OI strikes for expiry monitoring</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Implied Volatility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Per strike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How expensive options are at each strike; skew visible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Mark options at correct IV for daily P&amp;L</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India VIX</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Overall market IV</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Expected 30-day Nifty movement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Set options book vega limits based on VIX level</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bl>
          </a:graphicData>
        </a:graphic>
      </p:graphicFrame>
      <p:sp>
        <p:nvSpPr>
          <p:cNvPr id="11" name="Text 8"/>
          <p:cNvSpPr/>
          <p:nvPr/>
        </p:nvSpPr>
        <p:spPr>
          <a:xfrm>
            <a:off x="274320" y="6035040"/>
            <a:ext cx="11612880" cy="365760"/>
          </a:xfrm>
          <a:prstGeom prst="rect">
            <a:avLst/>
          </a:prstGeom>
          <a:noFill/>
          <a:ln/>
        </p:spPr>
        <p:txBody>
          <a:bodyPr wrap="square" rtlCol="0" anchor="ctr"/>
          <a:lstStyle/>
          <a:p>
            <a:pPr indent="0" marL="0">
              <a:buNone/>
            </a:pPr>
            <a:r>
              <a:rPr lang="en-US" sz="1000" dirty="0">
                <a:solidFill>
                  <a:srgbClr val="005F5F"/>
                </a:solidFill>
                <a:latin typeface="Calibri" pitchFamily="34" charset="0"/>
                <a:ea typeface="Calibri" pitchFamily="34" charset="-122"/>
                <a:cs typeface="Calibri" pitchFamily="34" charset="-120"/>
              </a:rPr>
              <a:t>Reading an option chain gives you: market sentiment (PCR), key price levels (OI concentration), volatility expectations (IV), and gamma risk zones (ATM strike).</a:t>
            </a:r>
            <a:endParaRPr lang="en-US" sz="1000" dirty="0"/>
          </a:p>
        </p:txBody>
      </p:sp>
      <p:sp>
        <p:nvSpPr>
          <p:cNvPr id="12" name="Text 9"/>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OPT.11</a:t>
            </a:r>
            <a:endParaRPr lang="en-US" sz="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GOING DEEPER</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OPT.11</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Four Insights on Option Chain Analysis</a:t>
            </a:r>
            <a:endParaRPr lang="en-US" sz="2000" dirty="0"/>
          </a:p>
        </p:txBody>
      </p:sp>
      <p:sp>
        <p:nvSpPr>
          <p:cNvPr id="10" name="Shape 8"/>
          <p:cNvSpPr/>
          <p:nvPr/>
        </p:nvSpPr>
        <p:spPr>
          <a:xfrm>
            <a:off x="274320" y="1280160"/>
            <a:ext cx="5669280" cy="2377440"/>
          </a:xfrm>
          <a:prstGeom prst="rect">
            <a:avLst/>
          </a:prstGeom>
          <a:solidFill>
            <a:srgbClr val="D5E3F0"/>
          </a:solidFill>
          <a:ln w="6350">
            <a:solidFill>
              <a:srgbClr val="AAAAAA"/>
            </a:solidFill>
            <a:prstDash val="solid"/>
          </a:ln>
        </p:spPr>
      </p:sp>
      <p:sp>
        <p:nvSpPr>
          <p:cNvPr id="11" name="Shape 9"/>
          <p:cNvSpPr/>
          <p:nvPr/>
        </p:nvSpPr>
        <p:spPr>
          <a:xfrm>
            <a:off x="365760" y="1371600"/>
            <a:ext cx="457200" cy="457200"/>
          </a:xfrm>
          <a:prstGeom prst="ellipse">
            <a:avLst/>
          </a:prstGeom>
          <a:solidFill>
            <a:srgbClr val="1E3A5F"/>
          </a:solidFill>
          <a:ln/>
        </p:spPr>
      </p:sp>
      <p:sp>
        <p:nvSpPr>
          <p:cNvPr id="12" name="Text 10"/>
          <p:cNvSpPr/>
          <p:nvPr/>
        </p:nvSpPr>
        <p:spPr>
          <a:xfrm>
            <a:off x="36576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91440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Put-Call Ratio Is the Most Cited Sentiment Indicator</a:t>
            </a:r>
            <a:endParaRPr lang="en-US" sz="1200" dirty="0"/>
          </a:p>
        </p:txBody>
      </p:sp>
      <p:sp>
        <p:nvSpPr>
          <p:cNvPr id="14" name="Text 12"/>
          <p:cNvSpPr/>
          <p:nvPr/>
        </p:nvSpPr>
        <p:spPr>
          <a:xfrm>
            <a:off x="41148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PCR above 1.2 is generally interpreted as bearish (more put buying = more fear). PCR below 0.8 is bullish. But PCR can also be a contrarian indicator: extremely high PCR (&gt;1.5) may mean the market is overly hedged, and a reversal is possible. Professional traders track PCR trend (rising vs falling) as much as absolute level.</a:t>
            </a:r>
            <a:endParaRPr lang="en-US" sz="1000" dirty="0"/>
          </a:p>
        </p:txBody>
      </p:sp>
      <p:sp>
        <p:nvSpPr>
          <p:cNvPr id="15" name="Shape 13"/>
          <p:cNvSpPr/>
          <p:nvPr/>
        </p:nvSpPr>
        <p:spPr>
          <a:xfrm>
            <a:off x="6126480" y="1280160"/>
            <a:ext cx="5669280" cy="2377440"/>
          </a:xfrm>
          <a:prstGeom prst="rect">
            <a:avLst/>
          </a:prstGeom>
          <a:solidFill>
            <a:srgbClr val="D4EFEF"/>
          </a:solidFill>
          <a:ln w="6350">
            <a:solidFill>
              <a:srgbClr val="AAAAAA"/>
            </a:solidFill>
            <a:prstDash val="solid"/>
          </a:ln>
        </p:spPr>
      </p:sp>
      <p:sp>
        <p:nvSpPr>
          <p:cNvPr id="16" name="Shape 14"/>
          <p:cNvSpPr/>
          <p:nvPr/>
        </p:nvSpPr>
        <p:spPr>
          <a:xfrm>
            <a:off x="6217920" y="1371600"/>
            <a:ext cx="457200" cy="457200"/>
          </a:xfrm>
          <a:prstGeom prst="ellipse">
            <a:avLst/>
          </a:prstGeom>
          <a:solidFill>
            <a:srgbClr val="005F5F"/>
          </a:solidFill>
          <a:ln/>
        </p:spPr>
      </p:sp>
      <p:sp>
        <p:nvSpPr>
          <p:cNvPr id="17" name="Text 15"/>
          <p:cNvSpPr/>
          <p:nvPr/>
        </p:nvSpPr>
        <p:spPr>
          <a:xfrm>
            <a:off x="621792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676656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Max Pain Theory Predicts Expiry Settlement Price</a:t>
            </a:r>
            <a:endParaRPr lang="en-US" sz="1200" dirty="0"/>
          </a:p>
        </p:txBody>
      </p:sp>
      <p:sp>
        <p:nvSpPr>
          <p:cNvPr id="19" name="Text 17"/>
          <p:cNvSpPr/>
          <p:nvPr/>
        </p:nvSpPr>
        <p:spPr>
          <a:xfrm>
            <a:off x="626364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Max pain is the strike price where the total value of all options expiring in the money is minimised — where most option contracts expire worthless. Option writers who profit from expiry collectively have a financial incentive for price to settle near max pain. Empirically, expiry settlement prices tend to cluster near max pain more than would be expected by chance.</a:t>
            </a:r>
            <a:endParaRPr lang="en-US" sz="1000" dirty="0"/>
          </a:p>
        </p:txBody>
      </p:sp>
      <p:sp>
        <p:nvSpPr>
          <p:cNvPr id="20" name="Shape 18"/>
          <p:cNvSpPr/>
          <p:nvPr/>
        </p:nvSpPr>
        <p:spPr>
          <a:xfrm>
            <a:off x="274320" y="3840480"/>
            <a:ext cx="5669280" cy="2377440"/>
          </a:xfrm>
          <a:prstGeom prst="rect">
            <a:avLst/>
          </a:prstGeom>
          <a:solidFill>
            <a:srgbClr val="FEF9E7"/>
          </a:solidFill>
          <a:ln w="6350">
            <a:solidFill>
              <a:srgbClr val="AAAAAA"/>
            </a:solidFill>
            <a:prstDash val="solid"/>
          </a:ln>
        </p:spPr>
      </p:sp>
      <p:sp>
        <p:nvSpPr>
          <p:cNvPr id="21" name="Shape 19"/>
          <p:cNvSpPr/>
          <p:nvPr/>
        </p:nvSpPr>
        <p:spPr>
          <a:xfrm>
            <a:off x="365760" y="3931920"/>
            <a:ext cx="457200" cy="457200"/>
          </a:xfrm>
          <a:prstGeom prst="ellipse">
            <a:avLst/>
          </a:prstGeom>
          <a:solidFill>
            <a:srgbClr val="B8860B"/>
          </a:solidFill>
          <a:ln/>
        </p:spPr>
      </p:sp>
      <p:sp>
        <p:nvSpPr>
          <p:cNvPr id="22" name="Text 20"/>
          <p:cNvSpPr/>
          <p:nvPr/>
        </p:nvSpPr>
        <p:spPr>
          <a:xfrm>
            <a:off x="36576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91440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Volatility Surface: The Full Picture Beyond a Single Chain</a:t>
            </a:r>
            <a:endParaRPr lang="en-US" sz="1200" dirty="0"/>
          </a:p>
        </p:txBody>
      </p:sp>
      <p:sp>
        <p:nvSpPr>
          <p:cNvPr id="24" name="Text 22"/>
          <p:cNvSpPr/>
          <p:nvPr/>
        </p:nvSpPr>
        <p:spPr>
          <a:xfrm>
            <a:off x="41148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A single option chain gives you IV at one expiry. The volatility surface plots IV across all strikes AND all expiries — creating a 3D picture of how the market prices risk over time and at different price levels. Operations teams using sophisticated pricing models need the full volatility surface, not just ATM IV. Building and maintaining the surface is a daily task in any professional derivatives operation.</a:t>
            </a:r>
            <a:endParaRPr lang="en-US" sz="1000" dirty="0"/>
          </a:p>
        </p:txBody>
      </p:sp>
      <p:sp>
        <p:nvSpPr>
          <p:cNvPr id="25" name="Shape 23"/>
          <p:cNvSpPr/>
          <p:nvPr/>
        </p:nvSpPr>
        <p:spPr>
          <a:xfrm>
            <a:off x="6126480" y="3840480"/>
            <a:ext cx="5669280" cy="2377440"/>
          </a:xfrm>
          <a:prstGeom prst="rect">
            <a:avLst/>
          </a:prstGeom>
          <a:solidFill>
            <a:srgbClr val="F3E5F5"/>
          </a:solidFill>
          <a:ln w="6350">
            <a:solidFill>
              <a:srgbClr val="AAAAAA"/>
            </a:solidFill>
            <a:prstDash val="solid"/>
          </a:ln>
        </p:spPr>
      </p:sp>
      <p:sp>
        <p:nvSpPr>
          <p:cNvPr id="26" name="Shape 24"/>
          <p:cNvSpPr/>
          <p:nvPr/>
        </p:nvSpPr>
        <p:spPr>
          <a:xfrm>
            <a:off x="6217920" y="3931920"/>
            <a:ext cx="457200" cy="457200"/>
          </a:xfrm>
          <a:prstGeom prst="ellipse">
            <a:avLst/>
          </a:prstGeom>
          <a:solidFill>
            <a:srgbClr val="1E3A5F"/>
          </a:solidFill>
          <a:ln/>
        </p:spPr>
      </p:sp>
      <p:sp>
        <p:nvSpPr>
          <p:cNvPr id="27" name="Text 25"/>
          <p:cNvSpPr/>
          <p:nvPr/>
        </p:nvSpPr>
        <p:spPr>
          <a:xfrm>
            <a:off x="621792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676656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Option Chain OI Data Informs Operations Settlement Preparation</a:t>
            </a:r>
            <a:endParaRPr lang="en-US" sz="1200" dirty="0"/>
          </a:p>
        </p:txBody>
      </p:sp>
      <p:sp>
        <p:nvSpPr>
          <p:cNvPr id="29" name="Text 27"/>
          <p:cNvSpPr/>
          <p:nvPr/>
        </p:nvSpPr>
        <p:spPr>
          <a:xfrm>
            <a:off x="626364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The week before expiry, operations teams should review the option chain OI at each strike. Large OI at near-ATM strikes means significant exercise activity is likely. Operations must pre-stage settlement instructions, confirm with custodians (for physically-settled options), and ensure adequate settlement bank capacity for the expected payoff volumes.</a:t>
            </a:r>
            <a:endParaRPr lang="en-US" sz="1000" dirty="0"/>
          </a:p>
        </p:txBody>
      </p:sp>
      <p:sp>
        <p:nvSpPr>
          <p:cNvPr id="30" name="Text 28"/>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OPT.11</a:t>
            </a:r>
            <a:endParaRPr lang="en-US" sz="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05F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THINK &amp; DISCUSS</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OPT.11</a:t>
            </a:r>
            <a:endParaRPr lang="en-US" sz="1000" dirty="0"/>
          </a:p>
        </p:txBody>
      </p:sp>
      <p:sp>
        <p:nvSpPr>
          <p:cNvPr id="9" name="Shape 7"/>
          <p:cNvSpPr/>
          <p:nvPr/>
        </p:nvSpPr>
        <p:spPr>
          <a:xfrm>
            <a:off x="365760" y="914400"/>
            <a:ext cx="11155680" cy="3840480"/>
          </a:xfrm>
          <a:prstGeom prst="rect">
            <a:avLst/>
          </a:prstGeom>
          <a:solidFill>
            <a:srgbClr val="004444"/>
          </a:solidFill>
          <a:ln w="12700">
            <a:solidFill>
              <a:srgbClr val="B8860B"/>
            </a:solidFill>
            <a:prstDash val="solid"/>
          </a:ln>
        </p:spPr>
      </p:sp>
      <p:sp>
        <p:nvSpPr>
          <p:cNvPr id="10" name="Text 8"/>
          <p:cNvSpPr/>
          <p:nvPr/>
        </p:nvSpPr>
        <p:spPr>
          <a:xfrm>
            <a:off x="9144000" y="548640"/>
            <a:ext cx="2926080" cy="457200"/>
          </a:xfrm>
          <a:prstGeom prst="rect">
            <a:avLst/>
          </a:prstGeom>
          <a:noFill/>
          <a:ln/>
        </p:spPr>
        <p:txBody>
          <a:bodyPr wrap="square" rtlCol="0" anchor="ctr"/>
          <a:lstStyle/>
          <a:p>
            <a:pPr algn="r" indent="0" marL="0">
              <a:buNone/>
            </a:pPr>
            <a:r>
              <a:rPr lang="en-US" sz="1400" b="1" dirty="0">
                <a:solidFill>
                  <a:srgbClr val="B8860B"/>
                </a:solidFill>
                <a:latin typeface="Calibri" pitchFamily="34" charset="0"/>
                <a:ea typeface="Calibri" pitchFamily="34" charset="-122"/>
                <a:cs typeface="Calibri" pitchFamily="34" charset="-120"/>
              </a:rPr>
              <a:t>2 MINUTES</a:t>
            </a:r>
            <a:endParaRPr lang="en-US" sz="1400" dirty="0"/>
          </a:p>
        </p:txBody>
      </p:sp>
      <p:sp>
        <p:nvSpPr>
          <p:cNvPr id="11" name="Text 9"/>
          <p:cNvSpPr/>
          <p:nvPr/>
        </p:nvSpPr>
        <p:spPr>
          <a:xfrm>
            <a:off x="640080" y="1188720"/>
            <a:ext cx="10607040" cy="310896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"The Nifty option chain shows: India VIX at 26 (normal = 14), PCR = 1.8, maximum open interest at 19,500 put (3% below market) and 21,000 call (7% above market). What does this tell you about: (a) market sentiment, (b) key support and resistance levels, (c) positioning for expiry, and (d) whether you should be buying or selling options right now?"</a:t>
            </a:r>
            <a:endParaRPr lang="en-US" sz="1800" dirty="0"/>
          </a:p>
        </p:txBody>
      </p:sp>
      <p:sp>
        <p:nvSpPr>
          <p:cNvPr id="12" name="Shape 10"/>
          <p:cNvSpPr/>
          <p:nvPr/>
        </p:nvSpPr>
        <p:spPr>
          <a:xfrm>
            <a:off x="0" y="5029200"/>
            <a:ext cx="12192000" cy="914400"/>
          </a:xfrm>
          <a:prstGeom prst="rect">
            <a:avLst/>
          </a:prstGeom>
          <a:solidFill>
            <a:srgbClr val="003333"/>
          </a:solidFill>
          <a:ln/>
        </p:spPr>
      </p:sp>
      <p:sp>
        <p:nvSpPr>
          <p:cNvPr id="13" name="Text 11"/>
          <p:cNvSpPr/>
          <p:nvPr/>
        </p:nvSpPr>
        <p:spPr>
          <a:xfrm>
            <a:off x="365760" y="5029200"/>
            <a:ext cx="11430000" cy="91440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Hint: VIX 26 = fear/uncertainty; PCR 1.8 = bearish (lots of put buying); 19,500 OI = market thinks this is support/hedge level; 21,000 OI = resistance. Buying: IV is high (expensive). Selling: being paid well but risk is elevated. Who's right depends on whether the uncertainty justifies the premium.</a:t>
            </a:r>
            <a:endParaRPr lang="en-US" sz="13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OPT.11</a:t>
            </a:r>
            <a:endParaRPr lang="en-US" sz="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INTERVIEW READY</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OPT.11</a:t>
            </a:r>
            <a:endParaRPr lang="en-US" sz="1000" dirty="0"/>
          </a:p>
        </p:txBody>
      </p:sp>
      <p:sp>
        <p:nvSpPr>
          <p:cNvPr id="9" name="Shape 7"/>
          <p:cNvSpPr/>
          <p:nvPr/>
        </p:nvSpPr>
        <p:spPr>
          <a:xfrm>
            <a:off x="0" y="420624"/>
            <a:ext cx="12192000" cy="1371600"/>
          </a:xfrm>
          <a:prstGeom prst="rect">
            <a:avLst/>
          </a:prstGeom>
          <a:solidFill>
            <a:srgbClr val="1E3A5F"/>
          </a:solidFill>
          <a:ln/>
        </p:spPr>
      </p:sp>
      <p:sp>
        <p:nvSpPr>
          <p:cNvPr id="10" name="Text 8"/>
          <p:cNvSpPr/>
          <p:nvPr/>
        </p:nvSpPr>
        <p:spPr>
          <a:xfrm>
            <a:off x="365760" y="502920"/>
            <a:ext cx="11430000" cy="365760"/>
          </a:xfrm>
          <a:prstGeom prst="rect">
            <a:avLst/>
          </a:prstGeom>
          <a:noFill/>
          <a:ln/>
        </p:spPr>
        <p:txBody>
          <a:bodyPr wrap="square" rtlCol="0" anchor="ctr"/>
          <a:lstStyle/>
          <a:p>
            <a:pPr indent="0" marL="0">
              <a:buNone/>
            </a:pPr>
            <a:r>
              <a:rPr lang="en-US" sz="1200" b="1" dirty="0">
                <a:solidFill>
                  <a:srgbClr val="B8860B"/>
                </a:solidFill>
                <a:latin typeface="Calibri" pitchFamily="34" charset="0"/>
                <a:ea typeface="Calibri" pitchFamily="34" charset="-122"/>
                <a:cs typeface="Calibri" pitchFamily="34" charset="-120"/>
              </a:rPr>
              <a:t>Interview Question:</a:t>
            </a:r>
            <a:endParaRPr lang="en-US" sz="1200" dirty="0"/>
          </a:p>
        </p:txBody>
      </p:sp>
      <p:sp>
        <p:nvSpPr>
          <p:cNvPr id="11" name="Text 9"/>
          <p:cNvSpPr/>
          <p:nvPr/>
        </p:nvSpPr>
        <p:spPr>
          <a:xfrm>
            <a:off x="365760" y="914400"/>
            <a:ext cx="11430000" cy="8229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"What is an option chain and how do traders use it to assess market sentiment and positioning?"</a:t>
            </a:r>
            <a:endParaRPr lang="en-US" sz="1600" dirty="0"/>
          </a:p>
        </p:txBody>
      </p:sp>
      <p:sp>
        <p:nvSpPr>
          <p:cNvPr id="12" name="Text 10"/>
          <p:cNvSpPr/>
          <p:nvPr/>
        </p:nvSpPr>
        <p:spPr>
          <a:xfrm>
            <a:off x="365760" y="1965960"/>
            <a:ext cx="11430000" cy="365760"/>
          </a:xfrm>
          <a:prstGeom prst="rect">
            <a:avLst/>
          </a:prstGeom>
          <a:noFill/>
          <a:ln/>
        </p:spPr>
        <p:txBody>
          <a:bodyPr wrap="square" rtlCol="0" anchor="ctr"/>
          <a:lstStyle/>
          <a:p>
            <a:pPr indent="0" marL="0">
              <a:buNone/>
            </a:pPr>
            <a:r>
              <a:rPr lang="en-US" sz="1100" b="1" dirty="0">
                <a:solidFill>
                  <a:srgbClr val="005F5F"/>
                </a:solidFill>
                <a:latin typeface="Calibri" pitchFamily="34" charset="0"/>
                <a:ea typeface="Calibri" pitchFamily="34" charset="-122"/>
                <a:cs typeface="Calibri" pitchFamily="34" charset="-120"/>
              </a:rPr>
              <a:t>STRONG ANSWER FRAMEWORK  (4 points):</a:t>
            </a:r>
            <a:endParaRPr lang="en-US" sz="1100" dirty="0"/>
          </a:p>
        </p:txBody>
      </p:sp>
      <p:sp>
        <p:nvSpPr>
          <p:cNvPr id="13" name="Shape 11"/>
          <p:cNvSpPr/>
          <p:nvPr/>
        </p:nvSpPr>
        <p:spPr>
          <a:xfrm>
            <a:off x="274320" y="2423160"/>
            <a:ext cx="457200" cy="640080"/>
          </a:xfrm>
          <a:prstGeom prst="rect">
            <a:avLst/>
          </a:prstGeom>
          <a:solidFill>
            <a:srgbClr val="1E3A5F"/>
          </a:solidFill>
          <a:ln/>
        </p:spPr>
      </p:sp>
      <p:sp>
        <p:nvSpPr>
          <p:cNvPr id="14" name="Text 12"/>
          <p:cNvSpPr/>
          <p:nvPr/>
        </p:nvSpPr>
        <p:spPr>
          <a:xfrm>
            <a:off x="274320" y="24231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Shape 13"/>
          <p:cNvSpPr/>
          <p:nvPr/>
        </p:nvSpPr>
        <p:spPr>
          <a:xfrm>
            <a:off x="822960" y="2423160"/>
            <a:ext cx="11064240" cy="640080"/>
          </a:xfrm>
          <a:prstGeom prst="rect">
            <a:avLst/>
          </a:prstGeom>
          <a:solidFill>
            <a:srgbClr val="D5E3F0"/>
          </a:solidFill>
          <a:ln w="6350">
            <a:solidFill>
              <a:srgbClr val="AAAAAA"/>
            </a:solidFill>
            <a:prstDash val="solid"/>
          </a:ln>
        </p:spPr>
      </p:sp>
      <p:sp>
        <p:nvSpPr>
          <p:cNvPr id="16" name="Text 14"/>
          <p:cNvSpPr/>
          <p:nvPr/>
        </p:nvSpPr>
        <p:spPr>
          <a:xfrm>
            <a:off x="914400" y="24231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An option chain is the complete organised listing of all available call and put options for a given underlying asset, across all strike prices and expiry dates. It shows bid/ask prices, last traded price, volume, open interest, and implied volatility for each option.</a:t>
            </a:r>
            <a:endParaRPr lang="en-US" sz="1200" dirty="0"/>
          </a:p>
        </p:txBody>
      </p:sp>
      <p:sp>
        <p:nvSpPr>
          <p:cNvPr id="17" name="Shape 15"/>
          <p:cNvSpPr/>
          <p:nvPr/>
        </p:nvSpPr>
        <p:spPr>
          <a:xfrm>
            <a:off x="274320" y="3337560"/>
            <a:ext cx="457200" cy="640080"/>
          </a:xfrm>
          <a:prstGeom prst="rect">
            <a:avLst/>
          </a:prstGeom>
          <a:solidFill>
            <a:srgbClr val="1E3A5F"/>
          </a:solidFill>
          <a:ln/>
        </p:spPr>
      </p:sp>
      <p:sp>
        <p:nvSpPr>
          <p:cNvPr id="18" name="Text 16"/>
          <p:cNvSpPr/>
          <p:nvPr/>
        </p:nvSpPr>
        <p:spPr>
          <a:xfrm>
            <a:off x="274320" y="33375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Shape 17"/>
          <p:cNvSpPr/>
          <p:nvPr/>
        </p:nvSpPr>
        <p:spPr>
          <a:xfrm>
            <a:off x="822960" y="3337560"/>
            <a:ext cx="11064240" cy="640080"/>
          </a:xfrm>
          <a:prstGeom prst="rect">
            <a:avLst/>
          </a:prstGeom>
          <a:solidFill>
            <a:srgbClr val="FFFFFF"/>
          </a:solidFill>
          <a:ln w="6350">
            <a:solidFill>
              <a:srgbClr val="AAAAAA"/>
            </a:solidFill>
            <a:prstDash val="solid"/>
          </a:ln>
        </p:spPr>
      </p:sp>
      <p:sp>
        <p:nvSpPr>
          <p:cNvPr id="20" name="Text 18"/>
          <p:cNvSpPr/>
          <p:nvPr/>
        </p:nvSpPr>
        <p:spPr>
          <a:xfrm>
            <a:off x="914400" y="33375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Traders use three key metrics: Put-Call Ratio (PCR = total put OI / total call OI; &gt;1 = bearish, &lt;1 = bullish), Open Interest concentration (high OI at specific strikes indicates support/resistance levels and key market positioning), and Implied Volatility across strikes (IV skew: OTM puts typically have higher IV than OTM calls, reflecting greater fear of downside).</a:t>
            </a:r>
            <a:endParaRPr lang="en-US" sz="1200" dirty="0"/>
          </a:p>
        </p:txBody>
      </p:sp>
      <p:sp>
        <p:nvSpPr>
          <p:cNvPr id="21" name="Shape 19"/>
          <p:cNvSpPr/>
          <p:nvPr/>
        </p:nvSpPr>
        <p:spPr>
          <a:xfrm>
            <a:off x="274320" y="4251960"/>
            <a:ext cx="457200" cy="640080"/>
          </a:xfrm>
          <a:prstGeom prst="rect">
            <a:avLst/>
          </a:prstGeom>
          <a:solidFill>
            <a:srgbClr val="1E3A5F"/>
          </a:solidFill>
          <a:ln/>
        </p:spPr>
      </p:sp>
      <p:sp>
        <p:nvSpPr>
          <p:cNvPr id="22" name="Text 20"/>
          <p:cNvSpPr/>
          <p:nvPr/>
        </p:nvSpPr>
        <p:spPr>
          <a:xfrm>
            <a:off x="274320" y="42519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Shape 21"/>
          <p:cNvSpPr/>
          <p:nvPr/>
        </p:nvSpPr>
        <p:spPr>
          <a:xfrm>
            <a:off x="822960" y="4251960"/>
            <a:ext cx="11064240" cy="640080"/>
          </a:xfrm>
          <a:prstGeom prst="rect">
            <a:avLst/>
          </a:prstGeom>
          <a:solidFill>
            <a:srgbClr val="D5E3F0"/>
          </a:solidFill>
          <a:ln w="6350">
            <a:solidFill>
              <a:srgbClr val="AAAAAA"/>
            </a:solidFill>
            <a:prstDash val="solid"/>
          </a:ln>
        </p:spPr>
      </p:sp>
      <p:sp>
        <p:nvSpPr>
          <p:cNvPr id="24" name="Text 22"/>
          <p:cNvSpPr/>
          <p:nvPr/>
        </p:nvSpPr>
        <p:spPr>
          <a:xfrm>
            <a:off x="914400" y="42519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India VIX — the implied volatility of Nifty ATM options — is the single most important option chain summary statistic. VIX at 26 means the market expects significant movement; VIX at 12 means calm. Options are priced accordingly.</a:t>
            </a:r>
            <a:endParaRPr lang="en-US" sz="1200" dirty="0"/>
          </a:p>
        </p:txBody>
      </p:sp>
      <p:sp>
        <p:nvSpPr>
          <p:cNvPr id="25" name="Shape 23"/>
          <p:cNvSpPr/>
          <p:nvPr/>
        </p:nvSpPr>
        <p:spPr>
          <a:xfrm>
            <a:off x="274320" y="5166360"/>
            <a:ext cx="457200" cy="640080"/>
          </a:xfrm>
          <a:prstGeom prst="rect">
            <a:avLst/>
          </a:prstGeom>
          <a:solidFill>
            <a:srgbClr val="1E3A5F"/>
          </a:solidFill>
          <a:ln/>
        </p:spPr>
      </p:sp>
      <p:sp>
        <p:nvSpPr>
          <p:cNvPr id="26" name="Text 24"/>
          <p:cNvSpPr/>
          <p:nvPr/>
        </p:nvSpPr>
        <p:spPr>
          <a:xfrm>
            <a:off x="274320" y="51663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Shape 25"/>
          <p:cNvSpPr/>
          <p:nvPr/>
        </p:nvSpPr>
        <p:spPr>
          <a:xfrm>
            <a:off x="822960" y="5166360"/>
            <a:ext cx="11064240" cy="640080"/>
          </a:xfrm>
          <a:prstGeom prst="rect">
            <a:avLst/>
          </a:prstGeom>
          <a:solidFill>
            <a:srgbClr val="FFFFFF"/>
          </a:solidFill>
          <a:ln w="6350">
            <a:solidFill>
              <a:srgbClr val="AAAAAA"/>
            </a:solidFill>
            <a:prstDash val="solid"/>
          </a:ln>
        </p:spPr>
      </p:sp>
      <p:sp>
        <p:nvSpPr>
          <p:cNvPr id="28" name="Text 26"/>
          <p:cNvSpPr/>
          <p:nvPr/>
        </p:nvSpPr>
        <p:spPr>
          <a:xfrm>
            <a:off x="914400" y="51663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For operations: option chains provide daily context for P&amp;L attribution (did premium changes match IV changes?), expiry preparation (which strikes have highest OI and exercise risk?), and risk monitoring (are vega limits being breached as IV moves?).</a:t>
            </a:r>
            <a:endParaRPr lang="en-US" sz="1200" dirty="0"/>
          </a:p>
        </p:txBody>
      </p:sp>
      <p:sp>
        <p:nvSpPr>
          <p:cNvPr id="29" name="Text 27"/>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6 · OPT.11</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67</Slides>
  <Notes>67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67</vt:i4>
      </vt:variant>
    </vt:vector>
  </HeadingPairs>
  <TitlesOfParts>
    <vt:vector size="7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2026-06-04T12:04:40Z</dcterms:created>
  <dcterms:modified xsi:type="dcterms:W3CDTF">2026-06-04T12:04:40Z</dcterms:modified>
</cp:coreProperties>
</file>