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70" r:id="rId7"/>
    <p:sldId id="272" r:id="rId8"/>
    <p:sldId id="273" r:id="rId9"/>
    <p:sldId id="274" r:id="rId10"/>
    <p:sldId id="275" r:id="rId11"/>
    <p:sldId id="276" r:id="rId12"/>
    <p:sldId id="277" r:id="rId13"/>
    <p:sldId id="278" r:id="rId14"/>
    <p:sldId id="279" r:id="rId15"/>
    <p:sldId id="280" r:id="rId16"/>
    <p:sldId id="327" r:id="rId17"/>
    <p:sldId id="328"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320" r:id="rId32"/>
    <p:sldId id="294" r:id="rId33"/>
    <p:sldId id="295"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308" r:id="rId47"/>
    <p:sldId id="309" r:id="rId48"/>
    <p:sldId id="314" r:id="rId49"/>
    <p:sldId id="321" r:id="rId50"/>
    <p:sldId id="315" r:id="rId51"/>
    <p:sldId id="310" r:id="rId52"/>
    <p:sldId id="311" r:id="rId53"/>
    <p:sldId id="330" r:id="rId54"/>
    <p:sldId id="329" r:id="rId55"/>
    <p:sldId id="331" r:id="rId56"/>
    <p:sldId id="332" r:id="rId57"/>
    <p:sldId id="312" r:id="rId58"/>
    <p:sldId id="313" r:id="rId59"/>
    <p:sldId id="316" r:id="rId60"/>
    <p:sldId id="324" r:id="rId61"/>
    <p:sldId id="317" r:id="rId62"/>
  </p:sldIdLst>
  <p:sldSz cx="12192000" cy="6858000"/>
  <p:notesSz cx="6858000" cy="9144000"/>
  <p:embeddedFontLst>
    <p:embeddedFont>
      <p:font typeface="Roboto" panose="02000000000000000000"/>
      <p:regular r:id="rId66"/>
      <p:bold r:id="rId67"/>
      <p:italic r:id="rId68"/>
      <p:boldItalic r:id="rId69"/>
    </p:embeddedFont>
    <p:embeddedFont>
      <p:font typeface="Montserrat"/>
      <p:regular r:id="rId70"/>
      <p:bold r:id="rId71"/>
      <p:italic r:id="rId72"/>
      <p:boldItalic r:id="rId73"/>
    </p:embeddedFont>
    <p:embeddedFont>
      <p:font typeface="Trebuchet MS" panose="020B0603020202020204"/>
      <p:regular r:id="rId74"/>
    </p:embeddedFont>
    <p:embeddedFont>
      <p:font typeface="Calibri" panose="020F0502020204030204"/>
      <p:regular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3765B2D-32B6-42A5-93F9-9FE912245E7B}"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8"/>
    <p:restoredTop sz="94718"/>
  </p:normalViewPr>
  <p:slideViewPr>
    <p:cSldViewPr snapToGrid="0">
      <p:cViewPr varScale="1">
        <p:scale>
          <a:sx n="99" d="100"/>
          <a:sy n="99" d="100"/>
        </p:scale>
        <p:origin x="1080"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font" Target="fonts/font10.fntdata"/><Relationship Id="rId74" Type="http://schemas.openxmlformats.org/officeDocument/2006/relationships/font" Target="fonts/font9.fntdata"/><Relationship Id="rId73" Type="http://schemas.openxmlformats.org/officeDocument/2006/relationships/font" Target="fonts/font8.fntdata"/><Relationship Id="rId72" Type="http://schemas.openxmlformats.org/officeDocument/2006/relationships/font" Target="fonts/font7.fntdata"/><Relationship Id="rId71" Type="http://schemas.openxmlformats.org/officeDocument/2006/relationships/font" Target="fonts/font6.fntdata"/><Relationship Id="rId70" Type="http://schemas.openxmlformats.org/officeDocument/2006/relationships/font" Target="fonts/font5.fntdata"/><Relationship Id="rId7" Type="http://schemas.openxmlformats.org/officeDocument/2006/relationships/slide" Target="slides/slide4.xml"/><Relationship Id="rId69" Type="http://schemas.openxmlformats.org/officeDocument/2006/relationships/font" Target="fonts/font4.fntdata"/><Relationship Id="rId68" Type="http://schemas.openxmlformats.org/officeDocument/2006/relationships/font" Target="fonts/font3.fntdata"/><Relationship Id="rId67" Type="http://schemas.openxmlformats.org/officeDocument/2006/relationships/font" Target="fonts/font2.fntdata"/><Relationship Id="rId66" Type="http://schemas.openxmlformats.org/officeDocument/2006/relationships/font" Target="fonts/font1.fntdata"/><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
        <p:cNvGrpSpPr/>
        <p:nvPr/>
      </p:nvGrpSpPr>
      <p:grpSpPr>
        <a:xfrm>
          <a:off x="0" y="0"/>
          <a:ext cx="0" cy="0"/>
          <a:chOff x="0" y="0"/>
          <a:chExt cx="0" cy="0"/>
        </a:xfrm>
      </p:grpSpPr>
      <p:sp>
        <p:nvSpPr>
          <p:cNvPr id="142" name="Google Shape;14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3" name="Google Shape;14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4"/>
        <p:cNvGrpSpPr/>
        <p:nvPr/>
      </p:nvGrpSpPr>
      <p:grpSpPr>
        <a:xfrm>
          <a:off x="0" y="0"/>
          <a:ext cx="0" cy="0"/>
          <a:chOff x="0" y="0"/>
          <a:chExt cx="0" cy="0"/>
        </a:xfrm>
      </p:grpSpPr>
      <p:sp>
        <p:nvSpPr>
          <p:cNvPr id="165" name="Google Shape;16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panose="020B0604020202020204"/>
              <a:buNone/>
            </a:pPr>
          </a:p>
        </p:txBody>
      </p:sp>
      <p:sp>
        <p:nvSpPr>
          <p:cNvPr id="166" name="Google Shape;16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5"/>
        <p:cNvGrpSpPr/>
        <p:nvPr/>
      </p:nvGrpSpPr>
      <p:grpSpPr>
        <a:xfrm>
          <a:off x="0" y="0"/>
          <a:ext cx="0" cy="0"/>
          <a:chOff x="0" y="0"/>
          <a:chExt cx="0" cy="0"/>
        </a:xfrm>
      </p:grpSpPr>
      <p:sp>
        <p:nvSpPr>
          <p:cNvPr id="276" name="Google Shape;27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277" name="Google Shape;2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2"/>
        <p:cNvGrpSpPr/>
        <p:nvPr/>
      </p:nvGrpSpPr>
      <p:grpSpPr>
        <a:xfrm>
          <a:off x="0" y="0"/>
          <a:ext cx="0" cy="0"/>
          <a:chOff x="0" y="0"/>
          <a:chExt cx="0" cy="0"/>
        </a:xfrm>
      </p:grpSpPr>
      <p:sp>
        <p:nvSpPr>
          <p:cNvPr id="293" name="Google Shape;29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4" name="Google Shape;29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02" name="Google Shape;30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8"/>
        <p:cNvGrpSpPr/>
        <p:nvPr/>
      </p:nvGrpSpPr>
      <p:grpSpPr>
        <a:xfrm>
          <a:off x="0" y="0"/>
          <a:ext cx="0" cy="0"/>
          <a:chOff x="0" y="0"/>
          <a:chExt cx="0" cy="0"/>
        </a:xfrm>
      </p:grpSpPr>
      <p:sp>
        <p:nvSpPr>
          <p:cNvPr id="309" name="Google Shape;30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0" name="Google Shape;31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6"/>
        <p:cNvGrpSpPr/>
        <p:nvPr/>
      </p:nvGrpSpPr>
      <p:grpSpPr>
        <a:xfrm>
          <a:off x="0" y="0"/>
          <a:ext cx="0" cy="0"/>
          <a:chOff x="0" y="0"/>
          <a:chExt cx="0" cy="0"/>
        </a:xfrm>
      </p:grpSpPr>
      <p:sp>
        <p:nvSpPr>
          <p:cNvPr id="317" name="Google Shape;31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8" name="Google Shape;31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4"/>
        <p:cNvGrpSpPr/>
        <p:nvPr/>
      </p:nvGrpSpPr>
      <p:grpSpPr>
        <a:xfrm>
          <a:off x="0" y="0"/>
          <a:ext cx="0" cy="0"/>
          <a:chOff x="0" y="0"/>
          <a:chExt cx="0" cy="0"/>
        </a:xfrm>
      </p:grpSpPr>
      <p:sp>
        <p:nvSpPr>
          <p:cNvPr id="325" name="Google Shape;32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6" name="Google Shape;32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4" name="Google Shape;33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0"/>
        <p:cNvGrpSpPr/>
        <p:nvPr/>
      </p:nvGrpSpPr>
      <p:grpSpPr>
        <a:xfrm>
          <a:off x="0" y="0"/>
          <a:ext cx="0" cy="0"/>
          <a:chOff x="0" y="0"/>
          <a:chExt cx="0" cy="0"/>
        </a:xfrm>
      </p:grpSpPr>
      <p:sp>
        <p:nvSpPr>
          <p:cNvPr id="341" name="Google Shape;34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42" name="Google Shape;34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8"/>
        <p:cNvGrpSpPr/>
        <p:nvPr/>
      </p:nvGrpSpPr>
      <p:grpSpPr>
        <a:xfrm>
          <a:off x="0" y="0"/>
          <a:ext cx="0" cy="0"/>
          <a:chOff x="0" y="0"/>
          <a:chExt cx="0" cy="0"/>
        </a:xfrm>
      </p:grpSpPr>
      <p:sp>
        <p:nvSpPr>
          <p:cNvPr id="349" name="Google Shape;34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0" name="Google Shape;35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8" name="Google Shape;35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4"/>
        <p:cNvGrpSpPr/>
        <p:nvPr/>
      </p:nvGrpSpPr>
      <p:grpSpPr>
        <a:xfrm>
          <a:off x="0" y="0"/>
          <a:ext cx="0" cy="0"/>
          <a:chOff x="0" y="0"/>
          <a:chExt cx="0" cy="0"/>
        </a:xfrm>
      </p:grpSpPr>
      <p:sp>
        <p:nvSpPr>
          <p:cNvPr id="325" name="Google Shape;32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6" name="Google Shape;32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6"/>
        <p:cNvGrpSpPr/>
        <p:nvPr/>
      </p:nvGrpSpPr>
      <p:grpSpPr>
        <a:xfrm>
          <a:off x="0" y="0"/>
          <a:ext cx="0" cy="0"/>
          <a:chOff x="0" y="0"/>
          <a:chExt cx="0" cy="0"/>
        </a:xfrm>
      </p:grpSpPr>
      <p:sp>
        <p:nvSpPr>
          <p:cNvPr id="287" name="Google Shape;287;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8" name="Google Shape;28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67"/>
        <p:cNvGrpSpPr/>
        <p:nvPr/>
      </p:nvGrpSpPr>
      <p:grpSpPr>
        <a:xfrm>
          <a:off x="0" y="0"/>
          <a:ext cx="0" cy="0"/>
          <a:chOff x="0" y="0"/>
          <a:chExt cx="0" cy="0"/>
        </a:xfrm>
      </p:grpSpPr>
      <p:sp>
        <p:nvSpPr>
          <p:cNvPr id="368" name="Google Shape;368;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9" name="Google Shape;36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7"/>
        <p:cNvGrpSpPr/>
        <p:nvPr/>
      </p:nvGrpSpPr>
      <p:grpSpPr>
        <a:xfrm>
          <a:off x="0" y="0"/>
          <a:ext cx="0" cy="0"/>
          <a:chOff x="0" y="0"/>
          <a:chExt cx="0" cy="0"/>
        </a:xfrm>
      </p:grpSpPr>
      <p:sp>
        <p:nvSpPr>
          <p:cNvPr id="378" name="Google Shape;37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9" name="Google Shape;37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7"/>
        <p:cNvGrpSpPr/>
        <p:nvPr/>
      </p:nvGrpSpPr>
      <p:grpSpPr>
        <a:xfrm>
          <a:off x="0" y="0"/>
          <a:ext cx="0" cy="0"/>
          <a:chOff x="0" y="0"/>
          <a:chExt cx="0" cy="0"/>
        </a:xfrm>
      </p:grpSpPr>
      <p:sp>
        <p:nvSpPr>
          <p:cNvPr id="388" name="Google Shape;388;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9" name="Google Shape;38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7"/>
        <p:cNvGrpSpPr/>
        <p:nvPr/>
      </p:nvGrpSpPr>
      <p:grpSpPr>
        <a:xfrm>
          <a:off x="0" y="0"/>
          <a:ext cx="0" cy="0"/>
          <a:chOff x="0" y="0"/>
          <a:chExt cx="0" cy="0"/>
        </a:xfrm>
      </p:grpSpPr>
      <p:sp>
        <p:nvSpPr>
          <p:cNvPr id="398" name="Google Shape;39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9" name="Google Shape;39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7"/>
        <p:cNvGrpSpPr/>
        <p:nvPr/>
      </p:nvGrpSpPr>
      <p:grpSpPr>
        <a:xfrm>
          <a:off x="0" y="0"/>
          <a:ext cx="0" cy="0"/>
          <a:chOff x="0" y="0"/>
          <a:chExt cx="0" cy="0"/>
        </a:xfrm>
      </p:grpSpPr>
      <p:sp>
        <p:nvSpPr>
          <p:cNvPr id="408" name="Google Shape;40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9" name="Google Shape;40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7"/>
        <p:cNvGrpSpPr/>
        <p:nvPr/>
      </p:nvGrpSpPr>
      <p:grpSpPr>
        <a:xfrm>
          <a:off x="0" y="0"/>
          <a:ext cx="0" cy="0"/>
          <a:chOff x="0" y="0"/>
          <a:chExt cx="0" cy="0"/>
        </a:xfrm>
      </p:grpSpPr>
      <p:sp>
        <p:nvSpPr>
          <p:cNvPr id="418" name="Google Shape;418;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9" name="Google Shape;41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27"/>
        <p:cNvGrpSpPr/>
        <p:nvPr/>
      </p:nvGrpSpPr>
      <p:grpSpPr>
        <a:xfrm>
          <a:off x="0" y="0"/>
          <a:ext cx="0" cy="0"/>
          <a:chOff x="0" y="0"/>
          <a:chExt cx="0" cy="0"/>
        </a:xfrm>
      </p:grpSpPr>
      <p:sp>
        <p:nvSpPr>
          <p:cNvPr id="428" name="Google Shape;428;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9" name="Google Shape;429;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3"/>
        <p:cNvGrpSpPr/>
        <p:nvPr/>
      </p:nvGrpSpPr>
      <p:grpSpPr>
        <a:xfrm>
          <a:off x="0" y="0"/>
          <a:ext cx="0" cy="0"/>
          <a:chOff x="0" y="0"/>
          <a:chExt cx="0" cy="0"/>
        </a:xfrm>
      </p:grpSpPr>
      <p:sp>
        <p:nvSpPr>
          <p:cNvPr id="434" name="Google Shape;43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5" name="Google Shape;43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9"/>
        <p:cNvGrpSpPr/>
        <p:nvPr/>
      </p:nvGrpSpPr>
      <p:grpSpPr>
        <a:xfrm>
          <a:off x="0" y="0"/>
          <a:ext cx="0" cy="0"/>
          <a:chOff x="0" y="0"/>
          <a:chExt cx="0" cy="0"/>
        </a:xfrm>
      </p:grpSpPr>
      <p:sp>
        <p:nvSpPr>
          <p:cNvPr id="440" name="Google Shape;44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1" name="Google Shape;44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48"/>
        <p:cNvGrpSpPr/>
        <p:nvPr/>
      </p:nvGrpSpPr>
      <p:grpSpPr>
        <a:xfrm>
          <a:off x="0" y="0"/>
          <a:ext cx="0" cy="0"/>
          <a:chOff x="0" y="0"/>
          <a:chExt cx="0" cy="0"/>
        </a:xfrm>
      </p:grpSpPr>
      <p:sp>
        <p:nvSpPr>
          <p:cNvPr id="449" name="Google Shape;44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0" name="Google Shape;45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7"/>
        <p:cNvGrpSpPr/>
        <p:nvPr/>
      </p:nvGrpSpPr>
      <p:grpSpPr>
        <a:xfrm>
          <a:off x="0" y="0"/>
          <a:ext cx="0" cy="0"/>
          <a:chOff x="0" y="0"/>
          <a:chExt cx="0" cy="0"/>
        </a:xfrm>
      </p:grpSpPr>
      <p:sp>
        <p:nvSpPr>
          <p:cNvPr id="458" name="Google Shape;458;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9" name="Google Shape;45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6"/>
        <p:cNvGrpSpPr/>
        <p:nvPr/>
      </p:nvGrpSpPr>
      <p:grpSpPr>
        <a:xfrm>
          <a:off x="0" y="0"/>
          <a:ext cx="0" cy="0"/>
          <a:chOff x="0" y="0"/>
          <a:chExt cx="0" cy="0"/>
        </a:xfrm>
      </p:grpSpPr>
      <p:sp>
        <p:nvSpPr>
          <p:cNvPr id="467" name="Google Shape;467;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8" name="Google Shape;468;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8"/>
        <p:cNvGrpSpPr/>
        <p:nvPr/>
      </p:nvGrpSpPr>
      <p:grpSpPr>
        <a:xfrm>
          <a:off x="0" y="0"/>
          <a:ext cx="0" cy="0"/>
          <a:chOff x="0" y="0"/>
          <a:chExt cx="0" cy="0"/>
        </a:xfrm>
      </p:grpSpPr>
      <p:sp>
        <p:nvSpPr>
          <p:cNvPr id="479" name="Google Shape;47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4B5563"/>
              </a:buClr>
              <a:buSzPts val="1200"/>
              <a:buFont typeface="Roboto" panose="02000000000000000000"/>
              <a:buNone/>
            </a:pPr>
            <a:r>
              <a:rPr lang="en-US" sz="1200">
                <a:solidFill>
                  <a:srgbClr val="4B5563"/>
                </a:solidFill>
                <a:latin typeface="Roboto" panose="02000000000000000000"/>
                <a:ea typeface="Roboto" panose="02000000000000000000"/>
                <a:cs typeface="Roboto" panose="02000000000000000000"/>
                <a:sym typeface="Roboto" panose="02000000000000000000"/>
              </a:rPr>
              <a:t> Without ECNs, it would take considerably longer for buyers and sellers to be matched with one another, making it more difficult to enter or exit positions and adding to the costs and risks of trading. ECNs connect major brokerages and individual traders so they can trade directly between themselves without going through a middleman.</a:t>
            </a:r>
            <a:endParaRPr lang="en-US" sz="1200">
              <a:solidFill>
                <a:srgbClr val="4B5563"/>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p>
        </p:txBody>
      </p:sp>
      <p:sp>
        <p:nvSpPr>
          <p:cNvPr id="481" name="Google Shape;481;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8"/>
        <p:cNvGrpSpPr/>
        <p:nvPr/>
      </p:nvGrpSpPr>
      <p:grpSpPr>
        <a:xfrm>
          <a:off x="0" y="0"/>
          <a:ext cx="0" cy="0"/>
          <a:chOff x="0" y="0"/>
          <a:chExt cx="0" cy="0"/>
        </a:xfrm>
      </p:grpSpPr>
      <p:sp>
        <p:nvSpPr>
          <p:cNvPr id="479" name="Google Shape;47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4B5563"/>
              </a:buClr>
              <a:buSzPts val="1200"/>
              <a:buFont typeface="Roboto" panose="02000000000000000000"/>
              <a:buNone/>
            </a:pPr>
            <a:r>
              <a:rPr lang="en-US" sz="1200">
                <a:solidFill>
                  <a:srgbClr val="4B5563"/>
                </a:solidFill>
                <a:latin typeface="Roboto" panose="02000000000000000000"/>
                <a:ea typeface="Roboto" panose="02000000000000000000"/>
                <a:cs typeface="Roboto" panose="02000000000000000000"/>
                <a:sym typeface="Roboto" panose="02000000000000000000"/>
              </a:rPr>
              <a:t> Without ECNs, it would take considerably longer for buyers and sellers to be matched with one another, making it more difficult to enter or exit positions and adding to the costs and risks of trading. ECNs connect major brokerages and individual traders so they can trade directly between themselves without going through a middleman.</a:t>
            </a:r>
            <a:endParaRPr lang="en-US" sz="1200">
              <a:solidFill>
                <a:srgbClr val="4B5563"/>
              </a:solidFill>
              <a:latin typeface="Roboto" panose="02000000000000000000"/>
              <a:ea typeface="Roboto" panose="02000000000000000000"/>
              <a:cs typeface="Roboto" panose="02000000000000000000"/>
              <a:sym typeface="Roboto" panose="02000000000000000000"/>
            </a:endParaRPr>
          </a:p>
          <a:p>
            <a:pPr marL="0" lvl="0" indent="0" algn="l" rtl="0">
              <a:spcBef>
                <a:spcPts val="0"/>
              </a:spcBef>
              <a:spcAft>
                <a:spcPts val="0"/>
              </a:spcAft>
              <a:buNone/>
            </a:pPr>
          </a:p>
        </p:txBody>
      </p:sp>
      <p:sp>
        <p:nvSpPr>
          <p:cNvPr id="481" name="Google Shape;481;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8"/>
        <p:cNvGrpSpPr/>
        <p:nvPr/>
      </p:nvGrpSpPr>
      <p:grpSpPr>
        <a:xfrm>
          <a:off x="0" y="0"/>
          <a:ext cx="0" cy="0"/>
          <a:chOff x="0" y="0"/>
          <a:chExt cx="0" cy="0"/>
        </a:xfrm>
      </p:grpSpPr>
      <p:sp>
        <p:nvSpPr>
          <p:cNvPr id="489" name="Google Shape;489;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0" name="Google Shape;49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97"/>
        <p:cNvGrpSpPr/>
        <p:nvPr/>
      </p:nvGrpSpPr>
      <p:grpSpPr>
        <a:xfrm>
          <a:off x="0" y="0"/>
          <a:ext cx="0" cy="0"/>
          <a:chOff x="0" y="0"/>
          <a:chExt cx="0" cy="0"/>
        </a:xfrm>
      </p:grpSpPr>
      <p:sp>
        <p:nvSpPr>
          <p:cNvPr id="498" name="Google Shape;498;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9" name="Google Shape;499;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5"/>
        <p:cNvGrpSpPr/>
        <p:nvPr/>
      </p:nvGrpSpPr>
      <p:grpSpPr>
        <a:xfrm>
          <a:off x="0" y="0"/>
          <a:ext cx="0" cy="0"/>
          <a:chOff x="0" y="0"/>
          <a:chExt cx="0" cy="0"/>
        </a:xfrm>
      </p:grpSpPr>
      <p:sp>
        <p:nvSpPr>
          <p:cNvPr id="506" name="Google Shape;50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7" name="Google Shape;50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rPr>
              <a:t>The Middle Office will start the process of making each transaction ready for clearing. This involves the following activities:</a:t>
            </a:r>
            <a:endPar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04800" algn="l" rtl="0">
              <a:lnSpc>
                <a:spcPct val="115000"/>
              </a:lnSpc>
              <a:spcBef>
                <a:spcPts val="180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dealer has entered all the required information on the trade ticket.</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Calculating the purchase costs or sale proceeds. This will include accrued interest for bonds, stamp duty for equities (where appropriate) and brokerage fees for client transactions. For simplicity, we will not consider stamp duty for our settlement simulation example.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Updating the company's risk profiles. This includes ensuring that the individual dealer is authorised to trade these particular assets and whether or not the dealer has exceeded trading limits. With equities in particular, it is also important to ensure that any post-trade positions do not breach disclosure levels (in the event that they do, these positions need to be disclosed to the appropriate authorities).</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quantity of securities traded is an exact multiple of that security's board lot size.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800"/>
              </a:spcBef>
              <a:spcAft>
                <a:spcPts val="0"/>
              </a:spcAft>
              <a:buClr>
                <a:schemeClr val="dk1"/>
              </a:buClr>
              <a:buSzPts val="1400"/>
              <a:buFont typeface="Calibri" panose="020F0502020204030204"/>
              <a:buNone/>
            </a:pPr>
          </a:p>
          <a:p>
            <a:pPr marL="0" lvl="0" indent="0" algn="l" rtl="0">
              <a:spcBef>
                <a:spcPts val="0"/>
              </a:spcBef>
              <a:spcAft>
                <a:spcPts val="0"/>
              </a:spcAft>
              <a:buNone/>
            </a:pPr>
          </a:p>
        </p:txBody>
      </p:sp>
      <p:sp>
        <p:nvSpPr>
          <p:cNvPr id="508" name="Google Shape;508;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5"/>
        <p:cNvGrpSpPr/>
        <p:nvPr/>
      </p:nvGrpSpPr>
      <p:grpSpPr>
        <a:xfrm>
          <a:off x="0" y="0"/>
          <a:ext cx="0" cy="0"/>
          <a:chOff x="0" y="0"/>
          <a:chExt cx="0" cy="0"/>
        </a:xfrm>
      </p:grpSpPr>
      <p:sp>
        <p:nvSpPr>
          <p:cNvPr id="516" name="Google Shape;51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7" name="Google Shape;517;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rPr>
              <a:t>The Middle Office will start the process of making each transaction ready for clearing. This involves the following activities:</a:t>
            </a:r>
            <a:endPar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04800" algn="l" rtl="0">
              <a:lnSpc>
                <a:spcPct val="115000"/>
              </a:lnSpc>
              <a:spcBef>
                <a:spcPts val="180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dealer has entered all the required information on the trade ticket.</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Calculating the purchase costs or sale proceeds. This will include accrued interest for bonds, stamp duty for equities (where appropriate) and brokerage fees for client transactions. For simplicity, we will not consider stamp duty for our settlement simulation example.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Updating the company's risk profiles. This includes ensuring that the individual dealer is authorised to trade these particular assets and whether or not the dealer has exceeded trading limits. With equities in particular, it is also important to ensure that any post-trade positions do not breach disclosure levels (in the event that they do, these positions need to be disclosed to the appropriate authorities).</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quantity of securities traded is an exact multiple of that security's board lot size.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800"/>
              </a:spcBef>
              <a:spcAft>
                <a:spcPts val="0"/>
              </a:spcAft>
              <a:buClr>
                <a:schemeClr val="dk1"/>
              </a:buClr>
              <a:buSzPts val="1400"/>
              <a:buFont typeface="Calibri" panose="020F0502020204030204"/>
              <a:buNone/>
            </a:pPr>
          </a:p>
          <a:p>
            <a:pPr marL="0" lvl="0" indent="0" algn="l" rtl="0">
              <a:spcBef>
                <a:spcPts val="0"/>
              </a:spcBef>
              <a:spcAft>
                <a:spcPts val="0"/>
              </a:spcAft>
              <a:buNone/>
            </a:pPr>
          </a:p>
        </p:txBody>
      </p:sp>
      <p:sp>
        <p:nvSpPr>
          <p:cNvPr id="518" name="Google Shape;518;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22"/>
        <p:cNvGrpSpPr/>
        <p:nvPr/>
      </p:nvGrpSpPr>
      <p:grpSpPr>
        <a:xfrm>
          <a:off x="0" y="0"/>
          <a:ext cx="0" cy="0"/>
          <a:chOff x="0" y="0"/>
          <a:chExt cx="0" cy="0"/>
        </a:xfrm>
      </p:grpSpPr>
      <p:sp>
        <p:nvSpPr>
          <p:cNvPr id="523" name="Google Shape;52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4" name="Google Shape;52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rPr>
              <a:t>The Middle Office will start the process of making each transaction ready for clearing. This involves the following activities:</a:t>
            </a:r>
            <a:endPar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04800" algn="l" rtl="0">
              <a:lnSpc>
                <a:spcPct val="115000"/>
              </a:lnSpc>
              <a:spcBef>
                <a:spcPts val="180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dealer has entered all the required information on the trade ticket.</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Calculating the purchase costs or sale proceeds. This will include accrued interest for bonds, stamp duty for equities (where appropriate) and brokerage fees for client transactions. For simplicity, we will not consider stamp duty for our settlement simulation example.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Updating the company's risk profiles. This includes ensuring that the individual dealer is authorised to trade these particular assets and whether or not the dealer has exceeded trading limits. With equities in particular, it is also important to ensure that any post-trade positions do not breach disclosure levels (in the event that they do, these positions need to be disclosed to the appropriate authorities).</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quantity of securities traded is an exact multiple of that security's board lot size.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800"/>
              </a:spcBef>
              <a:spcAft>
                <a:spcPts val="0"/>
              </a:spcAft>
              <a:buClr>
                <a:schemeClr val="dk1"/>
              </a:buClr>
              <a:buSzPts val="1400"/>
              <a:buFont typeface="Calibri" panose="020F0502020204030204"/>
              <a:buNone/>
            </a:pPr>
          </a:p>
          <a:p>
            <a:pPr marL="0" lvl="0" indent="0" algn="l" rtl="0">
              <a:spcBef>
                <a:spcPts val="0"/>
              </a:spcBef>
              <a:spcAft>
                <a:spcPts val="0"/>
              </a:spcAft>
              <a:buNone/>
            </a:pPr>
          </a:p>
        </p:txBody>
      </p:sp>
      <p:sp>
        <p:nvSpPr>
          <p:cNvPr id="525" name="Google Shape;52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2"/>
        <p:cNvGrpSpPr/>
        <p:nvPr/>
      </p:nvGrpSpPr>
      <p:grpSpPr>
        <a:xfrm>
          <a:off x="0" y="0"/>
          <a:ext cx="0" cy="0"/>
          <a:chOff x="0" y="0"/>
          <a:chExt cx="0" cy="0"/>
        </a:xfrm>
      </p:grpSpPr>
      <p:sp>
        <p:nvSpPr>
          <p:cNvPr id="533" name="Google Shape;53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rPr>
              <a:t>The Middle Office will start the process of making each transaction ready for clearing. This involves the following activities:</a:t>
            </a:r>
            <a:endPar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04800" algn="l" rtl="0">
              <a:lnSpc>
                <a:spcPct val="115000"/>
              </a:lnSpc>
              <a:spcBef>
                <a:spcPts val="180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dealer has entered all the required information on the trade ticket.</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Calculating the purchase costs or sale proceeds. This will include accrued interest for bonds, stamp duty for equities (where appropriate) and brokerage fees for client transactions. For simplicity, we will not consider stamp duty for our settlement simulation example.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Updating the company's risk profiles. This includes ensuring that the individual dealer is authorised to trade these particular assets and whether or not the dealer has exceeded trading limits. With equities in particular, it is also important to ensure that any post-trade positions do not breach disclosure levels (in the event that they do, these positions need to be disclosed to the appropriate authorities).</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quantity of securities traded is an exact multiple of that security's board lot size.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800"/>
              </a:spcBef>
              <a:spcAft>
                <a:spcPts val="0"/>
              </a:spcAft>
              <a:buClr>
                <a:schemeClr val="dk1"/>
              </a:buClr>
              <a:buSzPts val="1400"/>
              <a:buFont typeface="Calibri" panose="020F0502020204030204"/>
              <a:buNone/>
            </a:pPr>
          </a:p>
          <a:p>
            <a:pPr marL="0" lvl="0" indent="0" algn="l" rtl="0">
              <a:spcBef>
                <a:spcPts val="0"/>
              </a:spcBef>
              <a:spcAft>
                <a:spcPts val="0"/>
              </a:spcAft>
              <a:buNone/>
            </a:pPr>
          </a:p>
        </p:txBody>
      </p:sp>
      <p:sp>
        <p:nvSpPr>
          <p:cNvPr id="535" name="Google Shape;535;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2"/>
        <p:cNvGrpSpPr/>
        <p:nvPr/>
      </p:nvGrpSpPr>
      <p:grpSpPr>
        <a:xfrm>
          <a:off x="0" y="0"/>
          <a:ext cx="0" cy="0"/>
          <a:chOff x="0" y="0"/>
          <a:chExt cx="0" cy="0"/>
        </a:xfrm>
      </p:grpSpPr>
      <p:sp>
        <p:nvSpPr>
          <p:cNvPr id="543" name="Google Shape;54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panose="020B0604020202020204"/>
              <a:buNone/>
            </a:pPr>
            <a:r>
              <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rPr>
              <a:t>The Middle Office will start the process of making each transaction ready for clearing. This involves the following activities:</a:t>
            </a:r>
            <a:endParaRPr lang="en-US">
              <a:solidFill>
                <a:srgbClr val="3D3B49"/>
              </a:solidFill>
              <a:highlight>
                <a:srgbClr val="FFFFFF"/>
              </a:highlight>
              <a:latin typeface="Arial" panose="020B0604020202020204"/>
              <a:ea typeface="Arial" panose="020B0604020202020204"/>
              <a:cs typeface="Arial" panose="020B0604020202020204"/>
              <a:sym typeface="Arial" panose="020B0604020202020204"/>
            </a:endParaRPr>
          </a:p>
          <a:p>
            <a:pPr marL="457200" lvl="0" indent="-304800" algn="l" rtl="0">
              <a:lnSpc>
                <a:spcPct val="115000"/>
              </a:lnSpc>
              <a:spcBef>
                <a:spcPts val="180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dealer has entered all the required information on the trade ticket.</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Calculating the purchase costs or sale proceeds. This will include accrued interest for bonds, stamp duty for equities (where appropriate) and brokerage fees for client transactions. For simplicity, we will not consider stamp duty for our settlement simulation example.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Updating the company's risk profiles. This includes ensuring that the individual dealer is authorised to trade these particular assets and whether or not the dealer has exceeded trading limits. With equities in particular, it is also important to ensure that any post-trade positions do not breach disclosure levels (in the event that they do, these positions need to be disclosed to the appropriate authorities).</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457200" lvl="0" indent="-304800" algn="l" rtl="0">
              <a:lnSpc>
                <a:spcPct val="115000"/>
              </a:lnSpc>
              <a:spcBef>
                <a:spcPts val="0"/>
              </a:spcBef>
              <a:spcAft>
                <a:spcPts val="0"/>
              </a:spcAft>
              <a:buClr>
                <a:srgbClr val="3D3B49"/>
              </a:buClr>
              <a:buSzPts val="1200"/>
              <a:buFont typeface="Times New Roman" panose="02020603050405020304"/>
              <a:buChar char="●"/>
            </a:pPr>
            <a:r>
              <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rPr>
              <a:t>Ensuring that the quantity of securities traded is an exact multiple of that security's board lot size.</a:t>
            </a:r>
            <a:endParaRPr lang="en-US">
              <a:solidFill>
                <a:srgbClr val="3D3B49"/>
              </a:solidFill>
              <a:highlight>
                <a:srgbClr val="FFFFFF"/>
              </a:highlight>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00000"/>
              </a:lnSpc>
              <a:spcBef>
                <a:spcPts val="1800"/>
              </a:spcBef>
              <a:spcAft>
                <a:spcPts val="0"/>
              </a:spcAft>
              <a:buClr>
                <a:schemeClr val="dk1"/>
              </a:buClr>
              <a:buSzPts val="1400"/>
              <a:buFont typeface="Calibri" panose="020F0502020204030204"/>
              <a:buNone/>
            </a:pPr>
          </a:p>
          <a:p>
            <a:pPr marL="0" lvl="0" indent="0" algn="l" rtl="0">
              <a:spcBef>
                <a:spcPts val="0"/>
              </a:spcBef>
              <a:spcAft>
                <a:spcPts val="0"/>
              </a:spcAft>
              <a:buNone/>
            </a:pPr>
          </a:p>
        </p:txBody>
      </p:sp>
      <p:sp>
        <p:nvSpPr>
          <p:cNvPr id="545" name="Google Shape;545;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52"/>
        <p:cNvGrpSpPr/>
        <p:nvPr/>
      </p:nvGrpSpPr>
      <p:grpSpPr>
        <a:xfrm>
          <a:off x="0" y="0"/>
          <a:ext cx="0" cy="0"/>
          <a:chOff x="0" y="0"/>
          <a:chExt cx="0" cy="0"/>
        </a:xfrm>
      </p:grpSpPr>
      <p:sp>
        <p:nvSpPr>
          <p:cNvPr id="553" name="Google Shape;55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4" name="Google Shape;55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0"/>
        <p:cNvGrpSpPr/>
        <p:nvPr/>
      </p:nvGrpSpPr>
      <p:grpSpPr>
        <a:xfrm>
          <a:off x="0" y="0"/>
          <a:ext cx="0" cy="0"/>
          <a:chOff x="0" y="0"/>
          <a:chExt cx="0" cy="0"/>
        </a:xfrm>
      </p:grpSpPr>
      <p:sp>
        <p:nvSpPr>
          <p:cNvPr id="561" name="Google Shape;561;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2" name="Google Shape;562;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9"/>
        <p:cNvGrpSpPr/>
        <p:nvPr/>
      </p:nvGrpSpPr>
      <p:grpSpPr>
        <a:xfrm>
          <a:off x="0" y="0"/>
          <a:ext cx="0" cy="0"/>
          <a:chOff x="0" y="0"/>
          <a:chExt cx="0" cy="0"/>
        </a:xfrm>
      </p:grpSpPr>
      <p:sp>
        <p:nvSpPr>
          <p:cNvPr id="570" name="Google Shape;570;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1" name="Google Shape;571;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9"/>
        <p:cNvGrpSpPr/>
        <p:nvPr/>
      </p:nvGrpSpPr>
      <p:grpSpPr>
        <a:xfrm>
          <a:off x="0" y="0"/>
          <a:ext cx="0" cy="0"/>
          <a:chOff x="0" y="0"/>
          <a:chExt cx="0" cy="0"/>
        </a:xfrm>
      </p:grpSpPr>
      <p:sp>
        <p:nvSpPr>
          <p:cNvPr id="580" name="Google Shape;580;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81" name="Google Shape;58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90"/>
        <p:cNvGrpSpPr/>
        <p:nvPr/>
      </p:nvGrpSpPr>
      <p:grpSpPr>
        <a:xfrm>
          <a:off x="0" y="0"/>
          <a:ext cx="0" cy="0"/>
          <a:chOff x="0" y="0"/>
          <a:chExt cx="0" cy="0"/>
        </a:xfrm>
      </p:grpSpPr>
      <p:sp>
        <p:nvSpPr>
          <p:cNvPr id="591" name="Google Shape;591;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2" name="Google Shape;59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1"/>
        <p:cNvGrpSpPr/>
        <p:nvPr/>
      </p:nvGrpSpPr>
      <p:grpSpPr>
        <a:xfrm>
          <a:off x="0" y="0"/>
          <a:ext cx="0" cy="0"/>
          <a:chOff x="0" y="0"/>
          <a:chExt cx="0" cy="0"/>
        </a:xfrm>
      </p:grpSpPr>
      <p:sp>
        <p:nvSpPr>
          <p:cNvPr id="602" name="Google Shape;602;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03" name="Google Shape;603;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2"/>
        <p:cNvGrpSpPr/>
        <p:nvPr/>
      </p:nvGrpSpPr>
      <p:grpSpPr>
        <a:xfrm>
          <a:off x="0" y="0"/>
          <a:ext cx="0" cy="0"/>
          <a:chOff x="0" y="0"/>
          <a:chExt cx="0" cy="0"/>
        </a:xfrm>
      </p:grpSpPr>
      <p:sp>
        <p:nvSpPr>
          <p:cNvPr id="613" name="Google Shape;613;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14" name="Google Shape;614;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23"/>
        <p:cNvGrpSpPr/>
        <p:nvPr/>
      </p:nvGrpSpPr>
      <p:grpSpPr>
        <a:xfrm>
          <a:off x="0" y="0"/>
          <a:ext cx="0" cy="0"/>
          <a:chOff x="0" y="0"/>
          <a:chExt cx="0" cy="0"/>
        </a:xfrm>
      </p:grpSpPr>
      <p:sp>
        <p:nvSpPr>
          <p:cNvPr id="624" name="Google Shape;624;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25" name="Google Shape;625;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34"/>
        <p:cNvGrpSpPr/>
        <p:nvPr/>
      </p:nvGrpSpPr>
      <p:grpSpPr>
        <a:xfrm>
          <a:off x="0" y="0"/>
          <a:ext cx="0" cy="0"/>
          <a:chOff x="0" y="0"/>
          <a:chExt cx="0" cy="0"/>
        </a:xfrm>
      </p:grpSpPr>
      <p:sp>
        <p:nvSpPr>
          <p:cNvPr id="635" name="Google Shape;635;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36" name="Google Shape;636;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1"/>
        <p:cNvGrpSpPr/>
        <p:nvPr/>
      </p:nvGrpSpPr>
      <p:grpSpPr>
        <a:xfrm>
          <a:off x="0" y="0"/>
          <a:ext cx="0" cy="0"/>
          <a:chOff x="0" y="0"/>
          <a:chExt cx="0" cy="0"/>
        </a:xfrm>
      </p:grpSpPr>
      <p:sp>
        <p:nvSpPr>
          <p:cNvPr id="682" name="Google Shape;682;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3" name="Google Shape;68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81"/>
        <p:cNvGrpSpPr/>
        <p:nvPr/>
      </p:nvGrpSpPr>
      <p:grpSpPr>
        <a:xfrm>
          <a:off x="0" y="0"/>
          <a:ext cx="0" cy="0"/>
          <a:chOff x="0" y="0"/>
          <a:chExt cx="0" cy="0"/>
        </a:xfrm>
      </p:grpSpPr>
      <p:sp>
        <p:nvSpPr>
          <p:cNvPr id="682" name="Google Shape;682;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83" name="Google Shape;683;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0"/>
        <p:cNvGrpSpPr/>
        <p:nvPr/>
      </p:nvGrpSpPr>
      <p:grpSpPr>
        <a:xfrm>
          <a:off x="0" y="0"/>
          <a:ext cx="0" cy="0"/>
          <a:chOff x="0" y="0"/>
          <a:chExt cx="0" cy="0"/>
        </a:xfrm>
      </p:grpSpPr>
      <p:sp>
        <p:nvSpPr>
          <p:cNvPr id="691" name="Google Shape;691;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2" name="Google Shape;69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45"/>
        <p:cNvGrpSpPr/>
        <p:nvPr/>
      </p:nvGrpSpPr>
      <p:grpSpPr>
        <a:xfrm>
          <a:off x="0" y="0"/>
          <a:ext cx="0" cy="0"/>
          <a:chOff x="0" y="0"/>
          <a:chExt cx="0" cy="0"/>
        </a:xfrm>
      </p:grpSpPr>
      <p:sp>
        <p:nvSpPr>
          <p:cNvPr id="646" name="Google Shape;646;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47" name="Google Shape;647;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53"/>
        <p:cNvGrpSpPr/>
        <p:nvPr/>
      </p:nvGrpSpPr>
      <p:grpSpPr>
        <a:xfrm>
          <a:off x="0" y="0"/>
          <a:ext cx="0" cy="0"/>
          <a:chOff x="0" y="0"/>
          <a:chExt cx="0" cy="0"/>
        </a:xfrm>
      </p:grpSpPr>
      <p:sp>
        <p:nvSpPr>
          <p:cNvPr id="654" name="Google Shape;654;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55" name="Google Shape;65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1"/>
        <p:cNvGrpSpPr/>
        <p:nvPr/>
      </p:nvGrpSpPr>
      <p:grpSpPr>
        <a:xfrm>
          <a:off x="0" y="0"/>
          <a:ext cx="0" cy="0"/>
          <a:chOff x="0" y="0"/>
          <a:chExt cx="0" cy="0"/>
        </a:xfrm>
      </p:grpSpPr>
      <p:sp>
        <p:nvSpPr>
          <p:cNvPr id="662" name="Google Shape;662;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63" name="Google Shape;66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71"/>
        <p:cNvGrpSpPr/>
        <p:nvPr/>
      </p:nvGrpSpPr>
      <p:grpSpPr>
        <a:xfrm>
          <a:off x="0" y="0"/>
          <a:ext cx="0" cy="0"/>
          <a:chOff x="0" y="0"/>
          <a:chExt cx="0" cy="0"/>
        </a:xfrm>
      </p:grpSpPr>
      <p:sp>
        <p:nvSpPr>
          <p:cNvPr id="672" name="Google Shape;672;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73" name="Google Shape;67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6"/>
        <p:cNvGrpSpPr/>
        <p:nvPr/>
      </p:nvGrpSpPr>
      <p:grpSpPr>
        <a:xfrm>
          <a:off x="0" y="0"/>
          <a:ext cx="0" cy="0"/>
          <a:chOff x="0" y="0"/>
          <a:chExt cx="0" cy="0"/>
        </a:xfrm>
      </p:grpSpPr>
      <p:sp>
        <p:nvSpPr>
          <p:cNvPr id="697" name="Google Shape;697;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698" name="Google Shape;698;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2"/>
        <p:cNvGrpSpPr/>
        <p:nvPr/>
      </p:nvGrpSpPr>
      <p:grpSpPr>
        <a:xfrm>
          <a:off x="0" y="0"/>
          <a:ext cx="0" cy="0"/>
          <a:chOff x="0" y="0"/>
          <a:chExt cx="0" cy="0"/>
        </a:xfrm>
      </p:grpSpPr>
      <p:sp>
        <p:nvSpPr>
          <p:cNvPr id="603" name="Google Shape;603;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604" name="Google Shape;604;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05"/>
        <p:cNvGrpSpPr/>
        <p:nvPr/>
      </p:nvGrpSpPr>
      <p:grpSpPr>
        <a:xfrm>
          <a:off x="0" y="0"/>
          <a:ext cx="0" cy="0"/>
          <a:chOff x="0" y="0"/>
          <a:chExt cx="0" cy="0"/>
        </a:xfrm>
      </p:grpSpPr>
      <p:sp>
        <p:nvSpPr>
          <p:cNvPr id="706" name="Google Shape;706;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07" name="Google Shape;707;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6"/>
        <p:cNvGrpSpPr/>
        <p:nvPr/>
      </p:nvGrpSpPr>
      <p:grpSpPr>
        <a:xfrm>
          <a:off x="0" y="0"/>
          <a:ext cx="0" cy="0"/>
          <a:chOff x="0" y="0"/>
          <a:chExt cx="0" cy="0"/>
        </a:xfrm>
      </p:grpSpPr>
      <p:sp>
        <p:nvSpPr>
          <p:cNvPr id="17" name="Google Shape;17;p64"/>
          <p:cNvSpPr>
            <a:spLocks noGrp="1"/>
          </p:cNvSpPr>
          <p:nvPr>
            <p:ph type="pic" idx="2"/>
          </p:nvPr>
        </p:nvSpPr>
        <p:spPr>
          <a:xfrm>
            <a:off x="3978704" y="-174171"/>
            <a:ext cx="8412466" cy="7206342"/>
          </a:xfrm>
          <a:prstGeom prst="rect">
            <a:avLst/>
          </a:prstGeom>
          <a:solidFill>
            <a:srgbClr val="F2F2F2"/>
          </a:solidFill>
          <a:ln>
            <a:noFill/>
          </a:ln>
        </p:spPr>
      </p:sp>
      <p:sp>
        <p:nvSpPr>
          <p:cNvPr id="18" name="Google Shape;18;p6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19"/>
        <p:cNvGrpSpPr/>
        <p:nvPr/>
      </p:nvGrpSpPr>
      <p:grpSpPr>
        <a:xfrm>
          <a:off x="0" y="0"/>
          <a:ext cx="0" cy="0"/>
          <a:chOff x="0" y="0"/>
          <a:chExt cx="0" cy="0"/>
        </a:xfrm>
      </p:grpSpPr>
      <p:sp>
        <p:nvSpPr>
          <p:cNvPr id="20" name="Google Shape;20;p65"/>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2">
  <p:cSld name="Title - 22">
    <p:spTree>
      <p:nvGrpSpPr>
        <p:cNvPr id="1" name="Shape 21"/>
        <p:cNvGrpSpPr/>
        <p:nvPr/>
      </p:nvGrpSpPr>
      <p:grpSpPr>
        <a:xfrm>
          <a:off x="0" y="0"/>
          <a:ext cx="0" cy="0"/>
          <a:chOff x="0" y="0"/>
          <a:chExt cx="0" cy="0"/>
        </a:xfrm>
      </p:grpSpPr>
      <p:sp>
        <p:nvSpPr>
          <p:cNvPr id="22" name="Google Shape;22;p66"/>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66"/>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6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 name="Google Shape;25;p6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6" name="Google Shape;26;p66"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ide">
  <p:cSld name="29_slide">
    <p:spTree>
      <p:nvGrpSpPr>
        <p:cNvPr id="1" name="Shape 27"/>
        <p:cNvGrpSpPr/>
        <p:nvPr/>
      </p:nvGrpSpPr>
      <p:grpSpPr>
        <a:xfrm>
          <a:off x="0" y="0"/>
          <a:ext cx="0" cy="0"/>
          <a:chOff x="0" y="0"/>
          <a:chExt cx="0" cy="0"/>
        </a:xfrm>
      </p:grpSpPr>
      <p:sp>
        <p:nvSpPr>
          <p:cNvPr id="28" name="Google Shape;28;p67"/>
          <p:cNvSpPr>
            <a:spLocks noGrp="1"/>
          </p:cNvSpPr>
          <p:nvPr>
            <p:ph type="pic" idx="2"/>
          </p:nvPr>
        </p:nvSpPr>
        <p:spPr>
          <a:xfrm>
            <a:off x="3978704" y="-174171"/>
            <a:ext cx="8412466" cy="7206342"/>
          </a:xfrm>
          <a:prstGeom prst="rect">
            <a:avLst/>
          </a:prstGeom>
          <a:solidFill>
            <a:srgbClr val="F2F2F2"/>
          </a:solidFill>
          <a:ln>
            <a:noFill/>
          </a:ln>
        </p:spPr>
      </p:sp>
      <p:sp>
        <p:nvSpPr>
          <p:cNvPr id="29" name="Google Shape;29;p6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30"/>
        <p:cNvGrpSpPr/>
        <p:nvPr/>
      </p:nvGrpSpPr>
      <p:grpSpPr>
        <a:xfrm>
          <a:off x="0" y="0"/>
          <a:ext cx="0" cy="0"/>
          <a:chOff x="0" y="0"/>
          <a:chExt cx="0" cy="0"/>
        </a:xfrm>
      </p:grpSpPr>
      <p:sp>
        <p:nvSpPr>
          <p:cNvPr id="31" name="Google Shape;31;p68"/>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2"/>
        <p:cNvGrpSpPr/>
        <p:nvPr/>
      </p:nvGrpSpPr>
      <p:grpSpPr>
        <a:xfrm>
          <a:off x="0" y="0"/>
          <a:ext cx="0" cy="0"/>
          <a:chOff x="0" y="0"/>
          <a:chExt cx="0" cy="0"/>
        </a:xfrm>
      </p:grpSpPr>
      <p:sp>
        <p:nvSpPr>
          <p:cNvPr id="33" name="Google Shape;33;p69"/>
          <p:cNvSpPr>
            <a:spLocks noGrp="1"/>
          </p:cNvSpPr>
          <p:nvPr>
            <p:ph type="media" idx="2"/>
          </p:nvPr>
        </p:nvSpPr>
        <p:spPr>
          <a:xfrm>
            <a:off x="874610" y="1346252"/>
            <a:ext cx="9921875" cy="47894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4" name="Google Shape;34;p69"/>
          <p:cNvSpPr txBox="1">
            <a:spLocks noGrp="1"/>
          </p:cNvSpPr>
          <p:nvPr>
            <p:ph type="title"/>
          </p:nvPr>
        </p:nvSpPr>
        <p:spPr>
          <a:xfrm>
            <a:off x="874610" y="443784"/>
            <a:ext cx="10515600" cy="5787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36" name="Google Shape;36;p69"/>
          <p:cNvSpPr/>
          <p:nvPr/>
        </p:nvSpPr>
        <p:spPr>
          <a:xfrm>
            <a:off x="5281257" y="3244334"/>
            <a:ext cx="16294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TABLE SLIDE</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37" name="Google Shape;37;p69"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38"/>
        <p:cNvGrpSpPr/>
        <p:nvPr/>
      </p:nvGrpSpPr>
      <p:grpSpPr>
        <a:xfrm>
          <a:off x="0" y="0"/>
          <a:ext cx="0" cy="0"/>
          <a:chOff x="0" y="0"/>
          <a:chExt cx="0" cy="0"/>
        </a:xfrm>
      </p:grpSpPr>
      <p:sp>
        <p:nvSpPr>
          <p:cNvPr id="39" name="Google Shape;39;p70"/>
          <p:cNvSpPr>
            <a:spLocks noGrp="1"/>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1" name="Shape 40"/>
        <p:cNvGrpSpPr/>
        <p:nvPr/>
      </p:nvGrpSpPr>
      <p:grpSpPr>
        <a:xfrm>
          <a:off x="0" y="0"/>
          <a:ext cx="0" cy="0"/>
          <a:chOff x="0" y="0"/>
          <a:chExt cx="0" cy="0"/>
        </a:xfrm>
      </p:grpSpPr>
      <p:sp>
        <p:nvSpPr>
          <p:cNvPr id="41" name="Google Shape;41;p71"/>
          <p:cNvSpPr>
            <a:spLocks noGrp="1"/>
          </p:cNvSpPr>
          <p:nvPr>
            <p:ph type="pic" idx="2"/>
          </p:nvPr>
        </p:nvSpPr>
        <p:spPr>
          <a:xfrm>
            <a:off x="-199169" y="-174171"/>
            <a:ext cx="12590339" cy="4288971"/>
          </a:xfrm>
          <a:prstGeom prst="rect">
            <a:avLst/>
          </a:prstGeom>
          <a:solidFill>
            <a:srgbClr val="F2F2F2"/>
          </a:solidFill>
          <a:ln>
            <a:noFill/>
          </a:ln>
        </p:spPr>
      </p:sp>
      <p:sp>
        <p:nvSpPr>
          <p:cNvPr id="42" name="Google Shape;42;p71"/>
          <p:cNvSpPr txBox="1">
            <a:spLocks noGrp="1"/>
          </p:cNvSpPr>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1" name="Shape 43"/>
        <p:cNvGrpSpPr/>
        <p:nvPr/>
      </p:nvGrpSpPr>
      <p:grpSpPr>
        <a:xfrm>
          <a:off x="0" y="0"/>
          <a:ext cx="0" cy="0"/>
          <a:chOff x="0" y="0"/>
          <a:chExt cx="0" cy="0"/>
        </a:xfrm>
      </p:grpSpPr>
      <p:sp>
        <p:nvSpPr>
          <p:cNvPr id="44" name="Google Shape;44;p72"/>
          <p:cNvSpPr>
            <a:spLocks noGrp="1"/>
          </p:cNvSpPr>
          <p:nvPr>
            <p:ph type="pic" idx="2"/>
          </p:nvPr>
        </p:nvSpPr>
        <p:spPr>
          <a:xfrm>
            <a:off x="3576130" y="2940877"/>
            <a:ext cx="1389961" cy="1389597"/>
          </a:xfrm>
          <a:prstGeom prst="ellipse">
            <a:avLst/>
          </a:prstGeom>
          <a:solidFill>
            <a:srgbClr val="F2F2F2"/>
          </a:solidFill>
          <a:ln>
            <a:noFill/>
          </a:ln>
        </p:spPr>
      </p:sp>
      <p:sp>
        <p:nvSpPr>
          <p:cNvPr id="45" name="Google Shape;45;p72"/>
          <p:cNvSpPr>
            <a:spLocks noGrp="1"/>
          </p:cNvSpPr>
          <p:nvPr>
            <p:ph type="pic" idx="3"/>
          </p:nvPr>
        </p:nvSpPr>
        <p:spPr>
          <a:xfrm>
            <a:off x="4492911" y="1447800"/>
            <a:ext cx="1389961" cy="1389597"/>
          </a:xfrm>
          <a:prstGeom prst="ellipse">
            <a:avLst/>
          </a:prstGeom>
          <a:solidFill>
            <a:srgbClr val="F2F2F2"/>
          </a:solidFill>
          <a:ln>
            <a:noFill/>
          </a:ln>
        </p:spPr>
      </p:sp>
      <p:sp>
        <p:nvSpPr>
          <p:cNvPr id="46" name="Google Shape;46;p72"/>
          <p:cNvSpPr>
            <a:spLocks noGrp="1"/>
          </p:cNvSpPr>
          <p:nvPr>
            <p:ph type="pic" idx="4"/>
          </p:nvPr>
        </p:nvSpPr>
        <p:spPr>
          <a:xfrm>
            <a:off x="6309129" y="1447800"/>
            <a:ext cx="1389961" cy="1389597"/>
          </a:xfrm>
          <a:prstGeom prst="ellipse">
            <a:avLst/>
          </a:prstGeom>
          <a:solidFill>
            <a:srgbClr val="F2F2F2"/>
          </a:solidFill>
          <a:ln>
            <a:noFill/>
          </a:ln>
        </p:spPr>
      </p:sp>
      <p:sp>
        <p:nvSpPr>
          <p:cNvPr id="47" name="Google Shape;47;p72"/>
          <p:cNvSpPr>
            <a:spLocks noGrp="1"/>
          </p:cNvSpPr>
          <p:nvPr>
            <p:ph type="pic" idx="5"/>
          </p:nvPr>
        </p:nvSpPr>
        <p:spPr>
          <a:xfrm>
            <a:off x="4492911" y="4433954"/>
            <a:ext cx="1389961" cy="1389597"/>
          </a:xfrm>
          <a:prstGeom prst="ellipse">
            <a:avLst/>
          </a:prstGeom>
          <a:solidFill>
            <a:srgbClr val="F2F2F2"/>
          </a:solidFill>
          <a:ln>
            <a:noFill/>
          </a:ln>
        </p:spPr>
      </p:sp>
      <p:sp>
        <p:nvSpPr>
          <p:cNvPr id="48" name="Google Shape;48;p72"/>
          <p:cNvSpPr>
            <a:spLocks noGrp="1"/>
          </p:cNvSpPr>
          <p:nvPr>
            <p:ph type="pic" idx="6"/>
          </p:nvPr>
        </p:nvSpPr>
        <p:spPr>
          <a:xfrm>
            <a:off x="6309129" y="4433954"/>
            <a:ext cx="1389961" cy="1389597"/>
          </a:xfrm>
          <a:prstGeom prst="ellipse">
            <a:avLst/>
          </a:prstGeom>
          <a:solidFill>
            <a:srgbClr val="F2F2F2"/>
          </a:solidFill>
          <a:ln>
            <a:noFill/>
          </a:ln>
        </p:spPr>
      </p:sp>
      <p:sp>
        <p:nvSpPr>
          <p:cNvPr id="49" name="Google Shape;49;p72"/>
          <p:cNvSpPr>
            <a:spLocks noGrp="1"/>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1" name="Shape 50"/>
        <p:cNvGrpSpPr/>
        <p:nvPr/>
      </p:nvGrpSpPr>
      <p:grpSpPr>
        <a:xfrm>
          <a:off x="0" y="0"/>
          <a:ext cx="0" cy="0"/>
          <a:chOff x="0" y="0"/>
          <a:chExt cx="0" cy="0"/>
        </a:xfrm>
      </p:grpSpPr>
      <p:sp>
        <p:nvSpPr>
          <p:cNvPr id="51" name="Google Shape;51;p73"/>
          <p:cNvSpPr>
            <a:spLocks noGrp="1"/>
          </p:cNvSpPr>
          <p:nvPr>
            <p:ph type="pic" idx="2"/>
          </p:nvPr>
        </p:nvSpPr>
        <p:spPr>
          <a:xfrm>
            <a:off x="2237975" y="4303749"/>
            <a:ext cx="1333651" cy="1333302"/>
          </a:xfrm>
          <a:prstGeom prst="ellipse">
            <a:avLst/>
          </a:prstGeom>
          <a:solidFill>
            <a:srgbClr val="F2F2F2"/>
          </a:solidFill>
          <a:ln>
            <a:noFill/>
          </a:ln>
        </p:spPr>
      </p:sp>
      <p:sp>
        <p:nvSpPr>
          <p:cNvPr id="52" name="Google Shape;52;p73"/>
          <p:cNvSpPr>
            <a:spLocks noGrp="1"/>
          </p:cNvSpPr>
          <p:nvPr>
            <p:ph type="pic" idx="3"/>
          </p:nvPr>
        </p:nvSpPr>
        <p:spPr>
          <a:xfrm>
            <a:off x="3457115" y="3122288"/>
            <a:ext cx="1333651" cy="1333302"/>
          </a:xfrm>
          <a:prstGeom prst="ellipse">
            <a:avLst/>
          </a:prstGeom>
          <a:solidFill>
            <a:srgbClr val="F2F2F2"/>
          </a:solidFill>
          <a:ln>
            <a:noFill/>
          </a:ln>
        </p:spPr>
      </p:sp>
      <p:sp>
        <p:nvSpPr>
          <p:cNvPr id="53" name="Google Shape;53;p73"/>
          <p:cNvSpPr>
            <a:spLocks noGrp="1"/>
          </p:cNvSpPr>
          <p:nvPr>
            <p:ph type="pic" idx="4"/>
          </p:nvPr>
        </p:nvSpPr>
        <p:spPr>
          <a:xfrm>
            <a:off x="4624057" y="1959965"/>
            <a:ext cx="1333651" cy="1333302"/>
          </a:xfrm>
          <a:prstGeom prst="ellipse">
            <a:avLst/>
          </a:prstGeom>
          <a:solidFill>
            <a:srgbClr val="F2F2F2"/>
          </a:solidFill>
          <a:ln>
            <a:noFill/>
          </a:ln>
        </p:spPr>
      </p:sp>
      <p:sp>
        <p:nvSpPr>
          <p:cNvPr id="54" name="Google Shape;54;p73"/>
          <p:cNvSpPr>
            <a:spLocks noGrp="1"/>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1" name="Shape 55"/>
        <p:cNvGrpSpPr/>
        <p:nvPr/>
      </p:nvGrpSpPr>
      <p:grpSpPr>
        <a:xfrm>
          <a:off x="0" y="0"/>
          <a:ext cx="0" cy="0"/>
          <a:chOff x="0" y="0"/>
          <a:chExt cx="0" cy="0"/>
        </a:xfrm>
      </p:grpSpPr>
      <p:sp>
        <p:nvSpPr>
          <p:cNvPr id="56" name="Google Shape;56;p74"/>
          <p:cNvSpPr>
            <a:spLocks noGrp="1"/>
          </p:cNvSpPr>
          <p:nvPr>
            <p:ph type="pic" idx="2"/>
          </p:nvPr>
        </p:nvSpPr>
        <p:spPr>
          <a:xfrm>
            <a:off x="-199169" y="2514600"/>
            <a:ext cx="12590339" cy="4517571"/>
          </a:xfrm>
          <a:prstGeom prst="rect">
            <a:avLst/>
          </a:prstGeom>
          <a:solidFill>
            <a:srgbClr val="F2F2F2"/>
          </a:solidFill>
          <a:ln>
            <a:noFill/>
          </a:ln>
        </p:spPr>
      </p:sp>
      <p:sp>
        <p:nvSpPr>
          <p:cNvPr id="57" name="Google Shape;57;p74"/>
          <p:cNvSpPr>
            <a:spLocks noGrp="1"/>
          </p:cNvSpPr>
          <p:nvPr>
            <p:ph type="pic" idx="3"/>
          </p:nvPr>
        </p:nvSpPr>
        <p:spPr>
          <a:xfrm>
            <a:off x="1428209" y="1579564"/>
            <a:ext cx="1870562" cy="1870072"/>
          </a:xfrm>
          <a:prstGeom prst="ellipse">
            <a:avLst/>
          </a:prstGeom>
          <a:solidFill>
            <a:srgbClr val="F2F2F2"/>
          </a:solidFill>
          <a:ln>
            <a:noFill/>
          </a:ln>
        </p:spPr>
      </p:sp>
      <p:sp>
        <p:nvSpPr>
          <p:cNvPr id="58" name="Google Shape;58;p74"/>
          <p:cNvSpPr>
            <a:spLocks noGrp="1"/>
          </p:cNvSpPr>
          <p:nvPr>
            <p:ph type="pic" idx="4"/>
          </p:nvPr>
        </p:nvSpPr>
        <p:spPr>
          <a:xfrm>
            <a:off x="5160720" y="1579564"/>
            <a:ext cx="1870562" cy="1870072"/>
          </a:xfrm>
          <a:prstGeom prst="ellipse">
            <a:avLst/>
          </a:prstGeom>
          <a:solidFill>
            <a:srgbClr val="F2F2F2"/>
          </a:solidFill>
          <a:ln>
            <a:noFill/>
          </a:ln>
        </p:spPr>
      </p:sp>
      <p:sp>
        <p:nvSpPr>
          <p:cNvPr id="59" name="Google Shape;59;p74"/>
          <p:cNvSpPr>
            <a:spLocks noGrp="1"/>
          </p:cNvSpPr>
          <p:nvPr>
            <p:ph type="pic" idx="5"/>
          </p:nvPr>
        </p:nvSpPr>
        <p:spPr>
          <a:xfrm>
            <a:off x="8893230" y="1579564"/>
            <a:ext cx="1870562" cy="1870072"/>
          </a:xfrm>
          <a:prstGeom prst="ellipse">
            <a:avLst/>
          </a:prstGeom>
          <a:solidFill>
            <a:srgbClr val="F2F2F2"/>
          </a:solidFill>
          <a:ln>
            <a:noFill/>
          </a:ln>
        </p:spPr>
      </p:sp>
      <p:pic>
        <p:nvPicPr>
          <p:cNvPr id="60" name="Google Shape;60;p74"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1" name="Shape 61"/>
        <p:cNvGrpSpPr/>
        <p:nvPr/>
      </p:nvGrpSpPr>
      <p:grpSpPr>
        <a:xfrm>
          <a:off x="0" y="0"/>
          <a:ext cx="0" cy="0"/>
          <a:chOff x="0" y="0"/>
          <a:chExt cx="0" cy="0"/>
        </a:xfrm>
      </p:grpSpPr>
      <p:sp>
        <p:nvSpPr>
          <p:cNvPr id="62" name="Google Shape;62;p75"/>
          <p:cNvSpPr>
            <a:spLocks noGrp="1"/>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1" name="Shape 63"/>
        <p:cNvGrpSpPr/>
        <p:nvPr/>
      </p:nvGrpSpPr>
      <p:grpSpPr>
        <a:xfrm>
          <a:off x="0" y="0"/>
          <a:ext cx="0" cy="0"/>
          <a:chOff x="0" y="0"/>
          <a:chExt cx="0" cy="0"/>
        </a:xfrm>
      </p:grpSpPr>
      <p:sp>
        <p:nvSpPr>
          <p:cNvPr id="64" name="Google Shape;64;p76"/>
          <p:cNvSpPr>
            <a:spLocks noGrp="1"/>
          </p:cNvSpPr>
          <p:nvPr>
            <p:ph type="pic" idx="2"/>
          </p:nvPr>
        </p:nvSpPr>
        <p:spPr>
          <a:xfrm>
            <a:off x="713116" y="2066599"/>
            <a:ext cx="1333653" cy="1333303"/>
          </a:xfrm>
          <a:prstGeom prst="ellipse">
            <a:avLst/>
          </a:prstGeom>
          <a:solidFill>
            <a:srgbClr val="F2F2F2"/>
          </a:solidFill>
          <a:ln>
            <a:noFill/>
          </a:ln>
        </p:spPr>
      </p:sp>
      <p:sp>
        <p:nvSpPr>
          <p:cNvPr id="65" name="Google Shape;65;p76"/>
          <p:cNvSpPr>
            <a:spLocks noGrp="1"/>
          </p:cNvSpPr>
          <p:nvPr>
            <p:ph type="pic" idx="3"/>
          </p:nvPr>
        </p:nvSpPr>
        <p:spPr>
          <a:xfrm>
            <a:off x="713119" y="3890151"/>
            <a:ext cx="1333648" cy="1333299"/>
          </a:xfrm>
          <a:prstGeom prst="ellipse">
            <a:avLst/>
          </a:prstGeom>
          <a:solidFill>
            <a:srgbClr val="F2F2F2"/>
          </a:solidFill>
          <a:ln>
            <a:noFill/>
          </a:ln>
        </p:spPr>
      </p:sp>
      <p:sp>
        <p:nvSpPr>
          <p:cNvPr id="66" name="Google Shape;66;p76"/>
          <p:cNvSpPr>
            <a:spLocks noGrp="1"/>
          </p:cNvSpPr>
          <p:nvPr>
            <p:ph type="pic" idx="4"/>
          </p:nvPr>
        </p:nvSpPr>
        <p:spPr>
          <a:xfrm>
            <a:off x="6589152" y="2066599"/>
            <a:ext cx="1333653" cy="1333303"/>
          </a:xfrm>
          <a:prstGeom prst="ellipse">
            <a:avLst/>
          </a:prstGeom>
          <a:solidFill>
            <a:srgbClr val="F2F2F2"/>
          </a:solidFill>
          <a:ln>
            <a:noFill/>
          </a:ln>
        </p:spPr>
      </p:sp>
      <p:sp>
        <p:nvSpPr>
          <p:cNvPr id="67" name="Google Shape;67;p76"/>
          <p:cNvSpPr>
            <a:spLocks noGrp="1"/>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1" name="Shape 68"/>
        <p:cNvGrpSpPr/>
        <p:nvPr/>
      </p:nvGrpSpPr>
      <p:grpSpPr>
        <a:xfrm>
          <a:off x="0" y="0"/>
          <a:ext cx="0" cy="0"/>
          <a:chOff x="0" y="0"/>
          <a:chExt cx="0" cy="0"/>
        </a:xfrm>
      </p:grpSpPr>
      <p:sp>
        <p:nvSpPr>
          <p:cNvPr id="69" name="Google Shape;69;p77"/>
          <p:cNvSpPr>
            <a:spLocks noGrp="1"/>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1" name="Shape 70"/>
        <p:cNvGrpSpPr/>
        <p:nvPr/>
      </p:nvGrpSpPr>
      <p:grpSpPr>
        <a:xfrm>
          <a:off x="0" y="0"/>
          <a:ext cx="0" cy="0"/>
          <a:chOff x="0" y="0"/>
          <a:chExt cx="0" cy="0"/>
        </a:xfrm>
      </p:grpSpPr>
      <p:sp>
        <p:nvSpPr>
          <p:cNvPr id="71" name="Google Shape;71;p78"/>
          <p:cNvSpPr>
            <a:spLocks noGrp="1"/>
          </p:cNvSpPr>
          <p:nvPr>
            <p:ph type="pic" idx="2"/>
          </p:nvPr>
        </p:nvSpPr>
        <p:spPr>
          <a:xfrm>
            <a:off x="5784331" y="1315673"/>
            <a:ext cx="5879817" cy="4203543"/>
          </a:xfrm>
          <a:prstGeom prst="rect">
            <a:avLst/>
          </a:prstGeom>
          <a:solidFill>
            <a:srgbClr val="F2F2F2"/>
          </a:solidFill>
          <a:ln>
            <a:noFill/>
          </a:ln>
        </p:spPr>
      </p:sp>
      <p:sp>
        <p:nvSpPr>
          <p:cNvPr id="72" name="Google Shape;72;p78"/>
          <p:cNvSpPr txBox="1">
            <a:spLocks noGrp="1"/>
          </p:cNvSpPr>
          <p:nvPr>
            <p:ph type="title"/>
          </p:nvPr>
        </p:nvSpPr>
        <p:spPr>
          <a:xfrm>
            <a:off x="838201" y="365127"/>
            <a:ext cx="10515600" cy="62793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7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74" name="Google Shape;74;p78"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1" name="Shape 75"/>
        <p:cNvGrpSpPr/>
        <p:nvPr/>
      </p:nvGrpSpPr>
      <p:grpSpPr>
        <a:xfrm>
          <a:off x="0" y="0"/>
          <a:ext cx="0" cy="0"/>
          <a:chOff x="0" y="0"/>
          <a:chExt cx="0" cy="0"/>
        </a:xfrm>
      </p:grpSpPr>
      <p:sp>
        <p:nvSpPr>
          <p:cNvPr id="76" name="Google Shape;76;p79"/>
          <p:cNvSpPr>
            <a:spLocks noGrp="1"/>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1" name="Shape 77"/>
        <p:cNvGrpSpPr/>
        <p:nvPr/>
      </p:nvGrpSpPr>
      <p:grpSpPr>
        <a:xfrm>
          <a:off x="0" y="0"/>
          <a:ext cx="0" cy="0"/>
          <a:chOff x="0" y="0"/>
          <a:chExt cx="0" cy="0"/>
        </a:xfrm>
      </p:grpSpPr>
      <p:sp>
        <p:nvSpPr>
          <p:cNvPr id="78" name="Google Shape;78;p80"/>
          <p:cNvSpPr>
            <a:spLocks noGrp="1"/>
          </p:cNvSpPr>
          <p:nvPr>
            <p:ph type="pic" idx="2"/>
          </p:nvPr>
        </p:nvSpPr>
        <p:spPr>
          <a:xfrm>
            <a:off x="1069999" y="2677076"/>
            <a:ext cx="2010401" cy="804672"/>
          </a:xfrm>
          <a:prstGeom prst="rect">
            <a:avLst/>
          </a:prstGeom>
          <a:solidFill>
            <a:srgbClr val="F2F2F2"/>
          </a:solidFill>
          <a:ln>
            <a:noFill/>
          </a:ln>
        </p:spPr>
      </p:sp>
      <p:sp>
        <p:nvSpPr>
          <p:cNvPr id="79" name="Google Shape;79;p80"/>
          <p:cNvSpPr>
            <a:spLocks noGrp="1"/>
          </p:cNvSpPr>
          <p:nvPr>
            <p:ph type="pic" idx="3"/>
          </p:nvPr>
        </p:nvSpPr>
        <p:spPr>
          <a:xfrm>
            <a:off x="5090800" y="2677076"/>
            <a:ext cx="2010401" cy="804672"/>
          </a:xfrm>
          <a:prstGeom prst="rect">
            <a:avLst/>
          </a:prstGeom>
          <a:solidFill>
            <a:srgbClr val="F2F2F2"/>
          </a:solidFill>
          <a:ln>
            <a:noFill/>
          </a:ln>
        </p:spPr>
      </p:sp>
      <p:sp>
        <p:nvSpPr>
          <p:cNvPr id="80" name="Google Shape;80;p80"/>
          <p:cNvSpPr>
            <a:spLocks noGrp="1"/>
          </p:cNvSpPr>
          <p:nvPr>
            <p:ph type="pic" idx="4"/>
          </p:nvPr>
        </p:nvSpPr>
        <p:spPr>
          <a:xfrm>
            <a:off x="9111600" y="2677076"/>
            <a:ext cx="2010401" cy="804672"/>
          </a:xfrm>
          <a:prstGeom prst="rect">
            <a:avLst/>
          </a:prstGeom>
          <a:solidFill>
            <a:srgbClr val="F2F2F2"/>
          </a:solidFill>
          <a:ln>
            <a:noFill/>
          </a:ln>
        </p:spPr>
      </p:sp>
      <p:sp>
        <p:nvSpPr>
          <p:cNvPr id="81" name="Google Shape;81;p80"/>
          <p:cNvSpPr>
            <a:spLocks noGrp="1"/>
          </p:cNvSpPr>
          <p:nvPr>
            <p:ph type="pic" idx="5"/>
          </p:nvPr>
        </p:nvSpPr>
        <p:spPr>
          <a:xfrm>
            <a:off x="3080399" y="3884084"/>
            <a:ext cx="2010401" cy="804672"/>
          </a:xfrm>
          <a:prstGeom prst="rect">
            <a:avLst/>
          </a:prstGeom>
          <a:solidFill>
            <a:srgbClr val="F2F2F2"/>
          </a:solidFill>
          <a:ln>
            <a:noFill/>
          </a:ln>
        </p:spPr>
      </p:sp>
      <p:sp>
        <p:nvSpPr>
          <p:cNvPr id="82" name="Google Shape;82;p80"/>
          <p:cNvSpPr>
            <a:spLocks noGrp="1"/>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1" name="Shape 83"/>
        <p:cNvGrpSpPr/>
        <p:nvPr/>
      </p:nvGrpSpPr>
      <p:grpSpPr>
        <a:xfrm>
          <a:off x="0" y="0"/>
          <a:ext cx="0" cy="0"/>
          <a:chOff x="0" y="0"/>
          <a:chExt cx="0" cy="0"/>
        </a:xfrm>
      </p:grpSpPr>
      <p:sp>
        <p:nvSpPr>
          <p:cNvPr id="84" name="Google Shape;84;p81"/>
          <p:cNvSpPr>
            <a:spLocks noGrp="1"/>
          </p:cNvSpPr>
          <p:nvPr>
            <p:ph type="pic" idx="2"/>
          </p:nvPr>
        </p:nvSpPr>
        <p:spPr>
          <a:xfrm>
            <a:off x="780799" y="1977749"/>
            <a:ext cx="2397440" cy="892514"/>
          </a:xfrm>
          <a:prstGeom prst="rect">
            <a:avLst/>
          </a:prstGeom>
          <a:solidFill>
            <a:srgbClr val="F2F2F2"/>
          </a:solidFill>
          <a:ln>
            <a:noFill/>
          </a:ln>
        </p:spPr>
      </p:sp>
      <p:sp>
        <p:nvSpPr>
          <p:cNvPr id="85" name="Google Shape;85;p81"/>
          <p:cNvSpPr>
            <a:spLocks noGrp="1"/>
          </p:cNvSpPr>
          <p:nvPr>
            <p:ph type="pic" idx="3"/>
          </p:nvPr>
        </p:nvSpPr>
        <p:spPr>
          <a:xfrm>
            <a:off x="3525120" y="1977749"/>
            <a:ext cx="2397440" cy="892514"/>
          </a:xfrm>
          <a:prstGeom prst="rect">
            <a:avLst/>
          </a:prstGeom>
          <a:solidFill>
            <a:srgbClr val="F2F2F2"/>
          </a:solidFill>
          <a:ln>
            <a:noFill/>
          </a:ln>
        </p:spPr>
      </p:sp>
      <p:sp>
        <p:nvSpPr>
          <p:cNvPr id="86" name="Google Shape;86;p81"/>
          <p:cNvSpPr>
            <a:spLocks noGrp="1"/>
          </p:cNvSpPr>
          <p:nvPr>
            <p:ph type="pic" idx="4"/>
          </p:nvPr>
        </p:nvSpPr>
        <p:spPr>
          <a:xfrm>
            <a:off x="6269441" y="1977749"/>
            <a:ext cx="2397440" cy="892514"/>
          </a:xfrm>
          <a:prstGeom prst="rect">
            <a:avLst/>
          </a:prstGeom>
          <a:solidFill>
            <a:srgbClr val="F2F2F2"/>
          </a:solidFill>
          <a:ln>
            <a:noFill/>
          </a:ln>
        </p:spPr>
      </p:sp>
      <p:sp>
        <p:nvSpPr>
          <p:cNvPr id="87" name="Google Shape;87;p81"/>
          <p:cNvSpPr>
            <a:spLocks noGrp="1"/>
          </p:cNvSpPr>
          <p:nvPr>
            <p:ph type="pic" idx="5"/>
          </p:nvPr>
        </p:nvSpPr>
        <p:spPr>
          <a:xfrm>
            <a:off x="9013761" y="1977749"/>
            <a:ext cx="2397440" cy="892514"/>
          </a:xfrm>
          <a:prstGeom prst="rect">
            <a:avLst/>
          </a:prstGeom>
          <a:solidFill>
            <a:srgbClr val="F2F2F2"/>
          </a:solidFill>
          <a:ln>
            <a:noFill/>
          </a:ln>
        </p:spPr>
      </p:sp>
      <p:sp>
        <p:nvSpPr>
          <p:cNvPr id="88" name="Google Shape;88;p81"/>
          <p:cNvSpPr>
            <a:spLocks noGrp="1"/>
          </p:cNvSpPr>
          <p:nvPr>
            <p:ph type="pic" idx="6"/>
          </p:nvPr>
        </p:nvSpPr>
        <p:spPr>
          <a:xfrm>
            <a:off x="780799" y="3236659"/>
            <a:ext cx="2397440" cy="892514"/>
          </a:xfrm>
          <a:prstGeom prst="rect">
            <a:avLst/>
          </a:prstGeom>
          <a:solidFill>
            <a:srgbClr val="F2F2F2"/>
          </a:solidFill>
          <a:ln>
            <a:noFill/>
          </a:ln>
        </p:spPr>
      </p:sp>
      <p:sp>
        <p:nvSpPr>
          <p:cNvPr id="89" name="Google Shape;89;p81"/>
          <p:cNvSpPr>
            <a:spLocks noGrp="1"/>
          </p:cNvSpPr>
          <p:nvPr>
            <p:ph type="pic" idx="7"/>
          </p:nvPr>
        </p:nvSpPr>
        <p:spPr>
          <a:xfrm>
            <a:off x="3525120" y="3236659"/>
            <a:ext cx="2397440" cy="892514"/>
          </a:xfrm>
          <a:prstGeom prst="rect">
            <a:avLst/>
          </a:prstGeom>
          <a:solidFill>
            <a:srgbClr val="F2F2F2"/>
          </a:solidFill>
          <a:ln>
            <a:noFill/>
          </a:ln>
        </p:spPr>
      </p:sp>
      <p:sp>
        <p:nvSpPr>
          <p:cNvPr id="90" name="Google Shape;90;p81"/>
          <p:cNvSpPr>
            <a:spLocks noGrp="1"/>
          </p:cNvSpPr>
          <p:nvPr>
            <p:ph type="pic" idx="8"/>
          </p:nvPr>
        </p:nvSpPr>
        <p:spPr>
          <a:xfrm>
            <a:off x="6269441" y="3236659"/>
            <a:ext cx="2397440" cy="892514"/>
          </a:xfrm>
          <a:prstGeom prst="rect">
            <a:avLst/>
          </a:prstGeom>
          <a:solidFill>
            <a:srgbClr val="F2F2F2"/>
          </a:solidFill>
          <a:ln>
            <a:noFill/>
          </a:ln>
        </p:spPr>
      </p:sp>
      <p:sp>
        <p:nvSpPr>
          <p:cNvPr id="91" name="Google Shape;91;p81"/>
          <p:cNvSpPr>
            <a:spLocks noGrp="1"/>
          </p:cNvSpPr>
          <p:nvPr>
            <p:ph type="pic" idx="9"/>
          </p:nvPr>
        </p:nvSpPr>
        <p:spPr>
          <a:xfrm>
            <a:off x="9013761" y="3236659"/>
            <a:ext cx="2397440" cy="892514"/>
          </a:xfrm>
          <a:prstGeom prst="rect">
            <a:avLst/>
          </a:prstGeom>
          <a:solidFill>
            <a:srgbClr val="F2F2F2"/>
          </a:solidFill>
          <a:ln>
            <a:noFill/>
          </a:ln>
        </p:spPr>
      </p:sp>
      <p:sp>
        <p:nvSpPr>
          <p:cNvPr id="92" name="Google Shape;92;p81"/>
          <p:cNvSpPr>
            <a:spLocks noGrp="1"/>
          </p:cNvSpPr>
          <p:nvPr>
            <p:ph type="pic" idx="13"/>
          </p:nvPr>
        </p:nvSpPr>
        <p:spPr>
          <a:xfrm>
            <a:off x="780799" y="4495568"/>
            <a:ext cx="2397440" cy="892514"/>
          </a:xfrm>
          <a:prstGeom prst="rect">
            <a:avLst/>
          </a:prstGeom>
          <a:solidFill>
            <a:srgbClr val="F2F2F2"/>
          </a:solidFill>
          <a:ln>
            <a:noFill/>
          </a:ln>
        </p:spPr>
      </p:sp>
      <p:sp>
        <p:nvSpPr>
          <p:cNvPr id="93" name="Google Shape;93;p81"/>
          <p:cNvSpPr>
            <a:spLocks noGrp="1"/>
          </p:cNvSpPr>
          <p:nvPr>
            <p:ph type="pic" idx="14"/>
          </p:nvPr>
        </p:nvSpPr>
        <p:spPr>
          <a:xfrm>
            <a:off x="3525120" y="4495568"/>
            <a:ext cx="2397440" cy="892514"/>
          </a:xfrm>
          <a:prstGeom prst="rect">
            <a:avLst/>
          </a:prstGeom>
          <a:solidFill>
            <a:srgbClr val="F2F2F2"/>
          </a:solidFill>
          <a:ln>
            <a:noFill/>
          </a:ln>
        </p:spPr>
      </p:sp>
      <p:sp>
        <p:nvSpPr>
          <p:cNvPr id="94" name="Google Shape;94;p81"/>
          <p:cNvSpPr>
            <a:spLocks noGrp="1"/>
          </p:cNvSpPr>
          <p:nvPr>
            <p:ph type="pic" idx="15"/>
          </p:nvPr>
        </p:nvSpPr>
        <p:spPr>
          <a:xfrm>
            <a:off x="6269441" y="4495568"/>
            <a:ext cx="2397440" cy="892514"/>
          </a:xfrm>
          <a:prstGeom prst="rect">
            <a:avLst/>
          </a:prstGeom>
          <a:solidFill>
            <a:srgbClr val="F2F2F2"/>
          </a:solidFill>
          <a:ln>
            <a:noFill/>
          </a:ln>
        </p:spPr>
      </p:sp>
      <p:sp>
        <p:nvSpPr>
          <p:cNvPr id="95" name="Google Shape;95;p81"/>
          <p:cNvSpPr>
            <a:spLocks noGrp="1"/>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1" name="Shape 96"/>
        <p:cNvGrpSpPr/>
        <p:nvPr/>
      </p:nvGrpSpPr>
      <p:grpSpPr>
        <a:xfrm>
          <a:off x="0" y="0"/>
          <a:ext cx="0" cy="0"/>
          <a:chOff x="0" y="0"/>
          <a:chExt cx="0" cy="0"/>
        </a:xfrm>
      </p:grpSpPr>
      <p:sp>
        <p:nvSpPr>
          <p:cNvPr id="97" name="Google Shape;97;p82"/>
          <p:cNvSpPr>
            <a:spLocks noGrp="1"/>
          </p:cNvSpPr>
          <p:nvPr>
            <p:ph type="pic" idx="2"/>
          </p:nvPr>
        </p:nvSpPr>
        <p:spPr>
          <a:xfrm>
            <a:off x="747589" y="1735566"/>
            <a:ext cx="3454687" cy="3999122"/>
          </a:xfrm>
          <a:prstGeom prst="rect">
            <a:avLst/>
          </a:prstGeom>
          <a:solidFill>
            <a:srgbClr val="F2F2F2"/>
          </a:solidFill>
          <a:ln>
            <a:noFill/>
          </a:ln>
        </p:spPr>
      </p:sp>
      <p:sp>
        <p:nvSpPr>
          <p:cNvPr id="98" name="Google Shape;98;p82"/>
          <p:cNvSpPr>
            <a:spLocks noGrp="1"/>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1" name="Shape 99"/>
        <p:cNvGrpSpPr/>
        <p:nvPr/>
      </p:nvGrpSpPr>
      <p:grpSpPr>
        <a:xfrm>
          <a:off x="0" y="0"/>
          <a:ext cx="0" cy="0"/>
          <a:chOff x="0" y="0"/>
          <a:chExt cx="0" cy="0"/>
        </a:xfrm>
      </p:grpSpPr>
      <p:sp>
        <p:nvSpPr>
          <p:cNvPr id="100" name="Google Shape;100;p83"/>
          <p:cNvSpPr>
            <a:spLocks noGrp="1"/>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 name="Shape 101"/>
        <p:cNvGrpSpPr/>
        <p:nvPr/>
      </p:nvGrpSpPr>
      <p:grpSpPr>
        <a:xfrm>
          <a:off x="0" y="0"/>
          <a:ext cx="0" cy="0"/>
          <a:chOff x="0" y="0"/>
          <a:chExt cx="0" cy="0"/>
        </a:xfrm>
      </p:grpSpPr>
      <p:sp>
        <p:nvSpPr>
          <p:cNvPr id="102" name="Google Shape;102;p84"/>
          <p:cNvSpPr>
            <a:spLocks noGrp="1"/>
          </p:cNvSpPr>
          <p:nvPr>
            <p:ph type="pic" idx="2"/>
          </p:nvPr>
        </p:nvSpPr>
        <p:spPr>
          <a:xfrm>
            <a:off x="4407323" y="1735566"/>
            <a:ext cx="3454687" cy="3999122"/>
          </a:xfrm>
          <a:prstGeom prst="rect">
            <a:avLst/>
          </a:prstGeom>
          <a:solidFill>
            <a:srgbClr val="F2F2F2"/>
          </a:solidFill>
          <a:ln>
            <a:noFill/>
          </a:ln>
        </p:spPr>
      </p:sp>
      <p:sp>
        <p:nvSpPr>
          <p:cNvPr id="103" name="Google Shape;103;p84"/>
          <p:cNvSpPr>
            <a:spLocks noGrp="1"/>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 name="Shape 104"/>
        <p:cNvGrpSpPr/>
        <p:nvPr/>
      </p:nvGrpSpPr>
      <p:grpSpPr>
        <a:xfrm>
          <a:off x="0" y="0"/>
          <a:ext cx="0" cy="0"/>
          <a:chOff x="0" y="0"/>
          <a:chExt cx="0" cy="0"/>
        </a:xfrm>
      </p:grpSpPr>
      <p:sp>
        <p:nvSpPr>
          <p:cNvPr id="105" name="Google Shape;105;p85"/>
          <p:cNvSpPr>
            <a:spLocks noGrp="1"/>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 name="Shape 106"/>
        <p:cNvGrpSpPr/>
        <p:nvPr/>
      </p:nvGrpSpPr>
      <p:grpSpPr>
        <a:xfrm>
          <a:off x="0" y="0"/>
          <a:ext cx="0" cy="0"/>
          <a:chOff x="0" y="0"/>
          <a:chExt cx="0" cy="0"/>
        </a:xfrm>
      </p:grpSpPr>
      <p:sp>
        <p:nvSpPr>
          <p:cNvPr id="107" name="Google Shape;107;p86"/>
          <p:cNvSpPr>
            <a:spLocks noGrp="1"/>
          </p:cNvSpPr>
          <p:nvPr>
            <p:ph type="pic" idx="2"/>
          </p:nvPr>
        </p:nvSpPr>
        <p:spPr>
          <a:xfrm>
            <a:off x="-2511399" y="1712857"/>
            <a:ext cx="5022797" cy="2891798"/>
          </a:xfrm>
          <a:prstGeom prst="rect">
            <a:avLst/>
          </a:prstGeom>
          <a:solidFill>
            <a:srgbClr val="F2F2F2"/>
          </a:solidFill>
          <a:ln>
            <a:noFill/>
          </a:ln>
        </p:spPr>
      </p:sp>
      <p:sp>
        <p:nvSpPr>
          <p:cNvPr id="108" name="Google Shape;108;p86"/>
          <p:cNvSpPr>
            <a:spLocks noGrp="1"/>
          </p:cNvSpPr>
          <p:nvPr>
            <p:ph type="pic" idx="3"/>
          </p:nvPr>
        </p:nvSpPr>
        <p:spPr>
          <a:xfrm>
            <a:off x="3584600" y="1712857"/>
            <a:ext cx="5022797" cy="2891798"/>
          </a:xfrm>
          <a:prstGeom prst="rect">
            <a:avLst/>
          </a:prstGeom>
          <a:solidFill>
            <a:srgbClr val="F2F2F2"/>
          </a:solidFill>
          <a:ln>
            <a:noFill/>
          </a:ln>
        </p:spPr>
      </p:sp>
      <p:sp>
        <p:nvSpPr>
          <p:cNvPr id="109" name="Google Shape;109;p86"/>
          <p:cNvSpPr>
            <a:spLocks noGrp="1"/>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 name="Shape 110"/>
        <p:cNvGrpSpPr/>
        <p:nvPr/>
      </p:nvGrpSpPr>
      <p:grpSpPr>
        <a:xfrm>
          <a:off x="0" y="0"/>
          <a:ext cx="0" cy="0"/>
          <a:chOff x="0" y="0"/>
          <a:chExt cx="0" cy="0"/>
        </a:xfrm>
      </p:grpSpPr>
      <p:sp>
        <p:nvSpPr>
          <p:cNvPr id="111" name="Google Shape;111;p87"/>
          <p:cNvSpPr>
            <a:spLocks noGrp="1"/>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 name="Shape 112"/>
        <p:cNvGrpSpPr/>
        <p:nvPr/>
      </p:nvGrpSpPr>
      <p:grpSpPr>
        <a:xfrm>
          <a:off x="0" y="0"/>
          <a:ext cx="0" cy="0"/>
          <a:chOff x="0" y="0"/>
          <a:chExt cx="0" cy="0"/>
        </a:xfrm>
      </p:grpSpPr>
      <p:sp>
        <p:nvSpPr>
          <p:cNvPr id="113" name="Google Shape;113;p88"/>
          <p:cNvSpPr>
            <a:spLocks noGrp="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 name="Shape 114"/>
        <p:cNvGrpSpPr/>
        <p:nvPr/>
      </p:nvGrpSpPr>
      <p:grpSpPr>
        <a:xfrm>
          <a:off x="0" y="0"/>
          <a:ext cx="0" cy="0"/>
          <a:chOff x="0" y="0"/>
          <a:chExt cx="0" cy="0"/>
        </a:xfrm>
      </p:grpSpPr>
      <p:sp>
        <p:nvSpPr>
          <p:cNvPr id="115" name="Google Shape;115;p89"/>
          <p:cNvSpPr>
            <a:spLocks noGrp="1"/>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 name="Shape 116"/>
        <p:cNvGrpSpPr/>
        <p:nvPr/>
      </p:nvGrpSpPr>
      <p:grpSpPr>
        <a:xfrm>
          <a:off x="0" y="0"/>
          <a:ext cx="0" cy="0"/>
          <a:chOff x="0" y="0"/>
          <a:chExt cx="0" cy="0"/>
        </a:xfrm>
      </p:grpSpPr>
      <p:sp>
        <p:nvSpPr>
          <p:cNvPr id="117" name="Google Shape;117;p90"/>
          <p:cNvSpPr>
            <a:spLocks noGrp="1"/>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 name="Shape 118"/>
        <p:cNvGrpSpPr/>
        <p:nvPr/>
      </p:nvGrpSpPr>
      <p:grpSpPr>
        <a:xfrm>
          <a:off x="0" y="0"/>
          <a:ext cx="0" cy="0"/>
          <a:chOff x="0" y="0"/>
          <a:chExt cx="0" cy="0"/>
        </a:xfrm>
      </p:grpSpPr>
      <p:sp>
        <p:nvSpPr>
          <p:cNvPr id="119" name="Google Shape;119;p91"/>
          <p:cNvSpPr>
            <a:spLocks noGrp="1"/>
          </p:cNvSpPr>
          <p:nvPr>
            <p:ph type="pic" idx="2"/>
          </p:nvPr>
        </p:nvSpPr>
        <p:spPr>
          <a:xfrm>
            <a:off x="3316218" y="0"/>
            <a:ext cx="6142693" cy="6858000"/>
          </a:xfrm>
          <a:prstGeom prst="rect">
            <a:avLst/>
          </a:prstGeom>
          <a:solidFill>
            <a:srgbClr val="F2F2F2"/>
          </a:solidFill>
          <a:ln>
            <a:noFill/>
          </a:ln>
        </p:spPr>
      </p:sp>
      <p:sp>
        <p:nvSpPr>
          <p:cNvPr id="120" name="Google Shape;120;p91"/>
          <p:cNvSpPr>
            <a:spLocks noGrp="1"/>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 name="Shape 121"/>
        <p:cNvGrpSpPr/>
        <p:nvPr/>
      </p:nvGrpSpPr>
      <p:grpSpPr>
        <a:xfrm>
          <a:off x="0" y="0"/>
          <a:ext cx="0" cy="0"/>
          <a:chOff x="0" y="0"/>
          <a:chExt cx="0" cy="0"/>
        </a:xfrm>
      </p:grpSpPr>
      <p:sp>
        <p:nvSpPr>
          <p:cNvPr id="122" name="Google Shape;122;p92"/>
          <p:cNvSpPr>
            <a:spLocks noGrp="1"/>
          </p:cNvSpPr>
          <p:nvPr>
            <p:ph type="pic" idx="2"/>
          </p:nvPr>
        </p:nvSpPr>
        <p:spPr>
          <a:xfrm>
            <a:off x="2671026" y="-1"/>
            <a:ext cx="3970043" cy="4434836"/>
          </a:xfrm>
          <a:prstGeom prst="rect">
            <a:avLst/>
          </a:prstGeom>
          <a:solidFill>
            <a:srgbClr val="F2F2F2"/>
          </a:solidFill>
          <a:ln>
            <a:noFill/>
          </a:ln>
        </p:spPr>
      </p:sp>
      <p:sp>
        <p:nvSpPr>
          <p:cNvPr id="123" name="Google Shape;123;p92"/>
          <p:cNvSpPr>
            <a:spLocks noGrp="1"/>
          </p:cNvSpPr>
          <p:nvPr>
            <p:ph type="pic" idx="3"/>
          </p:nvPr>
        </p:nvSpPr>
        <p:spPr>
          <a:xfrm>
            <a:off x="5460923" y="-1"/>
            <a:ext cx="3970043" cy="4434836"/>
          </a:xfrm>
          <a:prstGeom prst="rect">
            <a:avLst/>
          </a:prstGeom>
          <a:solidFill>
            <a:srgbClr val="F2F2F2"/>
          </a:solidFill>
          <a:ln>
            <a:noFill/>
          </a:ln>
        </p:spPr>
      </p:sp>
      <p:sp>
        <p:nvSpPr>
          <p:cNvPr id="124" name="Google Shape;124;p92"/>
          <p:cNvSpPr>
            <a:spLocks noGrp="1"/>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 name="Shape 125"/>
        <p:cNvGrpSpPr/>
        <p:nvPr/>
      </p:nvGrpSpPr>
      <p:grpSpPr>
        <a:xfrm>
          <a:off x="0" y="0"/>
          <a:ext cx="0" cy="0"/>
          <a:chOff x="0" y="0"/>
          <a:chExt cx="0" cy="0"/>
        </a:xfrm>
      </p:grpSpPr>
      <p:sp>
        <p:nvSpPr>
          <p:cNvPr id="126" name="Google Shape;126;p93"/>
          <p:cNvSpPr>
            <a:spLocks noGrp="1"/>
          </p:cNvSpPr>
          <p:nvPr>
            <p:ph type="pic" idx="2"/>
          </p:nvPr>
        </p:nvSpPr>
        <p:spPr>
          <a:xfrm>
            <a:off x="7485063" y="627903"/>
            <a:ext cx="2218958" cy="2218380"/>
          </a:xfrm>
          <a:prstGeom prst="rect">
            <a:avLst/>
          </a:prstGeom>
          <a:solidFill>
            <a:srgbClr val="F2F2F2"/>
          </a:solidFill>
          <a:ln>
            <a:noFill/>
          </a:ln>
        </p:spPr>
      </p:sp>
      <p:sp>
        <p:nvSpPr>
          <p:cNvPr id="127" name="Google Shape;127;p93"/>
          <p:cNvSpPr>
            <a:spLocks noGrp="1"/>
          </p:cNvSpPr>
          <p:nvPr>
            <p:ph type="pic" idx="3"/>
          </p:nvPr>
        </p:nvSpPr>
        <p:spPr>
          <a:xfrm>
            <a:off x="8487915" y="2988577"/>
            <a:ext cx="2923285" cy="2922525"/>
          </a:xfrm>
          <a:prstGeom prst="rect">
            <a:avLst/>
          </a:prstGeom>
          <a:solidFill>
            <a:srgbClr val="F2F2F2"/>
          </a:solidFill>
          <a:ln>
            <a:noFill/>
          </a:ln>
        </p:spPr>
      </p:sp>
      <p:sp>
        <p:nvSpPr>
          <p:cNvPr id="128" name="Google Shape;128;p93"/>
          <p:cNvSpPr>
            <a:spLocks noGrp="1"/>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 name="Shape 129"/>
        <p:cNvGrpSpPr/>
        <p:nvPr/>
      </p:nvGrpSpPr>
      <p:grpSpPr>
        <a:xfrm>
          <a:off x="0" y="0"/>
          <a:ext cx="0" cy="0"/>
          <a:chOff x="0" y="0"/>
          <a:chExt cx="0" cy="0"/>
        </a:xfrm>
      </p:grpSpPr>
      <p:sp>
        <p:nvSpPr>
          <p:cNvPr id="130" name="Google Shape;130;p94"/>
          <p:cNvSpPr>
            <a:spLocks noGrp="1"/>
          </p:cNvSpPr>
          <p:nvPr>
            <p:ph type="pic" idx="2"/>
          </p:nvPr>
        </p:nvSpPr>
        <p:spPr>
          <a:xfrm>
            <a:off x="1765158" y="1616567"/>
            <a:ext cx="1945814" cy="4111559"/>
          </a:xfrm>
          <a:prstGeom prst="rect">
            <a:avLst/>
          </a:prstGeom>
          <a:solidFill>
            <a:srgbClr val="F2F2F2"/>
          </a:solidFill>
          <a:ln>
            <a:noFill/>
          </a:ln>
        </p:spPr>
      </p:sp>
      <p:sp>
        <p:nvSpPr>
          <p:cNvPr id="131" name="Google Shape;131;p94"/>
          <p:cNvSpPr>
            <a:spLocks noGrp="1"/>
          </p:cNvSpPr>
          <p:nvPr>
            <p:ph type="pic" idx="3"/>
          </p:nvPr>
        </p:nvSpPr>
        <p:spPr>
          <a:xfrm>
            <a:off x="5439218" y="1616567"/>
            <a:ext cx="1945814" cy="4111559"/>
          </a:xfrm>
          <a:prstGeom prst="rect">
            <a:avLst/>
          </a:prstGeom>
          <a:solidFill>
            <a:srgbClr val="F2F2F2"/>
          </a:solidFill>
          <a:ln>
            <a:noFill/>
          </a:ln>
        </p:spPr>
      </p:sp>
      <p:sp>
        <p:nvSpPr>
          <p:cNvPr id="132" name="Google Shape;132;p94"/>
          <p:cNvSpPr>
            <a:spLocks noGrp="1"/>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 name="Shape 133"/>
        <p:cNvGrpSpPr/>
        <p:nvPr/>
      </p:nvGrpSpPr>
      <p:grpSpPr>
        <a:xfrm>
          <a:off x="0" y="0"/>
          <a:ext cx="0" cy="0"/>
          <a:chOff x="0" y="0"/>
          <a:chExt cx="0" cy="0"/>
        </a:xfrm>
      </p:grpSpPr>
      <p:sp>
        <p:nvSpPr>
          <p:cNvPr id="134" name="Google Shape;134;p95"/>
          <p:cNvSpPr>
            <a:spLocks noGrp="1"/>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 name="Shape 135"/>
        <p:cNvGrpSpPr/>
        <p:nvPr/>
      </p:nvGrpSpPr>
      <p:grpSpPr>
        <a:xfrm>
          <a:off x="0" y="0"/>
          <a:ext cx="0" cy="0"/>
          <a:chOff x="0" y="0"/>
          <a:chExt cx="0" cy="0"/>
        </a:xfrm>
      </p:grpSpPr>
      <p:sp>
        <p:nvSpPr>
          <p:cNvPr id="136" name="Google Shape;136;p96"/>
          <p:cNvSpPr>
            <a:spLocks noGrp="1"/>
          </p:cNvSpPr>
          <p:nvPr>
            <p:ph type="pic" idx="2"/>
          </p:nvPr>
        </p:nvSpPr>
        <p:spPr>
          <a:xfrm>
            <a:off x="1449316" y="2114606"/>
            <a:ext cx="3626150" cy="2266340"/>
          </a:xfrm>
          <a:prstGeom prst="rect">
            <a:avLst/>
          </a:prstGeom>
          <a:solidFill>
            <a:srgbClr val="F2F2F2"/>
          </a:solidFill>
          <a:ln>
            <a:noFill/>
          </a:ln>
        </p:spPr>
      </p:sp>
      <p:sp>
        <p:nvSpPr>
          <p:cNvPr id="137" name="Google Shape;137;p96"/>
          <p:cNvSpPr>
            <a:spLocks noGrp="1"/>
          </p:cNvSpPr>
          <p:nvPr>
            <p:ph type="pic" idx="3"/>
          </p:nvPr>
        </p:nvSpPr>
        <p:spPr>
          <a:xfrm>
            <a:off x="7173347" y="2114606"/>
            <a:ext cx="3626150" cy="2266340"/>
          </a:xfrm>
          <a:prstGeom prst="rect">
            <a:avLst/>
          </a:prstGeom>
          <a:solidFill>
            <a:srgbClr val="F2F2F2"/>
          </a:solidFill>
          <a:ln>
            <a:noFill/>
          </a:ln>
        </p:spPr>
      </p:sp>
      <p:sp>
        <p:nvSpPr>
          <p:cNvPr id="138" name="Google Shape;138;p96"/>
          <p:cNvSpPr>
            <a:spLocks noGrp="1"/>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 name="Shape 139"/>
        <p:cNvGrpSpPr/>
        <p:nvPr/>
      </p:nvGrpSpPr>
      <p:grpSpPr>
        <a:xfrm>
          <a:off x="0" y="0"/>
          <a:ext cx="0" cy="0"/>
          <a:chOff x="0" y="0"/>
          <a:chExt cx="0" cy="0"/>
        </a:xfrm>
      </p:grpSpPr>
      <p:sp>
        <p:nvSpPr>
          <p:cNvPr id="140" name="Google Shape;140;p97"/>
          <p:cNvSpPr>
            <a:spLocks noGrp="1"/>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43"/>
        <p:cNvGrpSpPr/>
        <p:nvPr/>
      </p:nvGrpSpPr>
      <p:grpSpPr>
        <a:xfrm>
          <a:off x="0" y="0"/>
          <a:ext cx="0" cy="0"/>
          <a:chOff x="0" y="0"/>
          <a:chExt cx="0" cy="0"/>
        </a:xfrm>
      </p:grpSpPr>
      <p:sp>
        <p:nvSpPr>
          <p:cNvPr id="44" name="Google Shape;44;p96"/>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3600"/>
              <a:buFont typeface="Trebuchet MS" panose="020B0603020202020204"/>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96"/>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46" name="Google Shape;46;p9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6" Type="http://schemas.openxmlformats.org/officeDocument/2006/relationships/theme" Target="../theme/theme1.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3"/>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63"/>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6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63"/>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6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63"/>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fld id="{00000000-1234-1234-1234-123412341234}" type="slidenum">
              <a:rPr lang="en-US" sz="1000" b="0" i="0" u="none" strike="noStrike" cap="none">
                <a:solidFill>
                  <a:schemeClr val="lt1"/>
                </a:solidFill>
                <a:latin typeface="Roboto" panose="02000000000000000000"/>
                <a:ea typeface="Roboto" panose="02000000000000000000"/>
                <a:cs typeface="Roboto" panose="02000000000000000000"/>
                <a:sym typeface="Roboto" panose="02000000000000000000"/>
              </a:rPr>
            </a:fld>
            <a:r>
              <a:rPr lang="en-US" sz="1000" b="1" i="0" u="none" strike="noStrike" cap="none">
                <a:solidFill>
                  <a:schemeClr val="lt1"/>
                </a:solidFill>
                <a:latin typeface="Montserrat"/>
                <a:ea typeface="Montserrat"/>
                <a:cs typeface="Montserrat"/>
                <a:sym typeface="Montserrat"/>
              </a:rPr>
              <a:t>  </a:t>
            </a:r>
            <a:endParaRPr lang="en-US" sz="1000" b="1" i="0" u="none" strike="noStrike" cap="none">
              <a:solidFill>
                <a:schemeClr val="lt1"/>
              </a:solidFill>
              <a:latin typeface="Montserrat"/>
              <a:ea typeface="Montserrat"/>
              <a:cs typeface="Montserrat"/>
              <a:sym typeface="Montserrat"/>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7" Type="http://schemas.openxmlformats.org/officeDocument/2006/relationships/notesSlide" Target="../notesSlides/notesSlide54.xml"/><Relationship Id="rId6" Type="http://schemas.openxmlformats.org/officeDocument/2006/relationships/slideLayout" Target="../slideLayouts/slideLayout35.xml"/><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5.xml"/><Relationship Id="rId4" Type="http://schemas.openxmlformats.org/officeDocument/2006/relationships/hyperlink" Target="https://imarticus.org/" TargetMode="External"/><Relationship Id="rId3" Type="http://schemas.openxmlformats.org/officeDocument/2006/relationships/image" Target="../media/image1.png"/><Relationship Id="rId2" Type="http://schemas.openxmlformats.org/officeDocument/2006/relationships/image" Target="../media/image27.jpeg"/><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1"/>
          <p:cNvPicPr preferRelativeResize="0">
            <a:picLocks noGrp="1"/>
          </p:cNvPicPr>
          <p:nvPr>
            <p:ph type="pic" idx="2"/>
          </p:nvPr>
        </p:nvPicPr>
        <p:blipFill rotWithShape="1">
          <a:blip r:embed="rId1"/>
          <a:srcRect/>
          <a:stretch>
            <a:fillRect/>
          </a:stretch>
        </p:blipFill>
        <p:spPr>
          <a:xfrm>
            <a:off x="1588" y="1"/>
            <a:ext cx="12190412" cy="6858000"/>
          </a:xfrm>
          <a:prstGeom prst="rect">
            <a:avLst/>
          </a:prstGeom>
          <a:solidFill>
            <a:srgbClr val="F2F2F2"/>
          </a:solidFill>
          <a:ln>
            <a:noFill/>
          </a:ln>
        </p:spPr>
      </p:pic>
      <p:sp>
        <p:nvSpPr>
          <p:cNvPr id="146" name="Google Shape;146;p1"/>
          <p:cNvSpPr/>
          <p:nvPr/>
        </p:nvSpPr>
        <p:spPr>
          <a:xfrm>
            <a:off x="1588" y="1"/>
            <a:ext cx="12190411" cy="6858000"/>
          </a:xfrm>
          <a:prstGeom prst="rect">
            <a:avLst/>
          </a:prstGeom>
          <a:gradFill>
            <a:gsLst>
              <a:gs pos="0">
                <a:srgbClr val="25B6C2">
                  <a:alpha val="20000"/>
                </a:srgbClr>
              </a:gs>
              <a:gs pos="2000">
                <a:srgbClr val="25B6C2">
                  <a:alpha val="20000"/>
                </a:srgbClr>
              </a:gs>
              <a:gs pos="100000">
                <a:srgbClr val="0692DB">
                  <a:alpha val="63921"/>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47" name="Google Shape;147;p1"/>
          <p:cNvSpPr/>
          <p:nvPr/>
        </p:nvSpPr>
        <p:spPr>
          <a:xfrm>
            <a:off x="1587" y="4507667"/>
            <a:ext cx="12190411" cy="1609445"/>
          </a:xfrm>
          <a:prstGeom prst="rect">
            <a:avLst/>
          </a:prstGeom>
          <a:solidFill>
            <a:srgbClr val="D5DB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48" name="Google Shape;148;p1"/>
          <p:cNvSpPr txBox="1"/>
          <p:nvPr/>
        </p:nvSpPr>
        <p:spPr>
          <a:xfrm>
            <a:off x="3018080" y="4791708"/>
            <a:ext cx="9172332" cy="58229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1" i="0" u="none" strike="noStrike" cap="none" dirty="0">
                <a:solidFill>
                  <a:srgbClr val="000000"/>
                </a:solidFill>
                <a:latin typeface="Arial" panose="020B0604020202020204"/>
                <a:ea typeface="Arial" panose="020B0604020202020204"/>
                <a:cs typeface="Arial" panose="020B0604020202020204"/>
                <a:sym typeface="Arial" panose="020B0604020202020204"/>
              </a:rPr>
              <a:t> EXCHANGE</a:t>
            </a:r>
            <a:r>
              <a:rPr lang="en-IN" altLang="en-US" sz="3200" b="1" i="0" u="none" strike="noStrike" cap="none" dirty="0">
                <a:solidFill>
                  <a:srgbClr val="000000"/>
                </a:solidFill>
                <a:latin typeface="Arial" panose="020B0604020202020204"/>
                <a:ea typeface="Arial" panose="020B0604020202020204"/>
                <a:cs typeface="Arial" panose="020B0604020202020204"/>
                <a:sym typeface="Arial" panose="020B0604020202020204"/>
              </a:rPr>
              <a:t> TRADE LIFE CYCLE</a:t>
            </a:r>
            <a:endParaRPr lang="en-IN" altLang="en-US" sz="3200" b="1"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pic>
        <p:nvPicPr>
          <p:cNvPr id="149" name="Google Shape;149;p1" descr="A picture containing text, clipart&#10;&#10;Description automatically generated"/>
          <p:cNvPicPr preferRelativeResize="0"/>
          <p:nvPr/>
        </p:nvPicPr>
        <p:blipFill rotWithShape="1">
          <a:blip r:embed="rId2"/>
          <a:srcRect/>
          <a:stretch>
            <a:fillRect/>
          </a:stretch>
        </p:blipFill>
        <p:spPr>
          <a:xfrm>
            <a:off x="9533468" y="804443"/>
            <a:ext cx="2421466" cy="491960"/>
          </a:xfrm>
          <a:prstGeom prst="rect">
            <a:avLst/>
          </a:prstGeom>
          <a:noFill/>
          <a:ln>
            <a:noFill/>
          </a:ln>
        </p:spPr>
      </p:pic>
      <p:grpSp>
        <p:nvGrpSpPr>
          <p:cNvPr id="150" name="Google Shape;150;p1"/>
          <p:cNvGrpSpPr/>
          <p:nvPr/>
        </p:nvGrpSpPr>
        <p:grpSpPr>
          <a:xfrm>
            <a:off x="406806" y="4225968"/>
            <a:ext cx="2217393" cy="2208699"/>
            <a:chOff x="406806" y="4225968"/>
            <a:chExt cx="2217393" cy="2208699"/>
          </a:xfrm>
        </p:grpSpPr>
        <p:sp>
          <p:nvSpPr>
            <p:cNvPr id="151" name="Google Shape;151;p1"/>
            <p:cNvSpPr/>
            <p:nvPr/>
          </p:nvSpPr>
          <p:spPr>
            <a:xfrm>
              <a:off x="406806" y="4225968"/>
              <a:ext cx="2217393" cy="2208699"/>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52" name="Google Shape;152;p1" descr="A silhouette of a city&#10;&#10;Description automatically generated with low confidence"/>
            <p:cNvPicPr preferRelativeResize="0"/>
            <p:nvPr/>
          </p:nvPicPr>
          <p:blipFill rotWithShape="1">
            <a:blip r:embed="rId3"/>
            <a:srcRect/>
            <a:stretch>
              <a:fillRect/>
            </a:stretch>
          </p:blipFill>
          <p:spPr>
            <a:xfrm>
              <a:off x="1071058" y="4841428"/>
              <a:ext cx="888889" cy="97777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pic>
        <p:nvPicPr>
          <p:cNvPr id="157" name="Google Shape;157;p2"/>
          <p:cNvPicPr preferRelativeResize="0">
            <a:picLocks noGrp="1"/>
          </p:cNvPicPr>
          <p:nvPr>
            <p:ph type="pic" idx="2"/>
          </p:nvPr>
        </p:nvPicPr>
        <p:blipFill rotWithShape="1">
          <a:blip r:embed="rId1"/>
          <a:srcRect/>
          <a:stretch>
            <a:fillRect/>
          </a:stretch>
        </p:blipFill>
        <p:spPr>
          <a:xfrm>
            <a:off x="0" y="-1"/>
            <a:ext cx="12192000" cy="6857999"/>
          </a:xfrm>
          <a:prstGeom prst="rect">
            <a:avLst/>
          </a:prstGeom>
          <a:solidFill>
            <a:srgbClr val="F2F2F2"/>
          </a:solidFill>
          <a:ln>
            <a:noFill/>
          </a:ln>
        </p:spPr>
      </p:pic>
      <p:sp>
        <p:nvSpPr>
          <p:cNvPr id="158" name="Google Shape;158;p2"/>
          <p:cNvSpPr/>
          <p:nvPr/>
        </p:nvSpPr>
        <p:spPr>
          <a:xfrm>
            <a:off x="1588" y="0"/>
            <a:ext cx="12188825" cy="7591112"/>
          </a:xfrm>
          <a:prstGeom prst="rect">
            <a:avLst/>
          </a:prstGeom>
          <a:solidFill>
            <a:schemeClr val="lt1">
              <a:alpha val="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59" name="Google Shape;159;p2"/>
          <p:cNvSpPr/>
          <p:nvPr/>
        </p:nvSpPr>
        <p:spPr>
          <a:xfrm>
            <a:off x="1588" y="3190420"/>
            <a:ext cx="12188825" cy="2510293"/>
          </a:xfrm>
          <a:prstGeom prst="rect">
            <a:avLst/>
          </a:prstGeom>
          <a:gradFill>
            <a:gsLst>
              <a:gs pos="0">
                <a:srgbClr val="25B6C2">
                  <a:alpha val="49803"/>
                </a:srgbClr>
              </a:gs>
              <a:gs pos="13000">
                <a:srgbClr val="25B6C2">
                  <a:alpha val="49803"/>
                </a:srgbClr>
              </a:gs>
              <a:gs pos="100000">
                <a:srgbClr val="0692DB">
                  <a:alpha val="49803"/>
                </a:srgbClr>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0" name="Google Shape;160;p2"/>
          <p:cNvSpPr/>
          <p:nvPr/>
        </p:nvSpPr>
        <p:spPr>
          <a:xfrm>
            <a:off x="1588" y="3362964"/>
            <a:ext cx="12188825" cy="2128315"/>
          </a:xfrm>
          <a:prstGeom prst="rect">
            <a:avLst/>
          </a:prstGeom>
          <a:gradFill>
            <a:gsLst>
              <a:gs pos="0">
                <a:srgbClr val="25B6C2"/>
              </a:gs>
              <a:gs pos="13000">
                <a:srgbClr val="25B6C2"/>
              </a:gs>
              <a:gs pos="100000">
                <a:srgbClr val="0692DB"/>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1" name="Google Shape;161;p2"/>
          <p:cNvSpPr txBox="1"/>
          <p:nvPr/>
        </p:nvSpPr>
        <p:spPr>
          <a:xfrm>
            <a:off x="3841715" y="3436581"/>
            <a:ext cx="4508571"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3600"/>
              <a:buFont typeface="Arial" panose="020B0604020202020204"/>
              <a:buNone/>
            </a:pPr>
            <a:r>
              <a:rPr lang="en-US" sz="3600" b="1" i="0" u="none" strike="noStrike" cap="none">
                <a:solidFill>
                  <a:srgbClr val="FFFFFF"/>
                </a:solidFill>
                <a:latin typeface="Arial" panose="020B0604020202020204"/>
                <a:ea typeface="Arial" panose="020B0604020202020204"/>
                <a:cs typeface="Arial" panose="020B0604020202020204"/>
                <a:sym typeface="Arial" panose="020B0604020202020204"/>
              </a:rPr>
              <a:t>DISCLAIMER</a:t>
            </a:r>
            <a:endParaRPr sz="33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2" name="Google Shape;162;p2"/>
          <p:cNvSpPr txBox="1"/>
          <p:nvPr/>
        </p:nvSpPr>
        <p:spPr>
          <a:xfrm>
            <a:off x="442135" y="4060016"/>
            <a:ext cx="11307731"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400"/>
              <a:buFont typeface="Arial" panose="020B0604020202020204"/>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The training content and delivery of this presentation is confidential, and cannot be recorded, or copied and distributed to any third party, without the written consent of Imarticus Learning Pvt. Ltd.</a:t>
            </a:r>
            <a:endPar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163" name="Google Shape;163;p2" descr="A picture containing text, clipart&#10;&#10;Description automatically generated"/>
          <p:cNvPicPr preferRelativeResize="0"/>
          <p:nvPr/>
        </p:nvPicPr>
        <p:blipFill rotWithShape="1">
          <a:blip r:embed="rId2"/>
          <a:srcRect/>
          <a:stretch>
            <a:fillRect/>
          </a:stretch>
        </p:blipFill>
        <p:spPr>
          <a:xfrm>
            <a:off x="9533468" y="431910"/>
            <a:ext cx="2421466" cy="491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69" name="Google Shape;169;p3"/>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YOU ARE GOING TO LEARN…</a:t>
            </a:r>
            <a:endParaRPr lang="en-US"/>
          </a:p>
        </p:txBody>
      </p:sp>
      <p:sp>
        <p:nvSpPr>
          <p:cNvPr id="170" name="Google Shape;170;p3"/>
          <p:cNvSpPr/>
          <p:nvPr/>
        </p:nvSpPr>
        <p:spPr>
          <a:xfrm rot="5400000">
            <a:off x="3836009" y="-2259991"/>
            <a:ext cx="4519984" cy="12191998"/>
          </a:xfrm>
          <a:prstGeom prst="roundRect">
            <a:avLst>
              <a:gd name="adj" fmla="val 0"/>
            </a:avLst>
          </a:prstGeom>
          <a:solidFill>
            <a:srgbClr val="A6E9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71" name="Google Shape;171;p3"/>
          <p:cNvSpPr txBox="1"/>
          <p:nvPr/>
        </p:nvSpPr>
        <p:spPr>
          <a:xfrm>
            <a:off x="-7" y="1576032"/>
            <a:ext cx="12191998" cy="4519984"/>
          </a:xfrm>
          <a:prstGeom prst="rect">
            <a:avLst/>
          </a:prstGeom>
          <a:noFill/>
          <a:ln>
            <a:noFill/>
          </a:ln>
        </p:spPr>
        <p:txBody>
          <a:bodyPr spcFirstLastPara="1" wrap="square" lIns="91425" tIns="45700" rIns="91425" bIns="720000" anchor="ctr" anchorCtr="0">
            <a:noAutofit/>
          </a:bodyPr>
          <a:lstStyle/>
          <a:p>
            <a:pPr marL="285750" marR="0" lvl="0" indent="-158750" algn="l" rtl="0">
              <a:spcBef>
                <a:spcPts val="0"/>
              </a:spcBef>
              <a:spcAft>
                <a:spcPts val="0"/>
              </a:spcAft>
              <a:buClr>
                <a:schemeClr val="dk1"/>
              </a:buClr>
              <a:buSzPts val="2000"/>
              <a:buFont typeface="Arial" panose="020B0604020202020204"/>
              <a:buNone/>
            </a:pP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172" name="Google Shape;172;p3"/>
          <p:cNvGrpSpPr/>
          <p:nvPr/>
        </p:nvGrpSpPr>
        <p:grpSpPr>
          <a:xfrm>
            <a:off x="6971322" y="1295401"/>
            <a:ext cx="4395635" cy="5562600"/>
            <a:chOff x="7546962" y="2023863"/>
            <a:chExt cx="3819995" cy="4834137"/>
          </a:xfrm>
        </p:grpSpPr>
        <p:sp>
          <p:nvSpPr>
            <p:cNvPr id="173" name="Google Shape;173;p3"/>
            <p:cNvSpPr/>
            <p:nvPr/>
          </p:nvSpPr>
          <p:spPr>
            <a:xfrm flipH="1">
              <a:off x="7546962" y="2023863"/>
              <a:ext cx="3819995" cy="4834137"/>
            </a:xfrm>
            <a:custGeom>
              <a:avLst/>
              <a:gdLst/>
              <a:ahLst/>
              <a:cxnLst/>
              <a:rect l="l" t="t" r="r" b="b"/>
              <a:pathLst>
                <a:path w="3819995" h="4834137" extrusionOk="0">
                  <a:moveTo>
                    <a:pt x="417961" y="4834122"/>
                  </a:moveTo>
                  <a:cubicBezTo>
                    <a:pt x="417961" y="4834122"/>
                    <a:pt x="680885" y="4215750"/>
                    <a:pt x="671152" y="3719115"/>
                  </a:cubicBezTo>
                  <a:cubicBezTo>
                    <a:pt x="661420" y="3222480"/>
                    <a:pt x="466656" y="2886514"/>
                    <a:pt x="203731" y="2389863"/>
                  </a:cubicBezTo>
                  <a:cubicBezTo>
                    <a:pt x="-59209" y="1893228"/>
                    <a:pt x="-209616" y="909676"/>
                    <a:pt x="671424" y="330266"/>
                  </a:cubicBezTo>
                  <a:cubicBezTo>
                    <a:pt x="1552449" y="-249144"/>
                    <a:pt x="2666239" y="54407"/>
                    <a:pt x="2969342" y="330266"/>
                  </a:cubicBezTo>
                  <a:cubicBezTo>
                    <a:pt x="3402682" y="724660"/>
                    <a:pt x="3509805" y="1299204"/>
                    <a:pt x="3504939" y="1430674"/>
                  </a:cubicBezTo>
                  <a:cubicBezTo>
                    <a:pt x="3500072" y="1562144"/>
                    <a:pt x="3363880" y="1620571"/>
                    <a:pt x="3505003" y="1825068"/>
                  </a:cubicBezTo>
                  <a:cubicBezTo>
                    <a:pt x="3588322" y="1945813"/>
                    <a:pt x="3710716" y="2110675"/>
                    <a:pt x="3796997" y="2225481"/>
                  </a:cubicBezTo>
                  <a:cubicBezTo>
                    <a:pt x="3845676" y="2290264"/>
                    <a:pt x="3813356" y="2383668"/>
                    <a:pt x="3735079" y="2404622"/>
                  </a:cubicBezTo>
                  <a:lnTo>
                    <a:pt x="3631574" y="2432315"/>
                  </a:lnTo>
                  <a:cubicBezTo>
                    <a:pt x="3588914" y="2443728"/>
                    <a:pt x="3563574" y="2487573"/>
                    <a:pt x="3575084" y="2530201"/>
                  </a:cubicBezTo>
                  <a:cubicBezTo>
                    <a:pt x="3590579" y="2587604"/>
                    <a:pt x="3609260" y="2661143"/>
                    <a:pt x="3612045" y="2691750"/>
                  </a:cubicBezTo>
                  <a:cubicBezTo>
                    <a:pt x="3616912" y="2745311"/>
                    <a:pt x="3480575" y="2837819"/>
                    <a:pt x="3480575" y="2837819"/>
                  </a:cubicBezTo>
                  <a:cubicBezTo>
                    <a:pt x="3480575" y="2837819"/>
                    <a:pt x="3592564" y="2891380"/>
                    <a:pt x="3539003" y="2964407"/>
                  </a:cubicBezTo>
                  <a:cubicBezTo>
                    <a:pt x="3485442" y="3037449"/>
                    <a:pt x="3431880" y="3047181"/>
                    <a:pt x="3451361" y="3154304"/>
                  </a:cubicBezTo>
                  <a:cubicBezTo>
                    <a:pt x="3470843" y="3261427"/>
                    <a:pt x="3577949" y="3495137"/>
                    <a:pt x="3144609" y="3514618"/>
                  </a:cubicBezTo>
                  <a:cubicBezTo>
                    <a:pt x="2711268" y="3534099"/>
                    <a:pt x="2414248" y="3529233"/>
                    <a:pt x="2511638" y="3982055"/>
                  </a:cubicBezTo>
                  <a:cubicBezTo>
                    <a:pt x="2609011" y="4434877"/>
                    <a:pt x="2677188" y="4834138"/>
                    <a:pt x="2677188" y="4834138"/>
                  </a:cubicBezTo>
                  <a:lnTo>
                    <a:pt x="417961" y="483413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174" name="Google Shape;174;p3"/>
            <p:cNvGrpSpPr/>
            <p:nvPr/>
          </p:nvGrpSpPr>
          <p:grpSpPr>
            <a:xfrm flipH="1">
              <a:off x="8165378" y="2023909"/>
              <a:ext cx="2941885" cy="3845608"/>
              <a:chOff x="12739148" y="1911090"/>
              <a:chExt cx="2941885" cy="3845608"/>
            </a:xfrm>
          </p:grpSpPr>
          <p:sp>
            <p:nvSpPr>
              <p:cNvPr id="175" name="Google Shape;175;p3"/>
              <p:cNvSpPr/>
              <p:nvPr/>
            </p:nvSpPr>
            <p:spPr>
              <a:xfrm>
                <a:off x="13879927" y="4285315"/>
                <a:ext cx="334061" cy="1471383"/>
              </a:xfrm>
              <a:custGeom>
                <a:avLst/>
                <a:gdLst/>
                <a:ahLst/>
                <a:cxnLst/>
                <a:rect l="l" t="t" r="r" b="b"/>
                <a:pathLst>
                  <a:path w="334061" h="1471383" extrusionOk="0">
                    <a:moveTo>
                      <a:pt x="263196" y="1435814"/>
                    </a:moveTo>
                    <a:cubicBezTo>
                      <a:pt x="263196" y="1455408"/>
                      <a:pt x="278900" y="1471383"/>
                      <a:pt x="298509" y="1471383"/>
                    </a:cubicBezTo>
                    <a:cubicBezTo>
                      <a:pt x="318086" y="1471383"/>
                      <a:pt x="334062" y="1455408"/>
                      <a:pt x="334062" y="1435814"/>
                    </a:cubicBezTo>
                    <a:cubicBezTo>
                      <a:pt x="334062" y="1419343"/>
                      <a:pt x="322728" y="1405752"/>
                      <a:pt x="307505" y="1401782"/>
                    </a:cubicBezTo>
                    <a:lnTo>
                      <a:pt x="307505" y="1048111"/>
                    </a:lnTo>
                    <a:lnTo>
                      <a:pt x="44581" y="785187"/>
                    </a:lnTo>
                    <a:lnTo>
                      <a:pt x="44581" y="69841"/>
                    </a:lnTo>
                    <a:cubicBezTo>
                      <a:pt x="59804" y="65823"/>
                      <a:pt x="71138" y="52040"/>
                      <a:pt x="71138" y="35585"/>
                    </a:cubicBezTo>
                    <a:cubicBezTo>
                      <a:pt x="71138" y="16008"/>
                      <a:pt x="55162" y="0"/>
                      <a:pt x="35585" y="0"/>
                    </a:cubicBezTo>
                    <a:cubicBezTo>
                      <a:pt x="15976" y="0"/>
                      <a:pt x="0" y="15991"/>
                      <a:pt x="0" y="35585"/>
                    </a:cubicBezTo>
                    <a:cubicBezTo>
                      <a:pt x="0" y="52136"/>
                      <a:pt x="11461" y="65983"/>
                      <a:pt x="26813" y="69921"/>
                    </a:cubicBezTo>
                    <a:lnTo>
                      <a:pt x="26813" y="792422"/>
                    </a:lnTo>
                    <a:lnTo>
                      <a:pt x="289721" y="1055347"/>
                    </a:lnTo>
                    <a:lnTo>
                      <a:pt x="289721" y="1401718"/>
                    </a:lnTo>
                    <a:cubicBezTo>
                      <a:pt x="274450" y="1405624"/>
                      <a:pt x="263196" y="1419279"/>
                      <a:pt x="263196" y="14358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6" name="Google Shape;176;p3"/>
              <p:cNvSpPr/>
              <p:nvPr/>
            </p:nvSpPr>
            <p:spPr>
              <a:xfrm>
                <a:off x="13319214" y="2045889"/>
                <a:ext cx="369534" cy="2311027"/>
              </a:xfrm>
              <a:custGeom>
                <a:avLst/>
                <a:gdLst/>
                <a:ahLst/>
                <a:cxnLst/>
                <a:rect l="l" t="t" r="r" b="b"/>
                <a:pathLst>
                  <a:path w="369534" h="2311027" extrusionOk="0">
                    <a:moveTo>
                      <a:pt x="194748" y="8452"/>
                    </a:moveTo>
                    <a:lnTo>
                      <a:pt x="194748" y="716691"/>
                    </a:lnTo>
                    <a:lnTo>
                      <a:pt x="211428" y="733355"/>
                    </a:lnTo>
                    <a:lnTo>
                      <a:pt x="209763" y="733355"/>
                    </a:lnTo>
                    <a:lnTo>
                      <a:pt x="209763" y="968874"/>
                    </a:lnTo>
                    <a:lnTo>
                      <a:pt x="69249" y="1109228"/>
                    </a:lnTo>
                    <a:lnTo>
                      <a:pt x="69249" y="1384558"/>
                    </a:lnTo>
                    <a:lnTo>
                      <a:pt x="160380" y="1475705"/>
                    </a:lnTo>
                    <a:cubicBezTo>
                      <a:pt x="158619" y="1479579"/>
                      <a:pt x="157594" y="1483853"/>
                      <a:pt x="157594" y="1488399"/>
                    </a:cubicBezTo>
                    <a:cubicBezTo>
                      <a:pt x="157594" y="1502438"/>
                      <a:pt x="166943" y="1513979"/>
                      <a:pt x="179717" y="1517693"/>
                    </a:cubicBezTo>
                    <a:lnTo>
                      <a:pt x="179717" y="1733715"/>
                    </a:lnTo>
                    <a:lnTo>
                      <a:pt x="19929" y="1893423"/>
                    </a:lnTo>
                    <a:lnTo>
                      <a:pt x="19929" y="2251448"/>
                    </a:lnTo>
                    <a:cubicBezTo>
                      <a:pt x="8292" y="2255850"/>
                      <a:pt x="0" y="2266991"/>
                      <a:pt x="0" y="2280213"/>
                    </a:cubicBezTo>
                    <a:cubicBezTo>
                      <a:pt x="0" y="2297133"/>
                      <a:pt x="13767" y="2311028"/>
                      <a:pt x="30831" y="2311028"/>
                    </a:cubicBezTo>
                    <a:cubicBezTo>
                      <a:pt x="47895" y="2311028"/>
                      <a:pt x="61645" y="2297133"/>
                      <a:pt x="61645" y="2280213"/>
                    </a:cubicBezTo>
                    <a:cubicBezTo>
                      <a:pt x="61645" y="2266991"/>
                      <a:pt x="53353" y="2255850"/>
                      <a:pt x="41716" y="2251448"/>
                    </a:cubicBezTo>
                    <a:lnTo>
                      <a:pt x="41716" y="1902291"/>
                    </a:lnTo>
                    <a:lnTo>
                      <a:pt x="179701" y="1764306"/>
                    </a:lnTo>
                    <a:lnTo>
                      <a:pt x="179701" y="2068113"/>
                    </a:lnTo>
                    <a:cubicBezTo>
                      <a:pt x="167663" y="2072323"/>
                      <a:pt x="159003" y="2083672"/>
                      <a:pt x="159003" y="2096927"/>
                    </a:cubicBezTo>
                    <a:cubicBezTo>
                      <a:pt x="159003" y="2114007"/>
                      <a:pt x="172754" y="2127901"/>
                      <a:pt x="189818" y="2127901"/>
                    </a:cubicBezTo>
                    <a:cubicBezTo>
                      <a:pt x="206722" y="2127901"/>
                      <a:pt x="220488" y="2114007"/>
                      <a:pt x="220488" y="2096927"/>
                    </a:cubicBezTo>
                    <a:cubicBezTo>
                      <a:pt x="220488" y="2084281"/>
                      <a:pt x="212645" y="2073283"/>
                      <a:pt x="201519" y="2068641"/>
                    </a:cubicBezTo>
                    <a:lnTo>
                      <a:pt x="201519" y="1742503"/>
                    </a:lnTo>
                    <a:lnTo>
                      <a:pt x="369535" y="1574472"/>
                    </a:lnTo>
                    <a:lnTo>
                      <a:pt x="369535" y="860695"/>
                    </a:lnTo>
                    <a:lnTo>
                      <a:pt x="216534" y="707534"/>
                    </a:lnTo>
                    <a:lnTo>
                      <a:pt x="216534" y="0"/>
                    </a:lnTo>
                    <a:cubicBezTo>
                      <a:pt x="209283" y="2721"/>
                      <a:pt x="202015" y="5619"/>
                      <a:pt x="194748" y="8452"/>
                    </a:cubicBezTo>
                    <a:close/>
                    <a:moveTo>
                      <a:pt x="231405" y="977726"/>
                    </a:moveTo>
                    <a:lnTo>
                      <a:pt x="231405" y="753348"/>
                    </a:lnTo>
                    <a:lnTo>
                      <a:pt x="347892" y="869835"/>
                    </a:lnTo>
                    <a:lnTo>
                      <a:pt x="347892" y="1565604"/>
                    </a:lnTo>
                    <a:lnTo>
                      <a:pt x="201519" y="1711897"/>
                    </a:lnTo>
                    <a:lnTo>
                      <a:pt x="201519" y="1516028"/>
                    </a:lnTo>
                    <a:cubicBezTo>
                      <a:pt x="211908" y="1511130"/>
                      <a:pt x="219224" y="1500709"/>
                      <a:pt x="219224" y="1488367"/>
                    </a:cubicBezTo>
                    <a:cubicBezTo>
                      <a:pt x="219224" y="1471303"/>
                      <a:pt x="205313" y="1457553"/>
                      <a:pt x="188393" y="1457553"/>
                    </a:cubicBezTo>
                    <a:cubicBezTo>
                      <a:pt x="183863" y="1457553"/>
                      <a:pt x="179605" y="1458577"/>
                      <a:pt x="175731" y="1460322"/>
                    </a:cubicBezTo>
                    <a:lnTo>
                      <a:pt x="91019" y="1375370"/>
                    </a:lnTo>
                    <a:lnTo>
                      <a:pt x="91019" y="1118080"/>
                    </a:lnTo>
                    <a:lnTo>
                      <a:pt x="231405" y="97772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7" name="Google Shape;177;p3"/>
              <p:cNvSpPr/>
              <p:nvPr/>
            </p:nvSpPr>
            <p:spPr>
              <a:xfrm>
                <a:off x="13009276" y="2123798"/>
                <a:ext cx="435293" cy="2557304"/>
              </a:xfrm>
              <a:custGeom>
                <a:avLst/>
                <a:gdLst/>
                <a:ahLst/>
                <a:cxnLst/>
                <a:rect l="l" t="t" r="r" b="b"/>
                <a:pathLst>
                  <a:path w="435293" h="2557304" extrusionOk="0">
                    <a:moveTo>
                      <a:pt x="0" y="1130806"/>
                    </a:moveTo>
                    <a:lnTo>
                      <a:pt x="0" y="1415965"/>
                    </a:lnTo>
                    <a:lnTo>
                      <a:pt x="198366" y="1614475"/>
                    </a:lnTo>
                    <a:lnTo>
                      <a:pt x="198366" y="2264734"/>
                    </a:lnTo>
                    <a:lnTo>
                      <a:pt x="308850" y="2375218"/>
                    </a:lnTo>
                    <a:lnTo>
                      <a:pt x="308850" y="2498669"/>
                    </a:lnTo>
                    <a:cubicBezTo>
                      <a:pt x="298221" y="2503519"/>
                      <a:pt x="290825" y="2514132"/>
                      <a:pt x="290825" y="2526490"/>
                    </a:cubicBezTo>
                    <a:cubicBezTo>
                      <a:pt x="290825" y="2543554"/>
                      <a:pt x="304592" y="2557304"/>
                      <a:pt x="321640" y="2557304"/>
                    </a:cubicBezTo>
                    <a:cubicBezTo>
                      <a:pt x="338560" y="2557304"/>
                      <a:pt x="352310" y="2543554"/>
                      <a:pt x="352310" y="2526490"/>
                    </a:cubicBezTo>
                    <a:cubicBezTo>
                      <a:pt x="352310" y="2512739"/>
                      <a:pt x="343154" y="2501214"/>
                      <a:pt x="330652" y="2497340"/>
                    </a:cubicBezTo>
                    <a:lnTo>
                      <a:pt x="330652" y="2366238"/>
                    </a:lnTo>
                    <a:lnTo>
                      <a:pt x="220168" y="2255738"/>
                    </a:lnTo>
                    <a:lnTo>
                      <a:pt x="220168" y="1605335"/>
                    </a:lnTo>
                    <a:lnTo>
                      <a:pt x="21802" y="1407129"/>
                    </a:lnTo>
                    <a:lnTo>
                      <a:pt x="21802" y="1139658"/>
                    </a:lnTo>
                    <a:lnTo>
                      <a:pt x="435294" y="726167"/>
                    </a:lnTo>
                    <a:lnTo>
                      <a:pt x="435294" y="532876"/>
                    </a:lnTo>
                    <a:lnTo>
                      <a:pt x="346772" y="444050"/>
                    </a:lnTo>
                    <a:lnTo>
                      <a:pt x="346772" y="0"/>
                    </a:lnTo>
                    <a:cubicBezTo>
                      <a:pt x="339488" y="3602"/>
                      <a:pt x="332237" y="7331"/>
                      <a:pt x="324969" y="11029"/>
                    </a:cubicBezTo>
                    <a:lnTo>
                      <a:pt x="324969" y="453206"/>
                    </a:lnTo>
                    <a:lnTo>
                      <a:pt x="413459" y="541728"/>
                    </a:lnTo>
                    <a:lnTo>
                      <a:pt x="413459" y="717171"/>
                    </a:lnTo>
                    <a:lnTo>
                      <a:pt x="0" y="11308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8" name="Google Shape;178;p3"/>
              <p:cNvSpPr/>
              <p:nvPr/>
            </p:nvSpPr>
            <p:spPr>
              <a:xfrm>
                <a:off x="13724846" y="1911090"/>
                <a:ext cx="1956187" cy="3529331"/>
              </a:xfrm>
              <a:custGeom>
                <a:avLst/>
                <a:gdLst/>
                <a:ahLst/>
                <a:cxnLst/>
                <a:rect l="l" t="t" r="r" b="b"/>
                <a:pathLst>
                  <a:path w="1956187" h="3529331" extrusionOk="0">
                    <a:moveTo>
                      <a:pt x="1920715" y="548243"/>
                    </a:moveTo>
                    <a:lnTo>
                      <a:pt x="1920715" y="883249"/>
                    </a:lnTo>
                    <a:cubicBezTo>
                      <a:pt x="1901362" y="883249"/>
                      <a:pt x="1885403" y="899241"/>
                      <a:pt x="1885403" y="918834"/>
                    </a:cubicBezTo>
                    <a:cubicBezTo>
                      <a:pt x="1885403" y="927654"/>
                      <a:pt x="1888748" y="935626"/>
                      <a:pt x="1894079" y="941853"/>
                    </a:cubicBezTo>
                    <a:lnTo>
                      <a:pt x="1757518" y="1078398"/>
                    </a:lnTo>
                    <a:lnTo>
                      <a:pt x="1757518" y="968906"/>
                    </a:lnTo>
                    <a:cubicBezTo>
                      <a:pt x="1768099" y="962727"/>
                      <a:pt x="1775302" y="951394"/>
                      <a:pt x="1775302" y="938299"/>
                    </a:cubicBezTo>
                    <a:cubicBezTo>
                      <a:pt x="1775302" y="918706"/>
                      <a:pt x="1759327" y="902715"/>
                      <a:pt x="1739734" y="902715"/>
                    </a:cubicBezTo>
                    <a:cubicBezTo>
                      <a:pt x="1720140" y="902715"/>
                      <a:pt x="1704421" y="918706"/>
                      <a:pt x="1704421" y="938299"/>
                    </a:cubicBezTo>
                    <a:cubicBezTo>
                      <a:pt x="1704421" y="957893"/>
                      <a:pt x="1720140" y="973852"/>
                      <a:pt x="1739734" y="973852"/>
                    </a:cubicBezTo>
                    <a:lnTo>
                      <a:pt x="1739734" y="1096182"/>
                    </a:lnTo>
                    <a:lnTo>
                      <a:pt x="1565427" y="1270504"/>
                    </a:lnTo>
                    <a:cubicBezTo>
                      <a:pt x="1559457" y="1265990"/>
                      <a:pt x="1552125" y="1263221"/>
                      <a:pt x="1544105" y="1263221"/>
                    </a:cubicBezTo>
                    <a:cubicBezTo>
                      <a:pt x="1524512" y="1263221"/>
                      <a:pt x="1508552" y="1279196"/>
                      <a:pt x="1508552" y="1298774"/>
                    </a:cubicBezTo>
                    <a:cubicBezTo>
                      <a:pt x="1508552" y="1315358"/>
                      <a:pt x="1520622" y="1329556"/>
                      <a:pt x="1536630" y="1332998"/>
                    </a:cubicBezTo>
                    <a:lnTo>
                      <a:pt x="1536630" y="1462659"/>
                    </a:lnTo>
                    <a:lnTo>
                      <a:pt x="1279932" y="1719420"/>
                    </a:lnTo>
                    <a:lnTo>
                      <a:pt x="1080815" y="1520302"/>
                    </a:lnTo>
                    <a:cubicBezTo>
                      <a:pt x="1084048" y="1514940"/>
                      <a:pt x="1086017" y="1508745"/>
                      <a:pt x="1086017" y="1502038"/>
                    </a:cubicBezTo>
                    <a:cubicBezTo>
                      <a:pt x="1086017" y="1485406"/>
                      <a:pt x="1074444" y="1471847"/>
                      <a:pt x="1058964" y="1468102"/>
                    </a:cubicBezTo>
                    <a:lnTo>
                      <a:pt x="1058964" y="269119"/>
                    </a:lnTo>
                    <a:lnTo>
                      <a:pt x="963303" y="173538"/>
                    </a:lnTo>
                    <a:lnTo>
                      <a:pt x="963303" y="31007"/>
                    </a:lnTo>
                    <a:cubicBezTo>
                      <a:pt x="957380" y="30046"/>
                      <a:pt x="951473" y="29070"/>
                      <a:pt x="945503" y="28157"/>
                    </a:cubicBezTo>
                    <a:lnTo>
                      <a:pt x="945503" y="155770"/>
                    </a:lnTo>
                    <a:lnTo>
                      <a:pt x="799946" y="10309"/>
                    </a:lnTo>
                    <a:cubicBezTo>
                      <a:pt x="790870" y="9476"/>
                      <a:pt x="781761" y="8708"/>
                      <a:pt x="772621" y="7972"/>
                    </a:cubicBezTo>
                    <a:lnTo>
                      <a:pt x="945519" y="181094"/>
                    </a:lnTo>
                    <a:lnTo>
                      <a:pt x="945519" y="668572"/>
                    </a:lnTo>
                    <a:lnTo>
                      <a:pt x="827447" y="786644"/>
                    </a:lnTo>
                    <a:lnTo>
                      <a:pt x="827447" y="1392130"/>
                    </a:lnTo>
                    <a:cubicBezTo>
                      <a:pt x="826406" y="1391521"/>
                      <a:pt x="825366" y="1390897"/>
                      <a:pt x="824261" y="1390401"/>
                    </a:cubicBezTo>
                    <a:lnTo>
                      <a:pt x="824261" y="712753"/>
                    </a:lnTo>
                    <a:lnTo>
                      <a:pt x="618756" y="506783"/>
                    </a:lnTo>
                    <a:cubicBezTo>
                      <a:pt x="619861" y="503342"/>
                      <a:pt x="620613" y="499756"/>
                      <a:pt x="620613" y="495962"/>
                    </a:cubicBezTo>
                    <a:cubicBezTo>
                      <a:pt x="620613" y="482884"/>
                      <a:pt x="613394" y="471535"/>
                      <a:pt x="602829" y="465340"/>
                    </a:cubicBezTo>
                    <a:lnTo>
                      <a:pt x="602829" y="176"/>
                    </a:lnTo>
                    <a:cubicBezTo>
                      <a:pt x="595529" y="96"/>
                      <a:pt x="588246" y="16"/>
                      <a:pt x="580914" y="0"/>
                    </a:cubicBezTo>
                    <a:lnTo>
                      <a:pt x="580914" y="109716"/>
                    </a:lnTo>
                    <a:lnTo>
                      <a:pt x="375617" y="315333"/>
                    </a:lnTo>
                    <a:lnTo>
                      <a:pt x="375617" y="8644"/>
                    </a:lnTo>
                    <a:cubicBezTo>
                      <a:pt x="369695" y="9156"/>
                      <a:pt x="363756" y="9797"/>
                      <a:pt x="357833" y="10357"/>
                    </a:cubicBezTo>
                    <a:lnTo>
                      <a:pt x="357833" y="333149"/>
                    </a:lnTo>
                    <a:lnTo>
                      <a:pt x="268015" y="423112"/>
                    </a:lnTo>
                    <a:cubicBezTo>
                      <a:pt x="263677" y="421191"/>
                      <a:pt x="258890" y="420086"/>
                      <a:pt x="253816" y="420086"/>
                    </a:cubicBezTo>
                    <a:cubicBezTo>
                      <a:pt x="234223" y="420086"/>
                      <a:pt x="218247" y="436062"/>
                      <a:pt x="218247" y="455639"/>
                    </a:cubicBezTo>
                    <a:cubicBezTo>
                      <a:pt x="218247" y="471327"/>
                      <a:pt x="228572" y="484565"/>
                      <a:pt x="242739" y="489271"/>
                    </a:cubicBezTo>
                    <a:lnTo>
                      <a:pt x="242739" y="807261"/>
                    </a:lnTo>
                    <a:lnTo>
                      <a:pt x="543217" y="1107723"/>
                    </a:lnTo>
                    <a:cubicBezTo>
                      <a:pt x="540079" y="1112942"/>
                      <a:pt x="538142" y="1118993"/>
                      <a:pt x="538142" y="1125588"/>
                    </a:cubicBezTo>
                    <a:cubicBezTo>
                      <a:pt x="538142" y="1142092"/>
                      <a:pt x="549555" y="1155938"/>
                      <a:pt x="564699" y="1159908"/>
                    </a:cubicBezTo>
                    <a:lnTo>
                      <a:pt x="564699" y="1670037"/>
                    </a:lnTo>
                    <a:lnTo>
                      <a:pt x="51464" y="2183064"/>
                    </a:lnTo>
                    <a:cubicBezTo>
                      <a:pt x="46678" y="2180630"/>
                      <a:pt x="41332" y="2179110"/>
                      <a:pt x="35553" y="2179110"/>
                    </a:cubicBezTo>
                    <a:cubicBezTo>
                      <a:pt x="15959" y="2179110"/>
                      <a:pt x="0" y="2195085"/>
                      <a:pt x="0" y="2214166"/>
                    </a:cubicBezTo>
                    <a:cubicBezTo>
                      <a:pt x="0" y="2227244"/>
                      <a:pt x="7203" y="2238594"/>
                      <a:pt x="17768" y="2244773"/>
                    </a:cubicBezTo>
                    <a:lnTo>
                      <a:pt x="17768" y="3323106"/>
                    </a:lnTo>
                    <a:lnTo>
                      <a:pt x="166975" y="3472297"/>
                    </a:lnTo>
                    <a:cubicBezTo>
                      <a:pt x="162397" y="3478283"/>
                      <a:pt x="159579" y="3485663"/>
                      <a:pt x="159579" y="3493763"/>
                    </a:cubicBezTo>
                    <a:cubicBezTo>
                      <a:pt x="159579" y="3513356"/>
                      <a:pt x="175555" y="3529332"/>
                      <a:pt x="195132" y="3529332"/>
                    </a:cubicBezTo>
                    <a:cubicBezTo>
                      <a:pt x="214709" y="3529332"/>
                      <a:pt x="230445" y="3513356"/>
                      <a:pt x="230445" y="3493763"/>
                    </a:cubicBezTo>
                    <a:cubicBezTo>
                      <a:pt x="230445" y="3474169"/>
                      <a:pt x="214709" y="3458194"/>
                      <a:pt x="195132" y="3458194"/>
                    </a:cubicBezTo>
                    <a:cubicBezTo>
                      <a:pt x="190058" y="3458194"/>
                      <a:pt x="185255" y="3459298"/>
                      <a:pt x="180901" y="3461219"/>
                    </a:cubicBezTo>
                    <a:lnTo>
                      <a:pt x="35569" y="3315903"/>
                    </a:lnTo>
                    <a:lnTo>
                      <a:pt x="35569" y="2249767"/>
                    </a:lnTo>
                    <a:cubicBezTo>
                      <a:pt x="55162" y="2249767"/>
                      <a:pt x="70881" y="2233776"/>
                      <a:pt x="70881" y="2214182"/>
                    </a:cubicBezTo>
                    <a:cubicBezTo>
                      <a:pt x="70881" y="2207011"/>
                      <a:pt x="68656" y="2200288"/>
                      <a:pt x="64863" y="2194685"/>
                    </a:cubicBezTo>
                    <a:lnTo>
                      <a:pt x="564667" y="1695041"/>
                    </a:lnTo>
                    <a:lnTo>
                      <a:pt x="564667" y="2196622"/>
                    </a:lnTo>
                    <a:cubicBezTo>
                      <a:pt x="549523" y="2200592"/>
                      <a:pt x="538110" y="2214406"/>
                      <a:pt x="538110" y="2230926"/>
                    </a:cubicBezTo>
                    <a:cubicBezTo>
                      <a:pt x="538110" y="2237393"/>
                      <a:pt x="539983" y="2243316"/>
                      <a:pt x="543008" y="2248486"/>
                    </a:cubicBezTo>
                    <a:lnTo>
                      <a:pt x="304560" y="2487159"/>
                    </a:lnTo>
                    <a:lnTo>
                      <a:pt x="304560" y="2829657"/>
                    </a:lnTo>
                    <a:cubicBezTo>
                      <a:pt x="290985" y="2834603"/>
                      <a:pt x="281109" y="2847618"/>
                      <a:pt x="281109" y="2862985"/>
                    </a:cubicBezTo>
                    <a:cubicBezTo>
                      <a:pt x="281109" y="2882594"/>
                      <a:pt x="297100" y="2898570"/>
                      <a:pt x="316421" y="2898570"/>
                    </a:cubicBezTo>
                    <a:cubicBezTo>
                      <a:pt x="336015" y="2898570"/>
                      <a:pt x="351990" y="2882594"/>
                      <a:pt x="351990" y="2862985"/>
                    </a:cubicBezTo>
                    <a:cubicBezTo>
                      <a:pt x="351990" y="2845424"/>
                      <a:pt x="339120" y="2830874"/>
                      <a:pt x="322344" y="2828024"/>
                    </a:cubicBezTo>
                    <a:lnTo>
                      <a:pt x="322344" y="2494379"/>
                    </a:lnTo>
                    <a:lnTo>
                      <a:pt x="555799" y="2261148"/>
                    </a:lnTo>
                    <a:cubicBezTo>
                      <a:pt x="561017" y="2264142"/>
                      <a:pt x="566988" y="2265983"/>
                      <a:pt x="573407" y="2265983"/>
                    </a:cubicBezTo>
                    <a:cubicBezTo>
                      <a:pt x="593256" y="2265983"/>
                      <a:pt x="608976" y="2250519"/>
                      <a:pt x="608976" y="2230926"/>
                    </a:cubicBezTo>
                    <a:cubicBezTo>
                      <a:pt x="608976" y="2214438"/>
                      <a:pt x="597786" y="2200656"/>
                      <a:pt x="582419" y="2196654"/>
                    </a:cubicBezTo>
                    <a:lnTo>
                      <a:pt x="582419" y="1677272"/>
                    </a:lnTo>
                    <a:lnTo>
                      <a:pt x="745360" y="1514380"/>
                    </a:lnTo>
                    <a:lnTo>
                      <a:pt x="1115071" y="1884298"/>
                    </a:lnTo>
                    <a:lnTo>
                      <a:pt x="847536" y="2151913"/>
                    </a:lnTo>
                    <a:lnTo>
                      <a:pt x="847536" y="2514980"/>
                    </a:lnTo>
                    <a:cubicBezTo>
                      <a:pt x="835370" y="2520471"/>
                      <a:pt x="826918" y="2532509"/>
                      <a:pt x="826918" y="2546819"/>
                    </a:cubicBezTo>
                    <a:cubicBezTo>
                      <a:pt x="826918" y="2554535"/>
                      <a:pt x="829432" y="2561642"/>
                      <a:pt x="833578" y="2567485"/>
                    </a:cubicBezTo>
                    <a:lnTo>
                      <a:pt x="531483" y="2870060"/>
                    </a:lnTo>
                    <a:lnTo>
                      <a:pt x="531483" y="3123716"/>
                    </a:lnTo>
                    <a:cubicBezTo>
                      <a:pt x="520854" y="3129879"/>
                      <a:pt x="513715" y="3141260"/>
                      <a:pt x="513715" y="3154387"/>
                    </a:cubicBezTo>
                    <a:cubicBezTo>
                      <a:pt x="513715" y="3173964"/>
                      <a:pt x="529418" y="3189939"/>
                      <a:pt x="549267" y="3189939"/>
                    </a:cubicBezTo>
                    <a:cubicBezTo>
                      <a:pt x="568605" y="3189939"/>
                      <a:pt x="584580" y="3173964"/>
                      <a:pt x="584580" y="3154387"/>
                    </a:cubicBezTo>
                    <a:cubicBezTo>
                      <a:pt x="584580" y="3134809"/>
                      <a:pt x="568605" y="3118802"/>
                      <a:pt x="549267" y="3118802"/>
                    </a:cubicBezTo>
                    <a:lnTo>
                      <a:pt x="549267" y="2877280"/>
                    </a:lnTo>
                    <a:lnTo>
                      <a:pt x="847488" y="2579059"/>
                    </a:lnTo>
                    <a:cubicBezTo>
                      <a:pt x="851986" y="2581140"/>
                      <a:pt x="856933" y="2582388"/>
                      <a:pt x="862215" y="2582388"/>
                    </a:cubicBezTo>
                    <a:cubicBezTo>
                      <a:pt x="881808" y="2582388"/>
                      <a:pt x="897768" y="2566397"/>
                      <a:pt x="897768" y="2546803"/>
                    </a:cubicBezTo>
                    <a:cubicBezTo>
                      <a:pt x="897768" y="2528267"/>
                      <a:pt x="883425" y="2513604"/>
                      <a:pt x="865305" y="2512051"/>
                    </a:cubicBezTo>
                    <a:lnTo>
                      <a:pt x="865305" y="2159116"/>
                    </a:lnTo>
                    <a:lnTo>
                      <a:pt x="1126692" y="1897809"/>
                    </a:lnTo>
                    <a:lnTo>
                      <a:pt x="1126692" y="2636254"/>
                    </a:lnTo>
                    <a:lnTo>
                      <a:pt x="993941" y="2768764"/>
                    </a:lnTo>
                    <a:lnTo>
                      <a:pt x="993941" y="3279101"/>
                    </a:lnTo>
                    <a:cubicBezTo>
                      <a:pt x="978654" y="3283039"/>
                      <a:pt x="967401" y="3296886"/>
                      <a:pt x="967401" y="3313422"/>
                    </a:cubicBezTo>
                    <a:cubicBezTo>
                      <a:pt x="967401" y="3333031"/>
                      <a:pt x="983120" y="3348750"/>
                      <a:pt x="1002714" y="3348750"/>
                    </a:cubicBezTo>
                    <a:cubicBezTo>
                      <a:pt x="1022307" y="3348750"/>
                      <a:pt x="1038282" y="3333031"/>
                      <a:pt x="1038282" y="3313422"/>
                    </a:cubicBezTo>
                    <a:cubicBezTo>
                      <a:pt x="1038282" y="3296870"/>
                      <a:pt x="1026821" y="3283023"/>
                      <a:pt x="1011470" y="3279085"/>
                    </a:cubicBezTo>
                    <a:lnTo>
                      <a:pt x="1011470" y="2776496"/>
                    </a:lnTo>
                    <a:lnTo>
                      <a:pt x="1144477" y="2643489"/>
                    </a:lnTo>
                    <a:lnTo>
                      <a:pt x="1144477" y="1888716"/>
                    </a:lnTo>
                    <a:lnTo>
                      <a:pt x="1140138" y="1884378"/>
                    </a:lnTo>
                    <a:lnTo>
                      <a:pt x="1279917" y="1744632"/>
                    </a:lnTo>
                    <a:lnTo>
                      <a:pt x="1383950" y="1848505"/>
                    </a:lnTo>
                    <a:lnTo>
                      <a:pt x="1383950" y="2143269"/>
                    </a:lnTo>
                    <a:lnTo>
                      <a:pt x="1264869" y="2262349"/>
                    </a:lnTo>
                    <a:lnTo>
                      <a:pt x="1264869" y="2503199"/>
                    </a:lnTo>
                    <a:cubicBezTo>
                      <a:pt x="1248093" y="2506048"/>
                      <a:pt x="1235223" y="2520599"/>
                      <a:pt x="1235223" y="2538159"/>
                    </a:cubicBezTo>
                    <a:cubicBezTo>
                      <a:pt x="1235223" y="2557768"/>
                      <a:pt x="1251199" y="2573232"/>
                      <a:pt x="1270808" y="2573232"/>
                    </a:cubicBezTo>
                    <a:cubicBezTo>
                      <a:pt x="1290385" y="2573232"/>
                      <a:pt x="1306121" y="2557768"/>
                      <a:pt x="1306121" y="2538159"/>
                    </a:cubicBezTo>
                    <a:cubicBezTo>
                      <a:pt x="1306121" y="2522760"/>
                      <a:pt x="1296340" y="2509730"/>
                      <a:pt x="1282654" y="2504800"/>
                    </a:cubicBezTo>
                    <a:lnTo>
                      <a:pt x="1282654" y="2269584"/>
                    </a:lnTo>
                    <a:lnTo>
                      <a:pt x="1383934" y="2168304"/>
                    </a:lnTo>
                    <a:lnTo>
                      <a:pt x="1383934" y="2737934"/>
                    </a:lnTo>
                    <a:cubicBezTo>
                      <a:pt x="1367174" y="2740783"/>
                      <a:pt x="1354288" y="2755366"/>
                      <a:pt x="1354288" y="2772910"/>
                    </a:cubicBezTo>
                    <a:cubicBezTo>
                      <a:pt x="1354288" y="2792503"/>
                      <a:pt x="1370279" y="2807967"/>
                      <a:pt x="1389873" y="2807967"/>
                    </a:cubicBezTo>
                    <a:cubicBezTo>
                      <a:pt x="1409466" y="2807967"/>
                      <a:pt x="1425185" y="2792503"/>
                      <a:pt x="1425185" y="2772910"/>
                    </a:cubicBezTo>
                    <a:cubicBezTo>
                      <a:pt x="1425185" y="2757511"/>
                      <a:pt x="1415404" y="2744465"/>
                      <a:pt x="1401718" y="2739535"/>
                    </a:cubicBezTo>
                    <a:lnTo>
                      <a:pt x="1401718" y="2150520"/>
                    </a:lnTo>
                    <a:lnTo>
                      <a:pt x="1554334" y="1997904"/>
                    </a:lnTo>
                    <a:lnTo>
                      <a:pt x="1554334" y="1470279"/>
                    </a:lnTo>
                    <a:lnTo>
                      <a:pt x="1757438" y="1267239"/>
                    </a:lnTo>
                    <a:lnTo>
                      <a:pt x="1757438" y="1103401"/>
                    </a:lnTo>
                    <a:lnTo>
                      <a:pt x="1908709" y="952130"/>
                    </a:lnTo>
                    <a:cubicBezTo>
                      <a:pt x="1912455" y="953507"/>
                      <a:pt x="1916441" y="954371"/>
                      <a:pt x="1920635" y="954371"/>
                    </a:cubicBezTo>
                    <a:cubicBezTo>
                      <a:pt x="1940484" y="954371"/>
                      <a:pt x="1956188" y="938395"/>
                      <a:pt x="1956188" y="918818"/>
                    </a:cubicBezTo>
                    <a:cubicBezTo>
                      <a:pt x="1956188" y="905692"/>
                      <a:pt x="1949049" y="894311"/>
                      <a:pt x="1938420" y="888148"/>
                    </a:cubicBezTo>
                    <a:lnTo>
                      <a:pt x="1938420" y="572366"/>
                    </a:lnTo>
                    <a:cubicBezTo>
                      <a:pt x="1932705" y="564299"/>
                      <a:pt x="1926702" y="556279"/>
                      <a:pt x="1920715" y="548243"/>
                    </a:cubicBezTo>
                    <a:close/>
                    <a:moveTo>
                      <a:pt x="582451" y="1652269"/>
                    </a:moveTo>
                    <a:lnTo>
                      <a:pt x="582451" y="1159892"/>
                    </a:lnTo>
                    <a:cubicBezTo>
                      <a:pt x="597818" y="1155890"/>
                      <a:pt x="609008" y="1142076"/>
                      <a:pt x="609008" y="1125588"/>
                    </a:cubicBezTo>
                    <a:cubicBezTo>
                      <a:pt x="609008" y="1105995"/>
                      <a:pt x="593288" y="1090531"/>
                      <a:pt x="573439" y="1090531"/>
                    </a:cubicBezTo>
                    <a:cubicBezTo>
                      <a:pt x="567020" y="1090531"/>
                      <a:pt x="561065" y="1092356"/>
                      <a:pt x="555847" y="1095350"/>
                    </a:cubicBezTo>
                    <a:lnTo>
                      <a:pt x="260507" y="800010"/>
                    </a:lnTo>
                    <a:lnTo>
                      <a:pt x="260507" y="490536"/>
                    </a:lnTo>
                    <a:cubicBezTo>
                      <a:pt x="276851" y="487382"/>
                      <a:pt x="289113" y="472927"/>
                      <a:pt x="289113" y="455639"/>
                    </a:cubicBezTo>
                    <a:cubicBezTo>
                      <a:pt x="289113" y="447587"/>
                      <a:pt x="286359" y="440240"/>
                      <a:pt x="281877" y="434269"/>
                    </a:cubicBezTo>
                    <a:lnTo>
                      <a:pt x="357833" y="358313"/>
                    </a:lnTo>
                    <a:lnTo>
                      <a:pt x="357833" y="434093"/>
                    </a:lnTo>
                    <a:lnTo>
                      <a:pt x="673358" y="749362"/>
                    </a:lnTo>
                    <a:lnTo>
                      <a:pt x="673358" y="1404296"/>
                    </a:lnTo>
                    <a:cubicBezTo>
                      <a:pt x="658071" y="1408249"/>
                      <a:pt x="646801" y="1422096"/>
                      <a:pt x="646801" y="1438648"/>
                    </a:cubicBezTo>
                    <a:cubicBezTo>
                      <a:pt x="646801" y="1458225"/>
                      <a:pt x="662521" y="1474233"/>
                      <a:pt x="682114" y="1474233"/>
                    </a:cubicBezTo>
                    <a:cubicBezTo>
                      <a:pt x="688725" y="1474233"/>
                      <a:pt x="694872" y="1472296"/>
                      <a:pt x="700187" y="1469110"/>
                    </a:cubicBezTo>
                    <a:lnTo>
                      <a:pt x="732922" y="1501862"/>
                    </a:lnTo>
                    <a:lnTo>
                      <a:pt x="582451" y="1652269"/>
                    </a:lnTo>
                    <a:close/>
                    <a:moveTo>
                      <a:pt x="712625" y="1456560"/>
                    </a:moveTo>
                    <a:cubicBezTo>
                      <a:pt x="715746" y="1451278"/>
                      <a:pt x="717651" y="1445195"/>
                      <a:pt x="717651" y="1438648"/>
                    </a:cubicBezTo>
                    <a:cubicBezTo>
                      <a:pt x="717651" y="1422192"/>
                      <a:pt x="706318" y="1408409"/>
                      <a:pt x="691094" y="1404376"/>
                    </a:cubicBezTo>
                    <a:lnTo>
                      <a:pt x="691094" y="742143"/>
                    </a:lnTo>
                    <a:lnTo>
                      <a:pt x="375585" y="426361"/>
                    </a:lnTo>
                    <a:lnTo>
                      <a:pt x="375585" y="340529"/>
                    </a:lnTo>
                    <a:lnTo>
                      <a:pt x="585012" y="131102"/>
                    </a:lnTo>
                    <a:lnTo>
                      <a:pt x="585012" y="460378"/>
                    </a:lnTo>
                    <a:cubicBezTo>
                      <a:pt x="565419" y="460378"/>
                      <a:pt x="549700" y="476369"/>
                      <a:pt x="549700" y="495962"/>
                    </a:cubicBezTo>
                    <a:cubicBezTo>
                      <a:pt x="549700" y="515556"/>
                      <a:pt x="565435" y="531803"/>
                      <a:pt x="585012" y="531803"/>
                    </a:cubicBezTo>
                    <a:cubicBezTo>
                      <a:pt x="594313" y="531803"/>
                      <a:pt x="602733" y="528058"/>
                      <a:pt x="609088" y="522119"/>
                    </a:cubicBezTo>
                    <a:lnTo>
                      <a:pt x="806717" y="719956"/>
                    </a:lnTo>
                    <a:lnTo>
                      <a:pt x="806717" y="1387375"/>
                    </a:lnTo>
                    <a:cubicBezTo>
                      <a:pt x="788452" y="1388848"/>
                      <a:pt x="773950" y="1404023"/>
                      <a:pt x="773950" y="1422672"/>
                    </a:cubicBezTo>
                    <a:cubicBezTo>
                      <a:pt x="773950" y="1433189"/>
                      <a:pt x="778656" y="1442426"/>
                      <a:pt x="785955" y="1448797"/>
                    </a:cubicBezTo>
                    <a:lnTo>
                      <a:pt x="745392" y="1489344"/>
                    </a:lnTo>
                    <a:lnTo>
                      <a:pt x="712625" y="1456560"/>
                    </a:lnTo>
                    <a:close/>
                    <a:moveTo>
                      <a:pt x="1127605" y="1871780"/>
                    </a:moveTo>
                    <a:lnTo>
                      <a:pt x="757910" y="1501862"/>
                    </a:lnTo>
                    <a:lnTo>
                      <a:pt x="802731" y="1457056"/>
                    </a:lnTo>
                    <a:cubicBezTo>
                      <a:pt x="804940" y="1457473"/>
                      <a:pt x="807229" y="1457729"/>
                      <a:pt x="809566" y="1457729"/>
                    </a:cubicBezTo>
                    <a:cubicBezTo>
                      <a:pt x="829160" y="1457729"/>
                      <a:pt x="845151" y="1442265"/>
                      <a:pt x="845151" y="1422672"/>
                    </a:cubicBezTo>
                    <a:cubicBezTo>
                      <a:pt x="845151" y="1420191"/>
                      <a:pt x="844879" y="1417758"/>
                      <a:pt x="844399" y="1415421"/>
                    </a:cubicBezTo>
                    <a:lnTo>
                      <a:pt x="845263" y="1414556"/>
                    </a:lnTo>
                    <a:lnTo>
                      <a:pt x="845263" y="793831"/>
                    </a:lnTo>
                    <a:lnTo>
                      <a:pt x="963335" y="675791"/>
                    </a:lnTo>
                    <a:lnTo>
                      <a:pt x="963335" y="198878"/>
                    </a:lnTo>
                    <a:lnTo>
                      <a:pt x="1041196" y="276851"/>
                    </a:lnTo>
                    <a:lnTo>
                      <a:pt x="1041196" y="1468342"/>
                    </a:lnTo>
                    <a:cubicBezTo>
                      <a:pt x="1026181" y="1472344"/>
                      <a:pt x="1015168" y="1485694"/>
                      <a:pt x="1015168" y="1502038"/>
                    </a:cubicBezTo>
                    <a:cubicBezTo>
                      <a:pt x="1015168" y="1521647"/>
                      <a:pt x="1030871" y="1537622"/>
                      <a:pt x="1050464" y="1537622"/>
                    </a:cubicBezTo>
                    <a:cubicBezTo>
                      <a:pt x="1056835" y="1537622"/>
                      <a:pt x="1062726" y="1535798"/>
                      <a:pt x="1067912" y="1532852"/>
                    </a:cubicBezTo>
                    <a:lnTo>
                      <a:pt x="1267383" y="1732002"/>
                    </a:lnTo>
                    <a:lnTo>
                      <a:pt x="1127605" y="1871780"/>
                    </a:lnTo>
                    <a:close/>
                    <a:moveTo>
                      <a:pt x="1536630" y="1990637"/>
                    </a:moveTo>
                    <a:lnTo>
                      <a:pt x="1401798" y="2125468"/>
                    </a:lnTo>
                    <a:lnTo>
                      <a:pt x="1401798" y="1841286"/>
                    </a:lnTo>
                    <a:lnTo>
                      <a:pt x="1292562" y="1732050"/>
                    </a:lnTo>
                    <a:lnTo>
                      <a:pt x="1536630" y="1488047"/>
                    </a:lnTo>
                    <a:lnTo>
                      <a:pt x="1536630" y="1990637"/>
                    </a:lnTo>
                    <a:close/>
                    <a:moveTo>
                      <a:pt x="1739734" y="1259491"/>
                    </a:moveTo>
                    <a:lnTo>
                      <a:pt x="1554414" y="1444859"/>
                    </a:lnTo>
                    <a:lnTo>
                      <a:pt x="1554414" y="1332117"/>
                    </a:lnTo>
                    <a:cubicBezTo>
                      <a:pt x="1568965" y="1327667"/>
                      <a:pt x="1579674" y="1314333"/>
                      <a:pt x="1579674" y="1298774"/>
                    </a:cubicBezTo>
                    <a:cubicBezTo>
                      <a:pt x="1579674" y="1293635"/>
                      <a:pt x="1578522" y="1288785"/>
                      <a:pt x="1576553" y="1284367"/>
                    </a:cubicBezTo>
                    <a:lnTo>
                      <a:pt x="1739734" y="1121186"/>
                    </a:lnTo>
                    <a:lnTo>
                      <a:pt x="1739734" y="125949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79" name="Google Shape;179;p3"/>
              <p:cNvSpPr/>
              <p:nvPr/>
            </p:nvSpPr>
            <p:spPr>
              <a:xfrm>
                <a:off x="12739148" y="2570249"/>
                <a:ext cx="414467" cy="1525616"/>
              </a:xfrm>
              <a:custGeom>
                <a:avLst/>
                <a:gdLst/>
                <a:ahLst/>
                <a:cxnLst/>
                <a:rect l="l" t="t" r="r" b="b"/>
                <a:pathLst>
                  <a:path w="414467" h="1525616" extrusionOk="0">
                    <a:moveTo>
                      <a:pt x="35569" y="378259"/>
                    </a:moveTo>
                    <a:cubicBezTo>
                      <a:pt x="42084" y="378259"/>
                      <a:pt x="48087" y="376370"/>
                      <a:pt x="53305" y="373312"/>
                    </a:cubicBezTo>
                    <a:lnTo>
                      <a:pt x="127852" y="447860"/>
                    </a:lnTo>
                    <a:lnTo>
                      <a:pt x="127852" y="932361"/>
                    </a:lnTo>
                    <a:cubicBezTo>
                      <a:pt x="114086" y="937275"/>
                      <a:pt x="104129" y="950321"/>
                      <a:pt x="104129" y="965720"/>
                    </a:cubicBezTo>
                    <a:cubicBezTo>
                      <a:pt x="104129" y="985314"/>
                      <a:pt x="120105" y="1001305"/>
                      <a:pt x="139698" y="1001305"/>
                    </a:cubicBezTo>
                    <a:cubicBezTo>
                      <a:pt x="144468" y="1001305"/>
                      <a:pt x="148982" y="1000329"/>
                      <a:pt x="153112" y="998616"/>
                    </a:cubicBezTo>
                    <a:lnTo>
                      <a:pt x="370143" y="1210108"/>
                    </a:lnTo>
                    <a:lnTo>
                      <a:pt x="370143" y="1456176"/>
                    </a:lnTo>
                    <a:cubicBezTo>
                      <a:pt x="354856" y="1460018"/>
                      <a:pt x="343586" y="1473496"/>
                      <a:pt x="343586" y="1490064"/>
                    </a:cubicBezTo>
                    <a:cubicBezTo>
                      <a:pt x="343586" y="1509641"/>
                      <a:pt x="359322" y="1525617"/>
                      <a:pt x="378899" y="1525617"/>
                    </a:cubicBezTo>
                    <a:cubicBezTo>
                      <a:pt x="398492" y="1525617"/>
                      <a:pt x="414468" y="1509641"/>
                      <a:pt x="414468" y="1490064"/>
                    </a:cubicBezTo>
                    <a:cubicBezTo>
                      <a:pt x="414468" y="1473496"/>
                      <a:pt x="403006" y="1460002"/>
                      <a:pt x="387655" y="1456176"/>
                    </a:cubicBezTo>
                    <a:lnTo>
                      <a:pt x="387655" y="1202904"/>
                    </a:lnTo>
                    <a:lnTo>
                      <a:pt x="167215" y="987811"/>
                    </a:lnTo>
                    <a:cubicBezTo>
                      <a:pt x="172033" y="981712"/>
                      <a:pt x="175027" y="974108"/>
                      <a:pt x="175027" y="965736"/>
                    </a:cubicBezTo>
                    <a:cubicBezTo>
                      <a:pt x="175027" y="948176"/>
                      <a:pt x="162365" y="933625"/>
                      <a:pt x="145637" y="930776"/>
                    </a:cubicBezTo>
                    <a:lnTo>
                      <a:pt x="145637" y="440656"/>
                    </a:lnTo>
                    <a:lnTo>
                      <a:pt x="65855" y="360874"/>
                    </a:lnTo>
                    <a:cubicBezTo>
                      <a:pt x="68977" y="355640"/>
                      <a:pt x="70881" y="349637"/>
                      <a:pt x="70881" y="343202"/>
                    </a:cubicBezTo>
                    <a:cubicBezTo>
                      <a:pt x="70881" y="326954"/>
                      <a:pt x="59980" y="313332"/>
                      <a:pt x="45109" y="309122"/>
                    </a:cubicBezTo>
                    <a:lnTo>
                      <a:pt x="45109" y="0"/>
                    </a:lnTo>
                    <a:cubicBezTo>
                      <a:pt x="39042" y="7572"/>
                      <a:pt x="33184" y="15207"/>
                      <a:pt x="27325" y="22843"/>
                    </a:cubicBezTo>
                    <a:lnTo>
                      <a:pt x="27325" y="308706"/>
                    </a:lnTo>
                    <a:cubicBezTo>
                      <a:pt x="11702" y="312452"/>
                      <a:pt x="0" y="326458"/>
                      <a:pt x="0" y="343186"/>
                    </a:cubicBezTo>
                    <a:cubicBezTo>
                      <a:pt x="0" y="362283"/>
                      <a:pt x="15976" y="378259"/>
                      <a:pt x="35569" y="37825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180" name="Google Shape;180;p3"/>
            <p:cNvPicPr preferRelativeResize="0"/>
            <p:nvPr/>
          </p:nvPicPr>
          <p:blipFill rotWithShape="1">
            <a:blip r:embed="rId1"/>
            <a:srcRect/>
            <a:stretch>
              <a:fillRect/>
            </a:stretch>
          </p:blipFill>
          <p:spPr>
            <a:xfrm flipH="1">
              <a:off x="8545731" y="2560353"/>
              <a:ext cx="2287123" cy="1917349"/>
            </a:xfrm>
            <a:prstGeom prst="rect">
              <a:avLst/>
            </a:prstGeom>
            <a:noFill/>
            <a:ln>
              <a:noFill/>
            </a:ln>
          </p:spPr>
        </p:pic>
      </p:grpSp>
      <p:sp>
        <p:nvSpPr>
          <p:cNvPr id="181" name="Google Shape;181;p3"/>
          <p:cNvSpPr txBox="1"/>
          <p:nvPr/>
        </p:nvSpPr>
        <p:spPr>
          <a:xfrm>
            <a:off x="893540" y="2053943"/>
            <a:ext cx="4644720" cy="321373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panose="020B0604020202020204"/>
              <a:buChar char="•"/>
            </a:pP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IN" alt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Introduction to Trades</a:t>
            </a:r>
            <a:endParaRPr lang="en-IN" alt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IN" alt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Types of Orders</a:t>
            </a:r>
            <a:endParaRPr lang="en-IN" alt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IN" altLang="en-US" sz="1800" b="1" dirty="0">
                <a:solidFill>
                  <a:schemeClr val="dk1"/>
                </a:solidFill>
                <a:sym typeface="Arial" panose="020B0604020202020204"/>
              </a:rPr>
              <a:t>Participants in Exchange Trades</a:t>
            </a:r>
            <a:endParaRPr lang="en-IN" alt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Exchange Traded (ETD) Life Cycle</a:t>
            </a: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IN" altLang="en-US" sz="1800" b="1" dirty="0">
                <a:solidFill>
                  <a:schemeClr val="dk1"/>
                </a:solidFill>
                <a:sym typeface="Arial" panose="020B0604020202020204"/>
              </a:rPr>
              <a:t>US Markets Equity Trade Life Cycle</a:t>
            </a:r>
            <a:endParaRPr lang="en-IN" alt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endParaRPr lang="en-US"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Clr>
                <a:schemeClr val="dk1"/>
              </a:buClr>
              <a:buSzPts val="1800"/>
              <a:buFont typeface="Arial" panose="020B0604020202020204"/>
              <a:buNone/>
            </a:pPr>
            <a:endParaRPr dirty="0"/>
          </a:p>
          <a:p>
            <a:pPr marL="0" marR="0" lvl="0" indent="0" algn="l" rtl="0">
              <a:spcBef>
                <a:spcPts val="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279" name="Google Shape;279;p15"/>
          <p:cNvPicPr preferRelativeResize="0">
            <a:picLocks noGrp="1"/>
          </p:cNvPicPr>
          <p:nvPr>
            <p:ph type="pic" idx="2"/>
          </p:nvPr>
        </p:nvPicPr>
        <p:blipFill rotWithShape="1">
          <a:blip r:embed="rId1"/>
          <a:srcRect/>
          <a:stretch>
            <a:fillRect/>
          </a:stretch>
        </p:blipFill>
        <p:spPr>
          <a:xfrm>
            <a:off x="3978704" y="-21266"/>
            <a:ext cx="8211708" cy="6889900"/>
          </a:xfrm>
          <a:prstGeom prst="rect">
            <a:avLst/>
          </a:prstGeom>
          <a:solidFill>
            <a:srgbClr val="F2F2F2"/>
          </a:solidFill>
          <a:ln>
            <a:noFill/>
          </a:ln>
        </p:spPr>
      </p:pic>
      <p:sp>
        <p:nvSpPr>
          <p:cNvPr id="280" name="Google Shape;280;p15"/>
          <p:cNvSpPr/>
          <p:nvPr/>
        </p:nvSpPr>
        <p:spPr>
          <a:xfrm>
            <a:off x="0" y="0"/>
            <a:ext cx="6124354" cy="6879266"/>
          </a:xfrm>
          <a:custGeom>
            <a:avLst/>
            <a:gdLst/>
            <a:ahLst/>
            <a:cxnLst/>
            <a:rect l="l" t="t" r="r" b="b"/>
            <a:pathLst>
              <a:path w="6124354" h="6879266" extrusionOk="0">
                <a:moveTo>
                  <a:pt x="0" y="0"/>
                </a:moveTo>
                <a:lnTo>
                  <a:pt x="4061637" y="0"/>
                </a:lnTo>
                <a:lnTo>
                  <a:pt x="6124354" y="6879266"/>
                </a:lnTo>
                <a:lnTo>
                  <a:pt x="0" y="685800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1" name="Google Shape;281;p15"/>
          <p:cNvSpPr/>
          <p:nvPr/>
        </p:nvSpPr>
        <p:spPr>
          <a:xfrm flipH="1">
            <a:off x="4025448" y="-21268"/>
            <a:ext cx="8166551" cy="6900533"/>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82" name="Google Shape;282;p15"/>
          <p:cNvSpPr/>
          <p:nvPr/>
        </p:nvSpPr>
        <p:spPr>
          <a:xfrm flipH="1">
            <a:off x="1588" y="2337971"/>
            <a:ext cx="819806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83" name="Google Shape;283;p15"/>
          <p:cNvSpPr txBox="1"/>
          <p:nvPr/>
        </p:nvSpPr>
        <p:spPr>
          <a:xfrm>
            <a:off x="197516" y="2823942"/>
            <a:ext cx="7559201"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Exchange Traded (ETD) </a:t>
            </a:r>
            <a:endPar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r>
              <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rPr>
              <a:t>Life Cycle</a:t>
            </a:r>
            <a:endParaRPr lang="en-US" sz="4400" b="1"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84" name="Google Shape;284;p15"/>
          <p:cNvPicPr preferRelativeResize="0"/>
          <p:nvPr/>
        </p:nvPicPr>
        <p:blipFill rotWithShape="1">
          <a:blip r:embed="rId2"/>
          <a:srcRect/>
          <a:stretch>
            <a:fillRect/>
          </a:stretch>
        </p:blipFill>
        <p:spPr>
          <a:xfrm>
            <a:off x="617538" y="-2207760"/>
            <a:ext cx="3614738" cy="2033588"/>
          </a:xfrm>
          <a:prstGeom prst="rect">
            <a:avLst/>
          </a:prstGeom>
          <a:noFill/>
          <a:ln>
            <a:noFill/>
          </a:ln>
        </p:spPr>
      </p:pic>
      <p:pic>
        <p:nvPicPr>
          <p:cNvPr id="285" name="Google Shape;285;p15" descr="A picture containing text, clipart&#10;&#10;Description automatically generated"/>
          <p:cNvPicPr preferRelativeResize="0"/>
          <p:nvPr/>
        </p:nvPicPr>
        <p:blipFill rotWithShape="1">
          <a:blip r:embed="rId3"/>
          <a:srcRect/>
          <a:stretch>
            <a:fillRect/>
          </a:stretch>
        </p:blipFill>
        <p:spPr>
          <a:xfrm>
            <a:off x="9533468" y="312483"/>
            <a:ext cx="2421466" cy="49196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7"/>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297" name="Google Shape;297;p17"/>
          <p:cNvGrpSpPr/>
          <p:nvPr/>
        </p:nvGrpSpPr>
        <p:grpSpPr>
          <a:xfrm>
            <a:off x="685801" y="1143000"/>
            <a:ext cx="11010900" cy="4991100"/>
            <a:chOff x="882503" y="1488558"/>
            <a:chExt cx="10654709" cy="3880884"/>
          </a:xfrm>
        </p:grpSpPr>
        <p:sp>
          <p:nvSpPr>
            <p:cNvPr id="298" name="Google Shape;298;p17"/>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99" name="Google Shape;299;p17"/>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What is a trade?</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40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 finance and economics, a "trade" refers to the act of buying or selling a financial asset or a good and services with the expectation of receiving something of value in return. Trades are fundamental transactions that occur in various markets and are the basis for economic activity.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240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Exchange of Ownership: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trade involves the transfer of ownership or rights to an asset, whether it's a financial instrument (e.g., stocks, bonds, currencies, commodities) or physical goods and services (e.g., cars, electronics, labor). In financial markets, ownership is typically represented by securities or contracts.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240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Buyer and Seller: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trade involves at least two parties: a buyer and a seller. The buyer is the party acquiring the asset or service, while the seller is the party providing it. In financial markets, buyers are often referred to as "long" and sellers as "short."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8"/>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05" name="Google Shape;305;p18"/>
          <p:cNvGrpSpPr/>
          <p:nvPr/>
        </p:nvGrpSpPr>
        <p:grpSpPr>
          <a:xfrm>
            <a:off x="685801" y="1143000"/>
            <a:ext cx="11010900" cy="4991100"/>
            <a:chOff x="882503" y="1488558"/>
            <a:chExt cx="10654709" cy="3880884"/>
          </a:xfrm>
        </p:grpSpPr>
        <p:sp>
          <p:nvSpPr>
            <p:cNvPr id="306" name="Google Shape;306;p18"/>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07" name="Google Shape;307;p18"/>
            <p:cNvSpPr/>
            <p:nvPr/>
          </p:nvSpPr>
          <p:spPr>
            <a:xfrm>
              <a:off x="896775"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342900" marR="0" lvl="0" indent="-342900" algn="l" rtl="0">
                <a:lnSpc>
                  <a:spcPct val="150000"/>
                </a:lnSpc>
                <a:spcBef>
                  <a:spcPts val="0"/>
                </a:spcBef>
                <a:spcAft>
                  <a:spcPts val="0"/>
                </a:spcAft>
                <a:buClr>
                  <a:srgbClr val="000000"/>
                </a:buClr>
                <a:buSzPts val="1800"/>
                <a:buFont typeface="Arial" panose="020B0604020202020204"/>
                <a:buAutoNum type="arabicPeriod" startAt="3"/>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Mutual Agreement: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Both the buyer and the seller must agree to the terms of the trade. This includes agreeing on the price, quantity, and any other relevant terms and conditions. The agreement can be explicit or implied, depending on the nature of the transaction.</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2400"/>
                </a:spcBef>
                <a:spcAft>
                  <a:spcPts val="0"/>
                </a:spcAft>
                <a:buClr>
                  <a:srgbClr val="000000"/>
                </a:buClr>
                <a:buSzPts val="1800"/>
                <a:buFont typeface="Arial" panose="020B0604020202020204"/>
                <a:buAutoNum type="arabicPeriod" startAt="3"/>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Consideration: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 a trade, there is typically a consideration, which is the value given by one party to the other in exchange for the asset or service. Consideration can take the form of money, other assets, goods, services, or a combination thereof.</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19"/>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13" name="Google Shape;313;p19"/>
          <p:cNvGrpSpPr/>
          <p:nvPr/>
        </p:nvGrpSpPr>
        <p:grpSpPr>
          <a:xfrm>
            <a:off x="685801" y="1143000"/>
            <a:ext cx="11010900" cy="4991100"/>
            <a:chOff x="882503" y="1488558"/>
            <a:chExt cx="10654709" cy="3880884"/>
          </a:xfrm>
        </p:grpSpPr>
        <p:sp>
          <p:nvSpPr>
            <p:cNvPr id="314" name="Google Shape;314;p19"/>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15" name="Google Shape;315;p19"/>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342900" marR="0" lvl="0" indent="-342900" algn="l" rtl="0">
                <a:lnSpc>
                  <a:spcPct val="150000"/>
                </a:lnSpc>
                <a:spcBef>
                  <a:spcPts val="0"/>
                </a:spcBef>
                <a:spcAft>
                  <a:spcPts val="0"/>
                </a:spcAft>
                <a:buClr>
                  <a:srgbClr val="000000"/>
                </a:buClr>
                <a:buSzPts val="1800"/>
                <a:buFont typeface="Arial" panose="020B0604020202020204"/>
                <a:buAutoNum type="arabicPeriod" startAt="5"/>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Intent: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Trades are conducted with the intent of achieving specific goals. Buyers may seek to profit from price increases (capital gains), while sellers may aim to lock in profits, manage risk, or fulfill contractual obligations.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2400"/>
                </a:spcBef>
                <a:spcAft>
                  <a:spcPts val="0"/>
                </a:spcAft>
                <a:buClr>
                  <a:srgbClr val="000000"/>
                </a:buClr>
                <a:buSzPts val="1800"/>
                <a:buFont typeface="Arial" panose="020B0604020202020204"/>
                <a:buAutoNum type="arabicPeriod" startAt="5"/>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Marketplaces: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Trades often occur in organized marketplaces or platforms designed to facilitate buying and selling. These marketplaces can be physical, such as stock exchanges, or digital, such as electronic trading platforms.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20"/>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21" name="Google Shape;321;p20"/>
          <p:cNvGrpSpPr/>
          <p:nvPr/>
        </p:nvGrpSpPr>
        <p:grpSpPr>
          <a:xfrm>
            <a:off x="685801" y="1143000"/>
            <a:ext cx="11010900" cy="4991100"/>
            <a:chOff x="882503" y="1488558"/>
            <a:chExt cx="10654709" cy="3880884"/>
          </a:xfrm>
        </p:grpSpPr>
        <p:sp>
          <p:nvSpPr>
            <p:cNvPr id="322" name="Google Shape;322;p20"/>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23" name="Google Shape;323;p20"/>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Features of an order</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3600"/>
                </a:spcBef>
                <a:spcAft>
                  <a:spcPts val="0"/>
                </a:spcAft>
                <a:buClr>
                  <a:srgbClr val="000000"/>
                </a:buClr>
                <a:buSzPts val="1800"/>
                <a:buFont typeface="Arial" panose="020B0604020202020204"/>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An order in the context of financial markets and trading refers to a specific instruction given by a trader or investor to buy or sell a financial instrument. Orders are essential for executing trades in an organized and systematic manner. Each order has distinct features that define its characteristics and how it should be executed.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60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Instrument to Be Traded: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An order specifies the financial instrument or asset that the trader intends to buy or sell. This can include stocks, bonds, commodities, currencies, options, futures contracts, or other tradable assets.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29" name="Google Shape;329;p21"/>
          <p:cNvGrpSpPr/>
          <p:nvPr/>
        </p:nvGrpSpPr>
        <p:grpSpPr>
          <a:xfrm>
            <a:off x="685801" y="1143000"/>
            <a:ext cx="11010900" cy="4991100"/>
            <a:chOff x="882503" y="1488558"/>
            <a:chExt cx="10654709" cy="3880884"/>
          </a:xfrm>
        </p:grpSpPr>
        <p:sp>
          <p:nvSpPr>
            <p:cNvPr id="330" name="Google Shape;330;p21"/>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31" name="Google Shape;331;p21"/>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340360" marR="0" lvl="0" indent="-340360" algn="l" rtl="0">
                <a:lnSpc>
                  <a:spcPct val="100000"/>
                </a:lnSpc>
                <a:spcBef>
                  <a:spcPts val="0"/>
                </a:spcBef>
                <a:spcAft>
                  <a:spcPts val="0"/>
                </a:spcAft>
                <a:buClr>
                  <a:srgbClr val="000000"/>
                </a:buClr>
                <a:buSzPts val="1800"/>
                <a:buFont typeface="Arial" panose="020B0604020202020204"/>
                <a:buAutoNum type="arabicPeriod" startAt="2"/>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Type: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order type determines how the trade should be executed. Common order types include: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00000"/>
                </a:lnSpc>
                <a:spcBef>
                  <a:spcPts val="240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Market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market order is executed immediately at the prevailing market price. It prioritizes speed of execution over price.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00000"/>
                </a:lnSpc>
                <a:spcBef>
                  <a:spcPts val="240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Limit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limit order specifies a specific price at which the trader is willing to buy (limit buy order) or sell (limit sell order). It is executed only at or better than the specified price.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00000"/>
                </a:lnSpc>
                <a:spcBef>
                  <a:spcPts val="240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Stop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stop order becomes a market order when the market reaches a specified price level (stop price). It is often used to limit losses or trigger entry into a trade.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00000"/>
                </a:lnSpc>
                <a:spcBef>
                  <a:spcPts val="240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Stop-Limit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Similar to a stop order, but it becomes a limit order instead of a market order when the stop price is reached.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2"/>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37" name="Google Shape;337;p22"/>
          <p:cNvGrpSpPr/>
          <p:nvPr/>
        </p:nvGrpSpPr>
        <p:grpSpPr>
          <a:xfrm>
            <a:off x="685801" y="1143000"/>
            <a:ext cx="11010900" cy="4991100"/>
            <a:chOff x="882503" y="1488558"/>
            <a:chExt cx="10654709" cy="3880884"/>
          </a:xfrm>
        </p:grpSpPr>
        <p:sp>
          <p:nvSpPr>
            <p:cNvPr id="338" name="Google Shape;338;p22"/>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39" name="Google Shape;339;p22"/>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567055" marR="0" lvl="0" indent="-285750" algn="l" rtl="0">
                <a:lnSpc>
                  <a:spcPct val="150000"/>
                </a:lnSpc>
                <a:spcBef>
                  <a:spcPts val="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Market-on-Close (MOC)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market order to be executed at or near the closing price of the trading day.</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50000"/>
                </a:lnSpc>
                <a:spcBef>
                  <a:spcPts val="240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Fill-or-Kill (FOK)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An order that must be executed in its entirety immediately or not at all.</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50000"/>
                </a:lnSpc>
                <a:spcBef>
                  <a:spcPts val="2400"/>
                </a:spcBef>
                <a:spcAft>
                  <a:spcPts val="0"/>
                </a:spcAft>
                <a:buClr>
                  <a:srgbClr val="000000"/>
                </a:buClr>
                <a:buSzPts val="18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Immediate-or-Cancel (IOC) Order: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An order that must be executed immediately, with any unexecuted portion canceled.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2400"/>
                </a:spcBef>
                <a:spcAft>
                  <a:spcPts val="0"/>
                </a:spcAft>
                <a:buClr>
                  <a:srgbClr val="000000"/>
                </a:buClr>
                <a:buSzPts val="1800"/>
                <a:buFont typeface="Arial" panose="020B0604020202020204"/>
                <a:buAutoNum type="arabicPeriod" startAt="3"/>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Quantity: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quantity specifies the number of units or contracts of the asset that the trader wants to buy or sell. It can range from a single unit to thousands or more.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3"/>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45" name="Google Shape;345;p23"/>
          <p:cNvGrpSpPr/>
          <p:nvPr/>
        </p:nvGrpSpPr>
        <p:grpSpPr>
          <a:xfrm>
            <a:off x="685801" y="1143000"/>
            <a:ext cx="11010900" cy="4991100"/>
            <a:chOff x="882503" y="1488558"/>
            <a:chExt cx="10654709" cy="3880884"/>
          </a:xfrm>
        </p:grpSpPr>
        <p:sp>
          <p:nvSpPr>
            <p:cNvPr id="346" name="Google Shape;346;p23"/>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47" name="Google Shape;347;p23"/>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342900" marR="0" lvl="0" indent="-342900" algn="l" rtl="0">
                <a:lnSpc>
                  <a:spcPct val="150000"/>
                </a:lnSpc>
                <a:spcBef>
                  <a:spcPts val="0"/>
                </a:spcBef>
                <a:spcAft>
                  <a:spcPts val="0"/>
                </a:spcAft>
                <a:buClr>
                  <a:srgbClr val="000000"/>
                </a:buClr>
                <a:buSzPts val="1800"/>
                <a:buFont typeface="Arial" panose="020B0604020202020204"/>
                <a:buAutoNum type="arabicPeriod" startAt="4"/>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Price: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For limit orders, the price indicates the specific price at which the trader is willing to buy or sell. Market orders are executed at the current market price.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rgbClr val="000000"/>
                </a:buClr>
                <a:buSzPts val="1800"/>
                <a:buFont typeface="Arial" panose="020B0604020202020204"/>
                <a:buAutoNum type="arabicPeriod" startAt="4"/>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Duration: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Orders can have different durations, indicating how long the order remains active in the market. Common durations include: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Day Order:  Valid for the current trading day.</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Good-Til-Canceled (GTC) Order:  Remains active until executed or canceled by the trader.</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Fill-or-Kill (FOK) Order:  Must be executed immediately or canceled.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67055" marR="0" lvl="0" indent="-28575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Immediate-or-Cancel (IOC) Order:  Must be executed immediately, with any unexecuted portion canceled.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4"/>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53" name="Google Shape;353;p24"/>
          <p:cNvGrpSpPr/>
          <p:nvPr/>
        </p:nvGrpSpPr>
        <p:grpSpPr>
          <a:xfrm>
            <a:off x="685801" y="1143000"/>
            <a:ext cx="11010900" cy="4991100"/>
            <a:chOff x="882503" y="1488558"/>
            <a:chExt cx="10654709" cy="3880884"/>
          </a:xfrm>
        </p:grpSpPr>
        <p:sp>
          <p:nvSpPr>
            <p:cNvPr id="354" name="Google Shape;354;p24"/>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55" name="Google Shape;355;p24"/>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342900" marR="0" lvl="0" indent="-342900" algn="l" rtl="0">
                <a:lnSpc>
                  <a:spcPct val="150000"/>
                </a:lnSpc>
                <a:spcBef>
                  <a:spcPts val="0"/>
                </a:spcBef>
                <a:spcAft>
                  <a:spcPts val="0"/>
                </a:spcAft>
                <a:buClr>
                  <a:srgbClr val="000000"/>
                </a:buClr>
                <a:buSzPts val="1800"/>
                <a:buFont typeface="Arial" panose="020B0604020202020204"/>
                <a:buAutoNum type="arabicPeriod" startAt="6"/>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Trigger: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Some orders, like stop orders, require a trigger condition to be met before they become active. The trigger condition is typically a specific price level.</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rgbClr val="000000"/>
                </a:buClr>
                <a:buSzPts val="1800"/>
                <a:buFont typeface="Arial" panose="020B0604020202020204"/>
                <a:buAutoNum type="arabicPeriod" startAt="6"/>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Routing Instructions: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can specify how they want the order to be routed to the market or exchange. For example, they may choose to send the order to a specific exchange or route it through a particular trading platform.</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rgbClr val="000000"/>
                </a:buClr>
                <a:buSzPts val="1800"/>
                <a:buFont typeface="Arial" panose="020B0604020202020204"/>
                <a:buAutoNum type="arabicPeriod" startAt="6"/>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ID and Timestamp: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Each order is assigned a unique identifier (Order ID) and includes a timestamp indicating when the order was placed. These details are crucial for tracking and record-keeping.</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5"/>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grpSp>
        <p:nvGrpSpPr>
          <p:cNvPr id="361" name="Google Shape;361;p25"/>
          <p:cNvGrpSpPr/>
          <p:nvPr/>
        </p:nvGrpSpPr>
        <p:grpSpPr>
          <a:xfrm>
            <a:off x="685800" y="1143000"/>
            <a:ext cx="11010900" cy="4991100"/>
            <a:chOff x="882503" y="1488558"/>
            <a:chExt cx="10654709" cy="3880884"/>
          </a:xfrm>
        </p:grpSpPr>
        <p:sp>
          <p:nvSpPr>
            <p:cNvPr id="362" name="Google Shape;362;p25"/>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63" name="Google Shape;363;p25"/>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rgbClr val="000000"/>
                </a:buClr>
                <a:buSzPts val="1800"/>
                <a:buFont typeface="Arial" panose="020B0604020202020204"/>
                <a:buAutoNum type="arabicPeriod" startAt="9"/>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Instructions: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can include additional instructions with their orders, such as special handling requests, time constraints, or specific execution instructions.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rgbClr val="000000"/>
                </a:buClr>
                <a:buSzPts val="1800"/>
                <a:buFont typeface="Arial" panose="020B0604020202020204"/>
                <a:buAutoNum type="arabicPeriod" startAt="9"/>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Regulatory Compliance: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Orders must comply with relevant regulations and market rules, including order size limitations, circuit breakers, and other regulatory requirements.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64" name="Google Shape;364;p25"/>
          <p:cNvSpPr/>
          <p:nvPr/>
        </p:nvSpPr>
        <p:spPr>
          <a:xfrm>
            <a:off x="1345550" y="5007585"/>
            <a:ext cx="3954000" cy="804900"/>
          </a:xfrm>
          <a:prstGeom prst="roundRect">
            <a:avLst>
              <a:gd name="adj" fmla="val 16667"/>
            </a:avLst>
          </a:prstGeom>
          <a:solidFill>
            <a:srgbClr val="DAF3E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SETTLEMENT CYCLE</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5" name="Google Shape;365;p25"/>
          <p:cNvSpPr/>
          <p:nvPr/>
        </p:nvSpPr>
        <p:spPr>
          <a:xfrm>
            <a:off x="6221550" y="5013810"/>
            <a:ext cx="3954000" cy="804900"/>
          </a:xfrm>
          <a:prstGeom prst="roundRect">
            <a:avLst>
              <a:gd name="adj" fmla="val 16667"/>
            </a:avLst>
          </a:prstGeom>
          <a:solidFill>
            <a:srgbClr val="DAF3E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MARKET PARTICIPANTS</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5"/>
          <p:cNvSpPr/>
          <p:nvPr/>
        </p:nvSpPr>
        <p:spPr>
          <a:xfrm>
            <a:off x="2514825" y="3833157"/>
            <a:ext cx="6545100" cy="914400"/>
          </a:xfrm>
          <a:prstGeom prst="roundRect">
            <a:avLst>
              <a:gd name="adj" fmla="val 16667"/>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FFFFFF"/>
              </a:buClr>
              <a:buSzPts val="1800"/>
              <a:buFont typeface="Arial" panose="020B0604020202020204"/>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A trade with the above details, can only be done with the help of market participants and settlement cycle of each markets</a:t>
            </a: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IN" altLang="en-US" b="1"/>
              <a:t>PARTICIPANTS IN EXCHANGE </a:t>
            </a:r>
            <a:r>
              <a:rPr lang="en-US" b="1"/>
              <a:t>TRADE LIFE CYCLE</a:t>
            </a:r>
            <a:endParaRPr lang="en-US" b="1"/>
          </a:p>
        </p:txBody>
      </p:sp>
      <p:grpSp>
        <p:nvGrpSpPr>
          <p:cNvPr id="329" name="Google Shape;329;p21"/>
          <p:cNvGrpSpPr/>
          <p:nvPr/>
        </p:nvGrpSpPr>
        <p:grpSpPr>
          <a:xfrm>
            <a:off x="685801" y="1143000"/>
            <a:ext cx="11010900" cy="4991100"/>
            <a:chOff x="882503" y="1488558"/>
            <a:chExt cx="10654709" cy="3880884"/>
          </a:xfrm>
        </p:grpSpPr>
        <p:sp>
          <p:nvSpPr>
            <p:cNvPr id="330" name="Google Shape;330;p21"/>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31" name="Google Shape;331;p21"/>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1. </a:t>
              </a: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EXCHANGES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2. EXCHANGE BROKERS/MEMBERS/STO (Securities Trading Organisation)</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3. CLIENTS OF STO - HNIs, Family Offices, Institutional Investors, Corporate Treasuries.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4. CLEARING HOUSE - CLEARING CORPORATION</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5. CLEARING BROKERS / MEMBERS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6. CUSTODIAN BANKS </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7. DATA SERVICE PROVIDERS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8. TECHNOLOGY SERVICE PROVIDERS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9. CENTRAL SECURITIES DEPOSITORIES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914400" marR="0" lvl="2" indent="0" algn="l" rtl="0">
                <a:lnSpc>
                  <a:spcPct val="200000"/>
                </a:lnSpc>
                <a:spcBef>
                  <a:spcPts val="0"/>
                </a:spcBef>
                <a:spcAft>
                  <a:spcPts val="0"/>
                </a:spcAft>
                <a:buClr>
                  <a:srgbClr val="000000"/>
                </a:buClr>
                <a:buSzPts val="1800"/>
                <a:buFont typeface="Arial" panose="020B0604020202020204"/>
                <a:buNone/>
              </a:pP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10. SECURITIES MARKETS REGULATORY BODIES</a:t>
              </a:r>
              <a:endPar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LIFE CYCLE</a:t>
            </a:r>
            <a:endParaRPr lang="en-US" b="1"/>
          </a:p>
        </p:txBody>
      </p:sp>
      <p:sp>
        <p:nvSpPr>
          <p:cNvPr id="2" name="Rectangle 1"/>
          <p:cNvSpPr/>
          <p:nvPr/>
        </p:nvSpPr>
        <p:spPr>
          <a:xfrm>
            <a:off x="5254582" y="1004552"/>
            <a:ext cx="3631842" cy="4378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Initiation</a:t>
            </a:r>
            <a:endParaRPr lang="en-US" sz="1800" dirty="0">
              <a:solidFill>
                <a:srgbClr val="7030A0"/>
              </a:solidFill>
            </a:endParaRPr>
          </a:p>
        </p:txBody>
      </p:sp>
      <p:sp>
        <p:nvSpPr>
          <p:cNvPr id="3" name="Rectangle 2"/>
          <p:cNvSpPr/>
          <p:nvPr/>
        </p:nvSpPr>
        <p:spPr>
          <a:xfrm>
            <a:off x="5254582" y="1512438"/>
            <a:ext cx="3631842" cy="4378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Execution</a:t>
            </a:r>
            <a:endParaRPr lang="en-US" sz="1800" dirty="0">
              <a:solidFill>
                <a:srgbClr val="7030A0"/>
              </a:solidFill>
            </a:endParaRPr>
          </a:p>
        </p:txBody>
      </p:sp>
      <p:sp>
        <p:nvSpPr>
          <p:cNvPr id="4" name="Rectangle 3"/>
          <p:cNvSpPr/>
          <p:nvPr/>
        </p:nvSpPr>
        <p:spPr>
          <a:xfrm>
            <a:off x="5254582" y="2020324"/>
            <a:ext cx="3631842" cy="4378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Reporting</a:t>
            </a:r>
            <a:endParaRPr lang="en-US" sz="1800" dirty="0">
              <a:solidFill>
                <a:srgbClr val="7030A0"/>
              </a:solidFill>
            </a:endParaRPr>
          </a:p>
        </p:txBody>
      </p:sp>
      <p:sp>
        <p:nvSpPr>
          <p:cNvPr id="5" name="Rectangle 4"/>
          <p:cNvSpPr/>
          <p:nvPr/>
        </p:nvSpPr>
        <p:spPr>
          <a:xfrm>
            <a:off x="5254582" y="2528211"/>
            <a:ext cx="3631842" cy="4378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Capture</a:t>
            </a:r>
            <a:endParaRPr lang="en-US" sz="1800" dirty="0">
              <a:solidFill>
                <a:srgbClr val="7030A0"/>
              </a:solidFill>
            </a:endParaRPr>
          </a:p>
        </p:txBody>
      </p:sp>
      <p:sp>
        <p:nvSpPr>
          <p:cNvPr id="6" name="Rectangle 5"/>
          <p:cNvSpPr/>
          <p:nvPr/>
        </p:nvSpPr>
        <p:spPr>
          <a:xfrm>
            <a:off x="5254582" y="3013975"/>
            <a:ext cx="3631842" cy="4378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Enrichment</a:t>
            </a:r>
            <a:endParaRPr lang="en-US" sz="1800" dirty="0">
              <a:solidFill>
                <a:srgbClr val="7030A0"/>
              </a:solidFill>
            </a:endParaRPr>
          </a:p>
        </p:txBody>
      </p:sp>
      <p:sp>
        <p:nvSpPr>
          <p:cNvPr id="7" name="Rectangle 6"/>
          <p:cNvSpPr/>
          <p:nvPr/>
        </p:nvSpPr>
        <p:spPr>
          <a:xfrm>
            <a:off x="5254582" y="3499737"/>
            <a:ext cx="3631842" cy="43788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Validation</a:t>
            </a:r>
            <a:endParaRPr lang="en-US" sz="1800" dirty="0">
              <a:solidFill>
                <a:srgbClr val="7030A0"/>
              </a:solidFill>
            </a:endParaRPr>
          </a:p>
        </p:txBody>
      </p:sp>
      <p:sp>
        <p:nvSpPr>
          <p:cNvPr id="8" name="Rectangle 7"/>
          <p:cNvSpPr/>
          <p:nvPr/>
        </p:nvSpPr>
        <p:spPr>
          <a:xfrm>
            <a:off x="5254582" y="4007623"/>
            <a:ext cx="3631842" cy="4378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Verification</a:t>
            </a:r>
            <a:endParaRPr lang="en-US" sz="1800" dirty="0">
              <a:solidFill>
                <a:srgbClr val="7030A0"/>
              </a:solidFill>
            </a:endParaRPr>
          </a:p>
        </p:txBody>
      </p:sp>
      <p:sp>
        <p:nvSpPr>
          <p:cNvPr id="9" name="Rectangle 8"/>
          <p:cNvSpPr/>
          <p:nvPr/>
        </p:nvSpPr>
        <p:spPr>
          <a:xfrm>
            <a:off x="5254582" y="4515510"/>
            <a:ext cx="3631842" cy="4378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Confirmation</a:t>
            </a:r>
            <a:endParaRPr lang="en-US" sz="1800" dirty="0">
              <a:solidFill>
                <a:srgbClr val="7030A0"/>
              </a:solidFill>
            </a:endParaRPr>
          </a:p>
        </p:txBody>
      </p:sp>
      <p:sp>
        <p:nvSpPr>
          <p:cNvPr id="10" name="Rectangle 9"/>
          <p:cNvSpPr/>
          <p:nvPr/>
        </p:nvSpPr>
        <p:spPr>
          <a:xfrm>
            <a:off x="5254582" y="5023398"/>
            <a:ext cx="3631842" cy="4378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Transaction Reporting</a:t>
            </a:r>
            <a:endParaRPr lang="en-US" sz="1800" dirty="0">
              <a:solidFill>
                <a:srgbClr val="7030A0"/>
              </a:solidFill>
            </a:endParaRPr>
          </a:p>
        </p:txBody>
      </p:sp>
      <p:sp>
        <p:nvSpPr>
          <p:cNvPr id="11" name="Rectangle 10"/>
          <p:cNvSpPr/>
          <p:nvPr/>
        </p:nvSpPr>
        <p:spPr>
          <a:xfrm>
            <a:off x="5254582" y="5531286"/>
            <a:ext cx="3631842" cy="4378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Settlement</a:t>
            </a:r>
            <a:endParaRPr lang="en-US" sz="1800" dirty="0">
              <a:solidFill>
                <a:srgbClr val="7030A0"/>
              </a:solidFill>
            </a:endParaRPr>
          </a:p>
        </p:txBody>
      </p:sp>
      <p:sp>
        <p:nvSpPr>
          <p:cNvPr id="12" name="Rectangle 11"/>
          <p:cNvSpPr/>
          <p:nvPr/>
        </p:nvSpPr>
        <p:spPr>
          <a:xfrm>
            <a:off x="5254582" y="6039174"/>
            <a:ext cx="3631842" cy="4378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rgbClr val="7030A0"/>
                </a:solidFill>
              </a:rPr>
              <a:t>Trade Reconciliation</a:t>
            </a:r>
            <a:endParaRPr lang="en-US" sz="1800" dirty="0">
              <a:solidFill>
                <a:srgbClr val="7030A0"/>
              </a:solidFill>
            </a:endParaRPr>
          </a:p>
        </p:txBody>
      </p:sp>
      <p:sp>
        <p:nvSpPr>
          <p:cNvPr id="13" name="Rectangle 12"/>
          <p:cNvSpPr/>
          <p:nvPr/>
        </p:nvSpPr>
        <p:spPr>
          <a:xfrm>
            <a:off x="2524259" y="1004552"/>
            <a:ext cx="2640169" cy="1961542"/>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7030A0"/>
                </a:solidFill>
              </a:rPr>
              <a:t>Trading Activities ( Front Office)</a:t>
            </a:r>
            <a:endParaRPr lang="en-US" sz="1800" b="1" dirty="0">
              <a:solidFill>
                <a:srgbClr val="7030A0"/>
              </a:solidFill>
            </a:endParaRPr>
          </a:p>
        </p:txBody>
      </p:sp>
      <p:sp>
        <p:nvSpPr>
          <p:cNvPr id="14" name="Rectangle 13"/>
          <p:cNvSpPr/>
          <p:nvPr/>
        </p:nvSpPr>
        <p:spPr>
          <a:xfrm>
            <a:off x="2524258" y="3061856"/>
            <a:ext cx="2640169" cy="145365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7030A0"/>
                </a:solidFill>
              </a:rPr>
              <a:t>Middle Office</a:t>
            </a:r>
            <a:endParaRPr lang="en-US" sz="1800" b="1" dirty="0">
              <a:solidFill>
                <a:srgbClr val="7030A0"/>
              </a:solidFill>
            </a:endParaRPr>
          </a:p>
        </p:txBody>
      </p:sp>
      <p:sp>
        <p:nvSpPr>
          <p:cNvPr id="15" name="Rectangle 14"/>
          <p:cNvSpPr/>
          <p:nvPr/>
        </p:nvSpPr>
        <p:spPr>
          <a:xfrm>
            <a:off x="2524257" y="4607955"/>
            <a:ext cx="2640169" cy="184517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ltLang="en-US" sz="1800" b="1" dirty="0">
                <a:solidFill>
                  <a:srgbClr val="7030A0"/>
                </a:solidFill>
              </a:rPr>
              <a:t>Back Office </a:t>
            </a:r>
            <a:endParaRPr lang="en-US" sz="1800" b="1" dirty="0">
              <a:solidFill>
                <a:srgbClr val="7030A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2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INITIATION</a:t>
            </a:r>
            <a:endParaRPr lang="en-US" b="1"/>
          </a:p>
        </p:txBody>
      </p:sp>
      <p:grpSp>
        <p:nvGrpSpPr>
          <p:cNvPr id="372" name="Google Shape;372;p26"/>
          <p:cNvGrpSpPr/>
          <p:nvPr/>
        </p:nvGrpSpPr>
        <p:grpSpPr>
          <a:xfrm>
            <a:off x="685800" y="1147131"/>
            <a:ext cx="11010900" cy="4986969"/>
            <a:chOff x="685800" y="1269051"/>
            <a:chExt cx="11010900" cy="5029199"/>
          </a:xfrm>
        </p:grpSpPr>
        <p:grpSp>
          <p:nvGrpSpPr>
            <p:cNvPr id="373" name="Google Shape;373;p26"/>
            <p:cNvGrpSpPr/>
            <p:nvPr/>
          </p:nvGrpSpPr>
          <p:grpSpPr>
            <a:xfrm>
              <a:off x="685800" y="1269051"/>
              <a:ext cx="11010900" cy="5029199"/>
              <a:chOff x="685800" y="1269051"/>
              <a:chExt cx="11010900" cy="5029199"/>
            </a:xfrm>
          </p:grpSpPr>
          <p:sp>
            <p:nvSpPr>
              <p:cNvPr id="374" name="Google Shape;374;p26"/>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5" name="Google Shape;375;p26"/>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376" name="Google Shape;376;p26"/>
            <p:cNvSpPr txBox="1"/>
            <p:nvPr/>
          </p:nvSpPr>
          <p:spPr>
            <a:xfrm>
              <a:off x="1159247" y="1306216"/>
              <a:ext cx="10064007" cy="4852319"/>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Below are the mandatory process to be followed before we can start trading for the client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It starts with the below process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50000"/>
                </a:lnSpc>
                <a:spcBef>
                  <a:spcPts val="1200"/>
                </a:spcBef>
                <a:spcAft>
                  <a:spcPts val="0"/>
                </a:spcAft>
                <a:buClr>
                  <a:srgbClr val="000000"/>
                </a:buClr>
                <a:buSzPts val="1800"/>
                <a:buFont typeface="Courier New" panose="02070309020205020404"/>
                <a:buChar char="o"/>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KYC Check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 Regulations require you first to do KYC check your customers during the onboarding process and then follow their financial transactions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50000"/>
                </a:lnSpc>
                <a:spcBef>
                  <a:spcPts val="1200"/>
                </a:spcBef>
                <a:spcAft>
                  <a:spcPts val="0"/>
                </a:spcAft>
                <a:buClr>
                  <a:srgbClr val="000000"/>
                </a:buClr>
                <a:buSzPts val="1800"/>
                <a:buFont typeface="Courier New" panose="02070309020205020404"/>
                <a:buChar char="o"/>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AML Check -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Anti-money laundering (AML) refers to the activities financial institutions perform to achieve compliance with legal requirements to actively monitor for and report suspicious activities.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42950" marR="0" lvl="1" indent="-285750" algn="l" rtl="0">
                <a:lnSpc>
                  <a:spcPct val="150000"/>
                </a:lnSpc>
                <a:spcBef>
                  <a:spcPts val="1200"/>
                </a:spcBef>
                <a:spcAft>
                  <a:spcPts val="0"/>
                </a:spcAft>
                <a:buClr>
                  <a:srgbClr val="000000"/>
                </a:buClr>
                <a:buSzPts val="1800"/>
                <a:buFont typeface="Courier New" panose="02070309020205020404"/>
                <a:buChar char="o"/>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Set Up New Client on RDM -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Accounts are created in the internal system of STO, these accounts are called as fund number. All the required information of the customer are stored in here, which is useful for later for verification, trends, performance and valuation</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7"/>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INITIATION</a:t>
            </a:r>
            <a:endParaRPr lang="en-US" b="1"/>
          </a:p>
        </p:txBody>
      </p:sp>
      <p:grpSp>
        <p:nvGrpSpPr>
          <p:cNvPr id="382" name="Google Shape;382;p27"/>
          <p:cNvGrpSpPr/>
          <p:nvPr/>
        </p:nvGrpSpPr>
        <p:grpSpPr>
          <a:xfrm>
            <a:off x="685800" y="1147131"/>
            <a:ext cx="11010900" cy="4986969"/>
            <a:chOff x="685800" y="1269051"/>
            <a:chExt cx="11010900" cy="5029199"/>
          </a:xfrm>
        </p:grpSpPr>
        <p:grpSp>
          <p:nvGrpSpPr>
            <p:cNvPr id="383" name="Google Shape;383;p27"/>
            <p:cNvGrpSpPr/>
            <p:nvPr/>
          </p:nvGrpSpPr>
          <p:grpSpPr>
            <a:xfrm>
              <a:off x="685800" y="1269051"/>
              <a:ext cx="11010900" cy="5029199"/>
              <a:chOff x="685800" y="1269051"/>
              <a:chExt cx="11010900" cy="5029199"/>
            </a:xfrm>
          </p:grpSpPr>
          <p:sp>
            <p:nvSpPr>
              <p:cNvPr id="384" name="Google Shape;384;p27"/>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85" name="Google Shape;385;p27"/>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386" name="Google Shape;386;p27"/>
            <p:cNvSpPr txBox="1"/>
            <p:nvPr/>
          </p:nvSpPr>
          <p:spPr>
            <a:xfrm>
              <a:off x="1159247" y="1383812"/>
              <a:ext cx="10064007" cy="4697126"/>
            </a:xfrm>
            <a:prstGeom prst="rect">
              <a:avLst/>
            </a:prstGeom>
            <a:noFill/>
            <a:ln>
              <a:noFill/>
            </a:ln>
          </p:spPr>
          <p:txBody>
            <a:bodyPr spcFirstLastPara="1" wrap="square" lIns="91425" tIns="45700" rIns="91425" bIns="45700" anchor="ctr" anchorCtr="0">
              <a:spAutoFit/>
            </a:bodyPr>
            <a:lstStyle/>
            <a:p>
              <a:pPr marL="283210" marR="0" lvl="0" indent="-28321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 initiation is the first stage in the trade life cycle and marks the beginning of the process where a trader or investor decides to initiate a trade by buying or selling a financial instrument. This stage involves specifying the key trade details, including the asset, quantity, price, and trade date.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1. Trading Decision: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3210" marR="0" lvl="0" indent="-28321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trade initiation process begins when a trader or investor decides to enter into a trade. This decision is typically based on various factors, including market analysis, investment strategy, risk tolerance, and market conditions.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3210" marR="0" lvl="0" indent="-283210" algn="l" rtl="0">
                <a:lnSpc>
                  <a:spcPct val="15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may have different motivations for initiating a trade, such as profit generation, risk management, portfolio rebalancing, or hedging against market movements.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8"/>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INITIATION</a:t>
            </a:r>
            <a:endParaRPr lang="en-US" b="1"/>
          </a:p>
        </p:txBody>
      </p:sp>
      <p:grpSp>
        <p:nvGrpSpPr>
          <p:cNvPr id="392" name="Google Shape;392;p28"/>
          <p:cNvGrpSpPr/>
          <p:nvPr/>
        </p:nvGrpSpPr>
        <p:grpSpPr>
          <a:xfrm>
            <a:off x="685800" y="1147130"/>
            <a:ext cx="11010900" cy="4986969"/>
            <a:chOff x="685800" y="1269051"/>
            <a:chExt cx="11010900" cy="5029199"/>
          </a:xfrm>
        </p:grpSpPr>
        <p:grpSp>
          <p:nvGrpSpPr>
            <p:cNvPr id="393" name="Google Shape;393;p28"/>
            <p:cNvGrpSpPr/>
            <p:nvPr/>
          </p:nvGrpSpPr>
          <p:grpSpPr>
            <a:xfrm>
              <a:off x="685800" y="1269051"/>
              <a:ext cx="11010900" cy="5029199"/>
              <a:chOff x="685800" y="1269051"/>
              <a:chExt cx="11010900" cy="5029199"/>
            </a:xfrm>
          </p:grpSpPr>
          <p:sp>
            <p:nvSpPr>
              <p:cNvPr id="394" name="Google Shape;394;p28"/>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95" name="Google Shape;395;p28"/>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396" name="Google Shape;396;p28"/>
            <p:cNvSpPr txBox="1"/>
            <p:nvPr/>
          </p:nvSpPr>
          <p:spPr>
            <a:xfrm>
              <a:off x="1159247" y="1567453"/>
              <a:ext cx="10064007" cy="432984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2. Selection of Financial Instrument: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3210" marR="0" lvl="0" indent="-28321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trader selects the financial instrument in which they want to trade. This could be stocks, bonds, commodities, foreign exchange (forex), options, futures contracts, or any other tradable asset class.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3210" marR="0" lvl="0" indent="-28321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choice of financial instrument depends on the trader's investment objectives and the opportunities they perceive in the market.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8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3. Determination of Trade Direction: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3210" marR="0" lvl="0" indent="-28321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decide whether they want to buy (take a long position) or sell (take a short position) the selected financial instrument.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3210" marR="0" lvl="0" indent="-28321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direction of the trade is based on the trader's outlook for the asset's price movement. For example, if a trader believes the price will rise, they may initiate a buy order (going long).</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29"/>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INITIATION</a:t>
            </a:r>
            <a:endParaRPr lang="en-US" b="1"/>
          </a:p>
        </p:txBody>
      </p:sp>
      <p:grpSp>
        <p:nvGrpSpPr>
          <p:cNvPr id="402" name="Google Shape;402;p29"/>
          <p:cNvGrpSpPr/>
          <p:nvPr/>
        </p:nvGrpSpPr>
        <p:grpSpPr>
          <a:xfrm>
            <a:off x="685800" y="1147130"/>
            <a:ext cx="11010900" cy="4986969"/>
            <a:chOff x="685800" y="1269051"/>
            <a:chExt cx="11010900" cy="5029199"/>
          </a:xfrm>
        </p:grpSpPr>
        <p:grpSp>
          <p:nvGrpSpPr>
            <p:cNvPr id="403" name="Google Shape;403;p29"/>
            <p:cNvGrpSpPr/>
            <p:nvPr/>
          </p:nvGrpSpPr>
          <p:grpSpPr>
            <a:xfrm>
              <a:off x="685800" y="1269051"/>
              <a:ext cx="11010900" cy="5029199"/>
              <a:chOff x="685800" y="1269051"/>
              <a:chExt cx="11010900" cy="5029199"/>
            </a:xfrm>
          </p:grpSpPr>
          <p:sp>
            <p:nvSpPr>
              <p:cNvPr id="404" name="Google Shape;404;p29"/>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05" name="Google Shape;405;p29"/>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406" name="Google Shape;406;p29"/>
            <p:cNvSpPr txBox="1"/>
            <p:nvPr/>
          </p:nvSpPr>
          <p:spPr>
            <a:xfrm>
              <a:off x="1159247" y="1567453"/>
              <a:ext cx="10064007" cy="432984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4. Trade Quantity: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specify the quantity or volume of the financial instrument they want to trade. The quantity can range from a single share to thousands or more, depending on the trader's investment strategy and available capital.</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trade quantity should align with the trader's risk management and portfolio allocation goals.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8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5. Trade Price: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determine the price at which they are willing to execute the trade. The specified price is known as the "limit price."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limit price can be set at a specific price level, or it can be based on market conditions, such as the current market price or a certain price range.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0"/>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INITIATION</a:t>
            </a:r>
            <a:endParaRPr lang="en-US" b="1"/>
          </a:p>
        </p:txBody>
      </p:sp>
      <p:grpSp>
        <p:nvGrpSpPr>
          <p:cNvPr id="412" name="Google Shape;412;p30"/>
          <p:cNvGrpSpPr/>
          <p:nvPr/>
        </p:nvGrpSpPr>
        <p:grpSpPr>
          <a:xfrm>
            <a:off x="685800" y="1147130"/>
            <a:ext cx="11010900" cy="4986969"/>
            <a:chOff x="685800" y="1269051"/>
            <a:chExt cx="11010900" cy="5029199"/>
          </a:xfrm>
        </p:grpSpPr>
        <p:grpSp>
          <p:nvGrpSpPr>
            <p:cNvPr id="413" name="Google Shape;413;p30"/>
            <p:cNvGrpSpPr/>
            <p:nvPr/>
          </p:nvGrpSpPr>
          <p:grpSpPr>
            <a:xfrm>
              <a:off x="685800" y="1269051"/>
              <a:ext cx="11010900" cy="5029199"/>
              <a:chOff x="685800" y="1269051"/>
              <a:chExt cx="11010900" cy="5029199"/>
            </a:xfrm>
          </p:grpSpPr>
          <p:sp>
            <p:nvSpPr>
              <p:cNvPr id="414" name="Google Shape;414;p30"/>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15" name="Google Shape;415;p30"/>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416" name="Google Shape;416;p30"/>
            <p:cNvSpPr txBox="1"/>
            <p:nvPr/>
          </p:nvSpPr>
          <p:spPr>
            <a:xfrm>
              <a:off x="1159247" y="1707123"/>
              <a:ext cx="10064007" cy="4050496"/>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6. Trade Date: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trader selects the trade date, which is the date on which they want the trade to be executed. The trade date may be the same day as the trade initiation (a "spot trade") or a future date (a "forward trade").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choice of trade date can be influenced by factors like market timing, settlement considerations, and trading strategy.</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8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7. Order Type: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may choose from various order types to specify how they want their trade to be executed. Common order types include market orders, limit orders, stop orders, and more.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8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Each order type has specific execution instructions and risk considerations.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3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INITIATION</a:t>
            </a:r>
            <a:endParaRPr lang="en-US" b="1"/>
          </a:p>
        </p:txBody>
      </p:sp>
      <p:grpSp>
        <p:nvGrpSpPr>
          <p:cNvPr id="422" name="Google Shape;422;p31"/>
          <p:cNvGrpSpPr/>
          <p:nvPr/>
        </p:nvGrpSpPr>
        <p:grpSpPr>
          <a:xfrm>
            <a:off x="685800" y="1147131"/>
            <a:ext cx="11010900" cy="4986969"/>
            <a:chOff x="685800" y="1269051"/>
            <a:chExt cx="11010900" cy="5029199"/>
          </a:xfrm>
        </p:grpSpPr>
        <p:grpSp>
          <p:nvGrpSpPr>
            <p:cNvPr id="423" name="Google Shape;423;p31"/>
            <p:cNvGrpSpPr/>
            <p:nvPr/>
          </p:nvGrpSpPr>
          <p:grpSpPr>
            <a:xfrm>
              <a:off x="685800" y="1269051"/>
              <a:ext cx="11010900" cy="5029199"/>
              <a:chOff x="685800" y="1269051"/>
              <a:chExt cx="11010900" cy="5029199"/>
            </a:xfrm>
          </p:grpSpPr>
          <p:sp>
            <p:nvSpPr>
              <p:cNvPr id="424" name="Google Shape;424;p31"/>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25" name="Google Shape;425;p31"/>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426" name="Google Shape;426;p31"/>
            <p:cNvSpPr txBox="1"/>
            <p:nvPr/>
          </p:nvSpPr>
          <p:spPr>
            <a:xfrm>
              <a:off x="1159247" y="1544172"/>
              <a:ext cx="10064007" cy="437639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8. Broker Selection: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If the trader uses a brokerage firm to execute the trade, they select the broker through which they will place the trade. Broker selection may depend on factors such as brokerage fees, execution speed, research tools, and market access.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2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9. Trade Instructions: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provide specific instructions to the broker or trading platform, including details like the chosen order type, quantity, limit price, and trade date.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 instructions ensure that the trade is executed according to the trader's intentions.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2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10. Compliance and Regulatory Considerations: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Traders and investors must consider regulatory requirements and compliance issues when initiating a trade. These requirements can vary depending on the type of asset, market jurisdiction, and the trader's legal obligations.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32"/>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pic>
        <p:nvPicPr>
          <p:cNvPr id="432" name="Google Shape;432;p32"/>
          <p:cNvPicPr preferRelativeResize="0"/>
          <p:nvPr/>
        </p:nvPicPr>
        <p:blipFill rotWithShape="1">
          <a:blip r:embed="rId1"/>
          <a:srcRect/>
          <a:stretch>
            <a:fillRect/>
          </a:stretch>
        </p:blipFill>
        <p:spPr>
          <a:xfrm>
            <a:off x="1091678" y="1310123"/>
            <a:ext cx="10250011" cy="4646664"/>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3"/>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pic>
        <p:nvPicPr>
          <p:cNvPr id="438" name="Google Shape;438;p33"/>
          <p:cNvPicPr preferRelativeResize="0"/>
          <p:nvPr/>
        </p:nvPicPr>
        <p:blipFill rotWithShape="1">
          <a:blip r:embed="rId1"/>
          <a:srcRect/>
          <a:stretch>
            <a:fillRect/>
          </a:stretch>
        </p:blipFill>
        <p:spPr>
          <a:xfrm>
            <a:off x="2220510" y="1329066"/>
            <a:ext cx="7750981" cy="4642276"/>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34"/>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grpSp>
        <p:nvGrpSpPr>
          <p:cNvPr id="444" name="Google Shape;444;p34"/>
          <p:cNvGrpSpPr/>
          <p:nvPr/>
        </p:nvGrpSpPr>
        <p:grpSpPr>
          <a:xfrm>
            <a:off x="695787" y="1147447"/>
            <a:ext cx="10991820" cy="4986654"/>
            <a:chOff x="695787" y="1381126"/>
            <a:chExt cx="10991820" cy="5009491"/>
          </a:xfrm>
        </p:grpSpPr>
        <p:sp>
          <p:nvSpPr>
            <p:cNvPr id="445" name="Google Shape;445;p34"/>
            <p:cNvSpPr/>
            <p:nvPr/>
          </p:nvSpPr>
          <p:spPr>
            <a:xfrm>
              <a:off x="769620" y="1455420"/>
              <a:ext cx="10843260" cy="4861560"/>
            </a:xfrm>
            <a:prstGeom prst="rect">
              <a:avLst/>
            </a:prstGeom>
            <a:solidFill>
              <a:schemeClr val="lt1"/>
            </a:solidFill>
            <a:ln w="9525" cap="flat" cmpd="sng">
              <a:solidFill>
                <a:schemeClr val="accent5"/>
              </a:solidFill>
              <a:prstDash val="solid"/>
              <a:miter lim="800000"/>
              <a:headEnd type="none" w="sm" len="sm"/>
              <a:tailEnd type="none" w="sm" len="sm"/>
            </a:ln>
          </p:spPr>
          <p:txBody>
            <a:bodyPr spcFirstLastPara="1" wrap="square" lIns="203025" tIns="45700" rIns="45700" bIns="45700" anchor="ctr" anchorCtr="0">
              <a:no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 execution is a crucial stage in the trading process where a trader's order to buy or sell a financial instrument is carried out in the market. It involves the actual matching of the order with a counterparty, either manually or electronically, and the completion of the transaction. Trade execution is a critical step that determines the price at which the trade is executed and has a significant impact on a trader's profitability.</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200"/>
                </a:spcBef>
                <a:spcAft>
                  <a:spcPts val="0"/>
                </a:spcAft>
                <a:buClr>
                  <a:srgbClr val="000000"/>
                </a:buClr>
                <a:buSzPts val="1800"/>
                <a:buFont typeface="Arial" panose="020B0604020202020204"/>
                <a:buAutoNum type="arabicPeriod"/>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Receipt: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Trade execution begins when the trading platform or broker receives the trader's order. This order can be of various types, such as market orders, limit orders, or stop orders, each with its specific execution characteristics.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1200"/>
                </a:spcBef>
                <a:spcAft>
                  <a:spcPts val="0"/>
                </a:spcAft>
                <a:buClr>
                  <a:srgbClr val="000000"/>
                </a:buClr>
                <a:buSzPts val="1800"/>
                <a:buFont typeface="Arial" panose="020B0604020202020204"/>
                <a:buAutoNum type="arabicPeriod" startAt="2"/>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Validation: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order is validated to ensure that it meets the market's requirements and regulatory standards. This validation includes checks for order size, price levels, and other constraints set by the market.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6" name="Google Shape;446;p34"/>
            <p:cNvSpPr/>
            <p:nvPr/>
          </p:nvSpPr>
          <p:spPr>
            <a:xfrm>
              <a:off x="695787" y="1381126"/>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47" name="Google Shape;447;p34"/>
            <p:cNvSpPr/>
            <p:nvPr/>
          </p:nvSpPr>
          <p:spPr>
            <a:xfrm rot="10800000">
              <a:off x="10544611" y="5363867"/>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5"/>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grpSp>
        <p:nvGrpSpPr>
          <p:cNvPr id="453" name="Google Shape;453;p35"/>
          <p:cNvGrpSpPr/>
          <p:nvPr/>
        </p:nvGrpSpPr>
        <p:grpSpPr>
          <a:xfrm>
            <a:off x="695787" y="1147447"/>
            <a:ext cx="10991820" cy="4986654"/>
            <a:chOff x="695787" y="1381126"/>
            <a:chExt cx="10991820" cy="5009491"/>
          </a:xfrm>
        </p:grpSpPr>
        <p:sp>
          <p:nvSpPr>
            <p:cNvPr id="454" name="Google Shape;454;p35"/>
            <p:cNvSpPr/>
            <p:nvPr/>
          </p:nvSpPr>
          <p:spPr>
            <a:xfrm>
              <a:off x="769620" y="1455420"/>
              <a:ext cx="10843260" cy="4861560"/>
            </a:xfrm>
            <a:prstGeom prst="rect">
              <a:avLst/>
            </a:prstGeom>
            <a:solidFill>
              <a:schemeClr val="lt1"/>
            </a:solidFill>
            <a:ln w="9525" cap="flat" cmpd="sng">
              <a:solidFill>
                <a:schemeClr val="accent5"/>
              </a:solidFill>
              <a:prstDash val="solid"/>
              <a:miter lim="800000"/>
              <a:headEnd type="none" w="sm" len="sm"/>
              <a:tailEnd type="none" w="sm" len="sm"/>
            </a:ln>
          </p:spPr>
          <p:txBody>
            <a:bodyPr spcFirstLastPara="1" wrap="square" lIns="203025" tIns="45700" rIns="45700" bIns="45700" anchor="ctr" anchorCtr="0">
              <a:noAutofit/>
            </a:bodyPr>
            <a:lstStyle/>
            <a:p>
              <a:pPr marL="342900" marR="0" lvl="0" indent="-342900" algn="l" rtl="0">
                <a:lnSpc>
                  <a:spcPct val="100000"/>
                </a:lnSpc>
                <a:spcBef>
                  <a:spcPts val="0"/>
                </a:spcBef>
                <a:spcAft>
                  <a:spcPts val="0"/>
                </a:spcAft>
                <a:buClr>
                  <a:srgbClr val="000000"/>
                </a:buClr>
                <a:buSzPts val="1800"/>
                <a:buFont typeface="Arial" panose="020B0604020202020204"/>
                <a:buAutoNum type="arabicPeriod" startAt="3"/>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Routing: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Once the order is validated, it is routed to the relevant market or exchange. The choice of where to route the order can depend on factors like market liquidity, order type, and execution speed. Some orders may be executed on electronic trading platforms, while others may go to a traditional stock exchange.</a:t>
              </a:r>
              <a:endParaRPr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00000"/>
                </a:lnSpc>
                <a:spcBef>
                  <a:spcPts val="2400"/>
                </a:spcBef>
                <a:spcAft>
                  <a:spcPts val="0"/>
                </a:spcAft>
                <a:buClr>
                  <a:srgbClr val="000000"/>
                </a:buClr>
                <a:buSzPts val="1800"/>
                <a:buFont typeface="Arial" panose="020B0604020202020204"/>
                <a:buAutoNum type="arabicPeriod" startAt="4"/>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Order Matching: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 the market or exchange, the trader's order is matched with a counterparty willing to take the opposite side of the trade. For example, a buy order is matched with a sell order, and vice versa.</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order matching process typically occurs through an order book or central limit order book (CLOB), where buy and sell orders are listed at different price levels. Orders are matched based on the "price-time priority" rule, where orders at the same price level are executed in the order they were received.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5" name="Google Shape;455;p35"/>
            <p:cNvSpPr/>
            <p:nvPr/>
          </p:nvSpPr>
          <p:spPr>
            <a:xfrm>
              <a:off x="695787" y="1381126"/>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56" name="Google Shape;456;p35"/>
            <p:cNvSpPr/>
            <p:nvPr/>
          </p:nvSpPr>
          <p:spPr>
            <a:xfrm rot="10800000">
              <a:off x="10544611" y="5363867"/>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grpSp>
        <p:nvGrpSpPr>
          <p:cNvPr id="462" name="Google Shape;462;p36"/>
          <p:cNvGrpSpPr/>
          <p:nvPr/>
        </p:nvGrpSpPr>
        <p:grpSpPr>
          <a:xfrm>
            <a:off x="695787" y="1147447"/>
            <a:ext cx="10991820" cy="4986654"/>
            <a:chOff x="695787" y="1381126"/>
            <a:chExt cx="10991820" cy="5009491"/>
          </a:xfrm>
        </p:grpSpPr>
        <p:sp>
          <p:nvSpPr>
            <p:cNvPr id="463" name="Google Shape;463;p36"/>
            <p:cNvSpPr/>
            <p:nvPr/>
          </p:nvSpPr>
          <p:spPr>
            <a:xfrm>
              <a:off x="769620" y="1455420"/>
              <a:ext cx="10843260" cy="4861560"/>
            </a:xfrm>
            <a:prstGeom prst="rect">
              <a:avLst/>
            </a:prstGeom>
            <a:solidFill>
              <a:schemeClr val="lt1"/>
            </a:solidFill>
            <a:ln w="9525" cap="flat" cmpd="sng">
              <a:solidFill>
                <a:schemeClr val="accent5"/>
              </a:solidFill>
              <a:prstDash val="solid"/>
              <a:miter lim="800000"/>
              <a:headEnd type="none" w="sm" len="sm"/>
              <a:tailEnd type="none" w="sm" len="sm"/>
            </a:ln>
          </p:spPr>
          <p:txBody>
            <a:bodyPr spcFirstLastPara="1" wrap="square" lIns="203025" tIns="45700" rIns="45700" bIns="45700" anchor="ctr" anchorCtr="0">
              <a:noAutofit/>
            </a:bodyPr>
            <a:lstStyle/>
            <a:p>
              <a:pPr marL="342900" marR="0" lvl="0" indent="-342900" algn="l" rtl="0">
                <a:lnSpc>
                  <a:spcPct val="100000"/>
                </a:lnSpc>
                <a:spcBef>
                  <a:spcPts val="0"/>
                </a:spcBef>
                <a:spcAft>
                  <a:spcPts val="0"/>
                </a:spcAft>
                <a:buClr>
                  <a:srgbClr val="000000"/>
                </a:buClr>
                <a:buSzPts val="1800"/>
                <a:buFont typeface="Arial" panose="020B0604020202020204"/>
                <a:buAutoNum type="arabicPeriod" startAt="5"/>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Price Determination: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price at which the trade is executed is determined by the market conditions and the specific order type.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For market orders, the execution price is the current market price at the time the order is matched. Market orders prioritize speed of execution over price certainty.</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For limit orders, the execution price is the specified limit price or better. Limit orders prioritize price control over execution speed.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For stop orders, the execution price becomes a market order when a specific trigger price is reached.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4" name="Google Shape;464;p36"/>
            <p:cNvSpPr/>
            <p:nvPr/>
          </p:nvSpPr>
          <p:spPr>
            <a:xfrm>
              <a:off x="695787" y="1381126"/>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5" name="Google Shape;465;p36"/>
            <p:cNvSpPr/>
            <p:nvPr/>
          </p:nvSpPr>
          <p:spPr>
            <a:xfrm rot="10800000">
              <a:off x="10544611" y="5363867"/>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37"/>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grpSp>
        <p:nvGrpSpPr>
          <p:cNvPr id="471" name="Google Shape;471;p37"/>
          <p:cNvGrpSpPr/>
          <p:nvPr/>
        </p:nvGrpSpPr>
        <p:grpSpPr>
          <a:xfrm>
            <a:off x="695787" y="1147448"/>
            <a:ext cx="5400212" cy="4986652"/>
            <a:chOff x="695787" y="1381127"/>
            <a:chExt cx="10991818" cy="5009489"/>
          </a:xfrm>
        </p:grpSpPr>
        <p:sp>
          <p:nvSpPr>
            <p:cNvPr id="472" name="Google Shape;472;p37"/>
            <p:cNvSpPr/>
            <p:nvPr/>
          </p:nvSpPr>
          <p:spPr>
            <a:xfrm>
              <a:off x="769620" y="1455420"/>
              <a:ext cx="10843260" cy="4861560"/>
            </a:xfrm>
            <a:prstGeom prst="rect">
              <a:avLst/>
            </a:prstGeom>
            <a:solidFill>
              <a:schemeClr val="lt1"/>
            </a:solidFill>
            <a:ln w="9525" cap="flat" cmpd="sng">
              <a:solidFill>
                <a:schemeClr val="accent5"/>
              </a:solidFill>
              <a:prstDash val="solid"/>
              <a:miter lim="800000"/>
              <a:headEnd type="none" w="sm" len="sm"/>
              <a:tailEnd type="none" w="sm" len="sm"/>
            </a:ln>
          </p:spPr>
          <p:txBody>
            <a:bodyPr spcFirstLastPara="1" wrap="square" lIns="203025" tIns="45700" rIns="45700" bIns="45700" anchor="ctr" anchorCtr="0">
              <a:no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The most important function of an Order Management System is ‘Order Capture’ which flows down to trade support and settlement systems.</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200"/>
                </a:spcBef>
                <a:spcAft>
                  <a:spcPts val="0"/>
                </a:spcAft>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Trade Initiation from BUY SIDE </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20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Buy side clients are Investment Manager of an Mutual Fund, Hedge Funds etc.</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20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An Investment Manager can initiate trade order  via</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Thr</a:t>
              </a:r>
              <a:r>
                <a:rPr lang="en-US" sz="1600"/>
                <a:t>ough</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sell side - Will contact broker/ trader directly</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Thr</a:t>
              </a:r>
              <a:r>
                <a:rPr lang="en-US" sz="1600"/>
                <a:t>ough</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buy side OMS - </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39750" marR="0" lvl="0" indent="-285750" algn="l" rtl="0">
                <a:spcBef>
                  <a:spcPts val="1200"/>
                </a:spcBef>
                <a:spcAft>
                  <a:spcPts val="0"/>
                </a:spcAft>
                <a:buClr>
                  <a:srgbClr val="000000"/>
                </a:buClr>
                <a:buSzPts val="1600"/>
                <a:buFont typeface="Courier New" panose="02070309020205020404"/>
                <a:buChar char="o"/>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To Sell side - via FIX system</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1200"/>
                </a:spcBef>
                <a:spcAft>
                  <a:spcPts val="0"/>
                </a:spcAft>
                <a:buClr>
                  <a:srgbClr val="000000"/>
                </a:buClr>
                <a:buSzPts val="16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Thr</a:t>
              </a:r>
              <a:r>
                <a:rPr lang="en-US" sz="1600"/>
                <a:t>ough</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 DMA technology</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20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This then flows to the multiple markets as it can connects to Exchanges, ECNs, etc. </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3" name="Google Shape;473;p37"/>
            <p:cNvSpPr/>
            <p:nvPr/>
          </p:nvSpPr>
          <p:spPr>
            <a:xfrm>
              <a:off x="695787" y="1381127"/>
              <a:ext cx="1142996" cy="719703"/>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74" name="Google Shape;474;p37"/>
            <p:cNvSpPr/>
            <p:nvPr/>
          </p:nvSpPr>
          <p:spPr>
            <a:xfrm rot="10800000">
              <a:off x="10544609" y="5670911"/>
              <a:ext cx="1142996" cy="719705"/>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75" name="Google Shape;475;p37"/>
          <p:cNvSpPr/>
          <p:nvPr/>
        </p:nvSpPr>
        <p:spPr>
          <a:xfrm>
            <a:off x="6180338" y="1100131"/>
            <a:ext cx="5495925" cy="1527475"/>
          </a:xfrm>
          <a:prstGeom prst="roundRect">
            <a:avLst>
              <a:gd name="adj" fmla="val 10476"/>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Arial" panose="020B0604020202020204"/>
              <a:buNone/>
            </a:pPr>
            <a:r>
              <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rPr>
              <a:t>Macgregor, Charles River Investment Management System etc. are examples of buy side OMS. </a:t>
            </a:r>
            <a:endPar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76" name="Google Shape;476;p37"/>
          <p:cNvSpPr/>
          <p:nvPr/>
        </p:nvSpPr>
        <p:spPr>
          <a:xfrm>
            <a:off x="6200774" y="2877037"/>
            <a:ext cx="5495925" cy="1527475"/>
          </a:xfrm>
          <a:prstGeom prst="roundRect">
            <a:avLst>
              <a:gd name="adj" fmla="val 10476"/>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Arial" panose="020B0604020202020204"/>
              <a:buNone/>
            </a:pPr>
            <a:r>
              <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rPr>
              <a:t>“Direct Market Access (DMA)” that allows firms to route orders to all market destinations. Lava Trading, RealTick and FlexDMA are examples of DMA based applications.</a:t>
            </a:r>
            <a:endPar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77" name="Google Shape;477;p37"/>
          <p:cNvSpPr/>
          <p:nvPr/>
        </p:nvSpPr>
        <p:spPr>
          <a:xfrm>
            <a:off x="6200774" y="4606626"/>
            <a:ext cx="5495925" cy="1527475"/>
          </a:xfrm>
          <a:prstGeom prst="roundRect">
            <a:avLst>
              <a:gd name="adj" fmla="val 10476"/>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Arial" panose="020B0604020202020204"/>
              <a:buNone/>
            </a:pPr>
            <a:r>
              <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rPr>
              <a:t>With DMA, buy side customers are renting a broker's infrastructure and clearing via the broker, but they are controlling the order. The real motivation for aggressive DMA trading on the buy side is cheaper commissions as compared to routing the order to sell side.</a:t>
            </a:r>
            <a:endParaRPr lang="en-US" sz="16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8"/>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EXECUTION</a:t>
            </a:r>
            <a:endParaRPr lang="en-US" b="1"/>
          </a:p>
        </p:txBody>
      </p:sp>
      <p:grpSp>
        <p:nvGrpSpPr>
          <p:cNvPr id="484" name="Google Shape;484;p38"/>
          <p:cNvGrpSpPr/>
          <p:nvPr/>
        </p:nvGrpSpPr>
        <p:grpSpPr>
          <a:xfrm>
            <a:off x="695787" y="1147447"/>
            <a:ext cx="10991820" cy="4986654"/>
            <a:chOff x="695787" y="1381126"/>
            <a:chExt cx="10991820" cy="5009491"/>
          </a:xfrm>
        </p:grpSpPr>
        <p:sp>
          <p:nvSpPr>
            <p:cNvPr id="485" name="Google Shape;485;p38"/>
            <p:cNvSpPr/>
            <p:nvPr/>
          </p:nvSpPr>
          <p:spPr>
            <a:xfrm>
              <a:off x="769620" y="1455420"/>
              <a:ext cx="10843260" cy="4861560"/>
            </a:xfrm>
            <a:prstGeom prst="rect">
              <a:avLst/>
            </a:prstGeom>
            <a:solidFill>
              <a:schemeClr val="lt1"/>
            </a:solidFill>
            <a:ln w="9525" cap="flat" cmpd="sng">
              <a:solidFill>
                <a:schemeClr val="accent5"/>
              </a:solidFill>
              <a:prstDash val="solid"/>
              <a:miter lim="800000"/>
              <a:headEnd type="none" w="sm" len="sm"/>
              <a:tailEnd type="none" w="sm" len="sm"/>
            </a:ln>
          </p:spPr>
          <p:txBody>
            <a:bodyPr spcFirstLastPara="1" wrap="square" lIns="203025" tIns="45700" rIns="45700" bIns="45700" anchor="ctr" anchorCtr="0">
              <a:no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most important function of an Order Management System is ‘Order Capture’ which flows down to trade support and settlement systems.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2400"/>
                </a:spcBef>
                <a:spcAft>
                  <a:spcPts val="0"/>
                </a:spcAft>
                <a:buClr>
                  <a:srgbClr val="000000"/>
                </a:buClr>
                <a:buSzPts val="1800"/>
                <a:buFont typeface="Arial" panose="020B0604020202020204"/>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Trade Initiation from SELL SIDE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Examples some popular Sell side OMS includes GL Trade, Fidessa, Davidge Data Systems, NYFIX etc.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24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When the trader executes the order in the BUY SIDE/ SELL SIDE workstation, it can either go to electronic exchange such as NASDAQ  etc. via Electronic Communication Network (ECN) or go to manual exchanges such as NYSE.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6" name="Google Shape;486;p38"/>
            <p:cNvSpPr/>
            <p:nvPr/>
          </p:nvSpPr>
          <p:spPr>
            <a:xfrm>
              <a:off x="695787" y="1381126"/>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7" name="Google Shape;487;p38"/>
            <p:cNvSpPr/>
            <p:nvPr/>
          </p:nvSpPr>
          <p:spPr>
            <a:xfrm rot="10800000">
              <a:off x="10544611" y="5363867"/>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8"/>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dirty="0"/>
              <a:t>TRADE REPORTING</a:t>
            </a:r>
            <a:endParaRPr dirty="0"/>
          </a:p>
        </p:txBody>
      </p:sp>
      <p:grpSp>
        <p:nvGrpSpPr>
          <p:cNvPr id="484" name="Google Shape;484;p38"/>
          <p:cNvGrpSpPr/>
          <p:nvPr/>
        </p:nvGrpSpPr>
        <p:grpSpPr>
          <a:xfrm>
            <a:off x="695787" y="1147447"/>
            <a:ext cx="10991820" cy="5242517"/>
            <a:chOff x="695787" y="1381126"/>
            <a:chExt cx="10991820" cy="5266526"/>
          </a:xfrm>
        </p:grpSpPr>
        <p:sp>
          <p:nvSpPr>
            <p:cNvPr id="485" name="Google Shape;485;p38"/>
            <p:cNvSpPr/>
            <p:nvPr/>
          </p:nvSpPr>
          <p:spPr>
            <a:xfrm>
              <a:off x="844347" y="1786092"/>
              <a:ext cx="10843260" cy="4861560"/>
            </a:xfrm>
            <a:prstGeom prst="rect">
              <a:avLst/>
            </a:prstGeom>
            <a:solidFill>
              <a:schemeClr val="lt1"/>
            </a:solidFill>
            <a:ln w="9525" cap="flat" cmpd="sng">
              <a:solidFill>
                <a:schemeClr val="accent5"/>
              </a:solidFill>
              <a:prstDash val="solid"/>
              <a:miter lim="800000"/>
              <a:headEnd type="none" w="sm" len="sm"/>
              <a:tailEnd type="none" w="sm" len="sm"/>
            </a:ln>
          </p:spPr>
          <p:txBody>
            <a:bodyPr spcFirstLastPara="1" wrap="square" lIns="203025" tIns="45700" rIns="45700" bIns="45700" anchor="ctr" anchorCtr="0">
              <a:noAutofit/>
            </a:bodyPr>
            <a:lstStyle/>
            <a:p>
              <a:r>
                <a:rPr lang="en-IN" sz="1800" b="1" dirty="0">
                  <a:ln/>
                  <a:solidFill>
                    <a:schemeClr val="tx1"/>
                  </a:solidFill>
                  <a:effectLst>
                    <a:outerShdw blurRad="38100" dist="19050" dir="2700000" algn="tl" rotWithShape="0">
                      <a:schemeClr val="dk1">
                        <a:alpha val="40000"/>
                      </a:schemeClr>
                    </a:outerShdw>
                  </a:effectLst>
                </a:rPr>
                <a:t>1. Purpose of Trade Reporting</a:t>
              </a:r>
              <a:endParaRPr lang="en-IN" sz="1800" b="1"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Ensures market transparency: everyone can see executed prices and volumes.</a:t>
              </a:r>
              <a:endParaRPr lang="en-IN" sz="1800"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Facilitates price discovery and helps market participants make informed decisions.</a:t>
              </a:r>
              <a:endParaRPr lang="en-IN" sz="1800"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Enables regulators to monitor market activity and detect irregular trading patterns.</a:t>
              </a:r>
              <a:endParaRPr lang="en-IN" sz="1800"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Provides a basis for risk assessment and surveillance.</a:t>
              </a:r>
              <a:endParaRPr lang="en-IN" sz="1800"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endParaRPr lang="en-IN" sz="1800" dirty="0">
                <a:ln/>
                <a:solidFill>
                  <a:schemeClr val="tx1"/>
                </a:solidFill>
                <a:effectLst>
                  <a:outerShdw blurRad="38100" dist="19050" dir="2700000" algn="tl" rotWithShape="0">
                    <a:schemeClr val="dk1">
                      <a:alpha val="40000"/>
                    </a:schemeClr>
                  </a:outerShdw>
                </a:effectLst>
              </a:endParaRPr>
            </a:p>
            <a:p>
              <a:r>
                <a:rPr lang="en-IN" sz="1800" b="1" dirty="0">
                  <a:ln/>
                  <a:solidFill>
                    <a:schemeClr val="tx1"/>
                  </a:solidFill>
                  <a:effectLst>
                    <a:outerShdw blurRad="38100" dist="19050" dir="2700000" algn="tl" rotWithShape="0">
                      <a:schemeClr val="dk1">
                        <a:alpha val="40000"/>
                      </a:schemeClr>
                    </a:outerShdw>
                  </a:effectLst>
                </a:rPr>
                <a:t>2. Timing of Trade Reporting</a:t>
              </a:r>
              <a:endParaRPr lang="en-IN" sz="1800" b="1"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Occurs immediately after trade execution.</a:t>
              </a:r>
              <a:endParaRPr lang="en-IN" sz="1800"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For exchange-traded instruments: usually real-time or near real-time, automated by the exchange.</a:t>
              </a:r>
              <a:endParaRPr lang="en-IN" sz="1800"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Always before clearing and settlement, so regulators can monitor exposures and obligations.</a:t>
              </a:r>
              <a:endParaRPr lang="en-IN" sz="1800" dirty="0">
                <a:ln/>
                <a:solidFill>
                  <a:schemeClr val="tx1"/>
                </a:solidFill>
                <a:effectLst>
                  <a:outerShdw blurRad="38100" dist="19050" dir="2700000" algn="tl" rotWithShape="0">
                    <a:schemeClr val="dk1">
                      <a:alpha val="40000"/>
                    </a:schemeClr>
                  </a:outerShdw>
                </a:effectLst>
              </a:endParaRPr>
            </a:p>
            <a:p>
              <a:endParaRPr lang="en-IN" sz="1800" b="1" dirty="0">
                <a:ln/>
                <a:solidFill>
                  <a:schemeClr val="tx1"/>
                </a:solidFill>
                <a:effectLst>
                  <a:outerShdw blurRad="38100" dist="19050" dir="2700000" algn="tl" rotWithShape="0">
                    <a:schemeClr val="dk1">
                      <a:alpha val="40000"/>
                    </a:schemeClr>
                  </a:outerShdw>
                </a:effectLst>
              </a:endParaRPr>
            </a:p>
            <a:p>
              <a:r>
                <a:rPr lang="en-IN" sz="1800" b="1" dirty="0">
                  <a:ln/>
                  <a:solidFill>
                    <a:schemeClr val="tx1"/>
                  </a:solidFill>
                  <a:effectLst>
                    <a:outerShdw blurRad="38100" dist="19050" dir="2700000" algn="tl" rotWithShape="0">
                      <a:schemeClr val="dk1">
                        <a:alpha val="40000"/>
                      </a:schemeClr>
                    </a:outerShdw>
                  </a:effectLst>
                </a:rPr>
                <a:t>3. Who Reports : </a:t>
              </a:r>
              <a:r>
                <a:rPr lang="en-IN" sz="1800" dirty="0">
                  <a:ln/>
                  <a:solidFill>
                    <a:schemeClr val="tx1"/>
                  </a:solidFill>
                  <a:effectLst>
                    <a:outerShdw blurRad="38100" dist="19050" dir="2700000" algn="tl" rotWithShape="0">
                      <a:schemeClr val="dk1">
                        <a:alpha val="40000"/>
                      </a:schemeClr>
                    </a:outerShdw>
                  </a:effectLst>
                </a:rPr>
                <a:t>Exchange or broker reports automatically.</a:t>
              </a:r>
              <a:endParaRPr lang="en-IN" sz="1800" dirty="0">
                <a:ln/>
                <a:solidFill>
                  <a:schemeClr val="tx1"/>
                </a:solidFill>
                <a:effectLst>
                  <a:outerShdw blurRad="38100" dist="19050" dir="2700000" algn="tl" rotWithShape="0">
                    <a:schemeClr val="dk1">
                      <a:alpha val="40000"/>
                    </a:schemeClr>
                  </a:outerShdw>
                </a:effectLst>
              </a:endParaRPr>
            </a:p>
            <a:p>
              <a:endParaRPr lang="en-IN" b="1" dirty="0">
                <a:ln/>
                <a:solidFill>
                  <a:schemeClr val="tx1"/>
                </a:solidFill>
                <a:effectLst>
                  <a:outerShdw blurRad="38100" dist="19050" dir="2700000" algn="tl" rotWithShape="0">
                    <a:schemeClr val="dk1">
                      <a:alpha val="40000"/>
                    </a:schemeClr>
                  </a:outerShdw>
                </a:effectLst>
              </a:endParaRPr>
            </a:p>
            <a:p>
              <a:r>
                <a:rPr lang="en-IN" sz="1800" b="1" dirty="0">
                  <a:ln/>
                  <a:solidFill>
                    <a:schemeClr val="tx1"/>
                  </a:solidFill>
                  <a:effectLst>
                    <a:outerShdw blurRad="38100" dist="19050" dir="2700000" algn="tl" rotWithShape="0">
                      <a:schemeClr val="dk1">
                        <a:alpha val="40000"/>
                      </a:schemeClr>
                    </a:outerShdw>
                  </a:effectLst>
                </a:rPr>
                <a:t>4. Example</a:t>
              </a:r>
              <a:endParaRPr lang="en-IN" sz="1800" b="1" dirty="0">
                <a:ln/>
                <a:solidFill>
                  <a:schemeClr val="tx1"/>
                </a:solidFill>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Institutional Investor buys 100000 shares of Reliance on NSE at ₹1,500:</a:t>
              </a:r>
              <a:endParaRPr lang="en-IN" sz="1800" dirty="0">
                <a:ln/>
                <a:solidFill>
                  <a:schemeClr val="tx1"/>
                </a:solidFill>
                <a:effectLst>
                  <a:outerShdw blurRad="38100" dist="19050" dir="2700000" algn="tl" rotWithShape="0">
                    <a:schemeClr val="dk1">
                      <a:alpha val="40000"/>
                    </a:schemeClr>
                  </a:outerShdw>
                </a:effectLst>
              </a:endParaRPr>
            </a:p>
            <a:p>
              <a:pPr marL="285750" lvl="1"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Exchange automatically reports trade details (instrument, price, quantity, timestamp) to regulators.</a:t>
              </a:r>
              <a:endParaRPr lang="en-IN" sz="1800" dirty="0">
                <a:ln/>
                <a:solidFill>
                  <a:schemeClr val="tx1"/>
                </a:solidFill>
                <a:effectLst>
                  <a:outerShdw blurRad="38100" dist="19050" dir="2700000" algn="tl" rotWithShape="0">
                    <a:schemeClr val="dk1">
                      <a:alpha val="40000"/>
                    </a:schemeClr>
                  </a:outerShdw>
                </a:effectLst>
              </a:endParaRPr>
            </a:p>
            <a:p>
              <a:pPr marL="285750" lvl="1" indent="-285750">
                <a:buFont typeface="Arial" panose="020B0604020202020204" pitchFamily="34" charset="0"/>
                <a:buChar char="•"/>
              </a:pPr>
              <a:r>
                <a:rPr lang="en-IN" sz="1800" dirty="0">
                  <a:ln/>
                  <a:solidFill>
                    <a:schemeClr val="tx1"/>
                  </a:solidFill>
                  <a:effectLst>
                    <a:outerShdw blurRad="38100" dist="19050" dir="2700000" algn="tl" rotWithShape="0">
                      <a:schemeClr val="dk1">
                        <a:alpha val="40000"/>
                      </a:schemeClr>
                    </a:outerShdw>
                  </a:effectLst>
                </a:rPr>
                <a:t>Market participants see price and volume for transparency</a:t>
              </a:r>
              <a:endParaRPr lang="en-IN" sz="1800" dirty="0">
                <a:ln/>
                <a:solidFill>
                  <a:schemeClr val="tx1"/>
                </a:solidFill>
                <a:effectLst>
                  <a:outerShdw blurRad="38100" dist="19050" dir="2700000" algn="tl" rotWithShape="0">
                    <a:schemeClr val="dk1">
                      <a:alpha val="40000"/>
                    </a:schemeClr>
                  </a:outerShdw>
                </a:effectLst>
              </a:endParaRPr>
            </a:p>
            <a:p>
              <a:endParaRPr lang="en-IN" sz="1800" dirty="0">
                <a:solidFill>
                  <a:srgbClr val="7030A0"/>
                </a:solidFill>
              </a:endParaRPr>
            </a:p>
            <a:p>
              <a:endParaRPr lang="en-IN" sz="1800" dirty="0">
                <a:solidFill>
                  <a:srgbClr val="7030A0"/>
                </a:solidFill>
              </a:endParaRPr>
            </a:p>
          </p:txBody>
        </p:sp>
        <p:sp>
          <p:nvSpPr>
            <p:cNvPr id="486" name="Google Shape;486;p38"/>
            <p:cNvSpPr/>
            <p:nvPr/>
          </p:nvSpPr>
          <p:spPr>
            <a:xfrm>
              <a:off x="695787" y="1381126"/>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87" name="Google Shape;487;p38"/>
            <p:cNvSpPr/>
            <p:nvPr/>
          </p:nvSpPr>
          <p:spPr>
            <a:xfrm rot="10800000">
              <a:off x="10544611" y="5363867"/>
              <a:ext cx="1142996" cy="1026750"/>
            </a:xfrm>
            <a:prstGeom prst="halfFrame">
              <a:avLst>
                <a:gd name="adj1" fmla="val 14539"/>
                <a:gd name="adj2" fmla="val 12866"/>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39"/>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CAPTURE</a:t>
            </a:r>
            <a:endParaRPr lang="en-US" b="1"/>
          </a:p>
        </p:txBody>
      </p:sp>
      <p:grpSp>
        <p:nvGrpSpPr>
          <p:cNvPr id="493" name="Google Shape;493;p39"/>
          <p:cNvGrpSpPr/>
          <p:nvPr/>
        </p:nvGrpSpPr>
        <p:grpSpPr>
          <a:xfrm>
            <a:off x="700550" y="1143000"/>
            <a:ext cx="11010900" cy="4992558"/>
            <a:chOff x="700550" y="1207958"/>
            <a:chExt cx="11010900" cy="5029200"/>
          </a:xfrm>
        </p:grpSpPr>
        <p:sp>
          <p:nvSpPr>
            <p:cNvPr id="494" name="Google Shape;494;p39"/>
            <p:cNvSpPr/>
            <p:nvPr/>
          </p:nvSpPr>
          <p:spPr>
            <a:xfrm>
              <a:off x="700550" y="1207958"/>
              <a:ext cx="1371600" cy="5029200"/>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95" name="Google Shape;495;p39"/>
            <p:cNvSpPr/>
            <p:nvPr/>
          </p:nvSpPr>
          <p:spPr>
            <a:xfrm>
              <a:off x="869329" y="1314780"/>
              <a:ext cx="10842121" cy="4819828"/>
            </a:xfrm>
            <a:prstGeom prst="roundRect">
              <a:avLst>
                <a:gd name="adj" fmla="val 5282"/>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96" name="Google Shape;496;p39"/>
            <p:cNvSpPr txBox="1"/>
            <p:nvPr/>
          </p:nvSpPr>
          <p:spPr>
            <a:xfrm>
              <a:off x="1054215" y="1436785"/>
              <a:ext cx="10437235" cy="4444470"/>
            </a:xfrm>
            <a:prstGeom prst="rect">
              <a:avLst/>
            </a:prstGeom>
            <a:noFill/>
            <a:ln>
              <a:noFill/>
            </a:ln>
          </p:spPr>
          <p:txBody>
            <a:bodyPr spcFirstLastPara="1" wrap="square" lIns="0" tIns="12700" rIns="0" bIns="0" anchor="ctr" anchorCtr="0">
              <a:noAutofit/>
            </a:bodyPr>
            <a:lstStyle/>
            <a:p>
              <a:pPr marL="285750" marR="0" lvl="0" indent="-285750" algn="l" rtl="0">
                <a:lnSpc>
                  <a:spcPct val="100000"/>
                </a:lnSpc>
                <a:spcBef>
                  <a:spcPts val="1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Trade capture is a process to book a transaction into a front-office trading system, such as inputting all trade details in the official book of record system, linking all reference data, and calculating profit and loss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successful capture of a trade within a trading system should result in the trade details being sent to the middle office immediately</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2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trading system should perform validation that all necessary components of a trade are present, before assigning a trade reference to the trade.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00000"/>
                </a:lnSpc>
                <a:spcBef>
                  <a:spcPts val="200"/>
                </a:spcBef>
                <a:spcAft>
                  <a:spcPts val="0"/>
                </a:spcAft>
                <a:buClr>
                  <a:schemeClr val="dk1"/>
                </a:buClr>
                <a:buSzPts val="1700"/>
                <a:buFont typeface="Courier New" panose="02070309020205020404"/>
                <a:buChar char="o"/>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ORDER MANAGEMENT SYSTEM </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00000"/>
                </a:lnSpc>
                <a:spcBef>
                  <a:spcPts val="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Trading book • Trade date • Trade time • Value date • Operation • Quantity • Security • Price • Counterparty</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00000"/>
                </a:lnSpc>
                <a:spcBef>
                  <a:spcPts val="200"/>
                </a:spcBef>
                <a:spcAft>
                  <a:spcPts val="0"/>
                </a:spcAft>
                <a:buClr>
                  <a:schemeClr val="dk1"/>
                </a:buClr>
                <a:buSzPts val="1700"/>
                <a:buFont typeface="Courier New" panose="02070309020205020404"/>
                <a:buChar char="o"/>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RISK MANAGEMENT SYSTEM</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00000"/>
                </a:lnSpc>
                <a:spcBef>
                  <a:spcPts val="200"/>
                </a:spcBef>
                <a:spcAft>
                  <a:spcPts val="10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Update the trading position for the specific security (typically within a trading book), so that factual trading position is reflected in the trader's records. • Update the average price of the current trading position so that when the next trade is executed, the trader or market maker knows whether a trading profit or loss will be made.</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40"/>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CAPTURE  - TRADE TICKET</a:t>
            </a:r>
            <a:endParaRPr lang="en-US" b="1"/>
          </a:p>
        </p:txBody>
      </p:sp>
      <p:pic>
        <p:nvPicPr>
          <p:cNvPr id="502" name="Google Shape;502;p40"/>
          <p:cNvPicPr preferRelativeResize="0"/>
          <p:nvPr/>
        </p:nvPicPr>
        <p:blipFill rotWithShape="1">
          <a:blip r:embed="rId1"/>
          <a:srcRect/>
          <a:stretch>
            <a:fillRect/>
          </a:stretch>
        </p:blipFill>
        <p:spPr>
          <a:xfrm>
            <a:off x="1672100" y="1774345"/>
            <a:ext cx="4286250" cy="3619500"/>
          </a:xfrm>
          <a:prstGeom prst="rect">
            <a:avLst/>
          </a:prstGeom>
          <a:noFill/>
          <a:ln>
            <a:noFill/>
          </a:ln>
          <a:effectLst>
            <a:outerShdw blurRad="63500" sx="102000" sy="102000" algn="ctr" rotWithShape="0">
              <a:srgbClr val="000000">
                <a:alpha val="40000"/>
              </a:srgbClr>
            </a:outerShdw>
          </a:effectLst>
        </p:spPr>
      </p:pic>
      <p:pic>
        <p:nvPicPr>
          <p:cNvPr id="503" name="Google Shape;503;p40"/>
          <p:cNvPicPr preferRelativeResize="0"/>
          <p:nvPr/>
        </p:nvPicPr>
        <p:blipFill rotWithShape="1">
          <a:blip r:embed="rId2"/>
          <a:srcRect/>
          <a:stretch>
            <a:fillRect/>
          </a:stretch>
        </p:blipFill>
        <p:spPr>
          <a:xfrm>
            <a:off x="6048839" y="3141751"/>
            <a:ext cx="4314825" cy="2286000"/>
          </a:xfrm>
          <a:prstGeom prst="rect">
            <a:avLst/>
          </a:prstGeom>
          <a:noFill/>
          <a:ln>
            <a:noFill/>
          </a:ln>
          <a:effectLst>
            <a:outerShdw blurRad="63500" sx="102000" sy="102000" algn="ctr" rotWithShape="0">
              <a:srgbClr val="000000">
                <a:alpha val="40000"/>
              </a:srgbClr>
            </a:outerShdw>
          </a:effectLst>
        </p:spPr>
      </p:pic>
      <p:sp>
        <p:nvSpPr>
          <p:cNvPr id="504" name="Google Shape;504;p40"/>
          <p:cNvSpPr txBox="1"/>
          <p:nvPr/>
        </p:nvSpPr>
        <p:spPr>
          <a:xfrm>
            <a:off x="6077962" y="1789605"/>
            <a:ext cx="4285702" cy="131725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600"/>
              <a:buFont typeface="Arial" panose="020B0604020202020204"/>
              <a:buNone/>
            </a:pPr>
            <a:r>
              <a:rPr lang="en-US" sz="1600" b="0" i="0" u="none" strike="noStrike" cap="none">
                <a:solidFill>
                  <a:srgbClr val="3D3B49"/>
                </a:solidFill>
                <a:highlight>
                  <a:srgbClr val="FFFFFF"/>
                </a:highlight>
                <a:latin typeface="Arial" panose="020B0604020202020204"/>
                <a:ea typeface="Arial" panose="020B0604020202020204"/>
                <a:cs typeface="Arial" panose="020B0604020202020204"/>
                <a:sym typeface="Arial" panose="020B0604020202020204"/>
              </a:rPr>
              <a:t>The information contained in the dealing sheet will be submitted to the Middle Office either electronically or manually using a trade ticket. Illustrates an example of a trade ticket</a:t>
            </a:r>
            <a:endParaRPr sz="1600" b="0" i="0" u="none" strike="noStrike" cap="none">
              <a:solidFill>
                <a:srgbClr val="3D3B49"/>
              </a:solidFill>
              <a:highlight>
                <a:srgbClr val="FFFFFF"/>
              </a:highlight>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ENRICHMENT</a:t>
            </a:r>
            <a:endParaRPr lang="en-US" b="1"/>
          </a:p>
        </p:txBody>
      </p:sp>
      <p:grpSp>
        <p:nvGrpSpPr>
          <p:cNvPr id="511" name="Google Shape;511;p41"/>
          <p:cNvGrpSpPr/>
          <p:nvPr/>
        </p:nvGrpSpPr>
        <p:grpSpPr>
          <a:xfrm>
            <a:off x="700550" y="1143001"/>
            <a:ext cx="10996149" cy="4990708"/>
            <a:chOff x="700550" y="1345125"/>
            <a:chExt cx="10996149" cy="4829223"/>
          </a:xfrm>
        </p:grpSpPr>
        <p:sp>
          <p:nvSpPr>
            <p:cNvPr id="512" name="Google Shape;512;p41"/>
            <p:cNvSpPr/>
            <p:nvPr/>
          </p:nvSpPr>
          <p:spPr>
            <a:xfrm>
              <a:off x="700550" y="1597115"/>
              <a:ext cx="10727158" cy="457723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13" name="Google Shape;513;p41"/>
            <p:cNvSpPr/>
            <p:nvPr/>
          </p:nvSpPr>
          <p:spPr>
            <a:xfrm>
              <a:off x="969541" y="1345125"/>
              <a:ext cx="10727158" cy="4568519"/>
            </a:xfrm>
            <a:prstGeom prst="rect">
              <a:avLst/>
            </a:prstGeom>
            <a:solidFill>
              <a:schemeClr val="lt1"/>
            </a:solidFill>
            <a:ln w="31750" cap="flat" cmpd="sng">
              <a:solidFill>
                <a:schemeClr val="accent4"/>
              </a:solidFill>
              <a:prstDash val="solid"/>
              <a:miter lim="800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14" name="Google Shape;514;p41"/>
            <p:cNvSpPr txBox="1"/>
            <p:nvPr/>
          </p:nvSpPr>
          <p:spPr>
            <a:xfrm>
              <a:off x="1215430" y="1468536"/>
              <a:ext cx="10235381" cy="4321696"/>
            </a:xfrm>
            <a:prstGeom prst="rect">
              <a:avLst/>
            </a:prstGeom>
            <a:noFill/>
            <a:ln>
              <a:noFill/>
            </a:ln>
          </p:spPr>
          <p:txBody>
            <a:bodyPr spcFirstLastPara="1" wrap="square" lIns="0" tIns="12700" rIns="0" bIns="0" anchor="t" anchorCtr="0">
              <a:noAutofit/>
            </a:bodyPr>
            <a:lstStyle/>
            <a:p>
              <a:pPr marL="228600" marR="0" lvl="0" indent="-228600" algn="l" rtl="0">
                <a:lnSpc>
                  <a:spcPct val="150000"/>
                </a:lnSpc>
                <a:spcBef>
                  <a:spcPts val="6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Trade enrichment is achieved through defaulting relevant information automatically from the store of information within static data is commonly known as Data Defaulting.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50000"/>
                </a:lnSpc>
                <a:spcBef>
                  <a:spcPts val="12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Trade Enrichment Factors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Cash values defaults – Trade Figuration</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Custodian defaults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SSI defaults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Trade confirmation defaults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60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Transaction reporting defaults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2"/>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ENRICHMENT</a:t>
            </a:r>
            <a:endParaRPr lang="en-US" b="1"/>
          </a:p>
        </p:txBody>
      </p:sp>
      <p:pic>
        <p:nvPicPr>
          <p:cNvPr id="521" name="Google Shape;521;p42"/>
          <p:cNvPicPr preferRelativeResize="0"/>
          <p:nvPr/>
        </p:nvPicPr>
        <p:blipFill rotWithShape="1">
          <a:blip r:embed="rId1"/>
          <a:srcRect b="5117"/>
          <a:stretch>
            <a:fillRect/>
          </a:stretch>
        </p:blipFill>
        <p:spPr>
          <a:xfrm>
            <a:off x="1454150" y="1270612"/>
            <a:ext cx="9283700" cy="4740396"/>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43"/>
          <p:cNvSpPr txBox="1">
            <a:spLocks noGrp="1"/>
          </p:cNvSpPr>
          <p:nvPr>
            <p:ph type="title"/>
          </p:nvPr>
        </p:nvSpPr>
        <p:spPr>
          <a:xfrm>
            <a:off x="700550" y="404869"/>
            <a:ext cx="6887212"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ENRICHMENT - CASH VALUES DEFAULTS – TRADE FIGURATION </a:t>
            </a:r>
            <a:endParaRPr lang="en-US" b="1"/>
          </a:p>
        </p:txBody>
      </p:sp>
      <p:grpSp>
        <p:nvGrpSpPr>
          <p:cNvPr id="528" name="Google Shape;528;p43"/>
          <p:cNvGrpSpPr/>
          <p:nvPr/>
        </p:nvGrpSpPr>
        <p:grpSpPr>
          <a:xfrm>
            <a:off x="700550" y="1143001"/>
            <a:ext cx="10996149" cy="4990708"/>
            <a:chOff x="700550" y="1345125"/>
            <a:chExt cx="10996149" cy="4829223"/>
          </a:xfrm>
        </p:grpSpPr>
        <p:sp>
          <p:nvSpPr>
            <p:cNvPr id="529" name="Google Shape;529;p43"/>
            <p:cNvSpPr/>
            <p:nvPr/>
          </p:nvSpPr>
          <p:spPr>
            <a:xfrm>
              <a:off x="700550" y="1597115"/>
              <a:ext cx="10727158" cy="457723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30" name="Google Shape;530;p43"/>
            <p:cNvSpPr/>
            <p:nvPr/>
          </p:nvSpPr>
          <p:spPr>
            <a:xfrm>
              <a:off x="969541" y="1345125"/>
              <a:ext cx="10727158" cy="4568519"/>
            </a:xfrm>
            <a:prstGeom prst="rect">
              <a:avLst/>
            </a:prstGeom>
            <a:solidFill>
              <a:schemeClr val="lt1"/>
            </a:solidFill>
            <a:ln w="31750" cap="flat" cmpd="sng">
              <a:solidFill>
                <a:schemeClr val="accent4"/>
              </a:solidFill>
              <a:prstDash val="solid"/>
              <a:miter lim="800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31" name="Google Shape;531;p43"/>
            <p:cNvSpPr txBox="1"/>
            <p:nvPr/>
          </p:nvSpPr>
          <p:spPr>
            <a:xfrm>
              <a:off x="1215430" y="1468536"/>
              <a:ext cx="10235381" cy="4321696"/>
            </a:xfrm>
            <a:prstGeom prst="rect">
              <a:avLst/>
            </a:prstGeom>
            <a:noFill/>
            <a:ln>
              <a:noFill/>
            </a:ln>
          </p:spPr>
          <p:txBody>
            <a:bodyPr spcFirstLastPara="1" wrap="square" lIns="0" tIns="12700" rIns="0" bIns="0" anchor="t" anchorCtr="0">
              <a:noAutofit/>
            </a:bodyPr>
            <a:lstStyle/>
            <a:p>
              <a:pPr marL="285750" marR="0" lvl="0" indent="-285750" algn="l" rtl="0">
                <a:lnSpc>
                  <a:spcPct val="150000"/>
                </a:lnSpc>
                <a:spcBef>
                  <a:spcPts val="6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Trade figuration means calculating trade cash values. It involves the determination of the net amount (NSV) of a securities transaction.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Accrued Interest - Accrued interest is applicable on straight bonds, but not on zero coupon bonds.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Client purchases of UK equity attract stamp duty, but sales do not.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Only sellers of US equity are required to pay a Securities &amp; Exchange Commission fee.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60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Stamp duty is payable on Irish equities, but not on Japanese equities.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44"/>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ENRICHMENT - SSI DEFAULTS</a:t>
            </a:r>
            <a:endParaRPr lang="en-US" b="1"/>
          </a:p>
        </p:txBody>
      </p:sp>
      <p:grpSp>
        <p:nvGrpSpPr>
          <p:cNvPr id="538" name="Google Shape;538;p44"/>
          <p:cNvGrpSpPr/>
          <p:nvPr/>
        </p:nvGrpSpPr>
        <p:grpSpPr>
          <a:xfrm>
            <a:off x="700550" y="1143001"/>
            <a:ext cx="10996149" cy="4990708"/>
            <a:chOff x="700550" y="1345125"/>
            <a:chExt cx="10996149" cy="4829223"/>
          </a:xfrm>
        </p:grpSpPr>
        <p:sp>
          <p:nvSpPr>
            <p:cNvPr id="539" name="Google Shape;539;p44"/>
            <p:cNvSpPr/>
            <p:nvPr/>
          </p:nvSpPr>
          <p:spPr>
            <a:xfrm>
              <a:off x="700550" y="1597115"/>
              <a:ext cx="10727158" cy="457723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40" name="Google Shape;540;p44"/>
            <p:cNvSpPr/>
            <p:nvPr/>
          </p:nvSpPr>
          <p:spPr>
            <a:xfrm>
              <a:off x="969541" y="1345125"/>
              <a:ext cx="10727158" cy="4568519"/>
            </a:xfrm>
            <a:prstGeom prst="rect">
              <a:avLst/>
            </a:prstGeom>
            <a:solidFill>
              <a:schemeClr val="lt1"/>
            </a:solidFill>
            <a:ln w="31750" cap="flat" cmpd="sng">
              <a:solidFill>
                <a:schemeClr val="accent4"/>
              </a:solidFill>
              <a:prstDash val="solid"/>
              <a:miter lim="800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41" name="Google Shape;541;p44"/>
            <p:cNvSpPr txBox="1"/>
            <p:nvPr/>
          </p:nvSpPr>
          <p:spPr>
            <a:xfrm>
              <a:off x="1215430" y="1468536"/>
              <a:ext cx="10235381" cy="4321696"/>
            </a:xfrm>
            <a:prstGeom prst="rect">
              <a:avLst/>
            </a:prstGeom>
            <a:noFill/>
            <a:ln>
              <a:noFill/>
            </a:ln>
          </p:spPr>
          <p:txBody>
            <a:bodyPr spcFirstLastPara="1" wrap="square" lIns="0" tIns="12700" rIns="0" bIns="0" anchor="t" anchorCtr="0">
              <a:noAutofit/>
            </a:bodyPr>
            <a:lstStyle/>
            <a:p>
              <a:pPr marL="285750" marR="0" lvl="0" indent="-285750" algn="l" rtl="0">
                <a:lnSpc>
                  <a:spcPct val="150000"/>
                </a:lnSpc>
                <a:spcBef>
                  <a:spcPts val="6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Standard Settlement Instructions (SSIs) specify how a trade is to be settled. SSIs are added to trading accounts based on requests from Middle/Back Office.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below fields are important for the process of adding SSIs to an account: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Place of Settlement  - Custodian / Depository</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Currency of Settlement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Delivering Agent - Nostro and Depot Account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60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Receiving Agent - Nostro and Depot Account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5"/>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ENRICHMENT - SSI DEFAULTS</a:t>
            </a:r>
            <a:endParaRPr lang="en-US" b="1"/>
          </a:p>
        </p:txBody>
      </p:sp>
      <p:grpSp>
        <p:nvGrpSpPr>
          <p:cNvPr id="548" name="Google Shape;548;p45"/>
          <p:cNvGrpSpPr/>
          <p:nvPr/>
        </p:nvGrpSpPr>
        <p:grpSpPr>
          <a:xfrm>
            <a:off x="700550" y="1143001"/>
            <a:ext cx="10996149" cy="4990708"/>
            <a:chOff x="700550" y="1345125"/>
            <a:chExt cx="10996149" cy="4829223"/>
          </a:xfrm>
        </p:grpSpPr>
        <p:sp>
          <p:nvSpPr>
            <p:cNvPr id="549" name="Google Shape;549;p45"/>
            <p:cNvSpPr/>
            <p:nvPr/>
          </p:nvSpPr>
          <p:spPr>
            <a:xfrm>
              <a:off x="700550" y="1597115"/>
              <a:ext cx="10727158" cy="457723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50" name="Google Shape;550;p45"/>
            <p:cNvSpPr/>
            <p:nvPr/>
          </p:nvSpPr>
          <p:spPr>
            <a:xfrm>
              <a:off x="969541" y="1345125"/>
              <a:ext cx="10727158" cy="4568519"/>
            </a:xfrm>
            <a:prstGeom prst="rect">
              <a:avLst/>
            </a:prstGeom>
            <a:solidFill>
              <a:schemeClr val="lt1"/>
            </a:solidFill>
            <a:ln w="31750" cap="flat" cmpd="sng">
              <a:solidFill>
                <a:schemeClr val="accent4"/>
              </a:solidFill>
              <a:prstDash val="solid"/>
              <a:miter lim="800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551" name="Google Shape;551;p45"/>
            <p:cNvSpPr txBox="1"/>
            <p:nvPr/>
          </p:nvSpPr>
          <p:spPr>
            <a:xfrm>
              <a:off x="1215430" y="1468536"/>
              <a:ext cx="10235381" cy="4321696"/>
            </a:xfrm>
            <a:prstGeom prst="rect">
              <a:avLst/>
            </a:prstGeom>
            <a:noFill/>
            <a:ln>
              <a:noFill/>
            </a:ln>
          </p:spPr>
          <p:txBody>
            <a:bodyPr spcFirstLastPara="1" wrap="square" lIns="0" tIns="12700" rIns="0" bIns="0" anchor="t" anchorCtr="0">
              <a:noAutofit/>
            </a:bodyPr>
            <a:lstStyle/>
            <a:p>
              <a:pPr marL="285750" marR="0" lvl="0" indent="-285750" algn="l" rtl="0">
                <a:lnSpc>
                  <a:spcPct val="150000"/>
                </a:lnSpc>
                <a:spcBef>
                  <a:spcPts val="6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Settlement instructions need to be send to custodian or depository immediately once the trade comes from Front office to Middle office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Clr>
                  <a:schemeClr val="dk1"/>
                </a:buClr>
                <a:buSzPts val="17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S</a:t>
              </a:r>
              <a:r>
                <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tandard Settlement Instructions (SSI) </a:t>
              </a: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Defaults added - </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Custodian may have a preferred (but different) method of transmission.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For instance: company A may choose to transmit via telex, whereas company B may choose to transmit via S.W.I.F.T.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600"/>
                </a:spcAft>
                <a:buClr>
                  <a:schemeClr val="dk1"/>
                </a:buClr>
                <a:buSzPts val="17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For example: custodian X may require all settlement instructions to be transmitted via a specific S.W.I.F.T. message type, whereas custodian Y may require the transmission of all such instructions via a different S.W.I.F.T. message.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VALIDATION</a:t>
            </a:r>
            <a:endParaRPr lang="en-US" b="1"/>
          </a:p>
        </p:txBody>
      </p:sp>
      <p:grpSp>
        <p:nvGrpSpPr>
          <p:cNvPr id="557" name="Google Shape;557;p46"/>
          <p:cNvGrpSpPr/>
          <p:nvPr/>
        </p:nvGrpSpPr>
        <p:grpSpPr>
          <a:xfrm>
            <a:off x="685801" y="1143000"/>
            <a:ext cx="11010900" cy="4991100"/>
            <a:chOff x="882503" y="1488558"/>
            <a:chExt cx="10654709" cy="3880884"/>
          </a:xfrm>
        </p:grpSpPr>
        <p:sp>
          <p:nvSpPr>
            <p:cNvPr id="558" name="Google Shape;558;p46"/>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59" name="Google Shape;559;p46"/>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STOs adopt a final check of the data contained within a fully enriched trade, in order to reduce the possibility of erroneous information being sent to the outside world. This activity is known as trade validation, a mechanism to reduce risk and remain in control. Unless an STO performs validation of trade information at this stage of the trade lifecycle, there is a risk that: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Timely and accurate servicing of clients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75945" marR="0" lvl="0" indent="-285750" algn="l" rtl="0">
                <a:lnSpc>
                  <a:spcPct val="150000"/>
                </a:lnSpc>
                <a:spcBef>
                  <a:spcPts val="1200"/>
                </a:spcBef>
                <a:spcAft>
                  <a:spcPts val="0"/>
                </a:spcAft>
                <a:buClr>
                  <a:schemeClr val="dk1"/>
                </a:buClr>
                <a:buSzPts val="1700"/>
                <a:buFont typeface="Courier New" panose="02070309020205020404"/>
                <a:buChar char="o"/>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Avoidance of operational risk and cost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47"/>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VALIDATION</a:t>
            </a:r>
            <a:endParaRPr lang="en-US" b="1"/>
          </a:p>
        </p:txBody>
      </p:sp>
      <p:grpSp>
        <p:nvGrpSpPr>
          <p:cNvPr id="565" name="Google Shape;565;p47"/>
          <p:cNvGrpSpPr/>
          <p:nvPr/>
        </p:nvGrpSpPr>
        <p:grpSpPr>
          <a:xfrm>
            <a:off x="685801" y="1143000"/>
            <a:ext cx="11010900" cy="4991100"/>
            <a:chOff x="882503" y="1488558"/>
            <a:chExt cx="10654709" cy="3880884"/>
          </a:xfrm>
        </p:grpSpPr>
        <p:sp>
          <p:nvSpPr>
            <p:cNvPr id="566" name="Google Shape;566;p47"/>
            <p:cNvSpPr/>
            <p:nvPr/>
          </p:nvSpPr>
          <p:spPr>
            <a:xfrm>
              <a:off x="882503" y="1488558"/>
              <a:ext cx="10654709" cy="3742661"/>
            </a:xfrm>
            <a:prstGeom prst="snipRoundRect">
              <a:avLst>
                <a:gd name="adj1" fmla="val 9849"/>
                <a:gd name="adj2" fmla="val 9281"/>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67" name="Google Shape;567;p47"/>
            <p:cNvSpPr/>
            <p:nvPr/>
          </p:nvSpPr>
          <p:spPr>
            <a:xfrm>
              <a:off x="882504" y="1626781"/>
              <a:ext cx="10515598" cy="3742661"/>
            </a:xfrm>
            <a:prstGeom prst="snipRoundRect">
              <a:avLst>
                <a:gd name="adj1" fmla="val 9849"/>
                <a:gd name="adj2" fmla="val 9281"/>
              </a:avLst>
            </a:prstGeom>
            <a:solidFill>
              <a:srgbClr val="F2F2F2"/>
            </a:solid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Relevant Rules set in the Data Management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graphicFrame>
        <p:nvGraphicFramePr>
          <p:cNvPr id="568" name="Google Shape;568;p47"/>
          <p:cNvGraphicFramePr/>
          <p:nvPr/>
        </p:nvGraphicFramePr>
        <p:xfrm>
          <a:off x="1241455" y="2060188"/>
          <a:ext cx="9819300" cy="4032170"/>
        </p:xfrm>
        <a:graphic>
          <a:graphicData uri="http://schemas.openxmlformats.org/drawingml/2006/table">
            <a:tbl>
              <a:tblPr>
                <a:noFill/>
                <a:tableStyleId>{C3765B2D-32B6-42A5-93F9-9FE912245E7B}</a:tableStyleId>
              </a:tblPr>
              <a:tblGrid>
                <a:gridCol w="2454825"/>
                <a:gridCol w="2454825"/>
                <a:gridCol w="2454825"/>
                <a:gridCol w="2454825"/>
              </a:tblGrid>
              <a:tr h="24862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lt1"/>
                          </a:solidFill>
                          <a:latin typeface="Arial" panose="020B0604020202020204"/>
                          <a:ea typeface="Arial" panose="020B0604020202020204"/>
                          <a:cs typeface="Arial" panose="020B0604020202020204"/>
                          <a:sym typeface="Arial" panose="020B0604020202020204"/>
                        </a:rPr>
                        <a:t>Components</a:t>
                      </a:r>
                      <a:endParaRPr sz="1400" u="none" strike="noStrike" cap="none">
                        <a:solidFill>
                          <a:schemeClr val="lt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accent3"/>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u="none" strike="noStrike" cap="none">
                          <a:solidFill>
                            <a:schemeClr val="lt1"/>
                          </a:solidFill>
                          <a:latin typeface="Arial" panose="020B0604020202020204"/>
                          <a:ea typeface="Arial" panose="020B0604020202020204"/>
                          <a:cs typeface="Arial" panose="020B0604020202020204"/>
                          <a:sym typeface="Arial" panose="020B0604020202020204"/>
                        </a:rPr>
                        <a:t>Rules</a:t>
                      </a:r>
                      <a:endParaRPr sz="1400" u="none" strike="noStrike" cap="none">
                        <a:solidFill>
                          <a:schemeClr val="lt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accent3"/>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lt1"/>
                          </a:solidFill>
                          <a:latin typeface="Arial" panose="020B0604020202020204"/>
                          <a:ea typeface="Arial" panose="020B0604020202020204"/>
                          <a:cs typeface="Arial" panose="020B0604020202020204"/>
                          <a:sym typeface="Arial" panose="020B0604020202020204"/>
                        </a:rPr>
                        <a:t>Components</a:t>
                      </a:r>
                      <a:endParaRPr sz="1400" u="none" strike="noStrike" cap="none">
                        <a:solidFill>
                          <a:schemeClr val="lt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accent3"/>
                    </a:solidFill>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u="none" strike="noStrike" cap="none">
                          <a:solidFill>
                            <a:schemeClr val="lt1"/>
                          </a:solidFill>
                          <a:latin typeface="Arial" panose="020B0604020202020204"/>
                          <a:ea typeface="Arial" panose="020B0604020202020204"/>
                          <a:cs typeface="Arial" panose="020B0604020202020204"/>
                          <a:sym typeface="Arial" panose="020B0604020202020204"/>
                        </a:rPr>
                        <a:t>Rules</a:t>
                      </a:r>
                      <a:endParaRPr sz="1400" u="none" strike="noStrike" cap="none">
                        <a:solidFill>
                          <a:schemeClr val="lt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accent3"/>
                    </a:solidFill>
                  </a:tcPr>
                </a:tc>
              </a:tr>
              <a:tr h="5967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Trading Book</a:t>
                      </a:r>
                      <a:endParaRPr sz="1400" b="1"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may be restricted to specific traders</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Price</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bond price must be either a percentage relevant to face value or a yield.</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42267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Trade date</a:t>
                      </a:r>
                      <a:endParaRPr sz="1400" b="1"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u="none" strike="noStrike" cap="none">
                          <a:latin typeface="Arial" panose="020B0604020202020204"/>
                          <a:ea typeface="Arial" panose="020B0604020202020204"/>
                          <a:cs typeface="Arial" panose="020B0604020202020204"/>
                          <a:sym typeface="Arial" panose="020B0604020202020204"/>
                        </a:rPr>
                        <a:t>should be ‘today’ for a new trade</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Counterparty</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u="none" strike="noStrike" cap="none">
                          <a:latin typeface="Arial" panose="020B0604020202020204"/>
                          <a:ea typeface="Arial" panose="020B0604020202020204"/>
                          <a:cs typeface="Arial" panose="020B0604020202020204"/>
                          <a:sym typeface="Arial" panose="020B0604020202020204"/>
                        </a:rPr>
                        <a:t>must include location of counterparty.</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7707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Trade time</a:t>
                      </a:r>
                      <a:endParaRPr sz="1400" b="1"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cannot be in the future.</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Trade Cash Value</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must be quantity x price (unit or percentage) plus or minus other costs such as stamp where relevant</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77075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Value date</a:t>
                      </a:r>
                      <a:endParaRPr sz="1400" b="1"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is normally the standard settlement cycle for the security group (e.g. T+</a:t>
                      </a:r>
                      <a:r>
                        <a:rPr lang="en-IN" altLang="en-US" sz="1200" i="0" u="none" strike="noStrike" cap="none">
                          <a:solidFill>
                            <a:schemeClr val="dk1"/>
                          </a:solidFill>
                          <a:latin typeface="Arial" panose="020B0604020202020204"/>
                          <a:ea typeface="Arial" panose="020B0604020202020204"/>
                          <a:cs typeface="Arial" panose="020B0604020202020204"/>
                          <a:sym typeface="Arial" panose="020B0604020202020204"/>
                        </a:rPr>
                        <a:t>2</a:t>
                      </a: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 for</a:t>
                      </a:r>
                      <a:r>
                        <a:rPr lang="en-IN" altLang="en-US" sz="1200" i="0" u="none" strike="noStrike" cap="none">
                          <a:solidFill>
                            <a:schemeClr val="dk1"/>
                          </a:solidFill>
                          <a:latin typeface="Arial" panose="020B0604020202020204"/>
                          <a:ea typeface="Arial" panose="020B0604020202020204"/>
                          <a:cs typeface="Arial" panose="020B0604020202020204"/>
                          <a:sym typeface="Arial" panose="020B0604020202020204"/>
                        </a:rPr>
                        <a:t> Europe)</a:t>
                      </a:r>
                      <a:endParaRPr lang="en-IN" altLang="en-US" sz="1200"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Trade Confirmation</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should be sent to institutional clients</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596700">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Quantity</a:t>
                      </a:r>
                      <a:endParaRPr sz="1400" b="1"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must be multiples of the minimum denomination of a bond</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Company's and Counterparty 's Custodians</a:t>
                      </a: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must be relevant to the security group.</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248625">
                <a:tc>
                  <a:txBody>
                    <a:bodyPr/>
                    <a:lstStyle/>
                    <a:p>
                      <a:pPr marL="0" marR="0" lvl="0" indent="0" algn="l" rtl="0">
                        <a:lnSpc>
                          <a:spcPct val="100000"/>
                        </a:lnSpc>
                        <a:spcBef>
                          <a:spcPts val="0"/>
                        </a:spcBef>
                        <a:spcAft>
                          <a:spcPts val="0"/>
                        </a:spcAft>
                        <a:buClr>
                          <a:srgbClr val="000000"/>
                        </a:buClr>
                        <a:buSzPts val="18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Security</a:t>
                      </a:r>
                      <a:endParaRPr sz="1400" b="1"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Arial" panose="020B0604020202020204"/>
                        <a:buNone/>
                      </a:pPr>
                      <a:r>
                        <a:rPr lang="en-US" sz="1200" i="0" u="none" strike="noStrike" cap="none">
                          <a:solidFill>
                            <a:schemeClr val="dk1"/>
                          </a:solidFill>
                          <a:latin typeface="Arial" panose="020B0604020202020204"/>
                          <a:ea typeface="Arial" panose="020B0604020202020204"/>
                          <a:cs typeface="Arial" panose="020B0604020202020204"/>
                          <a:sym typeface="Arial" panose="020B0604020202020204"/>
                        </a:rPr>
                        <a:t>cannot be a matured bond</a:t>
                      </a:r>
                      <a:endParaRPr sz="1200" u="none" strike="noStrike" cap="none">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400" b="1"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200" i="0" u="none" strike="noStrike" cap="none">
                        <a:solidFill>
                          <a:schemeClr val="dk1"/>
                        </a:solidFill>
                        <a:latin typeface="Arial" panose="020B0604020202020204"/>
                        <a:ea typeface="Arial" panose="020B0604020202020204"/>
                        <a:cs typeface="Arial" panose="020B0604020202020204"/>
                        <a:sym typeface="Arial" panose="020B0604020202020204"/>
                      </a:endParaRPr>
                    </a:p>
                  </a:txBody>
                  <a:tcPr marL="91450" marR="91450" marT="45725" marB="457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48"/>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VERIFICATION</a:t>
            </a:r>
            <a:endParaRPr lang="en-US" b="1"/>
          </a:p>
        </p:txBody>
      </p:sp>
      <p:grpSp>
        <p:nvGrpSpPr>
          <p:cNvPr id="574" name="Google Shape;574;p48"/>
          <p:cNvGrpSpPr/>
          <p:nvPr/>
        </p:nvGrpSpPr>
        <p:grpSpPr>
          <a:xfrm>
            <a:off x="685800" y="1147131"/>
            <a:ext cx="11010900" cy="4986969"/>
            <a:chOff x="685800" y="1269051"/>
            <a:chExt cx="11010900" cy="5029199"/>
          </a:xfrm>
        </p:grpSpPr>
        <p:grpSp>
          <p:nvGrpSpPr>
            <p:cNvPr id="575" name="Google Shape;575;p48"/>
            <p:cNvGrpSpPr/>
            <p:nvPr/>
          </p:nvGrpSpPr>
          <p:grpSpPr>
            <a:xfrm>
              <a:off x="685800" y="1269051"/>
              <a:ext cx="11010900" cy="5029199"/>
              <a:chOff x="685800" y="1269051"/>
              <a:chExt cx="11010900" cy="5029199"/>
            </a:xfrm>
          </p:grpSpPr>
          <p:sp>
            <p:nvSpPr>
              <p:cNvPr id="576" name="Google Shape;576;p48"/>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77" name="Google Shape;577;p48"/>
              <p:cNvSpPr/>
              <p:nvPr/>
            </p:nvSpPr>
            <p:spPr>
              <a:xfrm>
                <a:off x="790308" y="126905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578" name="Google Shape;578;p48"/>
            <p:cNvSpPr txBox="1"/>
            <p:nvPr/>
          </p:nvSpPr>
          <p:spPr>
            <a:xfrm>
              <a:off x="1159247" y="2167528"/>
              <a:ext cx="10064007" cy="3129694"/>
            </a:xfrm>
            <a:prstGeom prst="rect">
              <a:avLst/>
            </a:prstGeom>
            <a:noFill/>
            <a:ln>
              <a:noFill/>
            </a:ln>
          </p:spPr>
          <p:txBody>
            <a:bodyPr spcFirstLastPara="1" wrap="square" lIns="91425" tIns="45700" rIns="91425" bIns="45700" anchor="ctr" anchorCtr="0">
              <a:spAutoFit/>
            </a:bodyPr>
            <a:lstStyle/>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Here the trade is compared with the Trade Sheet i.e. an email/excel file sent from Front Office to Middle Office. This step is done to ensure that the details that the Front Office has sent to the client and what is booked is correct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171450" algn="l" rtl="0">
                <a:lnSpc>
                  <a:spcPct val="150000"/>
                </a:lnSpc>
                <a:spcBef>
                  <a:spcPts val="120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This is the step Pre settlement reconciliation, done as part of the internal recon process.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Here we ensure that all the transaction booked in FO has passed in the middle office.</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49"/>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CONFIRMATION</a:t>
            </a:r>
            <a:endParaRPr lang="en-US" b="1"/>
          </a:p>
        </p:txBody>
      </p:sp>
      <p:grpSp>
        <p:nvGrpSpPr>
          <p:cNvPr id="584" name="Google Shape;584;p49"/>
          <p:cNvGrpSpPr/>
          <p:nvPr/>
        </p:nvGrpSpPr>
        <p:grpSpPr>
          <a:xfrm>
            <a:off x="685801" y="1143001"/>
            <a:ext cx="11012574" cy="4984750"/>
            <a:chOff x="786399" y="1388773"/>
            <a:chExt cx="10911975" cy="4840577"/>
          </a:xfrm>
        </p:grpSpPr>
        <p:grpSp>
          <p:nvGrpSpPr>
            <p:cNvPr id="585" name="Google Shape;585;p49"/>
            <p:cNvGrpSpPr/>
            <p:nvPr/>
          </p:nvGrpSpPr>
          <p:grpSpPr>
            <a:xfrm>
              <a:off x="786399" y="1601771"/>
              <a:ext cx="10911975" cy="4627579"/>
              <a:chOff x="786399" y="1601771"/>
              <a:chExt cx="10911975" cy="4525633"/>
            </a:xfrm>
          </p:grpSpPr>
          <p:sp>
            <p:nvSpPr>
              <p:cNvPr id="586" name="Google Shape;586;p49"/>
              <p:cNvSpPr/>
              <p:nvPr/>
            </p:nvSpPr>
            <p:spPr>
              <a:xfrm>
                <a:off x="1038289" y="1601771"/>
                <a:ext cx="10408196" cy="4525633"/>
              </a:xfrm>
              <a:prstGeom prst="rect">
                <a:avLst/>
              </a:prstGeom>
              <a:solidFill>
                <a:schemeClr val="lt1"/>
              </a:solidFill>
              <a:ln w="44450" cap="flat" cmpd="sng">
                <a:solidFill>
                  <a:srgbClr val="1E4E7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587" name="Google Shape;587;p49"/>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588" name="Google Shape;588;p49"/>
            <p:cNvSpPr/>
            <p:nvPr/>
          </p:nvSpPr>
          <p:spPr>
            <a:xfrm>
              <a:off x="1194641" y="1388773"/>
              <a:ext cx="2193448" cy="222151"/>
            </a:xfrm>
            <a:prstGeom prst="roundRect">
              <a:avLst>
                <a:gd name="adj" fmla="val 16667"/>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589" name="Google Shape;589;p49"/>
            <p:cNvSpPr txBox="1"/>
            <p:nvPr/>
          </p:nvSpPr>
          <p:spPr>
            <a:xfrm>
              <a:off x="1002288" y="1796848"/>
              <a:ext cx="10480196" cy="408462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A trade confirmation, often referred to simply as a "confirmation," is a document generated after a financial trade has been executed. It provides detailed information about the trade to both the buyer and the seller, serving as an official record of the transaction. Trade confirmations are a crucial part of the trade processing cycle and play a significant role in maintaining transparency, reducing disputes, and facilitating regulatory compliance. Here's an in-depth explanation of trade confirmation:</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80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1. Content of a Trade Confirmation: </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 A trade confirmation typically contains the following key information:</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Trade Details:  This includes the asset traded (e.g., stock, bond, currency pair, commodity), the quantity of the asset, and the execution price.</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Trade Date:  The date on which the trade was executed.</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Value Date / Settlement Date:  The date on which the trade will be settled, which is when ownership and payment will be exchanged. (VD and SD in some cases can be different)</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0"/>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CONFIRMATION</a:t>
            </a:r>
            <a:endParaRPr lang="en-US" b="1"/>
          </a:p>
        </p:txBody>
      </p:sp>
      <p:grpSp>
        <p:nvGrpSpPr>
          <p:cNvPr id="595" name="Google Shape;595;p50"/>
          <p:cNvGrpSpPr/>
          <p:nvPr/>
        </p:nvGrpSpPr>
        <p:grpSpPr>
          <a:xfrm>
            <a:off x="685801" y="1143001"/>
            <a:ext cx="11012574" cy="4984750"/>
            <a:chOff x="786399" y="1388773"/>
            <a:chExt cx="10911975" cy="4840577"/>
          </a:xfrm>
        </p:grpSpPr>
        <p:grpSp>
          <p:nvGrpSpPr>
            <p:cNvPr id="596" name="Google Shape;596;p50"/>
            <p:cNvGrpSpPr/>
            <p:nvPr/>
          </p:nvGrpSpPr>
          <p:grpSpPr>
            <a:xfrm>
              <a:off x="786399" y="1601771"/>
              <a:ext cx="10911975" cy="4627579"/>
              <a:chOff x="786399" y="1601771"/>
              <a:chExt cx="10911975" cy="4525633"/>
            </a:xfrm>
          </p:grpSpPr>
          <p:sp>
            <p:nvSpPr>
              <p:cNvPr id="597" name="Google Shape;597;p50"/>
              <p:cNvSpPr/>
              <p:nvPr/>
            </p:nvSpPr>
            <p:spPr>
              <a:xfrm>
                <a:off x="1038289" y="1601771"/>
                <a:ext cx="10408196" cy="4525633"/>
              </a:xfrm>
              <a:prstGeom prst="rect">
                <a:avLst/>
              </a:prstGeom>
              <a:solidFill>
                <a:schemeClr val="lt1"/>
              </a:solidFill>
              <a:ln w="44450" cap="flat" cmpd="sng">
                <a:solidFill>
                  <a:srgbClr val="1E4E7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598" name="Google Shape;598;p50"/>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599" name="Google Shape;599;p50"/>
            <p:cNvSpPr/>
            <p:nvPr/>
          </p:nvSpPr>
          <p:spPr>
            <a:xfrm>
              <a:off x="1194641" y="1388773"/>
              <a:ext cx="2193448" cy="222151"/>
            </a:xfrm>
            <a:prstGeom prst="roundRect">
              <a:avLst>
                <a:gd name="adj" fmla="val 16667"/>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600" name="Google Shape;600;p50"/>
            <p:cNvSpPr txBox="1"/>
            <p:nvPr/>
          </p:nvSpPr>
          <p:spPr>
            <a:xfrm>
              <a:off x="1002288" y="1796848"/>
              <a:ext cx="10480196" cy="3008673"/>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7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Counterparty Information:  </a:t>
              </a:r>
              <a:r>
                <a:rPr lang="en-US" sz="1800">
                  <a:solidFill>
                    <a:schemeClr val="dk1"/>
                  </a:solidFill>
                  <a:latin typeface="Arial" panose="020B0604020202020204"/>
                  <a:ea typeface="Arial" panose="020B0604020202020204"/>
                  <a:cs typeface="Arial" panose="020B0604020202020204"/>
                  <a:sym typeface="Arial" panose="020B0604020202020204"/>
                </a:rPr>
                <a:t>Details about the buyer and the seller, including their names, addresses, and account information.</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Trade Reference Number:  </a:t>
              </a:r>
              <a:r>
                <a:rPr lang="en-US" sz="1800">
                  <a:solidFill>
                    <a:schemeClr val="dk1"/>
                  </a:solidFill>
                  <a:latin typeface="Arial" panose="020B0604020202020204"/>
                  <a:ea typeface="Arial" panose="020B0604020202020204"/>
                  <a:cs typeface="Arial" panose="020B0604020202020204"/>
                  <a:sym typeface="Arial" panose="020B0604020202020204"/>
                </a:rPr>
                <a:t>A unique identifier for the trade, which is used for tracking and record-keeping.</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Trade Venue:  </a:t>
              </a:r>
              <a:r>
                <a:rPr lang="en-US" sz="1800">
                  <a:solidFill>
                    <a:schemeClr val="dk1"/>
                  </a:solidFill>
                  <a:latin typeface="Arial" panose="020B0604020202020204"/>
                  <a:ea typeface="Arial" panose="020B0604020202020204"/>
                  <a:cs typeface="Arial" panose="020B0604020202020204"/>
                  <a:sym typeface="Arial" panose="020B0604020202020204"/>
                </a:rPr>
                <a:t>Information about where the trade was executed, such as the stock exchange, electronic trading platform, or over-the-counter (OTC) market.</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Execution Time:  </a:t>
              </a:r>
              <a:r>
                <a:rPr lang="en-US" sz="1800">
                  <a:solidFill>
                    <a:schemeClr val="dk1"/>
                  </a:solidFill>
                  <a:latin typeface="Arial" panose="020B0604020202020204"/>
                  <a:ea typeface="Arial" panose="020B0604020202020204"/>
                  <a:cs typeface="Arial" panose="020B0604020202020204"/>
                  <a:sym typeface="Arial" panose="020B0604020202020204"/>
                </a:rPr>
                <a:t>The precise time at which the trade was executed.</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Order Type:  </a:t>
              </a:r>
              <a:r>
                <a:rPr lang="en-US" sz="1800">
                  <a:solidFill>
                    <a:schemeClr val="dk1"/>
                  </a:solidFill>
                  <a:latin typeface="Arial" panose="020B0604020202020204"/>
                  <a:ea typeface="Arial" panose="020B0604020202020204"/>
                  <a:cs typeface="Arial" panose="020B0604020202020204"/>
                  <a:sym typeface="Arial" panose="020B0604020202020204"/>
                </a:rPr>
                <a:t>The type of order used for the trade (e.g., market order, limit order, stop order).</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800"/>
                </a:spcBef>
                <a:spcAft>
                  <a:spcPts val="0"/>
                </a:spcAft>
                <a:buClr>
                  <a:schemeClr val="dk1"/>
                </a:buClr>
                <a:buSzPts val="1700"/>
                <a:buFont typeface="Arial" panose="020B0604020202020204"/>
                <a:buChar char="•"/>
              </a:pPr>
              <a:r>
                <a:rPr lang="en-US" sz="1800" b="1">
                  <a:solidFill>
                    <a:schemeClr val="dk1"/>
                  </a:solidFill>
                  <a:latin typeface="Arial" panose="020B0604020202020204"/>
                  <a:ea typeface="Arial" panose="020B0604020202020204"/>
                  <a:cs typeface="Arial" panose="020B0604020202020204"/>
                  <a:sym typeface="Arial" panose="020B0604020202020204"/>
                </a:rPr>
                <a:t>Trade Currency:  </a:t>
              </a:r>
              <a:r>
                <a:rPr lang="en-US" sz="1800">
                  <a:solidFill>
                    <a:schemeClr val="dk1"/>
                  </a:solidFill>
                  <a:latin typeface="Arial" panose="020B0604020202020204"/>
                  <a:ea typeface="Arial" panose="020B0604020202020204"/>
                  <a:cs typeface="Arial" panose="020B0604020202020204"/>
                  <a:sym typeface="Arial" panose="020B0604020202020204"/>
                </a:rPr>
                <a:t>The currency in which the trade was executed.</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5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CONFIRMATION</a:t>
            </a:r>
            <a:endParaRPr lang="en-US" b="1"/>
          </a:p>
        </p:txBody>
      </p:sp>
      <p:grpSp>
        <p:nvGrpSpPr>
          <p:cNvPr id="606" name="Google Shape;606;p51"/>
          <p:cNvGrpSpPr/>
          <p:nvPr/>
        </p:nvGrpSpPr>
        <p:grpSpPr>
          <a:xfrm>
            <a:off x="685801" y="1143001"/>
            <a:ext cx="11012574" cy="4984750"/>
            <a:chOff x="786399" y="1388773"/>
            <a:chExt cx="10911975" cy="4840577"/>
          </a:xfrm>
        </p:grpSpPr>
        <p:grpSp>
          <p:nvGrpSpPr>
            <p:cNvPr id="607" name="Google Shape;607;p51"/>
            <p:cNvGrpSpPr/>
            <p:nvPr/>
          </p:nvGrpSpPr>
          <p:grpSpPr>
            <a:xfrm>
              <a:off x="786399" y="1601771"/>
              <a:ext cx="10911975" cy="4627579"/>
              <a:chOff x="786399" y="1601771"/>
              <a:chExt cx="10911975" cy="4525633"/>
            </a:xfrm>
          </p:grpSpPr>
          <p:sp>
            <p:nvSpPr>
              <p:cNvPr id="608" name="Google Shape;608;p51"/>
              <p:cNvSpPr/>
              <p:nvPr/>
            </p:nvSpPr>
            <p:spPr>
              <a:xfrm>
                <a:off x="1038289" y="1601771"/>
                <a:ext cx="10408196" cy="4525633"/>
              </a:xfrm>
              <a:prstGeom prst="rect">
                <a:avLst/>
              </a:prstGeom>
              <a:solidFill>
                <a:schemeClr val="lt1"/>
              </a:solidFill>
              <a:ln w="44450" cap="flat" cmpd="sng">
                <a:solidFill>
                  <a:srgbClr val="1E4E7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609" name="Google Shape;609;p51"/>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610" name="Google Shape;610;p51"/>
            <p:cNvSpPr/>
            <p:nvPr/>
          </p:nvSpPr>
          <p:spPr>
            <a:xfrm>
              <a:off x="1194641" y="1388773"/>
              <a:ext cx="2193448" cy="222151"/>
            </a:xfrm>
            <a:prstGeom prst="roundRect">
              <a:avLst>
                <a:gd name="adj" fmla="val 16667"/>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611" name="Google Shape;611;p51"/>
            <p:cNvSpPr txBox="1"/>
            <p:nvPr/>
          </p:nvSpPr>
          <p:spPr>
            <a:xfrm>
              <a:off x="1002288" y="1796848"/>
              <a:ext cx="10480196" cy="37935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2. Distribution of Trade Confirmations: </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Trade confirmations are typically sent to both the buyer and the seller shortly after the trade has been executed. In some cases, a copy may also be provided to a clearinghouse or central counterparty (CCP) for clearing and settlement purposes.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For institutional and retail investors, trade confirmations are often delivered electronically through email, online trading platforms, or secure messaging systems.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120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 3. Trade Confirmation Frequency: </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The frequency of trade confirmations can vary depending on the financial market and the nature of the trade. In some markets, such as equities, confirmations are generally sent on the same day as the trade execution </a:t>
              </a:r>
              <a:r>
                <a:rPr lang="en-IN" altLang="en-US" sz="1800">
                  <a:solidFill>
                    <a:schemeClr val="dk1"/>
                  </a:solidFill>
                  <a:latin typeface="Arial" panose="020B0604020202020204"/>
                  <a:ea typeface="Arial" panose="020B0604020202020204"/>
                  <a:cs typeface="Arial" panose="020B0604020202020204"/>
                  <a:sym typeface="Arial" panose="020B0604020202020204"/>
                </a:rPr>
                <a:t>&amp; Instaneous</a:t>
              </a:r>
              <a:r>
                <a:rPr lang="en-US" sz="1800">
                  <a:solidFill>
                    <a:schemeClr val="dk1"/>
                  </a:solidFill>
                  <a:latin typeface="Arial" panose="020B0604020202020204"/>
                  <a:ea typeface="Arial" panose="020B0604020202020204"/>
                  <a:cs typeface="Arial" panose="020B0604020202020204"/>
                  <a:sym typeface="Arial" panose="020B0604020202020204"/>
                </a:rPr>
                <a:t>.</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52"/>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CONFIRMATION</a:t>
            </a:r>
            <a:endParaRPr lang="en-US" b="1"/>
          </a:p>
        </p:txBody>
      </p:sp>
      <p:grpSp>
        <p:nvGrpSpPr>
          <p:cNvPr id="617" name="Google Shape;617;p52"/>
          <p:cNvGrpSpPr/>
          <p:nvPr/>
        </p:nvGrpSpPr>
        <p:grpSpPr>
          <a:xfrm>
            <a:off x="685801" y="1143001"/>
            <a:ext cx="11012574" cy="5036877"/>
            <a:chOff x="786399" y="1388773"/>
            <a:chExt cx="10911975" cy="4891196"/>
          </a:xfrm>
        </p:grpSpPr>
        <p:grpSp>
          <p:nvGrpSpPr>
            <p:cNvPr id="618" name="Google Shape;618;p52"/>
            <p:cNvGrpSpPr/>
            <p:nvPr/>
          </p:nvGrpSpPr>
          <p:grpSpPr>
            <a:xfrm>
              <a:off x="786399" y="1601771"/>
              <a:ext cx="10911975" cy="4627579"/>
              <a:chOff x="786399" y="1601771"/>
              <a:chExt cx="10911975" cy="4525633"/>
            </a:xfrm>
          </p:grpSpPr>
          <p:sp>
            <p:nvSpPr>
              <p:cNvPr id="619" name="Google Shape;619;p52"/>
              <p:cNvSpPr/>
              <p:nvPr/>
            </p:nvSpPr>
            <p:spPr>
              <a:xfrm>
                <a:off x="1038289" y="1601771"/>
                <a:ext cx="10408196" cy="4525633"/>
              </a:xfrm>
              <a:prstGeom prst="rect">
                <a:avLst/>
              </a:prstGeom>
              <a:solidFill>
                <a:schemeClr val="lt1"/>
              </a:solidFill>
              <a:ln w="44450" cap="flat" cmpd="sng">
                <a:solidFill>
                  <a:srgbClr val="1E4E7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620" name="Google Shape;620;p52"/>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621" name="Google Shape;621;p52"/>
            <p:cNvSpPr/>
            <p:nvPr/>
          </p:nvSpPr>
          <p:spPr>
            <a:xfrm>
              <a:off x="1194641" y="1388773"/>
              <a:ext cx="2193448" cy="222151"/>
            </a:xfrm>
            <a:prstGeom prst="roundRect">
              <a:avLst>
                <a:gd name="adj" fmla="val 16667"/>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622" name="Google Shape;622;p52"/>
            <p:cNvSpPr txBox="1"/>
            <p:nvPr/>
          </p:nvSpPr>
          <p:spPr>
            <a:xfrm>
              <a:off x="1002288" y="1796848"/>
              <a:ext cx="10480196" cy="44831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4. Legal and Regulatory Requirements: </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Trade confirmations serve as legal documents that provide evidence of the terms and conditions of the trade. They are subject to regulatory requirements, which may vary by jurisdiction and asset class.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Regulatory requirements often dictate the content and timing of trade confirmations, as well as any specific disclosures that must be included.</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120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5. Risk Management and Dispute Resolution: </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Trade confirmations play a vital role in risk management and dispute resolution. By providing a detailed record of the trade, they help traders and investors verify that the trade has been executed correctly and in accordance with their instructions.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In the event of disputes or discrepancies, trade confirmations serve as evidence that can be used to resolve issues between counterparties.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177800" algn="l" rtl="0">
                <a:spcBef>
                  <a:spcPts val="1200"/>
                </a:spcBef>
                <a:spcAft>
                  <a:spcPts val="0"/>
                </a:spcAft>
                <a:buClr>
                  <a:schemeClr val="dk1"/>
                </a:buClr>
                <a:buSzPts val="1700"/>
                <a:buFont typeface="Arial" panose="020B0604020202020204"/>
                <a:buNone/>
              </a:pPr>
              <a:endParaRPr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3"/>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CONFIRMATION</a:t>
            </a:r>
            <a:endParaRPr lang="en-US" b="1"/>
          </a:p>
        </p:txBody>
      </p:sp>
      <p:grpSp>
        <p:nvGrpSpPr>
          <p:cNvPr id="628" name="Google Shape;628;p53"/>
          <p:cNvGrpSpPr/>
          <p:nvPr/>
        </p:nvGrpSpPr>
        <p:grpSpPr>
          <a:xfrm>
            <a:off x="685801" y="1143001"/>
            <a:ext cx="11012574" cy="4984750"/>
            <a:chOff x="786399" y="1388773"/>
            <a:chExt cx="10911975" cy="4840577"/>
          </a:xfrm>
        </p:grpSpPr>
        <p:grpSp>
          <p:nvGrpSpPr>
            <p:cNvPr id="629" name="Google Shape;629;p53"/>
            <p:cNvGrpSpPr/>
            <p:nvPr/>
          </p:nvGrpSpPr>
          <p:grpSpPr>
            <a:xfrm>
              <a:off x="786399" y="1601771"/>
              <a:ext cx="10911975" cy="4627579"/>
              <a:chOff x="786399" y="1601771"/>
              <a:chExt cx="10911975" cy="4525633"/>
            </a:xfrm>
          </p:grpSpPr>
          <p:sp>
            <p:nvSpPr>
              <p:cNvPr id="630" name="Google Shape;630;p53"/>
              <p:cNvSpPr/>
              <p:nvPr/>
            </p:nvSpPr>
            <p:spPr>
              <a:xfrm>
                <a:off x="1038289" y="1601771"/>
                <a:ext cx="10408196" cy="4525633"/>
              </a:xfrm>
              <a:prstGeom prst="rect">
                <a:avLst/>
              </a:prstGeom>
              <a:solidFill>
                <a:schemeClr val="lt1"/>
              </a:solidFill>
              <a:ln w="44450" cap="flat" cmpd="sng">
                <a:solidFill>
                  <a:srgbClr val="1E4E7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631" name="Google Shape;631;p53"/>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632" name="Google Shape;632;p53"/>
            <p:cNvSpPr/>
            <p:nvPr/>
          </p:nvSpPr>
          <p:spPr>
            <a:xfrm>
              <a:off x="1194641" y="1388773"/>
              <a:ext cx="2193448" cy="222151"/>
            </a:xfrm>
            <a:prstGeom prst="roundRect">
              <a:avLst>
                <a:gd name="adj" fmla="val 16667"/>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633" name="Google Shape;633;p53"/>
            <p:cNvSpPr txBox="1"/>
            <p:nvPr/>
          </p:nvSpPr>
          <p:spPr>
            <a:xfrm>
              <a:off x="1002288" y="1796848"/>
              <a:ext cx="10480196" cy="17334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 6. Record-Keeping and Audit Trail: </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Trade confirmations are essential for maintaining accurate records of all trading activities. They create a comprehensive audit trail that can be used for compliance, accounting, and regulatory reporting purposes.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These records are typically retained for a specified period to meet regulatory requirements.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54"/>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CONFIRMATION</a:t>
            </a:r>
            <a:endParaRPr lang="en-US" b="1"/>
          </a:p>
        </p:txBody>
      </p:sp>
      <p:grpSp>
        <p:nvGrpSpPr>
          <p:cNvPr id="639" name="Google Shape;639;p54"/>
          <p:cNvGrpSpPr/>
          <p:nvPr/>
        </p:nvGrpSpPr>
        <p:grpSpPr>
          <a:xfrm>
            <a:off x="685801" y="1143001"/>
            <a:ext cx="11012574" cy="4984750"/>
            <a:chOff x="786399" y="1388773"/>
            <a:chExt cx="10911975" cy="4840577"/>
          </a:xfrm>
        </p:grpSpPr>
        <p:grpSp>
          <p:nvGrpSpPr>
            <p:cNvPr id="640" name="Google Shape;640;p54"/>
            <p:cNvGrpSpPr/>
            <p:nvPr/>
          </p:nvGrpSpPr>
          <p:grpSpPr>
            <a:xfrm>
              <a:off x="786399" y="1601771"/>
              <a:ext cx="10911975" cy="4627579"/>
              <a:chOff x="786399" y="1601771"/>
              <a:chExt cx="10911975" cy="4525633"/>
            </a:xfrm>
          </p:grpSpPr>
          <p:sp>
            <p:nvSpPr>
              <p:cNvPr id="641" name="Google Shape;641;p54"/>
              <p:cNvSpPr/>
              <p:nvPr/>
            </p:nvSpPr>
            <p:spPr>
              <a:xfrm>
                <a:off x="1038289" y="1601771"/>
                <a:ext cx="10408196" cy="4525633"/>
              </a:xfrm>
              <a:prstGeom prst="rect">
                <a:avLst/>
              </a:prstGeom>
              <a:solidFill>
                <a:schemeClr val="lt1"/>
              </a:solidFill>
              <a:ln w="44450" cap="flat" cmpd="sng">
                <a:solidFill>
                  <a:srgbClr val="1E4E7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642" name="Google Shape;642;p54"/>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643" name="Google Shape;643;p54"/>
            <p:cNvSpPr/>
            <p:nvPr/>
          </p:nvSpPr>
          <p:spPr>
            <a:xfrm>
              <a:off x="1194641" y="1388773"/>
              <a:ext cx="2193448" cy="222151"/>
            </a:xfrm>
            <a:prstGeom prst="roundRect">
              <a:avLst>
                <a:gd name="adj" fmla="val 16667"/>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Arial Black" panose="020B0A04020102020204"/>
                <a:ea typeface="Arial Black" panose="020B0A04020102020204"/>
                <a:cs typeface="Arial Black" panose="020B0A04020102020204"/>
                <a:sym typeface="Arial Black" panose="020B0A04020102020204"/>
              </a:endParaRPr>
            </a:p>
          </p:txBody>
        </p:sp>
        <p:sp>
          <p:nvSpPr>
            <p:cNvPr id="644" name="Google Shape;644;p54"/>
            <p:cNvSpPr txBox="1"/>
            <p:nvPr/>
          </p:nvSpPr>
          <p:spPr>
            <a:xfrm>
              <a:off x="1002288" y="1796848"/>
              <a:ext cx="10480196" cy="2909048"/>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1700"/>
                <a:buFont typeface="Arial" panose="020B0604020202020204"/>
                <a:buAutoNum type="arabicPeriod"/>
              </a:pPr>
              <a:r>
                <a:rPr lang="en-US" sz="1800">
                  <a:solidFill>
                    <a:schemeClr val="dk1"/>
                  </a:solidFill>
                  <a:latin typeface="Arial" panose="020B0604020202020204"/>
                  <a:ea typeface="Arial" panose="020B0604020202020204"/>
                  <a:cs typeface="Arial" panose="020B0604020202020204"/>
                  <a:sym typeface="Arial" panose="020B0604020202020204"/>
                </a:rPr>
                <a:t>Broker sends a trade confirmation to the client via an electronic trade matching platform or through an excel/pdf.</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chemeClr val="dk1"/>
                </a:buClr>
                <a:buSzPts val="1700"/>
                <a:buFont typeface="Arial" panose="020B0604020202020204"/>
                <a:buAutoNum type="arabicPeriod"/>
              </a:pPr>
              <a:r>
                <a:rPr lang="en-US" sz="1800">
                  <a:solidFill>
                    <a:schemeClr val="dk1"/>
                  </a:solidFill>
                  <a:latin typeface="Arial" panose="020B0604020202020204"/>
                  <a:ea typeface="Arial" panose="020B0604020202020204"/>
                  <a:cs typeface="Arial" panose="020B0604020202020204"/>
                  <a:sym typeface="Arial" panose="020B0604020202020204"/>
                </a:rPr>
                <a:t>The client compares the trade details with their internal OMS.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chemeClr val="dk1"/>
                </a:buClr>
                <a:buSzPts val="1700"/>
                <a:buFont typeface="Arial" panose="020B0604020202020204"/>
                <a:buAutoNum type="arabicPeriod"/>
              </a:pPr>
              <a:r>
                <a:rPr lang="en-US" sz="1800">
                  <a:solidFill>
                    <a:schemeClr val="dk1"/>
                  </a:solidFill>
                  <a:latin typeface="Arial" panose="020B0604020202020204"/>
                  <a:ea typeface="Arial" panose="020B0604020202020204"/>
                  <a:cs typeface="Arial" panose="020B0604020202020204"/>
                  <a:sym typeface="Arial" panose="020B0604020202020204"/>
                </a:rPr>
                <a:t>Both the economic and non-economic details of the trade will be matched by the client.</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1200"/>
                </a:spcBef>
                <a:spcAft>
                  <a:spcPts val="0"/>
                </a:spcAft>
                <a:buClr>
                  <a:schemeClr val="dk1"/>
                </a:buClr>
                <a:buSzPts val="1700"/>
                <a:buFont typeface="Arial" panose="020B0604020202020204"/>
                <a:buAutoNum type="arabicPeriod"/>
              </a:pPr>
              <a:r>
                <a:rPr lang="en-US" sz="1800">
                  <a:solidFill>
                    <a:schemeClr val="dk1"/>
                  </a:solidFill>
                  <a:latin typeface="Arial" panose="020B0604020202020204"/>
                  <a:ea typeface="Arial" panose="020B0604020202020204"/>
                  <a:cs typeface="Arial" panose="020B0604020202020204"/>
                  <a:sym typeface="Arial" panose="020B0604020202020204"/>
                </a:rPr>
                <a:t>Once the trade has been confirmed by the client - the broker will send the details to the custodian and/or depository/clearing house. The client will also send the trade details to their custodian.</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9"/>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dirty="0">
                <a:solidFill>
                  <a:srgbClr val="7030A0"/>
                </a:solidFill>
              </a:rPr>
              <a:t>T</a:t>
            </a:r>
            <a:r>
              <a:rPr lang="en-IN" altLang="en-US" dirty="0">
                <a:solidFill>
                  <a:srgbClr val="7030A0"/>
                </a:solidFill>
              </a:rPr>
              <a:t>RADE T</a:t>
            </a:r>
            <a:r>
              <a:rPr lang="en-US" dirty="0">
                <a:solidFill>
                  <a:srgbClr val="7030A0"/>
                </a:solidFill>
              </a:rPr>
              <a:t>RANSACTION REPORTING</a:t>
            </a:r>
            <a:endParaRPr dirty="0">
              <a:solidFill>
                <a:srgbClr val="7030A0"/>
              </a:solidFill>
            </a:endParaRPr>
          </a:p>
        </p:txBody>
      </p:sp>
      <p:grpSp>
        <p:nvGrpSpPr>
          <p:cNvPr id="686" name="Google Shape;686;p59"/>
          <p:cNvGrpSpPr/>
          <p:nvPr/>
        </p:nvGrpSpPr>
        <p:grpSpPr>
          <a:xfrm>
            <a:off x="700549" y="1148080"/>
            <a:ext cx="10994535" cy="4986020"/>
            <a:chOff x="700549" y="1371600"/>
            <a:chExt cx="10994535" cy="5029200"/>
          </a:xfrm>
        </p:grpSpPr>
        <p:sp>
          <p:nvSpPr>
            <p:cNvPr id="687" name="Google Shape;687;p59"/>
            <p:cNvSpPr/>
            <p:nvPr/>
          </p:nvSpPr>
          <p:spPr>
            <a:xfrm>
              <a:off x="700549" y="1371600"/>
              <a:ext cx="10987057" cy="5029200"/>
            </a:xfrm>
            <a:prstGeom prst="rect">
              <a:avLst/>
            </a:prstGeom>
            <a:solidFill>
              <a:srgbClr val="D2F4F6"/>
            </a:solidFill>
            <a:ln>
              <a:noFill/>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sp>
          <p:nvSpPr>
            <p:cNvPr id="688" name="Google Shape;688;p59"/>
            <p:cNvSpPr/>
            <p:nvPr/>
          </p:nvSpPr>
          <p:spPr>
            <a:xfrm flipH="1">
              <a:off x="4452359" y="1371600"/>
              <a:ext cx="7242725" cy="5029200"/>
            </a:xfrm>
            <a:custGeom>
              <a:avLst/>
              <a:gdLst/>
              <a:ahLst/>
              <a:cxnLst/>
              <a:rect l="l" t="t" r="r" b="b"/>
              <a:pathLst>
                <a:path w="5599084" h="5029200" extrusionOk="0">
                  <a:moveTo>
                    <a:pt x="7478" y="5029200"/>
                  </a:moveTo>
                  <a:cubicBezTo>
                    <a:pt x="4985" y="3352800"/>
                    <a:pt x="2493" y="1676400"/>
                    <a:pt x="0" y="0"/>
                  </a:cubicBezTo>
                  <a:lnTo>
                    <a:pt x="5599084" y="0"/>
                  </a:lnTo>
                  <a:lnTo>
                    <a:pt x="4341784" y="5029200"/>
                  </a:lnTo>
                  <a:lnTo>
                    <a:pt x="7478" y="5029200"/>
                  </a:lnTo>
                  <a:close/>
                </a:path>
              </a:pathLst>
            </a:custGeom>
            <a:solidFill>
              <a:schemeClr val="accent4"/>
            </a:solidFill>
            <a:ln>
              <a:noFill/>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sp>
          <p:nvSpPr>
            <p:cNvPr id="689" name="Google Shape;689;p59"/>
            <p:cNvSpPr/>
            <p:nvPr/>
          </p:nvSpPr>
          <p:spPr>
            <a:xfrm>
              <a:off x="799117" y="1508760"/>
              <a:ext cx="10789920" cy="4754880"/>
            </a:xfrm>
            <a:prstGeom prst="rect">
              <a:avLst/>
            </a:prstGeom>
            <a:solidFill>
              <a:schemeClr val="lt1"/>
            </a:solidFill>
            <a:ln w="9525" cap="flat" cmpd="sng">
              <a:solidFill>
                <a:schemeClr val="accent4"/>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45700" bIns="45700" anchor="ctr" anchorCtr="0">
              <a:noAutofit/>
            </a:bodyPr>
            <a:lstStyle/>
            <a:p>
              <a:r>
                <a:rPr lang="en-IN" sz="1800" b="1" dirty="0"/>
                <a:t>Purpose of Transaction Reporting</a:t>
              </a:r>
              <a:endParaRPr lang="en-IN" sz="1800" b="1" dirty="0"/>
            </a:p>
            <a:p>
              <a:pPr marL="285750" indent="-285750">
                <a:buFont typeface="Arial" panose="020B0604020202020204" pitchFamily="34" charset="0"/>
                <a:buChar char="•"/>
              </a:pPr>
              <a:endParaRPr lang="en-IN" sz="1800" dirty="0"/>
            </a:p>
            <a:p>
              <a:pPr marL="285750" indent="-285750">
                <a:buFont typeface="Arial" panose="020B0604020202020204" pitchFamily="34" charset="0"/>
                <a:buChar char="•"/>
              </a:pPr>
              <a:r>
                <a:rPr lang="en-IN" sz="1800" dirty="0"/>
                <a:t>Provides regulators with client-level trade data for monitoring compliance.</a:t>
              </a:r>
              <a:endParaRPr lang="en-IN" sz="1800" dirty="0"/>
            </a:p>
            <a:p>
              <a:pPr marL="285750" indent="-285750">
                <a:buFont typeface="Arial" panose="020B0604020202020204" pitchFamily="34" charset="0"/>
                <a:buChar char="•"/>
              </a:pPr>
              <a:r>
                <a:rPr lang="en-IN" sz="1800" dirty="0"/>
                <a:t>Helps in detecting market abuse, insider trading, and suspicious activity.</a:t>
              </a:r>
              <a:endParaRPr lang="en-IN" sz="1800" dirty="0"/>
            </a:p>
            <a:p>
              <a:pPr marL="285750" indent="-285750">
                <a:buFont typeface="Arial" panose="020B0604020202020204" pitchFamily="34" charset="0"/>
                <a:buChar char="•"/>
              </a:pPr>
              <a:r>
                <a:rPr lang="en-IN" sz="1800" dirty="0"/>
                <a:t>Supports AML/KYC compliance and risk monitoring by regulatory authorities.</a:t>
              </a:r>
              <a:endParaRPr lang="en-IN" sz="1800" dirty="0"/>
            </a:p>
            <a:p>
              <a:pPr marL="285750" indent="-285750">
                <a:buFont typeface="Arial" panose="020B0604020202020204" pitchFamily="34" charset="0"/>
                <a:buChar char="•"/>
              </a:pPr>
              <a:r>
                <a:rPr lang="en-IN" sz="1800" dirty="0"/>
                <a:t>Enables regulators to track positions, exposures, and overall market risk at the participant level.</a:t>
              </a:r>
              <a:endParaRPr lang="en-US" sz="1800" b="1"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spcBef>
                  <a:spcPts val="0"/>
                </a:spcBef>
                <a:spcAft>
                  <a:spcPts val="0"/>
                </a:spcAft>
                <a:buNone/>
              </a:pPr>
              <a:endParaRPr lang="en-US" sz="1800" b="1" dirty="0">
                <a:solidFill>
                  <a:schemeClr val="dk1"/>
                </a:solidFill>
              </a:endParaRPr>
            </a:p>
            <a:p>
              <a:pPr marL="0" marR="0" lvl="0" indent="0" algn="l" rtl="0">
                <a:spcBef>
                  <a:spcPts val="0"/>
                </a:spcBef>
                <a:spcAft>
                  <a:spcPts val="0"/>
                </a:spcAft>
                <a:buNone/>
              </a:pPr>
              <a:r>
                <a:rPr lang="en-US" sz="1800" b="1" dirty="0">
                  <a:solidFill>
                    <a:schemeClr val="dk1"/>
                  </a:solidFill>
                  <a:latin typeface="Arial" panose="020B0604020202020204"/>
                  <a:ea typeface="Arial" panose="020B0604020202020204"/>
                  <a:cs typeface="Arial" panose="020B0604020202020204"/>
                  <a:sym typeface="Arial" panose="020B0604020202020204"/>
                </a:rPr>
                <a:t>Transaction reporting can be achieved by</a:t>
              </a:r>
              <a:endParaRPr dirty="0"/>
            </a:p>
            <a:p>
              <a:pPr marL="285750" marR="0" lvl="0" indent="-285750" algn="l" rtl="0">
                <a:spcBef>
                  <a:spcPts val="1200"/>
                </a:spcBef>
                <a:spcAft>
                  <a:spcPts val="0"/>
                </a:spcAft>
                <a:buClr>
                  <a:schemeClr val="dk1"/>
                </a:buClr>
                <a:buSzPts val="17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Transmission originated by the member of a specific message, part of which is used for transaction reporting </a:t>
              </a:r>
              <a:endParaRPr dirty="0"/>
            </a:p>
            <a:p>
              <a:pPr marL="539750" marR="0" lvl="0" indent="-285750" algn="l" rtl="0">
                <a:spcBef>
                  <a:spcPts val="1200"/>
                </a:spcBef>
                <a:spcAft>
                  <a:spcPts val="0"/>
                </a:spcAft>
                <a:buClr>
                  <a:schemeClr val="dk1"/>
                </a:buClr>
                <a:buSzPts val="17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Trax where a single message sent by an ISMA member serves the purpose of trade matching as well as transaction reporting, with the relevant information forwarded by ISMA to the regulator </a:t>
              </a:r>
              <a:endParaRPr dirty="0"/>
            </a:p>
            <a:p>
              <a:pPr marL="539750" marR="0" lvl="0" indent="-285750" algn="l" rtl="0">
                <a:spcBef>
                  <a:spcPts val="1200"/>
                </a:spcBef>
                <a:spcAft>
                  <a:spcPts val="0"/>
                </a:spcAft>
                <a:buClr>
                  <a:schemeClr val="dk1"/>
                </a:buClr>
                <a:buSzPts val="1700"/>
                <a:buFont typeface="Arial" panose="020B0604020202020204"/>
                <a:buChar char="•"/>
              </a:pPr>
              <a:r>
                <a:rPr lang="en-US" sz="1800" dirty="0">
                  <a:solidFill>
                    <a:schemeClr val="dk1"/>
                  </a:solidFill>
                  <a:latin typeface="Arial" panose="020B0604020202020204"/>
                  <a:ea typeface="Arial" panose="020B0604020202020204"/>
                  <a:cs typeface="Arial" panose="020B0604020202020204"/>
                  <a:sym typeface="Arial" panose="020B0604020202020204"/>
                </a:rPr>
                <a:t>Transmission of a settlement instruction to a national central securities depository (NCSD), that then forwards the necessary information to the regulator, for example: Crest (UK). </a:t>
              </a:r>
              <a:endParaRPr dirty="0"/>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59"/>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IN" altLang="en-US" dirty="0">
                <a:solidFill>
                  <a:srgbClr val="7030A0"/>
                </a:solidFill>
              </a:rPr>
              <a:t>TRADE </a:t>
            </a:r>
            <a:r>
              <a:rPr lang="en-US" dirty="0">
                <a:solidFill>
                  <a:srgbClr val="7030A0"/>
                </a:solidFill>
              </a:rPr>
              <a:t>TRANSACTION REPORTING</a:t>
            </a:r>
            <a:endParaRPr dirty="0">
              <a:solidFill>
                <a:srgbClr val="7030A0"/>
              </a:solidFill>
            </a:endParaRPr>
          </a:p>
        </p:txBody>
      </p:sp>
      <p:grpSp>
        <p:nvGrpSpPr>
          <p:cNvPr id="686" name="Google Shape;686;p59"/>
          <p:cNvGrpSpPr/>
          <p:nvPr/>
        </p:nvGrpSpPr>
        <p:grpSpPr>
          <a:xfrm>
            <a:off x="700549" y="1148080"/>
            <a:ext cx="10994535" cy="5107615"/>
            <a:chOff x="700549" y="1371600"/>
            <a:chExt cx="10994535" cy="5151848"/>
          </a:xfrm>
        </p:grpSpPr>
        <p:sp>
          <p:nvSpPr>
            <p:cNvPr id="687" name="Google Shape;687;p59"/>
            <p:cNvSpPr/>
            <p:nvPr/>
          </p:nvSpPr>
          <p:spPr>
            <a:xfrm>
              <a:off x="700549" y="1371600"/>
              <a:ext cx="10987057" cy="5029200"/>
            </a:xfrm>
            <a:prstGeom prst="rect">
              <a:avLst/>
            </a:prstGeom>
            <a:solidFill>
              <a:srgbClr val="D2F4F6"/>
            </a:solidFill>
            <a:ln>
              <a:noFill/>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sp>
          <p:nvSpPr>
            <p:cNvPr id="688" name="Google Shape;688;p59"/>
            <p:cNvSpPr/>
            <p:nvPr/>
          </p:nvSpPr>
          <p:spPr>
            <a:xfrm flipH="1">
              <a:off x="4452359" y="1371600"/>
              <a:ext cx="7242725" cy="5029200"/>
            </a:xfrm>
            <a:custGeom>
              <a:avLst/>
              <a:gdLst/>
              <a:ahLst/>
              <a:cxnLst/>
              <a:rect l="l" t="t" r="r" b="b"/>
              <a:pathLst>
                <a:path w="5599084" h="5029200" extrusionOk="0">
                  <a:moveTo>
                    <a:pt x="7478" y="5029200"/>
                  </a:moveTo>
                  <a:cubicBezTo>
                    <a:pt x="4985" y="3352800"/>
                    <a:pt x="2493" y="1676400"/>
                    <a:pt x="0" y="0"/>
                  </a:cubicBezTo>
                  <a:lnTo>
                    <a:pt x="5599084" y="0"/>
                  </a:lnTo>
                  <a:lnTo>
                    <a:pt x="4341784" y="5029200"/>
                  </a:lnTo>
                  <a:lnTo>
                    <a:pt x="7478" y="5029200"/>
                  </a:lnTo>
                  <a:close/>
                </a:path>
              </a:pathLst>
            </a:custGeom>
            <a:solidFill>
              <a:schemeClr val="accent4"/>
            </a:solidFill>
            <a:ln>
              <a:noFill/>
            </a:ln>
          </p:spPr>
          <p:txBody>
            <a:bodyPr spcFirstLastPara="1" wrap="square" lIns="91425" tIns="45700" rIns="45700" bIns="45700" anchor="t" anchorCtr="0">
              <a:noAutofit/>
            </a:bodyPr>
            <a:lstStyle/>
            <a:p>
              <a:pPr marL="228600" marR="0" lvl="0" indent="-158750" algn="l" rtl="0">
                <a:spcBef>
                  <a:spcPts val="0"/>
                </a:spcBef>
                <a:spcAft>
                  <a:spcPts val="0"/>
                </a:spcAft>
                <a:buClr>
                  <a:schemeClr val="dk1"/>
                </a:buClr>
                <a:buSzPts val="1100"/>
                <a:buFont typeface="Noto Sans Symbols"/>
                <a:buNone/>
              </a:pPr>
              <a:endParaRPr sz="1100">
                <a:solidFill>
                  <a:schemeClr val="accent2"/>
                </a:solidFill>
                <a:latin typeface="Arial" panose="020B0604020202020204"/>
                <a:ea typeface="Arial" panose="020B0604020202020204"/>
                <a:cs typeface="Arial" panose="020B0604020202020204"/>
                <a:sym typeface="Arial" panose="020B0604020202020204"/>
              </a:endParaRPr>
            </a:p>
          </p:txBody>
        </p:sp>
        <p:sp>
          <p:nvSpPr>
            <p:cNvPr id="689" name="Google Shape;689;p59"/>
            <p:cNvSpPr/>
            <p:nvPr/>
          </p:nvSpPr>
          <p:spPr>
            <a:xfrm>
              <a:off x="799117" y="1768568"/>
              <a:ext cx="10789920" cy="4754880"/>
            </a:xfrm>
            <a:prstGeom prst="rect">
              <a:avLst/>
            </a:prstGeom>
            <a:solidFill>
              <a:schemeClr val="lt1"/>
            </a:solidFill>
            <a:ln w="9525" cap="flat" cmpd="sng">
              <a:solidFill>
                <a:schemeClr val="accent4"/>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45700" bIns="45700" anchor="ctr" anchorCtr="0">
              <a:noAutofit/>
            </a:bodyPr>
            <a:lstStyle/>
            <a:p>
              <a:endParaRPr lang="en-IN" sz="1800" dirty="0">
                <a:solidFill>
                  <a:srgbClr val="7030A0"/>
                </a:solidFill>
              </a:endParaRPr>
            </a:p>
            <a:p>
              <a:r>
                <a:rPr lang="en-IN" sz="1800" b="1" dirty="0">
                  <a:solidFill>
                    <a:srgbClr val="7030A0"/>
                  </a:solidFill>
                </a:rPr>
                <a:t>MiFID II (2018)</a:t>
              </a:r>
              <a:endParaRPr lang="en-IN" sz="1800" b="1" dirty="0">
                <a:solidFill>
                  <a:srgbClr val="7030A0"/>
                </a:solidFill>
              </a:endParaRPr>
            </a:p>
            <a:p>
              <a:r>
                <a:rPr lang="en-IN" sz="1800" b="1" dirty="0">
                  <a:solidFill>
                    <a:srgbClr val="7030A0"/>
                  </a:solidFill>
                </a:rPr>
                <a:t>Transaction Reporting Scope: Significantly</a:t>
              </a:r>
              <a:r>
                <a:rPr lang="en-IN" sz="1800" dirty="0">
                  <a:solidFill>
                    <a:srgbClr val="7030A0"/>
                  </a:solidFill>
                </a:rPr>
                <a:t> expanded compared to </a:t>
              </a:r>
              <a:r>
                <a:rPr lang="en-IN" sz="1800" dirty="0" err="1">
                  <a:solidFill>
                    <a:srgbClr val="7030A0"/>
                  </a:solidFill>
                </a:rPr>
                <a:t>MiFIDI.Covers</a:t>
              </a:r>
              <a:r>
                <a:rPr lang="en-IN" sz="1800" dirty="0">
                  <a:solidFill>
                    <a:srgbClr val="7030A0"/>
                  </a:solidFill>
                </a:rPr>
                <a:t> all financial instruments, including:</a:t>
              </a:r>
              <a:endParaRPr lang="en-IN" sz="1800" dirty="0">
                <a:solidFill>
                  <a:srgbClr val="7030A0"/>
                </a:solidFill>
              </a:endParaRPr>
            </a:p>
            <a:p>
              <a:pPr marL="285750" lvl="2" indent="-285750">
                <a:buFont typeface="Arial" panose="020B0604020202020204" pitchFamily="34" charset="0"/>
                <a:buChar char="•"/>
              </a:pPr>
              <a:r>
                <a:rPr lang="en-IN" sz="1800" dirty="0">
                  <a:solidFill>
                    <a:srgbClr val="7030A0"/>
                  </a:solidFill>
                </a:rPr>
                <a:t>Equities</a:t>
              </a:r>
              <a:endParaRPr lang="en-IN" sz="1800" dirty="0">
                <a:solidFill>
                  <a:srgbClr val="7030A0"/>
                </a:solidFill>
              </a:endParaRPr>
            </a:p>
            <a:p>
              <a:pPr marL="285750" lvl="2" indent="-285750">
                <a:buFont typeface="Arial" panose="020B0604020202020204" pitchFamily="34" charset="0"/>
                <a:buChar char="•"/>
              </a:pPr>
              <a:r>
                <a:rPr lang="en-IN" sz="1800" dirty="0">
                  <a:solidFill>
                    <a:srgbClr val="7030A0"/>
                  </a:solidFill>
                </a:rPr>
                <a:t>Bonds</a:t>
              </a:r>
              <a:endParaRPr lang="en-IN" sz="1800" dirty="0">
                <a:solidFill>
                  <a:srgbClr val="7030A0"/>
                </a:solidFill>
              </a:endParaRPr>
            </a:p>
            <a:p>
              <a:pPr marL="285750" lvl="2" indent="-285750">
                <a:buFont typeface="Arial" panose="020B0604020202020204" pitchFamily="34" charset="0"/>
                <a:buChar char="•"/>
              </a:pPr>
              <a:r>
                <a:rPr lang="en-IN" sz="1800" dirty="0">
                  <a:solidFill>
                    <a:srgbClr val="7030A0"/>
                  </a:solidFill>
                </a:rPr>
                <a:t>Derivatives (exchange-traded &amp; OTC)</a:t>
              </a:r>
              <a:endParaRPr lang="en-IN" sz="1800" dirty="0">
                <a:solidFill>
                  <a:srgbClr val="7030A0"/>
                </a:solidFill>
              </a:endParaRPr>
            </a:p>
            <a:p>
              <a:pPr marL="285750" lvl="2" indent="-285750">
                <a:buFont typeface="Arial" panose="020B0604020202020204" pitchFamily="34" charset="0"/>
                <a:buChar char="•"/>
              </a:pPr>
              <a:r>
                <a:rPr lang="en-IN" sz="1800" dirty="0">
                  <a:solidFill>
                    <a:srgbClr val="7030A0"/>
                  </a:solidFill>
                </a:rPr>
                <a:t>Structured products</a:t>
              </a:r>
              <a:endParaRPr lang="en-IN" sz="1800" dirty="0">
                <a:solidFill>
                  <a:srgbClr val="7030A0"/>
                </a:solidFill>
              </a:endParaRPr>
            </a:p>
            <a:p>
              <a:pPr marL="285750" lvl="2" indent="-285750">
                <a:buFont typeface="Arial" panose="020B0604020202020204" pitchFamily="34" charset="0"/>
                <a:buChar char="•"/>
              </a:pPr>
              <a:r>
                <a:rPr lang="en-IN" sz="1800" dirty="0">
                  <a:solidFill>
                    <a:srgbClr val="7030A0"/>
                  </a:solidFill>
                </a:rPr>
                <a:t>ETFs</a:t>
              </a:r>
              <a:endParaRPr lang="en-IN" sz="1800" dirty="0">
                <a:solidFill>
                  <a:srgbClr val="7030A0"/>
                </a:solidFill>
              </a:endParaRPr>
            </a:p>
            <a:p>
              <a:r>
                <a:rPr lang="en-IN" sz="1800" b="1" dirty="0">
                  <a:solidFill>
                    <a:srgbClr val="7030A0"/>
                  </a:solidFill>
                </a:rPr>
                <a:t>Purpose:</a:t>
              </a:r>
              <a:r>
                <a:rPr lang="en-IN" sz="1800" dirty="0">
                  <a:solidFill>
                    <a:srgbClr val="7030A0"/>
                  </a:solidFill>
                </a:rPr>
                <a:t> Enhanced market surveillance, risk monitoring, and detection of market </a:t>
              </a:r>
              <a:r>
                <a:rPr lang="en-IN" sz="1800" dirty="0" err="1">
                  <a:solidFill>
                    <a:srgbClr val="7030A0"/>
                  </a:solidFill>
                </a:rPr>
                <a:t>abuse.Supports</a:t>
              </a:r>
              <a:r>
                <a:rPr lang="en-IN" sz="1800" dirty="0">
                  <a:solidFill>
                    <a:srgbClr val="7030A0"/>
                  </a:solidFill>
                </a:rPr>
                <a:t> ESMA’s monitoring and oversight across all EU markets.</a:t>
              </a:r>
              <a:endParaRPr lang="en-IN" sz="1800" dirty="0">
                <a:solidFill>
                  <a:srgbClr val="7030A0"/>
                </a:solidFill>
              </a:endParaRPr>
            </a:p>
            <a:p>
              <a:r>
                <a:rPr lang="en-IN" sz="1800" b="1" dirty="0">
                  <a:solidFill>
                    <a:srgbClr val="7030A0"/>
                  </a:solidFill>
                </a:rPr>
                <a:t>Content of reports</a:t>
              </a:r>
              <a:r>
                <a:rPr lang="en-IN" sz="1800" dirty="0">
                  <a:solidFill>
                    <a:srgbClr val="7030A0"/>
                  </a:solidFill>
                </a:rPr>
                <a:t>: Much more detailed and includes Client identifiers (LEI – Legal Entity Identifier), Order types, Buy/sell indicators</a:t>
              </a:r>
              <a:endParaRPr lang="en-IN" sz="1800" dirty="0">
                <a:solidFill>
                  <a:srgbClr val="7030A0"/>
                </a:solidFill>
              </a:endParaRPr>
            </a:p>
            <a:p>
              <a:pPr lvl="2"/>
              <a:r>
                <a:rPr lang="en-IN" sz="1800" dirty="0">
                  <a:solidFill>
                    <a:srgbClr val="7030A0"/>
                  </a:solidFill>
                </a:rPr>
                <a:t>Venue of execution, Price, quantity, and timestamps, Reporting timestamps</a:t>
              </a:r>
              <a:endParaRPr lang="en-IN" sz="1800" dirty="0">
                <a:solidFill>
                  <a:srgbClr val="7030A0"/>
                </a:solidFill>
              </a:endParaRPr>
            </a:p>
            <a:p>
              <a:r>
                <a:rPr lang="en-IN" sz="1800" b="1" dirty="0">
                  <a:solidFill>
                    <a:srgbClr val="7030A0"/>
                  </a:solidFill>
                </a:rPr>
                <a:t>Key Improvements</a:t>
              </a:r>
              <a:r>
                <a:rPr lang="en-IN" sz="1800" dirty="0">
                  <a:solidFill>
                    <a:srgbClr val="7030A0"/>
                  </a:solidFill>
                </a:rPr>
                <a:t>:</a:t>
              </a:r>
              <a:endParaRPr lang="en-IN" sz="1800" dirty="0">
                <a:solidFill>
                  <a:srgbClr val="7030A0"/>
                </a:solidFill>
              </a:endParaRPr>
            </a:p>
            <a:p>
              <a:pPr lvl="1"/>
              <a:r>
                <a:rPr lang="en-IN" sz="1800" dirty="0">
                  <a:solidFill>
                    <a:srgbClr val="7030A0"/>
                  </a:solidFill>
                </a:rPr>
                <a:t>Introduced unique transaction identifiers (UTI) to link related trades, Expanded reporting to OTC derivatives that were previously excluded., Stricter deadlines for submission (usually T+1)., Improved data quality requirements for regulators.</a:t>
              </a:r>
              <a:endParaRPr lang="en-IN" dirty="0">
                <a:solidFill>
                  <a:srgbClr val="7030A0"/>
                </a:solidFill>
              </a:endParaRPr>
            </a:p>
            <a:p>
              <a:pPr lvl="1"/>
              <a:endParaRPr lang="en-IN" dirty="0">
                <a:solidFill>
                  <a:srgbClr val="7030A0"/>
                </a:solidFill>
              </a:endParaRPr>
            </a:p>
            <a:p>
              <a:pPr lvl="1"/>
              <a:endParaRPr lang="en-IN" dirty="0">
                <a:solidFill>
                  <a:srgbClr val="7030A0"/>
                </a:solidFill>
              </a:endParaRPr>
            </a:p>
            <a:p>
              <a:pPr marL="0" marR="0" lvl="0" indent="0" algn="l" rtl="0">
                <a:spcBef>
                  <a:spcPts val="0"/>
                </a:spcBef>
                <a:spcAft>
                  <a:spcPts val="0"/>
                </a:spcAft>
                <a:buNone/>
              </a:pPr>
              <a:endParaRPr lang="en-US" sz="1800" dirty="0">
                <a:solidFill>
                  <a:srgbClr val="7030A0"/>
                </a:solidFill>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60"/>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REPORTING</a:t>
            </a:r>
            <a:endParaRPr lang="en-US" b="1"/>
          </a:p>
        </p:txBody>
      </p:sp>
      <p:pic>
        <p:nvPicPr>
          <p:cNvPr id="695" name="Google Shape;695;p60"/>
          <p:cNvPicPr preferRelativeResize="0"/>
          <p:nvPr/>
        </p:nvPicPr>
        <p:blipFill rotWithShape="1">
          <a:blip r:embed="rId1"/>
          <a:srcRect t="5555"/>
          <a:stretch>
            <a:fillRect/>
          </a:stretch>
        </p:blipFill>
        <p:spPr>
          <a:xfrm>
            <a:off x="1795463" y="1699260"/>
            <a:ext cx="8601075" cy="3967162"/>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55"/>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SETTLEMENT</a:t>
            </a:r>
            <a:endParaRPr lang="en-US" b="1"/>
          </a:p>
        </p:txBody>
      </p:sp>
      <p:grpSp>
        <p:nvGrpSpPr>
          <p:cNvPr id="650" name="Google Shape;650;p55"/>
          <p:cNvGrpSpPr/>
          <p:nvPr/>
        </p:nvGrpSpPr>
        <p:grpSpPr>
          <a:xfrm>
            <a:off x="700550" y="1154002"/>
            <a:ext cx="10996150" cy="4980098"/>
            <a:chOff x="700550" y="2123440"/>
            <a:chExt cx="10996150" cy="3556000"/>
          </a:xfrm>
        </p:grpSpPr>
        <p:sp>
          <p:nvSpPr>
            <p:cNvPr id="651" name="Google Shape;651;p55"/>
            <p:cNvSpPr/>
            <p:nvPr/>
          </p:nvSpPr>
          <p:spPr>
            <a:xfrm>
              <a:off x="700550" y="2123440"/>
              <a:ext cx="10996150" cy="3556000"/>
            </a:xfrm>
            <a:prstGeom prst="roundRect">
              <a:avLst>
                <a:gd name="adj" fmla="val 7486"/>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52" name="Google Shape;652;p55"/>
            <p:cNvSpPr/>
            <p:nvPr/>
          </p:nvSpPr>
          <p:spPr>
            <a:xfrm>
              <a:off x="700550" y="2235200"/>
              <a:ext cx="10996150" cy="3332480"/>
            </a:xfrm>
            <a:prstGeom prst="roundRect">
              <a:avLst>
                <a:gd name="adj" fmla="val 8670"/>
              </a:avLst>
            </a:prstGeom>
            <a:solidFill>
              <a:srgbClr val="F2F2F2"/>
            </a:solidFill>
            <a:ln>
              <a:noFill/>
            </a:ln>
          </p:spPr>
          <p:txBody>
            <a:bodyPr spcFirstLastPara="1" wrap="square" lIns="91425" tIns="45700" rIns="91425" bIns="45700" anchor="ctr" anchorCtr="0">
              <a:noAutofit/>
            </a:bodyPr>
            <a:lstStyle/>
            <a:p>
              <a:pPr marL="285750" marR="0" lvl="0" indent="-285750" algn="l" rtl="0">
                <a:lnSpc>
                  <a:spcPct val="150000"/>
                </a:lnSpc>
                <a:spcBef>
                  <a:spcPts val="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It starts with clearing and then settlement.</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Clearing/clearance is defined as: “. Clearance is the preparation for settlement and takes place in a central system known as either a clearing house or a central counterparty”.</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As part of the settlement process, clearing systems will match both sides to any transaction and check that there is sufficient asset availability before advising a CSD that the transaction can settle.</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Clearance is the preparation for settlement and takes place in a central system known as either a clearing house or a central counterparty.</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Determination of obligations of both parties helps parties to know their net payment/ receipt of both cash and securities by TD+1 day, making sure parties are ready with the both.</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5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SETTLEMENT</a:t>
            </a:r>
            <a:endParaRPr lang="en-US" b="1"/>
          </a:p>
        </p:txBody>
      </p:sp>
      <p:grpSp>
        <p:nvGrpSpPr>
          <p:cNvPr id="658" name="Google Shape;658;p56"/>
          <p:cNvGrpSpPr/>
          <p:nvPr/>
        </p:nvGrpSpPr>
        <p:grpSpPr>
          <a:xfrm>
            <a:off x="700550" y="1154002"/>
            <a:ext cx="10996150" cy="4980098"/>
            <a:chOff x="700550" y="2123440"/>
            <a:chExt cx="10996150" cy="3556000"/>
          </a:xfrm>
        </p:grpSpPr>
        <p:sp>
          <p:nvSpPr>
            <p:cNvPr id="659" name="Google Shape;659;p56"/>
            <p:cNvSpPr/>
            <p:nvPr/>
          </p:nvSpPr>
          <p:spPr>
            <a:xfrm>
              <a:off x="700550" y="2123440"/>
              <a:ext cx="10996150" cy="3556000"/>
            </a:xfrm>
            <a:prstGeom prst="roundRect">
              <a:avLst>
                <a:gd name="adj" fmla="val 7486"/>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60" name="Google Shape;660;p56"/>
            <p:cNvSpPr/>
            <p:nvPr/>
          </p:nvSpPr>
          <p:spPr>
            <a:xfrm>
              <a:off x="700550" y="2235200"/>
              <a:ext cx="10996150" cy="3332480"/>
            </a:xfrm>
            <a:prstGeom prst="roundRect">
              <a:avLst>
                <a:gd name="adj" fmla="val 8670"/>
              </a:avLst>
            </a:prstGeom>
            <a:solidFill>
              <a:srgbClr val="F2F2F2"/>
            </a:solid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Sometimes the term is used (imprecisely) to include settlement. ”Settlement is defined as: “The completion of a transaction, wherein the seller transfers … securities or financial instruments to the buyer and the buyer transfers money to the seller.</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The settlement agent can now make the settlement on the SD.</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Pay-In funds and securities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Pay-out funds and securities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CASH/SPOT MARKET SETTLEMENT CYCLES</a:t>
            </a:r>
            <a:endParaRPr lang="en-IN" altLang="en-US"/>
          </a:p>
        </p:txBody>
      </p:sp>
      <p:pic>
        <p:nvPicPr>
          <p:cNvPr id="3" name="Picture 2"/>
          <p:cNvPicPr>
            <a:picLocks noChangeAspect="1"/>
          </p:cNvPicPr>
          <p:nvPr/>
        </p:nvPicPr>
        <p:blipFill>
          <a:blip r:embed="rId1"/>
          <a:stretch>
            <a:fillRect/>
          </a:stretch>
        </p:blipFill>
        <p:spPr>
          <a:xfrm>
            <a:off x="700405" y="1050925"/>
            <a:ext cx="10837545" cy="496887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SETTLEMENT CYCLES </a:t>
            </a:r>
            <a:endParaRPr lang="en-IN" altLang="en-US"/>
          </a:p>
        </p:txBody>
      </p:sp>
      <p:pic>
        <p:nvPicPr>
          <p:cNvPr id="3" name="Picture 2"/>
          <p:cNvPicPr>
            <a:picLocks noChangeAspect="1"/>
          </p:cNvPicPr>
          <p:nvPr/>
        </p:nvPicPr>
        <p:blipFill>
          <a:blip r:embed="rId1"/>
          <a:stretch>
            <a:fillRect/>
          </a:stretch>
        </p:blipFill>
        <p:spPr>
          <a:xfrm>
            <a:off x="700405" y="1003300"/>
            <a:ext cx="10400030" cy="533908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2800"/>
              <a:t>T+1 Settlement Cycles</a:t>
            </a:r>
            <a:endParaRPr lang="en-IN" altLang="en-US" sz="2800"/>
          </a:p>
        </p:txBody>
      </p:sp>
      <p:pic>
        <p:nvPicPr>
          <p:cNvPr id="3" name="Picture 2"/>
          <p:cNvPicPr>
            <a:picLocks noChangeAspect="1"/>
          </p:cNvPicPr>
          <p:nvPr/>
        </p:nvPicPr>
        <p:blipFill>
          <a:blip r:embed="rId1"/>
          <a:stretch>
            <a:fillRect/>
          </a:stretch>
        </p:blipFill>
        <p:spPr>
          <a:xfrm>
            <a:off x="699770" y="1478280"/>
            <a:ext cx="10377805" cy="463359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 name="Picture 2"/>
          <p:cNvPicPr>
            <a:picLocks noChangeAspect="1"/>
          </p:cNvPicPr>
          <p:nvPr/>
        </p:nvPicPr>
        <p:blipFill>
          <a:blip r:embed="rId1"/>
          <a:stretch>
            <a:fillRect/>
          </a:stretch>
        </p:blipFill>
        <p:spPr>
          <a:xfrm>
            <a:off x="560070" y="288925"/>
            <a:ext cx="9120505" cy="609917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57"/>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RECONCILIATION</a:t>
            </a:r>
            <a:endParaRPr lang="en-US" b="1"/>
          </a:p>
        </p:txBody>
      </p:sp>
      <p:grpSp>
        <p:nvGrpSpPr>
          <p:cNvPr id="666" name="Google Shape;666;p57"/>
          <p:cNvGrpSpPr/>
          <p:nvPr/>
        </p:nvGrpSpPr>
        <p:grpSpPr>
          <a:xfrm>
            <a:off x="700550" y="1143000"/>
            <a:ext cx="10996149" cy="5000943"/>
            <a:chOff x="700550" y="1585584"/>
            <a:chExt cx="10996149" cy="4568519"/>
          </a:xfrm>
        </p:grpSpPr>
        <p:sp>
          <p:nvSpPr>
            <p:cNvPr id="667" name="Google Shape;667;p57"/>
            <p:cNvSpPr/>
            <p:nvPr/>
          </p:nvSpPr>
          <p:spPr>
            <a:xfrm flipH="1">
              <a:off x="700550" y="1585584"/>
              <a:ext cx="10996149" cy="4568519"/>
            </a:xfrm>
            <a:prstGeom prst="round2DiagRect">
              <a:avLst>
                <a:gd name="adj1" fmla="val 10412"/>
                <a:gd name="adj2" fmla="val 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68" name="Google Shape;668;p57"/>
            <p:cNvSpPr/>
            <p:nvPr/>
          </p:nvSpPr>
          <p:spPr>
            <a:xfrm flipH="1">
              <a:off x="864625" y="1766825"/>
              <a:ext cx="10667999" cy="4206036"/>
            </a:xfrm>
            <a:prstGeom prst="round2DiagRect">
              <a:avLst>
                <a:gd name="adj1" fmla="val 10412"/>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69" name="Google Shape;669;p57"/>
            <p:cNvSpPr txBox="1"/>
            <p:nvPr/>
          </p:nvSpPr>
          <p:spPr>
            <a:xfrm>
              <a:off x="1000125" y="1841704"/>
              <a:ext cx="10326636" cy="4131157"/>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Reconciliation is the Control Process by which 2 or more sets of data are compared and any discrepancies are investigated and documented through to resolution, including formal reporting and escalation.</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Reconciling positions and trades within internal books and records with the outside world is paramount in ensuring that the STO remains in control of its assets and liabilities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Reconciliation helps an STO remaining in control of its stocks and cash and is fundamental to successful and efficient operation of its business through maintaining up-to-date internal records.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pic>
        <p:nvPicPr>
          <p:cNvPr id="670" name="Google Shape;670;p57"/>
          <p:cNvPicPr preferRelativeResize="0"/>
          <p:nvPr/>
        </p:nvPicPr>
        <p:blipFill rotWithShape="1">
          <a:blip r:embed="rId1"/>
          <a:srcRect/>
          <a:stretch>
            <a:fillRect/>
          </a:stretch>
        </p:blipFill>
        <p:spPr>
          <a:xfrm>
            <a:off x="4815886" y="4386377"/>
            <a:ext cx="2765476" cy="1459808"/>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8"/>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RECONCILIATION</a:t>
            </a:r>
            <a:endParaRPr lang="en-US" b="1"/>
          </a:p>
        </p:txBody>
      </p:sp>
      <p:grpSp>
        <p:nvGrpSpPr>
          <p:cNvPr id="676" name="Google Shape;676;p58"/>
          <p:cNvGrpSpPr/>
          <p:nvPr/>
        </p:nvGrpSpPr>
        <p:grpSpPr>
          <a:xfrm>
            <a:off x="700550" y="1143000"/>
            <a:ext cx="10996149" cy="5000943"/>
            <a:chOff x="700550" y="1585584"/>
            <a:chExt cx="10996149" cy="4568519"/>
          </a:xfrm>
        </p:grpSpPr>
        <p:sp>
          <p:nvSpPr>
            <p:cNvPr id="677" name="Google Shape;677;p58"/>
            <p:cNvSpPr/>
            <p:nvPr/>
          </p:nvSpPr>
          <p:spPr>
            <a:xfrm flipH="1">
              <a:off x="700550" y="1585584"/>
              <a:ext cx="10996149" cy="4568519"/>
            </a:xfrm>
            <a:prstGeom prst="round2DiagRect">
              <a:avLst>
                <a:gd name="adj1" fmla="val 10412"/>
                <a:gd name="adj2" fmla="val 0"/>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78" name="Google Shape;678;p58"/>
            <p:cNvSpPr/>
            <p:nvPr/>
          </p:nvSpPr>
          <p:spPr>
            <a:xfrm flipH="1">
              <a:off x="864625" y="1766825"/>
              <a:ext cx="10667999" cy="4206036"/>
            </a:xfrm>
            <a:prstGeom prst="round2DiagRect">
              <a:avLst>
                <a:gd name="adj1" fmla="val 10412"/>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panose="020B0604020202020204"/>
                <a:ea typeface="Arial" panose="020B0604020202020204"/>
                <a:cs typeface="Arial" panose="020B0604020202020204"/>
                <a:sym typeface="Arial" panose="020B0604020202020204"/>
              </a:endParaRPr>
            </a:p>
          </p:txBody>
        </p:sp>
        <p:sp>
          <p:nvSpPr>
            <p:cNvPr id="679" name="Google Shape;679;p58"/>
            <p:cNvSpPr txBox="1"/>
            <p:nvPr/>
          </p:nvSpPr>
          <p:spPr>
            <a:xfrm>
              <a:off x="1000125" y="1841704"/>
              <a:ext cx="10326636" cy="4131157"/>
            </a:xfrm>
            <a:prstGeom prst="rect">
              <a:avLst/>
            </a:prstGeom>
            <a:noFill/>
            <a:ln>
              <a:noFill/>
            </a:ln>
          </p:spPr>
          <p:txBody>
            <a:bodyPr spcFirstLastPara="1" wrap="square" lIns="91425" tIns="45700" rIns="91425" bIns="45700" anchor="t" anchorCtr="0">
              <a:noAutofit/>
            </a:bodyPr>
            <a:lstStyle/>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Where does it figure in the TLC?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Front Office: Trade Execution, Booking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Middle Office: Trade Capture, Enrichment, Validation (Pre-Settlement Reconciliation)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Back Office: Trade Matching  Back Office: Settlement, Fails Management, Trade Reconciliation (Post-Settlement Reconciliation)</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pic>
        <p:nvPicPr>
          <p:cNvPr id="680" name="Google Shape;680;p58"/>
          <p:cNvPicPr preferRelativeResize="0"/>
          <p:nvPr/>
        </p:nvPicPr>
        <p:blipFill rotWithShape="1">
          <a:blip r:embed="rId1"/>
          <a:srcRect l="673" t="9923" b="1218"/>
          <a:stretch>
            <a:fillRect/>
          </a:stretch>
        </p:blipFill>
        <p:spPr>
          <a:xfrm>
            <a:off x="3454545" y="3710291"/>
            <a:ext cx="5488158" cy="2072241"/>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61"/>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TRADE REPORTING</a:t>
            </a:r>
            <a:endParaRPr lang="en-US" b="1"/>
          </a:p>
        </p:txBody>
      </p:sp>
      <p:grpSp>
        <p:nvGrpSpPr>
          <p:cNvPr id="701" name="Google Shape;701;p61"/>
          <p:cNvGrpSpPr/>
          <p:nvPr/>
        </p:nvGrpSpPr>
        <p:grpSpPr>
          <a:xfrm>
            <a:off x="700549" y="1148080"/>
            <a:ext cx="10994535" cy="4986020"/>
            <a:chOff x="700549" y="1371600"/>
            <a:chExt cx="10994535" cy="5029200"/>
          </a:xfrm>
        </p:grpSpPr>
        <p:sp>
          <p:nvSpPr>
            <p:cNvPr id="702" name="Google Shape;702;p61"/>
            <p:cNvSpPr/>
            <p:nvPr/>
          </p:nvSpPr>
          <p:spPr>
            <a:xfrm>
              <a:off x="700549" y="1371600"/>
              <a:ext cx="10987057" cy="5029200"/>
            </a:xfrm>
            <a:prstGeom prst="rect">
              <a:avLst/>
            </a:prstGeom>
            <a:solidFill>
              <a:srgbClr val="D2F4F6"/>
            </a:solidFill>
            <a:ln>
              <a:noFill/>
            </a:ln>
          </p:spPr>
          <p:txBody>
            <a:bodyPr spcFirstLastPara="1" wrap="square" lIns="91425" tIns="45700" rIns="45700" bIns="45700" anchor="t" anchorCtr="0">
              <a:noAutofit/>
            </a:bodyPr>
            <a:lstStyle/>
            <a:p>
              <a:pPr marL="228600" marR="0" lvl="0" indent="-158750" algn="l" rtl="0">
                <a:lnSpc>
                  <a:spcPct val="100000"/>
                </a:lnSpc>
                <a:spcBef>
                  <a:spcPts val="0"/>
                </a:spcBef>
                <a:spcAft>
                  <a:spcPts val="0"/>
                </a:spcAft>
                <a:buClr>
                  <a:schemeClr val="lt1"/>
                </a:buClr>
                <a:buSzPts val="1100"/>
                <a:buFont typeface="Noto Sans Symbols"/>
                <a:buNone/>
              </a:pPr>
              <a:endParaRPr sz="1100" b="0" i="0" u="none" strike="noStrike" cap="none">
                <a:solidFill>
                  <a:srgbClr val="F97700"/>
                </a:solidFill>
                <a:latin typeface="Arial" panose="020B0604020202020204"/>
                <a:ea typeface="Arial" panose="020B0604020202020204"/>
                <a:cs typeface="Arial" panose="020B0604020202020204"/>
                <a:sym typeface="Arial" panose="020B0604020202020204"/>
              </a:endParaRPr>
            </a:p>
          </p:txBody>
        </p:sp>
        <p:sp>
          <p:nvSpPr>
            <p:cNvPr id="703" name="Google Shape;703;p61"/>
            <p:cNvSpPr/>
            <p:nvPr/>
          </p:nvSpPr>
          <p:spPr>
            <a:xfrm flipH="1">
              <a:off x="4452359" y="1371600"/>
              <a:ext cx="7242725" cy="5029200"/>
            </a:xfrm>
            <a:custGeom>
              <a:avLst/>
              <a:gdLst/>
              <a:ahLst/>
              <a:cxnLst/>
              <a:rect l="l" t="t" r="r" b="b"/>
              <a:pathLst>
                <a:path w="5599084" h="5029200" extrusionOk="0">
                  <a:moveTo>
                    <a:pt x="7478" y="5029200"/>
                  </a:moveTo>
                  <a:cubicBezTo>
                    <a:pt x="4985" y="3352800"/>
                    <a:pt x="2493" y="1676400"/>
                    <a:pt x="0" y="0"/>
                  </a:cubicBezTo>
                  <a:lnTo>
                    <a:pt x="5599084" y="0"/>
                  </a:lnTo>
                  <a:lnTo>
                    <a:pt x="4341784" y="5029200"/>
                  </a:lnTo>
                  <a:lnTo>
                    <a:pt x="7478" y="5029200"/>
                  </a:lnTo>
                  <a:close/>
                </a:path>
              </a:pathLst>
            </a:custGeom>
            <a:solidFill>
              <a:schemeClr val="accent4"/>
            </a:solidFill>
            <a:ln>
              <a:noFill/>
            </a:ln>
          </p:spPr>
          <p:txBody>
            <a:bodyPr spcFirstLastPara="1" wrap="square" lIns="91425" tIns="45700" rIns="45700" bIns="45700" anchor="t" anchorCtr="0">
              <a:noAutofit/>
            </a:bodyPr>
            <a:lstStyle/>
            <a:p>
              <a:pPr marL="228600" marR="0" lvl="0" indent="-158750" algn="l" rtl="0">
                <a:lnSpc>
                  <a:spcPct val="100000"/>
                </a:lnSpc>
                <a:spcBef>
                  <a:spcPts val="0"/>
                </a:spcBef>
                <a:spcAft>
                  <a:spcPts val="0"/>
                </a:spcAft>
                <a:buClr>
                  <a:schemeClr val="lt1"/>
                </a:buClr>
                <a:buSzPts val="1100"/>
                <a:buFont typeface="Noto Sans Symbols"/>
                <a:buNone/>
              </a:pPr>
              <a:endParaRPr sz="1100" b="0" i="0" u="none" strike="noStrike" cap="none">
                <a:solidFill>
                  <a:srgbClr val="F97700"/>
                </a:solidFill>
                <a:latin typeface="Arial" panose="020B0604020202020204"/>
                <a:ea typeface="Arial" panose="020B0604020202020204"/>
                <a:cs typeface="Arial" panose="020B0604020202020204"/>
                <a:sym typeface="Arial" panose="020B0604020202020204"/>
              </a:endParaRPr>
            </a:p>
          </p:txBody>
        </p:sp>
        <p:sp>
          <p:nvSpPr>
            <p:cNvPr id="704" name="Google Shape;704;p61"/>
            <p:cNvSpPr/>
            <p:nvPr/>
          </p:nvSpPr>
          <p:spPr>
            <a:xfrm>
              <a:off x="799117" y="1508760"/>
              <a:ext cx="10789920" cy="4754880"/>
            </a:xfrm>
            <a:prstGeom prst="rect">
              <a:avLst/>
            </a:prstGeom>
            <a:solidFill>
              <a:schemeClr val="lt1"/>
            </a:solidFill>
            <a:ln w="9525" cap="flat" cmpd="sng">
              <a:solidFill>
                <a:schemeClr val="accent4"/>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45700" bIns="45700" anchor="ctr" anchorCtr="0">
              <a:noAutofit/>
            </a:bodyPr>
            <a:lstStyle/>
            <a:p>
              <a:pPr marL="285750" marR="0" lvl="0" indent="-285750" algn="l" rtl="0">
                <a:lnSpc>
                  <a:spcPct val="150000"/>
                </a:lnSpc>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Upon receipt, the regulator analyses the transaction detail and attempts to identify unusual patterns of trading, which may have been caused by, for example: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539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Market manipulation, or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539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Insider trading, and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539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Significant errors (on the part of the STO).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539750" marR="0" lvl="0" indent="-285750" algn="l" rtl="0">
                <a:lnSpc>
                  <a:spcPct val="150000"/>
                </a:lnSpc>
                <a:spcBef>
                  <a:spcPts val="1200"/>
                </a:spcBef>
                <a:spcAft>
                  <a:spcPts val="0"/>
                </a:spcAft>
                <a:buClr>
                  <a:schemeClr val="dk1"/>
                </a:buClr>
                <a:buSzPts val="17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OBJECTIVE is the identification of breaches of trading rules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64"/>
          <p:cNvSpPr txBox="1">
            <a:spLocks noGrp="1"/>
          </p:cNvSpPr>
          <p:nvPr>
            <p:ph type="title"/>
          </p:nvPr>
        </p:nvSpPr>
        <p:spPr>
          <a:xfrm>
            <a:off x="616661" y="609449"/>
            <a:ext cx="8596668" cy="1320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rebuchet MS" panose="020B0603020202020204"/>
              <a:buNone/>
            </a:pPr>
            <a:r>
              <a:rPr lang="en-US"/>
              <a:t>Life Cycle of a Typical U.S. Equity Trade</a:t>
            </a:r>
            <a:endParaRPr lang="en-US"/>
          </a:p>
        </p:txBody>
      </p:sp>
      <p:sp>
        <p:nvSpPr>
          <p:cNvPr id="607" name="Google Shape;607;p64"/>
          <p:cNvSpPr txBox="1"/>
          <p:nvPr/>
        </p:nvSpPr>
        <p:spPr>
          <a:xfrm>
            <a:off x="2762427" y="2254344"/>
            <a:ext cx="506730" cy="33083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Buy</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08" name="Google Shape;608;p64"/>
          <p:cNvSpPr txBox="1"/>
          <p:nvPr/>
        </p:nvSpPr>
        <p:spPr>
          <a:xfrm>
            <a:off x="8958122" y="2279744"/>
            <a:ext cx="477520" cy="33083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Sell</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609" name="Google Shape;609;p64"/>
          <p:cNvGrpSpPr/>
          <p:nvPr/>
        </p:nvGrpSpPr>
        <p:grpSpPr>
          <a:xfrm>
            <a:off x="5265470" y="2289650"/>
            <a:ext cx="1693037" cy="1052919"/>
            <a:chOff x="3683634" y="1767839"/>
            <a:chExt cx="1693037" cy="1052919"/>
          </a:xfrm>
        </p:grpSpPr>
        <p:sp>
          <p:nvSpPr>
            <p:cNvPr id="610" name="Google Shape;610;p64"/>
            <p:cNvSpPr/>
            <p:nvPr/>
          </p:nvSpPr>
          <p:spPr>
            <a:xfrm>
              <a:off x="3683634" y="1804758"/>
              <a:ext cx="1636395" cy="1016000"/>
            </a:xfrm>
            <a:custGeom>
              <a:avLst/>
              <a:gdLst/>
              <a:ahLst/>
              <a:cxnLst/>
              <a:rect l="l" t="t" r="r" b="b"/>
              <a:pathLst>
                <a:path w="1636395" h="1016000" extrusionOk="0">
                  <a:moveTo>
                    <a:pt x="1636267" y="0"/>
                  </a:moveTo>
                  <a:lnTo>
                    <a:pt x="0" y="0"/>
                  </a:lnTo>
                  <a:lnTo>
                    <a:pt x="0" y="1015657"/>
                  </a:lnTo>
                  <a:lnTo>
                    <a:pt x="1636267" y="1015657"/>
                  </a:lnTo>
                  <a:lnTo>
                    <a:pt x="1636267" y="0"/>
                  </a:lnTo>
                  <a:close/>
                </a:path>
              </a:pathLst>
            </a:custGeom>
            <a:solidFill>
              <a:srgbClr val="4192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11" name="Google Shape;611;p64"/>
            <p:cNvSpPr/>
            <p:nvPr/>
          </p:nvSpPr>
          <p:spPr>
            <a:xfrm>
              <a:off x="3683634" y="1804758"/>
              <a:ext cx="1636395" cy="1016000"/>
            </a:xfrm>
            <a:custGeom>
              <a:avLst/>
              <a:gdLst/>
              <a:ahLst/>
              <a:cxnLst/>
              <a:rect l="l" t="t" r="r" b="b"/>
              <a:pathLst>
                <a:path w="1636395" h="1016000" extrusionOk="0">
                  <a:moveTo>
                    <a:pt x="0" y="1015657"/>
                  </a:moveTo>
                  <a:lnTo>
                    <a:pt x="1636267" y="1015657"/>
                  </a:lnTo>
                  <a:lnTo>
                    <a:pt x="1636267" y="0"/>
                  </a:lnTo>
                  <a:lnTo>
                    <a:pt x="0" y="0"/>
                  </a:lnTo>
                  <a:lnTo>
                    <a:pt x="0" y="101565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612" name="Google Shape;612;p64"/>
            <p:cNvPicPr preferRelativeResize="0"/>
            <p:nvPr/>
          </p:nvPicPr>
          <p:blipFill rotWithShape="1">
            <a:blip r:embed="rId1"/>
            <a:srcRect/>
            <a:stretch>
              <a:fillRect/>
            </a:stretch>
          </p:blipFill>
          <p:spPr>
            <a:xfrm>
              <a:off x="3925823" y="1767839"/>
              <a:ext cx="1246631" cy="420624"/>
            </a:xfrm>
            <a:prstGeom prst="rect">
              <a:avLst/>
            </a:prstGeom>
            <a:noFill/>
            <a:ln>
              <a:noFill/>
            </a:ln>
          </p:spPr>
        </p:pic>
        <p:pic>
          <p:nvPicPr>
            <p:cNvPr id="613" name="Google Shape;613;p64"/>
            <p:cNvPicPr preferRelativeResize="0"/>
            <p:nvPr/>
          </p:nvPicPr>
          <p:blipFill rotWithShape="1">
            <a:blip r:embed="rId2"/>
            <a:srcRect/>
            <a:stretch>
              <a:fillRect/>
            </a:stretch>
          </p:blipFill>
          <p:spPr>
            <a:xfrm>
              <a:off x="3721607" y="2072639"/>
              <a:ext cx="1655064" cy="420624"/>
            </a:xfrm>
            <a:prstGeom prst="rect">
              <a:avLst/>
            </a:prstGeom>
            <a:noFill/>
            <a:ln>
              <a:noFill/>
            </a:ln>
          </p:spPr>
        </p:pic>
        <p:pic>
          <p:nvPicPr>
            <p:cNvPr id="614" name="Google Shape;614;p64"/>
            <p:cNvPicPr preferRelativeResize="0"/>
            <p:nvPr/>
          </p:nvPicPr>
          <p:blipFill rotWithShape="1">
            <a:blip r:embed="rId3"/>
            <a:srcRect/>
            <a:stretch>
              <a:fillRect/>
            </a:stretch>
          </p:blipFill>
          <p:spPr>
            <a:xfrm>
              <a:off x="4002023" y="2377439"/>
              <a:ext cx="1024127" cy="420624"/>
            </a:xfrm>
            <a:prstGeom prst="rect">
              <a:avLst/>
            </a:prstGeom>
            <a:noFill/>
            <a:ln>
              <a:noFill/>
            </a:ln>
          </p:spPr>
        </p:pic>
      </p:grpSp>
      <p:sp>
        <p:nvSpPr>
          <p:cNvPr id="615" name="Google Shape;615;p64"/>
          <p:cNvSpPr txBox="1"/>
          <p:nvPr/>
        </p:nvSpPr>
        <p:spPr>
          <a:xfrm>
            <a:off x="5450128" y="2352262"/>
            <a:ext cx="1268095" cy="941069"/>
          </a:xfrm>
          <a:prstGeom prst="rect">
            <a:avLst/>
          </a:prstGeom>
          <a:noFill/>
          <a:ln>
            <a:noFill/>
          </a:ln>
        </p:spPr>
        <p:txBody>
          <a:bodyPr spcFirstLastPara="1" wrap="square" lIns="0" tIns="13325" rIns="0" bIns="0" anchor="t" anchorCtr="0">
            <a:spAutoFit/>
          </a:bodyPr>
          <a:lstStyle/>
          <a:p>
            <a:pPr marL="12700" marR="5080" lvl="0" indent="-635"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FFFFFF"/>
                </a:solidFill>
                <a:latin typeface="Arial" panose="020B0604020202020204"/>
                <a:ea typeface="Arial" panose="020B0604020202020204"/>
                <a:cs typeface="Arial" panose="020B0604020202020204"/>
                <a:sym typeface="Arial" panose="020B0604020202020204"/>
              </a:rPr>
              <a:t>NYSE /  NASDAQ /  ECNs</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616" name="Google Shape;616;p64"/>
          <p:cNvGrpSpPr/>
          <p:nvPr/>
        </p:nvGrpSpPr>
        <p:grpSpPr>
          <a:xfrm>
            <a:off x="5288203" y="3853275"/>
            <a:ext cx="1645920" cy="437451"/>
            <a:chOff x="3706367" y="3331464"/>
            <a:chExt cx="1645920" cy="437451"/>
          </a:xfrm>
        </p:grpSpPr>
        <p:sp>
          <p:nvSpPr>
            <p:cNvPr id="617" name="Google Shape;617;p64"/>
            <p:cNvSpPr/>
            <p:nvPr/>
          </p:nvSpPr>
          <p:spPr>
            <a:xfrm>
              <a:off x="3706367" y="3368230"/>
              <a:ext cx="1645920" cy="400685"/>
            </a:xfrm>
            <a:custGeom>
              <a:avLst/>
              <a:gdLst/>
              <a:ahLst/>
              <a:cxnLst/>
              <a:rect l="l" t="t" r="r" b="b"/>
              <a:pathLst>
                <a:path w="1645920" h="400685" extrusionOk="0">
                  <a:moveTo>
                    <a:pt x="1645919" y="0"/>
                  </a:moveTo>
                  <a:lnTo>
                    <a:pt x="0" y="0"/>
                  </a:lnTo>
                  <a:lnTo>
                    <a:pt x="0" y="400113"/>
                  </a:lnTo>
                  <a:lnTo>
                    <a:pt x="1645919" y="400113"/>
                  </a:lnTo>
                  <a:lnTo>
                    <a:pt x="1645919" y="0"/>
                  </a:lnTo>
                  <a:close/>
                </a:path>
              </a:pathLst>
            </a:custGeom>
            <a:solidFill>
              <a:srgbClr val="003D9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618" name="Google Shape;618;p64"/>
            <p:cNvPicPr preferRelativeResize="0"/>
            <p:nvPr/>
          </p:nvPicPr>
          <p:blipFill rotWithShape="1">
            <a:blip r:embed="rId4"/>
            <a:srcRect/>
            <a:stretch>
              <a:fillRect/>
            </a:stretch>
          </p:blipFill>
          <p:spPr>
            <a:xfrm>
              <a:off x="4009643" y="3331464"/>
              <a:ext cx="1066800" cy="420624"/>
            </a:xfrm>
            <a:prstGeom prst="rect">
              <a:avLst/>
            </a:prstGeom>
            <a:noFill/>
            <a:ln>
              <a:noFill/>
            </a:ln>
          </p:spPr>
        </p:pic>
      </p:grpSp>
      <p:sp>
        <p:nvSpPr>
          <p:cNvPr id="619" name="Google Shape;619;p64"/>
          <p:cNvSpPr txBox="1"/>
          <p:nvPr/>
        </p:nvSpPr>
        <p:spPr>
          <a:xfrm>
            <a:off x="5288203" y="3890041"/>
            <a:ext cx="1645920" cy="400685"/>
          </a:xfrm>
          <a:prstGeom prst="rect">
            <a:avLst/>
          </a:prstGeom>
          <a:noFill/>
          <a:ln w="9525" cap="flat" cmpd="sng">
            <a:solidFill>
              <a:srgbClr val="000000"/>
            </a:solidFill>
            <a:prstDash val="solid"/>
            <a:round/>
            <a:headEnd type="none" w="sm" len="sm"/>
            <a:tailEnd type="none" w="sm" len="sm"/>
          </a:ln>
        </p:spPr>
        <p:txBody>
          <a:bodyPr spcFirstLastPara="1" wrap="square" lIns="0" tIns="39350" rIns="0" bIns="0" anchor="t" anchorCtr="0">
            <a:spAutoFit/>
          </a:bodyPr>
          <a:lstStyle/>
          <a:p>
            <a:pPr marL="46228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FFFFFF"/>
                </a:solidFill>
                <a:latin typeface="Arial" panose="020B0604020202020204"/>
                <a:ea typeface="Arial" panose="020B0604020202020204"/>
                <a:cs typeface="Arial" panose="020B0604020202020204"/>
                <a:sym typeface="Arial" panose="020B0604020202020204"/>
              </a:rPr>
              <a:t>NSCC</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620" name="Google Shape;620;p64"/>
          <p:cNvGrpSpPr/>
          <p:nvPr/>
        </p:nvGrpSpPr>
        <p:grpSpPr>
          <a:xfrm>
            <a:off x="5306872" y="5189822"/>
            <a:ext cx="1645920" cy="438722"/>
            <a:chOff x="3725036" y="4668011"/>
            <a:chExt cx="1645920" cy="438722"/>
          </a:xfrm>
        </p:grpSpPr>
        <p:sp>
          <p:nvSpPr>
            <p:cNvPr id="621" name="Google Shape;621;p64"/>
            <p:cNvSpPr/>
            <p:nvPr/>
          </p:nvSpPr>
          <p:spPr>
            <a:xfrm>
              <a:off x="3725036" y="4706048"/>
              <a:ext cx="1645920" cy="400685"/>
            </a:xfrm>
            <a:custGeom>
              <a:avLst/>
              <a:gdLst/>
              <a:ahLst/>
              <a:cxnLst/>
              <a:rect l="l" t="t" r="r" b="b"/>
              <a:pathLst>
                <a:path w="1645920" h="400685" extrusionOk="0">
                  <a:moveTo>
                    <a:pt x="1645919" y="0"/>
                  </a:moveTo>
                  <a:lnTo>
                    <a:pt x="0" y="0"/>
                  </a:lnTo>
                  <a:lnTo>
                    <a:pt x="0" y="400113"/>
                  </a:lnTo>
                  <a:lnTo>
                    <a:pt x="1645919" y="400113"/>
                  </a:lnTo>
                  <a:lnTo>
                    <a:pt x="1645919"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622" name="Google Shape;622;p64"/>
            <p:cNvPicPr preferRelativeResize="0"/>
            <p:nvPr/>
          </p:nvPicPr>
          <p:blipFill rotWithShape="1">
            <a:blip r:embed="rId5"/>
            <a:srcRect/>
            <a:stretch>
              <a:fillRect/>
            </a:stretch>
          </p:blipFill>
          <p:spPr>
            <a:xfrm>
              <a:off x="4034027" y="4668011"/>
              <a:ext cx="1053084" cy="420624"/>
            </a:xfrm>
            <a:prstGeom prst="rect">
              <a:avLst/>
            </a:prstGeom>
            <a:noFill/>
            <a:ln>
              <a:noFill/>
            </a:ln>
          </p:spPr>
        </p:pic>
      </p:grpSp>
      <p:sp>
        <p:nvSpPr>
          <p:cNvPr id="623" name="Google Shape;623;p64"/>
          <p:cNvSpPr txBox="1"/>
          <p:nvPr/>
        </p:nvSpPr>
        <p:spPr>
          <a:xfrm>
            <a:off x="5306872" y="5227859"/>
            <a:ext cx="1645920" cy="400685"/>
          </a:xfrm>
          <a:prstGeom prst="rect">
            <a:avLst/>
          </a:prstGeom>
          <a:noFill/>
          <a:ln w="9525" cap="flat" cmpd="sng">
            <a:solidFill>
              <a:srgbClr val="000000"/>
            </a:solidFill>
            <a:prstDash val="solid"/>
            <a:round/>
            <a:headEnd type="none" w="sm" len="sm"/>
            <a:tailEnd type="none" w="sm" len="sm"/>
          </a:ln>
        </p:spPr>
        <p:txBody>
          <a:bodyPr spcFirstLastPara="1" wrap="square" lIns="0" tIns="39350" rIns="0" bIns="0" anchor="t" anchorCtr="0">
            <a:spAutoFit/>
          </a:bodyPr>
          <a:lstStyle/>
          <a:p>
            <a:pPr marL="46863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FFFFFF"/>
                </a:solidFill>
                <a:latin typeface="Arial" panose="020B0604020202020204"/>
                <a:ea typeface="Arial" panose="020B0604020202020204"/>
                <a:cs typeface="Arial" panose="020B0604020202020204"/>
                <a:sym typeface="Arial" panose="020B0604020202020204"/>
              </a:rPr>
              <a:t>DTCC</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4" name="Google Shape;624;p64"/>
          <p:cNvSpPr txBox="1"/>
          <p:nvPr/>
        </p:nvSpPr>
        <p:spPr>
          <a:xfrm>
            <a:off x="4409627" y="5662975"/>
            <a:ext cx="1106100" cy="843900"/>
          </a:xfrm>
          <a:prstGeom prst="rect">
            <a:avLst/>
          </a:prstGeom>
          <a:noFill/>
          <a:ln>
            <a:noFill/>
          </a:ln>
        </p:spPr>
        <p:txBody>
          <a:bodyPr spcFirstLastPara="1" wrap="square" lIns="0" tIns="12700" rIns="0" bIns="0" anchor="t" anchorCtr="0">
            <a:spAutoFit/>
          </a:bodyPr>
          <a:lstStyle/>
          <a:p>
            <a:pPr marL="12700" marR="5080" lvl="0" indent="127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Book  Entry  Receive</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5" name="Google Shape;625;p64"/>
          <p:cNvSpPr txBox="1"/>
          <p:nvPr/>
        </p:nvSpPr>
        <p:spPr>
          <a:xfrm>
            <a:off x="6942125" y="5654775"/>
            <a:ext cx="1268100" cy="843900"/>
          </a:xfrm>
          <a:prstGeom prst="rect">
            <a:avLst/>
          </a:prstGeom>
          <a:noFill/>
          <a:ln>
            <a:noFill/>
          </a:ln>
        </p:spPr>
        <p:txBody>
          <a:bodyPr spcFirstLastPara="1" wrap="square" lIns="0" tIns="12700" rIns="0" bIns="0" anchor="t" anchorCtr="0">
            <a:spAutoFit/>
          </a:bodyPr>
          <a:lstStyle/>
          <a:p>
            <a:pPr marL="12700" marR="5080" lvl="0" indent="-635"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Book  Entry  Delivery</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6" name="Google Shape;626;p64"/>
          <p:cNvSpPr txBox="1"/>
          <p:nvPr/>
        </p:nvSpPr>
        <p:spPr>
          <a:xfrm>
            <a:off x="6190539" y="3331305"/>
            <a:ext cx="11061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Locked-in</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7" name="Google Shape;627;p64"/>
          <p:cNvSpPr txBox="1"/>
          <p:nvPr/>
        </p:nvSpPr>
        <p:spPr>
          <a:xfrm>
            <a:off x="6190539" y="3605625"/>
            <a:ext cx="6356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Trade</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8" name="Google Shape;628;p64"/>
          <p:cNvSpPr txBox="1"/>
          <p:nvPr/>
        </p:nvSpPr>
        <p:spPr>
          <a:xfrm>
            <a:off x="6233464" y="4306665"/>
            <a:ext cx="1335405" cy="848994"/>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Netted  Settlement  Instructions</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29" name="Google Shape;629;p64"/>
          <p:cNvSpPr txBox="1"/>
          <p:nvPr/>
        </p:nvSpPr>
        <p:spPr>
          <a:xfrm>
            <a:off x="3347720" y="2328545"/>
            <a:ext cx="1005840" cy="3193415"/>
          </a:xfrm>
          <a:prstGeom prst="rect">
            <a:avLst/>
          </a:prstGeom>
          <a:solidFill>
            <a:srgbClr val="FFC000"/>
          </a:solid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200"/>
              <a:buFont typeface="Arial" panose="020B0604020202020204"/>
              <a:buNone/>
            </a:pPr>
            <a:endParaRPr sz="2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200"/>
              <a:buFont typeface="Arial" panose="020B0604020202020204"/>
              <a:buNone/>
            </a:pPr>
            <a:endParaRPr sz="2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200"/>
              <a:buFont typeface="Arial" panose="020B0604020202020204"/>
              <a:buNone/>
            </a:pPr>
            <a:endParaRPr sz="2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35"/>
              </a:spcBef>
              <a:spcAft>
                <a:spcPts val="0"/>
              </a:spcAft>
              <a:buClr>
                <a:srgbClr val="000000"/>
              </a:buClr>
              <a:buSzPts val="2200"/>
              <a:buFont typeface="Arial" panose="020B0604020202020204"/>
              <a:buNone/>
            </a:pPr>
            <a:endParaRPr sz="22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34925"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dirty="0">
                <a:solidFill>
                  <a:schemeClr val="dk1"/>
                </a:solidFill>
                <a:latin typeface="Arial" panose="020B0604020202020204"/>
                <a:ea typeface="Arial" panose="020B0604020202020204"/>
                <a:cs typeface="Arial" panose="020B0604020202020204"/>
                <a:sym typeface="Arial" panose="020B0604020202020204"/>
              </a:rPr>
              <a:t>Broker/</a:t>
            </a:r>
            <a:endParaRPr sz="20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34925" marR="0" lvl="0" indent="0" algn="l" rtl="0">
              <a:lnSpc>
                <a:spcPct val="100000"/>
              </a:lnSpc>
              <a:spcBef>
                <a:spcPts val="0"/>
              </a:spcBef>
              <a:spcAft>
                <a:spcPts val="0"/>
              </a:spcAft>
              <a:buClr>
                <a:srgbClr val="000000"/>
              </a:buClr>
              <a:buSzPts val="2000"/>
              <a:buFont typeface="Arial" panose="020B0604020202020204"/>
              <a:buNone/>
            </a:pPr>
            <a:r>
              <a:rPr lang="en-IN" altLang="en-US" sz="2000" b="1" i="0" u="none" strike="noStrike" cap="none" dirty="0">
                <a:solidFill>
                  <a:schemeClr val="dk1"/>
                </a:solidFill>
                <a:latin typeface="Arial" panose="020B0604020202020204"/>
                <a:ea typeface="Arial" panose="020B0604020202020204"/>
                <a:cs typeface="Arial" panose="020B0604020202020204"/>
                <a:sym typeface="Arial" panose="020B0604020202020204"/>
              </a:rPr>
              <a:t>STO </a:t>
            </a:r>
            <a:endParaRPr lang="en-IN" altLang="en-US" sz="20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630" name="Google Shape;630;p64"/>
          <p:cNvSpPr txBox="1"/>
          <p:nvPr/>
        </p:nvSpPr>
        <p:spPr>
          <a:xfrm>
            <a:off x="7849235" y="2328545"/>
            <a:ext cx="1005840" cy="3193415"/>
          </a:xfrm>
          <a:prstGeom prst="rect">
            <a:avLst/>
          </a:prstGeom>
          <a:solidFill>
            <a:srgbClr val="FFC000"/>
          </a:solid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200"/>
              <a:buFont typeface="Arial" panose="020B0604020202020204"/>
              <a:buNone/>
            </a:pPr>
            <a:endParaRPr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200"/>
              <a:buFont typeface="Arial" panose="020B0604020202020204"/>
              <a:buNone/>
            </a:pPr>
            <a:endParaRPr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200"/>
              <a:buFont typeface="Arial" panose="020B0604020202020204"/>
              <a:buNone/>
            </a:pPr>
            <a:endParaRPr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30"/>
              </a:spcBef>
              <a:spcAft>
                <a:spcPts val="0"/>
              </a:spcAft>
              <a:buClr>
                <a:srgbClr val="000000"/>
              </a:buClr>
              <a:buSzPts val="2450"/>
              <a:buFont typeface="Arial" panose="020B0604020202020204"/>
              <a:buNone/>
            </a:pPr>
            <a:endParaRPr sz="245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4572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Broker/  </a:t>
            </a:r>
            <a:r>
              <a:rPr lang="en-IN" alt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STO</a:t>
            </a:r>
            <a:endParaRPr lang="en-IN" altLang="en-US"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31" name="Google Shape;631;p64"/>
          <p:cNvSpPr txBox="1"/>
          <p:nvPr/>
        </p:nvSpPr>
        <p:spPr>
          <a:xfrm>
            <a:off x="2759989" y="2874612"/>
            <a:ext cx="511175"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Order</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32" name="Google Shape;632;p64"/>
          <p:cNvSpPr/>
          <p:nvPr/>
        </p:nvSpPr>
        <p:spPr>
          <a:xfrm>
            <a:off x="2640901" y="3104711"/>
            <a:ext cx="690880" cy="855980"/>
          </a:xfrm>
          <a:custGeom>
            <a:avLst/>
            <a:gdLst/>
            <a:ahLst/>
            <a:cxnLst/>
            <a:rect l="l" t="t" r="r" b="b"/>
            <a:pathLst>
              <a:path w="690880" h="855979" extrusionOk="0">
                <a:moveTo>
                  <a:pt x="680072" y="750849"/>
                </a:moveTo>
                <a:lnTo>
                  <a:pt x="108369" y="750849"/>
                </a:lnTo>
                <a:lnTo>
                  <a:pt x="161709" y="719734"/>
                </a:lnTo>
                <a:lnTo>
                  <a:pt x="167360" y="714692"/>
                </a:lnTo>
                <a:lnTo>
                  <a:pt x="170522" y="708088"/>
                </a:lnTo>
                <a:lnTo>
                  <a:pt x="171005" y="700773"/>
                </a:lnTo>
                <a:lnTo>
                  <a:pt x="168567" y="693572"/>
                </a:lnTo>
                <a:lnTo>
                  <a:pt x="163537" y="687971"/>
                </a:lnTo>
                <a:lnTo>
                  <a:pt x="156959" y="684809"/>
                </a:lnTo>
                <a:lnTo>
                  <a:pt x="149669" y="684326"/>
                </a:lnTo>
                <a:lnTo>
                  <a:pt x="142519" y="686714"/>
                </a:lnTo>
                <a:lnTo>
                  <a:pt x="0" y="769899"/>
                </a:lnTo>
                <a:lnTo>
                  <a:pt x="142519" y="853084"/>
                </a:lnTo>
                <a:lnTo>
                  <a:pt x="149669" y="855484"/>
                </a:lnTo>
                <a:lnTo>
                  <a:pt x="156959" y="855002"/>
                </a:lnTo>
                <a:lnTo>
                  <a:pt x="163537" y="851839"/>
                </a:lnTo>
                <a:lnTo>
                  <a:pt x="168567" y="846226"/>
                </a:lnTo>
                <a:lnTo>
                  <a:pt x="171005" y="839038"/>
                </a:lnTo>
                <a:lnTo>
                  <a:pt x="170522" y="831723"/>
                </a:lnTo>
                <a:lnTo>
                  <a:pt x="167360" y="825119"/>
                </a:lnTo>
                <a:lnTo>
                  <a:pt x="161709" y="820064"/>
                </a:lnTo>
                <a:lnTo>
                  <a:pt x="108369" y="788949"/>
                </a:lnTo>
                <a:lnTo>
                  <a:pt x="680072" y="788949"/>
                </a:lnTo>
                <a:lnTo>
                  <a:pt x="680072" y="750849"/>
                </a:lnTo>
                <a:close/>
              </a:path>
              <a:path w="690880" h="855979" extrusionOk="0">
                <a:moveTo>
                  <a:pt x="690486" y="85623"/>
                </a:moveTo>
                <a:lnTo>
                  <a:pt x="657847" y="66573"/>
                </a:lnTo>
                <a:lnTo>
                  <a:pt x="547992" y="2438"/>
                </a:lnTo>
                <a:lnTo>
                  <a:pt x="540791" y="0"/>
                </a:lnTo>
                <a:lnTo>
                  <a:pt x="533488" y="495"/>
                </a:lnTo>
                <a:lnTo>
                  <a:pt x="526935" y="3683"/>
                </a:lnTo>
                <a:lnTo>
                  <a:pt x="521957" y="9296"/>
                </a:lnTo>
                <a:lnTo>
                  <a:pt x="519480" y="16497"/>
                </a:lnTo>
                <a:lnTo>
                  <a:pt x="519950" y="23799"/>
                </a:lnTo>
                <a:lnTo>
                  <a:pt x="523125" y="30353"/>
                </a:lnTo>
                <a:lnTo>
                  <a:pt x="528815" y="35331"/>
                </a:lnTo>
                <a:lnTo>
                  <a:pt x="582358" y="66573"/>
                </a:lnTo>
                <a:lnTo>
                  <a:pt x="50317" y="66573"/>
                </a:lnTo>
                <a:lnTo>
                  <a:pt x="50317" y="104673"/>
                </a:lnTo>
                <a:lnTo>
                  <a:pt x="582142" y="104673"/>
                </a:lnTo>
                <a:lnTo>
                  <a:pt x="528815" y="135788"/>
                </a:lnTo>
                <a:lnTo>
                  <a:pt x="523125" y="140843"/>
                </a:lnTo>
                <a:lnTo>
                  <a:pt x="519950" y="147434"/>
                </a:lnTo>
                <a:lnTo>
                  <a:pt x="519480" y="154711"/>
                </a:lnTo>
                <a:lnTo>
                  <a:pt x="521957" y="161823"/>
                </a:lnTo>
                <a:lnTo>
                  <a:pt x="526935" y="167513"/>
                </a:lnTo>
                <a:lnTo>
                  <a:pt x="533488" y="170688"/>
                </a:lnTo>
                <a:lnTo>
                  <a:pt x="540791" y="171157"/>
                </a:lnTo>
                <a:lnTo>
                  <a:pt x="547992" y="168681"/>
                </a:lnTo>
                <a:lnTo>
                  <a:pt x="657796" y="104673"/>
                </a:lnTo>
                <a:lnTo>
                  <a:pt x="690486" y="8562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33" name="Google Shape;633;p64"/>
          <p:cNvSpPr txBox="1"/>
          <p:nvPr/>
        </p:nvSpPr>
        <p:spPr>
          <a:xfrm>
            <a:off x="2624658" y="3959701"/>
            <a:ext cx="708025"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Confirm</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34" name="Google Shape;634;p64"/>
          <p:cNvSpPr/>
          <p:nvPr/>
        </p:nvSpPr>
        <p:spPr>
          <a:xfrm>
            <a:off x="4410888" y="2884620"/>
            <a:ext cx="3351529" cy="172720"/>
          </a:xfrm>
          <a:custGeom>
            <a:avLst/>
            <a:gdLst/>
            <a:ahLst/>
            <a:cxnLst/>
            <a:rect l="l" t="t" r="r" b="b"/>
            <a:pathLst>
              <a:path w="3351529" h="172719" extrusionOk="0">
                <a:moveTo>
                  <a:pt x="823087" y="86893"/>
                </a:moveTo>
                <a:lnTo>
                  <a:pt x="680720" y="3454"/>
                </a:lnTo>
                <a:lnTo>
                  <a:pt x="673595" y="990"/>
                </a:lnTo>
                <a:lnTo>
                  <a:pt x="666318" y="1460"/>
                </a:lnTo>
                <a:lnTo>
                  <a:pt x="659726" y="4635"/>
                </a:lnTo>
                <a:lnTo>
                  <a:pt x="654685" y="10312"/>
                </a:lnTo>
                <a:lnTo>
                  <a:pt x="652208" y="17437"/>
                </a:lnTo>
                <a:lnTo>
                  <a:pt x="652678" y="24714"/>
                </a:lnTo>
                <a:lnTo>
                  <a:pt x="655853" y="31305"/>
                </a:lnTo>
                <a:lnTo>
                  <a:pt x="661543" y="36347"/>
                </a:lnTo>
                <a:lnTo>
                  <a:pt x="714819" y="67589"/>
                </a:lnTo>
                <a:lnTo>
                  <a:pt x="108280" y="66459"/>
                </a:lnTo>
                <a:lnTo>
                  <a:pt x="108508" y="66319"/>
                </a:lnTo>
                <a:lnTo>
                  <a:pt x="161798" y="35331"/>
                </a:lnTo>
                <a:lnTo>
                  <a:pt x="167411" y="30353"/>
                </a:lnTo>
                <a:lnTo>
                  <a:pt x="170599" y="23799"/>
                </a:lnTo>
                <a:lnTo>
                  <a:pt x="171094" y="16497"/>
                </a:lnTo>
                <a:lnTo>
                  <a:pt x="168656" y="9296"/>
                </a:lnTo>
                <a:lnTo>
                  <a:pt x="163664" y="3683"/>
                </a:lnTo>
                <a:lnTo>
                  <a:pt x="157111" y="495"/>
                </a:lnTo>
                <a:lnTo>
                  <a:pt x="149809" y="0"/>
                </a:lnTo>
                <a:lnTo>
                  <a:pt x="142621" y="2438"/>
                </a:lnTo>
                <a:lnTo>
                  <a:pt x="0" y="85242"/>
                </a:lnTo>
                <a:lnTo>
                  <a:pt x="142367" y="168681"/>
                </a:lnTo>
                <a:lnTo>
                  <a:pt x="149479" y="171157"/>
                </a:lnTo>
                <a:lnTo>
                  <a:pt x="156756" y="170700"/>
                </a:lnTo>
                <a:lnTo>
                  <a:pt x="108153" y="104559"/>
                </a:lnTo>
                <a:lnTo>
                  <a:pt x="714895" y="105689"/>
                </a:lnTo>
                <a:lnTo>
                  <a:pt x="661289" y="136804"/>
                </a:lnTo>
                <a:lnTo>
                  <a:pt x="655599" y="141846"/>
                </a:lnTo>
                <a:lnTo>
                  <a:pt x="652424" y="148399"/>
                </a:lnTo>
                <a:lnTo>
                  <a:pt x="651954" y="155663"/>
                </a:lnTo>
                <a:lnTo>
                  <a:pt x="654431" y="162839"/>
                </a:lnTo>
                <a:lnTo>
                  <a:pt x="659409" y="168529"/>
                </a:lnTo>
                <a:lnTo>
                  <a:pt x="665962" y="171704"/>
                </a:lnTo>
                <a:lnTo>
                  <a:pt x="673265" y="172173"/>
                </a:lnTo>
                <a:lnTo>
                  <a:pt x="680466" y="169697"/>
                </a:lnTo>
                <a:lnTo>
                  <a:pt x="790486" y="105816"/>
                </a:lnTo>
                <a:lnTo>
                  <a:pt x="823087" y="86893"/>
                </a:lnTo>
                <a:close/>
              </a:path>
              <a:path w="3351529" h="172719" extrusionOk="0">
                <a:moveTo>
                  <a:pt x="3351276" y="86893"/>
                </a:moveTo>
                <a:lnTo>
                  <a:pt x="3208909" y="3454"/>
                </a:lnTo>
                <a:lnTo>
                  <a:pt x="3201708" y="990"/>
                </a:lnTo>
                <a:lnTo>
                  <a:pt x="3194405" y="1460"/>
                </a:lnTo>
                <a:lnTo>
                  <a:pt x="3187852" y="4635"/>
                </a:lnTo>
                <a:lnTo>
                  <a:pt x="3182874" y="10312"/>
                </a:lnTo>
                <a:lnTo>
                  <a:pt x="3180397" y="17437"/>
                </a:lnTo>
                <a:lnTo>
                  <a:pt x="3180854" y="24714"/>
                </a:lnTo>
                <a:lnTo>
                  <a:pt x="3183991" y="31305"/>
                </a:lnTo>
                <a:lnTo>
                  <a:pt x="3189605" y="36347"/>
                </a:lnTo>
                <a:lnTo>
                  <a:pt x="3242881" y="67589"/>
                </a:lnTo>
                <a:lnTo>
                  <a:pt x="2636342" y="66459"/>
                </a:lnTo>
                <a:lnTo>
                  <a:pt x="2636570" y="66319"/>
                </a:lnTo>
                <a:lnTo>
                  <a:pt x="2689860" y="35331"/>
                </a:lnTo>
                <a:lnTo>
                  <a:pt x="2695537" y="30353"/>
                </a:lnTo>
                <a:lnTo>
                  <a:pt x="2698724" y="23799"/>
                </a:lnTo>
                <a:lnTo>
                  <a:pt x="2699232" y="16497"/>
                </a:lnTo>
                <a:lnTo>
                  <a:pt x="2696845" y="9296"/>
                </a:lnTo>
                <a:lnTo>
                  <a:pt x="2691790" y="3683"/>
                </a:lnTo>
                <a:lnTo>
                  <a:pt x="2685199" y="495"/>
                </a:lnTo>
                <a:lnTo>
                  <a:pt x="2677922" y="0"/>
                </a:lnTo>
                <a:lnTo>
                  <a:pt x="2670810" y="2438"/>
                </a:lnTo>
                <a:lnTo>
                  <a:pt x="2528062" y="85242"/>
                </a:lnTo>
                <a:lnTo>
                  <a:pt x="2670429" y="168681"/>
                </a:lnTo>
                <a:lnTo>
                  <a:pt x="2677604" y="171157"/>
                </a:lnTo>
                <a:lnTo>
                  <a:pt x="2684869" y="170700"/>
                </a:lnTo>
                <a:lnTo>
                  <a:pt x="2636342" y="104559"/>
                </a:lnTo>
                <a:lnTo>
                  <a:pt x="3243084" y="105689"/>
                </a:lnTo>
                <a:lnTo>
                  <a:pt x="3189478" y="136804"/>
                </a:lnTo>
                <a:lnTo>
                  <a:pt x="3183788" y="141846"/>
                </a:lnTo>
                <a:lnTo>
                  <a:pt x="3180600" y="148399"/>
                </a:lnTo>
                <a:lnTo>
                  <a:pt x="3180092" y="155663"/>
                </a:lnTo>
                <a:lnTo>
                  <a:pt x="3182493" y="162839"/>
                </a:lnTo>
                <a:lnTo>
                  <a:pt x="3187535" y="168529"/>
                </a:lnTo>
                <a:lnTo>
                  <a:pt x="3194126" y="171704"/>
                </a:lnTo>
                <a:lnTo>
                  <a:pt x="3201403" y="172173"/>
                </a:lnTo>
                <a:lnTo>
                  <a:pt x="3208528" y="169697"/>
                </a:lnTo>
                <a:lnTo>
                  <a:pt x="3318649" y="105816"/>
                </a:lnTo>
                <a:lnTo>
                  <a:pt x="3351276" y="8689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35" name="Google Shape;635;p64"/>
          <p:cNvSpPr txBox="1"/>
          <p:nvPr/>
        </p:nvSpPr>
        <p:spPr>
          <a:xfrm>
            <a:off x="4379646" y="2381472"/>
            <a:ext cx="876300" cy="452755"/>
          </a:xfrm>
          <a:prstGeom prst="rect">
            <a:avLst/>
          </a:prstGeom>
          <a:noFill/>
          <a:ln>
            <a:noFill/>
          </a:ln>
        </p:spPr>
        <p:txBody>
          <a:bodyPr spcFirstLastPara="1" wrap="square" lIns="0" tIns="13325" rIns="0" bIns="0" anchor="t" anchorCtr="0">
            <a:spAutoFit/>
          </a:bodyPr>
          <a:lstStyle/>
          <a:p>
            <a:pPr marL="12700" marR="5080" lvl="0" indent="133985" algn="l"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Order /  Execution</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36" name="Google Shape;636;p64"/>
          <p:cNvSpPr/>
          <p:nvPr/>
        </p:nvSpPr>
        <p:spPr>
          <a:xfrm>
            <a:off x="4410887" y="4050091"/>
            <a:ext cx="823594" cy="172720"/>
          </a:xfrm>
          <a:custGeom>
            <a:avLst/>
            <a:gdLst/>
            <a:ahLst/>
            <a:cxnLst/>
            <a:rect l="l" t="t" r="r" b="b"/>
            <a:pathLst>
              <a:path w="823595" h="172720" extrusionOk="0">
                <a:moveTo>
                  <a:pt x="714798" y="105693"/>
                </a:moveTo>
                <a:lnTo>
                  <a:pt x="661288" y="136812"/>
                </a:lnTo>
                <a:lnTo>
                  <a:pt x="655609" y="141791"/>
                </a:lnTo>
                <a:lnTo>
                  <a:pt x="652430" y="148353"/>
                </a:lnTo>
                <a:lnTo>
                  <a:pt x="651966" y="155654"/>
                </a:lnTo>
                <a:lnTo>
                  <a:pt x="654431" y="162847"/>
                </a:lnTo>
                <a:lnTo>
                  <a:pt x="659409" y="168473"/>
                </a:lnTo>
                <a:lnTo>
                  <a:pt x="665972" y="171658"/>
                </a:lnTo>
                <a:lnTo>
                  <a:pt x="673272" y="172152"/>
                </a:lnTo>
                <a:lnTo>
                  <a:pt x="680465" y="169705"/>
                </a:lnTo>
                <a:lnTo>
                  <a:pt x="790494" y="105824"/>
                </a:lnTo>
                <a:lnTo>
                  <a:pt x="714798" y="105693"/>
                </a:lnTo>
                <a:close/>
              </a:path>
              <a:path w="823595" h="172720" extrusionOk="0">
                <a:moveTo>
                  <a:pt x="149796" y="0"/>
                </a:moveTo>
                <a:lnTo>
                  <a:pt x="142621" y="2446"/>
                </a:lnTo>
                <a:lnTo>
                  <a:pt x="0" y="85250"/>
                </a:lnTo>
                <a:lnTo>
                  <a:pt x="142367" y="168689"/>
                </a:lnTo>
                <a:lnTo>
                  <a:pt x="149488" y="171154"/>
                </a:lnTo>
                <a:lnTo>
                  <a:pt x="156765" y="170689"/>
                </a:lnTo>
                <a:lnTo>
                  <a:pt x="163351" y="167511"/>
                </a:lnTo>
                <a:lnTo>
                  <a:pt x="168402" y="161831"/>
                </a:lnTo>
                <a:lnTo>
                  <a:pt x="170866" y="154709"/>
                </a:lnTo>
                <a:lnTo>
                  <a:pt x="170402" y="147433"/>
                </a:lnTo>
                <a:lnTo>
                  <a:pt x="167223" y="140846"/>
                </a:lnTo>
                <a:lnTo>
                  <a:pt x="161544" y="135796"/>
                </a:lnTo>
                <a:lnTo>
                  <a:pt x="108257" y="104559"/>
                </a:lnTo>
                <a:lnTo>
                  <a:pt x="37718" y="104427"/>
                </a:lnTo>
                <a:lnTo>
                  <a:pt x="37846" y="66327"/>
                </a:lnTo>
                <a:lnTo>
                  <a:pt x="108413" y="66327"/>
                </a:lnTo>
                <a:lnTo>
                  <a:pt x="161798" y="35339"/>
                </a:lnTo>
                <a:lnTo>
                  <a:pt x="167423" y="30360"/>
                </a:lnTo>
                <a:lnTo>
                  <a:pt x="170608" y="23798"/>
                </a:lnTo>
                <a:lnTo>
                  <a:pt x="171102" y="16498"/>
                </a:lnTo>
                <a:lnTo>
                  <a:pt x="168656" y="9304"/>
                </a:lnTo>
                <a:lnTo>
                  <a:pt x="163623" y="3679"/>
                </a:lnTo>
                <a:lnTo>
                  <a:pt x="157067" y="494"/>
                </a:lnTo>
                <a:lnTo>
                  <a:pt x="149796" y="0"/>
                </a:lnTo>
                <a:close/>
              </a:path>
              <a:path w="823595" h="172720" extrusionOk="0">
                <a:moveTo>
                  <a:pt x="747440" y="86709"/>
                </a:moveTo>
                <a:lnTo>
                  <a:pt x="714798" y="105693"/>
                </a:lnTo>
                <a:lnTo>
                  <a:pt x="785240" y="105824"/>
                </a:lnTo>
                <a:lnTo>
                  <a:pt x="785249" y="103284"/>
                </a:lnTo>
                <a:lnTo>
                  <a:pt x="775715" y="103284"/>
                </a:lnTo>
                <a:lnTo>
                  <a:pt x="747440" y="86709"/>
                </a:lnTo>
                <a:close/>
              </a:path>
              <a:path w="823595" h="172720" extrusionOk="0">
                <a:moveTo>
                  <a:pt x="673598" y="998"/>
                </a:moveTo>
                <a:lnTo>
                  <a:pt x="666321" y="1462"/>
                </a:lnTo>
                <a:lnTo>
                  <a:pt x="659735" y="4641"/>
                </a:lnTo>
                <a:lnTo>
                  <a:pt x="654685" y="10320"/>
                </a:lnTo>
                <a:lnTo>
                  <a:pt x="652220" y="17442"/>
                </a:lnTo>
                <a:lnTo>
                  <a:pt x="652684" y="24719"/>
                </a:lnTo>
                <a:lnTo>
                  <a:pt x="655863" y="31305"/>
                </a:lnTo>
                <a:lnTo>
                  <a:pt x="661543" y="36355"/>
                </a:lnTo>
                <a:lnTo>
                  <a:pt x="714829" y="67592"/>
                </a:lnTo>
                <a:lnTo>
                  <a:pt x="785368" y="67724"/>
                </a:lnTo>
                <a:lnTo>
                  <a:pt x="785240" y="105824"/>
                </a:lnTo>
                <a:lnTo>
                  <a:pt x="790494" y="105824"/>
                </a:lnTo>
                <a:lnTo>
                  <a:pt x="823087" y="86901"/>
                </a:lnTo>
                <a:lnTo>
                  <a:pt x="680720" y="3462"/>
                </a:lnTo>
                <a:lnTo>
                  <a:pt x="673598" y="998"/>
                </a:lnTo>
                <a:close/>
              </a:path>
              <a:path w="823595" h="172720" extrusionOk="0">
                <a:moveTo>
                  <a:pt x="108186" y="66459"/>
                </a:moveTo>
                <a:lnTo>
                  <a:pt x="75564" y="85395"/>
                </a:lnTo>
                <a:lnTo>
                  <a:pt x="108257" y="104559"/>
                </a:lnTo>
                <a:lnTo>
                  <a:pt x="714798" y="105693"/>
                </a:lnTo>
                <a:lnTo>
                  <a:pt x="747440" y="86709"/>
                </a:lnTo>
                <a:lnTo>
                  <a:pt x="714829" y="67592"/>
                </a:lnTo>
                <a:lnTo>
                  <a:pt x="108186" y="66459"/>
                </a:lnTo>
                <a:close/>
              </a:path>
              <a:path w="823595" h="172720" extrusionOk="0">
                <a:moveTo>
                  <a:pt x="37846" y="66327"/>
                </a:moveTo>
                <a:lnTo>
                  <a:pt x="37718" y="104427"/>
                </a:lnTo>
                <a:lnTo>
                  <a:pt x="108257" y="104559"/>
                </a:lnTo>
                <a:lnTo>
                  <a:pt x="103482" y="101760"/>
                </a:lnTo>
                <a:lnTo>
                  <a:pt x="47371" y="101760"/>
                </a:lnTo>
                <a:lnTo>
                  <a:pt x="47371" y="68867"/>
                </a:lnTo>
                <a:lnTo>
                  <a:pt x="104037" y="68867"/>
                </a:lnTo>
                <a:lnTo>
                  <a:pt x="108186" y="66459"/>
                </a:lnTo>
                <a:lnTo>
                  <a:pt x="37846" y="66327"/>
                </a:lnTo>
                <a:close/>
              </a:path>
              <a:path w="823595" h="172720" extrusionOk="0">
                <a:moveTo>
                  <a:pt x="775715" y="70264"/>
                </a:moveTo>
                <a:lnTo>
                  <a:pt x="747440" y="86709"/>
                </a:lnTo>
                <a:lnTo>
                  <a:pt x="775715" y="103284"/>
                </a:lnTo>
                <a:lnTo>
                  <a:pt x="775715" y="70264"/>
                </a:lnTo>
                <a:close/>
              </a:path>
              <a:path w="823595" h="172720" extrusionOk="0">
                <a:moveTo>
                  <a:pt x="785359" y="70264"/>
                </a:moveTo>
                <a:lnTo>
                  <a:pt x="775715" y="70264"/>
                </a:lnTo>
                <a:lnTo>
                  <a:pt x="775715" y="103284"/>
                </a:lnTo>
                <a:lnTo>
                  <a:pt x="785249" y="103284"/>
                </a:lnTo>
                <a:lnTo>
                  <a:pt x="785359" y="70264"/>
                </a:lnTo>
                <a:close/>
              </a:path>
              <a:path w="823595" h="172720" extrusionOk="0">
                <a:moveTo>
                  <a:pt x="47371" y="68867"/>
                </a:moveTo>
                <a:lnTo>
                  <a:pt x="47371" y="101760"/>
                </a:lnTo>
                <a:lnTo>
                  <a:pt x="75564" y="85395"/>
                </a:lnTo>
                <a:lnTo>
                  <a:pt x="47371" y="68867"/>
                </a:lnTo>
                <a:close/>
              </a:path>
              <a:path w="823595" h="172720" extrusionOk="0">
                <a:moveTo>
                  <a:pt x="75564" y="85395"/>
                </a:moveTo>
                <a:lnTo>
                  <a:pt x="47371" y="101760"/>
                </a:lnTo>
                <a:lnTo>
                  <a:pt x="103482" y="101760"/>
                </a:lnTo>
                <a:lnTo>
                  <a:pt x="75564" y="85395"/>
                </a:lnTo>
                <a:close/>
              </a:path>
              <a:path w="823595" h="172720" extrusionOk="0">
                <a:moveTo>
                  <a:pt x="714829" y="67592"/>
                </a:moveTo>
                <a:lnTo>
                  <a:pt x="747440" y="86709"/>
                </a:lnTo>
                <a:lnTo>
                  <a:pt x="775715" y="70264"/>
                </a:lnTo>
                <a:lnTo>
                  <a:pt x="785359" y="70264"/>
                </a:lnTo>
                <a:lnTo>
                  <a:pt x="785368" y="67724"/>
                </a:lnTo>
                <a:lnTo>
                  <a:pt x="714829" y="67592"/>
                </a:lnTo>
                <a:close/>
              </a:path>
              <a:path w="823595" h="172720" extrusionOk="0">
                <a:moveTo>
                  <a:pt x="104037" y="68867"/>
                </a:moveTo>
                <a:lnTo>
                  <a:pt x="47371" y="68867"/>
                </a:lnTo>
                <a:lnTo>
                  <a:pt x="75564" y="85395"/>
                </a:lnTo>
                <a:lnTo>
                  <a:pt x="104037" y="68867"/>
                </a:lnTo>
                <a:close/>
              </a:path>
              <a:path w="823595" h="172720" extrusionOk="0">
                <a:moveTo>
                  <a:pt x="108413" y="66327"/>
                </a:moveTo>
                <a:lnTo>
                  <a:pt x="37846" y="66327"/>
                </a:lnTo>
                <a:lnTo>
                  <a:pt x="108186" y="66459"/>
                </a:lnTo>
                <a:lnTo>
                  <a:pt x="108413" y="6632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37" name="Google Shape;637;p64"/>
          <p:cNvSpPr txBox="1"/>
          <p:nvPr/>
        </p:nvSpPr>
        <p:spPr>
          <a:xfrm>
            <a:off x="4423587" y="4219796"/>
            <a:ext cx="807720" cy="23939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Matching</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38" name="Google Shape;638;p64"/>
          <p:cNvSpPr/>
          <p:nvPr/>
        </p:nvSpPr>
        <p:spPr>
          <a:xfrm>
            <a:off x="4525051" y="5349991"/>
            <a:ext cx="709429" cy="549364"/>
          </a:xfrm>
          <a:custGeom>
            <a:avLst/>
            <a:gdLst/>
            <a:ahLst/>
            <a:cxnLst/>
            <a:rect l="l" t="t" r="r" b="b"/>
            <a:pathLst>
              <a:path w="823595" h="172720" extrusionOk="0">
                <a:moveTo>
                  <a:pt x="714702" y="105752"/>
                </a:moveTo>
                <a:lnTo>
                  <a:pt x="661288" y="136757"/>
                </a:lnTo>
                <a:lnTo>
                  <a:pt x="655609" y="141807"/>
                </a:lnTo>
                <a:lnTo>
                  <a:pt x="652430" y="148393"/>
                </a:lnTo>
                <a:lnTo>
                  <a:pt x="651966" y="155670"/>
                </a:lnTo>
                <a:lnTo>
                  <a:pt x="654431" y="162792"/>
                </a:lnTo>
                <a:lnTo>
                  <a:pt x="659409" y="168473"/>
                </a:lnTo>
                <a:lnTo>
                  <a:pt x="665972" y="171666"/>
                </a:lnTo>
                <a:lnTo>
                  <a:pt x="673272" y="172168"/>
                </a:lnTo>
                <a:lnTo>
                  <a:pt x="680465" y="169777"/>
                </a:lnTo>
                <a:lnTo>
                  <a:pt x="790325" y="105896"/>
                </a:lnTo>
                <a:lnTo>
                  <a:pt x="714702" y="105752"/>
                </a:lnTo>
                <a:close/>
              </a:path>
              <a:path w="823595" h="172720" extrusionOk="0">
                <a:moveTo>
                  <a:pt x="149796" y="0"/>
                </a:moveTo>
                <a:lnTo>
                  <a:pt x="142621" y="2391"/>
                </a:lnTo>
                <a:lnTo>
                  <a:pt x="0" y="85322"/>
                </a:lnTo>
                <a:lnTo>
                  <a:pt x="142240" y="168634"/>
                </a:lnTo>
                <a:lnTo>
                  <a:pt x="149435" y="171100"/>
                </a:lnTo>
                <a:lnTo>
                  <a:pt x="156749" y="170650"/>
                </a:lnTo>
                <a:lnTo>
                  <a:pt x="163349" y="167509"/>
                </a:lnTo>
                <a:lnTo>
                  <a:pt x="168402" y="161903"/>
                </a:lnTo>
                <a:lnTo>
                  <a:pt x="170866" y="154727"/>
                </a:lnTo>
                <a:lnTo>
                  <a:pt x="170402" y="147456"/>
                </a:lnTo>
                <a:lnTo>
                  <a:pt x="167223" y="140900"/>
                </a:lnTo>
                <a:lnTo>
                  <a:pt x="161544" y="135868"/>
                </a:lnTo>
                <a:lnTo>
                  <a:pt x="108060" y="104515"/>
                </a:lnTo>
                <a:lnTo>
                  <a:pt x="37718" y="104372"/>
                </a:lnTo>
                <a:lnTo>
                  <a:pt x="37846" y="66272"/>
                </a:lnTo>
                <a:lnTo>
                  <a:pt x="108632" y="66272"/>
                </a:lnTo>
                <a:lnTo>
                  <a:pt x="161798" y="35411"/>
                </a:lnTo>
                <a:lnTo>
                  <a:pt x="167423" y="30360"/>
                </a:lnTo>
                <a:lnTo>
                  <a:pt x="170608" y="23774"/>
                </a:lnTo>
                <a:lnTo>
                  <a:pt x="171102" y="16498"/>
                </a:lnTo>
                <a:lnTo>
                  <a:pt x="168656" y="9376"/>
                </a:lnTo>
                <a:lnTo>
                  <a:pt x="163623" y="3694"/>
                </a:lnTo>
                <a:lnTo>
                  <a:pt x="157067" y="502"/>
                </a:lnTo>
                <a:lnTo>
                  <a:pt x="149796" y="0"/>
                </a:lnTo>
                <a:close/>
              </a:path>
              <a:path w="823595" h="172720" extrusionOk="0">
                <a:moveTo>
                  <a:pt x="747474" y="86729"/>
                </a:moveTo>
                <a:lnTo>
                  <a:pt x="714702" y="105752"/>
                </a:lnTo>
                <a:lnTo>
                  <a:pt x="785240" y="105896"/>
                </a:lnTo>
                <a:lnTo>
                  <a:pt x="785249" y="103229"/>
                </a:lnTo>
                <a:lnTo>
                  <a:pt x="775588" y="103229"/>
                </a:lnTo>
                <a:lnTo>
                  <a:pt x="747474" y="86729"/>
                </a:lnTo>
                <a:close/>
              </a:path>
              <a:path w="823595" h="172720" extrusionOk="0">
                <a:moveTo>
                  <a:pt x="673598" y="1067"/>
                </a:moveTo>
                <a:lnTo>
                  <a:pt x="666321" y="1518"/>
                </a:lnTo>
                <a:lnTo>
                  <a:pt x="659735" y="4659"/>
                </a:lnTo>
                <a:lnTo>
                  <a:pt x="654685" y="10265"/>
                </a:lnTo>
                <a:lnTo>
                  <a:pt x="652220" y="17458"/>
                </a:lnTo>
                <a:lnTo>
                  <a:pt x="652684" y="24759"/>
                </a:lnTo>
                <a:lnTo>
                  <a:pt x="655863" y="31321"/>
                </a:lnTo>
                <a:lnTo>
                  <a:pt x="661543" y="36300"/>
                </a:lnTo>
                <a:lnTo>
                  <a:pt x="714967" y="67652"/>
                </a:lnTo>
                <a:lnTo>
                  <a:pt x="785368" y="67796"/>
                </a:lnTo>
                <a:lnTo>
                  <a:pt x="785240" y="105896"/>
                </a:lnTo>
                <a:lnTo>
                  <a:pt x="790325" y="105896"/>
                </a:lnTo>
                <a:lnTo>
                  <a:pt x="823087" y="86846"/>
                </a:lnTo>
                <a:lnTo>
                  <a:pt x="680720" y="3534"/>
                </a:lnTo>
                <a:lnTo>
                  <a:pt x="673598" y="1067"/>
                </a:lnTo>
                <a:close/>
              </a:path>
              <a:path w="823595" h="172720" extrusionOk="0">
                <a:moveTo>
                  <a:pt x="108384" y="66415"/>
                </a:moveTo>
                <a:lnTo>
                  <a:pt x="75564" y="85466"/>
                </a:lnTo>
                <a:lnTo>
                  <a:pt x="108060" y="104515"/>
                </a:lnTo>
                <a:lnTo>
                  <a:pt x="714702" y="105752"/>
                </a:lnTo>
                <a:lnTo>
                  <a:pt x="747474" y="86729"/>
                </a:lnTo>
                <a:lnTo>
                  <a:pt x="714967" y="67652"/>
                </a:lnTo>
                <a:lnTo>
                  <a:pt x="108384" y="66415"/>
                </a:lnTo>
                <a:close/>
              </a:path>
              <a:path w="823595" h="172720" extrusionOk="0">
                <a:moveTo>
                  <a:pt x="37846" y="66272"/>
                </a:moveTo>
                <a:lnTo>
                  <a:pt x="37718" y="104372"/>
                </a:lnTo>
                <a:lnTo>
                  <a:pt x="108060" y="104515"/>
                </a:lnTo>
                <a:lnTo>
                  <a:pt x="103482" y="101832"/>
                </a:lnTo>
                <a:lnTo>
                  <a:pt x="47371" y="101832"/>
                </a:lnTo>
                <a:lnTo>
                  <a:pt x="47371" y="68939"/>
                </a:lnTo>
                <a:lnTo>
                  <a:pt x="104037" y="68939"/>
                </a:lnTo>
                <a:lnTo>
                  <a:pt x="108384" y="66415"/>
                </a:lnTo>
                <a:lnTo>
                  <a:pt x="37846" y="66272"/>
                </a:lnTo>
                <a:close/>
              </a:path>
              <a:path w="823595" h="172720" extrusionOk="0">
                <a:moveTo>
                  <a:pt x="775715" y="70336"/>
                </a:moveTo>
                <a:lnTo>
                  <a:pt x="747474" y="86729"/>
                </a:lnTo>
                <a:lnTo>
                  <a:pt x="775588" y="103229"/>
                </a:lnTo>
                <a:lnTo>
                  <a:pt x="775715" y="70336"/>
                </a:lnTo>
                <a:close/>
              </a:path>
              <a:path w="823595" h="172720" extrusionOk="0">
                <a:moveTo>
                  <a:pt x="785359" y="70336"/>
                </a:moveTo>
                <a:lnTo>
                  <a:pt x="775715" y="70336"/>
                </a:lnTo>
                <a:lnTo>
                  <a:pt x="775588" y="103229"/>
                </a:lnTo>
                <a:lnTo>
                  <a:pt x="785249" y="103229"/>
                </a:lnTo>
                <a:lnTo>
                  <a:pt x="785359" y="70336"/>
                </a:lnTo>
                <a:close/>
              </a:path>
              <a:path w="823595" h="172720" extrusionOk="0">
                <a:moveTo>
                  <a:pt x="47371" y="68939"/>
                </a:moveTo>
                <a:lnTo>
                  <a:pt x="47371" y="101832"/>
                </a:lnTo>
                <a:lnTo>
                  <a:pt x="75564" y="85466"/>
                </a:lnTo>
                <a:lnTo>
                  <a:pt x="47371" y="68939"/>
                </a:lnTo>
                <a:close/>
              </a:path>
              <a:path w="823595" h="172720" extrusionOk="0">
                <a:moveTo>
                  <a:pt x="75564" y="85466"/>
                </a:moveTo>
                <a:lnTo>
                  <a:pt x="47371" y="101832"/>
                </a:lnTo>
                <a:lnTo>
                  <a:pt x="103482" y="101832"/>
                </a:lnTo>
                <a:lnTo>
                  <a:pt x="75564" y="85466"/>
                </a:lnTo>
                <a:close/>
              </a:path>
              <a:path w="823595" h="172720" extrusionOk="0">
                <a:moveTo>
                  <a:pt x="714967" y="67652"/>
                </a:moveTo>
                <a:lnTo>
                  <a:pt x="747474" y="86729"/>
                </a:lnTo>
                <a:lnTo>
                  <a:pt x="775715" y="70336"/>
                </a:lnTo>
                <a:lnTo>
                  <a:pt x="785359" y="70336"/>
                </a:lnTo>
                <a:lnTo>
                  <a:pt x="785368" y="67796"/>
                </a:lnTo>
                <a:lnTo>
                  <a:pt x="714967" y="67652"/>
                </a:lnTo>
                <a:close/>
              </a:path>
              <a:path w="823595" h="172720" extrusionOk="0">
                <a:moveTo>
                  <a:pt x="104037" y="68939"/>
                </a:moveTo>
                <a:lnTo>
                  <a:pt x="47371" y="68939"/>
                </a:lnTo>
                <a:lnTo>
                  <a:pt x="75564" y="85466"/>
                </a:lnTo>
                <a:lnTo>
                  <a:pt x="104037" y="68939"/>
                </a:lnTo>
                <a:close/>
              </a:path>
              <a:path w="823595" h="172720" extrusionOk="0">
                <a:moveTo>
                  <a:pt x="108632" y="66272"/>
                </a:moveTo>
                <a:lnTo>
                  <a:pt x="37846" y="66272"/>
                </a:lnTo>
                <a:lnTo>
                  <a:pt x="108384" y="66415"/>
                </a:lnTo>
                <a:lnTo>
                  <a:pt x="108632" y="6627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39" name="Google Shape;639;p64"/>
          <p:cNvSpPr/>
          <p:nvPr/>
        </p:nvSpPr>
        <p:spPr>
          <a:xfrm>
            <a:off x="6005690" y="4369530"/>
            <a:ext cx="1792605" cy="1153160"/>
          </a:xfrm>
          <a:custGeom>
            <a:avLst/>
            <a:gdLst/>
            <a:ahLst/>
            <a:cxnLst/>
            <a:rect l="l" t="t" r="r" b="b"/>
            <a:pathLst>
              <a:path w="1792604" h="1153160" extrusionOk="0">
                <a:moveTo>
                  <a:pt x="171157" y="673354"/>
                </a:moveTo>
                <a:lnTo>
                  <a:pt x="170662" y="666076"/>
                </a:lnTo>
                <a:lnTo>
                  <a:pt x="167474" y="659485"/>
                </a:lnTo>
                <a:lnTo>
                  <a:pt x="161861" y="654431"/>
                </a:lnTo>
                <a:lnTo>
                  <a:pt x="154660" y="651992"/>
                </a:lnTo>
                <a:lnTo>
                  <a:pt x="147358" y="652487"/>
                </a:lnTo>
                <a:lnTo>
                  <a:pt x="140804" y="655675"/>
                </a:lnTo>
                <a:lnTo>
                  <a:pt x="135826" y="661289"/>
                </a:lnTo>
                <a:lnTo>
                  <a:pt x="104711" y="714629"/>
                </a:lnTo>
                <a:lnTo>
                  <a:pt x="104584" y="785241"/>
                </a:lnTo>
                <a:lnTo>
                  <a:pt x="104584" y="775589"/>
                </a:lnTo>
                <a:lnTo>
                  <a:pt x="104584" y="714857"/>
                </a:lnTo>
                <a:lnTo>
                  <a:pt x="104584" y="0"/>
                </a:lnTo>
                <a:lnTo>
                  <a:pt x="66484" y="0"/>
                </a:lnTo>
                <a:lnTo>
                  <a:pt x="66598" y="714857"/>
                </a:lnTo>
                <a:lnTo>
                  <a:pt x="66484" y="714629"/>
                </a:lnTo>
                <a:lnTo>
                  <a:pt x="35369" y="661289"/>
                </a:lnTo>
                <a:lnTo>
                  <a:pt x="30314" y="655675"/>
                </a:lnTo>
                <a:lnTo>
                  <a:pt x="23723" y="652487"/>
                </a:lnTo>
                <a:lnTo>
                  <a:pt x="16446" y="651992"/>
                </a:lnTo>
                <a:lnTo>
                  <a:pt x="9334" y="654431"/>
                </a:lnTo>
                <a:lnTo>
                  <a:pt x="3644" y="659485"/>
                </a:lnTo>
                <a:lnTo>
                  <a:pt x="469" y="666076"/>
                </a:lnTo>
                <a:lnTo>
                  <a:pt x="0" y="673354"/>
                </a:lnTo>
                <a:lnTo>
                  <a:pt x="2476" y="680466"/>
                </a:lnTo>
                <a:lnTo>
                  <a:pt x="85534" y="822960"/>
                </a:lnTo>
                <a:lnTo>
                  <a:pt x="107543" y="785241"/>
                </a:lnTo>
                <a:lnTo>
                  <a:pt x="168719" y="680466"/>
                </a:lnTo>
                <a:lnTo>
                  <a:pt x="171157" y="673354"/>
                </a:lnTo>
                <a:close/>
              </a:path>
              <a:path w="1792604" h="1153160" extrusionOk="0">
                <a:moveTo>
                  <a:pt x="1792287" y="1067308"/>
                </a:moveTo>
                <a:lnTo>
                  <a:pt x="1649920" y="983996"/>
                </a:lnTo>
                <a:lnTo>
                  <a:pt x="1642795" y="981532"/>
                </a:lnTo>
                <a:lnTo>
                  <a:pt x="1635518" y="981989"/>
                </a:lnTo>
                <a:lnTo>
                  <a:pt x="1628927" y="985126"/>
                </a:lnTo>
                <a:lnTo>
                  <a:pt x="1623885" y="990727"/>
                </a:lnTo>
                <a:lnTo>
                  <a:pt x="1621409" y="997902"/>
                </a:lnTo>
                <a:lnTo>
                  <a:pt x="1621866" y="1005179"/>
                </a:lnTo>
                <a:lnTo>
                  <a:pt x="1625003" y="1011732"/>
                </a:lnTo>
                <a:lnTo>
                  <a:pt x="1630616" y="1016762"/>
                </a:lnTo>
                <a:lnTo>
                  <a:pt x="1684096" y="1048118"/>
                </a:lnTo>
                <a:lnTo>
                  <a:pt x="1077582" y="1046886"/>
                </a:lnTo>
                <a:lnTo>
                  <a:pt x="1044752" y="1065936"/>
                </a:lnTo>
                <a:lnTo>
                  <a:pt x="1073226" y="1049401"/>
                </a:lnTo>
                <a:lnTo>
                  <a:pt x="1077582" y="1046886"/>
                </a:lnTo>
                <a:lnTo>
                  <a:pt x="1077823" y="1046734"/>
                </a:lnTo>
                <a:lnTo>
                  <a:pt x="1130998" y="1015873"/>
                </a:lnTo>
                <a:lnTo>
                  <a:pt x="1136599" y="1010831"/>
                </a:lnTo>
                <a:lnTo>
                  <a:pt x="1139761" y="1004239"/>
                </a:lnTo>
                <a:lnTo>
                  <a:pt x="1140244" y="996962"/>
                </a:lnTo>
                <a:lnTo>
                  <a:pt x="1137856" y="989838"/>
                </a:lnTo>
                <a:lnTo>
                  <a:pt x="1132801" y="984161"/>
                </a:lnTo>
                <a:lnTo>
                  <a:pt x="1126210" y="980973"/>
                </a:lnTo>
                <a:lnTo>
                  <a:pt x="1118933" y="980465"/>
                </a:lnTo>
                <a:lnTo>
                  <a:pt x="1111821" y="982853"/>
                </a:lnTo>
                <a:lnTo>
                  <a:pt x="969073" y="1065784"/>
                </a:lnTo>
                <a:lnTo>
                  <a:pt x="1111440" y="1149096"/>
                </a:lnTo>
                <a:lnTo>
                  <a:pt x="1118628" y="1151572"/>
                </a:lnTo>
                <a:lnTo>
                  <a:pt x="1125943" y="1151115"/>
                </a:lnTo>
                <a:lnTo>
                  <a:pt x="1077252" y="1084986"/>
                </a:lnTo>
                <a:lnTo>
                  <a:pt x="1683893" y="1086218"/>
                </a:lnTo>
                <a:lnTo>
                  <a:pt x="1630489" y="1117219"/>
                </a:lnTo>
                <a:lnTo>
                  <a:pt x="1624799" y="1122273"/>
                </a:lnTo>
                <a:lnTo>
                  <a:pt x="1621612" y="1128864"/>
                </a:lnTo>
                <a:lnTo>
                  <a:pt x="1621104" y="1136142"/>
                </a:lnTo>
                <a:lnTo>
                  <a:pt x="1623504" y="1143254"/>
                </a:lnTo>
                <a:lnTo>
                  <a:pt x="1628546" y="1148943"/>
                </a:lnTo>
                <a:lnTo>
                  <a:pt x="1635137" y="1152131"/>
                </a:lnTo>
                <a:lnTo>
                  <a:pt x="1642414" y="1152639"/>
                </a:lnTo>
                <a:lnTo>
                  <a:pt x="1649539" y="1150239"/>
                </a:lnTo>
                <a:lnTo>
                  <a:pt x="1759496" y="1086358"/>
                </a:lnTo>
                <a:lnTo>
                  <a:pt x="1792287" y="106730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40" name="Google Shape;640;p64"/>
          <p:cNvSpPr/>
          <p:nvPr/>
        </p:nvSpPr>
        <p:spPr>
          <a:xfrm>
            <a:off x="5996699" y="3399503"/>
            <a:ext cx="1801495" cy="831850"/>
          </a:xfrm>
          <a:custGeom>
            <a:avLst/>
            <a:gdLst/>
            <a:ahLst/>
            <a:cxnLst/>
            <a:rect l="l" t="t" r="r" b="b"/>
            <a:pathLst>
              <a:path w="1801495" h="831850" extrusionOk="0">
                <a:moveTo>
                  <a:pt x="171157" y="307594"/>
                </a:moveTo>
                <a:lnTo>
                  <a:pt x="154711" y="286283"/>
                </a:lnTo>
                <a:lnTo>
                  <a:pt x="147434" y="286766"/>
                </a:lnTo>
                <a:lnTo>
                  <a:pt x="140843" y="289928"/>
                </a:lnTo>
                <a:lnTo>
                  <a:pt x="135801" y="295529"/>
                </a:lnTo>
                <a:lnTo>
                  <a:pt x="104686" y="348869"/>
                </a:lnTo>
                <a:lnTo>
                  <a:pt x="104559" y="349097"/>
                </a:lnTo>
                <a:lnTo>
                  <a:pt x="104686" y="0"/>
                </a:lnTo>
                <a:lnTo>
                  <a:pt x="66586" y="0"/>
                </a:lnTo>
                <a:lnTo>
                  <a:pt x="66586" y="349097"/>
                </a:lnTo>
                <a:lnTo>
                  <a:pt x="66586" y="419481"/>
                </a:lnTo>
                <a:lnTo>
                  <a:pt x="66459" y="348869"/>
                </a:lnTo>
                <a:lnTo>
                  <a:pt x="35344" y="295529"/>
                </a:lnTo>
                <a:lnTo>
                  <a:pt x="16484" y="286283"/>
                </a:lnTo>
                <a:lnTo>
                  <a:pt x="9309" y="288671"/>
                </a:lnTo>
                <a:lnTo>
                  <a:pt x="3683" y="293725"/>
                </a:lnTo>
                <a:lnTo>
                  <a:pt x="495" y="300316"/>
                </a:lnTo>
                <a:lnTo>
                  <a:pt x="0" y="307594"/>
                </a:lnTo>
                <a:lnTo>
                  <a:pt x="2451" y="314706"/>
                </a:lnTo>
                <a:lnTo>
                  <a:pt x="85636" y="457327"/>
                </a:lnTo>
                <a:lnTo>
                  <a:pt x="107670" y="419481"/>
                </a:lnTo>
                <a:lnTo>
                  <a:pt x="168694" y="314706"/>
                </a:lnTo>
                <a:lnTo>
                  <a:pt x="171157" y="307594"/>
                </a:lnTo>
                <a:close/>
              </a:path>
              <a:path w="1801495" h="831850" extrusionOk="0">
                <a:moveTo>
                  <a:pt x="1801279" y="746379"/>
                </a:moveTo>
                <a:lnTo>
                  <a:pt x="1658912" y="662952"/>
                </a:lnTo>
                <a:lnTo>
                  <a:pt x="1651787" y="660552"/>
                </a:lnTo>
                <a:lnTo>
                  <a:pt x="1644510" y="661035"/>
                </a:lnTo>
                <a:lnTo>
                  <a:pt x="1637919" y="664197"/>
                </a:lnTo>
                <a:lnTo>
                  <a:pt x="1632877" y="669798"/>
                </a:lnTo>
                <a:lnTo>
                  <a:pt x="1630400" y="676922"/>
                </a:lnTo>
                <a:lnTo>
                  <a:pt x="1630857" y="684199"/>
                </a:lnTo>
                <a:lnTo>
                  <a:pt x="1633994" y="690791"/>
                </a:lnTo>
                <a:lnTo>
                  <a:pt x="1639608" y="695833"/>
                </a:lnTo>
                <a:lnTo>
                  <a:pt x="1693087" y="727189"/>
                </a:lnTo>
                <a:lnTo>
                  <a:pt x="1086446" y="725957"/>
                </a:lnTo>
                <a:lnTo>
                  <a:pt x="1053693" y="744969"/>
                </a:lnTo>
                <a:lnTo>
                  <a:pt x="1082090" y="728472"/>
                </a:lnTo>
                <a:lnTo>
                  <a:pt x="1086446" y="725957"/>
                </a:lnTo>
                <a:lnTo>
                  <a:pt x="1086688" y="725805"/>
                </a:lnTo>
                <a:lnTo>
                  <a:pt x="1139863" y="694944"/>
                </a:lnTo>
                <a:lnTo>
                  <a:pt x="1145540" y="689902"/>
                </a:lnTo>
                <a:lnTo>
                  <a:pt x="1148727" y="683310"/>
                </a:lnTo>
                <a:lnTo>
                  <a:pt x="1149235" y="676033"/>
                </a:lnTo>
                <a:lnTo>
                  <a:pt x="1146848" y="668909"/>
                </a:lnTo>
                <a:lnTo>
                  <a:pt x="1141793" y="663232"/>
                </a:lnTo>
                <a:lnTo>
                  <a:pt x="1135202" y="660044"/>
                </a:lnTo>
                <a:lnTo>
                  <a:pt x="1127925" y="659536"/>
                </a:lnTo>
                <a:lnTo>
                  <a:pt x="1120813" y="661924"/>
                </a:lnTo>
                <a:lnTo>
                  <a:pt x="978065" y="744855"/>
                </a:lnTo>
                <a:lnTo>
                  <a:pt x="1120432" y="828167"/>
                </a:lnTo>
                <a:lnTo>
                  <a:pt x="1127620" y="830643"/>
                </a:lnTo>
                <a:lnTo>
                  <a:pt x="1134935" y="830186"/>
                </a:lnTo>
                <a:lnTo>
                  <a:pt x="1086243" y="764057"/>
                </a:lnTo>
                <a:lnTo>
                  <a:pt x="1692884" y="765289"/>
                </a:lnTo>
                <a:lnTo>
                  <a:pt x="1639481" y="796290"/>
                </a:lnTo>
                <a:lnTo>
                  <a:pt x="1633791" y="801344"/>
                </a:lnTo>
                <a:lnTo>
                  <a:pt x="1630603" y="807935"/>
                </a:lnTo>
                <a:lnTo>
                  <a:pt x="1630095" y="815213"/>
                </a:lnTo>
                <a:lnTo>
                  <a:pt x="1632496" y="822325"/>
                </a:lnTo>
                <a:lnTo>
                  <a:pt x="1637538" y="828014"/>
                </a:lnTo>
                <a:lnTo>
                  <a:pt x="1644129" y="831202"/>
                </a:lnTo>
                <a:lnTo>
                  <a:pt x="1651406" y="831710"/>
                </a:lnTo>
                <a:lnTo>
                  <a:pt x="1658531" y="829310"/>
                </a:lnTo>
                <a:lnTo>
                  <a:pt x="1768487" y="765429"/>
                </a:lnTo>
                <a:lnTo>
                  <a:pt x="1801279" y="746379"/>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41" name="Google Shape;641;p64"/>
          <p:cNvSpPr/>
          <p:nvPr/>
        </p:nvSpPr>
        <p:spPr>
          <a:xfrm>
            <a:off x="8873414" y="3104703"/>
            <a:ext cx="640715" cy="171450"/>
          </a:xfrm>
          <a:custGeom>
            <a:avLst/>
            <a:gdLst/>
            <a:ahLst/>
            <a:cxnLst/>
            <a:rect l="l" t="t" r="r" b="b"/>
            <a:pathLst>
              <a:path w="640715" h="171450" extrusionOk="0">
                <a:moveTo>
                  <a:pt x="149687" y="0"/>
                </a:moveTo>
                <a:lnTo>
                  <a:pt x="142494" y="2446"/>
                </a:lnTo>
                <a:lnTo>
                  <a:pt x="0" y="85631"/>
                </a:lnTo>
                <a:lnTo>
                  <a:pt x="142494" y="168689"/>
                </a:lnTo>
                <a:lnTo>
                  <a:pt x="149687" y="171154"/>
                </a:lnTo>
                <a:lnTo>
                  <a:pt x="156987" y="170689"/>
                </a:lnTo>
                <a:lnTo>
                  <a:pt x="163550" y="167511"/>
                </a:lnTo>
                <a:lnTo>
                  <a:pt x="168528" y="161831"/>
                </a:lnTo>
                <a:lnTo>
                  <a:pt x="170993" y="154709"/>
                </a:lnTo>
                <a:lnTo>
                  <a:pt x="170529" y="147433"/>
                </a:lnTo>
                <a:lnTo>
                  <a:pt x="167350" y="140846"/>
                </a:lnTo>
                <a:lnTo>
                  <a:pt x="161671" y="135796"/>
                </a:lnTo>
                <a:lnTo>
                  <a:pt x="108331" y="104681"/>
                </a:lnTo>
                <a:lnTo>
                  <a:pt x="37846" y="104681"/>
                </a:lnTo>
                <a:lnTo>
                  <a:pt x="37846" y="66581"/>
                </a:lnTo>
                <a:lnTo>
                  <a:pt x="108113" y="66581"/>
                </a:lnTo>
                <a:lnTo>
                  <a:pt x="161671" y="35339"/>
                </a:lnTo>
                <a:lnTo>
                  <a:pt x="167350" y="30360"/>
                </a:lnTo>
                <a:lnTo>
                  <a:pt x="170529" y="23798"/>
                </a:lnTo>
                <a:lnTo>
                  <a:pt x="170993" y="16498"/>
                </a:lnTo>
                <a:lnTo>
                  <a:pt x="168528" y="9304"/>
                </a:lnTo>
                <a:lnTo>
                  <a:pt x="163550" y="3679"/>
                </a:lnTo>
                <a:lnTo>
                  <a:pt x="156987" y="494"/>
                </a:lnTo>
                <a:lnTo>
                  <a:pt x="149687" y="0"/>
                </a:lnTo>
                <a:close/>
              </a:path>
              <a:path w="640715" h="171450" extrusionOk="0">
                <a:moveTo>
                  <a:pt x="108113" y="66581"/>
                </a:moveTo>
                <a:lnTo>
                  <a:pt x="37846" y="66581"/>
                </a:lnTo>
                <a:lnTo>
                  <a:pt x="37846" y="104681"/>
                </a:lnTo>
                <a:lnTo>
                  <a:pt x="108331" y="104681"/>
                </a:lnTo>
                <a:lnTo>
                  <a:pt x="103759" y="102014"/>
                </a:lnTo>
                <a:lnTo>
                  <a:pt x="47371" y="102014"/>
                </a:lnTo>
                <a:lnTo>
                  <a:pt x="47371" y="69121"/>
                </a:lnTo>
                <a:lnTo>
                  <a:pt x="103759" y="69121"/>
                </a:lnTo>
                <a:lnTo>
                  <a:pt x="108113" y="66581"/>
                </a:lnTo>
                <a:close/>
              </a:path>
              <a:path w="640715" h="171450" extrusionOk="0">
                <a:moveTo>
                  <a:pt x="640206" y="66581"/>
                </a:moveTo>
                <a:lnTo>
                  <a:pt x="108113" y="66581"/>
                </a:lnTo>
                <a:lnTo>
                  <a:pt x="75565" y="85568"/>
                </a:lnTo>
                <a:lnTo>
                  <a:pt x="108331" y="104681"/>
                </a:lnTo>
                <a:lnTo>
                  <a:pt x="640206" y="104681"/>
                </a:lnTo>
                <a:lnTo>
                  <a:pt x="640206" y="66581"/>
                </a:lnTo>
                <a:close/>
              </a:path>
              <a:path w="640715" h="171450" extrusionOk="0">
                <a:moveTo>
                  <a:pt x="47371" y="69121"/>
                </a:moveTo>
                <a:lnTo>
                  <a:pt x="47371" y="102014"/>
                </a:lnTo>
                <a:lnTo>
                  <a:pt x="75565" y="85568"/>
                </a:lnTo>
                <a:lnTo>
                  <a:pt x="47371" y="69121"/>
                </a:lnTo>
                <a:close/>
              </a:path>
              <a:path w="640715" h="171450" extrusionOk="0">
                <a:moveTo>
                  <a:pt x="75565" y="85568"/>
                </a:moveTo>
                <a:lnTo>
                  <a:pt x="47371" y="102014"/>
                </a:lnTo>
                <a:lnTo>
                  <a:pt x="103759" y="102014"/>
                </a:lnTo>
                <a:lnTo>
                  <a:pt x="75565" y="85568"/>
                </a:lnTo>
                <a:close/>
              </a:path>
              <a:path w="640715" h="171450" extrusionOk="0">
                <a:moveTo>
                  <a:pt x="103759" y="69121"/>
                </a:moveTo>
                <a:lnTo>
                  <a:pt x="47371" y="69121"/>
                </a:lnTo>
                <a:lnTo>
                  <a:pt x="75565" y="85568"/>
                </a:lnTo>
                <a:lnTo>
                  <a:pt x="103759" y="69121"/>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42" name="Google Shape;642;p64"/>
          <p:cNvSpPr txBox="1"/>
          <p:nvPr/>
        </p:nvSpPr>
        <p:spPr>
          <a:xfrm>
            <a:off x="8946819" y="2874612"/>
            <a:ext cx="511175"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Order</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3" name="Google Shape;643;p64"/>
          <p:cNvSpPr txBox="1"/>
          <p:nvPr/>
        </p:nvSpPr>
        <p:spPr>
          <a:xfrm>
            <a:off x="8859317" y="3959701"/>
            <a:ext cx="708025" cy="239395"/>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400"/>
              <a:buFont typeface="Arial" panose="020B0604020202020204"/>
              <a:buNone/>
            </a:pPr>
            <a:r>
              <a:rPr lang="en-US" sz="1400" b="1" i="0" u="none" strike="noStrike" cap="none">
                <a:solidFill>
                  <a:schemeClr val="dk1"/>
                </a:solidFill>
                <a:latin typeface="Arial" panose="020B0604020202020204"/>
                <a:ea typeface="Arial" panose="020B0604020202020204"/>
                <a:cs typeface="Arial" panose="020B0604020202020204"/>
                <a:sym typeface="Arial" panose="020B0604020202020204"/>
              </a:rPr>
              <a:t>Confirm</a:t>
            </a:r>
            <a:endParaRPr sz="14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4" name="Google Shape;644;p64"/>
          <p:cNvSpPr/>
          <p:nvPr/>
        </p:nvSpPr>
        <p:spPr>
          <a:xfrm>
            <a:off x="8879255" y="3789032"/>
            <a:ext cx="676910" cy="171450"/>
          </a:xfrm>
          <a:custGeom>
            <a:avLst/>
            <a:gdLst/>
            <a:ahLst/>
            <a:cxnLst/>
            <a:rect l="l" t="t" r="r" b="b"/>
            <a:pathLst>
              <a:path w="676909" h="171450" extrusionOk="0">
                <a:moveTo>
                  <a:pt x="601109" y="85578"/>
                </a:moveTo>
                <a:lnTo>
                  <a:pt x="515111" y="135743"/>
                </a:lnTo>
                <a:lnTo>
                  <a:pt x="509432" y="140795"/>
                </a:lnTo>
                <a:lnTo>
                  <a:pt x="506253" y="147395"/>
                </a:lnTo>
                <a:lnTo>
                  <a:pt x="505789" y="154709"/>
                </a:lnTo>
                <a:lnTo>
                  <a:pt x="508253" y="161905"/>
                </a:lnTo>
                <a:lnTo>
                  <a:pt x="513232" y="167512"/>
                </a:lnTo>
                <a:lnTo>
                  <a:pt x="519795" y="170668"/>
                </a:lnTo>
                <a:lnTo>
                  <a:pt x="527095" y="171156"/>
                </a:lnTo>
                <a:lnTo>
                  <a:pt x="534288" y="168763"/>
                </a:lnTo>
                <a:lnTo>
                  <a:pt x="644150" y="104628"/>
                </a:lnTo>
                <a:lnTo>
                  <a:pt x="638936" y="104628"/>
                </a:lnTo>
                <a:lnTo>
                  <a:pt x="638936" y="102088"/>
                </a:lnTo>
                <a:lnTo>
                  <a:pt x="629411" y="102088"/>
                </a:lnTo>
                <a:lnTo>
                  <a:pt x="601109" y="85578"/>
                </a:lnTo>
                <a:close/>
              </a:path>
              <a:path w="676909" h="171450" extrusionOk="0">
                <a:moveTo>
                  <a:pt x="568451" y="66528"/>
                </a:moveTo>
                <a:lnTo>
                  <a:pt x="0" y="66528"/>
                </a:lnTo>
                <a:lnTo>
                  <a:pt x="0" y="104628"/>
                </a:lnTo>
                <a:lnTo>
                  <a:pt x="568451" y="104628"/>
                </a:lnTo>
                <a:lnTo>
                  <a:pt x="601109" y="85578"/>
                </a:lnTo>
                <a:lnTo>
                  <a:pt x="568451" y="66528"/>
                </a:lnTo>
                <a:close/>
              </a:path>
              <a:path w="676909" h="171450" extrusionOk="0">
                <a:moveTo>
                  <a:pt x="644150" y="66528"/>
                </a:moveTo>
                <a:lnTo>
                  <a:pt x="638936" y="66528"/>
                </a:lnTo>
                <a:lnTo>
                  <a:pt x="638936" y="104628"/>
                </a:lnTo>
                <a:lnTo>
                  <a:pt x="644150" y="104628"/>
                </a:lnTo>
                <a:lnTo>
                  <a:pt x="676782" y="85578"/>
                </a:lnTo>
                <a:lnTo>
                  <a:pt x="644150" y="66528"/>
                </a:lnTo>
                <a:close/>
              </a:path>
              <a:path w="676909" h="171450" extrusionOk="0">
                <a:moveTo>
                  <a:pt x="629411" y="69068"/>
                </a:moveTo>
                <a:lnTo>
                  <a:pt x="601109" y="85578"/>
                </a:lnTo>
                <a:lnTo>
                  <a:pt x="629411" y="102088"/>
                </a:lnTo>
                <a:lnTo>
                  <a:pt x="629411" y="69068"/>
                </a:lnTo>
                <a:close/>
              </a:path>
              <a:path w="676909" h="171450" extrusionOk="0">
                <a:moveTo>
                  <a:pt x="638936" y="69068"/>
                </a:moveTo>
                <a:lnTo>
                  <a:pt x="629411" y="69068"/>
                </a:lnTo>
                <a:lnTo>
                  <a:pt x="629411" y="102088"/>
                </a:lnTo>
                <a:lnTo>
                  <a:pt x="638936" y="102088"/>
                </a:lnTo>
                <a:lnTo>
                  <a:pt x="638936" y="69068"/>
                </a:lnTo>
                <a:close/>
              </a:path>
              <a:path w="676909" h="171450" extrusionOk="0">
                <a:moveTo>
                  <a:pt x="527095" y="0"/>
                </a:moveTo>
                <a:lnTo>
                  <a:pt x="519795" y="488"/>
                </a:lnTo>
                <a:lnTo>
                  <a:pt x="513232" y="3643"/>
                </a:lnTo>
                <a:lnTo>
                  <a:pt x="508253" y="9251"/>
                </a:lnTo>
                <a:lnTo>
                  <a:pt x="505789" y="16446"/>
                </a:lnTo>
                <a:lnTo>
                  <a:pt x="506253" y="23760"/>
                </a:lnTo>
                <a:lnTo>
                  <a:pt x="509432" y="30360"/>
                </a:lnTo>
                <a:lnTo>
                  <a:pt x="515111" y="35413"/>
                </a:lnTo>
                <a:lnTo>
                  <a:pt x="601109" y="85578"/>
                </a:lnTo>
                <a:lnTo>
                  <a:pt x="629411" y="69068"/>
                </a:lnTo>
                <a:lnTo>
                  <a:pt x="638936" y="69068"/>
                </a:lnTo>
                <a:lnTo>
                  <a:pt x="638936" y="66528"/>
                </a:lnTo>
                <a:lnTo>
                  <a:pt x="644150" y="66528"/>
                </a:lnTo>
                <a:lnTo>
                  <a:pt x="534288" y="2393"/>
                </a:lnTo>
                <a:lnTo>
                  <a:pt x="52709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645" name="Google Shape;645;p64"/>
          <p:cNvSpPr/>
          <p:nvPr/>
        </p:nvSpPr>
        <p:spPr>
          <a:xfrm>
            <a:off x="1661898" y="2230850"/>
            <a:ext cx="914400" cy="3291840"/>
          </a:xfrm>
          <a:custGeom>
            <a:avLst/>
            <a:gdLst/>
            <a:ahLst/>
            <a:cxnLst/>
            <a:rect l="l" t="t" r="r" b="b"/>
            <a:pathLst>
              <a:path w="914400" h="3291840" extrusionOk="0">
                <a:moveTo>
                  <a:pt x="914400" y="0"/>
                </a:moveTo>
                <a:lnTo>
                  <a:pt x="0" y="0"/>
                </a:lnTo>
                <a:lnTo>
                  <a:pt x="0" y="3291839"/>
                </a:lnTo>
                <a:lnTo>
                  <a:pt x="914400" y="3291839"/>
                </a:lnTo>
                <a:lnTo>
                  <a:pt x="914400" y="0"/>
                </a:lnTo>
                <a:close/>
              </a:path>
            </a:pathLst>
          </a:custGeom>
          <a:solidFill>
            <a:srgbClr val="F0A27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595959"/>
              </a:solidFill>
              <a:highlight>
                <a:srgbClr val="FFFF00"/>
              </a:highlight>
              <a:latin typeface="Trebuchet MS" panose="020B0603020202020204"/>
              <a:ea typeface="Trebuchet MS" panose="020B0603020202020204"/>
              <a:cs typeface="Trebuchet MS" panose="020B0603020202020204"/>
              <a:sym typeface="Trebuchet MS" panose="020B0603020202020204"/>
            </a:endParaRPr>
          </a:p>
        </p:txBody>
      </p:sp>
      <p:sp>
        <p:nvSpPr>
          <p:cNvPr id="646" name="Google Shape;646;p64"/>
          <p:cNvSpPr/>
          <p:nvPr/>
        </p:nvSpPr>
        <p:spPr>
          <a:xfrm>
            <a:off x="9767670" y="2169508"/>
            <a:ext cx="914400" cy="3291840"/>
          </a:xfrm>
          <a:custGeom>
            <a:avLst/>
            <a:gdLst/>
            <a:ahLst/>
            <a:cxnLst/>
            <a:rect l="l" t="t" r="r" b="b"/>
            <a:pathLst>
              <a:path w="914400" h="3291840" extrusionOk="0">
                <a:moveTo>
                  <a:pt x="914400" y="0"/>
                </a:moveTo>
                <a:lnTo>
                  <a:pt x="0" y="0"/>
                </a:lnTo>
                <a:lnTo>
                  <a:pt x="0" y="3291840"/>
                </a:lnTo>
                <a:lnTo>
                  <a:pt x="914400" y="3291840"/>
                </a:lnTo>
                <a:lnTo>
                  <a:pt x="914400" y="0"/>
                </a:lnTo>
                <a:close/>
              </a:path>
            </a:pathLst>
          </a:custGeom>
          <a:solidFill>
            <a:srgbClr val="F0A273"/>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
        <p:nvSpPr>
          <p:cNvPr id="647" name="Google Shape;647;p64"/>
          <p:cNvSpPr txBox="1"/>
          <p:nvPr/>
        </p:nvSpPr>
        <p:spPr>
          <a:xfrm>
            <a:off x="1365778" y="3692654"/>
            <a:ext cx="1488250" cy="321242"/>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dirty="0">
                <a:solidFill>
                  <a:schemeClr val="dk1"/>
                </a:solidFill>
                <a:latin typeface="Arial" panose="020B0604020202020204"/>
                <a:ea typeface="Arial" panose="020B0604020202020204"/>
                <a:cs typeface="Arial" panose="020B0604020202020204"/>
                <a:sym typeface="Arial" panose="020B0604020202020204"/>
              </a:rPr>
              <a:t>CLIENT</a:t>
            </a:r>
            <a:endParaRPr sz="20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648" name="Google Shape;648;p64"/>
          <p:cNvSpPr txBox="1"/>
          <p:nvPr/>
        </p:nvSpPr>
        <p:spPr>
          <a:xfrm>
            <a:off x="9480745" y="3713746"/>
            <a:ext cx="1488250" cy="321242"/>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1"/>
                </a:solidFill>
                <a:latin typeface="Arial" panose="020B0604020202020204"/>
                <a:ea typeface="Arial" panose="020B0604020202020204"/>
                <a:cs typeface="Arial" panose="020B0604020202020204"/>
                <a:sym typeface="Arial" panose="020B0604020202020204"/>
              </a:rPr>
              <a:t>CLIENT</a:t>
            </a:r>
            <a:endParaRPr sz="20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649" name="Google Shape;649;p64"/>
          <p:cNvSpPr/>
          <p:nvPr/>
        </p:nvSpPr>
        <p:spPr>
          <a:xfrm>
            <a:off x="2076050" y="5845100"/>
            <a:ext cx="1801500" cy="620100"/>
          </a:xfrm>
          <a:prstGeom prst="roundRect">
            <a:avLst>
              <a:gd name="adj" fmla="val 16667"/>
            </a:avLst>
          </a:prstGeom>
          <a:solidFill>
            <a:srgbClr val="F0A27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2300" b="1" dirty="0">
                <a:solidFill>
                  <a:srgbClr val="595959"/>
                </a:solidFill>
                <a:latin typeface="Trebuchet MS" panose="020B0603020202020204"/>
                <a:ea typeface="Trebuchet MS" panose="020B0603020202020204"/>
                <a:cs typeface="Trebuchet MS" panose="020B0603020202020204"/>
                <a:sym typeface="Trebuchet MS" panose="020B0603020202020204"/>
              </a:rPr>
              <a:t>Custodian</a:t>
            </a:r>
            <a:endParaRPr sz="2300" b="1" dirty="0">
              <a:solidFill>
                <a:srgbClr val="595959"/>
              </a:solidFill>
              <a:latin typeface="Trebuchet MS" panose="020B0603020202020204"/>
              <a:ea typeface="Trebuchet MS" panose="020B0603020202020204"/>
              <a:cs typeface="Trebuchet MS" panose="020B0603020202020204"/>
              <a:sym typeface="Trebuchet MS" panose="020B0603020202020204"/>
            </a:endParaRPr>
          </a:p>
        </p:txBody>
      </p:sp>
      <p:sp>
        <p:nvSpPr>
          <p:cNvPr id="650" name="Google Shape;650;p64"/>
          <p:cNvSpPr/>
          <p:nvPr/>
        </p:nvSpPr>
        <p:spPr>
          <a:xfrm>
            <a:off x="8500925" y="5836600"/>
            <a:ext cx="1801500" cy="620100"/>
          </a:xfrm>
          <a:prstGeom prst="roundRect">
            <a:avLst>
              <a:gd name="adj" fmla="val 16667"/>
            </a:avLst>
          </a:prstGeom>
          <a:solidFill>
            <a:srgbClr val="F0A27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US" sz="2300" b="1">
                <a:solidFill>
                  <a:srgbClr val="595959"/>
                </a:solidFill>
                <a:latin typeface="Trebuchet MS" panose="020B0603020202020204"/>
                <a:ea typeface="Trebuchet MS" panose="020B0603020202020204"/>
                <a:cs typeface="Trebuchet MS" panose="020B0603020202020204"/>
                <a:sym typeface="Trebuchet MS" panose="020B0603020202020204"/>
              </a:rPr>
              <a:t>Custodian</a:t>
            </a:r>
            <a:endParaRPr sz="2300" b="1">
              <a:solidFill>
                <a:srgbClr val="595959"/>
              </a:solidFill>
              <a:latin typeface="Trebuchet MS" panose="020B0603020202020204"/>
              <a:ea typeface="Trebuchet MS" panose="020B0603020202020204"/>
              <a:cs typeface="Trebuchet MS" panose="020B0603020202020204"/>
              <a:sym typeface="Trebuchet MS" panose="020B0603020202020204"/>
            </a:endParaRPr>
          </a:p>
        </p:txBody>
      </p:sp>
      <p:cxnSp>
        <p:nvCxnSpPr>
          <p:cNvPr id="651" name="Google Shape;651;p64"/>
          <p:cNvCxnSpPr/>
          <p:nvPr/>
        </p:nvCxnSpPr>
        <p:spPr>
          <a:xfrm>
            <a:off x="3612641" y="5350001"/>
            <a:ext cx="27000" cy="611100"/>
          </a:xfrm>
          <a:prstGeom prst="straightConnector1">
            <a:avLst/>
          </a:prstGeom>
          <a:noFill/>
          <a:ln w="9525" cap="flat" cmpd="sng">
            <a:solidFill>
              <a:schemeClr val="dk2"/>
            </a:solidFill>
            <a:prstDash val="solid"/>
            <a:round/>
            <a:headEnd type="none" w="med" len="med"/>
            <a:tailEnd type="triangle" w="med" len="med"/>
          </a:ln>
        </p:spPr>
      </p:cxnSp>
      <p:cxnSp>
        <p:nvCxnSpPr>
          <p:cNvPr id="652" name="Google Shape;652;p64"/>
          <p:cNvCxnSpPr/>
          <p:nvPr/>
        </p:nvCxnSpPr>
        <p:spPr>
          <a:xfrm>
            <a:off x="8672366" y="5227851"/>
            <a:ext cx="27000" cy="611100"/>
          </a:xfrm>
          <a:prstGeom prst="straightConnector1">
            <a:avLst/>
          </a:prstGeom>
          <a:noFill/>
          <a:ln w="9525" cap="flat" cmpd="sng">
            <a:solidFill>
              <a:schemeClr val="dk2"/>
            </a:solidFill>
            <a:prstDash val="solid"/>
            <a:round/>
            <a:headEnd type="none" w="med" len="med"/>
            <a:tailEnd type="triangle" w="med" len="med"/>
          </a:ln>
        </p:spPr>
      </p:cxnSp>
      <p:cxnSp>
        <p:nvCxnSpPr>
          <p:cNvPr id="653" name="Google Shape;653;p64"/>
          <p:cNvCxnSpPr/>
          <p:nvPr/>
        </p:nvCxnSpPr>
        <p:spPr>
          <a:xfrm>
            <a:off x="2367491" y="5350001"/>
            <a:ext cx="27000" cy="611100"/>
          </a:xfrm>
          <a:prstGeom prst="straightConnector1">
            <a:avLst/>
          </a:prstGeom>
          <a:noFill/>
          <a:ln w="9525" cap="flat" cmpd="sng">
            <a:solidFill>
              <a:schemeClr val="dk2"/>
            </a:solidFill>
            <a:prstDash val="solid"/>
            <a:round/>
            <a:headEnd type="none" w="med" len="med"/>
            <a:tailEnd type="triangle" w="med" len="med"/>
          </a:ln>
        </p:spPr>
      </p:cxnSp>
      <p:cxnSp>
        <p:nvCxnSpPr>
          <p:cNvPr id="654" name="Google Shape;654;p64"/>
          <p:cNvCxnSpPr/>
          <p:nvPr/>
        </p:nvCxnSpPr>
        <p:spPr>
          <a:xfrm>
            <a:off x="10089241" y="5350001"/>
            <a:ext cx="27000" cy="6111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grpSp>
        <p:nvGrpSpPr>
          <p:cNvPr id="709" name="Google Shape;709;p62"/>
          <p:cNvGrpSpPr/>
          <p:nvPr/>
        </p:nvGrpSpPr>
        <p:grpSpPr>
          <a:xfrm>
            <a:off x="4820748" y="531121"/>
            <a:ext cx="7371252" cy="6326878"/>
            <a:chOff x="4820748" y="531121"/>
            <a:chExt cx="7371252" cy="6326878"/>
          </a:xfrm>
        </p:grpSpPr>
        <p:sp>
          <p:nvSpPr>
            <p:cNvPr id="710" name="Google Shape;710;p62"/>
            <p:cNvSpPr/>
            <p:nvPr/>
          </p:nvSpPr>
          <p:spPr>
            <a:xfrm>
              <a:off x="4820748" y="531121"/>
              <a:ext cx="7371252" cy="6326878"/>
            </a:xfrm>
            <a:custGeom>
              <a:avLst/>
              <a:gdLst/>
              <a:ahLst/>
              <a:cxnLst/>
              <a:rect l="l" t="t" r="r" b="b"/>
              <a:pathLst>
                <a:path w="7371252" h="6326878" extrusionOk="0">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711" name="Google Shape;711;p62"/>
            <p:cNvCxnSpPr/>
            <p:nvPr/>
          </p:nvCxnSpPr>
          <p:spPr>
            <a:xfrm>
              <a:off x="11883463" y="4050043"/>
              <a:ext cx="0" cy="1986517"/>
            </a:xfrm>
            <a:prstGeom prst="straightConnector1">
              <a:avLst/>
            </a:prstGeom>
            <a:noFill/>
            <a:ln w="9525" cap="flat" cmpd="sng">
              <a:solidFill>
                <a:srgbClr val="7F7F7F"/>
              </a:solidFill>
              <a:prstDash val="solid"/>
              <a:miter lim="800000"/>
              <a:headEnd type="none" w="sm" len="sm"/>
              <a:tailEnd type="none" w="sm" len="sm"/>
            </a:ln>
          </p:spPr>
        </p:cxnSp>
      </p:grpSp>
      <p:grpSp>
        <p:nvGrpSpPr>
          <p:cNvPr id="712" name="Google Shape;712;p62"/>
          <p:cNvGrpSpPr/>
          <p:nvPr/>
        </p:nvGrpSpPr>
        <p:grpSpPr>
          <a:xfrm>
            <a:off x="0" y="0"/>
            <a:ext cx="3264675" cy="3483123"/>
            <a:chOff x="0" y="0"/>
            <a:chExt cx="3264675" cy="3483123"/>
          </a:xfrm>
        </p:grpSpPr>
        <p:sp>
          <p:nvSpPr>
            <p:cNvPr id="713" name="Google Shape;713;p62"/>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1"/>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14" name="Google Shape;714;p62"/>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715" name="Google Shape;715;p62"/>
          <p:cNvSpPr/>
          <p:nvPr/>
        </p:nvSpPr>
        <p:spPr>
          <a:xfrm>
            <a:off x="745108" y="855691"/>
            <a:ext cx="5471182" cy="547118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716" name="Google Shape;716;p62" descr="A person in a suit shaking hands with another person&#10;&#10;Description automatically generated"/>
          <p:cNvPicPr preferRelativeResize="0"/>
          <p:nvPr/>
        </p:nvPicPr>
        <p:blipFill rotWithShape="1">
          <a:blip r:embed="rId2"/>
          <a:srcRect l="17301" t="951" r="17301" b="950"/>
          <a:stretch>
            <a:fillRect/>
          </a:stretch>
        </p:blipFill>
        <p:spPr>
          <a:xfrm>
            <a:off x="665986" y="855691"/>
            <a:ext cx="5471182" cy="5471187"/>
          </a:xfrm>
          <a:custGeom>
            <a:avLst/>
            <a:gdLst/>
            <a:ahLst/>
            <a:cxnLst/>
            <a:rect l="l" t="t" r="r" b="b"/>
            <a:pathLst>
              <a:path w="5471182" h="5471188" extrusionOk="0">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717" name="Google Shape;717;p62"/>
          <p:cNvSpPr/>
          <p:nvPr/>
        </p:nvSpPr>
        <p:spPr>
          <a:xfrm>
            <a:off x="853414" y="855691"/>
            <a:ext cx="5471183" cy="5471187"/>
          </a:xfrm>
          <a:prstGeom prst="ellipse">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718" name="Google Shape;718;p62"/>
          <p:cNvSpPr txBox="1"/>
          <p:nvPr/>
        </p:nvSpPr>
        <p:spPr>
          <a:xfrm>
            <a:off x="6803154" y="3472867"/>
            <a:ext cx="488524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AC6D1"/>
              </a:buClr>
              <a:buSzPts val="4800"/>
              <a:buFont typeface="Arial" panose="020B0604020202020204"/>
              <a:buNone/>
            </a:pPr>
            <a:r>
              <a:rPr lang="en-US" sz="4800" b="1" i="0" u="none" strike="noStrike" cap="none">
                <a:solidFill>
                  <a:srgbClr val="2AC6D1"/>
                </a:solidFill>
                <a:latin typeface="Arial" panose="020B0604020202020204"/>
                <a:ea typeface="Arial" panose="020B0604020202020204"/>
                <a:cs typeface="Arial" panose="020B0604020202020204"/>
                <a:sym typeface="Arial" panose="020B0604020202020204"/>
              </a:rPr>
              <a:t>THANK YOU !!!</a:t>
            </a:r>
            <a:endParaRPr sz="20600" b="1" i="0" u="none" strike="noStrike" cap="none">
              <a:solidFill>
                <a:srgbClr val="2AC6D1"/>
              </a:solidFill>
              <a:latin typeface="Arial" panose="020B0604020202020204"/>
              <a:ea typeface="Arial" panose="020B0604020202020204"/>
              <a:cs typeface="Arial" panose="020B0604020202020204"/>
              <a:sym typeface="Arial" panose="020B0604020202020204"/>
            </a:endParaRPr>
          </a:p>
        </p:txBody>
      </p:sp>
      <p:pic>
        <p:nvPicPr>
          <p:cNvPr id="719" name="Google Shape;719;p62" descr="Text&#10;&#10;Description automatically generated"/>
          <p:cNvPicPr preferRelativeResize="0"/>
          <p:nvPr/>
        </p:nvPicPr>
        <p:blipFill rotWithShape="1">
          <a:blip r:embed="rId3"/>
          <a:srcRect l="6879" t="8371" r="6879" b="8371"/>
          <a:stretch>
            <a:fillRect/>
          </a:stretch>
        </p:blipFill>
        <p:spPr>
          <a:xfrm>
            <a:off x="7828034" y="2437493"/>
            <a:ext cx="2835486" cy="830997"/>
          </a:xfrm>
          <a:prstGeom prst="rect">
            <a:avLst/>
          </a:prstGeom>
          <a:noFill/>
          <a:ln>
            <a:noFill/>
          </a:ln>
        </p:spPr>
      </p:pic>
      <p:sp>
        <p:nvSpPr>
          <p:cNvPr id="720" name="Google Shape;720;p62"/>
          <p:cNvSpPr txBox="1"/>
          <p:nvPr/>
        </p:nvSpPr>
        <p:spPr>
          <a:xfrm>
            <a:off x="8138739" y="5268642"/>
            <a:ext cx="2524781" cy="62457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2"/>
                </a:solidFill>
                <a:latin typeface="Arial" panose="020B0604020202020204"/>
                <a:ea typeface="Arial" panose="020B0604020202020204"/>
                <a:cs typeface="Arial" panose="020B0604020202020204"/>
                <a:sym typeface="Arial" panose="020B0604020202020204"/>
              </a:rPr>
              <a:t>Contact us today!</a:t>
            </a:r>
            <a:br>
              <a:rPr lang="en-US" sz="1800" b="1">
                <a:solidFill>
                  <a:schemeClr val="dk2"/>
                </a:solidFill>
                <a:latin typeface="Arial" panose="020B0604020202020204"/>
                <a:ea typeface="Arial" panose="020B0604020202020204"/>
                <a:cs typeface="Arial" panose="020B0604020202020204"/>
                <a:sym typeface="Arial" panose="020B0604020202020204"/>
              </a:rPr>
            </a:br>
            <a:r>
              <a:rPr lang="en-US" sz="1800" u="sng">
                <a:solidFill>
                  <a:schemeClr val="dk2"/>
                </a:solidFill>
                <a:latin typeface="Arial" panose="020B0604020202020204"/>
                <a:ea typeface="Arial" panose="020B0604020202020204"/>
                <a:cs typeface="Arial" panose="020B0604020202020204"/>
                <a:sym typeface="Arial" panose="020B0604020202020204"/>
                <a:hlinkClick r:id="rId4"/>
              </a:rPr>
              <a:t>https://imarticus.org/</a:t>
            </a:r>
            <a:r>
              <a:rPr lang="en-US" sz="1800">
                <a:solidFill>
                  <a:schemeClr val="dk2"/>
                </a:solidFill>
                <a:latin typeface="Arial" panose="020B0604020202020204"/>
                <a:ea typeface="Arial" panose="020B0604020202020204"/>
                <a:cs typeface="Arial" panose="020B0604020202020204"/>
                <a:sym typeface="Arial" panose="020B0604020202020204"/>
              </a:rPr>
              <a:t> </a:t>
            </a:r>
            <a:br>
              <a:rPr lang="en-US" sz="1800">
                <a:solidFill>
                  <a:schemeClr val="dk2"/>
                </a:solidFill>
                <a:latin typeface="Arial" panose="020B0604020202020204"/>
                <a:ea typeface="Arial" panose="020B0604020202020204"/>
                <a:cs typeface="Arial" panose="020B0604020202020204"/>
                <a:sym typeface="Arial" panose="020B0604020202020204"/>
              </a:rPr>
            </a:br>
            <a:endParaRPr sz="1800">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1_Office Theme">
  <a:themeElements>
    <a:clrScheme name="Imarticus_Elearning">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29097</Words>
  <Application>WPS Presentation</Application>
  <PresentationFormat>Widescreen</PresentationFormat>
  <Paragraphs>557</Paragraphs>
  <Slides>59</Slides>
  <Notes>53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59</vt:i4>
      </vt:variant>
    </vt:vector>
  </HeadingPairs>
  <TitlesOfParts>
    <vt:vector size="75" baseType="lpstr">
      <vt:lpstr>Arial</vt:lpstr>
      <vt:lpstr>SimSun</vt:lpstr>
      <vt:lpstr>Wingdings</vt:lpstr>
      <vt:lpstr>Arial</vt:lpstr>
      <vt:lpstr>Roboto</vt:lpstr>
      <vt:lpstr>Montserrat</vt:lpstr>
      <vt:lpstr>Trebuchet MS</vt:lpstr>
      <vt:lpstr>Calibri</vt:lpstr>
      <vt:lpstr>Microsoft YaHei</vt:lpstr>
      <vt:lpstr>Arial Unicode MS</vt:lpstr>
      <vt:lpstr>Courier New</vt:lpstr>
      <vt:lpstr>Times New Roman</vt:lpstr>
      <vt:lpstr>Arial Black</vt:lpstr>
      <vt:lpstr>Noto Sans Symbols</vt:lpstr>
      <vt:lpstr>Segoe Print</vt:lpstr>
      <vt:lpstr>1_Office Theme</vt:lpstr>
      <vt:lpstr>PowerPoint 演示文稿</vt:lpstr>
      <vt:lpstr>PowerPoint 演示文稿</vt:lpstr>
      <vt:lpstr>YOU ARE GOING TO LEARN…</vt:lpstr>
      <vt:lpstr>PowerPoint 演示文稿</vt:lpstr>
      <vt:lpstr>TRADE LIFE CYCLE</vt:lpstr>
      <vt:lpstr>TRADE LIFE CYCLE</vt:lpstr>
      <vt:lpstr>TRADE LIFE CYCLE</vt:lpstr>
      <vt:lpstr>TRADE LIFE CYCLE</vt:lpstr>
      <vt:lpstr>TRADE LIFE CYCLE</vt:lpstr>
      <vt:lpstr>TRADE LIFE CYCLE</vt:lpstr>
      <vt:lpstr>TRADE LIFE CYCLE</vt:lpstr>
      <vt:lpstr>TRADE LIFE CYCLE</vt:lpstr>
      <vt:lpstr>TRADE LIFE CYCLE</vt:lpstr>
      <vt:lpstr>PARTICIPANTS IN EXCHANGE TRADE LIFE CYCLE</vt:lpstr>
      <vt:lpstr>TRADE LIFE CYCLE</vt:lpstr>
      <vt:lpstr>TRADE INITIATION</vt:lpstr>
      <vt:lpstr>TRADE INITIATION</vt:lpstr>
      <vt:lpstr>TRADE INITIATION</vt:lpstr>
      <vt:lpstr>TRADE INITIATION</vt:lpstr>
      <vt:lpstr>TRADE INITIATION</vt:lpstr>
      <vt:lpstr>TRADE INITIATION</vt:lpstr>
      <vt:lpstr>TRADE EXECUTION</vt:lpstr>
      <vt:lpstr>TRADE EXECUTION</vt:lpstr>
      <vt:lpstr>TRADE EXECUTION</vt:lpstr>
      <vt:lpstr>TRADE EXECUTION</vt:lpstr>
      <vt:lpstr>TRADE EXECUTION</vt:lpstr>
      <vt:lpstr>TRADE EXECUTION</vt:lpstr>
      <vt:lpstr>TRADE EXECUTION</vt:lpstr>
      <vt:lpstr>TRADE REPORTING</vt:lpstr>
      <vt:lpstr>TRADE CAPTURE</vt:lpstr>
      <vt:lpstr>TRADE CAPTURE  - TRADE TICKET</vt:lpstr>
      <vt:lpstr>TRADE ENRICHMENT</vt:lpstr>
      <vt:lpstr>TRADE ENRICHMENT</vt:lpstr>
      <vt:lpstr>TRADE ENRICHMENT - CASH VALUES DEFAULTS – TRADE FIGURATION </vt:lpstr>
      <vt:lpstr>TRADE ENRICHMENT - SSI DEFAULTS</vt:lpstr>
      <vt:lpstr>TRADE ENRICHMENT - SSI DEFAULTS</vt:lpstr>
      <vt:lpstr>TRADE VALIDATION</vt:lpstr>
      <vt:lpstr>TRADE VALIDATION</vt:lpstr>
      <vt:lpstr>TRADE VERIFICATION</vt:lpstr>
      <vt:lpstr>TRADE CONFIRMATION</vt:lpstr>
      <vt:lpstr>TRADE CONFIRMATION</vt:lpstr>
      <vt:lpstr>TRADE CONFIRMATION</vt:lpstr>
      <vt:lpstr>TRADE CONFIRMATION</vt:lpstr>
      <vt:lpstr>TRADE CONFIRMATION</vt:lpstr>
      <vt:lpstr>TRADE CONFIRMATION</vt:lpstr>
      <vt:lpstr>TRADE  TRANSACTION REPORTING</vt:lpstr>
      <vt:lpstr>TRADE  TRANSACTION REPORTING</vt:lpstr>
      <vt:lpstr>TRADE REPORTING</vt:lpstr>
      <vt:lpstr>TRADE SETTLEMENT</vt:lpstr>
      <vt:lpstr>TRADE SETTLEMENT</vt:lpstr>
      <vt:lpstr>PowerPoint 演示文稿</vt:lpstr>
      <vt:lpstr>PowerPoint 演示文稿</vt:lpstr>
      <vt:lpstr>PowerPoint 演示文稿</vt:lpstr>
      <vt:lpstr>PowerPoint 演示文稿</vt:lpstr>
      <vt:lpstr>TRADE RECONCILIATION</vt:lpstr>
      <vt:lpstr>TRADE RECONCILIATION</vt:lpstr>
      <vt:lpstr>TRADE REPORTING</vt:lpstr>
      <vt:lpstr>Life Cycle of a Typical U.S. Equity Trade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Ravi Kumar</cp:lastModifiedBy>
  <cp:revision>5</cp:revision>
  <dcterms:created xsi:type="dcterms:W3CDTF">2020-10-05T04:35:00Z</dcterms:created>
  <dcterms:modified xsi:type="dcterms:W3CDTF">2026-04-21T06:10:05Z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5357F6B203084CC688D42245896DC9B4_13</vt:lpwstr>
  </property>
  <property fmtid="{D5CDD505-2E9C-101B-9397-08002B2CF9AE}" pid="3" name="KSOProductBuildVer">
    <vt:lpwstr>1033-12.2.0.23196</vt:lpwstr>
  </property>
</Properties>
</file>