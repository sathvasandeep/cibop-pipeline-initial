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322"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319" r:id="rId32"/>
    <p:sldId id="285" r:id="rId33"/>
    <p:sldId id="286" r:id="rId34"/>
    <p:sldId id="287" r:id="rId35"/>
    <p:sldId id="320" r:id="rId36"/>
    <p:sldId id="288" r:id="rId37"/>
    <p:sldId id="289" r:id="rId38"/>
    <p:sldId id="323" r:id="rId39"/>
    <p:sldId id="290" r:id="rId40"/>
    <p:sldId id="291" r:id="rId41"/>
    <p:sldId id="292" r:id="rId42"/>
    <p:sldId id="293" r:id="rId43"/>
    <p:sldId id="299" r:id="rId44"/>
    <p:sldId id="300" r:id="rId45"/>
    <p:sldId id="294" r:id="rId46"/>
    <p:sldId id="295" r:id="rId47"/>
    <p:sldId id="296" r:id="rId48"/>
    <p:sldId id="297" r:id="rId49"/>
    <p:sldId id="298" r:id="rId50"/>
    <p:sldId id="325" r:id="rId51"/>
    <p:sldId id="327" r:id="rId52"/>
    <p:sldId id="326" r:id="rId53"/>
    <p:sldId id="324" r:id="rId54"/>
    <p:sldId id="301" r:id="rId55"/>
    <p:sldId id="302" r:id="rId56"/>
    <p:sldId id="303" r:id="rId57"/>
    <p:sldId id="304" r:id="rId58"/>
    <p:sldId id="305" r:id="rId59"/>
    <p:sldId id="306" r:id="rId60"/>
    <p:sldId id="307" r:id="rId61"/>
    <p:sldId id="308" r:id="rId62"/>
    <p:sldId id="309" r:id="rId63"/>
    <p:sldId id="310" r:id="rId64"/>
    <p:sldId id="312" r:id="rId65"/>
  </p:sldIdLst>
  <p:sldSz cx="12192000" cy="6858000"/>
  <p:notesSz cx="6858000" cy="9144000"/>
  <p:embeddedFontLst>
    <p:embeddedFont>
      <p:font typeface="Roboto" panose="02000000000000000000"/>
      <p:regular r:id="rId69"/>
      <p:bold r:id="rId70"/>
      <p:italic r:id="rId71"/>
      <p:boldItalic r:id="rId72"/>
    </p:embeddedFont>
    <p:embeddedFont>
      <p:font typeface="Montserrat" panose="00000500000000000000"/>
      <p:regular r:id="rId73"/>
      <p:bold r:id="rId74"/>
      <p:italic r:id="rId75"/>
    </p:embeddedFont>
    <p:embeddedFont>
      <p:font typeface="Trebuchet MS" panose="020B0603020202020204"/>
      <p:regular r:id="rId76"/>
    </p:embeddedFont>
    <p:embeddedFont>
      <p:font typeface="Calibri" panose="020F0502020204030204"/>
      <p:regular r:id="rId77"/>
      <p:bold r:id="rId78"/>
      <p:italic r:id="rId79"/>
      <p:boldItalic r:id="rId8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pos="336" userDrawn="1">
          <p15:clr>
            <a:srgbClr val="A4A3A4"/>
          </p15:clr>
        </p15:guide>
        <p15:guide id="2" pos="7656" userDrawn="1">
          <p15:clr>
            <a:srgbClr val="A4A3A4"/>
          </p15:clr>
        </p15:guide>
        <p15:guide id="3" orient="horz" pos="20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8"/>
  </p:normalViewPr>
  <p:slideViewPr>
    <p:cSldViewPr snapToGrid="0" showGuides="1">
      <p:cViewPr varScale="1">
        <p:scale>
          <a:sx n="60" d="100"/>
          <a:sy n="60" d="100"/>
        </p:scale>
        <p:origin x="884" y="36"/>
      </p:cViewPr>
      <p:guideLst>
        <p:guide pos="336"/>
        <p:guide pos="7656"/>
        <p:guide orient="horz" pos="20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font" Target="fonts/font12.fntdata"/><Relationship Id="rId8" Type="http://schemas.openxmlformats.org/officeDocument/2006/relationships/slide" Target="slides/slide5.xml"/><Relationship Id="rId79" Type="http://schemas.openxmlformats.org/officeDocument/2006/relationships/font" Target="fonts/font11.fntdata"/><Relationship Id="rId78" Type="http://schemas.openxmlformats.org/officeDocument/2006/relationships/font" Target="fonts/font10.fntdata"/><Relationship Id="rId77" Type="http://schemas.openxmlformats.org/officeDocument/2006/relationships/font" Target="fonts/font9.fntdata"/><Relationship Id="rId76" Type="http://schemas.openxmlformats.org/officeDocument/2006/relationships/font" Target="fonts/font8.fntdata"/><Relationship Id="rId75" Type="http://schemas.openxmlformats.org/officeDocument/2006/relationships/font" Target="fonts/font7.fntdata"/><Relationship Id="rId74" Type="http://schemas.openxmlformats.org/officeDocument/2006/relationships/font" Target="fonts/font6.fntdata"/><Relationship Id="rId73" Type="http://schemas.openxmlformats.org/officeDocument/2006/relationships/font" Target="fonts/font5.fntdata"/><Relationship Id="rId72" Type="http://schemas.openxmlformats.org/officeDocument/2006/relationships/font" Target="fonts/font4.fntdata"/><Relationship Id="rId71" Type="http://schemas.openxmlformats.org/officeDocument/2006/relationships/font" Target="fonts/font3.fntdata"/><Relationship Id="rId70" Type="http://schemas.openxmlformats.org/officeDocument/2006/relationships/font" Target="fonts/font2.fntdata"/><Relationship Id="rId7" Type="http://schemas.openxmlformats.org/officeDocument/2006/relationships/slide" Target="slides/slide4.xml"/><Relationship Id="rId69" Type="http://schemas.openxmlformats.org/officeDocument/2006/relationships/font" Target="fonts/font1.fntdata"/><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3" name="Google Shape;15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3"/>
        <p:cNvGrpSpPr/>
        <p:nvPr/>
      </p:nvGrpSpPr>
      <p:grpSpPr>
        <a:xfrm>
          <a:off x="0" y="0"/>
          <a:ext cx="0" cy="0"/>
          <a:chOff x="0" y="0"/>
          <a:chExt cx="0" cy="0"/>
        </a:xfrm>
      </p:grpSpPr>
      <p:sp>
        <p:nvSpPr>
          <p:cNvPr id="164" name="Google Shape;16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5" name="Google Shape;16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4"/>
        <p:cNvGrpSpPr/>
        <p:nvPr/>
      </p:nvGrpSpPr>
      <p:grpSpPr>
        <a:xfrm>
          <a:off x="0" y="0"/>
          <a:ext cx="0" cy="0"/>
          <a:chOff x="0" y="0"/>
          <a:chExt cx="0" cy="0"/>
        </a:xfrm>
      </p:grpSpPr>
      <p:sp>
        <p:nvSpPr>
          <p:cNvPr id="175" name="Google Shape;17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panose="020B0604020202020204"/>
              <a:buNone/>
            </a:pPr>
          </a:p>
        </p:txBody>
      </p:sp>
      <p:sp>
        <p:nvSpPr>
          <p:cNvPr id="176" name="Google Shape;17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2"/>
        <p:cNvGrpSpPr/>
        <p:nvPr/>
      </p:nvGrpSpPr>
      <p:grpSpPr>
        <a:xfrm>
          <a:off x="0" y="0"/>
          <a:ext cx="0" cy="0"/>
          <a:chOff x="0" y="0"/>
          <a:chExt cx="0" cy="0"/>
        </a:xfrm>
      </p:grpSpPr>
      <p:sp>
        <p:nvSpPr>
          <p:cNvPr id="193" name="Google Shape;19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4" name="Google Shape;19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2"/>
        <p:cNvGrpSpPr/>
        <p:nvPr/>
      </p:nvGrpSpPr>
      <p:grpSpPr>
        <a:xfrm>
          <a:off x="0" y="0"/>
          <a:ext cx="0" cy="0"/>
          <a:chOff x="0" y="0"/>
          <a:chExt cx="0" cy="0"/>
        </a:xfrm>
      </p:grpSpPr>
      <p:sp>
        <p:nvSpPr>
          <p:cNvPr id="203" name="Google Shape;2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5" name="Google Shape;2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4"/>
        <p:cNvGrpSpPr/>
        <p:nvPr/>
      </p:nvGrpSpPr>
      <p:grpSpPr>
        <a:xfrm>
          <a:off x="0" y="0"/>
          <a:ext cx="0" cy="0"/>
          <a:chOff x="0" y="0"/>
          <a:chExt cx="0" cy="0"/>
        </a:xfrm>
      </p:grpSpPr>
      <p:sp>
        <p:nvSpPr>
          <p:cNvPr id="245" name="Google Shape;24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7" name="Google Shape;24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3"/>
        <p:cNvGrpSpPr/>
        <p:nvPr/>
      </p:nvGrpSpPr>
      <p:grpSpPr>
        <a:xfrm>
          <a:off x="0" y="0"/>
          <a:ext cx="0" cy="0"/>
          <a:chOff x="0" y="0"/>
          <a:chExt cx="0" cy="0"/>
        </a:xfrm>
      </p:grpSpPr>
      <p:sp>
        <p:nvSpPr>
          <p:cNvPr id="254" name="Google Shape;2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6" name="Google Shape;25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0" name="Google Shape;28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6"/>
        <p:cNvGrpSpPr/>
        <p:nvPr/>
      </p:nvGrpSpPr>
      <p:grpSpPr>
        <a:xfrm>
          <a:off x="0" y="0"/>
          <a:ext cx="0" cy="0"/>
          <a:chOff x="0" y="0"/>
          <a:chExt cx="0" cy="0"/>
        </a:xfrm>
      </p:grpSpPr>
      <p:sp>
        <p:nvSpPr>
          <p:cNvPr id="287" name="Google Shape;2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9" name="Google Shape;28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9"/>
        <p:cNvGrpSpPr/>
        <p:nvPr/>
      </p:nvGrpSpPr>
      <p:grpSpPr>
        <a:xfrm>
          <a:off x="0" y="0"/>
          <a:ext cx="0" cy="0"/>
          <a:chOff x="0" y="0"/>
          <a:chExt cx="0" cy="0"/>
        </a:xfrm>
      </p:grpSpPr>
      <p:sp>
        <p:nvSpPr>
          <p:cNvPr id="300" name="Google Shape;30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2" name="Google Shape;30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6"/>
        <p:cNvGrpSpPr/>
        <p:nvPr/>
      </p:nvGrpSpPr>
      <p:grpSpPr>
        <a:xfrm>
          <a:off x="0" y="0"/>
          <a:ext cx="0" cy="0"/>
          <a:chOff x="0" y="0"/>
          <a:chExt cx="0" cy="0"/>
        </a:xfrm>
      </p:grpSpPr>
      <p:sp>
        <p:nvSpPr>
          <p:cNvPr id="307" name="Google Shape;30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8" name="Google Shape;30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9" name="Google Shape;30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7"/>
        <p:cNvGrpSpPr/>
        <p:nvPr/>
      </p:nvGrpSpPr>
      <p:grpSpPr>
        <a:xfrm>
          <a:off x="0" y="0"/>
          <a:ext cx="0" cy="0"/>
          <a:chOff x="0" y="0"/>
          <a:chExt cx="0" cy="0"/>
        </a:xfrm>
      </p:grpSpPr>
      <p:sp>
        <p:nvSpPr>
          <p:cNvPr id="328" name="Google Shape;32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0" name="Google Shape;33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0"/>
        <p:cNvGrpSpPr/>
        <p:nvPr/>
      </p:nvGrpSpPr>
      <p:grpSpPr>
        <a:xfrm>
          <a:off x="0" y="0"/>
          <a:ext cx="0" cy="0"/>
          <a:chOff x="0" y="0"/>
          <a:chExt cx="0" cy="0"/>
        </a:xfrm>
      </p:grpSpPr>
      <p:sp>
        <p:nvSpPr>
          <p:cNvPr id="361" name="Google Shape;36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3" name="Google Shape;36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6"/>
        <p:cNvGrpSpPr/>
        <p:nvPr/>
      </p:nvGrpSpPr>
      <p:grpSpPr>
        <a:xfrm>
          <a:off x="0" y="0"/>
          <a:ext cx="0" cy="0"/>
          <a:chOff x="0" y="0"/>
          <a:chExt cx="0" cy="0"/>
        </a:xfrm>
      </p:grpSpPr>
      <p:sp>
        <p:nvSpPr>
          <p:cNvPr id="417" name="Google Shape;41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9" name="Google Shape;41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4"/>
        <p:cNvGrpSpPr/>
        <p:nvPr/>
      </p:nvGrpSpPr>
      <p:grpSpPr>
        <a:xfrm>
          <a:off x="0" y="0"/>
          <a:ext cx="0" cy="0"/>
          <a:chOff x="0" y="0"/>
          <a:chExt cx="0" cy="0"/>
        </a:xfrm>
      </p:grpSpPr>
      <p:sp>
        <p:nvSpPr>
          <p:cNvPr id="465" name="Google Shape;46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7" name="Google Shape;467;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6"/>
        <p:cNvGrpSpPr/>
        <p:nvPr/>
      </p:nvGrpSpPr>
      <p:grpSpPr>
        <a:xfrm>
          <a:off x="0" y="0"/>
          <a:ext cx="0" cy="0"/>
          <a:chOff x="0" y="0"/>
          <a:chExt cx="0" cy="0"/>
        </a:xfrm>
      </p:grpSpPr>
      <p:sp>
        <p:nvSpPr>
          <p:cNvPr id="477" name="Google Shape;47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8" name="Google Shape;47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9" name="Google Shape;47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7"/>
        <p:cNvGrpSpPr/>
        <p:nvPr/>
      </p:nvGrpSpPr>
      <p:grpSpPr>
        <a:xfrm>
          <a:off x="0" y="0"/>
          <a:ext cx="0" cy="0"/>
          <a:chOff x="0" y="0"/>
          <a:chExt cx="0" cy="0"/>
        </a:xfrm>
      </p:grpSpPr>
      <p:sp>
        <p:nvSpPr>
          <p:cNvPr id="488" name="Google Shape;48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9" name="Google Shape;489;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0" name="Google Shape;490;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7"/>
        <p:cNvGrpSpPr/>
        <p:nvPr/>
      </p:nvGrpSpPr>
      <p:grpSpPr>
        <a:xfrm>
          <a:off x="0" y="0"/>
          <a:ext cx="0" cy="0"/>
          <a:chOff x="0" y="0"/>
          <a:chExt cx="0" cy="0"/>
        </a:xfrm>
      </p:grpSpPr>
      <p:sp>
        <p:nvSpPr>
          <p:cNvPr id="498" name="Google Shape;49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9" name="Google Shape;49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7"/>
        <p:cNvGrpSpPr/>
        <p:nvPr/>
      </p:nvGrpSpPr>
      <p:grpSpPr>
        <a:xfrm>
          <a:off x="0" y="0"/>
          <a:ext cx="0" cy="0"/>
          <a:chOff x="0" y="0"/>
          <a:chExt cx="0" cy="0"/>
        </a:xfrm>
      </p:grpSpPr>
      <p:sp>
        <p:nvSpPr>
          <p:cNvPr id="508" name="Google Shape;50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9" name="Google Shape;50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0" name="Google Shape;51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6"/>
        <p:cNvGrpSpPr/>
        <p:nvPr/>
      </p:nvGrpSpPr>
      <p:grpSpPr>
        <a:xfrm>
          <a:off x="0" y="0"/>
          <a:ext cx="0" cy="0"/>
          <a:chOff x="0" y="0"/>
          <a:chExt cx="0" cy="0"/>
        </a:xfrm>
      </p:grpSpPr>
      <p:sp>
        <p:nvSpPr>
          <p:cNvPr id="517" name="Google Shape;51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8" name="Google Shape;51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19" name="Google Shape;519;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7"/>
        <p:cNvGrpSpPr/>
        <p:nvPr/>
      </p:nvGrpSpPr>
      <p:grpSpPr>
        <a:xfrm>
          <a:off x="0" y="0"/>
          <a:ext cx="0" cy="0"/>
          <a:chOff x="0" y="0"/>
          <a:chExt cx="0" cy="0"/>
        </a:xfrm>
      </p:grpSpPr>
      <p:sp>
        <p:nvSpPr>
          <p:cNvPr id="538" name="Google Shape;53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40" name="Google Shape;540;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8"/>
        <p:cNvGrpSpPr/>
        <p:nvPr/>
      </p:nvGrpSpPr>
      <p:grpSpPr>
        <a:xfrm>
          <a:off x="0" y="0"/>
          <a:ext cx="0" cy="0"/>
          <a:chOff x="0" y="0"/>
          <a:chExt cx="0" cy="0"/>
        </a:xfrm>
      </p:grpSpPr>
      <p:sp>
        <p:nvSpPr>
          <p:cNvPr id="559" name="Google Shape;55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61" name="Google Shape;561;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9"/>
        <p:cNvGrpSpPr/>
        <p:nvPr/>
      </p:nvGrpSpPr>
      <p:grpSpPr>
        <a:xfrm>
          <a:off x="0" y="0"/>
          <a:ext cx="0" cy="0"/>
          <a:chOff x="0" y="0"/>
          <a:chExt cx="0" cy="0"/>
        </a:xfrm>
      </p:grpSpPr>
      <p:sp>
        <p:nvSpPr>
          <p:cNvPr id="580" name="Google Shape;58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81" name="Google Shape;58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89"/>
        <p:cNvGrpSpPr/>
        <p:nvPr/>
      </p:nvGrpSpPr>
      <p:grpSpPr>
        <a:xfrm>
          <a:off x="0" y="0"/>
          <a:ext cx="0" cy="0"/>
          <a:chOff x="0" y="0"/>
          <a:chExt cx="0" cy="0"/>
        </a:xfrm>
      </p:grpSpPr>
      <p:sp>
        <p:nvSpPr>
          <p:cNvPr id="590" name="Google Shape;59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1" name="Google Shape;59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2" name="Google Shape;592;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8"/>
        <p:cNvGrpSpPr/>
        <p:nvPr/>
      </p:nvGrpSpPr>
      <p:grpSpPr>
        <a:xfrm>
          <a:off x="0" y="0"/>
          <a:ext cx="0" cy="0"/>
          <a:chOff x="0" y="0"/>
          <a:chExt cx="0" cy="0"/>
        </a:xfrm>
      </p:grpSpPr>
      <p:sp>
        <p:nvSpPr>
          <p:cNvPr id="599" name="Google Shape;59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0" name="Google Shape;60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1" name="Google Shape;601;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7"/>
        <p:cNvGrpSpPr/>
        <p:nvPr/>
      </p:nvGrpSpPr>
      <p:grpSpPr>
        <a:xfrm>
          <a:off x="0" y="0"/>
          <a:ext cx="0" cy="0"/>
          <a:chOff x="0" y="0"/>
          <a:chExt cx="0" cy="0"/>
        </a:xfrm>
      </p:grpSpPr>
      <p:sp>
        <p:nvSpPr>
          <p:cNvPr id="608" name="Google Shape;60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9" name="Google Shape;60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0" name="Google Shape;61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6"/>
        <p:cNvGrpSpPr/>
        <p:nvPr/>
      </p:nvGrpSpPr>
      <p:grpSpPr>
        <a:xfrm>
          <a:off x="0" y="0"/>
          <a:ext cx="0" cy="0"/>
          <a:chOff x="0" y="0"/>
          <a:chExt cx="0" cy="0"/>
        </a:xfrm>
      </p:grpSpPr>
      <p:sp>
        <p:nvSpPr>
          <p:cNvPr id="617" name="Google Shape;61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8" name="Google Shape;61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9" name="Google Shape;61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5"/>
        <p:cNvGrpSpPr/>
        <p:nvPr/>
      </p:nvGrpSpPr>
      <p:grpSpPr>
        <a:xfrm>
          <a:off x="0" y="0"/>
          <a:ext cx="0" cy="0"/>
          <a:chOff x="0" y="0"/>
          <a:chExt cx="0" cy="0"/>
        </a:xfrm>
      </p:grpSpPr>
      <p:sp>
        <p:nvSpPr>
          <p:cNvPr id="626" name="Google Shape;62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7" name="Google Shape;62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6"/>
        <p:cNvGrpSpPr/>
        <p:nvPr/>
      </p:nvGrpSpPr>
      <p:grpSpPr>
        <a:xfrm>
          <a:off x="0" y="0"/>
          <a:ext cx="0" cy="0"/>
          <a:chOff x="0" y="0"/>
          <a:chExt cx="0" cy="0"/>
        </a:xfrm>
      </p:grpSpPr>
      <p:sp>
        <p:nvSpPr>
          <p:cNvPr id="287" name="Google Shape;28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8" name="Google Shape;28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2"/>
        <p:cNvGrpSpPr/>
        <p:nvPr/>
      </p:nvGrpSpPr>
      <p:grpSpPr>
        <a:xfrm>
          <a:off x="0" y="0"/>
          <a:ext cx="0" cy="0"/>
          <a:chOff x="0" y="0"/>
          <a:chExt cx="0" cy="0"/>
        </a:xfrm>
      </p:grpSpPr>
      <p:sp>
        <p:nvSpPr>
          <p:cNvPr id="643" name="Google Shape;64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4" name="Google Shape;64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5" name="Google Shape;645;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51"/>
        <p:cNvGrpSpPr/>
        <p:nvPr/>
      </p:nvGrpSpPr>
      <p:grpSpPr>
        <a:xfrm>
          <a:off x="0" y="0"/>
          <a:ext cx="0" cy="0"/>
          <a:chOff x="0" y="0"/>
          <a:chExt cx="0" cy="0"/>
        </a:xfrm>
      </p:grpSpPr>
      <p:sp>
        <p:nvSpPr>
          <p:cNvPr id="652" name="Google Shape;65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3" name="Google Shape;653;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54" name="Google Shape;654;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9"/>
        <p:cNvGrpSpPr/>
        <p:nvPr/>
      </p:nvGrpSpPr>
      <p:grpSpPr>
        <a:xfrm>
          <a:off x="0" y="0"/>
          <a:ext cx="0" cy="0"/>
          <a:chOff x="0" y="0"/>
          <a:chExt cx="0" cy="0"/>
        </a:xfrm>
      </p:grpSpPr>
      <p:sp>
        <p:nvSpPr>
          <p:cNvPr id="680" name="Google Shape;68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2" name="Google Shape;682;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9"/>
        <p:cNvGrpSpPr/>
        <p:nvPr/>
      </p:nvGrpSpPr>
      <p:grpSpPr>
        <a:xfrm>
          <a:off x="0" y="0"/>
          <a:ext cx="0" cy="0"/>
          <a:chOff x="0" y="0"/>
          <a:chExt cx="0" cy="0"/>
        </a:xfrm>
      </p:grpSpPr>
      <p:sp>
        <p:nvSpPr>
          <p:cNvPr id="680" name="Google Shape;68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2" name="Google Shape;682;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1"/>
        <p:cNvGrpSpPr/>
        <p:nvPr/>
      </p:nvGrpSpPr>
      <p:grpSpPr>
        <a:xfrm>
          <a:off x="0" y="0"/>
          <a:ext cx="0" cy="0"/>
          <a:chOff x="0" y="0"/>
          <a:chExt cx="0" cy="0"/>
        </a:xfrm>
      </p:grpSpPr>
      <p:sp>
        <p:nvSpPr>
          <p:cNvPr id="692" name="Google Shape;69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4" name="Google Shape;694;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02"/>
        <p:cNvGrpSpPr/>
        <p:nvPr/>
      </p:nvGrpSpPr>
      <p:grpSpPr>
        <a:xfrm>
          <a:off x="0" y="0"/>
          <a:ext cx="0" cy="0"/>
          <a:chOff x="0" y="0"/>
          <a:chExt cx="0" cy="0"/>
        </a:xfrm>
      </p:grpSpPr>
      <p:sp>
        <p:nvSpPr>
          <p:cNvPr id="703" name="Google Shape;70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4" name="Google Shape;704;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5" name="Google Shape;705;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7"/>
        <p:cNvGrpSpPr/>
        <p:nvPr/>
      </p:nvGrpSpPr>
      <p:grpSpPr>
        <a:xfrm>
          <a:off x="0" y="0"/>
          <a:ext cx="0" cy="0"/>
          <a:chOff x="0" y="0"/>
          <a:chExt cx="0" cy="0"/>
        </a:xfrm>
      </p:grpSpPr>
      <p:sp>
        <p:nvSpPr>
          <p:cNvPr id="418" name="Google Shape;418;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19" name="Google Shape;41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21"/>
        <p:cNvGrpSpPr/>
        <p:nvPr/>
      </p:nvGrpSpPr>
      <p:grpSpPr>
        <a:xfrm>
          <a:off x="0" y="0"/>
          <a:ext cx="0" cy="0"/>
          <a:chOff x="0" y="0"/>
          <a:chExt cx="0" cy="0"/>
        </a:xfrm>
      </p:grpSpPr>
      <p:sp>
        <p:nvSpPr>
          <p:cNvPr id="722" name="Google Shape;72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24" name="Google Shape;724;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0"/>
        <p:cNvGrpSpPr/>
        <p:nvPr/>
      </p:nvGrpSpPr>
      <p:grpSpPr>
        <a:xfrm>
          <a:off x="0" y="0"/>
          <a:ext cx="0" cy="0"/>
          <a:chOff x="0" y="0"/>
          <a:chExt cx="0" cy="0"/>
        </a:xfrm>
      </p:grpSpPr>
      <p:sp>
        <p:nvSpPr>
          <p:cNvPr id="731" name="Google Shape;73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2" name="Google Shape;73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33" name="Google Shape;73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3"/>
        <p:cNvGrpSpPr/>
        <p:nvPr/>
      </p:nvGrpSpPr>
      <p:grpSpPr>
        <a:xfrm>
          <a:off x="0" y="0"/>
          <a:ext cx="0" cy="0"/>
          <a:chOff x="0" y="0"/>
          <a:chExt cx="0" cy="0"/>
        </a:xfrm>
      </p:grpSpPr>
      <p:sp>
        <p:nvSpPr>
          <p:cNvPr id="744" name="Google Shape;74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46" name="Google Shape;746;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4"/>
        <p:cNvGrpSpPr/>
        <p:nvPr/>
      </p:nvGrpSpPr>
      <p:grpSpPr>
        <a:xfrm>
          <a:off x="0" y="0"/>
          <a:ext cx="0" cy="0"/>
          <a:chOff x="0" y="0"/>
          <a:chExt cx="0" cy="0"/>
        </a:xfrm>
      </p:grpSpPr>
      <p:sp>
        <p:nvSpPr>
          <p:cNvPr id="755" name="Google Shape;75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57" name="Google Shape;757;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15"/>
        <p:cNvGrpSpPr/>
        <p:nvPr/>
      </p:nvGrpSpPr>
      <p:grpSpPr>
        <a:xfrm>
          <a:off x="0" y="0"/>
          <a:ext cx="0" cy="0"/>
          <a:chOff x="0" y="0"/>
          <a:chExt cx="0" cy="0"/>
        </a:xfrm>
      </p:grpSpPr>
      <p:sp>
        <p:nvSpPr>
          <p:cNvPr id="816" name="Google Shape;81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18" name="Google Shape;818;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23"/>
        <p:cNvGrpSpPr/>
        <p:nvPr/>
      </p:nvGrpSpPr>
      <p:grpSpPr>
        <a:xfrm>
          <a:off x="0" y="0"/>
          <a:ext cx="0" cy="0"/>
          <a:chOff x="0" y="0"/>
          <a:chExt cx="0" cy="0"/>
        </a:xfrm>
      </p:grpSpPr>
      <p:sp>
        <p:nvSpPr>
          <p:cNvPr id="824" name="Google Shape;82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26" name="Google Shape;826;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65"/>
        <p:cNvGrpSpPr/>
        <p:nvPr/>
      </p:nvGrpSpPr>
      <p:grpSpPr>
        <a:xfrm>
          <a:off x="0" y="0"/>
          <a:ext cx="0" cy="0"/>
          <a:chOff x="0" y="0"/>
          <a:chExt cx="0" cy="0"/>
        </a:xfrm>
      </p:grpSpPr>
      <p:sp>
        <p:nvSpPr>
          <p:cNvPr id="766" name="Google Shape;76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7" name="Google Shape;767;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68" name="Google Shape;768;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72"/>
        <p:cNvGrpSpPr/>
        <p:nvPr/>
      </p:nvGrpSpPr>
      <p:grpSpPr>
        <a:xfrm>
          <a:off x="0" y="0"/>
          <a:ext cx="0" cy="0"/>
          <a:chOff x="0" y="0"/>
          <a:chExt cx="0" cy="0"/>
        </a:xfrm>
      </p:grpSpPr>
      <p:sp>
        <p:nvSpPr>
          <p:cNvPr id="773" name="Google Shape;77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75" name="Google Shape;775;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79"/>
        <p:cNvGrpSpPr/>
        <p:nvPr/>
      </p:nvGrpSpPr>
      <p:grpSpPr>
        <a:xfrm>
          <a:off x="0" y="0"/>
          <a:ext cx="0" cy="0"/>
          <a:chOff x="0" y="0"/>
          <a:chExt cx="0" cy="0"/>
        </a:xfrm>
      </p:grpSpPr>
      <p:sp>
        <p:nvSpPr>
          <p:cNvPr id="780" name="Google Shape;78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82" name="Google Shape;782;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94"/>
        <p:cNvGrpSpPr/>
        <p:nvPr/>
      </p:nvGrpSpPr>
      <p:grpSpPr>
        <a:xfrm>
          <a:off x="0" y="0"/>
          <a:ext cx="0" cy="0"/>
          <a:chOff x="0" y="0"/>
          <a:chExt cx="0" cy="0"/>
        </a:xfrm>
      </p:grpSpPr>
      <p:sp>
        <p:nvSpPr>
          <p:cNvPr id="795" name="Google Shape;79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97" name="Google Shape;797;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4"/>
        <p:cNvGrpSpPr/>
        <p:nvPr/>
      </p:nvGrpSpPr>
      <p:grpSpPr>
        <a:xfrm>
          <a:off x="0" y="0"/>
          <a:ext cx="0" cy="0"/>
          <a:chOff x="0" y="0"/>
          <a:chExt cx="0" cy="0"/>
        </a:xfrm>
      </p:grpSpPr>
      <p:sp>
        <p:nvSpPr>
          <p:cNvPr id="805" name="Google Shape;805;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07" name="Google Shape;807;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5"/>
        <p:cNvGrpSpPr/>
        <p:nvPr/>
      </p:nvGrpSpPr>
      <p:grpSpPr>
        <a:xfrm>
          <a:off x="0" y="0"/>
          <a:ext cx="0" cy="0"/>
          <a:chOff x="0" y="0"/>
          <a:chExt cx="0" cy="0"/>
        </a:xfrm>
      </p:grpSpPr>
      <p:sp>
        <p:nvSpPr>
          <p:cNvPr id="696" name="Google Shape;696;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solidFill>
                  <a:srgbClr val="002D42"/>
                </a:solidFill>
                <a:highlight>
                  <a:srgbClr val="FFFFFF"/>
                </a:highlight>
                <a:latin typeface="Roboto" panose="02000000000000000000"/>
                <a:ea typeface="Roboto" panose="02000000000000000000"/>
                <a:cs typeface="Roboto" panose="02000000000000000000"/>
                <a:sym typeface="Roboto" panose="02000000000000000000"/>
              </a:rPr>
              <a:t>Swap execution facilities (SEFs) are a type of marketplace for trading swaps in the United States. They are governed by the Dodd-Frank Act and rules of the United States Commodity Futures Trading Commission. Multilateral Trading Facilities (MTFs) are a type of marketplace for trading over-the-counter derivatives and other products in the European Union. They are governed by the Markets in Financial Instruments Directive (MiFID II) and other EU and local rule</a:t>
            </a:r>
            <a:endParaRPr lang="en-US">
              <a:solidFill>
                <a:srgbClr val="002D42"/>
              </a:solidFill>
              <a:highlight>
                <a:srgbClr val="FFFFFF"/>
              </a:highlight>
              <a:latin typeface="Roboto" panose="02000000000000000000"/>
              <a:ea typeface="Roboto" panose="02000000000000000000"/>
              <a:cs typeface="Roboto" panose="02000000000000000000"/>
              <a:sym typeface="Roboto" panose="02000000000000000000"/>
            </a:endParaRPr>
          </a:p>
        </p:txBody>
      </p:sp>
      <p:sp>
        <p:nvSpPr>
          <p:cNvPr id="697" name="Google Shape;697;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1"/>
        <p:cNvGrpSpPr/>
        <p:nvPr/>
      </p:nvGrpSpPr>
      <p:grpSpPr>
        <a:xfrm>
          <a:off x="0" y="0"/>
          <a:ext cx="0" cy="0"/>
          <a:chOff x="0" y="0"/>
          <a:chExt cx="0" cy="0"/>
        </a:xfrm>
      </p:grpSpPr>
      <p:sp>
        <p:nvSpPr>
          <p:cNvPr id="742" name="Google Shape;742;g22c3b7804d8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43" name="Google Shape;743;g22c3b7804d8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9"/>
        <p:cNvGrpSpPr/>
        <p:nvPr/>
      </p:nvGrpSpPr>
      <p:grpSpPr>
        <a:xfrm>
          <a:off x="0" y="0"/>
          <a:ext cx="0" cy="0"/>
          <a:chOff x="0" y="0"/>
          <a:chExt cx="0" cy="0"/>
        </a:xfrm>
      </p:grpSpPr>
      <p:sp>
        <p:nvSpPr>
          <p:cNvPr id="550" name="Google Shape;550;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51" name="Google Shape;551;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8"/>
        <p:cNvGrpSpPr/>
        <p:nvPr/>
      </p:nvGrpSpPr>
      <p:grpSpPr>
        <a:xfrm>
          <a:off x="0" y="0"/>
          <a:ext cx="0" cy="0"/>
          <a:chOff x="0" y="0"/>
          <a:chExt cx="0" cy="0"/>
        </a:xfrm>
      </p:grpSpPr>
      <p:sp>
        <p:nvSpPr>
          <p:cNvPr id="569" name="Google Shape;569;g21482275b93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21482275b93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1" name="Google Shape;571;g21482275b93_0_1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panose="020B0604020202020204"/>
              <a:buNone/>
            </a:pPr>
            <a:fld id="{00000000-1234-1234-1234-123412341234}"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1"/>
        <p:cNvGrpSpPr/>
        <p:nvPr/>
      </p:nvGrpSpPr>
      <p:grpSpPr>
        <a:xfrm>
          <a:off x="0" y="0"/>
          <a:ext cx="0" cy="0"/>
          <a:chOff x="0" y="0"/>
          <a:chExt cx="0" cy="0"/>
        </a:xfrm>
      </p:grpSpPr>
      <p:sp>
        <p:nvSpPr>
          <p:cNvPr id="832" name="Google Shape;83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34" name="Google Shape;834;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0"/>
        <p:cNvGrpSpPr/>
        <p:nvPr/>
      </p:nvGrpSpPr>
      <p:grpSpPr>
        <a:xfrm>
          <a:off x="0" y="0"/>
          <a:ext cx="0" cy="0"/>
          <a:chOff x="0" y="0"/>
          <a:chExt cx="0" cy="0"/>
        </a:xfrm>
      </p:grpSpPr>
      <p:sp>
        <p:nvSpPr>
          <p:cNvPr id="841" name="Google Shape;84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43" name="Google Shape;843;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2"/>
        <p:cNvGrpSpPr/>
        <p:nvPr/>
      </p:nvGrpSpPr>
      <p:grpSpPr>
        <a:xfrm>
          <a:off x="0" y="0"/>
          <a:ext cx="0" cy="0"/>
          <a:chOff x="0" y="0"/>
          <a:chExt cx="0" cy="0"/>
        </a:xfrm>
      </p:grpSpPr>
      <p:sp>
        <p:nvSpPr>
          <p:cNvPr id="853" name="Google Shape;85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55" name="Google Shape;855;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9"/>
        <p:cNvGrpSpPr/>
        <p:nvPr/>
      </p:nvGrpSpPr>
      <p:grpSpPr>
        <a:xfrm>
          <a:off x="0" y="0"/>
          <a:ext cx="0" cy="0"/>
          <a:chOff x="0" y="0"/>
          <a:chExt cx="0" cy="0"/>
        </a:xfrm>
      </p:grpSpPr>
      <p:sp>
        <p:nvSpPr>
          <p:cNvPr id="870" name="Google Shape;870;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72" name="Google Shape;872;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5"/>
        <p:cNvGrpSpPr/>
        <p:nvPr/>
      </p:nvGrpSpPr>
      <p:grpSpPr>
        <a:xfrm>
          <a:off x="0" y="0"/>
          <a:ext cx="0" cy="0"/>
          <a:chOff x="0" y="0"/>
          <a:chExt cx="0" cy="0"/>
        </a:xfrm>
      </p:grpSpPr>
      <p:sp>
        <p:nvSpPr>
          <p:cNvPr id="886" name="Google Shape;88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7" name="Google Shape;887;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88" name="Google Shape;888;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8"/>
        <p:cNvGrpSpPr/>
        <p:nvPr/>
      </p:nvGrpSpPr>
      <p:grpSpPr>
        <a:xfrm>
          <a:off x="0" y="0"/>
          <a:ext cx="0" cy="0"/>
          <a:chOff x="0" y="0"/>
          <a:chExt cx="0" cy="0"/>
        </a:xfrm>
      </p:grpSpPr>
      <p:sp>
        <p:nvSpPr>
          <p:cNvPr id="899" name="Google Shape;899;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00" name="Google Shape;900;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08"/>
        <p:cNvGrpSpPr/>
        <p:nvPr/>
      </p:nvGrpSpPr>
      <p:grpSpPr>
        <a:xfrm>
          <a:off x="0" y="0"/>
          <a:ext cx="0" cy="0"/>
          <a:chOff x="0" y="0"/>
          <a:chExt cx="0" cy="0"/>
        </a:xfrm>
      </p:grpSpPr>
      <p:sp>
        <p:nvSpPr>
          <p:cNvPr id="909" name="Google Shape;909;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11" name="Google Shape;911;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2"/>
        <p:cNvGrpSpPr/>
        <p:nvPr/>
      </p:nvGrpSpPr>
      <p:grpSpPr>
        <a:xfrm>
          <a:off x="0" y="0"/>
          <a:ext cx="0" cy="0"/>
          <a:chOff x="0" y="0"/>
          <a:chExt cx="0" cy="0"/>
        </a:xfrm>
      </p:grpSpPr>
      <p:sp>
        <p:nvSpPr>
          <p:cNvPr id="923" name="Google Shape;92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25" name="Google Shape;925;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5"/>
        <p:cNvGrpSpPr/>
        <p:nvPr/>
      </p:nvGrpSpPr>
      <p:grpSpPr>
        <a:xfrm>
          <a:off x="0" y="0"/>
          <a:ext cx="0" cy="0"/>
          <a:chOff x="0" y="0"/>
          <a:chExt cx="0" cy="0"/>
        </a:xfrm>
      </p:grpSpPr>
      <p:sp>
        <p:nvSpPr>
          <p:cNvPr id="936" name="Google Shape;936;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38" name="Google Shape;938;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55"/>
        <p:cNvGrpSpPr/>
        <p:nvPr/>
      </p:nvGrpSpPr>
      <p:grpSpPr>
        <a:xfrm>
          <a:off x="0" y="0"/>
          <a:ext cx="0" cy="0"/>
          <a:chOff x="0" y="0"/>
          <a:chExt cx="0" cy="0"/>
        </a:xfrm>
      </p:grpSpPr>
      <p:sp>
        <p:nvSpPr>
          <p:cNvPr id="956" name="Google Shape;95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58" name="Google Shape;958;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76"/>
        <p:cNvGrpSpPr/>
        <p:nvPr/>
      </p:nvGrpSpPr>
      <p:grpSpPr>
        <a:xfrm>
          <a:off x="0" y="0"/>
          <a:ext cx="0" cy="0"/>
          <a:chOff x="0" y="0"/>
          <a:chExt cx="0" cy="0"/>
        </a:xfrm>
      </p:grpSpPr>
      <p:sp>
        <p:nvSpPr>
          <p:cNvPr id="977" name="Google Shape;977;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78" name="Google Shape;97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16"/>
        <p:cNvGrpSpPr/>
        <p:nvPr/>
      </p:nvGrpSpPr>
      <p:grpSpPr>
        <a:xfrm>
          <a:off x="0" y="0"/>
          <a:ext cx="0" cy="0"/>
          <a:chOff x="0" y="0"/>
          <a:chExt cx="0" cy="0"/>
        </a:xfrm>
      </p:grpSpPr>
      <p:sp>
        <p:nvSpPr>
          <p:cNvPr id="17" name="Google Shape;17;p59"/>
          <p:cNvSpPr>
            <a:spLocks noGrp="1"/>
          </p:cNvSpPr>
          <p:nvPr>
            <p:ph type="pic" idx="2"/>
          </p:nvPr>
        </p:nvSpPr>
        <p:spPr>
          <a:xfrm>
            <a:off x="3978704" y="-174171"/>
            <a:ext cx="8412466" cy="7206342"/>
          </a:xfrm>
          <a:prstGeom prst="rect">
            <a:avLst/>
          </a:prstGeom>
          <a:solidFill>
            <a:srgbClr val="F2F2F2"/>
          </a:solidFill>
          <a:ln>
            <a:noFill/>
          </a:ln>
        </p:spPr>
      </p:sp>
      <p:sp>
        <p:nvSpPr>
          <p:cNvPr id="18" name="Google Shape;18;p59"/>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19"/>
        <p:cNvGrpSpPr/>
        <p:nvPr/>
      </p:nvGrpSpPr>
      <p:grpSpPr>
        <a:xfrm>
          <a:off x="0" y="0"/>
          <a:ext cx="0" cy="0"/>
          <a:chOff x="0" y="0"/>
          <a:chExt cx="0" cy="0"/>
        </a:xfrm>
      </p:grpSpPr>
      <p:sp>
        <p:nvSpPr>
          <p:cNvPr id="20" name="Google Shape;20;p60"/>
          <p:cNvSpPr>
            <a:spLocks noGrp="1"/>
          </p:cNvSpPr>
          <p:nvPr>
            <p:ph type="pic" idx="2"/>
          </p:nvPr>
        </p:nvSpPr>
        <p:spPr>
          <a:xfrm>
            <a:off x="0" y="-1"/>
            <a:ext cx="12192000" cy="6857999"/>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2">
  <p:cSld name="1_Title - 22">
    <p:spTree>
      <p:nvGrpSpPr>
        <p:cNvPr id="1" name="Shape 21"/>
        <p:cNvGrpSpPr/>
        <p:nvPr/>
      </p:nvGrpSpPr>
      <p:grpSpPr>
        <a:xfrm>
          <a:off x="0" y="0"/>
          <a:ext cx="0" cy="0"/>
          <a:chOff x="0" y="0"/>
          <a:chExt cx="0" cy="0"/>
        </a:xfrm>
      </p:grpSpPr>
      <p:sp>
        <p:nvSpPr>
          <p:cNvPr id="22" name="Google Shape;22;p61"/>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00000"/>
              </a:buClr>
              <a:buSzPts val="1600"/>
              <a:buFont typeface="Arial" panose="020B0604020202020204"/>
              <a:buNone/>
            </a:pPr>
            <a:r>
              <a:rPr lang="en-GB" sz="1600" b="0" i="0"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3" name="Google Shape;23;p61"/>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Clr>
                <a:srgbClr val="000000"/>
              </a:buClr>
              <a:buSzPts val="1600"/>
              <a:buFont typeface="Arial" panose="020B0604020202020204"/>
              <a:buNone/>
            </a:pPr>
            <a:fld id="{00000000-1234-1234-1234-123412341234}" type="slidenum">
              <a:rPr lang="en-GB" sz="16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24;p61"/>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5" name="Google Shape;25;p61"/>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cap="none">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6" name="Google Shape;26;p61"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2">
  <p:cSld name="Title - 22">
    <p:spTree>
      <p:nvGrpSpPr>
        <p:cNvPr id="1" name="Shape 27"/>
        <p:cNvGrpSpPr/>
        <p:nvPr/>
      </p:nvGrpSpPr>
      <p:grpSpPr>
        <a:xfrm>
          <a:off x="0" y="0"/>
          <a:ext cx="0" cy="0"/>
          <a:chOff x="0" y="0"/>
          <a:chExt cx="0" cy="0"/>
        </a:xfrm>
      </p:grpSpPr>
      <p:sp>
        <p:nvSpPr>
          <p:cNvPr id="28" name="Google Shape;28;p62"/>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GB" sz="1600" b="0" i="0"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lang="en-GB"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 name="Google Shape;29;p62"/>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GB" sz="16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 name="Google Shape;30;p62"/>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1" name="Google Shape;31;p62"/>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cap="none">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2" name="Google Shape;32;p62"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7_slide">
  <p:cSld name="27_slide">
    <p:spTree>
      <p:nvGrpSpPr>
        <p:cNvPr id="1" name="Shape 33"/>
        <p:cNvGrpSpPr/>
        <p:nvPr/>
      </p:nvGrpSpPr>
      <p:grpSpPr>
        <a:xfrm>
          <a:off x="0" y="0"/>
          <a:ext cx="0" cy="0"/>
          <a:chOff x="0" y="0"/>
          <a:chExt cx="0" cy="0"/>
        </a:xfrm>
      </p:grpSpPr>
      <p:sp>
        <p:nvSpPr>
          <p:cNvPr id="34" name="Google Shape;34;p63"/>
          <p:cNvSpPr>
            <a:spLocks noGrp="1"/>
          </p:cNvSpPr>
          <p:nvPr>
            <p:ph type="pic" idx="2"/>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tle 22">
  <p:cSld name="tittle 22">
    <p:spTree>
      <p:nvGrpSpPr>
        <p:cNvPr id="1" name="Shape 35"/>
        <p:cNvGrpSpPr/>
        <p:nvPr/>
      </p:nvGrpSpPr>
      <p:grpSpPr>
        <a:xfrm>
          <a:off x="0" y="0"/>
          <a:ext cx="0" cy="0"/>
          <a:chOff x="0" y="0"/>
          <a:chExt cx="0" cy="0"/>
        </a:xfrm>
      </p:grpSpPr>
      <p:sp>
        <p:nvSpPr>
          <p:cNvPr id="36" name="Google Shape;36;p64"/>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4"/>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
        <p:nvSpPr>
          <p:cNvPr id="40" name="Google Shape;40;p64"/>
          <p:cNvSpPr txBox="1">
            <a:spLocks noGrp="1"/>
          </p:cNvSpPr>
          <p:nvPr>
            <p:ph type="body" idx="1"/>
          </p:nvPr>
        </p:nvSpPr>
        <p:spPr>
          <a:xfrm>
            <a:off x="4403725" y="1082675"/>
            <a:ext cx="914400" cy="914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41"/>
        <p:cNvGrpSpPr/>
        <p:nvPr/>
      </p:nvGrpSpPr>
      <p:grpSpPr>
        <a:xfrm>
          <a:off x="0" y="0"/>
          <a:ext cx="0" cy="0"/>
          <a:chOff x="0" y="0"/>
          <a:chExt cx="0" cy="0"/>
        </a:xfrm>
      </p:grpSpPr>
      <p:sp>
        <p:nvSpPr>
          <p:cNvPr id="42" name="Google Shape;42;p65"/>
          <p:cNvSpPr>
            <a:spLocks noGrp="1"/>
          </p:cNvSpPr>
          <p:nvPr>
            <p:ph type="media" idx="2"/>
          </p:nvPr>
        </p:nvSpPr>
        <p:spPr>
          <a:xfrm>
            <a:off x="874610" y="1346252"/>
            <a:ext cx="9921875" cy="478948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3" name="Google Shape;43;p65"/>
          <p:cNvSpPr txBox="1">
            <a:spLocks noGrp="1"/>
          </p:cNvSpPr>
          <p:nvPr>
            <p:ph type="title"/>
          </p:nvPr>
        </p:nvSpPr>
        <p:spPr>
          <a:xfrm>
            <a:off x="874610" y="443784"/>
            <a:ext cx="10515600" cy="5787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5"/>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45" name="Google Shape;45;p65"/>
          <p:cNvSpPr/>
          <p:nvPr/>
        </p:nvSpPr>
        <p:spPr>
          <a:xfrm>
            <a:off x="5281257" y="3244334"/>
            <a:ext cx="16294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TABLE SLIDE</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46" name="Google Shape;46;p65"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47"/>
        <p:cNvGrpSpPr/>
        <p:nvPr/>
      </p:nvGrpSpPr>
      <p:grpSpPr>
        <a:xfrm>
          <a:off x="0" y="0"/>
          <a:ext cx="0" cy="0"/>
          <a:chOff x="0" y="0"/>
          <a:chExt cx="0" cy="0"/>
        </a:xfrm>
      </p:grpSpPr>
      <p:sp>
        <p:nvSpPr>
          <p:cNvPr id="48" name="Google Shape;48;p66"/>
          <p:cNvSpPr>
            <a:spLocks noGrp="1"/>
          </p:cNvSpPr>
          <p:nvPr>
            <p:ph type="pic" idx="2"/>
          </p:nvPr>
        </p:nvSpPr>
        <p:spPr>
          <a:xfrm>
            <a:off x="-199169" y="-174171"/>
            <a:ext cx="12590339" cy="7206342"/>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slide">
  <p:cSld name="1_slide">
    <p:spTree>
      <p:nvGrpSpPr>
        <p:cNvPr id="1" name="Shape 49"/>
        <p:cNvGrpSpPr/>
        <p:nvPr/>
      </p:nvGrpSpPr>
      <p:grpSpPr>
        <a:xfrm>
          <a:off x="0" y="0"/>
          <a:ext cx="0" cy="0"/>
          <a:chOff x="0" y="0"/>
          <a:chExt cx="0" cy="0"/>
        </a:xfrm>
      </p:grpSpPr>
      <p:sp>
        <p:nvSpPr>
          <p:cNvPr id="50" name="Google Shape;50;p67"/>
          <p:cNvSpPr>
            <a:spLocks noGrp="1"/>
          </p:cNvSpPr>
          <p:nvPr>
            <p:ph type="pic" idx="2"/>
          </p:nvPr>
        </p:nvSpPr>
        <p:spPr>
          <a:xfrm>
            <a:off x="-199169" y="-174171"/>
            <a:ext cx="12590339" cy="4288971"/>
          </a:xfrm>
          <a:prstGeom prst="rect">
            <a:avLst/>
          </a:prstGeom>
          <a:solidFill>
            <a:srgbClr val="F2F2F2"/>
          </a:solidFill>
          <a:ln>
            <a:noFill/>
          </a:ln>
        </p:spPr>
      </p:sp>
      <p:sp>
        <p:nvSpPr>
          <p:cNvPr id="51" name="Google Shape;51;p67"/>
          <p:cNvSpPr txBox="1">
            <a:spLocks noGrp="1"/>
          </p:cNvSpPr>
          <p:nvPr>
            <p:ph type="body" idx="1"/>
          </p:nvPr>
        </p:nvSpPr>
        <p:spPr>
          <a:xfrm>
            <a:off x="1215840" y="4367129"/>
            <a:ext cx="10421727" cy="21660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slide">
  <p:cSld name="2_slide">
    <p:spTree>
      <p:nvGrpSpPr>
        <p:cNvPr id="1" name="Shape 52"/>
        <p:cNvGrpSpPr/>
        <p:nvPr/>
      </p:nvGrpSpPr>
      <p:grpSpPr>
        <a:xfrm>
          <a:off x="0" y="0"/>
          <a:ext cx="0" cy="0"/>
          <a:chOff x="0" y="0"/>
          <a:chExt cx="0" cy="0"/>
        </a:xfrm>
      </p:grpSpPr>
      <p:sp>
        <p:nvSpPr>
          <p:cNvPr id="53" name="Google Shape;53;p68"/>
          <p:cNvSpPr>
            <a:spLocks noGrp="1"/>
          </p:cNvSpPr>
          <p:nvPr>
            <p:ph type="pic" idx="2"/>
          </p:nvPr>
        </p:nvSpPr>
        <p:spPr>
          <a:xfrm>
            <a:off x="3576130" y="2940877"/>
            <a:ext cx="1389961" cy="1389597"/>
          </a:xfrm>
          <a:prstGeom prst="ellipse">
            <a:avLst/>
          </a:prstGeom>
          <a:solidFill>
            <a:srgbClr val="F2F2F2"/>
          </a:solidFill>
          <a:ln>
            <a:noFill/>
          </a:ln>
        </p:spPr>
      </p:sp>
      <p:sp>
        <p:nvSpPr>
          <p:cNvPr id="54" name="Google Shape;54;p68"/>
          <p:cNvSpPr>
            <a:spLocks noGrp="1"/>
          </p:cNvSpPr>
          <p:nvPr>
            <p:ph type="pic" idx="3"/>
          </p:nvPr>
        </p:nvSpPr>
        <p:spPr>
          <a:xfrm>
            <a:off x="4492911" y="1447800"/>
            <a:ext cx="1389961" cy="1389597"/>
          </a:xfrm>
          <a:prstGeom prst="ellipse">
            <a:avLst/>
          </a:prstGeom>
          <a:solidFill>
            <a:srgbClr val="F2F2F2"/>
          </a:solidFill>
          <a:ln>
            <a:noFill/>
          </a:ln>
        </p:spPr>
      </p:sp>
      <p:sp>
        <p:nvSpPr>
          <p:cNvPr id="55" name="Google Shape;55;p68"/>
          <p:cNvSpPr>
            <a:spLocks noGrp="1"/>
          </p:cNvSpPr>
          <p:nvPr>
            <p:ph type="pic" idx="4"/>
          </p:nvPr>
        </p:nvSpPr>
        <p:spPr>
          <a:xfrm>
            <a:off x="6309129" y="1447800"/>
            <a:ext cx="1389961" cy="1389597"/>
          </a:xfrm>
          <a:prstGeom prst="ellipse">
            <a:avLst/>
          </a:prstGeom>
          <a:solidFill>
            <a:srgbClr val="F2F2F2"/>
          </a:solidFill>
          <a:ln>
            <a:noFill/>
          </a:ln>
        </p:spPr>
      </p:sp>
      <p:sp>
        <p:nvSpPr>
          <p:cNvPr id="56" name="Google Shape;56;p68"/>
          <p:cNvSpPr>
            <a:spLocks noGrp="1"/>
          </p:cNvSpPr>
          <p:nvPr>
            <p:ph type="pic" idx="5"/>
          </p:nvPr>
        </p:nvSpPr>
        <p:spPr>
          <a:xfrm>
            <a:off x="4492911" y="4433954"/>
            <a:ext cx="1389961" cy="1389597"/>
          </a:xfrm>
          <a:prstGeom prst="ellipse">
            <a:avLst/>
          </a:prstGeom>
          <a:solidFill>
            <a:srgbClr val="F2F2F2"/>
          </a:solidFill>
          <a:ln>
            <a:noFill/>
          </a:ln>
        </p:spPr>
      </p:sp>
      <p:sp>
        <p:nvSpPr>
          <p:cNvPr id="57" name="Google Shape;57;p68"/>
          <p:cNvSpPr>
            <a:spLocks noGrp="1"/>
          </p:cNvSpPr>
          <p:nvPr>
            <p:ph type="pic" idx="6"/>
          </p:nvPr>
        </p:nvSpPr>
        <p:spPr>
          <a:xfrm>
            <a:off x="6309129" y="4433954"/>
            <a:ext cx="1389961" cy="1389597"/>
          </a:xfrm>
          <a:prstGeom prst="ellipse">
            <a:avLst/>
          </a:prstGeom>
          <a:solidFill>
            <a:srgbClr val="F2F2F2"/>
          </a:solidFill>
          <a:ln>
            <a:noFill/>
          </a:ln>
        </p:spPr>
      </p:sp>
      <p:sp>
        <p:nvSpPr>
          <p:cNvPr id="58" name="Google Shape;58;p68"/>
          <p:cNvSpPr>
            <a:spLocks noGrp="1"/>
          </p:cNvSpPr>
          <p:nvPr>
            <p:ph type="pic" idx="7"/>
          </p:nvPr>
        </p:nvSpPr>
        <p:spPr>
          <a:xfrm>
            <a:off x="7225909" y="2940877"/>
            <a:ext cx="1389961" cy="1389597"/>
          </a:xfrm>
          <a:prstGeom prst="ellipse">
            <a:avLst/>
          </a:prstGeom>
          <a:solidFill>
            <a:srgbClr val="F2F2F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_slide">
  <p:cSld name="3_slide">
    <p:spTree>
      <p:nvGrpSpPr>
        <p:cNvPr id="1" name="Shape 59"/>
        <p:cNvGrpSpPr/>
        <p:nvPr/>
      </p:nvGrpSpPr>
      <p:grpSpPr>
        <a:xfrm>
          <a:off x="0" y="0"/>
          <a:ext cx="0" cy="0"/>
          <a:chOff x="0" y="0"/>
          <a:chExt cx="0" cy="0"/>
        </a:xfrm>
      </p:grpSpPr>
      <p:sp>
        <p:nvSpPr>
          <p:cNvPr id="60" name="Google Shape;60;p69"/>
          <p:cNvSpPr>
            <a:spLocks noGrp="1"/>
          </p:cNvSpPr>
          <p:nvPr>
            <p:ph type="pic" idx="2"/>
          </p:nvPr>
        </p:nvSpPr>
        <p:spPr>
          <a:xfrm>
            <a:off x="2237975" y="4303749"/>
            <a:ext cx="1333651" cy="1333302"/>
          </a:xfrm>
          <a:prstGeom prst="ellipse">
            <a:avLst/>
          </a:prstGeom>
          <a:solidFill>
            <a:srgbClr val="F2F2F2"/>
          </a:solidFill>
          <a:ln>
            <a:noFill/>
          </a:ln>
        </p:spPr>
      </p:sp>
      <p:sp>
        <p:nvSpPr>
          <p:cNvPr id="61" name="Google Shape;61;p69"/>
          <p:cNvSpPr>
            <a:spLocks noGrp="1"/>
          </p:cNvSpPr>
          <p:nvPr>
            <p:ph type="pic" idx="3"/>
          </p:nvPr>
        </p:nvSpPr>
        <p:spPr>
          <a:xfrm>
            <a:off x="3457115" y="3122288"/>
            <a:ext cx="1333651" cy="1333302"/>
          </a:xfrm>
          <a:prstGeom prst="ellipse">
            <a:avLst/>
          </a:prstGeom>
          <a:solidFill>
            <a:srgbClr val="F2F2F2"/>
          </a:solidFill>
          <a:ln>
            <a:noFill/>
          </a:ln>
        </p:spPr>
      </p:sp>
      <p:sp>
        <p:nvSpPr>
          <p:cNvPr id="62" name="Google Shape;62;p69"/>
          <p:cNvSpPr>
            <a:spLocks noGrp="1"/>
          </p:cNvSpPr>
          <p:nvPr>
            <p:ph type="pic" idx="4"/>
          </p:nvPr>
        </p:nvSpPr>
        <p:spPr>
          <a:xfrm>
            <a:off x="4624057" y="1959965"/>
            <a:ext cx="1333651" cy="1333302"/>
          </a:xfrm>
          <a:prstGeom prst="ellipse">
            <a:avLst/>
          </a:prstGeom>
          <a:solidFill>
            <a:srgbClr val="F2F2F2"/>
          </a:solidFill>
          <a:ln>
            <a:noFill/>
          </a:ln>
        </p:spPr>
      </p:sp>
      <p:sp>
        <p:nvSpPr>
          <p:cNvPr id="63" name="Google Shape;63;p69"/>
          <p:cNvSpPr>
            <a:spLocks noGrp="1"/>
          </p:cNvSpPr>
          <p:nvPr>
            <p:ph type="pic" idx="5"/>
          </p:nvPr>
        </p:nvSpPr>
        <p:spPr>
          <a:xfrm>
            <a:off x="5790998" y="784547"/>
            <a:ext cx="1333651" cy="1333302"/>
          </a:xfrm>
          <a:prstGeom prst="ellipse">
            <a:avLst/>
          </a:prstGeom>
          <a:solidFill>
            <a:srgbClr val="F2F2F2"/>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slide">
  <p:cSld name="4_slide">
    <p:spTree>
      <p:nvGrpSpPr>
        <p:cNvPr id="1" name="Shape 64"/>
        <p:cNvGrpSpPr/>
        <p:nvPr/>
      </p:nvGrpSpPr>
      <p:grpSpPr>
        <a:xfrm>
          <a:off x="0" y="0"/>
          <a:ext cx="0" cy="0"/>
          <a:chOff x="0" y="0"/>
          <a:chExt cx="0" cy="0"/>
        </a:xfrm>
      </p:grpSpPr>
      <p:sp>
        <p:nvSpPr>
          <p:cNvPr id="65" name="Google Shape;65;p70"/>
          <p:cNvSpPr>
            <a:spLocks noGrp="1"/>
          </p:cNvSpPr>
          <p:nvPr>
            <p:ph type="pic" idx="2"/>
          </p:nvPr>
        </p:nvSpPr>
        <p:spPr>
          <a:xfrm>
            <a:off x="-199169" y="2514600"/>
            <a:ext cx="12590339" cy="4517571"/>
          </a:xfrm>
          <a:prstGeom prst="rect">
            <a:avLst/>
          </a:prstGeom>
          <a:solidFill>
            <a:srgbClr val="F2F2F2"/>
          </a:solidFill>
          <a:ln>
            <a:noFill/>
          </a:ln>
        </p:spPr>
      </p:sp>
      <p:sp>
        <p:nvSpPr>
          <p:cNvPr id="66" name="Google Shape;66;p70"/>
          <p:cNvSpPr>
            <a:spLocks noGrp="1"/>
          </p:cNvSpPr>
          <p:nvPr>
            <p:ph type="pic" idx="3"/>
          </p:nvPr>
        </p:nvSpPr>
        <p:spPr>
          <a:xfrm>
            <a:off x="1428209" y="1579564"/>
            <a:ext cx="1870562" cy="1870072"/>
          </a:xfrm>
          <a:prstGeom prst="ellipse">
            <a:avLst/>
          </a:prstGeom>
          <a:solidFill>
            <a:srgbClr val="F2F2F2"/>
          </a:solidFill>
          <a:ln>
            <a:noFill/>
          </a:ln>
        </p:spPr>
      </p:sp>
      <p:sp>
        <p:nvSpPr>
          <p:cNvPr id="67" name="Google Shape;67;p70"/>
          <p:cNvSpPr>
            <a:spLocks noGrp="1"/>
          </p:cNvSpPr>
          <p:nvPr>
            <p:ph type="pic" idx="4"/>
          </p:nvPr>
        </p:nvSpPr>
        <p:spPr>
          <a:xfrm>
            <a:off x="5160720" y="1579564"/>
            <a:ext cx="1870562" cy="1870072"/>
          </a:xfrm>
          <a:prstGeom prst="ellipse">
            <a:avLst/>
          </a:prstGeom>
          <a:solidFill>
            <a:srgbClr val="F2F2F2"/>
          </a:solidFill>
          <a:ln>
            <a:noFill/>
          </a:ln>
        </p:spPr>
      </p:sp>
      <p:sp>
        <p:nvSpPr>
          <p:cNvPr id="68" name="Google Shape;68;p70"/>
          <p:cNvSpPr>
            <a:spLocks noGrp="1"/>
          </p:cNvSpPr>
          <p:nvPr>
            <p:ph type="pic" idx="5"/>
          </p:nvPr>
        </p:nvSpPr>
        <p:spPr>
          <a:xfrm>
            <a:off x="8893230" y="1579564"/>
            <a:ext cx="1870562" cy="1870072"/>
          </a:xfrm>
          <a:prstGeom prst="ellipse">
            <a:avLst/>
          </a:prstGeom>
          <a:solidFill>
            <a:srgbClr val="F2F2F2"/>
          </a:solidFill>
          <a:ln>
            <a:noFill/>
          </a:ln>
        </p:spPr>
      </p:sp>
      <p:pic>
        <p:nvPicPr>
          <p:cNvPr id="69" name="Google Shape;69;p70"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5_slide">
  <p:cSld name="5_slide">
    <p:spTree>
      <p:nvGrpSpPr>
        <p:cNvPr id="1" name="Shape 70"/>
        <p:cNvGrpSpPr/>
        <p:nvPr/>
      </p:nvGrpSpPr>
      <p:grpSpPr>
        <a:xfrm>
          <a:off x="0" y="0"/>
          <a:ext cx="0" cy="0"/>
          <a:chOff x="0" y="0"/>
          <a:chExt cx="0" cy="0"/>
        </a:xfrm>
      </p:grpSpPr>
      <p:sp>
        <p:nvSpPr>
          <p:cNvPr id="71" name="Google Shape;71;p71"/>
          <p:cNvSpPr>
            <a:spLocks noGrp="1"/>
          </p:cNvSpPr>
          <p:nvPr>
            <p:ph type="pic" idx="2"/>
          </p:nvPr>
        </p:nvSpPr>
        <p:spPr>
          <a:xfrm>
            <a:off x="5222862" y="0"/>
            <a:ext cx="6969138" cy="6858000"/>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6_slide">
  <p:cSld name="6_slide">
    <p:spTree>
      <p:nvGrpSpPr>
        <p:cNvPr id="1" name="Shape 72"/>
        <p:cNvGrpSpPr/>
        <p:nvPr/>
      </p:nvGrpSpPr>
      <p:grpSpPr>
        <a:xfrm>
          <a:off x="0" y="0"/>
          <a:ext cx="0" cy="0"/>
          <a:chOff x="0" y="0"/>
          <a:chExt cx="0" cy="0"/>
        </a:xfrm>
      </p:grpSpPr>
      <p:sp>
        <p:nvSpPr>
          <p:cNvPr id="73" name="Google Shape;73;p72"/>
          <p:cNvSpPr>
            <a:spLocks noGrp="1"/>
          </p:cNvSpPr>
          <p:nvPr>
            <p:ph type="pic" idx="2"/>
          </p:nvPr>
        </p:nvSpPr>
        <p:spPr>
          <a:xfrm>
            <a:off x="713116" y="2066599"/>
            <a:ext cx="1333653" cy="1333303"/>
          </a:xfrm>
          <a:prstGeom prst="ellipse">
            <a:avLst/>
          </a:prstGeom>
          <a:solidFill>
            <a:srgbClr val="F2F2F2"/>
          </a:solidFill>
          <a:ln>
            <a:noFill/>
          </a:ln>
        </p:spPr>
      </p:sp>
      <p:sp>
        <p:nvSpPr>
          <p:cNvPr id="74" name="Google Shape;74;p72"/>
          <p:cNvSpPr>
            <a:spLocks noGrp="1"/>
          </p:cNvSpPr>
          <p:nvPr>
            <p:ph type="pic" idx="3"/>
          </p:nvPr>
        </p:nvSpPr>
        <p:spPr>
          <a:xfrm>
            <a:off x="713119" y="3890151"/>
            <a:ext cx="1333648" cy="1333299"/>
          </a:xfrm>
          <a:prstGeom prst="ellipse">
            <a:avLst/>
          </a:prstGeom>
          <a:solidFill>
            <a:srgbClr val="F2F2F2"/>
          </a:solidFill>
          <a:ln>
            <a:noFill/>
          </a:ln>
        </p:spPr>
      </p:sp>
      <p:sp>
        <p:nvSpPr>
          <p:cNvPr id="75" name="Google Shape;75;p72"/>
          <p:cNvSpPr>
            <a:spLocks noGrp="1"/>
          </p:cNvSpPr>
          <p:nvPr>
            <p:ph type="pic" idx="4"/>
          </p:nvPr>
        </p:nvSpPr>
        <p:spPr>
          <a:xfrm>
            <a:off x="6589152" y="2066599"/>
            <a:ext cx="1333653" cy="1333303"/>
          </a:xfrm>
          <a:prstGeom prst="ellipse">
            <a:avLst/>
          </a:prstGeom>
          <a:solidFill>
            <a:srgbClr val="F2F2F2"/>
          </a:solidFill>
          <a:ln>
            <a:noFill/>
          </a:ln>
        </p:spPr>
      </p:sp>
      <p:sp>
        <p:nvSpPr>
          <p:cNvPr id="76" name="Google Shape;76;p72"/>
          <p:cNvSpPr>
            <a:spLocks noGrp="1"/>
          </p:cNvSpPr>
          <p:nvPr>
            <p:ph type="pic" idx="5"/>
          </p:nvPr>
        </p:nvSpPr>
        <p:spPr>
          <a:xfrm>
            <a:off x="6589155" y="3890151"/>
            <a:ext cx="1333648" cy="1333299"/>
          </a:xfrm>
          <a:prstGeom prst="ellipse">
            <a:avLst/>
          </a:prstGeom>
          <a:solidFill>
            <a:srgbClr val="F2F2F2"/>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7_slide">
  <p:cSld name="7_slide">
    <p:spTree>
      <p:nvGrpSpPr>
        <p:cNvPr id="1" name="Shape 77"/>
        <p:cNvGrpSpPr/>
        <p:nvPr/>
      </p:nvGrpSpPr>
      <p:grpSpPr>
        <a:xfrm>
          <a:off x="0" y="0"/>
          <a:ext cx="0" cy="0"/>
          <a:chOff x="0" y="0"/>
          <a:chExt cx="0" cy="0"/>
        </a:xfrm>
      </p:grpSpPr>
      <p:sp>
        <p:nvSpPr>
          <p:cNvPr id="78" name="Google Shape;78;p73"/>
          <p:cNvSpPr>
            <a:spLocks noGrp="1"/>
          </p:cNvSpPr>
          <p:nvPr>
            <p:ph type="pic" idx="2"/>
          </p:nvPr>
        </p:nvSpPr>
        <p:spPr>
          <a:xfrm>
            <a:off x="713118" y="1581144"/>
            <a:ext cx="5879817" cy="4203543"/>
          </a:xfrm>
          <a:prstGeom prst="rect">
            <a:avLst/>
          </a:prstGeom>
          <a:solidFill>
            <a:srgbClr val="F2F2F2"/>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8_slide">
  <p:cSld name="8_slide">
    <p:spTree>
      <p:nvGrpSpPr>
        <p:cNvPr id="1" name="Shape 79"/>
        <p:cNvGrpSpPr/>
        <p:nvPr/>
      </p:nvGrpSpPr>
      <p:grpSpPr>
        <a:xfrm>
          <a:off x="0" y="0"/>
          <a:ext cx="0" cy="0"/>
          <a:chOff x="0" y="0"/>
          <a:chExt cx="0" cy="0"/>
        </a:xfrm>
      </p:grpSpPr>
      <p:sp>
        <p:nvSpPr>
          <p:cNvPr id="80" name="Google Shape;80;p74"/>
          <p:cNvSpPr>
            <a:spLocks noGrp="1"/>
          </p:cNvSpPr>
          <p:nvPr>
            <p:ph type="pic" idx="2"/>
          </p:nvPr>
        </p:nvSpPr>
        <p:spPr>
          <a:xfrm>
            <a:off x="5784331" y="1315673"/>
            <a:ext cx="5879817" cy="4203543"/>
          </a:xfrm>
          <a:prstGeom prst="rect">
            <a:avLst/>
          </a:prstGeom>
          <a:solidFill>
            <a:srgbClr val="F2F2F2"/>
          </a:solidFill>
          <a:ln>
            <a:noFill/>
          </a:ln>
        </p:spPr>
      </p:sp>
      <p:sp>
        <p:nvSpPr>
          <p:cNvPr id="81" name="Google Shape;81;p74"/>
          <p:cNvSpPr txBox="1">
            <a:spLocks noGrp="1"/>
          </p:cNvSpPr>
          <p:nvPr>
            <p:ph type="title"/>
          </p:nvPr>
        </p:nvSpPr>
        <p:spPr>
          <a:xfrm>
            <a:off x="838201" y="365127"/>
            <a:ext cx="10515600" cy="62793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7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83" name="Google Shape;83;p74"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9_slide">
  <p:cSld name="9_slide">
    <p:spTree>
      <p:nvGrpSpPr>
        <p:cNvPr id="1" name="Shape 84"/>
        <p:cNvGrpSpPr/>
        <p:nvPr/>
      </p:nvGrpSpPr>
      <p:grpSpPr>
        <a:xfrm>
          <a:off x="0" y="0"/>
          <a:ext cx="0" cy="0"/>
          <a:chOff x="0" y="0"/>
          <a:chExt cx="0" cy="0"/>
        </a:xfrm>
      </p:grpSpPr>
      <p:sp>
        <p:nvSpPr>
          <p:cNvPr id="85" name="Google Shape;85;p75"/>
          <p:cNvSpPr>
            <a:spLocks noGrp="1"/>
          </p:cNvSpPr>
          <p:nvPr>
            <p:ph type="pic" idx="2"/>
          </p:nvPr>
        </p:nvSpPr>
        <p:spPr>
          <a:xfrm>
            <a:off x="713117" y="1712348"/>
            <a:ext cx="5382883" cy="2434261"/>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0_slide">
  <p:cSld name="10_slide">
    <p:spTree>
      <p:nvGrpSpPr>
        <p:cNvPr id="1" name="Shape 86"/>
        <p:cNvGrpSpPr/>
        <p:nvPr/>
      </p:nvGrpSpPr>
      <p:grpSpPr>
        <a:xfrm>
          <a:off x="0" y="0"/>
          <a:ext cx="0" cy="0"/>
          <a:chOff x="0" y="0"/>
          <a:chExt cx="0" cy="0"/>
        </a:xfrm>
      </p:grpSpPr>
      <p:sp>
        <p:nvSpPr>
          <p:cNvPr id="87" name="Google Shape;87;p76"/>
          <p:cNvSpPr>
            <a:spLocks noGrp="1"/>
          </p:cNvSpPr>
          <p:nvPr>
            <p:ph type="pic" idx="2"/>
          </p:nvPr>
        </p:nvSpPr>
        <p:spPr>
          <a:xfrm>
            <a:off x="1069999" y="2677076"/>
            <a:ext cx="2010401" cy="804672"/>
          </a:xfrm>
          <a:prstGeom prst="rect">
            <a:avLst/>
          </a:prstGeom>
          <a:solidFill>
            <a:srgbClr val="F2F2F2"/>
          </a:solidFill>
          <a:ln>
            <a:noFill/>
          </a:ln>
        </p:spPr>
      </p:sp>
      <p:sp>
        <p:nvSpPr>
          <p:cNvPr id="88" name="Google Shape;88;p76"/>
          <p:cNvSpPr>
            <a:spLocks noGrp="1"/>
          </p:cNvSpPr>
          <p:nvPr>
            <p:ph type="pic" idx="3"/>
          </p:nvPr>
        </p:nvSpPr>
        <p:spPr>
          <a:xfrm>
            <a:off x="5090800" y="2677076"/>
            <a:ext cx="2010401" cy="804672"/>
          </a:xfrm>
          <a:prstGeom prst="rect">
            <a:avLst/>
          </a:prstGeom>
          <a:solidFill>
            <a:srgbClr val="F2F2F2"/>
          </a:solidFill>
          <a:ln>
            <a:noFill/>
          </a:ln>
        </p:spPr>
      </p:sp>
      <p:sp>
        <p:nvSpPr>
          <p:cNvPr id="89" name="Google Shape;89;p76"/>
          <p:cNvSpPr>
            <a:spLocks noGrp="1"/>
          </p:cNvSpPr>
          <p:nvPr>
            <p:ph type="pic" idx="4"/>
          </p:nvPr>
        </p:nvSpPr>
        <p:spPr>
          <a:xfrm>
            <a:off x="9111600" y="2677076"/>
            <a:ext cx="2010401" cy="804672"/>
          </a:xfrm>
          <a:prstGeom prst="rect">
            <a:avLst/>
          </a:prstGeom>
          <a:solidFill>
            <a:srgbClr val="F2F2F2"/>
          </a:solidFill>
          <a:ln>
            <a:noFill/>
          </a:ln>
        </p:spPr>
      </p:sp>
      <p:sp>
        <p:nvSpPr>
          <p:cNvPr id="90" name="Google Shape;90;p76"/>
          <p:cNvSpPr>
            <a:spLocks noGrp="1"/>
          </p:cNvSpPr>
          <p:nvPr>
            <p:ph type="pic" idx="5"/>
          </p:nvPr>
        </p:nvSpPr>
        <p:spPr>
          <a:xfrm>
            <a:off x="3080399" y="3884084"/>
            <a:ext cx="2010401" cy="804672"/>
          </a:xfrm>
          <a:prstGeom prst="rect">
            <a:avLst/>
          </a:prstGeom>
          <a:solidFill>
            <a:srgbClr val="F2F2F2"/>
          </a:solidFill>
          <a:ln>
            <a:noFill/>
          </a:ln>
        </p:spPr>
      </p:sp>
      <p:sp>
        <p:nvSpPr>
          <p:cNvPr id="91" name="Google Shape;91;p76"/>
          <p:cNvSpPr>
            <a:spLocks noGrp="1"/>
          </p:cNvSpPr>
          <p:nvPr>
            <p:ph type="pic" idx="6"/>
          </p:nvPr>
        </p:nvSpPr>
        <p:spPr>
          <a:xfrm>
            <a:off x="7101200" y="3884084"/>
            <a:ext cx="2010401" cy="804672"/>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1_slide">
  <p:cSld name="11_slide">
    <p:spTree>
      <p:nvGrpSpPr>
        <p:cNvPr id="1" name="Shape 92"/>
        <p:cNvGrpSpPr/>
        <p:nvPr/>
      </p:nvGrpSpPr>
      <p:grpSpPr>
        <a:xfrm>
          <a:off x="0" y="0"/>
          <a:ext cx="0" cy="0"/>
          <a:chOff x="0" y="0"/>
          <a:chExt cx="0" cy="0"/>
        </a:xfrm>
      </p:grpSpPr>
      <p:sp>
        <p:nvSpPr>
          <p:cNvPr id="93" name="Google Shape;93;p77"/>
          <p:cNvSpPr>
            <a:spLocks noGrp="1"/>
          </p:cNvSpPr>
          <p:nvPr>
            <p:ph type="pic" idx="2"/>
          </p:nvPr>
        </p:nvSpPr>
        <p:spPr>
          <a:xfrm>
            <a:off x="780799" y="1977749"/>
            <a:ext cx="2397440" cy="892514"/>
          </a:xfrm>
          <a:prstGeom prst="rect">
            <a:avLst/>
          </a:prstGeom>
          <a:solidFill>
            <a:srgbClr val="F2F2F2"/>
          </a:solidFill>
          <a:ln>
            <a:noFill/>
          </a:ln>
        </p:spPr>
      </p:sp>
      <p:sp>
        <p:nvSpPr>
          <p:cNvPr id="94" name="Google Shape;94;p77"/>
          <p:cNvSpPr>
            <a:spLocks noGrp="1"/>
          </p:cNvSpPr>
          <p:nvPr>
            <p:ph type="pic" idx="3"/>
          </p:nvPr>
        </p:nvSpPr>
        <p:spPr>
          <a:xfrm>
            <a:off x="3525120" y="1977749"/>
            <a:ext cx="2397440" cy="892514"/>
          </a:xfrm>
          <a:prstGeom prst="rect">
            <a:avLst/>
          </a:prstGeom>
          <a:solidFill>
            <a:srgbClr val="F2F2F2"/>
          </a:solidFill>
          <a:ln>
            <a:noFill/>
          </a:ln>
        </p:spPr>
      </p:sp>
      <p:sp>
        <p:nvSpPr>
          <p:cNvPr id="95" name="Google Shape;95;p77"/>
          <p:cNvSpPr>
            <a:spLocks noGrp="1"/>
          </p:cNvSpPr>
          <p:nvPr>
            <p:ph type="pic" idx="4"/>
          </p:nvPr>
        </p:nvSpPr>
        <p:spPr>
          <a:xfrm>
            <a:off x="6269441" y="1977749"/>
            <a:ext cx="2397440" cy="892514"/>
          </a:xfrm>
          <a:prstGeom prst="rect">
            <a:avLst/>
          </a:prstGeom>
          <a:solidFill>
            <a:srgbClr val="F2F2F2"/>
          </a:solidFill>
          <a:ln>
            <a:noFill/>
          </a:ln>
        </p:spPr>
      </p:sp>
      <p:sp>
        <p:nvSpPr>
          <p:cNvPr id="96" name="Google Shape;96;p77"/>
          <p:cNvSpPr>
            <a:spLocks noGrp="1"/>
          </p:cNvSpPr>
          <p:nvPr>
            <p:ph type="pic" idx="5"/>
          </p:nvPr>
        </p:nvSpPr>
        <p:spPr>
          <a:xfrm>
            <a:off x="9013761" y="1977749"/>
            <a:ext cx="2397440" cy="892514"/>
          </a:xfrm>
          <a:prstGeom prst="rect">
            <a:avLst/>
          </a:prstGeom>
          <a:solidFill>
            <a:srgbClr val="F2F2F2"/>
          </a:solidFill>
          <a:ln>
            <a:noFill/>
          </a:ln>
        </p:spPr>
      </p:sp>
      <p:sp>
        <p:nvSpPr>
          <p:cNvPr id="97" name="Google Shape;97;p77"/>
          <p:cNvSpPr>
            <a:spLocks noGrp="1"/>
          </p:cNvSpPr>
          <p:nvPr>
            <p:ph type="pic" idx="6"/>
          </p:nvPr>
        </p:nvSpPr>
        <p:spPr>
          <a:xfrm>
            <a:off x="780799" y="3236659"/>
            <a:ext cx="2397440" cy="892514"/>
          </a:xfrm>
          <a:prstGeom prst="rect">
            <a:avLst/>
          </a:prstGeom>
          <a:solidFill>
            <a:srgbClr val="F2F2F2"/>
          </a:solidFill>
          <a:ln>
            <a:noFill/>
          </a:ln>
        </p:spPr>
      </p:sp>
      <p:sp>
        <p:nvSpPr>
          <p:cNvPr id="98" name="Google Shape;98;p77"/>
          <p:cNvSpPr>
            <a:spLocks noGrp="1"/>
          </p:cNvSpPr>
          <p:nvPr>
            <p:ph type="pic" idx="7"/>
          </p:nvPr>
        </p:nvSpPr>
        <p:spPr>
          <a:xfrm>
            <a:off x="3525120" y="3236659"/>
            <a:ext cx="2397440" cy="892514"/>
          </a:xfrm>
          <a:prstGeom prst="rect">
            <a:avLst/>
          </a:prstGeom>
          <a:solidFill>
            <a:srgbClr val="F2F2F2"/>
          </a:solidFill>
          <a:ln>
            <a:noFill/>
          </a:ln>
        </p:spPr>
      </p:sp>
      <p:sp>
        <p:nvSpPr>
          <p:cNvPr id="99" name="Google Shape;99;p77"/>
          <p:cNvSpPr>
            <a:spLocks noGrp="1"/>
          </p:cNvSpPr>
          <p:nvPr>
            <p:ph type="pic" idx="8"/>
          </p:nvPr>
        </p:nvSpPr>
        <p:spPr>
          <a:xfrm>
            <a:off x="6269441" y="3236659"/>
            <a:ext cx="2397440" cy="892514"/>
          </a:xfrm>
          <a:prstGeom prst="rect">
            <a:avLst/>
          </a:prstGeom>
          <a:solidFill>
            <a:srgbClr val="F2F2F2"/>
          </a:solidFill>
          <a:ln>
            <a:noFill/>
          </a:ln>
        </p:spPr>
      </p:sp>
      <p:sp>
        <p:nvSpPr>
          <p:cNvPr id="100" name="Google Shape;100;p77"/>
          <p:cNvSpPr>
            <a:spLocks noGrp="1"/>
          </p:cNvSpPr>
          <p:nvPr>
            <p:ph type="pic" idx="9"/>
          </p:nvPr>
        </p:nvSpPr>
        <p:spPr>
          <a:xfrm>
            <a:off x="9013761" y="3236659"/>
            <a:ext cx="2397440" cy="892514"/>
          </a:xfrm>
          <a:prstGeom prst="rect">
            <a:avLst/>
          </a:prstGeom>
          <a:solidFill>
            <a:srgbClr val="F2F2F2"/>
          </a:solidFill>
          <a:ln>
            <a:noFill/>
          </a:ln>
        </p:spPr>
      </p:sp>
      <p:sp>
        <p:nvSpPr>
          <p:cNvPr id="101" name="Google Shape;101;p77"/>
          <p:cNvSpPr>
            <a:spLocks noGrp="1"/>
          </p:cNvSpPr>
          <p:nvPr>
            <p:ph type="pic" idx="13"/>
          </p:nvPr>
        </p:nvSpPr>
        <p:spPr>
          <a:xfrm>
            <a:off x="780799" y="4495568"/>
            <a:ext cx="2397440" cy="892514"/>
          </a:xfrm>
          <a:prstGeom prst="rect">
            <a:avLst/>
          </a:prstGeom>
          <a:solidFill>
            <a:srgbClr val="F2F2F2"/>
          </a:solidFill>
          <a:ln>
            <a:noFill/>
          </a:ln>
        </p:spPr>
      </p:sp>
      <p:sp>
        <p:nvSpPr>
          <p:cNvPr id="102" name="Google Shape;102;p77"/>
          <p:cNvSpPr>
            <a:spLocks noGrp="1"/>
          </p:cNvSpPr>
          <p:nvPr>
            <p:ph type="pic" idx="14"/>
          </p:nvPr>
        </p:nvSpPr>
        <p:spPr>
          <a:xfrm>
            <a:off x="3525120" y="4495568"/>
            <a:ext cx="2397440" cy="892514"/>
          </a:xfrm>
          <a:prstGeom prst="rect">
            <a:avLst/>
          </a:prstGeom>
          <a:solidFill>
            <a:srgbClr val="F2F2F2"/>
          </a:solidFill>
          <a:ln>
            <a:noFill/>
          </a:ln>
        </p:spPr>
      </p:sp>
      <p:sp>
        <p:nvSpPr>
          <p:cNvPr id="103" name="Google Shape;103;p77"/>
          <p:cNvSpPr>
            <a:spLocks noGrp="1"/>
          </p:cNvSpPr>
          <p:nvPr>
            <p:ph type="pic" idx="15"/>
          </p:nvPr>
        </p:nvSpPr>
        <p:spPr>
          <a:xfrm>
            <a:off x="6269441" y="4495568"/>
            <a:ext cx="2397440" cy="892514"/>
          </a:xfrm>
          <a:prstGeom prst="rect">
            <a:avLst/>
          </a:prstGeom>
          <a:solidFill>
            <a:srgbClr val="F2F2F2"/>
          </a:solidFill>
          <a:ln>
            <a:noFill/>
          </a:ln>
        </p:spPr>
      </p:sp>
      <p:sp>
        <p:nvSpPr>
          <p:cNvPr id="104" name="Google Shape;104;p77"/>
          <p:cNvSpPr>
            <a:spLocks noGrp="1"/>
          </p:cNvSpPr>
          <p:nvPr>
            <p:ph type="pic" idx="16"/>
          </p:nvPr>
        </p:nvSpPr>
        <p:spPr>
          <a:xfrm>
            <a:off x="9013761" y="4495568"/>
            <a:ext cx="2397440" cy="892514"/>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2_slide">
  <p:cSld name="12_slide">
    <p:spTree>
      <p:nvGrpSpPr>
        <p:cNvPr id="1" name="Shape 105"/>
        <p:cNvGrpSpPr/>
        <p:nvPr/>
      </p:nvGrpSpPr>
      <p:grpSpPr>
        <a:xfrm>
          <a:off x="0" y="0"/>
          <a:ext cx="0" cy="0"/>
          <a:chOff x="0" y="0"/>
          <a:chExt cx="0" cy="0"/>
        </a:xfrm>
      </p:grpSpPr>
      <p:sp>
        <p:nvSpPr>
          <p:cNvPr id="106" name="Google Shape;106;p78"/>
          <p:cNvSpPr>
            <a:spLocks noGrp="1"/>
          </p:cNvSpPr>
          <p:nvPr>
            <p:ph type="pic" idx="2"/>
          </p:nvPr>
        </p:nvSpPr>
        <p:spPr>
          <a:xfrm>
            <a:off x="747589" y="1735566"/>
            <a:ext cx="3454687" cy="3999122"/>
          </a:xfrm>
          <a:prstGeom prst="rect">
            <a:avLst/>
          </a:prstGeom>
          <a:solidFill>
            <a:srgbClr val="F2F2F2"/>
          </a:solidFill>
          <a:ln>
            <a:noFill/>
          </a:ln>
        </p:spPr>
      </p:sp>
      <p:sp>
        <p:nvSpPr>
          <p:cNvPr id="107" name="Google Shape;107;p78"/>
          <p:cNvSpPr>
            <a:spLocks noGrp="1"/>
          </p:cNvSpPr>
          <p:nvPr>
            <p:ph type="pic" idx="3"/>
          </p:nvPr>
        </p:nvSpPr>
        <p:spPr>
          <a:xfrm>
            <a:off x="4330279" y="1735566"/>
            <a:ext cx="3454687" cy="3999122"/>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3_slide">
  <p:cSld name="13_slide">
    <p:spTree>
      <p:nvGrpSpPr>
        <p:cNvPr id="1" name="Shape 108"/>
        <p:cNvGrpSpPr/>
        <p:nvPr/>
      </p:nvGrpSpPr>
      <p:grpSpPr>
        <a:xfrm>
          <a:off x="0" y="0"/>
          <a:ext cx="0" cy="0"/>
          <a:chOff x="0" y="0"/>
          <a:chExt cx="0" cy="0"/>
        </a:xfrm>
      </p:grpSpPr>
      <p:sp>
        <p:nvSpPr>
          <p:cNvPr id="109" name="Google Shape;109;p79"/>
          <p:cNvSpPr>
            <a:spLocks noGrp="1"/>
          </p:cNvSpPr>
          <p:nvPr>
            <p:ph type="pic" idx="2"/>
          </p:nvPr>
        </p:nvSpPr>
        <p:spPr>
          <a:xfrm>
            <a:off x="7548023" y="-11151"/>
            <a:ext cx="4643977" cy="6869151"/>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4_slide">
  <p:cSld name="14_slide">
    <p:spTree>
      <p:nvGrpSpPr>
        <p:cNvPr id="1" name="Shape 110"/>
        <p:cNvGrpSpPr/>
        <p:nvPr/>
      </p:nvGrpSpPr>
      <p:grpSpPr>
        <a:xfrm>
          <a:off x="0" y="0"/>
          <a:ext cx="0" cy="0"/>
          <a:chOff x="0" y="0"/>
          <a:chExt cx="0" cy="0"/>
        </a:xfrm>
      </p:grpSpPr>
      <p:sp>
        <p:nvSpPr>
          <p:cNvPr id="111" name="Google Shape;111;p80"/>
          <p:cNvSpPr>
            <a:spLocks noGrp="1"/>
          </p:cNvSpPr>
          <p:nvPr>
            <p:ph type="pic" idx="2"/>
          </p:nvPr>
        </p:nvSpPr>
        <p:spPr>
          <a:xfrm>
            <a:off x="4407323" y="1735566"/>
            <a:ext cx="3454687" cy="3999122"/>
          </a:xfrm>
          <a:prstGeom prst="rect">
            <a:avLst/>
          </a:prstGeom>
          <a:solidFill>
            <a:srgbClr val="F2F2F2"/>
          </a:solidFill>
          <a:ln>
            <a:noFill/>
          </a:ln>
        </p:spPr>
      </p:sp>
      <p:sp>
        <p:nvSpPr>
          <p:cNvPr id="112" name="Google Shape;112;p80"/>
          <p:cNvSpPr>
            <a:spLocks noGrp="1"/>
          </p:cNvSpPr>
          <p:nvPr>
            <p:ph type="pic" idx="3"/>
          </p:nvPr>
        </p:nvSpPr>
        <p:spPr>
          <a:xfrm>
            <a:off x="7990013" y="1735566"/>
            <a:ext cx="3454687" cy="3999122"/>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5_slide">
  <p:cSld name="15_slide">
    <p:spTree>
      <p:nvGrpSpPr>
        <p:cNvPr id="1" name="Shape 113"/>
        <p:cNvGrpSpPr/>
        <p:nvPr/>
      </p:nvGrpSpPr>
      <p:grpSpPr>
        <a:xfrm>
          <a:off x="0" y="0"/>
          <a:ext cx="0" cy="0"/>
          <a:chOff x="0" y="0"/>
          <a:chExt cx="0" cy="0"/>
        </a:xfrm>
      </p:grpSpPr>
      <p:sp>
        <p:nvSpPr>
          <p:cNvPr id="114" name="Google Shape;114;p81"/>
          <p:cNvSpPr>
            <a:spLocks noGrp="1"/>
          </p:cNvSpPr>
          <p:nvPr>
            <p:ph type="pic" idx="2"/>
          </p:nvPr>
        </p:nvSpPr>
        <p:spPr>
          <a:xfrm>
            <a:off x="4379579" y="-11152"/>
            <a:ext cx="7812421" cy="6869151"/>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6_slide">
  <p:cSld name="16_slide">
    <p:spTree>
      <p:nvGrpSpPr>
        <p:cNvPr id="1" name="Shape 115"/>
        <p:cNvGrpSpPr/>
        <p:nvPr/>
      </p:nvGrpSpPr>
      <p:grpSpPr>
        <a:xfrm>
          <a:off x="0" y="0"/>
          <a:ext cx="0" cy="0"/>
          <a:chOff x="0" y="0"/>
          <a:chExt cx="0" cy="0"/>
        </a:xfrm>
      </p:grpSpPr>
      <p:sp>
        <p:nvSpPr>
          <p:cNvPr id="116" name="Google Shape;116;p82"/>
          <p:cNvSpPr>
            <a:spLocks noGrp="1"/>
          </p:cNvSpPr>
          <p:nvPr>
            <p:ph type="pic" idx="2"/>
          </p:nvPr>
        </p:nvSpPr>
        <p:spPr>
          <a:xfrm>
            <a:off x="-2511399" y="1712857"/>
            <a:ext cx="5022797" cy="2891798"/>
          </a:xfrm>
          <a:prstGeom prst="rect">
            <a:avLst/>
          </a:prstGeom>
          <a:solidFill>
            <a:srgbClr val="F2F2F2"/>
          </a:solidFill>
          <a:ln>
            <a:noFill/>
          </a:ln>
        </p:spPr>
      </p:sp>
      <p:sp>
        <p:nvSpPr>
          <p:cNvPr id="117" name="Google Shape;117;p82"/>
          <p:cNvSpPr>
            <a:spLocks noGrp="1"/>
          </p:cNvSpPr>
          <p:nvPr>
            <p:ph type="pic" idx="3"/>
          </p:nvPr>
        </p:nvSpPr>
        <p:spPr>
          <a:xfrm>
            <a:off x="3584600" y="1712857"/>
            <a:ext cx="5022797" cy="2891798"/>
          </a:xfrm>
          <a:prstGeom prst="rect">
            <a:avLst/>
          </a:prstGeom>
          <a:solidFill>
            <a:srgbClr val="F2F2F2"/>
          </a:solidFill>
          <a:ln>
            <a:noFill/>
          </a:ln>
        </p:spPr>
      </p:sp>
      <p:sp>
        <p:nvSpPr>
          <p:cNvPr id="118" name="Google Shape;118;p82"/>
          <p:cNvSpPr>
            <a:spLocks noGrp="1"/>
          </p:cNvSpPr>
          <p:nvPr>
            <p:ph type="pic" idx="4"/>
          </p:nvPr>
        </p:nvSpPr>
        <p:spPr>
          <a:xfrm>
            <a:off x="9680602" y="1712857"/>
            <a:ext cx="5022797" cy="2891798"/>
          </a:xfrm>
          <a:prstGeom prst="rect">
            <a:avLst/>
          </a:prstGeom>
          <a:solidFill>
            <a:srgbClr val="F2F2F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7_slide">
  <p:cSld name="17_slide">
    <p:spTree>
      <p:nvGrpSpPr>
        <p:cNvPr id="1" name="Shape 119"/>
        <p:cNvGrpSpPr/>
        <p:nvPr/>
      </p:nvGrpSpPr>
      <p:grpSpPr>
        <a:xfrm>
          <a:off x="0" y="0"/>
          <a:ext cx="0" cy="0"/>
          <a:chOff x="0" y="0"/>
          <a:chExt cx="0" cy="0"/>
        </a:xfrm>
      </p:grpSpPr>
      <p:sp>
        <p:nvSpPr>
          <p:cNvPr id="120" name="Google Shape;120;p83"/>
          <p:cNvSpPr>
            <a:spLocks noGrp="1"/>
          </p:cNvSpPr>
          <p:nvPr>
            <p:ph type="pic" idx="2"/>
          </p:nvPr>
        </p:nvSpPr>
        <p:spPr>
          <a:xfrm>
            <a:off x="4657688" y="0"/>
            <a:ext cx="6142693" cy="6858000"/>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8_slide">
  <p:cSld name="18_slide">
    <p:spTree>
      <p:nvGrpSpPr>
        <p:cNvPr id="1" name="Shape 121"/>
        <p:cNvGrpSpPr/>
        <p:nvPr/>
      </p:nvGrpSpPr>
      <p:grpSpPr>
        <a:xfrm>
          <a:off x="0" y="0"/>
          <a:ext cx="0" cy="0"/>
          <a:chOff x="0" y="0"/>
          <a:chExt cx="0" cy="0"/>
        </a:xfrm>
      </p:grpSpPr>
      <p:sp>
        <p:nvSpPr>
          <p:cNvPr id="122" name="Google Shape;122;p84"/>
          <p:cNvSpPr>
            <a:spLocks noGrp="1"/>
          </p:cNvSpPr>
          <p:nvPr>
            <p:ph type="pic" idx="2"/>
          </p:nvPr>
        </p:nvSpPr>
        <p:spPr>
          <a:xfrm>
            <a:off x="745783" y="1641727"/>
            <a:ext cx="5435475" cy="4039975"/>
          </a:xfrm>
          <a:prstGeom prst="rect">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9_slide">
  <p:cSld name="19_slide">
    <p:spTree>
      <p:nvGrpSpPr>
        <p:cNvPr id="1" name="Shape 123"/>
        <p:cNvGrpSpPr/>
        <p:nvPr/>
      </p:nvGrpSpPr>
      <p:grpSpPr>
        <a:xfrm>
          <a:off x="0" y="0"/>
          <a:ext cx="0" cy="0"/>
          <a:chOff x="0" y="0"/>
          <a:chExt cx="0" cy="0"/>
        </a:xfrm>
      </p:grpSpPr>
      <p:sp>
        <p:nvSpPr>
          <p:cNvPr id="124" name="Google Shape;124;p85"/>
          <p:cNvSpPr>
            <a:spLocks noGrp="1"/>
          </p:cNvSpPr>
          <p:nvPr>
            <p:ph type="pic" idx="2"/>
          </p:nvPr>
        </p:nvSpPr>
        <p:spPr>
          <a:xfrm>
            <a:off x="0" y="0"/>
            <a:ext cx="7818066" cy="6869413"/>
          </a:xfrm>
          <a:prstGeom prst="rect">
            <a:avLst/>
          </a:prstGeom>
          <a:solidFill>
            <a:srgbClr val="F2F2F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20_slide">
  <p:cSld name="20_slide">
    <p:spTree>
      <p:nvGrpSpPr>
        <p:cNvPr id="1" name="Shape 125"/>
        <p:cNvGrpSpPr/>
        <p:nvPr/>
      </p:nvGrpSpPr>
      <p:grpSpPr>
        <a:xfrm>
          <a:off x="0" y="0"/>
          <a:ext cx="0" cy="0"/>
          <a:chOff x="0" y="0"/>
          <a:chExt cx="0" cy="0"/>
        </a:xfrm>
      </p:grpSpPr>
      <p:sp>
        <p:nvSpPr>
          <p:cNvPr id="126" name="Google Shape;126;p86"/>
          <p:cNvSpPr>
            <a:spLocks noGrp="1"/>
          </p:cNvSpPr>
          <p:nvPr>
            <p:ph type="pic" idx="2"/>
          </p:nvPr>
        </p:nvSpPr>
        <p:spPr>
          <a:xfrm>
            <a:off x="6010742" y="1641727"/>
            <a:ext cx="5435475" cy="4039975"/>
          </a:xfrm>
          <a:prstGeom prst="rect">
            <a:avLst/>
          </a:prstGeom>
          <a:solidFill>
            <a:srgbClr val="F2F2F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1_slide">
  <p:cSld name="21_slide">
    <p:spTree>
      <p:nvGrpSpPr>
        <p:cNvPr id="1" name="Shape 127"/>
        <p:cNvGrpSpPr/>
        <p:nvPr/>
      </p:nvGrpSpPr>
      <p:grpSpPr>
        <a:xfrm>
          <a:off x="0" y="0"/>
          <a:ext cx="0" cy="0"/>
          <a:chOff x="0" y="0"/>
          <a:chExt cx="0" cy="0"/>
        </a:xfrm>
      </p:grpSpPr>
      <p:sp>
        <p:nvSpPr>
          <p:cNvPr id="128" name="Google Shape;128;p87"/>
          <p:cNvSpPr>
            <a:spLocks noGrp="1"/>
          </p:cNvSpPr>
          <p:nvPr>
            <p:ph type="pic" idx="2"/>
          </p:nvPr>
        </p:nvSpPr>
        <p:spPr>
          <a:xfrm>
            <a:off x="3316218" y="0"/>
            <a:ext cx="6142693" cy="6858000"/>
          </a:xfrm>
          <a:prstGeom prst="rect">
            <a:avLst/>
          </a:prstGeom>
          <a:solidFill>
            <a:srgbClr val="F2F2F2"/>
          </a:solidFill>
          <a:ln>
            <a:noFill/>
          </a:ln>
        </p:spPr>
      </p:sp>
      <p:sp>
        <p:nvSpPr>
          <p:cNvPr id="129" name="Google Shape;129;p87"/>
          <p:cNvSpPr>
            <a:spLocks noGrp="1"/>
          </p:cNvSpPr>
          <p:nvPr>
            <p:ph type="pic" idx="3"/>
          </p:nvPr>
        </p:nvSpPr>
        <p:spPr>
          <a:xfrm>
            <a:off x="7541024" y="0"/>
            <a:ext cx="4659195" cy="6858000"/>
          </a:xfrm>
          <a:prstGeom prst="rect">
            <a:avLst/>
          </a:prstGeom>
          <a:solidFill>
            <a:srgbClr val="F2F2F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2_slide">
  <p:cSld name="22_slide">
    <p:spTree>
      <p:nvGrpSpPr>
        <p:cNvPr id="1" name="Shape 130"/>
        <p:cNvGrpSpPr/>
        <p:nvPr/>
      </p:nvGrpSpPr>
      <p:grpSpPr>
        <a:xfrm>
          <a:off x="0" y="0"/>
          <a:ext cx="0" cy="0"/>
          <a:chOff x="0" y="0"/>
          <a:chExt cx="0" cy="0"/>
        </a:xfrm>
      </p:grpSpPr>
      <p:sp>
        <p:nvSpPr>
          <p:cNvPr id="131" name="Google Shape;131;p88"/>
          <p:cNvSpPr>
            <a:spLocks noGrp="1"/>
          </p:cNvSpPr>
          <p:nvPr>
            <p:ph type="pic" idx="2"/>
          </p:nvPr>
        </p:nvSpPr>
        <p:spPr>
          <a:xfrm>
            <a:off x="2671026" y="-1"/>
            <a:ext cx="3970043" cy="4434836"/>
          </a:xfrm>
          <a:prstGeom prst="rect">
            <a:avLst/>
          </a:prstGeom>
          <a:solidFill>
            <a:srgbClr val="F2F2F2"/>
          </a:solidFill>
          <a:ln>
            <a:noFill/>
          </a:ln>
        </p:spPr>
      </p:sp>
      <p:sp>
        <p:nvSpPr>
          <p:cNvPr id="132" name="Google Shape;132;p88"/>
          <p:cNvSpPr>
            <a:spLocks noGrp="1"/>
          </p:cNvSpPr>
          <p:nvPr>
            <p:ph type="pic" idx="3"/>
          </p:nvPr>
        </p:nvSpPr>
        <p:spPr>
          <a:xfrm>
            <a:off x="5460923" y="-1"/>
            <a:ext cx="3970043" cy="4434836"/>
          </a:xfrm>
          <a:prstGeom prst="rect">
            <a:avLst/>
          </a:prstGeom>
          <a:solidFill>
            <a:srgbClr val="F2F2F2"/>
          </a:solidFill>
          <a:ln>
            <a:noFill/>
          </a:ln>
        </p:spPr>
      </p:sp>
      <p:sp>
        <p:nvSpPr>
          <p:cNvPr id="133" name="Google Shape;133;p88"/>
          <p:cNvSpPr>
            <a:spLocks noGrp="1"/>
          </p:cNvSpPr>
          <p:nvPr>
            <p:ph type="pic" idx="4"/>
          </p:nvPr>
        </p:nvSpPr>
        <p:spPr>
          <a:xfrm>
            <a:off x="8221115" y="-1"/>
            <a:ext cx="3970043" cy="4434836"/>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3_slide">
  <p:cSld name="23_slide">
    <p:spTree>
      <p:nvGrpSpPr>
        <p:cNvPr id="1" name="Shape 134"/>
        <p:cNvGrpSpPr/>
        <p:nvPr/>
      </p:nvGrpSpPr>
      <p:grpSpPr>
        <a:xfrm>
          <a:off x="0" y="0"/>
          <a:ext cx="0" cy="0"/>
          <a:chOff x="0" y="0"/>
          <a:chExt cx="0" cy="0"/>
        </a:xfrm>
      </p:grpSpPr>
      <p:sp>
        <p:nvSpPr>
          <p:cNvPr id="135" name="Google Shape;135;p89"/>
          <p:cNvSpPr>
            <a:spLocks noGrp="1"/>
          </p:cNvSpPr>
          <p:nvPr>
            <p:ph type="pic" idx="2"/>
          </p:nvPr>
        </p:nvSpPr>
        <p:spPr>
          <a:xfrm>
            <a:off x="7485063" y="627903"/>
            <a:ext cx="2218958" cy="2218380"/>
          </a:xfrm>
          <a:prstGeom prst="rect">
            <a:avLst/>
          </a:prstGeom>
          <a:solidFill>
            <a:srgbClr val="F2F2F2"/>
          </a:solidFill>
          <a:ln>
            <a:noFill/>
          </a:ln>
        </p:spPr>
      </p:sp>
      <p:sp>
        <p:nvSpPr>
          <p:cNvPr id="136" name="Google Shape;136;p89"/>
          <p:cNvSpPr>
            <a:spLocks noGrp="1"/>
          </p:cNvSpPr>
          <p:nvPr>
            <p:ph type="pic" idx="3"/>
          </p:nvPr>
        </p:nvSpPr>
        <p:spPr>
          <a:xfrm>
            <a:off x="8487915" y="2988577"/>
            <a:ext cx="2923285" cy="2922525"/>
          </a:xfrm>
          <a:prstGeom prst="rect">
            <a:avLst/>
          </a:prstGeom>
          <a:solidFill>
            <a:srgbClr val="F2F2F2"/>
          </a:solidFill>
          <a:ln>
            <a:noFill/>
          </a:ln>
        </p:spPr>
      </p:sp>
      <p:sp>
        <p:nvSpPr>
          <p:cNvPr id="137" name="Google Shape;137;p89"/>
          <p:cNvSpPr>
            <a:spLocks noGrp="1"/>
          </p:cNvSpPr>
          <p:nvPr>
            <p:ph type="pic" idx="4"/>
          </p:nvPr>
        </p:nvSpPr>
        <p:spPr>
          <a:xfrm>
            <a:off x="6636696" y="2988577"/>
            <a:ext cx="1697038" cy="1696597"/>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4_slide">
  <p:cSld name="24_slide">
    <p:spTree>
      <p:nvGrpSpPr>
        <p:cNvPr id="1" name="Shape 138"/>
        <p:cNvGrpSpPr/>
        <p:nvPr/>
      </p:nvGrpSpPr>
      <p:grpSpPr>
        <a:xfrm>
          <a:off x="0" y="0"/>
          <a:ext cx="0" cy="0"/>
          <a:chOff x="0" y="0"/>
          <a:chExt cx="0" cy="0"/>
        </a:xfrm>
      </p:grpSpPr>
      <p:sp>
        <p:nvSpPr>
          <p:cNvPr id="139" name="Google Shape;139;p90"/>
          <p:cNvSpPr>
            <a:spLocks noGrp="1"/>
          </p:cNvSpPr>
          <p:nvPr>
            <p:ph type="pic" idx="2"/>
          </p:nvPr>
        </p:nvSpPr>
        <p:spPr>
          <a:xfrm>
            <a:off x="1765158" y="1616567"/>
            <a:ext cx="1945814" cy="4111559"/>
          </a:xfrm>
          <a:prstGeom prst="rect">
            <a:avLst/>
          </a:prstGeom>
          <a:solidFill>
            <a:srgbClr val="F2F2F2"/>
          </a:solidFill>
          <a:ln>
            <a:noFill/>
          </a:ln>
        </p:spPr>
      </p:sp>
      <p:sp>
        <p:nvSpPr>
          <p:cNvPr id="140" name="Google Shape;140;p90"/>
          <p:cNvSpPr>
            <a:spLocks noGrp="1"/>
          </p:cNvSpPr>
          <p:nvPr>
            <p:ph type="pic" idx="3"/>
          </p:nvPr>
        </p:nvSpPr>
        <p:spPr>
          <a:xfrm>
            <a:off x="5439218" y="1616567"/>
            <a:ext cx="1945814" cy="4111559"/>
          </a:xfrm>
          <a:prstGeom prst="rect">
            <a:avLst/>
          </a:prstGeom>
          <a:solidFill>
            <a:srgbClr val="F2F2F2"/>
          </a:solidFill>
          <a:ln>
            <a:noFill/>
          </a:ln>
        </p:spPr>
      </p:sp>
      <p:sp>
        <p:nvSpPr>
          <p:cNvPr id="141" name="Google Shape;141;p90"/>
          <p:cNvSpPr>
            <a:spLocks noGrp="1"/>
          </p:cNvSpPr>
          <p:nvPr>
            <p:ph type="pic" idx="4"/>
          </p:nvPr>
        </p:nvSpPr>
        <p:spPr>
          <a:xfrm>
            <a:off x="9235754" y="1616567"/>
            <a:ext cx="1945814" cy="4111559"/>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5_slide">
  <p:cSld name="25_slide">
    <p:spTree>
      <p:nvGrpSpPr>
        <p:cNvPr id="1" name="Shape 142"/>
        <p:cNvGrpSpPr/>
        <p:nvPr/>
      </p:nvGrpSpPr>
      <p:grpSpPr>
        <a:xfrm>
          <a:off x="0" y="0"/>
          <a:ext cx="0" cy="0"/>
          <a:chOff x="0" y="0"/>
          <a:chExt cx="0" cy="0"/>
        </a:xfrm>
      </p:grpSpPr>
      <p:sp>
        <p:nvSpPr>
          <p:cNvPr id="143" name="Google Shape;143;p91"/>
          <p:cNvSpPr>
            <a:spLocks noGrp="1"/>
          </p:cNvSpPr>
          <p:nvPr>
            <p:ph type="pic" idx="2"/>
          </p:nvPr>
        </p:nvSpPr>
        <p:spPr>
          <a:xfrm>
            <a:off x="4833251" y="2099608"/>
            <a:ext cx="2528229" cy="3379817"/>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6_slide">
  <p:cSld name="26_slide">
    <p:spTree>
      <p:nvGrpSpPr>
        <p:cNvPr id="1" name="Shape 144"/>
        <p:cNvGrpSpPr/>
        <p:nvPr/>
      </p:nvGrpSpPr>
      <p:grpSpPr>
        <a:xfrm>
          <a:off x="0" y="0"/>
          <a:ext cx="0" cy="0"/>
          <a:chOff x="0" y="0"/>
          <a:chExt cx="0" cy="0"/>
        </a:xfrm>
      </p:grpSpPr>
      <p:sp>
        <p:nvSpPr>
          <p:cNvPr id="145" name="Google Shape;145;p92"/>
          <p:cNvSpPr>
            <a:spLocks noGrp="1"/>
          </p:cNvSpPr>
          <p:nvPr>
            <p:ph type="pic" idx="2"/>
          </p:nvPr>
        </p:nvSpPr>
        <p:spPr>
          <a:xfrm>
            <a:off x="1449316" y="2114606"/>
            <a:ext cx="3626150" cy="2266340"/>
          </a:xfrm>
          <a:prstGeom prst="rect">
            <a:avLst/>
          </a:prstGeom>
          <a:solidFill>
            <a:srgbClr val="F2F2F2"/>
          </a:solidFill>
          <a:ln>
            <a:noFill/>
          </a:ln>
        </p:spPr>
      </p:sp>
      <p:sp>
        <p:nvSpPr>
          <p:cNvPr id="146" name="Google Shape;146;p92"/>
          <p:cNvSpPr>
            <a:spLocks noGrp="1"/>
          </p:cNvSpPr>
          <p:nvPr>
            <p:ph type="pic" idx="3"/>
          </p:nvPr>
        </p:nvSpPr>
        <p:spPr>
          <a:xfrm>
            <a:off x="7173347" y="2114606"/>
            <a:ext cx="3626150" cy="2266340"/>
          </a:xfrm>
          <a:prstGeom prst="rect">
            <a:avLst/>
          </a:prstGeom>
          <a:solidFill>
            <a:srgbClr val="F2F2F2"/>
          </a:solidFill>
          <a:ln>
            <a:noFill/>
          </a:ln>
        </p:spPr>
      </p:sp>
      <p:sp>
        <p:nvSpPr>
          <p:cNvPr id="147" name="Google Shape;147;p92"/>
          <p:cNvSpPr>
            <a:spLocks noGrp="1"/>
          </p:cNvSpPr>
          <p:nvPr>
            <p:ph type="pic" idx="4"/>
          </p:nvPr>
        </p:nvSpPr>
        <p:spPr>
          <a:xfrm>
            <a:off x="3825346" y="1769693"/>
            <a:ext cx="4586924" cy="2866822"/>
          </a:xfrm>
          <a:prstGeom prst="rect">
            <a:avLst/>
          </a:prstGeom>
          <a:solidFill>
            <a:srgbClr val="F2F2F2"/>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8_slide">
  <p:cSld name="28_slide">
    <p:spTree>
      <p:nvGrpSpPr>
        <p:cNvPr id="1" name="Shape 148"/>
        <p:cNvGrpSpPr/>
        <p:nvPr/>
      </p:nvGrpSpPr>
      <p:grpSpPr>
        <a:xfrm>
          <a:off x="0" y="0"/>
          <a:ext cx="0" cy="0"/>
          <a:chOff x="0" y="0"/>
          <a:chExt cx="0" cy="0"/>
        </a:xfrm>
      </p:grpSpPr>
      <p:sp>
        <p:nvSpPr>
          <p:cNvPr id="149" name="Google Shape;149;p93"/>
          <p:cNvSpPr>
            <a:spLocks noGrp="1"/>
          </p:cNvSpPr>
          <p:nvPr>
            <p:ph type="pic" idx="2"/>
          </p:nvPr>
        </p:nvSpPr>
        <p:spPr>
          <a:xfrm>
            <a:off x="-199169" y="2432304"/>
            <a:ext cx="12590339" cy="4599867"/>
          </a:xfrm>
          <a:prstGeom prst="rect">
            <a:avLst/>
          </a:prstGeom>
          <a:solidFill>
            <a:srgbClr val="F2F2F2"/>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43"/>
        <p:cNvGrpSpPr/>
        <p:nvPr/>
      </p:nvGrpSpPr>
      <p:grpSpPr>
        <a:xfrm>
          <a:off x="0" y="0"/>
          <a:ext cx="0" cy="0"/>
          <a:chOff x="0" y="0"/>
          <a:chExt cx="0" cy="0"/>
        </a:xfrm>
      </p:grpSpPr>
      <p:sp>
        <p:nvSpPr>
          <p:cNvPr id="44" name="Google Shape;44;p9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3600"/>
              <a:buFont typeface="Trebuchet MS" panose="020B0603020202020204"/>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6"/>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46" name="Google Shape;46;p9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7" Type="http://schemas.openxmlformats.org/officeDocument/2006/relationships/theme" Target="../theme/theme1.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8"/>
          <p:cNvSpPr txBox="1">
            <a:spLocks noGrp="1"/>
          </p:cNvSpPr>
          <p:nvPr>
            <p:ph type="body" idx="1"/>
          </p:nvPr>
        </p:nvSpPr>
        <p:spPr>
          <a:xfrm>
            <a:off x="838201"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58"/>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58"/>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58"/>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fld>
            <a:endParaRPr lang="en-GB"/>
          </a:p>
        </p:txBody>
      </p:sp>
      <p:sp>
        <p:nvSpPr>
          <p:cNvPr id="15" name="Google Shape;15;p58"/>
          <p:cNvSpPr txBox="1"/>
          <p:nvPr/>
        </p:nvSpPr>
        <p:spPr>
          <a:xfrm>
            <a:off x="11829114" y="305271"/>
            <a:ext cx="304726" cy="400091"/>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fld id="{00000000-1234-1234-1234-123412341234}" type="slidenum">
              <a:rPr lang="en-GB" sz="1000" b="0" i="0" u="none" strike="noStrike" cap="none">
                <a:solidFill>
                  <a:schemeClr val="lt1"/>
                </a:solidFill>
                <a:latin typeface="Roboto" panose="02000000000000000000"/>
                <a:ea typeface="Roboto" panose="02000000000000000000"/>
                <a:cs typeface="Roboto" panose="02000000000000000000"/>
                <a:sym typeface="Roboto" panose="02000000000000000000"/>
              </a:rPr>
            </a:fld>
            <a:r>
              <a:rPr lang="en-GB" sz="1000" b="1" i="0" u="none" strike="noStrike" cap="none">
                <a:solidFill>
                  <a:schemeClr val="lt1"/>
                </a:solidFill>
                <a:latin typeface="Montserrat" panose="00000500000000000000"/>
                <a:ea typeface="Montserrat" panose="00000500000000000000"/>
                <a:cs typeface="Montserrat" panose="00000500000000000000"/>
                <a:sym typeface="Montserrat" panose="00000500000000000000"/>
              </a:rPr>
              <a:t>  </a:t>
            </a:r>
            <a:endParaRPr lang="en-GB" sz="1000" b="1" i="0" u="none" strike="noStrike" cap="none">
              <a:solidFill>
                <a:schemeClr val="lt1"/>
              </a:solidFill>
              <a:latin typeface="Montserrat" panose="00000500000000000000"/>
              <a:ea typeface="Montserrat" panose="00000500000000000000"/>
              <a:cs typeface="Montserrat" panose="00000500000000000000"/>
              <a:sym typeface="Montserrat" panose="0000050000000000000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7.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image" Target="../media/image13.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6.xml"/><Relationship Id="rId1"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36.xml"/><Relationship Id="rId1" Type="http://schemas.openxmlformats.org/officeDocument/2006/relationships/image" Target="../media/image16.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6.xml"/><Relationship Id="rId1" Type="http://schemas.openxmlformats.org/officeDocument/2006/relationships/image" Target="../media/image1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7.jpe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62.xml"/><Relationship Id="rId5" Type="http://schemas.openxmlformats.org/officeDocument/2006/relationships/slideLayout" Target="../slideLayouts/slideLayout5.xml"/><Relationship Id="rId4" Type="http://schemas.openxmlformats.org/officeDocument/2006/relationships/hyperlink" Target="https://imarticus.org/" TargetMode="External"/><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1"/>
          <p:cNvPicPr preferRelativeResize="0">
            <a:picLocks noGrp="1"/>
          </p:cNvPicPr>
          <p:nvPr>
            <p:ph type="pic" idx="2"/>
          </p:nvPr>
        </p:nvPicPr>
        <p:blipFill rotWithShape="1">
          <a:blip r:embed="rId1"/>
          <a:srcRect/>
          <a:stretch>
            <a:fillRect/>
          </a:stretch>
        </p:blipFill>
        <p:spPr>
          <a:xfrm>
            <a:off x="1588" y="1"/>
            <a:ext cx="12190412" cy="6858000"/>
          </a:xfrm>
          <a:prstGeom prst="rect">
            <a:avLst/>
          </a:prstGeom>
          <a:solidFill>
            <a:srgbClr val="F2F2F2"/>
          </a:solidFill>
          <a:ln>
            <a:noFill/>
          </a:ln>
        </p:spPr>
      </p:pic>
      <p:sp>
        <p:nvSpPr>
          <p:cNvPr id="156" name="Google Shape;156;p1"/>
          <p:cNvSpPr/>
          <p:nvPr/>
        </p:nvSpPr>
        <p:spPr>
          <a:xfrm>
            <a:off x="1588" y="1"/>
            <a:ext cx="12190411" cy="6858000"/>
          </a:xfrm>
          <a:prstGeom prst="rect">
            <a:avLst/>
          </a:prstGeom>
          <a:gradFill>
            <a:gsLst>
              <a:gs pos="0">
                <a:srgbClr val="25B6C2">
                  <a:alpha val="20000"/>
                </a:srgbClr>
              </a:gs>
              <a:gs pos="2000">
                <a:srgbClr val="25B6C2">
                  <a:alpha val="20000"/>
                </a:srgbClr>
              </a:gs>
              <a:gs pos="100000">
                <a:srgbClr val="0692DB">
                  <a:alpha val="63921"/>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57" name="Google Shape;157;p1"/>
          <p:cNvSpPr/>
          <p:nvPr/>
        </p:nvSpPr>
        <p:spPr>
          <a:xfrm>
            <a:off x="1587" y="4507667"/>
            <a:ext cx="12190411" cy="1609445"/>
          </a:xfrm>
          <a:prstGeom prst="rect">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8" name="Google Shape;158;p1"/>
          <p:cNvSpPr txBox="1"/>
          <p:nvPr/>
        </p:nvSpPr>
        <p:spPr>
          <a:xfrm>
            <a:off x="2791580" y="4626589"/>
            <a:ext cx="8812834" cy="1371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3200" b="1" i="0" u="none" strike="noStrike" cap="none">
                <a:solidFill>
                  <a:srgbClr val="000000"/>
                </a:solidFill>
                <a:latin typeface="Arial" panose="020B0604020202020204"/>
                <a:ea typeface="Arial" panose="020B0604020202020204"/>
                <a:cs typeface="Arial" panose="020B0604020202020204"/>
                <a:sym typeface="Arial" panose="020B0604020202020204"/>
              </a:rPr>
              <a:t>I</a:t>
            </a:r>
            <a:r>
              <a:rPr lang="en-IN" altLang="en-GB" sz="3200" b="1" i="0" u="none" strike="noStrike" cap="none">
                <a:solidFill>
                  <a:srgbClr val="000000"/>
                </a:solidFill>
                <a:latin typeface="Arial" panose="020B0604020202020204"/>
                <a:ea typeface="Arial" panose="020B0604020202020204"/>
                <a:cs typeface="Arial" panose="020B0604020202020204"/>
                <a:sym typeface="Arial" panose="020B0604020202020204"/>
              </a:rPr>
              <a:t>SDA &amp; OTC Trade Life Cycle</a:t>
            </a:r>
            <a:endParaRPr lang="en-IN" altLang="en-GB" sz="32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59" name="Google Shape;159;p1" descr="A picture containing text, clipart&#10;&#10;Description automatically generated"/>
          <p:cNvPicPr preferRelativeResize="0"/>
          <p:nvPr/>
        </p:nvPicPr>
        <p:blipFill rotWithShape="1">
          <a:blip r:embed="rId2"/>
          <a:srcRect/>
          <a:stretch>
            <a:fillRect/>
          </a:stretch>
        </p:blipFill>
        <p:spPr>
          <a:xfrm>
            <a:off x="9533468" y="804443"/>
            <a:ext cx="2421466" cy="491960"/>
          </a:xfrm>
          <a:prstGeom prst="rect">
            <a:avLst/>
          </a:prstGeom>
          <a:noFill/>
          <a:ln>
            <a:noFill/>
          </a:ln>
        </p:spPr>
      </p:pic>
      <p:grpSp>
        <p:nvGrpSpPr>
          <p:cNvPr id="160" name="Google Shape;160;p1"/>
          <p:cNvGrpSpPr/>
          <p:nvPr/>
        </p:nvGrpSpPr>
        <p:grpSpPr>
          <a:xfrm>
            <a:off x="406806" y="4225968"/>
            <a:ext cx="2217393" cy="2208699"/>
            <a:chOff x="406806" y="4225968"/>
            <a:chExt cx="2217393" cy="2208699"/>
          </a:xfrm>
        </p:grpSpPr>
        <p:sp>
          <p:nvSpPr>
            <p:cNvPr id="161" name="Google Shape;161;p1"/>
            <p:cNvSpPr/>
            <p:nvPr/>
          </p:nvSpPr>
          <p:spPr>
            <a:xfrm>
              <a:off x="406806" y="4225968"/>
              <a:ext cx="2217393" cy="2208699"/>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62" name="Google Shape;162;p1" descr="A silhouette of a city&#10;&#10;Description automatically generated with low confidence"/>
            <p:cNvPicPr preferRelativeResize="0"/>
            <p:nvPr/>
          </p:nvPicPr>
          <p:blipFill rotWithShape="1">
            <a:blip r:embed="rId3"/>
            <a:srcRect/>
            <a:stretch>
              <a:fillRect/>
            </a:stretch>
          </p:blipFill>
          <p:spPr>
            <a:xfrm>
              <a:off x="1071058" y="4841428"/>
              <a:ext cx="888889" cy="97777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
          <p:cNvPicPr preferRelativeResize="0">
            <a:picLocks noGrp="1"/>
          </p:cNvPicPr>
          <p:nvPr>
            <p:ph type="pic" idx="2"/>
          </p:nvPr>
        </p:nvPicPr>
        <p:blipFill rotWithShape="1">
          <a:blip r:embed="rId1"/>
          <a:srcRect/>
          <a:stretch>
            <a:fillRect/>
          </a:stretch>
        </p:blipFill>
        <p:spPr>
          <a:xfrm>
            <a:off x="0" y="-1"/>
            <a:ext cx="12192000" cy="6857999"/>
          </a:xfrm>
          <a:prstGeom prst="rect">
            <a:avLst/>
          </a:prstGeom>
          <a:solidFill>
            <a:srgbClr val="F2F2F2"/>
          </a:solidFill>
          <a:ln>
            <a:noFill/>
          </a:ln>
        </p:spPr>
      </p:pic>
      <p:sp>
        <p:nvSpPr>
          <p:cNvPr id="168" name="Google Shape;168;p2"/>
          <p:cNvSpPr/>
          <p:nvPr/>
        </p:nvSpPr>
        <p:spPr>
          <a:xfrm>
            <a:off x="1588" y="-14288"/>
            <a:ext cx="12188825" cy="7591112"/>
          </a:xfrm>
          <a:prstGeom prst="rect">
            <a:avLst/>
          </a:prstGeom>
          <a:solidFill>
            <a:schemeClr val="lt1">
              <a:alpha val="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9" name="Google Shape;169;p2"/>
          <p:cNvSpPr/>
          <p:nvPr/>
        </p:nvSpPr>
        <p:spPr>
          <a:xfrm>
            <a:off x="1588" y="3190420"/>
            <a:ext cx="12188825" cy="2510293"/>
          </a:xfrm>
          <a:prstGeom prst="rect">
            <a:avLst/>
          </a:prstGeom>
          <a:gradFill>
            <a:gsLst>
              <a:gs pos="0">
                <a:srgbClr val="25B6C2">
                  <a:alpha val="49803"/>
                </a:srgbClr>
              </a:gs>
              <a:gs pos="13000">
                <a:srgbClr val="25B6C2">
                  <a:alpha val="49803"/>
                </a:srgbClr>
              </a:gs>
              <a:gs pos="100000">
                <a:srgbClr val="0692DB">
                  <a:alpha val="49803"/>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70" name="Google Shape;170;p2"/>
          <p:cNvSpPr/>
          <p:nvPr/>
        </p:nvSpPr>
        <p:spPr>
          <a:xfrm>
            <a:off x="1588" y="3362964"/>
            <a:ext cx="12188825" cy="2128315"/>
          </a:xfrm>
          <a:prstGeom prst="rect">
            <a:avLst/>
          </a:prstGeom>
          <a:gradFill>
            <a:gsLst>
              <a:gs pos="0">
                <a:srgbClr val="25B6C2"/>
              </a:gs>
              <a:gs pos="13000">
                <a:srgbClr val="25B6C2"/>
              </a:gs>
              <a:gs pos="100000">
                <a:srgbClr val="0692DB"/>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71" name="Google Shape;171;p2"/>
          <p:cNvSpPr txBox="1"/>
          <p:nvPr/>
        </p:nvSpPr>
        <p:spPr>
          <a:xfrm>
            <a:off x="3841715" y="3436581"/>
            <a:ext cx="450857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3600" b="1" i="0" u="none" strike="noStrike" cap="none">
                <a:solidFill>
                  <a:srgbClr val="FFFFFF"/>
                </a:solidFill>
                <a:latin typeface="Arial" panose="020B0604020202020204"/>
                <a:ea typeface="Arial" panose="020B0604020202020204"/>
                <a:cs typeface="Arial" panose="020B0604020202020204"/>
                <a:sym typeface="Arial" panose="020B0604020202020204"/>
              </a:rPr>
              <a:t>DISCLAIMER</a:t>
            </a:r>
            <a:endParaRPr sz="33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72" name="Google Shape;172;p2"/>
          <p:cNvSpPr txBox="1"/>
          <p:nvPr/>
        </p:nvSpPr>
        <p:spPr>
          <a:xfrm>
            <a:off x="442135" y="4060016"/>
            <a:ext cx="11307731"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0" i="0" u="none" strike="noStrike" cap="none">
                <a:solidFill>
                  <a:srgbClr val="FFFFFF"/>
                </a:solidFill>
                <a:latin typeface="Arial" panose="020B0604020202020204"/>
                <a:ea typeface="Arial" panose="020B0604020202020204"/>
                <a:cs typeface="Arial" panose="020B0604020202020204"/>
                <a:sym typeface="Arial" panose="020B0604020202020204"/>
              </a:rPr>
              <a:t>The training content and delivery of this presentation is confidential, and cannot be recorded, or copied and distributed to any third party, without the written consent of IMARTICUS Learning Pvt . Ltd.</a:t>
            </a:r>
            <a:endParaRPr lang="en-GB" sz="2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73" name="Google Shape;173;p2" descr="A picture containing text, clipart&#10;&#10;Description automatically generated"/>
          <p:cNvPicPr preferRelativeResize="0"/>
          <p:nvPr/>
        </p:nvPicPr>
        <p:blipFill rotWithShape="1">
          <a:blip r:embed="rId2"/>
          <a:srcRect/>
          <a:stretch>
            <a:fillRect/>
          </a:stretch>
        </p:blipFill>
        <p:spPr>
          <a:xfrm>
            <a:off x="9533468" y="431910"/>
            <a:ext cx="2421466" cy="4919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79" name="Google Shape;179;p3"/>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a:t>YOU ARE GOING TO LEARN…</a:t>
            </a:r>
            <a:endParaRPr lang="en-GB"/>
          </a:p>
        </p:txBody>
      </p:sp>
      <p:sp>
        <p:nvSpPr>
          <p:cNvPr id="180" name="Google Shape;180;p3"/>
          <p:cNvSpPr/>
          <p:nvPr/>
        </p:nvSpPr>
        <p:spPr>
          <a:xfrm rot="5400000">
            <a:off x="3836009" y="-2259991"/>
            <a:ext cx="4519984" cy="12191998"/>
          </a:xfrm>
          <a:prstGeom prst="roundRect">
            <a:avLst>
              <a:gd name="adj" fmla="val 0"/>
            </a:avLst>
          </a:prstGeom>
          <a:solidFill>
            <a:srgbClr val="A6E9EE"/>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81" name="Google Shape;181;p3"/>
          <p:cNvSpPr txBox="1"/>
          <p:nvPr/>
        </p:nvSpPr>
        <p:spPr>
          <a:xfrm>
            <a:off x="-7" y="1576032"/>
            <a:ext cx="12191998" cy="4519984"/>
          </a:xfrm>
          <a:prstGeom prst="rect">
            <a:avLst/>
          </a:prstGeom>
          <a:noFill/>
          <a:ln>
            <a:noFill/>
          </a:ln>
        </p:spPr>
        <p:txBody>
          <a:bodyPr spcFirstLastPara="1" wrap="square" lIns="91425" tIns="45700" rIns="91425" bIns="720000" anchor="ctr" anchorCtr="0">
            <a:noAutofit/>
          </a:bodyPr>
          <a:lstStyle/>
          <a:p>
            <a:pPr marL="285750" marR="0" lvl="0" indent="-158750" algn="l" rtl="0">
              <a:spcBef>
                <a:spcPts val="0"/>
              </a:spcBef>
              <a:spcAft>
                <a:spcPts val="0"/>
              </a:spcAft>
              <a:buClr>
                <a:schemeClr val="dk1"/>
              </a:buClr>
              <a:buSzPts val="2000"/>
              <a:buFont typeface="Arial" panose="020B0604020202020204"/>
              <a:buNone/>
            </a:pP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82" name="Google Shape;182;p3"/>
          <p:cNvGrpSpPr/>
          <p:nvPr/>
        </p:nvGrpSpPr>
        <p:grpSpPr>
          <a:xfrm>
            <a:off x="6971322" y="1295401"/>
            <a:ext cx="4395635" cy="5562600"/>
            <a:chOff x="7546962" y="2023863"/>
            <a:chExt cx="3819995" cy="4834137"/>
          </a:xfrm>
        </p:grpSpPr>
        <p:sp>
          <p:nvSpPr>
            <p:cNvPr id="183" name="Google Shape;183;p3"/>
            <p:cNvSpPr/>
            <p:nvPr/>
          </p:nvSpPr>
          <p:spPr>
            <a:xfrm flipH="1">
              <a:off x="7546962" y="2023863"/>
              <a:ext cx="3819995" cy="4834137"/>
            </a:xfrm>
            <a:custGeom>
              <a:avLst/>
              <a:gdLst/>
              <a:ahLst/>
              <a:cxnLst/>
              <a:rect l="l" t="t" r="r" b="b"/>
              <a:pathLst>
                <a:path w="3819995" h="4834137" extrusionOk="0">
                  <a:moveTo>
                    <a:pt x="417961" y="4834122"/>
                  </a:moveTo>
                  <a:cubicBezTo>
                    <a:pt x="417961" y="4834122"/>
                    <a:pt x="680885" y="4215750"/>
                    <a:pt x="671152" y="3719115"/>
                  </a:cubicBezTo>
                  <a:cubicBezTo>
                    <a:pt x="661420" y="3222480"/>
                    <a:pt x="466656" y="2886514"/>
                    <a:pt x="203731" y="2389863"/>
                  </a:cubicBezTo>
                  <a:cubicBezTo>
                    <a:pt x="-59209" y="1893228"/>
                    <a:pt x="-209616" y="909676"/>
                    <a:pt x="671424" y="330266"/>
                  </a:cubicBezTo>
                  <a:cubicBezTo>
                    <a:pt x="1552449" y="-249144"/>
                    <a:pt x="2666239" y="54407"/>
                    <a:pt x="2969342" y="330266"/>
                  </a:cubicBezTo>
                  <a:cubicBezTo>
                    <a:pt x="3402682" y="724660"/>
                    <a:pt x="3509805" y="1299204"/>
                    <a:pt x="3504939" y="1430674"/>
                  </a:cubicBezTo>
                  <a:cubicBezTo>
                    <a:pt x="3500072" y="1562144"/>
                    <a:pt x="3363880" y="1620571"/>
                    <a:pt x="3505003" y="1825068"/>
                  </a:cubicBezTo>
                  <a:cubicBezTo>
                    <a:pt x="3588322" y="1945813"/>
                    <a:pt x="3710716" y="2110675"/>
                    <a:pt x="3796997" y="2225481"/>
                  </a:cubicBezTo>
                  <a:cubicBezTo>
                    <a:pt x="3845676" y="2290264"/>
                    <a:pt x="3813356" y="2383668"/>
                    <a:pt x="3735079" y="2404622"/>
                  </a:cubicBezTo>
                  <a:lnTo>
                    <a:pt x="3631574" y="2432315"/>
                  </a:lnTo>
                  <a:cubicBezTo>
                    <a:pt x="3588914" y="2443728"/>
                    <a:pt x="3563574" y="2487573"/>
                    <a:pt x="3575084" y="2530201"/>
                  </a:cubicBezTo>
                  <a:cubicBezTo>
                    <a:pt x="3590579" y="2587604"/>
                    <a:pt x="3609260" y="2661143"/>
                    <a:pt x="3612045" y="2691750"/>
                  </a:cubicBezTo>
                  <a:cubicBezTo>
                    <a:pt x="3616912" y="2745311"/>
                    <a:pt x="3480575" y="2837819"/>
                    <a:pt x="3480575" y="2837819"/>
                  </a:cubicBezTo>
                  <a:cubicBezTo>
                    <a:pt x="3480575" y="2837819"/>
                    <a:pt x="3592564" y="2891380"/>
                    <a:pt x="3539003" y="2964407"/>
                  </a:cubicBezTo>
                  <a:cubicBezTo>
                    <a:pt x="3485442" y="3037449"/>
                    <a:pt x="3431880" y="3047181"/>
                    <a:pt x="3451361" y="3154304"/>
                  </a:cubicBezTo>
                  <a:cubicBezTo>
                    <a:pt x="3470843" y="3261427"/>
                    <a:pt x="3577949" y="3495137"/>
                    <a:pt x="3144609" y="3514618"/>
                  </a:cubicBezTo>
                  <a:cubicBezTo>
                    <a:pt x="2711268" y="3534099"/>
                    <a:pt x="2414248" y="3529233"/>
                    <a:pt x="2511638" y="3982055"/>
                  </a:cubicBezTo>
                  <a:cubicBezTo>
                    <a:pt x="2609011" y="4434877"/>
                    <a:pt x="2677188" y="4834138"/>
                    <a:pt x="2677188" y="4834138"/>
                  </a:cubicBezTo>
                  <a:lnTo>
                    <a:pt x="417961" y="483413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84" name="Google Shape;184;p3"/>
            <p:cNvGrpSpPr/>
            <p:nvPr/>
          </p:nvGrpSpPr>
          <p:grpSpPr>
            <a:xfrm flipH="1">
              <a:off x="8165378" y="2023909"/>
              <a:ext cx="2941885" cy="3845608"/>
              <a:chOff x="12739148" y="1911090"/>
              <a:chExt cx="2941885" cy="3845608"/>
            </a:xfrm>
          </p:grpSpPr>
          <p:sp>
            <p:nvSpPr>
              <p:cNvPr id="185" name="Google Shape;185;p3"/>
              <p:cNvSpPr/>
              <p:nvPr/>
            </p:nvSpPr>
            <p:spPr>
              <a:xfrm>
                <a:off x="13879927" y="4285315"/>
                <a:ext cx="334061" cy="1471383"/>
              </a:xfrm>
              <a:custGeom>
                <a:avLst/>
                <a:gdLst/>
                <a:ahLst/>
                <a:cxnLst/>
                <a:rect l="l" t="t" r="r" b="b"/>
                <a:pathLst>
                  <a:path w="334061" h="1471383" extrusionOk="0">
                    <a:moveTo>
                      <a:pt x="263196" y="1435814"/>
                    </a:moveTo>
                    <a:cubicBezTo>
                      <a:pt x="263196" y="1455408"/>
                      <a:pt x="278900" y="1471383"/>
                      <a:pt x="298509" y="1471383"/>
                    </a:cubicBezTo>
                    <a:cubicBezTo>
                      <a:pt x="318086" y="1471383"/>
                      <a:pt x="334062" y="1455408"/>
                      <a:pt x="334062" y="1435814"/>
                    </a:cubicBezTo>
                    <a:cubicBezTo>
                      <a:pt x="334062" y="1419343"/>
                      <a:pt x="322728" y="1405752"/>
                      <a:pt x="307505" y="1401782"/>
                    </a:cubicBezTo>
                    <a:lnTo>
                      <a:pt x="307505" y="1048111"/>
                    </a:lnTo>
                    <a:lnTo>
                      <a:pt x="44581" y="785187"/>
                    </a:lnTo>
                    <a:lnTo>
                      <a:pt x="44581" y="69841"/>
                    </a:lnTo>
                    <a:cubicBezTo>
                      <a:pt x="59804" y="65823"/>
                      <a:pt x="71138" y="52040"/>
                      <a:pt x="71138" y="35585"/>
                    </a:cubicBezTo>
                    <a:cubicBezTo>
                      <a:pt x="71138" y="16008"/>
                      <a:pt x="55162" y="0"/>
                      <a:pt x="35585" y="0"/>
                    </a:cubicBezTo>
                    <a:cubicBezTo>
                      <a:pt x="15976" y="0"/>
                      <a:pt x="0" y="15991"/>
                      <a:pt x="0" y="35585"/>
                    </a:cubicBezTo>
                    <a:cubicBezTo>
                      <a:pt x="0" y="52136"/>
                      <a:pt x="11461" y="65983"/>
                      <a:pt x="26813" y="69921"/>
                    </a:cubicBezTo>
                    <a:lnTo>
                      <a:pt x="26813" y="792422"/>
                    </a:lnTo>
                    <a:lnTo>
                      <a:pt x="289721" y="1055347"/>
                    </a:lnTo>
                    <a:lnTo>
                      <a:pt x="289721" y="1401718"/>
                    </a:lnTo>
                    <a:cubicBezTo>
                      <a:pt x="274450" y="1405624"/>
                      <a:pt x="263196" y="1419279"/>
                      <a:pt x="263196" y="14358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 name="Google Shape;186;p3"/>
              <p:cNvSpPr/>
              <p:nvPr/>
            </p:nvSpPr>
            <p:spPr>
              <a:xfrm>
                <a:off x="13319214" y="2045889"/>
                <a:ext cx="369534" cy="2311027"/>
              </a:xfrm>
              <a:custGeom>
                <a:avLst/>
                <a:gdLst/>
                <a:ahLst/>
                <a:cxnLst/>
                <a:rect l="l" t="t" r="r" b="b"/>
                <a:pathLst>
                  <a:path w="369534" h="2311027" extrusionOk="0">
                    <a:moveTo>
                      <a:pt x="194748" y="8452"/>
                    </a:moveTo>
                    <a:lnTo>
                      <a:pt x="194748" y="716691"/>
                    </a:lnTo>
                    <a:lnTo>
                      <a:pt x="211428" y="733355"/>
                    </a:lnTo>
                    <a:lnTo>
                      <a:pt x="209763" y="733355"/>
                    </a:lnTo>
                    <a:lnTo>
                      <a:pt x="209763" y="968874"/>
                    </a:lnTo>
                    <a:lnTo>
                      <a:pt x="69249" y="1109228"/>
                    </a:lnTo>
                    <a:lnTo>
                      <a:pt x="69249" y="1384558"/>
                    </a:lnTo>
                    <a:lnTo>
                      <a:pt x="160380" y="1475705"/>
                    </a:lnTo>
                    <a:cubicBezTo>
                      <a:pt x="158619" y="1479579"/>
                      <a:pt x="157594" y="1483853"/>
                      <a:pt x="157594" y="1488399"/>
                    </a:cubicBezTo>
                    <a:cubicBezTo>
                      <a:pt x="157594" y="1502438"/>
                      <a:pt x="166943" y="1513979"/>
                      <a:pt x="179717" y="1517693"/>
                    </a:cubicBezTo>
                    <a:lnTo>
                      <a:pt x="179717" y="1733715"/>
                    </a:lnTo>
                    <a:lnTo>
                      <a:pt x="19929" y="1893423"/>
                    </a:lnTo>
                    <a:lnTo>
                      <a:pt x="19929" y="2251448"/>
                    </a:lnTo>
                    <a:cubicBezTo>
                      <a:pt x="8292" y="2255850"/>
                      <a:pt x="0" y="2266991"/>
                      <a:pt x="0" y="2280213"/>
                    </a:cubicBezTo>
                    <a:cubicBezTo>
                      <a:pt x="0" y="2297133"/>
                      <a:pt x="13767" y="2311028"/>
                      <a:pt x="30831" y="2311028"/>
                    </a:cubicBezTo>
                    <a:cubicBezTo>
                      <a:pt x="47895" y="2311028"/>
                      <a:pt x="61645" y="2297133"/>
                      <a:pt x="61645" y="2280213"/>
                    </a:cubicBezTo>
                    <a:cubicBezTo>
                      <a:pt x="61645" y="2266991"/>
                      <a:pt x="53353" y="2255850"/>
                      <a:pt x="41716" y="2251448"/>
                    </a:cubicBezTo>
                    <a:lnTo>
                      <a:pt x="41716" y="1902291"/>
                    </a:lnTo>
                    <a:lnTo>
                      <a:pt x="179701" y="1764306"/>
                    </a:lnTo>
                    <a:lnTo>
                      <a:pt x="179701" y="2068113"/>
                    </a:lnTo>
                    <a:cubicBezTo>
                      <a:pt x="167663" y="2072323"/>
                      <a:pt x="159003" y="2083672"/>
                      <a:pt x="159003" y="2096927"/>
                    </a:cubicBezTo>
                    <a:cubicBezTo>
                      <a:pt x="159003" y="2114007"/>
                      <a:pt x="172754" y="2127901"/>
                      <a:pt x="189818" y="2127901"/>
                    </a:cubicBezTo>
                    <a:cubicBezTo>
                      <a:pt x="206722" y="2127901"/>
                      <a:pt x="220488" y="2114007"/>
                      <a:pt x="220488" y="2096927"/>
                    </a:cubicBezTo>
                    <a:cubicBezTo>
                      <a:pt x="220488" y="2084281"/>
                      <a:pt x="212645" y="2073283"/>
                      <a:pt x="201519" y="2068641"/>
                    </a:cubicBezTo>
                    <a:lnTo>
                      <a:pt x="201519" y="1742503"/>
                    </a:lnTo>
                    <a:lnTo>
                      <a:pt x="369535" y="1574472"/>
                    </a:lnTo>
                    <a:lnTo>
                      <a:pt x="369535" y="860695"/>
                    </a:lnTo>
                    <a:lnTo>
                      <a:pt x="216534" y="707534"/>
                    </a:lnTo>
                    <a:lnTo>
                      <a:pt x="216534" y="0"/>
                    </a:lnTo>
                    <a:cubicBezTo>
                      <a:pt x="209283" y="2721"/>
                      <a:pt x="202015" y="5619"/>
                      <a:pt x="194748" y="8452"/>
                    </a:cubicBezTo>
                    <a:close/>
                    <a:moveTo>
                      <a:pt x="231405" y="977726"/>
                    </a:moveTo>
                    <a:lnTo>
                      <a:pt x="231405" y="753348"/>
                    </a:lnTo>
                    <a:lnTo>
                      <a:pt x="347892" y="869835"/>
                    </a:lnTo>
                    <a:lnTo>
                      <a:pt x="347892" y="1565604"/>
                    </a:lnTo>
                    <a:lnTo>
                      <a:pt x="201519" y="1711897"/>
                    </a:lnTo>
                    <a:lnTo>
                      <a:pt x="201519" y="1516028"/>
                    </a:lnTo>
                    <a:cubicBezTo>
                      <a:pt x="211908" y="1511130"/>
                      <a:pt x="219224" y="1500709"/>
                      <a:pt x="219224" y="1488367"/>
                    </a:cubicBezTo>
                    <a:cubicBezTo>
                      <a:pt x="219224" y="1471303"/>
                      <a:pt x="205313" y="1457553"/>
                      <a:pt x="188393" y="1457553"/>
                    </a:cubicBezTo>
                    <a:cubicBezTo>
                      <a:pt x="183863" y="1457553"/>
                      <a:pt x="179605" y="1458577"/>
                      <a:pt x="175731" y="1460322"/>
                    </a:cubicBezTo>
                    <a:lnTo>
                      <a:pt x="91019" y="1375370"/>
                    </a:lnTo>
                    <a:lnTo>
                      <a:pt x="91019" y="1118080"/>
                    </a:lnTo>
                    <a:lnTo>
                      <a:pt x="231405" y="97772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 name="Google Shape;187;p3"/>
              <p:cNvSpPr/>
              <p:nvPr/>
            </p:nvSpPr>
            <p:spPr>
              <a:xfrm>
                <a:off x="13009276" y="2123798"/>
                <a:ext cx="435293" cy="2557304"/>
              </a:xfrm>
              <a:custGeom>
                <a:avLst/>
                <a:gdLst/>
                <a:ahLst/>
                <a:cxnLst/>
                <a:rect l="l" t="t" r="r" b="b"/>
                <a:pathLst>
                  <a:path w="435293" h="2557304" extrusionOk="0">
                    <a:moveTo>
                      <a:pt x="0" y="1130806"/>
                    </a:moveTo>
                    <a:lnTo>
                      <a:pt x="0" y="1415965"/>
                    </a:lnTo>
                    <a:lnTo>
                      <a:pt x="198366" y="1614475"/>
                    </a:lnTo>
                    <a:lnTo>
                      <a:pt x="198366" y="2264734"/>
                    </a:lnTo>
                    <a:lnTo>
                      <a:pt x="308850" y="2375218"/>
                    </a:lnTo>
                    <a:lnTo>
                      <a:pt x="308850" y="2498669"/>
                    </a:lnTo>
                    <a:cubicBezTo>
                      <a:pt x="298221" y="2503519"/>
                      <a:pt x="290825" y="2514132"/>
                      <a:pt x="290825" y="2526490"/>
                    </a:cubicBezTo>
                    <a:cubicBezTo>
                      <a:pt x="290825" y="2543554"/>
                      <a:pt x="304592" y="2557304"/>
                      <a:pt x="321640" y="2557304"/>
                    </a:cubicBezTo>
                    <a:cubicBezTo>
                      <a:pt x="338560" y="2557304"/>
                      <a:pt x="352310" y="2543554"/>
                      <a:pt x="352310" y="2526490"/>
                    </a:cubicBezTo>
                    <a:cubicBezTo>
                      <a:pt x="352310" y="2512739"/>
                      <a:pt x="343154" y="2501214"/>
                      <a:pt x="330652" y="2497340"/>
                    </a:cubicBezTo>
                    <a:lnTo>
                      <a:pt x="330652" y="2366238"/>
                    </a:lnTo>
                    <a:lnTo>
                      <a:pt x="220168" y="2255738"/>
                    </a:lnTo>
                    <a:lnTo>
                      <a:pt x="220168" y="1605335"/>
                    </a:lnTo>
                    <a:lnTo>
                      <a:pt x="21802" y="1407129"/>
                    </a:lnTo>
                    <a:lnTo>
                      <a:pt x="21802" y="1139658"/>
                    </a:lnTo>
                    <a:lnTo>
                      <a:pt x="435294" y="726167"/>
                    </a:lnTo>
                    <a:lnTo>
                      <a:pt x="435294" y="532876"/>
                    </a:lnTo>
                    <a:lnTo>
                      <a:pt x="346772" y="444050"/>
                    </a:lnTo>
                    <a:lnTo>
                      <a:pt x="346772" y="0"/>
                    </a:lnTo>
                    <a:cubicBezTo>
                      <a:pt x="339488" y="3602"/>
                      <a:pt x="332237" y="7331"/>
                      <a:pt x="324969" y="11029"/>
                    </a:cubicBezTo>
                    <a:lnTo>
                      <a:pt x="324969" y="453206"/>
                    </a:lnTo>
                    <a:lnTo>
                      <a:pt x="413459" y="541728"/>
                    </a:lnTo>
                    <a:lnTo>
                      <a:pt x="413459" y="717171"/>
                    </a:lnTo>
                    <a:lnTo>
                      <a:pt x="0" y="113080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8" name="Google Shape;188;p3"/>
              <p:cNvSpPr/>
              <p:nvPr/>
            </p:nvSpPr>
            <p:spPr>
              <a:xfrm>
                <a:off x="13724846" y="1911090"/>
                <a:ext cx="1956187" cy="3529331"/>
              </a:xfrm>
              <a:custGeom>
                <a:avLst/>
                <a:gdLst/>
                <a:ahLst/>
                <a:cxnLst/>
                <a:rect l="l" t="t" r="r" b="b"/>
                <a:pathLst>
                  <a:path w="1956187" h="3529331" extrusionOk="0">
                    <a:moveTo>
                      <a:pt x="1920715" y="548243"/>
                    </a:moveTo>
                    <a:lnTo>
                      <a:pt x="1920715" y="883249"/>
                    </a:lnTo>
                    <a:cubicBezTo>
                      <a:pt x="1901362" y="883249"/>
                      <a:pt x="1885403" y="899241"/>
                      <a:pt x="1885403" y="918834"/>
                    </a:cubicBezTo>
                    <a:cubicBezTo>
                      <a:pt x="1885403" y="927654"/>
                      <a:pt x="1888748" y="935626"/>
                      <a:pt x="1894079" y="941853"/>
                    </a:cubicBezTo>
                    <a:lnTo>
                      <a:pt x="1757518" y="1078398"/>
                    </a:lnTo>
                    <a:lnTo>
                      <a:pt x="1757518" y="968906"/>
                    </a:lnTo>
                    <a:cubicBezTo>
                      <a:pt x="1768099" y="962727"/>
                      <a:pt x="1775302" y="951394"/>
                      <a:pt x="1775302" y="938299"/>
                    </a:cubicBezTo>
                    <a:cubicBezTo>
                      <a:pt x="1775302" y="918706"/>
                      <a:pt x="1759327" y="902715"/>
                      <a:pt x="1739734" y="902715"/>
                    </a:cubicBezTo>
                    <a:cubicBezTo>
                      <a:pt x="1720140" y="902715"/>
                      <a:pt x="1704421" y="918706"/>
                      <a:pt x="1704421" y="938299"/>
                    </a:cubicBezTo>
                    <a:cubicBezTo>
                      <a:pt x="1704421" y="957893"/>
                      <a:pt x="1720140" y="973852"/>
                      <a:pt x="1739734" y="973852"/>
                    </a:cubicBezTo>
                    <a:lnTo>
                      <a:pt x="1739734" y="1096182"/>
                    </a:lnTo>
                    <a:lnTo>
                      <a:pt x="1565427" y="1270504"/>
                    </a:lnTo>
                    <a:cubicBezTo>
                      <a:pt x="1559457" y="1265990"/>
                      <a:pt x="1552125" y="1263221"/>
                      <a:pt x="1544105" y="1263221"/>
                    </a:cubicBezTo>
                    <a:cubicBezTo>
                      <a:pt x="1524512" y="1263221"/>
                      <a:pt x="1508552" y="1279196"/>
                      <a:pt x="1508552" y="1298774"/>
                    </a:cubicBezTo>
                    <a:cubicBezTo>
                      <a:pt x="1508552" y="1315358"/>
                      <a:pt x="1520622" y="1329556"/>
                      <a:pt x="1536630" y="1332998"/>
                    </a:cubicBezTo>
                    <a:lnTo>
                      <a:pt x="1536630" y="1462659"/>
                    </a:lnTo>
                    <a:lnTo>
                      <a:pt x="1279932" y="1719420"/>
                    </a:lnTo>
                    <a:lnTo>
                      <a:pt x="1080815" y="1520302"/>
                    </a:lnTo>
                    <a:cubicBezTo>
                      <a:pt x="1084048" y="1514940"/>
                      <a:pt x="1086017" y="1508745"/>
                      <a:pt x="1086017" y="1502038"/>
                    </a:cubicBezTo>
                    <a:cubicBezTo>
                      <a:pt x="1086017" y="1485406"/>
                      <a:pt x="1074444" y="1471847"/>
                      <a:pt x="1058964" y="1468102"/>
                    </a:cubicBezTo>
                    <a:lnTo>
                      <a:pt x="1058964" y="269119"/>
                    </a:lnTo>
                    <a:lnTo>
                      <a:pt x="963303" y="173538"/>
                    </a:lnTo>
                    <a:lnTo>
                      <a:pt x="963303" y="31007"/>
                    </a:lnTo>
                    <a:cubicBezTo>
                      <a:pt x="957380" y="30046"/>
                      <a:pt x="951473" y="29070"/>
                      <a:pt x="945503" y="28157"/>
                    </a:cubicBezTo>
                    <a:lnTo>
                      <a:pt x="945503" y="155770"/>
                    </a:lnTo>
                    <a:lnTo>
                      <a:pt x="799946" y="10309"/>
                    </a:lnTo>
                    <a:cubicBezTo>
                      <a:pt x="790870" y="9476"/>
                      <a:pt x="781761" y="8708"/>
                      <a:pt x="772621" y="7972"/>
                    </a:cubicBezTo>
                    <a:lnTo>
                      <a:pt x="945519" y="181094"/>
                    </a:lnTo>
                    <a:lnTo>
                      <a:pt x="945519" y="668572"/>
                    </a:lnTo>
                    <a:lnTo>
                      <a:pt x="827447" y="786644"/>
                    </a:lnTo>
                    <a:lnTo>
                      <a:pt x="827447" y="1392130"/>
                    </a:lnTo>
                    <a:cubicBezTo>
                      <a:pt x="826406" y="1391521"/>
                      <a:pt x="825366" y="1390897"/>
                      <a:pt x="824261" y="1390401"/>
                    </a:cubicBezTo>
                    <a:lnTo>
                      <a:pt x="824261" y="712753"/>
                    </a:lnTo>
                    <a:lnTo>
                      <a:pt x="618756" y="506783"/>
                    </a:lnTo>
                    <a:cubicBezTo>
                      <a:pt x="619861" y="503342"/>
                      <a:pt x="620613" y="499756"/>
                      <a:pt x="620613" y="495962"/>
                    </a:cubicBezTo>
                    <a:cubicBezTo>
                      <a:pt x="620613" y="482884"/>
                      <a:pt x="613394" y="471535"/>
                      <a:pt x="602829" y="465340"/>
                    </a:cubicBezTo>
                    <a:lnTo>
                      <a:pt x="602829" y="176"/>
                    </a:lnTo>
                    <a:cubicBezTo>
                      <a:pt x="595529" y="96"/>
                      <a:pt x="588246" y="16"/>
                      <a:pt x="580914" y="0"/>
                    </a:cubicBezTo>
                    <a:lnTo>
                      <a:pt x="580914" y="109716"/>
                    </a:lnTo>
                    <a:lnTo>
                      <a:pt x="375617" y="315333"/>
                    </a:lnTo>
                    <a:lnTo>
                      <a:pt x="375617" y="8644"/>
                    </a:lnTo>
                    <a:cubicBezTo>
                      <a:pt x="369695" y="9156"/>
                      <a:pt x="363756" y="9797"/>
                      <a:pt x="357833" y="10357"/>
                    </a:cubicBezTo>
                    <a:lnTo>
                      <a:pt x="357833" y="333149"/>
                    </a:lnTo>
                    <a:lnTo>
                      <a:pt x="268015" y="423112"/>
                    </a:lnTo>
                    <a:cubicBezTo>
                      <a:pt x="263677" y="421191"/>
                      <a:pt x="258890" y="420086"/>
                      <a:pt x="253816" y="420086"/>
                    </a:cubicBezTo>
                    <a:cubicBezTo>
                      <a:pt x="234223" y="420086"/>
                      <a:pt x="218247" y="436062"/>
                      <a:pt x="218247" y="455639"/>
                    </a:cubicBezTo>
                    <a:cubicBezTo>
                      <a:pt x="218247" y="471327"/>
                      <a:pt x="228572" y="484565"/>
                      <a:pt x="242739" y="489271"/>
                    </a:cubicBezTo>
                    <a:lnTo>
                      <a:pt x="242739" y="807261"/>
                    </a:lnTo>
                    <a:lnTo>
                      <a:pt x="543217" y="1107723"/>
                    </a:lnTo>
                    <a:cubicBezTo>
                      <a:pt x="540079" y="1112942"/>
                      <a:pt x="538142" y="1118993"/>
                      <a:pt x="538142" y="1125588"/>
                    </a:cubicBezTo>
                    <a:cubicBezTo>
                      <a:pt x="538142" y="1142092"/>
                      <a:pt x="549555" y="1155938"/>
                      <a:pt x="564699" y="1159908"/>
                    </a:cubicBezTo>
                    <a:lnTo>
                      <a:pt x="564699" y="1670037"/>
                    </a:lnTo>
                    <a:lnTo>
                      <a:pt x="51464" y="2183064"/>
                    </a:lnTo>
                    <a:cubicBezTo>
                      <a:pt x="46678" y="2180630"/>
                      <a:pt x="41332" y="2179110"/>
                      <a:pt x="35553" y="2179110"/>
                    </a:cubicBezTo>
                    <a:cubicBezTo>
                      <a:pt x="15959" y="2179110"/>
                      <a:pt x="0" y="2195085"/>
                      <a:pt x="0" y="2214166"/>
                    </a:cubicBezTo>
                    <a:cubicBezTo>
                      <a:pt x="0" y="2227244"/>
                      <a:pt x="7203" y="2238594"/>
                      <a:pt x="17768" y="2244773"/>
                    </a:cubicBezTo>
                    <a:lnTo>
                      <a:pt x="17768" y="3323106"/>
                    </a:lnTo>
                    <a:lnTo>
                      <a:pt x="166975" y="3472297"/>
                    </a:lnTo>
                    <a:cubicBezTo>
                      <a:pt x="162397" y="3478283"/>
                      <a:pt x="159579" y="3485663"/>
                      <a:pt x="159579" y="3493763"/>
                    </a:cubicBezTo>
                    <a:cubicBezTo>
                      <a:pt x="159579" y="3513356"/>
                      <a:pt x="175555" y="3529332"/>
                      <a:pt x="195132" y="3529332"/>
                    </a:cubicBezTo>
                    <a:cubicBezTo>
                      <a:pt x="214709" y="3529332"/>
                      <a:pt x="230445" y="3513356"/>
                      <a:pt x="230445" y="3493763"/>
                    </a:cubicBezTo>
                    <a:cubicBezTo>
                      <a:pt x="230445" y="3474169"/>
                      <a:pt x="214709" y="3458194"/>
                      <a:pt x="195132" y="3458194"/>
                    </a:cubicBezTo>
                    <a:cubicBezTo>
                      <a:pt x="190058" y="3458194"/>
                      <a:pt x="185255" y="3459298"/>
                      <a:pt x="180901" y="3461219"/>
                    </a:cubicBezTo>
                    <a:lnTo>
                      <a:pt x="35569" y="3315903"/>
                    </a:lnTo>
                    <a:lnTo>
                      <a:pt x="35569" y="2249767"/>
                    </a:lnTo>
                    <a:cubicBezTo>
                      <a:pt x="55162" y="2249767"/>
                      <a:pt x="70881" y="2233776"/>
                      <a:pt x="70881" y="2214182"/>
                    </a:cubicBezTo>
                    <a:cubicBezTo>
                      <a:pt x="70881" y="2207011"/>
                      <a:pt x="68656" y="2200288"/>
                      <a:pt x="64863" y="2194685"/>
                    </a:cubicBezTo>
                    <a:lnTo>
                      <a:pt x="564667" y="1695041"/>
                    </a:lnTo>
                    <a:lnTo>
                      <a:pt x="564667" y="2196622"/>
                    </a:lnTo>
                    <a:cubicBezTo>
                      <a:pt x="549523" y="2200592"/>
                      <a:pt x="538110" y="2214406"/>
                      <a:pt x="538110" y="2230926"/>
                    </a:cubicBezTo>
                    <a:cubicBezTo>
                      <a:pt x="538110" y="2237393"/>
                      <a:pt x="539983" y="2243316"/>
                      <a:pt x="543008" y="2248486"/>
                    </a:cubicBezTo>
                    <a:lnTo>
                      <a:pt x="304560" y="2487159"/>
                    </a:lnTo>
                    <a:lnTo>
                      <a:pt x="304560" y="2829657"/>
                    </a:lnTo>
                    <a:cubicBezTo>
                      <a:pt x="290985" y="2834603"/>
                      <a:pt x="281109" y="2847618"/>
                      <a:pt x="281109" y="2862985"/>
                    </a:cubicBezTo>
                    <a:cubicBezTo>
                      <a:pt x="281109" y="2882594"/>
                      <a:pt x="297100" y="2898570"/>
                      <a:pt x="316421" y="2898570"/>
                    </a:cubicBezTo>
                    <a:cubicBezTo>
                      <a:pt x="336015" y="2898570"/>
                      <a:pt x="351990" y="2882594"/>
                      <a:pt x="351990" y="2862985"/>
                    </a:cubicBezTo>
                    <a:cubicBezTo>
                      <a:pt x="351990" y="2845424"/>
                      <a:pt x="339120" y="2830874"/>
                      <a:pt x="322344" y="2828024"/>
                    </a:cubicBezTo>
                    <a:lnTo>
                      <a:pt x="322344" y="2494379"/>
                    </a:lnTo>
                    <a:lnTo>
                      <a:pt x="555799" y="2261148"/>
                    </a:lnTo>
                    <a:cubicBezTo>
                      <a:pt x="561017" y="2264142"/>
                      <a:pt x="566988" y="2265983"/>
                      <a:pt x="573407" y="2265983"/>
                    </a:cubicBezTo>
                    <a:cubicBezTo>
                      <a:pt x="593256" y="2265983"/>
                      <a:pt x="608976" y="2250519"/>
                      <a:pt x="608976" y="2230926"/>
                    </a:cubicBezTo>
                    <a:cubicBezTo>
                      <a:pt x="608976" y="2214438"/>
                      <a:pt x="597786" y="2200656"/>
                      <a:pt x="582419" y="2196654"/>
                    </a:cubicBezTo>
                    <a:lnTo>
                      <a:pt x="582419" y="1677272"/>
                    </a:lnTo>
                    <a:lnTo>
                      <a:pt x="745360" y="1514380"/>
                    </a:lnTo>
                    <a:lnTo>
                      <a:pt x="1115071" y="1884298"/>
                    </a:lnTo>
                    <a:lnTo>
                      <a:pt x="847536" y="2151913"/>
                    </a:lnTo>
                    <a:lnTo>
                      <a:pt x="847536" y="2514980"/>
                    </a:lnTo>
                    <a:cubicBezTo>
                      <a:pt x="835370" y="2520471"/>
                      <a:pt x="826918" y="2532509"/>
                      <a:pt x="826918" y="2546819"/>
                    </a:cubicBezTo>
                    <a:cubicBezTo>
                      <a:pt x="826918" y="2554535"/>
                      <a:pt x="829432" y="2561642"/>
                      <a:pt x="833578" y="2567485"/>
                    </a:cubicBezTo>
                    <a:lnTo>
                      <a:pt x="531483" y="2870060"/>
                    </a:lnTo>
                    <a:lnTo>
                      <a:pt x="531483" y="3123716"/>
                    </a:lnTo>
                    <a:cubicBezTo>
                      <a:pt x="520854" y="3129879"/>
                      <a:pt x="513715" y="3141260"/>
                      <a:pt x="513715" y="3154387"/>
                    </a:cubicBezTo>
                    <a:cubicBezTo>
                      <a:pt x="513715" y="3173964"/>
                      <a:pt x="529418" y="3189939"/>
                      <a:pt x="549267" y="3189939"/>
                    </a:cubicBezTo>
                    <a:cubicBezTo>
                      <a:pt x="568605" y="3189939"/>
                      <a:pt x="584580" y="3173964"/>
                      <a:pt x="584580" y="3154387"/>
                    </a:cubicBezTo>
                    <a:cubicBezTo>
                      <a:pt x="584580" y="3134809"/>
                      <a:pt x="568605" y="3118802"/>
                      <a:pt x="549267" y="3118802"/>
                    </a:cubicBezTo>
                    <a:lnTo>
                      <a:pt x="549267" y="2877280"/>
                    </a:lnTo>
                    <a:lnTo>
                      <a:pt x="847488" y="2579059"/>
                    </a:lnTo>
                    <a:cubicBezTo>
                      <a:pt x="851986" y="2581140"/>
                      <a:pt x="856933" y="2582388"/>
                      <a:pt x="862215" y="2582388"/>
                    </a:cubicBezTo>
                    <a:cubicBezTo>
                      <a:pt x="881808" y="2582388"/>
                      <a:pt x="897768" y="2566397"/>
                      <a:pt x="897768" y="2546803"/>
                    </a:cubicBezTo>
                    <a:cubicBezTo>
                      <a:pt x="897768" y="2528267"/>
                      <a:pt x="883425" y="2513604"/>
                      <a:pt x="865305" y="2512051"/>
                    </a:cubicBezTo>
                    <a:lnTo>
                      <a:pt x="865305" y="2159116"/>
                    </a:lnTo>
                    <a:lnTo>
                      <a:pt x="1126692" y="1897809"/>
                    </a:lnTo>
                    <a:lnTo>
                      <a:pt x="1126692" y="2636254"/>
                    </a:lnTo>
                    <a:lnTo>
                      <a:pt x="993941" y="2768764"/>
                    </a:lnTo>
                    <a:lnTo>
                      <a:pt x="993941" y="3279101"/>
                    </a:lnTo>
                    <a:cubicBezTo>
                      <a:pt x="978654" y="3283039"/>
                      <a:pt x="967401" y="3296886"/>
                      <a:pt x="967401" y="3313422"/>
                    </a:cubicBezTo>
                    <a:cubicBezTo>
                      <a:pt x="967401" y="3333031"/>
                      <a:pt x="983120" y="3348750"/>
                      <a:pt x="1002714" y="3348750"/>
                    </a:cubicBezTo>
                    <a:cubicBezTo>
                      <a:pt x="1022307" y="3348750"/>
                      <a:pt x="1038282" y="3333031"/>
                      <a:pt x="1038282" y="3313422"/>
                    </a:cubicBezTo>
                    <a:cubicBezTo>
                      <a:pt x="1038282" y="3296870"/>
                      <a:pt x="1026821" y="3283023"/>
                      <a:pt x="1011470" y="3279085"/>
                    </a:cubicBezTo>
                    <a:lnTo>
                      <a:pt x="1011470" y="2776496"/>
                    </a:lnTo>
                    <a:lnTo>
                      <a:pt x="1144477" y="2643489"/>
                    </a:lnTo>
                    <a:lnTo>
                      <a:pt x="1144477" y="1888716"/>
                    </a:lnTo>
                    <a:lnTo>
                      <a:pt x="1140138" y="1884378"/>
                    </a:lnTo>
                    <a:lnTo>
                      <a:pt x="1279917" y="1744632"/>
                    </a:lnTo>
                    <a:lnTo>
                      <a:pt x="1383950" y="1848505"/>
                    </a:lnTo>
                    <a:lnTo>
                      <a:pt x="1383950" y="2143269"/>
                    </a:lnTo>
                    <a:lnTo>
                      <a:pt x="1264869" y="2262349"/>
                    </a:lnTo>
                    <a:lnTo>
                      <a:pt x="1264869" y="2503199"/>
                    </a:lnTo>
                    <a:cubicBezTo>
                      <a:pt x="1248093" y="2506048"/>
                      <a:pt x="1235223" y="2520599"/>
                      <a:pt x="1235223" y="2538159"/>
                    </a:cubicBezTo>
                    <a:cubicBezTo>
                      <a:pt x="1235223" y="2557768"/>
                      <a:pt x="1251199" y="2573232"/>
                      <a:pt x="1270808" y="2573232"/>
                    </a:cubicBezTo>
                    <a:cubicBezTo>
                      <a:pt x="1290385" y="2573232"/>
                      <a:pt x="1306121" y="2557768"/>
                      <a:pt x="1306121" y="2538159"/>
                    </a:cubicBezTo>
                    <a:cubicBezTo>
                      <a:pt x="1306121" y="2522760"/>
                      <a:pt x="1296340" y="2509730"/>
                      <a:pt x="1282654" y="2504800"/>
                    </a:cubicBezTo>
                    <a:lnTo>
                      <a:pt x="1282654" y="2269584"/>
                    </a:lnTo>
                    <a:lnTo>
                      <a:pt x="1383934" y="2168304"/>
                    </a:lnTo>
                    <a:lnTo>
                      <a:pt x="1383934" y="2737934"/>
                    </a:lnTo>
                    <a:cubicBezTo>
                      <a:pt x="1367174" y="2740783"/>
                      <a:pt x="1354288" y="2755366"/>
                      <a:pt x="1354288" y="2772910"/>
                    </a:cubicBezTo>
                    <a:cubicBezTo>
                      <a:pt x="1354288" y="2792503"/>
                      <a:pt x="1370279" y="2807967"/>
                      <a:pt x="1389873" y="2807967"/>
                    </a:cubicBezTo>
                    <a:cubicBezTo>
                      <a:pt x="1409466" y="2807967"/>
                      <a:pt x="1425185" y="2792503"/>
                      <a:pt x="1425185" y="2772910"/>
                    </a:cubicBezTo>
                    <a:cubicBezTo>
                      <a:pt x="1425185" y="2757511"/>
                      <a:pt x="1415404" y="2744465"/>
                      <a:pt x="1401718" y="2739535"/>
                    </a:cubicBezTo>
                    <a:lnTo>
                      <a:pt x="1401718" y="2150520"/>
                    </a:lnTo>
                    <a:lnTo>
                      <a:pt x="1554334" y="1997904"/>
                    </a:lnTo>
                    <a:lnTo>
                      <a:pt x="1554334" y="1470279"/>
                    </a:lnTo>
                    <a:lnTo>
                      <a:pt x="1757438" y="1267239"/>
                    </a:lnTo>
                    <a:lnTo>
                      <a:pt x="1757438" y="1103401"/>
                    </a:lnTo>
                    <a:lnTo>
                      <a:pt x="1908709" y="952130"/>
                    </a:lnTo>
                    <a:cubicBezTo>
                      <a:pt x="1912455" y="953507"/>
                      <a:pt x="1916441" y="954371"/>
                      <a:pt x="1920635" y="954371"/>
                    </a:cubicBezTo>
                    <a:cubicBezTo>
                      <a:pt x="1940484" y="954371"/>
                      <a:pt x="1956188" y="938395"/>
                      <a:pt x="1956188" y="918818"/>
                    </a:cubicBezTo>
                    <a:cubicBezTo>
                      <a:pt x="1956188" y="905692"/>
                      <a:pt x="1949049" y="894311"/>
                      <a:pt x="1938420" y="888148"/>
                    </a:cubicBezTo>
                    <a:lnTo>
                      <a:pt x="1938420" y="572366"/>
                    </a:lnTo>
                    <a:cubicBezTo>
                      <a:pt x="1932705" y="564299"/>
                      <a:pt x="1926702" y="556279"/>
                      <a:pt x="1920715" y="548243"/>
                    </a:cubicBezTo>
                    <a:close/>
                    <a:moveTo>
                      <a:pt x="582451" y="1652269"/>
                    </a:moveTo>
                    <a:lnTo>
                      <a:pt x="582451" y="1159892"/>
                    </a:lnTo>
                    <a:cubicBezTo>
                      <a:pt x="597818" y="1155890"/>
                      <a:pt x="609008" y="1142076"/>
                      <a:pt x="609008" y="1125588"/>
                    </a:cubicBezTo>
                    <a:cubicBezTo>
                      <a:pt x="609008" y="1105995"/>
                      <a:pt x="593288" y="1090531"/>
                      <a:pt x="573439" y="1090531"/>
                    </a:cubicBezTo>
                    <a:cubicBezTo>
                      <a:pt x="567020" y="1090531"/>
                      <a:pt x="561065" y="1092356"/>
                      <a:pt x="555847" y="1095350"/>
                    </a:cubicBezTo>
                    <a:lnTo>
                      <a:pt x="260507" y="800010"/>
                    </a:lnTo>
                    <a:lnTo>
                      <a:pt x="260507" y="490536"/>
                    </a:lnTo>
                    <a:cubicBezTo>
                      <a:pt x="276851" y="487382"/>
                      <a:pt x="289113" y="472927"/>
                      <a:pt x="289113" y="455639"/>
                    </a:cubicBezTo>
                    <a:cubicBezTo>
                      <a:pt x="289113" y="447587"/>
                      <a:pt x="286359" y="440240"/>
                      <a:pt x="281877" y="434269"/>
                    </a:cubicBezTo>
                    <a:lnTo>
                      <a:pt x="357833" y="358313"/>
                    </a:lnTo>
                    <a:lnTo>
                      <a:pt x="357833" y="434093"/>
                    </a:lnTo>
                    <a:lnTo>
                      <a:pt x="673358" y="749362"/>
                    </a:lnTo>
                    <a:lnTo>
                      <a:pt x="673358" y="1404296"/>
                    </a:lnTo>
                    <a:cubicBezTo>
                      <a:pt x="658071" y="1408249"/>
                      <a:pt x="646801" y="1422096"/>
                      <a:pt x="646801" y="1438648"/>
                    </a:cubicBezTo>
                    <a:cubicBezTo>
                      <a:pt x="646801" y="1458225"/>
                      <a:pt x="662521" y="1474233"/>
                      <a:pt x="682114" y="1474233"/>
                    </a:cubicBezTo>
                    <a:cubicBezTo>
                      <a:pt x="688725" y="1474233"/>
                      <a:pt x="694872" y="1472296"/>
                      <a:pt x="700187" y="1469110"/>
                    </a:cubicBezTo>
                    <a:lnTo>
                      <a:pt x="732922" y="1501862"/>
                    </a:lnTo>
                    <a:lnTo>
                      <a:pt x="582451" y="1652269"/>
                    </a:lnTo>
                    <a:close/>
                    <a:moveTo>
                      <a:pt x="712625" y="1456560"/>
                    </a:moveTo>
                    <a:cubicBezTo>
                      <a:pt x="715746" y="1451278"/>
                      <a:pt x="717651" y="1445195"/>
                      <a:pt x="717651" y="1438648"/>
                    </a:cubicBezTo>
                    <a:cubicBezTo>
                      <a:pt x="717651" y="1422192"/>
                      <a:pt x="706318" y="1408409"/>
                      <a:pt x="691094" y="1404376"/>
                    </a:cubicBezTo>
                    <a:lnTo>
                      <a:pt x="691094" y="742143"/>
                    </a:lnTo>
                    <a:lnTo>
                      <a:pt x="375585" y="426361"/>
                    </a:lnTo>
                    <a:lnTo>
                      <a:pt x="375585" y="340529"/>
                    </a:lnTo>
                    <a:lnTo>
                      <a:pt x="585012" y="131102"/>
                    </a:lnTo>
                    <a:lnTo>
                      <a:pt x="585012" y="460378"/>
                    </a:lnTo>
                    <a:cubicBezTo>
                      <a:pt x="565419" y="460378"/>
                      <a:pt x="549700" y="476369"/>
                      <a:pt x="549700" y="495962"/>
                    </a:cubicBezTo>
                    <a:cubicBezTo>
                      <a:pt x="549700" y="515556"/>
                      <a:pt x="565435" y="531803"/>
                      <a:pt x="585012" y="531803"/>
                    </a:cubicBezTo>
                    <a:cubicBezTo>
                      <a:pt x="594313" y="531803"/>
                      <a:pt x="602733" y="528058"/>
                      <a:pt x="609088" y="522119"/>
                    </a:cubicBezTo>
                    <a:lnTo>
                      <a:pt x="806717" y="719956"/>
                    </a:lnTo>
                    <a:lnTo>
                      <a:pt x="806717" y="1387375"/>
                    </a:lnTo>
                    <a:cubicBezTo>
                      <a:pt x="788452" y="1388848"/>
                      <a:pt x="773950" y="1404023"/>
                      <a:pt x="773950" y="1422672"/>
                    </a:cubicBezTo>
                    <a:cubicBezTo>
                      <a:pt x="773950" y="1433189"/>
                      <a:pt x="778656" y="1442426"/>
                      <a:pt x="785955" y="1448797"/>
                    </a:cubicBezTo>
                    <a:lnTo>
                      <a:pt x="745392" y="1489344"/>
                    </a:lnTo>
                    <a:lnTo>
                      <a:pt x="712625" y="1456560"/>
                    </a:lnTo>
                    <a:close/>
                    <a:moveTo>
                      <a:pt x="1127605" y="1871780"/>
                    </a:moveTo>
                    <a:lnTo>
                      <a:pt x="757910" y="1501862"/>
                    </a:lnTo>
                    <a:lnTo>
                      <a:pt x="802731" y="1457056"/>
                    </a:lnTo>
                    <a:cubicBezTo>
                      <a:pt x="804940" y="1457473"/>
                      <a:pt x="807229" y="1457729"/>
                      <a:pt x="809566" y="1457729"/>
                    </a:cubicBezTo>
                    <a:cubicBezTo>
                      <a:pt x="829160" y="1457729"/>
                      <a:pt x="845151" y="1442265"/>
                      <a:pt x="845151" y="1422672"/>
                    </a:cubicBezTo>
                    <a:cubicBezTo>
                      <a:pt x="845151" y="1420191"/>
                      <a:pt x="844879" y="1417758"/>
                      <a:pt x="844399" y="1415421"/>
                    </a:cubicBezTo>
                    <a:lnTo>
                      <a:pt x="845263" y="1414556"/>
                    </a:lnTo>
                    <a:lnTo>
                      <a:pt x="845263" y="793831"/>
                    </a:lnTo>
                    <a:lnTo>
                      <a:pt x="963335" y="675791"/>
                    </a:lnTo>
                    <a:lnTo>
                      <a:pt x="963335" y="198878"/>
                    </a:lnTo>
                    <a:lnTo>
                      <a:pt x="1041196" y="276851"/>
                    </a:lnTo>
                    <a:lnTo>
                      <a:pt x="1041196" y="1468342"/>
                    </a:lnTo>
                    <a:cubicBezTo>
                      <a:pt x="1026181" y="1472344"/>
                      <a:pt x="1015168" y="1485694"/>
                      <a:pt x="1015168" y="1502038"/>
                    </a:cubicBezTo>
                    <a:cubicBezTo>
                      <a:pt x="1015168" y="1521647"/>
                      <a:pt x="1030871" y="1537622"/>
                      <a:pt x="1050464" y="1537622"/>
                    </a:cubicBezTo>
                    <a:cubicBezTo>
                      <a:pt x="1056835" y="1537622"/>
                      <a:pt x="1062726" y="1535798"/>
                      <a:pt x="1067912" y="1532852"/>
                    </a:cubicBezTo>
                    <a:lnTo>
                      <a:pt x="1267383" y="1732002"/>
                    </a:lnTo>
                    <a:lnTo>
                      <a:pt x="1127605" y="1871780"/>
                    </a:lnTo>
                    <a:close/>
                    <a:moveTo>
                      <a:pt x="1536630" y="1990637"/>
                    </a:moveTo>
                    <a:lnTo>
                      <a:pt x="1401798" y="2125468"/>
                    </a:lnTo>
                    <a:lnTo>
                      <a:pt x="1401798" y="1841286"/>
                    </a:lnTo>
                    <a:lnTo>
                      <a:pt x="1292562" y="1732050"/>
                    </a:lnTo>
                    <a:lnTo>
                      <a:pt x="1536630" y="1488047"/>
                    </a:lnTo>
                    <a:lnTo>
                      <a:pt x="1536630" y="1990637"/>
                    </a:lnTo>
                    <a:close/>
                    <a:moveTo>
                      <a:pt x="1739734" y="1259491"/>
                    </a:moveTo>
                    <a:lnTo>
                      <a:pt x="1554414" y="1444859"/>
                    </a:lnTo>
                    <a:lnTo>
                      <a:pt x="1554414" y="1332117"/>
                    </a:lnTo>
                    <a:cubicBezTo>
                      <a:pt x="1568965" y="1327667"/>
                      <a:pt x="1579674" y="1314333"/>
                      <a:pt x="1579674" y="1298774"/>
                    </a:cubicBezTo>
                    <a:cubicBezTo>
                      <a:pt x="1579674" y="1293635"/>
                      <a:pt x="1578522" y="1288785"/>
                      <a:pt x="1576553" y="1284367"/>
                    </a:cubicBezTo>
                    <a:lnTo>
                      <a:pt x="1739734" y="1121186"/>
                    </a:lnTo>
                    <a:lnTo>
                      <a:pt x="1739734" y="125949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 name="Google Shape;189;p3"/>
              <p:cNvSpPr/>
              <p:nvPr/>
            </p:nvSpPr>
            <p:spPr>
              <a:xfrm>
                <a:off x="12739148" y="2570249"/>
                <a:ext cx="414467" cy="1525616"/>
              </a:xfrm>
              <a:custGeom>
                <a:avLst/>
                <a:gdLst/>
                <a:ahLst/>
                <a:cxnLst/>
                <a:rect l="l" t="t" r="r" b="b"/>
                <a:pathLst>
                  <a:path w="414467" h="1525616" extrusionOk="0">
                    <a:moveTo>
                      <a:pt x="35569" y="378259"/>
                    </a:moveTo>
                    <a:cubicBezTo>
                      <a:pt x="42084" y="378259"/>
                      <a:pt x="48087" y="376370"/>
                      <a:pt x="53305" y="373312"/>
                    </a:cubicBezTo>
                    <a:lnTo>
                      <a:pt x="127852" y="447860"/>
                    </a:lnTo>
                    <a:lnTo>
                      <a:pt x="127852" y="932361"/>
                    </a:lnTo>
                    <a:cubicBezTo>
                      <a:pt x="114086" y="937275"/>
                      <a:pt x="104129" y="950321"/>
                      <a:pt x="104129" y="965720"/>
                    </a:cubicBezTo>
                    <a:cubicBezTo>
                      <a:pt x="104129" y="985314"/>
                      <a:pt x="120105" y="1001305"/>
                      <a:pt x="139698" y="1001305"/>
                    </a:cubicBezTo>
                    <a:cubicBezTo>
                      <a:pt x="144468" y="1001305"/>
                      <a:pt x="148982" y="1000329"/>
                      <a:pt x="153112" y="998616"/>
                    </a:cubicBezTo>
                    <a:lnTo>
                      <a:pt x="370143" y="1210108"/>
                    </a:lnTo>
                    <a:lnTo>
                      <a:pt x="370143" y="1456176"/>
                    </a:lnTo>
                    <a:cubicBezTo>
                      <a:pt x="354856" y="1460018"/>
                      <a:pt x="343586" y="1473496"/>
                      <a:pt x="343586" y="1490064"/>
                    </a:cubicBezTo>
                    <a:cubicBezTo>
                      <a:pt x="343586" y="1509641"/>
                      <a:pt x="359322" y="1525617"/>
                      <a:pt x="378899" y="1525617"/>
                    </a:cubicBezTo>
                    <a:cubicBezTo>
                      <a:pt x="398492" y="1525617"/>
                      <a:pt x="414468" y="1509641"/>
                      <a:pt x="414468" y="1490064"/>
                    </a:cubicBezTo>
                    <a:cubicBezTo>
                      <a:pt x="414468" y="1473496"/>
                      <a:pt x="403006" y="1460002"/>
                      <a:pt x="387655" y="1456176"/>
                    </a:cubicBezTo>
                    <a:lnTo>
                      <a:pt x="387655" y="1202904"/>
                    </a:lnTo>
                    <a:lnTo>
                      <a:pt x="167215" y="987811"/>
                    </a:lnTo>
                    <a:cubicBezTo>
                      <a:pt x="172033" y="981712"/>
                      <a:pt x="175027" y="974108"/>
                      <a:pt x="175027" y="965736"/>
                    </a:cubicBezTo>
                    <a:cubicBezTo>
                      <a:pt x="175027" y="948176"/>
                      <a:pt x="162365" y="933625"/>
                      <a:pt x="145637" y="930776"/>
                    </a:cubicBezTo>
                    <a:lnTo>
                      <a:pt x="145637" y="440656"/>
                    </a:lnTo>
                    <a:lnTo>
                      <a:pt x="65855" y="360874"/>
                    </a:lnTo>
                    <a:cubicBezTo>
                      <a:pt x="68977" y="355640"/>
                      <a:pt x="70881" y="349637"/>
                      <a:pt x="70881" y="343202"/>
                    </a:cubicBezTo>
                    <a:cubicBezTo>
                      <a:pt x="70881" y="326954"/>
                      <a:pt x="59980" y="313332"/>
                      <a:pt x="45109" y="309122"/>
                    </a:cubicBezTo>
                    <a:lnTo>
                      <a:pt x="45109" y="0"/>
                    </a:lnTo>
                    <a:cubicBezTo>
                      <a:pt x="39042" y="7572"/>
                      <a:pt x="33184" y="15207"/>
                      <a:pt x="27325" y="22843"/>
                    </a:cubicBezTo>
                    <a:lnTo>
                      <a:pt x="27325" y="308706"/>
                    </a:lnTo>
                    <a:cubicBezTo>
                      <a:pt x="11702" y="312452"/>
                      <a:pt x="0" y="326458"/>
                      <a:pt x="0" y="343186"/>
                    </a:cubicBezTo>
                    <a:cubicBezTo>
                      <a:pt x="0" y="362283"/>
                      <a:pt x="15976" y="378259"/>
                      <a:pt x="35569" y="37825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190" name="Google Shape;190;p3"/>
            <p:cNvPicPr preferRelativeResize="0"/>
            <p:nvPr/>
          </p:nvPicPr>
          <p:blipFill rotWithShape="1">
            <a:blip r:embed="rId1"/>
            <a:srcRect/>
            <a:stretch>
              <a:fillRect/>
            </a:stretch>
          </p:blipFill>
          <p:spPr>
            <a:xfrm flipH="1">
              <a:off x="8545731" y="2560353"/>
              <a:ext cx="2287123" cy="1917349"/>
            </a:xfrm>
            <a:prstGeom prst="rect">
              <a:avLst/>
            </a:prstGeom>
            <a:noFill/>
            <a:ln>
              <a:noFill/>
            </a:ln>
          </p:spPr>
        </p:pic>
      </p:grpSp>
      <p:sp>
        <p:nvSpPr>
          <p:cNvPr id="191" name="Google Shape;191;p3"/>
          <p:cNvSpPr txBox="1"/>
          <p:nvPr/>
        </p:nvSpPr>
        <p:spPr>
          <a:xfrm>
            <a:off x="893540" y="2053943"/>
            <a:ext cx="4644720" cy="3413760"/>
          </a:xfrm>
          <a:prstGeom prst="rect">
            <a:avLst/>
          </a:prstGeom>
          <a:noFill/>
          <a:ln>
            <a:noFill/>
          </a:ln>
        </p:spPr>
        <p:txBody>
          <a:bodyPr spcFirstLastPara="1" wrap="square" lIns="91425" tIns="45700" rIns="91425" bIns="45700" anchor="t" anchorCtr="0">
            <a:spAutoFit/>
          </a:bodyPr>
          <a:lstStyle/>
          <a:p>
            <a:pPr marL="285750" marR="0" lvl="0" indent="-285750" algn="l" rtl="0">
              <a:lnSpc>
                <a:spcPct val="200000"/>
              </a:lnSpc>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Introduction to ISDA </a:t>
            </a:r>
            <a:endPar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Introduction to </a:t>
            </a:r>
            <a:r>
              <a:rPr lang="en-IN" alt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OTC Markets</a:t>
            </a:r>
            <a:endParaRPr lang="en-IN" altLang="en-GB"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IN" alt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OTC Trade Life Cycle</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Key players in OTC markets</a:t>
            </a:r>
            <a:endPar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Trade Lifecycle Overview </a:t>
            </a:r>
            <a:endPar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Real Life Examples</a:t>
            </a:r>
            <a:endPar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4"/>
          <p:cNvPicPr preferRelativeResize="0">
            <a:picLocks noGrp="1"/>
          </p:cNvPicPr>
          <p:nvPr>
            <p:ph type="pic" idx="2"/>
          </p:nvPr>
        </p:nvPicPr>
        <p:blipFill rotWithShape="1">
          <a:blip r:embed="rId1"/>
          <a:srcRect/>
          <a:stretch>
            <a:fillRect/>
          </a:stretch>
        </p:blipFill>
        <p:spPr>
          <a:xfrm>
            <a:off x="3978704" y="-174171"/>
            <a:ext cx="8412466" cy="7206342"/>
          </a:xfrm>
          <a:prstGeom prst="rect">
            <a:avLst/>
          </a:prstGeom>
          <a:solidFill>
            <a:srgbClr val="F2F2F2"/>
          </a:solidFill>
          <a:ln>
            <a:noFill/>
          </a:ln>
        </p:spPr>
      </p:pic>
      <p:sp>
        <p:nvSpPr>
          <p:cNvPr id="197" name="Google Shape;197;p4"/>
          <p:cNvSpPr/>
          <p:nvPr/>
        </p:nvSpPr>
        <p:spPr>
          <a:xfrm flipH="1">
            <a:off x="4024507" y="0"/>
            <a:ext cx="8166551" cy="6858000"/>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98" name="Google Shape;198;p4"/>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99" name="Google Shape;199;p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00" name="Google Shape;200;p4"/>
          <p:cNvSpPr txBox="1"/>
          <p:nvPr/>
        </p:nvSpPr>
        <p:spPr>
          <a:xfrm>
            <a:off x="297488" y="2399500"/>
            <a:ext cx="7053813" cy="14439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4400"/>
              <a:buFont typeface="Arial" panose="020B0604020202020204"/>
              <a:buNone/>
            </a:pPr>
            <a:r>
              <a:rPr lang="en-GB" sz="4400" b="1" i="0" u="none" strike="noStrike" cap="none">
                <a:solidFill>
                  <a:srgbClr val="FFFFFF"/>
                </a:solidFill>
                <a:latin typeface="Arial" panose="020B0604020202020204"/>
                <a:ea typeface="Arial" panose="020B0604020202020204"/>
                <a:cs typeface="Arial" panose="020B0604020202020204"/>
                <a:sym typeface="Arial" panose="020B0604020202020204"/>
              </a:rPr>
              <a:t>Introduction to ISDA and  OTC Market</a:t>
            </a:r>
            <a:r>
              <a:rPr lang="en-IN" altLang="en-GB" sz="4400" b="1" i="0" u="none" strike="noStrike" cap="none">
                <a:solidFill>
                  <a:srgbClr val="FFFFFF"/>
                </a:solidFill>
                <a:latin typeface="Arial" panose="020B0604020202020204"/>
                <a:ea typeface="Arial" panose="020B0604020202020204"/>
                <a:cs typeface="Arial" panose="020B0604020202020204"/>
                <a:sym typeface="Arial" panose="020B0604020202020204"/>
              </a:rPr>
              <a:t>s</a:t>
            </a:r>
            <a:endParaRPr lang="en-IN" altLang="en-GB" sz="44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01" name="Google Shape;201;p4" descr="A picture containing text, clipart&#10;&#10;Description automatically generated"/>
          <p:cNvPicPr preferRelativeResize="0"/>
          <p:nvPr/>
        </p:nvPicPr>
        <p:blipFill rotWithShape="1">
          <a:blip r:embed="rId2"/>
          <a:srcRect/>
          <a:stretch>
            <a:fillRect/>
          </a:stretch>
        </p:blipFill>
        <p:spPr>
          <a:xfrm>
            <a:off x="9533468" y="312483"/>
            <a:ext cx="2421466" cy="4919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5"/>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INTERNATIONAL SWAP DERIVATIVES ASSOCIATION</a:t>
            </a:r>
            <a:endParaRPr lang="en-GB" b="1"/>
          </a:p>
        </p:txBody>
      </p:sp>
      <p:grpSp>
        <p:nvGrpSpPr>
          <p:cNvPr id="208" name="Google Shape;208;p5"/>
          <p:cNvGrpSpPr/>
          <p:nvPr/>
        </p:nvGrpSpPr>
        <p:grpSpPr>
          <a:xfrm>
            <a:off x="779251" y="1064541"/>
            <a:ext cx="10917449" cy="5069559"/>
            <a:chOff x="779251" y="1603797"/>
            <a:chExt cx="10917449" cy="5069559"/>
          </a:xfrm>
        </p:grpSpPr>
        <p:grpSp>
          <p:nvGrpSpPr>
            <p:cNvPr id="209" name="Google Shape;209;p5"/>
            <p:cNvGrpSpPr/>
            <p:nvPr/>
          </p:nvGrpSpPr>
          <p:grpSpPr>
            <a:xfrm>
              <a:off x="779251" y="1603797"/>
              <a:ext cx="2051035" cy="5069559"/>
              <a:chOff x="779251" y="1603797"/>
              <a:chExt cx="2051035" cy="5069559"/>
            </a:xfrm>
          </p:grpSpPr>
          <p:grpSp>
            <p:nvGrpSpPr>
              <p:cNvPr id="210" name="Google Shape;210;p5"/>
              <p:cNvGrpSpPr/>
              <p:nvPr/>
            </p:nvGrpSpPr>
            <p:grpSpPr>
              <a:xfrm>
                <a:off x="1325466" y="1603797"/>
                <a:ext cx="958605" cy="1038342"/>
                <a:chOff x="4241079" y="1603797"/>
                <a:chExt cx="958605" cy="1038342"/>
              </a:xfrm>
            </p:grpSpPr>
            <p:sp>
              <p:nvSpPr>
                <p:cNvPr id="211" name="Google Shape;211;p5"/>
                <p:cNvSpPr/>
                <p:nvPr/>
              </p:nvSpPr>
              <p:spPr>
                <a:xfrm rot="-1665875">
                  <a:off x="4365878" y="1806897"/>
                  <a:ext cx="709007" cy="711031"/>
                </a:xfrm>
                <a:prstGeom prst="ellipse">
                  <a:avLst/>
                </a:prstGeom>
                <a:solidFill>
                  <a:srgbClr val="F9F9F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2" name="Google Shape;212;p5"/>
                <p:cNvSpPr/>
                <p:nvPr/>
              </p:nvSpPr>
              <p:spPr>
                <a:xfrm rot="-1665875">
                  <a:off x="4428009" y="1863651"/>
                  <a:ext cx="595168" cy="596868"/>
                </a:xfrm>
                <a:prstGeom prst="ellipse">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3" name="Google Shape;213;p5"/>
                <p:cNvSpPr/>
                <p:nvPr/>
              </p:nvSpPr>
              <p:spPr>
                <a:xfrm>
                  <a:off x="4482425" y="1918067"/>
                  <a:ext cx="486337" cy="488037"/>
                </a:xfrm>
                <a:prstGeom prst="ellipse">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01</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4" name="Google Shape;214;p5"/>
                <p:cNvSpPr/>
                <p:nvPr/>
              </p:nvSpPr>
              <p:spPr>
                <a:xfrm rot="-1665875">
                  <a:off x="4475273" y="1696800"/>
                  <a:ext cx="482086" cy="334994"/>
                </a:xfrm>
                <a:custGeom>
                  <a:avLst/>
                  <a:gdLst/>
                  <a:ahLst/>
                  <a:cxnLst/>
                  <a:rect l="l" t="t" r="r" b="b"/>
                  <a:pathLst>
                    <a:path w="222" h="154" extrusionOk="0">
                      <a:moveTo>
                        <a:pt x="222" y="146"/>
                      </a:moveTo>
                      <a:cubicBezTo>
                        <a:pt x="196" y="154"/>
                        <a:pt x="196" y="154"/>
                        <a:pt x="196" y="154"/>
                      </a:cubicBezTo>
                      <a:cubicBezTo>
                        <a:pt x="171" y="75"/>
                        <a:pt x="87" y="31"/>
                        <a:pt x="8" y="56"/>
                      </a:cubicBezTo>
                      <a:cubicBezTo>
                        <a:pt x="0" y="30"/>
                        <a:pt x="0" y="30"/>
                        <a:pt x="0" y="30"/>
                      </a:cubicBezTo>
                      <a:cubicBezTo>
                        <a:pt x="93" y="0"/>
                        <a:pt x="193" y="53"/>
                        <a:pt x="222" y="146"/>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15" name="Google Shape;215;p5"/>
              <p:cNvSpPr/>
              <p:nvPr/>
            </p:nvSpPr>
            <p:spPr>
              <a:xfrm>
                <a:off x="779251" y="2629141"/>
                <a:ext cx="2051035" cy="4044215"/>
              </a:xfrm>
              <a:prstGeom prst="round2SameRect">
                <a:avLst>
                  <a:gd name="adj1" fmla="val 0"/>
                  <a:gd name="adj2" fmla="val 0"/>
                </a:avLst>
              </a:prstGeom>
              <a:solidFill>
                <a:srgbClr val="F2F2F2"/>
              </a:solidFill>
              <a:ln>
                <a:noFill/>
              </a:ln>
            </p:spPr>
            <p:txBody>
              <a:bodyPr spcFirstLastPara="1" wrap="square" lIns="121900" tIns="298550" rIns="121900" bIns="60950" anchor="t" anchorCtr="0">
                <a:noAutofit/>
              </a:bodyPr>
              <a:lstStyle/>
              <a:p>
                <a:pPr marL="0" marR="0" lvl="0" indent="0" algn="l" rtl="0">
                  <a:lnSpc>
                    <a:spcPct val="100000"/>
                  </a:lnSpc>
                  <a:spcBef>
                    <a:spcPts val="0"/>
                  </a:spcBef>
                  <a:spcAft>
                    <a:spcPts val="0"/>
                  </a:spcAft>
                  <a:buClr>
                    <a:schemeClr val="dk1"/>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The ISDA was created due to the challenges the growing derivatives market posed for financial institutions.</a:t>
                </a:r>
                <a:endPar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216" name="Google Shape;216;p5"/>
            <p:cNvGrpSpPr/>
            <p:nvPr/>
          </p:nvGrpSpPr>
          <p:grpSpPr>
            <a:xfrm>
              <a:off x="2995855" y="1603797"/>
              <a:ext cx="2051035" cy="5069559"/>
              <a:chOff x="779251" y="1603797"/>
              <a:chExt cx="2051035" cy="5069559"/>
            </a:xfrm>
          </p:grpSpPr>
          <p:grpSp>
            <p:nvGrpSpPr>
              <p:cNvPr id="217" name="Google Shape;217;p5"/>
              <p:cNvGrpSpPr/>
              <p:nvPr/>
            </p:nvGrpSpPr>
            <p:grpSpPr>
              <a:xfrm>
                <a:off x="1325466" y="1603797"/>
                <a:ext cx="958605" cy="1038342"/>
                <a:chOff x="4241079" y="1603797"/>
                <a:chExt cx="958605" cy="1038342"/>
              </a:xfrm>
            </p:grpSpPr>
            <p:sp>
              <p:nvSpPr>
                <p:cNvPr id="218" name="Google Shape;218;p5"/>
                <p:cNvSpPr/>
                <p:nvPr/>
              </p:nvSpPr>
              <p:spPr>
                <a:xfrm rot="-1665875">
                  <a:off x="4365878" y="1806897"/>
                  <a:ext cx="709007" cy="711031"/>
                </a:xfrm>
                <a:prstGeom prst="ellipse">
                  <a:avLst/>
                </a:prstGeom>
                <a:solidFill>
                  <a:srgbClr val="F9F9F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9" name="Google Shape;219;p5"/>
                <p:cNvSpPr/>
                <p:nvPr/>
              </p:nvSpPr>
              <p:spPr>
                <a:xfrm rot="-1665875">
                  <a:off x="4428009" y="1863651"/>
                  <a:ext cx="595168" cy="596868"/>
                </a:xfrm>
                <a:prstGeom prst="ellipse">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0" name="Google Shape;220;p5"/>
                <p:cNvSpPr/>
                <p:nvPr/>
              </p:nvSpPr>
              <p:spPr>
                <a:xfrm>
                  <a:off x="4482425" y="1918067"/>
                  <a:ext cx="486337" cy="488037"/>
                </a:xfrm>
                <a:prstGeom prst="ellipse">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02</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1" name="Google Shape;221;p5"/>
                <p:cNvSpPr/>
                <p:nvPr/>
              </p:nvSpPr>
              <p:spPr>
                <a:xfrm rot="-1665875">
                  <a:off x="4475273" y="1696800"/>
                  <a:ext cx="482086" cy="334994"/>
                </a:xfrm>
                <a:custGeom>
                  <a:avLst/>
                  <a:gdLst/>
                  <a:ahLst/>
                  <a:cxnLst/>
                  <a:rect l="l" t="t" r="r" b="b"/>
                  <a:pathLst>
                    <a:path w="222" h="154" extrusionOk="0">
                      <a:moveTo>
                        <a:pt x="222" y="146"/>
                      </a:moveTo>
                      <a:cubicBezTo>
                        <a:pt x="196" y="154"/>
                        <a:pt x="196" y="154"/>
                        <a:pt x="196" y="154"/>
                      </a:cubicBezTo>
                      <a:cubicBezTo>
                        <a:pt x="171" y="75"/>
                        <a:pt x="87" y="31"/>
                        <a:pt x="8" y="56"/>
                      </a:cubicBezTo>
                      <a:cubicBezTo>
                        <a:pt x="0" y="30"/>
                        <a:pt x="0" y="30"/>
                        <a:pt x="0" y="30"/>
                      </a:cubicBezTo>
                      <a:cubicBezTo>
                        <a:pt x="93" y="0"/>
                        <a:pt x="193" y="53"/>
                        <a:pt x="222" y="146"/>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22" name="Google Shape;222;p5"/>
              <p:cNvSpPr/>
              <p:nvPr/>
            </p:nvSpPr>
            <p:spPr>
              <a:xfrm>
                <a:off x="779251" y="2629141"/>
                <a:ext cx="2051035" cy="4044215"/>
              </a:xfrm>
              <a:prstGeom prst="round2SameRect">
                <a:avLst>
                  <a:gd name="adj1" fmla="val 0"/>
                  <a:gd name="adj2" fmla="val 0"/>
                </a:avLst>
              </a:prstGeom>
              <a:solidFill>
                <a:srgbClr val="F2F2F2"/>
              </a:solidFill>
              <a:ln>
                <a:noFill/>
              </a:ln>
            </p:spPr>
            <p:txBody>
              <a:bodyPr spcFirstLastPara="1" wrap="square" lIns="121900" tIns="298550" rIns="121900" bIns="60950" anchor="t" anchorCtr="0">
                <a:noAutofit/>
              </a:bodyPr>
              <a:lstStyle/>
              <a:p>
                <a:pPr marL="0" marR="0" lvl="0" indent="0" algn="l" rtl="0">
                  <a:lnSpc>
                    <a:spcPct val="100000"/>
                  </a:lnSpc>
                  <a:spcBef>
                    <a:spcPts val="0"/>
                  </a:spcBef>
                  <a:spcAft>
                    <a:spcPts val="0"/>
                  </a:spcAft>
                  <a:buClr>
                    <a:schemeClr val="dk1"/>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The demand for derivatives grew with the increasingly global nature of finance, but a lack of clarity on what the parties in a derivatives transaction were risking and receiving hurt the industry.</a:t>
                </a:r>
                <a:endPar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223" name="Google Shape;223;p5"/>
            <p:cNvGrpSpPr/>
            <p:nvPr/>
          </p:nvGrpSpPr>
          <p:grpSpPr>
            <a:xfrm>
              <a:off x="5212459" y="1603797"/>
              <a:ext cx="2051035" cy="5069559"/>
              <a:chOff x="779251" y="1603797"/>
              <a:chExt cx="2051035" cy="5069559"/>
            </a:xfrm>
          </p:grpSpPr>
          <p:grpSp>
            <p:nvGrpSpPr>
              <p:cNvPr id="224" name="Google Shape;224;p5"/>
              <p:cNvGrpSpPr/>
              <p:nvPr/>
            </p:nvGrpSpPr>
            <p:grpSpPr>
              <a:xfrm>
                <a:off x="1325466" y="1603797"/>
                <a:ext cx="958605" cy="1038342"/>
                <a:chOff x="4241079" y="1603797"/>
                <a:chExt cx="958605" cy="1038342"/>
              </a:xfrm>
            </p:grpSpPr>
            <p:sp>
              <p:nvSpPr>
                <p:cNvPr id="225" name="Google Shape;225;p5"/>
                <p:cNvSpPr/>
                <p:nvPr/>
              </p:nvSpPr>
              <p:spPr>
                <a:xfrm rot="-1665875">
                  <a:off x="4365878" y="1806897"/>
                  <a:ext cx="709007" cy="711031"/>
                </a:xfrm>
                <a:prstGeom prst="ellipse">
                  <a:avLst/>
                </a:prstGeom>
                <a:solidFill>
                  <a:srgbClr val="F9F9F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6" name="Google Shape;226;p5"/>
                <p:cNvSpPr/>
                <p:nvPr/>
              </p:nvSpPr>
              <p:spPr>
                <a:xfrm rot="-1665875">
                  <a:off x="4428009" y="1863651"/>
                  <a:ext cx="595168" cy="596868"/>
                </a:xfrm>
                <a:prstGeom prst="ellipse">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7" name="Google Shape;227;p5"/>
                <p:cNvSpPr/>
                <p:nvPr/>
              </p:nvSpPr>
              <p:spPr>
                <a:xfrm>
                  <a:off x="4482425" y="1918067"/>
                  <a:ext cx="486337" cy="488037"/>
                </a:xfrm>
                <a:prstGeom prst="ellipse">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03</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8" name="Google Shape;228;p5"/>
                <p:cNvSpPr/>
                <p:nvPr/>
              </p:nvSpPr>
              <p:spPr>
                <a:xfrm rot="-1665875">
                  <a:off x="4475273" y="1696800"/>
                  <a:ext cx="482086" cy="334994"/>
                </a:xfrm>
                <a:custGeom>
                  <a:avLst/>
                  <a:gdLst/>
                  <a:ahLst/>
                  <a:cxnLst/>
                  <a:rect l="l" t="t" r="r" b="b"/>
                  <a:pathLst>
                    <a:path w="222" h="154" extrusionOk="0">
                      <a:moveTo>
                        <a:pt x="222" y="146"/>
                      </a:moveTo>
                      <a:cubicBezTo>
                        <a:pt x="196" y="154"/>
                        <a:pt x="196" y="154"/>
                        <a:pt x="196" y="154"/>
                      </a:cubicBezTo>
                      <a:cubicBezTo>
                        <a:pt x="171" y="75"/>
                        <a:pt x="87" y="31"/>
                        <a:pt x="8" y="56"/>
                      </a:cubicBezTo>
                      <a:cubicBezTo>
                        <a:pt x="0" y="30"/>
                        <a:pt x="0" y="30"/>
                        <a:pt x="0" y="30"/>
                      </a:cubicBezTo>
                      <a:cubicBezTo>
                        <a:pt x="93" y="0"/>
                        <a:pt x="193" y="53"/>
                        <a:pt x="222" y="146"/>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29" name="Google Shape;229;p5"/>
              <p:cNvSpPr/>
              <p:nvPr/>
            </p:nvSpPr>
            <p:spPr>
              <a:xfrm>
                <a:off x="779251" y="2629141"/>
                <a:ext cx="2051035" cy="4044215"/>
              </a:xfrm>
              <a:prstGeom prst="round2SameRect">
                <a:avLst>
                  <a:gd name="adj1" fmla="val 0"/>
                  <a:gd name="adj2" fmla="val 0"/>
                </a:avLst>
              </a:prstGeom>
              <a:solidFill>
                <a:srgbClr val="F2F2F2"/>
              </a:solidFill>
              <a:ln>
                <a:noFill/>
              </a:ln>
            </p:spPr>
            <p:txBody>
              <a:bodyPr spcFirstLastPara="1" wrap="square" lIns="121900" tIns="298550" rIns="121900" bIns="60950" anchor="t" anchorCtr="0">
                <a:noAutofit/>
              </a:bodyPr>
              <a:lstStyle/>
              <a:p>
                <a:pPr marL="0" marR="0" lvl="0" indent="0" algn="l" rtl="0">
                  <a:lnSpc>
                    <a:spcPct val="100000"/>
                  </a:lnSpc>
                  <a:spcBef>
                    <a:spcPts val="0"/>
                  </a:spcBef>
                  <a:spcAft>
                    <a:spcPts val="0"/>
                  </a:spcAft>
                  <a:buClr>
                    <a:schemeClr val="dk1"/>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ISDA wants to achieve three mains goals: reduce counterparty/ credit risk, increase market transparency and improve the industry’s operational infrastructure</a:t>
                </a:r>
                <a:endPar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230" name="Google Shape;230;p5"/>
            <p:cNvGrpSpPr/>
            <p:nvPr/>
          </p:nvGrpSpPr>
          <p:grpSpPr>
            <a:xfrm>
              <a:off x="7429063" y="1603797"/>
              <a:ext cx="2051035" cy="5069559"/>
              <a:chOff x="779251" y="1603797"/>
              <a:chExt cx="2051035" cy="5069559"/>
            </a:xfrm>
          </p:grpSpPr>
          <p:grpSp>
            <p:nvGrpSpPr>
              <p:cNvPr id="231" name="Google Shape;231;p5"/>
              <p:cNvGrpSpPr/>
              <p:nvPr/>
            </p:nvGrpSpPr>
            <p:grpSpPr>
              <a:xfrm>
                <a:off x="1325466" y="1603797"/>
                <a:ext cx="958605" cy="1038342"/>
                <a:chOff x="4241079" y="1603797"/>
                <a:chExt cx="958605" cy="1038342"/>
              </a:xfrm>
            </p:grpSpPr>
            <p:sp>
              <p:nvSpPr>
                <p:cNvPr id="232" name="Google Shape;232;p5"/>
                <p:cNvSpPr/>
                <p:nvPr/>
              </p:nvSpPr>
              <p:spPr>
                <a:xfrm rot="-1665875">
                  <a:off x="4365878" y="1806897"/>
                  <a:ext cx="709007" cy="711031"/>
                </a:xfrm>
                <a:prstGeom prst="ellipse">
                  <a:avLst/>
                </a:prstGeom>
                <a:solidFill>
                  <a:srgbClr val="F9F9F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3" name="Google Shape;233;p5"/>
                <p:cNvSpPr/>
                <p:nvPr/>
              </p:nvSpPr>
              <p:spPr>
                <a:xfrm rot="-1665875">
                  <a:off x="4428009" y="1863651"/>
                  <a:ext cx="595168" cy="596868"/>
                </a:xfrm>
                <a:prstGeom prst="ellipse">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4" name="Google Shape;234;p5"/>
                <p:cNvSpPr/>
                <p:nvPr/>
              </p:nvSpPr>
              <p:spPr>
                <a:xfrm>
                  <a:off x="4482425" y="1918067"/>
                  <a:ext cx="486337" cy="488037"/>
                </a:xfrm>
                <a:prstGeom prst="ellipse">
                  <a:avLst/>
                </a:pr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04</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5" name="Google Shape;235;p5"/>
                <p:cNvSpPr/>
                <p:nvPr/>
              </p:nvSpPr>
              <p:spPr>
                <a:xfrm rot="-1665875">
                  <a:off x="4475273" y="1696800"/>
                  <a:ext cx="482086" cy="334994"/>
                </a:xfrm>
                <a:custGeom>
                  <a:avLst/>
                  <a:gdLst/>
                  <a:ahLst/>
                  <a:cxnLst/>
                  <a:rect l="l" t="t" r="r" b="b"/>
                  <a:pathLst>
                    <a:path w="222" h="154" extrusionOk="0">
                      <a:moveTo>
                        <a:pt x="222" y="146"/>
                      </a:moveTo>
                      <a:cubicBezTo>
                        <a:pt x="196" y="154"/>
                        <a:pt x="196" y="154"/>
                        <a:pt x="196" y="154"/>
                      </a:cubicBezTo>
                      <a:cubicBezTo>
                        <a:pt x="171" y="75"/>
                        <a:pt x="87" y="31"/>
                        <a:pt x="8" y="56"/>
                      </a:cubicBezTo>
                      <a:cubicBezTo>
                        <a:pt x="0" y="30"/>
                        <a:pt x="0" y="30"/>
                        <a:pt x="0" y="30"/>
                      </a:cubicBezTo>
                      <a:cubicBezTo>
                        <a:pt x="93" y="0"/>
                        <a:pt x="193" y="53"/>
                        <a:pt x="222" y="146"/>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36" name="Google Shape;236;p5"/>
              <p:cNvSpPr/>
              <p:nvPr/>
            </p:nvSpPr>
            <p:spPr>
              <a:xfrm>
                <a:off x="779251" y="2629141"/>
                <a:ext cx="2051035" cy="4044215"/>
              </a:xfrm>
              <a:prstGeom prst="round2SameRect">
                <a:avLst>
                  <a:gd name="adj1" fmla="val 0"/>
                  <a:gd name="adj2" fmla="val 0"/>
                </a:avLst>
              </a:prstGeom>
              <a:solidFill>
                <a:srgbClr val="F2F2F2"/>
              </a:solidFill>
              <a:ln>
                <a:noFill/>
              </a:ln>
            </p:spPr>
            <p:txBody>
              <a:bodyPr spcFirstLastPara="1" wrap="square" lIns="121900" tIns="298550" rIns="121900" bIns="60950" anchor="t" anchorCtr="0">
                <a:noAutofit/>
              </a:bodyPr>
              <a:lstStyle/>
              <a:p>
                <a:pPr marL="0" marR="0" lvl="0" indent="0" algn="l" rtl="0">
                  <a:lnSpc>
                    <a:spcPct val="100000"/>
                  </a:lnSpc>
                  <a:spcBef>
                    <a:spcPts val="0"/>
                  </a:spcBef>
                  <a:spcAft>
                    <a:spcPts val="0"/>
                  </a:spcAft>
                  <a:buClr>
                    <a:schemeClr val="dk1"/>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In order to facilitate the safe and efficient trading of derivatives, ISDA has created a standardized contract, known as the ISDA Master Agreement,  for those firms that wish to participate in private derivatives transactions.</a:t>
                </a:r>
                <a:endPar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237" name="Google Shape;237;p5"/>
            <p:cNvGrpSpPr/>
            <p:nvPr/>
          </p:nvGrpSpPr>
          <p:grpSpPr>
            <a:xfrm>
              <a:off x="9645665" y="1603797"/>
              <a:ext cx="2051035" cy="5069559"/>
              <a:chOff x="779251" y="1603797"/>
              <a:chExt cx="2051035" cy="5069559"/>
            </a:xfrm>
          </p:grpSpPr>
          <p:grpSp>
            <p:nvGrpSpPr>
              <p:cNvPr id="238" name="Google Shape;238;p5"/>
              <p:cNvGrpSpPr/>
              <p:nvPr/>
            </p:nvGrpSpPr>
            <p:grpSpPr>
              <a:xfrm>
                <a:off x="1325466" y="1603797"/>
                <a:ext cx="958605" cy="1038342"/>
                <a:chOff x="4241079" y="1603797"/>
                <a:chExt cx="958605" cy="1038342"/>
              </a:xfrm>
            </p:grpSpPr>
            <p:sp>
              <p:nvSpPr>
                <p:cNvPr id="239" name="Google Shape;239;p5"/>
                <p:cNvSpPr/>
                <p:nvPr/>
              </p:nvSpPr>
              <p:spPr>
                <a:xfrm rot="-1665875">
                  <a:off x="4365878" y="1806897"/>
                  <a:ext cx="709007" cy="711031"/>
                </a:xfrm>
                <a:prstGeom prst="ellipse">
                  <a:avLst/>
                </a:prstGeom>
                <a:solidFill>
                  <a:srgbClr val="F9F9F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5"/>
                <p:cNvSpPr/>
                <p:nvPr/>
              </p:nvSpPr>
              <p:spPr>
                <a:xfrm rot="-1665875">
                  <a:off x="4428009" y="1863651"/>
                  <a:ext cx="595168" cy="596868"/>
                </a:xfrm>
                <a:prstGeom prst="ellipse">
                  <a:avLst/>
                </a:prstGeom>
                <a:solidFill>
                  <a:srgbClr val="F2F2F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5"/>
                <p:cNvSpPr/>
                <p:nvPr/>
              </p:nvSpPr>
              <p:spPr>
                <a:xfrm>
                  <a:off x="4482425" y="1918067"/>
                  <a:ext cx="486337" cy="488037"/>
                </a:xfrm>
                <a:prstGeom prst="ellipse">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05</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2" name="Google Shape;242;p5"/>
                <p:cNvSpPr/>
                <p:nvPr/>
              </p:nvSpPr>
              <p:spPr>
                <a:xfrm rot="-1665875">
                  <a:off x="4475273" y="1696800"/>
                  <a:ext cx="482086" cy="334994"/>
                </a:xfrm>
                <a:custGeom>
                  <a:avLst/>
                  <a:gdLst/>
                  <a:ahLst/>
                  <a:cxnLst/>
                  <a:rect l="l" t="t" r="r" b="b"/>
                  <a:pathLst>
                    <a:path w="222" h="154" extrusionOk="0">
                      <a:moveTo>
                        <a:pt x="222" y="146"/>
                      </a:moveTo>
                      <a:cubicBezTo>
                        <a:pt x="196" y="154"/>
                        <a:pt x="196" y="154"/>
                        <a:pt x="196" y="154"/>
                      </a:cubicBezTo>
                      <a:cubicBezTo>
                        <a:pt x="171" y="75"/>
                        <a:pt x="87" y="31"/>
                        <a:pt x="8" y="56"/>
                      </a:cubicBezTo>
                      <a:cubicBezTo>
                        <a:pt x="0" y="30"/>
                        <a:pt x="0" y="30"/>
                        <a:pt x="0" y="30"/>
                      </a:cubicBezTo>
                      <a:cubicBezTo>
                        <a:pt x="93" y="0"/>
                        <a:pt x="193" y="53"/>
                        <a:pt x="222" y="146"/>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43" name="Google Shape;243;p5"/>
              <p:cNvSpPr/>
              <p:nvPr/>
            </p:nvSpPr>
            <p:spPr>
              <a:xfrm>
                <a:off x="779251" y="2629141"/>
                <a:ext cx="2051035" cy="4044215"/>
              </a:xfrm>
              <a:prstGeom prst="round2SameRect">
                <a:avLst>
                  <a:gd name="adj1" fmla="val 0"/>
                  <a:gd name="adj2" fmla="val 0"/>
                </a:avLst>
              </a:prstGeom>
              <a:solidFill>
                <a:srgbClr val="F2F2F2"/>
              </a:solidFill>
              <a:ln>
                <a:noFill/>
              </a:ln>
            </p:spPr>
            <p:txBody>
              <a:bodyPr spcFirstLastPara="1" wrap="square" lIns="121900" tIns="298550" rIns="121900" bIns="60950" anchor="t" anchorCtr="0">
                <a:noAutofit/>
              </a:bodyPr>
              <a:lstStyle/>
              <a:p>
                <a:pPr marL="0" marR="0" lvl="0" indent="0" algn="l" rtl="0">
                  <a:lnSpc>
                    <a:spcPct val="100000"/>
                  </a:lnSpc>
                  <a:spcBef>
                    <a:spcPts val="0"/>
                  </a:spcBef>
                  <a:spcAft>
                    <a:spcPts val="0"/>
                  </a:spcAft>
                  <a:buClr>
                    <a:schemeClr val="dk1"/>
                  </a:buClr>
                  <a:buSzPts val="1600"/>
                  <a:buFont typeface="Arial" panose="020B0604020202020204"/>
                  <a:buNone/>
                </a:pPr>
                <a:r>
                  <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rPr>
                  <a:t>This association helps to improve the market for privately negotiated over-the-counter (OTC) derivatives by identifying and reducing risks in that market.</a:t>
                </a:r>
                <a:endParaRPr lang="en-GB"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6"/>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OBJECTIVE OF ISDA</a:t>
            </a:r>
            <a:endParaRPr lang="en-GB" b="1"/>
          </a:p>
        </p:txBody>
      </p:sp>
      <p:grpSp>
        <p:nvGrpSpPr>
          <p:cNvPr id="250" name="Google Shape;250;p6"/>
          <p:cNvGrpSpPr/>
          <p:nvPr/>
        </p:nvGrpSpPr>
        <p:grpSpPr>
          <a:xfrm>
            <a:off x="685800" y="1214968"/>
            <a:ext cx="11010900" cy="4834467"/>
            <a:chOff x="685800" y="1251471"/>
            <a:chExt cx="11010900" cy="5046779"/>
          </a:xfrm>
        </p:grpSpPr>
        <p:sp>
          <p:nvSpPr>
            <p:cNvPr id="251" name="Google Shape;251;p6"/>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52" name="Google Shape;252;p6"/>
            <p:cNvSpPr/>
            <p:nvPr/>
          </p:nvSpPr>
          <p:spPr>
            <a:xfrm>
              <a:off x="790308" y="125147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228600" marR="0" lvl="0" indent="-228600" algn="l" rtl="0">
                <a:spcBef>
                  <a:spcPts val="0"/>
                </a:spcBef>
                <a:spcAft>
                  <a:spcPts val="0"/>
                </a:spcAft>
                <a:buClr>
                  <a:schemeClr val="dk1"/>
                </a:buClr>
                <a:buSzPts val="1800"/>
                <a:buFont typeface="Arial" panose="020B0604020202020204"/>
                <a:buChar char="•"/>
              </a:pP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The International Swaps and Derivatives Association (ISDA) has several key objectives and functions, primarily related to the over-the-counter (OTC) derivatives market. Some of the main objectives of ISDA include:</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spcBef>
                  <a:spcPts val="2400"/>
                </a:spcBef>
                <a:spcAft>
                  <a:spcPts val="0"/>
                </a:spcAft>
                <a:buClr>
                  <a:schemeClr val="dk1"/>
                </a:buClr>
                <a:buSzPts val="1800"/>
                <a:buFont typeface="Courier New" panose="02070309020205020404"/>
                <a:buChar char="o"/>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Standardization: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ISDA works to create standardized documentation for OTC derivatives transactions, including the widely used ISDA Master Agreement. Standardization simplifies the trading process, reduces legal and operational risks, and enhances market efficiency.</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spcBef>
                  <a:spcPts val="2400"/>
                </a:spcBef>
                <a:spcAft>
                  <a:spcPts val="0"/>
                </a:spcAft>
                <a:buClr>
                  <a:schemeClr val="dk1"/>
                </a:buClr>
                <a:buSzPts val="1800"/>
                <a:buFont typeface="Courier New" panose="02070309020205020404"/>
                <a:buChar char="o"/>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Risk Mitigation: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ISDA helps its members and the derivatives industry in general to develop risk management practices. This includes measures to reduce credit risk, operational risk, and legal risk in OTC derivatives transactions.</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spcBef>
                  <a:spcPts val="2400"/>
                </a:spcBef>
                <a:spcAft>
                  <a:spcPts val="0"/>
                </a:spcAft>
                <a:buClr>
                  <a:schemeClr val="dk1"/>
                </a:buClr>
                <a:buSzPts val="1800"/>
                <a:buFont typeface="Courier New" panose="02070309020205020404"/>
                <a:buChar char="o"/>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Market Infrastructure: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ISDA plays a role in the development and improvement of market infrastructure, including trade repositories and market standards. These initiatives aim to enhance transparency and regulatory reporting in the OTC derivatives market.</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7"/>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OBJECTIVE OF ISDA</a:t>
            </a:r>
            <a:endParaRPr lang="en-GB" b="1"/>
          </a:p>
        </p:txBody>
      </p:sp>
      <p:grpSp>
        <p:nvGrpSpPr>
          <p:cNvPr id="259" name="Google Shape;259;p7"/>
          <p:cNvGrpSpPr/>
          <p:nvPr/>
        </p:nvGrpSpPr>
        <p:grpSpPr>
          <a:xfrm>
            <a:off x="717483" y="1273600"/>
            <a:ext cx="10979217" cy="4860500"/>
            <a:chOff x="717483" y="1273600"/>
            <a:chExt cx="10979217" cy="4860500"/>
          </a:xfrm>
        </p:grpSpPr>
        <p:grpSp>
          <p:nvGrpSpPr>
            <p:cNvPr id="260" name="Google Shape;260;p7"/>
            <p:cNvGrpSpPr/>
            <p:nvPr/>
          </p:nvGrpSpPr>
          <p:grpSpPr>
            <a:xfrm>
              <a:off x="4938921" y="2495254"/>
              <a:ext cx="2536342" cy="2350689"/>
              <a:chOff x="5002477" y="1797610"/>
              <a:chExt cx="2765233" cy="2562826"/>
            </a:xfrm>
          </p:grpSpPr>
          <p:sp>
            <p:nvSpPr>
              <p:cNvPr id="261" name="Google Shape;261;p7"/>
              <p:cNvSpPr/>
              <p:nvPr/>
            </p:nvSpPr>
            <p:spPr>
              <a:xfrm>
                <a:off x="5268533" y="2050039"/>
                <a:ext cx="1379633" cy="1342007"/>
              </a:xfrm>
              <a:prstGeom prst="ellipse">
                <a:avLst/>
              </a:prstGeom>
              <a:solidFill>
                <a:schemeClr val="accent3">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2" name="Google Shape;262;p7"/>
              <p:cNvSpPr/>
              <p:nvPr/>
            </p:nvSpPr>
            <p:spPr>
              <a:xfrm>
                <a:off x="6349245" y="2050039"/>
                <a:ext cx="1379633" cy="1342007"/>
              </a:xfrm>
              <a:prstGeom prst="ellipse">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3" name="Google Shape;263;p7"/>
              <p:cNvSpPr/>
              <p:nvPr/>
            </p:nvSpPr>
            <p:spPr>
              <a:xfrm>
                <a:off x="5808889" y="2992788"/>
                <a:ext cx="1379633" cy="1342007"/>
              </a:xfrm>
              <a:prstGeom prst="ellipse">
                <a:avLst/>
              </a:prstGeom>
              <a:solidFill>
                <a:schemeClr val="accent5">
                  <a:alpha val="7882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4" name="Google Shape;264;p7"/>
              <p:cNvSpPr/>
              <p:nvPr/>
            </p:nvSpPr>
            <p:spPr>
              <a:xfrm>
                <a:off x="5002477" y="2087109"/>
                <a:ext cx="692488" cy="696644"/>
              </a:xfrm>
              <a:prstGeom prst="ellipse">
                <a:avLst/>
              </a:prstGeom>
              <a:solidFill>
                <a:srgbClr val="DA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03</a:t>
                </a:r>
                <a:endPar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65" name="Google Shape;265;p7"/>
              <p:cNvSpPr/>
              <p:nvPr/>
            </p:nvSpPr>
            <p:spPr>
              <a:xfrm>
                <a:off x="6842277" y="3663792"/>
                <a:ext cx="692488" cy="696644"/>
              </a:xfrm>
              <a:prstGeom prst="ellipse">
                <a:avLst/>
              </a:prstGeom>
              <a:solidFill>
                <a:srgbClr val="DDEA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02</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66" name="Google Shape;266;p7"/>
              <p:cNvSpPr/>
              <p:nvPr/>
            </p:nvSpPr>
            <p:spPr>
              <a:xfrm>
                <a:off x="7075222" y="1797610"/>
                <a:ext cx="692488" cy="696644"/>
              </a:xfrm>
              <a:prstGeom prst="ellipse">
                <a:avLst/>
              </a:prstGeom>
              <a:solidFill>
                <a:srgbClr val="D2F4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01</a:t>
                </a:r>
                <a:endPar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67" name="Google Shape;267;p7"/>
              <p:cNvSpPr/>
              <p:nvPr/>
            </p:nvSpPr>
            <p:spPr>
              <a:xfrm>
                <a:off x="5035783" y="2224154"/>
                <a:ext cx="62587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68" name="Google Shape;268;p7"/>
              <p:cNvSpPr/>
              <p:nvPr/>
            </p:nvSpPr>
            <p:spPr>
              <a:xfrm>
                <a:off x="6875584" y="3818345"/>
                <a:ext cx="62587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69" name="Google Shape;269;p7"/>
              <p:cNvSpPr/>
              <p:nvPr/>
            </p:nvSpPr>
            <p:spPr>
              <a:xfrm>
                <a:off x="7103004" y="1936785"/>
                <a:ext cx="62587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70" name="Google Shape;270;p7"/>
              <p:cNvSpPr txBox="1"/>
              <p:nvPr/>
            </p:nvSpPr>
            <p:spPr>
              <a:xfrm>
                <a:off x="5530350" y="2687129"/>
                <a:ext cx="846593" cy="356001"/>
              </a:xfrm>
              <a:prstGeom prst="rect">
                <a:avLst/>
              </a:prstGeom>
              <a:noFill/>
              <a:ln>
                <a:noFill/>
              </a:ln>
            </p:spPr>
            <p:txBody>
              <a:bodyPr spcFirstLastPara="1" wrap="square" lIns="108700" tIns="54350" rIns="108700" bIns="54350" anchor="t" anchorCtr="0">
                <a:spAutoFit/>
              </a:bodyPr>
              <a:lstStyle/>
              <a:p>
                <a:pPr marL="0" marR="0" lvl="0" indent="0" algn="ctr" rtl="0">
                  <a:lnSpc>
                    <a:spcPct val="100000"/>
                  </a:lnSpc>
                  <a:spcBef>
                    <a:spcPts val="0"/>
                  </a:spcBef>
                  <a:spcAft>
                    <a:spcPts val="0"/>
                  </a:spcAft>
                  <a:buClr>
                    <a:schemeClr val="dk2"/>
                  </a:buClr>
                  <a:buSzPts val="1600"/>
                  <a:buFont typeface="Arial" panose="020B0604020202020204"/>
                  <a:buNone/>
                </a:pPr>
                <a:endParaRPr sz="16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1" name="Google Shape;271;p7"/>
              <p:cNvSpPr txBox="1"/>
              <p:nvPr/>
            </p:nvSpPr>
            <p:spPr>
              <a:xfrm>
                <a:off x="6714141" y="2682989"/>
                <a:ext cx="846593" cy="356001"/>
              </a:xfrm>
              <a:prstGeom prst="rect">
                <a:avLst/>
              </a:prstGeom>
              <a:noFill/>
              <a:ln>
                <a:noFill/>
              </a:ln>
            </p:spPr>
            <p:txBody>
              <a:bodyPr spcFirstLastPara="1" wrap="square" lIns="108700" tIns="54350" rIns="108700" bIns="54350" anchor="t" anchorCtr="0">
                <a:spAutoFit/>
              </a:bodyPr>
              <a:lstStyle/>
              <a:p>
                <a:pPr marL="0" marR="0" lvl="0" indent="0" algn="ctr" rtl="0">
                  <a:lnSpc>
                    <a:spcPct val="100000"/>
                  </a:lnSpc>
                  <a:spcBef>
                    <a:spcPts val="0"/>
                  </a:spcBef>
                  <a:spcAft>
                    <a:spcPts val="0"/>
                  </a:spcAft>
                  <a:buClr>
                    <a:schemeClr val="dk2"/>
                  </a:buClr>
                  <a:buSzPts val="1600"/>
                  <a:buFont typeface="Arial" panose="020B0604020202020204"/>
                  <a:buNone/>
                </a:pPr>
                <a:endParaRPr sz="16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2" name="Google Shape;272;p7"/>
              <p:cNvSpPr txBox="1"/>
              <p:nvPr/>
            </p:nvSpPr>
            <p:spPr>
              <a:xfrm>
                <a:off x="6081592" y="3606421"/>
                <a:ext cx="846593" cy="356001"/>
              </a:xfrm>
              <a:prstGeom prst="rect">
                <a:avLst/>
              </a:prstGeom>
              <a:noFill/>
              <a:ln>
                <a:noFill/>
              </a:ln>
            </p:spPr>
            <p:txBody>
              <a:bodyPr spcFirstLastPara="1" wrap="square" lIns="108700" tIns="54350" rIns="108700" bIns="54350" anchor="t" anchorCtr="0">
                <a:spAutoFit/>
              </a:bodyPr>
              <a:lstStyle/>
              <a:p>
                <a:pPr marL="0" marR="0" lvl="0" indent="0" algn="ctr" rtl="0">
                  <a:lnSpc>
                    <a:spcPct val="100000"/>
                  </a:lnSpc>
                  <a:spcBef>
                    <a:spcPts val="0"/>
                  </a:spcBef>
                  <a:spcAft>
                    <a:spcPts val="0"/>
                  </a:spcAft>
                  <a:buClr>
                    <a:schemeClr val="dk2"/>
                  </a:buClr>
                  <a:buSzPts val="1600"/>
                  <a:buFont typeface="Arial" panose="020B0604020202020204"/>
                  <a:buNone/>
                </a:pPr>
                <a:endParaRPr sz="16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273" name="Google Shape;273;p7"/>
            <p:cNvSpPr/>
            <p:nvPr/>
          </p:nvSpPr>
          <p:spPr>
            <a:xfrm>
              <a:off x="717483" y="2495254"/>
              <a:ext cx="3840003" cy="2327171"/>
            </a:xfrm>
            <a:prstGeom prst="roundRect">
              <a:avLst>
                <a:gd name="adj" fmla="val 0"/>
              </a:avLst>
            </a:prstGeom>
            <a:solidFill>
              <a:srgbClr val="F2F2F2"/>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Collaboration: </a:t>
              </a:r>
              <a:r>
                <a:rPr lang="en-GB" sz="1800" b="0" i="0" u="none" strike="noStrike" cap="none" dirty="0">
                  <a:solidFill>
                    <a:schemeClr val="dk1"/>
                  </a:solidFill>
                  <a:latin typeface="Arial" panose="020B0604020202020204"/>
                  <a:ea typeface="Arial" panose="020B0604020202020204"/>
                  <a:cs typeface="Arial" panose="020B0604020202020204"/>
                  <a:sym typeface="Arial" panose="020B0604020202020204"/>
                </a:rPr>
                <a:t>ISDA promotes collaboration and cooperation among its members and the broader financial industry, fostering a sense of community and shared responsibility for the integrity and stability of the derivatives markets.</a:t>
              </a:r>
              <a:endParaRPr dirty="0"/>
            </a:p>
          </p:txBody>
        </p:sp>
        <p:grpSp>
          <p:nvGrpSpPr>
            <p:cNvPr id="274" name="Google Shape;274;p7"/>
            <p:cNvGrpSpPr/>
            <p:nvPr/>
          </p:nvGrpSpPr>
          <p:grpSpPr>
            <a:xfrm>
              <a:off x="7856697" y="1273600"/>
              <a:ext cx="3840003" cy="4860500"/>
              <a:chOff x="7856697" y="1273600"/>
              <a:chExt cx="3840003" cy="4860500"/>
            </a:xfrm>
          </p:grpSpPr>
          <p:sp>
            <p:nvSpPr>
              <p:cNvPr id="275" name="Google Shape;275;p7"/>
              <p:cNvSpPr/>
              <p:nvPr/>
            </p:nvSpPr>
            <p:spPr>
              <a:xfrm>
                <a:off x="7856697" y="1273600"/>
                <a:ext cx="3840003" cy="2327171"/>
              </a:xfrm>
              <a:prstGeom prst="roundRect">
                <a:avLst>
                  <a:gd name="adj" fmla="val 0"/>
                </a:avLst>
              </a:pr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Dispute Resolution: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ISDA has established mechanisms for dispute resolution in the event of conflicts or disagreements arising from derivatives transactions. This helps to ensure that disputes can be resolved efficiently and fairly.</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76" name="Google Shape;276;p7"/>
              <p:cNvSpPr/>
              <p:nvPr/>
            </p:nvSpPr>
            <p:spPr>
              <a:xfrm>
                <a:off x="7856697" y="3806929"/>
                <a:ext cx="3840003" cy="2327171"/>
              </a:xfrm>
              <a:prstGeom prst="roundRect">
                <a:avLst>
                  <a:gd name="adj" fmla="val 0"/>
                </a:avLst>
              </a:pr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Arial" panose="020B0604020202020204"/>
                    <a:ea typeface="Arial" panose="020B0604020202020204"/>
                    <a:cs typeface="Arial" panose="020B0604020202020204"/>
                    <a:sym typeface="Arial" panose="020B0604020202020204"/>
                  </a:rPr>
                  <a:t>Market Data: </a:t>
                </a:r>
                <a:r>
                  <a:rPr lang="en-GB" sz="1800">
                    <a:solidFill>
                      <a:schemeClr val="dk1"/>
                    </a:solidFill>
                    <a:latin typeface="Arial" panose="020B0604020202020204"/>
                    <a:ea typeface="Arial" panose="020B0604020202020204"/>
                    <a:cs typeface="Arial" panose="020B0604020202020204"/>
                    <a:sym typeface="Arial" panose="020B0604020202020204"/>
                  </a:rPr>
                  <a:t>ISDA collects and publishes data related to OTC derivatives markets. This data is used for various purposes, including risk analysis and market research.</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8"/>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INTERNATIONAL SWAP DERIVATIVES ASSOCIATION</a:t>
            </a:r>
            <a:endParaRPr lang="en-GB" b="1"/>
          </a:p>
        </p:txBody>
      </p:sp>
      <p:grpSp>
        <p:nvGrpSpPr>
          <p:cNvPr id="283" name="Google Shape;283;p8"/>
          <p:cNvGrpSpPr/>
          <p:nvPr/>
        </p:nvGrpSpPr>
        <p:grpSpPr>
          <a:xfrm>
            <a:off x="685800" y="1214968"/>
            <a:ext cx="11010900" cy="4834467"/>
            <a:chOff x="685800" y="1251471"/>
            <a:chExt cx="11010900" cy="5046779"/>
          </a:xfrm>
        </p:grpSpPr>
        <p:sp>
          <p:nvSpPr>
            <p:cNvPr id="284" name="Google Shape;284;p8"/>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85" name="Google Shape;285;p8"/>
            <p:cNvSpPr/>
            <p:nvPr/>
          </p:nvSpPr>
          <p:spPr>
            <a:xfrm>
              <a:off x="790308" y="125147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rtl="0">
                <a:spcBef>
                  <a:spcPts val="0"/>
                </a:spcBef>
                <a:spcAft>
                  <a:spcPts val="0"/>
                </a:spcAft>
                <a:buClr>
                  <a:schemeClr val="dk1"/>
                </a:buClr>
                <a:buSzPts val="1800"/>
                <a:buFont typeface="Arial" panose="020B0604020202020204" pitchFamily="34" charset="0"/>
                <a:buChar char="•"/>
              </a:pP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Created in 1985, the ISDA has members from institutions around the world</a:t>
              </a:r>
              <a:endParaRPr lang="en-GB" dirty="0"/>
            </a:p>
            <a:p>
              <a:pPr marL="571500" marR="0" lvl="0" indent="-342900" rtl="0">
                <a:spcBef>
                  <a:spcPts val="600"/>
                </a:spcBef>
                <a:spcAft>
                  <a:spcPts val="0"/>
                </a:spcAft>
                <a:buClr>
                  <a:schemeClr val="dk1"/>
                </a:buClr>
                <a:buSzPts val="1800"/>
                <a:buFont typeface="Arial" panose="020B0604020202020204" pitchFamily="34" charset="0"/>
                <a:buChar char="•"/>
              </a:pP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Global Financial Institutions, Asset Management Firms, Hedge Funds, Corporations, Law Firms, Regulators and Government Agencies, Technology and Service Providers, Market Infrastructure Providers and Academic and Research Institution</a:t>
              </a:r>
              <a:endParaRPr lang="en-GB" dirty="0"/>
            </a:p>
            <a:p>
              <a:pPr marL="342900" marR="0" lvl="0" indent="-342900" rtl="0">
                <a:spcBef>
                  <a:spcPts val="600"/>
                </a:spcBef>
                <a:spcAft>
                  <a:spcPts val="0"/>
                </a:spcAft>
                <a:buClr>
                  <a:schemeClr val="dk1"/>
                </a:buClr>
                <a:buSzPts val="1800"/>
                <a:buFont typeface="Arial" panose="020B0604020202020204" pitchFamily="34" charset="0"/>
                <a:buChar char="•"/>
              </a:pP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ISDA is not a regulatory body </a:t>
              </a:r>
              <a:endParaRPr dirty="0"/>
            </a:p>
            <a:p>
              <a:pPr marL="342900" marR="0" lvl="0" indent="-342900" rtl="0">
                <a:spcBef>
                  <a:spcPts val="600"/>
                </a:spcBef>
                <a:spcAft>
                  <a:spcPts val="0"/>
                </a:spcAft>
                <a:buClr>
                  <a:schemeClr val="dk1"/>
                </a:buClr>
                <a:buSzPts val="1800"/>
                <a:buFont typeface="Arial" panose="020B0604020202020204" pitchFamily="34" charset="0"/>
                <a:buChar char="•"/>
              </a:pP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This contract governs all over-the-counter “OTC” derivatives transactions, cleared or non cleared, entered into between counterparties.</a:t>
              </a:r>
              <a:endParaRPr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9"/>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INTERNATIONAL SWAP DERIVATIVES ASSOCIATION</a:t>
            </a:r>
            <a:endParaRPr lang="en-GB" b="1"/>
          </a:p>
        </p:txBody>
      </p:sp>
      <p:sp>
        <p:nvSpPr>
          <p:cNvPr id="292" name="Google Shape;292;p9"/>
          <p:cNvSpPr/>
          <p:nvPr/>
        </p:nvSpPr>
        <p:spPr>
          <a:xfrm>
            <a:off x="0" y="1356189"/>
            <a:ext cx="12192000" cy="493159"/>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ISDA has five parts: </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grpSp>
        <p:nvGrpSpPr>
          <p:cNvPr id="293" name="Google Shape;293;p9"/>
          <p:cNvGrpSpPr/>
          <p:nvPr/>
        </p:nvGrpSpPr>
        <p:grpSpPr>
          <a:xfrm>
            <a:off x="801383" y="2514600"/>
            <a:ext cx="10496765" cy="3556987"/>
            <a:chOff x="801383" y="2514600"/>
            <a:chExt cx="10496765" cy="3556987"/>
          </a:xfrm>
        </p:grpSpPr>
        <p:sp>
          <p:nvSpPr>
            <p:cNvPr id="294" name="Google Shape;294;p9"/>
            <p:cNvSpPr/>
            <p:nvPr/>
          </p:nvSpPr>
          <p:spPr>
            <a:xfrm>
              <a:off x="801383" y="2517168"/>
              <a:ext cx="3292152" cy="1597632"/>
            </a:xfrm>
            <a:prstGeom prst="roundRect">
              <a:avLst>
                <a:gd name="adj" fmla="val 16667"/>
              </a:avLst>
            </a:prstGeom>
            <a:solidFill>
              <a:srgbClr val="DAF3EB"/>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dk1"/>
                  </a:solidFill>
                  <a:latin typeface="Arial" panose="020B0604020202020204"/>
                  <a:ea typeface="Arial" panose="020B0604020202020204"/>
                  <a:cs typeface="Arial" panose="020B0604020202020204"/>
                  <a:sym typeface="Arial" panose="020B0604020202020204"/>
                </a:rPr>
                <a:t>IMA - ISDA Master Agreement</a:t>
              </a:r>
              <a:endParaRPr dirty="0"/>
            </a:p>
          </p:txBody>
        </p:sp>
        <p:sp>
          <p:nvSpPr>
            <p:cNvPr id="295" name="Google Shape;295;p9"/>
            <p:cNvSpPr/>
            <p:nvPr/>
          </p:nvSpPr>
          <p:spPr>
            <a:xfrm>
              <a:off x="4623032" y="2543930"/>
              <a:ext cx="3072809" cy="1597632"/>
            </a:xfrm>
            <a:prstGeom prst="roundRect">
              <a:avLst>
                <a:gd name="adj" fmla="val 16667"/>
              </a:avLst>
            </a:prstGeom>
            <a:solidFill>
              <a:srgbClr val="D5DBE5"/>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dk1"/>
                  </a:solidFill>
                  <a:latin typeface="Arial" panose="020B0604020202020204"/>
                  <a:ea typeface="Arial" panose="020B0604020202020204"/>
                  <a:cs typeface="Arial" panose="020B0604020202020204"/>
                  <a:sym typeface="Arial" panose="020B0604020202020204"/>
                </a:rPr>
                <a:t>Schedule</a:t>
              </a:r>
              <a:endParaRPr dirty="0"/>
            </a:p>
          </p:txBody>
        </p:sp>
        <p:sp>
          <p:nvSpPr>
            <p:cNvPr id="296" name="Google Shape;296;p9"/>
            <p:cNvSpPr/>
            <p:nvPr/>
          </p:nvSpPr>
          <p:spPr>
            <a:xfrm>
              <a:off x="8225339" y="2514600"/>
              <a:ext cx="3072809" cy="1597632"/>
            </a:xfrm>
            <a:prstGeom prst="roundRect">
              <a:avLst>
                <a:gd name="adj" fmla="val 16667"/>
              </a:avLst>
            </a:prstGeom>
            <a:solidFill>
              <a:srgbClr val="D2F4F6"/>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dk1"/>
                  </a:solidFill>
                  <a:latin typeface="Arial" panose="020B0604020202020204"/>
                  <a:ea typeface="Arial" panose="020B0604020202020204"/>
                  <a:cs typeface="Arial" panose="020B0604020202020204"/>
                  <a:sym typeface="Arial" panose="020B0604020202020204"/>
                </a:rPr>
                <a:t>CSA - Credit Support Annex</a:t>
              </a:r>
              <a:endParaRPr dirty="0"/>
            </a:p>
          </p:txBody>
        </p:sp>
        <p:sp>
          <p:nvSpPr>
            <p:cNvPr id="297" name="Google Shape;297;p9"/>
            <p:cNvSpPr/>
            <p:nvPr/>
          </p:nvSpPr>
          <p:spPr>
            <a:xfrm>
              <a:off x="2741487" y="4548779"/>
              <a:ext cx="2964771" cy="1522808"/>
            </a:xfrm>
            <a:prstGeom prst="roundRect">
              <a:avLst>
                <a:gd name="adj" fmla="val 16667"/>
              </a:avLst>
            </a:prstGeom>
            <a:solidFill>
              <a:srgbClr val="DDEAF6"/>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dk1"/>
                  </a:solidFill>
                  <a:latin typeface="Arial" panose="020B0604020202020204"/>
                  <a:ea typeface="Arial" panose="020B0604020202020204"/>
                  <a:cs typeface="Arial" panose="020B0604020202020204"/>
                  <a:sym typeface="Arial" panose="020B0604020202020204"/>
                </a:rPr>
                <a:t>Confirmation</a:t>
              </a:r>
              <a:endParaRPr dirty="0"/>
            </a:p>
          </p:txBody>
        </p:sp>
        <p:sp>
          <p:nvSpPr>
            <p:cNvPr id="298" name="Google Shape;298;p9"/>
            <p:cNvSpPr/>
            <p:nvPr/>
          </p:nvSpPr>
          <p:spPr>
            <a:xfrm>
              <a:off x="6485744" y="4548779"/>
              <a:ext cx="3189884" cy="1522808"/>
            </a:xfrm>
            <a:prstGeom prst="roundRect">
              <a:avLst>
                <a:gd name="adj" fmla="val 16667"/>
              </a:avLst>
            </a:prstGeom>
            <a:solidFill>
              <a:srgbClr val="DAF3EB"/>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dk1"/>
                  </a:solidFill>
                  <a:latin typeface="Arial" panose="020B0604020202020204"/>
                  <a:ea typeface="Arial" panose="020B0604020202020204"/>
                  <a:cs typeface="Arial" panose="020B0604020202020204"/>
                  <a:sym typeface="Arial" panose="020B0604020202020204"/>
                </a:rPr>
                <a:t>Definitions</a:t>
              </a:r>
              <a:endParaRPr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0"/>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INTERNATIONAL SWAP DERIVATIVES ASSOCIATION</a:t>
            </a:r>
            <a:endParaRPr lang="en-GB" b="1"/>
          </a:p>
        </p:txBody>
      </p:sp>
      <p:pic>
        <p:nvPicPr>
          <p:cNvPr id="305" name="Google Shape;305;p10"/>
          <p:cNvPicPr preferRelativeResize="0"/>
          <p:nvPr/>
        </p:nvPicPr>
        <p:blipFill rotWithShape="1">
          <a:blip r:embed="rId1"/>
          <a:srcRect l="7238" t="8259" r="4693" b="2824"/>
          <a:stretch>
            <a:fillRect/>
          </a:stretch>
        </p:blipFill>
        <p:spPr>
          <a:xfrm>
            <a:off x="2853082" y="1335313"/>
            <a:ext cx="6691086" cy="4602246"/>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1"/>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IMA</a:t>
            </a:r>
            <a:endParaRPr lang="en-GB" b="1"/>
          </a:p>
        </p:txBody>
      </p:sp>
      <p:grpSp>
        <p:nvGrpSpPr>
          <p:cNvPr id="312" name="Google Shape;312;p11"/>
          <p:cNvGrpSpPr/>
          <p:nvPr/>
        </p:nvGrpSpPr>
        <p:grpSpPr>
          <a:xfrm>
            <a:off x="166667" y="1394908"/>
            <a:ext cx="11753316" cy="4762669"/>
            <a:chOff x="166667" y="1394908"/>
            <a:chExt cx="11753316" cy="4762669"/>
          </a:xfrm>
        </p:grpSpPr>
        <p:grpSp>
          <p:nvGrpSpPr>
            <p:cNvPr id="313" name="Google Shape;313;p11"/>
            <p:cNvGrpSpPr/>
            <p:nvPr/>
          </p:nvGrpSpPr>
          <p:grpSpPr>
            <a:xfrm>
              <a:off x="166667" y="1455772"/>
              <a:ext cx="3494192" cy="656492"/>
              <a:chOff x="180945" y="2394897"/>
              <a:chExt cx="3494192" cy="656492"/>
            </a:xfrm>
          </p:grpSpPr>
          <p:grpSp>
            <p:nvGrpSpPr>
              <p:cNvPr id="314" name="Google Shape;314;p11"/>
              <p:cNvGrpSpPr/>
              <p:nvPr/>
            </p:nvGrpSpPr>
            <p:grpSpPr>
              <a:xfrm>
                <a:off x="180945" y="2432884"/>
                <a:ext cx="658137" cy="618505"/>
                <a:chOff x="-41103" y="1414966"/>
                <a:chExt cx="978039" cy="978038"/>
              </a:xfrm>
            </p:grpSpPr>
            <p:sp>
              <p:nvSpPr>
                <p:cNvPr id="315" name="Google Shape;315;p11"/>
                <p:cNvSpPr/>
                <p:nvPr/>
              </p:nvSpPr>
              <p:spPr>
                <a:xfrm rot="2576050">
                  <a:off x="-41103" y="1414966"/>
                  <a:ext cx="978039" cy="978038"/>
                </a:xfrm>
                <a:prstGeom prst="teardrop">
                  <a:avLst>
                    <a:gd name="adj" fmla="val 100000"/>
                  </a:avLst>
                </a:prstGeom>
                <a:solidFill>
                  <a:srgbClr val="92DDC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9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16" name="Google Shape;316;p11"/>
                <p:cNvSpPr/>
                <p:nvPr/>
              </p:nvSpPr>
              <p:spPr>
                <a:xfrm rot="16200000">
                  <a:off x="-1342" y="1439796"/>
                  <a:ext cx="875469" cy="875471"/>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9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17" name="Google Shape;317;p11"/>
                <p:cNvSpPr/>
                <p:nvPr/>
              </p:nvSpPr>
              <p:spPr>
                <a:xfrm>
                  <a:off x="96677" y="1525536"/>
                  <a:ext cx="679432" cy="727393"/>
                </a:xfrm>
                <a:prstGeom prst="ellipse">
                  <a:avLst/>
                </a:prstGeom>
                <a:solidFill>
                  <a:schemeClr val="accent3"/>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01</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318" name="Google Shape;318;p11"/>
              <p:cNvSpPr/>
              <p:nvPr/>
            </p:nvSpPr>
            <p:spPr>
              <a:xfrm>
                <a:off x="1027547" y="2394897"/>
                <a:ext cx="2647590" cy="620288"/>
              </a:xfrm>
              <a:prstGeom prst="rect">
                <a:avLst/>
              </a:prstGeom>
              <a:solidFill>
                <a:srgbClr val="DAF3E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dirty="0">
                    <a:solidFill>
                      <a:schemeClr val="dk1"/>
                    </a:solidFill>
                    <a:latin typeface="Arial" panose="020B0604020202020204"/>
                    <a:ea typeface="Arial" panose="020B0604020202020204"/>
                    <a:cs typeface="Arial" panose="020B0604020202020204"/>
                    <a:sym typeface="Arial" panose="020B0604020202020204"/>
                  </a:rPr>
                  <a:t>NOT PRODUCT SPECIFIC</a:t>
                </a:r>
                <a:endParaRPr dirty="0"/>
              </a:p>
            </p:txBody>
          </p:sp>
        </p:grpSp>
        <p:grpSp>
          <p:nvGrpSpPr>
            <p:cNvPr id="319" name="Google Shape;319;p11"/>
            <p:cNvGrpSpPr/>
            <p:nvPr/>
          </p:nvGrpSpPr>
          <p:grpSpPr>
            <a:xfrm>
              <a:off x="3814991" y="1454942"/>
              <a:ext cx="3555736" cy="621947"/>
              <a:chOff x="6709494" y="1300654"/>
              <a:chExt cx="3555736" cy="621947"/>
            </a:xfrm>
          </p:grpSpPr>
          <p:grpSp>
            <p:nvGrpSpPr>
              <p:cNvPr id="320" name="Google Shape;320;p11"/>
              <p:cNvGrpSpPr/>
              <p:nvPr/>
            </p:nvGrpSpPr>
            <p:grpSpPr>
              <a:xfrm>
                <a:off x="6709494" y="1302370"/>
                <a:ext cx="658137" cy="618505"/>
                <a:chOff x="3891721" y="2760684"/>
                <a:chExt cx="978039" cy="978039"/>
              </a:xfrm>
            </p:grpSpPr>
            <p:sp>
              <p:nvSpPr>
                <p:cNvPr id="321" name="Google Shape;321;p11"/>
                <p:cNvSpPr/>
                <p:nvPr/>
              </p:nvSpPr>
              <p:spPr>
                <a:xfrm rot="2576050">
                  <a:off x="3891721" y="2760684"/>
                  <a:ext cx="978039" cy="978039"/>
                </a:xfrm>
                <a:prstGeom prst="teardrop">
                  <a:avLst>
                    <a:gd name="adj" fmla="val 100000"/>
                  </a:avLst>
                </a:prstGeom>
                <a:solidFill>
                  <a:srgbClr val="9CC2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900">
                    <a:solidFill>
                      <a:schemeClr val="lt1"/>
                    </a:solidFill>
                    <a:latin typeface="Arial" panose="020B0604020202020204"/>
                    <a:ea typeface="Arial" panose="020B0604020202020204"/>
                    <a:cs typeface="Arial" panose="020B0604020202020204"/>
                    <a:sym typeface="Arial" panose="020B0604020202020204"/>
                  </a:endParaRPr>
                </a:p>
              </p:txBody>
            </p:sp>
            <p:sp>
              <p:nvSpPr>
                <p:cNvPr id="322" name="Google Shape;322;p11"/>
                <p:cNvSpPr/>
                <p:nvPr/>
              </p:nvSpPr>
              <p:spPr>
                <a:xfrm rot="16200000">
                  <a:off x="3959086" y="2811968"/>
                  <a:ext cx="875470" cy="875469"/>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9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323" name="Google Shape;323;p11"/>
                <p:cNvSpPr/>
                <p:nvPr/>
              </p:nvSpPr>
              <p:spPr>
                <a:xfrm>
                  <a:off x="4041026" y="2886010"/>
                  <a:ext cx="679433" cy="727394"/>
                </a:xfrm>
                <a:prstGeom prst="ellipse">
                  <a:avLst/>
                </a:prstGeom>
                <a:solidFill>
                  <a:schemeClr val="accent5"/>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1800" dirty="0">
                      <a:solidFill>
                        <a:schemeClr val="lt1"/>
                      </a:solidFill>
                      <a:latin typeface="Arial" panose="020B0604020202020204"/>
                      <a:ea typeface="Arial" panose="020B0604020202020204"/>
                      <a:cs typeface="Arial" panose="020B0604020202020204"/>
                      <a:sym typeface="Arial" panose="020B0604020202020204"/>
                    </a:rPr>
                    <a:t>02</a:t>
                  </a:r>
                  <a:endParaRPr dirty="0"/>
                </a:p>
              </p:txBody>
            </p:sp>
          </p:grpSp>
          <p:sp>
            <p:nvSpPr>
              <p:cNvPr id="324" name="Google Shape;324;p11"/>
              <p:cNvSpPr/>
              <p:nvPr/>
            </p:nvSpPr>
            <p:spPr>
              <a:xfrm>
                <a:off x="7617677" y="1300654"/>
                <a:ext cx="2647553" cy="621947"/>
              </a:xfrm>
              <a:prstGeom prst="rect">
                <a:avLst/>
              </a:prstGeom>
              <a:solidFill>
                <a:srgbClr val="DDEAF6"/>
              </a:solid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GB" sz="1800" b="1">
                    <a:solidFill>
                      <a:schemeClr val="dk1"/>
                    </a:solidFill>
                    <a:latin typeface="Arial" panose="020B0604020202020204"/>
                    <a:ea typeface="Arial" panose="020B0604020202020204"/>
                    <a:cs typeface="Arial" panose="020B0604020202020204"/>
                    <a:sym typeface="Arial" panose="020B0604020202020204"/>
                  </a:rPr>
                  <a:t>NOT PARTY SPECIFIC</a:t>
                </a:r>
                <a:endParaRPr lang="en-GB" sz="1800" b="1">
                  <a:solidFill>
                    <a:schemeClr val="dk1"/>
                  </a:solidFill>
                  <a:latin typeface="Arial" panose="020B0604020202020204"/>
                  <a:ea typeface="Arial" panose="020B0604020202020204"/>
                  <a:cs typeface="Arial" panose="020B0604020202020204"/>
                  <a:sym typeface="Arial" panose="020B0604020202020204"/>
                </a:endParaRPr>
              </a:p>
            </p:txBody>
          </p:sp>
        </p:grpSp>
        <p:pic>
          <p:nvPicPr>
            <p:cNvPr id="325" name="Google Shape;325;p11" descr="ISDA Master Agreement – WikiBanks"/>
            <p:cNvPicPr preferRelativeResize="0"/>
            <p:nvPr/>
          </p:nvPicPr>
          <p:blipFill rotWithShape="1">
            <a:blip r:embed="rId1"/>
            <a:srcRect/>
            <a:stretch>
              <a:fillRect/>
            </a:stretch>
          </p:blipFill>
          <p:spPr>
            <a:xfrm>
              <a:off x="7667452" y="1394908"/>
              <a:ext cx="4252531" cy="4762669"/>
            </a:xfrm>
            <a:prstGeom prst="rect">
              <a:avLst/>
            </a:prstGeom>
            <a:noFill/>
            <a:ln>
              <a:noFill/>
            </a:ln>
            <a:effectLst>
              <a:outerShdw blurRad="63500" sx="102000" sy="102000" algn="ctr" rotWithShape="0">
                <a:srgbClr val="000000">
                  <a:alpha val="40000"/>
                </a:srgbClr>
              </a:outerShdw>
            </a:effectLst>
          </p:spPr>
        </p:pic>
        <p:sp>
          <p:nvSpPr>
            <p:cNvPr id="326" name="Google Shape;326;p11"/>
            <p:cNvSpPr txBox="1"/>
            <p:nvPr/>
          </p:nvSpPr>
          <p:spPr>
            <a:xfrm>
              <a:off x="716581" y="2550125"/>
              <a:ext cx="5947586" cy="3508612"/>
            </a:xfrm>
            <a:prstGeom prst="rect">
              <a:avLst/>
            </a:prstGeom>
            <a:solidFill>
              <a:schemeClr val="dk2"/>
            </a:solidFill>
            <a:ln>
              <a:noFill/>
            </a:ln>
          </p:spPr>
          <p:txBody>
            <a:bodyPr spcFirstLastPara="1" wrap="square" lIns="91425" tIns="45700" rIns="91425" bIns="45700" anchor="t" anchorCtr="0">
              <a:spAutoFit/>
            </a:bodyPr>
            <a:lstStyle/>
            <a:p>
              <a:pPr marR="0" lvl="0" algn="l" rtl="0">
                <a:spcBef>
                  <a:spcPts val="0"/>
                </a:spcBef>
                <a:spcAft>
                  <a:spcPts val="0"/>
                </a:spcAft>
                <a:buClr>
                  <a:schemeClr val="lt1"/>
                </a:buClr>
                <a:buSzPts val="1800"/>
              </a:pPr>
              <a:endParaRPr lang="en-GB" sz="1800" dirty="0">
                <a:solidFill>
                  <a:schemeClr val="lt1"/>
                </a:solidFill>
              </a:endParaRPr>
            </a:p>
            <a:p>
              <a:pPr marL="228600" marR="0" lvl="0" indent="-228600" algn="l" rtl="0">
                <a:spcBef>
                  <a:spcPts val="0"/>
                </a:spcBef>
                <a:spcAft>
                  <a:spcPts val="0"/>
                </a:spcAft>
                <a:buClr>
                  <a:schemeClr val="lt1"/>
                </a:buClr>
                <a:buSzPts val="1800"/>
                <a:buFont typeface="Arial" panose="020B0604020202020204"/>
                <a:buChar char="•"/>
              </a:pPr>
              <a:r>
                <a:rPr lang="en-GB" sz="1800" i="0" u="none" strike="noStrike" cap="none" dirty="0">
                  <a:solidFill>
                    <a:schemeClr val="lt1"/>
                  </a:solidFill>
                  <a:latin typeface="Arial" panose="020B0604020202020204"/>
                  <a:ea typeface="Arial" panose="020B0604020202020204"/>
                  <a:cs typeface="Arial" panose="020B0604020202020204"/>
                  <a:sym typeface="Arial" panose="020B0604020202020204"/>
                </a:rPr>
                <a:t>IMA : this is the key document which defines the essential responsibilities </a:t>
              </a:r>
              <a:br>
                <a:rPr lang="en-GB" sz="1800" i="0" u="none" strike="noStrike" cap="none" dirty="0">
                  <a:solidFill>
                    <a:schemeClr val="lt1"/>
                  </a:solidFill>
                  <a:latin typeface="Arial" panose="020B0604020202020204"/>
                  <a:ea typeface="Arial" panose="020B0604020202020204"/>
                  <a:cs typeface="Arial" panose="020B0604020202020204"/>
                  <a:sym typeface="Arial" panose="020B0604020202020204"/>
                </a:rPr>
              </a:br>
              <a:r>
                <a:rPr lang="en-GB" sz="1800" i="0" u="none" strike="noStrike" cap="none" dirty="0">
                  <a:solidFill>
                    <a:schemeClr val="lt1"/>
                  </a:solidFill>
                  <a:latin typeface="Arial" panose="020B0604020202020204"/>
                  <a:ea typeface="Arial" panose="020B0604020202020204"/>
                  <a:cs typeface="Arial" panose="020B0604020202020204"/>
                  <a:sym typeface="Arial" panose="020B0604020202020204"/>
                </a:rPr>
                <a:t>of both parties, using predefined and standard terms and conditions </a:t>
              </a:r>
              <a:br>
                <a:rPr lang="en-GB" sz="1800" i="0" u="none" strike="noStrike" cap="none" dirty="0">
                  <a:solidFill>
                    <a:schemeClr val="lt1"/>
                  </a:solidFill>
                  <a:latin typeface="Arial" panose="020B0604020202020204"/>
                  <a:ea typeface="Arial" panose="020B0604020202020204"/>
                  <a:cs typeface="Arial" panose="020B0604020202020204"/>
                  <a:sym typeface="Arial" panose="020B0604020202020204"/>
                </a:rPr>
              </a:br>
              <a:r>
                <a:rPr lang="en-GB" sz="1800" i="0" u="none" strike="noStrike" cap="none" dirty="0">
                  <a:solidFill>
                    <a:schemeClr val="lt1"/>
                  </a:solidFill>
                  <a:latin typeface="Arial" panose="020B0604020202020204"/>
                  <a:ea typeface="Arial" panose="020B0604020202020204"/>
                  <a:cs typeface="Arial" panose="020B0604020202020204"/>
                  <a:sym typeface="Arial" panose="020B0604020202020204"/>
                </a:rPr>
                <a:t>(and which is typically not tailored to record particular arrangements </a:t>
              </a:r>
              <a:br>
                <a:rPr lang="en-GB" sz="1800" i="0" u="none" strike="noStrike" cap="none" dirty="0">
                  <a:solidFill>
                    <a:schemeClr val="lt1"/>
                  </a:solidFill>
                  <a:latin typeface="Arial" panose="020B0604020202020204"/>
                  <a:ea typeface="Arial" panose="020B0604020202020204"/>
                  <a:cs typeface="Arial" panose="020B0604020202020204"/>
                  <a:sym typeface="Arial" panose="020B0604020202020204"/>
                </a:rPr>
              </a:br>
              <a:r>
                <a:rPr lang="en-GB" sz="1800" i="0" u="none" strike="noStrike" cap="none" dirty="0">
                  <a:solidFill>
                    <a:schemeClr val="lt1"/>
                  </a:solidFill>
                  <a:latin typeface="Arial" panose="020B0604020202020204"/>
                  <a:ea typeface="Arial" panose="020B0604020202020204"/>
                  <a:cs typeface="Arial" panose="020B0604020202020204"/>
                  <a:sym typeface="Arial" panose="020B0604020202020204"/>
                </a:rPr>
                <a:t>between the two specific parties)</a:t>
              </a:r>
              <a:endParaRPr dirty="0"/>
            </a:p>
            <a:p>
              <a:pPr marL="228600" marR="0" lvl="0" indent="-228600" algn="l" rtl="0">
                <a:spcBef>
                  <a:spcPts val="600"/>
                </a:spcBef>
                <a:spcAft>
                  <a:spcPts val="0"/>
                </a:spcAft>
                <a:buClr>
                  <a:schemeClr val="lt1"/>
                </a:buClr>
                <a:buSzPts val="1800"/>
                <a:buFont typeface="Arial" panose="020B0604020202020204"/>
                <a:buChar char="•"/>
              </a:pPr>
              <a:r>
                <a:rPr lang="en-GB" sz="1800" i="0" u="none" strike="noStrike" cap="none" dirty="0">
                  <a:solidFill>
                    <a:schemeClr val="lt1"/>
                  </a:solidFill>
                  <a:latin typeface="Arial" panose="020B0604020202020204"/>
                  <a:ea typeface="Arial" panose="020B0604020202020204"/>
                  <a:cs typeface="Arial" panose="020B0604020202020204"/>
                  <a:sym typeface="Arial" panose="020B0604020202020204"/>
                </a:rPr>
                <a:t>A pre-printed umbrella document which includes the boilerplate provisions  (unless varied by the schedule to the master agreement)                                   </a:t>
              </a:r>
              <a:endParaRPr lang="en-GB" sz="1800" dirty="0">
                <a:solidFill>
                  <a:schemeClr val="lt1"/>
                </a:solidFill>
              </a:endParaRPr>
            </a:p>
            <a:p>
              <a:pPr marR="0" lvl="0" algn="l" rtl="0">
                <a:spcBef>
                  <a:spcPts val="600"/>
                </a:spcBef>
                <a:spcAft>
                  <a:spcPts val="0"/>
                </a:spcAft>
                <a:buClr>
                  <a:schemeClr val="lt1"/>
                </a:buClr>
                <a:buSzPts val="1800"/>
              </a:pPr>
              <a:endParaRPr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2"/>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IMA</a:t>
            </a:r>
            <a:endParaRPr lang="en-GB" b="1"/>
          </a:p>
        </p:txBody>
      </p:sp>
      <p:grpSp>
        <p:nvGrpSpPr>
          <p:cNvPr id="333" name="Google Shape;333;p12"/>
          <p:cNvGrpSpPr/>
          <p:nvPr/>
        </p:nvGrpSpPr>
        <p:grpSpPr>
          <a:xfrm>
            <a:off x="356633" y="1137925"/>
            <a:ext cx="7991255" cy="1507074"/>
            <a:chOff x="685800" y="541733"/>
            <a:chExt cx="7991255" cy="1507074"/>
          </a:xfrm>
        </p:grpSpPr>
        <p:sp>
          <p:nvSpPr>
            <p:cNvPr id="334" name="Google Shape;334;p12"/>
            <p:cNvSpPr/>
            <p:nvPr/>
          </p:nvSpPr>
          <p:spPr>
            <a:xfrm>
              <a:off x="2253661" y="541733"/>
              <a:ext cx="6423394" cy="522096"/>
            </a:xfrm>
            <a:prstGeom prst="roundRect">
              <a:avLst>
                <a:gd name="adj" fmla="val 27468"/>
              </a:avLst>
            </a:prstGeom>
            <a:solidFill>
              <a:srgbClr val="DAF3EB"/>
            </a:solidFill>
            <a:ln>
              <a:noFill/>
            </a:ln>
          </p:spPr>
          <p:txBody>
            <a:bodyPr spcFirstLastPara="1" wrap="square" lIns="195825" tIns="45700" rIns="91425" bIns="45700" anchor="ctr" anchorCtr="0">
              <a:noAutofit/>
            </a:bodyPr>
            <a:lstStyle/>
            <a:p>
              <a:pPr marL="0" marR="0" lvl="0" indent="0" algn="ctr" rtl="0">
                <a:lnSpc>
                  <a:spcPct val="120000"/>
                </a:lnSpc>
                <a:spcBef>
                  <a:spcPts val="0"/>
                </a:spcBef>
                <a:spcAft>
                  <a:spcPts val="0"/>
                </a:spcAft>
                <a:buClr>
                  <a:schemeClr val="dk1"/>
                </a:buClr>
                <a:buSzPts val="1800"/>
                <a:buFont typeface="Arial" panose="020B0604020202020204"/>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Events of Defaults and Termination Events</a:t>
              </a:r>
              <a:endParaRPr sz="1800" b="1" dirty="0"/>
            </a:p>
          </p:txBody>
        </p:sp>
        <p:grpSp>
          <p:nvGrpSpPr>
            <p:cNvPr id="335" name="Google Shape;335;p12"/>
            <p:cNvGrpSpPr/>
            <p:nvPr/>
          </p:nvGrpSpPr>
          <p:grpSpPr>
            <a:xfrm>
              <a:off x="685800" y="1125541"/>
              <a:ext cx="4811657" cy="923266"/>
              <a:chOff x="3628" y="1169073"/>
              <a:chExt cx="4811657" cy="923266"/>
            </a:xfrm>
          </p:grpSpPr>
          <p:sp>
            <p:nvSpPr>
              <p:cNvPr id="336" name="Google Shape;336;p12"/>
              <p:cNvSpPr/>
              <p:nvPr/>
            </p:nvSpPr>
            <p:spPr>
              <a:xfrm>
                <a:off x="3154681" y="1402708"/>
                <a:ext cx="1163067" cy="171251"/>
              </a:xfrm>
              <a:custGeom>
                <a:avLst/>
                <a:gdLst/>
                <a:ahLst/>
                <a:cxnLst/>
                <a:rect l="l" t="t" r="r" b="b"/>
                <a:pathLst>
                  <a:path w="2087298" h="160020" extrusionOk="0">
                    <a:moveTo>
                      <a:pt x="0" y="0"/>
                    </a:moveTo>
                    <a:lnTo>
                      <a:pt x="2007288" y="0"/>
                    </a:lnTo>
                    <a:cubicBezTo>
                      <a:pt x="2051476" y="0"/>
                      <a:pt x="2087298" y="35822"/>
                      <a:pt x="2087298" y="80010"/>
                    </a:cubicBezTo>
                    <a:lnTo>
                      <a:pt x="2087298" y="80010"/>
                    </a:lnTo>
                    <a:cubicBezTo>
                      <a:pt x="2087298" y="124198"/>
                      <a:pt x="2051476" y="160020"/>
                      <a:pt x="2007288" y="160020"/>
                    </a:cubicBezTo>
                  </a:path>
                </a:pathLst>
              </a:cu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37" name="Google Shape;337;p12"/>
              <p:cNvSpPr/>
              <p:nvPr/>
            </p:nvSpPr>
            <p:spPr>
              <a:xfrm>
                <a:off x="3154682" y="1359283"/>
                <a:ext cx="66879" cy="65495"/>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38" name="Google Shape;338;p12"/>
              <p:cNvSpPr/>
              <p:nvPr/>
            </p:nvSpPr>
            <p:spPr>
              <a:xfrm>
                <a:off x="3628" y="1503493"/>
                <a:ext cx="4781501" cy="588846"/>
              </a:xfrm>
              <a:prstGeom prst="roundRect">
                <a:avLst>
                  <a:gd name="adj" fmla="val 27468"/>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dk1"/>
                  </a:buClr>
                  <a:buSzPts val="1800"/>
                  <a:buFont typeface="Arial" panose="020B0604020202020204"/>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EVENTS</a:t>
                </a:r>
                <a:endParaRPr dirty="0"/>
              </a:p>
            </p:txBody>
          </p:sp>
          <p:sp>
            <p:nvSpPr>
              <p:cNvPr id="339" name="Google Shape;339;p12"/>
              <p:cNvSpPr/>
              <p:nvPr/>
            </p:nvSpPr>
            <p:spPr>
              <a:xfrm>
                <a:off x="4366487" y="1169073"/>
                <a:ext cx="448798" cy="448802"/>
              </a:xfrm>
              <a:prstGeom prst="ellipse">
                <a:avLst/>
              </a:prstGeom>
              <a:solidFill>
                <a:schemeClr val="accent3"/>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01</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340" name="Google Shape;340;p12"/>
          <p:cNvGrpSpPr/>
          <p:nvPr/>
        </p:nvGrpSpPr>
        <p:grpSpPr>
          <a:xfrm>
            <a:off x="2105436" y="2626692"/>
            <a:ext cx="4811657" cy="923266"/>
            <a:chOff x="3628" y="2179513"/>
            <a:chExt cx="4811657" cy="923266"/>
          </a:xfrm>
        </p:grpSpPr>
        <p:sp>
          <p:nvSpPr>
            <p:cNvPr id="341" name="Google Shape;341;p12"/>
            <p:cNvSpPr/>
            <p:nvPr/>
          </p:nvSpPr>
          <p:spPr>
            <a:xfrm>
              <a:off x="3154681" y="2413148"/>
              <a:ext cx="1163067" cy="171251"/>
            </a:xfrm>
            <a:custGeom>
              <a:avLst/>
              <a:gdLst/>
              <a:ahLst/>
              <a:cxnLst/>
              <a:rect l="l" t="t" r="r" b="b"/>
              <a:pathLst>
                <a:path w="2087298" h="160020" extrusionOk="0">
                  <a:moveTo>
                    <a:pt x="0" y="0"/>
                  </a:moveTo>
                  <a:lnTo>
                    <a:pt x="2007288" y="0"/>
                  </a:lnTo>
                  <a:cubicBezTo>
                    <a:pt x="2051476" y="0"/>
                    <a:pt x="2087298" y="35822"/>
                    <a:pt x="2087298" y="80010"/>
                  </a:cubicBezTo>
                  <a:lnTo>
                    <a:pt x="2087298" y="80010"/>
                  </a:lnTo>
                  <a:cubicBezTo>
                    <a:pt x="2087298" y="124198"/>
                    <a:pt x="2051476" y="160020"/>
                    <a:pt x="2007288" y="160020"/>
                  </a:cubicBezTo>
                </a:path>
              </a:pathLst>
            </a:custGeom>
            <a:no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42" name="Google Shape;342;p12"/>
            <p:cNvSpPr/>
            <p:nvPr/>
          </p:nvSpPr>
          <p:spPr>
            <a:xfrm>
              <a:off x="3154682" y="2369723"/>
              <a:ext cx="66879" cy="65495"/>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43" name="Google Shape;343;p12"/>
            <p:cNvSpPr/>
            <p:nvPr/>
          </p:nvSpPr>
          <p:spPr>
            <a:xfrm>
              <a:off x="3628" y="2513933"/>
              <a:ext cx="4781501" cy="588846"/>
            </a:xfrm>
            <a:prstGeom prst="roundRect">
              <a:avLst>
                <a:gd name="adj" fmla="val 27468"/>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dk1"/>
                </a:buClr>
                <a:buSzPts val="1800"/>
                <a:buFont typeface="Arial" panose="020B0604020202020204"/>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PAYMENT AND DELIVERIES </a:t>
              </a:r>
              <a:endParaRPr dirty="0"/>
            </a:p>
          </p:txBody>
        </p:sp>
        <p:sp>
          <p:nvSpPr>
            <p:cNvPr id="344" name="Google Shape;344;p12"/>
            <p:cNvSpPr/>
            <p:nvPr/>
          </p:nvSpPr>
          <p:spPr>
            <a:xfrm>
              <a:off x="4366487" y="2179513"/>
              <a:ext cx="448798" cy="448802"/>
            </a:xfrm>
            <a:prstGeom prst="ellipse">
              <a:avLst/>
            </a:prstGeom>
            <a:solidFill>
              <a:schemeClr val="accent4"/>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02</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345" name="Google Shape;345;p12"/>
          <p:cNvGrpSpPr/>
          <p:nvPr/>
        </p:nvGrpSpPr>
        <p:grpSpPr>
          <a:xfrm>
            <a:off x="3047534" y="3579465"/>
            <a:ext cx="4811657" cy="923266"/>
            <a:chOff x="3628" y="3189953"/>
            <a:chExt cx="4811657" cy="923266"/>
          </a:xfrm>
        </p:grpSpPr>
        <p:sp>
          <p:nvSpPr>
            <p:cNvPr id="346" name="Google Shape;346;p12"/>
            <p:cNvSpPr/>
            <p:nvPr/>
          </p:nvSpPr>
          <p:spPr>
            <a:xfrm>
              <a:off x="3154681" y="3423588"/>
              <a:ext cx="1163067" cy="171251"/>
            </a:xfrm>
            <a:custGeom>
              <a:avLst/>
              <a:gdLst/>
              <a:ahLst/>
              <a:cxnLst/>
              <a:rect l="l" t="t" r="r" b="b"/>
              <a:pathLst>
                <a:path w="2087298" h="160020" extrusionOk="0">
                  <a:moveTo>
                    <a:pt x="0" y="0"/>
                  </a:moveTo>
                  <a:lnTo>
                    <a:pt x="2007288" y="0"/>
                  </a:lnTo>
                  <a:cubicBezTo>
                    <a:pt x="2051476" y="0"/>
                    <a:pt x="2087298" y="35822"/>
                    <a:pt x="2087298" y="80010"/>
                  </a:cubicBezTo>
                  <a:lnTo>
                    <a:pt x="2087298" y="80010"/>
                  </a:lnTo>
                  <a:cubicBezTo>
                    <a:pt x="2087298" y="124198"/>
                    <a:pt x="2051476" y="160020"/>
                    <a:pt x="2007288" y="160020"/>
                  </a:cubicBezTo>
                </a:path>
              </a:pathLst>
            </a:cu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dirty="0">
                <a:solidFill>
                  <a:srgbClr val="FFFFFF"/>
                </a:solidFill>
                <a:latin typeface="Arial" panose="020B0604020202020204"/>
                <a:ea typeface="Arial" panose="020B0604020202020204"/>
                <a:cs typeface="Arial" panose="020B0604020202020204"/>
                <a:sym typeface="Arial" panose="020B0604020202020204"/>
              </a:endParaRPr>
            </a:p>
          </p:txBody>
        </p:sp>
        <p:sp>
          <p:nvSpPr>
            <p:cNvPr id="347" name="Google Shape;347;p12"/>
            <p:cNvSpPr/>
            <p:nvPr/>
          </p:nvSpPr>
          <p:spPr>
            <a:xfrm>
              <a:off x="3154682" y="3380163"/>
              <a:ext cx="66879" cy="65495"/>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48" name="Google Shape;348;p12"/>
            <p:cNvSpPr/>
            <p:nvPr/>
          </p:nvSpPr>
          <p:spPr>
            <a:xfrm>
              <a:off x="3628" y="3524373"/>
              <a:ext cx="4781501" cy="588846"/>
            </a:xfrm>
            <a:prstGeom prst="roundRect">
              <a:avLst>
                <a:gd name="adj" fmla="val 27468"/>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dk1"/>
                </a:buClr>
                <a:buSzPts val="1800"/>
                <a:buFont typeface="Arial" panose="020B0604020202020204"/>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CLOSE OUT AND NETTING </a:t>
              </a:r>
              <a:endParaRPr dirty="0"/>
            </a:p>
          </p:txBody>
        </p:sp>
        <p:sp>
          <p:nvSpPr>
            <p:cNvPr id="349" name="Google Shape;349;p12"/>
            <p:cNvSpPr/>
            <p:nvPr/>
          </p:nvSpPr>
          <p:spPr>
            <a:xfrm>
              <a:off x="4366487" y="3189953"/>
              <a:ext cx="448798" cy="448802"/>
            </a:xfrm>
            <a:prstGeom prst="ellipse">
              <a:avLst/>
            </a:prstGeom>
            <a:solidFill>
              <a:schemeClr val="accent3"/>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03</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350" name="Google Shape;350;p12"/>
          <p:cNvGrpSpPr/>
          <p:nvPr/>
        </p:nvGrpSpPr>
        <p:grpSpPr>
          <a:xfrm>
            <a:off x="4867722" y="4424399"/>
            <a:ext cx="4811657" cy="923266"/>
            <a:chOff x="3628" y="4200393"/>
            <a:chExt cx="4811657" cy="923266"/>
          </a:xfrm>
        </p:grpSpPr>
        <p:sp>
          <p:nvSpPr>
            <p:cNvPr id="351" name="Google Shape;351;p12"/>
            <p:cNvSpPr/>
            <p:nvPr/>
          </p:nvSpPr>
          <p:spPr>
            <a:xfrm>
              <a:off x="3154681" y="4434028"/>
              <a:ext cx="1163067" cy="171251"/>
            </a:xfrm>
            <a:custGeom>
              <a:avLst/>
              <a:gdLst/>
              <a:ahLst/>
              <a:cxnLst/>
              <a:rect l="l" t="t" r="r" b="b"/>
              <a:pathLst>
                <a:path w="2087298" h="160020" extrusionOk="0">
                  <a:moveTo>
                    <a:pt x="0" y="0"/>
                  </a:moveTo>
                  <a:lnTo>
                    <a:pt x="2007288" y="0"/>
                  </a:lnTo>
                  <a:cubicBezTo>
                    <a:pt x="2051476" y="0"/>
                    <a:pt x="2087298" y="35822"/>
                    <a:pt x="2087298" y="80010"/>
                  </a:cubicBezTo>
                  <a:lnTo>
                    <a:pt x="2087298" y="80010"/>
                  </a:lnTo>
                  <a:cubicBezTo>
                    <a:pt x="2087298" y="124198"/>
                    <a:pt x="2051476" y="160020"/>
                    <a:pt x="2007288" y="160020"/>
                  </a:cubicBezTo>
                </a:path>
              </a:pathLst>
            </a:custGeom>
            <a:no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52" name="Google Shape;352;p12"/>
            <p:cNvSpPr/>
            <p:nvPr/>
          </p:nvSpPr>
          <p:spPr>
            <a:xfrm>
              <a:off x="3154682" y="4390603"/>
              <a:ext cx="66879" cy="65495"/>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53" name="Google Shape;353;p12"/>
            <p:cNvSpPr/>
            <p:nvPr/>
          </p:nvSpPr>
          <p:spPr>
            <a:xfrm>
              <a:off x="3628" y="4534813"/>
              <a:ext cx="4781501" cy="588846"/>
            </a:xfrm>
            <a:prstGeom prst="roundRect">
              <a:avLst>
                <a:gd name="adj" fmla="val 27468"/>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dk1"/>
                </a:buClr>
                <a:buSzPts val="1800"/>
                <a:buFont typeface="Arial" panose="020B0604020202020204"/>
                <a:buNone/>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DISPUTES</a:t>
              </a:r>
              <a:endPar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54" name="Google Shape;354;p12"/>
            <p:cNvSpPr/>
            <p:nvPr/>
          </p:nvSpPr>
          <p:spPr>
            <a:xfrm>
              <a:off x="4366487" y="4200393"/>
              <a:ext cx="448798" cy="448802"/>
            </a:xfrm>
            <a:prstGeom prst="ellipse">
              <a:avLst/>
            </a:prstGeom>
            <a:solidFill>
              <a:schemeClr val="accent4"/>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04</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355" name="Google Shape;355;p12"/>
          <p:cNvGrpSpPr/>
          <p:nvPr/>
        </p:nvGrpSpPr>
        <p:grpSpPr>
          <a:xfrm>
            <a:off x="6692694" y="5347665"/>
            <a:ext cx="4811857" cy="995988"/>
            <a:chOff x="3428" y="5210834"/>
            <a:chExt cx="4811857" cy="995988"/>
          </a:xfrm>
        </p:grpSpPr>
        <p:sp>
          <p:nvSpPr>
            <p:cNvPr id="356" name="Google Shape;356;p12"/>
            <p:cNvSpPr/>
            <p:nvPr/>
          </p:nvSpPr>
          <p:spPr>
            <a:xfrm>
              <a:off x="3154683" y="5372914"/>
              <a:ext cx="1163067" cy="171251"/>
            </a:xfrm>
            <a:custGeom>
              <a:avLst/>
              <a:gdLst/>
              <a:ahLst/>
              <a:cxnLst/>
              <a:rect l="l" t="t" r="r" b="b"/>
              <a:pathLst>
                <a:path w="2087298" h="160020" extrusionOk="0">
                  <a:moveTo>
                    <a:pt x="0" y="0"/>
                  </a:moveTo>
                  <a:lnTo>
                    <a:pt x="2007288" y="0"/>
                  </a:lnTo>
                  <a:cubicBezTo>
                    <a:pt x="2051476" y="0"/>
                    <a:pt x="2087298" y="35822"/>
                    <a:pt x="2087298" y="80010"/>
                  </a:cubicBezTo>
                  <a:lnTo>
                    <a:pt x="2087298" y="80010"/>
                  </a:lnTo>
                  <a:cubicBezTo>
                    <a:pt x="2087298" y="124198"/>
                    <a:pt x="2051476" y="160020"/>
                    <a:pt x="2007288" y="160020"/>
                  </a:cubicBezTo>
                </a:path>
              </a:pathLst>
            </a:cu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dirty="0">
                <a:solidFill>
                  <a:srgbClr val="FFFFFF"/>
                </a:solidFill>
                <a:latin typeface="Arial" panose="020B0604020202020204"/>
                <a:ea typeface="Arial" panose="020B0604020202020204"/>
                <a:cs typeface="Arial" panose="020B0604020202020204"/>
                <a:sym typeface="Arial" panose="020B0604020202020204"/>
              </a:endParaRPr>
            </a:p>
          </p:txBody>
        </p:sp>
        <p:sp>
          <p:nvSpPr>
            <p:cNvPr id="357" name="Google Shape;357;p12"/>
            <p:cNvSpPr/>
            <p:nvPr/>
          </p:nvSpPr>
          <p:spPr>
            <a:xfrm flipH="1" flipV="1">
              <a:off x="3105944" y="5348164"/>
              <a:ext cx="48739" cy="52879"/>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lt1"/>
                </a:buClr>
                <a:buSzPts val="1200"/>
                <a:buFont typeface="Arial" panose="020B0604020202020204"/>
                <a:buNone/>
              </a:pPr>
              <a:endParaRPr sz="1200" b="1" i="0" u="none" strike="noStrike" cap="none" dirty="0">
                <a:solidFill>
                  <a:srgbClr val="FFFFFF"/>
                </a:solidFill>
                <a:latin typeface="Arial" panose="020B0604020202020204"/>
                <a:ea typeface="Arial" panose="020B0604020202020204"/>
                <a:cs typeface="Arial" panose="020B0604020202020204"/>
                <a:sym typeface="Arial" panose="020B0604020202020204"/>
              </a:endParaRPr>
            </a:p>
          </p:txBody>
        </p:sp>
        <p:sp>
          <p:nvSpPr>
            <p:cNvPr id="358" name="Google Shape;358;p12"/>
            <p:cNvSpPr/>
            <p:nvPr/>
          </p:nvSpPr>
          <p:spPr>
            <a:xfrm>
              <a:off x="3428" y="5490400"/>
              <a:ext cx="4781501" cy="716422"/>
            </a:xfrm>
            <a:prstGeom prst="roundRect">
              <a:avLst>
                <a:gd name="adj" fmla="val 27468"/>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chemeClr val="dk1"/>
                </a:buClr>
                <a:buSzPts val="1800"/>
                <a:buFont typeface="Arial" panose="020B0604020202020204"/>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CONTRACT FORMATION AND LEGAL RELATIONS </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359" name="Google Shape;359;p12"/>
            <p:cNvSpPr/>
            <p:nvPr/>
          </p:nvSpPr>
          <p:spPr>
            <a:xfrm>
              <a:off x="4366487" y="5210834"/>
              <a:ext cx="448798" cy="448802"/>
            </a:xfrm>
            <a:prstGeom prst="ellipse">
              <a:avLst/>
            </a:prstGeom>
            <a:solidFill>
              <a:schemeClr val="accent3"/>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r>
                <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rPr>
                <a:t>05</a:t>
              </a:r>
              <a:endParaRPr lang="en-GB"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13"/>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EVENTS - EVENTS OF DEFAULTS AND TERMINATION EVENTS</a:t>
            </a:r>
            <a:endParaRPr lang="en-GB" b="1"/>
          </a:p>
        </p:txBody>
      </p:sp>
      <p:sp>
        <p:nvSpPr>
          <p:cNvPr id="366" name="Google Shape;366;p13"/>
          <p:cNvSpPr/>
          <p:nvPr/>
        </p:nvSpPr>
        <p:spPr>
          <a:xfrm>
            <a:off x="0" y="1121291"/>
            <a:ext cx="12192000" cy="44338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Events of Defaults </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grpSp>
        <p:nvGrpSpPr>
          <p:cNvPr id="367" name="Google Shape;367;p13"/>
          <p:cNvGrpSpPr/>
          <p:nvPr/>
        </p:nvGrpSpPr>
        <p:grpSpPr>
          <a:xfrm>
            <a:off x="298706" y="1751567"/>
            <a:ext cx="11594588" cy="4596141"/>
            <a:chOff x="388886" y="1827134"/>
            <a:chExt cx="11594588" cy="4596141"/>
          </a:xfrm>
        </p:grpSpPr>
        <p:grpSp>
          <p:nvGrpSpPr>
            <p:cNvPr id="368" name="Google Shape;368;p13"/>
            <p:cNvGrpSpPr/>
            <p:nvPr/>
          </p:nvGrpSpPr>
          <p:grpSpPr>
            <a:xfrm>
              <a:off x="388886" y="1860370"/>
              <a:ext cx="370333" cy="463533"/>
              <a:chOff x="4716016" y="2750481"/>
              <a:chExt cx="1432176" cy="1693242"/>
            </a:xfrm>
          </p:grpSpPr>
          <p:grpSp>
            <p:nvGrpSpPr>
              <p:cNvPr id="369" name="Google Shape;369;p13"/>
              <p:cNvGrpSpPr/>
              <p:nvPr/>
            </p:nvGrpSpPr>
            <p:grpSpPr>
              <a:xfrm>
                <a:off x="4716016" y="2750481"/>
                <a:ext cx="1216152" cy="1497360"/>
                <a:chOff x="4716016" y="2750481"/>
                <a:chExt cx="1216152" cy="1497360"/>
              </a:xfrm>
            </p:grpSpPr>
            <p:sp>
              <p:nvSpPr>
                <p:cNvPr id="370" name="Google Shape;370;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71" name="Google Shape;371;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372" name="Google Shape;372;p13"/>
              <p:cNvGrpSpPr/>
              <p:nvPr/>
            </p:nvGrpSpPr>
            <p:grpSpPr>
              <a:xfrm rot="10800000">
                <a:off x="4932040" y="2946363"/>
                <a:ext cx="1216152" cy="1497360"/>
                <a:chOff x="4716016" y="2750481"/>
                <a:chExt cx="1216152" cy="1497360"/>
              </a:xfrm>
            </p:grpSpPr>
            <p:sp>
              <p:nvSpPr>
                <p:cNvPr id="373" name="Google Shape;373;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74" name="Google Shape;374;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375" name="Google Shape;375;p13"/>
            <p:cNvGrpSpPr/>
            <p:nvPr/>
          </p:nvGrpSpPr>
          <p:grpSpPr>
            <a:xfrm>
              <a:off x="388886" y="2674617"/>
              <a:ext cx="370333" cy="463533"/>
              <a:chOff x="4716016" y="2750481"/>
              <a:chExt cx="1432176" cy="1693242"/>
            </a:xfrm>
          </p:grpSpPr>
          <p:grpSp>
            <p:nvGrpSpPr>
              <p:cNvPr id="376" name="Google Shape;376;p13"/>
              <p:cNvGrpSpPr/>
              <p:nvPr/>
            </p:nvGrpSpPr>
            <p:grpSpPr>
              <a:xfrm>
                <a:off x="4716016" y="2750481"/>
                <a:ext cx="1216152" cy="1497360"/>
                <a:chOff x="4716016" y="2750481"/>
                <a:chExt cx="1216152" cy="1497360"/>
              </a:xfrm>
            </p:grpSpPr>
            <p:sp>
              <p:nvSpPr>
                <p:cNvPr id="377" name="Google Shape;377;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78" name="Google Shape;378;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379" name="Google Shape;379;p13"/>
              <p:cNvGrpSpPr/>
              <p:nvPr/>
            </p:nvGrpSpPr>
            <p:grpSpPr>
              <a:xfrm rot="10800000">
                <a:off x="4932040" y="2946363"/>
                <a:ext cx="1216152" cy="1497360"/>
                <a:chOff x="4716016" y="2750481"/>
                <a:chExt cx="1216152" cy="1497360"/>
              </a:xfrm>
            </p:grpSpPr>
            <p:sp>
              <p:nvSpPr>
                <p:cNvPr id="380" name="Google Shape;380;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81" name="Google Shape;381;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382" name="Google Shape;382;p13"/>
            <p:cNvGrpSpPr/>
            <p:nvPr/>
          </p:nvGrpSpPr>
          <p:grpSpPr>
            <a:xfrm>
              <a:off x="388886" y="3488864"/>
              <a:ext cx="370333" cy="463533"/>
              <a:chOff x="4716016" y="2750481"/>
              <a:chExt cx="1432176" cy="1693242"/>
            </a:xfrm>
          </p:grpSpPr>
          <p:grpSp>
            <p:nvGrpSpPr>
              <p:cNvPr id="383" name="Google Shape;383;p13"/>
              <p:cNvGrpSpPr/>
              <p:nvPr/>
            </p:nvGrpSpPr>
            <p:grpSpPr>
              <a:xfrm>
                <a:off x="4716016" y="2750481"/>
                <a:ext cx="1216152" cy="1497360"/>
                <a:chOff x="4716016" y="2750481"/>
                <a:chExt cx="1216152" cy="1497360"/>
              </a:xfrm>
            </p:grpSpPr>
            <p:sp>
              <p:nvSpPr>
                <p:cNvPr id="384" name="Google Shape;384;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85" name="Google Shape;385;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386" name="Google Shape;386;p13"/>
              <p:cNvGrpSpPr/>
              <p:nvPr/>
            </p:nvGrpSpPr>
            <p:grpSpPr>
              <a:xfrm rot="10800000">
                <a:off x="4932040" y="2946363"/>
                <a:ext cx="1216152" cy="1497360"/>
                <a:chOff x="4716016" y="2750481"/>
                <a:chExt cx="1216152" cy="1497360"/>
              </a:xfrm>
            </p:grpSpPr>
            <p:sp>
              <p:nvSpPr>
                <p:cNvPr id="387" name="Google Shape;387;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88" name="Google Shape;388;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389" name="Google Shape;389;p13"/>
            <p:cNvGrpSpPr/>
            <p:nvPr/>
          </p:nvGrpSpPr>
          <p:grpSpPr>
            <a:xfrm>
              <a:off x="388886" y="5117358"/>
              <a:ext cx="370333" cy="463533"/>
              <a:chOff x="4716016" y="2750481"/>
              <a:chExt cx="1432176" cy="1693242"/>
            </a:xfrm>
          </p:grpSpPr>
          <p:grpSp>
            <p:nvGrpSpPr>
              <p:cNvPr id="390" name="Google Shape;390;p13"/>
              <p:cNvGrpSpPr/>
              <p:nvPr/>
            </p:nvGrpSpPr>
            <p:grpSpPr>
              <a:xfrm>
                <a:off x="4716016" y="2750481"/>
                <a:ext cx="1216152" cy="1497360"/>
                <a:chOff x="4716016" y="2750481"/>
                <a:chExt cx="1216152" cy="1497360"/>
              </a:xfrm>
            </p:grpSpPr>
            <p:sp>
              <p:nvSpPr>
                <p:cNvPr id="391" name="Google Shape;391;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92" name="Google Shape;392;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393" name="Google Shape;393;p13"/>
              <p:cNvGrpSpPr/>
              <p:nvPr/>
            </p:nvGrpSpPr>
            <p:grpSpPr>
              <a:xfrm rot="10800000">
                <a:off x="4932040" y="2946363"/>
                <a:ext cx="1216152" cy="1497360"/>
                <a:chOff x="4716016" y="2750481"/>
                <a:chExt cx="1216152" cy="1497360"/>
              </a:xfrm>
            </p:grpSpPr>
            <p:sp>
              <p:nvSpPr>
                <p:cNvPr id="394" name="Google Shape;394;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95" name="Google Shape;395;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396" name="Google Shape;396;p13"/>
            <p:cNvGrpSpPr/>
            <p:nvPr/>
          </p:nvGrpSpPr>
          <p:grpSpPr>
            <a:xfrm>
              <a:off x="388886" y="5931607"/>
              <a:ext cx="370333" cy="463533"/>
              <a:chOff x="4716016" y="2750481"/>
              <a:chExt cx="1432176" cy="1693242"/>
            </a:xfrm>
          </p:grpSpPr>
          <p:grpSp>
            <p:nvGrpSpPr>
              <p:cNvPr id="397" name="Google Shape;397;p13"/>
              <p:cNvGrpSpPr/>
              <p:nvPr/>
            </p:nvGrpSpPr>
            <p:grpSpPr>
              <a:xfrm>
                <a:off x="4716016" y="2750481"/>
                <a:ext cx="1216152" cy="1497360"/>
                <a:chOff x="4716016" y="2750481"/>
                <a:chExt cx="1216152" cy="1497360"/>
              </a:xfrm>
            </p:grpSpPr>
            <p:sp>
              <p:nvSpPr>
                <p:cNvPr id="398" name="Google Shape;398;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399" name="Google Shape;399;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400" name="Google Shape;400;p13"/>
              <p:cNvGrpSpPr/>
              <p:nvPr/>
            </p:nvGrpSpPr>
            <p:grpSpPr>
              <a:xfrm rot="10800000">
                <a:off x="4932040" y="2946363"/>
                <a:ext cx="1216152" cy="1497360"/>
                <a:chOff x="4716016" y="2750481"/>
                <a:chExt cx="1216152" cy="1497360"/>
              </a:xfrm>
            </p:grpSpPr>
            <p:sp>
              <p:nvSpPr>
                <p:cNvPr id="401" name="Google Shape;401;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02" name="Google Shape;402;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sp>
          <p:nvSpPr>
            <p:cNvPr id="403" name="Google Shape;403;p13"/>
            <p:cNvSpPr/>
            <p:nvPr/>
          </p:nvSpPr>
          <p:spPr>
            <a:xfrm>
              <a:off x="987324" y="1827134"/>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1. Failure to Pay: </a:t>
              </a:r>
              <a:r>
                <a:rPr lang="en-GB" sz="1600">
                  <a:solidFill>
                    <a:schemeClr val="dk1"/>
                  </a:solidFill>
                  <a:latin typeface="Arial" panose="020B0604020202020204"/>
                  <a:ea typeface="Arial" panose="020B0604020202020204"/>
                  <a:cs typeface="Arial" panose="020B0604020202020204"/>
                  <a:sym typeface="Arial" panose="020B0604020202020204"/>
                </a:rPr>
                <a:t>Occurs when one party fails to make a required payment, such as interest, principal, or margin, when due.</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404" name="Google Shape;404;p13"/>
            <p:cNvSpPr/>
            <p:nvPr/>
          </p:nvSpPr>
          <p:spPr>
            <a:xfrm>
              <a:off x="987324" y="2618346"/>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2. Bankruptcy: </a:t>
              </a:r>
              <a:r>
                <a:rPr lang="en-GB" sz="1600">
                  <a:solidFill>
                    <a:schemeClr val="dk1"/>
                  </a:solidFill>
                  <a:latin typeface="Arial" panose="020B0604020202020204"/>
                  <a:ea typeface="Arial" panose="020B0604020202020204"/>
                  <a:cs typeface="Arial" panose="020B0604020202020204"/>
                  <a:sym typeface="Arial" panose="020B0604020202020204"/>
                </a:rPr>
                <a:t>If a party becomes insolvent, enters bankruptcy, or is subject to a similar event, it may trigger an Event of Default.</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405" name="Google Shape;405;p13"/>
            <p:cNvSpPr/>
            <p:nvPr/>
          </p:nvSpPr>
          <p:spPr>
            <a:xfrm>
              <a:off x="987324" y="3409558"/>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3. Cross Default: </a:t>
              </a:r>
              <a:r>
                <a:rPr lang="en-GB" sz="1600">
                  <a:solidFill>
                    <a:schemeClr val="dk1"/>
                  </a:solidFill>
                  <a:latin typeface="Arial" panose="020B0604020202020204"/>
                  <a:ea typeface="Arial" panose="020B0604020202020204"/>
                  <a:cs typeface="Arial" panose="020B0604020202020204"/>
                  <a:sym typeface="Arial" panose="020B0604020202020204"/>
                </a:rPr>
                <a:t>If a party defaults on a related financial agreement, it can trigger an Event of Default in the derivative contract.</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406" name="Google Shape;406;p13"/>
            <p:cNvSpPr/>
            <p:nvPr/>
          </p:nvSpPr>
          <p:spPr>
            <a:xfrm>
              <a:off x="987324" y="4991982"/>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5. Misrepresentation or Breach of Representations: </a:t>
              </a:r>
              <a:r>
                <a:rPr lang="en-GB" sz="1600">
                  <a:solidFill>
                    <a:schemeClr val="dk1"/>
                  </a:solidFill>
                  <a:latin typeface="Arial" panose="020B0604020202020204"/>
                  <a:ea typeface="Arial" panose="020B0604020202020204"/>
                  <a:cs typeface="Arial" panose="020B0604020202020204"/>
                  <a:sym typeface="Arial" panose="020B0604020202020204"/>
                </a:rPr>
                <a:t>A material misrepresentation or breach of representations and warranties by a party can trigger an Event of Default.</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407" name="Google Shape;407;p13"/>
            <p:cNvSpPr/>
            <p:nvPr/>
          </p:nvSpPr>
          <p:spPr>
            <a:xfrm>
              <a:off x="987324" y="5783195"/>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6. Illegality: </a:t>
              </a:r>
              <a:r>
                <a:rPr lang="en-GB" sz="1600">
                  <a:solidFill>
                    <a:schemeClr val="dk1"/>
                  </a:solidFill>
                  <a:latin typeface="Arial" panose="020B0604020202020204"/>
                  <a:ea typeface="Arial" panose="020B0604020202020204"/>
                  <a:cs typeface="Arial" panose="020B0604020202020204"/>
                  <a:sym typeface="Arial" panose="020B0604020202020204"/>
                </a:rPr>
                <a:t>If a change in law or regulations makes it illegal or impractical to maintain the derivative transaction, it may trigger an Event of Default.</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408" name="Google Shape;408;p13"/>
            <p:cNvGrpSpPr/>
            <p:nvPr/>
          </p:nvGrpSpPr>
          <p:grpSpPr>
            <a:xfrm>
              <a:off x="388886" y="4303111"/>
              <a:ext cx="370333" cy="463533"/>
              <a:chOff x="4716016" y="2750481"/>
              <a:chExt cx="1432176" cy="1693242"/>
            </a:xfrm>
          </p:grpSpPr>
          <p:grpSp>
            <p:nvGrpSpPr>
              <p:cNvPr id="409" name="Google Shape;409;p13"/>
              <p:cNvGrpSpPr/>
              <p:nvPr/>
            </p:nvGrpSpPr>
            <p:grpSpPr>
              <a:xfrm>
                <a:off x="4716016" y="2750481"/>
                <a:ext cx="1216152" cy="1497360"/>
                <a:chOff x="4716016" y="2750481"/>
                <a:chExt cx="1216152" cy="1497360"/>
              </a:xfrm>
            </p:grpSpPr>
            <p:sp>
              <p:nvSpPr>
                <p:cNvPr id="410" name="Google Shape;410;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11" name="Google Shape;411;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412" name="Google Shape;412;p13"/>
              <p:cNvGrpSpPr/>
              <p:nvPr/>
            </p:nvGrpSpPr>
            <p:grpSpPr>
              <a:xfrm rot="10800000">
                <a:off x="4932040" y="2946363"/>
                <a:ext cx="1216152" cy="1497360"/>
                <a:chOff x="4716016" y="2750481"/>
                <a:chExt cx="1216152" cy="1497360"/>
              </a:xfrm>
            </p:grpSpPr>
            <p:sp>
              <p:nvSpPr>
                <p:cNvPr id="413" name="Google Shape;413;p13"/>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14" name="Google Shape;414;p13"/>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sp>
          <p:nvSpPr>
            <p:cNvPr id="415" name="Google Shape;415;p13"/>
            <p:cNvSpPr/>
            <p:nvPr/>
          </p:nvSpPr>
          <p:spPr>
            <a:xfrm>
              <a:off x="987324" y="4200770"/>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dirty="0">
                  <a:solidFill>
                    <a:srgbClr val="146368"/>
                  </a:solidFill>
                  <a:latin typeface="Arial" panose="020B0604020202020204"/>
                  <a:ea typeface="Arial" panose="020B0604020202020204"/>
                  <a:cs typeface="Arial" panose="020B0604020202020204"/>
                  <a:sym typeface="Arial" panose="020B0604020202020204"/>
                </a:rPr>
                <a:t>4. Credit Support Default: </a:t>
              </a:r>
              <a:r>
                <a:rPr lang="en-GB" sz="1600" dirty="0">
                  <a:solidFill>
                    <a:schemeClr val="dk1"/>
                  </a:solidFill>
                  <a:latin typeface="Arial" panose="020B0604020202020204"/>
                  <a:ea typeface="Arial" panose="020B0604020202020204"/>
                  <a:cs typeface="Arial" panose="020B0604020202020204"/>
                  <a:sym typeface="Arial" panose="020B0604020202020204"/>
                </a:rPr>
                <a:t>If a party fails to post required collateral or provide a default amount, it may constitute an Event of Default.</a:t>
              </a:r>
              <a:endParaRPr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14"/>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EVENTS - EVENTS OF DEFAULTS AND TERMINATION EVENTS</a:t>
            </a:r>
            <a:endParaRPr lang="en-GB" b="1"/>
          </a:p>
        </p:txBody>
      </p:sp>
      <p:sp>
        <p:nvSpPr>
          <p:cNvPr id="422" name="Google Shape;422;p14"/>
          <p:cNvSpPr/>
          <p:nvPr/>
        </p:nvSpPr>
        <p:spPr>
          <a:xfrm>
            <a:off x="0" y="1121291"/>
            <a:ext cx="12192000" cy="44338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Termination Events</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grpSp>
        <p:nvGrpSpPr>
          <p:cNvPr id="423" name="Google Shape;423;p14"/>
          <p:cNvGrpSpPr/>
          <p:nvPr/>
        </p:nvGrpSpPr>
        <p:grpSpPr>
          <a:xfrm>
            <a:off x="298706" y="1931781"/>
            <a:ext cx="11594588" cy="3804928"/>
            <a:chOff x="388886" y="1827134"/>
            <a:chExt cx="11594588" cy="3804928"/>
          </a:xfrm>
        </p:grpSpPr>
        <p:grpSp>
          <p:nvGrpSpPr>
            <p:cNvPr id="424" name="Google Shape;424;p14"/>
            <p:cNvGrpSpPr/>
            <p:nvPr/>
          </p:nvGrpSpPr>
          <p:grpSpPr>
            <a:xfrm>
              <a:off x="388886" y="1860370"/>
              <a:ext cx="370333" cy="463533"/>
              <a:chOff x="4716016" y="2750481"/>
              <a:chExt cx="1432176" cy="1693242"/>
            </a:xfrm>
          </p:grpSpPr>
          <p:grpSp>
            <p:nvGrpSpPr>
              <p:cNvPr id="425" name="Google Shape;425;p14"/>
              <p:cNvGrpSpPr/>
              <p:nvPr/>
            </p:nvGrpSpPr>
            <p:grpSpPr>
              <a:xfrm>
                <a:off x="4716016" y="2750481"/>
                <a:ext cx="1216152" cy="1497360"/>
                <a:chOff x="4716016" y="2750481"/>
                <a:chExt cx="1216152" cy="1497360"/>
              </a:xfrm>
            </p:grpSpPr>
            <p:sp>
              <p:nvSpPr>
                <p:cNvPr id="426" name="Google Shape;426;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27" name="Google Shape;427;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428" name="Google Shape;428;p14"/>
              <p:cNvGrpSpPr/>
              <p:nvPr/>
            </p:nvGrpSpPr>
            <p:grpSpPr>
              <a:xfrm rot="10800000">
                <a:off x="4932040" y="2946363"/>
                <a:ext cx="1216152" cy="1497360"/>
                <a:chOff x="4716016" y="2750481"/>
                <a:chExt cx="1216152" cy="1497360"/>
              </a:xfrm>
            </p:grpSpPr>
            <p:sp>
              <p:nvSpPr>
                <p:cNvPr id="429" name="Google Shape;429;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30" name="Google Shape;430;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431" name="Google Shape;431;p14"/>
            <p:cNvGrpSpPr/>
            <p:nvPr/>
          </p:nvGrpSpPr>
          <p:grpSpPr>
            <a:xfrm>
              <a:off x="388886" y="2674617"/>
              <a:ext cx="370333" cy="463533"/>
              <a:chOff x="4716016" y="2750481"/>
              <a:chExt cx="1432176" cy="1693242"/>
            </a:xfrm>
          </p:grpSpPr>
          <p:grpSp>
            <p:nvGrpSpPr>
              <p:cNvPr id="432" name="Google Shape;432;p14"/>
              <p:cNvGrpSpPr/>
              <p:nvPr/>
            </p:nvGrpSpPr>
            <p:grpSpPr>
              <a:xfrm>
                <a:off x="4716016" y="2750481"/>
                <a:ext cx="1216152" cy="1497360"/>
                <a:chOff x="4716016" y="2750481"/>
                <a:chExt cx="1216152" cy="1497360"/>
              </a:xfrm>
            </p:grpSpPr>
            <p:sp>
              <p:nvSpPr>
                <p:cNvPr id="433" name="Google Shape;433;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34" name="Google Shape;434;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435" name="Google Shape;435;p14"/>
              <p:cNvGrpSpPr/>
              <p:nvPr/>
            </p:nvGrpSpPr>
            <p:grpSpPr>
              <a:xfrm rot="10800000">
                <a:off x="4932040" y="2946363"/>
                <a:ext cx="1216152" cy="1497360"/>
                <a:chOff x="4716016" y="2750481"/>
                <a:chExt cx="1216152" cy="1497360"/>
              </a:xfrm>
            </p:grpSpPr>
            <p:sp>
              <p:nvSpPr>
                <p:cNvPr id="436" name="Google Shape;436;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37" name="Google Shape;437;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438" name="Google Shape;438;p14"/>
            <p:cNvGrpSpPr/>
            <p:nvPr/>
          </p:nvGrpSpPr>
          <p:grpSpPr>
            <a:xfrm>
              <a:off x="388886" y="3488864"/>
              <a:ext cx="370333" cy="463533"/>
              <a:chOff x="4716016" y="2750481"/>
              <a:chExt cx="1432176" cy="1693242"/>
            </a:xfrm>
          </p:grpSpPr>
          <p:grpSp>
            <p:nvGrpSpPr>
              <p:cNvPr id="439" name="Google Shape;439;p14"/>
              <p:cNvGrpSpPr/>
              <p:nvPr/>
            </p:nvGrpSpPr>
            <p:grpSpPr>
              <a:xfrm>
                <a:off x="4716016" y="2750481"/>
                <a:ext cx="1216152" cy="1497360"/>
                <a:chOff x="4716016" y="2750481"/>
                <a:chExt cx="1216152" cy="1497360"/>
              </a:xfrm>
            </p:grpSpPr>
            <p:sp>
              <p:nvSpPr>
                <p:cNvPr id="440" name="Google Shape;440;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41" name="Google Shape;441;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442" name="Google Shape;442;p14"/>
              <p:cNvGrpSpPr/>
              <p:nvPr/>
            </p:nvGrpSpPr>
            <p:grpSpPr>
              <a:xfrm rot="10800000">
                <a:off x="4932040" y="2946363"/>
                <a:ext cx="1216152" cy="1497360"/>
                <a:chOff x="4716016" y="2750481"/>
                <a:chExt cx="1216152" cy="1497360"/>
              </a:xfrm>
            </p:grpSpPr>
            <p:sp>
              <p:nvSpPr>
                <p:cNvPr id="443" name="Google Shape;443;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44" name="Google Shape;444;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grpSp>
          <p:nvGrpSpPr>
            <p:cNvPr id="445" name="Google Shape;445;p14"/>
            <p:cNvGrpSpPr/>
            <p:nvPr/>
          </p:nvGrpSpPr>
          <p:grpSpPr>
            <a:xfrm>
              <a:off x="388886" y="5117358"/>
              <a:ext cx="370333" cy="463533"/>
              <a:chOff x="4716016" y="2750481"/>
              <a:chExt cx="1432176" cy="1693242"/>
            </a:xfrm>
          </p:grpSpPr>
          <p:grpSp>
            <p:nvGrpSpPr>
              <p:cNvPr id="446" name="Google Shape;446;p14"/>
              <p:cNvGrpSpPr/>
              <p:nvPr/>
            </p:nvGrpSpPr>
            <p:grpSpPr>
              <a:xfrm>
                <a:off x="4716016" y="2750481"/>
                <a:ext cx="1216152" cy="1497360"/>
                <a:chOff x="4716016" y="2750481"/>
                <a:chExt cx="1216152" cy="1497360"/>
              </a:xfrm>
            </p:grpSpPr>
            <p:sp>
              <p:nvSpPr>
                <p:cNvPr id="447" name="Google Shape;447;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48" name="Google Shape;448;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449" name="Google Shape;449;p14"/>
              <p:cNvGrpSpPr/>
              <p:nvPr/>
            </p:nvGrpSpPr>
            <p:grpSpPr>
              <a:xfrm rot="10800000">
                <a:off x="4932040" y="2946363"/>
                <a:ext cx="1216152" cy="1497360"/>
                <a:chOff x="4716016" y="2750481"/>
                <a:chExt cx="1216152" cy="1497360"/>
              </a:xfrm>
            </p:grpSpPr>
            <p:sp>
              <p:nvSpPr>
                <p:cNvPr id="450" name="Google Shape;450;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51" name="Google Shape;451;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sp>
          <p:nvSpPr>
            <p:cNvPr id="452" name="Google Shape;452;p14"/>
            <p:cNvSpPr/>
            <p:nvPr/>
          </p:nvSpPr>
          <p:spPr>
            <a:xfrm>
              <a:off x="987324" y="1827134"/>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Force Majeure: </a:t>
              </a:r>
              <a:r>
                <a:rPr lang="en-GB" sz="1600">
                  <a:solidFill>
                    <a:schemeClr val="dk1"/>
                  </a:solidFill>
                  <a:latin typeface="Arial" panose="020B0604020202020204"/>
                  <a:ea typeface="Arial" panose="020B0604020202020204"/>
                  <a:cs typeface="Arial" panose="020B0604020202020204"/>
                  <a:sym typeface="Arial" panose="020B0604020202020204"/>
                </a:rPr>
                <a:t>Certain extraordinary events beyond the control of the parties, such as acts of war, natural disasters, or government actions, can trigger a Termination Event.</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453" name="Google Shape;453;p14"/>
            <p:cNvSpPr/>
            <p:nvPr/>
          </p:nvSpPr>
          <p:spPr>
            <a:xfrm>
              <a:off x="987324" y="2618346"/>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Illegality: </a:t>
              </a:r>
              <a:r>
                <a:rPr lang="en-GB" sz="1600">
                  <a:solidFill>
                    <a:schemeClr val="dk1"/>
                  </a:solidFill>
                  <a:latin typeface="Arial" panose="020B0604020202020204"/>
                  <a:ea typeface="Arial" panose="020B0604020202020204"/>
                  <a:cs typeface="Arial" panose="020B0604020202020204"/>
                  <a:sym typeface="Arial" panose="020B0604020202020204"/>
                </a:rPr>
                <a:t>Similar to the Event of Default, a change in law or regulations that makes the transaction illegal can trigger a Termination Event.</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454" name="Google Shape;454;p14"/>
            <p:cNvSpPr/>
            <p:nvPr/>
          </p:nvSpPr>
          <p:spPr>
            <a:xfrm>
              <a:off x="987324" y="3409558"/>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Tax Event: </a:t>
              </a:r>
              <a:r>
                <a:rPr lang="en-GB" sz="1600">
                  <a:solidFill>
                    <a:schemeClr val="dk1"/>
                  </a:solidFill>
                  <a:latin typeface="Arial" panose="020B0604020202020204"/>
                  <a:ea typeface="Arial" panose="020B0604020202020204"/>
                  <a:cs typeface="Arial" panose="020B0604020202020204"/>
                  <a:sym typeface="Arial" panose="020B0604020202020204"/>
                </a:rPr>
                <a:t>If a change in tax law results in adverse tax consequences for one of the parties, it can trigger a Termination Event.</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sp>
          <p:nvSpPr>
            <p:cNvPr id="455" name="Google Shape;455;p14"/>
            <p:cNvSpPr/>
            <p:nvPr/>
          </p:nvSpPr>
          <p:spPr>
            <a:xfrm>
              <a:off x="987324" y="4991982"/>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Credit Event: </a:t>
              </a:r>
              <a:r>
                <a:rPr lang="en-GB" sz="1600">
                  <a:solidFill>
                    <a:schemeClr val="dk1"/>
                  </a:solidFill>
                  <a:latin typeface="Arial" panose="020B0604020202020204"/>
                  <a:ea typeface="Arial" panose="020B0604020202020204"/>
                  <a:cs typeface="Arial" panose="020B0604020202020204"/>
                  <a:sym typeface="Arial" panose="020B0604020202020204"/>
                </a:rPr>
                <a:t>In credit derivatives, such as credit default swaps (CDS), the occurrence of a credit event related to the reference entity, such as a bankruptcy or failure to pay, can trigger a Termination Event.</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grpSp>
          <p:nvGrpSpPr>
            <p:cNvPr id="456" name="Google Shape;456;p14"/>
            <p:cNvGrpSpPr/>
            <p:nvPr/>
          </p:nvGrpSpPr>
          <p:grpSpPr>
            <a:xfrm>
              <a:off x="388886" y="4303111"/>
              <a:ext cx="370333" cy="463533"/>
              <a:chOff x="4716016" y="2750481"/>
              <a:chExt cx="1432176" cy="1693242"/>
            </a:xfrm>
          </p:grpSpPr>
          <p:grpSp>
            <p:nvGrpSpPr>
              <p:cNvPr id="457" name="Google Shape;457;p14"/>
              <p:cNvGrpSpPr/>
              <p:nvPr/>
            </p:nvGrpSpPr>
            <p:grpSpPr>
              <a:xfrm>
                <a:off x="4716016" y="2750481"/>
                <a:ext cx="1216152" cy="1497360"/>
                <a:chOff x="4716016" y="2750481"/>
                <a:chExt cx="1216152" cy="1497360"/>
              </a:xfrm>
            </p:grpSpPr>
            <p:sp>
              <p:nvSpPr>
                <p:cNvPr id="458" name="Google Shape;458;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59" name="Google Shape;459;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460" name="Google Shape;460;p14"/>
              <p:cNvGrpSpPr/>
              <p:nvPr/>
            </p:nvGrpSpPr>
            <p:grpSpPr>
              <a:xfrm rot="10800000">
                <a:off x="4932040" y="2946363"/>
                <a:ext cx="1216152" cy="1497360"/>
                <a:chOff x="4716016" y="2750481"/>
                <a:chExt cx="1216152" cy="1497360"/>
              </a:xfrm>
            </p:grpSpPr>
            <p:sp>
              <p:nvSpPr>
                <p:cNvPr id="461" name="Google Shape;461;p14"/>
                <p:cNvSpPr/>
                <p:nvPr/>
              </p:nvSpPr>
              <p:spPr>
                <a:xfrm>
                  <a:off x="4716016" y="2750481"/>
                  <a:ext cx="1216152" cy="748680"/>
                </a:xfrm>
                <a:prstGeom prst="parallelogram">
                  <a:avLst>
                    <a:gd name="adj" fmla="val 83637"/>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462" name="Google Shape;462;p14"/>
                <p:cNvSpPr/>
                <p:nvPr/>
              </p:nvSpPr>
              <p:spPr>
                <a:xfrm flipH="1">
                  <a:off x="4716016" y="3499161"/>
                  <a:ext cx="1216152" cy="748680"/>
                </a:xfrm>
                <a:prstGeom prst="parallelogram">
                  <a:avLst>
                    <a:gd name="adj" fmla="val 83637"/>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grpSp>
        <p:sp>
          <p:nvSpPr>
            <p:cNvPr id="463" name="Google Shape;463;p14"/>
            <p:cNvSpPr/>
            <p:nvPr/>
          </p:nvSpPr>
          <p:spPr>
            <a:xfrm>
              <a:off x="987324" y="4200770"/>
              <a:ext cx="10996150" cy="640080"/>
            </a:xfrm>
            <a:prstGeom prst="rect">
              <a:avLst/>
            </a:prstGeom>
            <a:solidFill>
              <a:srgbClr val="D2F4F6">
                <a:alpha val="65882"/>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600" b="1">
                  <a:solidFill>
                    <a:srgbClr val="146368"/>
                  </a:solidFill>
                  <a:latin typeface="Arial" panose="020B0604020202020204"/>
                  <a:ea typeface="Arial" panose="020B0604020202020204"/>
                  <a:cs typeface="Arial" panose="020B0604020202020204"/>
                  <a:sym typeface="Arial" panose="020B0604020202020204"/>
                </a:rPr>
                <a:t>Termination for Convenience: </a:t>
              </a:r>
              <a:r>
                <a:rPr lang="en-GB" sz="1600">
                  <a:solidFill>
                    <a:schemeClr val="dk1"/>
                  </a:solidFill>
                  <a:latin typeface="Arial" panose="020B0604020202020204"/>
                  <a:ea typeface="Arial" panose="020B0604020202020204"/>
                  <a:cs typeface="Arial" panose="020B0604020202020204"/>
                  <a:sym typeface="Arial" panose="020B0604020202020204"/>
                </a:rPr>
                <a:t>Some derivative contracts allow for termination by one or both parties without cause, subject to certain notice and other requirements.</a:t>
              </a:r>
              <a:endParaRPr lang="en-GB" sz="16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15"/>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SCHEDULE</a:t>
            </a:r>
            <a:endParaRPr lang="en-GB" b="1"/>
          </a:p>
        </p:txBody>
      </p:sp>
      <p:grpSp>
        <p:nvGrpSpPr>
          <p:cNvPr id="470" name="Google Shape;470;p15"/>
          <p:cNvGrpSpPr/>
          <p:nvPr/>
        </p:nvGrpSpPr>
        <p:grpSpPr>
          <a:xfrm>
            <a:off x="774634" y="1330732"/>
            <a:ext cx="10922066" cy="4685586"/>
            <a:chOff x="774634" y="1276303"/>
            <a:chExt cx="10922066" cy="4685586"/>
          </a:xfrm>
        </p:grpSpPr>
        <p:sp>
          <p:nvSpPr>
            <p:cNvPr id="471" name="Google Shape;471;p15"/>
            <p:cNvSpPr/>
            <p:nvPr/>
          </p:nvSpPr>
          <p:spPr>
            <a:xfrm>
              <a:off x="774634" y="1276303"/>
              <a:ext cx="10922066" cy="4685586"/>
            </a:xfrm>
            <a:prstGeom prst="roundRect">
              <a:avLst>
                <a:gd name="adj" fmla="val 3968"/>
              </a:avLst>
            </a:prstGeom>
            <a:solidFill>
              <a:srgbClr val="DDEA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panose="020B0604020202020204"/>
                <a:ea typeface="Arial" panose="020B0604020202020204"/>
                <a:cs typeface="Arial" panose="020B0604020202020204"/>
                <a:sym typeface="Arial" panose="020B0604020202020204"/>
              </a:endParaRPr>
            </a:p>
          </p:txBody>
        </p:sp>
        <p:sp>
          <p:nvSpPr>
            <p:cNvPr id="472" name="Google Shape;472;p15"/>
            <p:cNvSpPr/>
            <p:nvPr/>
          </p:nvSpPr>
          <p:spPr>
            <a:xfrm>
              <a:off x="928945" y="1463559"/>
              <a:ext cx="133448" cy="4349632"/>
            </a:xfrm>
            <a:prstGeom prst="roundRect">
              <a:avLst>
                <a:gd name="adj" fmla="val 50000"/>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panose="020B0604020202020204"/>
                <a:ea typeface="Arial" panose="020B0604020202020204"/>
                <a:cs typeface="Arial" panose="020B0604020202020204"/>
                <a:sym typeface="Arial" panose="020B0604020202020204"/>
              </a:endParaRPr>
            </a:p>
          </p:txBody>
        </p:sp>
        <p:sp>
          <p:nvSpPr>
            <p:cNvPr id="473" name="Google Shape;473;p15"/>
            <p:cNvSpPr/>
            <p:nvPr/>
          </p:nvSpPr>
          <p:spPr>
            <a:xfrm rot="5400000">
              <a:off x="10965640" y="1402114"/>
              <a:ext cx="594830" cy="594222"/>
            </a:xfrm>
            <a:prstGeom prst="halfFrame">
              <a:avLst>
                <a:gd name="adj1" fmla="val 23728"/>
                <a:gd name="adj2" fmla="val 24642"/>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262626"/>
                </a:solidFill>
                <a:latin typeface="Arial" panose="020B0604020202020204"/>
                <a:ea typeface="Arial" panose="020B0604020202020204"/>
                <a:cs typeface="Arial" panose="020B0604020202020204"/>
                <a:sym typeface="Arial" panose="020B0604020202020204"/>
              </a:endParaRPr>
            </a:p>
          </p:txBody>
        </p:sp>
        <p:sp>
          <p:nvSpPr>
            <p:cNvPr id="474" name="Google Shape;474;p15"/>
            <p:cNvSpPr txBox="1"/>
            <p:nvPr/>
          </p:nvSpPr>
          <p:spPr>
            <a:xfrm>
              <a:off x="1189272" y="1467803"/>
              <a:ext cx="10370894" cy="4345387"/>
            </a:xfrm>
            <a:prstGeom prst="rect">
              <a:avLst/>
            </a:prstGeom>
            <a:noFill/>
            <a:ln>
              <a:noFill/>
            </a:ln>
          </p:spPr>
          <p:txBody>
            <a:bodyPr spcFirstLastPara="1" wrap="square" lIns="91425" tIns="45700" rIns="91425" bIns="45700" anchor="ctr" anchorCtr="0">
              <a:noAutofit/>
            </a:bodyPr>
            <a:lstStyle/>
            <a:p>
              <a:pPr marL="228600" marR="0" lvl="0" indent="-228600" algn="l" rtl="0">
                <a:spcBef>
                  <a:spcPts val="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This is the second legal document (after the IMA) and is used to record the particular arrangements desired by both organisations, over and above the content of the ISDA master agreement</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Typically use to alter the terms of and add terms to the pre-printed standard form ISDA Master Agreement </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The ISDA Schedule is incorporated into, supplements and forms a part of the ISDA Master Agreement.</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Schedule which allows parties to add to or amend the standard terms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The Schedule is what negotiators negotiate.</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It typically takes at least 3 months to negotiate the Schedule but this can be shorter or longer depending on the complexity of the provisions concerned and the responsiveness of the parties.</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475" name="Google Shape;475;p15"/>
          <p:cNvSpPr/>
          <p:nvPr/>
        </p:nvSpPr>
        <p:spPr>
          <a:xfrm>
            <a:off x="9585944" y="3870757"/>
            <a:ext cx="1380000" cy="8154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GB" sz="1600" b="1" i="0" u="none" strike="noStrike" cap="none" dirty="0">
                <a:solidFill>
                  <a:srgbClr val="000000"/>
                </a:solidFill>
                <a:latin typeface="Trebuchet MS" panose="020B0603020202020204"/>
                <a:ea typeface="Trebuchet MS" panose="020B0603020202020204"/>
                <a:cs typeface="Trebuchet MS" panose="020B0603020202020204"/>
                <a:sym typeface="Trebuchet MS" panose="020B0603020202020204"/>
              </a:rPr>
              <a:t>PARTY</a:t>
            </a:r>
            <a:endParaRPr sz="1600" b="1" i="0" u="none" strike="noStrike" cap="none" dirty="0">
              <a:solidFill>
                <a:srgbClr val="000000"/>
              </a:solidFill>
              <a:latin typeface="Trebuchet MS" panose="020B0603020202020204"/>
              <a:ea typeface="Trebuchet MS" panose="020B0603020202020204"/>
              <a:cs typeface="Trebuchet MS" panose="020B0603020202020204"/>
              <a:sym typeface="Trebuchet MS" panose="020B0603020202020204"/>
            </a:endParaRPr>
          </a:p>
          <a:p>
            <a:pPr marL="0" marR="0" lvl="0" indent="0" algn="ctr" rtl="0">
              <a:lnSpc>
                <a:spcPct val="100000"/>
              </a:lnSpc>
              <a:spcBef>
                <a:spcPts val="0"/>
              </a:spcBef>
              <a:spcAft>
                <a:spcPts val="0"/>
              </a:spcAft>
              <a:buClr>
                <a:srgbClr val="000000"/>
              </a:buClr>
              <a:buSzPts val="1600"/>
              <a:buFont typeface="Arial" panose="020B0604020202020204"/>
              <a:buNone/>
            </a:pPr>
            <a:r>
              <a:rPr lang="en-GB"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SPECIFIC</a:t>
            </a:r>
            <a:endParaRPr sz="16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16"/>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CSA - CREDIT SUPPORT ANNEX</a:t>
            </a:r>
            <a:endParaRPr lang="en-GB" b="1"/>
          </a:p>
        </p:txBody>
      </p:sp>
      <p:grpSp>
        <p:nvGrpSpPr>
          <p:cNvPr id="482" name="Google Shape;482;p16"/>
          <p:cNvGrpSpPr/>
          <p:nvPr/>
        </p:nvGrpSpPr>
        <p:grpSpPr>
          <a:xfrm>
            <a:off x="774634" y="1330732"/>
            <a:ext cx="10922066" cy="4685586"/>
            <a:chOff x="774634" y="1276303"/>
            <a:chExt cx="10922066" cy="4685586"/>
          </a:xfrm>
        </p:grpSpPr>
        <p:sp>
          <p:nvSpPr>
            <p:cNvPr id="483" name="Google Shape;483;p16"/>
            <p:cNvSpPr/>
            <p:nvPr/>
          </p:nvSpPr>
          <p:spPr>
            <a:xfrm>
              <a:off x="774634" y="1276303"/>
              <a:ext cx="10922066" cy="4685586"/>
            </a:xfrm>
            <a:prstGeom prst="roundRect">
              <a:avLst>
                <a:gd name="adj" fmla="val 3968"/>
              </a:avLst>
            </a:prstGeom>
            <a:solidFill>
              <a:srgbClr val="DDEA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panose="020B0604020202020204"/>
                <a:ea typeface="Arial" panose="020B0604020202020204"/>
                <a:cs typeface="Arial" panose="020B0604020202020204"/>
                <a:sym typeface="Arial" panose="020B0604020202020204"/>
              </a:endParaRPr>
            </a:p>
          </p:txBody>
        </p:sp>
        <p:sp>
          <p:nvSpPr>
            <p:cNvPr id="484" name="Google Shape;484;p16"/>
            <p:cNvSpPr/>
            <p:nvPr/>
          </p:nvSpPr>
          <p:spPr>
            <a:xfrm>
              <a:off x="928945" y="1463559"/>
              <a:ext cx="133448" cy="4349632"/>
            </a:xfrm>
            <a:prstGeom prst="roundRect">
              <a:avLst>
                <a:gd name="adj" fmla="val 50000"/>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panose="020B0604020202020204"/>
                <a:ea typeface="Arial" panose="020B0604020202020204"/>
                <a:cs typeface="Arial" panose="020B0604020202020204"/>
                <a:sym typeface="Arial" panose="020B0604020202020204"/>
              </a:endParaRPr>
            </a:p>
          </p:txBody>
        </p:sp>
        <p:sp>
          <p:nvSpPr>
            <p:cNvPr id="485" name="Google Shape;485;p16"/>
            <p:cNvSpPr/>
            <p:nvPr/>
          </p:nvSpPr>
          <p:spPr>
            <a:xfrm rot="5400000">
              <a:off x="10965640" y="1402114"/>
              <a:ext cx="594830" cy="594222"/>
            </a:xfrm>
            <a:prstGeom prst="halfFrame">
              <a:avLst>
                <a:gd name="adj1" fmla="val 23728"/>
                <a:gd name="adj2" fmla="val 24642"/>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262626"/>
                </a:solidFill>
                <a:latin typeface="Arial" panose="020B0604020202020204"/>
                <a:ea typeface="Arial" panose="020B0604020202020204"/>
                <a:cs typeface="Arial" panose="020B0604020202020204"/>
                <a:sym typeface="Arial" panose="020B0604020202020204"/>
              </a:endParaRPr>
            </a:p>
          </p:txBody>
        </p:sp>
        <p:sp>
          <p:nvSpPr>
            <p:cNvPr id="486" name="Google Shape;486;p16"/>
            <p:cNvSpPr txBox="1"/>
            <p:nvPr/>
          </p:nvSpPr>
          <p:spPr>
            <a:xfrm>
              <a:off x="1189272" y="1467803"/>
              <a:ext cx="10370894" cy="4345387"/>
            </a:xfrm>
            <a:prstGeom prst="rect">
              <a:avLst/>
            </a:prstGeom>
            <a:noFill/>
            <a:ln>
              <a:noFill/>
            </a:ln>
          </p:spPr>
          <p:txBody>
            <a:bodyPr spcFirstLastPara="1" wrap="square" lIns="91425" tIns="45700" rIns="91425" bIns="45700" anchor="ctr" anchorCtr="0">
              <a:noAutofit/>
            </a:bodyPr>
            <a:lstStyle/>
            <a:p>
              <a:pPr marL="228600" marR="0" lvl="0" indent="-228600" algn="l" rtl="0">
                <a:spcBef>
                  <a:spcPts val="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Credit Support Annex (CSA): this is the third legal document and is used to record the particular arrangements relating specifically to the posting of OTC derivative-related collateral between the two parties.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It is possible to have an ISDA agreement without a CSA but normally not a CSA without an ISDA </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spcBef>
                  <a:spcPts val="1200"/>
                </a:spcBef>
                <a:spcAft>
                  <a:spcPts val="0"/>
                </a:spcAft>
                <a:buClr>
                  <a:schemeClr val="dk1"/>
                </a:buClr>
                <a:buSzPts val="1700"/>
                <a:buFont typeface="Courier New" panose="02070309020205020404"/>
                <a:buChar char="o"/>
              </a:pPr>
              <a:r>
                <a:rPr lang="en-GB" sz="1800">
                  <a:solidFill>
                    <a:schemeClr val="dk1"/>
                  </a:solidFill>
                  <a:latin typeface="Arial" panose="020B0604020202020204"/>
                  <a:ea typeface="Arial" panose="020B0604020202020204"/>
                  <a:cs typeface="Arial" panose="020B0604020202020204"/>
                  <a:sym typeface="Arial" panose="020B0604020202020204"/>
                </a:rPr>
                <a:t>Types of Collateral Cash collateral (may be used for all Derivatives transactions)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spcBef>
                  <a:spcPts val="1200"/>
                </a:spcBef>
                <a:spcAft>
                  <a:spcPts val="0"/>
                </a:spcAft>
                <a:buClr>
                  <a:schemeClr val="dk1"/>
                </a:buClr>
                <a:buSzPts val="1700"/>
                <a:buFont typeface="Courier New" panose="02070309020205020404"/>
                <a:buChar char="o"/>
              </a:pPr>
              <a:r>
                <a:rPr lang="en-GB" sz="1800">
                  <a:solidFill>
                    <a:schemeClr val="dk1"/>
                  </a:solidFill>
                  <a:latin typeface="Arial" panose="020B0604020202020204"/>
                  <a:ea typeface="Arial" panose="020B0604020202020204"/>
                  <a:cs typeface="Arial" panose="020B0604020202020204"/>
                  <a:sym typeface="Arial" panose="020B0604020202020204"/>
                </a:rPr>
                <a:t>Threshold Amount</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spcBef>
                  <a:spcPts val="1200"/>
                </a:spcBef>
                <a:spcAft>
                  <a:spcPts val="0"/>
                </a:spcAft>
                <a:buClr>
                  <a:schemeClr val="dk1"/>
                </a:buClr>
                <a:buSzPts val="1700"/>
                <a:buFont typeface="Courier New" panose="02070309020205020404"/>
                <a:buChar char="o"/>
              </a:pPr>
              <a:r>
                <a:rPr lang="en-GB" sz="1800">
                  <a:solidFill>
                    <a:schemeClr val="dk1"/>
                  </a:solidFill>
                  <a:latin typeface="Arial" panose="020B0604020202020204"/>
                  <a:ea typeface="Arial" panose="020B0604020202020204"/>
                  <a:cs typeface="Arial" panose="020B0604020202020204"/>
                  <a:sym typeface="Arial" panose="020B0604020202020204"/>
                </a:rPr>
                <a:t>Minimum Transfer</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spcBef>
                  <a:spcPts val="1200"/>
                </a:spcBef>
                <a:spcAft>
                  <a:spcPts val="0"/>
                </a:spcAft>
                <a:buClr>
                  <a:schemeClr val="dk1"/>
                </a:buClr>
                <a:buSzPts val="1700"/>
                <a:buFont typeface="Courier New" panose="02070309020205020404"/>
                <a:buChar char="o"/>
              </a:pPr>
              <a:r>
                <a:rPr lang="en-GB" sz="1800">
                  <a:solidFill>
                    <a:schemeClr val="dk1"/>
                  </a:solidFill>
                  <a:latin typeface="Arial" panose="020B0604020202020204"/>
                  <a:ea typeface="Arial" panose="020B0604020202020204"/>
                  <a:cs typeface="Arial" panose="020B0604020202020204"/>
                  <a:sym typeface="Arial" panose="020B0604020202020204"/>
                </a:rPr>
                <a:t>Independent Amount</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spcBef>
                  <a:spcPts val="1200"/>
                </a:spcBef>
                <a:spcAft>
                  <a:spcPts val="0"/>
                </a:spcAft>
                <a:buClr>
                  <a:schemeClr val="dk1"/>
                </a:buClr>
                <a:buSzPts val="1700"/>
                <a:buFont typeface="Courier New" panose="02070309020205020404"/>
                <a:buChar char="o"/>
              </a:pPr>
              <a:r>
                <a:rPr lang="en-GB" sz="1800">
                  <a:solidFill>
                    <a:schemeClr val="dk1"/>
                  </a:solidFill>
                  <a:latin typeface="Arial" panose="020B0604020202020204"/>
                  <a:ea typeface="Arial" panose="020B0604020202020204"/>
                  <a:cs typeface="Arial" panose="020B0604020202020204"/>
                  <a:sym typeface="Arial" panose="020B0604020202020204"/>
                </a:rPr>
                <a:t>Valuation Frequency and Source for Pricing</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120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An optional document, the CSA is used when both parties agree to use collateral to cover risk exposures</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17"/>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ISDA - DEFINITIONS</a:t>
            </a:r>
            <a:endParaRPr lang="en-GB" b="1"/>
          </a:p>
        </p:txBody>
      </p:sp>
      <p:grpSp>
        <p:nvGrpSpPr>
          <p:cNvPr id="493" name="Google Shape;493;p17"/>
          <p:cNvGrpSpPr/>
          <p:nvPr/>
        </p:nvGrpSpPr>
        <p:grpSpPr>
          <a:xfrm>
            <a:off x="685800" y="2351316"/>
            <a:ext cx="10996150" cy="2630714"/>
            <a:chOff x="700550" y="1857830"/>
            <a:chExt cx="10996150" cy="2630714"/>
          </a:xfrm>
        </p:grpSpPr>
        <p:sp>
          <p:nvSpPr>
            <p:cNvPr id="494" name="Google Shape;494;p17"/>
            <p:cNvSpPr/>
            <p:nvPr/>
          </p:nvSpPr>
          <p:spPr>
            <a:xfrm>
              <a:off x="700550" y="1857830"/>
              <a:ext cx="10996150" cy="2630714"/>
            </a:xfrm>
            <a:prstGeom prst="roundRect">
              <a:avLst>
                <a:gd name="adj" fmla="val 12253"/>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495" name="Google Shape;495;p17"/>
            <p:cNvSpPr/>
            <p:nvPr/>
          </p:nvSpPr>
          <p:spPr>
            <a:xfrm>
              <a:off x="902843" y="2070102"/>
              <a:ext cx="10591564" cy="2206170"/>
            </a:xfrm>
            <a:prstGeom prst="roundRect">
              <a:avLst>
                <a:gd name="adj" fmla="val 12253"/>
              </a:avLst>
            </a:prstGeom>
            <a:solidFill>
              <a:srgbClr val="F2F2F2"/>
            </a:solidFill>
            <a:ln>
              <a:noFill/>
            </a:ln>
          </p:spPr>
          <p:txBody>
            <a:bodyPr spcFirstLastPara="1" wrap="square" lIns="91425" tIns="45700" rIns="91425" bIns="45700" anchor="ctr" anchorCtr="0">
              <a:noAutofit/>
            </a:bodyPr>
            <a:lstStyle/>
            <a:p>
              <a:pPr marL="228600" marR="0" lvl="0" indent="-228600" algn="l" rtl="0">
                <a:spcBef>
                  <a:spcPts val="0"/>
                </a:spcBef>
                <a:spcAft>
                  <a:spcPts val="0"/>
                </a:spcAft>
                <a:buClr>
                  <a:schemeClr val="dk1"/>
                </a:buClr>
                <a:buSzPts val="18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All significant terms used in the Master Agreements are either defined in section 14 or as the parties agree in the Schedule. ISDA has prepared several specialist sets of definitions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114300" algn="l" rtl="0">
                <a:spcBef>
                  <a:spcPts val="0"/>
                </a:spcBef>
                <a:spcAft>
                  <a:spcPts val="0"/>
                </a:spcAft>
                <a:buClr>
                  <a:schemeClr val="dk1"/>
                </a:buClr>
                <a:buSzPts val="1800"/>
                <a:buFont typeface="Arial" panose="020B0604020202020204"/>
                <a:buNone/>
              </a:pPr>
              <a:endParaRPr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0"/>
                </a:spcBef>
                <a:spcAft>
                  <a:spcPts val="0"/>
                </a:spcAft>
                <a:buClr>
                  <a:schemeClr val="dk1"/>
                </a:buClr>
                <a:buSzPts val="18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Access below link to check the IMA and schedule</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spcBef>
                  <a:spcPts val="0"/>
                </a:spcBef>
                <a:spcAft>
                  <a:spcPts val="0"/>
                </a:spcAft>
                <a:buClr>
                  <a:schemeClr val="accent4"/>
                </a:buClr>
                <a:buSzPts val="1800"/>
                <a:buFont typeface="Arial" panose="020B0604020202020204"/>
                <a:buChar char="•"/>
              </a:pPr>
              <a:r>
                <a:rPr lang="en-GB" sz="1800">
                  <a:solidFill>
                    <a:schemeClr val="accent4"/>
                  </a:solidFill>
                  <a:latin typeface="Arial" panose="020B0604020202020204"/>
                  <a:ea typeface="Arial" panose="020B0604020202020204"/>
                  <a:cs typeface="Arial" panose="020B0604020202020204"/>
                  <a:sym typeface="Arial" panose="020B0604020202020204"/>
                </a:rPr>
                <a:t>https://www.sec.gov/Archives/edgar/data/1107694/000119312508091225/dex1032.htm</a:t>
              </a:r>
              <a:endParaRPr lang="en-GB" sz="1800">
                <a:solidFill>
                  <a:schemeClr val="accent4"/>
                </a:solidFill>
                <a:latin typeface="Arial" panose="020B0604020202020204"/>
                <a:ea typeface="Arial" panose="020B0604020202020204"/>
                <a:cs typeface="Arial" panose="020B0604020202020204"/>
                <a:sym typeface="Arial" panose="020B0604020202020204"/>
              </a:endParaRPr>
            </a:p>
          </p:txBody>
        </p:sp>
      </p:grpSp>
      <p:sp>
        <p:nvSpPr>
          <p:cNvPr id="496" name="Google Shape;496;p17"/>
          <p:cNvSpPr/>
          <p:nvPr/>
        </p:nvSpPr>
        <p:spPr>
          <a:xfrm>
            <a:off x="9254241" y="1359786"/>
            <a:ext cx="1965301" cy="8154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GB" sz="1800" b="1" i="0" u="none" strike="noStrike" cap="none">
                <a:solidFill>
                  <a:srgbClr val="000000"/>
                </a:solidFill>
                <a:latin typeface="Arial" panose="020B0604020202020204"/>
                <a:ea typeface="Arial" panose="020B0604020202020204"/>
                <a:cs typeface="Arial" panose="020B0604020202020204"/>
                <a:sym typeface="Arial" panose="020B0604020202020204"/>
              </a:rPr>
              <a:t>PRODUCT SPECIFIC</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01" name="Google Shape;501;p18"/>
          <p:cNvPicPr preferRelativeResize="0">
            <a:picLocks noGrp="1"/>
          </p:cNvPicPr>
          <p:nvPr>
            <p:ph type="pic" idx="2"/>
          </p:nvPr>
        </p:nvPicPr>
        <p:blipFill rotWithShape="1">
          <a:blip r:embed="rId1"/>
          <a:srcRect/>
          <a:stretch>
            <a:fillRect/>
          </a:stretch>
        </p:blipFill>
        <p:spPr>
          <a:xfrm>
            <a:off x="3978704" y="-174171"/>
            <a:ext cx="8412466" cy="7206342"/>
          </a:xfrm>
          <a:prstGeom prst="rect">
            <a:avLst/>
          </a:prstGeom>
          <a:solidFill>
            <a:srgbClr val="F2F2F2"/>
          </a:solidFill>
          <a:ln>
            <a:noFill/>
          </a:ln>
        </p:spPr>
      </p:pic>
      <p:sp>
        <p:nvSpPr>
          <p:cNvPr id="502" name="Google Shape;502;p18"/>
          <p:cNvSpPr/>
          <p:nvPr/>
        </p:nvSpPr>
        <p:spPr>
          <a:xfrm flipH="1">
            <a:off x="4024507" y="0"/>
            <a:ext cx="8166551" cy="6858000"/>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03" name="Google Shape;503;p18"/>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04" name="Google Shape;504;p1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05" name="Google Shape;505;p18"/>
          <p:cNvSpPr txBox="1"/>
          <p:nvPr/>
        </p:nvSpPr>
        <p:spPr>
          <a:xfrm>
            <a:off x="497600" y="2687124"/>
            <a:ext cx="7053813" cy="144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4400"/>
              <a:buFont typeface="Arial" panose="020B0604020202020204"/>
              <a:buNone/>
            </a:pPr>
            <a:r>
              <a:rPr lang="en-GB" sz="4400" b="1" i="0" u="none" strike="noStrike" cap="none">
                <a:solidFill>
                  <a:srgbClr val="FFFFFF"/>
                </a:solidFill>
                <a:latin typeface="Arial" panose="020B0604020202020204"/>
                <a:ea typeface="Arial" panose="020B0604020202020204"/>
                <a:cs typeface="Arial" panose="020B0604020202020204"/>
                <a:sym typeface="Arial" panose="020B0604020202020204"/>
              </a:rPr>
              <a:t>Introduction to OTC Markets</a:t>
            </a:r>
            <a:endParaRPr lang="en-GB" sz="44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506" name="Google Shape;506;p18" descr="A picture containing text, clipart&#10;&#10;Description automatically generated"/>
          <p:cNvPicPr preferRelativeResize="0"/>
          <p:nvPr/>
        </p:nvPicPr>
        <p:blipFill rotWithShape="1">
          <a:blip r:embed="rId2"/>
          <a:srcRect/>
          <a:stretch>
            <a:fillRect/>
          </a:stretch>
        </p:blipFill>
        <p:spPr>
          <a:xfrm>
            <a:off x="9533468" y="312483"/>
            <a:ext cx="2421466" cy="4919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19"/>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WHAT IS OTC MARKET?</a:t>
            </a:r>
            <a:endParaRPr lang="en-GB" b="1"/>
          </a:p>
        </p:txBody>
      </p:sp>
      <p:grpSp>
        <p:nvGrpSpPr>
          <p:cNvPr id="513" name="Google Shape;513;p19"/>
          <p:cNvGrpSpPr/>
          <p:nvPr/>
        </p:nvGrpSpPr>
        <p:grpSpPr>
          <a:xfrm>
            <a:off x="597925" y="1467294"/>
            <a:ext cx="10996150" cy="4624330"/>
            <a:chOff x="700550" y="1857830"/>
            <a:chExt cx="10996150" cy="2630714"/>
          </a:xfrm>
        </p:grpSpPr>
        <p:sp>
          <p:nvSpPr>
            <p:cNvPr id="514" name="Google Shape;514;p19"/>
            <p:cNvSpPr/>
            <p:nvPr/>
          </p:nvSpPr>
          <p:spPr>
            <a:xfrm>
              <a:off x="700550" y="1857830"/>
              <a:ext cx="10996150" cy="2630714"/>
            </a:xfrm>
            <a:prstGeom prst="roundRect">
              <a:avLst>
                <a:gd name="adj" fmla="val 12253"/>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15" name="Google Shape;515;p19"/>
            <p:cNvSpPr/>
            <p:nvPr/>
          </p:nvSpPr>
          <p:spPr>
            <a:xfrm>
              <a:off x="902843" y="2070102"/>
              <a:ext cx="10591564" cy="2206170"/>
            </a:xfrm>
            <a:prstGeom prst="roundRect">
              <a:avLst>
                <a:gd name="adj" fmla="val 12253"/>
              </a:avLst>
            </a:pr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dirty="0">
                  <a:solidFill>
                    <a:schemeClr val="dk1"/>
                  </a:solidFill>
                  <a:latin typeface="Arial" panose="020B0604020202020204"/>
                  <a:ea typeface="Arial" panose="020B0604020202020204"/>
                  <a:cs typeface="Arial" panose="020B0604020202020204"/>
                  <a:sym typeface="Arial" panose="020B0604020202020204"/>
                </a:rPr>
                <a:t>The OTC (Over-the-Counter) market, also known as the off-exchange market, is a decentralized financial market where the trading of financial instruments, such as stocks, bonds, commodities, derivatives, and foreign exchange, takes place directly between participants, typically over electronic networks or via telephone. In the OTC market, trading does not occur on a centralized exchange or organized trading floor, as it does in traditional exchange markets like the New York Stock Exchange (NYSE) or NASDAQ.</a:t>
              </a:r>
              <a:endParaRPr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20"/>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KEY CHARACTERISTICS OF THE OTC MARKET INCLUDE</a:t>
            </a:r>
            <a:endParaRPr lang="en-GB" b="1"/>
          </a:p>
        </p:txBody>
      </p:sp>
      <p:grpSp>
        <p:nvGrpSpPr>
          <p:cNvPr id="522" name="Google Shape;522;p20"/>
          <p:cNvGrpSpPr/>
          <p:nvPr/>
        </p:nvGrpSpPr>
        <p:grpSpPr>
          <a:xfrm>
            <a:off x="478091" y="1294797"/>
            <a:ext cx="11338560" cy="1328049"/>
            <a:chOff x="8696324" y="1653359"/>
            <a:chExt cx="11959499" cy="1328049"/>
          </a:xfrm>
        </p:grpSpPr>
        <p:sp>
          <p:nvSpPr>
            <p:cNvPr id="523" name="Google Shape;523;p20"/>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24" name="Google Shape;524;p20"/>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25" name="Google Shape;525;p20"/>
            <p:cNvSpPr txBox="1"/>
            <p:nvPr/>
          </p:nvSpPr>
          <p:spPr>
            <a:xfrm>
              <a:off x="8903992" y="2263680"/>
              <a:ext cx="11525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rgbClr val="3F3F3F"/>
                  </a:solidFill>
                  <a:latin typeface="Arial" panose="020B0604020202020204"/>
                  <a:ea typeface="Arial" panose="020B0604020202020204"/>
                  <a:cs typeface="Arial" panose="020B0604020202020204"/>
                  <a:sym typeface="Arial" panose="020B0604020202020204"/>
                </a:rPr>
                <a:t>OTC trading occurs bilaterally between buyers and sellers, often facilitated by dealers or brokers. There is no physical location or central exchange where trading takes place.</a:t>
              </a:r>
              <a:endParaRPr lang="en-GB" sz="1600">
                <a:solidFill>
                  <a:srgbClr val="3F3F3F"/>
                </a:solidFill>
                <a:latin typeface="Arial" panose="020B0604020202020204"/>
                <a:ea typeface="Arial" panose="020B0604020202020204"/>
                <a:cs typeface="Arial" panose="020B0604020202020204"/>
                <a:sym typeface="Arial" panose="020B0604020202020204"/>
              </a:endParaRPr>
            </a:p>
          </p:txBody>
        </p:sp>
        <p:sp>
          <p:nvSpPr>
            <p:cNvPr id="526" name="Google Shape;526;p20"/>
            <p:cNvSpPr txBox="1"/>
            <p:nvPr/>
          </p:nvSpPr>
          <p:spPr>
            <a:xfrm>
              <a:off x="8903992" y="1798659"/>
              <a:ext cx="247649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Decentralization </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527" name="Google Shape;527;p20"/>
          <p:cNvGrpSpPr/>
          <p:nvPr/>
        </p:nvGrpSpPr>
        <p:grpSpPr>
          <a:xfrm>
            <a:off x="478091" y="2991482"/>
            <a:ext cx="11338560" cy="1328049"/>
            <a:chOff x="8696324" y="1653359"/>
            <a:chExt cx="11959499" cy="1328049"/>
          </a:xfrm>
        </p:grpSpPr>
        <p:sp>
          <p:nvSpPr>
            <p:cNvPr id="528" name="Google Shape;528;p20"/>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29" name="Google Shape;529;p20"/>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30" name="Google Shape;530;p20"/>
            <p:cNvSpPr txBox="1"/>
            <p:nvPr/>
          </p:nvSpPr>
          <p:spPr>
            <a:xfrm>
              <a:off x="8903992" y="2263680"/>
              <a:ext cx="11525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rgbClr val="3F3F3F"/>
                  </a:solidFill>
                  <a:latin typeface="Arial" panose="020B0604020202020204"/>
                  <a:ea typeface="Arial" panose="020B0604020202020204"/>
                  <a:cs typeface="Arial" panose="020B0604020202020204"/>
                  <a:sym typeface="Arial" panose="020B0604020202020204"/>
                </a:rPr>
                <a:t>The OTC market is accessible to a wide range of participants, including financial institutions, corporations, individual investors, and government entities. It is less exclusive than many traditional exchanges.</a:t>
              </a:r>
              <a:endParaRPr lang="en-GB" sz="1600">
                <a:solidFill>
                  <a:srgbClr val="3F3F3F"/>
                </a:solidFill>
                <a:latin typeface="Arial" panose="020B0604020202020204"/>
                <a:ea typeface="Arial" panose="020B0604020202020204"/>
                <a:cs typeface="Arial" panose="020B0604020202020204"/>
                <a:sym typeface="Arial" panose="020B0604020202020204"/>
              </a:endParaRPr>
            </a:p>
          </p:txBody>
        </p:sp>
        <p:sp>
          <p:nvSpPr>
            <p:cNvPr id="531" name="Google Shape;531;p20"/>
            <p:cNvSpPr txBox="1"/>
            <p:nvPr/>
          </p:nvSpPr>
          <p:spPr>
            <a:xfrm>
              <a:off x="8903992" y="1798659"/>
              <a:ext cx="247649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Accessibility</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532" name="Google Shape;532;p20"/>
          <p:cNvGrpSpPr/>
          <p:nvPr/>
        </p:nvGrpSpPr>
        <p:grpSpPr>
          <a:xfrm>
            <a:off x="478091" y="4653829"/>
            <a:ext cx="11338560" cy="1328049"/>
            <a:chOff x="8696324" y="1653359"/>
            <a:chExt cx="11959499" cy="1328049"/>
          </a:xfrm>
        </p:grpSpPr>
        <p:sp>
          <p:nvSpPr>
            <p:cNvPr id="533" name="Google Shape;533;p20"/>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34" name="Google Shape;534;p20"/>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35" name="Google Shape;535;p20"/>
            <p:cNvSpPr txBox="1"/>
            <p:nvPr/>
          </p:nvSpPr>
          <p:spPr>
            <a:xfrm>
              <a:off x="8966844" y="2351675"/>
              <a:ext cx="11525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rgbClr val="3F3F3F"/>
                  </a:solidFill>
                  <a:latin typeface="Arial" panose="020B0604020202020204"/>
                  <a:ea typeface="Arial" panose="020B0604020202020204"/>
                  <a:cs typeface="Arial" panose="020B0604020202020204"/>
                  <a:sym typeface="Arial" panose="020B0604020202020204"/>
                </a:rPr>
                <a:t>OTC markets trade a wide variety of financial instruments, including stocks, bonds, currencies, commodities, and derivatives such as options and swaps.</a:t>
              </a:r>
              <a:endParaRPr lang="en-GB" sz="1600">
                <a:solidFill>
                  <a:srgbClr val="3F3F3F"/>
                </a:solidFill>
                <a:latin typeface="Arial" panose="020B0604020202020204"/>
                <a:ea typeface="Arial" panose="020B0604020202020204"/>
                <a:cs typeface="Arial" panose="020B0604020202020204"/>
                <a:sym typeface="Arial" panose="020B0604020202020204"/>
              </a:endParaRPr>
            </a:p>
          </p:txBody>
        </p:sp>
        <p:sp>
          <p:nvSpPr>
            <p:cNvPr id="536" name="Google Shape;536;p20"/>
            <p:cNvSpPr txBox="1"/>
            <p:nvPr/>
          </p:nvSpPr>
          <p:spPr>
            <a:xfrm>
              <a:off x="8877494" y="1792173"/>
              <a:ext cx="27266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Diversity of Instruments</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21"/>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KEY CHARACTERISTICS OF THE OTC MARKET INCLUDE</a:t>
            </a:r>
            <a:endParaRPr lang="en-GB" b="1"/>
          </a:p>
        </p:txBody>
      </p:sp>
      <p:grpSp>
        <p:nvGrpSpPr>
          <p:cNvPr id="543" name="Google Shape;543;p21"/>
          <p:cNvGrpSpPr/>
          <p:nvPr/>
        </p:nvGrpSpPr>
        <p:grpSpPr>
          <a:xfrm>
            <a:off x="465530" y="1366077"/>
            <a:ext cx="11338560" cy="1328049"/>
            <a:chOff x="8696324" y="1653359"/>
            <a:chExt cx="11959499" cy="1328049"/>
          </a:xfrm>
        </p:grpSpPr>
        <p:sp>
          <p:nvSpPr>
            <p:cNvPr id="544" name="Google Shape;544;p21"/>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45" name="Google Shape;545;p21"/>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46" name="Google Shape;546;p21"/>
            <p:cNvSpPr txBox="1"/>
            <p:nvPr/>
          </p:nvSpPr>
          <p:spPr>
            <a:xfrm>
              <a:off x="8903992" y="2263680"/>
              <a:ext cx="11525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dirty="0">
                  <a:solidFill>
                    <a:srgbClr val="3F3F3F"/>
                  </a:solidFill>
                  <a:latin typeface="Arial" panose="020B0604020202020204"/>
                  <a:ea typeface="Arial" panose="020B0604020202020204"/>
                  <a:cs typeface="Arial" panose="020B0604020202020204"/>
                  <a:sym typeface="Arial" panose="020B0604020202020204"/>
                </a:rPr>
                <a:t>OTC transactions often involve customized or non-standardized contracts, allowing parties to tailor the terms of their agreements to meet their specific needs.</a:t>
              </a:r>
              <a:endParaRPr dirty="0"/>
            </a:p>
          </p:txBody>
        </p:sp>
        <p:sp>
          <p:nvSpPr>
            <p:cNvPr id="547" name="Google Shape;547;p21"/>
            <p:cNvSpPr txBox="1"/>
            <p:nvPr/>
          </p:nvSpPr>
          <p:spPr>
            <a:xfrm>
              <a:off x="8903992" y="1798659"/>
              <a:ext cx="247649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Customization</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548" name="Google Shape;548;p21"/>
          <p:cNvGrpSpPr/>
          <p:nvPr/>
        </p:nvGrpSpPr>
        <p:grpSpPr>
          <a:xfrm>
            <a:off x="465530" y="2949203"/>
            <a:ext cx="11338560" cy="1328049"/>
            <a:chOff x="8696324" y="1653359"/>
            <a:chExt cx="11959499" cy="1328049"/>
          </a:xfrm>
        </p:grpSpPr>
        <p:sp>
          <p:nvSpPr>
            <p:cNvPr id="549" name="Google Shape;549;p21"/>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50" name="Google Shape;550;p21"/>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51" name="Google Shape;551;p21"/>
            <p:cNvSpPr txBox="1"/>
            <p:nvPr/>
          </p:nvSpPr>
          <p:spPr>
            <a:xfrm>
              <a:off x="8903992" y="2263680"/>
              <a:ext cx="11525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rgbClr val="3F3F3F"/>
                  </a:solidFill>
                  <a:latin typeface="Arial" panose="020B0604020202020204"/>
                  <a:ea typeface="Arial" panose="020B0604020202020204"/>
                  <a:cs typeface="Arial" panose="020B0604020202020204"/>
                  <a:sym typeface="Arial" panose="020B0604020202020204"/>
                </a:rPr>
                <a:t>OTC transactions are generally not as transparent as exchange-traded transactions. Pricing and trade details may not be publicly disclosed, which can impact market efficiency.</a:t>
              </a:r>
              <a:endParaRPr lang="en-GB" sz="1600">
                <a:solidFill>
                  <a:srgbClr val="3F3F3F"/>
                </a:solidFill>
                <a:latin typeface="Arial" panose="020B0604020202020204"/>
                <a:ea typeface="Arial" panose="020B0604020202020204"/>
                <a:cs typeface="Arial" panose="020B0604020202020204"/>
                <a:sym typeface="Arial" panose="020B0604020202020204"/>
              </a:endParaRPr>
            </a:p>
          </p:txBody>
        </p:sp>
        <p:sp>
          <p:nvSpPr>
            <p:cNvPr id="552" name="Google Shape;552;p21"/>
            <p:cNvSpPr txBox="1"/>
            <p:nvPr/>
          </p:nvSpPr>
          <p:spPr>
            <a:xfrm>
              <a:off x="8903992" y="1798659"/>
              <a:ext cx="247649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Lack of Transparency</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553" name="Google Shape;553;p21"/>
          <p:cNvGrpSpPr/>
          <p:nvPr/>
        </p:nvGrpSpPr>
        <p:grpSpPr>
          <a:xfrm>
            <a:off x="465530" y="4653829"/>
            <a:ext cx="11338560" cy="1328049"/>
            <a:chOff x="8696324" y="1653359"/>
            <a:chExt cx="11959499" cy="1328049"/>
          </a:xfrm>
        </p:grpSpPr>
        <p:sp>
          <p:nvSpPr>
            <p:cNvPr id="554" name="Google Shape;554;p21"/>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55" name="Google Shape;555;p21"/>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56" name="Google Shape;556;p21"/>
            <p:cNvSpPr txBox="1"/>
            <p:nvPr/>
          </p:nvSpPr>
          <p:spPr>
            <a:xfrm>
              <a:off x="8966844" y="2351675"/>
              <a:ext cx="11525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rgbClr val="3F3F3F"/>
                  </a:solidFill>
                  <a:latin typeface="Arial" panose="020B0604020202020204"/>
                  <a:ea typeface="Arial" panose="020B0604020202020204"/>
                  <a:cs typeface="Arial" panose="020B0604020202020204"/>
                  <a:sym typeface="Arial" panose="020B0604020202020204"/>
                </a:rPr>
                <a:t>OTC transactions involve counterparty risk, meaning that participants must consider the creditworthiness and financial stability of their trading partners.</a:t>
              </a:r>
              <a:endParaRPr lang="en-GB" sz="1600">
                <a:solidFill>
                  <a:srgbClr val="3F3F3F"/>
                </a:solidFill>
                <a:latin typeface="Arial" panose="020B0604020202020204"/>
                <a:ea typeface="Arial" panose="020B0604020202020204"/>
                <a:cs typeface="Arial" panose="020B0604020202020204"/>
                <a:sym typeface="Arial" panose="020B0604020202020204"/>
              </a:endParaRPr>
            </a:p>
          </p:txBody>
        </p:sp>
        <p:sp>
          <p:nvSpPr>
            <p:cNvPr id="557" name="Google Shape;557;p21"/>
            <p:cNvSpPr txBox="1"/>
            <p:nvPr/>
          </p:nvSpPr>
          <p:spPr>
            <a:xfrm>
              <a:off x="8877494" y="1792173"/>
              <a:ext cx="27266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Counterparty Risk</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22"/>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KEY CHARACTERISTICS OF THE OTC MARKET INCLUDE</a:t>
            </a:r>
            <a:endParaRPr lang="en-GB" b="1"/>
          </a:p>
        </p:txBody>
      </p:sp>
      <p:grpSp>
        <p:nvGrpSpPr>
          <p:cNvPr id="564" name="Google Shape;564;p22"/>
          <p:cNvGrpSpPr/>
          <p:nvPr/>
        </p:nvGrpSpPr>
        <p:grpSpPr>
          <a:xfrm>
            <a:off x="465530" y="1398783"/>
            <a:ext cx="11338560" cy="1328049"/>
            <a:chOff x="8696324" y="1653359"/>
            <a:chExt cx="11959499" cy="1328049"/>
          </a:xfrm>
        </p:grpSpPr>
        <p:sp>
          <p:nvSpPr>
            <p:cNvPr id="565" name="Google Shape;565;p22"/>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66" name="Google Shape;566;p22"/>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67" name="Google Shape;567;p22"/>
            <p:cNvSpPr txBox="1"/>
            <p:nvPr/>
          </p:nvSpPr>
          <p:spPr>
            <a:xfrm>
              <a:off x="8903992" y="2263680"/>
              <a:ext cx="11525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rgbClr val="3F3F3F"/>
                  </a:solidFill>
                  <a:latin typeface="Arial" panose="020B0604020202020204"/>
                  <a:ea typeface="Arial" panose="020B0604020202020204"/>
                  <a:cs typeface="Arial" panose="020B0604020202020204"/>
                  <a:sym typeface="Arial" panose="020B0604020202020204"/>
                </a:rPr>
                <a:t>OTC markets are subject to regulatory oversight, but the degree and type of regulation can vary by jurisdiction and asset class</a:t>
              </a:r>
              <a:endParaRPr lang="en-GB" sz="1600">
                <a:solidFill>
                  <a:srgbClr val="3F3F3F"/>
                </a:solidFill>
                <a:latin typeface="Arial" panose="020B0604020202020204"/>
                <a:ea typeface="Arial" panose="020B0604020202020204"/>
                <a:cs typeface="Arial" panose="020B0604020202020204"/>
                <a:sym typeface="Arial" panose="020B0604020202020204"/>
              </a:endParaRPr>
            </a:p>
          </p:txBody>
        </p:sp>
        <p:sp>
          <p:nvSpPr>
            <p:cNvPr id="568" name="Google Shape;568;p22"/>
            <p:cNvSpPr txBox="1"/>
            <p:nvPr/>
          </p:nvSpPr>
          <p:spPr>
            <a:xfrm>
              <a:off x="8903992" y="1798659"/>
              <a:ext cx="247649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Regulation</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569" name="Google Shape;569;p22"/>
          <p:cNvGrpSpPr/>
          <p:nvPr/>
        </p:nvGrpSpPr>
        <p:grpSpPr>
          <a:xfrm>
            <a:off x="465530" y="2996627"/>
            <a:ext cx="11338560" cy="1328049"/>
            <a:chOff x="8696324" y="1653359"/>
            <a:chExt cx="11959499" cy="1328049"/>
          </a:xfrm>
        </p:grpSpPr>
        <p:sp>
          <p:nvSpPr>
            <p:cNvPr id="570" name="Google Shape;570;p22"/>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71" name="Google Shape;571;p22"/>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72" name="Google Shape;572;p22"/>
            <p:cNvSpPr txBox="1"/>
            <p:nvPr/>
          </p:nvSpPr>
          <p:spPr>
            <a:xfrm>
              <a:off x="8903992" y="2335565"/>
              <a:ext cx="1152522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dirty="0">
                  <a:solidFill>
                    <a:srgbClr val="3F3F3F"/>
                  </a:solidFill>
                  <a:latin typeface="Arial" panose="020B0604020202020204"/>
                  <a:ea typeface="Arial" panose="020B0604020202020204"/>
                  <a:cs typeface="Arial" panose="020B0604020202020204"/>
                  <a:sym typeface="Arial" panose="020B0604020202020204"/>
                </a:rPr>
                <a:t>The largest OTC market in the world, where currencies are traded in a decentralized manner.</a:t>
              </a:r>
              <a:endParaRPr dirty="0"/>
            </a:p>
          </p:txBody>
        </p:sp>
        <p:sp>
          <p:nvSpPr>
            <p:cNvPr id="573" name="Google Shape;573;p22"/>
            <p:cNvSpPr txBox="1"/>
            <p:nvPr/>
          </p:nvSpPr>
          <p:spPr>
            <a:xfrm>
              <a:off x="8890743" y="1686596"/>
              <a:ext cx="2476491"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Forex (Foreign Exchange) Market</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574" name="Google Shape;574;p22"/>
          <p:cNvGrpSpPr/>
          <p:nvPr/>
        </p:nvGrpSpPr>
        <p:grpSpPr>
          <a:xfrm>
            <a:off x="465530" y="4653829"/>
            <a:ext cx="11338560" cy="1328049"/>
            <a:chOff x="8696324" y="1653359"/>
            <a:chExt cx="11959499" cy="1328049"/>
          </a:xfrm>
        </p:grpSpPr>
        <p:sp>
          <p:nvSpPr>
            <p:cNvPr id="575" name="Google Shape;575;p22"/>
            <p:cNvSpPr/>
            <p:nvPr/>
          </p:nvSpPr>
          <p:spPr>
            <a:xfrm>
              <a:off x="8696324" y="1948927"/>
              <a:ext cx="11959499" cy="1032481"/>
            </a:xfrm>
            <a:prstGeom prst="roundRect">
              <a:avLst>
                <a:gd name="adj" fmla="val 15218"/>
              </a:avLst>
            </a:prstGeom>
            <a:solidFill>
              <a:schemeClr val="lt1"/>
            </a:solidFill>
            <a:ln w="254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76" name="Google Shape;576;p22"/>
            <p:cNvSpPr/>
            <p:nvPr/>
          </p:nvSpPr>
          <p:spPr>
            <a:xfrm>
              <a:off x="8750508" y="1653359"/>
              <a:ext cx="2893427" cy="64008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577" name="Google Shape;577;p22"/>
            <p:cNvSpPr txBox="1"/>
            <p:nvPr/>
          </p:nvSpPr>
          <p:spPr>
            <a:xfrm>
              <a:off x="8966844" y="2351675"/>
              <a:ext cx="1152522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dirty="0">
                  <a:solidFill>
                    <a:srgbClr val="3F3F3F"/>
                  </a:solidFill>
                  <a:latin typeface="Arial" panose="020B0604020202020204"/>
                  <a:ea typeface="Arial" panose="020B0604020202020204"/>
                  <a:cs typeface="Arial" panose="020B0604020202020204"/>
                  <a:sym typeface="Arial" panose="020B0604020202020204"/>
                </a:rPr>
                <a:t>Many OTC derivative products, such as interest rate swaps, credit default swaps, forwards, SLB and options, are primarily traded in OTC markets.</a:t>
              </a:r>
              <a:endParaRPr dirty="0"/>
            </a:p>
          </p:txBody>
        </p:sp>
        <p:sp>
          <p:nvSpPr>
            <p:cNvPr id="578" name="Google Shape;578;p22"/>
            <p:cNvSpPr txBox="1"/>
            <p:nvPr/>
          </p:nvSpPr>
          <p:spPr>
            <a:xfrm>
              <a:off x="8877494" y="1792173"/>
              <a:ext cx="27266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b="1">
                  <a:solidFill>
                    <a:schemeClr val="lt1"/>
                  </a:solidFill>
                  <a:latin typeface="Arial" panose="020B0604020202020204"/>
                  <a:ea typeface="Arial" panose="020B0604020202020204"/>
                  <a:cs typeface="Arial" panose="020B0604020202020204"/>
                  <a:sym typeface="Arial" panose="020B0604020202020204"/>
                </a:rPr>
                <a:t>OTC Derivatives Market</a:t>
              </a:r>
              <a:endParaRPr sz="1600" b="1">
                <a:solidFill>
                  <a:schemeClr val="lt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pic>
        <p:nvPicPr>
          <p:cNvPr id="583" name="Google Shape;583;p23"/>
          <p:cNvPicPr preferRelativeResize="0">
            <a:picLocks noGrp="1"/>
          </p:cNvPicPr>
          <p:nvPr>
            <p:ph type="pic" idx="2"/>
          </p:nvPr>
        </p:nvPicPr>
        <p:blipFill rotWithShape="1">
          <a:blip r:embed="rId1"/>
          <a:srcRect/>
          <a:stretch>
            <a:fillRect/>
          </a:stretch>
        </p:blipFill>
        <p:spPr>
          <a:xfrm>
            <a:off x="3978704" y="-174171"/>
            <a:ext cx="8412466" cy="7206342"/>
          </a:xfrm>
          <a:prstGeom prst="rect">
            <a:avLst/>
          </a:prstGeom>
          <a:solidFill>
            <a:srgbClr val="F2F2F2"/>
          </a:solidFill>
          <a:ln>
            <a:noFill/>
          </a:ln>
        </p:spPr>
      </p:pic>
      <p:sp>
        <p:nvSpPr>
          <p:cNvPr id="584" name="Google Shape;584;p23"/>
          <p:cNvSpPr/>
          <p:nvPr/>
        </p:nvSpPr>
        <p:spPr>
          <a:xfrm flipH="1">
            <a:off x="4024507" y="0"/>
            <a:ext cx="8166551" cy="6858000"/>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85" name="Google Shape;585;p23"/>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86" name="Google Shape;586;p2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87" name="Google Shape;587;p23"/>
          <p:cNvSpPr txBox="1"/>
          <p:nvPr/>
        </p:nvSpPr>
        <p:spPr>
          <a:xfrm>
            <a:off x="497600" y="2687124"/>
            <a:ext cx="7053813" cy="14465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4400"/>
              <a:buFont typeface="Arial" panose="020B0604020202020204"/>
              <a:buNone/>
            </a:pPr>
            <a:r>
              <a:rPr lang="en-GB" sz="4400" b="1" i="0" u="none" strike="noStrike" cap="none">
                <a:solidFill>
                  <a:srgbClr val="FFFFFF"/>
                </a:solidFill>
                <a:latin typeface="Arial" panose="020B0604020202020204"/>
                <a:ea typeface="Arial" panose="020B0604020202020204"/>
                <a:cs typeface="Arial" panose="020B0604020202020204"/>
                <a:sym typeface="Arial" panose="020B0604020202020204"/>
              </a:rPr>
              <a:t>Key Players in OTC Markets</a:t>
            </a:r>
            <a:endParaRPr lang="en-GB" sz="44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588" name="Google Shape;588;p23" descr="A picture containing text, clipart&#10;&#10;Description automatically generated"/>
          <p:cNvPicPr preferRelativeResize="0"/>
          <p:nvPr/>
        </p:nvPicPr>
        <p:blipFill rotWithShape="1">
          <a:blip r:embed="rId2"/>
          <a:srcRect/>
          <a:stretch>
            <a:fillRect/>
          </a:stretch>
        </p:blipFill>
        <p:spPr>
          <a:xfrm>
            <a:off x="9533468" y="312483"/>
            <a:ext cx="2421466" cy="4919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4"/>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THE MAIN PLAYERS IN THE OTC MARKET</a:t>
            </a:r>
            <a:endParaRPr lang="en-GB" b="1"/>
          </a:p>
        </p:txBody>
      </p:sp>
      <p:grpSp>
        <p:nvGrpSpPr>
          <p:cNvPr id="595" name="Google Shape;595;p24"/>
          <p:cNvGrpSpPr/>
          <p:nvPr/>
        </p:nvGrpSpPr>
        <p:grpSpPr>
          <a:xfrm>
            <a:off x="685800" y="1214968"/>
            <a:ext cx="11010900" cy="4834467"/>
            <a:chOff x="685800" y="1251471"/>
            <a:chExt cx="11010900" cy="5046779"/>
          </a:xfrm>
        </p:grpSpPr>
        <p:sp>
          <p:nvSpPr>
            <p:cNvPr id="596" name="Google Shape;596;p24"/>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97" name="Google Shape;597;p24"/>
            <p:cNvSpPr/>
            <p:nvPr/>
          </p:nvSpPr>
          <p:spPr>
            <a:xfrm>
              <a:off x="790308" y="1251471"/>
              <a:ext cx="10801884" cy="4926649"/>
            </a:xfrm>
            <a:prstGeom prst="roundRect">
              <a:avLst>
                <a:gd name="adj" fmla="val 9036"/>
              </a:avLst>
            </a:prstGeom>
            <a:solidFill>
              <a:schemeClr val="accent5">
                <a:lumMod val="20000"/>
                <a:lumOff val="80000"/>
              </a:schemeClr>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Buy-Side Participants</a:t>
              </a:r>
              <a:endParaRPr dirty="0"/>
            </a:p>
            <a:p>
              <a:pPr marL="0" marR="0" lvl="0" indent="0" algn="ctr" rtl="0">
                <a:spcBef>
                  <a:spcPts val="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600"/>
                </a:spcBef>
                <a:spcAft>
                  <a:spcPts val="0"/>
                </a:spcAft>
                <a:buClr>
                  <a:schemeClr val="dk1"/>
                </a:buClr>
                <a:buSzPts val="1800"/>
                <a:buFont typeface="Arial" panose="020B0604020202020204"/>
                <a:buChar char="•"/>
              </a:pP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Individual Investors: Retail investors who trade OTC securities, such as over-the-counter stocks or OTC derivatives.</a:t>
              </a:r>
              <a:endParaRPr dirty="0"/>
            </a:p>
            <a:p>
              <a:pPr marL="228600" marR="0" lvl="0" indent="-228600" algn="l" rtl="0">
                <a:spcBef>
                  <a:spcPts val="600"/>
                </a:spcBef>
                <a:spcAft>
                  <a:spcPts val="0"/>
                </a:spcAft>
                <a:buClr>
                  <a:schemeClr val="dk1"/>
                </a:buClr>
                <a:buSzPts val="1800"/>
                <a:buFont typeface="Arial" panose="020B0604020202020204"/>
                <a:buChar char="•"/>
              </a:pP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Institutional Investors: Large organizations like mutual funds, pension funds, and insurance companies that trade OTC securities to manage their portfolios.</a:t>
              </a:r>
              <a:endParaRPr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25"/>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THE MAIN PLAYERS IN THE OTC MARKET</a:t>
            </a:r>
            <a:endParaRPr lang="en-GB" b="1"/>
          </a:p>
        </p:txBody>
      </p:sp>
      <p:grpSp>
        <p:nvGrpSpPr>
          <p:cNvPr id="604" name="Google Shape;604;p25"/>
          <p:cNvGrpSpPr/>
          <p:nvPr/>
        </p:nvGrpSpPr>
        <p:grpSpPr>
          <a:xfrm>
            <a:off x="685800" y="1214968"/>
            <a:ext cx="11010900" cy="4834467"/>
            <a:chOff x="685800" y="1251471"/>
            <a:chExt cx="11010900" cy="5046779"/>
          </a:xfrm>
        </p:grpSpPr>
        <p:sp>
          <p:nvSpPr>
            <p:cNvPr id="605" name="Google Shape;605;p25"/>
            <p:cNvSpPr/>
            <p:nvPr/>
          </p:nvSpPr>
          <p:spPr>
            <a:xfrm rot="10800000" flipH="1">
              <a:off x="685800" y="3326450"/>
              <a:ext cx="11010900" cy="2971800"/>
            </a:xfrm>
            <a:prstGeom prst="round2SameRect">
              <a:avLst>
                <a:gd name="adj1" fmla="val 16667"/>
                <a:gd name="adj2" fmla="val 0"/>
              </a:avLst>
            </a:prstGeom>
            <a:solidFill>
              <a:schemeClr val="accent4"/>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06" name="Google Shape;606;p25"/>
            <p:cNvSpPr/>
            <p:nvPr/>
          </p:nvSpPr>
          <p:spPr>
            <a:xfrm>
              <a:off x="790308" y="1251471"/>
              <a:ext cx="10801884" cy="4926649"/>
            </a:xfrm>
            <a:prstGeom prst="roundRect">
              <a:avLst>
                <a:gd name="adj" fmla="val 9036"/>
              </a:avLst>
            </a:prstGeom>
            <a:solidFill>
              <a:schemeClr val="accent4">
                <a:lumMod val="20000"/>
                <a:lumOff val="80000"/>
              </a:schemeClr>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Sell-Side Participants</a:t>
              </a:r>
              <a:endParaRPr dirty="0"/>
            </a:p>
            <a:p>
              <a:pPr marL="0" marR="0" lvl="0" indent="0" algn="ctr" rtl="0">
                <a:spcBef>
                  <a:spcPts val="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600"/>
                </a:spcBef>
                <a:spcAft>
                  <a:spcPts val="0"/>
                </a:spcAft>
                <a:buClr>
                  <a:schemeClr val="dk1"/>
                </a:buClr>
                <a:buSzPts val="1800"/>
                <a:buFont typeface="Arial" panose="020B0604020202020204"/>
                <a:buChar char="•"/>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Broker-Dealers: </a:t>
              </a: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Financial institutions that act as intermediaries between buyers and sellers, executing OTC trades on behalf of clients and providing market-making services. They may also take proprietary positions.</a:t>
              </a:r>
              <a:endParaRPr dirty="0"/>
            </a:p>
            <a:p>
              <a:pPr marL="228600" marR="0" lvl="0" indent="-228600" algn="l" rtl="0">
                <a:spcBef>
                  <a:spcPts val="600"/>
                </a:spcBef>
                <a:spcAft>
                  <a:spcPts val="0"/>
                </a:spcAft>
                <a:buClr>
                  <a:schemeClr val="dk1"/>
                </a:buClr>
                <a:buSzPts val="1800"/>
                <a:buFont typeface="Arial" panose="020B0604020202020204"/>
                <a:buChar char="•"/>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Market Makers: </a:t>
              </a: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Firms or individuals that facilitate trading by continuously quoting bid and ask prices for specific securities, helping to maintain liquidity.</a:t>
              </a:r>
              <a:endParaRPr dirty="0"/>
            </a:p>
            <a:p>
              <a:pPr marL="228600" marR="0" lvl="0" indent="-228600" algn="l" rtl="0">
                <a:spcBef>
                  <a:spcPts val="600"/>
                </a:spcBef>
                <a:spcAft>
                  <a:spcPts val="0"/>
                </a:spcAft>
                <a:buClr>
                  <a:schemeClr val="dk1"/>
                </a:buClr>
                <a:buSzPts val="1800"/>
                <a:buFont typeface="Arial" panose="020B0604020202020204"/>
                <a:buChar char="•"/>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Investment Banks: </a:t>
              </a: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These banks engage in various activities, including underwriting, trading, and advisory services in the OTC market.</a:t>
              </a:r>
              <a:endParaRPr dirty="0"/>
            </a:p>
            <a:p>
              <a:pPr marL="228600" marR="0" lvl="0" indent="-228600" algn="l" rtl="0">
                <a:spcBef>
                  <a:spcPts val="600"/>
                </a:spcBef>
                <a:spcAft>
                  <a:spcPts val="0"/>
                </a:spcAft>
                <a:buClr>
                  <a:schemeClr val="dk1"/>
                </a:buClr>
                <a:buSzPts val="1800"/>
                <a:buFont typeface="Arial" panose="020B0604020202020204"/>
                <a:buChar char="•"/>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Trading Desks: </a:t>
              </a: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These are specialized units within financial institutions that handle trading activities in the OTC market, including trading, risk management, and order execution.</a:t>
              </a:r>
              <a:endParaRPr dirty="0"/>
            </a:p>
            <a:p>
              <a:pPr marL="228600" marR="0" lvl="0" indent="-228600" algn="l" rtl="0">
                <a:spcBef>
                  <a:spcPts val="600"/>
                </a:spcBef>
                <a:spcAft>
                  <a:spcPts val="0"/>
                </a:spcAft>
                <a:buClr>
                  <a:schemeClr val="dk1"/>
                </a:buClr>
                <a:buSzPts val="1800"/>
                <a:buFont typeface="Arial" panose="020B0604020202020204"/>
                <a:buChar char="•"/>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OTC Trading Platforms: </a:t>
              </a: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Electronic platforms or networks that facilitate OTC trading, such as ECNs (Electronic Communication Networks) and alternative trading systems.</a:t>
              </a:r>
              <a:endParaRPr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26"/>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THE MAIN PLAYERS IN THE OTC MARKET</a:t>
            </a:r>
            <a:endParaRPr lang="en-GB" b="1"/>
          </a:p>
        </p:txBody>
      </p:sp>
      <p:grpSp>
        <p:nvGrpSpPr>
          <p:cNvPr id="613" name="Google Shape;613;p26"/>
          <p:cNvGrpSpPr/>
          <p:nvPr/>
        </p:nvGrpSpPr>
        <p:grpSpPr>
          <a:xfrm>
            <a:off x="685800" y="1214968"/>
            <a:ext cx="11010900" cy="4834467"/>
            <a:chOff x="685800" y="1251471"/>
            <a:chExt cx="11010900" cy="5046779"/>
          </a:xfrm>
        </p:grpSpPr>
        <p:sp>
          <p:nvSpPr>
            <p:cNvPr id="614" name="Google Shape;614;p26"/>
            <p:cNvSpPr/>
            <p:nvPr/>
          </p:nvSpPr>
          <p:spPr>
            <a:xfrm rot="10800000" flipH="1">
              <a:off x="685800" y="3326450"/>
              <a:ext cx="11010900" cy="2971800"/>
            </a:xfrm>
            <a:prstGeom prst="round2SameRect">
              <a:avLst>
                <a:gd name="adj1" fmla="val 16667"/>
                <a:gd name="adj2" fmla="val 0"/>
              </a:avLst>
            </a:prstGeom>
            <a:solidFill>
              <a:schemeClr val="accent3"/>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15" name="Google Shape;615;p26"/>
            <p:cNvSpPr/>
            <p:nvPr/>
          </p:nvSpPr>
          <p:spPr>
            <a:xfrm>
              <a:off x="790308" y="1251471"/>
              <a:ext cx="10801884" cy="4926649"/>
            </a:xfrm>
            <a:prstGeom prst="roundRect">
              <a:avLst>
                <a:gd name="adj" fmla="val 9036"/>
              </a:avLst>
            </a:prstGeom>
            <a:solidFill>
              <a:schemeClr val="accent3">
                <a:lumMod val="20000"/>
                <a:lumOff val="80000"/>
              </a:schemeClr>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Intermediaries</a:t>
              </a:r>
              <a:endParaRPr dirty="0"/>
            </a:p>
            <a:p>
              <a:pPr marL="0" marR="0" lvl="0" indent="0" algn="ctr" rtl="0">
                <a:spcBef>
                  <a:spcPts val="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600"/>
                </a:spcBef>
                <a:spcAft>
                  <a:spcPts val="0"/>
                </a:spcAft>
                <a:buClr>
                  <a:schemeClr val="dk1"/>
                </a:buClr>
                <a:buSzPts val="1800"/>
                <a:buFont typeface="Arial" panose="020B0604020202020204"/>
                <a:buChar char="•"/>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Clearinghouses: </a:t>
              </a: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Organizations that act as intermediaries in the settlement process, ensuring that transactions are completed and guaranteeing their financial integrity. Clearinghouses are particularly important in the OTC derivatives market.</a:t>
              </a:r>
              <a:endParaRPr dirty="0"/>
            </a:p>
            <a:p>
              <a:pPr marL="285750" marR="0" lvl="0" indent="-285750" algn="l" rtl="0">
                <a:spcBef>
                  <a:spcPts val="600"/>
                </a:spcBef>
                <a:spcAft>
                  <a:spcPts val="0"/>
                </a:spcAft>
                <a:buClr>
                  <a:schemeClr val="dk1"/>
                </a:buClr>
                <a:buSzPts val="1800"/>
                <a:buFont typeface="Arial" panose="020B0604020202020204"/>
                <a:buChar char="•"/>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Custodians: </a:t>
              </a: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Institutions that hold and safeguard financial assets for clients. They may also provide services related to settlement and record-keeping.</a:t>
              </a:r>
              <a:endParaRPr dirty="0"/>
            </a:p>
            <a:p>
              <a:pPr marL="285750" marR="0" lvl="0" indent="-285750" algn="l" rtl="0">
                <a:spcBef>
                  <a:spcPts val="600"/>
                </a:spcBef>
                <a:spcAft>
                  <a:spcPts val="0"/>
                </a:spcAft>
                <a:buClr>
                  <a:schemeClr val="dk1"/>
                </a:buClr>
                <a:buSzPts val="1800"/>
                <a:buFont typeface="Arial" panose="020B0604020202020204"/>
                <a:buChar char="•"/>
              </a:pPr>
              <a:r>
                <a:rPr lang="en-GB"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Transfer Agents: </a:t>
              </a:r>
              <a:r>
                <a:rPr lang="en-GB" sz="1800" i="0" u="none" strike="noStrike" cap="none" dirty="0">
                  <a:solidFill>
                    <a:schemeClr val="dk1"/>
                  </a:solidFill>
                  <a:latin typeface="Arial" panose="020B0604020202020204"/>
                  <a:ea typeface="Arial" panose="020B0604020202020204"/>
                  <a:cs typeface="Arial" panose="020B0604020202020204"/>
                  <a:sym typeface="Arial" panose="020B0604020202020204"/>
                </a:rPr>
                <a:t>Entities responsible for maintaining shareholder records and assisting with stock transfers and other corporate actions.</a:t>
              </a:r>
              <a:endParaRPr dirty="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27"/>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THE MAIN PLAYERS IN THE OTC MARKET</a:t>
            </a:r>
            <a:endParaRPr lang="en-GB" b="1"/>
          </a:p>
        </p:txBody>
      </p:sp>
      <p:grpSp>
        <p:nvGrpSpPr>
          <p:cNvPr id="622" name="Google Shape;622;p27"/>
          <p:cNvGrpSpPr/>
          <p:nvPr/>
        </p:nvGrpSpPr>
        <p:grpSpPr>
          <a:xfrm>
            <a:off x="685800" y="1214968"/>
            <a:ext cx="11010900" cy="4834467"/>
            <a:chOff x="685800" y="1251471"/>
            <a:chExt cx="11010900" cy="5046779"/>
          </a:xfrm>
        </p:grpSpPr>
        <p:sp>
          <p:nvSpPr>
            <p:cNvPr id="623" name="Google Shape;623;p27"/>
            <p:cNvSpPr/>
            <p:nvPr/>
          </p:nvSpPr>
          <p:spPr>
            <a:xfrm rot="10800000" flipH="1">
              <a:off x="685800" y="3326450"/>
              <a:ext cx="11010900" cy="2971800"/>
            </a:xfrm>
            <a:prstGeom prst="round2SameRect">
              <a:avLst>
                <a:gd name="adj1" fmla="val 16667"/>
                <a:gd name="adj2" fmla="val 0"/>
              </a:avLst>
            </a:prstGeom>
            <a:solidFill>
              <a:schemeClr val="accent3"/>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24" name="Google Shape;624;p27"/>
            <p:cNvSpPr/>
            <p:nvPr/>
          </p:nvSpPr>
          <p:spPr>
            <a:xfrm>
              <a:off x="790308" y="1251471"/>
              <a:ext cx="10801884" cy="4926649"/>
            </a:xfrm>
            <a:prstGeom prst="roundRect">
              <a:avLst>
                <a:gd name="adj" fmla="val 9036"/>
              </a:avLst>
            </a:prstGeom>
            <a:solidFill>
              <a:schemeClr val="accent3">
                <a:lumMod val="20000"/>
                <a:lumOff val="80000"/>
              </a:schemeClr>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285750" marR="0" lvl="0" indent="-285750" algn="l" rtl="0">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Hedge Funds and Asset Managers: </a:t>
              </a: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These entities actively trade in the OTC market to implement investment strategies and manage portfolios.</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Data Providers and Analytics Firms: </a:t>
              </a: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Companies that offer market data, research, and analytics services, providing valuable insights to market participants.</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Credit Rating Agencies: </a:t>
              </a: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Entities that assess the creditworthiness of issuers and their securities, helping investors evaluate OTC investments.</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Legal and Compliance Professionals: </a:t>
              </a: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Lawyers and compliance experts who help market participants navigate the regulatory and legal complexities of the OTC market, including the negotiation and documentation of OTC agreements.</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pic>
        <p:nvPicPr>
          <p:cNvPr id="629" name="Google Shape;629;p28"/>
          <p:cNvPicPr preferRelativeResize="0">
            <a:picLocks noGrp="1"/>
          </p:cNvPicPr>
          <p:nvPr>
            <p:ph type="pic" idx="2"/>
          </p:nvPr>
        </p:nvPicPr>
        <p:blipFill rotWithShape="1">
          <a:blip r:embed="rId1"/>
          <a:srcRect/>
          <a:stretch>
            <a:fillRect/>
          </a:stretch>
        </p:blipFill>
        <p:spPr>
          <a:xfrm>
            <a:off x="3978704" y="-174171"/>
            <a:ext cx="8412466" cy="7206342"/>
          </a:xfrm>
          <a:prstGeom prst="rect">
            <a:avLst/>
          </a:prstGeom>
          <a:solidFill>
            <a:srgbClr val="F2F2F2"/>
          </a:solidFill>
          <a:ln>
            <a:noFill/>
          </a:ln>
        </p:spPr>
      </p:pic>
      <p:sp>
        <p:nvSpPr>
          <p:cNvPr id="630" name="Google Shape;630;p28"/>
          <p:cNvSpPr/>
          <p:nvPr/>
        </p:nvSpPr>
        <p:spPr>
          <a:xfrm flipH="1">
            <a:off x="4024507" y="0"/>
            <a:ext cx="8166551" cy="6858000"/>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31" name="Google Shape;631;p28"/>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32" name="Google Shape;632;p2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33" name="Google Shape;633;p28"/>
          <p:cNvSpPr txBox="1"/>
          <p:nvPr/>
        </p:nvSpPr>
        <p:spPr>
          <a:xfrm>
            <a:off x="635" y="2905760"/>
            <a:ext cx="7550785" cy="15824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4400"/>
              <a:buFont typeface="Arial" panose="020B0604020202020204"/>
              <a:buNone/>
            </a:pPr>
            <a:r>
              <a:rPr lang="en-IN" altLang="en-GB" sz="4000" b="1" i="0" u="none" strike="noStrike" cap="none">
                <a:solidFill>
                  <a:srgbClr val="FFFFFF"/>
                </a:solidFill>
                <a:latin typeface="Arial" panose="020B0604020202020204"/>
                <a:ea typeface="Arial" panose="020B0604020202020204"/>
                <a:cs typeface="Arial" panose="020B0604020202020204"/>
                <a:sym typeface="Arial" panose="020B0604020202020204"/>
              </a:rPr>
              <a:t>OTC-</a:t>
            </a:r>
            <a:r>
              <a:rPr lang="en-GB" sz="4000" b="1" i="0" u="none" strike="noStrike" cap="none">
                <a:solidFill>
                  <a:srgbClr val="FFFFFF"/>
                </a:solidFill>
                <a:latin typeface="Arial" panose="020B0604020202020204"/>
                <a:ea typeface="Arial" panose="020B0604020202020204"/>
                <a:cs typeface="Arial" panose="020B0604020202020204"/>
                <a:sym typeface="Arial" panose="020B0604020202020204"/>
              </a:rPr>
              <a:t>Trade Lifecycle</a:t>
            </a:r>
            <a:r>
              <a:rPr lang="en-IN" altLang="en-GB" sz="4000" b="1" i="0" u="none" strike="noStrike" cap="none">
                <a:solidFill>
                  <a:srgbClr val="FFFFFF"/>
                </a:solidFill>
                <a:latin typeface="Arial" panose="020B0604020202020204"/>
                <a:ea typeface="Arial" panose="020B0604020202020204"/>
                <a:cs typeface="Arial" panose="020B0604020202020204"/>
                <a:sym typeface="Arial" panose="020B0604020202020204"/>
              </a:rPr>
              <a:t> O</a:t>
            </a:r>
            <a:r>
              <a:rPr lang="en-GB" sz="4000" b="1" i="0" u="none" strike="noStrike" cap="none">
                <a:solidFill>
                  <a:srgbClr val="FFFFFF"/>
                </a:solidFill>
                <a:latin typeface="Arial" panose="020B0604020202020204"/>
                <a:ea typeface="Arial" panose="020B0604020202020204"/>
                <a:cs typeface="Arial" panose="020B0604020202020204"/>
                <a:sym typeface="Arial" panose="020B0604020202020204"/>
              </a:rPr>
              <a:t>verview</a:t>
            </a:r>
            <a:endParaRPr lang="en-GB" sz="40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634" name="Google Shape;634;p28" descr="A picture containing text, clipart&#10;&#10;Description automatically generated"/>
          <p:cNvPicPr preferRelativeResize="0"/>
          <p:nvPr/>
        </p:nvPicPr>
        <p:blipFill rotWithShape="1">
          <a:blip r:embed="rId2"/>
          <a:srcRect/>
          <a:stretch>
            <a:fillRect/>
          </a:stretch>
        </p:blipFill>
        <p:spPr>
          <a:xfrm>
            <a:off x="9533468" y="312483"/>
            <a:ext cx="2421466" cy="4919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sp>
        <p:nvSpPr>
          <p:cNvPr id="2" name="Rectangle 1"/>
          <p:cNvSpPr/>
          <p:nvPr/>
        </p:nvSpPr>
        <p:spPr>
          <a:xfrm>
            <a:off x="5254582" y="1004552"/>
            <a:ext cx="3631842" cy="437881"/>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Initiation</a:t>
            </a:r>
            <a:endParaRPr lang="en-US" sz="1800" dirty="0">
              <a:solidFill>
                <a:schemeClr val="tx1">
                  <a:lumMod val="95000"/>
                  <a:lumOff val="5000"/>
                </a:schemeClr>
              </a:solidFill>
            </a:endParaRPr>
          </a:p>
        </p:txBody>
      </p:sp>
      <p:sp>
        <p:nvSpPr>
          <p:cNvPr id="3" name="Rectangle 2"/>
          <p:cNvSpPr/>
          <p:nvPr/>
        </p:nvSpPr>
        <p:spPr>
          <a:xfrm>
            <a:off x="5254582" y="1512438"/>
            <a:ext cx="3631842" cy="437881"/>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Execution</a:t>
            </a:r>
            <a:endParaRPr lang="en-US" sz="1800" dirty="0">
              <a:solidFill>
                <a:schemeClr val="tx1">
                  <a:lumMod val="95000"/>
                  <a:lumOff val="5000"/>
                </a:schemeClr>
              </a:solidFill>
            </a:endParaRPr>
          </a:p>
        </p:txBody>
      </p:sp>
      <p:sp>
        <p:nvSpPr>
          <p:cNvPr id="4" name="Rectangle 3"/>
          <p:cNvSpPr/>
          <p:nvPr/>
        </p:nvSpPr>
        <p:spPr>
          <a:xfrm>
            <a:off x="5254582" y="2020324"/>
            <a:ext cx="3631842" cy="43788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Reporting</a:t>
            </a:r>
            <a:endParaRPr lang="en-US" sz="1800" dirty="0">
              <a:solidFill>
                <a:schemeClr val="tx1">
                  <a:lumMod val="95000"/>
                  <a:lumOff val="5000"/>
                </a:schemeClr>
              </a:solidFill>
            </a:endParaRPr>
          </a:p>
        </p:txBody>
      </p:sp>
      <p:sp>
        <p:nvSpPr>
          <p:cNvPr id="5" name="Rectangle 4"/>
          <p:cNvSpPr/>
          <p:nvPr/>
        </p:nvSpPr>
        <p:spPr>
          <a:xfrm>
            <a:off x="5254582" y="2528211"/>
            <a:ext cx="3631842" cy="43788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Capture</a:t>
            </a:r>
            <a:endParaRPr lang="en-US" sz="1800" dirty="0">
              <a:solidFill>
                <a:schemeClr val="tx1">
                  <a:lumMod val="95000"/>
                  <a:lumOff val="5000"/>
                </a:schemeClr>
              </a:solidFill>
            </a:endParaRPr>
          </a:p>
        </p:txBody>
      </p:sp>
      <p:sp>
        <p:nvSpPr>
          <p:cNvPr id="6" name="Rectangle 5"/>
          <p:cNvSpPr/>
          <p:nvPr/>
        </p:nvSpPr>
        <p:spPr>
          <a:xfrm>
            <a:off x="5254582" y="3013975"/>
            <a:ext cx="3631842" cy="437881"/>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Enrichment</a:t>
            </a:r>
            <a:endParaRPr lang="en-US" sz="1800" dirty="0">
              <a:solidFill>
                <a:schemeClr val="tx1">
                  <a:lumMod val="95000"/>
                  <a:lumOff val="5000"/>
                </a:schemeClr>
              </a:solidFill>
            </a:endParaRPr>
          </a:p>
        </p:txBody>
      </p:sp>
      <p:sp>
        <p:nvSpPr>
          <p:cNvPr id="7" name="Rectangle 6"/>
          <p:cNvSpPr/>
          <p:nvPr/>
        </p:nvSpPr>
        <p:spPr>
          <a:xfrm>
            <a:off x="5254582" y="3499737"/>
            <a:ext cx="3631842" cy="437881"/>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Validation</a:t>
            </a:r>
            <a:endParaRPr lang="en-US" sz="1800" dirty="0">
              <a:solidFill>
                <a:schemeClr val="tx1">
                  <a:lumMod val="95000"/>
                  <a:lumOff val="5000"/>
                </a:schemeClr>
              </a:solidFill>
            </a:endParaRPr>
          </a:p>
        </p:txBody>
      </p:sp>
      <p:sp>
        <p:nvSpPr>
          <p:cNvPr id="8" name="Rectangle 7"/>
          <p:cNvSpPr/>
          <p:nvPr/>
        </p:nvSpPr>
        <p:spPr>
          <a:xfrm>
            <a:off x="5254582" y="4007623"/>
            <a:ext cx="3631842" cy="43788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Verification</a:t>
            </a:r>
            <a:endParaRPr lang="en-US" sz="1800" dirty="0">
              <a:solidFill>
                <a:schemeClr val="tx1">
                  <a:lumMod val="95000"/>
                  <a:lumOff val="5000"/>
                </a:schemeClr>
              </a:solidFill>
            </a:endParaRPr>
          </a:p>
        </p:txBody>
      </p:sp>
      <p:sp>
        <p:nvSpPr>
          <p:cNvPr id="9" name="Rectangle 8"/>
          <p:cNvSpPr/>
          <p:nvPr/>
        </p:nvSpPr>
        <p:spPr>
          <a:xfrm>
            <a:off x="5254582" y="4515510"/>
            <a:ext cx="3631842" cy="43788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Affirmation / Confirmation</a:t>
            </a:r>
            <a:endParaRPr lang="en-US" sz="1800" dirty="0">
              <a:solidFill>
                <a:schemeClr val="tx1">
                  <a:lumMod val="95000"/>
                  <a:lumOff val="5000"/>
                </a:schemeClr>
              </a:solidFill>
            </a:endParaRPr>
          </a:p>
        </p:txBody>
      </p:sp>
      <p:sp>
        <p:nvSpPr>
          <p:cNvPr id="10" name="Rectangle 9"/>
          <p:cNvSpPr/>
          <p:nvPr/>
        </p:nvSpPr>
        <p:spPr>
          <a:xfrm>
            <a:off x="5254582" y="5023398"/>
            <a:ext cx="3631842" cy="43788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Transaction Reporting</a:t>
            </a:r>
            <a:endParaRPr lang="en-US" sz="1800" dirty="0">
              <a:solidFill>
                <a:schemeClr val="tx1">
                  <a:lumMod val="95000"/>
                  <a:lumOff val="5000"/>
                </a:schemeClr>
              </a:solidFill>
            </a:endParaRPr>
          </a:p>
        </p:txBody>
      </p:sp>
      <p:sp>
        <p:nvSpPr>
          <p:cNvPr id="11" name="Rectangle 10"/>
          <p:cNvSpPr/>
          <p:nvPr/>
        </p:nvSpPr>
        <p:spPr>
          <a:xfrm>
            <a:off x="5254582" y="5531286"/>
            <a:ext cx="3631842" cy="43788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Settlement</a:t>
            </a:r>
            <a:endParaRPr lang="en-US" sz="1800" dirty="0">
              <a:solidFill>
                <a:schemeClr val="tx1">
                  <a:lumMod val="95000"/>
                  <a:lumOff val="5000"/>
                </a:schemeClr>
              </a:solidFill>
            </a:endParaRPr>
          </a:p>
        </p:txBody>
      </p:sp>
      <p:sp>
        <p:nvSpPr>
          <p:cNvPr id="12" name="Rectangle 11"/>
          <p:cNvSpPr/>
          <p:nvPr/>
        </p:nvSpPr>
        <p:spPr>
          <a:xfrm>
            <a:off x="5254582" y="6039174"/>
            <a:ext cx="3631842" cy="43788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lumMod val="95000"/>
                    <a:lumOff val="5000"/>
                  </a:schemeClr>
                </a:solidFill>
              </a:rPr>
              <a:t>Trade Reconciliation</a:t>
            </a:r>
            <a:endParaRPr lang="en-US" sz="1800" dirty="0">
              <a:solidFill>
                <a:schemeClr val="tx1">
                  <a:lumMod val="95000"/>
                  <a:lumOff val="5000"/>
                </a:schemeClr>
              </a:solidFill>
            </a:endParaRPr>
          </a:p>
        </p:txBody>
      </p:sp>
      <p:sp>
        <p:nvSpPr>
          <p:cNvPr id="13" name="Rectangle 12"/>
          <p:cNvSpPr/>
          <p:nvPr/>
        </p:nvSpPr>
        <p:spPr>
          <a:xfrm>
            <a:off x="2524259" y="1004552"/>
            <a:ext cx="2640169" cy="1961542"/>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Trading Activities</a:t>
            </a:r>
            <a:endParaRPr lang="en-US" sz="2000" b="1" dirty="0">
              <a:solidFill>
                <a:schemeClr val="bg1"/>
              </a:solidFill>
            </a:endParaRPr>
          </a:p>
          <a:p>
            <a:pPr algn="ctr"/>
            <a:r>
              <a:rPr lang="en-US" sz="2000" b="1" dirty="0">
                <a:solidFill>
                  <a:schemeClr val="bg1"/>
                </a:solidFill>
              </a:rPr>
              <a:t> ( Front Office)</a:t>
            </a:r>
            <a:endParaRPr lang="en-US" sz="2000" b="1" dirty="0">
              <a:solidFill>
                <a:schemeClr val="bg1"/>
              </a:solidFill>
            </a:endParaRPr>
          </a:p>
        </p:txBody>
      </p:sp>
      <p:sp>
        <p:nvSpPr>
          <p:cNvPr id="14" name="Rectangle 13"/>
          <p:cNvSpPr/>
          <p:nvPr/>
        </p:nvSpPr>
        <p:spPr>
          <a:xfrm>
            <a:off x="2524258" y="3061856"/>
            <a:ext cx="2640169" cy="1453654"/>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Middle Office</a:t>
            </a:r>
            <a:endParaRPr lang="en-US" sz="2000" b="1" dirty="0">
              <a:solidFill>
                <a:schemeClr val="bg1"/>
              </a:solidFill>
            </a:endParaRPr>
          </a:p>
        </p:txBody>
      </p:sp>
      <p:sp>
        <p:nvSpPr>
          <p:cNvPr id="15" name="Rectangle 14"/>
          <p:cNvSpPr/>
          <p:nvPr/>
        </p:nvSpPr>
        <p:spPr>
          <a:xfrm>
            <a:off x="2524257" y="4607955"/>
            <a:ext cx="2640169" cy="184517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Operations</a:t>
            </a:r>
            <a:endParaRPr lang="en-US" sz="2000" b="1" dirty="0">
              <a:solidFill>
                <a:schemeClr val="bg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30"/>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648" name="Google Shape;648;p30"/>
          <p:cNvGrpSpPr/>
          <p:nvPr/>
        </p:nvGrpSpPr>
        <p:grpSpPr>
          <a:xfrm>
            <a:off x="759957" y="1370920"/>
            <a:ext cx="10672086" cy="4927567"/>
            <a:chOff x="700550" y="1206533"/>
            <a:chExt cx="10672086" cy="4927567"/>
          </a:xfrm>
        </p:grpSpPr>
        <p:sp>
          <p:nvSpPr>
            <p:cNvPr id="649" name="Google Shape;649;p30"/>
            <p:cNvSpPr/>
            <p:nvPr/>
          </p:nvSpPr>
          <p:spPr>
            <a:xfrm>
              <a:off x="700550" y="1206533"/>
              <a:ext cx="10672086" cy="463017"/>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1. TRADE INITIATION </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650" name="Google Shape;650;p30"/>
            <p:cNvSpPr/>
            <p:nvPr/>
          </p:nvSpPr>
          <p:spPr>
            <a:xfrm>
              <a:off x="700550" y="1669550"/>
              <a:ext cx="10672086" cy="4464550"/>
            </a:xfrm>
            <a:prstGeom prst="rect">
              <a:avLst/>
            </a:prstGeom>
            <a:solidFill>
              <a:srgbClr val="DAF3EB"/>
            </a:solidFill>
            <a:ln>
              <a:noFill/>
            </a:ln>
          </p:spPr>
          <p:txBody>
            <a:bodyPr spcFirstLastPara="1" wrap="square" lIns="91425" tIns="254500" rIns="91425" bIns="45700" anchor="t" anchorCtr="0">
              <a:noAutofit/>
            </a:bodyPr>
            <a:lstStyle/>
            <a:p>
              <a:pPr marL="228600" marR="0" lvl="0" indent="-228600" algn="l" rtl="0">
                <a:spcBef>
                  <a:spcPts val="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In this step, traders will bring all the stakeholders together and discuss the possibilities of the trade. So, it is highly customized. A discussion about the client requirement and trade structure takes place. Stakeholders involved in it can be a </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600"/>
                </a:spcBef>
                <a:spcAft>
                  <a:spcPts val="0"/>
                </a:spcAft>
                <a:buClr>
                  <a:schemeClr val="dk1"/>
                </a:buClr>
                <a:buSzPts val="1800"/>
                <a:buFont typeface="Courier New" panose="02070309020205020404"/>
                <a:buChar char="o"/>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Legal and Compliance Team –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to make sure that the trade transactions are legally correct and in compliance with the company’s policies; </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600"/>
                </a:spcBef>
                <a:spcAft>
                  <a:spcPts val="0"/>
                </a:spcAft>
                <a:buClr>
                  <a:schemeClr val="dk1"/>
                </a:buClr>
                <a:buSzPts val="1800"/>
                <a:buFont typeface="Courier New" panose="02070309020205020404"/>
                <a:buChar char="o"/>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Operations Team –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to make sure that the deal is operationally done in the system and the system supports such customized OTC deal. </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600"/>
                </a:spcBef>
                <a:spcAft>
                  <a:spcPts val="0"/>
                </a:spcAft>
                <a:buClr>
                  <a:schemeClr val="dk1"/>
                </a:buClr>
                <a:buSzPts val="1800"/>
                <a:buFont typeface="Courier New" panose="02070309020205020404"/>
                <a:buChar char="o"/>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KYC Team –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to onboard the client</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600"/>
                </a:spcBef>
                <a:spcAft>
                  <a:spcPts val="0"/>
                </a:spcAft>
                <a:buClr>
                  <a:schemeClr val="dk1"/>
                </a:buClr>
                <a:buSzPts val="1800"/>
                <a:buFont typeface="Courier New" panose="02070309020205020404"/>
                <a:buChar char="o"/>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RDM Team –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to set up data</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600"/>
                </a:spcBef>
                <a:spcAft>
                  <a:spcPts val="0"/>
                </a:spcAft>
                <a:buClr>
                  <a:schemeClr val="dk1"/>
                </a:buClr>
                <a:buSzPts val="1800"/>
                <a:buFont typeface="Courier New" panose="02070309020205020404"/>
                <a:buChar char="o"/>
              </a:pPr>
              <a:r>
                <a:rPr lang="en-GB" sz="1800" b="1" i="0" u="none" strike="noStrike" cap="none">
                  <a:solidFill>
                    <a:schemeClr val="dk1"/>
                  </a:solidFill>
                  <a:latin typeface="Arial" panose="020B0604020202020204"/>
                  <a:ea typeface="Arial" panose="020B0604020202020204"/>
                  <a:cs typeface="Arial" panose="020B0604020202020204"/>
                  <a:sym typeface="Arial" panose="020B0604020202020204"/>
                </a:rPr>
                <a:t>Risk Management Team – </a:t>
              </a:r>
              <a:r>
                <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rPr>
                <a:t>to identify the market risk, and credit risk involved in such deals; </a:t>
              </a:r>
              <a:endParaRPr lang="en-GB"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60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Thus, all these stakeholders will make sure that the system and process are in place, Static Data is set up, IT is set up and Trade is executed properly.</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600"/>
                </a:spcBef>
                <a:spcAft>
                  <a:spcPts val="0"/>
                </a:spcAft>
                <a:buNone/>
              </a:pPr>
              <a:endParaRPr sz="14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31"/>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657" name="Google Shape;657;p31"/>
          <p:cNvGrpSpPr/>
          <p:nvPr/>
        </p:nvGrpSpPr>
        <p:grpSpPr>
          <a:xfrm>
            <a:off x="700550" y="1510797"/>
            <a:ext cx="7029320" cy="4105966"/>
            <a:chOff x="700550" y="1570151"/>
            <a:chExt cx="7588966" cy="4105966"/>
          </a:xfrm>
        </p:grpSpPr>
        <p:grpSp>
          <p:nvGrpSpPr>
            <p:cNvPr id="658" name="Google Shape;658;p31"/>
            <p:cNvGrpSpPr/>
            <p:nvPr/>
          </p:nvGrpSpPr>
          <p:grpSpPr>
            <a:xfrm>
              <a:off x="700550" y="1570151"/>
              <a:ext cx="7588966" cy="1770313"/>
              <a:chOff x="700550" y="1968781"/>
              <a:chExt cx="7588966" cy="1770313"/>
            </a:xfrm>
          </p:grpSpPr>
          <p:grpSp>
            <p:nvGrpSpPr>
              <p:cNvPr id="659" name="Google Shape;659;p31"/>
              <p:cNvGrpSpPr/>
              <p:nvPr/>
            </p:nvGrpSpPr>
            <p:grpSpPr>
              <a:xfrm>
                <a:off x="700550" y="2028133"/>
                <a:ext cx="881666" cy="1710961"/>
                <a:chOff x="700550" y="1555872"/>
                <a:chExt cx="1299862" cy="2522511"/>
              </a:xfrm>
            </p:grpSpPr>
            <p:cxnSp>
              <p:nvCxnSpPr>
                <p:cNvPr id="660" name="Google Shape;660;p31"/>
                <p:cNvCxnSpPr/>
                <p:nvPr/>
              </p:nvCxnSpPr>
              <p:spPr>
                <a:xfrm>
                  <a:off x="1538927" y="1555872"/>
                  <a:ext cx="0" cy="2522511"/>
                </a:xfrm>
                <a:prstGeom prst="straightConnector1">
                  <a:avLst/>
                </a:prstGeom>
                <a:noFill/>
                <a:ln w="38100" cap="flat" cmpd="sng">
                  <a:solidFill>
                    <a:schemeClr val="lt1"/>
                  </a:solidFill>
                  <a:prstDash val="solid"/>
                  <a:miter lim="800000"/>
                  <a:headEnd type="none" w="sm" len="sm"/>
                  <a:tailEnd type="none" w="sm" len="sm"/>
                </a:ln>
                <a:effectLst>
                  <a:outerShdw blurRad="50800" dist="38100" dir="10800000" sx="92000" sy="92000" algn="r" rotWithShape="0">
                    <a:srgbClr val="000000">
                      <a:alpha val="10980"/>
                    </a:srgbClr>
                  </a:outerShdw>
                </a:effectLst>
              </p:spPr>
            </p:cxnSp>
            <p:grpSp>
              <p:nvGrpSpPr>
                <p:cNvPr id="661" name="Google Shape;661;p31"/>
                <p:cNvGrpSpPr/>
                <p:nvPr/>
              </p:nvGrpSpPr>
              <p:grpSpPr>
                <a:xfrm>
                  <a:off x="700550" y="1846889"/>
                  <a:ext cx="1299862" cy="1676759"/>
                  <a:chOff x="700550" y="1761749"/>
                  <a:chExt cx="1299862" cy="1676759"/>
                </a:xfrm>
              </p:grpSpPr>
              <p:sp>
                <p:nvSpPr>
                  <p:cNvPr id="662" name="Google Shape;662;p31"/>
                  <p:cNvSpPr/>
                  <p:nvPr/>
                </p:nvSpPr>
                <p:spPr>
                  <a:xfrm>
                    <a:off x="700550" y="1761751"/>
                    <a:ext cx="838378" cy="1676757"/>
                  </a:xfrm>
                  <a:custGeom>
                    <a:avLst/>
                    <a:gdLst/>
                    <a:ahLst/>
                    <a:cxnLst/>
                    <a:rect l="l" t="t" r="r" b="b"/>
                    <a:pathLst>
                      <a:path w="634831" h="1269663" extrusionOk="0">
                        <a:moveTo>
                          <a:pt x="0" y="634832"/>
                        </a:moveTo>
                        <a:cubicBezTo>
                          <a:pt x="0" y="985441"/>
                          <a:pt x="284223" y="1269664"/>
                          <a:pt x="634832" y="1269664"/>
                        </a:cubicBezTo>
                        <a:lnTo>
                          <a:pt x="634832" y="0"/>
                        </a:lnTo>
                        <a:cubicBezTo>
                          <a:pt x="284223" y="0"/>
                          <a:pt x="0" y="284223"/>
                          <a:pt x="0" y="63483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63" name="Google Shape;663;p31"/>
                  <p:cNvSpPr/>
                  <p:nvPr/>
                </p:nvSpPr>
                <p:spPr>
                  <a:xfrm>
                    <a:off x="1420813" y="1761749"/>
                    <a:ext cx="118116" cy="374004"/>
                  </a:xfrm>
                  <a:custGeom>
                    <a:avLst/>
                    <a:gdLst/>
                    <a:ahLst/>
                    <a:cxnLst/>
                    <a:rect l="l" t="t" r="r" b="b"/>
                    <a:pathLst>
                      <a:path w="89439" h="283201" extrusionOk="0">
                        <a:moveTo>
                          <a:pt x="89440" y="0"/>
                        </a:moveTo>
                        <a:lnTo>
                          <a:pt x="89440" y="283201"/>
                        </a:lnTo>
                        <a:cubicBezTo>
                          <a:pt x="36476" y="258106"/>
                          <a:pt x="0" y="204121"/>
                          <a:pt x="0" y="141674"/>
                        </a:cubicBezTo>
                        <a:cubicBezTo>
                          <a:pt x="0" y="79226"/>
                          <a:pt x="36476" y="25242"/>
                          <a:pt x="89440" y="0"/>
                        </a:cubicBezTo>
                        <a:close/>
                      </a:path>
                    </a:pathLst>
                  </a:custGeom>
                  <a:solidFill>
                    <a:srgbClr val="000000">
                      <a:alpha val="78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64" name="Google Shape;664;p31"/>
                  <p:cNvSpPr/>
                  <p:nvPr/>
                </p:nvSpPr>
                <p:spPr>
                  <a:xfrm>
                    <a:off x="1420813" y="3064503"/>
                    <a:ext cx="118116" cy="374004"/>
                  </a:xfrm>
                  <a:custGeom>
                    <a:avLst/>
                    <a:gdLst/>
                    <a:ahLst/>
                    <a:cxnLst/>
                    <a:rect l="l" t="t" r="r" b="b"/>
                    <a:pathLst>
                      <a:path w="89439" h="283201" extrusionOk="0">
                        <a:moveTo>
                          <a:pt x="89440" y="0"/>
                        </a:moveTo>
                        <a:lnTo>
                          <a:pt x="89440" y="283201"/>
                        </a:lnTo>
                        <a:cubicBezTo>
                          <a:pt x="36476" y="258106"/>
                          <a:pt x="0" y="204121"/>
                          <a:pt x="0" y="141674"/>
                        </a:cubicBezTo>
                        <a:cubicBezTo>
                          <a:pt x="0" y="79226"/>
                          <a:pt x="36476" y="25241"/>
                          <a:pt x="89440" y="0"/>
                        </a:cubicBezTo>
                        <a:close/>
                      </a:path>
                    </a:pathLst>
                  </a:custGeom>
                  <a:solidFill>
                    <a:srgbClr val="000000">
                      <a:alpha val="78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65" name="Google Shape;665;p31"/>
                  <p:cNvSpPr/>
                  <p:nvPr/>
                </p:nvSpPr>
                <p:spPr>
                  <a:xfrm>
                    <a:off x="1077444" y="2138646"/>
                    <a:ext cx="922968" cy="922966"/>
                  </a:xfrm>
                  <a:custGeom>
                    <a:avLst/>
                    <a:gdLst/>
                    <a:ahLst/>
                    <a:cxnLst/>
                    <a:rect l="l" t="t" r="r" b="b"/>
                    <a:pathLst>
                      <a:path w="698883" h="698883" extrusionOk="0">
                        <a:moveTo>
                          <a:pt x="698884" y="349442"/>
                        </a:moveTo>
                        <a:cubicBezTo>
                          <a:pt x="698884" y="542434"/>
                          <a:pt x="542433" y="698884"/>
                          <a:pt x="349442" y="698884"/>
                        </a:cubicBezTo>
                        <a:cubicBezTo>
                          <a:pt x="156450" y="698884"/>
                          <a:pt x="0" y="542434"/>
                          <a:pt x="0" y="349442"/>
                        </a:cubicBezTo>
                        <a:cubicBezTo>
                          <a:pt x="0" y="156450"/>
                          <a:pt x="156450" y="0"/>
                          <a:pt x="349442" y="0"/>
                        </a:cubicBezTo>
                        <a:cubicBezTo>
                          <a:pt x="542433" y="0"/>
                          <a:pt x="698884" y="156450"/>
                          <a:pt x="698884" y="349442"/>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66" name="Google Shape;666;p31"/>
                  <p:cNvSpPr/>
                  <p:nvPr/>
                </p:nvSpPr>
                <p:spPr>
                  <a:xfrm>
                    <a:off x="1190068" y="2251271"/>
                    <a:ext cx="697720" cy="697716"/>
                  </a:xfrm>
                  <a:custGeom>
                    <a:avLst/>
                    <a:gdLst/>
                    <a:ahLst/>
                    <a:cxnLst/>
                    <a:rect l="l" t="t" r="r" b="b"/>
                    <a:pathLst>
                      <a:path w="698883" h="698883" extrusionOk="0">
                        <a:moveTo>
                          <a:pt x="698884" y="349442"/>
                        </a:moveTo>
                        <a:cubicBezTo>
                          <a:pt x="698884" y="542434"/>
                          <a:pt x="542433" y="698884"/>
                          <a:pt x="349442" y="698884"/>
                        </a:cubicBezTo>
                        <a:cubicBezTo>
                          <a:pt x="156450" y="698884"/>
                          <a:pt x="0" y="542434"/>
                          <a:pt x="0" y="349442"/>
                        </a:cubicBezTo>
                        <a:cubicBezTo>
                          <a:pt x="0" y="156450"/>
                          <a:pt x="156450" y="0"/>
                          <a:pt x="349442" y="0"/>
                        </a:cubicBezTo>
                        <a:cubicBezTo>
                          <a:pt x="542433" y="0"/>
                          <a:pt x="698884" y="156450"/>
                          <a:pt x="698884" y="349442"/>
                        </a:cubicBezTo>
                        <a:close/>
                      </a:path>
                    </a:pathLst>
                  </a:custGeom>
                  <a:solidFill>
                    <a:schemeClr val="lt1"/>
                  </a:solidFill>
                  <a:ln w="9525" cap="flat" cmpd="sng">
                    <a:solidFill>
                      <a:schemeClr val="accent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01</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grpSp>
          <p:sp>
            <p:nvSpPr>
              <p:cNvPr id="667" name="Google Shape;667;p31"/>
              <p:cNvSpPr/>
              <p:nvPr/>
            </p:nvSpPr>
            <p:spPr>
              <a:xfrm>
                <a:off x="1815116" y="1968781"/>
                <a:ext cx="6474400" cy="1523924"/>
              </a:xfrm>
              <a:prstGeom prst="rect">
                <a:avLst/>
              </a:prstGeom>
              <a:solidFill>
                <a:schemeClr val="accent3">
                  <a:lumMod val="20000"/>
                  <a:lumOff val="80000"/>
                  <a:alpha val="0"/>
                </a:schemeClr>
              </a:solidFill>
              <a:ln w="952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i="0" u="none" strike="noStrike" cap="none" dirty="0">
                    <a:solidFill>
                      <a:srgbClr val="000000"/>
                    </a:solidFill>
                    <a:latin typeface="Arial" panose="020B0604020202020204"/>
                    <a:ea typeface="Arial" panose="020B0604020202020204"/>
                    <a:cs typeface="Arial" panose="020B0604020202020204"/>
                    <a:sym typeface="Arial" panose="020B0604020202020204"/>
                  </a:rPr>
                  <a:t>ISDA – IMA SCHEDULE</a:t>
                </a:r>
                <a:r>
                  <a:rPr lang="en-GB" sz="1800" b="1" dirty="0">
                    <a:solidFill>
                      <a:srgbClr val="000000"/>
                    </a:solidFill>
                    <a:latin typeface="Arial" panose="020B0604020202020204"/>
                    <a:ea typeface="Arial" panose="020B0604020202020204"/>
                    <a:cs typeface="Arial" panose="020B0604020202020204"/>
                    <a:sym typeface="Arial" panose="020B0604020202020204"/>
                  </a:rPr>
                  <a:t> </a:t>
                </a:r>
                <a:r>
                  <a:rPr lang="en-GB" sz="1800" b="1" i="0" u="none" strike="noStrike" cap="none" dirty="0">
                    <a:solidFill>
                      <a:srgbClr val="000000"/>
                    </a:solidFill>
                    <a:latin typeface="Arial" panose="020B0604020202020204"/>
                    <a:ea typeface="Arial" panose="020B0604020202020204"/>
                    <a:cs typeface="Arial" panose="020B0604020202020204"/>
                    <a:sym typeface="Arial" panose="020B0604020202020204"/>
                  </a:rPr>
                  <a:t>CSA</a:t>
                </a:r>
                <a:endParaRPr dirty="0"/>
              </a:p>
            </p:txBody>
          </p:sp>
        </p:grpSp>
        <p:grpSp>
          <p:nvGrpSpPr>
            <p:cNvPr id="668" name="Google Shape;668;p31"/>
            <p:cNvGrpSpPr/>
            <p:nvPr/>
          </p:nvGrpSpPr>
          <p:grpSpPr>
            <a:xfrm>
              <a:off x="700550" y="3905803"/>
              <a:ext cx="7588965" cy="1770314"/>
              <a:chOff x="700550" y="4304433"/>
              <a:chExt cx="7588965" cy="1770314"/>
            </a:xfrm>
          </p:grpSpPr>
          <p:grpSp>
            <p:nvGrpSpPr>
              <p:cNvPr id="669" name="Google Shape;669;p31"/>
              <p:cNvGrpSpPr/>
              <p:nvPr/>
            </p:nvGrpSpPr>
            <p:grpSpPr>
              <a:xfrm>
                <a:off x="700550" y="4363786"/>
                <a:ext cx="881666" cy="1710961"/>
                <a:chOff x="700550" y="1555872"/>
                <a:chExt cx="1299862" cy="2522511"/>
              </a:xfrm>
            </p:grpSpPr>
            <p:cxnSp>
              <p:nvCxnSpPr>
                <p:cNvPr id="670" name="Google Shape;670;p31"/>
                <p:cNvCxnSpPr/>
                <p:nvPr/>
              </p:nvCxnSpPr>
              <p:spPr>
                <a:xfrm>
                  <a:off x="1538927" y="1555872"/>
                  <a:ext cx="0" cy="2522511"/>
                </a:xfrm>
                <a:prstGeom prst="straightConnector1">
                  <a:avLst/>
                </a:prstGeom>
                <a:noFill/>
                <a:ln w="38100" cap="flat" cmpd="sng">
                  <a:solidFill>
                    <a:schemeClr val="lt1"/>
                  </a:solidFill>
                  <a:prstDash val="solid"/>
                  <a:miter lim="800000"/>
                  <a:headEnd type="none" w="sm" len="sm"/>
                  <a:tailEnd type="none" w="sm" len="sm"/>
                </a:ln>
                <a:effectLst>
                  <a:outerShdw blurRad="50800" dist="38100" dir="10800000" sx="92000" sy="92000" algn="r" rotWithShape="0">
                    <a:srgbClr val="000000">
                      <a:alpha val="10980"/>
                    </a:srgbClr>
                  </a:outerShdw>
                </a:effectLst>
              </p:spPr>
            </p:cxnSp>
            <p:grpSp>
              <p:nvGrpSpPr>
                <p:cNvPr id="671" name="Google Shape;671;p31"/>
                <p:cNvGrpSpPr/>
                <p:nvPr/>
              </p:nvGrpSpPr>
              <p:grpSpPr>
                <a:xfrm>
                  <a:off x="700550" y="1846889"/>
                  <a:ext cx="1299862" cy="1676759"/>
                  <a:chOff x="700550" y="1761749"/>
                  <a:chExt cx="1299862" cy="1676759"/>
                </a:xfrm>
              </p:grpSpPr>
              <p:sp>
                <p:nvSpPr>
                  <p:cNvPr id="672" name="Google Shape;672;p31"/>
                  <p:cNvSpPr/>
                  <p:nvPr/>
                </p:nvSpPr>
                <p:spPr>
                  <a:xfrm>
                    <a:off x="700550" y="1761751"/>
                    <a:ext cx="838378" cy="1676757"/>
                  </a:xfrm>
                  <a:custGeom>
                    <a:avLst/>
                    <a:gdLst/>
                    <a:ahLst/>
                    <a:cxnLst/>
                    <a:rect l="l" t="t" r="r" b="b"/>
                    <a:pathLst>
                      <a:path w="634831" h="1269663" extrusionOk="0">
                        <a:moveTo>
                          <a:pt x="0" y="634832"/>
                        </a:moveTo>
                        <a:cubicBezTo>
                          <a:pt x="0" y="985441"/>
                          <a:pt x="284223" y="1269664"/>
                          <a:pt x="634832" y="1269664"/>
                        </a:cubicBezTo>
                        <a:lnTo>
                          <a:pt x="634832" y="0"/>
                        </a:lnTo>
                        <a:cubicBezTo>
                          <a:pt x="284223" y="0"/>
                          <a:pt x="0" y="284223"/>
                          <a:pt x="0" y="634832"/>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73" name="Google Shape;673;p31"/>
                  <p:cNvSpPr/>
                  <p:nvPr/>
                </p:nvSpPr>
                <p:spPr>
                  <a:xfrm>
                    <a:off x="1420813" y="1761749"/>
                    <a:ext cx="118116" cy="374004"/>
                  </a:xfrm>
                  <a:custGeom>
                    <a:avLst/>
                    <a:gdLst/>
                    <a:ahLst/>
                    <a:cxnLst/>
                    <a:rect l="l" t="t" r="r" b="b"/>
                    <a:pathLst>
                      <a:path w="89439" h="283201" extrusionOk="0">
                        <a:moveTo>
                          <a:pt x="89440" y="0"/>
                        </a:moveTo>
                        <a:lnTo>
                          <a:pt x="89440" y="283201"/>
                        </a:lnTo>
                        <a:cubicBezTo>
                          <a:pt x="36476" y="258106"/>
                          <a:pt x="0" y="204121"/>
                          <a:pt x="0" y="141674"/>
                        </a:cubicBezTo>
                        <a:cubicBezTo>
                          <a:pt x="0" y="79226"/>
                          <a:pt x="36476" y="25242"/>
                          <a:pt x="89440" y="0"/>
                        </a:cubicBezTo>
                        <a:close/>
                      </a:path>
                    </a:pathLst>
                  </a:custGeom>
                  <a:solidFill>
                    <a:srgbClr val="000000">
                      <a:alpha val="78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74" name="Google Shape;674;p31"/>
                  <p:cNvSpPr/>
                  <p:nvPr/>
                </p:nvSpPr>
                <p:spPr>
                  <a:xfrm>
                    <a:off x="1420813" y="3064503"/>
                    <a:ext cx="118116" cy="374004"/>
                  </a:xfrm>
                  <a:custGeom>
                    <a:avLst/>
                    <a:gdLst/>
                    <a:ahLst/>
                    <a:cxnLst/>
                    <a:rect l="l" t="t" r="r" b="b"/>
                    <a:pathLst>
                      <a:path w="89439" h="283201" extrusionOk="0">
                        <a:moveTo>
                          <a:pt x="89440" y="0"/>
                        </a:moveTo>
                        <a:lnTo>
                          <a:pt x="89440" y="283201"/>
                        </a:lnTo>
                        <a:cubicBezTo>
                          <a:pt x="36476" y="258106"/>
                          <a:pt x="0" y="204121"/>
                          <a:pt x="0" y="141674"/>
                        </a:cubicBezTo>
                        <a:cubicBezTo>
                          <a:pt x="0" y="79226"/>
                          <a:pt x="36476" y="25241"/>
                          <a:pt x="89440" y="0"/>
                        </a:cubicBezTo>
                        <a:close/>
                      </a:path>
                    </a:pathLst>
                  </a:custGeom>
                  <a:solidFill>
                    <a:srgbClr val="000000">
                      <a:alpha val="784"/>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75" name="Google Shape;675;p31"/>
                  <p:cNvSpPr/>
                  <p:nvPr/>
                </p:nvSpPr>
                <p:spPr>
                  <a:xfrm>
                    <a:off x="1077444" y="2138646"/>
                    <a:ext cx="922968" cy="922966"/>
                  </a:xfrm>
                  <a:custGeom>
                    <a:avLst/>
                    <a:gdLst/>
                    <a:ahLst/>
                    <a:cxnLst/>
                    <a:rect l="l" t="t" r="r" b="b"/>
                    <a:pathLst>
                      <a:path w="698883" h="698883" extrusionOk="0">
                        <a:moveTo>
                          <a:pt x="698884" y="349442"/>
                        </a:moveTo>
                        <a:cubicBezTo>
                          <a:pt x="698884" y="542434"/>
                          <a:pt x="542433" y="698884"/>
                          <a:pt x="349442" y="698884"/>
                        </a:cubicBezTo>
                        <a:cubicBezTo>
                          <a:pt x="156450" y="698884"/>
                          <a:pt x="0" y="542434"/>
                          <a:pt x="0" y="349442"/>
                        </a:cubicBezTo>
                        <a:cubicBezTo>
                          <a:pt x="0" y="156450"/>
                          <a:pt x="156450" y="0"/>
                          <a:pt x="349442" y="0"/>
                        </a:cubicBezTo>
                        <a:cubicBezTo>
                          <a:pt x="542433" y="0"/>
                          <a:pt x="698884" y="156450"/>
                          <a:pt x="698884" y="349442"/>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676" name="Google Shape;676;p31"/>
                  <p:cNvSpPr/>
                  <p:nvPr/>
                </p:nvSpPr>
                <p:spPr>
                  <a:xfrm>
                    <a:off x="1190068" y="2251271"/>
                    <a:ext cx="697720" cy="697716"/>
                  </a:xfrm>
                  <a:custGeom>
                    <a:avLst/>
                    <a:gdLst/>
                    <a:ahLst/>
                    <a:cxnLst/>
                    <a:rect l="l" t="t" r="r" b="b"/>
                    <a:pathLst>
                      <a:path w="698883" h="698883" extrusionOk="0">
                        <a:moveTo>
                          <a:pt x="698884" y="349442"/>
                        </a:moveTo>
                        <a:cubicBezTo>
                          <a:pt x="698884" y="542434"/>
                          <a:pt x="542433" y="698884"/>
                          <a:pt x="349442" y="698884"/>
                        </a:cubicBezTo>
                        <a:cubicBezTo>
                          <a:pt x="156450" y="698884"/>
                          <a:pt x="0" y="542434"/>
                          <a:pt x="0" y="349442"/>
                        </a:cubicBezTo>
                        <a:cubicBezTo>
                          <a:pt x="0" y="156450"/>
                          <a:pt x="156450" y="0"/>
                          <a:pt x="349442" y="0"/>
                        </a:cubicBezTo>
                        <a:cubicBezTo>
                          <a:pt x="542433" y="0"/>
                          <a:pt x="698884" y="156450"/>
                          <a:pt x="698884" y="349442"/>
                        </a:cubicBezTo>
                        <a:close/>
                      </a:path>
                    </a:pathLst>
                  </a:custGeom>
                  <a:solidFill>
                    <a:schemeClr val="lt1"/>
                  </a:solidFill>
                  <a:ln w="9525"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02</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grpSp>
          <p:sp>
            <p:nvSpPr>
              <p:cNvPr id="677" name="Google Shape;677;p31"/>
              <p:cNvSpPr/>
              <p:nvPr/>
            </p:nvSpPr>
            <p:spPr>
              <a:xfrm>
                <a:off x="1858114" y="4304433"/>
                <a:ext cx="6431401" cy="1612495"/>
              </a:xfrm>
              <a:prstGeom prst="rect">
                <a:avLst/>
              </a:prstGeom>
              <a:solidFill>
                <a:schemeClr val="lt1">
                  <a:alpha val="0"/>
                </a:schemeClr>
              </a:solidFill>
              <a:ln w="9525"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i="0" u="none" strike="noStrike" cap="none" dirty="0">
                    <a:solidFill>
                      <a:srgbClr val="000000"/>
                    </a:solidFill>
                    <a:latin typeface="Arial" panose="020B0604020202020204"/>
                    <a:ea typeface="Arial" panose="020B0604020202020204"/>
                    <a:cs typeface="Arial" panose="020B0604020202020204"/>
                    <a:sym typeface="Arial" panose="020B0604020202020204"/>
                  </a:rPr>
                  <a:t>Once negotiation has been completed and both parties have applied their signatures, each of the documents will 1) state the names of the two organisations, and 2) be dated. </a:t>
                </a:r>
                <a:endParaRPr dirty="0"/>
              </a:p>
            </p:txBody>
          </p:sp>
        </p:grpSp>
      </p:grpSp>
      <p:sp>
        <p:nvSpPr>
          <p:cNvPr id="678" name="Google Shape;678;p31"/>
          <p:cNvSpPr/>
          <p:nvPr/>
        </p:nvSpPr>
        <p:spPr>
          <a:xfrm>
            <a:off x="7985421" y="1510797"/>
            <a:ext cx="3711279" cy="3948147"/>
          </a:xfrm>
          <a:prstGeom prst="rect">
            <a:avLst/>
          </a:prstGeom>
          <a:solidFill>
            <a:schemeClr val="accent4">
              <a:lumMod val="20000"/>
              <a:lumOff val="8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1600" b="1" i="0" u="none" strike="noStrike" cap="none" dirty="0">
                <a:solidFill>
                  <a:srgbClr val="000000"/>
                </a:solidFill>
                <a:latin typeface="Arial" panose="020B0604020202020204"/>
                <a:ea typeface="Arial" panose="020B0604020202020204"/>
                <a:cs typeface="Arial" panose="020B0604020202020204"/>
                <a:sym typeface="Arial" panose="020B0604020202020204"/>
              </a:rPr>
              <a:t>Trade Execution - </a:t>
            </a:r>
            <a:r>
              <a:rPr lang="en-GB" sz="1600" b="0" i="0" u="none" strike="noStrike" cap="none" dirty="0">
                <a:solidFill>
                  <a:schemeClr val="dk1"/>
                </a:solidFill>
                <a:latin typeface="Arial" panose="020B0604020202020204"/>
                <a:ea typeface="Arial" panose="020B0604020202020204"/>
                <a:cs typeface="Arial" panose="020B0604020202020204"/>
                <a:sym typeface="Arial" panose="020B0604020202020204"/>
              </a:rPr>
              <a:t>Order is placed by telephone or via an order management system (and in some cases, via the bank’s own order management system)</a:t>
            </a:r>
            <a:endParaRPr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Reuters / EBS</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Single Dealer Platforms/ Multi Dealer Platform</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ECN's</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Voice Brokers</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400"/>
              <a:buFont typeface="Arial" panose="020B0604020202020204"/>
              <a:buNone/>
            </a:pPr>
            <a:r>
              <a:rPr lang="en-GB" sz="1600" b="0" i="0" u="none" strike="noStrike" cap="none" dirty="0">
                <a:solidFill>
                  <a:srgbClr val="000000"/>
                </a:solidFill>
                <a:latin typeface="Arial" panose="020B0604020202020204"/>
                <a:ea typeface="Arial" panose="020B0604020202020204"/>
                <a:cs typeface="Arial" panose="020B0604020202020204"/>
                <a:sym typeface="Arial" panose="020B0604020202020204"/>
              </a:rPr>
              <a:t>SEF's</a:t>
            </a:r>
            <a:endParaRPr sz="16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sz="16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32"/>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685" name="Google Shape;685;p32"/>
          <p:cNvGrpSpPr/>
          <p:nvPr/>
        </p:nvGrpSpPr>
        <p:grpSpPr>
          <a:xfrm>
            <a:off x="503433" y="1412016"/>
            <a:ext cx="5404207" cy="4927567"/>
            <a:chOff x="685800" y="1224675"/>
            <a:chExt cx="5389835" cy="6274833"/>
          </a:xfrm>
        </p:grpSpPr>
        <p:sp>
          <p:nvSpPr>
            <p:cNvPr id="686" name="Google Shape;686;p32"/>
            <p:cNvSpPr/>
            <p:nvPr/>
          </p:nvSpPr>
          <p:spPr>
            <a:xfrm>
              <a:off x="685800" y="1224675"/>
              <a:ext cx="5389835" cy="58961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2. TRADE EXECUTION </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687" name="Google Shape;687;p32"/>
            <p:cNvSpPr/>
            <p:nvPr/>
          </p:nvSpPr>
          <p:spPr>
            <a:xfrm>
              <a:off x="685800" y="1814287"/>
              <a:ext cx="5389835" cy="5685221"/>
            </a:xfrm>
            <a:prstGeom prst="rect">
              <a:avLst/>
            </a:prstGeom>
            <a:solidFill>
              <a:srgbClr val="D5DBE5"/>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dirty="0">
                  <a:solidFill>
                    <a:schemeClr val="dk1"/>
                  </a:solidFill>
                  <a:latin typeface="Arial" panose="020B0604020202020204"/>
                  <a:ea typeface="Arial" panose="020B0604020202020204"/>
                  <a:cs typeface="Arial" panose="020B0604020202020204"/>
                  <a:sym typeface="Arial" panose="020B0604020202020204"/>
                </a:rPr>
                <a:t>Trade execution occurs when two counterparties agree to a transaction. In OTC derivatives trading, this traditionally takes place over the telephone directly between two parties or through a broker. More recently, electronic trading systems have become available for counterparties to trade some of the more standardised OTC derivative products. Front Office agrees with the counterparty for the trade.</a:t>
              </a:r>
              <a:endParaRPr dirty="0"/>
            </a:p>
          </p:txBody>
        </p:sp>
      </p:grpSp>
      <p:grpSp>
        <p:nvGrpSpPr>
          <p:cNvPr id="688" name="Google Shape;688;p32"/>
          <p:cNvGrpSpPr/>
          <p:nvPr/>
        </p:nvGrpSpPr>
        <p:grpSpPr>
          <a:xfrm>
            <a:off x="6196834" y="1412016"/>
            <a:ext cx="5404207" cy="4927567"/>
            <a:chOff x="6306865" y="1224675"/>
            <a:chExt cx="5389835" cy="6274833"/>
          </a:xfrm>
        </p:grpSpPr>
        <p:sp>
          <p:nvSpPr>
            <p:cNvPr id="689" name="Google Shape;689;p32"/>
            <p:cNvSpPr/>
            <p:nvPr/>
          </p:nvSpPr>
          <p:spPr>
            <a:xfrm>
              <a:off x="6306865" y="1224675"/>
              <a:ext cx="5389835" cy="58961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3. TRADE REPORTING</a:t>
              </a:r>
              <a:endParaRPr dirty="0"/>
            </a:p>
          </p:txBody>
        </p:sp>
        <p:sp>
          <p:nvSpPr>
            <p:cNvPr id="690" name="Google Shape;690;p32"/>
            <p:cNvSpPr/>
            <p:nvPr/>
          </p:nvSpPr>
          <p:spPr>
            <a:xfrm>
              <a:off x="6306865" y="1814287"/>
              <a:ext cx="5389835" cy="5685221"/>
            </a:xfrm>
            <a:prstGeom prst="rect">
              <a:avLst/>
            </a:prstGeom>
            <a:solidFill>
              <a:srgbClr val="D2F4F6"/>
            </a:solidFill>
            <a:ln>
              <a:noFill/>
            </a:ln>
          </p:spPr>
          <p:txBody>
            <a:bodyPr spcFirstLastPara="1" wrap="square" lIns="91425" tIns="254500" rIns="91425" bIns="45700" anchor="t" anchorCtr="0">
              <a:noAutofit/>
            </a:bodyPr>
            <a:lstStyle/>
            <a:p>
              <a:r>
                <a:rPr lang="en-IN" sz="1800" dirty="0">
                  <a:solidFill>
                    <a:schemeClr val="tx1">
                      <a:lumMod val="95000"/>
                      <a:lumOff val="5000"/>
                    </a:schemeClr>
                  </a:solidFill>
                </a:rPr>
                <a:t>Trade reporting is mandatory for all financial instruments, including OTC derivatives.</a:t>
              </a:r>
              <a:endParaRPr lang="en-IN" sz="1800" dirty="0">
                <a:solidFill>
                  <a:schemeClr val="tx1">
                    <a:lumMod val="95000"/>
                    <a:lumOff val="5000"/>
                  </a:schemeClr>
                </a:solidFill>
              </a:endParaRPr>
            </a:p>
            <a:p>
              <a:r>
                <a:rPr lang="en-IN" sz="1800" dirty="0">
                  <a:solidFill>
                    <a:schemeClr val="tx1">
                      <a:lumMod val="95000"/>
                      <a:lumOff val="5000"/>
                    </a:schemeClr>
                  </a:solidFill>
                </a:rPr>
                <a:t>Purpose: Ensure market transparency, so regulators can see price, volume, and timing, even for trades executed outside an exchange.</a:t>
              </a:r>
              <a:r>
                <a:rPr lang="en-IN" sz="1800" b="1" dirty="0">
                  <a:solidFill>
                    <a:schemeClr val="tx1">
                      <a:lumMod val="95000"/>
                      <a:lumOff val="5000"/>
                    </a:schemeClr>
                  </a:solidFill>
                </a:rPr>
                <a:t> </a:t>
              </a:r>
              <a:r>
                <a:rPr lang="en-IN" sz="1800" dirty="0">
                  <a:solidFill>
                    <a:schemeClr val="tx1">
                      <a:lumMod val="95000"/>
                      <a:lumOff val="5000"/>
                    </a:schemeClr>
                  </a:solidFill>
                </a:rPr>
                <a:t>Trade must be reported as soon as technically possible after execution, but no later than T+1 (the close of the next business day). Data Reported are :</a:t>
              </a:r>
              <a:endParaRPr lang="en-IN" sz="1800" dirty="0">
                <a:solidFill>
                  <a:schemeClr val="tx1">
                    <a:lumMod val="95000"/>
                    <a:lumOff val="5000"/>
                  </a:schemeClr>
                </a:solidFill>
              </a:endParaRPr>
            </a:p>
            <a:p>
              <a:pPr marL="285750" indent="-285750">
                <a:buFont typeface="Arial" panose="020B0604020202020204" pitchFamily="34" charset="0"/>
                <a:buChar char="•"/>
              </a:pPr>
              <a:r>
                <a:rPr lang="en-IN" sz="1800" dirty="0">
                  <a:solidFill>
                    <a:schemeClr val="tx1">
                      <a:lumMod val="95000"/>
                      <a:lumOff val="5000"/>
                    </a:schemeClr>
                  </a:solidFill>
                </a:rPr>
                <a:t>Instrument identifiers (ISIN / CFI / other)</a:t>
              </a:r>
              <a:endParaRPr lang="en-IN" sz="1800" dirty="0">
                <a:solidFill>
                  <a:schemeClr val="tx1">
                    <a:lumMod val="95000"/>
                    <a:lumOff val="5000"/>
                  </a:schemeClr>
                </a:solidFill>
              </a:endParaRPr>
            </a:p>
            <a:p>
              <a:pPr marL="285750" indent="-285750">
                <a:buFont typeface="Arial" panose="020B0604020202020204" pitchFamily="34" charset="0"/>
                <a:buChar char="•"/>
              </a:pPr>
              <a:r>
                <a:rPr lang="en-IN" sz="1800" dirty="0">
                  <a:solidFill>
                    <a:schemeClr val="tx1">
                      <a:lumMod val="95000"/>
                      <a:lumOff val="5000"/>
                    </a:schemeClr>
                  </a:solidFill>
                </a:rPr>
                <a:t>Price, notional amount, quantity</a:t>
              </a:r>
              <a:endParaRPr lang="en-IN" sz="1800" dirty="0">
                <a:solidFill>
                  <a:schemeClr val="tx1">
                    <a:lumMod val="95000"/>
                    <a:lumOff val="5000"/>
                  </a:schemeClr>
                </a:solidFill>
              </a:endParaRPr>
            </a:p>
            <a:p>
              <a:pPr marL="285750" indent="-285750">
                <a:buFont typeface="Arial" panose="020B0604020202020204" pitchFamily="34" charset="0"/>
                <a:buChar char="•"/>
              </a:pPr>
              <a:r>
                <a:rPr lang="en-IN" sz="1800" dirty="0">
                  <a:solidFill>
                    <a:schemeClr val="tx1">
                      <a:lumMod val="95000"/>
                      <a:lumOff val="5000"/>
                    </a:schemeClr>
                  </a:solidFill>
                </a:rPr>
                <a:t>Buy/sell indicator</a:t>
              </a:r>
              <a:endParaRPr lang="en-IN" sz="1800" dirty="0">
                <a:solidFill>
                  <a:schemeClr val="tx1">
                    <a:lumMod val="95000"/>
                    <a:lumOff val="5000"/>
                  </a:schemeClr>
                </a:solidFill>
              </a:endParaRPr>
            </a:p>
            <a:p>
              <a:pPr marL="285750" indent="-285750">
                <a:buFont typeface="Arial" panose="020B0604020202020204" pitchFamily="34" charset="0"/>
                <a:buChar char="•"/>
              </a:pPr>
              <a:r>
                <a:rPr lang="en-IN" sz="1800" dirty="0">
                  <a:solidFill>
                    <a:schemeClr val="tx1">
                      <a:lumMod val="95000"/>
                      <a:lumOff val="5000"/>
                    </a:schemeClr>
                  </a:solidFill>
                </a:rPr>
                <a:t>Counterparty identifiers (LEI)</a:t>
              </a:r>
              <a:endParaRPr lang="en-IN" sz="1800" dirty="0">
                <a:solidFill>
                  <a:schemeClr val="tx1">
                    <a:lumMod val="95000"/>
                    <a:lumOff val="5000"/>
                  </a:schemeClr>
                </a:solidFill>
              </a:endParaRPr>
            </a:p>
            <a:p>
              <a:pPr marL="285750" indent="-285750">
                <a:buFont typeface="Arial" panose="020B0604020202020204" pitchFamily="34" charset="0"/>
                <a:buChar char="•"/>
              </a:pPr>
              <a:r>
                <a:rPr lang="en-IN" sz="1800" dirty="0">
                  <a:solidFill>
                    <a:schemeClr val="tx1">
                      <a:lumMod val="95000"/>
                      <a:lumOff val="5000"/>
                    </a:schemeClr>
                  </a:solidFill>
                </a:rPr>
                <a:t>Execution timestamp</a:t>
              </a:r>
              <a:endParaRPr lang="en-IN" sz="1800" dirty="0">
                <a:solidFill>
                  <a:schemeClr val="tx1">
                    <a:lumMod val="95000"/>
                    <a:lumOff val="5000"/>
                  </a:schemeClr>
                </a:solidFill>
              </a:endParaRPr>
            </a:p>
            <a:p>
              <a:pPr marL="285750" indent="-285750">
                <a:buFont typeface="Arial" panose="020B0604020202020204" pitchFamily="34" charset="0"/>
                <a:buChar char="•"/>
              </a:pPr>
              <a:r>
                <a:rPr lang="en-IN" sz="1800" dirty="0">
                  <a:solidFill>
                    <a:schemeClr val="tx1">
                      <a:lumMod val="95000"/>
                      <a:lumOff val="5000"/>
                    </a:schemeClr>
                  </a:solidFill>
                </a:rPr>
                <a:t>Unique Transaction Identifier (UTI)</a:t>
              </a:r>
              <a:endParaRPr lang="en-IN" sz="1800" dirty="0">
                <a:solidFill>
                  <a:schemeClr val="tx1">
                    <a:lumMod val="95000"/>
                    <a:lumOff val="5000"/>
                  </a:schemeClr>
                </a:solidFill>
              </a:endParaRPr>
            </a:p>
            <a:p>
              <a:pPr marL="285750" indent="-285750">
                <a:buFont typeface="Arial" panose="020B0604020202020204" pitchFamily="34" charset="0"/>
                <a:buChar char="•"/>
              </a:pPr>
              <a:r>
                <a:rPr lang="en-IN" sz="1800" dirty="0">
                  <a:solidFill>
                    <a:schemeClr val="tx1">
                      <a:lumMod val="95000"/>
                      <a:lumOff val="5000"/>
                    </a:schemeClr>
                  </a:solidFill>
                </a:rPr>
                <a:t>Venue of execution or OTC flag</a:t>
              </a:r>
              <a:endParaRPr lang="en-IN" sz="1800" dirty="0">
                <a:solidFill>
                  <a:schemeClr val="tx1">
                    <a:lumMod val="95000"/>
                    <a:lumOff val="5000"/>
                  </a:schemeClr>
                </a:solidFill>
              </a:endParaRPr>
            </a:p>
            <a:p>
              <a:endParaRPr lang="en-IN" sz="1800" dirty="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32"/>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688" name="Google Shape;688;p32"/>
          <p:cNvGrpSpPr/>
          <p:nvPr/>
        </p:nvGrpSpPr>
        <p:grpSpPr>
          <a:xfrm>
            <a:off x="3122947" y="1243543"/>
            <a:ext cx="5404208" cy="4927567"/>
            <a:chOff x="6306864" y="1224675"/>
            <a:chExt cx="5389836" cy="6274833"/>
          </a:xfrm>
        </p:grpSpPr>
        <p:sp>
          <p:nvSpPr>
            <p:cNvPr id="689" name="Google Shape;689;p32"/>
            <p:cNvSpPr/>
            <p:nvPr/>
          </p:nvSpPr>
          <p:spPr>
            <a:xfrm>
              <a:off x="6306865" y="1224675"/>
              <a:ext cx="5389835" cy="58961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4. TRADE CAPTURE </a:t>
              </a:r>
              <a:endParaRPr dirty="0"/>
            </a:p>
          </p:txBody>
        </p:sp>
        <p:sp>
          <p:nvSpPr>
            <p:cNvPr id="690" name="Google Shape;690;p32"/>
            <p:cNvSpPr/>
            <p:nvPr/>
          </p:nvSpPr>
          <p:spPr>
            <a:xfrm>
              <a:off x="6306864" y="1814287"/>
              <a:ext cx="5389835" cy="5685221"/>
            </a:xfrm>
            <a:prstGeom prst="rect">
              <a:avLst/>
            </a:prstGeom>
            <a:solidFill>
              <a:srgbClr val="D2F4F6"/>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dirty="0">
                  <a:solidFill>
                    <a:schemeClr val="dk1"/>
                  </a:solidFill>
                  <a:latin typeface="Arial" panose="020B0604020202020204"/>
                  <a:ea typeface="Arial" panose="020B0604020202020204"/>
                  <a:cs typeface="Arial" panose="020B0604020202020204"/>
                  <a:sym typeface="Arial" panose="020B0604020202020204"/>
                </a:rPr>
                <a:t>Once a trade has been executed, the parties must capture the trade details in their internal systems for post-trade processing and risk management. Trade capture can be manual, where trade tickets prepared by traders are passed to the middle office for processing, or automated, where the trader enters the information directly into a front office trading system and the trade details flow through to downstream systems with limited or no manual intervention. Data on trades completed over third-party electronic trading systems can often be transferred into internal systems through a file transfer or direct link with the electronic trading platforms. </a:t>
              </a:r>
              <a:endParaRPr dirty="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3"/>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697" name="Google Shape;697;p33"/>
          <p:cNvGrpSpPr/>
          <p:nvPr/>
        </p:nvGrpSpPr>
        <p:grpSpPr>
          <a:xfrm>
            <a:off x="855062" y="1121291"/>
            <a:ext cx="10481876" cy="5240619"/>
            <a:chOff x="925691" y="-97993"/>
            <a:chExt cx="10481876" cy="5240619"/>
          </a:xfrm>
        </p:grpSpPr>
        <p:pic>
          <p:nvPicPr>
            <p:cNvPr id="698" name="Google Shape;698;p33"/>
            <p:cNvPicPr preferRelativeResize="0"/>
            <p:nvPr/>
          </p:nvPicPr>
          <p:blipFill rotWithShape="1">
            <a:blip r:embed="rId1"/>
            <a:srcRect/>
            <a:stretch>
              <a:fillRect/>
            </a:stretch>
          </p:blipFill>
          <p:spPr>
            <a:xfrm>
              <a:off x="2098606" y="1969605"/>
              <a:ext cx="8304028" cy="3173021"/>
            </a:xfrm>
            <a:prstGeom prst="rect">
              <a:avLst/>
            </a:prstGeom>
            <a:noFill/>
            <a:ln>
              <a:noFill/>
            </a:ln>
            <a:effectLst>
              <a:outerShdw blurRad="63500" sx="102000" sy="102000" algn="ctr" rotWithShape="0">
                <a:srgbClr val="000000">
                  <a:alpha val="40000"/>
                </a:srgbClr>
              </a:outerShdw>
            </a:effectLst>
          </p:spPr>
        </p:pic>
        <p:grpSp>
          <p:nvGrpSpPr>
            <p:cNvPr id="699" name="Google Shape;699;p33"/>
            <p:cNvGrpSpPr/>
            <p:nvPr/>
          </p:nvGrpSpPr>
          <p:grpSpPr>
            <a:xfrm>
              <a:off x="925691" y="-97993"/>
              <a:ext cx="10481876" cy="1831507"/>
              <a:chOff x="925691" y="-280983"/>
              <a:chExt cx="10481876" cy="1831507"/>
            </a:xfrm>
          </p:grpSpPr>
          <p:sp>
            <p:nvSpPr>
              <p:cNvPr id="700" name="Google Shape;700;p33"/>
              <p:cNvSpPr/>
              <p:nvPr/>
            </p:nvSpPr>
            <p:spPr>
              <a:xfrm>
                <a:off x="925691" y="303407"/>
                <a:ext cx="10481876" cy="1247117"/>
              </a:xfrm>
              <a:prstGeom prst="roundRect">
                <a:avLst>
                  <a:gd name="adj" fmla="val 981"/>
                </a:avLst>
              </a:prstGeom>
              <a:solidFill>
                <a:srgbClr val="D2F4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dirty="0">
                    <a:solidFill>
                      <a:schemeClr val="dk1"/>
                    </a:solidFill>
                    <a:latin typeface="Arial" panose="020B0604020202020204"/>
                    <a:ea typeface="Arial" panose="020B0604020202020204"/>
                    <a:cs typeface="Arial" panose="020B0604020202020204"/>
                    <a:sym typeface="Arial" panose="020B0604020202020204"/>
                  </a:rPr>
                  <a:t>The information will be submitted to the Middle Office either electronically or manually using a trade ticket. Illustrates an example of a trade ticket.</a:t>
                </a:r>
                <a:endParaRPr dirty="0"/>
              </a:p>
            </p:txBody>
          </p:sp>
          <p:sp>
            <p:nvSpPr>
              <p:cNvPr id="701" name="Google Shape;701;p33"/>
              <p:cNvSpPr/>
              <p:nvPr/>
            </p:nvSpPr>
            <p:spPr>
              <a:xfrm>
                <a:off x="925691" y="-280983"/>
                <a:ext cx="10481876" cy="584390"/>
              </a:xfrm>
              <a:prstGeom prst="roundRect">
                <a:avLst>
                  <a:gd name="adj" fmla="val 981"/>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TRADE CAPTURE</a:t>
                </a:r>
                <a:endParaRPr dirty="0"/>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34"/>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708" name="Google Shape;708;p34"/>
          <p:cNvGrpSpPr/>
          <p:nvPr/>
        </p:nvGrpSpPr>
        <p:grpSpPr>
          <a:xfrm>
            <a:off x="700550" y="1432565"/>
            <a:ext cx="10672086" cy="3057242"/>
            <a:chOff x="700550" y="1206533"/>
            <a:chExt cx="10672086" cy="3588836"/>
          </a:xfrm>
        </p:grpSpPr>
        <p:sp>
          <p:nvSpPr>
            <p:cNvPr id="709" name="Google Shape;709;p34"/>
            <p:cNvSpPr/>
            <p:nvPr/>
          </p:nvSpPr>
          <p:spPr>
            <a:xfrm>
              <a:off x="700550" y="1206533"/>
              <a:ext cx="10672086" cy="463017"/>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5. TRADE ENRICHMENT </a:t>
              </a:r>
              <a:endParaRPr dirty="0"/>
            </a:p>
          </p:txBody>
        </p:sp>
        <p:sp>
          <p:nvSpPr>
            <p:cNvPr id="710" name="Google Shape;710;p34"/>
            <p:cNvSpPr/>
            <p:nvPr/>
          </p:nvSpPr>
          <p:spPr>
            <a:xfrm>
              <a:off x="700550" y="1669550"/>
              <a:ext cx="10672086" cy="3125819"/>
            </a:xfrm>
            <a:prstGeom prst="rect">
              <a:avLst/>
            </a:prstGeom>
            <a:solidFill>
              <a:srgbClr val="DAF3EB"/>
            </a:solidFill>
            <a:ln>
              <a:noFill/>
            </a:ln>
          </p:spPr>
          <p:txBody>
            <a:bodyPr spcFirstLastPara="1" wrap="square" lIns="91425" tIns="254500" rIns="91425" bIns="45700" anchor="t" anchorCtr="0">
              <a:noAutofit/>
            </a:bodyPr>
            <a:lstStyle/>
            <a:p>
              <a:pPr marL="228600" marR="0" lvl="0" indent="-228600" algn="l" rtl="0">
                <a:spcBef>
                  <a:spcPts val="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Generically, cash payments are made by a firm by initially appointing a cash correspondent (or nostro) for a particular currency, then issuing a settlement instruction to that nostro for individual cash payments.</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60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Deadlines are applied by nostros for the receipt of settlement instructions relative to the due date (or value date) of payment</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60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In order to facilitate the payment of cash to a counterparty, it is common practice for standing settlement instructions (SSIs) to be stored within a firm’s static data repository.</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711" name="Google Shape;711;p34"/>
          <p:cNvGrpSpPr/>
          <p:nvPr/>
        </p:nvGrpSpPr>
        <p:grpSpPr>
          <a:xfrm>
            <a:off x="700550" y="4831762"/>
            <a:ext cx="4978685" cy="1187346"/>
            <a:chOff x="700550" y="4831762"/>
            <a:chExt cx="4978685" cy="1187346"/>
          </a:xfrm>
        </p:grpSpPr>
        <p:grpSp>
          <p:nvGrpSpPr>
            <p:cNvPr id="712" name="Google Shape;712;p34"/>
            <p:cNvGrpSpPr/>
            <p:nvPr/>
          </p:nvGrpSpPr>
          <p:grpSpPr>
            <a:xfrm>
              <a:off x="700550" y="4831762"/>
              <a:ext cx="4978685" cy="1187346"/>
              <a:chOff x="685800" y="1224675"/>
              <a:chExt cx="5389835" cy="1511983"/>
            </a:xfrm>
          </p:grpSpPr>
          <p:sp>
            <p:nvSpPr>
              <p:cNvPr id="713" name="Google Shape;713;p34"/>
              <p:cNvSpPr/>
              <p:nvPr/>
            </p:nvSpPr>
            <p:spPr>
              <a:xfrm>
                <a:off x="685800" y="1224675"/>
                <a:ext cx="5389835" cy="58961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6. TRADE VALIDATION</a:t>
                </a:r>
                <a:endParaRPr dirty="0"/>
              </a:p>
            </p:txBody>
          </p:sp>
          <p:sp>
            <p:nvSpPr>
              <p:cNvPr id="714" name="Google Shape;714;p34"/>
              <p:cNvSpPr/>
              <p:nvPr/>
            </p:nvSpPr>
            <p:spPr>
              <a:xfrm>
                <a:off x="685800" y="1814287"/>
                <a:ext cx="5389835" cy="922371"/>
              </a:xfrm>
              <a:prstGeom prst="rect">
                <a:avLst/>
              </a:prstGeom>
              <a:solidFill>
                <a:srgbClr val="D5DBE5"/>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715" name="Google Shape;715;p34"/>
            <p:cNvSpPr txBox="1"/>
            <p:nvPr/>
          </p:nvSpPr>
          <p:spPr>
            <a:xfrm>
              <a:off x="1024847" y="5425435"/>
              <a:ext cx="43690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Trade details are validated through RDM</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716" name="Google Shape;716;p34"/>
          <p:cNvGrpSpPr/>
          <p:nvPr/>
        </p:nvGrpSpPr>
        <p:grpSpPr>
          <a:xfrm>
            <a:off x="6393951" y="4831762"/>
            <a:ext cx="4978685" cy="1187346"/>
            <a:chOff x="6393951" y="4831762"/>
            <a:chExt cx="4978685" cy="1187346"/>
          </a:xfrm>
        </p:grpSpPr>
        <p:grpSp>
          <p:nvGrpSpPr>
            <p:cNvPr id="717" name="Google Shape;717;p34"/>
            <p:cNvGrpSpPr/>
            <p:nvPr/>
          </p:nvGrpSpPr>
          <p:grpSpPr>
            <a:xfrm>
              <a:off x="6393951" y="4831762"/>
              <a:ext cx="4978685" cy="1187346"/>
              <a:chOff x="6306865" y="1224675"/>
              <a:chExt cx="5389835" cy="1511983"/>
            </a:xfrm>
          </p:grpSpPr>
          <p:sp>
            <p:nvSpPr>
              <p:cNvPr id="718" name="Google Shape;718;p34"/>
              <p:cNvSpPr/>
              <p:nvPr/>
            </p:nvSpPr>
            <p:spPr>
              <a:xfrm>
                <a:off x="6306865" y="1224675"/>
                <a:ext cx="5389835" cy="58961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7. TRADE VERIFICATION</a:t>
                </a:r>
                <a:endParaRPr dirty="0"/>
              </a:p>
            </p:txBody>
          </p:sp>
          <p:sp>
            <p:nvSpPr>
              <p:cNvPr id="719" name="Google Shape;719;p34"/>
              <p:cNvSpPr/>
              <p:nvPr/>
            </p:nvSpPr>
            <p:spPr>
              <a:xfrm>
                <a:off x="6306865" y="1814287"/>
                <a:ext cx="5389835" cy="922371"/>
              </a:xfrm>
              <a:prstGeom prst="rect">
                <a:avLst/>
              </a:prstGeom>
              <a:solidFill>
                <a:srgbClr val="D2F4F6"/>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720" name="Google Shape;720;p34"/>
            <p:cNvSpPr txBox="1"/>
            <p:nvPr/>
          </p:nvSpPr>
          <p:spPr>
            <a:xfrm>
              <a:off x="6593440" y="5425435"/>
              <a:ext cx="457371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0" i="0" u="none" strike="noStrike">
                  <a:solidFill>
                    <a:srgbClr val="3F3F3F"/>
                  </a:solidFill>
                  <a:latin typeface="Trebuchet MS" panose="020B0603020202020204"/>
                  <a:ea typeface="Trebuchet MS" panose="020B0603020202020204"/>
                  <a:cs typeface="Trebuchet MS" panose="020B0603020202020204"/>
                  <a:sym typeface="Trebuchet MS" panose="020B0603020202020204"/>
                </a:rPr>
                <a:t>Confirming with FO</a:t>
              </a:r>
              <a:endParaRPr sz="1800" b="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7"/>
          <p:cNvSpPr txBox="1">
            <a:spLocks noGrp="1"/>
          </p:cNvSpPr>
          <p:nvPr>
            <p:ph type="title"/>
          </p:nvPr>
        </p:nvSpPr>
        <p:spPr>
          <a:xfrm>
            <a:off x="677334" y="227965"/>
            <a:ext cx="8596668" cy="1320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3600"/>
              <a:buFont typeface="Trebuchet MS" panose="020B0603020202020204"/>
              <a:buNone/>
            </a:pPr>
            <a:r>
              <a:rPr lang="en-US" sz="3200"/>
              <a:t>TRADE VALIDATION</a:t>
            </a:r>
            <a:endParaRPr lang="en-US" sz="3200"/>
          </a:p>
        </p:txBody>
      </p:sp>
      <p:sp>
        <p:nvSpPr>
          <p:cNvPr id="422" name="Google Shape;422;p47"/>
          <p:cNvSpPr txBox="1">
            <a:spLocks noGrp="1"/>
          </p:cNvSpPr>
          <p:nvPr>
            <p:ph type="body" idx="1"/>
          </p:nvPr>
        </p:nvSpPr>
        <p:spPr>
          <a:xfrm>
            <a:off x="804969" y="1279844"/>
            <a:ext cx="8596668" cy="3880773"/>
          </a:xfrm>
          <a:prstGeom prst="rect">
            <a:avLst/>
          </a:prstGeom>
          <a:noFill/>
          <a:ln>
            <a:noFill/>
          </a:ln>
        </p:spPr>
        <p:txBody>
          <a:bodyPr spcFirstLastPara="1" wrap="square" lIns="91425" tIns="45700" rIns="91425" bIns="45700" anchor="t" anchorCtr="0">
            <a:normAutofit lnSpcReduction="20000"/>
          </a:bodyPr>
          <a:lstStyle/>
          <a:p>
            <a:pPr marL="342900" lvl="0" indent="-342900" algn="l" rtl="0">
              <a:lnSpc>
                <a:spcPct val="100000"/>
              </a:lnSpc>
              <a:spcBef>
                <a:spcPts val="0"/>
              </a:spcBef>
              <a:spcAft>
                <a:spcPts val="0"/>
              </a:spcAft>
              <a:buSzPts val="1440"/>
              <a:buChar char="►"/>
            </a:pPr>
            <a:r>
              <a:rPr lang="en-US" b="1" dirty="0"/>
              <a:t>Additional Rules </a:t>
            </a:r>
            <a:endParaRPr b="1" dirty="0"/>
          </a:p>
          <a:p>
            <a:pPr marL="742950" lvl="1" indent="-285750" algn="l" rtl="0">
              <a:lnSpc>
                <a:spcPct val="100000"/>
              </a:lnSpc>
              <a:spcBef>
                <a:spcPts val="1000"/>
              </a:spcBef>
              <a:spcAft>
                <a:spcPts val="0"/>
              </a:spcAft>
              <a:buSzPts val="1280"/>
              <a:buChar char="►"/>
            </a:pPr>
            <a:r>
              <a:rPr lang="en-US" dirty="0"/>
              <a:t>Trades Due to Settle on an FOP</a:t>
            </a:r>
            <a:endParaRPr dirty="0"/>
          </a:p>
          <a:p>
            <a:pPr marL="742950" lvl="1" indent="-285750" algn="l" rtl="0">
              <a:lnSpc>
                <a:spcPct val="100000"/>
              </a:lnSpc>
              <a:spcBef>
                <a:spcPts val="1000"/>
              </a:spcBef>
              <a:spcAft>
                <a:spcPts val="0"/>
              </a:spcAft>
              <a:buSzPts val="1280"/>
              <a:buChar char="►"/>
            </a:pPr>
            <a:r>
              <a:rPr lang="en-US" dirty="0"/>
              <a:t>Trades with a Cash Value At or Above a Certain Figure</a:t>
            </a:r>
            <a:endParaRPr dirty="0"/>
          </a:p>
          <a:p>
            <a:pPr marL="742950" lvl="1" indent="-285750" algn="l" rtl="0">
              <a:lnSpc>
                <a:spcPct val="100000"/>
              </a:lnSpc>
              <a:spcBef>
                <a:spcPts val="1000"/>
              </a:spcBef>
              <a:spcAft>
                <a:spcPts val="0"/>
              </a:spcAft>
              <a:buSzPts val="1280"/>
              <a:buChar char="►"/>
            </a:pPr>
            <a:r>
              <a:rPr lang="en-US" dirty="0"/>
              <a:t>Trades in a Specific Transaction </a:t>
            </a:r>
            <a:endParaRPr dirty="0"/>
          </a:p>
          <a:p>
            <a:pPr marL="742950" lvl="1" indent="-285750" algn="l" rtl="0">
              <a:lnSpc>
                <a:spcPct val="100000"/>
              </a:lnSpc>
              <a:spcBef>
                <a:spcPts val="1000"/>
              </a:spcBef>
              <a:spcAft>
                <a:spcPts val="0"/>
              </a:spcAft>
              <a:buSzPts val="1280"/>
              <a:buChar char="►"/>
            </a:pPr>
            <a:r>
              <a:rPr lang="en-US" dirty="0"/>
              <a:t>Trades with a Specific Counterparty. </a:t>
            </a:r>
            <a:endParaRPr dirty="0"/>
          </a:p>
          <a:p>
            <a:pPr marL="742950" lvl="1" indent="-285750" algn="l" rtl="0">
              <a:lnSpc>
                <a:spcPct val="100000"/>
              </a:lnSpc>
              <a:spcBef>
                <a:spcPts val="1000"/>
              </a:spcBef>
              <a:spcAft>
                <a:spcPts val="0"/>
              </a:spcAft>
              <a:buSzPts val="1280"/>
              <a:buChar char="►"/>
            </a:pPr>
            <a:r>
              <a:rPr lang="en-US" dirty="0"/>
              <a:t>Trades Due to Settle at a Specific Custodian. </a:t>
            </a:r>
            <a:endParaRPr dirty="0"/>
          </a:p>
          <a:p>
            <a:pPr marL="742950" lvl="1" indent="-285750" algn="l" rtl="0">
              <a:lnSpc>
                <a:spcPct val="100000"/>
              </a:lnSpc>
              <a:spcBef>
                <a:spcPts val="1000"/>
              </a:spcBef>
              <a:spcAft>
                <a:spcPts val="0"/>
              </a:spcAft>
              <a:buSzPts val="1280"/>
              <a:buChar char="►"/>
            </a:pPr>
            <a:r>
              <a:rPr lang="en-US" dirty="0"/>
              <a:t>Trades with Value Date in the past</a:t>
            </a:r>
            <a:endParaRPr dirty="0"/>
          </a:p>
          <a:p>
            <a:pPr marL="742950" lvl="1" indent="-285750" algn="l" rtl="0">
              <a:lnSpc>
                <a:spcPct val="100000"/>
              </a:lnSpc>
              <a:spcBef>
                <a:spcPts val="1000"/>
              </a:spcBef>
              <a:spcAft>
                <a:spcPts val="0"/>
              </a:spcAft>
              <a:buSzPts val="1280"/>
              <a:buChar char="►"/>
            </a:pPr>
            <a:r>
              <a:rPr lang="en-US" dirty="0"/>
              <a:t>All Amended Trades </a:t>
            </a:r>
            <a:endParaRPr dirty="0"/>
          </a:p>
          <a:p>
            <a:pPr marL="742950" lvl="1" indent="-285750" algn="l" rtl="0">
              <a:lnSpc>
                <a:spcPct val="100000"/>
              </a:lnSpc>
              <a:spcBef>
                <a:spcPts val="1000"/>
              </a:spcBef>
              <a:spcAft>
                <a:spcPts val="0"/>
              </a:spcAft>
              <a:buSzPts val="1280"/>
              <a:buChar char="►"/>
            </a:pPr>
            <a:r>
              <a:rPr lang="en-US" dirty="0"/>
              <a:t>All Cancelled Trades </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35"/>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727" name="Google Shape;727;p35"/>
          <p:cNvGrpSpPr/>
          <p:nvPr/>
        </p:nvGrpSpPr>
        <p:grpSpPr>
          <a:xfrm>
            <a:off x="700550" y="1432565"/>
            <a:ext cx="10672086" cy="4834671"/>
            <a:chOff x="700550" y="1206533"/>
            <a:chExt cx="10672086" cy="5675325"/>
          </a:xfrm>
        </p:grpSpPr>
        <p:sp>
          <p:nvSpPr>
            <p:cNvPr id="728" name="Google Shape;728;p35"/>
            <p:cNvSpPr/>
            <p:nvPr/>
          </p:nvSpPr>
          <p:spPr>
            <a:xfrm>
              <a:off x="700550" y="1206533"/>
              <a:ext cx="10672086" cy="463017"/>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8. TRADE AFFIRMATION / CONFIRMATION</a:t>
              </a:r>
              <a:endParaRPr dirty="0"/>
            </a:p>
          </p:txBody>
        </p:sp>
        <p:sp>
          <p:nvSpPr>
            <p:cNvPr id="729" name="Google Shape;729;p35"/>
            <p:cNvSpPr/>
            <p:nvPr/>
          </p:nvSpPr>
          <p:spPr>
            <a:xfrm>
              <a:off x="700550" y="1669550"/>
              <a:ext cx="10672086" cy="5212308"/>
            </a:xfrm>
            <a:prstGeom prst="rect">
              <a:avLst/>
            </a:prstGeom>
            <a:solidFill>
              <a:srgbClr val="DDEAF6"/>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Counterparties can initially affirm the key economic details of their trades with each other before sending outgoing confirmations (ICE Link platform  is an example of the affirmation model - trade affirmation services between sell-side firms and their buy-side clients).</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60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A confirmation provides a more detailed view of a transaction at one point in time and should be sent as soon as possible.</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60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A trade confirmation is also a legal document and is in addition to the set of documents signed prior to the first trade being executed. </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60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In order to standardise the confirmation format, the ISDA has prepared a set of templates. Examples available on the ISDA's Bookstore</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60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The primary purpose of issuing confirmations is to ensure that the counterparties agree on the economic terms of the trade</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600"/>
                </a:spcBef>
                <a:spcAft>
                  <a:spcPts val="0"/>
                </a:spcAft>
                <a:buClr>
                  <a:schemeClr val="dk1"/>
                </a:buClr>
                <a:buSzPts val="1800"/>
                <a:buFont typeface="Arial" panose="020B0604020202020204"/>
                <a:buChar char="•"/>
              </a:pPr>
              <a:r>
                <a:rPr lang="en-GB" sz="1800" i="0" u="none" strike="noStrike" cap="none">
                  <a:solidFill>
                    <a:schemeClr val="dk1"/>
                  </a:solidFill>
                  <a:latin typeface="Arial" panose="020B0604020202020204"/>
                  <a:ea typeface="Arial" panose="020B0604020202020204"/>
                  <a:cs typeface="Arial" panose="020B0604020202020204"/>
                  <a:sym typeface="Arial" panose="020B0604020202020204"/>
                </a:rPr>
                <a:t>Dealers generally send out confirmations between one and five days after the trade date, usually by fax or telex. </a:t>
              </a:r>
              <a:endParaRPr lang="en-GB"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600"/>
                </a:spcBef>
                <a:spcAft>
                  <a:spcPts val="0"/>
                </a:spcAft>
                <a:buNone/>
              </a:pPr>
              <a:endParaRPr sz="180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36"/>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dirty="0"/>
              <a:t>LIFE CYCLE OF AN OTC DERIVATIVES TRADE</a:t>
            </a:r>
            <a:endParaRPr dirty="0"/>
          </a:p>
        </p:txBody>
      </p:sp>
      <p:grpSp>
        <p:nvGrpSpPr>
          <p:cNvPr id="736" name="Google Shape;736;p36"/>
          <p:cNvGrpSpPr/>
          <p:nvPr/>
        </p:nvGrpSpPr>
        <p:grpSpPr>
          <a:xfrm>
            <a:off x="1021739" y="2808734"/>
            <a:ext cx="9585374" cy="1240532"/>
            <a:chOff x="1380570" y="4441066"/>
            <a:chExt cx="9585374" cy="1240532"/>
          </a:xfrm>
        </p:grpSpPr>
        <p:grpSp>
          <p:nvGrpSpPr>
            <p:cNvPr id="737" name="Google Shape;737;p36"/>
            <p:cNvGrpSpPr/>
            <p:nvPr/>
          </p:nvGrpSpPr>
          <p:grpSpPr>
            <a:xfrm>
              <a:off x="1380570" y="4441066"/>
              <a:ext cx="4570288" cy="1240532"/>
              <a:chOff x="8129712" y="3077707"/>
              <a:chExt cx="4570288" cy="1240532"/>
            </a:xfrm>
          </p:grpSpPr>
          <p:sp>
            <p:nvSpPr>
              <p:cNvPr id="738" name="Google Shape;738;p36"/>
              <p:cNvSpPr/>
              <p:nvPr/>
            </p:nvSpPr>
            <p:spPr>
              <a:xfrm>
                <a:off x="8129712" y="3077707"/>
                <a:ext cx="4570288" cy="1240532"/>
              </a:xfrm>
              <a:prstGeom prst="roundRect">
                <a:avLst>
                  <a:gd name="adj" fmla="val 21962"/>
                </a:avLst>
              </a:prstGeom>
              <a:solidFill>
                <a:srgbClr val="F2F2F2"/>
              </a:solidFill>
              <a:ln>
                <a:noFill/>
              </a:ln>
            </p:spPr>
            <p:txBody>
              <a:bodyPr spcFirstLastPara="1" wrap="square" lIns="865425" tIns="45700" rIns="91425" bIns="45700" anchor="ctr" anchorCtr="0">
                <a:noAutofit/>
              </a:bodyPr>
              <a:lstStyle/>
              <a:p>
                <a:pPr marL="0" marR="0" lvl="0" indent="0" algn="l" rtl="0">
                  <a:spcBef>
                    <a:spcPts val="0"/>
                  </a:spcBef>
                  <a:spcAft>
                    <a:spcPts val="0"/>
                  </a:spcAft>
                  <a:buNone/>
                </a:pPr>
                <a:r>
                  <a:rPr lang="en-GB" sz="1600" b="1">
                    <a:solidFill>
                      <a:schemeClr val="dk1"/>
                    </a:solidFill>
                    <a:latin typeface="Arial" panose="020B0604020202020204"/>
                    <a:ea typeface="Arial" panose="020B0604020202020204"/>
                    <a:cs typeface="Arial" panose="020B0604020202020204"/>
                    <a:sym typeface="Arial" panose="020B0604020202020204"/>
                  </a:rPr>
                  <a:t>In order to standardise the confirmation format, the ISDA has prepared a set of templates. Examples available on the ISDA's Bookstore</a:t>
                </a:r>
                <a:endParaRPr lang="en-GB" sz="1600" b="1">
                  <a:solidFill>
                    <a:schemeClr val="dk1"/>
                  </a:solidFill>
                  <a:latin typeface="Arial" panose="020B0604020202020204"/>
                  <a:ea typeface="Arial" panose="020B0604020202020204"/>
                  <a:cs typeface="Arial" panose="020B0604020202020204"/>
                  <a:sym typeface="Arial" panose="020B0604020202020204"/>
                </a:endParaRPr>
              </a:p>
            </p:txBody>
          </p:sp>
          <p:sp>
            <p:nvSpPr>
              <p:cNvPr id="739" name="Google Shape;739;p36"/>
              <p:cNvSpPr/>
              <p:nvPr/>
            </p:nvSpPr>
            <p:spPr>
              <a:xfrm>
                <a:off x="8258317" y="3397343"/>
                <a:ext cx="548640" cy="548640"/>
              </a:xfrm>
              <a:custGeom>
                <a:avLst/>
                <a:gdLst/>
                <a:ahLst/>
                <a:cxnLst/>
                <a:rect l="l" t="t"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GB" sz="1600" b="1" cap="none">
                    <a:solidFill>
                      <a:schemeClr val="lt1"/>
                    </a:solidFill>
                    <a:latin typeface="Arial" panose="020B0604020202020204"/>
                    <a:ea typeface="Arial" panose="020B0604020202020204"/>
                    <a:cs typeface="Arial" panose="020B0604020202020204"/>
                    <a:sym typeface="Arial" panose="020B0604020202020204"/>
                  </a:rPr>
                  <a:t>01</a:t>
                </a:r>
                <a:endParaRPr sz="1600" b="1" cap="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740" name="Google Shape;740;p36"/>
            <p:cNvGrpSpPr/>
            <p:nvPr/>
          </p:nvGrpSpPr>
          <p:grpSpPr>
            <a:xfrm>
              <a:off x="6395656" y="4441066"/>
              <a:ext cx="4570288" cy="1240532"/>
              <a:chOff x="8129712" y="3077707"/>
              <a:chExt cx="4570288" cy="1240532"/>
            </a:xfrm>
          </p:grpSpPr>
          <p:sp>
            <p:nvSpPr>
              <p:cNvPr id="741" name="Google Shape;741;p36"/>
              <p:cNvSpPr/>
              <p:nvPr/>
            </p:nvSpPr>
            <p:spPr>
              <a:xfrm>
                <a:off x="8129712" y="3077707"/>
                <a:ext cx="4570288" cy="1240532"/>
              </a:xfrm>
              <a:prstGeom prst="roundRect">
                <a:avLst>
                  <a:gd name="adj" fmla="val 21962"/>
                </a:avLst>
              </a:prstGeom>
              <a:solidFill>
                <a:srgbClr val="F2F2F2"/>
              </a:solidFill>
              <a:ln>
                <a:noFill/>
              </a:ln>
            </p:spPr>
            <p:txBody>
              <a:bodyPr spcFirstLastPara="1" wrap="square" lIns="865425" tIns="45700" rIns="91425" bIns="45700" anchor="ctr" anchorCtr="0">
                <a:noAutofit/>
              </a:bodyPr>
              <a:lstStyle/>
              <a:p>
                <a:pPr marL="0" marR="0" lvl="0" indent="0" algn="l" rtl="0">
                  <a:spcBef>
                    <a:spcPts val="0"/>
                  </a:spcBef>
                  <a:spcAft>
                    <a:spcPts val="0"/>
                  </a:spcAft>
                  <a:buNone/>
                </a:pPr>
                <a:r>
                  <a:rPr lang="en-GB" sz="1600" b="1" dirty="0" err="1">
                    <a:solidFill>
                      <a:schemeClr val="dk1"/>
                    </a:solidFill>
                    <a:latin typeface="Arial" panose="020B0604020202020204"/>
                    <a:ea typeface="Arial" panose="020B0604020202020204"/>
                    <a:cs typeface="Arial" panose="020B0604020202020204"/>
                    <a:sym typeface="Arial" panose="020B0604020202020204"/>
                  </a:rPr>
                  <a:t>MarkitSERV</a:t>
                </a:r>
                <a:r>
                  <a:rPr lang="en-GB" sz="1600" b="1" dirty="0">
                    <a:solidFill>
                      <a:schemeClr val="dk1"/>
                    </a:solidFill>
                    <a:latin typeface="Arial" panose="020B0604020202020204"/>
                    <a:ea typeface="Arial" panose="020B0604020202020204"/>
                    <a:cs typeface="Arial" panose="020B0604020202020204"/>
                    <a:sym typeface="Arial" panose="020B0604020202020204"/>
                  </a:rPr>
                  <a:t>  is an example of the confirmation matching model - two sell-side firms trade with one another</a:t>
                </a:r>
                <a:endParaRPr dirty="0"/>
              </a:p>
            </p:txBody>
          </p:sp>
          <p:sp>
            <p:nvSpPr>
              <p:cNvPr id="742" name="Google Shape;742;p36"/>
              <p:cNvSpPr/>
              <p:nvPr/>
            </p:nvSpPr>
            <p:spPr>
              <a:xfrm>
                <a:off x="8258317" y="3397343"/>
                <a:ext cx="548640" cy="548640"/>
              </a:xfrm>
              <a:custGeom>
                <a:avLst/>
                <a:gdLst/>
                <a:ahLst/>
                <a:cxnLst/>
                <a:rect l="l" t="t"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chemeClr val="accent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GB" sz="1600" b="1" cap="none" dirty="0">
                    <a:solidFill>
                      <a:schemeClr val="lt1"/>
                    </a:solidFill>
                    <a:latin typeface="Arial" panose="020B0604020202020204"/>
                    <a:ea typeface="Arial" panose="020B0604020202020204"/>
                    <a:cs typeface="Arial" panose="020B0604020202020204"/>
                    <a:sym typeface="Arial" panose="020B0604020202020204"/>
                  </a:rPr>
                  <a:t>02</a:t>
                </a:r>
                <a:endParaRPr sz="1600" b="1" cap="none" dirty="0">
                  <a:solidFill>
                    <a:schemeClr val="lt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p37"/>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749" name="Google Shape;749;p37"/>
          <p:cNvGrpSpPr/>
          <p:nvPr/>
        </p:nvGrpSpPr>
        <p:grpSpPr>
          <a:xfrm>
            <a:off x="774634" y="1330732"/>
            <a:ext cx="10922066" cy="4685586"/>
            <a:chOff x="774634" y="1276303"/>
            <a:chExt cx="10922066" cy="4685586"/>
          </a:xfrm>
        </p:grpSpPr>
        <p:sp>
          <p:nvSpPr>
            <p:cNvPr id="750" name="Google Shape;750;p37"/>
            <p:cNvSpPr/>
            <p:nvPr/>
          </p:nvSpPr>
          <p:spPr>
            <a:xfrm>
              <a:off x="774634" y="1276303"/>
              <a:ext cx="10922066" cy="4685586"/>
            </a:xfrm>
            <a:prstGeom prst="roundRect">
              <a:avLst>
                <a:gd name="adj" fmla="val 3968"/>
              </a:avLst>
            </a:prstGeom>
            <a:solidFill>
              <a:srgbClr val="DDEA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panose="020B0604020202020204"/>
                <a:ea typeface="Arial" panose="020B0604020202020204"/>
                <a:cs typeface="Arial" panose="020B0604020202020204"/>
                <a:sym typeface="Arial" panose="020B0604020202020204"/>
              </a:endParaRPr>
            </a:p>
          </p:txBody>
        </p:sp>
        <p:sp>
          <p:nvSpPr>
            <p:cNvPr id="751" name="Google Shape;751;p37"/>
            <p:cNvSpPr/>
            <p:nvPr/>
          </p:nvSpPr>
          <p:spPr>
            <a:xfrm>
              <a:off x="928945" y="1463559"/>
              <a:ext cx="133448" cy="4349632"/>
            </a:xfrm>
            <a:prstGeom prst="roundRect">
              <a:avLst>
                <a:gd name="adj" fmla="val 50000"/>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panose="020B0604020202020204"/>
                <a:ea typeface="Arial" panose="020B0604020202020204"/>
                <a:cs typeface="Arial" panose="020B0604020202020204"/>
                <a:sym typeface="Arial" panose="020B0604020202020204"/>
              </a:endParaRPr>
            </a:p>
          </p:txBody>
        </p:sp>
        <p:sp>
          <p:nvSpPr>
            <p:cNvPr id="752" name="Google Shape;752;p37"/>
            <p:cNvSpPr/>
            <p:nvPr/>
          </p:nvSpPr>
          <p:spPr>
            <a:xfrm rot="5400000">
              <a:off x="10965640" y="1402114"/>
              <a:ext cx="594830" cy="594222"/>
            </a:xfrm>
            <a:prstGeom prst="halfFrame">
              <a:avLst>
                <a:gd name="adj1" fmla="val 23728"/>
                <a:gd name="adj2" fmla="val 24642"/>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262626"/>
                </a:solidFill>
                <a:latin typeface="Arial" panose="020B0604020202020204"/>
                <a:ea typeface="Arial" panose="020B0604020202020204"/>
                <a:cs typeface="Arial" panose="020B0604020202020204"/>
                <a:sym typeface="Arial" panose="020B0604020202020204"/>
              </a:endParaRPr>
            </a:p>
          </p:txBody>
        </p:sp>
        <p:sp>
          <p:nvSpPr>
            <p:cNvPr id="753" name="Google Shape;753;p37"/>
            <p:cNvSpPr txBox="1"/>
            <p:nvPr/>
          </p:nvSpPr>
          <p:spPr>
            <a:xfrm>
              <a:off x="1189272" y="1467803"/>
              <a:ext cx="10370894" cy="4345387"/>
            </a:xfrm>
            <a:prstGeom prst="rect">
              <a:avLst/>
            </a:prstGeom>
            <a:noFill/>
            <a:ln>
              <a:noFill/>
            </a:ln>
          </p:spPr>
          <p:txBody>
            <a:bodyPr spcFirstLastPara="1" wrap="square" lIns="91425" tIns="45700" rIns="91425" bIns="45700" anchor="ctr" anchorCtr="0">
              <a:noAutofit/>
            </a:bodyPr>
            <a:lstStyle/>
            <a:p>
              <a:pPr marL="228600" marR="0" lvl="0" indent="-228600" algn="l" rtl="0">
                <a:spcBef>
                  <a:spcPts val="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Constituent of Confirmation</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Economic Terms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Payment/Obligations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Timing And Method of Payment / Deliveries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4572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Account Details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SwapsWire is an electronic dealing system designed for the electronic platform designed to promote efficiencies for the OTC derivatives market. </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SwapsWire supports Interest Rate Swaps (IRS), Forward Rate Agreements (FRAs), Overnight Index Swaps (OIS), Interest Rate Caps and Floors, Interest Rate Swaptions, and Credit Default Swaps (CDS) in</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38"/>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760" name="Google Shape;760;p38"/>
          <p:cNvGrpSpPr/>
          <p:nvPr/>
        </p:nvGrpSpPr>
        <p:grpSpPr>
          <a:xfrm>
            <a:off x="774634" y="1330732"/>
            <a:ext cx="10922066" cy="4685586"/>
            <a:chOff x="774634" y="1276303"/>
            <a:chExt cx="10922066" cy="4685586"/>
          </a:xfrm>
        </p:grpSpPr>
        <p:sp>
          <p:nvSpPr>
            <p:cNvPr id="761" name="Google Shape;761;p38"/>
            <p:cNvSpPr/>
            <p:nvPr/>
          </p:nvSpPr>
          <p:spPr>
            <a:xfrm>
              <a:off x="774634" y="1276303"/>
              <a:ext cx="10922066" cy="4685586"/>
            </a:xfrm>
            <a:prstGeom prst="roundRect">
              <a:avLst>
                <a:gd name="adj" fmla="val 3968"/>
              </a:avLst>
            </a:prstGeom>
            <a:solidFill>
              <a:srgbClr val="DDEA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panose="020B0604020202020204"/>
                <a:ea typeface="Arial" panose="020B0604020202020204"/>
                <a:cs typeface="Arial" panose="020B0604020202020204"/>
                <a:sym typeface="Arial" panose="020B0604020202020204"/>
              </a:endParaRPr>
            </a:p>
          </p:txBody>
        </p:sp>
        <p:sp>
          <p:nvSpPr>
            <p:cNvPr id="762" name="Google Shape;762;p38"/>
            <p:cNvSpPr/>
            <p:nvPr/>
          </p:nvSpPr>
          <p:spPr>
            <a:xfrm>
              <a:off x="928945" y="1463559"/>
              <a:ext cx="133448" cy="4349632"/>
            </a:xfrm>
            <a:prstGeom prst="roundRect">
              <a:avLst>
                <a:gd name="adj" fmla="val 50000"/>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Arial" panose="020B0604020202020204"/>
                <a:ea typeface="Arial" panose="020B0604020202020204"/>
                <a:cs typeface="Arial" panose="020B0604020202020204"/>
                <a:sym typeface="Arial" panose="020B0604020202020204"/>
              </a:endParaRPr>
            </a:p>
          </p:txBody>
        </p:sp>
        <p:sp>
          <p:nvSpPr>
            <p:cNvPr id="763" name="Google Shape;763;p38"/>
            <p:cNvSpPr/>
            <p:nvPr/>
          </p:nvSpPr>
          <p:spPr>
            <a:xfrm rot="5400000">
              <a:off x="10965640" y="1402114"/>
              <a:ext cx="594830" cy="594222"/>
            </a:xfrm>
            <a:prstGeom prst="halfFrame">
              <a:avLst>
                <a:gd name="adj1" fmla="val 23728"/>
                <a:gd name="adj2" fmla="val 24642"/>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262626"/>
                </a:solidFill>
                <a:latin typeface="Arial" panose="020B0604020202020204"/>
                <a:ea typeface="Arial" panose="020B0604020202020204"/>
                <a:cs typeface="Arial" panose="020B0604020202020204"/>
                <a:sym typeface="Arial" panose="020B0604020202020204"/>
              </a:endParaRPr>
            </a:p>
          </p:txBody>
        </p:sp>
        <p:sp>
          <p:nvSpPr>
            <p:cNvPr id="764" name="Google Shape;764;p38"/>
            <p:cNvSpPr txBox="1"/>
            <p:nvPr/>
          </p:nvSpPr>
          <p:spPr>
            <a:xfrm>
              <a:off x="1189272" y="1467803"/>
              <a:ext cx="10370894" cy="4345387"/>
            </a:xfrm>
            <a:prstGeom prst="rect">
              <a:avLst/>
            </a:prstGeom>
            <a:noFill/>
            <a:ln>
              <a:noFill/>
            </a:ln>
          </p:spPr>
          <p:txBody>
            <a:bodyPr spcFirstLastPara="1" wrap="square" lIns="91425" tIns="45700" rIns="91425" bIns="45700" anchor="ctr" anchorCtr="0">
              <a:noAutofit/>
            </a:bodyPr>
            <a:lstStyle/>
            <a:p>
              <a:pPr marL="228600" marR="0" lvl="0" indent="-228600" algn="l" rtl="0">
                <a:spcBef>
                  <a:spcPts val="0"/>
                </a:spcBef>
                <a:spcAft>
                  <a:spcPts val="0"/>
                </a:spcAft>
                <a:buClr>
                  <a:schemeClr val="dk1"/>
                </a:buClr>
                <a:buSzPts val="1700"/>
                <a:buFont typeface="Arial" panose="020B0604020202020204"/>
                <a:buChar char="•"/>
              </a:pPr>
              <a:r>
                <a:rPr lang="en-GB" sz="1800" b="1">
                  <a:solidFill>
                    <a:schemeClr val="dk1"/>
                  </a:solidFill>
                  <a:latin typeface="Arial" panose="020B0604020202020204"/>
                  <a:ea typeface="Arial" panose="020B0604020202020204"/>
                  <a:cs typeface="Arial" panose="020B0604020202020204"/>
                  <a:sym typeface="Arial" panose="020B0604020202020204"/>
                </a:rPr>
                <a:t>SHORT FORM - </a:t>
              </a:r>
              <a:r>
                <a:rPr lang="en-GB" sz="1800">
                  <a:solidFill>
                    <a:schemeClr val="dk1"/>
                  </a:solidFill>
                  <a:latin typeface="Arial" panose="020B0604020202020204"/>
                  <a:ea typeface="Arial" panose="020B0604020202020204"/>
                  <a:cs typeface="Arial" panose="020B0604020202020204"/>
                  <a:sym typeface="Arial" panose="020B0604020202020204"/>
                </a:rPr>
                <a:t>A short form document typically refers to a concise and simplified version of a legal agreement, often used in conjunction with or as an alternative to a more comprehensive and detailed master agreement. This short form document is designed to streamline the negotiation and execution process, making it quicker and more efficient for parties engaging in OTC transactions.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spcBef>
                  <a:spcPts val="1200"/>
                </a:spcBef>
                <a:spcAft>
                  <a:spcPts val="0"/>
                </a:spcAft>
                <a:buClr>
                  <a:schemeClr val="dk1"/>
                </a:buClr>
                <a:buSzPts val="1700"/>
                <a:buFont typeface="Arial" panose="020B0604020202020204"/>
                <a:buChar char="•"/>
              </a:pPr>
              <a:r>
                <a:rPr lang="en-GB" sz="1800" b="1">
                  <a:solidFill>
                    <a:schemeClr val="dk1"/>
                  </a:solidFill>
                  <a:latin typeface="Arial" panose="020B0604020202020204"/>
                  <a:ea typeface="Arial" panose="020B0604020202020204"/>
                  <a:cs typeface="Arial" panose="020B0604020202020204"/>
                  <a:sym typeface="Arial" panose="020B0604020202020204"/>
                </a:rPr>
                <a:t>LONG FORM - </a:t>
              </a:r>
              <a:r>
                <a:rPr lang="en-GB" sz="1800">
                  <a:solidFill>
                    <a:schemeClr val="dk1"/>
                  </a:solidFill>
                  <a:latin typeface="Arial" panose="020B0604020202020204"/>
                  <a:ea typeface="Arial" panose="020B0604020202020204"/>
                  <a:cs typeface="Arial" panose="020B0604020202020204"/>
                  <a:sym typeface="Arial" panose="020B0604020202020204"/>
                </a:rPr>
                <a:t>However, with the same documentation in place, should the firm and the same counterparty choose to execute a trade in an OTC derivative product not covered by the legal documentation, the firm must take additional steps in order to protect itself. For example, if the firm executed a trade with the same counterparty in a variance swap, as this OTC derivative product is not covered by the existing legal documentation between the two parties, a long form confirmation should be issued by one of the parties and signed and returned by its counterparty.</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44"/>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sp>
        <p:nvSpPr>
          <p:cNvPr id="821" name="Google Shape;821;p44"/>
          <p:cNvSpPr/>
          <p:nvPr/>
        </p:nvSpPr>
        <p:spPr>
          <a:xfrm>
            <a:off x="700550" y="1778589"/>
            <a:ext cx="11010900" cy="751115"/>
          </a:xfrm>
          <a:prstGeom prst="roundRect">
            <a:avLst>
              <a:gd name="adj" fmla="val 32292"/>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9. TRANSACTION REPORTING - </a:t>
            </a:r>
            <a:r>
              <a:rPr lang="en-GB" sz="1800" dirty="0">
                <a:solidFill>
                  <a:schemeClr val="lt1"/>
                </a:solidFill>
                <a:latin typeface="Arial" panose="020B0604020202020204"/>
                <a:ea typeface="Arial" panose="020B0604020202020204"/>
                <a:cs typeface="Arial" panose="020B0604020202020204"/>
                <a:sym typeface="Arial" panose="020B0604020202020204"/>
              </a:rPr>
              <a:t>Transactions can be reported to the regulator by firms using systems known as approved reporting mechanisms (ARMs). </a:t>
            </a:r>
            <a:endParaRPr dirty="0"/>
          </a:p>
        </p:txBody>
      </p:sp>
      <p:pic>
        <p:nvPicPr>
          <p:cNvPr id="822" name="Google Shape;822;p44"/>
          <p:cNvPicPr preferRelativeResize="0"/>
          <p:nvPr/>
        </p:nvPicPr>
        <p:blipFill rotWithShape="1">
          <a:blip r:embed="rId1"/>
          <a:srcRect/>
          <a:stretch>
            <a:fillRect/>
          </a:stretch>
        </p:blipFill>
        <p:spPr>
          <a:xfrm>
            <a:off x="1016571" y="2928857"/>
            <a:ext cx="10364107" cy="2915461"/>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45"/>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sp>
        <p:nvSpPr>
          <p:cNvPr id="829" name="Google Shape;829;p45"/>
          <p:cNvSpPr/>
          <p:nvPr/>
        </p:nvSpPr>
        <p:spPr>
          <a:xfrm>
            <a:off x="685279" y="1587317"/>
            <a:ext cx="11010900" cy="751115"/>
          </a:xfrm>
          <a:prstGeom prst="roundRect">
            <a:avLst>
              <a:gd name="adj" fmla="val 32292"/>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dirty="0">
                <a:solidFill>
                  <a:schemeClr val="lt1"/>
                </a:solidFill>
                <a:latin typeface="Arial" panose="020B0604020202020204"/>
                <a:ea typeface="Arial" panose="020B0604020202020204"/>
                <a:cs typeface="Arial" panose="020B0604020202020204"/>
                <a:sym typeface="Arial" panose="020B0604020202020204"/>
              </a:rPr>
              <a:t>CCIL </a:t>
            </a:r>
            <a:r>
              <a:rPr lang="en-GB" sz="1800" dirty="0">
                <a:solidFill>
                  <a:schemeClr val="lt1"/>
                </a:solidFill>
                <a:latin typeface="Arial" panose="020B0604020202020204"/>
                <a:ea typeface="Arial" panose="020B0604020202020204"/>
                <a:cs typeface="Arial" panose="020B0604020202020204"/>
                <a:sym typeface="Arial" panose="020B0604020202020204"/>
              </a:rPr>
              <a:t>has been designated as a Trade Repository by RBI to develop and provide a platform to market participants to report OTC derivatives deals executed in India.</a:t>
            </a:r>
            <a:endParaRPr dirty="0"/>
          </a:p>
        </p:txBody>
      </p:sp>
      <p:pic>
        <p:nvPicPr>
          <p:cNvPr id="830" name="Google Shape;830;p45"/>
          <p:cNvPicPr preferRelativeResize="0"/>
          <p:nvPr/>
        </p:nvPicPr>
        <p:blipFill rotWithShape="1">
          <a:blip r:embed="rId1"/>
          <a:srcRect/>
          <a:stretch>
            <a:fillRect/>
          </a:stretch>
        </p:blipFill>
        <p:spPr>
          <a:xfrm>
            <a:off x="2035814" y="2698132"/>
            <a:ext cx="8309829" cy="3298558"/>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39"/>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pic>
        <p:nvPicPr>
          <p:cNvPr id="771" name="Google Shape;771;p39" descr="The figure shows the single trade with two streams of operational activity. In this figure, an OTC derivative trade primarily involves two parallel streams of operational activity that are trade processing, and collateral processing."/>
          <p:cNvPicPr preferRelativeResize="0"/>
          <p:nvPr/>
        </p:nvPicPr>
        <p:blipFill rotWithShape="1">
          <a:blip r:embed="rId1"/>
          <a:srcRect/>
          <a:stretch>
            <a:fillRect/>
          </a:stretch>
        </p:blipFill>
        <p:spPr>
          <a:xfrm>
            <a:off x="1601410" y="1824074"/>
            <a:ext cx="8989180" cy="3696800"/>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40"/>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pic>
        <p:nvPicPr>
          <p:cNvPr id="778" name="Google Shape;778;p40"/>
          <p:cNvPicPr preferRelativeResize="0"/>
          <p:nvPr/>
        </p:nvPicPr>
        <p:blipFill rotWithShape="1">
          <a:blip r:embed="rId1"/>
          <a:srcRect/>
          <a:stretch>
            <a:fillRect/>
          </a:stretch>
        </p:blipFill>
        <p:spPr>
          <a:xfrm>
            <a:off x="1183758" y="1277554"/>
            <a:ext cx="9824484" cy="5022655"/>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41"/>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785" name="Google Shape;785;p41"/>
          <p:cNvGrpSpPr/>
          <p:nvPr/>
        </p:nvGrpSpPr>
        <p:grpSpPr>
          <a:xfrm>
            <a:off x="700551" y="1239352"/>
            <a:ext cx="11031323" cy="4894748"/>
            <a:chOff x="685799" y="1822539"/>
            <a:chExt cx="9760138" cy="4894748"/>
          </a:xfrm>
        </p:grpSpPr>
        <p:grpSp>
          <p:nvGrpSpPr>
            <p:cNvPr id="786" name="Google Shape;786;p41"/>
            <p:cNvGrpSpPr/>
            <p:nvPr/>
          </p:nvGrpSpPr>
          <p:grpSpPr>
            <a:xfrm>
              <a:off x="685799" y="1822538"/>
              <a:ext cx="4825276" cy="4894748"/>
              <a:chOff x="685799" y="1822539"/>
              <a:chExt cx="4825276" cy="4894748"/>
            </a:xfrm>
          </p:grpSpPr>
          <p:sp>
            <p:nvSpPr>
              <p:cNvPr id="787" name="Google Shape;787;p41"/>
              <p:cNvSpPr/>
              <p:nvPr/>
            </p:nvSpPr>
            <p:spPr>
              <a:xfrm rot="-5400000">
                <a:off x="2486250" y="22088"/>
                <a:ext cx="1224374" cy="4825275"/>
              </a:xfrm>
              <a:prstGeom prst="homePlate">
                <a:avLst>
                  <a:gd name="adj" fmla="val 37858"/>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788" name="Google Shape;788;p41"/>
              <p:cNvSpPr/>
              <p:nvPr/>
            </p:nvSpPr>
            <p:spPr>
              <a:xfrm>
                <a:off x="685800" y="2845632"/>
                <a:ext cx="4825275" cy="3871654"/>
              </a:xfrm>
              <a:prstGeom prst="rect">
                <a:avLst/>
              </a:prstGeom>
              <a:solidFill>
                <a:srgbClr val="D8D8D8">
                  <a:alpha val="9803"/>
                </a:srgbClr>
              </a:solidFill>
              <a:ln>
                <a:noFill/>
              </a:ln>
            </p:spPr>
            <p:txBody>
              <a:bodyPr spcFirstLastPara="1" wrap="square" lIns="91425" tIns="45700" rIns="91425" bIns="218500" anchor="ctr"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Includes </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600"/>
                  </a:spcBef>
                  <a:spcAft>
                    <a:spcPts val="0"/>
                  </a:spcAft>
                  <a:buClr>
                    <a:schemeClr val="dk1"/>
                  </a:buClr>
                  <a:buSzPts val="1800"/>
                  <a:buFont typeface="Arial" panose="020B0604020202020204"/>
                  <a:buAutoNum type="arabicParenR"/>
                </a:pPr>
                <a:r>
                  <a:rPr lang="en-GB" sz="1800">
                    <a:solidFill>
                      <a:schemeClr val="dk1"/>
                    </a:solidFill>
                  </a:rPr>
                  <a:t>T</a:t>
                </a:r>
                <a:r>
                  <a:rPr lang="en-GB" sz="1800">
                    <a:solidFill>
                      <a:schemeClr val="dk1"/>
                    </a:solidFill>
                    <a:latin typeface="Arial" panose="020B0604020202020204"/>
                    <a:ea typeface="Arial" panose="020B0604020202020204"/>
                    <a:cs typeface="Arial" panose="020B0604020202020204"/>
                    <a:sym typeface="Arial" panose="020B0604020202020204"/>
                  </a:rPr>
                  <a:t>he trade confirmation/affirmation process</a:t>
                </a:r>
                <a:r>
                  <a:rPr lang="en-GB" sz="1800">
                    <a:solidFill>
                      <a:schemeClr val="dk1"/>
                    </a:solidFill>
                  </a:rPr>
                  <a:t>.</a:t>
                </a:r>
                <a:endParaRPr lang="en-GB" sz="1800">
                  <a:solidFill>
                    <a:schemeClr val="dk1"/>
                  </a:solidFill>
                </a:endParaRPr>
              </a:p>
              <a:p>
                <a:pPr marL="342900" marR="0" lvl="0" indent="-342900" algn="l" rtl="0">
                  <a:spcBef>
                    <a:spcPts val="600"/>
                  </a:spcBef>
                  <a:spcAft>
                    <a:spcPts val="0"/>
                  </a:spcAft>
                  <a:buClr>
                    <a:schemeClr val="dk1"/>
                  </a:buClr>
                  <a:buSzPts val="1800"/>
                  <a:buFont typeface="Arial" panose="020B0604020202020204"/>
                  <a:buAutoNum type="arabicParenR"/>
                </a:pPr>
                <a:r>
                  <a:rPr lang="en-GB" sz="1800">
                    <a:solidFill>
                      <a:schemeClr val="dk1"/>
                    </a:solidFill>
                  </a:rPr>
                  <a:t>S</a:t>
                </a:r>
                <a:r>
                  <a:rPr lang="en-GB" sz="1800">
                    <a:solidFill>
                      <a:schemeClr val="dk1"/>
                    </a:solidFill>
                    <a:latin typeface="Arial" panose="020B0604020202020204"/>
                    <a:ea typeface="Arial" panose="020B0604020202020204"/>
                    <a:cs typeface="Arial" panose="020B0604020202020204"/>
                    <a:sym typeface="Arial" panose="020B0604020202020204"/>
                  </a:rPr>
                  <a:t>ettlement of OTC derivative trades, for example the payment of periodic interest in an interest rate swap, whilst</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789" name="Google Shape;789;p41"/>
              <p:cNvSpPr txBox="1"/>
              <p:nvPr/>
            </p:nvSpPr>
            <p:spPr>
              <a:xfrm>
                <a:off x="1338284" y="2331075"/>
                <a:ext cx="3640634" cy="562937"/>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Trade processing</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790" name="Google Shape;790;p41"/>
            <p:cNvGrpSpPr/>
            <p:nvPr/>
          </p:nvGrpSpPr>
          <p:grpSpPr>
            <a:xfrm>
              <a:off x="5620661" y="1822538"/>
              <a:ext cx="4825276" cy="4894748"/>
              <a:chOff x="6871424" y="1822539"/>
              <a:chExt cx="4825276" cy="4894748"/>
            </a:xfrm>
          </p:grpSpPr>
          <p:sp>
            <p:nvSpPr>
              <p:cNvPr id="791" name="Google Shape;791;p41"/>
              <p:cNvSpPr/>
              <p:nvPr/>
            </p:nvSpPr>
            <p:spPr>
              <a:xfrm rot="-5400000">
                <a:off x="8671875" y="22088"/>
                <a:ext cx="1224374" cy="4825275"/>
              </a:xfrm>
              <a:prstGeom prst="homePlate">
                <a:avLst>
                  <a:gd name="adj" fmla="val 37858"/>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792" name="Google Shape;792;p41"/>
              <p:cNvSpPr/>
              <p:nvPr/>
            </p:nvSpPr>
            <p:spPr>
              <a:xfrm>
                <a:off x="6871425" y="2845632"/>
                <a:ext cx="4825275" cy="3871654"/>
              </a:xfrm>
              <a:prstGeom prst="rect">
                <a:avLst/>
              </a:prstGeom>
              <a:solidFill>
                <a:srgbClr val="D8D8D8">
                  <a:alpha val="9803"/>
                </a:srgbClr>
              </a:solidFill>
              <a:ln>
                <a:noFill/>
              </a:ln>
            </p:spPr>
            <p:txBody>
              <a:bodyPr spcFirstLastPara="1" wrap="square" lIns="91425" tIns="45700" rIns="91425" bIns="218500" anchor="ctr"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Involves </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600"/>
                  </a:spcBef>
                  <a:spcAft>
                    <a:spcPts val="0"/>
                  </a:spcAft>
                  <a:buClr>
                    <a:schemeClr val="dk1"/>
                  </a:buClr>
                  <a:buSzPts val="1800"/>
                  <a:buFont typeface="Arial" panose="020B0604020202020204"/>
                  <a:buAutoNum type="arabicParenR"/>
                </a:pPr>
                <a:r>
                  <a:rPr lang="en-GB" sz="1800">
                    <a:solidFill>
                      <a:schemeClr val="dk1"/>
                    </a:solidFill>
                  </a:rPr>
                  <a:t>T</a:t>
                </a:r>
                <a:r>
                  <a:rPr lang="en-GB" sz="1800">
                    <a:solidFill>
                      <a:schemeClr val="dk1"/>
                    </a:solidFill>
                    <a:latin typeface="Arial" panose="020B0604020202020204"/>
                    <a:ea typeface="Arial" panose="020B0604020202020204"/>
                    <a:cs typeface="Arial" panose="020B0604020202020204"/>
                    <a:sym typeface="Arial" panose="020B0604020202020204"/>
                  </a:rPr>
                  <a:t>he identification of counterparty </a:t>
                </a:r>
                <a:r>
                  <a:rPr lang="en-GB" sz="1800" b="1">
                    <a:solidFill>
                      <a:schemeClr val="dk1"/>
                    </a:solidFill>
                    <a:latin typeface="Arial" panose="020B0604020202020204"/>
                    <a:ea typeface="Arial" panose="020B0604020202020204"/>
                    <a:cs typeface="Arial" panose="020B0604020202020204"/>
                    <a:sym typeface="Arial" panose="020B0604020202020204"/>
                  </a:rPr>
                  <a:t>exposure, </a:t>
                </a:r>
                <a:endParaRPr lang="en-GB" sz="1800" b="1">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600"/>
                  </a:spcBef>
                  <a:spcAft>
                    <a:spcPts val="0"/>
                  </a:spcAft>
                  <a:buClr>
                    <a:schemeClr val="dk1"/>
                  </a:buClr>
                  <a:buSzPts val="1800"/>
                  <a:buFont typeface="Arial" panose="020B0604020202020204"/>
                  <a:buAutoNum type="arabicParenR"/>
                </a:pPr>
                <a:r>
                  <a:rPr lang="en-GB" sz="1800">
                    <a:solidFill>
                      <a:schemeClr val="dk1"/>
                    </a:solidFill>
                  </a:rPr>
                  <a:t>T</a:t>
                </a:r>
                <a:r>
                  <a:rPr lang="en-GB" sz="1800">
                    <a:solidFill>
                      <a:schemeClr val="dk1"/>
                    </a:solidFill>
                    <a:latin typeface="Arial" panose="020B0604020202020204"/>
                    <a:ea typeface="Arial" panose="020B0604020202020204"/>
                    <a:cs typeface="Arial" panose="020B0604020202020204"/>
                    <a:sym typeface="Arial" panose="020B0604020202020204"/>
                  </a:rPr>
                  <a:t>he </a:t>
                </a:r>
                <a:r>
                  <a:rPr lang="en-GB" sz="1800" b="1">
                    <a:solidFill>
                      <a:schemeClr val="dk1"/>
                    </a:solidFill>
                    <a:latin typeface="Arial" panose="020B0604020202020204"/>
                    <a:ea typeface="Arial" panose="020B0604020202020204"/>
                    <a:cs typeface="Arial" panose="020B0604020202020204"/>
                    <a:sym typeface="Arial" panose="020B0604020202020204"/>
                  </a:rPr>
                  <a:t>mitigation</a:t>
                </a:r>
                <a:r>
                  <a:rPr lang="en-GB" sz="1800">
                    <a:solidFill>
                      <a:schemeClr val="dk1"/>
                    </a:solidFill>
                    <a:latin typeface="Arial" panose="020B0604020202020204"/>
                    <a:ea typeface="Arial" panose="020B0604020202020204"/>
                    <a:cs typeface="Arial" panose="020B0604020202020204"/>
                    <a:sym typeface="Arial" panose="020B0604020202020204"/>
                  </a:rPr>
                  <a:t> of such exposures via the issuance or receipt of </a:t>
                </a:r>
                <a:r>
                  <a:rPr lang="en-GB" sz="1800" b="1">
                    <a:solidFill>
                      <a:schemeClr val="dk1"/>
                    </a:solidFill>
                    <a:latin typeface="Arial" panose="020B0604020202020204"/>
                    <a:ea typeface="Arial" panose="020B0604020202020204"/>
                    <a:cs typeface="Arial" panose="020B0604020202020204"/>
                    <a:sym typeface="Arial" panose="020B0604020202020204"/>
                  </a:rPr>
                  <a:t>margin calls,</a:t>
                </a:r>
                <a:r>
                  <a:rPr lang="en-GB" sz="1800">
                    <a:solidFill>
                      <a:schemeClr val="dk1"/>
                    </a:solidFill>
                    <a:latin typeface="Arial" panose="020B0604020202020204"/>
                    <a:ea typeface="Arial" panose="020B0604020202020204"/>
                    <a:cs typeface="Arial" panose="020B0604020202020204"/>
                    <a:sym typeface="Arial" panose="020B0604020202020204"/>
                  </a:rPr>
                  <a:t> and </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600"/>
                  </a:spcBef>
                  <a:spcAft>
                    <a:spcPts val="0"/>
                  </a:spcAft>
                  <a:buClr>
                    <a:schemeClr val="dk1"/>
                  </a:buClr>
                  <a:buSzPts val="1800"/>
                  <a:buFont typeface="Arial" panose="020B0604020202020204"/>
                  <a:buAutoNum type="arabicParenR"/>
                </a:pPr>
                <a:r>
                  <a:rPr lang="en-GB" sz="1800">
                    <a:solidFill>
                      <a:schemeClr val="dk1"/>
                    </a:solidFill>
                  </a:rPr>
                  <a:t>T</a:t>
                </a:r>
                <a:r>
                  <a:rPr lang="en-GB" sz="1800">
                    <a:solidFill>
                      <a:schemeClr val="dk1"/>
                    </a:solidFill>
                    <a:latin typeface="Arial" panose="020B0604020202020204"/>
                    <a:ea typeface="Arial" panose="020B0604020202020204"/>
                    <a:cs typeface="Arial" panose="020B0604020202020204"/>
                    <a:sym typeface="Arial" panose="020B0604020202020204"/>
                  </a:rPr>
                  <a:t>he movement of assets to or from the counterparty to settle the margin calls. </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793" name="Google Shape;793;p41"/>
              <p:cNvSpPr txBox="1"/>
              <p:nvPr/>
            </p:nvSpPr>
            <p:spPr>
              <a:xfrm>
                <a:off x="7523909" y="2331075"/>
                <a:ext cx="3640634" cy="562937"/>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Collateral processing</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42"/>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800" name="Google Shape;800;p42"/>
          <p:cNvGrpSpPr/>
          <p:nvPr/>
        </p:nvGrpSpPr>
        <p:grpSpPr>
          <a:xfrm>
            <a:off x="700550" y="1539423"/>
            <a:ext cx="11010900" cy="4092119"/>
            <a:chOff x="590550" y="914400"/>
            <a:chExt cx="11010900" cy="5029200"/>
          </a:xfrm>
        </p:grpSpPr>
        <p:sp>
          <p:nvSpPr>
            <p:cNvPr id="801" name="Google Shape;801;p42"/>
            <p:cNvSpPr/>
            <p:nvPr/>
          </p:nvSpPr>
          <p:spPr>
            <a:xfrm>
              <a:off x="590550" y="914400"/>
              <a:ext cx="1371600" cy="5029200"/>
            </a:xfrm>
            <a:prstGeom prst="roundRect">
              <a:avLst>
                <a:gd name="adj" fmla="val 16667"/>
              </a:avLst>
            </a:prstGeom>
            <a:solidFill>
              <a:schemeClr val="dk2"/>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802" name="Google Shape;802;p42"/>
            <p:cNvSpPr/>
            <p:nvPr/>
          </p:nvSpPr>
          <p:spPr>
            <a:xfrm>
              <a:off x="759329" y="1021222"/>
              <a:ext cx="10842121" cy="4819828"/>
            </a:xfrm>
            <a:prstGeom prst="roundRect">
              <a:avLst>
                <a:gd name="adj" fmla="val 5282"/>
              </a:avLst>
            </a:prstGeom>
            <a:solidFill>
              <a:schemeClr val="lt1"/>
            </a:solidFill>
            <a:ln w="12700" cap="flat" cmpd="sng">
              <a:solidFill>
                <a:srgbClr val="44546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803" name="Google Shape;803;p42"/>
            <p:cNvSpPr txBox="1"/>
            <p:nvPr/>
          </p:nvSpPr>
          <p:spPr>
            <a:xfrm>
              <a:off x="944215" y="1194026"/>
              <a:ext cx="10437235" cy="4520670"/>
            </a:xfrm>
            <a:prstGeom prst="rect">
              <a:avLst/>
            </a:prstGeom>
            <a:noFill/>
            <a:ln>
              <a:noFill/>
            </a:ln>
          </p:spPr>
          <p:txBody>
            <a:bodyPr spcFirstLastPara="1" wrap="square" lIns="90000" tIns="45100" rIns="90000" bIns="46800" anchor="ctr" anchorCtr="0">
              <a:noAutofit/>
            </a:bodyPr>
            <a:lstStyle/>
            <a:p>
              <a:pPr marL="228600" marR="0" lvl="0" indent="-228600" algn="l" rtl="0">
                <a:lnSpc>
                  <a:spcPct val="100000"/>
                </a:lnSpc>
                <a:spcBef>
                  <a:spcPts val="18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From an operations perspective, both parties to an IRS trade must:</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lnSpc>
                  <a:spcPct val="100000"/>
                </a:lnSpc>
                <a:spcBef>
                  <a:spcPts val="2400"/>
                </a:spcBef>
                <a:spcAft>
                  <a:spcPts val="0"/>
                </a:spcAft>
                <a:buClr>
                  <a:schemeClr val="dk1"/>
                </a:buClr>
                <a:buSzPts val="1700"/>
                <a:buFont typeface="Courier New" panose="02070309020205020404"/>
                <a:buChar char="o"/>
              </a:pPr>
              <a:r>
                <a:rPr lang="en-GB" sz="1800">
                  <a:solidFill>
                    <a:schemeClr val="dk1"/>
                  </a:solidFill>
                  <a:latin typeface="Arial" panose="020B0604020202020204"/>
                  <a:ea typeface="Arial" panose="020B0604020202020204"/>
                  <a:cs typeface="Arial" panose="020B0604020202020204"/>
                  <a:sym typeface="Arial" panose="020B0604020202020204"/>
                </a:rPr>
                <a:t>Calculate the net differential between the fixed interest rate and the floating interest rate for the period in question</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lnSpc>
                  <a:spcPct val="100000"/>
                </a:lnSpc>
                <a:spcBef>
                  <a:spcPts val="1200"/>
                </a:spcBef>
                <a:spcAft>
                  <a:spcPts val="0"/>
                </a:spcAft>
                <a:buClr>
                  <a:schemeClr val="dk1"/>
                </a:buClr>
                <a:buSzPts val="1700"/>
                <a:buFont typeface="Courier New" panose="02070309020205020404"/>
                <a:buChar char="o"/>
              </a:pPr>
              <a:r>
                <a:rPr lang="en-GB" sz="1800">
                  <a:solidFill>
                    <a:schemeClr val="dk1"/>
                  </a:solidFill>
                  <a:latin typeface="Arial" panose="020B0604020202020204"/>
                  <a:ea typeface="Arial" panose="020B0604020202020204"/>
                  <a:cs typeface="Arial" panose="020B0604020202020204"/>
                  <a:sym typeface="Arial" panose="020B0604020202020204"/>
                </a:rPr>
                <a:t>Determine which party is responsible for making the net payment</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14350" marR="0" lvl="0" indent="-285750" algn="l" rtl="0">
                <a:lnSpc>
                  <a:spcPct val="100000"/>
                </a:lnSpc>
                <a:spcBef>
                  <a:spcPts val="1200"/>
                </a:spcBef>
                <a:spcAft>
                  <a:spcPts val="600"/>
                </a:spcAft>
                <a:buClr>
                  <a:schemeClr val="dk1"/>
                </a:buClr>
                <a:buSzPts val="1700"/>
                <a:buFont typeface="Courier New" panose="02070309020205020404"/>
                <a:buChar char="o"/>
              </a:pPr>
              <a:r>
                <a:rPr lang="en-GB" sz="1800">
                  <a:solidFill>
                    <a:schemeClr val="dk1"/>
                  </a:solidFill>
                  <a:latin typeface="Arial" panose="020B0604020202020204"/>
                  <a:ea typeface="Arial" panose="020B0604020202020204"/>
                  <a:cs typeface="Arial" panose="020B0604020202020204"/>
                  <a:sym typeface="Arial" panose="020B0604020202020204"/>
                </a:rPr>
                <a:t>And, the paying party must ensure payment is made to the counterparty on the due date, whilst the receiving party ensures the payment is received from its counterparty when falling due</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43"/>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810" name="Google Shape;810;p43"/>
          <p:cNvGrpSpPr/>
          <p:nvPr/>
        </p:nvGrpSpPr>
        <p:grpSpPr>
          <a:xfrm>
            <a:off x="590550" y="2011690"/>
            <a:ext cx="11010900" cy="4092119"/>
            <a:chOff x="590550" y="914400"/>
            <a:chExt cx="11010900" cy="5029200"/>
          </a:xfrm>
        </p:grpSpPr>
        <p:sp>
          <p:nvSpPr>
            <p:cNvPr id="811" name="Google Shape;811;p43"/>
            <p:cNvSpPr/>
            <p:nvPr/>
          </p:nvSpPr>
          <p:spPr>
            <a:xfrm>
              <a:off x="590550" y="914400"/>
              <a:ext cx="1371600" cy="5029200"/>
            </a:xfrm>
            <a:prstGeom prst="roundRect">
              <a:avLst>
                <a:gd name="adj" fmla="val 16667"/>
              </a:avLst>
            </a:prstGeom>
            <a:solidFill>
              <a:schemeClr val="dk2"/>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812" name="Google Shape;812;p43"/>
            <p:cNvSpPr/>
            <p:nvPr/>
          </p:nvSpPr>
          <p:spPr>
            <a:xfrm>
              <a:off x="759329" y="1021222"/>
              <a:ext cx="10842121" cy="4819828"/>
            </a:xfrm>
            <a:prstGeom prst="roundRect">
              <a:avLst>
                <a:gd name="adj" fmla="val 5282"/>
              </a:avLst>
            </a:prstGeom>
            <a:solidFill>
              <a:schemeClr val="lt1"/>
            </a:solidFill>
            <a:ln w="12700" cap="flat" cmpd="sng">
              <a:solidFill>
                <a:srgbClr val="44546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813" name="Google Shape;813;p43"/>
            <p:cNvSpPr txBox="1"/>
            <p:nvPr/>
          </p:nvSpPr>
          <p:spPr>
            <a:xfrm>
              <a:off x="944215" y="1194026"/>
              <a:ext cx="10437235" cy="4520670"/>
            </a:xfrm>
            <a:prstGeom prst="rect">
              <a:avLst/>
            </a:prstGeom>
            <a:noFill/>
            <a:ln>
              <a:noFill/>
            </a:ln>
          </p:spPr>
          <p:txBody>
            <a:bodyPr spcFirstLastPara="1" wrap="square" lIns="90000" tIns="45100" rIns="90000" bIns="46800" anchor="ctr" anchorCtr="0">
              <a:noAutofit/>
            </a:bodyPr>
            <a:lstStyle/>
            <a:p>
              <a:pPr marL="285750" marR="0" lvl="0" indent="-285750" algn="l" rtl="0">
                <a:lnSpc>
                  <a:spcPct val="100000"/>
                </a:lnSpc>
                <a:spcBef>
                  <a:spcPts val="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There are two types of OTC derivative contracts: </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71500" marR="0" lvl="0" indent="-342900" algn="l" rtl="0">
                <a:lnSpc>
                  <a:spcPct val="100000"/>
                </a:lnSpc>
                <a:spcBef>
                  <a:spcPts val="600"/>
                </a:spcBef>
                <a:spcAft>
                  <a:spcPts val="0"/>
                </a:spcAft>
                <a:buClr>
                  <a:schemeClr val="dk1"/>
                </a:buClr>
                <a:buSzPts val="1700"/>
                <a:buFont typeface="Arial" panose="020B0604020202020204"/>
                <a:buAutoNum type="arabicPeriod"/>
              </a:pPr>
              <a:r>
                <a:rPr lang="en-GB" sz="1800">
                  <a:solidFill>
                    <a:schemeClr val="dk1"/>
                  </a:solidFill>
                  <a:latin typeface="Arial" panose="020B0604020202020204"/>
                  <a:ea typeface="Arial" panose="020B0604020202020204"/>
                  <a:cs typeface="Arial" panose="020B0604020202020204"/>
                  <a:sym typeface="Arial" panose="020B0604020202020204"/>
                </a:rPr>
                <a:t>Cleared OTC derivatives and</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571500" marR="0" lvl="0" indent="-342900" algn="l" rtl="0">
                <a:lnSpc>
                  <a:spcPct val="100000"/>
                </a:lnSpc>
                <a:spcBef>
                  <a:spcPts val="600"/>
                </a:spcBef>
                <a:spcAft>
                  <a:spcPts val="0"/>
                </a:spcAft>
                <a:buClr>
                  <a:schemeClr val="dk1"/>
                </a:buClr>
                <a:buSzPts val="1700"/>
                <a:buFont typeface="Arial" panose="020B0604020202020204"/>
                <a:buAutoNum type="arabicPeriod"/>
              </a:pPr>
              <a:r>
                <a:rPr lang="en-GB" sz="1800">
                  <a:solidFill>
                    <a:schemeClr val="dk1"/>
                  </a:solidFill>
                  <a:latin typeface="Arial" panose="020B0604020202020204"/>
                  <a:ea typeface="Arial" panose="020B0604020202020204"/>
                  <a:cs typeface="Arial" panose="020B0604020202020204"/>
                  <a:sym typeface="Arial" panose="020B0604020202020204"/>
                </a:rPr>
                <a:t>Non-cleared OTC derivatives</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lnSpc>
                  <a:spcPct val="100000"/>
                </a:lnSpc>
                <a:spcBef>
                  <a:spcPts val="6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Traditionally, OTC derivative contracts are non-cleared and generally settled by the parties themselves. Payments and deliveries are made directly to one another. The two parties are taking credit risk on each other performing their obligations or remaining solvent.</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lnSpc>
                  <a:spcPct val="100000"/>
                </a:lnSpc>
                <a:spcBef>
                  <a:spcPts val="60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Similarly, during a trade’s lifetime events can occur which cause: the trade to terminate earlier than its scheduled maturity date - trade/portfolio netting (trade compression), novation, unwind and offset.</a:t>
              </a:r>
              <a:endParaRPr lang="en-GB" sz="1800">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lnSpc>
                  <a:spcPct val="100000"/>
                </a:lnSpc>
                <a:spcBef>
                  <a:spcPts val="600"/>
                </a:spcBef>
                <a:spcAft>
                  <a:spcPts val="60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However, if no such events arise, the exchange of cash flows will continue its life until the trade’s scheduled maturity date is reached.</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814" name="Google Shape;814;p43"/>
          <p:cNvSpPr/>
          <p:nvPr/>
        </p:nvSpPr>
        <p:spPr>
          <a:xfrm>
            <a:off x="0" y="1243174"/>
            <a:ext cx="12192000" cy="52807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TRADE SETTLEMENT</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81"/>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3600"/>
              <a:buFont typeface="Trebuchet MS" panose="020B0603020202020204"/>
              <a:buNone/>
            </a:pPr>
            <a:r>
              <a:rPr lang="en-US"/>
              <a:t>OTC – CLEARING MODEL USED</a:t>
            </a:r>
            <a:endParaRPr lang="en-US"/>
          </a:p>
        </p:txBody>
      </p:sp>
      <p:sp>
        <p:nvSpPr>
          <p:cNvPr id="700" name="Google Shape;700;p81"/>
          <p:cNvSpPr txBox="1">
            <a:spLocks noGrp="1"/>
          </p:cNvSpPr>
          <p:nvPr>
            <p:ph type="body" idx="1"/>
          </p:nvPr>
        </p:nvSpPr>
        <p:spPr>
          <a:xfrm>
            <a:off x="677334" y="1488124"/>
            <a:ext cx="8596668" cy="388077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SzPts val="1440"/>
              <a:buChar char="►"/>
            </a:pPr>
            <a:r>
              <a:rPr lang="en-US" b="1"/>
              <a:t>Clearing model</a:t>
            </a:r>
            <a:endParaRPr lang="en-US" b="1"/>
          </a:p>
          <a:p>
            <a:pPr marL="742950" lvl="1" indent="-285750" algn="l" rtl="0">
              <a:lnSpc>
                <a:spcPct val="100000"/>
              </a:lnSpc>
              <a:spcBef>
                <a:spcPts val="1000"/>
              </a:spcBef>
              <a:spcAft>
                <a:spcPts val="0"/>
              </a:spcAft>
              <a:buSzPts val="1280"/>
              <a:buChar char="►"/>
            </a:pPr>
            <a:r>
              <a:rPr lang="en-US"/>
              <a:t>OTC Cleared : traded on licensed trading venues known as </a:t>
            </a:r>
            <a:r>
              <a:rPr lang="en-US" i="1"/>
              <a:t>swap execution facilities</a:t>
            </a:r>
            <a:r>
              <a:rPr lang="en-US"/>
              <a:t> (SEFs) or multilateral trading facilities. They are traded</a:t>
            </a:r>
            <a:r>
              <a:rPr lang="en-IN" altLang="en-US"/>
              <a:t> via SEFs and setttled through </a:t>
            </a:r>
            <a:r>
              <a:rPr lang="en-US"/>
              <a:t>via CCP platforms</a:t>
            </a:r>
            <a:endParaRPr lang="en-US"/>
          </a:p>
          <a:p>
            <a:pPr marL="742950" lvl="1" indent="-285750" algn="l" rtl="0">
              <a:lnSpc>
                <a:spcPct val="100000"/>
              </a:lnSpc>
              <a:spcBef>
                <a:spcPts val="1000"/>
              </a:spcBef>
              <a:spcAft>
                <a:spcPts val="0"/>
              </a:spcAft>
              <a:buSzPts val="1280"/>
              <a:buChar char="►"/>
            </a:pPr>
            <a:r>
              <a:rPr lang="en-US"/>
              <a:t>OTC Non Cleared - Bilateral contracts (no clearing house)</a:t>
            </a:r>
            <a:endParaRPr lang="en-US"/>
          </a:p>
          <a:p>
            <a:pPr marL="91440" lvl="0" indent="0" algn="l" rtl="0">
              <a:lnSpc>
                <a:spcPct val="100000"/>
              </a:lnSpc>
              <a:spcBef>
                <a:spcPts val="1000"/>
              </a:spcBef>
              <a:spcAft>
                <a:spcPts val="0"/>
              </a:spcAft>
              <a:buSzPts val="1440"/>
              <a:buNone/>
            </a:pPr>
          </a:p>
        </p:txBody>
      </p:sp>
      <p:sp>
        <p:nvSpPr>
          <p:cNvPr id="701" name="Google Shape;701;p81"/>
          <p:cNvSpPr/>
          <p:nvPr/>
        </p:nvSpPr>
        <p:spPr>
          <a:xfrm>
            <a:off x="6692787" y="4196860"/>
            <a:ext cx="5312649" cy="2464905"/>
          </a:xfrm>
          <a:prstGeom prst="rect">
            <a:avLst/>
          </a:prstGeom>
          <a:solidFill>
            <a:schemeClr val="accent4">
              <a:lumMod val="40000"/>
              <a:lumOff val="60000"/>
            </a:schemeClr>
          </a:solidFill>
          <a:ln w="19050" cap="rnd" cmpd="sng">
            <a:solidFill>
              <a:srgbClr val="698D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tx1"/>
                </a:solidFill>
                <a:effectLst>
                  <a:outerShdw blurRad="38100" dist="19050" dir="2700000" algn="tl" rotWithShape="0">
                    <a:schemeClr val="dk1">
                      <a:alpha val="40000"/>
                    </a:schemeClr>
                  </a:outerShdw>
                </a:effectLst>
                <a:latin typeface="Trebuchet MS" panose="020B0603020202020204"/>
                <a:ea typeface="Trebuchet MS" panose="020B0603020202020204"/>
                <a:cs typeface="Trebuchet MS" panose="020B0603020202020204"/>
                <a:sym typeface="Trebuchet MS" panose="020B0603020202020204"/>
              </a:rPr>
              <a:t>Swap execution facilities (SEFs) are trading platforms intended for swaps products.</a:t>
            </a:r>
            <a:endParaRPr sz="1400" b="0" i="0" u="none" strike="noStrike" cap="none">
              <a:solidFill>
                <a:schemeClr val="tx1"/>
              </a:solidFill>
              <a:effectLst>
                <a:outerShdw blurRad="38100" dist="19050" dir="2700000" algn="tl" rotWithShape="0">
                  <a:schemeClr val="dk1">
                    <a:alpha val="40000"/>
                  </a:schemeClr>
                </a:outerShdw>
              </a:effectLst>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tx1"/>
                </a:solidFill>
                <a:effectLst>
                  <a:outerShdw blurRad="38100" dist="19050" dir="2700000" algn="tl" rotWithShape="0">
                    <a:schemeClr val="dk1">
                      <a:alpha val="40000"/>
                    </a:schemeClr>
                  </a:outerShdw>
                </a:effectLst>
                <a:latin typeface="Trebuchet MS" panose="020B0603020202020204"/>
                <a:ea typeface="Trebuchet MS" panose="020B0603020202020204"/>
                <a:cs typeface="Trebuchet MS" panose="020B0603020202020204"/>
                <a:sym typeface="Trebuchet MS" panose="020B0603020202020204"/>
              </a:rPr>
              <a:t>They are mandated under the Dodd-Frank Wall Street Reform Act of 2010.</a:t>
            </a:r>
            <a:endParaRPr sz="1400" b="0" i="0" u="none" strike="noStrike" cap="none">
              <a:solidFill>
                <a:schemeClr val="tx1"/>
              </a:solidFill>
              <a:effectLst>
                <a:outerShdw blurRad="38100" dist="19050" dir="2700000" algn="tl" rotWithShape="0">
                  <a:schemeClr val="dk1">
                    <a:alpha val="40000"/>
                  </a:schemeClr>
                </a:outerShdw>
              </a:effectLst>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tx1"/>
                </a:solidFill>
                <a:effectLst>
                  <a:outerShdw blurRad="38100" dist="19050" dir="2700000" algn="tl" rotWithShape="0">
                    <a:schemeClr val="dk1">
                      <a:alpha val="40000"/>
                    </a:schemeClr>
                  </a:outerShdw>
                </a:effectLst>
                <a:latin typeface="Trebuchet MS" panose="020B0603020202020204"/>
                <a:ea typeface="Trebuchet MS" panose="020B0603020202020204"/>
                <a:cs typeface="Trebuchet MS" panose="020B0603020202020204"/>
                <a:sym typeface="Trebuchet MS" panose="020B0603020202020204"/>
              </a:rPr>
              <a:t>Because of the complex nature of swaps, these platforms are not exchanges per se but they do function as a counterparty matching service.</a:t>
            </a:r>
            <a:endParaRPr sz="1400" b="0" i="0" u="none" strike="noStrike" cap="none">
              <a:solidFill>
                <a:schemeClr val="tx1"/>
              </a:solidFill>
              <a:effectLst>
                <a:outerShdw blurRad="38100" dist="19050" dir="2700000" algn="tl" rotWithShape="0">
                  <a:schemeClr val="dk1">
                    <a:alpha val="40000"/>
                  </a:schemeClr>
                </a:outerShdw>
              </a:effectLst>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tx1"/>
                </a:solidFill>
                <a:effectLst>
                  <a:outerShdw blurRad="38100" dist="19050" dir="2700000" algn="tl" rotWithShape="0">
                    <a:schemeClr val="dk1">
                      <a:alpha val="40000"/>
                    </a:schemeClr>
                  </a:outerShdw>
                </a:effectLst>
                <a:latin typeface="Trebuchet MS" panose="020B0603020202020204"/>
                <a:ea typeface="Trebuchet MS" panose="020B0603020202020204"/>
                <a:cs typeface="Trebuchet MS" panose="020B0603020202020204"/>
                <a:sym typeface="Trebuchet MS" panose="020B0603020202020204"/>
              </a:rPr>
              <a:t>Swaps traded on SEFs fall under the oversight of both the SEC and CFTC.</a:t>
            </a:r>
            <a:endParaRPr lang="en-US" sz="1800" b="0" i="0" u="none" strike="noStrike" cap="none">
              <a:solidFill>
                <a:schemeClr val="tx1"/>
              </a:solidFill>
              <a:effectLst>
                <a:outerShdw blurRad="38100" dist="19050" dir="2700000" algn="tl" rotWithShape="0">
                  <a:schemeClr val="dk1">
                    <a:alpha val="40000"/>
                  </a:schemeClr>
                </a:outerShdw>
              </a:effectLst>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2c3b7804d8_0_75"/>
          <p:cNvSpPr txBox="1">
            <a:spLocks noGrp="1"/>
          </p:cNvSpPr>
          <p:nvPr>
            <p:ph type="title"/>
          </p:nvPr>
        </p:nvSpPr>
        <p:spPr>
          <a:xfrm>
            <a:off x="6773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ct val="100000"/>
              <a:buFont typeface="Trebuchet MS" panose="020B0603020202020204"/>
              <a:buNone/>
            </a:pPr>
            <a:r>
              <a:rPr lang="en-US"/>
              <a:t>Typical OTC Cleared Derivatives Trade </a:t>
            </a:r>
            <a:endParaRPr lang="en-US"/>
          </a:p>
        </p:txBody>
      </p:sp>
      <p:pic>
        <p:nvPicPr>
          <p:cNvPr id="746" name="Google Shape;746;g22c3b7804d8_0_75"/>
          <p:cNvPicPr preferRelativeResize="0"/>
          <p:nvPr/>
        </p:nvPicPr>
        <p:blipFill rotWithShape="1">
          <a:blip r:embed="rId1"/>
          <a:srcRect/>
          <a:stretch>
            <a:fillRect/>
          </a:stretch>
        </p:blipFill>
        <p:spPr>
          <a:xfrm>
            <a:off x="1000891" y="1924050"/>
            <a:ext cx="8776154" cy="47053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58"/>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3600"/>
              <a:buFont typeface="Trebuchet MS" panose="020B0603020202020204"/>
              <a:buNone/>
            </a:pPr>
            <a:r>
              <a:rPr lang="en-US"/>
              <a:t>Settlement Instructions to the custodians</a:t>
            </a:r>
            <a:endParaRPr lang="en-US"/>
          </a:p>
        </p:txBody>
      </p:sp>
      <p:pic>
        <p:nvPicPr>
          <p:cNvPr id="554" name="Google Shape;554;p58"/>
          <p:cNvPicPr preferRelativeResize="0"/>
          <p:nvPr/>
        </p:nvPicPr>
        <p:blipFill rotWithShape="1">
          <a:blip r:embed="rId1"/>
          <a:srcRect/>
          <a:stretch>
            <a:fillRect/>
          </a:stretch>
        </p:blipFill>
        <p:spPr>
          <a:xfrm>
            <a:off x="1187277" y="2160589"/>
            <a:ext cx="8086725" cy="29527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g21482275b93_0_14"/>
          <p:cNvSpPr txBox="1">
            <a:spLocks noGrp="1"/>
          </p:cNvSpPr>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ct val="113000"/>
              <a:buFont typeface="Trebuchet MS" panose="020B0603020202020204"/>
              <a:buNone/>
            </a:pPr>
            <a:r>
              <a:rPr lang="en-US"/>
              <a:t>Settlement Instructions to the custodians</a:t>
            </a:r>
            <a:endParaRPr sz="3200"/>
          </a:p>
          <a:p>
            <a:pPr marL="0" lvl="0" indent="0" algn="l" rtl="0">
              <a:spcBef>
                <a:spcPts val="0"/>
              </a:spcBef>
              <a:spcAft>
                <a:spcPts val="0"/>
              </a:spcAft>
              <a:buNone/>
            </a:pPr>
          </a:p>
        </p:txBody>
      </p:sp>
      <p:pic>
        <p:nvPicPr>
          <p:cNvPr id="574" name="Google Shape;574;g21482275b93_0_14"/>
          <p:cNvPicPr preferRelativeResize="0"/>
          <p:nvPr/>
        </p:nvPicPr>
        <p:blipFill>
          <a:blip r:embed="rId1"/>
          <a:stretch>
            <a:fillRect/>
          </a:stretch>
        </p:blipFill>
        <p:spPr>
          <a:xfrm>
            <a:off x="902970" y="1545590"/>
            <a:ext cx="9694545" cy="45434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46"/>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LIFE CYCLE OF AN OTC DERIVATIVES TRADE</a:t>
            </a:r>
            <a:endParaRPr lang="en-GB" b="1"/>
          </a:p>
        </p:txBody>
      </p:sp>
      <p:grpSp>
        <p:nvGrpSpPr>
          <p:cNvPr id="837" name="Google Shape;837;p46"/>
          <p:cNvGrpSpPr/>
          <p:nvPr/>
        </p:nvGrpSpPr>
        <p:grpSpPr>
          <a:xfrm>
            <a:off x="700550" y="2103030"/>
            <a:ext cx="10996150" cy="3077027"/>
            <a:chOff x="700550" y="1857830"/>
            <a:chExt cx="10996150" cy="2630714"/>
          </a:xfrm>
        </p:grpSpPr>
        <p:sp>
          <p:nvSpPr>
            <p:cNvPr id="838" name="Google Shape;838;p46"/>
            <p:cNvSpPr/>
            <p:nvPr/>
          </p:nvSpPr>
          <p:spPr>
            <a:xfrm>
              <a:off x="700550" y="1857830"/>
              <a:ext cx="10996150" cy="2630714"/>
            </a:xfrm>
            <a:prstGeom prst="roundRect">
              <a:avLst>
                <a:gd name="adj" fmla="val 12253"/>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839" name="Google Shape;839;p46"/>
            <p:cNvSpPr/>
            <p:nvPr/>
          </p:nvSpPr>
          <p:spPr>
            <a:xfrm>
              <a:off x="902843" y="2070102"/>
              <a:ext cx="10591564" cy="2206170"/>
            </a:xfrm>
            <a:prstGeom prst="roundRect">
              <a:avLst>
                <a:gd name="adj" fmla="val 12253"/>
              </a:avLst>
            </a:pr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GB" sz="1800" b="1">
                  <a:solidFill>
                    <a:schemeClr val="dk1"/>
                  </a:solidFill>
                  <a:latin typeface="Arial" panose="020B0604020202020204"/>
                  <a:ea typeface="Arial" panose="020B0604020202020204"/>
                  <a:cs typeface="Arial" panose="020B0604020202020204"/>
                  <a:sym typeface="Arial" panose="020B0604020202020204"/>
                </a:rPr>
                <a:t>Portfolio reconciliation -  </a:t>
              </a:r>
              <a:r>
                <a:rPr lang="en-GB" sz="1800">
                  <a:solidFill>
                    <a:schemeClr val="dk1"/>
                  </a:solidFill>
                  <a:latin typeface="Arial" panose="020B0604020202020204"/>
                  <a:ea typeface="Arial" panose="020B0604020202020204"/>
                  <a:cs typeface="Arial" panose="020B0604020202020204"/>
                  <a:sym typeface="Arial" panose="020B0604020202020204"/>
                </a:rPr>
                <a:t>verification of the existence of all outstanding trades and comparison of their principal economic terms, is considered good market practice but does not occur routinely with OTC derivatives portfolios. Problems such as disagreements over collateral obligations or missed payments may prompt a portfolio reconciliation between counterparties. Still, most market participants argue that without an automated process for reconciling the details of some or all outstanding transactions, the process is too costly relative to the perceived benefits. TriOptima has been testing a portfolio reconciliation service (triResolve) and other service providers (eg Markit and Algorithmics) are reported to be developing similar services. </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47"/>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EXAMPLE OF OTC TLC WITH ISDA</a:t>
            </a:r>
            <a:endParaRPr lang="en-GB" b="1"/>
          </a:p>
        </p:txBody>
      </p:sp>
      <p:grpSp>
        <p:nvGrpSpPr>
          <p:cNvPr id="846" name="Google Shape;846;p47"/>
          <p:cNvGrpSpPr/>
          <p:nvPr/>
        </p:nvGrpSpPr>
        <p:grpSpPr>
          <a:xfrm>
            <a:off x="597925" y="1865145"/>
            <a:ext cx="10996150" cy="2940392"/>
            <a:chOff x="834609" y="1388773"/>
            <a:chExt cx="10911975" cy="2884243"/>
          </a:xfrm>
        </p:grpSpPr>
        <p:grpSp>
          <p:nvGrpSpPr>
            <p:cNvPr id="847" name="Google Shape;847;p47"/>
            <p:cNvGrpSpPr/>
            <p:nvPr/>
          </p:nvGrpSpPr>
          <p:grpSpPr>
            <a:xfrm>
              <a:off x="834609" y="1601771"/>
              <a:ext cx="10911975" cy="2671245"/>
              <a:chOff x="834609" y="1601771"/>
              <a:chExt cx="10911975" cy="2612397"/>
            </a:xfrm>
          </p:grpSpPr>
          <p:sp>
            <p:nvSpPr>
              <p:cNvPr id="848" name="Google Shape;848;p47"/>
              <p:cNvSpPr/>
              <p:nvPr/>
            </p:nvSpPr>
            <p:spPr>
              <a:xfrm>
                <a:off x="1038289" y="1601771"/>
                <a:ext cx="10408196" cy="2612397"/>
              </a:xfrm>
              <a:prstGeom prst="rect">
                <a:avLst/>
              </a:prstGeom>
              <a:solidFill>
                <a:schemeClr val="lt1"/>
              </a:solidFill>
              <a:ln w="4445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849" name="Google Shape;849;p47"/>
              <p:cNvSpPr/>
              <p:nvPr/>
            </p:nvSpPr>
            <p:spPr>
              <a:xfrm>
                <a:off x="834609" y="1710215"/>
                <a:ext cx="10911975" cy="2503953"/>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850" name="Google Shape;850;p47"/>
            <p:cNvSpPr/>
            <p:nvPr/>
          </p:nvSpPr>
          <p:spPr>
            <a:xfrm>
              <a:off x="1194641" y="1388773"/>
              <a:ext cx="2193448" cy="222151"/>
            </a:xfrm>
            <a:prstGeom prst="roundRect">
              <a:avLst>
                <a:gd name="adj" fmla="val 16667"/>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Black" panose="020B0A04020102020204"/>
                <a:ea typeface="Arial Black" panose="020B0A04020102020204"/>
                <a:cs typeface="Arial Black" panose="020B0A04020102020204"/>
                <a:sym typeface="Arial Black" panose="020B0A04020102020204"/>
              </a:endParaRPr>
            </a:p>
          </p:txBody>
        </p:sp>
        <p:sp>
          <p:nvSpPr>
            <p:cNvPr id="851" name="Google Shape;851;p47"/>
            <p:cNvSpPr txBox="1"/>
            <p:nvPr/>
          </p:nvSpPr>
          <p:spPr>
            <a:xfrm>
              <a:off x="1038289" y="1913226"/>
              <a:ext cx="10480196" cy="2127997"/>
            </a:xfrm>
            <a:prstGeom prst="rect">
              <a:avLst/>
            </a:prstGeom>
            <a:noFill/>
            <a:ln>
              <a:noFill/>
            </a:ln>
          </p:spPr>
          <p:txBody>
            <a:bodyPr spcFirstLastPara="1" wrap="square" lIns="91425" tIns="45700" rIns="91425" bIns="45700" anchor="ctr" anchorCtr="0">
              <a:noAutofit/>
            </a:bodyPr>
            <a:lstStyle/>
            <a:p>
              <a:pPr marL="285750" marR="0" lvl="0" indent="-285750" algn="l" rtl="0">
                <a:spcBef>
                  <a:spcPts val="0"/>
                </a:spcBef>
                <a:spcAft>
                  <a:spcPts val="0"/>
                </a:spcAft>
                <a:buClr>
                  <a:schemeClr val="dk1"/>
                </a:buClr>
                <a:buSzPts val="1700"/>
                <a:buFont typeface="Arial" panose="020B0604020202020204"/>
                <a:buChar char="•"/>
              </a:pPr>
              <a:r>
                <a:rPr lang="en-GB" sz="1800">
                  <a:solidFill>
                    <a:schemeClr val="dk1"/>
                  </a:solidFill>
                  <a:latin typeface="Arial" panose="020B0604020202020204"/>
                  <a:ea typeface="Arial" panose="020B0604020202020204"/>
                  <a:cs typeface="Arial" panose="020B0604020202020204"/>
                  <a:sym typeface="Arial" panose="020B0604020202020204"/>
                </a:rPr>
                <a:t>A practical application of the International Swaps and Derivatives Association (ISDA) can be seen in the negotiation and execution of interest rate swaps, a common type of over-the-counter (OTC) derivative. Let's walk through a scenario where the ISDA Master Agreement is used in action:</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48"/>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EXAMPLE OF OTC TLC WITH ISDA</a:t>
            </a:r>
            <a:endParaRPr lang="en-GB" b="1"/>
          </a:p>
        </p:txBody>
      </p:sp>
      <p:sp>
        <p:nvSpPr>
          <p:cNvPr id="858" name="Google Shape;858;p48"/>
          <p:cNvSpPr/>
          <p:nvPr/>
        </p:nvSpPr>
        <p:spPr>
          <a:xfrm>
            <a:off x="0" y="1121291"/>
            <a:ext cx="12192000" cy="460929"/>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Scenario: Interest Rate Swap Transaction</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grpSp>
        <p:nvGrpSpPr>
          <p:cNvPr id="859" name="Google Shape;859;p48"/>
          <p:cNvGrpSpPr/>
          <p:nvPr/>
        </p:nvGrpSpPr>
        <p:grpSpPr>
          <a:xfrm>
            <a:off x="597925" y="1861991"/>
            <a:ext cx="10996150" cy="4163753"/>
            <a:chOff x="700550" y="1206533"/>
            <a:chExt cx="10373850" cy="4163753"/>
          </a:xfrm>
        </p:grpSpPr>
        <p:grpSp>
          <p:nvGrpSpPr>
            <p:cNvPr id="860" name="Google Shape;860;p48"/>
            <p:cNvGrpSpPr/>
            <p:nvPr/>
          </p:nvGrpSpPr>
          <p:grpSpPr>
            <a:xfrm>
              <a:off x="700550" y="1206533"/>
              <a:ext cx="3369814" cy="4163753"/>
              <a:chOff x="685800" y="1224675"/>
              <a:chExt cx="5389835" cy="5302181"/>
            </a:xfrm>
          </p:grpSpPr>
          <p:sp>
            <p:nvSpPr>
              <p:cNvPr id="861" name="Google Shape;861;p48"/>
              <p:cNvSpPr/>
              <p:nvPr/>
            </p:nvSpPr>
            <p:spPr>
              <a:xfrm>
                <a:off x="685800" y="1224675"/>
                <a:ext cx="5389835" cy="58961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Initial Contact</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862" name="Google Shape;862;p48"/>
              <p:cNvSpPr/>
              <p:nvPr/>
            </p:nvSpPr>
            <p:spPr>
              <a:xfrm>
                <a:off x="685800" y="1814287"/>
                <a:ext cx="5389835" cy="4712569"/>
              </a:xfrm>
              <a:prstGeom prst="rect">
                <a:avLst/>
              </a:prstGeom>
              <a:solidFill>
                <a:srgbClr val="F2F2F2"/>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Two financial institutions, Bank A and Bank B, decide to enter into an interest rate swap to manage their interest rate exposure. Bank A has a variable-rate loan, while Bank B has a fixed-rate loan.</a:t>
                </a: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63" name="Google Shape;863;p48"/>
            <p:cNvGrpSpPr/>
            <p:nvPr/>
          </p:nvGrpSpPr>
          <p:grpSpPr>
            <a:xfrm>
              <a:off x="4202568" y="1206533"/>
              <a:ext cx="3369814" cy="4163753"/>
              <a:chOff x="6306865" y="1224675"/>
              <a:chExt cx="5389835" cy="5302181"/>
            </a:xfrm>
          </p:grpSpPr>
          <p:sp>
            <p:nvSpPr>
              <p:cNvPr id="864" name="Google Shape;864;p48"/>
              <p:cNvSpPr/>
              <p:nvPr/>
            </p:nvSpPr>
            <p:spPr>
              <a:xfrm>
                <a:off x="6306865" y="1224675"/>
                <a:ext cx="5389835" cy="58961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Negotiation Phase</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865" name="Google Shape;865;p48"/>
              <p:cNvSpPr/>
              <p:nvPr/>
            </p:nvSpPr>
            <p:spPr>
              <a:xfrm>
                <a:off x="6306865" y="1814287"/>
                <a:ext cx="5389835" cy="4712569"/>
              </a:xfrm>
              <a:prstGeom prst="rect">
                <a:avLst/>
              </a:prstGeom>
              <a:solidFill>
                <a:srgbClr val="F2F2F2"/>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The parties negotiate the key terms of the interest rate swap, such as the notional amount, fixed and floating interest rates, payment frequency, and maturity date. During this process, they may use the ISDA Master Agreement as a starting point.</a:t>
                </a: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66" name="Google Shape;866;p48"/>
            <p:cNvGrpSpPr/>
            <p:nvPr/>
          </p:nvGrpSpPr>
          <p:grpSpPr>
            <a:xfrm>
              <a:off x="7704586" y="1206533"/>
              <a:ext cx="3369814" cy="4163753"/>
              <a:chOff x="6306865" y="1224675"/>
              <a:chExt cx="5389835" cy="5302181"/>
            </a:xfrm>
          </p:grpSpPr>
          <p:sp>
            <p:nvSpPr>
              <p:cNvPr id="867" name="Google Shape;867;p48"/>
              <p:cNvSpPr/>
              <p:nvPr/>
            </p:nvSpPr>
            <p:spPr>
              <a:xfrm>
                <a:off x="6306865" y="1224675"/>
                <a:ext cx="5389835" cy="5896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Confirmation of Terms</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868" name="Google Shape;868;p48"/>
              <p:cNvSpPr/>
              <p:nvPr/>
            </p:nvSpPr>
            <p:spPr>
              <a:xfrm>
                <a:off x="6306865" y="1814287"/>
                <a:ext cx="5389835" cy="4712569"/>
              </a:xfrm>
              <a:prstGeom prst="rect">
                <a:avLst/>
              </a:prstGeom>
              <a:solidFill>
                <a:srgbClr val="F2F2F2"/>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Once the terms are agreed upon, the parties use a short form confirmation or term sheet that summarizes the key details of the transaction. This document references the ISDA Master Agreement for the full legal terms and conditions.</a:t>
                </a: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49"/>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EXAMPLE OF OTC TLC WITH ISDA</a:t>
            </a:r>
            <a:endParaRPr lang="en-GB" b="1"/>
          </a:p>
        </p:txBody>
      </p:sp>
      <p:grpSp>
        <p:nvGrpSpPr>
          <p:cNvPr id="875" name="Google Shape;875;p49"/>
          <p:cNvGrpSpPr/>
          <p:nvPr/>
        </p:nvGrpSpPr>
        <p:grpSpPr>
          <a:xfrm>
            <a:off x="700550" y="1495378"/>
            <a:ext cx="10996150" cy="4163753"/>
            <a:chOff x="700550" y="1206533"/>
            <a:chExt cx="10373850" cy="4163753"/>
          </a:xfrm>
        </p:grpSpPr>
        <p:grpSp>
          <p:nvGrpSpPr>
            <p:cNvPr id="876" name="Google Shape;876;p49"/>
            <p:cNvGrpSpPr/>
            <p:nvPr/>
          </p:nvGrpSpPr>
          <p:grpSpPr>
            <a:xfrm>
              <a:off x="700550" y="1206533"/>
              <a:ext cx="3369814" cy="4163753"/>
              <a:chOff x="685800" y="1224675"/>
              <a:chExt cx="5389835" cy="5302181"/>
            </a:xfrm>
          </p:grpSpPr>
          <p:sp>
            <p:nvSpPr>
              <p:cNvPr id="877" name="Google Shape;877;p49"/>
              <p:cNvSpPr/>
              <p:nvPr/>
            </p:nvSpPr>
            <p:spPr>
              <a:xfrm>
                <a:off x="685800" y="1224675"/>
                <a:ext cx="5389835" cy="589612"/>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Legal Review</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878" name="Google Shape;878;p49"/>
              <p:cNvSpPr/>
              <p:nvPr/>
            </p:nvSpPr>
            <p:spPr>
              <a:xfrm>
                <a:off x="685800" y="1814287"/>
                <a:ext cx="5389835" cy="4712569"/>
              </a:xfrm>
              <a:prstGeom prst="rect">
                <a:avLst/>
              </a:prstGeom>
              <a:solidFill>
                <a:srgbClr val="F2F2F2"/>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Legal teams from both banks review the short form confirmation and ensure that it aligns with the terms and conditions outlined in the ISDA Master Agreement. The ISDA Master Agreement provides a standardized legal framework, reducing the need for extensive negotiations for each transaction.</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79" name="Google Shape;879;p49"/>
            <p:cNvGrpSpPr/>
            <p:nvPr/>
          </p:nvGrpSpPr>
          <p:grpSpPr>
            <a:xfrm>
              <a:off x="4202568" y="1206533"/>
              <a:ext cx="3369814" cy="4163753"/>
              <a:chOff x="6306865" y="1224675"/>
              <a:chExt cx="5389835" cy="5302181"/>
            </a:xfrm>
          </p:grpSpPr>
          <p:sp>
            <p:nvSpPr>
              <p:cNvPr id="880" name="Google Shape;880;p49"/>
              <p:cNvSpPr/>
              <p:nvPr/>
            </p:nvSpPr>
            <p:spPr>
              <a:xfrm>
                <a:off x="6306865" y="1224675"/>
                <a:ext cx="5389835" cy="58961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Execution of Documents</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881" name="Google Shape;881;p49"/>
              <p:cNvSpPr/>
              <p:nvPr/>
            </p:nvSpPr>
            <p:spPr>
              <a:xfrm>
                <a:off x="6306865" y="1814287"/>
                <a:ext cx="5389835" cy="4712569"/>
              </a:xfrm>
              <a:prstGeom prst="rect">
                <a:avLst/>
              </a:prstGeom>
              <a:solidFill>
                <a:srgbClr val="F2F2F2"/>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The parties execute the short form confirmation, and by doing so, they incorporate the terms of the ISDA Master Agreement by reference. This legally binding confirmation document serves as evidence of the agreement to enter into the interest rate swap.</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82" name="Google Shape;882;p49"/>
            <p:cNvGrpSpPr/>
            <p:nvPr/>
          </p:nvGrpSpPr>
          <p:grpSpPr>
            <a:xfrm>
              <a:off x="7704586" y="1206533"/>
              <a:ext cx="3369814" cy="4163753"/>
              <a:chOff x="6306865" y="1224675"/>
              <a:chExt cx="5389835" cy="5302181"/>
            </a:xfrm>
          </p:grpSpPr>
          <p:sp>
            <p:nvSpPr>
              <p:cNvPr id="883" name="Google Shape;883;p49"/>
              <p:cNvSpPr/>
              <p:nvPr/>
            </p:nvSpPr>
            <p:spPr>
              <a:xfrm>
                <a:off x="6306865" y="1224675"/>
                <a:ext cx="5389835" cy="5896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Ongoing Transactions</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884" name="Google Shape;884;p49"/>
              <p:cNvSpPr/>
              <p:nvPr/>
            </p:nvSpPr>
            <p:spPr>
              <a:xfrm>
                <a:off x="6306865" y="1814287"/>
                <a:ext cx="5389835" cy="4712569"/>
              </a:xfrm>
              <a:prstGeom prst="rect">
                <a:avLst/>
              </a:prstGeom>
              <a:solidFill>
                <a:srgbClr val="F2F2F2"/>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As part of the ongoing relationship between Bank A and Bank B, they continue to enter into additional interest rate swaps. For each new transaction, they may use a similar process, often leveraging the standardized terms and legal framework provided by the ISDA Master Agreement.</a:t>
                </a:r>
                <a:endParaRPr lang="en-GB" sz="1800">
                  <a:solidFill>
                    <a:schemeClr val="dk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50"/>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EXAMPLE OF OTC TLC WITH ISDA</a:t>
            </a:r>
            <a:endParaRPr lang="en-GB" b="1"/>
          </a:p>
        </p:txBody>
      </p:sp>
      <p:grpSp>
        <p:nvGrpSpPr>
          <p:cNvPr id="891" name="Google Shape;891;p50"/>
          <p:cNvGrpSpPr/>
          <p:nvPr/>
        </p:nvGrpSpPr>
        <p:grpSpPr>
          <a:xfrm>
            <a:off x="1641656" y="1465468"/>
            <a:ext cx="8908687" cy="4417157"/>
            <a:chOff x="2453973" y="1299650"/>
            <a:chExt cx="7284054" cy="4417157"/>
          </a:xfrm>
        </p:grpSpPr>
        <p:grpSp>
          <p:nvGrpSpPr>
            <p:cNvPr id="892" name="Google Shape;892;p50"/>
            <p:cNvGrpSpPr/>
            <p:nvPr/>
          </p:nvGrpSpPr>
          <p:grpSpPr>
            <a:xfrm>
              <a:off x="2453973" y="1299650"/>
              <a:ext cx="3571960" cy="4417157"/>
              <a:chOff x="6306865" y="901987"/>
              <a:chExt cx="5389835" cy="5624869"/>
            </a:xfrm>
          </p:grpSpPr>
          <p:sp>
            <p:nvSpPr>
              <p:cNvPr id="893" name="Google Shape;893;p50"/>
              <p:cNvSpPr/>
              <p:nvPr/>
            </p:nvSpPr>
            <p:spPr>
              <a:xfrm>
                <a:off x="6306865" y="901987"/>
                <a:ext cx="5389835" cy="91230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Risk Management and Reporting</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894" name="Google Shape;894;p50"/>
              <p:cNvSpPr/>
              <p:nvPr/>
            </p:nvSpPr>
            <p:spPr>
              <a:xfrm>
                <a:off x="6306865" y="1814287"/>
                <a:ext cx="5389835" cy="4712569"/>
              </a:xfrm>
              <a:prstGeom prst="rect">
                <a:avLst/>
              </a:prstGeom>
              <a:solidFill>
                <a:srgbClr val="F2F2F2"/>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dirty="0">
                    <a:solidFill>
                      <a:schemeClr val="dk1"/>
                    </a:solidFill>
                    <a:latin typeface="Arial" panose="020B0604020202020204"/>
                    <a:ea typeface="Arial" panose="020B0604020202020204"/>
                    <a:cs typeface="Arial" panose="020B0604020202020204"/>
                    <a:sym typeface="Arial" panose="020B0604020202020204"/>
                  </a:rPr>
                  <a:t>The ISDA Master Agreement includes provisions related to events of default, termination events, and collateral management. These provisions help the parties manage and mitigate risks associated with the interest rate swap. Additionally, the agreement includes reporting obligations to ensure transparency between the parties.</a:t>
                </a:r>
                <a:endParaRPr sz="1800" dirty="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95" name="Google Shape;895;p50"/>
            <p:cNvGrpSpPr/>
            <p:nvPr/>
          </p:nvGrpSpPr>
          <p:grpSpPr>
            <a:xfrm>
              <a:off x="6166067" y="1299650"/>
              <a:ext cx="3571960" cy="4417157"/>
              <a:chOff x="6306865" y="901987"/>
              <a:chExt cx="5389835" cy="5624869"/>
            </a:xfrm>
          </p:grpSpPr>
          <p:sp>
            <p:nvSpPr>
              <p:cNvPr id="896" name="Google Shape;896;p50"/>
              <p:cNvSpPr/>
              <p:nvPr/>
            </p:nvSpPr>
            <p:spPr>
              <a:xfrm>
                <a:off x="6306865" y="901987"/>
                <a:ext cx="5389835" cy="9123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b="1">
                    <a:solidFill>
                      <a:schemeClr val="lt1"/>
                    </a:solidFill>
                    <a:latin typeface="Arial" panose="020B0604020202020204"/>
                    <a:ea typeface="Arial" panose="020B0604020202020204"/>
                    <a:cs typeface="Arial" panose="020B0604020202020204"/>
                    <a:sym typeface="Arial" panose="020B0604020202020204"/>
                  </a:rPr>
                  <a:t>Dispute Resolution</a:t>
                </a:r>
                <a:endParaRPr lang="en-GB"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897" name="Google Shape;897;p50"/>
              <p:cNvSpPr/>
              <p:nvPr/>
            </p:nvSpPr>
            <p:spPr>
              <a:xfrm>
                <a:off x="6306865" y="1814287"/>
                <a:ext cx="5389835" cy="4712569"/>
              </a:xfrm>
              <a:prstGeom prst="rect">
                <a:avLst/>
              </a:prstGeom>
              <a:solidFill>
                <a:srgbClr val="F2F2F2"/>
              </a:solidFill>
              <a:ln>
                <a:noFill/>
              </a:ln>
            </p:spPr>
            <p:txBody>
              <a:bodyPr spcFirstLastPara="1" wrap="square" lIns="91425" tIns="254500" rIns="91425" bIns="45700" anchor="t" anchorCtr="0">
                <a:noAutofit/>
              </a:bodyPr>
              <a:lstStyle/>
              <a:p>
                <a:pPr marL="0" marR="0" lvl="0" indent="0" algn="l" rtl="0">
                  <a:spcBef>
                    <a:spcPts val="0"/>
                  </a:spcBef>
                  <a:spcAft>
                    <a:spcPts val="0"/>
                  </a:spcAft>
                  <a:buNone/>
                </a:pPr>
                <a:r>
                  <a:rPr lang="en-GB" sz="1800">
                    <a:solidFill>
                      <a:schemeClr val="dk1"/>
                    </a:solidFill>
                    <a:latin typeface="Arial" panose="020B0604020202020204"/>
                    <a:ea typeface="Arial" panose="020B0604020202020204"/>
                    <a:cs typeface="Arial" panose="020B0604020202020204"/>
                    <a:sym typeface="Arial" panose="020B0604020202020204"/>
                  </a:rPr>
                  <a:t>In case of disputes or disagreements, the ISDA Master Agreement outlines a dispute resolution process, including provisions for mediation and arbitration.</a:t>
                </a: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pic>
        <p:nvPicPr>
          <p:cNvPr id="902" name="Google Shape;902;p51"/>
          <p:cNvPicPr preferRelativeResize="0">
            <a:picLocks noGrp="1"/>
          </p:cNvPicPr>
          <p:nvPr>
            <p:ph type="pic" idx="2"/>
          </p:nvPr>
        </p:nvPicPr>
        <p:blipFill rotWithShape="1">
          <a:blip r:embed="rId1"/>
          <a:srcRect/>
          <a:stretch>
            <a:fillRect/>
          </a:stretch>
        </p:blipFill>
        <p:spPr>
          <a:xfrm>
            <a:off x="3978704" y="-174171"/>
            <a:ext cx="8412466" cy="7206342"/>
          </a:xfrm>
          <a:prstGeom prst="rect">
            <a:avLst/>
          </a:prstGeom>
          <a:solidFill>
            <a:srgbClr val="F2F2F2"/>
          </a:solidFill>
          <a:ln>
            <a:noFill/>
          </a:ln>
        </p:spPr>
      </p:pic>
      <p:sp>
        <p:nvSpPr>
          <p:cNvPr id="903" name="Google Shape;903;p51"/>
          <p:cNvSpPr/>
          <p:nvPr/>
        </p:nvSpPr>
        <p:spPr>
          <a:xfrm flipH="1">
            <a:off x="4024507" y="0"/>
            <a:ext cx="8166551" cy="6858000"/>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04" name="Google Shape;904;p51"/>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05" name="Google Shape;905;p51"/>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06" name="Google Shape;906;p51"/>
          <p:cNvSpPr txBox="1"/>
          <p:nvPr/>
        </p:nvSpPr>
        <p:spPr>
          <a:xfrm>
            <a:off x="617538" y="3044280"/>
            <a:ext cx="7053813"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4400"/>
              <a:buFont typeface="Arial" panose="020B0604020202020204"/>
              <a:buNone/>
            </a:pPr>
            <a:r>
              <a:rPr lang="en-GB" sz="4400" b="1" i="0" u="none" strike="noStrike" cap="none">
                <a:solidFill>
                  <a:srgbClr val="FFFFFF"/>
                </a:solidFill>
                <a:latin typeface="Arial" panose="020B0604020202020204"/>
                <a:ea typeface="Arial" panose="020B0604020202020204"/>
                <a:cs typeface="Arial" panose="020B0604020202020204"/>
                <a:sym typeface="Arial" panose="020B0604020202020204"/>
              </a:rPr>
              <a:t>Real World Examples</a:t>
            </a:r>
            <a:endParaRPr lang="en-GB" sz="44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907" name="Google Shape;907;p51" descr="A picture containing text, clipart&#10;&#10;Description automatically generated"/>
          <p:cNvPicPr preferRelativeResize="0"/>
          <p:nvPr/>
        </p:nvPicPr>
        <p:blipFill rotWithShape="1">
          <a:blip r:embed="rId2"/>
          <a:srcRect/>
          <a:stretch>
            <a:fillRect/>
          </a:stretch>
        </p:blipFill>
        <p:spPr>
          <a:xfrm>
            <a:off x="9533468" y="312483"/>
            <a:ext cx="2421466" cy="49196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52"/>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REAL WORLD EXAMPLES</a:t>
            </a:r>
            <a:endParaRPr lang="en-GB" b="1"/>
          </a:p>
        </p:txBody>
      </p:sp>
      <p:grpSp>
        <p:nvGrpSpPr>
          <p:cNvPr id="914" name="Google Shape;914;p52"/>
          <p:cNvGrpSpPr/>
          <p:nvPr/>
        </p:nvGrpSpPr>
        <p:grpSpPr>
          <a:xfrm>
            <a:off x="1181974" y="2344929"/>
            <a:ext cx="9828052" cy="3244211"/>
            <a:chOff x="914895" y="2242189"/>
            <a:chExt cx="9828052" cy="3244211"/>
          </a:xfrm>
        </p:grpSpPr>
        <p:sp>
          <p:nvSpPr>
            <p:cNvPr id="915" name="Google Shape;915;p52"/>
            <p:cNvSpPr/>
            <p:nvPr/>
          </p:nvSpPr>
          <p:spPr>
            <a:xfrm>
              <a:off x="914895" y="2242189"/>
              <a:ext cx="8547604" cy="3038727"/>
            </a:xfrm>
            <a:prstGeom prst="roundRect">
              <a:avLst>
                <a:gd name="adj" fmla="val 7297"/>
              </a:avLst>
            </a:prstGeom>
            <a:solidFill>
              <a:schemeClr val="lt1"/>
            </a:solidFill>
            <a:ln>
              <a:noFill/>
            </a:ln>
            <a:effectLst>
              <a:outerShdw blurRad="63500" sx="102000" sy="102000" algn="ctr"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916" name="Google Shape;916;p52"/>
            <p:cNvGrpSpPr/>
            <p:nvPr/>
          </p:nvGrpSpPr>
          <p:grpSpPr>
            <a:xfrm>
              <a:off x="1495333" y="2754288"/>
              <a:ext cx="9247614" cy="2732112"/>
              <a:chOff x="1775111" y="1900395"/>
              <a:chExt cx="1970137" cy="1415809"/>
            </a:xfrm>
          </p:grpSpPr>
          <p:sp>
            <p:nvSpPr>
              <p:cNvPr id="917" name="Google Shape;917;p52"/>
              <p:cNvSpPr/>
              <p:nvPr/>
            </p:nvSpPr>
            <p:spPr>
              <a:xfrm>
                <a:off x="1775111" y="1900395"/>
                <a:ext cx="1970137" cy="1415808"/>
              </a:xfrm>
              <a:prstGeom prst="roundRect">
                <a:avLst>
                  <a:gd name="adj" fmla="val 10788"/>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918" name="Google Shape;918;p52"/>
              <p:cNvSpPr/>
              <p:nvPr/>
            </p:nvSpPr>
            <p:spPr>
              <a:xfrm>
                <a:off x="2172472" y="1911139"/>
                <a:ext cx="1572775" cy="1405065"/>
              </a:xfrm>
              <a:custGeom>
                <a:avLst/>
                <a:gdLst/>
                <a:ahLst/>
                <a:cxnLst/>
                <a:rect l="l" t="t" r="r" b="b"/>
                <a:pathLst>
                  <a:path w="1572775" h="1405065" extrusionOk="0">
                    <a:moveTo>
                      <a:pt x="1473249" y="0"/>
                    </a:moveTo>
                    <a:cubicBezTo>
                      <a:pt x="1531558" y="20642"/>
                      <a:pt x="1572775" y="76505"/>
                      <a:pt x="1572775" y="141994"/>
                    </a:cubicBezTo>
                    <a:lnTo>
                      <a:pt x="1572775" y="1252328"/>
                    </a:lnTo>
                    <a:cubicBezTo>
                      <a:pt x="1572775" y="1336682"/>
                      <a:pt x="1504392" y="1405065"/>
                      <a:pt x="1420038" y="1405065"/>
                    </a:cubicBezTo>
                    <a:lnTo>
                      <a:pt x="0" y="1405065"/>
                    </a:lnTo>
                    <a:cubicBezTo>
                      <a:pt x="768941" y="1317621"/>
                      <a:pt x="1379064" y="735374"/>
                      <a:pt x="1473249" y="0"/>
                    </a:cubicBezTo>
                    <a:close/>
                  </a:path>
                </a:pathLst>
              </a:custGeom>
              <a:gradFill>
                <a:gsLst>
                  <a:gs pos="0">
                    <a:srgbClr val="46D1DA"/>
                  </a:gs>
                  <a:gs pos="94000">
                    <a:schemeClr val="accent4"/>
                  </a:gs>
                  <a:gs pos="100000">
                    <a:schemeClr val="accent4"/>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919" name="Google Shape;919;p52"/>
            <p:cNvSpPr txBox="1"/>
            <p:nvPr/>
          </p:nvSpPr>
          <p:spPr>
            <a:xfrm>
              <a:off x="2958957" y="2352191"/>
              <a:ext cx="6298971"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800" b="1">
                  <a:solidFill>
                    <a:srgbClr val="595959"/>
                  </a:solidFill>
                  <a:latin typeface="Arial" panose="020B0604020202020204"/>
                  <a:ea typeface="Arial" panose="020B0604020202020204"/>
                  <a:cs typeface="Arial" panose="020B0604020202020204"/>
                  <a:sym typeface="Arial" panose="020B0604020202020204"/>
                </a:rPr>
                <a:t>Long-Term Capital Management (LTCM) Crisis (1998)</a:t>
              </a:r>
              <a:endParaRPr sz="1800" b="1">
                <a:solidFill>
                  <a:srgbClr val="595959"/>
                </a:solidFill>
                <a:latin typeface="Arial" panose="020B0604020202020204"/>
                <a:ea typeface="Arial" panose="020B0604020202020204"/>
                <a:cs typeface="Arial" panose="020B0604020202020204"/>
                <a:sym typeface="Arial" panose="020B0604020202020204"/>
              </a:endParaRPr>
            </a:p>
          </p:txBody>
        </p:sp>
        <p:sp>
          <p:nvSpPr>
            <p:cNvPr id="920" name="Google Shape;920;p52"/>
            <p:cNvSpPr txBox="1"/>
            <p:nvPr/>
          </p:nvSpPr>
          <p:spPr>
            <a:xfrm>
              <a:off x="1726184" y="3073623"/>
              <a:ext cx="8764515"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lt1"/>
                  </a:solidFill>
                  <a:latin typeface="Arial" panose="020B0604020202020204"/>
                  <a:ea typeface="Arial" panose="020B0604020202020204"/>
                  <a:cs typeface="Arial" panose="020B0604020202020204"/>
                  <a:sym typeface="Arial" panose="020B0604020202020204"/>
                </a:rPr>
                <a:t>LTCM was a hedge fund led by Nobel laureates and financial experts. The fund engaged in complex OTC derivatives transactions, particularly in the fixed-income markets. The fund's highly leveraged positions and interconnected trades led to massive losses. Concerns about LTCM's potential collapse prompted a consortium of banks to intervene and prevent a broader financial crisis. This event underscored the systemic risks associated with OTC derivatives and contributed to discussions on hedge fund regulation.</a:t>
              </a: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921" name="Google Shape;921;p52"/>
          <p:cNvSpPr/>
          <p:nvPr/>
        </p:nvSpPr>
        <p:spPr>
          <a:xfrm>
            <a:off x="0" y="1243173"/>
            <a:ext cx="12192000" cy="626724"/>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Arial" panose="020B0604020202020204"/>
                <a:ea typeface="Arial" panose="020B0604020202020204"/>
                <a:cs typeface="Arial" panose="020B0604020202020204"/>
                <a:sym typeface="Arial" panose="020B0604020202020204"/>
              </a:rPr>
              <a:t>Several OTC transactions have had widespread implications, influencing financial markets, institutions, and regulatory landscapes. </a:t>
            </a:r>
            <a:endParaRPr sz="180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53"/>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REAL WORLD EXAMPLES</a:t>
            </a:r>
            <a:endParaRPr lang="en-GB" b="1"/>
          </a:p>
        </p:txBody>
      </p:sp>
      <p:grpSp>
        <p:nvGrpSpPr>
          <p:cNvPr id="928" name="Google Shape;928;p53"/>
          <p:cNvGrpSpPr/>
          <p:nvPr/>
        </p:nvGrpSpPr>
        <p:grpSpPr>
          <a:xfrm>
            <a:off x="1181974" y="2344929"/>
            <a:ext cx="9828052" cy="3244211"/>
            <a:chOff x="914895" y="2242189"/>
            <a:chExt cx="9828052" cy="3244211"/>
          </a:xfrm>
        </p:grpSpPr>
        <p:sp>
          <p:nvSpPr>
            <p:cNvPr id="929" name="Google Shape;929;p53"/>
            <p:cNvSpPr/>
            <p:nvPr/>
          </p:nvSpPr>
          <p:spPr>
            <a:xfrm>
              <a:off x="914895" y="2242189"/>
              <a:ext cx="8547604" cy="3038727"/>
            </a:xfrm>
            <a:prstGeom prst="roundRect">
              <a:avLst>
                <a:gd name="adj" fmla="val 7297"/>
              </a:avLst>
            </a:prstGeom>
            <a:solidFill>
              <a:schemeClr val="lt1"/>
            </a:solidFill>
            <a:ln>
              <a:noFill/>
            </a:ln>
            <a:effectLst>
              <a:outerShdw blurRad="63500" sx="102000" sy="102000" algn="ctr"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930" name="Google Shape;930;p53"/>
            <p:cNvGrpSpPr/>
            <p:nvPr/>
          </p:nvGrpSpPr>
          <p:grpSpPr>
            <a:xfrm>
              <a:off x="1495333" y="2754288"/>
              <a:ext cx="9247614" cy="2732112"/>
              <a:chOff x="1775111" y="1900395"/>
              <a:chExt cx="1970137" cy="1415809"/>
            </a:xfrm>
          </p:grpSpPr>
          <p:sp>
            <p:nvSpPr>
              <p:cNvPr id="931" name="Google Shape;931;p53"/>
              <p:cNvSpPr/>
              <p:nvPr/>
            </p:nvSpPr>
            <p:spPr>
              <a:xfrm>
                <a:off x="1775111" y="1900395"/>
                <a:ext cx="1970137" cy="1415808"/>
              </a:xfrm>
              <a:prstGeom prst="roundRect">
                <a:avLst>
                  <a:gd name="adj" fmla="val 10788"/>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932" name="Google Shape;932;p53"/>
              <p:cNvSpPr/>
              <p:nvPr/>
            </p:nvSpPr>
            <p:spPr>
              <a:xfrm>
                <a:off x="2172472" y="1911139"/>
                <a:ext cx="1572775" cy="1405065"/>
              </a:xfrm>
              <a:custGeom>
                <a:avLst/>
                <a:gdLst/>
                <a:ahLst/>
                <a:cxnLst/>
                <a:rect l="l" t="t" r="r" b="b"/>
                <a:pathLst>
                  <a:path w="1572775" h="1405065" extrusionOk="0">
                    <a:moveTo>
                      <a:pt x="1473249" y="0"/>
                    </a:moveTo>
                    <a:cubicBezTo>
                      <a:pt x="1531558" y="20642"/>
                      <a:pt x="1572775" y="76505"/>
                      <a:pt x="1572775" y="141994"/>
                    </a:cubicBezTo>
                    <a:lnTo>
                      <a:pt x="1572775" y="1252328"/>
                    </a:lnTo>
                    <a:cubicBezTo>
                      <a:pt x="1572775" y="1336682"/>
                      <a:pt x="1504392" y="1405065"/>
                      <a:pt x="1420038" y="1405065"/>
                    </a:cubicBezTo>
                    <a:lnTo>
                      <a:pt x="0" y="1405065"/>
                    </a:lnTo>
                    <a:cubicBezTo>
                      <a:pt x="768941" y="1317621"/>
                      <a:pt x="1379064" y="735374"/>
                      <a:pt x="1473249"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933" name="Google Shape;933;p53"/>
            <p:cNvSpPr txBox="1"/>
            <p:nvPr/>
          </p:nvSpPr>
          <p:spPr>
            <a:xfrm>
              <a:off x="2958957" y="2352191"/>
              <a:ext cx="6298971"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800" b="1">
                  <a:solidFill>
                    <a:srgbClr val="595959"/>
                  </a:solidFill>
                  <a:latin typeface="Arial" panose="020B0604020202020204"/>
                  <a:ea typeface="Arial" panose="020B0604020202020204"/>
                  <a:cs typeface="Arial" panose="020B0604020202020204"/>
                  <a:sym typeface="Arial" panose="020B0604020202020204"/>
                </a:rPr>
                <a:t>Subprime Mortgage Crisis (2007-2008)</a:t>
              </a:r>
              <a:endParaRPr sz="1800" b="1">
                <a:solidFill>
                  <a:srgbClr val="595959"/>
                </a:solidFill>
                <a:latin typeface="Arial" panose="020B0604020202020204"/>
                <a:ea typeface="Arial" panose="020B0604020202020204"/>
                <a:cs typeface="Arial" panose="020B0604020202020204"/>
                <a:sym typeface="Arial" panose="020B0604020202020204"/>
              </a:endParaRPr>
            </a:p>
          </p:txBody>
        </p:sp>
        <p:sp>
          <p:nvSpPr>
            <p:cNvPr id="934" name="Google Shape;934;p53"/>
            <p:cNvSpPr txBox="1"/>
            <p:nvPr/>
          </p:nvSpPr>
          <p:spPr>
            <a:xfrm>
              <a:off x="1726184" y="3073623"/>
              <a:ext cx="8764515"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a:solidFill>
                    <a:schemeClr val="lt1"/>
                  </a:solidFill>
                  <a:latin typeface="Arial" panose="020B0604020202020204"/>
                  <a:ea typeface="Arial" panose="020B0604020202020204"/>
                  <a:cs typeface="Arial" panose="020B0604020202020204"/>
                  <a:sym typeface="Arial" panose="020B0604020202020204"/>
                </a:rPr>
                <a:t>The subprime mortgage crisis involved OTC derivatives tied to mortgage-backed securities. Complex financial products, such as collateralized debt obligations (CDOs) and credit default swaps (CDS), were central to this crisis. When the U.S. housing market collapsed, the interconnectedness of financial institutions through OTC transactions amplified the impact globally. Lehman Brothers' bankruptcy in 2008 highlighted the vulnerability of financial institutions heavily involved in OTC markets, leading to widespread economic downturns and regulatory reforms.</a:t>
              </a: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54"/>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REAL WORLD EXAMPLES</a:t>
            </a:r>
            <a:endParaRPr lang="en-GB" b="1"/>
          </a:p>
        </p:txBody>
      </p:sp>
      <p:grpSp>
        <p:nvGrpSpPr>
          <p:cNvPr id="941" name="Google Shape;941;p54"/>
          <p:cNvGrpSpPr/>
          <p:nvPr/>
        </p:nvGrpSpPr>
        <p:grpSpPr>
          <a:xfrm>
            <a:off x="247026" y="1202158"/>
            <a:ext cx="9828053" cy="2550798"/>
            <a:chOff x="914895" y="2242190"/>
            <a:chExt cx="9828053" cy="2550798"/>
          </a:xfrm>
        </p:grpSpPr>
        <p:sp>
          <p:nvSpPr>
            <p:cNvPr id="942" name="Google Shape;942;p54"/>
            <p:cNvSpPr/>
            <p:nvPr/>
          </p:nvSpPr>
          <p:spPr>
            <a:xfrm>
              <a:off x="914895" y="2242190"/>
              <a:ext cx="8547604" cy="2095846"/>
            </a:xfrm>
            <a:prstGeom prst="roundRect">
              <a:avLst>
                <a:gd name="adj" fmla="val 7297"/>
              </a:avLst>
            </a:prstGeom>
            <a:solidFill>
              <a:schemeClr val="lt1"/>
            </a:solidFill>
            <a:ln>
              <a:noFill/>
            </a:ln>
            <a:effectLst>
              <a:outerShdw blurRad="63500" sx="102000" sy="102000" algn="ctr"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943" name="Google Shape;943;p54"/>
            <p:cNvGrpSpPr/>
            <p:nvPr/>
          </p:nvGrpSpPr>
          <p:grpSpPr>
            <a:xfrm>
              <a:off x="1561006" y="2754287"/>
              <a:ext cx="9181942" cy="2038701"/>
              <a:chOff x="1789102" y="1900394"/>
              <a:chExt cx="1956146" cy="1056476"/>
            </a:xfrm>
          </p:grpSpPr>
          <p:sp>
            <p:nvSpPr>
              <p:cNvPr id="944" name="Google Shape;944;p54"/>
              <p:cNvSpPr/>
              <p:nvPr/>
            </p:nvSpPr>
            <p:spPr>
              <a:xfrm>
                <a:off x="1789102" y="1900394"/>
                <a:ext cx="1956146" cy="1056476"/>
              </a:xfrm>
              <a:prstGeom prst="roundRect">
                <a:avLst>
                  <a:gd name="adj" fmla="val 10788"/>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945" name="Google Shape;945;p54"/>
              <p:cNvSpPr/>
              <p:nvPr/>
            </p:nvSpPr>
            <p:spPr>
              <a:xfrm>
                <a:off x="2172472" y="1911140"/>
                <a:ext cx="1572775" cy="1004022"/>
              </a:xfrm>
              <a:custGeom>
                <a:avLst/>
                <a:gdLst/>
                <a:ahLst/>
                <a:cxnLst/>
                <a:rect l="l" t="t" r="r" b="b"/>
                <a:pathLst>
                  <a:path w="1572775" h="1405065" extrusionOk="0">
                    <a:moveTo>
                      <a:pt x="1473249" y="0"/>
                    </a:moveTo>
                    <a:cubicBezTo>
                      <a:pt x="1531558" y="20642"/>
                      <a:pt x="1572775" y="76505"/>
                      <a:pt x="1572775" y="141994"/>
                    </a:cubicBezTo>
                    <a:lnTo>
                      <a:pt x="1572775" y="1252328"/>
                    </a:lnTo>
                    <a:cubicBezTo>
                      <a:pt x="1572775" y="1336682"/>
                      <a:pt x="1504392" y="1405065"/>
                      <a:pt x="1420038" y="1405065"/>
                    </a:cubicBezTo>
                    <a:lnTo>
                      <a:pt x="0" y="1405065"/>
                    </a:lnTo>
                    <a:cubicBezTo>
                      <a:pt x="768941" y="1317621"/>
                      <a:pt x="1379064" y="735374"/>
                      <a:pt x="1473249" y="0"/>
                    </a:cubicBezTo>
                    <a:close/>
                  </a:path>
                </a:pathLst>
              </a:custGeom>
              <a:gradFill>
                <a:gsLst>
                  <a:gs pos="0">
                    <a:srgbClr val="46D1DA"/>
                  </a:gs>
                  <a:gs pos="94000">
                    <a:schemeClr val="accent4"/>
                  </a:gs>
                  <a:gs pos="100000">
                    <a:schemeClr val="accent4"/>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946" name="Google Shape;946;p54"/>
            <p:cNvSpPr txBox="1"/>
            <p:nvPr/>
          </p:nvSpPr>
          <p:spPr>
            <a:xfrm>
              <a:off x="2958957" y="2352191"/>
              <a:ext cx="6298971"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800" b="1">
                  <a:solidFill>
                    <a:srgbClr val="595959"/>
                  </a:solidFill>
                  <a:latin typeface="Arial" panose="020B0604020202020204"/>
                  <a:ea typeface="Arial" panose="020B0604020202020204"/>
                  <a:cs typeface="Arial" panose="020B0604020202020204"/>
                  <a:sym typeface="Arial" panose="020B0604020202020204"/>
                </a:rPr>
                <a:t>European Sovereign Debt Crisis (2010-2012)</a:t>
              </a:r>
              <a:endParaRPr sz="1800" b="1">
                <a:solidFill>
                  <a:srgbClr val="595959"/>
                </a:solidFill>
                <a:latin typeface="Arial" panose="020B0604020202020204"/>
                <a:ea typeface="Arial" panose="020B0604020202020204"/>
                <a:cs typeface="Arial" panose="020B0604020202020204"/>
                <a:sym typeface="Arial" panose="020B0604020202020204"/>
              </a:endParaRPr>
            </a:p>
          </p:txBody>
        </p:sp>
        <p:sp>
          <p:nvSpPr>
            <p:cNvPr id="947" name="Google Shape;947;p54"/>
            <p:cNvSpPr txBox="1"/>
            <p:nvPr/>
          </p:nvSpPr>
          <p:spPr>
            <a:xfrm>
              <a:off x="1726184" y="2941575"/>
              <a:ext cx="8764515"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lt1"/>
                  </a:solidFill>
                  <a:latin typeface="Arial" panose="020B0604020202020204"/>
                  <a:ea typeface="Arial" panose="020B0604020202020204"/>
                  <a:cs typeface="Arial" panose="020B0604020202020204"/>
                  <a:sym typeface="Arial" panose="020B0604020202020204"/>
                </a:rPr>
                <a:t>The crisis was </a:t>
              </a:r>
              <a:r>
                <a:rPr lang="en-GB" sz="1800" dirty="0" err="1">
                  <a:solidFill>
                    <a:schemeClr val="lt1"/>
                  </a:solidFill>
                  <a:latin typeface="Arial" panose="020B0604020202020204"/>
                  <a:ea typeface="Arial" panose="020B0604020202020204"/>
                  <a:cs typeface="Arial" panose="020B0604020202020204"/>
                  <a:sym typeface="Arial" panose="020B0604020202020204"/>
                </a:rPr>
                <a:t>fueled</a:t>
              </a:r>
              <a:r>
                <a:rPr lang="en-GB" sz="1800" dirty="0">
                  <a:solidFill>
                    <a:schemeClr val="lt1"/>
                  </a:solidFill>
                  <a:latin typeface="Arial" panose="020B0604020202020204"/>
                  <a:ea typeface="Arial" panose="020B0604020202020204"/>
                  <a:cs typeface="Arial" panose="020B0604020202020204"/>
                  <a:sym typeface="Arial" panose="020B0604020202020204"/>
                </a:rPr>
                <a:t> by concerns about the solvency of several European countries. OTC derivatives, particularly credit default swaps, were used to hedge exposure to sovereign debt. The interconnectedness of European banks through OTC transactions exacerbated the contagion effect. The crisis led to financial instability, bailouts, and increased regulatory scrutiny of sovereign debt-related OTC derivatives.</a:t>
              </a:r>
              <a:endParaRPr sz="1800" dirty="0">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948" name="Google Shape;948;p54"/>
          <p:cNvGrpSpPr/>
          <p:nvPr/>
        </p:nvGrpSpPr>
        <p:grpSpPr>
          <a:xfrm>
            <a:off x="2176855" y="3908588"/>
            <a:ext cx="9828052" cy="2470312"/>
            <a:chOff x="914895" y="2242190"/>
            <a:chExt cx="9828052" cy="2470312"/>
          </a:xfrm>
        </p:grpSpPr>
        <p:sp>
          <p:nvSpPr>
            <p:cNvPr id="949" name="Google Shape;949;p54"/>
            <p:cNvSpPr/>
            <p:nvPr/>
          </p:nvSpPr>
          <p:spPr>
            <a:xfrm>
              <a:off x="914895" y="2242190"/>
              <a:ext cx="8547604" cy="2095846"/>
            </a:xfrm>
            <a:prstGeom prst="roundRect">
              <a:avLst>
                <a:gd name="adj" fmla="val 7297"/>
              </a:avLst>
            </a:prstGeom>
            <a:solidFill>
              <a:schemeClr val="lt1"/>
            </a:solidFill>
            <a:ln>
              <a:noFill/>
            </a:ln>
            <a:effectLst>
              <a:outerShdw blurRad="63500" sx="102000" sy="102000" algn="ctr"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950" name="Google Shape;950;p54"/>
            <p:cNvGrpSpPr/>
            <p:nvPr/>
          </p:nvGrpSpPr>
          <p:grpSpPr>
            <a:xfrm>
              <a:off x="1495333" y="2754288"/>
              <a:ext cx="9247614" cy="1958214"/>
              <a:chOff x="1775111" y="1900395"/>
              <a:chExt cx="1970137" cy="1014767"/>
            </a:xfrm>
          </p:grpSpPr>
          <p:sp>
            <p:nvSpPr>
              <p:cNvPr id="951" name="Google Shape;951;p54"/>
              <p:cNvSpPr/>
              <p:nvPr/>
            </p:nvSpPr>
            <p:spPr>
              <a:xfrm>
                <a:off x="1775111" y="1900395"/>
                <a:ext cx="1970137" cy="1011699"/>
              </a:xfrm>
              <a:prstGeom prst="roundRect">
                <a:avLst>
                  <a:gd name="adj" fmla="val 10788"/>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952" name="Google Shape;952;p54"/>
              <p:cNvSpPr/>
              <p:nvPr/>
            </p:nvSpPr>
            <p:spPr>
              <a:xfrm>
                <a:off x="2172472" y="1911140"/>
                <a:ext cx="1572775" cy="1004022"/>
              </a:xfrm>
              <a:custGeom>
                <a:avLst/>
                <a:gdLst/>
                <a:ahLst/>
                <a:cxnLst/>
                <a:rect l="l" t="t" r="r" b="b"/>
                <a:pathLst>
                  <a:path w="1572775" h="1405065" extrusionOk="0">
                    <a:moveTo>
                      <a:pt x="1473249" y="0"/>
                    </a:moveTo>
                    <a:cubicBezTo>
                      <a:pt x="1531558" y="20642"/>
                      <a:pt x="1572775" y="76505"/>
                      <a:pt x="1572775" y="141994"/>
                    </a:cubicBezTo>
                    <a:lnTo>
                      <a:pt x="1572775" y="1252328"/>
                    </a:lnTo>
                    <a:cubicBezTo>
                      <a:pt x="1572775" y="1336682"/>
                      <a:pt x="1504392" y="1405065"/>
                      <a:pt x="1420038" y="1405065"/>
                    </a:cubicBezTo>
                    <a:lnTo>
                      <a:pt x="0" y="1405065"/>
                    </a:lnTo>
                    <a:cubicBezTo>
                      <a:pt x="768941" y="1317621"/>
                      <a:pt x="1379064" y="735374"/>
                      <a:pt x="1473249" y="0"/>
                    </a:cubicBezTo>
                    <a:close/>
                  </a:path>
                </a:pathLst>
              </a:custGeom>
              <a:gradFill>
                <a:gsLst>
                  <a:gs pos="0">
                    <a:srgbClr val="46D1DA"/>
                  </a:gs>
                  <a:gs pos="94000">
                    <a:schemeClr val="accent4"/>
                  </a:gs>
                  <a:gs pos="100000">
                    <a:schemeClr val="accent4"/>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953" name="Google Shape;953;p54"/>
            <p:cNvSpPr txBox="1"/>
            <p:nvPr/>
          </p:nvSpPr>
          <p:spPr>
            <a:xfrm>
              <a:off x="2958957" y="2352191"/>
              <a:ext cx="6298971"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800" b="1">
                  <a:solidFill>
                    <a:srgbClr val="595959"/>
                  </a:solidFill>
                  <a:latin typeface="Arial" panose="020B0604020202020204"/>
                  <a:ea typeface="Arial" panose="020B0604020202020204"/>
                  <a:cs typeface="Arial" panose="020B0604020202020204"/>
                  <a:sym typeface="Arial" panose="020B0604020202020204"/>
                </a:rPr>
                <a:t>Swiss Franc De-pegging (2015)</a:t>
              </a:r>
              <a:endParaRPr sz="1800" b="1">
                <a:solidFill>
                  <a:srgbClr val="595959"/>
                </a:solidFill>
                <a:latin typeface="Arial" panose="020B0604020202020204"/>
                <a:ea typeface="Arial" panose="020B0604020202020204"/>
                <a:cs typeface="Arial" panose="020B0604020202020204"/>
                <a:sym typeface="Arial" panose="020B0604020202020204"/>
              </a:endParaRPr>
            </a:p>
          </p:txBody>
        </p:sp>
        <p:sp>
          <p:nvSpPr>
            <p:cNvPr id="954" name="Google Shape;954;p54"/>
            <p:cNvSpPr txBox="1"/>
            <p:nvPr/>
          </p:nvSpPr>
          <p:spPr>
            <a:xfrm>
              <a:off x="1726184" y="2970709"/>
              <a:ext cx="8764515"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dirty="0">
                  <a:solidFill>
                    <a:schemeClr val="lt1"/>
                  </a:solidFill>
                  <a:latin typeface="Arial" panose="020B0604020202020204"/>
                  <a:ea typeface="Arial" panose="020B0604020202020204"/>
                  <a:cs typeface="Arial" panose="020B0604020202020204"/>
                  <a:sym typeface="Arial" panose="020B0604020202020204"/>
                </a:rPr>
                <a:t>The Swiss National Bank's unexpected decision to de-peg the Swiss Franc from the Euro in January 2015 had widespread implications for institutions holding OTC derivatives tied to currency values. The sudden move caused significant losses for some market participants, highlighting the risks associated with currency-related OTC transactions.</a:t>
              </a:r>
              <a:endParaRPr dirty="0"/>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55"/>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GB" b="1"/>
              <a:t>REAL WORLD EXAMPLES</a:t>
            </a:r>
            <a:endParaRPr lang="en-GB" b="1"/>
          </a:p>
        </p:txBody>
      </p:sp>
      <p:grpSp>
        <p:nvGrpSpPr>
          <p:cNvPr id="961" name="Google Shape;961;p55"/>
          <p:cNvGrpSpPr/>
          <p:nvPr/>
        </p:nvGrpSpPr>
        <p:grpSpPr>
          <a:xfrm>
            <a:off x="1181974" y="2344929"/>
            <a:ext cx="9828052" cy="3513760"/>
            <a:chOff x="914895" y="2242189"/>
            <a:chExt cx="9828052" cy="3513760"/>
          </a:xfrm>
        </p:grpSpPr>
        <p:sp>
          <p:nvSpPr>
            <p:cNvPr id="962" name="Google Shape;962;p55"/>
            <p:cNvSpPr/>
            <p:nvPr/>
          </p:nvSpPr>
          <p:spPr>
            <a:xfrm>
              <a:off x="914895" y="2242189"/>
              <a:ext cx="8547604" cy="3038727"/>
            </a:xfrm>
            <a:prstGeom prst="roundRect">
              <a:avLst>
                <a:gd name="adj" fmla="val 7297"/>
              </a:avLst>
            </a:prstGeom>
            <a:solidFill>
              <a:schemeClr val="lt1"/>
            </a:solidFill>
            <a:ln>
              <a:noFill/>
            </a:ln>
            <a:effectLst>
              <a:outerShdw blurRad="63500" sx="102000" sy="102000" algn="ctr" rotWithShape="0">
                <a:srgbClr val="000000">
                  <a:alpha val="1372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963" name="Google Shape;963;p55"/>
            <p:cNvGrpSpPr/>
            <p:nvPr/>
          </p:nvGrpSpPr>
          <p:grpSpPr>
            <a:xfrm>
              <a:off x="1495333" y="2754289"/>
              <a:ext cx="9247614" cy="3001660"/>
              <a:chOff x="1775111" y="1900396"/>
              <a:chExt cx="1970137" cy="1555492"/>
            </a:xfrm>
          </p:grpSpPr>
          <p:sp>
            <p:nvSpPr>
              <p:cNvPr id="964" name="Google Shape;964;p55"/>
              <p:cNvSpPr/>
              <p:nvPr/>
            </p:nvSpPr>
            <p:spPr>
              <a:xfrm>
                <a:off x="1775111" y="1900396"/>
                <a:ext cx="1970137" cy="1555492"/>
              </a:xfrm>
              <a:prstGeom prst="roundRect">
                <a:avLst>
                  <a:gd name="adj" fmla="val 10788"/>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sp>
            <p:nvSpPr>
              <p:cNvPr id="965" name="Google Shape;965;p55"/>
              <p:cNvSpPr/>
              <p:nvPr/>
            </p:nvSpPr>
            <p:spPr>
              <a:xfrm>
                <a:off x="2172472" y="1911139"/>
                <a:ext cx="1572775" cy="1405065"/>
              </a:xfrm>
              <a:custGeom>
                <a:avLst/>
                <a:gdLst/>
                <a:ahLst/>
                <a:cxnLst/>
                <a:rect l="l" t="t" r="r" b="b"/>
                <a:pathLst>
                  <a:path w="1572775" h="1405065" extrusionOk="0">
                    <a:moveTo>
                      <a:pt x="1473249" y="0"/>
                    </a:moveTo>
                    <a:cubicBezTo>
                      <a:pt x="1531558" y="20642"/>
                      <a:pt x="1572775" y="76505"/>
                      <a:pt x="1572775" y="141994"/>
                    </a:cubicBezTo>
                    <a:lnTo>
                      <a:pt x="1572775" y="1252328"/>
                    </a:lnTo>
                    <a:cubicBezTo>
                      <a:pt x="1572775" y="1336682"/>
                      <a:pt x="1504392" y="1405065"/>
                      <a:pt x="1420038" y="1405065"/>
                    </a:cubicBezTo>
                    <a:lnTo>
                      <a:pt x="0" y="1405065"/>
                    </a:lnTo>
                    <a:cubicBezTo>
                      <a:pt x="768941" y="1317621"/>
                      <a:pt x="1379064" y="735374"/>
                      <a:pt x="1473249"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966" name="Google Shape;966;p55"/>
            <p:cNvSpPr txBox="1"/>
            <p:nvPr/>
          </p:nvSpPr>
          <p:spPr>
            <a:xfrm>
              <a:off x="2958957" y="2352191"/>
              <a:ext cx="6298971"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800" b="1">
                  <a:solidFill>
                    <a:srgbClr val="595959"/>
                  </a:solidFill>
                  <a:latin typeface="Arial" panose="020B0604020202020204"/>
                  <a:ea typeface="Arial" panose="020B0604020202020204"/>
                  <a:cs typeface="Arial" panose="020B0604020202020204"/>
                  <a:sym typeface="Arial" panose="020B0604020202020204"/>
                </a:rPr>
                <a:t>Archegos Capital Management Collapse (2021):</a:t>
              </a:r>
              <a:endParaRPr sz="1800" b="1">
                <a:solidFill>
                  <a:srgbClr val="595959"/>
                </a:solidFill>
                <a:latin typeface="Arial" panose="020B0604020202020204"/>
                <a:ea typeface="Arial" panose="020B0604020202020204"/>
                <a:cs typeface="Arial" panose="020B0604020202020204"/>
                <a:sym typeface="Arial" panose="020B0604020202020204"/>
              </a:endParaRPr>
            </a:p>
          </p:txBody>
        </p:sp>
        <p:sp>
          <p:nvSpPr>
            <p:cNvPr id="967" name="Google Shape;967;p55"/>
            <p:cNvSpPr txBox="1"/>
            <p:nvPr/>
          </p:nvSpPr>
          <p:spPr>
            <a:xfrm>
              <a:off x="1726184" y="2869585"/>
              <a:ext cx="8764515" cy="28007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a:solidFill>
                    <a:schemeClr val="lt1"/>
                  </a:solidFill>
                  <a:latin typeface="Arial" panose="020B0604020202020204"/>
                  <a:ea typeface="Arial" panose="020B0604020202020204"/>
                  <a:cs typeface="Arial" panose="020B0604020202020204"/>
                  <a:sym typeface="Arial" panose="020B0604020202020204"/>
                </a:rPr>
                <a:t>Archegos Capital Management, a family office, faced margin calls related to its leveraged equity positions. The unwinding of Archegos' OTC derivatives transactions led to significant losses for major banks involved. This incident raised questions about risk management practices, transparency, and the potential systemic impact of large OTC derivative positions.</a:t>
              </a:r>
              <a:endParaRPr lang="en-GB" sz="1600">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sz="1600">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GB" sz="1600">
                  <a:solidFill>
                    <a:schemeClr val="lt1"/>
                  </a:solidFill>
                  <a:latin typeface="Arial" panose="020B0604020202020204"/>
                  <a:ea typeface="Arial" panose="020B0604020202020204"/>
                  <a:cs typeface="Arial" panose="020B0604020202020204"/>
                  <a:sym typeface="Arial" panose="020B0604020202020204"/>
                </a:rPr>
                <a:t>These examples underscore the importance of understanding and managing risks associated with OTC transactions, as well as the need for effective regulatory oversight. OTC markets provide flexibility and customization but also pose challenges related to transparency, counterparty risk, and systemic implications. As a result, regulatory reforms, such as those introduced after the 2008 financial crisis, aim to enhance transparency, reduce counterparty risk, and improve overall market stability.</a:t>
              </a:r>
              <a:endParaRPr sz="160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968" name="Google Shape;968;p55"/>
          <p:cNvSpPr/>
          <p:nvPr/>
        </p:nvSpPr>
        <p:spPr>
          <a:xfrm>
            <a:off x="0" y="1243173"/>
            <a:ext cx="12192000" cy="626724"/>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1800">
                <a:solidFill>
                  <a:schemeClr val="lt1"/>
                </a:solidFill>
                <a:latin typeface="Arial" panose="020B0604020202020204"/>
                <a:ea typeface="Arial" panose="020B0604020202020204"/>
                <a:cs typeface="Arial" panose="020B0604020202020204"/>
                <a:sym typeface="Arial" panose="020B0604020202020204"/>
              </a:rPr>
              <a:t>Several OTC transactions have had widespread implications, influencing financial markets, institutions, and regulatory landscapes. </a:t>
            </a:r>
            <a:endParaRPr sz="180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grpSp>
        <p:nvGrpSpPr>
          <p:cNvPr id="980" name="Google Shape;980;p57"/>
          <p:cNvGrpSpPr/>
          <p:nvPr/>
        </p:nvGrpSpPr>
        <p:grpSpPr>
          <a:xfrm>
            <a:off x="4820748" y="531121"/>
            <a:ext cx="7371252" cy="6326878"/>
            <a:chOff x="4820748" y="531121"/>
            <a:chExt cx="7371252" cy="6326878"/>
          </a:xfrm>
        </p:grpSpPr>
        <p:sp>
          <p:nvSpPr>
            <p:cNvPr id="981" name="Google Shape;981;p57"/>
            <p:cNvSpPr/>
            <p:nvPr/>
          </p:nvSpPr>
          <p:spPr>
            <a:xfrm>
              <a:off x="4820748" y="531121"/>
              <a:ext cx="7371252" cy="6326878"/>
            </a:xfrm>
            <a:custGeom>
              <a:avLst/>
              <a:gdLst/>
              <a:ahLst/>
              <a:cxnLst/>
              <a:rect l="l" t="t" r="r" b="b"/>
              <a:pathLst>
                <a:path w="7371252" h="6326878" extrusionOk="0">
                  <a:moveTo>
                    <a:pt x="4069070" y="0"/>
                  </a:moveTo>
                  <a:cubicBezTo>
                    <a:pt x="5403395" y="0"/>
                    <a:pt x="6587716" y="642250"/>
                    <a:pt x="7329760" y="1634481"/>
                  </a:cubicBezTo>
                  <a:lnTo>
                    <a:pt x="7371252" y="1692828"/>
                  </a:lnTo>
                  <a:lnTo>
                    <a:pt x="7371252" y="6326878"/>
                  </a:lnTo>
                  <a:lnTo>
                    <a:pt x="683876" y="6326878"/>
                  </a:lnTo>
                  <a:lnTo>
                    <a:pt x="589093" y="6179031"/>
                  </a:lnTo>
                  <a:cubicBezTo>
                    <a:pt x="215270" y="5563799"/>
                    <a:pt x="0" y="4841574"/>
                    <a:pt x="0" y="4069070"/>
                  </a:cubicBezTo>
                  <a:cubicBezTo>
                    <a:pt x="0" y="1821785"/>
                    <a:pt x="1821785" y="0"/>
                    <a:pt x="4069070" y="0"/>
                  </a:cubicBezTo>
                  <a:close/>
                </a:path>
              </a:pathLst>
            </a:custGeom>
            <a:solidFill>
              <a:srgbClr val="E0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982" name="Google Shape;982;p57"/>
            <p:cNvCxnSpPr/>
            <p:nvPr/>
          </p:nvCxnSpPr>
          <p:spPr>
            <a:xfrm>
              <a:off x="11883463" y="4050043"/>
              <a:ext cx="0" cy="1986517"/>
            </a:xfrm>
            <a:prstGeom prst="straightConnector1">
              <a:avLst/>
            </a:prstGeom>
            <a:noFill/>
            <a:ln w="9525" cap="flat" cmpd="sng">
              <a:solidFill>
                <a:srgbClr val="7F7F7F"/>
              </a:solidFill>
              <a:prstDash val="solid"/>
              <a:miter lim="800000"/>
              <a:headEnd type="none" w="sm" len="sm"/>
              <a:tailEnd type="none" w="sm" len="sm"/>
            </a:ln>
          </p:spPr>
        </p:cxnSp>
      </p:grpSp>
      <p:grpSp>
        <p:nvGrpSpPr>
          <p:cNvPr id="983" name="Google Shape;983;p57"/>
          <p:cNvGrpSpPr/>
          <p:nvPr/>
        </p:nvGrpSpPr>
        <p:grpSpPr>
          <a:xfrm>
            <a:off x="0" y="0"/>
            <a:ext cx="3264675" cy="3483123"/>
            <a:chOff x="0" y="0"/>
            <a:chExt cx="3264675" cy="3483123"/>
          </a:xfrm>
        </p:grpSpPr>
        <p:sp>
          <p:nvSpPr>
            <p:cNvPr id="984" name="Google Shape;984;p57"/>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blipFill rotWithShape="1">
              <a:blip r:embed="rId1"/>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85" name="Google Shape;985;p57"/>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986" name="Google Shape;986;p57"/>
          <p:cNvSpPr/>
          <p:nvPr/>
        </p:nvSpPr>
        <p:spPr>
          <a:xfrm>
            <a:off x="745108" y="855691"/>
            <a:ext cx="5471182" cy="547118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987" name="Google Shape;987;p57" descr="A person in a suit shaking hands with another person&#10;&#10;Description automatically generated"/>
          <p:cNvPicPr preferRelativeResize="0"/>
          <p:nvPr/>
        </p:nvPicPr>
        <p:blipFill rotWithShape="1">
          <a:blip r:embed="rId2"/>
          <a:srcRect l="17301" t="951" r="17301" b="950"/>
          <a:stretch>
            <a:fillRect/>
          </a:stretch>
        </p:blipFill>
        <p:spPr>
          <a:xfrm>
            <a:off x="665986" y="855691"/>
            <a:ext cx="5471182" cy="5471187"/>
          </a:xfrm>
          <a:custGeom>
            <a:avLst/>
            <a:gdLst/>
            <a:ahLst/>
            <a:cxnLst/>
            <a:rect l="l" t="t" r="r" b="b"/>
            <a:pathLst>
              <a:path w="5471182" h="5471188" extrusionOk="0">
                <a:moveTo>
                  <a:pt x="2735591" y="0"/>
                </a:moveTo>
                <a:cubicBezTo>
                  <a:pt x="4246416" y="0"/>
                  <a:pt x="5471182" y="1224767"/>
                  <a:pt x="5471182" y="2735594"/>
                </a:cubicBezTo>
                <a:cubicBezTo>
                  <a:pt x="5471182" y="4246421"/>
                  <a:pt x="4246416" y="5471188"/>
                  <a:pt x="2735591" y="5471188"/>
                </a:cubicBezTo>
                <a:cubicBezTo>
                  <a:pt x="1224766" y="5471188"/>
                  <a:pt x="0" y="4246421"/>
                  <a:pt x="0" y="2735594"/>
                </a:cubicBezTo>
                <a:cubicBezTo>
                  <a:pt x="0" y="1224767"/>
                  <a:pt x="1224766" y="0"/>
                  <a:pt x="2735591" y="0"/>
                </a:cubicBezTo>
                <a:close/>
              </a:path>
            </a:pathLst>
          </a:custGeom>
          <a:noFill/>
          <a:ln>
            <a:noFill/>
          </a:ln>
        </p:spPr>
      </p:pic>
      <p:sp>
        <p:nvSpPr>
          <p:cNvPr id="988" name="Google Shape;988;p57"/>
          <p:cNvSpPr/>
          <p:nvPr/>
        </p:nvSpPr>
        <p:spPr>
          <a:xfrm>
            <a:off x="853414" y="855691"/>
            <a:ext cx="5471183" cy="5471187"/>
          </a:xfrm>
          <a:prstGeom prst="ellipse">
            <a:avLst/>
          </a:pr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89" name="Google Shape;989;p57"/>
          <p:cNvSpPr txBox="1"/>
          <p:nvPr/>
        </p:nvSpPr>
        <p:spPr>
          <a:xfrm>
            <a:off x="6803154" y="3472867"/>
            <a:ext cx="488524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AC6D1"/>
              </a:buClr>
              <a:buSzPts val="4800"/>
              <a:buFont typeface="Arial" panose="020B0604020202020204"/>
              <a:buNone/>
            </a:pPr>
            <a:r>
              <a:rPr lang="en-GB" sz="4800" b="1" i="0" u="none" strike="noStrike" cap="none">
                <a:solidFill>
                  <a:srgbClr val="2AC6D1"/>
                </a:solidFill>
                <a:latin typeface="Arial" panose="020B0604020202020204"/>
                <a:ea typeface="Arial" panose="020B0604020202020204"/>
                <a:cs typeface="Arial" panose="020B0604020202020204"/>
                <a:sym typeface="Arial" panose="020B0604020202020204"/>
              </a:rPr>
              <a:t>THANK YOU !!!</a:t>
            </a:r>
            <a:endParaRPr sz="20600" b="1" i="0" u="none" strike="noStrike" cap="none">
              <a:solidFill>
                <a:srgbClr val="2AC6D1"/>
              </a:solidFill>
              <a:latin typeface="Arial" panose="020B0604020202020204"/>
              <a:ea typeface="Arial" panose="020B0604020202020204"/>
              <a:cs typeface="Arial" panose="020B0604020202020204"/>
              <a:sym typeface="Arial" panose="020B0604020202020204"/>
            </a:endParaRPr>
          </a:p>
        </p:txBody>
      </p:sp>
      <p:pic>
        <p:nvPicPr>
          <p:cNvPr id="990" name="Google Shape;990;p57" descr="Text&#10;&#10;Description automatically generated"/>
          <p:cNvPicPr preferRelativeResize="0"/>
          <p:nvPr/>
        </p:nvPicPr>
        <p:blipFill rotWithShape="1">
          <a:blip r:embed="rId3"/>
          <a:srcRect l="6879" t="8371" r="6879" b="8371"/>
          <a:stretch>
            <a:fillRect/>
          </a:stretch>
        </p:blipFill>
        <p:spPr>
          <a:xfrm>
            <a:off x="7828034" y="2437493"/>
            <a:ext cx="2835486" cy="830997"/>
          </a:xfrm>
          <a:prstGeom prst="rect">
            <a:avLst/>
          </a:prstGeom>
          <a:noFill/>
          <a:ln>
            <a:noFill/>
          </a:ln>
        </p:spPr>
      </p:pic>
      <p:sp>
        <p:nvSpPr>
          <p:cNvPr id="991" name="Google Shape;991;p57"/>
          <p:cNvSpPr txBox="1"/>
          <p:nvPr/>
        </p:nvSpPr>
        <p:spPr>
          <a:xfrm>
            <a:off x="8250561" y="5454644"/>
            <a:ext cx="2524781" cy="62457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GB" sz="1800" b="1">
                <a:solidFill>
                  <a:schemeClr val="dk2"/>
                </a:solidFill>
                <a:latin typeface="Arial" panose="020B0604020202020204"/>
                <a:ea typeface="Arial" panose="020B0604020202020204"/>
                <a:cs typeface="Arial" panose="020B0604020202020204"/>
                <a:sym typeface="Arial" panose="020B0604020202020204"/>
              </a:rPr>
              <a:t>Contact us today!</a:t>
            </a:r>
            <a:br>
              <a:rPr lang="en-GB" sz="1800" b="1">
                <a:solidFill>
                  <a:schemeClr val="dk2"/>
                </a:solidFill>
                <a:latin typeface="Arial" panose="020B0604020202020204"/>
                <a:ea typeface="Arial" panose="020B0604020202020204"/>
                <a:cs typeface="Arial" panose="020B0604020202020204"/>
                <a:sym typeface="Arial" panose="020B0604020202020204"/>
              </a:rPr>
            </a:br>
            <a:r>
              <a:rPr lang="en-GB" sz="1800" u="sng">
                <a:solidFill>
                  <a:schemeClr val="dk2"/>
                </a:solidFill>
                <a:latin typeface="Arial" panose="020B0604020202020204"/>
                <a:ea typeface="Arial" panose="020B0604020202020204"/>
                <a:cs typeface="Arial" panose="020B0604020202020204"/>
                <a:sym typeface="Arial" panose="020B0604020202020204"/>
                <a:hlinkClick r:id="rId4"/>
              </a:rPr>
              <a:t>https://imarticus.org/</a:t>
            </a:r>
            <a:r>
              <a:rPr lang="en-GB" sz="1800">
                <a:solidFill>
                  <a:schemeClr val="dk2"/>
                </a:solidFill>
                <a:latin typeface="Arial" panose="020B0604020202020204"/>
                <a:ea typeface="Arial" panose="020B0604020202020204"/>
                <a:cs typeface="Arial" panose="020B0604020202020204"/>
                <a:sym typeface="Arial" panose="020B0604020202020204"/>
              </a:rPr>
              <a:t> </a:t>
            </a:r>
            <a:endParaRPr sz="1800">
              <a:solidFill>
                <a:schemeClr val="dk2"/>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1_Office Theme">
  <a:themeElements>
    <a:clrScheme name="Imarticus_Elearning">
      <a:dk1>
        <a:srgbClr val="000000"/>
      </a:dk1>
      <a:lt1>
        <a:srgbClr val="FFFFFF"/>
      </a:lt1>
      <a:dk2>
        <a:srgbClr val="44546A"/>
      </a:dk2>
      <a:lt2>
        <a:srgbClr val="E7E6E6"/>
      </a:lt2>
      <a:accent1>
        <a:srgbClr val="E34855"/>
      </a:accent1>
      <a:accent2>
        <a:srgbClr val="F97700"/>
      </a:accent2>
      <a:accent3>
        <a:srgbClr val="4BC7A0"/>
      </a:accent3>
      <a:accent4>
        <a:srgbClr val="2AC6D1"/>
      </a:accent4>
      <a:accent5>
        <a:srgbClr val="5B9BD5"/>
      </a:accent5>
      <a:accent6>
        <a:srgbClr val="DD5148"/>
      </a:accent6>
      <a:hlink>
        <a:srgbClr val="333A45"/>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29449</Words>
  <Application>WPS Presentation</Application>
  <PresentationFormat>Widescreen</PresentationFormat>
  <Paragraphs>578</Paragraphs>
  <Slides>62</Slides>
  <Notes>58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62</vt:i4>
      </vt:variant>
    </vt:vector>
  </HeadingPairs>
  <TitlesOfParts>
    <vt:vector size="75" baseType="lpstr">
      <vt:lpstr>Arial</vt:lpstr>
      <vt:lpstr>SimSun</vt:lpstr>
      <vt:lpstr>Wingdings</vt:lpstr>
      <vt:lpstr>Arial</vt:lpstr>
      <vt:lpstr>Roboto</vt:lpstr>
      <vt:lpstr>Montserrat</vt:lpstr>
      <vt:lpstr>Trebuchet MS</vt:lpstr>
      <vt:lpstr>Calibri</vt:lpstr>
      <vt:lpstr>Courier New</vt:lpstr>
      <vt:lpstr>Microsoft YaHei</vt:lpstr>
      <vt:lpstr>Arial Unicode MS</vt:lpstr>
      <vt:lpstr>Arial Black</vt:lpstr>
      <vt:lpstr>1_Office Theme</vt:lpstr>
      <vt:lpstr>PowerPoint 演示文稿</vt:lpstr>
      <vt:lpstr>PowerPoint 演示文稿</vt:lpstr>
      <vt:lpstr>YOU ARE GOING TO LEARN…</vt:lpstr>
      <vt:lpstr>PowerPoint 演示文稿</vt:lpstr>
      <vt:lpstr>ISDA - INTERNATIONAL SWAP DERIVATIVES ASSOCIATION</vt:lpstr>
      <vt:lpstr>OBJECTIVE OF ISDA</vt:lpstr>
      <vt:lpstr>OBJECTIVE OF ISDA</vt:lpstr>
      <vt:lpstr>ISDA - INTERNATIONAL SWAP DERIVATIVES ASSOCIATION</vt:lpstr>
      <vt:lpstr>ISDA - INTERNATIONAL SWAP DERIVATIVES ASSOCIATION</vt:lpstr>
      <vt:lpstr>ISDA - INTERNATIONAL SWAP DERIVATIVES ASSOCIATION</vt:lpstr>
      <vt:lpstr>ISDA - IMA</vt:lpstr>
      <vt:lpstr>ISDA - IMA</vt:lpstr>
      <vt:lpstr>EVENTS - EVENTS OF DEFAULTS AND TERMINATION EVENTS</vt:lpstr>
      <vt:lpstr>EVENTS - EVENTS OF DEFAULTS AND TERMINATION EVENTS</vt:lpstr>
      <vt:lpstr>ISDA - SCHEDULE</vt:lpstr>
      <vt:lpstr>ISDA - CSA - CREDIT SUPPORT ANNEX</vt:lpstr>
      <vt:lpstr>ISDA - DEFINITIONS</vt:lpstr>
      <vt:lpstr>PowerPoint 演示文稿</vt:lpstr>
      <vt:lpstr>WHAT IS OTC MARKET?</vt:lpstr>
      <vt:lpstr>KEY CHARACTERISTICS OF THE OTC MARKET INCLUDE</vt:lpstr>
      <vt:lpstr>KEY CHARACTERISTICS OF THE OTC MARKET INCLUDE</vt:lpstr>
      <vt:lpstr>KEY CHARACTERISTICS OF THE OTC MARKET INCLUDE</vt:lpstr>
      <vt:lpstr>PowerPoint 演示文稿</vt:lpstr>
      <vt:lpstr>THE MAIN PLAYERS IN THE OTC MARKET</vt:lpstr>
      <vt:lpstr>THE MAIN PLAYERS IN THE OTC MARKET</vt:lpstr>
      <vt:lpstr>THE MAIN PLAYERS IN THE OTC MARKET</vt:lpstr>
      <vt:lpstr>THE MAIN PLAYERS IN THE OTC MARKET</vt:lpstr>
      <vt:lpstr>PowerPoint 演示文稿</vt:lpstr>
      <vt:lpstr>TRADE LIFE CYCLE</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TRADE VALIDATION</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LIFE CYCLE OF AN OTC DERIVATIVES TRADE</vt:lpstr>
      <vt:lpstr>OTC – CLEARING MODEL USED</vt:lpstr>
      <vt:lpstr>Typical OTC Cleared Derivatives Trade </vt:lpstr>
      <vt:lpstr>Settlement Instructions to the custodians</vt:lpstr>
      <vt:lpstr>Settlement Instructions to the custodians</vt:lpstr>
      <vt:lpstr>LIFE CYCLE OF AN OTC DERIVATIVES TRADE</vt:lpstr>
      <vt:lpstr>EXAMPLE OF OTC TLC WITH ISDA</vt:lpstr>
      <vt:lpstr>EXAMPLE OF OTC TLC WITH ISDA</vt:lpstr>
      <vt:lpstr>EXAMPLE OF OTC TLC WITH ISDA</vt:lpstr>
      <vt:lpstr>EXAMPLE OF OTC TLC WITH ISDA</vt:lpstr>
      <vt:lpstr>PowerPoint 演示文稿</vt:lpstr>
      <vt:lpstr>REAL WORLD EXAMPLES</vt:lpstr>
      <vt:lpstr>REAL WORLD EXAMPLES</vt:lpstr>
      <vt:lpstr>REAL WORLD EXAMPLES</vt:lpstr>
      <vt:lpstr>REAL WORLD EXAMPLES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Ravi Kumar</cp:lastModifiedBy>
  <cp:revision>8</cp:revision>
  <dcterms:created xsi:type="dcterms:W3CDTF">2020-10-05T04:35:00Z</dcterms:created>
  <dcterms:modified xsi:type="dcterms:W3CDTF">2026-03-20T05:19:30Z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71F4BC60C2F74D1FAB0720FAF6014817_12</vt:lpwstr>
  </property>
  <property fmtid="{D5CDD505-2E9C-101B-9397-08002B2CF9AE}" pid="3" name="KSOProductBuildVer">
    <vt:lpwstr>1033-12.2.0.23196</vt:lpwstr>
  </property>
</Properties>
</file>