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 id="2147483701" r:id="rId4"/>
  </p:sldMasterIdLst>
  <p:notesMasterIdLst>
    <p:notesMasterId r:id="rId9"/>
  </p:notesMasterIdLst>
  <p:sldIdLst>
    <p:sldId id="336" r:id="rId5"/>
    <p:sldId id="337" r:id="rId6"/>
    <p:sldId id="338" r:id="rId7"/>
    <p:sldId id="257" r:id="rId8"/>
    <p:sldId id="258" r:id="rId10"/>
    <p:sldId id="261" r:id="rId11"/>
    <p:sldId id="262" r:id="rId12"/>
    <p:sldId id="263" r:id="rId13"/>
    <p:sldId id="320" r:id="rId14"/>
    <p:sldId id="321" r:id="rId15"/>
    <p:sldId id="322" r:id="rId16"/>
    <p:sldId id="323" r:id="rId17"/>
    <p:sldId id="326" r:id="rId18"/>
    <p:sldId id="327" r:id="rId19"/>
    <p:sldId id="328" r:id="rId20"/>
    <p:sldId id="329" r:id="rId21"/>
    <p:sldId id="330" r:id="rId22"/>
    <p:sldId id="331" r:id="rId23"/>
    <p:sldId id="267" r:id="rId24"/>
    <p:sldId id="268" r:id="rId25"/>
    <p:sldId id="269" r:id="rId26"/>
    <p:sldId id="273" r:id="rId27"/>
    <p:sldId id="275" r:id="rId28"/>
    <p:sldId id="277" r:id="rId29"/>
    <p:sldId id="280" r:id="rId30"/>
    <p:sldId id="281" r:id="rId31"/>
    <p:sldId id="282" r:id="rId32"/>
    <p:sldId id="283" r:id="rId33"/>
    <p:sldId id="284" r:id="rId34"/>
    <p:sldId id="285" r:id="rId35"/>
    <p:sldId id="286" r:id="rId36"/>
    <p:sldId id="288" r:id="rId37"/>
    <p:sldId id="289" r:id="rId38"/>
    <p:sldId id="290" r:id="rId39"/>
    <p:sldId id="291" r:id="rId40"/>
    <p:sldId id="292" r:id="rId41"/>
    <p:sldId id="293" r:id="rId42"/>
    <p:sldId id="303" r:id="rId43"/>
    <p:sldId id="302" r:id="rId44"/>
    <p:sldId id="304" r:id="rId45"/>
    <p:sldId id="305" r:id="rId46"/>
    <p:sldId id="332" r:id="rId47"/>
    <p:sldId id="333" r:id="rId48"/>
    <p:sldId id="334" r:id="rId49"/>
    <p:sldId id="335" r:id="rId50"/>
    <p:sldId id="339"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B97E6FD-6F61-44B9-B82A-F69B0F2CC6FA}" type="doc">
      <dgm:prSet loTypeId="urn:microsoft.com/office/officeart/2005/8/layout/process3" loCatId="process" qsTypeId="urn:microsoft.com/office/officeart/2005/8/quickstyle/simple1" qsCatId="simple" csTypeId="urn:microsoft.com/office/officeart/2005/8/colors/colorful5" csCatId="colorful" phldr="1"/>
      <dgm:spPr/>
      <dgm:t>
        <a:bodyPr/>
        <a:lstStyle/>
        <a:p>
          <a:endParaRPr lang="en-IN"/>
        </a:p>
      </dgm:t>
    </dgm:pt>
    <dgm:pt modelId="{ECC00052-1F61-4F6F-A71C-E8D445CA0FF9}">
      <dgm:prSet phldrT="[Text]"/>
      <dgm:spPr/>
      <dgm:t>
        <a:bodyPr/>
        <a:lstStyle/>
        <a:p>
          <a:r>
            <a:rPr lang="en-US" dirty="0"/>
            <a:t>Borrowers</a:t>
          </a:r>
          <a:endParaRPr lang="en-IN" dirty="0"/>
        </a:p>
      </dgm:t>
    </dgm:pt>
    <dgm:pt modelId="{D045D947-EE9E-43AE-9540-F69BBA880597}" cxnId="{F72EB02A-63BF-464D-9B86-291F86CE99D7}" type="parTrans">
      <dgm:prSet/>
      <dgm:spPr/>
      <dgm:t>
        <a:bodyPr/>
        <a:lstStyle/>
        <a:p>
          <a:endParaRPr lang="en-IN"/>
        </a:p>
      </dgm:t>
    </dgm:pt>
    <dgm:pt modelId="{809CD984-80AA-45BC-8AB7-913058F2BEC1}" cxnId="{F72EB02A-63BF-464D-9B86-291F86CE99D7}" type="sibTrans">
      <dgm:prSet/>
      <dgm:spPr/>
      <dgm:t>
        <a:bodyPr/>
        <a:lstStyle/>
        <a:p>
          <a:endParaRPr lang="en-IN"/>
        </a:p>
      </dgm:t>
    </dgm:pt>
    <dgm:pt modelId="{62903AB6-B9A6-43F0-A30D-F75D6086687E}">
      <dgm:prSet phldrT="[Text]"/>
      <dgm:spPr/>
      <dgm:t>
        <a:bodyPr/>
        <a:lstStyle/>
        <a:p>
          <a:r>
            <a:rPr lang="en-US" dirty="0"/>
            <a:t>Business</a:t>
          </a:r>
          <a:endParaRPr lang="en-IN" dirty="0"/>
        </a:p>
      </dgm:t>
    </dgm:pt>
    <dgm:pt modelId="{15895D27-D4CE-499F-8979-21A33DF1175E}" cxnId="{65195C64-4A49-4449-BE89-D34D4B2128DB}" type="parTrans">
      <dgm:prSet/>
      <dgm:spPr/>
      <dgm:t>
        <a:bodyPr/>
        <a:lstStyle/>
        <a:p>
          <a:endParaRPr lang="en-IN"/>
        </a:p>
      </dgm:t>
    </dgm:pt>
    <dgm:pt modelId="{D6EB1092-2271-40F4-9F99-84390B26DE1F}" cxnId="{65195C64-4A49-4449-BE89-D34D4B2128DB}" type="sibTrans">
      <dgm:prSet/>
      <dgm:spPr/>
      <dgm:t>
        <a:bodyPr/>
        <a:lstStyle/>
        <a:p>
          <a:endParaRPr lang="en-IN"/>
        </a:p>
      </dgm:t>
    </dgm:pt>
    <dgm:pt modelId="{71748CB7-3951-4A76-85A7-6CA131C28AE9}">
      <dgm:prSet phldrT="[Text]"/>
      <dgm:spPr/>
      <dgm:t>
        <a:bodyPr/>
        <a:lstStyle/>
        <a:p>
          <a:r>
            <a:rPr lang="en-US" dirty="0"/>
            <a:t>Lenders</a:t>
          </a:r>
          <a:endParaRPr lang="en-IN" dirty="0"/>
        </a:p>
      </dgm:t>
    </dgm:pt>
    <dgm:pt modelId="{C6D864B1-21A1-493A-8900-9E27FC21709C}" cxnId="{45A08FF8-3404-4293-966D-EE75F59EA95E}" type="parTrans">
      <dgm:prSet/>
      <dgm:spPr/>
      <dgm:t>
        <a:bodyPr/>
        <a:lstStyle/>
        <a:p>
          <a:endParaRPr lang="en-IN"/>
        </a:p>
      </dgm:t>
    </dgm:pt>
    <dgm:pt modelId="{4584F40B-FE00-4BDB-816C-7D8A78B27BD5}" cxnId="{45A08FF8-3404-4293-966D-EE75F59EA95E}" type="sibTrans">
      <dgm:prSet/>
      <dgm:spPr/>
      <dgm:t>
        <a:bodyPr/>
        <a:lstStyle/>
        <a:p>
          <a:endParaRPr lang="en-IN"/>
        </a:p>
      </dgm:t>
    </dgm:pt>
    <dgm:pt modelId="{A9205BCE-4C58-4B56-B074-D1AA080F2698}">
      <dgm:prSet phldrT="[Text]"/>
      <dgm:spPr/>
      <dgm:t>
        <a:bodyPr/>
        <a:lstStyle/>
        <a:p>
          <a:r>
            <a:rPr lang="en-US" dirty="0"/>
            <a:t>Banks, NBFC, Credit Union</a:t>
          </a:r>
          <a:endParaRPr lang="en-IN" dirty="0"/>
        </a:p>
      </dgm:t>
    </dgm:pt>
    <dgm:pt modelId="{E756429A-0978-40CD-BD2F-F7AEF25156B9}" cxnId="{39B94CF4-223E-473E-BBA4-5530B5E25EB7}" type="parTrans">
      <dgm:prSet/>
      <dgm:spPr/>
      <dgm:t>
        <a:bodyPr/>
        <a:lstStyle/>
        <a:p>
          <a:endParaRPr lang="en-IN"/>
        </a:p>
      </dgm:t>
    </dgm:pt>
    <dgm:pt modelId="{5100CDE4-2CF3-41DA-BF29-357BE5D9F88D}" cxnId="{39B94CF4-223E-473E-BBA4-5530B5E25EB7}" type="sibTrans">
      <dgm:prSet/>
      <dgm:spPr/>
      <dgm:t>
        <a:bodyPr/>
        <a:lstStyle/>
        <a:p>
          <a:endParaRPr lang="en-IN"/>
        </a:p>
      </dgm:t>
    </dgm:pt>
    <dgm:pt modelId="{815B43A2-1A47-46C4-A829-9761D3F48FFD}">
      <dgm:prSet phldrT="[Text]"/>
      <dgm:spPr/>
      <dgm:t>
        <a:bodyPr/>
        <a:lstStyle/>
        <a:p>
          <a:r>
            <a:rPr lang="en-US" dirty="0"/>
            <a:t>Security</a:t>
          </a:r>
          <a:endParaRPr lang="en-IN" dirty="0"/>
        </a:p>
      </dgm:t>
    </dgm:pt>
    <dgm:pt modelId="{6A60AF88-4993-4205-8BFC-7022BF3FBB87}" cxnId="{67B2F043-D115-4281-B632-39E9427FCDA4}" type="parTrans">
      <dgm:prSet/>
      <dgm:spPr/>
      <dgm:t>
        <a:bodyPr/>
        <a:lstStyle/>
        <a:p>
          <a:endParaRPr lang="en-IN"/>
        </a:p>
      </dgm:t>
    </dgm:pt>
    <dgm:pt modelId="{DB07F1F8-1185-4349-B837-9B0EAAF68B02}" cxnId="{67B2F043-D115-4281-B632-39E9427FCDA4}" type="sibTrans">
      <dgm:prSet/>
      <dgm:spPr/>
      <dgm:t>
        <a:bodyPr/>
        <a:lstStyle/>
        <a:p>
          <a:endParaRPr lang="en-IN"/>
        </a:p>
      </dgm:t>
    </dgm:pt>
    <dgm:pt modelId="{A795F705-8D1E-43F0-AC16-24E47DFF7859}">
      <dgm:prSet phldrT="[Text]"/>
      <dgm:spPr/>
      <dgm:t>
        <a:bodyPr/>
        <a:lstStyle/>
        <a:p>
          <a:r>
            <a:rPr lang="en-US" dirty="0"/>
            <a:t>Secured or unsecured</a:t>
          </a:r>
          <a:endParaRPr lang="en-IN" dirty="0"/>
        </a:p>
      </dgm:t>
    </dgm:pt>
    <dgm:pt modelId="{1B803FAD-0C5B-4504-86D8-5D37A2AA651B}" cxnId="{CDC5D5F4-4C0A-4C66-B002-0012FBAC49C6}" type="parTrans">
      <dgm:prSet/>
      <dgm:spPr/>
      <dgm:t>
        <a:bodyPr/>
        <a:lstStyle/>
        <a:p>
          <a:endParaRPr lang="en-IN"/>
        </a:p>
      </dgm:t>
    </dgm:pt>
    <dgm:pt modelId="{08A1BCBF-C923-4469-AF45-67DBFE9C9CDD}" cxnId="{CDC5D5F4-4C0A-4C66-B002-0012FBAC49C6}" type="sibTrans">
      <dgm:prSet/>
      <dgm:spPr/>
      <dgm:t>
        <a:bodyPr/>
        <a:lstStyle/>
        <a:p>
          <a:endParaRPr lang="en-IN"/>
        </a:p>
      </dgm:t>
    </dgm:pt>
    <dgm:pt modelId="{0E6D59DC-EBAE-4925-8850-518301997053}">
      <dgm:prSet/>
      <dgm:spPr/>
      <dgm:t>
        <a:bodyPr/>
        <a:lstStyle/>
        <a:p>
          <a:r>
            <a:rPr lang="en-US" dirty="0"/>
            <a:t>Term</a:t>
          </a:r>
          <a:endParaRPr lang="en-IN" dirty="0"/>
        </a:p>
      </dgm:t>
    </dgm:pt>
    <dgm:pt modelId="{CAD0856C-4101-4FAF-9E30-E134E1A4C3C7}" cxnId="{BD753E13-4FF7-47BB-AF35-6B8FE8A76B4B}" type="parTrans">
      <dgm:prSet/>
      <dgm:spPr/>
      <dgm:t>
        <a:bodyPr/>
        <a:lstStyle/>
        <a:p>
          <a:endParaRPr lang="en-IN"/>
        </a:p>
      </dgm:t>
    </dgm:pt>
    <dgm:pt modelId="{A06551D3-AB59-4F7C-B2EB-038C5206B984}" cxnId="{BD753E13-4FF7-47BB-AF35-6B8FE8A76B4B}" type="sibTrans">
      <dgm:prSet/>
      <dgm:spPr/>
      <dgm:t>
        <a:bodyPr/>
        <a:lstStyle/>
        <a:p>
          <a:endParaRPr lang="en-IN"/>
        </a:p>
      </dgm:t>
    </dgm:pt>
    <dgm:pt modelId="{E990DE6D-D896-4CB5-80CD-B902F33DBE8A}">
      <dgm:prSet/>
      <dgm:spPr/>
      <dgm:t>
        <a:bodyPr/>
        <a:lstStyle/>
        <a:p>
          <a:r>
            <a:rPr lang="en-US" dirty="0"/>
            <a:t>Interest Rate </a:t>
          </a:r>
          <a:endParaRPr lang="en-IN" dirty="0"/>
        </a:p>
      </dgm:t>
    </dgm:pt>
    <dgm:pt modelId="{0201A835-31D4-476F-9041-22A363C3CA47}" cxnId="{CFFF982C-89B9-4DB0-9AB3-9A22F0A91D98}" type="parTrans">
      <dgm:prSet/>
      <dgm:spPr/>
      <dgm:t>
        <a:bodyPr/>
        <a:lstStyle/>
        <a:p>
          <a:endParaRPr lang="en-IN"/>
        </a:p>
      </dgm:t>
    </dgm:pt>
    <dgm:pt modelId="{CBBD5115-25EF-4845-A6FA-13FF6950A129}" cxnId="{CFFF982C-89B9-4DB0-9AB3-9A22F0A91D98}" type="sibTrans">
      <dgm:prSet/>
      <dgm:spPr/>
      <dgm:t>
        <a:bodyPr/>
        <a:lstStyle/>
        <a:p>
          <a:endParaRPr lang="en-IN"/>
        </a:p>
      </dgm:t>
    </dgm:pt>
    <dgm:pt modelId="{21CF52F0-269D-4612-9526-8784C3F01ED0}">
      <dgm:prSet/>
      <dgm:spPr/>
      <dgm:t>
        <a:bodyPr/>
        <a:lstStyle/>
        <a:p>
          <a:r>
            <a:rPr lang="en-US" dirty="0"/>
            <a:t>Repayment</a:t>
          </a:r>
          <a:endParaRPr lang="en-IN" dirty="0"/>
        </a:p>
      </dgm:t>
    </dgm:pt>
    <dgm:pt modelId="{AC8D0F97-6A9C-4101-B120-D55D2ADD7906}" cxnId="{14229CF8-0CD1-40FA-AAA2-C72AB5BC1C6B}" type="parTrans">
      <dgm:prSet/>
      <dgm:spPr/>
      <dgm:t>
        <a:bodyPr/>
        <a:lstStyle/>
        <a:p>
          <a:endParaRPr lang="en-IN"/>
        </a:p>
      </dgm:t>
    </dgm:pt>
    <dgm:pt modelId="{369A9EA4-8B9D-44A8-A419-7A68B89AA10C}" cxnId="{14229CF8-0CD1-40FA-AAA2-C72AB5BC1C6B}" type="sibTrans">
      <dgm:prSet/>
      <dgm:spPr/>
      <dgm:t>
        <a:bodyPr/>
        <a:lstStyle/>
        <a:p>
          <a:endParaRPr lang="en-IN"/>
        </a:p>
      </dgm:t>
    </dgm:pt>
    <dgm:pt modelId="{602FACFB-9EAA-4F58-B1AB-AE62E0F6BD0E}">
      <dgm:prSet/>
      <dgm:spPr/>
      <dgm:t>
        <a:bodyPr/>
        <a:lstStyle/>
        <a:p>
          <a:r>
            <a:rPr lang="en-US" dirty="0"/>
            <a:t>Regular Installment </a:t>
          </a:r>
          <a:endParaRPr lang="en-IN" dirty="0"/>
        </a:p>
      </dgm:t>
    </dgm:pt>
    <dgm:pt modelId="{2B2203C3-B306-4404-BA7F-1B2315175140}" cxnId="{96B0577C-FFD6-4F6F-A8B7-652C4DDF1A31}" type="parTrans">
      <dgm:prSet/>
      <dgm:spPr/>
      <dgm:t>
        <a:bodyPr/>
        <a:lstStyle/>
        <a:p>
          <a:endParaRPr lang="en-IN"/>
        </a:p>
      </dgm:t>
    </dgm:pt>
    <dgm:pt modelId="{839B620B-2F86-4BFF-914C-FA6EDDF78C7E}" cxnId="{96B0577C-FFD6-4F6F-A8B7-652C4DDF1A31}" type="sibTrans">
      <dgm:prSet/>
      <dgm:spPr/>
      <dgm:t>
        <a:bodyPr/>
        <a:lstStyle/>
        <a:p>
          <a:endParaRPr lang="en-IN"/>
        </a:p>
      </dgm:t>
    </dgm:pt>
    <dgm:pt modelId="{424AF488-3942-461C-8F28-E673A1352B4E}">
      <dgm:prSet/>
      <dgm:spPr/>
      <dgm:t>
        <a:bodyPr/>
        <a:lstStyle/>
        <a:p>
          <a:r>
            <a:rPr lang="en-US" dirty="0"/>
            <a:t>Fixed or Floating</a:t>
          </a:r>
          <a:endParaRPr lang="en-IN" dirty="0"/>
        </a:p>
      </dgm:t>
    </dgm:pt>
    <dgm:pt modelId="{F79EDE2B-9D1A-40E2-A9B5-9D9267BB48CD}" cxnId="{3CEB7888-E0B4-4832-A47C-21B9B2D2CCEE}" type="parTrans">
      <dgm:prSet/>
      <dgm:spPr/>
      <dgm:t>
        <a:bodyPr/>
        <a:lstStyle/>
        <a:p>
          <a:endParaRPr lang="en-IN"/>
        </a:p>
      </dgm:t>
    </dgm:pt>
    <dgm:pt modelId="{0BEE9FFE-4573-43B1-8A5B-3CF409ACA606}" cxnId="{3CEB7888-E0B4-4832-A47C-21B9B2D2CCEE}" type="sibTrans">
      <dgm:prSet/>
      <dgm:spPr/>
      <dgm:t>
        <a:bodyPr/>
        <a:lstStyle/>
        <a:p>
          <a:endParaRPr lang="en-IN"/>
        </a:p>
      </dgm:t>
    </dgm:pt>
    <dgm:pt modelId="{2D10EF72-BE03-44BF-9B6B-085E951F2278}">
      <dgm:prSet/>
      <dgm:spPr/>
      <dgm:t>
        <a:bodyPr/>
        <a:lstStyle/>
        <a:p>
          <a:r>
            <a:rPr lang="en-US" dirty="0"/>
            <a:t>Short term to Long term </a:t>
          </a:r>
          <a:endParaRPr lang="en-IN" dirty="0"/>
        </a:p>
      </dgm:t>
    </dgm:pt>
    <dgm:pt modelId="{1FC2AD9E-BF0A-43C8-BBA2-DD6064864985}" cxnId="{A047DE1A-8DCF-4B67-9222-6498DF8D2580}" type="parTrans">
      <dgm:prSet/>
      <dgm:spPr/>
      <dgm:t>
        <a:bodyPr/>
        <a:lstStyle/>
        <a:p>
          <a:endParaRPr lang="en-IN"/>
        </a:p>
      </dgm:t>
    </dgm:pt>
    <dgm:pt modelId="{EC2066FD-72AF-4906-A070-2566527AC03F}" cxnId="{A047DE1A-8DCF-4B67-9222-6498DF8D2580}" type="sibTrans">
      <dgm:prSet/>
      <dgm:spPr/>
      <dgm:t>
        <a:bodyPr/>
        <a:lstStyle/>
        <a:p>
          <a:endParaRPr lang="en-IN"/>
        </a:p>
      </dgm:t>
    </dgm:pt>
    <dgm:pt modelId="{90B42172-A0FA-49D5-B325-62494AC5F315}" type="pres">
      <dgm:prSet presAssocID="{2B97E6FD-6F61-44B9-B82A-F69B0F2CC6FA}" presName="linearFlow" presStyleCnt="0">
        <dgm:presLayoutVars>
          <dgm:dir/>
          <dgm:animLvl val="lvl"/>
          <dgm:resizeHandles val="exact"/>
        </dgm:presLayoutVars>
      </dgm:prSet>
      <dgm:spPr/>
    </dgm:pt>
    <dgm:pt modelId="{57832486-1B4B-4064-8471-BEAB85BF98D3}" type="pres">
      <dgm:prSet presAssocID="{ECC00052-1F61-4F6F-A71C-E8D445CA0FF9}" presName="composite" presStyleCnt="0"/>
      <dgm:spPr/>
    </dgm:pt>
    <dgm:pt modelId="{79DDAE2E-EFD9-4B55-BBF2-E4CBFAD6D5E1}" type="pres">
      <dgm:prSet presAssocID="{ECC00052-1F61-4F6F-A71C-E8D445CA0FF9}" presName="parTx" presStyleLbl="node1" presStyleIdx="0" presStyleCnt="6">
        <dgm:presLayoutVars>
          <dgm:chMax val="0"/>
          <dgm:chPref val="0"/>
          <dgm:bulletEnabled val="1"/>
        </dgm:presLayoutVars>
      </dgm:prSet>
      <dgm:spPr/>
    </dgm:pt>
    <dgm:pt modelId="{EEBC0BD2-44F2-40DE-AF66-E33CD58C693E}" type="pres">
      <dgm:prSet presAssocID="{ECC00052-1F61-4F6F-A71C-E8D445CA0FF9}" presName="parSh" presStyleLbl="node1" presStyleIdx="0" presStyleCnt="6"/>
      <dgm:spPr/>
    </dgm:pt>
    <dgm:pt modelId="{99B24C72-BDEF-4742-B7DA-5362F3A63321}" type="pres">
      <dgm:prSet presAssocID="{ECC00052-1F61-4F6F-A71C-E8D445CA0FF9}" presName="desTx" presStyleLbl="fgAcc1" presStyleIdx="0" presStyleCnt="6">
        <dgm:presLayoutVars>
          <dgm:bulletEnabled val="1"/>
        </dgm:presLayoutVars>
      </dgm:prSet>
      <dgm:spPr/>
    </dgm:pt>
    <dgm:pt modelId="{5C838FB9-5477-49BA-89D9-E362ABD99034}" type="pres">
      <dgm:prSet presAssocID="{809CD984-80AA-45BC-8AB7-913058F2BEC1}" presName="sibTrans" presStyleLbl="sibTrans2D1" presStyleIdx="0" presStyleCnt="5"/>
      <dgm:spPr/>
    </dgm:pt>
    <dgm:pt modelId="{54C975DE-DC59-456C-BB1F-3237D6BB3A1D}" type="pres">
      <dgm:prSet presAssocID="{809CD984-80AA-45BC-8AB7-913058F2BEC1}" presName="connTx" presStyleLbl="sibTrans2D1" presStyleIdx="0" presStyleCnt="5"/>
      <dgm:spPr/>
    </dgm:pt>
    <dgm:pt modelId="{238C3624-86AF-4037-82B8-84D64714DAEB}" type="pres">
      <dgm:prSet presAssocID="{71748CB7-3951-4A76-85A7-6CA131C28AE9}" presName="composite" presStyleCnt="0"/>
      <dgm:spPr/>
    </dgm:pt>
    <dgm:pt modelId="{6FA477C1-CA8A-4E90-9EF0-C2EE7D9F12A9}" type="pres">
      <dgm:prSet presAssocID="{71748CB7-3951-4A76-85A7-6CA131C28AE9}" presName="parTx" presStyleLbl="node1" presStyleIdx="0" presStyleCnt="6">
        <dgm:presLayoutVars>
          <dgm:chMax val="0"/>
          <dgm:chPref val="0"/>
          <dgm:bulletEnabled val="1"/>
        </dgm:presLayoutVars>
      </dgm:prSet>
      <dgm:spPr/>
    </dgm:pt>
    <dgm:pt modelId="{BAE019AB-5968-42C8-9DB8-1E6712390455}" type="pres">
      <dgm:prSet presAssocID="{71748CB7-3951-4A76-85A7-6CA131C28AE9}" presName="parSh" presStyleLbl="node1" presStyleIdx="1" presStyleCnt="6"/>
      <dgm:spPr/>
    </dgm:pt>
    <dgm:pt modelId="{04F44D94-7E6D-4B5A-89B7-17FC300FED36}" type="pres">
      <dgm:prSet presAssocID="{71748CB7-3951-4A76-85A7-6CA131C28AE9}" presName="desTx" presStyleLbl="fgAcc1" presStyleIdx="1" presStyleCnt="6">
        <dgm:presLayoutVars>
          <dgm:bulletEnabled val="1"/>
        </dgm:presLayoutVars>
      </dgm:prSet>
      <dgm:spPr/>
    </dgm:pt>
    <dgm:pt modelId="{2AE1F182-EC44-44A0-B5C3-45C9B8511A1B}" type="pres">
      <dgm:prSet presAssocID="{4584F40B-FE00-4BDB-816C-7D8A78B27BD5}" presName="sibTrans" presStyleLbl="sibTrans2D1" presStyleIdx="1" presStyleCnt="5"/>
      <dgm:spPr/>
    </dgm:pt>
    <dgm:pt modelId="{5F485F6F-9F2C-4428-866F-B0BF05480843}" type="pres">
      <dgm:prSet presAssocID="{4584F40B-FE00-4BDB-816C-7D8A78B27BD5}" presName="connTx" presStyleLbl="sibTrans2D1" presStyleIdx="1" presStyleCnt="5"/>
      <dgm:spPr/>
    </dgm:pt>
    <dgm:pt modelId="{CB234221-53C6-4259-9DE1-112ECE3D9C11}" type="pres">
      <dgm:prSet presAssocID="{815B43A2-1A47-46C4-A829-9761D3F48FFD}" presName="composite" presStyleCnt="0"/>
      <dgm:spPr/>
    </dgm:pt>
    <dgm:pt modelId="{2154BAFF-41CB-4D03-986B-5812331A2C53}" type="pres">
      <dgm:prSet presAssocID="{815B43A2-1A47-46C4-A829-9761D3F48FFD}" presName="parTx" presStyleLbl="node1" presStyleIdx="1" presStyleCnt="6">
        <dgm:presLayoutVars>
          <dgm:chMax val="0"/>
          <dgm:chPref val="0"/>
          <dgm:bulletEnabled val="1"/>
        </dgm:presLayoutVars>
      </dgm:prSet>
      <dgm:spPr/>
    </dgm:pt>
    <dgm:pt modelId="{0253F67E-9B4E-44DF-972F-618E46DC8313}" type="pres">
      <dgm:prSet presAssocID="{815B43A2-1A47-46C4-A829-9761D3F48FFD}" presName="parSh" presStyleLbl="node1" presStyleIdx="2" presStyleCnt="6"/>
      <dgm:spPr/>
    </dgm:pt>
    <dgm:pt modelId="{3BA661B0-59FE-4FE2-993A-8F5772D1D0E6}" type="pres">
      <dgm:prSet presAssocID="{815B43A2-1A47-46C4-A829-9761D3F48FFD}" presName="desTx" presStyleLbl="fgAcc1" presStyleIdx="2" presStyleCnt="6">
        <dgm:presLayoutVars>
          <dgm:bulletEnabled val="1"/>
        </dgm:presLayoutVars>
      </dgm:prSet>
      <dgm:spPr/>
    </dgm:pt>
    <dgm:pt modelId="{91C2CD02-08F9-4824-B7CC-6BD733DFC8DD}" type="pres">
      <dgm:prSet presAssocID="{DB07F1F8-1185-4349-B837-9B0EAAF68B02}" presName="sibTrans" presStyleLbl="sibTrans2D1" presStyleIdx="2" presStyleCnt="5"/>
      <dgm:spPr/>
    </dgm:pt>
    <dgm:pt modelId="{B66E9164-52FC-4351-BCB5-39FB37C2D87F}" type="pres">
      <dgm:prSet presAssocID="{DB07F1F8-1185-4349-B837-9B0EAAF68B02}" presName="connTx" presStyleLbl="sibTrans2D1" presStyleIdx="2" presStyleCnt="5"/>
      <dgm:spPr/>
    </dgm:pt>
    <dgm:pt modelId="{9639AF74-CEB5-4450-B236-CAD3E49B0F6B}" type="pres">
      <dgm:prSet presAssocID="{0E6D59DC-EBAE-4925-8850-518301997053}" presName="composite" presStyleCnt="0"/>
      <dgm:spPr/>
    </dgm:pt>
    <dgm:pt modelId="{0802ADE9-1292-48D3-9DA5-B29DE4C0598A}" type="pres">
      <dgm:prSet presAssocID="{0E6D59DC-EBAE-4925-8850-518301997053}" presName="parTx" presStyleLbl="node1" presStyleIdx="2" presStyleCnt="6">
        <dgm:presLayoutVars>
          <dgm:chMax val="0"/>
          <dgm:chPref val="0"/>
          <dgm:bulletEnabled val="1"/>
        </dgm:presLayoutVars>
      </dgm:prSet>
      <dgm:spPr/>
    </dgm:pt>
    <dgm:pt modelId="{26C0CD0E-2DF2-4FC6-ACAD-71128E2E5502}" type="pres">
      <dgm:prSet presAssocID="{0E6D59DC-EBAE-4925-8850-518301997053}" presName="parSh" presStyleLbl="node1" presStyleIdx="3" presStyleCnt="6"/>
      <dgm:spPr/>
    </dgm:pt>
    <dgm:pt modelId="{3A401570-B4F0-422A-B24E-492B5047B1E2}" type="pres">
      <dgm:prSet presAssocID="{0E6D59DC-EBAE-4925-8850-518301997053}" presName="desTx" presStyleLbl="fgAcc1" presStyleIdx="3" presStyleCnt="6">
        <dgm:presLayoutVars>
          <dgm:bulletEnabled val="1"/>
        </dgm:presLayoutVars>
      </dgm:prSet>
      <dgm:spPr/>
    </dgm:pt>
    <dgm:pt modelId="{789E2AD5-66C0-4F05-BFFA-A28529F5D832}" type="pres">
      <dgm:prSet presAssocID="{A06551D3-AB59-4F7C-B2EB-038C5206B984}" presName="sibTrans" presStyleLbl="sibTrans2D1" presStyleIdx="3" presStyleCnt="5"/>
      <dgm:spPr/>
    </dgm:pt>
    <dgm:pt modelId="{FD322C8C-A607-4797-B90F-31AADC0AA0BC}" type="pres">
      <dgm:prSet presAssocID="{A06551D3-AB59-4F7C-B2EB-038C5206B984}" presName="connTx" presStyleLbl="sibTrans2D1" presStyleIdx="3" presStyleCnt="5"/>
      <dgm:spPr/>
    </dgm:pt>
    <dgm:pt modelId="{A7626898-2294-44D2-9E3F-E3F4110CDBE6}" type="pres">
      <dgm:prSet presAssocID="{E990DE6D-D896-4CB5-80CD-B902F33DBE8A}" presName="composite" presStyleCnt="0"/>
      <dgm:spPr/>
    </dgm:pt>
    <dgm:pt modelId="{382E48C1-9113-40FE-B2D7-60B383126D22}" type="pres">
      <dgm:prSet presAssocID="{E990DE6D-D896-4CB5-80CD-B902F33DBE8A}" presName="parTx" presStyleLbl="node1" presStyleIdx="3" presStyleCnt="6">
        <dgm:presLayoutVars>
          <dgm:chMax val="0"/>
          <dgm:chPref val="0"/>
          <dgm:bulletEnabled val="1"/>
        </dgm:presLayoutVars>
      </dgm:prSet>
      <dgm:spPr/>
    </dgm:pt>
    <dgm:pt modelId="{B475A7D1-BBD1-4D59-9D64-4260D6BAEBBF}" type="pres">
      <dgm:prSet presAssocID="{E990DE6D-D896-4CB5-80CD-B902F33DBE8A}" presName="parSh" presStyleLbl="node1" presStyleIdx="4" presStyleCnt="6"/>
      <dgm:spPr/>
    </dgm:pt>
    <dgm:pt modelId="{084A872C-545E-41D3-ACB1-B50A34938E40}" type="pres">
      <dgm:prSet presAssocID="{E990DE6D-D896-4CB5-80CD-B902F33DBE8A}" presName="desTx" presStyleLbl="fgAcc1" presStyleIdx="4" presStyleCnt="6">
        <dgm:presLayoutVars>
          <dgm:bulletEnabled val="1"/>
        </dgm:presLayoutVars>
      </dgm:prSet>
      <dgm:spPr/>
    </dgm:pt>
    <dgm:pt modelId="{40CE94D9-58D9-449E-AEC7-F8B79174EE16}" type="pres">
      <dgm:prSet presAssocID="{CBBD5115-25EF-4845-A6FA-13FF6950A129}" presName="sibTrans" presStyleLbl="sibTrans2D1" presStyleIdx="4" presStyleCnt="5"/>
      <dgm:spPr/>
    </dgm:pt>
    <dgm:pt modelId="{A2B629EA-8F6C-48D6-BCA5-BC7C2BA80F8B}" type="pres">
      <dgm:prSet presAssocID="{CBBD5115-25EF-4845-A6FA-13FF6950A129}" presName="connTx" presStyleLbl="sibTrans2D1" presStyleIdx="4" presStyleCnt="5"/>
      <dgm:spPr/>
    </dgm:pt>
    <dgm:pt modelId="{2CF968BF-4F51-4055-A463-87EEE62CD479}" type="pres">
      <dgm:prSet presAssocID="{21CF52F0-269D-4612-9526-8784C3F01ED0}" presName="composite" presStyleCnt="0"/>
      <dgm:spPr/>
    </dgm:pt>
    <dgm:pt modelId="{BD31FDFE-91B1-4F2D-ADB1-5A4B6722AEE0}" type="pres">
      <dgm:prSet presAssocID="{21CF52F0-269D-4612-9526-8784C3F01ED0}" presName="parTx" presStyleLbl="node1" presStyleIdx="4" presStyleCnt="6">
        <dgm:presLayoutVars>
          <dgm:chMax val="0"/>
          <dgm:chPref val="0"/>
          <dgm:bulletEnabled val="1"/>
        </dgm:presLayoutVars>
      </dgm:prSet>
      <dgm:spPr/>
    </dgm:pt>
    <dgm:pt modelId="{B0862713-577D-42B4-8724-DE259857F93D}" type="pres">
      <dgm:prSet presAssocID="{21CF52F0-269D-4612-9526-8784C3F01ED0}" presName="parSh" presStyleLbl="node1" presStyleIdx="5" presStyleCnt="6"/>
      <dgm:spPr/>
    </dgm:pt>
    <dgm:pt modelId="{88E58D9E-08A1-4207-A47D-7AE5062637DC}" type="pres">
      <dgm:prSet presAssocID="{21CF52F0-269D-4612-9526-8784C3F01ED0}" presName="desTx" presStyleLbl="fgAcc1" presStyleIdx="5" presStyleCnt="6">
        <dgm:presLayoutVars>
          <dgm:bulletEnabled val="1"/>
        </dgm:presLayoutVars>
      </dgm:prSet>
      <dgm:spPr/>
    </dgm:pt>
  </dgm:ptLst>
  <dgm:cxnLst>
    <dgm:cxn modelId="{E7A98011-E25E-45C6-9BE5-A9616761DB79}" type="presOf" srcId="{21CF52F0-269D-4612-9526-8784C3F01ED0}" destId="{B0862713-577D-42B4-8724-DE259857F93D}" srcOrd="1" destOrd="0" presId="urn:microsoft.com/office/officeart/2005/8/layout/process3"/>
    <dgm:cxn modelId="{BD753E13-4FF7-47BB-AF35-6B8FE8A76B4B}" srcId="{2B97E6FD-6F61-44B9-B82A-F69B0F2CC6FA}" destId="{0E6D59DC-EBAE-4925-8850-518301997053}" srcOrd="3" destOrd="0" parTransId="{CAD0856C-4101-4FAF-9E30-E134E1A4C3C7}" sibTransId="{A06551D3-AB59-4F7C-B2EB-038C5206B984}"/>
    <dgm:cxn modelId="{A047DE1A-8DCF-4B67-9222-6498DF8D2580}" srcId="{0E6D59DC-EBAE-4925-8850-518301997053}" destId="{2D10EF72-BE03-44BF-9B6B-085E951F2278}" srcOrd="0" destOrd="0" parTransId="{1FC2AD9E-BF0A-43C8-BBA2-DD6064864985}" sibTransId="{EC2066FD-72AF-4906-A070-2566527AC03F}"/>
    <dgm:cxn modelId="{1010211B-5EC5-4608-91D7-8595BFB5EAC2}" type="presOf" srcId="{ECC00052-1F61-4F6F-A71C-E8D445CA0FF9}" destId="{79DDAE2E-EFD9-4B55-BBF2-E4CBFAD6D5E1}" srcOrd="0" destOrd="0" presId="urn:microsoft.com/office/officeart/2005/8/layout/process3"/>
    <dgm:cxn modelId="{687C8620-3F99-4A62-AA96-4BEF05062B16}" type="presOf" srcId="{71748CB7-3951-4A76-85A7-6CA131C28AE9}" destId="{BAE019AB-5968-42C8-9DB8-1E6712390455}" srcOrd="1" destOrd="0" presId="urn:microsoft.com/office/officeart/2005/8/layout/process3"/>
    <dgm:cxn modelId="{D67CD925-1637-4DA3-8518-E6DEB68ED1E9}" type="presOf" srcId="{A795F705-8D1E-43F0-AC16-24E47DFF7859}" destId="{3BA661B0-59FE-4FE2-993A-8F5772D1D0E6}" srcOrd="0" destOrd="0" presId="urn:microsoft.com/office/officeart/2005/8/layout/process3"/>
    <dgm:cxn modelId="{F72EB02A-63BF-464D-9B86-291F86CE99D7}" srcId="{2B97E6FD-6F61-44B9-B82A-F69B0F2CC6FA}" destId="{ECC00052-1F61-4F6F-A71C-E8D445CA0FF9}" srcOrd="0" destOrd="0" parTransId="{D045D947-EE9E-43AE-9540-F69BBA880597}" sibTransId="{809CD984-80AA-45BC-8AB7-913058F2BEC1}"/>
    <dgm:cxn modelId="{5B0B452B-03AB-4B02-8BAD-EE405AB6CF01}" type="presOf" srcId="{815B43A2-1A47-46C4-A829-9761D3F48FFD}" destId="{2154BAFF-41CB-4D03-986B-5812331A2C53}" srcOrd="0" destOrd="0" presId="urn:microsoft.com/office/officeart/2005/8/layout/process3"/>
    <dgm:cxn modelId="{CFFF982C-89B9-4DB0-9AB3-9A22F0A91D98}" srcId="{2B97E6FD-6F61-44B9-B82A-F69B0F2CC6FA}" destId="{E990DE6D-D896-4CB5-80CD-B902F33DBE8A}" srcOrd="4" destOrd="0" parTransId="{0201A835-31D4-476F-9041-22A363C3CA47}" sibTransId="{CBBD5115-25EF-4845-A6FA-13FF6950A129}"/>
    <dgm:cxn modelId="{6922232D-2E5C-420F-89B0-E26ACB6D6A18}" type="presOf" srcId="{424AF488-3942-461C-8F28-E673A1352B4E}" destId="{084A872C-545E-41D3-ACB1-B50A34938E40}" srcOrd="0" destOrd="0" presId="urn:microsoft.com/office/officeart/2005/8/layout/process3"/>
    <dgm:cxn modelId="{C96CC32D-A6B6-4C92-B274-930E5E43D1A2}" type="presOf" srcId="{62903AB6-B9A6-43F0-A30D-F75D6086687E}" destId="{99B24C72-BDEF-4742-B7DA-5362F3A63321}" srcOrd="0" destOrd="0" presId="urn:microsoft.com/office/officeart/2005/8/layout/process3"/>
    <dgm:cxn modelId="{D9FAB32E-DCE9-4AFD-AF6B-5BF2B0F60316}" type="presOf" srcId="{A06551D3-AB59-4F7C-B2EB-038C5206B984}" destId="{FD322C8C-A607-4797-B90F-31AADC0AA0BC}" srcOrd="1" destOrd="0" presId="urn:microsoft.com/office/officeart/2005/8/layout/process3"/>
    <dgm:cxn modelId="{CFC58531-A46B-4323-826E-11B1CCA2D34A}" type="presOf" srcId="{E990DE6D-D896-4CB5-80CD-B902F33DBE8A}" destId="{B475A7D1-BBD1-4D59-9D64-4260D6BAEBBF}" srcOrd="1" destOrd="0" presId="urn:microsoft.com/office/officeart/2005/8/layout/process3"/>
    <dgm:cxn modelId="{30A24433-05B7-418F-A4A6-6F04DB80C3D5}" type="presOf" srcId="{A06551D3-AB59-4F7C-B2EB-038C5206B984}" destId="{789E2AD5-66C0-4F05-BFFA-A28529F5D832}" srcOrd="0" destOrd="0" presId="urn:microsoft.com/office/officeart/2005/8/layout/process3"/>
    <dgm:cxn modelId="{3FF2AE33-B260-45C3-BAC1-E718745CB341}" type="presOf" srcId="{0E6D59DC-EBAE-4925-8850-518301997053}" destId="{0802ADE9-1292-48D3-9DA5-B29DE4C0598A}" srcOrd="0" destOrd="0" presId="urn:microsoft.com/office/officeart/2005/8/layout/process3"/>
    <dgm:cxn modelId="{E1CD0463-7258-4C6A-B29C-DE30D64091DB}" type="presOf" srcId="{DB07F1F8-1185-4349-B837-9B0EAAF68B02}" destId="{91C2CD02-08F9-4824-B7CC-6BD733DFC8DD}" srcOrd="0" destOrd="0" presId="urn:microsoft.com/office/officeart/2005/8/layout/process3"/>
    <dgm:cxn modelId="{67B2F043-D115-4281-B632-39E9427FCDA4}" srcId="{2B97E6FD-6F61-44B9-B82A-F69B0F2CC6FA}" destId="{815B43A2-1A47-46C4-A829-9761D3F48FFD}" srcOrd="2" destOrd="0" parTransId="{6A60AF88-4993-4205-8BFC-7022BF3FBB87}" sibTransId="{DB07F1F8-1185-4349-B837-9B0EAAF68B02}"/>
    <dgm:cxn modelId="{2EC11144-C7FE-4C22-B585-2B02A67D45D6}" type="presOf" srcId="{2B97E6FD-6F61-44B9-B82A-F69B0F2CC6FA}" destId="{90B42172-A0FA-49D5-B325-62494AC5F315}" srcOrd="0" destOrd="0" presId="urn:microsoft.com/office/officeart/2005/8/layout/process3"/>
    <dgm:cxn modelId="{65195C64-4A49-4449-BE89-D34D4B2128DB}" srcId="{ECC00052-1F61-4F6F-A71C-E8D445CA0FF9}" destId="{62903AB6-B9A6-43F0-A30D-F75D6086687E}" srcOrd="0" destOrd="0" parTransId="{15895D27-D4CE-499F-8979-21A33DF1175E}" sibTransId="{D6EB1092-2271-40F4-9F99-84390B26DE1F}"/>
    <dgm:cxn modelId="{14B63968-C8B8-4F26-84C6-2DF59B599FF3}" type="presOf" srcId="{0E6D59DC-EBAE-4925-8850-518301997053}" destId="{26C0CD0E-2DF2-4FC6-ACAD-71128E2E5502}" srcOrd="1" destOrd="0" presId="urn:microsoft.com/office/officeart/2005/8/layout/process3"/>
    <dgm:cxn modelId="{AD925B73-DC4B-4F51-9250-F00E2FC2E178}" type="presOf" srcId="{A9205BCE-4C58-4B56-B074-D1AA080F2698}" destId="{04F44D94-7E6D-4B5A-89B7-17FC300FED36}" srcOrd="0" destOrd="0" presId="urn:microsoft.com/office/officeart/2005/8/layout/process3"/>
    <dgm:cxn modelId="{96B0577C-FFD6-4F6F-A8B7-652C4DDF1A31}" srcId="{21CF52F0-269D-4612-9526-8784C3F01ED0}" destId="{602FACFB-9EAA-4F58-B1AB-AE62E0F6BD0E}" srcOrd="0" destOrd="0" parTransId="{2B2203C3-B306-4404-BA7F-1B2315175140}" sibTransId="{839B620B-2F86-4BFF-914C-FA6EDDF78C7E}"/>
    <dgm:cxn modelId="{1D14307D-F759-4DBF-A0E1-E58436A79211}" type="presOf" srcId="{CBBD5115-25EF-4845-A6FA-13FF6950A129}" destId="{A2B629EA-8F6C-48D6-BCA5-BC7C2BA80F8B}" srcOrd="1" destOrd="0" presId="urn:microsoft.com/office/officeart/2005/8/layout/process3"/>
    <dgm:cxn modelId="{3CEB7888-E0B4-4832-A47C-21B9B2D2CCEE}" srcId="{E990DE6D-D896-4CB5-80CD-B902F33DBE8A}" destId="{424AF488-3942-461C-8F28-E673A1352B4E}" srcOrd="0" destOrd="0" parTransId="{F79EDE2B-9D1A-40E2-A9B5-9D9267BB48CD}" sibTransId="{0BEE9FFE-4573-43B1-8A5B-3CF409ACA606}"/>
    <dgm:cxn modelId="{84284E8D-60E6-4F08-878E-99A582D1E1A5}" type="presOf" srcId="{4584F40B-FE00-4BDB-816C-7D8A78B27BD5}" destId="{5F485F6F-9F2C-4428-866F-B0BF05480843}" srcOrd="1" destOrd="0" presId="urn:microsoft.com/office/officeart/2005/8/layout/process3"/>
    <dgm:cxn modelId="{8E80E392-0C62-4652-8112-C2E7E71DFE5B}" type="presOf" srcId="{71748CB7-3951-4A76-85A7-6CA131C28AE9}" destId="{6FA477C1-CA8A-4E90-9EF0-C2EE7D9F12A9}" srcOrd="0" destOrd="0" presId="urn:microsoft.com/office/officeart/2005/8/layout/process3"/>
    <dgm:cxn modelId="{97B816AB-EAFE-4947-B39C-C238A5600B1A}" type="presOf" srcId="{602FACFB-9EAA-4F58-B1AB-AE62E0F6BD0E}" destId="{88E58D9E-08A1-4207-A47D-7AE5062637DC}" srcOrd="0" destOrd="0" presId="urn:microsoft.com/office/officeart/2005/8/layout/process3"/>
    <dgm:cxn modelId="{379055B7-47F6-43F6-A1E2-02D5371FFCE9}" type="presOf" srcId="{21CF52F0-269D-4612-9526-8784C3F01ED0}" destId="{BD31FDFE-91B1-4F2D-ADB1-5A4B6722AEE0}" srcOrd="0" destOrd="0" presId="urn:microsoft.com/office/officeart/2005/8/layout/process3"/>
    <dgm:cxn modelId="{CD2BA7C6-B81F-47A7-A082-D6D282CEDA14}" type="presOf" srcId="{815B43A2-1A47-46C4-A829-9761D3F48FFD}" destId="{0253F67E-9B4E-44DF-972F-618E46DC8313}" srcOrd="1" destOrd="0" presId="urn:microsoft.com/office/officeart/2005/8/layout/process3"/>
    <dgm:cxn modelId="{4C3FB8C6-67D6-4A52-BDF2-AA858EC278FC}" type="presOf" srcId="{DB07F1F8-1185-4349-B837-9B0EAAF68B02}" destId="{B66E9164-52FC-4351-BCB5-39FB37C2D87F}" srcOrd="1" destOrd="0" presId="urn:microsoft.com/office/officeart/2005/8/layout/process3"/>
    <dgm:cxn modelId="{274F13C7-538D-4A90-8AF2-FE1298688FEA}" type="presOf" srcId="{ECC00052-1F61-4F6F-A71C-E8D445CA0FF9}" destId="{EEBC0BD2-44F2-40DE-AF66-E33CD58C693E}" srcOrd="1" destOrd="0" presId="urn:microsoft.com/office/officeart/2005/8/layout/process3"/>
    <dgm:cxn modelId="{BF52D1CE-3F29-4F50-A819-E1A542E5868F}" type="presOf" srcId="{E990DE6D-D896-4CB5-80CD-B902F33DBE8A}" destId="{382E48C1-9113-40FE-B2D7-60B383126D22}" srcOrd="0" destOrd="0" presId="urn:microsoft.com/office/officeart/2005/8/layout/process3"/>
    <dgm:cxn modelId="{84B339D1-4E4C-4691-B6D8-CC3B558DDEEC}" type="presOf" srcId="{809CD984-80AA-45BC-8AB7-913058F2BEC1}" destId="{5C838FB9-5477-49BA-89D9-E362ABD99034}" srcOrd="0" destOrd="0" presId="urn:microsoft.com/office/officeart/2005/8/layout/process3"/>
    <dgm:cxn modelId="{584E5CE7-9642-4284-9FD1-A36831F4F4DB}" type="presOf" srcId="{4584F40B-FE00-4BDB-816C-7D8A78B27BD5}" destId="{2AE1F182-EC44-44A0-B5C3-45C9B8511A1B}" srcOrd="0" destOrd="0" presId="urn:microsoft.com/office/officeart/2005/8/layout/process3"/>
    <dgm:cxn modelId="{26AE8DEC-3D38-47D5-B2B4-0AFED551DC0A}" type="presOf" srcId="{2D10EF72-BE03-44BF-9B6B-085E951F2278}" destId="{3A401570-B4F0-422A-B24E-492B5047B1E2}" srcOrd="0" destOrd="0" presId="urn:microsoft.com/office/officeart/2005/8/layout/process3"/>
    <dgm:cxn modelId="{328ACAEF-CA2A-4628-9C6E-E6D44D3F4009}" type="presOf" srcId="{809CD984-80AA-45BC-8AB7-913058F2BEC1}" destId="{54C975DE-DC59-456C-BB1F-3237D6BB3A1D}" srcOrd="1" destOrd="0" presId="urn:microsoft.com/office/officeart/2005/8/layout/process3"/>
    <dgm:cxn modelId="{28FBB9F1-92D3-49D0-8579-FF245009CA4E}" type="presOf" srcId="{CBBD5115-25EF-4845-A6FA-13FF6950A129}" destId="{40CE94D9-58D9-449E-AEC7-F8B79174EE16}" srcOrd="0" destOrd="0" presId="urn:microsoft.com/office/officeart/2005/8/layout/process3"/>
    <dgm:cxn modelId="{39B94CF4-223E-473E-BBA4-5530B5E25EB7}" srcId="{71748CB7-3951-4A76-85A7-6CA131C28AE9}" destId="{A9205BCE-4C58-4B56-B074-D1AA080F2698}" srcOrd="0" destOrd="0" parTransId="{E756429A-0978-40CD-BD2F-F7AEF25156B9}" sibTransId="{5100CDE4-2CF3-41DA-BF29-357BE5D9F88D}"/>
    <dgm:cxn modelId="{CDC5D5F4-4C0A-4C66-B002-0012FBAC49C6}" srcId="{815B43A2-1A47-46C4-A829-9761D3F48FFD}" destId="{A795F705-8D1E-43F0-AC16-24E47DFF7859}" srcOrd="0" destOrd="0" parTransId="{1B803FAD-0C5B-4504-86D8-5D37A2AA651B}" sibTransId="{08A1BCBF-C923-4469-AF45-67DBFE9C9CDD}"/>
    <dgm:cxn modelId="{45A08FF8-3404-4293-966D-EE75F59EA95E}" srcId="{2B97E6FD-6F61-44B9-B82A-F69B0F2CC6FA}" destId="{71748CB7-3951-4A76-85A7-6CA131C28AE9}" srcOrd="1" destOrd="0" parTransId="{C6D864B1-21A1-493A-8900-9E27FC21709C}" sibTransId="{4584F40B-FE00-4BDB-816C-7D8A78B27BD5}"/>
    <dgm:cxn modelId="{14229CF8-0CD1-40FA-AAA2-C72AB5BC1C6B}" srcId="{2B97E6FD-6F61-44B9-B82A-F69B0F2CC6FA}" destId="{21CF52F0-269D-4612-9526-8784C3F01ED0}" srcOrd="5" destOrd="0" parTransId="{AC8D0F97-6A9C-4101-B120-D55D2ADD7906}" sibTransId="{369A9EA4-8B9D-44A8-A419-7A68B89AA10C}"/>
    <dgm:cxn modelId="{BFDFB436-C477-42E4-98E7-B635EAE57A22}" type="presParOf" srcId="{90B42172-A0FA-49D5-B325-62494AC5F315}" destId="{57832486-1B4B-4064-8471-BEAB85BF98D3}" srcOrd="0" destOrd="0" presId="urn:microsoft.com/office/officeart/2005/8/layout/process3"/>
    <dgm:cxn modelId="{6EAC926C-508F-4720-B30C-1E971D19D8F0}" type="presParOf" srcId="{57832486-1B4B-4064-8471-BEAB85BF98D3}" destId="{79DDAE2E-EFD9-4B55-BBF2-E4CBFAD6D5E1}" srcOrd="0" destOrd="0" presId="urn:microsoft.com/office/officeart/2005/8/layout/process3"/>
    <dgm:cxn modelId="{139EF3D6-936F-4AD2-9BDD-93362F5EFEB3}" type="presParOf" srcId="{57832486-1B4B-4064-8471-BEAB85BF98D3}" destId="{EEBC0BD2-44F2-40DE-AF66-E33CD58C693E}" srcOrd="1" destOrd="0" presId="urn:microsoft.com/office/officeart/2005/8/layout/process3"/>
    <dgm:cxn modelId="{8243BF2C-9D1B-4288-8605-E986A3AE10B3}" type="presParOf" srcId="{57832486-1B4B-4064-8471-BEAB85BF98D3}" destId="{99B24C72-BDEF-4742-B7DA-5362F3A63321}" srcOrd="2" destOrd="0" presId="urn:microsoft.com/office/officeart/2005/8/layout/process3"/>
    <dgm:cxn modelId="{D082F780-EBF0-4655-8642-8A3B75741BB9}" type="presParOf" srcId="{90B42172-A0FA-49D5-B325-62494AC5F315}" destId="{5C838FB9-5477-49BA-89D9-E362ABD99034}" srcOrd="1" destOrd="0" presId="urn:microsoft.com/office/officeart/2005/8/layout/process3"/>
    <dgm:cxn modelId="{5A440E6A-8428-4676-B996-97E758AA5778}" type="presParOf" srcId="{5C838FB9-5477-49BA-89D9-E362ABD99034}" destId="{54C975DE-DC59-456C-BB1F-3237D6BB3A1D}" srcOrd="0" destOrd="0" presId="urn:microsoft.com/office/officeart/2005/8/layout/process3"/>
    <dgm:cxn modelId="{18910395-A562-4EEC-9DF2-E52493759A8D}" type="presParOf" srcId="{90B42172-A0FA-49D5-B325-62494AC5F315}" destId="{238C3624-86AF-4037-82B8-84D64714DAEB}" srcOrd="2" destOrd="0" presId="urn:microsoft.com/office/officeart/2005/8/layout/process3"/>
    <dgm:cxn modelId="{6E45DCFA-0FFB-47F2-9E62-F9D4E1210074}" type="presParOf" srcId="{238C3624-86AF-4037-82B8-84D64714DAEB}" destId="{6FA477C1-CA8A-4E90-9EF0-C2EE7D9F12A9}" srcOrd="0" destOrd="0" presId="urn:microsoft.com/office/officeart/2005/8/layout/process3"/>
    <dgm:cxn modelId="{36221077-13E0-4B36-A947-33247E41A48D}" type="presParOf" srcId="{238C3624-86AF-4037-82B8-84D64714DAEB}" destId="{BAE019AB-5968-42C8-9DB8-1E6712390455}" srcOrd="1" destOrd="0" presId="urn:microsoft.com/office/officeart/2005/8/layout/process3"/>
    <dgm:cxn modelId="{51AADE96-1D1A-426E-A34D-6190C2942AA6}" type="presParOf" srcId="{238C3624-86AF-4037-82B8-84D64714DAEB}" destId="{04F44D94-7E6D-4B5A-89B7-17FC300FED36}" srcOrd="2" destOrd="0" presId="urn:microsoft.com/office/officeart/2005/8/layout/process3"/>
    <dgm:cxn modelId="{6C5A4037-B36A-4588-A24D-E4FE66FB514E}" type="presParOf" srcId="{90B42172-A0FA-49D5-B325-62494AC5F315}" destId="{2AE1F182-EC44-44A0-B5C3-45C9B8511A1B}" srcOrd="3" destOrd="0" presId="urn:microsoft.com/office/officeart/2005/8/layout/process3"/>
    <dgm:cxn modelId="{05840ACE-E227-48A7-A3A1-89C7D8977944}" type="presParOf" srcId="{2AE1F182-EC44-44A0-B5C3-45C9B8511A1B}" destId="{5F485F6F-9F2C-4428-866F-B0BF05480843}" srcOrd="0" destOrd="0" presId="urn:microsoft.com/office/officeart/2005/8/layout/process3"/>
    <dgm:cxn modelId="{5FF369C6-AA7D-4BA9-9D5C-6B3798944A57}" type="presParOf" srcId="{90B42172-A0FA-49D5-B325-62494AC5F315}" destId="{CB234221-53C6-4259-9DE1-112ECE3D9C11}" srcOrd="4" destOrd="0" presId="urn:microsoft.com/office/officeart/2005/8/layout/process3"/>
    <dgm:cxn modelId="{B22E5ABA-217C-4ABB-9641-4747BE3DE378}" type="presParOf" srcId="{CB234221-53C6-4259-9DE1-112ECE3D9C11}" destId="{2154BAFF-41CB-4D03-986B-5812331A2C53}" srcOrd="0" destOrd="0" presId="urn:microsoft.com/office/officeart/2005/8/layout/process3"/>
    <dgm:cxn modelId="{4F2FBA57-5939-4FBA-94EB-810179811486}" type="presParOf" srcId="{CB234221-53C6-4259-9DE1-112ECE3D9C11}" destId="{0253F67E-9B4E-44DF-972F-618E46DC8313}" srcOrd="1" destOrd="0" presId="urn:microsoft.com/office/officeart/2005/8/layout/process3"/>
    <dgm:cxn modelId="{9F4EA69F-C078-4095-886E-9CA3E29713EA}" type="presParOf" srcId="{CB234221-53C6-4259-9DE1-112ECE3D9C11}" destId="{3BA661B0-59FE-4FE2-993A-8F5772D1D0E6}" srcOrd="2" destOrd="0" presId="urn:microsoft.com/office/officeart/2005/8/layout/process3"/>
    <dgm:cxn modelId="{6FFA988B-583B-4A05-A8A4-01595051B3F9}" type="presParOf" srcId="{90B42172-A0FA-49D5-B325-62494AC5F315}" destId="{91C2CD02-08F9-4824-B7CC-6BD733DFC8DD}" srcOrd="5" destOrd="0" presId="urn:microsoft.com/office/officeart/2005/8/layout/process3"/>
    <dgm:cxn modelId="{9C700764-5F9D-4B13-AF29-B160DAB75F6C}" type="presParOf" srcId="{91C2CD02-08F9-4824-B7CC-6BD733DFC8DD}" destId="{B66E9164-52FC-4351-BCB5-39FB37C2D87F}" srcOrd="0" destOrd="0" presId="urn:microsoft.com/office/officeart/2005/8/layout/process3"/>
    <dgm:cxn modelId="{9B5E3439-9B79-4A07-83EE-315CCF6DE227}" type="presParOf" srcId="{90B42172-A0FA-49D5-B325-62494AC5F315}" destId="{9639AF74-CEB5-4450-B236-CAD3E49B0F6B}" srcOrd="6" destOrd="0" presId="urn:microsoft.com/office/officeart/2005/8/layout/process3"/>
    <dgm:cxn modelId="{0B45FD8A-808E-4CCA-9522-19ED2DE4C60A}" type="presParOf" srcId="{9639AF74-CEB5-4450-B236-CAD3E49B0F6B}" destId="{0802ADE9-1292-48D3-9DA5-B29DE4C0598A}" srcOrd="0" destOrd="0" presId="urn:microsoft.com/office/officeart/2005/8/layout/process3"/>
    <dgm:cxn modelId="{6A1595B2-DAF2-4403-8677-E93852F44DD9}" type="presParOf" srcId="{9639AF74-CEB5-4450-B236-CAD3E49B0F6B}" destId="{26C0CD0E-2DF2-4FC6-ACAD-71128E2E5502}" srcOrd="1" destOrd="0" presId="urn:microsoft.com/office/officeart/2005/8/layout/process3"/>
    <dgm:cxn modelId="{194DEAF6-C356-41AF-8153-B2F8CA18299B}" type="presParOf" srcId="{9639AF74-CEB5-4450-B236-CAD3E49B0F6B}" destId="{3A401570-B4F0-422A-B24E-492B5047B1E2}" srcOrd="2" destOrd="0" presId="urn:microsoft.com/office/officeart/2005/8/layout/process3"/>
    <dgm:cxn modelId="{3691E486-C7CA-48E4-845D-A543D3BDEEE3}" type="presParOf" srcId="{90B42172-A0FA-49D5-B325-62494AC5F315}" destId="{789E2AD5-66C0-4F05-BFFA-A28529F5D832}" srcOrd="7" destOrd="0" presId="urn:microsoft.com/office/officeart/2005/8/layout/process3"/>
    <dgm:cxn modelId="{6BA877EE-E2DB-4857-8EE6-58B8CD7F295D}" type="presParOf" srcId="{789E2AD5-66C0-4F05-BFFA-A28529F5D832}" destId="{FD322C8C-A607-4797-B90F-31AADC0AA0BC}" srcOrd="0" destOrd="0" presId="urn:microsoft.com/office/officeart/2005/8/layout/process3"/>
    <dgm:cxn modelId="{1BBAE336-4966-4573-886A-19A9E8420008}" type="presParOf" srcId="{90B42172-A0FA-49D5-B325-62494AC5F315}" destId="{A7626898-2294-44D2-9E3F-E3F4110CDBE6}" srcOrd="8" destOrd="0" presId="urn:microsoft.com/office/officeart/2005/8/layout/process3"/>
    <dgm:cxn modelId="{43A861AD-DEC0-4621-9A7C-DFE19981D053}" type="presParOf" srcId="{A7626898-2294-44D2-9E3F-E3F4110CDBE6}" destId="{382E48C1-9113-40FE-B2D7-60B383126D22}" srcOrd="0" destOrd="0" presId="urn:microsoft.com/office/officeart/2005/8/layout/process3"/>
    <dgm:cxn modelId="{DB0920A3-FCFA-4F46-BDD6-509B27D7B24B}" type="presParOf" srcId="{A7626898-2294-44D2-9E3F-E3F4110CDBE6}" destId="{B475A7D1-BBD1-4D59-9D64-4260D6BAEBBF}" srcOrd="1" destOrd="0" presId="urn:microsoft.com/office/officeart/2005/8/layout/process3"/>
    <dgm:cxn modelId="{E80CCE46-091B-440F-8BC7-86631FB15DC6}" type="presParOf" srcId="{A7626898-2294-44D2-9E3F-E3F4110CDBE6}" destId="{084A872C-545E-41D3-ACB1-B50A34938E40}" srcOrd="2" destOrd="0" presId="urn:microsoft.com/office/officeart/2005/8/layout/process3"/>
    <dgm:cxn modelId="{1B9DC3DC-D82A-453A-8F37-85F8F59A3F67}" type="presParOf" srcId="{90B42172-A0FA-49D5-B325-62494AC5F315}" destId="{40CE94D9-58D9-449E-AEC7-F8B79174EE16}" srcOrd="9" destOrd="0" presId="urn:microsoft.com/office/officeart/2005/8/layout/process3"/>
    <dgm:cxn modelId="{81B7F8E3-0104-4221-A665-C9C5FAE16731}" type="presParOf" srcId="{40CE94D9-58D9-449E-AEC7-F8B79174EE16}" destId="{A2B629EA-8F6C-48D6-BCA5-BC7C2BA80F8B}" srcOrd="0" destOrd="0" presId="urn:microsoft.com/office/officeart/2005/8/layout/process3"/>
    <dgm:cxn modelId="{32F01CA1-B19A-4FBA-B54C-AFA018D66866}" type="presParOf" srcId="{90B42172-A0FA-49D5-B325-62494AC5F315}" destId="{2CF968BF-4F51-4055-A463-87EEE62CD479}" srcOrd="10" destOrd="0" presId="urn:microsoft.com/office/officeart/2005/8/layout/process3"/>
    <dgm:cxn modelId="{D17FBA7F-386B-48D1-8F0B-04A8F9057135}" type="presParOf" srcId="{2CF968BF-4F51-4055-A463-87EEE62CD479}" destId="{BD31FDFE-91B1-4F2D-ADB1-5A4B6722AEE0}" srcOrd="0" destOrd="0" presId="urn:microsoft.com/office/officeart/2005/8/layout/process3"/>
    <dgm:cxn modelId="{9B5E2F16-8A7F-479A-B1D5-B1019092517B}" type="presParOf" srcId="{2CF968BF-4F51-4055-A463-87EEE62CD479}" destId="{B0862713-577D-42B4-8724-DE259857F93D}" srcOrd="1" destOrd="0" presId="urn:microsoft.com/office/officeart/2005/8/layout/process3"/>
    <dgm:cxn modelId="{39E2DAF1-40CC-4247-B6EA-52350181DC48}" type="presParOf" srcId="{2CF968BF-4F51-4055-A463-87EEE62CD479}" destId="{88E58D9E-08A1-4207-A47D-7AE5062637DC}" srcOrd="2" destOrd="0" presId="urn:microsoft.com/office/officeart/2005/8/layout/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0D182D4-F88A-4583-A85E-B49510F10E54}"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IN"/>
        </a:p>
      </dgm:t>
    </dgm:pt>
    <dgm:pt modelId="{1029C0AE-095E-4A3E-92FA-1BD9169ADB92}">
      <dgm:prSet phldrT="[Text]" custT="1"/>
      <dgm:spPr/>
      <dgm:t>
        <a:bodyPr/>
        <a:lstStyle/>
        <a:p>
          <a:pPr>
            <a:buFont typeface="Arial" panose="020B0604020202020204" pitchFamily="34" charset="0"/>
            <a:buChar char="•"/>
          </a:pPr>
          <a:r>
            <a:rPr lang="en-US" sz="1600" dirty="0">
              <a:latin typeface="Arial" panose="020B0604020202020204" pitchFamily="34" charset="0"/>
              <a:sym typeface="Cambria" panose="02040503050406030204"/>
            </a:rPr>
            <a:t>Expansion / Acquisition</a:t>
          </a:r>
          <a:endParaRPr lang="en-IN" sz="1600" dirty="0"/>
        </a:p>
      </dgm:t>
    </dgm:pt>
    <dgm:pt modelId="{4FC7E458-CA70-4F14-970D-D903BA489055}" cxnId="{7F776FAE-B362-49F7-9D6A-B6F04379F727}" type="parTrans">
      <dgm:prSet/>
      <dgm:spPr/>
      <dgm:t>
        <a:bodyPr/>
        <a:lstStyle/>
        <a:p>
          <a:endParaRPr lang="en-IN" sz="1600"/>
        </a:p>
      </dgm:t>
    </dgm:pt>
    <dgm:pt modelId="{C0650060-21E6-414C-B0E0-A75D850217C3}" cxnId="{7F776FAE-B362-49F7-9D6A-B6F04379F727}" type="sibTrans">
      <dgm:prSet/>
      <dgm:spPr/>
      <dgm:t>
        <a:bodyPr/>
        <a:lstStyle/>
        <a:p>
          <a:endParaRPr lang="en-IN" sz="1600"/>
        </a:p>
      </dgm:t>
    </dgm:pt>
    <dgm:pt modelId="{134CFF55-D462-4EEC-ADA1-B729EE957D89}">
      <dgm:prSet phldrT="[Text]" custT="1"/>
      <dgm:spPr/>
      <dgm:t>
        <a:bodyPr/>
        <a:lstStyle/>
        <a:p>
          <a:pPr>
            <a:buFont typeface="Arial" panose="020B0604020202020204" pitchFamily="34" charset="0"/>
            <a:buChar char="•"/>
          </a:pPr>
          <a:r>
            <a:rPr lang="en-US" sz="1600" dirty="0">
              <a:latin typeface="Arial" panose="020B0604020202020204" pitchFamily="34" charset="0"/>
              <a:sym typeface="Cambria" panose="02040503050406030204"/>
            </a:rPr>
            <a:t>Working capital Management </a:t>
          </a:r>
        </a:p>
      </dgm:t>
    </dgm:pt>
    <dgm:pt modelId="{2939139E-7AD5-4002-88E5-EE3EDE97B34B}" cxnId="{D9E4F27E-1C21-4C1E-8192-A92039294F4C}" type="parTrans">
      <dgm:prSet/>
      <dgm:spPr/>
      <dgm:t>
        <a:bodyPr/>
        <a:lstStyle/>
        <a:p>
          <a:endParaRPr lang="en-IN" sz="1600"/>
        </a:p>
      </dgm:t>
    </dgm:pt>
    <dgm:pt modelId="{B77CC524-1B3C-47DA-8D1F-7B2D6ABE6207}" cxnId="{D9E4F27E-1C21-4C1E-8192-A92039294F4C}" type="sibTrans">
      <dgm:prSet/>
      <dgm:spPr/>
      <dgm:t>
        <a:bodyPr/>
        <a:lstStyle/>
        <a:p>
          <a:endParaRPr lang="en-IN" sz="1600"/>
        </a:p>
      </dgm:t>
    </dgm:pt>
    <dgm:pt modelId="{3E05EDE6-F906-42E7-9BC6-62C00526560C}">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pPr>
          <a:r>
            <a:rPr lang="en-US" sz="1600" dirty="0">
              <a:latin typeface="Arial" panose="020B0604020202020204" pitchFamily="34" charset="0"/>
              <a:sym typeface="Cambria" panose="02040503050406030204"/>
            </a:rPr>
            <a:t>Capital  Purchases</a:t>
          </a:r>
          <a:endParaRPr lang="en-IN" sz="1600" dirty="0"/>
        </a:p>
      </dgm:t>
    </dgm:pt>
    <dgm:pt modelId="{14A8F534-2F4A-4838-83E2-FD3D1EBA959C}" cxnId="{AF1F5DE1-2DD2-4685-A6EE-173235C964B4}" type="parTrans">
      <dgm:prSet/>
      <dgm:spPr/>
      <dgm:t>
        <a:bodyPr/>
        <a:lstStyle/>
        <a:p>
          <a:endParaRPr lang="en-IN" sz="1600"/>
        </a:p>
      </dgm:t>
    </dgm:pt>
    <dgm:pt modelId="{42AD4476-5941-4FFC-809E-0511FF290C3E}" cxnId="{AF1F5DE1-2DD2-4685-A6EE-173235C964B4}" type="sibTrans">
      <dgm:prSet/>
      <dgm:spPr/>
      <dgm:t>
        <a:bodyPr/>
        <a:lstStyle/>
        <a:p>
          <a:endParaRPr lang="en-IN" sz="1600"/>
        </a:p>
      </dgm:t>
    </dgm:pt>
    <dgm:pt modelId="{CBE6A591-DFF3-488A-8855-69A7376E0A84}">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pPr>
          <a:r>
            <a:rPr lang="en-US" sz="1600" dirty="0">
              <a:latin typeface="Arial" panose="020B0604020202020204" pitchFamily="34" charset="0"/>
              <a:sym typeface="Cambria" panose="02040503050406030204"/>
            </a:rPr>
            <a:t>Inventory Financing</a:t>
          </a:r>
          <a:endParaRPr lang="en-IN" sz="1600" dirty="0"/>
        </a:p>
      </dgm:t>
    </dgm:pt>
    <dgm:pt modelId="{300938FE-B598-47B3-B0A5-369CE5211AD2}" cxnId="{B0D485B6-3C20-431B-B0E3-466EA82754BA}" type="parTrans">
      <dgm:prSet/>
      <dgm:spPr/>
      <dgm:t>
        <a:bodyPr/>
        <a:lstStyle/>
        <a:p>
          <a:endParaRPr lang="en-IN" sz="1600"/>
        </a:p>
      </dgm:t>
    </dgm:pt>
    <dgm:pt modelId="{66A64831-81EF-45ED-BFD5-D8B77B2841DD}" cxnId="{B0D485B6-3C20-431B-B0E3-466EA82754BA}" type="sibTrans">
      <dgm:prSet/>
      <dgm:spPr/>
      <dgm:t>
        <a:bodyPr/>
        <a:lstStyle/>
        <a:p>
          <a:endParaRPr lang="en-IN" sz="1600"/>
        </a:p>
      </dgm:t>
    </dgm:pt>
    <dgm:pt modelId="{9C82A24D-921A-4446-B821-3257CC1DF8C3}">
      <dgm:prSet phldrT="[Text]" custT="1"/>
      <dgm:spPr/>
      <dgm:t>
        <a:bodyPr/>
        <a:lstStyle/>
        <a:p>
          <a:pPr>
            <a:buFont typeface="Arial" panose="020B0604020202020204" pitchFamily="34" charset="0"/>
            <a:buChar char="•"/>
          </a:pPr>
          <a:r>
            <a:rPr lang="en-US" sz="1600" dirty="0">
              <a:latin typeface="Arial" panose="020B0604020202020204" pitchFamily="34" charset="0"/>
              <a:sym typeface="Cambria" panose="02040503050406030204"/>
            </a:rPr>
            <a:t>Refinancing</a:t>
          </a:r>
          <a:endParaRPr lang="en-IN" sz="1600" dirty="0"/>
        </a:p>
      </dgm:t>
    </dgm:pt>
    <dgm:pt modelId="{4A876516-09FE-40A6-B52E-14B8EFF1DE32}" cxnId="{DE80DE7F-62DB-4559-8CC7-B3428C9A5290}" type="parTrans">
      <dgm:prSet/>
      <dgm:spPr/>
      <dgm:t>
        <a:bodyPr/>
        <a:lstStyle/>
        <a:p>
          <a:endParaRPr lang="en-IN" sz="1600"/>
        </a:p>
      </dgm:t>
    </dgm:pt>
    <dgm:pt modelId="{F5B30326-EAE2-4B30-B27B-D8EEF7DD52EF}" cxnId="{DE80DE7F-62DB-4559-8CC7-B3428C9A5290}" type="sibTrans">
      <dgm:prSet/>
      <dgm:spPr/>
      <dgm:t>
        <a:bodyPr/>
        <a:lstStyle/>
        <a:p>
          <a:endParaRPr lang="en-IN" sz="1600"/>
        </a:p>
      </dgm:t>
    </dgm:pt>
    <dgm:pt modelId="{1F84C9A8-B7CE-47D2-8912-D0371F757661}" type="pres">
      <dgm:prSet presAssocID="{50D182D4-F88A-4583-A85E-B49510F10E54}" presName="diagram" presStyleCnt="0">
        <dgm:presLayoutVars>
          <dgm:dir/>
          <dgm:resizeHandles val="exact"/>
        </dgm:presLayoutVars>
      </dgm:prSet>
      <dgm:spPr/>
    </dgm:pt>
    <dgm:pt modelId="{4DE62411-3929-4400-81FF-9660D73BFA4B}" type="pres">
      <dgm:prSet presAssocID="{1029C0AE-095E-4A3E-92FA-1BD9169ADB92}" presName="node" presStyleLbl="node1" presStyleIdx="0" presStyleCnt="5">
        <dgm:presLayoutVars>
          <dgm:bulletEnabled val="1"/>
        </dgm:presLayoutVars>
      </dgm:prSet>
      <dgm:spPr/>
    </dgm:pt>
    <dgm:pt modelId="{BDA1DD2E-56F2-4CB7-B976-4A027F65C6EC}" type="pres">
      <dgm:prSet presAssocID="{C0650060-21E6-414C-B0E0-A75D850217C3}" presName="sibTrans" presStyleCnt="0"/>
      <dgm:spPr/>
    </dgm:pt>
    <dgm:pt modelId="{9595CFC0-3BEA-4EAF-8C6B-96D7A6F63F59}" type="pres">
      <dgm:prSet presAssocID="{134CFF55-D462-4EEC-ADA1-B729EE957D89}" presName="node" presStyleLbl="node1" presStyleIdx="1" presStyleCnt="5">
        <dgm:presLayoutVars>
          <dgm:bulletEnabled val="1"/>
        </dgm:presLayoutVars>
      </dgm:prSet>
      <dgm:spPr/>
    </dgm:pt>
    <dgm:pt modelId="{65DE3CE1-E4F2-41F4-BB98-5342236DC326}" type="pres">
      <dgm:prSet presAssocID="{B77CC524-1B3C-47DA-8D1F-7B2D6ABE6207}" presName="sibTrans" presStyleCnt="0"/>
      <dgm:spPr/>
    </dgm:pt>
    <dgm:pt modelId="{FD588CE2-2EAA-4D52-A145-0A6F58D0E31B}" type="pres">
      <dgm:prSet presAssocID="{3E05EDE6-F906-42E7-9BC6-62C00526560C}" presName="node" presStyleLbl="node1" presStyleIdx="2" presStyleCnt="5">
        <dgm:presLayoutVars>
          <dgm:bulletEnabled val="1"/>
        </dgm:presLayoutVars>
      </dgm:prSet>
      <dgm:spPr/>
    </dgm:pt>
    <dgm:pt modelId="{7D15CAF7-565F-40C2-A233-F402AAB7553A}" type="pres">
      <dgm:prSet presAssocID="{42AD4476-5941-4FFC-809E-0511FF290C3E}" presName="sibTrans" presStyleCnt="0"/>
      <dgm:spPr/>
    </dgm:pt>
    <dgm:pt modelId="{B3A29820-D3BB-4736-A822-E6A086A84105}" type="pres">
      <dgm:prSet presAssocID="{CBE6A591-DFF3-488A-8855-69A7376E0A84}" presName="node" presStyleLbl="node1" presStyleIdx="3" presStyleCnt="5">
        <dgm:presLayoutVars>
          <dgm:bulletEnabled val="1"/>
        </dgm:presLayoutVars>
      </dgm:prSet>
      <dgm:spPr/>
    </dgm:pt>
    <dgm:pt modelId="{E55CF179-4EC5-4378-8B44-9F1CDE8699F2}" type="pres">
      <dgm:prSet presAssocID="{66A64831-81EF-45ED-BFD5-D8B77B2841DD}" presName="sibTrans" presStyleCnt="0"/>
      <dgm:spPr/>
    </dgm:pt>
    <dgm:pt modelId="{051EB91D-1D43-4B57-A674-D5C26DB044EF}" type="pres">
      <dgm:prSet presAssocID="{9C82A24D-921A-4446-B821-3257CC1DF8C3}" presName="node" presStyleLbl="node1" presStyleIdx="4" presStyleCnt="5">
        <dgm:presLayoutVars>
          <dgm:bulletEnabled val="1"/>
        </dgm:presLayoutVars>
      </dgm:prSet>
      <dgm:spPr/>
    </dgm:pt>
  </dgm:ptLst>
  <dgm:cxnLst>
    <dgm:cxn modelId="{1342F50B-4BF1-4B21-9BE4-64671B8812B8}" type="presOf" srcId="{134CFF55-D462-4EEC-ADA1-B729EE957D89}" destId="{9595CFC0-3BEA-4EAF-8C6B-96D7A6F63F59}" srcOrd="0" destOrd="0" presId="urn:microsoft.com/office/officeart/2005/8/layout/default"/>
    <dgm:cxn modelId="{6E74891F-CE74-49A2-A68C-1238B9F1DD00}" type="presOf" srcId="{3E05EDE6-F906-42E7-9BC6-62C00526560C}" destId="{FD588CE2-2EAA-4D52-A145-0A6F58D0E31B}" srcOrd="0" destOrd="0" presId="urn:microsoft.com/office/officeart/2005/8/layout/default"/>
    <dgm:cxn modelId="{0E1B1D3D-571A-4A03-A1E6-4BC0E4C90D05}" type="presOf" srcId="{9C82A24D-921A-4446-B821-3257CC1DF8C3}" destId="{051EB91D-1D43-4B57-A674-D5C26DB044EF}" srcOrd="0" destOrd="0" presId="urn:microsoft.com/office/officeart/2005/8/layout/default"/>
    <dgm:cxn modelId="{6C6CDF64-244D-4FF7-AF2C-6427152B5109}" type="presOf" srcId="{CBE6A591-DFF3-488A-8855-69A7376E0A84}" destId="{B3A29820-D3BB-4736-A822-E6A086A84105}" srcOrd="0" destOrd="0" presId="urn:microsoft.com/office/officeart/2005/8/layout/default"/>
    <dgm:cxn modelId="{D7648D4F-C95C-438A-9866-2707CFA373AB}" type="presOf" srcId="{1029C0AE-095E-4A3E-92FA-1BD9169ADB92}" destId="{4DE62411-3929-4400-81FF-9660D73BFA4B}" srcOrd="0" destOrd="0" presId="urn:microsoft.com/office/officeart/2005/8/layout/default"/>
    <dgm:cxn modelId="{D9E4F27E-1C21-4C1E-8192-A92039294F4C}" srcId="{50D182D4-F88A-4583-A85E-B49510F10E54}" destId="{134CFF55-D462-4EEC-ADA1-B729EE957D89}" srcOrd="1" destOrd="0" parTransId="{2939139E-7AD5-4002-88E5-EE3EDE97B34B}" sibTransId="{B77CC524-1B3C-47DA-8D1F-7B2D6ABE6207}"/>
    <dgm:cxn modelId="{DE80DE7F-62DB-4559-8CC7-B3428C9A5290}" srcId="{50D182D4-F88A-4583-A85E-B49510F10E54}" destId="{9C82A24D-921A-4446-B821-3257CC1DF8C3}" srcOrd="4" destOrd="0" parTransId="{4A876516-09FE-40A6-B52E-14B8EFF1DE32}" sibTransId="{F5B30326-EAE2-4B30-B27B-D8EEF7DD52EF}"/>
    <dgm:cxn modelId="{E1F499A8-D753-4768-AFB7-57CE8A4DF40A}" type="presOf" srcId="{50D182D4-F88A-4583-A85E-B49510F10E54}" destId="{1F84C9A8-B7CE-47D2-8912-D0371F757661}" srcOrd="0" destOrd="0" presId="urn:microsoft.com/office/officeart/2005/8/layout/default"/>
    <dgm:cxn modelId="{7F776FAE-B362-49F7-9D6A-B6F04379F727}" srcId="{50D182D4-F88A-4583-A85E-B49510F10E54}" destId="{1029C0AE-095E-4A3E-92FA-1BD9169ADB92}" srcOrd="0" destOrd="0" parTransId="{4FC7E458-CA70-4F14-970D-D903BA489055}" sibTransId="{C0650060-21E6-414C-B0E0-A75D850217C3}"/>
    <dgm:cxn modelId="{B0D485B6-3C20-431B-B0E3-466EA82754BA}" srcId="{50D182D4-F88A-4583-A85E-B49510F10E54}" destId="{CBE6A591-DFF3-488A-8855-69A7376E0A84}" srcOrd="3" destOrd="0" parTransId="{300938FE-B598-47B3-B0A5-369CE5211AD2}" sibTransId="{66A64831-81EF-45ED-BFD5-D8B77B2841DD}"/>
    <dgm:cxn modelId="{AF1F5DE1-2DD2-4685-A6EE-173235C964B4}" srcId="{50D182D4-F88A-4583-A85E-B49510F10E54}" destId="{3E05EDE6-F906-42E7-9BC6-62C00526560C}" srcOrd="2" destOrd="0" parTransId="{14A8F534-2F4A-4838-83E2-FD3D1EBA959C}" sibTransId="{42AD4476-5941-4FFC-809E-0511FF290C3E}"/>
    <dgm:cxn modelId="{95C77FBE-1648-477F-93A7-8B471CD1C92D}" type="presParOf" srcId="{1F84C9A8-B7CE-47D2-8912-D0371F757661}" destId="{4DE62411-3929-4400-81FF-9660D73BFA4B}" srcOrd="0" destOrd="0" presId="urn:microsoft.com/office/officeart/2005/8/layout/default"/>
    <dgm:cxn modelId="{B36F9775-800C-421D-8B2D-CDE1C8A747EF}" type="presParOf" srcId="{1F84C9A8-B7CE-47D2-8912-D0371F757661}" destId="{BDA1DD2E-56F2-4CB7-B976-4A027F65C6EC}" srcOrd="1" destOrd="0" presId="urn:microsoft.com/office/officeart/2005/8/layout/default"/>
    <dgm:cxn modelId="{2BBBE897-F594-4B8E-962A-588C3BE0115E}" type="presParOf" srcId="{1F84C9A8-B7CE-47D2-8912-D0371F757661}" destId="{9595CFC0-3BEA-4EAF-8C6B-96D7A6F63F59}" srcOrd="2" destOrd="0" presId="urn:microsoft.com/office/officeart/2005/8/layout/default"/>
    <dgm:cxn modelId="{275E6C63-3766-4402-8FB1-81345B810596}" type="presParOf" srcId="{1F84C9A8-B7CE-47D2-8912-D0371F757661}" destId="{65DE3CE1-E4F2-41F4-BB98-5342236DC326}" srcOrd="3" destOrd="0" presId="urn:microsoft.com/office/officeart/2005/8/layout/default"/>
    <dgm:cxn modelId="{34EE27F1-4BF4-494B-97F0-322E017BF7B5}" type="presParOf" srcId="{1F84C9A8-B7CE-47D2-8912-D0371F757661}" destId="{FD588CE2-2EAA-4D52-A145-0A6F58D0E31B}" srcOrd="4" destOrd="0" presId="urn:microsoft.com/office/officeart/2005/8/layout/default"/>
    <dgm:cxn modelId="{C84578D8-FC3B-4D92-BC98-E8FF12AA3087}" type="presParOf" srcId="{1F84C9A8-B7CE-47D2-8912-D0371F757661}" destId="{7D15CAF7-565F-40C2-A233-F402AAB7553A}" srcOrd="5" destOrd="0" presId="urn:microsoft.com/office/officeart/2005/8/layout/default"/>
    <dgm:cxn modelId="{531C8685-AC91-49F7-8125-DCC4E7DCA90D}" type="presParOf" srcId="{1F84C9A8-B7CE-47D2-8912-D0371F757661}" destId="{B3A29820-D3BB-4736-A822-E6A086A84105}" srcOrd="6" destOrd="0" presId="urn:microsoft.com/office/officeart/2005/8/layout/default"/>
    <dgm:cxn modelId="{9567D8C7-7829-46F5-8277-C359F1402AA7}" type="presParOf" srcId="{1F84C9A8-B7CE-47D2-8912-D0371F757661}" destId="{E55CF179-4EC5-4378-8B44-9F1CDE8699F2}" srcOrd="7" destOrd="0" presId="urn:microsoft.com/office/officeart/2005/8/layout/default"/>
    <dgm:cxn modelId="{0217B9E8-F19F-4D95-A421-24B101F038C5}" type="presParOf" srcId="{1F84C9A8-B7CE-47D2-8912-D0371F757661}" destId="{051EB91D-1D43-4B57-A674-D5C26DB044EF}" srcOrd="8" destOrd="0" presId="urn:microsoft.com/office/officeart/2005/8/layout/defaul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EC36ED3-170D-490E-8A3C-042F80FBD4E6}" type="doc">
      <dgm:prSet loTypeId="urn:microsoft.com/office/officeart/2005/8/layout/process3" loCatId="process" qsTypeId="urn:microsoft.com/office/officeart/2005/8/quickstyle/simple1" qsCatId="simple" csTypeId="urn:microsoft.com/office/officeart/2005/8/colors/colorful1" csCatId="colorful" phldr="1"/>
      <dgm:spPr/>
      <dgm:t>
        <a:bodyPr/>
        <a:lstStyle/>
        <a:p>
          <a:endParaRPr lang="en-IN"/>
        </a:p>
      </dgm:t>
    </dgm:pt>
    <dgm:pt modelId="{F525C0A3-1A38-471E-94B6-E2412BB803A4}">
      <dgm:prSet phldrT="[Text]" phldr="0" custT="0"/>
      <dgm:spPr/>
      <dgm:t>
        <a:bodyPr vert="horz" wrap="square"/>
        <a:p>
          <a:pPr marR="0" defTabSz="914400" eaLnBrk="1" fontAlgn="auto" latinLnBrk="0" hangingPunct="1">
            <a:lnSpc>
              <a:spcPct val="100000"/>
            </a:lnSpc>
            <a:spcBef>
              <a:spcPts val="0"/>
            </a:spcBef>
            <a:spcAft>
              <a:spcPts val="0"/>
            </a:spcAft>
            <a:buClrTx/>
            <a:buSzTx/>
            <a:buFontTx/>
          </a:pPr>
          <a:r>
            <a:rPr lang="en-IN" altLang="en-US" dirty="0"/>
            <a:t>Syndicated </a:t>
          </a:r>
          <a:endParaRPr lang="en-IN" altLang="en-US" dirty="0"/>
        </a:p>
        <a:p>
          <a:pPr marR="0" defTabSz="914400" eaLnBrk="1" fontAlgn="auto" latinLnBrk="0" hangingPunct="1">
            <a:lnSpc>
              <a:spcPct val="100000"/>
            </a:lnSpc>
            <a:spcBef>
              <a:spcPts val="0"/>
            </a:spcBef>
            <a:spcAft>
              <a:spcPts val="0"/>
            </a:spcAft>
            <a:buClrTx/>
            <a:buSzTx/>
            <a:buFontTx/>
          </a:pPr>
          <a:r>
            <a:rPr lang="en-US" dirty="0"/>
            <a:t>Loan</a:t>
          </a:r>
          <a:r>
            <a:rPr lang="en-US" dirty="0"/>
            <a:t/>
          </a:r>
          <a:endParaRPr lang="en-US" dirty="0"/>
        </a:p>
        <a:p>
          <a:pPr defTabSz="977900">
            <a:lnSpc>
              <a:spcPct val="90000"/>
            </a:lnSpc>
            <a:spcBef>
              <a:spcPct val="0"/>
            </a:spcBef>
            <a:spcAft>
              <a:spcPct val="35000"/>
            </a:spcAft>
          </a:pPr>
          <a:r>
            <a:rPr lang="en-IN" dirty="0"/>
            <a:t/>
          </a:r>
          <a:endParaRPr lang="en-IN" dirty="0"/>
        </a:p>
      </dgm:t>
    </dgm:pt>
    <dgm:pt modelId="{76ADCEE3-AF06-47C4-B3B2-01726CFF6033}" cxnId="{8876BA29-CC1C-471A-B6FE-00573B7106D4}" type="parTrans">
      <dgm:prSet/>
      <dgm:spPr/>
      <dgm:t>
        <a:bodyPr/>
        <a:lstStyle/>
        <a:p>
          <a:endParaRPr lang="en-IN"/>
        </a:p>
      </dgm:t>
    </dgm:pt>
    <dgm:pt modelId="{C2916E46-FA3E-4510-ADA4-F3F60EFB4995}" cxnId="{8876BA29-CC1C-471A-B6FE-00573B7106D4}" type="sibTrans">
      <dgm:prSet/>
      <dgm:spPr/>
      <dgm:t>
        <a:bodyPr/>
        <a:lstStyle/>
        <a:p>
          <a:endParaRPr lang="en-IN"/>
        </a:p>
      </dgm:t>
    </dgm:pt>
    <dgm:pt modelId="{C0980614-B28A-4FA9-ACD0-38FED41A39D3}">
      <dgm:prSet phldrT="[Text]"/>
      <dgm:spPr/>
      <dgm:t>
        <a:bodyPr/>
        <a:lstStyle/>
        <a:p>
          <a:pPr>
            <a:buFont typeface="Arial" panose="020B0604020202020204" pitchFamily="34" charset="0"/>
            <a:buChar char="•"/>
          </a:pPr>
          <a:r>
            <a:rPr lang="en-US" dirty="0"/>
            <a:t>Debt - based funding arrangement offered by banks or financial institutions to businesses rather than individuals.</a:t>
          </a:r>
          <a:endParaRPr lang="en-IN" dirty="0"/>
        </a:p>
      </dgm:t>
    </dgm:pt>
    <dgm:pt modelId="{06F55744-0708-4D11-BFE3-F4BB97B2B0B3}" cxnId="{2121B848-7BC1-4D37-AA76-94605F286EF1}" type="parTrans">
      <dgm:prSet/>
      <dgm:spPr/>
      <dgm:t>
        <a:bodyPr/>
        <a:lstStyle/>
        <a:p>
          <a:endParaRPr lang="en-IN"/>
        </a:p>
      </dgm:t>
    </dgm:pt>
    <dgm:pt modelId="{A96F8F74-4466-4E03-AD74-CBC31249530B}" cxnId="{2121B848-7BC1-4D37-AA76-94605F286EF1}" type="sibTrans">
      <dgm:prSet/>
      <dgm:spPr/>
      <dgm:t>
        <a:bodyPr/>
        <a:lstStyle/>
        <a:p>
          <a:endParaRPr lang="en-IN"/>
        </a:p>
      </dgm:t>
    </dgm:pt>
    <dgm:pt modelId="{359B34B1-6601-448C-8303-01973ECC7F40}">
      <dgm:prSet/>
      <dgm:spPr/>
      <dgm:t>
        <a:bodyPr/>
        <a:lstStyle/>
        <a:p>
          <a:endParaRPr lang="en-US" dirty="0"/>
        </a:p>
      </dgm:t>
    </dgm:pt>
    <dgm:pt modelId="{DB51BCFF-4484-4006-BE36-C5C15180664C}" cxnId="{1B345462-3302-43D8-8446-CF9A45E5BD0A}" type="parTrans">
      <dgm:prSet/>
      <dgm:spPr/>
      <dgm:t>
        <a:bodyPr/>
        <a:lstStyle/>
        <a:p>
          <a:endParaRPr lang="en-IN"/>
        </a:p>
      </dgm:t>
    </dgm:pt>
    <dgm:pt modelId="{95D3371A-AD2A-464E-96F2-5AE9A3D1EAA1}" cxnId="{1B345462-3302-43D8-8446-CF9A45E5BD0A}" type="sibTrans">
      <dgm:prSet/>
      <dgm:spPr/>
      <dgm:t>
        <a:bodyPr/>
        <a:lstStyle/>
        <a:p>
          <a:endParaRPr lang="en-IN"/>
        </a:p>
      </dgm:t>
    </dgm:pt>
    <dgm:pt modelId="{8146EC02-6249-4F3E-B629-FDDFDAC672D9}">
      <dgm:prSet phldrT="[Text]"/>
      <dgm:spPr/>
      <dgm:t>
        <a:bodyPr/>
        <a:lstStyle/>
        <a:p>
          <a:r>
            <a:rPr lang="en-US" dirty="0"/>
            <a:t>Objectives</a:t>
          </a:r>
          <a:endParaRPr lang="en-IN" dirty="0"/>
        </a:p>
      </dgm:t>
    </dgm:pt>
    <dgm:pt modelId="{1BC7AF9F-994B-403C-82D0-9125987754D8}" cxnId="{82F58737-C594-4F0F-A308-C7D150C72028}" type="parTrans">
      <dgm:prSet/>
      <dgm:spPr/>
      <dgm:t>
        <a:bodyPr/>
        <a:lstStyle/>
        <a:p>
          <a:endParaRPr lang="en-IN"/>
        </a:p>
      </dgm:t>
    </dgm:pt>
    <dgm:pt modelId="{D36F1FF7-7E27-446C-AEDE-088E21ABD9C2}" cxnId="{82F58737-C594-4F0F-A308-C7D150C72028}" type="sibTrans">
      <dgm:prSet/>
      <dgm:spPr/>
      <dgm:t>
        <a:bodyPr/>
        <a:lstStyle/>
        <a:p>
          <a:endParaRPr lang="en-IN"/>
        </a:p>
      </dgm:t>
    </dgm:pt>
    <dgm:pt modelId="{A8537839-424F-4EA3-B928-E79805D01E7C}">
      <dgm:prSet phldrT="[Text]"/>
      <dgm:spPr/>
      <dgm:t>
        <a:bodyPr/>
        <a:lstStyle/>
        <a:p>
          <a:pPr>
            <a:buFont typeface="Arial" panose="020B0604020202020204" pitchFamily="34" charset="0"/>
            <a:buChar char="•"/>
          </a:pPr>
          <a:r>
            <a:rPr lang="en-US" dirty="0"/>
            <a:t>Assess business credit worthiness</a:t>
          </a:r>
          <a:endParaRPr lang="en-IN" dirty="0"/>
        </a:p>
      </dgm:t>
    </dgm:pt>
    <dgm:pt modelId="{829578B4-F624-40EB-9EA0-BB93E79210BA}" cxnId="{8396CFAD-E492-4AB8-9814-D9BF77927238}" type="parTrans">
      <dgm:prSet/>
      <dgm:spPr/>
      <dgm:t>
        <a:bodyPr/>
        <a:lstStyle/>
        <a:p>
          <a:endParaRPr lang="en-IN"/>
        </a:p>
      </dgm:t>
    </dgm:pt>
    <dgm:pt modelId="{735D18C2-3F50-43FF-9629-37D0942EFC00}" cxnId="{8396CFAD-E492-4AB8-9814-D9BF77927238}" type="sibTrans">
      <dgm:prSet/>
      <dgm:spPr/>
      <dgm:t>
        <a:bodyPr/>
        <a:lstStyle/>
        <a:p>
          <a:endParaRPr lang="en-IN"/>
        </a:p>
      </dgm:t>
    </dgm:pt>
    <dgm:pt modelId="{3C66A89C-0FF6-47AC-B84D-16A40F48C031}">
      <dgm:prSet/>
      <dgm:spPr/>
      <dgm:t>
        <a:bodyPr/>
        <a:lstStyle/>
        <a:p>
          <a:r>
            <a:rPr lang="en-US"/>
            <a:t>Evaluate risk and repayment capacity</a:t>
          </a:r>
          <a:endParaRPr lang="en-US" dirty="0"/>
        </a:p>
      </dgm:t>
    </dgm:pt>
    <dgm:pt modelId="{E1ECDAA5-DF1A-4438-B51B-137B391B4D9F}" cxnId="{7882F8E4-3668-45E7-88AF-F50F7A144BC0}" type="parTrans">
      <dgm:prSet/>
      <dgm:spPr/>
      <dgm:t>
        <a:bodyPr/>
        <a:lstStyle/>
        <a:p>
          <a:endParaRPr lang="en-IN"/>
        </a:p>
      </dgm:t>
    </dgm:pt>
    <dgm:pt modelId="{BBE6AF85-D13C-4E81-8EB5-F97FA35C6871}" cxnId="{7882F8E4-3668-45E7-88AF-F50F7A144BC0}" type="sibTrans">
      <dgm:prSet/>
      <dgm:spPr/>
      <dgm:t>
        <a:bodyPr/>
        <a:lstStyle/>
        <a:p>
          <a:endParaRPr lang="en-IN"/>
        </a:p>
      </dgm:t>
    </dgm:pt>
    <dgm:pt modelId="{10D99861-69D2-459C-886F-85F86939D56C}">
      <dgm:prSet/>
      <dgm:spPr/>
      <dgm:t>
        <a:bodyPr/>
        <a:lstStyle/>
        <a:p>
          <a:r>
            <a:rPr lang="en-US"/>
            <a:t>Ensure appropriate structure and documentation</a:t>
          </a:r>
          <a:endParaRPr lang="en-US" dirty="0"/>
        </a:p>
      </dgm:t>
    </dgm:pt>
    <dgm:pt modelId="{65310B9C-ACE6-40AB-93C6-9F51647E6723}" cxnId="{9168AB8A-8F8D-49D8-9CA1-653E3A17FE31}" type="parTrans">
      <dgm:prSet/>
      <dgm:spPr/>
      <dgm:t>
        <a:bodyPr/>
        <a:lstStyle/>
        <a:p>
          <a:endParaRPr lang="en-IN"/>
        </a:p>
      </dgm:t>
    </dgm:pt>
    <dgm:pt modelId="{8E6A33A1-3882-41F9-9A9B-0D50CF33DDD9}" cxnId="{9168AB8A-8F8D-49D8-9CA1-653E3A17FE31}" type="sibTrans">
      <dgm:prSet/>
      <dgm:spPr/>
      <dgm:t>
        <a:bodyPr/>
        <a:lstStyle/>
        <a:p>
          <a:endParaRPr lang="en-IN"/>
        </a:p>
      </dgm:t>
    </dgm:pt>
    <dgm:pt modelId="{852CDBE5-4FC9-44AB-8650-C70FB7E0DDD6}">
      <dgm:prSet/>
      <dgm:spPr/>
      <dgm:t>
        <a:bodyPr/>
        <a:lstStyle/>
        <a:p>
          <a:r>
            <a:rPr lang="en-US" dirty="0"/>
            <a:t>Comply with internal and regulatory requirements</a:t>
          </a:r>
        </a:p>
      </dgm:t>
    </dgm:pt>
    <dgm:pt modelId="{8C155AED-76BA-486D-AD63-6CF5DEB8416F}" cxnId="{5258CE0F-3EDD-4E24-893C-DA5AA4154F5B}" type="parTrans">
      <dgm:prSet/>
      <dgm:spPr/>
      <dgm:t>
        <a:bodyPr/>
        <a:lstStyle/>
        <a:p>
          <a:endParaRPr lang="en-IN"/>
        </a:p>
      </dgm:t>
    </dgm:pt>
    <dgm:pt modelId="{41345953-BB3C-4F25-98B9-619BDBE67A6E}" cxnId="{5258CE0F-3EDD-4E24-893C-DA5AA4154F5B}" type="sibTrans">
      <dgm:prSet/>
      <dgm:spPr/>
      <dgm:t>
        <a:bodyPr/>
        <a:lstStyle/>
        <a:p>
          <a:endParaRPr lang="en-IN"/>
        </a:p>
      </dgm:t>
    </dgm:pt>
    <dgm:pt modelId="{08A6B461-C446-4973-A6B8-40BC13F53F01}">
      <dgm:prSet phldrT="[Text]"/>
      <dgm:spPr/>
      <dgm:t>
        <a:bodyPr/>
        <a:lstStyle/>
        <a:p>
          <a:pPr marL="0" marR="0" lvl="0" indent="0" defTabSz="914400" eaLnBrk="1" fontAlgn="auto" latinLnBrk="0" hangingPunct="1">
            <a:lnSpc>
              <a:spcPct val="100000"/>
            </a:lnSpc>
            <a:spcBef>
              <a:spcPts val="0"/>
            </a:spcBef>
            <a:spcAft>
              <a:spcPts val="0"/>
            </a:spcAft>
            <a:buClrTx/>
            <a:buSzTx/>
            <a:buFontTx/>
            <a:buNone/>
          </a:pPr>
          <a:r>
            <a:rPr lang="en-US" dirty="0"/>
            <a:t>Typical Borrowers:</a:t>
          </a:r>
        </a:p>
        <a:p>
          <a:pPr defTabSz="444500">
            <a:lnSpc>
              <a:spcPct val="90000"/>
            </a:lnSpc>
            <a:spcBef>
              <a:spcPct val="0"/>
            </a:spcBef>
            <a:spcAft>
              <a:spcPct val="35000"/>
            </a:spcAft>
          </a:pPr>
          <a:endParaRPr lang="en-IN" dirty="0"/>
        </a:p>
      </dgm:t>
    </dgm:pt>
    <dgm:pt modelId="{8C86178C-C93D-4188-BBCA-4DB57C2D99EC}" cxnId="{DCB6F375-8671-4BF9-A40B-6FFA8B70336F}" type="parTrans">
      <dgm:prSet/>
      <dgm:spPr/>
      <dgm:t>
        <a:bodyPr/>
        <a:lstStyle/>
        <a:p>
          <a:endParaRPr lang="en-IN"/>
        </a:p>
      </dgm:t>
    </dgm:pt>
    <dgm:pt modelId="{106C7A40-1CAC-4DC0-848E-5824F2A70A28}" cxnId="{DCB6F375-8671-4BF9-A40B-6FFA8B70336F}" type="sibTrans">
      <dgm:prSet/>
      <dgm:spPr/>
      <dgm:t>
        <a:bodyPr/>
        <a:lstStyle/>
        <a:p>
          <a:endParaRPr lang="en-IN"/>
        </a:p>
      </dgm:t>
    </dgm:pt>
    <dgm:pt modelId="{F88A1350-358B-4C61-A36C-78CE8A9604F9}">
      <dgm:prSet phldrT="[Text]" phldr="0" custT="0"/>
      <dgm:spPr/>
      <dgm:t>
        <a:bodyPr vert="horz" wrap="square"/>
        <a:p>
          <a:pPr>
            <a:lnSpc>
              <a:spcPct val="100000"/>
            </a:lnSpc>
            <a:spcBef>
              <a:spcPct val="0"/>
            </a:spcBef>
            <a:spcAft>
              <a:spcPct val="15000"/>
            </a:spcAft>
          </a:pPr>
          <a:r>
            <a:rPr lang="en-US"/>
            <a:t>Large corporations</a:t>
          </a:r>
          <a:r>
            <a:rPr lang="en-US" dirty="0"/>
            <a:t/>
          </a:r>
          <a:endParaRPr lang="en-US" dirty="0"/>
        </a:p>
      </dgm:t>
    </dgm:pt>
    <dgm:pt modelId="{E7B15886-439A-4465-A2F0-E45FE269C3A1}" cxnId="{170E352D-D27A-4FE6-BB7C-68CA54C5F7F9}" type="parTrans">
      <dgm:prSet/>
      <dgm:spPr/>
      <dgm:t>
        <a:bodyPr/>
        <a:lstStyle/>
        <a:p>
          <a:endParaRPr lang="en-IN"/>
        </a:p>
      </dgm:t>
    </dgm:pt>
    <dgm:pt modelId="{69B96044-0425-428A-BC97-B64EE2DEBBAB}" cxnId="{170E352D-D27A-4FE6-BB7C-68CA54C5F7F9}" type="sibTrans">
      <dgm:prSet/>
      <dgm:spPr/>
      <dgm:t>
        <a:bodyPr/>
        <a:lstStyle/>
        <a:p>
          <a:endParaRPr lang="en-IN"/>
        </a:p>
      </dgm:t>
    </dgm:pt>
    <dgm:pt modelId="{2DFB39DF-625B-4E9C-B219-C2359B8DBC4D}">
      <dgm:prSet phldr="0" custT="0"/>
      <dgm:spPr/>
      <dgm:t>
        <a:bodyPr vert="horz" wrap="square"/>
        <a:p>
          <a:pPr>
            <a:lnSpc>
              <a:spcPct val="100000"/>
            </a:lnSpc>
            <a:spcBef>
              <a:spcPct val="0"/>
            </a:spcBef>
            <a:spcAft>
              <a:spcPct val="15000"/>
            </a:spcAft>
          </a:pPr>
          <a:r>
            <a:rPr lang="en-US" dirty="0"/>
            <a:t>Public sector entities</a:t>
          </a:r>
          <a:endParaRPr lang="en-US" dirty="0"/>
        </a:p>
      </dgm:t>
    </dgm:pt>
    <dgm:pt modelId="{47E5802C-B159-4A72-87B7-FD3B23381DF6}" cxnId="{3F6C2117-D9E9-4A83-A599-8E09741E7428}" type="parTrans">
      <dgm:prSet/>
      <dgm:spPr/>
    </dgm:pt>
    <dgm:pt modelId="{E6956CB9-536F-494E-9E30-F92A7DEAC398}" cxnId="{3F6C2117-D9E9-4A83-A599-8E09741E7428}" type="sibTrans">
      <dgm:prSet/>
      <dgm:spPr/>
    </dgm:pt>
    <dgm:pt modelId="{B5A74212-4166-4B85-99B6-C75379805D67}">
      <dgm:prSet phldr="0" custT="0"/>
      <dgm:spPr/>
      <dgm:t>
        <a:bodyPr vert="horz" wrap="square"/>
        <a:p>
          <a:pPr>
            <a:lnSpc>
              <a:spcPct val="100000"/>
            </a:lnSpc>
            <a:spcBef>
              <a:spcPct val="0"/>
            </a:spcBef>
            <a:spcAft>
              <a:spcPct val="15000"/>
            </a:spcAft>
          </a:pPr>
          <a:r>
            <a:rPr lang="en-IN"/>
            <a:t>Large NBFCs</a:t>
          </a:r>
          <a:r>
            <a:rPr lang="en-IN"/>
            <a:t/>
          </a:r>
          <a:endParaRPr lang="en-IN"/>
        </a:p>
      </dgm:t>
    </dgm:pt>
    <dgm:pt modelId="{23151DBC-AD9A-4CFA-AC25-5C97DB2F3E01}" cxnId="{3660DCD8-918A-48B0-93A8-3DA3C2ADFDA1}" type="parTrans">
      <dgm:prSet/>
      <dgm:spPr/>
    </dgm:pt>
    <dgm:pt modelId="{A82390FC-2402-4E05-A1FC-30126A7688DA}" cxnId="{3660DCD8-918A-48B0-93A8-3DA3C2ADFDA1}" type="sibTrans">
      <dgm:prSet/>
      <dgm:spPr/>
    </dgm:pt>
    <dgm:pt modelId="{29E47CA0-A44B-4DBF-A632-3E570954DFC4}">
      <dgm:prSet/>
      <dgm:spPr/>
      <dgm:t>
        <a:bodyPr/>
        <a:lstStyle/>
        <a:p>
          <a:r>
            <a:rPr lang="en-US" dirty="0"/>
            <a:t>Loan Types</a:t>
          </a:r>
          <a:endParaRPr lang="en-IN" dirty="0"/>
        </a:p>
      </dgm:t>
    </dgm:pt>
    <dgm:pt modelId="{FF67BD21-6571-45D6-A1C8-C00F99471AF5}" cxnId="{C42CBF9A-4068-44CF-BB29-0CEED1E31FA4}" type="parTrans">
      <dgm:prSet/>
      <dgm:spPr/>
      <dgm:t>
        <a:bodyPr/>
        <a:lstStyle/>
        <a:p>
          <a:endParaRPr lang="en-IN"/>
        </a:p>
      </dgm:t>
    </dgm:pt>
    <dgm:pt modelId="{48CE0759-142E-4150-9374-1A563C40E1D2}" cxnId="{C42CBF9A-4068-44CF-BB29-0CEED1E31FA4}" type="sibTrans">
      <dgm:prSet/>
      <dgm:spPr/>
      <dgm:t>
        <a:bodyPr/>
        <a:lstStyle/>
        <a:p>
          <a:endParaRPr lang="en-IN"/>
        </a:p>
      </dgm:t>
    </dgm:pt>
    <dgm:pt modelId="{8F430B2A-CDC7-4B55-B353-05E4AC169AC9}">
      <dgm:prSet phldr="0" custT="0"/>
      <dgm:spPr/>
      <dgm:t>
        <a:bodyPr vert="horz" wrap="square"/>
        <a:p>
          <a:pPr>
            <a:lnSpc>
              <a:spcPct val="100000"/>
            </a:lnSpc>
            <a:spcBef>
              <a:spcPct val="0"/>
            </a:spcBef>
            <a:spcAft>
              <a:spcPct val="15000"/>
            </a:spcAft>
            <a:buFont typeface="Arial" panose="020B0604020202020204" pitchFamily="34" charset="0"/>
          </a:pPr>
          <a:r>
            <a:rPr lang="en-US" dirty="0"/>
            <a:t>Term loan</a:t>
          </a:r>
          <a:r>
            <a:rPr lang="en-IN" dirty="0"/>
            <a:t/>
          </a:r>
          <a:endParaRPr lang="en-IN" dirty="0"/>
        </a:p>
      </dgm:t>
    </dgm:pt>
    <dgm:pt modelId="{33FD22B6-C860-470B-B2B6-24539D718A0C}" cxnId="{824074AB-FB41-4B83-9006-281713F1BD72}" type="parTrans">
      <dgm:prSet/>
      <dgm:spPr/>
      <dgm:t>
        <a:bodyPr/>
        <a:lstStyle/>
        <a:p>
          <a:endParaRPr lang="en-IN"/>
        </a:p>
      </dgm:t>
    </dgm:pt>
    <dgm:pt modelId="{9315922C-73CE-4E74-A26B-B94934B2893D}" cxnId="{824074AB-FB41-4B83-9006-281713F1BD72}" type="sibTrans">
      <dgm:prSet/>
      <dgm:spPr/>
      <dgm:t>
        <a:bodyPr/>
        <a:lstStyle/>
        <a:p>
          <a:endParaRPr lang="en-IN"/>
        </a:p>
      </dgm:t>
    </dgm:pt>
    <dgm:pt modelId="{478873BE-6365-4990-BD76-2189353CCA1C}">
      <dgm:prSet phldr="0" custT="0"/>
      <dgm:spPr/>
      <dgm:t>
        <a:bodyPr vert="horz" wrap="square"/>
        <a:p>
          <a:pPr>
            <a:lnSpc>
              <a:spcPct val="100000"/>
            </a:lnSpc>
            <a:spcBef>
              <a:spcPct val="0"/>
            </a:spcBef>
            <a:spcAft>
              <a:spcPct val="15000"/>
            </a:spcAft>
            <a:buFont typeface="Arial" panose="020B0604020202020204" pitchFamily="34" charset="0"/>
          </a:pPr>
          <a:r>
            <a:rPr lang="en-US" dirty="0"/>
            <a:t>Lines of credit</a:t>
          </a:r>
          <a:r>
            <a:rPr lang="en-IN" dirty="0"/>
            <a:t/>
          </a:r>
          <a:endParaRPr lang="en-IN" dirty="0"/>
        </a:p>
      </dgm:t>
    </dgm:pt>
    <dgm:pt modelId="{39253029-FAA3-4775-9C5F-E968A13F3341}" cxnId="{A1E3E6EC-AA92-4F3B-A2B6-E5D7ABCDBF01}" type="parTrans">
      <dgm:prSet/>
      <dgm:spPr/>
    </dgm:pt>
    <dgm:pt modelId="{A37D1981-3286-4672-A496-6FC4BA73EA77}" cxnId="{A1E3E6EC-AA92-4F3B-A2B6-E5D7ABCDBF01}" type="sibTrans">
      <dgm:prSet/>
      <dgm:spPr/>
    </dgm:pt>
    <dgm:pt modelId="{D85E44FF-6526-4A58-927A-A138E5C97D54}">
      <dgm:prSet phldr="0" custT="0"/>
      <dgm:spPr/>
      <dgm:t>
        <a:bodyPr vert="horz" wrap="square"/>
        <a:p>
          <a:pPr>
            <a:lnSpc>
              <a:spcPct val="100000"/>
            </a:lnSpc>
            <a:spcBef>
              <a:spcPct val="0"/>
            </a:spcBef>
            <a:spcAft>
              <a:spcPct val="15000"/>
            </a:spcAft>
            <a:buFont typeface="Arial" panose="020B0604020202020204" pitchFamily="34" charset="0"/>
          </a:pPr>
          <a:r>
            <a:rPr lang="en-US" dirty="0"/>
            <a:t>Asset-based lending</a:t>
          </a:r>
          <a:r>
            <a:rPr lang="en-IN" dirty="0"/>
            <a:t/>
          </a:r>
          <a:endParaRPr lang="en-IN" dirty="0"/>
        </a:p>
      </dgm:t>
    </dgm:pt>
    <dgm:pt modelId="{6A30065C-7C06-45DD-A653-4A5E511D1099}" cxnId="{D0E46F78-3AAD-480B-891F-62EBA34D24DB}" type="parTrans">
      <dgm:prSet/>
      <dgm:spPr/>
    </dgm:pt>
    <dgm:pt modelId="{9C3C9A3E-0CC7-4B0C-8A1C-5FD6A34EA0C0}" cxnId="{D0E46F78-3AAD-480B-891F-62EBA34D24DB}" type="sibTrans">
      <dgm:prSet/>
      <dgm:spPr/>
    </dgm:pt>
    <dgm:pt modelId="{385315EC-4151-4A74-BC78-3F9CDB7EC52B}">
      <dgm:prSet phldr="0" custT="0"/>
      <dgm:spPr/>
      <dgm:t>
        <a:bodyPr vert="horz" wrap="square"/>
        <a:p>
          <a:pPr>
            <a:lnSpc>
              <a:spcPct val="100000"/>
            </a:lnSpc>
            <a:spcBef>
              <a:spcPct val="0"/>
            </a:spcBef>
            <a:spcAft>
              <a:spcPct val="15000"/>
            </a:spcAft>
            <a:buFont typeface="Arial" panose="020B0604020202020204" pitchFamily="34" charset="0"/>
          </a:pPr>
          <a:r>
            <a:rPr lang="en-IN" dirty="0"/>
            <a:t/>
          </a:r>
          <a:endParaRPr lang="en-IN" dirty="0"/>
        </a:p>
      </dgm:t>
    </dgm:pt>
    <dgm:pt modelId="{A4DFACFD-D8F4-45BA-A451-A42F1D5A1F91}" cxnId="{955FF48D-2AE7-4752-9228-CC08A7E01C2E}" type="parTrans">
      <dgm:prSet/>
      <dgm:spPr/>
    </dgm:pt>
    <dgm:pt modelId="{ED0DE87D-9C1E-43F3-A637-1FAEF0DAA61A}" cxnId="{955FF48D-2AE7-4752-9228-CC08A7E01C2E}" type="sibTrans">
      <dgm:prSet/>
      <dgm:spPr/>
    </dgm:pt>
    <dgm:pt modelId="{8D122769-3081-45B8-8D1C-43B9B0F53578}" type="pres">
      <dgm:prSet presAssocID="{0EC36ED3-170D-490E-8A3C-042F80FBD4E6}" presName="linearFlow" presStyleCnt="0">
        <dgm:presLayoutVars>
          <dgm:dir/>
          <dgm:animLvl val="lvl"/>
          <dgm:resizeHandles val="exact"/>
        </dgm:presLayoutVars>
      </dgm:prSet>
      <dgm:spPr/>
    </dgm:pt>
    <dgm:pt modelId="{497FCF95-A841-4421-9C17-7A6A09C73732}" type="pres">
      <dgm:prSet presAssocID="{F525C0A3-1A38-471E-94B6-E2412BB803A4}" presName="composite" presStyleCnt="0"/>
      <dgm:spPr/>
    </dgm:pt>
    <dgm:pt modelId="{F2DB2950-7946-4A73-A32A-DB3045DB8327}" type="pres">
      <dgm:prSet presAssocID="{F525C0A3-1A38-471E-94B6-E2412BB803A4}" presName="parTx" presStyleCnt="0">
        <dgm:presLayoutVars>
          <dgm:chMax val="0"/>
          <dgm:chPref val="0"/>
          <dgm:bulletEnabled val="1"/>
        </dgm:presLayoutVars>
      </dgm:prSet>
      <dgm:spPr/>
    </dgm:pt>
    <dgm:pt modelId="{138E3DA5-8178-42ED-8109-6537EECB9384}" type="pres">
      <dgm:prSet presAssocID="{F525C0A3-1A38-471E-94B6-E2412BB803A4}" presName="parSh" presStyleLbl="node1" presStyleIdx="0" presStyleCnt="4"/>
      <dgm:spPr/>
    </dgm:pt>
    <dgm:pt modelId="{880A95A0-8CC4-42CB-922A-2DCEBF239E92}" type="pres">
      <dgm:prSet presAssocID="{F525C0A3-1A38-471E-94B6-E2412BB803A4}" presName="desTx" presStyleLbl="fgAcc1" presStyleIdx="0" presStyleCnt="4">
        <dgm:presLayoutVars>
          <dgm:bulletEnabled val="1"/>
        </dgm:presLayoutVars>
      </dgm:prSet>
      <dgm:spPr/>
    </dgm:pt>
    <dgm:pt modelId="{478F2627-FAB7-49D8-BFF3-9E273B129B51}" type="pres">
      <dgm:prSet presAssocID="{C2916E46-FA3E-4510-ADA4-F3F60EFB4995}" presName="sibTrans" presStyleLbl="sibTrans2D1" presStyleIdx="0" presStyleCnt="3"/>
      <dgm:spPr/>
    </dgm:pt>
    <dgm:pt modelId="{4CA49C9B-DB45-47C9-AD58-5087A7C90D0B}" type="pres">
      <dgm:prSet presAssocID="{C2916E46-FA3E-4510-ADA4-F3F60EFB4995}" presName="connTx" presStyleCnt="0"/>
      <dgm:spPr/>
    </dgm:pt>
    <dgm:pt modelId="{14825301-3492-4FFA-9FE0-07F8E6A177E7}" type="pres">
      <dgm:prSet presAssocID="{8146EC02-6249-4F3E-B629-FDDFDAC672D9}" presName="composite" presStyleCnt="0"/>
      <dgm:spPr/>
    </dgm:pt>
    <dgm:pt modelId="{4498A878-7003-4786-ACDE-88FB490D2DD4}" type="pres">
      <dgm:prSet presAssocID="{8146EC02-6249-4F3E-B629-FDDFDAC672D9}" presName="parTx" presStyleCnt="0">
        <dgm:presLayoutVars>
          <dgm:chMax val="0"/>
          <dgm:chPref val="0"/>
          <dgm:bulletEnabled val="1"/>
        </dgm:presLayoutVars>
      </dgm:prSet>
      <dgm:spPr/>
    </dgm:pt>
    <dgm:pt modelId="{A0A4D9F0-D77F-4073-84EF-E4612A44FBFF}" type="pres">
      <dgm:prSet presAssocID="{8146EC02-6249-4F3E-B629-FDDFDAC672D9}" presName="parSh" presStyleLbl="node1" presStyleIdx="1" presStyleCnt="4"/>
      <dgm:spPr/>
    </dgm:pt>
    <dgm:pt modelId="{E9757F79-BF61-4237-BC25-16F9D398269D}" type="pres">
      <dgm:prSet presAssocID="{8146EC02-6249-4F3E-B629-FDDFDAC672D9}" presName="desTx" presStyleLbl="fgAcc1" presStyleIdx="1" presStyleCnt="4">
        <dgm:presLayoutVars>
          <dgm:bulletEnabled val="1"/>
        </dgm:presLayoutVars>
      </dgm:prSet>
      <dgm:spPr/>
    </dgm:pt>
    <dgm:pt modelId="{3E9DE2FC-89D6-4634-A0DA-111BB3E30350}" type="pres">
      <dgm:prSet presAssocID="{D36F1FF7-7E27-446C-AEDE-088E21ABD9C2}" presName="sibTrans" presStyleLbl="sibTrans2D1" presStyleIdx="1" presStyleCnt="3"/>
      <dgm:spPr/>
    </dgm:pt>
    <dgm:pt modelId="{7E4AEE95-4C17-4056-9E43-A34FCA0FC1BC}" type="pres">
      <dgm:prSet presAssocID="{D36F1FF7-7E27-446C-AEDE-088E21ABD9C2}" presName="connTx" presStyleCnt="0"/>
      <dgm:spPr/>
    </dgm:pt>
    <dgm:pt modelId="{D24F96FF-EF96-4D00-9A40-7592BF096523}" type="pres">
      <dgm:prSet presAssocID="{08A6B461-C446-4973-A6B8-40BC13F53F01}" presName="composite" presStyleCnt="0"/>
      <dgm:spPr/>
    </dgm:pt>
    <dgm:pt modelId="{EA69B024-FE5D-4342-8322-B00BF8985C18}" type="pres">
      <dgm:prSet presAssocID="{08A6B461-C446-4973-A6B8-40BC13F53F01}" presName="parTx" presStyleCnt="0">
        <dgm:presLayoutVars>
          <dgm:chMax val="0"/>
          <dgm:chPref val="0"/>
          <dgm:bulletEnabled val="1"/>
        </dgm:presLayoutVars>
      </dgm:prSet>
      <dgm:spPr/>
    </dgm:pt>
    <dgm:pt modelId="{36829B79-9DFF-490E-8EB6-06185E4F444D}" type="pres">
      <dgm:prSet presAssocID="{08A6B461-C446-4973-A6B8-40BC13F53F01}" presName="parSh" presStyleLbl="node1" presStyleIdx="2" presStyleCnt="4"/>
      <dgm:spPr/>
    </dgm:pt>
    <dgm:pt modelId="{70DE99B9-090F-4F61-9632-C864773F71DE}" type="pres">
      <dgm:prSet presAssocID="{08A6B461-C446-4973-A6B8-40BC13F53F01}" presName="desTx" presStyleLbl="fgAcc1" presStyleIdx="2" presStyleCnt="4">
        <dgm:presLayoutVars>
          <dgm:bulletEnabled val="1"/>
        </dgm:presLayoutVars>
      </dgm:prSet>
      <dgm:spPr/>
    </dgm:pt>
    <dgm:pt modelId="{B3C8038B-D288-4207-9249-EE72BD1A9F86}" type="pres">
      <dgm:prSet presAssocID="{106C7A40-1CAC-4DC0-848E-5824F2A70A28}" presName="sibTrans" presStyleLbl="sibTrans2D1" presStyleIdx="2" presStyleCnt="3"/>
      <dgm:spPr/>
    </dgm:pt>
    <dgm:pt modelId="{8BC44205-FB66-4536-AE79-735D8F98D524}" type="pres">
      <dgm:prSet presAssocID="{106C7A40-1CAC-4DC0-848E-5824F2A70A28}" presName="connTx" presStyleCnt="0"/>
      <dgm:spPr/>
    </dgm:pt>
    <dgm:pt modelId="{0F7DAC52-A097-47DA-B805-46E9EAFE55E2}" type="pres">
      <dgm:prSet presAssocID="{29E47CA0-A44B-4DBF-A632-3E570954DFC4}" presName="composite" presStyleCnt="0"/>
      <dgm:spPr/>
    </dgm:pt>
    <dgm:pt modelId="{3129520D-4682-4B76-937D-D90B75501E12}" type="pres">
      <dgm:prSet presAssocID="{29E47CA0-A44B-4DBF-A632-3E570954DFC4}" presName="parTx" presStyleCnt="0">
        <dgm:presLayoutVars>
          <dgm:chMax val="0"/>
          <dgm:chPref val="0"/>
          <dgm:bulletEnabled val="1"/>
        </dgm:presLayoutVars>
      </dgm:prSet>
      <dgm:spPr/>
    </dgm:pt>
    <dgm:pt modelId="{5AAF0893-44E7-48B5-BBEB-B758B27481A1}" type="pres">
      <dgm:prSet presAssocID="{29E47CA0-A44B-4DBF-A632-3E570954DFC4}" presName="parSh" presStyleLbl="node1" presStyleIdx="3" presStyleCnt="4"/>
      <dgm:spPr/>
    </dgm:pt>
    <dgm:pt modelId="{F490E38C-52B1-40DD-9118-EA1652138C44}" type="pres">
      <dgm:prSet presAssocID="{29E47CA0-A44B-4DBF-A632-3E570954DFC4}" presName="desTx" presStyleLbl="fgAcc1" presStyleIdx="3" presStyleCnt="4">
        <dgm:presLayoutVars>
          <dgm:bulletEnabled val="1"/>
        </dgm:presLayoutVars>
      </dgm:prSet>
      <dgm:spPr/>
    </dgm:pt>
  </dgm:ptLst>
  <dgm:cxnLst>
    <dgm:cxn modelId="{8876BA29-CC1C-471A-B6FE-00573B7106D4}" srcId="{0EC36ED3-170D-490E-8A3C-042F80FBD4E6}" destId="{F525C0A3-1A38-471E-94B6-E2412BB803A4}" srcOrd="0" destOrd="0" parTransId="{76ADCEE3-AF06-47C4-B3B2-01726CFF6033}" sibTransId="{C2916E46-FA3E-4510-ADA4-F3F60EFB4995}"/>
    <dgm:cxn modelId="{2121B848-7BC1-4D37-AA76-94605F286EF1}" srcId="{F525C0A3-1A38-471E-94B6-E2412BB803A4}" destId="{C0980614-B28A-4FA9-ACD0-38FED41A39D3}" srcOrd="0" destOrd="0" parTransId="{06F55744-0708-4D11-BFE3-F4BB97B2B0B3}" sibTransId="{A96F8F74-4466-4E03-AD74-CBC31249530B}"/>
    <dgm:cxn modelId="{1B345462-3302-43D8-8446-CF9A45E5BD0A}" srcId="{F525C0A3-1A38-471E-94B6-E2412BB803A4}" destId="{359B34B1-6601-448C-8303-01973ECC7F40}" srcOrd="1" destOrd="0" parTransId="{DB51BCFF-4484-4006-BE36-C5C15180664C}" sibTransId="{95D3371A-AD2A-464E-96F2-5AE9A3D1EAA1}"/>
    <dgm:cxn modelId="{82F58737-C594-4F0F-A308-C7D150C72028}" srcId="{0EC36ED3-170D-490E-8A3C-042F80FBD4E6}" destId="{8146EC02-6249-4F3E-B629-FDDFDAC672D9}" srcOrd="1" destOrd="0" parTransId="{1BC7AF9F-994B-403C-82D0-9125987754D8}" sibTransId="{D36F1FF7-7E27-446C-AEDE-088E21ABD9C2}"/>
    <dgm:cxn modelId="{8396CFAD-E492-4AB8-9814-D9BF77927238}" srcId="{8146EC02-6249-4F3E-B629-FDDFDAC672D9}" destId="{A8537839-424F-4EA3-B928-E79805D01E7C}" srcOrd="0" destOrd="1" parTransId="{829578B4-F624-40EB-9EA0-BB93E79210BA}" sibTransId="{735D18C2-3F50-43FF-9629-37D0942EFC00}"/>
    <dgm:cxn modelId="{7882F8E4-3668-45E7-88AF-F50F7A144BC0}" srcId="{8146EC02-6249-4F3E-B629-FDDFDAC672D9}" destId="{3C66A89C-0FF6-47AC-B84D-16A40F48C031}" srcOrd="1" destOrd="1" parTransId="{E1ECDAA5-DF1A-4438-B51B-137B391B4D9F}" sibTransId="{BBE6AF85-D13C-4E81-8EB5-F97FA35C6871}"/>
    <dgm:cxn modelId="{9168AB8A-8F8D-49D8-9CA1-653E3A17FE31}" srcId="{8146EC02-6249-4F3E-B629-FDDFDAC672D9}" destId="{10D99861-69D2-459C-886F-85F86939D56C}" srcOrd="2" destOrd="1" parTransId="{65310B9C-ACE6-40AB-93C6-9F51647E6723}" sibTransId="{8E6A33A1-3882-41F9-9A9B-0D50CF33DDD9}"/>
    <dgm:cxn modelId="{5258CE0F-3EDD-4E24-893C-DA5AA4154F5B}" srcId="{8146EC02-6249-4F3E-B629-FDDFDAC672D9}" destId="{852CDBE5-4FC9-44AB-8650-C70FB7E0DDD6}" srcOrd="3" destOrd="1" parTransId="{8C155AED-76BA-486D-AD63-6CF5DEB8416F}" sibTransId="{41345953-BB3C-4F25-98B9-619BDBE67A6E}"/>
    <dgm:cxn modelId="{DCB6F375-8671-4BF9-A40B-6FFA8B70336F}" srcId="{0EC36ED3-170D-490E-8A3C-042F80FBD4E6}" destId="{08A6B461-C446-4973-A6B8-40BC13F53F01}" srcOrd="2" destOrd="0" parTransId="{8C86178C-C93D-4188-BBCA-4DB57C2D99EC}" sibTransId="{106C7A40-1CAC-4DC0-848E-5824F2A70A28}"/>
    <dgm:cxn modelId="{170E352D-D27A-4FE6-BB7C-68CA54C5F7F9}" srcId="{08A6B461-C446-4973-A6B8-40BC13F53F01}" destId="{F88A1350-358B-4C61-A36C-78CE8A9604F9}" srcOrd="0" destOrd="2" parTransId="{E7B15886-439A-4465-A2F0-E45FE269C3A1}" sibTransId="{69B96044-0425-428A-BC97-B64EE2DEBBAB}"/>
    <dgm:cxn modelId="{3F6C2117-D9E9-4A83-A599-8E09741E7428}" srcId="{08A6B461-C446-4973-A6B8-40BC13F53F01}" destId="{2DFB39DF-625B-4E9C-B219-C2359B8DBC4D}" srcOrd="1" destOrd="2" parTransId="{47E5802C-B159-4A72-87B7-FD3B23381DF6}" sibTransId="{E6956CB9-536F-494E-9E30-F92A7DEAC398}"/>
    <dgm:cxn modelId="{3660DCD8-918A-48B0-93A8-3DA3C2ADFDA1}" srcId="{08A6B461-C446-4973-A6B8-40BC13F53F01}" destId="{B5A74212-4166-4B85-99B6-C75379805D67}" srcOrd="2" destOrd="2" parTransId="{23151DBC-AD9A-4CFA-AC25-5C97DB2F3E01}" sibTransId="{A82390FC-2402-4E05-A1FC-30126A7688DA}"/>
    <dgm:cxn modelId="{C42CBF9A-4068-44CF-BB29-0CEED1E31FA4}" srcId="{0EC36ED3-170D-490E-8A3C-042F80FBD4E6}" destId="{29E47CA0-A44B-4DBF-A632-3E570954DFC4}" srcOrd="3" destOrd="0" parTransId="{FF67BD21-6571-45D6-A1C8-C00F99471AF5}" sibTransId="{48CE0759-142E-4150-9374-1A563C40E1D2}"/>
    <dgm:cxn modelId="{824074AB-FB41-4B83-9006-281713F1BD72}" srcId="{29E47CA0-A44B-4DBF-A632-3E570954DFC4}" destId="{8F430B2A-CDC7-4B55-B353-05E4AC169AC9}" srcOrd="0" destOrd="3" parTransId="{33FD22B6-C860-470B-B2B6-24539D718A0C}" sibTransId="{9315922C-73CE-4E74-A26B-B94934B2893D}"/>
    <dgm:cxn modelId="{A1E3E6EC-AA92-4F3B-A2B6-E5D7ABCDBF01}" srcId="{29E47CA0-A44B-4DBF-A632-3E570954DFC4}" destId="{478873BE-6365-4990-BD76-2189353CCA1C}" srcOrd="1" destOrd="3" parTransId="{39253029-FAA3-4775-9C5F-E968A13F3341}" sibTransId="{A37D1981-3286-4672-A496-6FC4BA73EA77}"/>
    <dgm:cxn modelId="{D0E46F78-3AAD-480B-891F-62EBA34D24DB}" srcId="{29E47CA0-A44B-4DBF-A632-3E570954DFC4}" destId="{D85E44FF-6526-4A58-927A-A138E5C97D54}" srcOrd="2" destOrd="3" parTransId="{6A30065C-7C06-45DD-A653-4A5E511D1099}" sibTransId="{9C3C9A3E-0CC7-4B0C-8A1C-5FD6A34EA0C0}"/>
    <dgm:cxn modelId="{955FF48D-2AE7-4752-9228-CC08A7E01C2E}" srcId="{29E47CA0-A44B-4DBF-A632-3E570954DFC4}" destId="{385315EC-4151-4A74-BC78-3F9CDB7EC52B}" srcOrd="3" destOrd="3" parTransId="{A4DFACFD-D8F4-45BA-A451-A42F1D5A1F91}" sibTransId="{ED0DE87D-9C1E-43F3-A637-1FAEF0DAA61A}"/>
    <dgm:cxn modelId="{2838E968-8D68-4DCF-88E6-822C04C4AD9A}" type="presOf" srcId="{0EC36ED3-170D-490E-8A3C-042F80FBD4E6}" destId="{8D122769-3081-45B8-8D1C-43B9B0F53578}" srcOrd="0" destOrd="0" presId="urn:microsoft.com/office/officeart/2005/8/layout/process3"/>
    <dgm:cxn modelId="{DEBC66FB-41CE-489E-8577-1AD5A1E2B59A}" type="presParOf" srcId="{8D122769-3081-45B8-8D1C-43B9B0F53578}" destId="{497FCF95-A841-4421-9C17-7A6A09C73732}" srcOrd="0" destOrd="0" presId="urn:microsoft.com/office/officeart/2005/8/layout/process3"/>
    <dgm:cxn modelId="{40C84C2E-6F13-4101-87D7-F6B8940E3ADF}" type="presParOf" srcId="{497FCF95-A841-4421-9C17-7A6A09C73732}" destId="{F2DB2950-7946-4A73-A32A-DB3045DB8327}" srcOrd="0" destOrd="0" presId="urn:microsoft.com/office/officeart/2005/8/layout/process3"/>
    <dgm:cxn modelId="{4BD19B19-EB8F-4623-B8BB-B7D79F52D855}" type="presOf" srcId="{F525C0A3-1A38-471E-94B6-E2412BB803A4}" destId="{F2DB2950-7946-4A73-A32A-DB3045DB8327}" srcOrd="1" destOrd="0" presId="urn:microsoft.com/office/officeart/2005/8/layout/process3"/>
    <dgm:cxn modelId="{A8677F6A-F656-4193-A0D9-4FCB7FACD1A7}" type="presParOf" srcId="{497FCF95-A841-4421-9C17-7A6A09C73732}" destId="{138E3DA5-8178-42ED-8109-6537EECB9384}" srcOrd="1" destOrd="0" presId="urn:microsoft.com/office/officeart/2005/8/layout/process3"/>
    <dgm:cxn modelId="{0C47D162-7DFF-4AD1-8725-71DFAE8BE7CE}" type="presOf" srcId="{F525C0A3-1A38-471E-94B6-E2412BB803A4}" destId="{138E3DA5-8178-42ED-8109-6537EECB9384}" srcOrd="0" destOrd="0" presId="urn:microsoft.com/office/officeart/2005/8/layout/process3"/>
    <dgm:cxn modelId="{C5985529-D685-44E3-BA1D-B708E0BEE386}" type="presParOf" srcId="{497FCF95-A841-4421-9C17-7A6A09C73732}" destId="{880A95A0-8CC4-42CB-922A-2DCEBF239E92}" srcOrd="2" destOrd="0" presId="urn:microsoft.com/office/officeart/2005/8/layout/process3"/>
    <dgm:cxn modelId="{A89315A7-7CD9-4EEC-907F-5307F0B5DD37}" type="presOf" srcId="{C0980614-B28A-4FA9-ACD0-38FED41A39D3}" destId="{880A95A0-8CC4-42CB-922A-2DCEBF239E92}" srcOrd="0" destOrd="0" presId="urn:microsoft.com/office/officeart/2005/8/layout/process3"/>
    <dgm:cxn modelId="{E561E24B-F5E4-4E46-A507-6BDB6A5F33F9}" type="presOf" srcId="{359B34B1-6601-448C-8303-01973ECC7F40}" destId="{880A95A0-8CC4-42CB-922A-2DCEBF239E92}" srcOrd="0" destOrd="1" presId="urn:microsoft.com/office/officeart/2005/8/layout/process3"/>
    <dgm:cxn modelId="{0D756593-FED3-454B-B67E-108E5C7B1C1F}" type="presParOf" srcId="{8D122769-3081-45B8-8D1C-43B9B0F53578}" destId="{478F2627-FAB7-49D8-BFF3-9E273B129B51}" srcOrd="1" destOrd="0" presId="urn:microsoft.com/office/officeart/2005/8/layout/process3"/>
    <dgm:cxn modelId="{8B0F5E70-9D4E-4286-90BD-4A26744E31D0}" type="presOf" srcId="{C2916E46-FA3E-4510-ADA4-F3F60EFB4995}" destId="{478F2627-FAB7-49D8-BFF3-9E273B129B51}" srcOrd="0" destOrd="0" presId="urn:microsoft.com/office/officeart/2005/8/layout/process3"/>
    <dgm:cxn modelId="{FEDA39D7-DBF3-4204-B1C6-781D422E0521}" type="presParOf" srcId="{478F2627-FAB7-49D8-BFF3-9E273B129B51}" destId="{4CA49C9B-DB45-47C9-AD58-5087A7C90D0B}" srcOrd="0" destOrd="1" presId="urn:microsoft.com/office/officeart/2005/8/layout/process3"/>
    <dgm:cxn modelId="{4FBBDF48-CECC-4D14-AB49-9A60CE9DF24F}" type="presOf" srcId="{C2916E46-FA3E-4510-ADA4-F3F60EFB4995}" destId="{4CA49C9B-DB45-47C9-AD58-5087A7C90D0B}" srcOrd="1" destOrd="0" presId="urn:microsoft.com/office/officeart/2005/8/layout/process3"/>
    <dgm:cxn modelId="{0049AB6E-7CB1-4E37-A262-F48A7FA5EEF6}" type="presParOf" srcId="{8D122769-3081-45B8-8D1C-43B9B0F53578}" destId="{14825301-3492-4FFA-9FE0-07F8E6A177E7}" srcOrd="2" destOrd="0" presId="urn:microsoft.com/office/officeart/2005/8/layout/process3"/>
    <dgm:cxn modelId="{A3CBE0B7-E08D-4176-86B0-EF9EA72A4912}" type="presParOf" srcId="{14825301-3492-4FFA-9FE0-07F8E6A177E7}" destId="{4498A878-7003-4786-ACDE-88FB490D2DD4}" srcOrd="0" destOrd="2" presId="urn:microsoft.com/office/officeart/2005/8/layout/process3"/>
    <dgm:cxn modelId="{D62EA8C0-D03F-40A9-B565-4003154ED7E1}" type="presOf" srcId="{8146EC02-6249-4F3E-B629-FDDFDAC672D9}" destId="{4498A878-7003-4786-ACDE-88FB490D2DD4}" srcOrd="1" destOrd="0" presId="urn:microsoft.com/office/officeart/2005/8/layout/process3"/>
    <dgm:cxn modelId="{B7629B3B-30CD-4EBA-B59A-6850D50016B3}" type="presParOf" srcId="{14825301-3492-4FFA-9FE0-07F8E6A177E7}" destId="{A0A4D9F0-D77F-4073-84EF-E4612A44FBFF}" srcOrd="1" destOrd="2" presId="urn:microsoft.com/office/officeart/2005/8/layout/process3"/>
    <dgm:cxn modelId="{E5C9729F-32D4-4329-B0CF-83810A1DFAF8}" type="presOf" srcId="{8146EC02-6249-4F3E-B629-FDDFDAC672D9}" destId="{A0A4D9F0-D77F-4073-84EF-E4612A44FBFF}" srcOrd="0" destOrd="0" presId="urn:microsoft.com/office/officeart/2005/8/layout/process3"/>
    <dgm:cxn modelId="{AA5A6113-DB0E-4DCC-B384-EFBBD128C759}" type="presParOf" srcId="{14825301-3492-4FFA-9FE0-07F8E6A177E7}" destId="{E9757F79-BF61-4237-BC25-16F9D398269D}" srcOrd="2" destOrd="2" presId="urn:microsoft.com/office/officeart/2005/8/layout/process3"/>
    <dgm:cxn modelId="{10869774-A55F-4763-BCE0-BFA4DD3D13CC}" type="presOf" srcId="{A8537839-424F-4EA3-B928-E79805D01E7C}" destId="{E9757F79-BF61-4237-BC25-16F9D398269D}" srcOrd="0" destOrd="0" presId="urn:microsoft.com/office/officeart/2005/8/layout/process3"/>
    <dgm:cxn modelId="{CBE4FD76-4BCD-4851-A8B1-A79DCAC89E6D}" type="presOf" srcId="{3C66A89C-0FF6-47AC-B84D-16A40F48C031}" destId="{E9757F79-BF61-4237-BC25-16F9D398269D}" srcOrd="0" destOrd="1" presId="urn:microsoft.com/office/officeart/2005/8/layout/process3"/>
    <dgm:cxn modelId="{6CEA5083-C3A9-44CC-AFB0-9E9A54605FC2}" type="presOf" srcId="{10D99861-69D2-459C-886F-85F86939D56C}" destId="{E9757F79-BF61-4237-BC25-16F9D398269D}" srcOrd="0" destOrd="2" presId="urn:microsoft.com/office/officeart/2005/8/layout/process3"/>
    <dgm:cxn modelId="{B7F1AA18-E74C-4CC6-837C-A81536A69C9F}" type="presOf" srcId="{852CDBE5-4FC9-44AB-8650-C70FB7E0DDD6}" destId="{E9757F79-BF61-4237-BC25-16F9D398269D}" srcOrd="0" destOrd="3" presId="urn:microsoft.com/office/officeart/2005/8/layout/process3"/>
    <dgm:cxn modelId="{C8851329-5365-4578-8B68-4F4956527040}" type="presParOf" srcId="{8D122769-3081-45B8-8D1C-43B9B0F53578}" destId="{3E9DE2FC-89D6-4634-A0DA-111BB3E30350}" srcOrd="3" destOrd="0" presId="urn:microsoft.com/office/officeart/2005/8/layout/process3"/>
    <dgm:cxn modelId="{7D29B723-16B4-4005-BA5B-9750FFC6415B}" type="presOf" srcId="{D36F1FF7-7E27-446C-AEDE-088E21ABD9C2}" destId="{3E9DE2FC-89D6-4634-A0DA-111BB3E30350}" srcOrd="0" destOrd="0" presId="urn:microsoft.com/office/officeart/2005/8/layout/process3"/>
    <dgm:cxn modelId="{F660E1E0-97B6-4BEC-AB72-1CC308D2A16A}" type="presParOf" srcId="{3E9DE2FC-89D6-4634-A0DA-111BB3E30350}" destId="{7E4AEE95-4C17-4056-9E43-A34FCA0FC1BC}" srcOrd="0" destOrd="3" presId="urn:microsoft.com/office/officeart/2005/8/layout/process3"/>
    <dgm:cxn modelId="{F9CD538A-FAF4-4921-B518-EB717C7E3CC3}" type="presOf" srcId="{D36F1FF7-7E27-446C-AEDE-088E21ABD9C2}" destId="{7E4AEE95-4C17-4056-9E43-A34FCA0FC1BC}" srcOrd="1" destOrd="0" presId="urn:microsoft.com/office/officeart/2005/8/layout/process3"/>
    <dgm:cxn modelId="{137177D5-5FFD-40A0-B868-02D69D065049}" type="presParOf" srcId="{8D122769-3081-45B8-8D1C-43B9B0F53578}" destId="{D24F96FF-EF96-4D00-9A40-7592BF096523}" srcOrd="4" destOrd="0" presId="urn:microsoft.com/office/officeart/2005/8/layout/process3"/>
    <dgm:cxn modelId="{E9DEDD00-64ED-4637-9DDE-889D862AEA81}" type="presParOf" srcId="{D24F96FF-EF96-4D00-9A40-7592BF096523}" destId="{EA69B024-FE5D-4342-8322-B00BF8985C18}" srcOrd="0" destOrd="4" presId="urn:microsoft.com/office/officeart/2005/8/layout/process3"/>
    <dgm:cxn modelId="{5AF3CE87-140C-4D1A-BB3C-C87AB04F7E4D}" type="presOf" srcId="{08A6B461-C446-4973-A6B8-40BC13F53F01}" destId="{EA69B024-FE5D-4342-8322-B00BF8985C18}" srcOrd="1" destOrd="0" presId="urn:microsoft.com/office/officeart/2005/8/layout/process3"/>
    <dgm:cxn modelId="{858261FE-A3BC-4107-84E4-22462DA40595}" type="presParOf" srcId="{D24F96FF-EF96-4D00-9A40-7592BF096523}" destId="{36829B79-9DFF-490E-8EB6-06185E4F444D}" srcOrd="1" destOrd="4" presId="urn:microsoft.com/office/officeart/2005/8/layout/process3"/>
    <dgm:cxn modelId="{391034DD-5339-4924-9E57-EB5060C7BC7D}" type="presOf" srcId="{08A6B461-C446-4973-A6B8-40BC13F53F01}" destId="{36829B79-9DFF-490E-8EB6-06185E4F444D}" srcOrd="0" destOrd="0" presId="urn:microsoft.com/office/officeart/2005/8/layout/process3"/>
    <dgm:cxn modelId="{51FC3A94-81F2-4294-9468-519C26F8ADB3}" type="presParOf" srcId="{D24F96FF-EF96-4D00-9A40-7592BF096523}" destId="{70DE99B9-090F-4F61-9632-C864773F71DE}" srcOrd="2" destOrd="4" presId="urn:microsoft.com/office/officeart/2005/8/layout/process3"/>
    <dgm:cxn modelId="{92AF864A-BFF3-4C83-AF7B-A7922ECC3D7D}" type="presOf" srcId="{F88A1350-358B-4C61-A36C-78CE8A9604F9}" destId="{70DE99B9-090F-4F61-9632-C864773F71DE}" srcOrd="0" destOrd="0" presId="urn:microsoft.com/office/officeart/2005/8/layout/process3"/>
    <dgm:cxn modelId="{0BBBD452-5367-4804-BBCA-21825B29DF1C}" type="presOf" srcId="{2DFB39DF-625B-4E9C-B219-C2359B8DBC4D}" destId="{70DE99B9-090F-4F61-9632-C864773F71DE}" srcOrd="0" destOrd="1" presId="urn:microsoft.com/office/officeart/2005/8/layout/process3"/>
    <dgm:cxn modelId="{2946E72F-80F6-4A2A-9A07-9C29C983ECA5}" type="presOf" srcId="{B5A74212-4166-4B85-99B6-C75379805D67}" destId="{70DE99B9-090F-4F61-9632-C864773F71DE}" srcOrd="0" destOrd="2" presId="urn:microsoft.com/office/officeart/2005/8/layout/process3"/>
    <dgm:cxn modelId="{3487D6F3-37D0-4A22-9474-734462B9748F}" type="presParOf" srcId="{8D122769-3081-45B8-8D1C-43B9B0F53578}" destId="{B3C8038B-D288-4207-9249-EE72BD1A9F86}" srcOrd="5" destOrd="0" presId="urn:microsoft.com/office/officeart/2005/8/layout/process3"/>
    <dgm:cxn modelId="{52B17ED4-1995-4C4F-A1DF-B4E39ED6F364}" type="presOf" srcId="{106C7A40-1CAC-4DC0-848E-5824F2A70A28}" destId="{B3C8038B-D288-4207-9249-EE72BD1A9F86}" srcOrd="0" destOrd="0" presId="urn:microsoft.com/office/officeart/2005/8/layout/process3"/>
    <dgm:cxn modelId="{1AD86A75-688C-4990-8B57-8B7503A567E1}" type="presParOf" srcId="{B3C8038B-D288-4207-9249-EE72BD1A9F86}" destId="{8BC44205-FB66-4536-AE79-735D8F98D524}" srcOrd="0" destOrd="5" presId="urn:microsoft.com/office/officeart/2005/8/layout/process3"/>
    <dgm:cxn modelId="{A0833B1E-AEF4-4A2F-B274-DDD197927B74}" type="presOf" srcId="{106C7A40-1CAC-4DC0-848E-5824F2A70A28}" destId="{8BC44205-FB66-4536-AE79-735D8F98D524}" srcOrd="1" destOrd="0" presId="urn:microsoft.com/office/officeart/2005/8/layout/process3"/>
    <dgm:cxn modelId="{AB8989A4-4130-4AC6-BC33-CA51120818FA}" type="presParOf" srcId="{8D122769-3081-45B8-8D1C-43B9B0F53578}" destId="{0F7DAC52-A097-47DA-B805-46E9EAFE55E2}" srcOrd="6" destOrd="0" presId="urn:microsoft.com/office/officeart/2005/8/layout/process3"/>
    <dgm:cxn modelId="{863FBC3B-4074-4145-99B4-88C277788874}" type="presParOf" srcId="{0F7DAC52-A097-47DA-B805-46E9EAFE55E2}" destId="{3129520D-4682-4B76-937D-D90B75501E12}" srcOrd="0" destOrd="6" presId="urn:microsoft.com/office/officeart/2005/8/layout/process3"/>
    <dgm:cxn modelId="{2A28D169-859E-4F2E-A7CA-B7320B86C2E7}" type="presOf" srcId="{29E47CA0-A44B-4DBF-A632-3E570954DFC4}" destId="{3129520D-4682-4B76-937D-D90B75501E12}" srcOrd="1" destOrd="0" presId="urn:microsoft.com/office/officeart/2005/8/layout/process3"/>
    <dgm:cxn modelId="{5C420D4E-D7CC-4BB7-92C6-C8432FE99AE4}" type="presParOf" srcId="{0F7DAC52-A097-47DA-B805-46E9EAFE55E2}" destId="{5AAF0893-44E7-48B5-BBEB-B758B27481A1}" srcOrd="1" destOrd="6" presId="urn:microsoft.com/office/officeart/2005/8/layout/process3"/>
    <dgm:cxn modelId="{3A6F1A69-DCC4-4CB7-9E5B-170DBE5AC10F}" type="presOf" srcId="{29E47CA0-A44B-4DBF-A632-3E570954DFC4}" destId="{5AAF0893-44E7-48B5-BBEB-B758B27481A1}" srcOrd="0" destOrd="0" presId="urn:microsoft.com/office/officeart/2005/8/layout/process3"/>
    <dgm:cxn modelId="{9B6910AD-FCF9-4454-B693-77840AA8F8AF}" type="presParOf" srcId="{0F7DAC52-A097-47DA-B805-46E9EAFE55E2}" destId="{F490E38C-52B1-40DD-9118-EA1652138C44}" srcOrd="2" destOrd="6" presId="urn:microsoft.com/office/officeart/2005/8/layout/process3"/>
    <dgm:cxn modelId="{40FC2442-BD53-4D43-A3C6-8451C566B06D}" type="presOf" srcId="{8F430B2A-CDC7-4B55-B353-05E4AC169AC9}" destId="{F490E38C-52B1-40DD-9118-EA1652138C44}" srcOrd="0" destOrd="0" presId="urn:microsoft.com/office/officeart/2005/8/layout/process3"/>
    <dgm:cxn modelId="{60B5BA6D-8D23-4942-B979-78940934D4D9}" type="presOf" srcId="{478873BE-6365-4990-BD76-2189353CCA1C}" destId="{F490E38C-52B1-40DD-9118-EA1652138C44}" srcOrd="0" destOrd="1" presId="urn:microsoft.com/office/officeart/2005/8/layout/process3"/>
    <dgm:cxn modelId="{353854F3-C080-4A91-9E13-6273FADE6E6D}" type="presOf" srcId="{D85E44FF-6526-4A58-927A-A138E5C97D54}" destId="{F490E38C-52B1-40DD-9118-EA1652138C44}" srcOrd="0" destOrd="2" presId="urn:microsoft.com/office/officeart/2005/8/layout/process3"/>
    <dgm:cxn modelId="{F3D8B789-9059-411C-A731-6975F18C8B93}" type="presOf" srcId="{385315EC-4151-4A74-BC78-3F9CDB7EC52B}" destId="{F490E38C-52B1-40DD-9118-EA1652138C44}" srcOrd="0" destOrd="3" presId="urn:microsoft.com/office/officeart/2005/8/layout/process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1574049" cy="3757127"/>
        <a:chOff x="0" y="0"/>
        <a:chExt cx="11574049" cy="3757127"/>
      </a:xfrm>
    </dsp:grpSpPr>
    <dsp:sp modelId="{EEBC0BD2-44F2-40DE-AF66-E33CD58C693E}">
      <dsp:nvSpPr>
        <dsp:cNvPr id="3" name="Rounded Rectangle 2"/>
        <dsp:cNvSpPr/>
      </dsp:nvSpPr>
      <dsp:spPr bwMode="white">
        <a:xfrm>
          <a:off x="0" y="1118163"/>
          <a:ext cx="1253044" cy="604800"/>
        </a:xfrm>
        <a:prstGeom prst="roundRect">
          <a:avLst>
            <a:gd name="adj" fmla="val 10000"/>
          </a:avLst>
        </a:prstGeom>
      </dsp:spPr>
      <dsp:style>
        <a:lnRef idx="2">
          <a:schemeClr val="lt1"/>
        </a:lnRef>
        <a:fillRef idx="1">
          <a:schemeClr val="accent5">
            <a:hueOff val="0"/>
            <a:satOff val="0"/>
            <a:lumOff val="0"/>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Borrowers</a:t>
          </a:r>
          <a:endParaRPr lang="en-IN" dirty="0"/>
        </a:p>
      </dsp:txBody>
      <dsp:txXfrm>
        <a:off x="0" y="1118163"/>
        <a:ext cx="1253044" cy="604800"/>
      </dsp:txXfrm>
    </dsp:sp>
    <dsp:sp modelId="{99B24C72-BDEF-4742-B7DA-5362F3A63321}">
      <dsp:nvSpPr>
        <dsp:cNvPr id="4" name="Rounded Rectangle 3"/>
        <dsp:cNvSpPr/>
      </dsp:nvSpPr>
      <dsp:spPr bwMode="white">
        <a:xfrm>
          <a:off x="256648" y="1521364"/>
          <a:ext cx="1253044" cy="1117600"/>
        </a:xfrm>
        <a:prstGeom prst="roundRect">
          <a:avLst>
            <a:gd name="adj" fmla="val 10000"/>
          </a:avLst>
        </a:prstGeom>
      </dsp:spPr>
      <dsp:style>
        <a:lnRef idx="2">
          <a:schemeClr val="accent5">
            <a:hueOff val="0"/>
            <a:satOff val="0"/>
            <a:lumOff val="0"/>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Business</a:t>
          </a:r>
          <a:endParaRPr lang="en-IN" dirty="0">
            <a:solidFill>
              <a:schemeClr val="dk1"/>
            </a:solidFill>
          </a:endParaRPr>
        </a:p>
      </dsp:txBody>
      <dsp:txXfrm>
        <a:off x="256648" y="1521364"/>
        <a:ext cx="1253044" cy="1117600"/>
      </dsp:txXfrm>
    </dsp:sp>
    <dsp:sp modelId="{5C838FB9-5477-49BA-89D9-E362ABD99034}">
      <dsp:nvSpPr>
        <dsp:cNvPr id="5" name="Right Arrow 4"/>
        <dsp:cNvSpPr/>
      </dsp:nvSpPr>
      <dsp:spPr bwMode="white">
        <a:xfrm>
          <a:off x="1431603" y="1163778"/>
          <a:ext cx="402709" cy="311972"/>
        </a:xfrm>
        <a:prstGeom prst="rightArrow">
          <a:avLst>
            <a:gd name="adj1" fmla="val 60000"/>
            <a:gd name="adj2" fmla="val 50000"/>
          </a:avLst>
        </a:prstGeom>
      </dsp:spPr>
      <dsp:style>
        <a:lnRef idx="0">
          <a:schemeClr val="lt1"/>
        </a:lnRef>
        <a:fillRef idx="1">
          <a:schemeClr val="accent5">
            <a:hueOff val="0"/>
            <a:satOff val="0"/>
            <a:lumOff val="0"/>
            <a:alpha val="100000"/>
          </a:schemeClr>
        </a:fillRef>
        <a:effectRef idx="0">
          <a:scrgbClr r="0" g="0" b="0"/>
        </a:effectRef>
        <a:fontRef idx="minor">
          <a:schemeClr val="lt1"/>
        </a:fontRef>
      </dsp:style>
      <dsp:txBody>
        <a:bodyPr lIns="0" tIns="0" rIns="0" bIns="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en-IN"/>
        </a:p>
      </dsp:txBody>
      <dsp:txXfrm>
        <a:off x="1431603" y="1163778"/>
        <a:ext cx="402709" cy="311972"/>
      </dsp:txXfrm>
    </dsp:sp>
    <dsp:sp modelId="{BAE019AB-5968-42C8-9DB8-1E6712390455}">
      <dsp:nvSpPr>
        <dsp:cNvPr id="6" name="Rounded Rectangle 5"/>
        <dsp:cNvSpPr/>
      </dsp:nvSpPr>
      <dsp:spPr bwMode="white">
        <a:xfrm>
          <a:off x="2012872" y="1118163"/>
          <a:ext cx="1253044" cy="604800"/>
        </a:xfrm>
        <a:prstGeom prst="roundRect">
          <a:avLst>
            <a:gd name="adj" fmla="val 10000"/>
          </a:avLst>
        </a:prstGeom>
      </dsp:spPr>
      <dsp:style>
        <a:lnRef idx="2">
          <a:schemeClr val="lt1"/>
        </a:lnRef>
        <a:fillRef idx="1">
          <a:schemeClr val="accent5">
            <a:hueOff val="156000"/>
            <a:satOff val="8471"/>
            <a:lumOff val="-3058"/>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Lenders</a:t>
          </a:r>
          <a:endParaRPr lang="en-IN" dirty="0"/>
        </a:p>
      </dsp:txBody>
      <dsp:txXfrm>
        <a:off x="2012872" y="1118163"/>
        <a:ext cx="1253044" cy="604800"/>
      </dsp:txXfrm>
    </dsp:sp>
    <dsp:sp modelId="{04F44D94-7E6D-4B5A-89B7-17FC300FED36}">
      <dsp:nvSpPr>
        <dsp:cNvPr id="7" name="Rounded Rectangle 6"/>
        <dsp:cNvSpPr/>
      </dsp:nvSpPr>
      <dsp:spPr bwMode="white">
        <a:xfrm>
          <a:off x="2269519" y="1521364"/>
          <a:ext cx="1253044" cy="1117600"/>
        </a:xfrm>
        <a:prstGeom prst="roundRect">
          <a:avLst>
            <a:gd name="adj" fmla="val 10000"/>
          </a:avLst>
        </a:prstGeom>
      </dsp:spPr>
      <dsp:style>
        <a:lnRef idx="2">
          <a:schemeClr val="accent5">
            <a:hueOff val="156000"/>
            <a:satOff val="8471"/>
            <a:lumOff val="-3058"/>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Banks, NBFC, Credit Union</a:t>
          </a:r>
          <a:endParaRPr lang="en-IN" dirty="0">
            <a:solidFill>
              <a:schemeClr val="dk1"/>
            </a:solidFill>
          </a:endParaRPr>
        </a:p>
      </dsp:txBody>
      <dsp:txXfrm>
        <a:off x="2269519" y="1521364"/>
        <a:ext cx="1253044" cy="1117600"/>
      </dsp:txXfrm>
    </dsp:sp>
    <dsp:sp modelId="{2AE1F182-EC44-44A0-B5C3-45C9B8511A1B}">
      <dsp:nvSpPr>
        <dsp:cNvPr id="8" name="Right Arrow 7"/>
        <dsp:cNvSpPr/>
      </dsp:nvSpPr>
      <dsp:spPr bwMode="white">
        <a:xfrm>
          <a:off x="3444475" y="1163778"/>
          <a:ext cx="402709" cy="311972"/>
        </a:xfrm>
        <a:prstGeom prst="rightArrow">
          <a:avLst>
            <a:gd name="adj1" fmla="val 60000"/>
            <a:gd name="adj2" fmla="val 50000"/>
          </a:avLst>
        </a:prstGeom>
      </dsp:spPr>
      <dsp:style>
        <a:lnRef idx="0">
          <a:schemeClr val="lt1"/>
        </a:lnRef>
        <a:fillRef idx="1">
          <a:schemeClr val="accent5">
            <a:hueOff val="195000"/>
            <a:satOff val="10588"/>
            <a:lumOff val="-3823"/>
            <a:alpha val="100000"/>
          </a:schemeClr>
        </a:fillRef>
        <a:effectRef idx="0">
          <a:scrgbClr r="0" g="0" b="0"/>
        </a:effectRef>
        <a:fontRef idx="minor">
          <a:schemeClr val="lt1"/>
        </a:fontRef>
      </dsp:style>
      <dsp:txBody>
        <a:bodyPr lIns="0" tIns="0" rIns="0" bIns="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en-IN"/>
        </a:p>
      </dsp:txBody>
      <dsp:txXfrm>
        <a:off x="3444475" y="1163778"/>
        <a:ext cx="402709" cy="311972"/>
      </dsp:txXfrm>
    </dsp:sp>
    <dsp:sp modelId="{0253F67E-9B4E-44DF-972F-618E46DC8313}">
      <dsp:nvSpPr>
        <dsp:cNvPr id="9" name="Rounded Rectangle 8"/>
        <dsp:cNvSpPr/>
      </dsp:nvSpPr>
      <dsp:spPr bwMode="white">
        <a:xfrm>
          <a:off x="4025743" y="1118163"/>
          <a:ext cx="1253044" cy="604800"/>
        </a:xfrm>
        <a:prstGeom prst="roundRect">
          <a:avLst>
            <a:gd name="adj" fmla="val 10000"/>
          </a:avLst>
        </a:prstGeom>
      </dsp:spPr>
      <dsp:style>
        <a:lnRef idx="2">
          <a:schemeClr val="lt1"/>
        </a:lnRef>
        <a:fillRef idx="1">
          <a:schemeClr val="accent5">
            <a:hueOff val="312000"/>
            <a:satOff val="16941"/>
            <a:lumOff val="-6117"/>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Security</a:t>
          </a:r>
          <a:endParaRPr lang="en-IN" dirty="0"/>
        </a:p>
      </dsp:txBody>
      <dsp:txXfrm>
        <a:off x="4025743" y="1118163"/>
        <a:ext cx="1253044" cy="604800"/>
      </dsp:txXfrm>
    </dsp:sp>
    <dsp:sp modelId="{3BA661B0-59FE-4FE2-993A-8F5772D1D0E6}">
      <dsp:nvSpPr>
        <dsp:cNvPr id="10" name="Rounded Rectangle 9"/>
        <dsp:cNvSpPr/>
      </dsp:nvSpPr>
      <dsp:spPr bwMode="white">
        <a:xfrm>
          <a:off x="4282391" y="1521364"/>
          <a:ext cx="1253044" cy="1117600"/>
        </a:xfrm>
        <a:prstGeom prst="roundRect">
          <a:avLst>
            <a:gd name="adj" fmla="val 10000"/>
          </a:avLst>
        </a:prstGeom>
      </dsp:spPr>
      <dsp:style>
        <a:lnRef idx="2">
          <a:schemeClr val="accent5">
            <a:hueOff val="312000"/>
            <a:satOff val="16941"/>
            <a:lumOff val="-6117"/>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Secured or unsecured</a:t>
          </a:r>
          <a:endParaRPr lang="en-IN" dirty="0">
            <a:solidFill>
              <a:schemeClr val="dk1"/>
            </a:solidFill>
          </a:endParaRPr>
        </a:p>
      </dsp:txBody>
      <dsp:txXfrm>
        <a:off x="4282391" y="1521364"/>
        <a:ext cx="1253044" cy="1117600"/>
      </dsp:txXfrm>
    </dsp:sp>
    <dsp:sp modelId="{91C2CD02-08F9-4824-B7CC-6BD733DFC8DD}">
      <dsp:nvSpPr>
        <dsp:cNvPr id="11" name="Right Arrow 10"/>
        <dsp:cNvSpPr/>
      </dsp:nvSpPr>
      <dsp:spPr bwMode="white">
        <a:xfrm>
          <a:off x="5457346" y="1163778"/>
          <a:ext cx="402709" cy="311972"/>
        </a:xfrm>
        <a:prstGeom prst="rightArrow">
          <a:avLst>
            <a:gd name="adj1" fmla="val 60000"/>
            <a:gd name="adj2" fmla="val 50000"/>
          </a:avLst>
        </a:prstGeom>
      </dsp:spPr>
      <dsp:style>
        <a:lnRef idx="0">
          <a:schemeClr val="lt1"/>
        </a:lnRef>
        <a:fillRef idx="1">
          <a:schemeClr val="accent5">
            <a:hueOff val="390000"/>
            <a:satOff val="21176"/>
            <a:lumOff val="-7646"/>
            <a:alpha val="100000"/>
          </a:schemeClr>
        </a:fillRef>
        <a:effectRef idx="0">
          <a:scrgbClr r="0" g="0" b="0"/>
        </a:effectRef>
        <a:fontRef idx="minor">
          <a:schemeClr val="lt1"/>
        </a:fontRef>
      </dsp:style>
      <dsp:txBody>
        <a:bodyPr lIns="0" tIns="0" rIns="0" bIns="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en-IN"/>
        </a:p>
      </dsp:txBody>
      <dsp:txXfrm>
        <a:off x="5457346" y="1163778"/>
        <a:ext cx="402709" cy="311972"/>
      </dsp:txXfrm>
    </dsp:sp>
    <dsp:sp modelId="{26C0CD0E-2DF2-4FC6-ACAD-71128E2E5502}">
      <dsp:nvSpPr>
        <dsp:cNvPr id="12" name="Rounded Rectangle 11"/>
        <dsp:cNvSpPr/>
      </dsp:nvSpPr>
      <dsp:spPr bwMode="white">
        <a:xfrm>
          <a:off x="6038615" y="1118163"/>
          <a:ext cx="1253044" cy="604800"/>
        </a:xfrm>
        <a:prstGeom prst="roundRect">
          <a:avLst>
            <a:gd name="adj" fmla="val 10000"/>
          </a:avLst>
        </a:prstGeom>
      </dsp:spPr>
      <dsp:style>
        <a:lnRef idx="2">
          <a:schemeClr val="lt1"/>
        </a:lnRef>
        <a:fillRef idx="1">
          <a:schemeClr val="accent5">
            <a:hueOff val="468000"/>
            <a:satOff val="25412"/>
            <a:lumOff val="-9175"/>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Term</a:t>
          </a:r>
          <a:endParaRPr lang="en-IN" dirty="0"/>
        </a:p>
      </dsp:txBody>
      <dsp:txXfrm>
        <a:off x="6038615" y="1118163"/>
        <a:ext cx="1253044" cy="604800"/>
      </dsp:txXfrm>
    </dsp:sp>
    <dsp:sp modelId="{3A401570-B4F0-422A-B24E-492B5047B1E2}">
      <dsp:nvSpPr>
        <dsp:cNvPr id="13" name="Rounded Rectangle 12"/>
        <dsp:cNvSpPr/>
      </dsp:nvSpPr>
      <dsp:spPr bwMode="white">
        <a:xfrm>
          <a:off x="6295262" y="1521364"/>
          <a:ext cx="1253044" cy="1117600"/>
        </a:xfrm>
        <a:prstGeom prst="roundRect">
          <a:avLst>
            <a:gd name="adj" fmla="val 10000"/>
          </a:avLst>
        </a:prstGeom>
      </dsp:spPr>
      <dsp:style>
        <a:lnRef idx="2">
          <a:schemeClr val="accent5">
            <a:hueOff val="468000"/>
            <a:satOff val="25412"/>
            <a:lumOff val="-9175"/>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Short term to Long term </a:t>
          </a:r>
          <a:endParaRPr lang="en-IN" dirty="0">
            <a:solidFill>
              <a:schemeClr val="dk1"/>
            </a:solidFill>
          </a:endParaRPr>
        </a:p>
      </dsp:txBody>
      <dsp:txXfrm>
        <a:off x="6295262" y="1521364"/>
        <a:ext cx="1253044" cy="1117600"/>
      </dsp:txXfrm>
    </dsp:sp>
    <dsp:sp modelId="{789E2AD5-66C0-4F05-BFFA-A28529F5D832}">
      <dsp:nvSpPr>
        <dsp:cNvPr id="14" name="Right Arrow 13"/>
        <dsp:cNvSpPr/>
      </dsp:nvSpPr>
      <dsp:spPr bwMode="white">
        <a:xfrm>
          <a:off x="7470218" y="1163778"/>
          <a:ext cx="402709" cy="311972"/>
        </a:xfrm>
        <a:prstGeom prst="rightArrow">
          <a:avLst>
            <a:gd name="adj1" fmla="val 60000"/>
            <a:gd name="adj2" fmla="val 50000"/>
          </a:avLst>
        </a:prstGeom>
      </dsp:spPr>
      <dsp:style>
        <a:lnRef idx="0">
          <a:schemeClr val="lt1"/>
        </a:lnRef>
        <a:fillRef idx="1">
          <a:schemeClr val="accent5">
            <a:hueOff val="585000"/>
            <a:satOff val="31765"/>
            <a:lumOff val="-11470"/>
            <a:alpha val="100000"/>
          </a:schemeClr>
        </a:fillRef>
        <a:effectRef idx="0">
          <a:scrgbClr r="0" g="0" b="0"/>
        </a:effectRef>
        <a:fontRef idx="minor">
          <a:schemeClr val="lt1"/>
        </a:fontRef>
      </dsp:style>
      <dsp:txBody>
        <a:bodyPr lIns="0" tIns="0" rIns="0" bIns="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en-IN"/>
        </a:p>
      </dsp:txBody>
      <dsp:txXfrm>
        <a:off x="7470218" y="1163778"/>
        <a:ext cx="402709" cy="311972"/>
      </dsp:txXfrm>
    </dsp:sp>
    <dsp:sp modelId="{B475A7D1-BBD1-4D59-9D64-4260D6BAEBBF}">
      <dsp:nvSpPr>
        <dsp:cNvPr id="15" name="Rounded Rectangle 14"/>
        <dsp:cNvSpPr/>
      </dsp:nvSpPr>
      <dsp:spPr bwMode="white">
        <a:xfrm>
          <a:off x="8051486" y="1118163"/>
          <a:ext cx="1253044" cy="604800"/>
        </a:xfrm>
        <a:prstGeom prst="roundRect">
          <a:avLst>
            <a:gd name="adj" fmla="val 10000"/>
          </a:avLst>
        </a:prstGeom>
      </dsp:spPr>
      <dsp:style>
        <a:lnRef idx="2">
          <a:schemeClr val="lt1"/>
        </a:lnRef>
        <a:fillRef idx="1">
          <a:schemeClr val="accent5">
            <a:hueOff val="624000"/>
            <a:satOff val="33882"/>
            <a:lumOff val="-12234"/>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Interest Rate </a:t>
          </a:r>
          <a:endParaRPr lang="en-IN" dirty="0"/>
        </a:p>
      </dsp:txBody>
      <dsp:txXfrm>
        <a:off x="8051486" y="1118163"/>
        <a:ext cx="1253044" cy="604800"/>
      </dsp:txXfrm>
    </dsp:sp>
    <dsp:sp modelId="{084A872C-545E-41D3-ACB1-B50A34938E40}">
      <dsp:nvSpPr>
        <dsp:cNvPr id="16" name="Rounded Rectangle 15"/>
        <dsp:cNvSpPr/>
      </dsp:nvSpPr>
      <dsp:spPr bwMode="white">
        <a:xfrm>
          <a:off x="8308134" y="1521364"/>
          <a:ext cx="1253044" cy="1117600"/>
        </a:xfrm>
        <a:prstGeom prst="roundRect">
          <a:avLst>
            <a:gd name="adj" fmla="val 10000"/>
          </a:avLst>
        </a:prstGeom>
      </dsp:spPr>
      <dsp:style>
        <a:lnRef idx="2">
          <a:schemeClr val="accent5">
            <a:hueOff val="624000"/>
            <a:satOff val="33882"/>
            <a:lumOff val="-12234"/>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Fixed or Floating</a:t>
          </a:r>
          <a:endParaRPr lang="en-IN" dirty="0">
            <a:solidFill>
              <a:schemeClr val="dk1"/>
            </a:solidFill>
          </a:endParaRPr>
        </a:p>
      </dsp:txBody>
      <dsp:txXfrm>
        <a:off x="8308134" y="1521364"/>
        <a:ext cx="1253044" cy="1117600"/>
      </dsp:txXfrm>
    </dsp:sp>
    <dsp:sp modelId="{40CE94D9-58D9-449E-AEC7-F8B79174EE16}">
      <dsp:nvSpPr>
        <dsp:cNvPr id="17" name="Right Arrow 16"/>
        <dsp:cNvSpPr/>
      </dsp:nvSpPr>
      <dsp:spPr bwMode="white">
        <a:xfrm>
          <a:off x="9483089" y="1163778"/>
          <a:ext cx="402709" cy="311972"/>
        </a:xfrm>
        <a:prstGeom prst="rightArrow">
          <a:avLst>
            <a:gd name="adj1" fmla="val 60000"/>
            <a:gd name="adj2" fmla="val 50000"/>
          </a:avLst>
        </a:prstGeom>
      </dsp:spPr>
      <dsp:style>
        <a:lnRef idx="0">
          <a:schemeClr val="lt1"/>
        </a:lnRef>
        <a:fillRef idx="1">
          <a:schemeClr val="accent5">
            <a:hueOff val="780000"/>
            <a:satOff val="42353"/>
            <a:lumOff val="-15293"/>
            <a:alpha val="100000"/>
          </a:schemeClr>
        </a:fillRef>
        <a:effectRef idx="0">
          <a:scrgbClr r="0" g="0" b="0"/>
        </a:effectRef>
        <a:fontRef idx="minor">
          <a:schemeClr val="lt1"/>
        </a:fontRef>
      </dsp:style>
      <dsp:txBody>
        <a:bodyPr lIns="0" tIns="0" rIns="0" bIns="0" anchor="ctr"/>
        <a:lstStyle>
          <a:lvl1pPr algn="ctr">
            <a:defRPr sz="1200"/>
          </a:lvl1pPr>
          <a:lvl2pPr marL="57150" indent="-57150" algn="ctr">
            <a:defRPr sz="900"/>
          </a:lvl2pPr>
          <a:lvl3pPr marL="114300" indent="-57150" algn="ctr">
            <a:defRPr sz="900"/>
          </a:lvl3pPr>
          <a:lvl4pPr marL="171450" indent="-57150" algn="ctr">
            <a:defRPr sz="900"/>
          </a:lvl4pPr>
          <a:lvl5pPr marL="228600" indent="-57150" algn="ctr">
            <a:defRPr sz="900"/>
          </a:lvl5pPr>
          <a:lvl6pPr marL="285750" indent="-57150" algn="ctr">
            <a:defRPr sz="900"/>
          </a:lvl6pPr>
          <a:lvl7pPr marL="342900" indent="-57150" algn="ctr">
            <a:defRPr sz="900"/>
          </a:lvl7pPr>
          <a:lvl8pPr marL="400050" indent="-57150" algn="ctr">
            <a:defRPr sz="900"/>
          </a:lvl8pPr>
          <a:lvl9pPr marL="457200" indent="-57150" algn="ctr">
            <a:defRPr sz="900"/>
          </a:lvl9pPr>
        </a:lstStyle>
        <a:p>
          <a:pPr lvl="0">
            <a:lnSpc>
              <a:spcPct val="100000"/>
            </a:lnSpc>
            <a:spcBef>
              <a:spcPct val="0"/>
            </a:spcBef>
            <a:spcAft>
              <a:spcPct val="35000"/>
            </a:spcAft>
          </a:pPr>
          <a:endParaRPr lang="en-IN"/>
        </a:p>
      </dsp:txBody>
      <dsp:txXfrm>
        <a:off x="9483089" y="1163778"/>
        <a:ext cx="402709" cy="311972"/>
      </dsp:txXfrm>
    </dsp:sp>
    <dsp:sp modelId="{B0862713-577D-42B4-8724-DE259857F93D}">
      <dsp:nvSpPr>
        <dsp:cNvPr id="18" name="Rounded Rectangle 17"/>
        <dsp:cNvSpPr/>
      </dsp:nvSpPr>
      <dsp:spPr bwMode="white">
        <a:xfrm>
          <a:off x="10064358" y="1118163"/>
          <a:ext cx="1253044" cy="604800"/>
        </a:xfrm>
        <a:prstGeom prst="roundRect">
          <a:avLst>
            <a:gd name="adj" fmla="val 10000"/>
          </a:avLst>
        </a:prstGeom>
      </dsp:spPr>
      <dsp:style>
        <a:lnRef idx="2">
          <a:schemeClr val="lt1"/>
        </a:lnRef>
        <a:fillRef idx="1">
          <a:schemeClr val="accent5">
            <a:hueOff val="780000"/>
            <a:satOff val="42353"/>
            <a:lumOff val="-15293"/>
            <a:alpha val="100000"/>
          </a:schemeClr>
        </a:fillRef>
        <a:effectRef idx="0">
          <a:scrgbClr r="0" g="0" b="0"/>
        </a:effectRef>
        <a:fontRef idx="minor">
          <a:schemeClr val="lt1"/>
        </a:fontRef>
      </dsp:style>
      <dsp:txBody>
        <a:bodyPr lIns="99568" tIns="99568" rIns="99568" bIns="53340" anchor="t"/>
        <a:lstStyle>
          <a:lvl1pPr algn="l">
            <a:defRPr sz="1400"/>
          </a:lvl1pPr>
          <a:lvl2pPr marL="57150" indent="-57150" algn="l">
            <a:defRPr sz="1000"/>
          </a:lvl2pPr>
          <a:lvl3pPr marL="114300" indent="-57150" algn="l">
            <a:defRPr sz="1000"/>
          </a:lvl3pPr>
          <a:lvl4pPr marL="171450" indent="-57150" algn="l">
            <a:defRPr sz="1000"/>
          </a:lvl4pPr>
          <a:lvl5pPr marL="228600" indent="-57150" algn="l">
            <a:defRPr sz="1000"/>
          </a:lvl5pPr>
          <a:lvl6pPr marL="285750" indent="-57150" algn="l">
            <a:defRPr sz="1000"/>
          </a:lvl6pPr>
          <a:lvl7pPr marL="342900" indent="-57150" algn="l">
            <a:defRPr sz="1000"/>
          </a:lvl7pPr>
          <a:lvl8pPr marL="400050" indent="-57150" algn="l">
            <a:defRPr sz="1000"/>
          </a:lvl8pPr>
          <a:lvl9pPr marL="457200" indent="-57150" algn="l">
            <a:defRPr sz="1000"/>
          </a:lvl9pPr>
        </a:lstStyle>
        <a:p>
          <a:pPr lvl="0">
            <a:lnSpc>
              <a:spcPct val="100000"/>
            </a:lnSpc>
            <a:spcBef>
              <a:spcPct val="0"/>
            </a:spcBef>
            <a:spcAft>
              <a:spcPct val="35000"/>
            </a:spcAft>
          </a:pPr>
          <a:r>
            <a:rPr lang="en-US" dirty="0"/>
            <a:t>Repayment</a:t>
          </a:r>
          <a:endParaRPr lang="en-IN" dirty="0"/>
        </a:p>
      </dsp:txBody>
      <dsp:txXfrm>
        <a:off x="10064358" y="1118163"/>
        <a:ext cx="1253044" cy="604800"/>
      </dsp:txXfrm>
    </dsp:sp>
    <dsp:sp modelId="{88E58D9E-08A1-4207-A47D-7AE5062637DC}">
      <dsp:nvSpPr>
        <dsp:cNvPr id="19" name="Rounded Rectangle 18"/>
        <dsp:cNvSpPr/>
      </dsp:nvSpPr>
      <dsp:spPr bwMode="white">
        <a:xfrm>
          <a:off x="10321005" y="1521364"/>
          <a:ext cx="1253044" cy="1117600"/>
        </a:xfrm>
        <a:prstGeom prst="roundRect">
          <a:avLst>
            <a:gd name="adj" fmla="val 10000"/>
          </a:avLst>
        </a:prstGeom>
      </dsp:spPr>
      <dsp:style>
        <a:lnRef idx="2">
          <a:schemeClr val="accent5">
            <a:hueOff val="780000"/>
            <a:satOff val="42353"/>
            <a:lumOff val="-15293"/>
            <a:alpha val="100000"/>
          </a:schemeClr>
        </a:lnRef>
        <a:fillRef idx="1">
          <a:schemeClr val="lt1">
            <a:alpha val="90000"/>
          </a:schemeClr>
        </a:fillRef>
        <a:effectRef idx="0">
          <a:scrgbClr r="0" g="0" b="0"/>
        </a:effectRef>
        <a:fontRef idx="minor"/>
      </dsp:style>
      <dsp:txBody>
        <a:bodyPr lIns="99568" tIns="99568" rIns="99568" bIns="99568" anchor="t"/>
        <a:lstStyle>
          <a:lvl1pPr algn="l">
            <a:defRPr sz="1400"/>
          </a:lvl1pPr>
          <a:lvl2pPr marL="114300" indent="-114300" algn="l">
            <a:defRPr sz="1400"/>
          </a:lvl2pPr>
          <a:lvl3pPr marL="228600" indent="-114300" algn="l">
            <a:defRPr sz="1400"/>
          </a:lvl3pPr>
          <a:lvl4pPr marL="342900" indent="-114300" algn="l">
            <a:defRPr sz="1400"/>
          </a:lvl4pPr>
          <a:lvl5pPr marL="457200" indent="-114300" algn="l">
            <a:defRPr sz="1400"/>
          </a:lvl5pPr>
          <a:lvl6pPr marL="571500" indent="-114300" algn="l">
            <a:defRPr sz="1400"/>
          </a:lvl6pPr>
          <a:lvl7pPr marL="685800" indent="-114300" algn="l">
            <a:defRPr sz="1400"/>
          </a:lvl7pPr>
          <a:lvl8pPr marL="800100" indent="-114300" algn="l">
            <a:defRPr sz="1400"/>
          </a:lvl8pPr>
          <a:lvl9pPr marL="914400" indent="-114300" algn="l">
            <a:defRPr sz="1400"/>
          </a:lvl9pPr>
        </a:lstStyle>
        <a:p>
          <a:pPr lvl="1">
            <a:lnSpc>
              <a:spcPct val="100000"/>
            </a:lnSpc>
            <a:spcBef>
              <a:spcPct val="0"/>
            </a:spcBef>
            <a:spcAft>
              <a:spcPct val="15000"/>
            </a:spcAft>
            <a:buChar char="•"/>
          </a:pPr>
          <a:r>
            <a:rPr lang="en-US" dirty="0">
              <a:solidFill>
                <a:schemeClr val="dk1"/>
              </a:solidFill>
            </a:rPr>
            <a:t>Regular Installment </a:t>
          </a:r>
          <a:endParaRPr lang="en-IN" dirty="0">
            <a:solidFill>
              <a:schemeClr val="dk1"/>
            </a:solidFill>
          </a:endParaRPr>
        </a:p>
      </dsp:txBody>
      <dsp:txXfrm>
        <a:off x="10321005" y="1521364"/>
        <a:ext cx="1253044" cy="1117600"/>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198152"/>
        <a:chOff x="0" y="0"/>
        <a:chExt cx="10515600" cy="4198152"/>
      </a:xfrm>
    </dsp:grpSpPr>
    <dsp:sp modelId="{4DE62411-3929-4400-81FF-9660D73BFA4B}">
      <dsp:nvSpPr>
        <dsp:cNvPr id="3" name="Rectangles 2"/>
        <dsp:cNvSpPr/>
      </dsp:nvSpPr>
      <dsp:spPr bwMode="white">
        <a:xfrm>
          <a:off x="94476" y="1026"/>
          <a:ext cx="3228361" cy="1937017"/>
        </a:xfrm>
        <a:prstGeom prst="rect">
          <a:avLst/>
        </a:prstGeom>
      </dsp:spPr>
      <dsp:style>
        <a:lnRef idx="2">
          <a:schemeClr val="lt1"/>
        </a:lnRef>
        <a:fillRef idx="1">
          <a:schemeClr val="accent2"/>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Font typeface="Arial" panose="020B0604020202020204" pitchFamily="34" charset="0"/>
            <a:buChar char="•"/>
          </a:pPr>
          <a:r>
            <a:rPr lang="en-US" sz="1600" dirty="0">
              <a:latin typeface="Arial" panose="020B0604020202020204" pitchFamily="34" charset="0"/>
              <a:sym typeface="Cambria" panose="02040503050406030204"/>
            </a:rPr>
            <a:t>Expansion / Acquisition</a:t>
          </a:r>
          <a:endParaRPr lang="en-IN" sz="1600" dirty="0"/>
        </a:p>
      </dsp:txBody>
      <dsp:txXfrm>
        <a:off x="94476" y="1026"/>
        <a:ext cx="3228361" cy="1937017"/>
      </dsp:txXfrm>
    </dsp:sp>
    <dsp:sp modelId="{9595CFC0-3BEA-4EAF-8C6B-96D7A6F63F59}">
      <dsp:nvSpPr>
        <dsp:cNvPr id="4" name="Rectangles 3"/>
        <dsp:cNvSpPr/>
      </dsp:nvSpPr>
      <dsp:spPr bwMode="white">
        <a:xfrm>
          <a:off x="3645673" y="1026"/>
          <a:ext cx="3228361" cy="1937017"/>
        </a:xfrm>
        <a:prstGeom prst="rect">
          <a:avLst/>
        </a:prstGeom>
      </dsp:spPr>
      <dsp:style>
        <a:lnRef idx="2">
          <a:schemeClr val="lt1"/>
        </a:lnRef>
        <a:fillRef idx="1">
          <a:schemeClr val="accent3"/>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Font typeface="Arial" panose="020B0604020202020204" pitchFamily="34" charset="0"/>
            <a:buChar char="•"/>
          </a:pPr>
          <a:r>
            <a:rPr lang="en-US" sz="1600" dirty="0">
              <a:latin typeface="Arial" panose="020B0604020202020204" pitchFamily="34" charset="0"/>
              <a:sym typeface="Cambria" panose="02040503050406030204"/>
            </a:rPr>
            <a:t>Working capital Management </a:t>
          </a:r>
        </a:p>
      </dsp:txBody>
      <dsp:txXfrm>
        <a:off x="3645673" y="1026"/>
        <a:ext cx="3228361" cy="1937017"/>
      </dsp:txXfrm>
    </dsp:sp>
    <dsp:sp modelId="{FD588CE2-2EAA-4D52-A145-0A6F58D0E31B}">
      <dsp:nvSpPr>
        <dsp:cNvPr id="5" name="Rectangles 4"/>
        <dsp:cNvSpPr/>
      </dsp:nvSpPr>
      <dsp:spPr bwMode="white">
        <a:xfrm>
          <a:off x="7196870" y="1026"/>
          <a:ext cx="3228361" cy="1937017"/>
        </a:xfrm>
        <a:prstGeom prst="rect">
          <a:avLst/>
        </a:prstGeom>
      </dsp:spPr>
      <dsp:style>
        <a:lnRef idx="2">
          <a:schemeClr val="lt1"/>
        </a:lnRef>
        <a:fillRef idx="1">
          <a:schemeClr val="accent4"/>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marR="0" lvl="0" indent="0" defTabSz="914400" eaLnBrk="1" fontAlgn="auto" latinLnBrk="0" hangingPunct="1">
            <a:lnSpc>
              <a:spcPct val="100000"/>
            </a:lnSpc>
            <a:spcBef>
              <a:spcPts val="0"/>
            </a:spcBef>
            <a:spcAft>
              <a:spcPts val="0"/>
            </a:spcAft>
            <a:buClrTx/>
            <a:buSzTx/>
            <a:buFontTx/>
            <a:buNone/>
          </a:pPr>
          <a:r>
            <a:rPr lang="en-US" sz="1600" dirty="0">
              <a:latin typeface="Arial" panose="020B0604020202020204" pitchFamily="34" charset="0"/>
              <a:sym typeface="Cambria" panose="02040503050406030204"/>
            </a:rPr>
            <a:t>Capital  Purchases</a:t>
          </a:r>
          <a:endParaRPr lang="en-IN" sz="1600" dirty="0"/>
        </a:p>
      </dsp:txBody>
      <dsp:txXfrm>
        <a:off x="7196870" y="1026"/>
        <a:ext cx="3228361" cy="1937017"/>
      </dsp:txXfrm>
    </dsp:sp>
    <dsp:sp modelId="{B3A29820-D3BB-4736-A822-E6A086A84105}">
      <dsp:nvSpPr>
        <dsp:cNvPr id="6" name="Rectangles 5"/>
        <dsp:cNvSpPr/>
      </dsp:nvSpPr>
      <dsp:spPr bwMode="white">
        <a:xfrm>
          <a:off x="1869369" y="2260109"/>
          <a:ext cx="3228361" cy="1937017"/>
        </a:xfrm>
        <a:prstGeom prst="rect">
          <a:avLst/>
        </a:prstGeom>
      </dsp:spPr>
      <dsp:style>
        <a:lnRef idx="2">
          <a:schemeClr val="lt1"/>
        </a:lnRef>
        <a:fillRef idx="1">
          <a:schemeClr val="accent5"/>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marL="0" marR="0" lvl="0" indent="0" defTabSz="914400" eaLnBrk="1" fontAlgn="auto" latinLnBrk="0" hangingPunct="1">
            <a:lnSpc>
              <a:spcPct val="100000"/>
            </a:lnSpc>
            <a:spcBef>
              <a:spcPts val="0"/>
            </a:spcBef>
            <a:spcAft>
              <a:spcPts val="0"/>
            </a:spcAft>
            <a:buClrTx/>
            <a:buSzTx/>
            <a:buFontTx/>
            <a:buNone/>
          </a:pPr>
          <a:r>
            <a:rPr lang="en-US" sz="1600" dirty="0">
              <a:latin typeface="Arial" panose="020B0604020202020204" pitchFamily="34" charset="0"/>
              <a:sym typeface="Cambria" panose="02040503050406030204"/>
            </a:rPr>
            <a:t>Inventory Financing</a:t>
          </a:r>
          <a:endParaRPr lang="en-IN" sz="1600" dirty="0"/>
        </a:p>
      </dsp:txBody>
      <dsp:txXfrm>
        <a:off x="1869369" y="2260109"/>
        <a:ext cx="3228361" cy="1937017"/>
      </dsp:txXfrm>
    </dsp:sp>
    <dsp:sp modelId="{051EB91D-1D43-4B57-A674-D5C26DB044EF}">
      <dsp:nvSpPr>
        <dsp:cNvPr id="7" name="Rectangles 6"/>
        <dsp:cNvSpPr/>
      </dsp:nvSpPr>
      <dsp:spPr bwMode="white">
        <a:xfrm>
          <a:off x="5420566" y="2260109"/>
          <a:ext cx="3228361" cy="1937017"/>
        </a:xfrm>
        <a:prstGeom prst="rect">
          <a:avLst/>
        </a:prstGeom>
      </dsp:spPr>
      <dsp:style>
        <a:lnRef idx="2">
          <a:schemeClr val="lt1"/>
        </a:lnRef>
        <a:fillRef idx="1">
          <a:schemeClr val="accent6"/>
        </a:fillRef>
        <a:effectRef idx="0">
          <a:scrgbClr r="0" g="0" b="0"/>
        </a:effectRef>
        <a:fontRef idx="minor">
          <a:schemeClr val="lt1"/>
        </a:fontRef>
      </dsp:style>
      <dsp:txBody>
        <a:bodyPr lIns="60960" tIns="60960" rIns="60960" bIns="6096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buFont typeface="Arial" panose="020B0604020202020204" pitchFamily="34" charset="0"/>
            <a:buChar char="•"/>
          </a:pPr>
          <a:r>
            <a:rPr lang="en-US" sz="1600" dirty="0">
              <a:latin typeface="Arial" panose="020B0604020202020204" pitchFamily="34" charset="0"/>
              <a:sym typeface="Cambria" panose="02040503050406030204"/>
            </a:rPr>
            <a:t>Refinancing</a:t>
          </a:r>
          <a:endParaRPr lang="en-IN" sz="1600" dirty="0"/>
        </a:p>
      </dsp:txBody>
      <dsp:txXfrm>
        <a:off x="5420566" y="2260109"/>
        <a:ext cx="3228361" cy="1937017"/>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515600" cy="4434214"/>
        <a:chOff x="0" y="0"/>
        <a:chExt cx="10515600" cy="4434214"/>
      </a:xfrm>
    </dsp:grpSpPr>
    <dsp:sp modelId="{138E3DA5-8178-42ED-8109-6537EECB9384}">
      <dsp:nvSpPr>
        <dsp:cNvPr id="3" name="Rounded Rectangle 2"/>
        <dsp:cNvSpPr/>
      </dsp:nvSpPr>
      <dsp:spPr bwMode="white">
        <a:xfrm>
          <a:off x="0" y="698504"/>
          <a:ext cx="1745625" cy="991553"/>
        </a:xfrm>
        <a:prstGeom prst="roundRect">
          <a:avLst>
            <a:gd name="adj" fmla="val 10000"/>
          </a:avLst>
        </a:prstGeom>
      </dsp:spPr>
      <dsp:style>
        <a:lnRef idx="2">
          <a:schemeClr val="lt1"/>
        </a:lnRef>
        <a:fillRef idx="1">
          <a:schemeClr val="accent2"/>
        </a:fillRef>
        <a:effectRef idx="0">
          <a:scrgbClr r="0" g="0" b="0"/>
        </a:effectRef>
        <a:fontRef idx="minor">
          <a:schemeClr val="lt1"/>
        </a:fontRef>
      </dsp:style>
      <dsp:txBody>
        <a:bodyPr vert="horz" wrap="square" lIns="85344" tIns="85344" rIns="85344" bIns="45719" anchor="t"/>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marR="0" lvl="0" defTabSz="914400" eaLnBrk="1" fontAlgn="auto" latinLnBrk="0" hangingPunct="1">
            <a:lnSpc>
              <a:spcPct val="100000"/>
            </a:lnSpc>
            <a:spcBef>
              <a:spcPts val="0"/>
            </a:spcBef>
            <a:spcAft>
              <a:spcPts val="0"/>
            </a:spcAft>
            <a:buClrTx/>
            <a:buSzTx/>
            <a:buFontTx/>
          </a:pPr>
          <a:r>
            <a:rPr lang="en-IN" altLang="en-US" dirty="0"/>
            <a:t>Syndicated </a:t>
          </a:r>
          <a:endParaRPr lang="en-IN" altLang="en-US" dirty="0"/>
        </a:p>
        <a:p>
          <a:pPr marR="0" lvl="0" defTabSz="914400" eaLnBrk="1" fontAlgn="auto" latinLnBrk="0" hangingPunct="1">
            <a:lnSpc>
              <a:spcPct val="100000"/>
            </a:lnSpc>
            <a:spcBef>
              <a:spcPts val="0"/>
            </a:spcBef>
            <a:spcAft>
              <a:spcPts val="0"/>
            </a:spcAft>
            <a:buClrTx/>
            <a:buSzTx/>
            <a:buFontTx/>
          </a:pPr>
          <a:r>
            <a:rPr lang="en-US" dirty="0"/>
            <a:t>Loan</a:t>
          </a:r>
          <a:endParaRPr lang="en-US" dirty="0"/>
        </a:p>
        <a:p>
          <a:pPr lvl="0" defTabSz="977900">
            <a:lnSpc>
              <a:spcPct val="90000"/>
            </a:lnSpc>
            <a:spcBef>
              <a:spcPct val="0"/>
            </a:spcBef>
            <a:spcAft>
              <a:spcPct val="35000"/>
            </a:spcAft>
          </a:pPr>
          <a:endParaRPr lang="en-IN" dirty="0"/>
        </a:p>
      </dsp:txBody>
      <dsp:txXfrm>
        <a:off x="0" y="698504"/>
        <a:ext cx="1745625" cy="991553"/>
      </dsp:txXfrm>
    </dsp:sp>
    <dsp:sp modelId="{880A95A0-8CC4-42CB-922A-2DCEBF239E92}">
      <dsp:nvSpPr>
        <dsp:cNvPr id="4" name="Rounded Rectangle 3"/>
        <dsp:cNvSpPr/>
      </dsp:nvSpPr>
      <dsp:spPr bwMode="white">
        <a:xfrm>
          <a:off x="357538" y="1359540"/>
          <a:ext cx="1745625" cy="2376170"/>
        </a:xfrm>
        <a:prstGeom prst="roundRect">
          <a:avLst>
            <a:gd name="adj" fmla="val 10000"/>
          </a:avLst>
        </a:prstGeom>
      </dsp:spPr>
      <dsp:style>
        <a:lnRef idx="2">
          <a:schemeClr val="accent2"/>
        </a:lnRef>
        <a:fillRef idx="1">
          <a:schemeClr val="lt1">
            <a:alpha val="90000"/>
          </a:schemeClr>
        </a:fillRef>
        <a:effectRef idx="0">
          <a:scrgbClr r="0" g="0" b="0"/>
        </a:effectRef>
        <a:fontRef idx="minor"/>
      </dsp:style>
      <dsp:txBody>
        <a:bodyPr lIns="85344" tIns="85344" rIns="85344"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Font typeface="Arial" panose="020B0604020202020204" pitchFamily="34" charset="0"/>
            <a:buChar char="•"/>
          </a:pPr>
          <a:r>
            <a:rPr lang="en-US" dirty="0">
              <a:solidFill>
                <a:schemeClr val="dk1"/>
              </a:solidFill>
            </a:rPr>
            <a:t>Debt - based funding arrangement offered by banks or financial institutions to businesses rather than individuals.</a:t>
          </a:r>
          <a:endParaRPr lang="en-IN" dirty="0">
            <a:solidFill>
              <a:schemeClr val="dk1"/>
            </a:solidFill>
          </a:endParaRPr>
        </a:p>
        <a:p>
          <a:pPr lvl="1">
            <a:lnSpc>
              <a:spcPct val="100000"/>
            </a:lnSpc>
            <a:spcBef>
              <a:spcPct val="0"/>
            </a:spcBef>
            <a:spcAft>
              <a:spcPct val="15000"/>
            </a:spcAft>
            <a:buChar char="•"/>
          </a:pPr>
          <a:endParaRPr lang="en-US" dirty="0">
            <a:solidFill>
              <a:schemeClr val="dk1"/>
            </a:solidFill>
          </a:endParaRPr>
        </a:p>
      </dsp:txBody>
      <dsp:txXfrm>
        <a:off x="357538" y="1359540"/>
        <a:ext cx="1745625" cy="2376170"/>
      </dsp:txXfrm>
    </dsp:sp>
    <dsp:sp modelId="{478F2627-FAB7-49D8-BFF3-9E273B129B51}">
      <dsp:nvSpPr>
        <dsp:cNvPr id="5" name="Right Arrow 4"/>
        <dsp:cNvSpPr/>
      </dsp:nvSpPr>
      <dsp:spPr bwMode="white">
        <a:xfrm>
          <a:off x="1994377" y="811717"/>
          <a:ext cx="561016" cy="434610"/>
        </a:xfrm>
        <a:prstGeom prst="rightArrow">
          <a:avLst>
            <a:gd name="adj1" fmla="val 60000"/>
            <a:gd name="adj2" fmla="val 50000"/>
          </a:avLst>
        </a:prstGeom>
      </dsp:spPr>
      <dsp:style>
        <a:lnRef idx="0">
          <a:schemeClr val="lt1">
            <a:hueOff val="0"/>
            <a:satOff val="0"/>
            <a:lumOff val="0"/>
            <a:alpha val="100000"/>
          </a:schemeClr>
        </a:lnRef>
        <a:fillRef idx="1">
          <a:schemeClr val="accent2"/>
        </a:fillRef>
        <a:effectRef idx="0">
          <a:scrgbClr r="0" g="0" b="0"/>
        </a:effectRef>
        <a:fontRef idx="minor">
          <a:schemeClr val="lt1"/>
        </a:fontRef>
      </dsp:style>
      <dsp:txBody>
        <a:bodyPr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en-IN"/>
        </a:p>
      </dsp:txBody>
      <dsp:txXfrm>
        <a:off x="1994377" y="811717"/>
        <a:ext cx="561016" cy="434610"/>
      </dsp:txXfrm>
    </dsp:sp>
    <dsp:sp modelId="{A0A4D9F0-D77F-4073-84EF-E4612A44FBFF}">
      <dsp:nvSpPr>
        <dsp:cNvPr id="6" name="Rounded Rectangle 5"/>
        <dsp:cNvSpPr/>
      </dsp:nvSpPr>
      <dsp:spPr bwMode="white">
        <a:xfrm>
          <a:off x="2804146" y="698504"/>
          <a:ext cx="1745625" cy="991553"/>
        </a:xfrm>
        <a:prstGeom prst="roundRect">
          <a:avLst>
            <a:gd name="adj" fmla="val 10000"/>
          </a:avLst>
        </a:prstGeom>
      </dsp:spPr>
      <dsp:style>
        <a:lnRef idx="2">
          <a:schemeClr val="lt1"/>
        </a:lnRef>
        <a:fillRef idx="1">
          <a:schemeClr val="accent3"/>
        </a:fillRef>
        <a:effectRef idx="0">
          <a:scrgbClr r="0" g="0" b="0"/>
        </a:effectRef>
        <a:fontRef idx="minor">
          <a:schemeClr val="lt1"/>
        </a:fontRef>
      </dsp:style>
      <dsp:txBody>
        <a:bodyPr lIns="85344" tIns="85344" rIns="85344" bIns="45719" anchor="t"/>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dirty="0"/>
            <a:t>Objectives</a:t>
          </a:r>
          <a:endParaRPr lang="en-IN" dirty="0"/>
        </a:p>
      </dsp:txBody>
      <dsp:txXfrm>
        <a:off x="2804146" y="698504"/>
        <a:ext cx="1745625" cy="991553"/>
      </dsp:txXfrm>
    </dsp:sp>
    <dsp:sp modelId="{E9757F79-BF61-4237-BC25-16F9D398269D}">
      <dsp:nvSpPr>
        <dsp:cNvPr id="7" name="Rounded Rectangle 6"/>
        <dsp:cNvSpPr/>
      </dsp:nvSpPr>
      <dsp:spPr bwMode="white">
        <a:xfrm>
          <a:off x="3161684" y="1359540"/>
          <a:ext cx="1745625" cy="2376170"/>
        </a:xfrm>
        <a:prstGeom prst="roundRect">
          <a:avLst>
            <a:gd name="adj" fmla="val 10000"/>
          </a:avLst>
        </a:prstGeom>
      </dsp:spPr>
      <dsp:style>
        <a:lnRef idx="2">
          <a:schemeClr val="accent3"/>
        </a:lnRef>
        <a:fillRef idx="1">
          <a:schemeClr val="lt1">
            <a:alpha val="90000"/>
          </a:schemeClr>
        </a:fillRef>
        <a:effectRef idx="0">
          <a:scrgbClr r="0" g="0" b="0"/>
        </a:effectRef>
        <a:fontRef idx="minor"/>
      </dsp:style>
      <dsp:txBody>
        <a:bodyPr lIns="85344" tIns="85344" rIns="85344"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Font typeface="Arial" panose="020B0604020202020204" pitchFamily="34" charset="0"/>
            <a:buChar char="•"/>
          </a:pPr>
          <a:r>
            <a:rPr lang="en-US" dirty="0">
              <a:solidFill>
                <a:schemeClr val="dk1"/>
              </a:solidFill>
            </a:rPr>
            <a:t>Assess business credit worthiness</a:t>
          </a:r>
          <a:endParaRPr lang="en-IN" dirty="0">
            <a:solidFill>
              <a:schemeClr val="dk1"/>
            </a:solidFill>
          </a:endParaRPr>
        </a:p>
        <a:p>
          <a:pPr lvl="1">
            <a:lnSpc>
              <a:spcPct val="100000"/>
            </a:lnSpc>
            <a:spcBef>
              <a:spcPct val="0"/>
            </a:spcBef>
            <a:spcAft>
              <a:spcPct val="15000"/>
            </a:spcAft>
            <a:buChar char="•"/>
          </a:pPr>
          <a:r>
            <a:rPr lang="en-US">
              <a:solidFill>
                <a:schemeClr val="dk1"/>
              </a:solidFill>
            </a:rPr>
            <a:t>Evaluate risk and repayment capacity</a:t>
          </a:r>
          <a:endParaRPr lang="en-US" dirty="0">
            <a:solidFill>
              <a:schemeClr val="dk1"/>
            </a:solidFill>
          </a:endParaRPr>
        </a:p>
        <a:p>
          <a:pPr lvl="1">
            <a:lnSpc>
              <a:spcPct val="100000"/>
            </a:lnSpc>
            <a:spcBef>
              <a:spcPct val="0"/>
            </a:spcBef>
            <a:spcAft>
              <a:spcPct val="15000"/>
            </a:spcAft>
            <a:buChar char="•"/>
          </a:pPr>
          <a:r>
            <a:rPr lang="en-US">
              <a:solidFill>
                <a:schemeClr val="dk1"/>
              </a:solidFill>
            </a:rPr>
            <a:t>Ensure appropriate structure and documentation</a:t>
          </a:r>
          <a:endParaRPr lang="en-US" dirty="0">
            <a:solidFill>
              <a:schemeClr val="dk1"/>
            </a:solidFill>
          </a:endParaRPr>
        </a:p>
        <a:p>
          <a:pPr lvl="1">
            <a:lnSpc>
              <a:spcPct val="100000"/>
            </a:lnSpc>
            <a:spcBef>
              <a:spcPct val="0"/>
            </a:spcBef>
            <a:spcAft>
              <a:spcPct val="15000"/>
            </a:spcAft>
            <a:buChar char="•"/>
          </a:pPr>
          <a:r>
            <a:rPr lang="en-US" dirty="0">
              <a:solidFill>
                <a:schemeClr val="dk1"/>
              </a:solidFill>
            </a:rPr>
            <a:t>Comply with internal and regulatory requirements</a:t>
          </a:r>
          <a:endParaRPr>
            <a:solidFill>
              <a:schemeClr val="dk1"/>
            </a:solidFill>
          </a:endParaRPr>
        </a:p>
      </dsp:txBody>
      <dsp:txXfrm>
        <a:off x="3161684" y="1359540"/>
        <a:ext cx="1745625" cy="2376170"/>
      </dsp:txXfrm>
    </dsp:sp>
    <dsp:sp modelId="{3E9DE2FC-89D6-4634-A0DA-111BB3E30350}">
      <dsp:nvSpPr>
        <dsp:cNvPr id="8" name="Right Arrow 7"/>
        <dsp:cNvSpPr/>
      </dsp:nvSpPr>
      <dsp:spPr bwMode="white">
        <a:xfrm>
          <a:off x="4798523" y="811717"/>
          <a:ext cx="561016" cy="434610"/>
        </a:xfrm>
        <a:prstGeom prst="rightArrow">
          <a:avLst>
            <a:gd name="adj1" fmla="val 60000"/>
            <a:gd name="adj2" fmla="val 50000"/>
          </a:avLst>
        </a:prstGeom>
      </dsp:spPr>
      <dsp:style>
        <a:lnRef idx="0">
          <a:schemeClr val="lt1">
            <a:hueOff val="0"/>
            <a:satOff val="0"/>
            <a:lumOff val="0"/>
            <a:alpha val="100000"/>
          </a:schemeClr>
        </a:lnRef>
        <a:fillRef idx="1">
          <a:schemeClr val="accent3"/>
        </a:fillRef>
        <a:effectRef idx="0">
          <a:scrgbClr r="0" g="0" b="0"/>
        </a:effectRef>
        <a:fontRef idx="minor">
          <a:schemeClr val="lt1"/>
        </a:fontRef>
      </dsp:style>
      <dsp:txBody>
        <a:bodyPr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en-IN"/>
        </a:p>
      </dsp:txBody>
      <dsp:txXfrm>
        <a:off x="4798523" y="811717"/>
        <a:ext cx="561016" cy="434610"/>
      </dsp:txXfrm>
    </dsp:sp>
    <dsp:sp modelId="{36829B79-9DFF-490E-8EB6-06185E4F444D}">
      <dsp:nvSpPr>
        <dsp:cNvPr id="9" name="Rounded Rectangle 8"/>
        <dsp:cNvSpPr/>
      </dsp:nvSpPr>
      <dsp:spPr bwMode="white">
        <a:xfrm>
          <a:off x="5608292" y="698504"/>
          <a:ext cx="1745625" cy="991553"/>
        </a:xfrm>
        <a:prstGeom prst="roundRect">
          <a:avLst>
            <a:gd name="adj" fmla="val 10000"/>
          </a:avLst>
        </a:prstGeom>
      </dsp:spPr>
      <dsp:style>
        <a:lnRef idx="2">
          <a:schemeClr val="lt1"/>
        </a:lnRef>
        <a:fillRef idx="1">
          <a:schemeClr val="accent4"/>
        </a:fillRef>
        <a:effectRef idx="0">
          <a:scrgbClr r="0" g="0" b="0"/>
        </a:effectRef>
        <a:fontRef idx="minor">
          <a:schemeClr val="lt1"/>
        </a:fontRef>
      </dsp:style>
      <dsp:txBody>
        <a:bodyPr lIns="85344" tIns="85344" rIns="85344" bIns="45719" anchor="t"/>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marL="0" marR="0" lvl="0" indent="0" defTabSz="914400" eaLnBrk="1" fontAlgn="auto" latinLnBrk="0" hangingPunct="1">
            <a:lnSpc>
              <a:spcPct val="100000"/>
            </a:lnSpc>
            <a:spcBef>
              <a:spcPts val="0"/>
            </a:spcBef>
            <a:spcAft>
              <a:spcPts val="0"/>
            </a:spcAft>
            <a:buClrTx/>
            <a:buSzTx/>
            <a:buFontTx/>
            <a:buNone/>
          </a:pPr>
          <a:r>
            <a:rPr lang="en-US" dirty="0"/>
            <a:t>Typical Borrowers:</a:t>
          </a:r>
          <a:endParaRPr lang="en-US" dirty="0"/>
        </a:p>
        <a:p>
          <a:pPr lvl="0" defTabSz="444500">
            <a:lnSpc>
              <a:spcPct val="90000"/>
            </a:lnSpc>
            <a:spcBef>
              <a:spcPct val="0"/>
            </a:spcBef>
            <a:spcAft>
              <a:spcPct val="35000"/>
            </a:spcAft>
          </a:pPr>
          <a:endParaRPr lang="en-IN" dirty="0"/>
        </a:p>
      </dsp:txBody>
      <dsp:txXfrm>
        <a:off x="5608292" y="698504"/>
        <a:ext cx="1745625" cy="991553"/>
      </dsp:txXfrm>
    </dsp:sp>
    <dsp:sp modelId="{70DE99B9-090F-4F61-9632-C864773F71DE}">
      <dsp:nvSpPr>
        <dsp:cNvPr id="10" name="Rounded Rectangle 9"/>
        <dsp:cNvSpPr/>
      </dsp:nvSpPr>
      <dsp:spPr bwMode="white">
        <a:xfrm>
          <a:off x="5965830" y="1359540"/>
          <a:ext cx="1745625" cy="2376170"/>
        </a:xfrm>
        <a:prstGeom prst="roundRect">
          <a:avLst>
            <a:gd name="adj" fmla="val 10000"/>
          </a:avLst>
        </a:prstGeom>
      </dsp:spPr>
      <dsp:style>
        <a:lnRef idx="2">
          <a:schemeClr val="accent4"/>
        </a:lnRef>
        <a:fillRef idx="1">
          <a:schemeClr val="lt1">
            <a:alpha val="90000"/>
          </a:schemeClr>
        </a:fillRef>
        <a:effectRef idx="0">
          <a:scrgbClr r="0" g="0" b="0"/>
        </a:effectRef>
        <a:fontRef idx="minor"/>
      </dsp:style>
      <dsp:txBody>
        <a:bodyPr vert="horz" wrap="square" lIns="85344" tIns="85344" rIns="85344"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Char char="•"/>
          </a:pPr>
          <a:r>
            <a:rPr lang="en-US">
              <a:solidFill>
                <a:schemeClr val="dk1"/>
              </a:solidFill>
            </a:rPr>
            <a:t>Large corporations</a:t>
          </a:r>
          <a:endParaRPr lang="en-US" dirty="0">
            <a:solidFill>
              <a:schemeClr val="dk1"/>
            </a:solidFill>
          </a:endParaRPr>
        </a:p>
        <a:p>
          <a:pPr lvl="1">
            <a:lnSpc>
              <a:spcPct val="100000"/>
            </a:lnSpc>
            <a:spcBef>
              <a:spcPct val="0"/>
            </a:spcBef>
            <a:spcAft>
              <a:spcPct val="15000"/>
            </a:spcAft>
            <a:buChar char="•"/>
          </a:pPr>
          <a:r>
            <a:rPr lang="en-US" dirty="0">
              <a:solidFill>
                <a:schemeClr val="dk1"/>
              </a:solidFill>
            </a:rPr>
            <a:t>Public sector entities</a:t>
          </a:r>
          <a:endParaRPr lang="en-US" dirty="0">
            <a:solidFill>
              <a:schemeClr val="dk1"/>
            </a:solidFill>
          </a:endParaRPr>
        </a:p>
        <a:p>
          <a:pPr lvl="1">
            <a:lnSpc>
              <a:spcPct val="100000"/>
            </a:lnSpc>
            <a:spcBef>
              <a:spcPct val="0"/>
            </a:spcBef>
            <a:spcAft>
              <a:spcPct val="15000"/>
            </a:spcAft>
            <a:buChar char="•"/>
          </a:pPr>
          <a:r>
            <a:rPr lang="en-IN">
              <a:solidFill>
                <a:schemeClr val="dk1"/>
              </a:solidFill>
            </a:rPr>
            <a:t>Large NBFCs</a:t>
          </a:r>
          <a:endParaRPr lang="en-IN">
            <a:solidFill>
              <a:schemeClr val="dk1"/>
            </a:solidFill>
          </a:endParaRPr>
        </a:p>
      </dsp:txBody>
      <dsp:txXfrm>
        <a:off x="5965830" y="1359540"/>
        <a:ext cx="1745625" cy="2376170"/>
      </dsp:txXfrm>
    </dsp:sp>
    <dsp:sp modelId="{B3C8038B-D288-4207-9249-EE72BD1A9F86}">
      <dsp:nvSpPr>
        <dsp:cNvPr id="11" name="Right Arrow 10"/>
        <dsp:cNvSpPr/>
      </dsp:nvSpPr>
      <dsp:spPr bwMode="white">
        <a:xfrm>
          <a:off x="7602669" y="811717"/>
          <a:ext cx="561016" cy="434610"/>
        </a:xfrm>
        <a:prstGeom prst="rightArrow">
          <a:avLst>
            <a:gd name="adj1" fmla="val 60000"/>
            <a:gd name="adj2" fmla="val 50000"/>
          </a:avLst>
        </a:prstGeom>
      </dsp:spPr>
      <dsp:style>
        <a:lnRef idx="0">
          <a:schemeClr val="lt1">
            <a:hueOff val="0"/>
            <a:satOff val="0"/>
            <a:lumOff val="0"/>
            <a:alpha val="100000"/>
          </a:schemeClr>
        </a:lnRef>
        <a:fillRef idx="1">
          <a:schemeClr val="accent4"/>
        </a:fillRef>
        <a:effectRef idx="0">
          <a:scrgbClr r="0" g="0" b="0"/>
        </a:effectRef>
        <a:fontRef idx="minor">
          <a:schemeClr val="lt1"/>
        </a:fontRef>
      </dsp:style>
      <dsp:txBody>
        <a:bodyPr lIns="0" tIns="0" rIns="0" bIns="0" anchor="ctr"/>
        <a:lstStyle>
          <a:lvl1pPr algn="ctr">
            <a:defRPr sz="1700"/>
          </a:lvl1pPr>
          <a:lvl2pPr marL="114300" indent="-114300" algn="ctr">
            <a:defRPr sz="1300"/>
          </a:lvl2pPr>
          <a:lvl3pPr marL="228600" indent="-114300" algn="ctr">
            <a:defRPr sz="1300"/>
          </a:lvl3pPr>
          <a:lvl4pPr marL="342900" indent="-114300" algn="ctr">
            <a:defRPr sz="1300"/>
          </a:lvl4pPr>
          <a:lvl5pPr marL="457200" indent="-114300" algn="ctr">
            <a:defRPr sz="1300"/>
          </a:lvl5pPr>
          <a:lvl6pPr marL="571500" indent="-114300" algn="ctr">
            <a:defRPr sz="1300"/>
          </a:lvl6pPr>
          <a:lvl7pPr marL="685800" indent="-114300" algn="ctr">
            <a:defRPr sz="1300"/>
          </a:lvl7pPr>
          <a:lvl8pPr marL="800100" indent="-114300" algn="ctr">
            <a:defRPr sz="1300"/>
          </a:lvl8pPr>
          <a:lvl9pPr marL="914400" indent="-114300" algn="ctr">
            <a:defRPr sz="1300"/>
          </a:lvl9pPr>
        </a:lstStyle>
        <a:p>
          <a:pPr lvl="0">
            <a:lnSpc>
              <a:spcPct val="100000"/>
            </a:lnSpc>
            <a:spcBef>
              <a:spcPct val="0"/>
            </a:spcBef>
            <a:spcAft>
              <a:spcPct val="35000"/>
            </a:spcAft>
          </a:pPr>
          <a:endParaRPr lang="en-IN"/>
        </a:p>
      </dsp:txBody>
      <dsp:txXfrm>
        <a:off x="7602669" y="811717"/>
        <a:ext cx="561016" cy="434610"/>
      </dsp:txXfrm>
    </dsp:sp>
    <dsp:sp modelId="{5AAF0893-44E7-48B5-BBEB-B758B27481A1}">
      <dsp:nvSpPr>
        <dsp:cNvPr id="12" name="Rounded Rectangle 11"/>
        <dsp:cNvSpPr/>
      </dsp:nvSpPr>
      <dsp:spPr bwMode="white">
        <a:xfrm>
          <a:off x="8412438" y="698504"/>
          <a:ext cx="1745625" cy="991553"/>
        </a:xfrm>
        <a:prstGeom prst="roundRect">
          <a:avLst>
            <a:gd name="adj" fmla="val 10000"/>
          </a:avLst>
        </a:prstGeom>
      </dsp:spPr>
      <dsp:style>
        <a:lnRef idx="2">
          <a:schemeClr val="lt1"/>
        </a:lnRef>
        <a:fillRef idx="1">
          <a:schemeClr val="accent5"/>
        </a:fillRef>
        <a:effectRef idx="0">
          <a:scrgbClr r="0" g="0" b="0"/>
        </a:effectRef>
        <a:fontRef idx="minor">
          <a:schemeClr val="lt1"/>
        </a:fontRef>
      </dsp:style>
      <dsp:txBody>
        <a:bodyPr lIns="85344" tIns="85344" rIns="85344" bIns="45719" anchor="t"/>
        <a:lstStyle>
          <a:lvl1pPr algn="l">
            <a:defRPr sz="1200"/>
          </a:lvl1pPr>
          <a:lvl2pPr marL="57150" indent="-57150" algn="l">
            <a:defRPr sz="900"/>
          </a:lvl2pPr>
          <a:lvl3pPr marL="114300" indent="-57150" algn="l">
            <a:defRPr sz="900"/>
          </a:lvl3pPr>
          <a:lvl4pPr marL="171450" indent="-57150" algn="l">
            <a:defRPr sz="900"/>
          </a:lvl4pPr>
          <a:lvl5pPr marL="228600" indent="-57150" algn="l">
            <a:defRPr sz="900"/>
          </a:lvl5pPr>
          <a:lvl6pPr marL="285750" indent="-57150" algn="l">
            <a:defRPr sz="900"/>
          </a:lvl6pPr>
          <a:lvl7pPr marL="342900" indent="-57150" algn="l">
            <a:defRPr sz="900"/>
          </a:lvl7pPr>
          <a:lvl8pPr marL="400050" indent="-57150" algn="l">
            <a:defRPr sz="900"/>
          </a:lvl8pPr>
          <a:lvl9pPr marL="457200" indent="-57150" algn="l">
            <a:defRPr sz="900"/>
          </a:lvl9pPr>
        </a:lstStyle>
        <a:p>
          <a:pPr lvl="0">
            <a:lnSpc>
              <a:spcPct val="100000"/>
            </a:lnSpc>
            <a:spcBef>
              <a:spcPct val="0"/>
            </a:spcBef>
            <a:spcAft>
              <a:spcPct val="35000"/>
            </a:spcAft>
          </a:pPr>
          <a:r>
            <a:rPr lang="en-US" dirty="0"/>
            <a:t>Loan Types</a:t>
          </a:r>
          <a:endParaRPr lang="en-IN" dirty="0"/>
        </a:p>
      </dsp:txBody>
      <dsp:txXfrm>
        <a:off x="8412438" y="698504"/>
        <a:ext cx="1745625" cy="991553"/>
      </dsp:txXfrm>
    </dsp:sp>
    <dsp:sp modelId="{F490E38C-52B1-40DD-9118-EA1652138C44}">
      <dsp:nvSpPr>
        <dsp:cNvPr id="13" name="Rounded Rectangle 12"/>
        <dsp:cNvSpPr/>
      </dsp:nvSpPr>
      <dsp:spPr bwMode="white">
        <a:xfrm>
          <a:off x="8769975" y="1359540"/>
          <a:ext cx="1745625" cy="2376170"/>
        </a:xfrm>
        <a:prstGeom prst="roundRect">
          <a:avLst>
            <a:gd name="adj" fmla="val 10000"/>
          </a:avLst>
        </a:prstGeom>
      </dsp:spPr>
      <dsp:style>
        <a:lnRef idx="2">
          <a:schemeClr val="accent5"/>
        </a:lnRef>
        <a:fillRef idx="1">
          <a:schemeClr val="lt1">
            <a:alpha val="90000"/>
          </a:schemeClr>
        </a:fillRef>
        <a:effectRef idx="0">
          <a:scrgbClr r="0" g="0" b="0"/>
        </a:effectRef>
        <a:fontRef idx="minor"/>
      </dsp:style>
      <dsp:txBody>
        <a:bodyPr vert="horz" wrap="square" lIns="85344" tIns="85344" rIns="85344" bIns="85344" anchor="t"/>
        <a:lstStyle>
          <a:lvl1pPr algn="l">
            <a:defRPr sz="1200"/>
          </a:lvl1pPr>
          <a:lvl2pPr marL="114300" indent="-114300" algn="l">
            <a:defRPr sz="1200"/>
          </a:lvl2pPr>
          <a:lvl3pPr marL="228600" indent="-114300" algn="l">
            <a:defRPr sz="1200"/>
          </a:lvl3pPr>
          <a:lvl4pPr marL="342900" indent="-114300" algn="l">
            <a:defRPr sz="1200"/>
          </a:lvl4pPr>
          <a:lvl5pPr marL="457200" indent="-114300" algn="l">
            <a:defRPr sz="1200"/>
          </a:lvl5pPr>
          <a:lvl6pPr marL="571500" indent="-114300" algn="l">
            <a:defRPr sz="1200"/>
          </a:lvl6pPr>
          <a:lvl7pPr marL="685800" indent="-114300" algn="l">
            <a:defRPr sz="1200"/>
          </a:lvl7pPr>
          <a:lvl8pPr marL="800100" indent="-114300" algn="l">
            <a:defRPr sz="1200"/>
          </a:lvl8pPr>
          <a:lvl9pPr marL="914400" indent="-114300" algn="l">
            <a:defRPr sz="1200"/>
          </a:lvl9pPr>
        </a:lstStyle>
        <a:p>
          <a:pPr lvl="1">
            <a:lnSpc>
              <a:spcPct val="100000"/>
            </a:lnSpc>
            <a:spcBef>
              <a:spcPct val="0"/>
            </a:spcBef>
            <a:spcAft>
              <a:spcPct val="15000"/>
            </a:spcAft>
            <a:buFont typeface="Arial" panose="020B0604020202020204" pitchFamily="34" charset="0"/>
            <a:buChar char="•"/>
          </a:pPr>
          <a:r>
            <a:rPr lang="en-US" dirty="0">
              <a:solidFill>
                <a:schemeClr val="dk1"/>
              </a:solidFill>
            </a:rPr>
            <a:t>Term loan</a:t>
          </a:r>
          <a:endParaRPr lang="en-IN" dirty="0">
            <a:solidFill>
              <a:schemeClr val="dk1"/>
            </a:solidFill>
          </a:endParaRPr>
        </a:p>
        <a:p>
          <a:pPr lvl="1">
            <a:lnSpc>
              <a:spcPct val="100000"/>
            </a:lnSpc>
            <a:spcBef>
              <a:spcPct val="0"/>
            </a:spcBef>
            <a:spcAft>
              <a:spcPct val="15000"/>
            </a:spcAft>
            <a:buFont typeface="Arial" panose="020B0604020202020204" pitchFamily="34" charset="0"/>
            <a:buChar char="•"/>
          </a:pPr>
          <a:r>
            <a:rPr lang="en-US" dirty="0">
              <a:solidFill>
                <a:schemeClr val="dk1"/>
              </a:solidFill>
            </a:rPr>
            <a:t>Lines of credit</a:t>
          </a:r>
          <a:endParaRPr lang="en-IN" dirty="0">
            <a:solidFill>
              <a:schemeClr val="dk1"/>
            </a:solidFill>
          </a:endParaRPr>
        </a:p>
        <a:p>
          <a:pPr lvl="1">
            <a:lnSpc>
              <a:spcPct val="100000"/>
            </a:lnSpc>
            <a:spcBef>
              <a:spcPct val="0"/>
            </a:spcBef>
            <a:spcAft>
              <a:spcPct val="15000"/>
            </a:spcAft>
            <a:buFont typeface="Arial" panose="020B0604020202020204" pitchFamily="34" charset="0"/>
            <a:buChar char="•"/>
          </a:pPr>
          <a:r>
            <a:rPr lang="en-US" dirty="0">
              <a:solidFill>
                <a:schemeClr val="dk1"/>
              </a:solidFill>
            </a:rPr>
            <a:t>Asset-based lending</a:t>
          </a:r>
          <a:endParaRPr lang="en-IN" dirty="0">
            <a:solidFill>
              <a:schemeClr val="dk1"/>
            </a:solidFill>
          </a:endParaRPr>
        </a:p>
        <a:p>
          <a:pPr lvl="1">
            <a:lnSpc>
              <a:spcPct val="100000"/>
            </a:lnSpc>
            <a:spcBef>
              <a:spcPct val="0"/>
            </a:spcBef>
            <a:spcAft>
              <a:spcPct val="15000"/>
            </a:spcAft>
            <a:buFont typeface="Arial" panose="020B0604020202020204" pitchFamily="34" charset="0"/>
            <a:buChar char="•"/>
          </a:pPr>
          <a:endParaRPr lang="en-IN" dirty="0">
            <a:solidFill>
              <a:schemeClr val="dk1"/>
            </a:solidFill>
          </a:endParaRPr>
        </a:p>
      </dsp:txBody>
      <dsp:txXfrm>
        <a:off x="8769975" y="1359540"/>
        <a:ext cx="1745625" cy="237617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off" val="ctr"/>
          <dgm:param type="contDir" val="sameDir"/>
          <dgm:param type="grDir" val="tL"/>
          <dgm:param type="flowDir" val="row"/>
        </dgm:alg>
      </dgm:if>
      <dgm:else name="Name2">
        <dgm:alg type="snake">
          <dgm:param type="off" val="ctr"/>
          <dgm:param type="contDir" val="sameDir"/>
          <dgm:param type="grDir" val="tR"/>
          <dgm:param type="flowDir" val="row"/>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rSet qsTypeId="urn:microsoft.com/office/officeart/2005/8/quickstyle/simple5"/>
        </dgm:pt>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srcNode" val="parTx"/>
            <dgm:param type="dstNode" val="parTx"/>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9"/>
        <p:cNvGrpSpPr/>
        <p:nvPr/>
      </p:nvGrpSpPr>
      <p:grpSpPr>
        <a:xfrm>
          <a:off x="0" y="0"/>
          <a:ext cx="0" cy="0"/>
          <a:chOff x="0" y="0"/>
          <a:chExt cx="0" cy="0"/>
        </a:xfrm>
      </p:grpSpPr>
      <p:sp>
        <p:nvSpPr>
          <p:cNvPr id="470" name="Google Shape;470;p14: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471" name="Google Shape;471;p14: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469"/>
        <p:cNvGrpSpPr/>
        <p:nvPr/>
      </p:nvGrpSpPr>
      <p:grpSpPr>
        <a:xfrm>
          <a:off x="0" y="0"/>
          <a:ext cx="0" cy="0"/>
          <a:chOff x="0" y="0"/>
          <a:chExt cx="0" cy="0"/>
        </a:xfrm>
      </p:grpSpPr>
      <p:sp>
        <p:nvSpPr>
          <p:cNvPr id="470" name="Google Shape;470;p14: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471" name="Google Shape;471;p14: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00"/>
        <p:cNvGrpSpPr/>
        <p:nvPr/>
      </p:nvGrpSpPr>
      <p:grpSpPr>
        <a:xfrm>
          <a:off x="0" y="0"/>
          <a:ext cx="0" cy="0"/>
          <a:chOff x="0" y="0"/>
          <a:chExt cx="0" cy="0"/>
        </a:xfrm>
      </p:grpSpPr>
      <p:sp>
        <p:nvSpPr>
          <p:cNvPr id="501" name="Google Shape;501;p17: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02" name="Google Shape;502;p17: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1"/>
        <p:cNvGrpSpPr/>
        <p:nvPr/>
      </p:nvGrpSpPr>
      <p:grpSpPr>
        <a:xfrm>
          <a:off x="0" y="0"/>
          <a:ext cx="0" cy="0"/>
          <a:chOff x="0" y="0"/>
          <a:chExt cx="0" cy="0"/>
        </a:xfrm>
      </p:grpSpPr>
      <p:sp>
        <p:nvSpPr>
          <p:cNvPr id="1062" name="Google Shape;1062;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63" name="Google Shape;1063;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67"/>
        <p:cNvGrpSpPr/>
        <p:nvPr/>
      </p:nvGrpSpPr>
      <p:grpSpPr>
        <a:xfrm>
          <a:off x="0" y="0"/>
          <a:ext cx="0" cy="0"/>
          <a:chOff x="0" y="0"/>
          <a:chExt cx="0" cy="0"/>
        </a:xfrm>
      </p:grpSpPr>
      <p:sp>
        <p:nvSpPr>
          <p:cNvPr id="568" name="Google Shape;568;p21: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69" name="Google Shape;569;p21: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6"/>
        <p:cNvGrpSpPr/>
        <p:nvPr/>
      </p:nvGrpSpPr>
      <p:grpSpPr>
        <a:xfrm>
          <a:off x="0" y="0"/>
          <a:ext cx="0" cy="0"/>
          <a:chOff x="0" y="0"/>
          <a:chExt cx="0" cy="0"/>
        </a:xfrm>
      </p:grpSpPr>
      <p:sp>
        <p:nvSpPr>
          <p:cNvPr id="727" name="Google Shape;727;p24: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28" name="Google Shape;728;p24: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26"/>
        <p:cNvGrpSpPr/>
        <p:nvPr/>
      </p:nvGrpSpPr>
      <p:grpSpPr>
        <a:xfrm>
          <a:off x="0" y="0"/>
          <a:ext cx="0" cy="0"/>
          <a:chOff x="0" y="0"/>
          <a:chExt cx="0" cy="0"/>
        </a:xfrm>
      </p:grpSpPr>
      <p:sp>
        <p:nvSpPr>
          <p:cNvPr id="727" name="Google Shape;727;p24: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28" name="Google Shape;728;p24: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58"/>
        <p:cNvGrpSpPr/>
        <p:nvPr/>
      </p:nvGrpSpPr>
      <p:grpSpPr>
        <a:xfrm>
          <a:off x="0" y="0"/>
          <a:ext cx="0" cy="0"/>
          <a:chOff x="0" y="0"/>
          <a:chExt cx="0" cy="0"/>
        </a:xfrm>
      </p:grpSpPr>
      <p:sp>
        <p:nvSpPr>
          <p:cNvPr id="759" name="Google Shape;759;p27: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60" name="Google Shape;760;p27: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68"/>
        <p:cNvGrpSpPr/>
        <p:nvPr/>
      </p:nvGrpSpPr>
      <p:grpSpPr>
        <a:xfrm>
          <a:off x="0" y="0"/>
          <a:ext cx="0" cy="0"/>
          <a:chOff x="0" y="0"/>
          <a:chExt cx="0" cy="0"/>
        </a:xfrm>
      </p:grpSpPr>
      <p:sp>
        <p:nvSpPr>
          <p:cNvPr id="769" name="Google Shape;769;p2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70" name="Google Shape;770;p2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77"/>
        <p:cNvGrpSpPr/>
        <p:nvPr/>
      </p:nvGrpSpPr>
      <p:grpSpPr>
        <a:xfrm>
          <a:off x="0" y="0"/>
          <a:ext cx="0" cy="0"/>
          <a:chOff x="0" y="0"/>
          <a:chExt cx="0" cy="0"/>
        </a:xfrm>
      </p:grpSpPr>
      <p:sp>
        <p:nvSpPr>
          <p:cNvPr id="778" name="Google Shape;778;p29: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79" name="Google Shape;779;p29: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93"/>
        <p:cNvGrpSpPr/>
        <p:nvPr/>
      </p:nvGrpSpPr>
      <p:grpSpPr>
        <a:xfrm>
          <a:off x="0" y="0"/>
          <a:ext cx="0" cy="0"/>
          <a:chOff x="0" y="0"/>
          <a:chExt cx="0" cy="0"/>
        </a:xfrm>
      </p:grpSpPr>
      <p:sp>
        <p:nvSpPr>
          <p:cNvPr id="794" name="Google Shape;794;p30: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795" name="Google Shape;795;p30: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1"/>
        <p:cNvGrpSpPr/>
        <p:nvPr/>
      </p:nvGrpSpPr>
      <p:grpSpPr>
        <a:xfrm>
          <a:off x="0" y="0"/>
          <a:ext cx="0" cy="0"/>
          <a:chOff x="0" y="0"/>
          <a:chExt cx="0" cy="0"/>
        </a:xfrm>
      </p:grpSpPr>
      <p:sp>
        <p:nvSpPr>
          <p:cNvPr id="822" name="Google Shape;822;p33: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23" name="Google Shape;823;p33: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1"/>
        <p:cNvGrpSpPr/>
        <p:nvPr/>
      </p:nvGrpSpPr>
      <p:grpSpPr>
        <a:xfrm>
          <a:off x="0" y="0"/>
          <a:ext cx="0" cy="0"/>
          <a:chOff x="0" y="0"/>
          <a:chExt cx="0" cy="0"/>
        </a:xfrm>
      </p:grpSpPr>
      <p:sp>
        <p:nvSpPr>
          <p:cNvPr id="822" name="Google Shape;822;p33: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23" name="Google Shape;823;p33: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27"/>
        <p:cNvGrpSpPr/>
        <p:nvPr/>
      </p:nvGrpSpPr>
      <p:grpSpPr>
        <a:xfrm>
          <a:off x="0" y="0"/>
          <a:ext cx="0" cy="0"/>
          <a:chOff x="0" y="0"/>
          <a:chExt cx="0" cy="0"/>
        </a:xfrm>
      </p:grpSpPr>
      <p:sp>
        <p:nvSpPr>
          <p:cNvPr id="828" name="Google Shape;828;p34: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29" name="Google Shape;829;p34: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8"/>
        <p:cNvGrpSpPr/>
        <p:nvPr/>
      </p:nvGrpSpPr>
      <p:grpSpPr>
        <a:xfrm>
          <a:off x="0" y="0"/>
          <a:ext cx="0" cy="0"/>
          <a:chOff x="0" y="0"/>
          <a:chExt cx="0" cy="0"/>
        </a:xfrm>
      </p:grpSpPr>
      <p:sp>
        <p:nvSpPr>
          <p:cNvPr id="839" name="Google Shape;839;p35: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40" name="Google Shape;840;p35: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51"/>
        <p:cNvGrpSpPr/>
        <p:nvPr/>
      </p:nvGrpSpPr>
      <p:grpSpPr>
        <a:xfrm>
          <a:off x="0" y="0"/>
          <a:ext cx="0" cy="0"/>
          <a:chOff x="0" y="0"/>
          <a:chExt cx="0" cy="0"/>
        </a:xfrm>
      </p:grpSpPr>
      <p:sp>
        <p:nvSpPr>
          <p:cNvPr id="852" name="Google Shape;852;p36: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53" name="Google Shape;853;p36: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64"/>
        <p:cNvGrpSpPr/>
        <p:nvPr/>
      </p:nvGrpSpPr>
      <p:grpSpPr>
        <a:xfrm>
          <a:off x="0" y="0"/>
          <a:ext cx="0" cy="0"/>
          <a:chOff x="0" y="0"/>
          <a:chExt cx="0" cy="0"/>
        </a:xfrm>
      </p:grpSpPr>
      <p:sp>
        <p:nvSpPr>
          <p:cNvPr id="865" name="Google Shape;865;p37: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66" name="Google Shape;866;p37: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8"/>
        <p:cNvGrpSpPr/>
        <p:nvPr/>
      </p:nvGrpSpPr>
      <p:grpSpPr>
        <a:xfrm>
          <a:off x="0" y="0"/>
          <a:ext cx="0" cy="0"/>
          <a:chOff x="0" y="0"/>
          <a:chExt cx="0" cy="0"/>
        </a:xfrm>
      </p:grpSpPr>
      <p:sp>
        <p:nvSpPr>
          <p:cNvPr id="879" name="Google Shape;879;p3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880" name="Google Shape;880;p3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12"/>
        <p:cNvGrpSpPr/>
        <p:nvPr/>
      </p:nvGrpSpPr>
      <p:grpSpPr>
        <a:xfrm>
          <a:off x="0" y="0"/>
          <a:ext cx="0" cy="0"/>
          <a:chOff x="0" y="0"/>
          <a:chExt cx="0" cy="0"/>
        </a:xfrm>
      </p:grpSpPr>
      <p:sp>
        <p:nvSpPr>
          <p:cNvPr id="513" name="Google Shape;513;p18:notes"/>
          <p:cNvSpPr txBox="1">
            <a:spLocks noGrp="1"/>
          </p:cNvSpPr>
          <p:nvPr>
            <p:ph type="body" idx="1"/>
          </p:nvPr>
        </p:nvSpPr>
        <p:spPr>
          <a:xfrm>
            <a:off x="710248" y="4459526"/>
            <a:ext cx="5681980" cy="4224814"/>
          </a:xfrm>
          <a:prstGeom prst="rect">
            <a:avLst/>
          </a:prstGeom>
        </p:spPr>
        <p:txBody>
          <a:bodyPr spcFirstLastPara="1" wrap="square" lIns="96475" tIns="48225" rIns="96475" bIns="48225" anchor="t" anchorCtr="0">
            <a:noAutofit/>
          </a:bodyPr>
          <a:lstStyle/>
          <a:p>
            <a:pPr marL="0" lvl="0" indent="0" algn="l" rtl="0">
              <a:spcBef>
                <a:spcPts val="0"/>
              </a:spcBef>
              <a:spcAft>
                <a:spcPts val="0"/>
              </a:spcAft>
              <a:buNone/>
            </a:pPr>
          </a:p>
        </p:txBody>
      </p:sp>
      <p:sp>
        <p:nvSpPr>
          <p:cNvPr id="514" name="Google Shape;514;p18:notes"/>
          <p:cNvSpPr>
            <a:spLocks noGrp="1" noRot="1" noChangeAspect="1"/>
          </p:cNvSpPr>
          <p:nvPr>
            <p:ph type="sldImg" idx="2"/>
          </p:nvPr>
        </p:nvSpPr>
        <p:spPr>
          <a:xfrm>
            <a:off x="423863" y="704850"/>
            <a:ext cx="6256337" cy="35194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35"/>
        <p:cNvGrpSpPr/>
        <p:nvPr/>
      </p:nvGrpSpPr>
      <p:grpSpPr>
        <a:xfrm>
          <a:off x="0" y="0"/>
          <a:ext cx="0" cy="0"/>
          <a:chOff x="0" y="0"/>
          <a:chExt cx="0" cy="0"/>
        </a:xfrm>
      </p:grpSpPr>
      <p:sp>
        <p:nvSpPr>
          <p:cNvPr id="836" name="Google Shape;836;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37" name="Google Shape;837;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lide">
    <p:spTree>
      <p:nvGrpSpPr>
        <p:cNvPr id="1" name=""/>
        <p:cNvGrpSpPr/>
        <p:nvPr/>
      </p:nvGrpSpPr>
      <p:grpSpPr>
        <a:xfrm>
          <a:off x="0" y="0"/>
          <a:ext cx="0" cy="0"/>
          <a:chOff x="0" y="0"/>
          <a:chExt cx="0" cy="0"/>
        </a:xfrm>
      </p:grpSpPr>
      <p:sp>
        <p:nvSpPr>
          <p:cNvPr id="2" name="Picture Placeholder 8"/>
          <p:cNvSpPr>
            <a:spLocks noGrp="1"/>
          </p:cNvSpPr>
          <p:nvPr>
            <p:ph type="pic" sz="quarter" idx="14"/>
          </p:nvPr>
        </p:nvSpPr>
        <p:spPr>
          <a:xfrm>
            <a:off x="3978704" y="-174171"/>
            <a:ext cx="8412466" cy="7206342"/>
          </a:xfrm>
          <a:custGeom>
            <a:avLst/>
            <a:gdLst>
              <a:gd name="connsiteX0" fmla="*/ 0 w 16731340"/>
              <a:gd name="connsiteY0" fmla="*/ 0 h 14412684"/>
              <a:gd name="connsiteX1" fmla="*/ 16731340 w 16731340"/>
              <a:gd name="connsiteY1" fmla="*/ 0 h 14412684"/>
              <a:gd name="connsiteX2" fmla="*/ 16731340 w 16731340"/>
              <a:gd name="connsiteY2" fmla="*/ 14412684 h 14412684"/>
              <a:gd name="connsiteX3" fmla="*/ 0 w 16731340"/>
              <a:gd name="connsiteY3" fmla="*/ 14412684 h 14412684"/>
              <a:gd name="connsiteX4" fmla="*/ 0 w 16731340"/>
              <a:gd name="connsiteY4" fmla="*/ 0 h 14412684"/>
              <a:gd name="connsiteX0-1" fmla="*/ 0 w 16731340"/>
              <a:gd name="connsiteY0-2" fmla="*/ 0 h 14412684"/>
              <a:gd name="connsiteX1-3" fmla="*/ 16731340 w 16731340"/>
              <a:gd name="connsiteY1-4" fmla="*/ 0 h 14412684"/>
              <a:gd name="connsiteX2-5" fmla="*/ 16731340 w 16731340"/>
              <a:gd name="connsiteY2-6" fmla="*/ 14412684 h 14412684"/>
              <a:gd name="connsiteX3-7" fmla="*/ 4259766 w 16731340"/>
              <a:gd name="connsiteY3-8" fmla="*/ 14412684 h 14412684"/>
              <a:gd name="connsiteX4-9" fmla="*/ 0 w 16731340"/>
              <a:gd name="connsiteY4-10" fmla="*/ 0 h 14412684"/>
              <a:gd name="connsiteX0-11" fmla="*/ 0 w 16820550"/>
              <a:gd name="connsiteY0-12" fmla="*/ 22303 h 14412684"/>
              <a:gd name="connsiteX1-13" fmla="*/ 16820550 w 16820550"/>
              <a:gd name="connsiteY1-14" fmla="*/ 0 h 14412684"/>
              <a:gd name="connsiteX2-15" fmla="*/ 16820550 w 16820550"/>
              <a:gd name="connsiteY2-16" fmla="*/ 14412684 h 14412684"/>
              <a:gd name="connsiteX3-17" fmla="*/ 4348976 w 16820550"/>
              <a:gd name="connsiteY3-18" fmla="*/ 14412684 h 14412684"/>
              <a:gd name="connsiteX4-19" fmla="*/ 0 w 16820550"/>
              <a:gd name="connsiteY4-20" fmla="*/ 22303 h 14412684"/>
              <a:gd name="connsiteX0-21" fmla="*/ 0 w 16820550"/>
              <a:gd name="connsiteY0-22" fmla="*/ 0 h 14457288"/>
              <a:gd name="connsiteX1-23" fmla="*/ 16820550 w 16820550"/>
              <a:gd name="connsiteY1-24" fmla="*/ 44604 h 14457288"/>
              <a:gd name="connsiteX2-25" fmla="*/ 16820550 w 16820550"/>
              <a:gd name="connsiteY2-26" fmla="*/ 14457288 h 14457288"/>
              <a:gd name="connsiteX3-27" fmla="*/ 4348976 w 16820550"/>
              <a:gd name="connsiteY3-28" fmla="*/ 14457288 h 14457288"/>
              <a:gd name="connsiteX4-29" fmla="*/ 0 w 16820550"/>
              <a:gd name="connsiteY4-30" fmla="*/ 0 h 14457288"/>
              <a:gd name="connsiteX0-31" fmla="*/ 0 w 16820550"/>
              <a:gd name="connsiteY0-32" fmla="*/ 1 h 14412684"/>
              <a:gd name="connsiteX1-33" fmla="*/ 16820550 w 16820550"/>
              <a:gd name="connsiteY1-34" fmla="*/ 0 h 14412684"/>
              <a:gd name="connsiteX2-35" fmla="*/ 16820550 w 16820550"/>
              <a:gd name="connsiteY2-36" fmla="*/ 14412684 h 14412684"/>
              <a:gd name="connsiteX3-37" fmla="*/ 4348976 w 16820550"/>
              <a:gd name="connsiteY3-38" fmla="*/ 14412684 h 14412684"/>
              <a:gd name="connsiteX4-39" fmla="*/ 0 w 16820550"/>
              <a:gd name="connsiteY4-40" fmla="*/ 1 h 14412684"/>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820550" h="14412684">
                <a:moveTo>
                  <a:pt x="0" y="1"/>
                </a:moveTo>
                <a:lnTo>
                  <a:pt x="16820550" y="0"/>
                </a:lnTo>
                <a:lnTo>
                  <a:pt x="16820550" y="14412684"/>
                </a:lnTo>
                <a:lnTo>
                  <a:pt x="4348976" y="14412684"/>
                </a:lnTo>
                <a:lnTo>
                  <a:pt x="0" y="1"/>
                </a:lnTo>
                <a:close/>
              </a:path>
            </a:pathLst>
          </a:custGeom>
          <a:solidFill>
            <a:schemeClr val="bg1">
              <a:lumMod val="95000"/>
            </a:schemeClr>
          </a:solidFill>
        </p:spPr>
        <p:txBody>
          <a:bodyPr>
            <a:normAutofit/>
          </a:bodyPr>
          <a:lstStyle>
            <a:lvl1pPr>
              <a:defRPr sz="1050"/>
            </a:lvl1pPr>
          </a:lstStyle>
          <a:p>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slide">
    <p:spTree>
      <p:nvGrpSpPr>
        <p:cNvPr id="1" name=""/>
        <p:cNvGrpSpPr/>
        <p:nvPr/>
      </p:nvGrpSpPr>
      <p:grpSpPr>
        <a:xfrm>
          <a:off x="0" y="0"/>
          <a:ext cx="0" cy="0"/>
          <a:chOff x="0" y="0"/>
          <a:chExt cx="0" cy="0"/>
        </a:xfrm>
      </p:grpSpPr>
      <p:sp>
        <p:nvSpPr>
          <p:cNvPr id="13" name="Picture Placeholder 8"/>
          <p:cNvSpPr>
            <a:spLocks noGrp="1"/>
          </p:cNvSpPr>
          <p:nvPr>
            <p:ph type="pic" sz="quarter" idx="14"/>
          </p:nvPr>
        </p:nvSpPr>
        <p:spPr>
          <a:xfrm>
            <a:off x="5222862" y="0"/>
            <a:ext cx="6969138" cy="6858000"/>
          </a:xfrm>
          <a:prstGeom prst="rect">
            <a:avLst/>
          </a:prstGeom>
          <a:solidFill>
            <a:schemeClr val="bg1">
              <a:lumMod val="95000"/>
            </a:schemeClr>
          </a:solidFill>
        </p:spPr>
        <p:txBody>
          <a:bodyPr>
            <a:normAutofit/>
          </a:bodyPr>
          <a:lstStyle>
            <a:lvl1pPr>
              <a:defRPr sz="1050"/>
            </a:lvl1pPr>
          </a:lstStyle>
          <a:p>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92000"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165" indent="0">
              <a:buNone/>
              <a:defRPr sz="2665"/>
            </a:lvl4pPr>
            <a:lvl5pPr marL="2437765" indent="0">
              <a:buNone/>
              <a:defRPr sz="2665"/>
            </a:lvl5pPr>
            <a:lvl6pPr marL="3047365" indent="0">
              <a:buNone/>
              <a:defRPr sz="2665"/>
            </a:lvl6pPr>
            <a:lvl7pPr marL="3656965" indent="0">
              <a:buNone/>
              <a:defRPr sz="2665"/>
            </a:lvl7pPr>
            <a:lvl8pPr marL="4265930" indent="0">
              <a:buNone/>
              <a:defRPr sz="2665"/>
            </a:lvl8pPr>
            <a:lvl9pPr marL="4875530" indent="0">
              <a:buNone/>
              <a:defRPr sz="2665"/>
            </a:lvl9pPr>
          </a:lstStyle>
          <a:p>
            <a:r>
              <a:rPr lang="en-US" altLang="ko-KR" dirty="0"/>
              <a:t>Insert Your Image</a:t>
            </a:r>
            <a:endParaRPr lang="ko-KR"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17"/>
        <p:cNvGrpSpPr/>
        <p:nvPr/>
      </p:nvGrpSpPr>
      <p:grpSpPr>
        <a:xfrm>
          <a:off x="0" y="0"/>
          <a:ext cx="0" cy="0"/>
          <a:chOff x="0" y="0"/>
          <a:chExt cx="0" cy="0"/>
        </a:xfrm>
      </p:grpSpPr>
      <p:sp>
        <p:nvSpPr>
          <p:cNvPr id="18" name="Google Shape;18;p125"/>
          <p:cNvSpPr>
            <a:spLocks noGrp="1"/>
          </p:cNvSpPr>
          <p:nvPr>
            <p:ph type="pic" idx="2"/>
          </p:nvPr>
        </p:nvSpPr>
        <p:spPr>
          <a:xfrm>
            <a:off x="3978704" y="-174171"/>
            <a:ext cx="8412466" cy="7206342"/>
          </a:xfrm>
          <a:prstGeom prst="rect">
            <a:avLst/>
          </a:prstGeom>
          <a:solidFill>
            <a:srgbClr val="F2F2F2"/>
          </a:solidFill>
          <a:ln>
            <a:noFill/>
          </a:ln>
        </p:spPr>
      </p:sp>
      <p:sp>
        <p:nvSpPr>
          <p:cNvPr id="19" name="Google Shape;19;p125"/>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20"/>
        <p:cNvGrpSpPr/>
        <p:nvPr/>
      </p:nvGrpSpPr>
      <p:grpSpPr>
        <a:xfrm>
          <a:off x="0" y="0"/>
          <a:ext cx="0" cy="0"/>
          <a:chOff x="0" y="0"/>
          <a:chExt cx="0" cy="0"/>
        </a:xfrm>
      </p:grpSpPr>
      <p:sp>
        <p:nvSpPr>
          <p:cNvPr id="21" name="Google Shape;21;p126"/>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2"/>
        <p:cNvGrpSpPr/>
        <p:nvPr/>
      </p:nvGrpSpPr>
      <p:grpSpPr>
        <a:xfrm>
          <a:off x="0" y="0"/>
          <a:ext cx="0" cy="0"/>
          <a:chOff x="0" y="0"/>
          <a:chExt cx="0" cy="0"/>
        </a:xfrm>
      </p:grpSpPr>
      <p:sp>
        <p:nvSpPr>
          <p:cNvPr id="23" name="Google Shape;23;p158"/>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58"/>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58"/>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26"/>
        <p:cNvGrpSpPr/>
        <p:nvPr/>
      </p:nvGrpSpPr>
      <p:grpSpPr>
        <a:xfrm>
          <a:off x="0" y="0"/>
          <a:ext cx="0" cy="0"/>
          <a:chOff x="0" y="0"/>
          <a:chExt cx="0" cy="0"/>
        </a:xfrm>
      </p:grpSpPr>
      <p:sp>
        <p:nvSpPr>
          <p:cNvPr id="27" name="Google Shape;27;p159"/>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600"/>
              <a:buFont typeface="Arial" panose="020B0604020202020204"/>
              <a:buNone/>
            </a:pPr>
            <a:r>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8" name="Google Shape;28;p159"/>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600"/>
              <a:buFont typeface="Arial" panose="020B0604020202020204"/>
              <a:buNone/>
            </a:pPr>
            <a:fld id="{00000000-1234-1234-1234-123412341234}" type="slidenum">
              <a:rPr lang="en-US" sz="1600" b="0" i="0" u="none" strike="noStrike" cap="none">
                <a:solidFill>
                  <a:srgbClr val="000000"/>
                </a:solidFill>
                <a:latin typeface="Arial" panose="020B0604020202020204"/>
                <a:ea typeface="Arial" panose="020B0604020202020204"/>
                <a:cs typeface="Arial" panose="020B0604020202020204"/>
                <a:sym typeface="Arial" panose="020B0604020202020204"/>
              </a:rPr>
            </a:fld>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9" name="Google Shape;29;p159"/>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30" name="Google Shape;30;p159"/>
          <p:cNvSpPr txBox="1">
            <a:spLocks noGrp="1"/>
          </p:cNvSpPr>
          <p:nvPr>
            <p:ph type="title"/>
          </p:nvPr>
        </p:nvSpPr>
        <p:spPr>
          <a:xfrm>
            <a:off x="655321" y="495335"/>
            <a:ext cx="10515600" cy="6407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800"/>
              <a:buFont typeface="Arial" panose="020B0604020202020204"/>
              <a:buNone/>
              <a:defRPr sz="2400" b="1" i="0">
                <a:solidFill>
                  <a:srgbClr val="323F4F"/>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6"/>
        <p:cNvGrpSpPr/>
        <p:nvPr/>
      </p:nvGrpSpPr>
      <p:grpSpPr>
        <a:xfrm>
          <a:off x="0" y="0"/>
          <a:ext cx="0" cy="0"/>
          <a:chOff x="0" y="0"/>
          <a:chExt cx="0" cy="0"/>
        </a:xfrm>
      </p:grpSpPr>
      <p:sp>
        <p:nvSpPr>
          <p:cNvPr id="37" name="Google Shape;37;p233"/>
          <p:cNvSpPr>
            <a:spLocks noGrp="1"/>
          </p:cNvSpPr>
          <p:nvPr>
            <p:ph type="media" idx="2"/>
          </p:nvPr>
        </p:nvSpPr>
        <p:spPr>
          <a:xfrm>
            <a:off x="874610" y="1346252"/>
            <a:ext cx="9921875" cy="4789487"/>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R="0" lvl="1"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8" name="Google Shape;38;p233"/>
          <p:cNvSpPr txBox="1">
            <a:spLocks noGrp="1"/>
          </p:cNvSpPr>
          <p:nvPr>
            <p:ph type="title"/>
          </p:nvPr>
        </p:nvSpPr>
        <p:spPr>
          <a:xfrm>
            <a:off x="874610" y="443784"/>
            <a:ext cx="10515600" cy="57877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33"/>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41"/>
        <p:cNvGrpSpPr/>
        <p:nvPr/>
      </p:nvGrpSpPr>
      <p:grpSpPr>
        <a:xfrm>
          <a:off x="0" y="0"/>
          <a:ext cx="0" cy="0"/>
          <a:chOff x="0" y="0"/>
          <a:chExt cx="0" cy="0"/>
        </a:xfrm>
      </p:grpSpPr>
      <p:sp>
        <p:nvSpPr>
          <p:cNvPr id="42" name="Google Shape;42;p234"/>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43"/>
        <p:cNvGrpSpPr/>
        <p:nvPr/>
      </p:nvGrpSpPr>
      <p:grpSpPr>
        <a:xfrm>
          <a:off x="0" y="0"/>
          <a:ext cx="0" cy="0"/>
          <a:chOff x="0" y="0"/>
          <a:chExt cx="0" cy="0"/>
        </a:xfrm>
      </p:grpSpPr>
      <p:sp>
        <p:nvSpPr>
          <p:cNvPr id="44" name="Google Shape;44;p235"/>
          <p:cNvSpPr>
            <a:spLocks noGrp="1"/>
          </p:cNvSpPr>
          <p:nvPr>
            <p:ph type="pic" idx="2"/>
          </p:nvPr>
        </p:nvSpPr>
        <p:spPr>
          <a:xfrm>
            <a:off x="-199169" y="-174171"/>
            <a:ext cx="12590339" cy="4288971"/>
          </a:xfrm>
          <a:prstGeom prst="rect">
            <a:avLst/>
          </a:prstGeom>
          <a:solidFill>
            <a:srgbClr val="F2F2F2"/>
          </a:solidFill>
          <a:ln>
            <a:noFill/>
          </a:ln>
        </p:spPr>
      </p:sp>
      <p:sp>
        <p:nvSpPr>
          <p:cNvPr id="45" name="Google Shape;45;p235"/>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46"/>
        <p:cNvGrpSpPr/>
        <p:nvPr/>
      </p:nvGrpSpPr>
      <p:grpSpPr>
        <a:xfrm>
          <a:off x="0" y="0"/>
          <a:ext cx="0" cy="0"/>
          <a:chOff x="0" y="0"/>
          <a:chExt cx="0" cy="0"/>
        </a:xfrm>
      </p:grpSpPr>
      <p:sp>
        <p:nvSpPr>
          <p:cNvPr id="47" name="Google Shape;47;p236"/>
          <p:cNvSpPr>
            <a:spLocks noGrp="1"/>
          </p:cNvSpPr>
          <p:nvPr>
            <p:ph type="pic" idx="2"/>
          </p:nvPr>
        </p:nvSpPr>
        <p:spPr>
          <a:xfrm>
            <a:off x="3576130" y="2940877"/>
            <a:ext cx="1389961" cy="1389597"/>
          </a:xfrm>
          <a:prstGeom prst="ellipse">
            <a:avLst/>
          </a:prstGeom>
          <a:solidFill>
            <a:srgbClr val="F2F2F2"/>
          </a:solidFill>
          <a:ln>
            <a:noFill/>
          </a:ln>
        </p:spPr>
      </p:sp>
      <p:sp>
        <p:nvSpPr>
          <p:cNvPr id="48" name="Google Shape;48;p236"/>
          <p:cNvSpPr>
            <a:spLocks noGrp="1"/>
          </p:cNvSpPr>
          <p:nvPr>
            <p:ph type="pic" idx="3"/>
          </p:nvPr>
        </p:nvSpPr>
        <p:spPr>
          <a:xfrm>
            <a:off x="4492911" y="1447800"/>
            <a:ext cx="1389961" cy="1389597"/>
          </a:xfrm>
          <a:prstGeom prst="ellipse">
            <a:avLst/>
          </a:prstGeom>
          <a:solidFill>
            <a:srgbClr val="F2F2F2"/>
          </a:solidFill>
          <a:ln>
            <a:noFill/>
          </a:ln>
        </p:spPr>
      </p:sp>
      <p:sp>
        <p:nvSpPr>
          <p:cNvPr id="49" name="Google Shape;49;p236"/>
          <p:cNvSpPr>
            <a:spLocks noGrp="1"/>
          </p:cNvSpPr>
          <p:nvPr>
            <p:ph type="pic" idx="4"/>
          </p:nvPr>
        </p:nvSpPr>
        <p:spPr>
          <a:xfrm>
            <a:off x="6309129" y="1447800"/>
            <a:ext cx="1389961" cy="1389597"/>
          </a:xfrm>
          <a:prstGeom prst="ellipse">
            <a:avLst/>
          </a:prstGeom>
          <a:solidFill>
            <a:srgbClr val="F2F2F2"/>
          </a:solidFill>
          <a:ln>
            <a:noFill/>
          </a:ln>
        </p:spPr>
      </p:sp>
      <p:sp>
        <p:nvSpPr>
          <p:cNvPr id="50" name="Google Shape;50;p236"/>
          <p:cNvSpPr>
            <a:spLocks noGrp="1"/>
          </p:cNvSpPr>
          <p:nvPr>
            <p:ph type="pic" idx="5"/>
          </p:nvPr>
        </p:nvSpPr>
        <p:spPr>
          <a:xfrm>
            <a:off x="4492911" y="4433954"/>
            <a:ext cx="1389961" cy="1389597"/>
          </a:xfrm>
          <a:prstGeom prst="ellipse">
            <a:avLst/>
          </a:prstGeom>
          <a:solidFill>
            <a:srgbClr val="F2F2F2"/>
          </a:solidFill>
          <a:ln>
            <a:noFill/>
          </a:ln>
        </p:spPr>
      </p:sp>
      <p:sp>
        <p:nvSpPr>
          <p:cNvPr id="51" name="Google Shape;51;p236"/>
          <p:cNvSpPr>
            <a:spLocks noGrp="1"/>
          </p:cNvSpPr>
          <p:nvPr>
            <p:ph type="pic" idx="6"/>
          </p:nvPr>
        </p:nvSpPr>
        <p:spPr>
          <a:xfrm>
            <a:off x="6309129" y="4433954"/>
            <a:ext cx="1389961" cy="1389597"/>
          </a:xfrm>
          <a:prstGeom prst="ellipse">
            <a:avLst/>
          </a:prstGeom>
          <a:solidFill>
            <a:srgbClr val="F2F2F2"/>
          </a:solidFill>
          <a:ln>
            <a:noFill/>
          </a:ln>
        </p:spPr>
      </p:sp>
      <p:sp>
        <p:nvSpPr>
          <p:cNvPr id="52" name="Google Shape;52;p236"/>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53"/>
        <p:cNvGrpSpPr/>
        <p:nvPr/>
      </p:nvGrpSpPr>
      <p:grpSpPr>
        <a:xfrm>
          <a:off x="0" y="0"/>
          <a:ext cx="0" cy="0"/>
          <a:chOff x="0" y="0"/>
          <a:chExt cx="0" cy="0"/>
        </a:xfrm>
      </p:grpSpPr>
      <p:sp>
        <p:nvSpPr>
          <p:cNvPr id="54" name="Google Shape;54;p237"/>
          <p:cNvSpPr>
            <a:spLocks noGrp="1"/>
          </p:cNvSpPr>
          <p:nvPr>
            <p:ph type="pic" idx="2"/>
          </p:nvPr>
        </p:nvSpPr>
        <p:spPr>
          <a:xfrm>
            <a:off x="2237975" y="4303749"/>
            <a:ext cx="1333651" cy="1333302"/>
          </a:xfrm>
          <a:prstGeom prst="ellipse">
            <a:avLst/>
          </a:prstGeom>
          <a:solidFill>
            <a:srgbClr val="F2F2F2"/>
          </a:solidFill>
          <a:ln>
            <a:noFill/>
          </a:ln>
        </p:spPr>
      </p:sp>
      <p:sp>
        <p:nvSpPr>
          <p:cNvPr id="55" name="Google Shape;55;p237"/>
          <p:cNvSpPr>
            <a:spLocks noGrp="1"/>
          </p:cNvSpPr>
          <p:nvPr>
            <p:ph type="pic" idx="3"/>
          </p:nvPr>
        </p:nvSpPr>
        <p:spPr>
          <a:xfrm>
            <a:off x="3457115" y="3122288"/>
            <a:ext cx="1333651" cy="1333302"/>
          </a:xfrm>
          <a:prstGeom prst="ellipse">
            <a:avLst/>
          </a:prstGeom>
          <a:solidFill>
            <a:srgbClr val="F2F2F2"/>
          </a:solidFill>
          <a:ln>
            <a:noFill/>
          </a:ln>
        </p:spPr>
      </p:sp>
      <p:sp>
        <p:nvSpPr>
          <p:cNvPr id="56" name="Google Shape;56;p237"/>
          <p:cNvSpPr>
            <a:spLocks noGrp="1"/>
          </p:cNvSpPr>
          <p:nvPr>
            <p:ph type="pic" idx="4"/>
          </p:nvPr>
        </p:nvSpPr>
        <p:spPr>
          <a:xfrm>
            <a:off x="4624057" y="1959965"/>
            <a:ext cx="1333651" cy="1333302"/>
          </a:xfrm>
          <a:prstGeom prst="ellipse">
            <a:avLst/>
          </a:prstGeom>
          <a:solidFill>
            <a:srgbClr val="F2F2F2"/>
          </a:solidFill>
          <a:ln>
            <a:noFill/>
          </a:ln>
        </p:spPr>
      </p:sp>
      <p:sp>
        <p:nvSpPr>
          <p:cNvPr id="57" name="Google Shape;57;p237"/>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58"/>
        <p:cNvGrpSpPr/>
        <p:nvPr/>
      </p:nvGrpSpPr>
      <p:grpSpPr>
        <a:xfrm>
          <a:off x="0" y="0"/>
          <a:ext cx="0" cy="0"/>
          <a:chOff x="0" y="0"/>
          <a:chExt cx="0" cy="0"/>
        </a:xfrm>
      </p:grpSpPr>
      <p:sp>
        <p:nvSpPr>
          <p:cNvPr id="59" name="Google Shape;59;p238"/>
          <p:cNvSpPr>
            <a:spLocks noGrp="1"/>
          </p:cNvSpPr>
          <p:nvPr>
            <p:ph type="pic" idx="2"/>
          </p:nvPr>
        </p:nvSpPr>
        <p:spPr>
          <a:xfrm>
            <a:off x="-199169" y="2514600"/>
            <a:ext cx="12590339" cy="4517571"/>
          </a:xfrm>
          <a:prstGeom prst="rect">
            <a:avLst/>
          </a:prstGeom>
          <a:solidFill>
            <a:srgbClr val="F2F2F2"/>
          </a:solidFill>
          <a:ln>
            <a:noFill/>
          </a:ln>
        </p:spPr>
      </p:sp>
      <p:sp>
        <p:nvSpPr>
          <p:cNvPr id="60" name="Google Shape;60;p238"/>
          <p:cNvSpPr>
            <a:spLocks noGrp="1"/>
          </p:cNvSpPr>
          <p:nvPr>
            <p:ph type="pic" idx="3"/>
          </p:nvPr>
        </p:nvSpPr>
        <p:spPr>
          <a:xfrm>
            <a:off x="1428209" y="1579564"/>
            <a:ext cx="1870562" cy="1870072"/>
          </a:xfrm>
          <a:prstGeom prst="ellipse">
            <a:avLst/>
          </a:prstGeom>
          <a:solidFill>
            <a:srgbClr val="F2F2F2"/>
          </a:solidFill>
          <a:ln>
            <a:noFill/>
          </a:ln>
        </p:spPr>
      </p:sp>
      <p:sp>
        <p:nvSpPr>
          <p:cNvPr id="61" name="Google Shape;61;p238"/>
          <p:cNvSpPr>
            <a:spLocks noGrp="1"/>
          </p:cNvSpPr>
          <p:nvPr>
            <p:ph type="pic" idx="4"/>
          </p:nvPr>
        </p:nvSpPr>
        <p:spPr>
          <a:xfrm>
            <a:off x="5160720" y="1579564"/>
            <a:ext cx="1870562" cy="1870072"/>
          </a:xfrm>
          <a:prstGeom prst="ellipse">
            <a:avLst/>
          </a:prstGeom>
          <a:solidFill>
            <a:srgbClr val="F2F2F2"/>
          </a:solidFill>
          <a:ln>
            <a:noFill/>
          </a:ln>
        </p:spPr>
      </p:sp>
      <p:sp>
        <p:nvSpPr>
          <p:cNvPr id="62" name="Google Shape;62;p238"/>
          <p:cNvSpPr>
            <a:spLocks noGrp="1"/>
          </p:cNvSpPr>
          <p:nvPr>
            <p:ph type="pic" idx="5"/>
          </p:nvPr>
        </p:nvSpPr>
        <p:spPr>
          <a:xfrm>
            <a:off x="8893230" y="1579564"/>
            <a:ext cx="1870562" cy="1870072"/>
          </a:xfrm>
          <a:prstGeom prst="ellipse">
            <a:avLst/>
          </a:prstGeom>
          <a:solidFill>
            <a:srgbClr val="F2F2F2"/>
          </a:solidFill>
          <a:ln>
            <a:no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63"/>
        <p:cNvGrpSpPr/>
        <p:nvPr/>
      </p:nvGrpSpPr>
      <p:grpSpPr>
        <a:xfrm>
          <a:off x="0" y="0"/>
          <a:ext cx="0" cy="0"/>
          <a:chOff x="0" y="0"/>
          <a:chExt cx="0" cy="0"/>
        </a:xfrm>
      </p:grpSpPr>
      <p:sp>
        <p:nvSpPr>
          <p:cNvPr id="64" name="Google Shape;64;p239"/>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65"/>
        <p:cNvGrpSpPr/>
        <p:nvPr/>
      </p:nvGrpSpPr>
      <p:grpSpPr>
        <a:xfrm>
          <a:off x="0" y="0"/>
          <a:ext cx="0" cy="0"/>
          <a:chOff x="0" y="0"/>
          <a:chExt cx="0" cy="0"/>
        </a:xfrm>
      </p:grpSpPr>
      <p:sp>
        <p:nvSpPr>
          <p:cNvPr id="66" name="Google Shape;66;p240"/>
          <p:cNvSpPr>
            <a:spLocks noGrp="1"/>
          </p:cNvSpPr>
          <p:nvPr>
            <p:ph type="pic" idx="2"/>
          </p:nvPr>
        </p:nvSpPr>
        <p:spPr>
          <a:xfrm>
            <a:off x="713116" y="2066599"/>
            <a:ext cx="1333653" cy="1333303"/>
          </a:xfrm>
          <a:prstGeom prst="ellipse">
            <a:avLst/>
          </a:prstGeom>
          <a:solidFill>
            <a:srgbClr val="F2F2F2"/>
          </a:solidFill>
          <a:ln>
            <a:noFill/>
          </a:ln>
        </p:spPr>
      </p:sp>
      <p:sp>
        <p:nvSpPr>
          <p:cNvPr id="67" name="Google Shape;67;p240"/>
          <p:cNvSpPr>
            <a:spLocks noGrp="1"/>
          </p:cNvSpPr>
          <p:nvPr>
            <p:ph type="pic" idx="3"/>
          </p:nvPr>
        </p:nvSpPr>
        <p:spPr>
          <a:xfrm>
            <a:off x="713119" y="3890151"/>
            <a:ext cx="1333648" cy="1333299"/>
          </a:xfrm>
          <a:prstGeom prst="ellipse">
            <a:avLst/>
          </a:prstGeom>
          <a:solidFill>
            <a:srgbClr val="F2F2F2"/>
          </a:solidFill>
          <a:ln>
            <a:noFill/>
          </a:ln>
        </p:spPr>
      </p:sp>
      <p:sp>
        <p:nvSpPr>
          <p:cNvPr id="68" name="Google Shape;68;p240"/>
          <p:cNvSpPr>
            <a:spLocks noGrp="1"/>
          </p:cNvSpPr>
          <p:nvPr>
            <p:ph type="pic" idx="4"/>
          </p:nvPr>
        </p:nvSpPr>
        <p:spPr>
          <a:xfrm>
            <a:off x="6589152" y="2066599"/>
            <a:ext cx="1333653" cy="1333303"/>
          </a:xfrm>
          <a:prstGeom prst="ellipse">
            <a:avLst/>
          </a:prstGeom>
          <a:solidFill>
            <a:srgbClr val="F2F2F2"/>
          </a:solidFill>
          <a:ln>
            <a:noFill/>
          </a:ln>
        </p:spPr>
      </p:sp>
      <p:sp>
        <p:nvSpPr>
          <p:cNvPr id="69" name="Google Shape;69;p240"/>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70"/>
        <p:cNvGrpSpPr/>
        <p:nvPr/>
      </p:nvGrpSpPr>
      <p:grpSpPr>
        <a:xfrm>
          <a:off x="0" y="0"/>
          <a:ext cx="0" cy="0"/>
          <a:chOff x="0" y="0"/>
          <a:chExt cx="0" cy="0"/>
        </a:xfrm>
      </p:grpSpPr>
      <p:sp>
        <p:nvSpPr>
          <p:cNvPr id="71" name="Google Shape;71;p241"/>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72"/>
        <p:cNvGrpSpPr/>
        <p:nvPr/>
      </p:nvGrpSpPr>
      <p:grpSpPr>
        <a:xfrm>
          <a:off x="0" y="0"/>
          <a:ext cx="0" cy="0"/>
          <a:chOff x="0" y="0"/>
          <a:chExt cx="0" cy="0"/>
        </a:xfrm>
      </p:grpSpPr>
      <p:sp>
        <p:nvSpPr>
          <p:cNvPr id="73" name="Google Shape;73;p242"/>
          <p:cNvSpPr>
            <a:spLocks noGrp="1"/>
          </p:cNvSpPr>
          <p:nvPr>
            <p:ph type="pic" idx="2"/>
          </p:nvPr>
        </p:nvSpPr>
        <p:spPr>
          <a:xfrm>
            <a:off x="5784331" y="1315673"/>
            <a:ext cx="5879817" cy="4203543"/>
          </a:xfrm>
          <a:prstGeom prst="rect">
            <a:avLst/>
          </a:prstGeom>
          <a:solidFill>
            <a:srgbClr val="F2F2F2"/>
          </a:solidFill>
          <a:ln>
            <a:noFill/>
          </a:ln>
        </p:spPr>
      </p:sp>
      <p:sp>
        <p:nvSpPr>
          <p:cNvPr id="74" name="Google Shape;74;p242"/>
          <p:cNvSpPr txBox="1">
            <a:spLocks noGrp="1"/>
          </p:cNvSpPr>
          <p:nvPr>
            <p:ph type="title"/>
          </p:nvPr>
        </p:nvSpPr>
        <p:spPr>
          <a:xfrm>
            <a:off x="838201" y="365127"/>
            <a:ext cx="10515600" cy="62793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42"/>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76"/>
        <p:cNvGrpSpPr/>
        <p:nvPr/>
      </p:nvGrpSpPr>
      <p:grpSpPr>
        <a:xfrm>
          <a:off x="0" y="0"/>
          <a:ext cx="0" cy="0"/>
          <a:chOff x="0" y="0"/>
          <a:chExt cx="0" cy="0"/>
        </a:xfrm>
      </p:grpSpPr>
      <p:sp>
        <p:nvSpPr>
          <p:cNvPr id="77" name="Google Shape;77;p243"/>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78"/>
        <p:cNvGrpSpPr/>
        <p:nvPr/>
      </p:nvGrpSpPr>
      <p:grpSpPr>
        <a:xfrm>
          <a:off x="0" y="0"/>
          <a:ext cx="0" cy="0"/>
          <a:chOff x="0" y="0"/>
          <a:chExt cx="0" cy="0"/>
        </a:xfrm>
      </p:grpSpPr>
      <p:sp>
        <p:nvSpPr>
          <p:cNvPr id="79" name="Google Shape;79;p244"/>
          <p:cNvSpPr>
            <a:spLocks noGrp="1"/>
          </p:cNvSpPr>
          <p:nvPr>
            <p:ph type="pic" idx="2"/>
          </p:nvPr>
        </p:nvSpPr>
        <p:spPr>
          <a:xfrm>
            <a:off x="1069999" y="2677076"/>
            <a:ext cx="2010401" cy="804672"/>
          </a:xfrm>
          <a:prstGeom prst="rect">
            <a:avLst/>
          </a:prstGeom>
          <a:solidFill>
            <a:srgbClr val="F2F2F2"/>
          </a:solidFill>
          <a:ln>
            <a:noFill/>
          </a:ln>
        </p:spPr>
      </p:sp>
      <p:sp>
        <p:nvSpPr>
          <p:cNvPr id="80" name="Google Shape;80;p244"/>
          <p:cNvSpPr>
            <a:spLocks noGrp="1"/>
          </p:cNvSpPr>
          <p:nvPr>
            <p:ph type="pic" idx="3"/>
          </p:nvPr>
        </p:nvSpPr>
        <p:spPr>
          <a:xfrm>
            <a:off x="5090800" y="2677076"/>
            <a:ext cx="2010401" cy="804672"/>
          </a:xfrm>
          <a:prstGeom prst="rect">
            <a:avLst/>
          </a:prstGeom>
          <a:solidFill>
            <a:srgbClr val="F2F2F2"/>
          </a:solidFill>
          <a:ln>
            <a:noFill/>
          </a:ln>
        </p:spPr>
      </p:sp>
      <p:sp>
        <p:nvSpPr>
          <p:cNvPr id="81" name="Google Shape;81;p244"/>
          <p:cNvSpPr>
            <a:spLocks noGrp="1"/>
          </p:cNvSpPr>
          <p:nvPr>
            <p:ph type="pic" idx="4"/>
          </p:nvPr>
        </p:nvSpPr>
        <p:spPr>
          <a:xfrm>
            <a:off x="9111600" y="2677076"/>
            <a:ext cx="2010401" cy="804672"/>
          </a:xfrm>
          <a:prstGeom prst="rect">
            <a:avLst/>
          </a:prstGeom>
          <a:solidFill>
            <a:srgbClr val="F2F2F2"/>
          </a:solidFill>
          <a:ln>
            <a:noFill/>
          </a:ln>
        </p:spPr>
      </p:sp>
      <p:sp>
        <p:nvSpPr>
          <p:cNvPr id="82" name="Google Shape;82;p244"/>
          <p:cNvSpPr>
            <a:spLocks noGrp="1"/>
          </p:cNvSpPr>
          <p:nvPr>
            <p:ph type="pic" idx="5"/>
          </p:nvPr>
        </p:nvSpPr>
        <p:spPr>
          <a:xfrm>
            <a:off x="3080399" y="3884084"/>
            <a:ext cx="2010401" cy="804672"/>
          </a:xfrm>
          <a:prstGeom prst="rect">
            <a:avLst/>
          </a:prstGeom>
          <a:solidFill>
            <a:srgbClr val="F2F2F2"/>
          </a:solidFill>
          <a:ln>
            <a:noFill/>
          </a:ln>
        </p:spPr>
      </p:sp>
      <p:sp>
        <p:nvSpPr>
          <p:cNvPr id="83" name="Google Shape;83;p244"/>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84"/>
        <p:cNvGrpSpPr/>
        <p:nvPr/>
      </p:nvGrpSpPr>
      <p:grpSpPr>
        <a:xfrm>
          <a:off x="0" y="0"/>
          <a:ext cx="0" cy="0"/>
          <a:chOff x="0" y="0"/>
          <a:chExt cx="0" cy="0"/>
        </a:xfrm>
      </p:grpSpPr>
      <p:sp>
        <p:nvSpPr>
          <p:cNvPr id="85" name="Google Shape;85;p245"/>
          <p:cNvSpPr>
            <a:spLocks noGrp="1"/>
          </p:cNvSpPr>
          <p:nvPr>
            <p:ph type="pic" idx="2"/>
          </p:nvPr>
        </p:nvSpPr>
        <p:spPr>
          <a:xfrm>
            <a:off x="780799" y="1977749"/>
            <a:ext cx="2397440" cy="892514"/>
          </a:xfrm>
          <a:prstGeom prst="rect">
            <a:avLst/>
          </a:prstGeom>
          <a:solidFill>
            <a:srgbClr val="F2F2F2"/>
          </a:solidFill>
          <a:ln>
            <a:noFill/>
          </a:ln>
        </p:spPr>
      </p:sp>
      <p:sp>
        <p:nvSpPr>
          <p:cNvPr id="86" name="Google Shape;86;p245"/>
          <p:cNvSpPr>
            <a:spLocks noGrp="1"/>
          </p:cNvSpPr>
          <p:nvPr>
            <p:ph type="pic" idx="3"/>
          </p:nvPr>
        </p:nvSpPr>
        <p:spPr>
          <a:xfrm>
            <a:off x="3525120" y="1977749"/>
            <a:ext cx="2397440" cy="892514"/>
          </a:xfrm>
          <a:prstGeom prst="rect">
            <a:avLst/>
          </a:prstGeom>
          <a:solidFill>
            <a:srgbClr val="F2F2F2"/>
          </a:solidFill>
          <a:ln>
            <a:noFill/>
          </a:ln>
        </p:spPr>
      </p:sp>
      <p:sp>
        <p:nvSpPr>
          <p:cNvPr id="87" name="Google Shape;87;p245"/>
          <p:cNvSpPr>
            <a:spLocks noGrp="1"/>
          </p:cNvSpPr>
          <p:nvPr>
            <p:ph type="pic" idx="4"/>
          </p:nvPr>
        </p:nvSpPr>
        <p:spPr>
          <a:xfrm>
            <a:off x="6269441" y="1977749"/>
            <a:ext cx="2397440" cy="892514"/>
          </a:xfrm>
          <a:prstGeom prst="rect">
            <a:avLst/>
          </a:prstGeom>
          <a:solidFill>
            <a:srgbClr val="F2F2F2"/>
          </a:solidFill>
          <a:ln>
            <a:noFill/>
          </a:ln>
        </p:spPr>
      </p:sp>
      <p:sp>
        <p:nvSpPr>
          <p:cNvPr id="88" name="Google Shape;88;p245"/>
          <p:cNvSpPr>
            <a:spLocks noGrp="1"/>
          </p:cNvSpPr>
          <p:nvPr>
            <p:ph type="pic" idx="5"/>
          </p:nvPr>
        </p:nvSpPr>
        <p:spPr>
          <a:xfrm>
            <a:off x="9013761" y="1977749"/>
            <a:ext cx="2397440" cy="892514"/>
          </a:xfrm>
          <a:prstGeom prst="rect">
            <a:avLst/>
          </a:prstGeom>
          <a:solidFill>
            <a:srgbClr val="F2F2F2"/>
          </a:solidFill>
          <a:ln>
            <a:noFill/>
          </a:ln>
        </p:spPr>
      </p:sp>
      <p:sp>
        <p:nvSpPr>
          <p:cNvPr id="89" name="Google Shape;89;p245"/>
          <p:cNvSpPr>
            <a:spLocks noGrp="1"/>
          </p:cNvSpPr>
          <p:nvPr>
            <p:ph type="pic" idx="6"/>
          </p:nvPr>
        </p:nvSpPr>
        <p:spPr>
          <a:xfrm>
            <a:off x="780799" y="3236659"/>
            <a:ext cx="2397440" cy="892514"/>
          </a:xfrm>
          <a:prstGeom prst="rect">
            <a:avLst/>
          </a:prstGeom>
          <a:solidFill>
            <a:srgbClr val="F2F2F2"/>
          </a:solidFill>
          <a:ln>
            <a:noFill/>
          </a:ln>
        </p:spPr>
      </p:sp>
      <p:sp>
        <p:nvSpPr>
          <p:cNvPr id="90" name="Google Shape;90;p245"/>
          <p:cNvSpPr>
            <a:spLocks noGrp="1"/>
          </p:cNvSpPr>
          <p:nvPr>
            <p:ph type="pic" idx="7"/>
          </p:nvPr>
        </p:nvSpPr>
        <p:spPr>
          <a:xfrm>
            <a:off x="3525120" y="3236659"/>
            <a:ext cx="2397440" cy="892514"/>
          </a:xfrm>
          <a:prstGeom prst="rect">
            <a:avLst/>
          </a:prstGeom>
          <a:solidFill>
            <a:srgbClr val="F2F2F2"/>
          </a:solidFill>
          <a:ln>
            <a:noFill/>
          </a:ln>
        </p:spPr>
      </p:sp>
      <p:sp>
        <p:nvSpPr>
          <p:cNvPr id="91" name="Google Shape;91;p245"/>
          <p:cNvSpPr>
            <a:spLocks noGrp="1"/>
          </p:cNvSpPr>
          <p:nvPr>
            <p:ph type="pic" idx="8"/>
          </p:nvPr>
        </p:nvSpPr>
        <p:spPr>
          <a:xfrm>
            <a:off x="6269441" y="3236659"/>
            <a:ext cx="2397440" cy="892514"/>
          </a:xfrm>
          <a:prstGeom prst="rect">
            <a:avLst/>
          </a:prstGeom>
          <a:solidFill>
            <a:srgbClr val="F2F2F2"/>
          </a:solidFill>
          <a:ln>
            <a:noFill/>
          </a:ln>
        </p:spPr>
      </p:sp>
      <p:sp>
        <p:nvSpPr>
          <p:cNvPr id="92" name="Google Shape;92;p245"/>
          <p:cNvSpPr>
            <a:spLocks noGrp="1"/>
          </p:cNvSpPr>
          <p:nvPr>
            <p:ph type="pic" idx="9"/>
          </p:nvPr>
        </p:nvSpPr>
        <p:spPr>
          <a:xfrm>
            <a:off x="9013761" y="3236659"/>
            <a:ext cx="2397440" cy="892514"/>
          </a:xfrm>
          <a:prstGeom prst="rect">
            <a:avLst/>
          </a:prstGeom>
          <a:solidFill>
            <a:srgbClr val="F2F2F2"/>
          </a:solidFill>
          <a:ln>
            <a:noFill/>
          </a:ln>
        </p:spPr>
      </p:sp>
      <p:sp>
        <p:nvSpPr>
          <p:cNvPr id="93" name="Google Shape;93;p245"/>
          <p:cNvSpPr>
            <a:spLocks noGrp="1"/>
          </p:cNvSpPr>
          <p:nvPr>
            <p:ph type="pic" idx="13"/>
          </p:nvPr>
        </p:nvSpPr>
        <p:spPr>
          <a:xfrm>
            <a:off x="780799" y="4495568"/>
            <a:ext cx="2397440" cy="892514"/>
          </a:xfrm>
          <a:prstGeom prst="rect">
            <a:avLst/>
          </a:prstGeom>
          <a:solidFill>
            <a:srgbClr val="F2F2F2"/>
          </a:solidFill>
          <a:ln>
            <a:noFill/>
          </a:ln>
        </p:spPr>
      </p:sp>
      <p:sp>
        <p:nvSpPr>
          <p:cNvPr id="94" name="Google Shape;94;p245"/>
          <p:cNvSpPr>
            <a:spLocks noGrp="1"/>
          </p:cNvSpPr>
          <p:nvPr>
            <p:ph type="pic" idx="14"/>
          </p:nvPr>
        </p:nvSpPr>
        <p:spPr>
          <a:xfrm>
            <a:off x="3525120" y="4495568"/>
            <a:ext cx="2397440" cy="892514"/>
          </a:xfrm>
          <a:prstGeom prst="rect">
            <a:avLst/>
          </a:prstGeom>
          <a:solidFill>
            <a:srgbClr val="F2F2F2"/>
          </a:solidFill>
          <a:ln>
            <a:noFill/>
          </a:ln>
        </p:spPr>
      </p:sp>
      <p:sp>
        <p:nvSpPr>
          <p:cNvPr id="95" name="Google Shape;95;p245"/>
          <p:cNvSpPr>
            <a:spLocks noGrp="1"/>
          </p:cNvSpPr>
          <p:nvPr>
            <p:ph type="pic" idx="15"/>
          </p:nvPr>
        </p:nvSpPr>
        <p:spPr>
          <a:xfrm>
            <a:off x="6269441" y="4495568"/>
            <a:ext cx="2397440" cy="892514"/>
          </a:xfrm>
          <a:prstGeom prst="rect">
            <a:avLst/>
          </a:prstGeom>
          <a:solidFill>
            <a:srgbClr val="F2F2F2"/>
          </a:solidFill>
          <a:ln>
            <a:noFill/>
          </a:ln>
        </p:spPr>
      </p:sp>
      <p:sp>
        <p:nvSpPr>
          <p:cNvPr id="96" name="Google Shape;96;p245"/>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97"/>
        <p:cNvGrpSpPr/>
        <p:nvPr/>
      </p:nvGrpSpPr>
      <p:grpSpPr>
        <a:xfrm>
          <a:off x="0" y="0"/>
          <a:ext cx="0" cy="0"/>
          <a:chOff x="0" y="0"/>
          <a:chExt cx="0" cy="0"/>
        </a:xfrm>
      </p:grpSpPr>
      <p:sp>
        <p:nvSpPr>
          <p:cNvPr id="98" name="Google Shape;98;p246"/>
          <p:cNvSpPr>
            <a:spLocks noGrp="1"/>
          </p:cNvSpPr>
          <p:nvPr>
            <p:ph type="pic" idx="2"/>
          </p:nvPr>
        </p:nvSpPr>
        <p:spPr>
          <a:xfrm>
            <a:off x="747589" y="1735566"/>
            <a:ext cx="3454687" cy="3999122"/>
          </a:xfrm>
          <a:prstGeom prst="rect">
            <a:avLst/>
          </a:prstGeom>
          <a:solidFill>
            <a:srgbClr val="F2F2F2"/>
          </a:solidFill>
          <a:ln>
            <a:noFill/>
          </a:ln>
        </p:spPr>
      </p:sp>
      <p:sp>
        <p:nvSpPr>
          <p:cNvPr id="99" name="Google Shape;99;p246"/>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100"/>
        <p:cNvGrpSpPr/>
        <p:nvPr/>
      </p:nvGrpSpPr>
      <p:grpSpPr>
        <a:xfrm>
          <a:off x="0" y="0"/>
          <a:ext cx="0" cy="0"/>
          <a:chOff x="0" y="0"/>
          <a:chExt cx="0" cy="0"/>
        </a:xfrm>
      </p:grpSpPr>
      <p:sp>
        <p:nvSpPr>
          <p:cNvPr id="101" name="Google Shape;101;p247"/>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102"/>
        <p:cNvGrpSpPr/>
        <p:nvPr/>
      </p:nvGrpSpPr>
      <p:grpSpPr>
        <a:xfrm>
          <a:off x="0" y="0"/>
          <a:ext cx="0" cy="0"/>
          <a:chOff x="0" y="0"/>
          <a:chExt cx="0" cy="0"/>
        </a:xfrm>
      </p:grpSpPr>
      <p:sp>
        <p:nvSpPr>
          <p:cNvPr id="103" name="Google Shape;103;p248"/>
          <p:cNvSpPr>
            <a:spLocks noGrp="1"/>
          </p:cNvSpPr>
          <p:nvPr>
            <p:ph type="pic" idx="2"/>
          </p:nvPr>
        </p:nvSpPr>
        <p:spPr>
          <a:xfrm>
            <a:off x="4407323" y="1735566"/>
            <a:ext cx="3454687" cy="3999122"/>
          </a:xfrm>
          <a:prstGeom prst="rect">
            <a:avLst/>
          </a:prstGeom>
          <a:solidFill>
            <a:srgbClr val="F2F2F2"/>
          </a:solidFill>
          <a:ln>
            <a:noFill/>
          </a:ln>
        </p:spPr>
      </p:sp>
      <p:sp>
        <p:nvSpPr>
          <p:cNvPr id="104" name="Google Shape;104;p248"/>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105"/>
        <p:cNvGrpSpPr/>
        <p:nvPr/>
      </p:nvGrpSpPr>
      <p:grpSpPr>
        <a:xfrm>
          <a:off x="0" y="0"/>
          <a:ext cx="0" cy="0"/>
          <a:chOff x="0" y="0"/>
          <a:chExt cx="0" cy="0"/>
        </a:xfrm>
      </p:grpSpPr>
      <p:sp>
        <p:nvSpPr>
          <p:cNvPr id="106" name="Google Shape;106;p249"/>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107"/>
        <p:cNvGrpSpPr/>
        <p:nvPr/>
      </p:nvGrpSpPr>
      <p:grpSpPr>
        <a:xfrm>
          <a:off x="0" y="0"/>
          <a:ext cx="0" cy="0"/>
          <a:chOff x="0" y="0"/>
          <a:chExt cx="0" cy="0"/>
        </a:xfrm>
      </p:grpSpPr>
      <p:sp>
        <p:nvSpPr>
          <p:cNvPr id="108" name="Google Shape;108;p250"/>
          <p:cNvSpPr>
            <a:spLocks noGrp="1"/>
          </p:cNvSpPr>
          <p:nvPr>
            <p:ph type="pic" idx="2"/>
          </p:nvPr>
        </p:nvSpPr>
        <p:spPr>
          <a:xfrm>
            <a:off x="-2511399" y="1712857"/>
            <a:ext cx="5022797" cy="2891798"/>
          </a:xfrm>
          <a:prstGeom prst="rect">
            <a:avLst/>
          </a:prstGeom>
          <a:solidFill>
            <a:srgbClr val="F2F2F2"/>
          </a:solidFill>
          <a:ln>
            <a:noFill/>
          </a:ln>
        </p:spPr>
      </p:sp>
      <p:sp>
        <p:nvSpPr>
          <p:cNvPr id="109" name="Google Shape;109;p250"/>
          <p:cNvSpPr>
            <a:spLocks noGrp="1"/>
          </p:cNvSpPr>
          <p:nvPr>
            <p:ph type="pic" idx="3"/>
          </p:nvPr>
        </p:nvSpPr>
        <p:spPr>
          <a:xfrm>
            <a:off x="3584600" y="1712857"/>
            <a:ext cx="5022797" cy="2891798"/>
          </a:xfrm>
          <a:prstGeom prst="rect">
            <a:avLst/>
          </a:prstGeom>
          <a:solidFill>
            <a:srgbClr val="F2F2F2"/>
          </a:solidFill>
          <a:ln>
            <a:noFill/>
          </a:ln>
        </p:spPr>
      </p:sp>
      <p:sp>
        <p:nvSpPr>
          <p:cNvPr id="110" name="Google Shape;110;p250"/>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111"/>
        <p:cNvGrpSpPr/>
        <p:nvPr/>
      </p:nvGrpSpPr>
      <p:grpSpPr>
        <a:xfrm>
          <a:off x="0" y="0"/>
          <a:ext cx="0" cy="0"/>
          <a:chOff x="0" y="0"/>
          <a:chExt cx="0" cy="0"/>
        </a:xfrm>
      </p:grpSpPr>
      <p:sp>
        <p:nvSpPr>
          <p:cNvPr id="112" name="Google Shape;112;p251"/>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113"/>
        <p:cNvGrpSpPr/>
        <p:nvPr/>
      </p:nvGrpSpPr>
      <p:grpSpPr>
        <a:xfrm>
          <a:off x="0" y="0"/>
          <a:ext cx="0" cy="0"/>
          <a:chOff x="0" y="0"/>
          <a:chExt cx="0" cy="0"/>
        </a:xfrm>
      </p:grpSpPr>
      <p:sp>
        <p:nvSpPr>
          <p:cNvPr id="114" name="Google Shape;114;p252"/>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115"/>
        <p:cNvGrpSpPr/>
        <p:nvPr/>
      </p:nvGrpSpPr>
      <p:grpSpPr>
        <a:xfrm>
          <a:off x="0" y="0"/>
          <a:ext cx="0" cy="0"/>
          <a:chOff x="0" y="0"/>
          <a:chExt cx="0" cy="0"/>
        </a:xfrm>
      </p:grpSpPr>
      <p:sp>
        <p:nvSpPr>
          <p:cNvPr id="116" name="Google Shape;116;p253"/>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117"/>
        <p:cNvGrpSpPr/>
        <p:nvPr/>
      </p:nvGrpSpPr>
      <p:grpSpPr>
        <a:xfrm>
          <a:off x="0" y="0"/>
          <a:ext cx="0" cy="0"/>
          <a:chOff x="0" y="0"/>
          <a:chExt cx="0" cy="0"/>
        </a:xfrm>
      </p:grpSpPr>
      <p:sp>
        <p:nvSpPr>
          <p:cNvPr id="118" name="Google Shape;118;p254"/>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119"/>
        <p:cNvGrpSpPr/>
        <p:nvPr/>
      </p:nvGrpSpPr>
      <p:grpSpPr>
        <a:xfrm>
          <a:off x="0" y="0"/>
          <a:ext cx="0" cy="0"/>
          <a:chOff x="0" y="0"/>
          <a:chExt cx="0" cy="0"/>
        </a:xfrm>
      </p:grpSpPr>
      <p:sp>
        <p:nvSpPr>
          <p:cNvPr id="120" name="Google Shape;120;p255"/>
          <p:cNvSpPr>
            <a:spLocks noGrp="1"/>
          </p:cNvSpPr>
          <p:nvPr>
            <p:ph type="pic" idx="2"/>
          </p:nvPr>
        </p:nvSpPr>
        <p:spPr>
          <a:xfrm>
            <a:off x="3316218" y="0"/>
            <a:ext cx="6142693" cy="6858000"/>
          </a:xfrm>
          <a:prstGeom prst="rect">
            <a:avLst/>
          </a:prstGeom>
          <a:solidFill>
            <a:srgbClr val="F2F2F2"/>
          </a:solidFill>
          <a:ln>
            <a:noFill/>
          </a:ln>
        </p:spPr>
      </p:sp>
      <p:sp>
        <p:nvSpPr>
          <p:cNvPr id="121" name="Google Shape;121;p255"/>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122"/>
        <p:cNvGrpSpPr/>
        <p:nvPr/>
      </p:nvGrpSpPr>
      <p:grpSpPr>
        <a:xfrm>
          <a:off x="0" y="0"/>
          <a:ext cx="0" cy="0"/>
          <a:chOff x="0" y="0"/>
          <a:chExt cx="0" cy="0"/>
        </a:xfrm>
      </p:grpSpPr>
      <p:sp>
        <p:nvSpPr>
          <p:cNvPr id="123" name="Google Shape;123;p256"/>
          <p:cNvSpPr>
            <a:spLocks noGrp="1"/>
          </p:cNvSpPr>
          <p:nvPr>
            <p:ph type="pic" idx="2"/>
          </p:nvPr>
        </p:nvSpPr>
        <p:spPr>
          <a:xfrm>
            <a:off x="2671026" y="-1"/>
            <a:ext cx="3970043" cy="4434836"/>
          </a:xfrm>
          <a:prstGeom prst="rect">
            <a:avLst/>
          </a:prstGeom>
          <a:solidFill>
            <a:srgbClr val="F2F2F2"/>
          </a:solidFill>
          <a:ln>
            <a:noFill/>
          </a:ln>
        </p:spPr>
      </p:sp>
      <p:sp>
        <p:nvSpPr>
          <p:cNvPr id="124" name="Google Shape;124;p256"/>
          <p:cNvSpPr>
            <a:spLocks noGrp="1"/>
          </p:cNvSpPr>
          <p:nvPr>
            <p:ph type="pic" idx="3"/>
          </p:nvPr>
        </p:nvSpPr>
        <p:spPr>
          <a:xfrm>
            <a:off x="5460923" y="-1"/>
            <a:ext cx="3970043" cy="4434836"/>
          </a:xfrm>
          <a:prstGeom prst="rect">
            <a:avLst/>
          </a:prstGeom>
          <a:solidFill>
            <a:srgbClr val="F2F2F2"/>
          </a:solidFill>
          <a:ln>
            <a:noFill/>
          </a:ln>
        </p:spPr>
      </p:sp>
      <p:sp>
        <p:nvSpPr>
          <p:cNvPr id="125" name="Google Shape;125;p256"/>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126"/>
        <p:cNvGrpSpPr/>
        <p:nvPr/>
      </p:nvGrpSpPr>
      <p:grpSpPr>
        <a:xfrm>
          <a:off x="0" y="0"/>
          <a:ext cx="0" cy="0"/>
          <a:chOff x="0" y="0"/>
          <a:chExt cx="0" cy="0"/>
        </a:xfrm>
      </p:grpSpPr>
      <p:sp>
        <p:nvSpPr>
          <p:cNvPr id="127" name="Google Shape;127;p257"/>
          <p:cNvSpPr>
            <a:spLocks noGrp="1"/>
          </p:cNvSpPr>
          <p:nvPr>
            <p:ph type="pic" idx="2"/>
          </p:nvPr>
        </p:nvSpPr>
        <p:spPr>
          <a:xfrm>
            <a:off x="7485063" y="627903"/>
            <a:ext cx="2218958" cy="2218380"/>
          </a:xfrm>
          <a:prstGeom prst="rect">
            <a:avLst/>
          </a:prstGeom>
          <a:solidFill>
            <a:srgbClr val="F2F2F2"/>
          </a:solidFill>
          <a:ln>
            <a:noFill/>
          </a:ln>
        </p:spPr>
      </p:sp>
      <p:sp>
        <p:nvSpPr>
          <p:cNvPr id="128" name="Google Shape;128;p257"/>
          <p:cNvSpPr>
            <a:spLocks noGrp="1"/>
          </p:cNvSpPr>
          <p:nvPr>
            <p:ph type="pic" idx="3"/>
          </p:nvPr>
        </p:nvSpPr>
        <p:spPr>
          <a:xfrm>
            <a:off x="8487915" y="2988577"/>
            <a:ext cx="2923285" cy="2922525"/>
          </a:xfrm>
          <a:prstGeom prst="rect">
            <a:avLst/>
          </a:prstGeom>
          <a:solidFill>
            <a:srgbClr val="F2F2F2"/>
          </a:solidFill>
          <a:ln>
            <a:noFill/>
          </a:ln>
        </p:spPr>
      </p:sp>
      <p:sp>
        <p:nvSpPr>
          <p:cNvPr id="129" name="Google Shape;129;p257"/>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130"/>
        <p:cNvGrpSpPr/>
        <p:nvPr/>
      </p:nvGrpSpPr>
      <p:grpSpPr>
        <a:xfrm>
          <a:off x="0" y="0"/>
          <a:ext cx="0" cy="0"/>
          <a:chOff x="0" y="0"/>
          <a:chExt cx="0" cy="0"/>
        </a:xfrm>
      </p:grpSpPr>
      <p:sp>
        <p:nvSpPr>
          <p:cNvPr id="131" name="Google Shape;131;p258"/>
          <p:cNvSpPr>
            <a:spLocks noGrp="1"/>
          </p:cNvSpPr>
          <p:nvPr>
            <p:ph type="pic" idx="2"/>
          </p:nvPr>
        </p:nvSpPr>
        <p:spPr>
          <a:xfrm>
            <a:off x="1765158" y="1616567"/>
            <a:ext cx="1945814" cy="4111559"/>
          </a:xfrm>
          <a:prstGeom prst="rect">
            <a:avLst/>
          </a:prstGeom>
          <a:solidFill>
            <a:srgbClr val="F2F2F2"/>
          </a:solidFill>
          <a:ln>
            <a:noFill/>
          </a:ln>
        </p:spPr>
      </p:sp>
      <p:sp>
        <p:nvSpPr>
          <p:cNvPr id="132" name="Google Shape;132;p258"/>
          <p:cNvSpPr>
            <a:spLocks noGrp="1"/>
          </p:cNvSpPr>
          <p:nvPr>
            <p:ph type="pic" idx="3"/>
          </p:nvPr>
        </p:nvSpPr>
        <p:spPr>
          <a:xfrm>
            <a:off x="5439218" y="1616567"/>
            <a:ext cx="1945814" cy="4111559"/>
          </a:xfrm>
          <a:prstGeom prst="rect">
            <a:avLst/>
          </a:prstGeom>
          <a:solidFill>
            <a:srgbClr val="F2F2F2"/>
          </a:solidFill>
          <a:ln>
            <a:noFill/>
          </a:ln>
        </p:spPr>
      </p:sp>
      <p:sp>
        <p:nvSpPr>
          <p:cNvPr id="133" name="Google Shape;133;p258"/>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134"/>
        <p:cNvGrpSpPr/>
        <p:nvPr/>
      </p:nvGrpSpPr>
      <p:grpSpPr>
        <a:xfrm>
          <a:off x="0" y="0"/>
          <a:ext cx="0" cy="0"/>
          <a:chOff x="0" y="0"/>
          <a:chExt cx="0" cy="0"/>
        </a:xfrm>
      </p:grpSpPr>
      <p:sp>
        <p:nvSpPr>
          <p:cNvPr id="135" name="Google Shape;135;p259"/>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136"/>
        <p:cNvGrpSpPr/>
        <p:nvPr/>
      </p:nvGrpSpPr>
      <p:grpSpPr>
        <a:xfrm>
          <a:off x="0" y="0"/>
          <a:ext cx="0" cy="0"/>
          <a:chOff x="0" y="0"/>
          <a:chExt cx="0" cy="0"/>
        </a:xfrm>
      </p:grpSpPr>
      <p:sp>
        <p:nvSpPr>
          <p:cNvPr id="137" name="Google Shape;137;p260"/>
          <p:cNvSpPr>
            <a:spLocks noGrp="1"/>
          </p:cNvSpPr>
          <p:nvPr>
            <p:ph type="pic" idx="2"/>
          </p:nvPr>
        </p:nvSpPr>
        <p:spPr>
          <a:xfrm>
            <a:off x="1449316" y="2114606"/>
            <a:ext cx="3626150" cy="2266340"/>
          </a:xfrm>
          <a:prstGeom prst="rect">
            <a:avLst/>
          </a:prstGeom>
          <a:solidFill>
            <a:srgbClr val="F2F2F2"/>
          </a:solidFill>
          <a:ln>
            <a:noFill/>
          </a:ln>
        </p:spPr>
      </p:sp>
      <p:sp>
        <p:nvSpPr>
          <p:cNvPr id="138" name="Google Shape;138;p260"/>
          <p:cNvSpPr>
            <a:spLocks noGrp="1"/>
          </p:cNvSpPr>
          <p:nvPr>
            <p:ph type="pic" idx="3"/>
          </p:nvPr>
        </p:nvSpPr>
        <p:spPr>
          <a:xfrm>
            <a:off x="7173347" y="2114606"/>
            <a:ext cx="3626150" cy="2266340"/>
          </a:xfrm>
          <a:prstGeom prst="rect">
            <a:avLst/>
          </a:prstGeom>
          <a:solidFill>
            <a:srgbClr val="F2F2F2"/>
          </a:solidFill>
          <a:ln>
            <a:noFill/>
          </a:ln>
        </p:spPr>
      </p:sp>
      <p:sp>
        <p:nvSpPr>
          <p:cNvPr id="139" name="Google Shape;139;p260"/>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140"/>
        <p:cNvGrpSpPr/>
        <p:nvPr/>
      </p:nvGrpSpPr>
      <p:grpSpPr>
        <a:xfrm>
          <a:off x="0" y="0"/>
          <a:ext cx="0" cy="0"/>
          <a:chOff x="0" y="0"/>
          <a:chExt cx="0" cy="0"/>
        </a:xfrm>
      </p:grpSpPr>
      <p:sp>
        <p:nvSpPr>
          <p:cNvPr id="141" name="Google Shape;141;p261"/>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142"/>
        <p:cNvGrpSpPr/>
        <p:nvPr/>
      </p:nvGrpSpPr>
      <p:grpSpPr>
        <a:xfrm>
          <a:off x="0" y="0"/>
          <a:ext cx="0" cy="0"/>
          <a:chOff x="0" y="0"/>
          <a:chExt cx="0" cy="0"/>
        </a:xfrm>
      </p:grpSpPr>
      <p:sp>
        <p:nvSpPr>
          <p:cNvPr id="143" name="Google Shape;143;p262"/>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matchingName="Title Slide">
  <p:cSld name="TITLE">
    <p:bg>
      <p:bgPr>
        <a:solidFill>
          <a:srgbClr val="4F6481"/>
        </a:solidFill>
        <a:effectLst/>
      </p:bgPr>
    </p:bg>
    <p:spTree>
      <p:nvGrpSpPr>
        <p:cNvPr id="1" name="Shape 144"/>
        <p:cNvGrpSpPr/>
        <p:nvPr/>
      </p:nvGrpSpPr>
      <p:grpSpPr>
        <a:xfrm>
          <a:off x="0" y="0"/>
          <a:ext cx="0" cy="0"/>
          <a:chOff x="0" y="0"/>
          <a:chExt cx="0" cy="0"/>
        </a:xfrm>
      </p:grpSpPr>
      <p:sp>
        <p:nvSpPr>
          <p:cNvPr id="145" name="Google Shape;145;p263"/>
          <p:cNvSpPr txBox="1">
            <a:spLocks noGrp="1"/>
          </p:cNvSpPr>
          <p:nvPr>
            <p:ph type="ctrTitle"/>
          </p:nvPr>
        </p:nvSpPr>
        <p:spPr>
          <a:xfrm>
            <a:off x="711200" y="1371600"/>
            <a:ext cx="10468864" cy="1828800"/>
          </a:xfrm>
          <a:prstGeom prst="rect">
            <a:avLst/>
          </a:prstGeom>
          <a:noFill/>
          <a:ln>
            <a:noFill/>
          </a:ln>
        </p:spPr>
        <p:txBody>
          <a:bodyPr spcFirstLastPara="1" wrap="square" lIns="91425" tIns="0" rIns="18275" bIns="0" anchor="b" anchorCtr="0">
            <a:normAutofit/>
          </a:bodyPr>
          <a:lstStyle>
            <a:lvl1pPr lvl="0" algn="r">
              <a:lnSpc>
                <a:spcPct val="90000"/>
              </a:lnSpc>
              <a:spcBef>
                <a:spcPts val="0"/>
              </a:spcBef>
              <a:spcAft>
                <a:spcPts val="0"/>
              </a:spcAft>
              <a:buClr>
                <a:srgbClr val="65D6AE"/>
              </a:buClr>
              <a:buSzPts val="5600"/>
              <a:buFont typeface="Arial" panose="020B0604020202020204"/>
              <a:buNone/>
              <a:defRPr sz="5600" b="1">
                <a:solidFill>
                  <a:srgbClr val="65D6AE"/>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263"/>
          <p:cNvSpPr txBox="1">
            <a:spLocks noGrp="1"/>
          </p:cNvSpPr>
          <p:nvPr>
            <p:ph type="subTitle" idx="1"/>
          </p:nvPr>
        </p:nvSpPr>
        <p:spPr>
          <a:xfrm>
            <a:off x="711200" y="3228536"/>
            <a:ext cx="10472928" cy="1752600"/>
          </a:xfrm>
          <a:prstGeom prst="rect">
            <a:avLst/>
          </a:prstGeom>
          <a:noFill/>
          <a:ln>
            <a:noFill/>
          </a:ln>
        </p:spPr>
        <p:txBody>
          <a:bodyPr spcFirstLastPara="1" wrap="square" lIns="0" tIns="45700" rIns="18275" bIns="45700" anchor="t" anchorCtr="0">
            <a:normAutofit/>
          </a:bodyPr>
          <a:lstStyle>
            <a:lvl1pPr marR="45720" lvl="0" algn="r">
              <a:lnSpc>
                <a:spcPct val="90000"/>
              </a:lnSpc>
              <a:spcBef>
                <a:spcPts val="1000"/>
              </a:spcBef>
              <a:spcAft>
                <a:spcPts val="0"/>
              </a:spcAft>
              <a:buClr>
                <a:schemeClr val="lt1"/>
              </a:buClr>
              <a:buSzPts val="2800"/>
              <a:buNone/>
              <a:defRPr>
                <a:solidFill>
                  <a:schemeClr val="lt1"/>
                </a:solidFill>
              </a:defRPr>
            </a:lvl1pPr>
            <a:lvl2pPr lvl="1" algn="ctr">
              <a:lnSpc>
                <a:spcPct val="90000"/>
              </a:lnSpc>
              <a:spcBef>
                <a:spcPts val="500"/>
              </a:spcBef>
              <a:spcAft>
                <a:spcPts val="0"/>
              </a:spcAft>
              <a:buClr>
                <a:schemeClr val="lt1"/>
              </a:buClr>
              <a:buSzPts val="1800"/>
              <a:buNone/>
              <a:defRPr/>
            </a:lvl2pPr>
            <a:lvl3pPr lvl="2" algn="ctr">
              <a:lnSpc>
                <a:spcPct val="90000"/>
              </a:lnSpc>
              <a:spcBef>
                <a:spcPts val="500"/>
              </a:spcBef>
              <a:spcAft>
                <a:spcPts val="0"/>
              </a:spcAft>
              <a:buClr>
                <a:schemeClr val="lt1"/>
              </a:buClr>
              <a:buSzPts val="1800"/>
              <a:buNone/>
              <a:defRPr/>
            </a:lvl3pPr>
            <a:lvl4pPr lvl="3" algn="ctr">
              <a:lnSpc>
                <a:spcPct val="90000"/>
              </a:lnSpc>
              <a:spcBef>
                <a:spcPts val="500"/>
              </a:spcBef>
              <a:spcAft>
                <a:spcPts val="0"/>
              </a:spcAft>
              <a:buClr>
                <a:schemeClr val="lt1"/>
              </a:buClr>
              <a:buSzPts val="1800"/>
              <a:buNone/>
              <a:defRPr/>
            </a:lvl4pPr>
            <a:lvl5pPr lvl="4" algn="ctr">
              <a:lnSpc>
                <a:spcPct val="90000"/>
              </a:lnSpc>
              <a:spcBef>
                <a:spcPts val="500"/>
              </a:spcBef>
              <a:spcAft>
                <a:spcPts val="0"/>
              </a:spcAft>
              <a:buClr>
                <a:schemeClr val="lt1"/>
              </a:buClr>
              <a:buSzPts val="1800"/>
              <a:buNone/>
              <a:defRPr/>
            </a:lvl5pPr>
            <a:lvl6pPr lvl="5" algn="ctr">
              <a:lnSpc>
                <a:spcPct val="90000"/>
              </a:lnSpc>
              <a:spcBef>
                <a:spcPts val="500"/>
              </a:spcBef>
              <a:spcAft>
                <a:spcPts val="0"/>
              </a:spcAft>
              <a:buClr>
                <a:schemeClr val="lt1"/>
              </a:buClr>
              <a:buSzPts val="1800"/>
              <a:buNone/>
              <a:defRPr/>
            </a:lvl6pPr>
            <a:lvl7pPr lvl="6" algn="ctr">
              <a:lnSpc>
                <a:spcPct val="90000"/>
              </a:lnSpc>
              <a:spcBef>
                <a:spcPts val="500"/>
              </a:spcBef>
              <a:spcAft>
                <a:spcPts val="0"/>
              </a:spcAft>
              <a:buClr>
                <a:schemeClr val="lt1"/>
              </a:buClr>
              <a:buSzPts val="1800"/>
              <a:buNone/>
              <a:defRPr/>
            </a:lvl7pPr>
            <a:lvl8pPr lvl="7" algn="ctr">
              <a:lnSpc>
                <a:spcPct val="90000"/>
              </a:lnSpc>
              <a:spcBef>
                <a:spcPts val="500"/>
              </a:spcBef>
              <a:spcAft>
                <a:spcPts val="0"/>
              </a:spcAft>
              <a:buClr>
                <a:schemeClr val="lt1"/>
              </a:buClr>
              <a:buSzPts val="1800"/>
              <a:buNone/>
              <a:defRPr/>
            </a:lvl8pPr>
            <a:lvl9pPr lvl="8" algn="ctr">
              <a:lnSpc>
                <a:spcPct val="90000"/>
              </a:lnSpc>
              <a:spcBef>
                <a:spcPts val="500"/>
              </a:spcBef>
              <a:spcAft>
                <a:spcPts val="0"/>
              </a:spcAft>
              <a:buClr>
                <a:schemeClr val="lt1"/>
              </a:buClr>
              <a:buSzPts val="1800"/>
              <a:buNone/>
              <a:defRPr/>
            </a:lvl9pPr>
          </a:lstStyle>
          <a:p/>
        </p:txBody>
      </p:sp>
      <p:sp>
        <p:nvSpPr>
          <p:cNvPr id="147" name="Google Shape;147;p263"/>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263"/>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263"/>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50"/>
        <p:cNvGrpSpPr/>
        <p:nvPr/>
      </p:nvGrpSpPr>
      <p:grpSpPr>
        <a:xfrm>
          <a:off x="0" y="0"/>
          <a:ext cx="0" cy="0"/>
          <a:chOff x="0" y="0"/>
          <a:chExt cx="0" cy="0"/>
        </a:xfrm>
      </p:grpSpPr>
      <p:sp>
        <p:nvSpPr>
          <p:cNvPr id="151" name="Google Shape;151;p264"/>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2" name="Google Shape;152;p264"/>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153" name="Google Shape;153;p26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p264"/>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26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2_Full Image">
  <p:cSld name="2_Full Image">
    <p:spTree>
      <p:nvGrpSpPr>
        <p:cNvPr id="1" name="Shape 156"/>
        <p:cNvGrpSpPr/>
        <p:nvPr/>
      </p:nvGrpSpPr>
      <p:grpSpPr>
        <a:xfrm>
          <a:off x="0" y="0"/>
          <a:ext cx="0" cy="0"/>
          <a:chOff x="0" y="0"/>
          <a:chExt cx="0" cy="0"/>
        </a:xfrm>
      </p:grpSpPr>
      <p:sp>
        <p:nvSpPr>
          <p:cNvPr id="157" name="Google Shape;157;p265"/>
          <p:cNvSpPr>
            <a:spLocks noGrp="1"/>
          </p:cNvSpPr>
          <p:nvPr>
            <p:ph type="pic" idx="2"/>
          </p:nvPr>
        </p:nvSpPr>
        <p:spPr>
          <a:xfrm>
            <a:off x="0" y="-1"/>
            <a:ext cx="12192000" cy="3429001"/>
          </a:xfrm>
          <a:prstGeom prst="rect">
            <a:avLst/>
          </a:prstGeom>
          <a:solidFill>
            <a:srgbClr val="F2F2F2"/>
          </a:solidFill>
          <a:ln>
            <a:noFill/>
          </a:ln>
        </p:spPr>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slide">
  <p:cSld name="slide">
    <p:spTree>
      <p:nvGrpSpPr>
        <p:cNvPr id="1" name="Shape 327"/>
        <p:cNvGrpSpPr/>
        <p:nvPr/>
      </p:nvGrpSpPr>
      <p:grpSpPr>
        <a:xfrm>
          <a:off x="0" y="0"/>
          <a:ext cx="0" cy="0"/>
          <a:chOff x="0" y="0"/>
          <a:chExt cx="0" cy="0"/>
        </a:xfrm>
      </p:grpSpPr>
      <p:sp>
        <p:nvSpPr>
          <p:cNvPr id="328" name="Google Shape;328;p137"/>
          <p:cNvSpPr>
            <a:spLocks noGrp="1"/>
          </p:cNvSpPr>
          <p:nvPr>
            <p:ph type="pic" idx="2"/>
          </p:nvPr>
        </p:nvSpPr>
        <p:spPr>
          <a:xfrm>
            <a:off x="3978704" y="-174171"/>
            <a:ext cx="8412466" cy="7206342"/>
          </a:xfrm>
          <a:prstGeom prst="rect">
            <a:avLst/>
          </a:prstGeom>
          <a:solidFill>
            <a:srgbClr val="F2F2F2"/>
          </a:solid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29"/>
        <p:cNvGrpSpPr/>
        <p:nvPr/>
      </p:nvGrpSpPr>
      <p:grpSpPr>
        <a:xfrm>
          <a:off x="0" y="0"/>
          <a:ext cx="0" cy="0"/>
          <a:chOff x="0" y="0"/>
          <a:chExt cx="0" cy="0"/>
        </a:xfrm>
      </p:grpSpPr>
      <p:sp>
        <p:nvSpPr>
          <p:cNvPr id="330" name="Google Shape;330;p266"/>
          <p:cNvSpPr txBox="1"/>
          <p:nvPr/>
        </p:nvSpPr>
        <p:spPr>
          <a:xfrm>
            <a:off x="4320462" y="6408739"/>
            <a:ext cx="3431899" cy="30488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600">
                <a:solidFill>
                  <a:srgbClr val="000000"/>
                </a:solidFill>
                <a:latin typeface="Arial" panose="020B0604020202020204"/>
                <a:ea typeface="Arial" panose="020B0604020202020204"/>
                <a:cs typeface="Arial" panose="020B0604020202020204"/>
                <a:sym typeface="Arial" panose="020B0604020202020204"/>
              </a:rPr>
              <a:t>Private and Confidential</a:t>
            </a:r>
            <a:endParaRPr lang="en-US" sz="1600">
              <a:solidFill>
                <a:srgbClr val="000000"/>
              </a:solidFill>
              <a:latin typeface="Arial" panose="020B0604020202020204"/>
              <a:ea typeface="Arial" panose="020B0604020202020204"/>
              <a:cs typeface="Arial" panose="020B0604020202020204"/>
              <a:sym typeface="Arial" panose="020B0604020202020204"/>
            </a:endParaRPr>
          </a:p>
        </p:txBody>
      </p:sp>
      <p:sp>
        <p:nvSpPr>
          <p:cNvPr id="331" name="Google Shape;331;p266"/>
          <p:cNvSpPr txBox="1"/>
          <p:nvPr/>
        </p:nvSpPr>
        <p:spPr>
          <a:xfrm>
            <a:off x="10849294" y="6408739"/>
            <a:ext cx="1067078" cy="182563"/>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fld id="{00000000-1234-1234-1234-123412341234}" type="slidenum">
              <a:rPr lang="en-US" sz="1600">
                <a:solidFill>
                  <a:srgbClr val="000000"/>
                </a:solidFill>
                <a:latin typeface="Arial" panose="020B0604020202020204"/>
                <a:ea typeface="Arial" panose="020B0604020202020204"/>
                <a:cs typeface="Arial" panose="020B0604020202020204"/>
                <a:sym typeface="Arial" panose="020B0604020202020204"/>
              </a:rPr>
            </a:fld>
            <a:endParaRPr sz="1600">
              <a:solidFill>
                <a:srgbClr val="000000"/>
              </a:solidFill>
              <a:latin typeface="Arial" panose="020B0604020202020204"/>
              <a:ea typeface="Arial" panose="020B0604020202020204"/>
              <a:cs typeface="Arial" panose="020B0604020202020204"/>
              <a:sym typeface="Arial" panose="020B0604020202020204"/>
            </a:endParaRPr>
          </a:p>
        </p:txBody>
      </p:sp>
      <p:sp>
        <p:nvSpPr>
          <p:cNvPr id="332" name="Google Shape;332;p266"/>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panose="020B0604020202020204"/>
              <a:ea typeface="Arial" panose="020B0604020202020204"/>
              <a:cs typeface="Arial" panose="020B0604020202020204"/>
              <a:sym typeface="Arial" panose="020B0604020202020204"/>
            </a:endParaRPr>
          </a:p>
        </p:txBody>
      </p:sp>
      <p:sp>
        <p:nvSpPr>
          <p:cNvPr id="333" name="Google Shape;333;p266"/>
          <p:cNvSpPr txBox="1">
            <a:spLocks noGrp="1"/>
          </p:cNvSpPr>
          <p:nvPr>
            <p:ph type="title"/>
          </p:nvPr>
        </p:nvSpPr>
        <p:spPr>
          <a:xfrm>
            <a:off x="700550" y="404869"/>
            <a:ext cx="10515600" cy="71642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23F4F"/>
              </a:buClr>
              <a:buSzPts val="2200"/>
              <a:buFont typeface="Arial" panose="020B0604020202020204"/>
              <a:buNone/>
              <a:defRPr sz="2200" b="1">
                <a:solidFill>
                  <a:srgbClr val="323F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334" name="Google Shape;334;p266"/>
          <p:cNvPicPr preferRelativeResize="0"/>
          <p:nvPr/>
        </p:nvPicPr>
        <p:blipFill rotWithShape="1">
          <a:blip r:embed="rId2"/>
          <a:srcRect/>
          <a:stretch>
            <a:fillRect/>
          </a:stretch>
        </p:blipFill>
        <p:spPr>
          <a:xfrm>
            <a:off x="9889776" y="513944"/>
            <a:ext cx="2026596" cy="611945"/>
          </a:xfrm>
          <a:prstGeom prst="rect">
            <a:avLst/>
          </a:prstGeom>
          <a:noFill/>
          <a:ln>
            <a:noFill/>
          </a:ln>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1_Blank">
  <p:cSld name="1_Blank">
    <p:spTree>
      <p:nvGrpSpPr>
        <p:cNvPr id="1" name="Shape 335"/>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Full Image">
  <p:cSld name="Full Image">
    <p:spTree>
      <p:nvGrpSpPr>
        <p:cNvPr id="1" name="Shape 336"/>
        <p:cNvGrpSpPr/>
        <p:nvPr/>
      </p:nvGrpSpPr>
      <p:grpSpPr>
        <a:xfrm>
          <a:off x="0" y="0"/>
          <a:ext cx="0" cy="0"/>
          <a:chOff x="0" y="0"/>
          <a:chExt cx="0" cy="0"/>
        </a:xfrm>
      </p:grpSpPr>
      <p:sp>
        <p:nvSpPr>
          <p:cNvPr id="337" name="Google Shape;337;p268"/>
          <p:cNvSpPr>
            <a:spLocks noGrp="1"/>
          </p:cNvSpPr>
          <p:nvPr>
            <p:ph type="pic" idx="2"/>
          </p:nvPr>
        </p:nvSpPr>
        <p:spPr>
          <a:xfrm>
            <a:off x="-199169" y="-174171"/>
            <a:ext cx="12590339" cy="7206342"/>
          </a:xfrm>
          <a:prstGeom prst="rect">
            <a:avLst/>
          </a:prstGeom>
          <a:solidFill>
            <a:srgbClr val="F2F2F2"/>
          </a:solid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1_slide">
  <p:cSld name="1_slide">
    <p:spTree>
      <p:nvGrpSpPr>
        <p:cNvPr id="1" name="Shape 338"/>
        <p:cNvGrpSpPr/>
        <p:nvPr/>
      </p:nvGrpSpPr>
      <p:grpSpPr>
        <a:xfrm>
          <a:off x="0" y="0"/>
          <a:ext cx="0" cy="0"/>
          <a:chOff x="0" y="0"/>
          <a:chExt cx="0" cy="0"/>
        </a:xfrm>
      </p:grpSpPr>
      <p:sp>
        <p:nvSpPr>
          <p:cNvPr id="339" name="Google Shape;339;p269"/>
          <p:cNvSpPr>
            <a:spLocks noGrp="1"/>
          </p:cNvSpPr>
          <p:nvPr>
            <p:ph type="pic" idx="2"/>
          </p:nvPr>
        </p:nvSpPr>
        <p:spPr>
          <a:xfrm>
            <a:off x="-199169" y="-174171"/>
            <a:ext cx="12590339" cy="4288971"/>
          </a:xfrm>
          <a:prstGeom prst="rect">
            <a:avLst/>
          </a:prstGeom>
          <a:solidFill>
            <a:srgbClr val="F2F2F2"/>
          </a:solidFill>
          <a:ln>
            <a:noFill/>
          </a:ln>
        </p:spPr>
      </p:sp>
      <p:sp>
        <p:nvSpPr>
          <p:cNvPr id="340" name="Google Shape;340;p269"/>
          <p:cNvSpPr txBox="1">
            <a:spLocks noGrp="1"/>
          </p:cNvSpPr>
          <p:nvPr>
            <p:ph type="body" idx="1"/>
          </p:nvPr>
        </p:nvSpPr>
        <p:spPr>
          <a:xfrm>
            <a:off x="1215840" y="4367129"/>
            <a:ext cx="10421727" cy="216601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800"/>
              <a:buNone/>
              <a:defRPr/>
            </a:lvl1pPr>
            <a:lvl2pPr marL="914400" lvl="1" indent="-228600" algn="l">
              <a:lnSpc>
                <a:spcPct val="90000"/>
              </a:lnSpc>
              <a:spcBef>
                <a:spcPts val="500"/>
              </a:spcBef>
              <a:spcAft>
                <a:spcPts val="0"/>
              </a:spcAft>
              <a:buClr>
                <a:schemeClr val="dk1"/>
              </a:buClr>
              <a:buSzPts val="1800"/>
              <a:buNone/>
              <a:defRPr/>
            </a:lvl2pPr>
            <a:lvl3pPr marL="1371600" lvl="2" indent="-228600" algn="l">
              <a:lnSpc>
                <a:spcPct val="90000"/>
              </a:lnSpc>
              <a:spcBef>
                <a:spcPts val="500"/>
              </a:spcBef>
              <a:spcAft>
                <a:spcPts val="0"/>
              </a:spcAft>
              <a:buClr>
                <a:schemeClr val="dk1"/>
              </a:buClr>
              <a:buSzPts val="1800"/>
              <a:buNone/>
              <a:defRPr/>
            </a:lvl3pPr>
            <a:lvl4pPr marL="1828800" lvl="3" indent="-228600" algn="l">
              <a:lnSpc>
                <a:spcPct val="90000"/>
              </a:lnSpc>
              <a:spcBef>
                <a:spcPts val="500"/>
              </a:spcBef>
              <a:spcAft>
                <a:spcPts val="0"/>
              </a:spcAft>
              <a:buClr>
                <a:schemeClr val="dk1"/>
              </a:buClr>
              <a:buSzPts val="1800"/>
              <a:buNone/>
              <a:defRPr/>
            </a:lvl4pPr>
            <a:lvl5pPr marL="2286000" lvl="4" indent="-228600" algn="l">
              <a:lnSpc>
                <a:spcPct val="90000"/>
              </a:lnSpc>
              <a:spcBef>
                <a:spcPts val="500"/>
              </a:spcBef>
              <a:spcAft>
                <a:spcPts val="0"/>
              </a:spcAft>
              <a:buClr>
                <a:schemeClr val="dk1"/>
              </a:buClr>
              <a:buSzPts val="1800"/>
              <a:buNone/>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2_slide">
  <p:cSld name="2_slide">
    <p:spTree>
      <p:nvGrpSpPr>
        <p:cNvPr id="1" name="Shape 341"/>
        <p:cNvGrpSpPr/>
        <p:nvPr/>
      </p:nvGrpSpPr>
      <p:grpSpPr>
        <a:xfrm>
          <a:off x="0" y="0"/>
          <a:ext cx="0" cy="0"/>
          <a:chOff x="0" y="0"/>
          <a:chExt cx="0" cy="0"/>
        </a:xfrm>
      </p:grpSpPr>
      <p:sp>
        <p:nvSpPr>
          <p:cNvPr id="342" name="Google Shape;342;p270"/>
          <p:cNvSpPr>
            <a:spLocks noGrp="1"/>
          </p:cNvSpPr>
          <p:nvPr>
            <p:ph type="pic" idx="2"/>
          </p:nvPr>
        </p:nvSpPr>
        <p:spPr>
          <a:xfrm>
            <a:off x="3576130" y="2940877"/>
            <a:ext cx="1389961" cy="1389597"/>
          </a:xfrm>
          <a:prstGeom prst="ellipse">
            <a:avLst/>
          </a:prstGeom>
          <a:solidFill>
            <a:srgbClr val="F2F2F2"/>
          </a:solidFill>
          <a:ln>
            <a:noFill/>
          </a:ln>
        </p:spPr>
      </p:sp>
      <p:sp>
        <p:nvSpPr>
          <p:cNvPr id="343" name="Google Shape;343;p270"/>
          <p:cNvSpPr>
            <a:spLocks noGrp="1"/>
          </p:cNvSpPr>
          <p:nvPr>
            <p:ph type="pic" idx="3"/>
          </p:nvPr>
        </p:nvSpPr>
        <p:spPr>
          <a:xfrm>
            <a:off x="4492911" y="1447800"/>
            <a:ext cx="1389961" cy="1389597"/>
          </a:xfrm>
          <a:prstGeom prst="ellipse">
            <a:avLst/>
          </a:prstGeom>
          <a:solidFill>
            <a:srgbClr val="F2F2F2"/>
          </a:solidFill>
          <a:ln>
            <a:noFill/>
          </a:ln>
        </p:spPr>
      </p:sp>
      <p:sp>
        <p:nvSpPr>
          <p:cNvPr id="344" name="Google Shape;344;p270"/>
          <p:cNvSpPr>
            <a:spLocks noGrp="1"/>
          </p:cNvSpPr>
          <p:nvPr>
            <p:ph type="pic" idx="4"/>
          </p:nvPr>
        </p:nvSpPr>
        <p:spPr>
          <a:xfrm>
            <a:off x="6309129" y="1447800"/>
            <a:ext cx="1389961" cy="1389597"/>
          </a:xfrm>
          <a:prstGeom prst="ellipse">
            <a:avLst/>
          </a:prstGeom>
          <a:solidFill>
            <a:srgbClr val="F2F2F2"/>
          </a:solidFill>
          <a:ln>
            <a:noFill/>
          </a:ln>
        </p:spPr>
      </p:sp>
      <p:sp>
        <p:nvSpPr>
          <p:cNvPr id="345" name="Google Shape;345;p270"/>
          <p:cNvSpPr>
            <a:spLocks noGrp="1"/>
          </p:cNvSpPr>
          <p:nvPr>
            <p:ph type="pic" idx="5"/>
          </p:nvPr>
        </p:nvSpPr>
        <p:spPr>
          <a:xfrm>
            <a:off x="4492911" y="4433954"/>
            <a:ext cx="1389961" cy="1389597"/>
          </a:xfrm>
          <a:prstGeom prst="ellipse">
            <a:avLst/>
          </a:prstGeom>
          <a:solidFill>
            <a:srgbClr val="F2F2F2"/>
          </a:solidFill>
          <a:ln>
            <a:noFill/>
          </a:ln>
        </p:spPr>
      </p:sp>
      <p:sp>
        <p:nvSpPr>
          <p:cNvPr id="346" name="Google Shape;346;p270"/>
          <p:cNvSpPr>
            <a:spLocks noGrp="1"/>
          </p:cNvSpPr>
          <p:nvPr>
            <p:ph type="pic" idx="6"/>
          </p:nvPr>
        </p:nvSpPr>
        <p:spPr>
          <a:xfrm>
            <a:off x="6309129" y="4433954"/>
            <a:ext cx="1389961" cy="1389597"/>
          </a:xfrm>
          <a:prstGeom prst="ellipse">
            <a:avLst/>
          </a:prstGeom>
          <a:solidFill>
            <a:srgbClr val="F2F2F2"/>
          </a:solidFill>
          <a:ln>
            <a:noFill/>
          </a:ln>
        </p:spPr>
      </p:sp>
      <p:sp>
        <p:nvSpPr>
          <p:cNvPr id="347" name="Google Shape;347;p270"/>
          <p:cNvSpPr>
            <a:spLocks noGrp="1"/>
          </p:cNvSpPr>
          <p:nvPr>
            <p:ph type="pic" idx="7"/>
          </p:nvPr>
        </p:nvSpPr>
        <p:spPr>
          <a:xfrm>
            <a:off x="7225909" y="2940877"/>
            <a:ext cx="1389961" cy="1389597"/>
          </a:xfrm>
          <a:prstGeom prst="ellipse">
            <a:avLst/>
          </a:prstGeom>
          <a:solidFill>
            <a:srgbClr val="F2F2F2"/>
          </a:solidFill>
          <a:ln>
            <a:noFill/>
          </a:ln>
        </p:spPr>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3_slide">
  <p:cSld name="3_slide">
    <p:spTree>
      <p:nvGrpSpPr>
        <p:cNvPr id="1" name="Shape 348"/>
        <p:cNvGrpSpPr/>
        <p:nvPr/>
      </p:nvGrpSpPr>
      <p:grpSpPr>
        <a:xfrm>
          <a:off x="0" y="0"/>
          <a:ext cx="0" cy="0"/>
          <a:chOff x="0" y="0"/>
          <a:chExt cx="0" cy="0"/>
        </a:xfrm>
      </p:grpSpPr>
      <p:sp>
        <p:nvSpPr>
          <p:cNvPr id="349" name="Google Shape;349;p271"/>
          <p:cNvSpPr>
            <a:spLocks noGrp="1"/>
          </p:cNvSpPr>
          <p:nvPr>
            <p:ph type="pic" idx="2"/>
          </p:nvPr>
        </p:nvSpPr>
        <p:spPr>
          <a:xfrm>
            <a:off x="2237975" y="4303749"/>
            <a:ext cx="1333651" cy="1333302"/>
          </a:xfrm>
          <a:prstGeom prst="ellipse">
            <a:avLst/>
          </a:prstGeom>
          <a:solidFill>
            <a:srgbClr val="F2F2F2"/>
          </a:solidFill>
          <a:ln>
            <a:noFill/>
          </a:ln>
        </p:spPr>
      </p:sp>
      <p:sp>
        <p:nvSpPr>
          <p:cNvPr id="350" name="Google Shape;350;p271"/>
          <p:cNvSpPr>
            <a:spLocks noGrp="1"/>
          </p:cNvSpPr>
          <p:nvPr>
            <p:ph type="pic" idx="3"/>
          </p:nvPr>
        </p:nvSpPr>
        <p:spPr>
          <a:xfrm>
            <a:off x="3457115" y="3122288"/>
            <a:ext cx="1333651" cy="1333302"/>
          </a:xfrm>
          <a:prstGeom prst="ellipse">
            <a:avLst/>
          </a:prstGeom>
          <a:solidFill>
            <a:srgbClr val="F2F2F2"/>
          </a:solidFill>
          <a:ln>
            <a:noFill/>
          </a:ln>
        </p:spPr>
      </p:sp>
      <p:sp>
        <p:nvSpPr>
          <p:cNvPr id="351" name="Google Shape;351;p271"/>
          <p:cNvSpPr>
            <a:spLocks noGrp="1"/>
          </p:cNvSpPr>
          <p:nvPr>
            <p:ph type="pic" idx="4"/>
          </p:nvPr>
        </p:nvSpPr>
        <p:spPr>
          <a:xfrm>
            <a:off x="4624057" y="1959965"/>
            <a:ext cx="1333651" cy="1333302"/>
          </a:xfrm>
          <a:prstGeom prst="ellipse">
            <a:avLst/>
          </a:prstGeom>
          <a:solidFill>
            <a:srgbClr val="F2F2F2"/>
          </a:solidFill>
          <a:ln>
            <a:noFill/>
          </a:ln>
        </p:spPr>
      </p:sp>
      <p:sp>
        <p:nvSpPr>
          <p:cNvPr id="352" name="Google Shape;352;p271"/>
          <p:cNvSpPr>
            <a:spLocks noGrp="1"/>
          </p:cNvSpPr>
          <p:nvPr>
            <p:ph type="pic" idx="5"/>
          </p:nvPr>
        </p:nvSpPr>
        <p:spPr>
          <a:xfrm>
            <a:off x="5790998" y="784547"/>
            <a:ext cx="1333651" cy="1333302"/>
          </a:xfrm>
          <a:prstGeom prst="ellipse">
            <a:avLst/>
          </a:prstGeom>
          <a:solidFill>
            <a:srgbClr val="F2F2F2"/>
          </a:solidFill>
          <a:ln>
            <a:noFill/>
          </a:ln>
        </p:spPr>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4_slide">
  <p:cSld name="4_slide">
    <p:spTree>
      <p:nvGrpSpPr>
        <p:cNvPr id="1" name="Shape 353"/>
        <p:cNvGrpSpPr/>
        <p:nvPr/>
      </p:nvGrpSpPr>
      <p:grpSpPr>
        <a:xfrm>
          <a:off x="0" y="0"/>
          <a:ext cx="0" cy="0"/>
          <a:chOff x="0" y="0"/>
          <a:chExt cx="0" cy="0"/>
        </a:xfrm>
      </p:grpSpPr>
      <p:sp>
        <p:nvSpPr>
          <p:cNvPr id="354" name="Google Shape;354;p272"/>
          <p:cNvSpPr>
            <a:spLocks noGrp="1"/>
          </p:cNvSpPr>
          <p:nvPr>
            <p:ph type="pic" idx="2"/>
          </p:nvPr>
        </p:nvSpPr>
        <p:spPr>
          <a:xfrm>
            <a:off x="-199169" y="2514600"/>
            <a:ext cx="12590339" cy="4517571"/>
          </a:xfrm>
          <a:prstGeom prst="rect">
            <a:avLst/>
          </a:prstGeom>
          <a:solidFill>
            <a:srgbClr val="F2F2F2"/>
          </a:solidFill>
          <a:ln>
            <a:noFill/>
          </a:ln>
        </p:spPr>
      </p:sp>
      <p:sp>
        <p:nvSpPr>
          <p:cNvPr id="355" name="Google Shape;355;p272"/>
          <p:cNvSpPr>
            <a:spLocks noGrp="1"/>
          </p:cNvSpPr>
          <p:nvPr>
            <p:ph type="pic" idx="3"/>
          </p:nvPr>
        </p:nvSpPr>
        <p:spPr>
          <a:xfrm>
            <a:off x="1428209" y="1579564"/>
            <a:ext cx="1870562" cy="1870072"/>
          </a:xfrm>
          <a:prstGeom prst="ellipse">
            <a:avLst/>
          </a:prstGeom>
          <a:solidFill>
            <a:srgbClr val="F2F2F2"/>
          </a:solidFill>
          <a:ln>
            <a:noFill/>
          </a:ln>
        </p:spPr>
      </p:sp>
      <p:sp>
        <p:nvSpPr>
          <p:cNvPr id="356" name="Google Shape;356;p272"/>
          <p:cNvSpPr>
            <a:spLocks noGrp="1"/>
          </p:cNvSpPr>
          <p:nvPr>
            <p:ph type="pic" idx="4"/>
          </p:nvPr>
        </p:nvSpPr>
        <p:spPr>
          <a:xfrm>
            <a:off x="5160720" y="1579564"/>
            <a:ext cx="1870562" cy="1870072"/>
          </a:xfrm>
          <a:prstGeom prst="ellipse">
            <a:avLst/>
          </a:prstGeom>
          <a:solidFill>
            <a:srgbClr val="F2F2F2"/>
          </a:solidFill>
          <a:ln>
            <a:noFill/>
          </a:ln>
        </p:spPr>
      </p:sp>
      <p:sp>
        <p:nvSpPr>
          <p:cNvPr id="357" name="Google Shape;357;p272"/>
          <p:cNvSpPr>
            <a:spLocks noGrp="1"/>
          </p:cNvSpPr>
          <p:nvPr>
            <p:ph type="pic" idx="5"/>
          </p:nvPr>
        </p:nvSpPr>
        <p:spPr>
          <a:xfrm>
            <a:off x="8893230" y="1579564"/>
            <a:ext cx="1870562" cy="1870072"/>
          </a:xfrm>
          <a:prstGeom prst="ellipse">
            <a:avLst/>
          </a:prstGeom>
          <a:solidFill>
            <a:srgbClr val="F2F2F2"/>
          </a:solid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5_slide">
  <p:cSld name="5_slide">
    <p:spTree>
      <p:nvGrpSpPr>
        <p:cNvPr id="1" name="Shape 358"/>
        <p:cNvGrpSpPr/>
        <p:nvPr/>
      </p:nvGrpSpPr>
      <p:grpSpPr>
        <a:xfrm>
          <a:off x="0" y="0"/>
          <a:ext cx="0" cy="0"/>
          <a:chOff x="0" y="0"/>
          <a:chExt cx="0" cy="0"/>
        </a:xfrm>
      </p:grpSpPr>
      <p:sp>
        <p:nvSpPr>
          <p:cNvPr id="359" name="Google Shape;359;p273"/>
          <p:cNvSpPr>
            <a:spLocks noGrp="1"/>
          </p:cNvSpPr>
          <p:nvPr>
            <p:ph type="pic" idx="2"/>
          </p:nvPr>
        </p:nvSpPr>
        <p:spPr>
          <a:xfrm>
            <a:off x="5222862" y="0"/>
            <a:ext cx="6969138" cy="6858000"/>
          </a:xfrm>
          <a:prstGeom prst="rect">
            <a:avLst/>
          </a:prstGeom>
          <a:solidFill>
            <a:srgbClr val="F2F2F2"/>
          </a:solid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6_slide">
  <p:cSld name="6_slide">
    <p:spTree>
      <p:nvGrpSpPr>
        <p:cNvPr id="1" name="Shape 360"/>
        <p:cNvGrpSpPr/>
        <p:nvPr/>
      </p:nvGrpSpPr>
      <p:grpSpPr>
        <a:xfrm>
          <a:off x="0" y="0"/>
          <a:ext cx="0" cy="0"/>
          <a:chOff x="0" y="0"/>
          <a:chExt cx="0" cy="0"/>
        </a:xfrm>
      </p:grpSpPr>
      <p:sp>
        <p:nvSpPr>
          <p:cNvPr id="361" name="Google Shape;361;p274"/>
          <p:cNvSpPr>
            <a:spLocks noGrp="1"/>
          </p:cNvSpPr>
          <p:nvPr>
            <p:ph type="pic" idx="2"/>
          </p:nvPr>
        </p:nvSpPr>
        <p:spPr>
          <a:xfrm>
            <a:off x="713116" y="2066599"/>
            <a:ext cx="1333653" cy="1333303"/>
          </a:xfrm>
          <a:prstGeom prst="ellipse">
            <a:avLst/>
          </a:prstGeom>
          <a:solidFill>
            <a:srgbClr val="F2F2F2"/>
          </a:solidFill>
          <a:ln>
            <a:noFill/>
          </a:ln>
        </p:spPr>
      </p:sp>
      <p:sp>
        <p:nvSpPr>
          <p:cNvPr id="362" name="Google Shape;362;p274"/>
          <p:cNvSpPr>
            <a:spLocks noGrp="1"/>
          </p:cNvSpPr>
          <p:nvPr>
            <p:ph type="pic" idx="3"/>
          </p:nvPr>
        </p:nvSpPr>
        <p:spPr>
          <a:xfrm>
            <a:off x="713119" y="3890151"/>
            <a:ext cx="1333648" cy="1333299"/>
          </a:xfrm>
          <a:prstGeom prst="ellipse">
            <a:avLst/>
          </a:prstGeom>
          <a:solidFill>
            <a:srgbClr val="F2F2F2"/>
          </a:solidFill>
          <a:ln>
            <a:noFill/>
          </a:ln>
        </p:spPr>
      </p:sp>
      <p:sp>
        <p:nvSpPr>
          <p:cNvPr id="363" name="Google Shape;363;p274"/>
          <p:cNvSpPr>
            <a:spLocks noGrp="1"/>
          </p:cNvSpPr>
          <p:nvPr>
            <p:ph type="pic" idx="4"/>
          </p:nvPr>
        </p:nvSpPr>
        <p:spPr>
          <a:xfrm>
            <a:off x="6589152" y="2066599"/>
            <a:ext cx="1333653" cy="1333303"/>
          </a:xfrm>
          <a:prstGeom prst="ellipse">
            <a:avLst/>
          </a:prstGeom>
          <a:solidFill>
            <a:srgbClr val="F2F2F2"/>
          </a:solidFill>
          <a:ln>
            <a:noFill/>
          </a:ln>
        </p:spPr>
      </p:sp>
      <p:sp>
        <p:nvSpPr>
          <p:cNvPr id="364" name="Google Shape;364;p274"/>
          <p:cNvSpPr>
            <a:spLocks noGrp="1"/>
          </p:cNvSpPr>
          <p:nvPr>
            <p:ph type="pic" idx="5"/>
          </p:nvPr>
        </p:nvSpPr>
        <p:spPr>
          <a:xfrm>
            <a:off x="6589155" y="3890151"/>
            <a:ext cx="1333648" cy="1333299"/>
          </a:xfrm>
          <a:prstGeom prst="ellipse">
            <a:avLst/>
          </a:prstGeom>
          <a:solidFill>
            <a:srgbClr val="F2F2F2"/>
          </a:solidFill>
          <a:ln>
            <a:noFill/>
          </a:ln>
        </p:spPr>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7_slide">
  <p:cSld name="7_slide">
    <p:spTree>
      <p:nvGrpSpPr>
        <p:cNvPr id="1" name="Shape 365"/>
        <p:cNvGrpSpPr/>
        <p:nvPr/>
      </p:nvGrpSpPr>
      <p:grpSpPr>
        <a:xfrm>
          <a:off x="0" y="0"/>
          <a:ext cx="0" cy="0"/>
          <a:chOff x="0" y="0"/>
          <a:chExt cx="0" cy="0"/>
        </a:xfrm>
      </p:grpSpPr>
      <p:sp>
        <p:nvSpPr>
          <p:cNvPr id="366" name="Google Shape;366;p275"/>
          <p:cNvSpPr>
            <a:spLocks noGrp="1"/>
          </p:cNvSpPr>
          <p:nvPr>
            <p:ph type="pic" idx="2"/>
          </p:nvPr>
        </p:nvSpPr>
        <p:spPr>
          <a:xfrm>
            <a:off x="713118" y="1581144"/>
            <a:ext cx="5879817" cy="4203543"/>
          </a:xfrm>
          <a:prstGeom prst="rect">
            <a:avLst/>
          </a:prstGeom>
          <a:solidFill>
            <a:srgbClr val="F2F2F2"/>
          </a:solidFill>
          <a:ln>
            <a:noFill/>
          </a:ln>
        </p:spPr>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8_slide">
  <p:cSld name="8_slide">
    <p:spTree>
      <p:nvGrpSpPr>
        <p:cNvPr id="1" name="Shape 367"/>
        <p:cNvGrpSpPr/>
        <p:nvPr/>
      </p:nvGrpSpPr>
      <p:grpSpPr>
        <a:xfrm>
          <a:off x="0" y="0"/>
          <a:ext cx="0" cy="0"/>
          <a:chOff x="0" y="0"/>
          <a:chExt cx="0" cy="0"/>
        </a:xfrm>
      </p:grpSpPr>
      <p:sp>
        <p:nvSpPr>
          <p:cNvPr id="368" name="Google Shape;368;p276"/>
          <p:cNvSpPr>
            <a:spLocks noGrp="1"/>
          </p:cNvSpPr>
          <p:nvPr>
            <p:ph type="pic" idx="2"/>
          </p:nvPr>
        </p:nvSpPr>
        <p:spPr>
          <a:xfrm>
            <a:off x="5686008" y="1581144"/>
            <a:ext cx="5879817" cy="4203543"/>
          </a:xfrm>
          <a:prstGeom prst="rect">
            <a:avLst/>
          </a:prstGeom>
          <a:solidFill>
            <a:srgbClr val="F2F2F2"/>
          </a:solid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9_slide">
  <p:cSld name="9_slide">
    <p:spTree>
      <p:nvGrpSpPr>
        <p:cNvPr id="1" name="Shape 369"/>
        <p:cNvGrpSpPr/>
        <p:nvPr/>
      </p:nvGrpSpPr>
      <p:grpSpPr>
        <a:xfrm>
          <a:off x="0" y="0"/>
          <a:ext cx="0" cy="0"/>
          <a:chOff x="0" y="0"/>
          <a:chExt cx="0" cy="0"/>
        </a:xfrm>
      </p:grpSpPr>
      <p:sp>
        <p:nvSpPr>
          <p:cNvPr id="370" name="Google Shape;370;p277"/>
          <p:cNvSpPr>
            <a:spLocks noGrp="1"/>
          </p:cNvSpPr>
          <p:nvPr>
            <p:ph type="pic" idx="2"/>
          </p:nvPr>
        </p:nvSpPr>
        <p:spPr>
          <a:xfrm>
            <a:off x="713117" y="1712348"/>
            <a:ext cx="5382883" cy="2434261"/>
          </a:xfrm>
          <a:prstGeom prst="rect">
            <a:avLst/>
          </a:prstGeom>
          <a:solidFill>
            <a:srgbClr val="F2F2F2"/>
          </a:solidFill>
          <a:ln>
            <a:noFill/>
          </a:ln>
        </p:spPr>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10_slide">
  <p:cSld name="10_slide">
    <p:spTree>
      <p:nvGrpSpPr>
        <p:cNvPr id="1" name="Shape 371"/>
        <p:cNvGrpSpPr/>
        <p:nvPr/>
      </p:nvGrpSpPr>
      <p:grpSpPr>
        <a:xfrm>
          <a:off x="0" y="0"/>
          <a:ext cx="0" cy="0"/>
          <a:chOff x="0" y="0"/>
          <a:chExt cx="0" cy="0"/>
        </a:xfrm>
      </p:grpSpPr>
      <p:sp>
        <p:nvSpPr>
          <p:cNvPr id="372" name="Google Shape;372;p278"/>
          <p:cNvSpPr>
            <a:spLocks noGrp="1"/>
          </p:cNvSpPr>
          <p:nvPr>
            <p:ph type="pic" idx="2"/>
          </p:nvPr>
        </p:nvSpPr>
        <p:spPr>
          <a:xfrm>
            <a:off x="1069999" y="2677076"/>
            <a:ext cx="2010401" cy="804672"/>
          </a:xfrm>
          <a:prstGeom prst="rect">
            <a:avLst/>
          </a:prstGeom>
          <a:solidFill>
            <a:srgbClr val="F2F2F2"/>
          </a:solidFill>
          <a:ln>
            <a:noFill/>
          </a:ln>
        </p:spPr>
      </p:sp>
      <p:sp>
        <p:nvSpPr>
          <p:cNvPr id="373" name="Google Shape;373;p278"/>
          <p:cNvSpPr>
            <a:spLocks noGrp="1"/>
          </p:cNvSpPr>
          <p:nvPr>
            <p:ph type="pic" idx="3"/>
          </p:nvPr>
        </p:nvSpPr>
        <p:spPr>
          <a:xfrm>
            <a:off x="5090800" y="2677076"/>
            <a:ext cx="2010401" cy="804672"/>
          </a:xfrm>
          <a:prstGeom prst="rect">
            <a:avLst/>
          </a:prstGeom>
          <a:solidFill>
            <a:srgbClr val="F2F2F2"/>
          </a:solidFill>
          <a:ln>
            <a:noFill/>
          </a:ln>
        </p:spPr>
      </p:sp>
      <p:sp>
        <p:nvSpPr>
          <p:cNvPr id="374" name="Google Shape;374;p278"/>
          <p:cNvSpPr>
            <a:spLocks noGrp="1"/>
          </p:cNvSpPr>
          <p:nvPr>
            <p:ph type="pic" idx="4"/>
          </p:nvPr>
        </p:nvSpPr>
        <p:spPr>
          <a:xfrm>
            <a:off x="9111600" y="2677076"/>
            <a:ext cx="2010401" cy="804672"/>
          </a:xfrm>
          <a:prstGeom prst="rect">
            <a:avLst/>
          </a:prstGeom>
          <a:solidFill>
            <a:srgbClr val="F2F2F2"/>
          </a:solidFill>
          <a:ln>
            <a:noFill/>
          </a:ln>
        </p:spPr>
      </p:sp>
      <p:sp>
        <p:nvSpPr>
          <p:cNvPr id="375" name="Google Shape;375;p278"/>
          <p:cNvSpPr>
            <a:spLocks noGrp="1"/>
          </p:cNvSpPr>
          <p:nvPr>
            <p:ph type="pic" idx="5"/>
          </p:nvPr>
        </p:nvSpPr>
        <p:spPr>
          <a:xfrm>
            <a:off x="3080399" y="3884084"/>
            <a:ext cx="2010401" cy="804672"/>
          </a:xfrm>
          <a:prstGeom prst="rect">
            <a:avLst/>
          </a:prstGeom>
          <a:solidFill>
            <a:srgbClr val="F2F2F2"/>
          </a:solidFill>
          <a:ln>
            <a:noFill/>
          </a:ln>
        </p:spPr>
      </p:sp>
      <p:sp>
        <p:nvSpPr>
          <p:cNvPr id="376" name="Google Shape;376;p278"/>
          <p:cNvSpPr>
            <a:spLocks noGrp="1"/>
          </p:cNvSpPr>
          <p:nvPr>
            <p:ph type="pic" idx="6"/>
          </p:nvPr>
        </p:nvSpPr>
        <p:spPr>
          <a:xfrm>
            <a:off x="7101200" y="3884084"/>
            <a:ext cx="2010401" cy="804672"/>
          </a:xfrm>
          <a:prstGeom prst="rect">
            <a:avLst/>
          </a:prstGeom>
          <a:solidFill>
            <a:srgbClr val="F2F2F2"/>
          </a:solidFill>
          <a:ln>
            <a:noFill/>
          </a:ln>
        </p:spPr>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11_slide">
  <p:cSld name="11_slide">
    <p:spTree>
      <p:nvGrpSpPr>
        <p:cNvPr id="1" name="Shape 377"/>
        <p:cNvGrpSpPr/>
        <p:nvPr/>
      </p:nvGrpSpPr>
      <p:grpSpPr>
        <a:xfrm>
          <a:off x="0" y="0"/>
          <a:ext cx="0" cy="0"/>
          <a:chOff x="0" y="0"/>
          <a:chExt cx="0" cy="0"/>
        </a:xfrm>
      </p:grpSpPr>
      <p:sp>
        <p:nvSpPr>
          <p:cNvPr id="378" name="Google Shape;378;p279"/>
          <p:cNvSpPr>
            <a:spLocks noGrp="1"/>
          </p:cNvSpPr>
          <p:nvPr>
            <p:ph type="pic" idx="2"/>
          </p:nvPr>
        </p:nvSpPr>
        <p:spPr>
          <a:xfrm>
            <a:off x="780799" y="1977749"/>
            <a:ext cx="2397440" cy="892514"/>
          </a:xfrm>
          <a:prstGeom prst="rect">
            <a:avLst/>
          </a:prstGeom>
          <a:solidFill>
            <a:srgbClr val="F2F2F2"/>
          </a:solidFill>
          <a:ln>
            <a:noFill/>
          </a:ln>
        </p:spPr>
      </p:sp>
      <p:sp>
        <p:nvSpPr>
          <p:cNvPr id="379" name="Google Shape;379;p279"/>
          <p:cNvSpPr>
            <a:spLocks noGrp="1"/>
          </p:cNvSpPr>
          <p:nvPr>
            <p:ph type="pic" idx="3"/>
          </p:nvPr>
        </p:nvSpPr>
        <p:spPr>
          <a:xfrm>
            <a:off x="3525120" y="1977749"/>
            <a:ext cx="2397440" cy="892514"/>
          </a:xfrm>
          <a:prstGeom prst="rect">
            <a:avLst/>
          </a:prstGeom>
          <a:solidFill>
            <a:srgbClr val="F2F2F2"/>
          </a:solidFill>
          <a:ln>
            <a:noFill/>
          </a:ln>
        </p:spPr>
      </p:sp>
      <p:sp>
        <p:nvSpPr>
          <p:cNvPr id="380" name="Google Shape;380;p279"/>
          <p:cNvSpPr>
            <a:spLocks noGrp="1"/>
          </p:cNvSpPr>
          <p:nvPr>
            <p:ph type="pic" idx="4"/>
          </p:nvPr>
        </p:nvSpPr>
        <p:spPr>
          <a:xfrm>
            <a:off x="6269441" y="1977749"/>
            <a:ext cx="2397440" cy="892514"/>
          </a:xfrm>
          <a:prstGeom prst="rect">
            <a:avLst/>
          </a:prstGeom>
          <a:solidFill>
            <a:srgbClr val="F2F2F2"/>
          </a:solidFill>
          <a:ln>
            <a:noFill/>
          </a:ln>
        </p:spPr>
      </p:sp>
      <p:sp>
        <p:nvSpPr>
          <p:cNvPr id="381" name="Google Shape;381;p279"/>
          <p:cNvSpPr>
            <a:spLocks noGrp="1"/>
          </p:cNvSpPr>
          <p:nvPr>
            <p:ph type="pic" idx="5"/>
          </p:nvPr>
        </p:nvSpPr>
        <p:spPr>
          <a:xfrm>
            <a:off x="9013761" y="1977749"/>
            <a:ext cx="2397440" cy="892514"/>
          </a:xfrm>
          <a:prstGeom prst="rect">
            <a:avLst/>
          </a:prstGeom>
          <a:solidFill>
            <a:srgbClr val="F2F2F2"/>
          </a:solidFill>
          <a:ln>
            <a:noFill/>
          </a:ln>
        </p:spPr>
      </p:sp>
      <p:sp>
        <p:nvSpPr>
          <p:cNvPr id="382" name="Google Shape;382;p279"/>
          <p:cNvSpPr>
            <a:spLocks noGrp="1"/>
          </p:cNvSpPr>
          <p:nvPr>
            <p:ph type="pic" idx="6"/>
          </p:nvPr>
        </p:nvSpPr>
        <p:spPr>
          <a:xfrm>
            <a:off x="780799" y="3236659"/>
            <a:ext cx="2397440" cy="892514"/>
          </a:xfrm>
          <a:prstGeom prst="rect">
            <a:avLst/>
          </a:prstGeom>
          <a:solidFill>
            <a:srgbClr val="F2F2F2"/>
          </a:solidFill>
          <a:ln>
            <a:noFill/>
          </a:ln>
        </p:spPr>
      </p:sp>
      <p:sp>
        <p:nvSpPr>
          <p:cNvPr id="383" name="Google Shape;383;p279"/>
          <p:cNvSpPr>
            <a:spLocks noGrp="1"/>
          </p:cNvSpPr>
          <p:nvPr>
            <p:ph type="pic" idx="7"/>
          </p:nvPr>
        </p:nvSpPr>
        <p:spPr>
          <a:xfrm>
            <a:off x="3525120" y="3236659"/>
            <a:ext cx="2397440" cy="892514"/>
          </a:xfrm>
          <a:prstGeom prst="rect">
            <a:avLst/>
          </a:prstGeom>
          <a:solidFill>
            <a:srgbClr val="F2F2F2"/>
          </a:solidFill>
          <a:ln>
            <a:noFill/>
          </a:ln>
        </p:spPr>
      </p:sp>
      <p:sp>
        <p:nvSpPr>
          <p:cNvPr id="384" name="Google Shape;384;p279"/>
          <p:cNvSpPr>
            <a:spLocks noGrp="1"/>
          </p:cNvSpPr>
          <p:nvPr>
            <p:ph type="pic" idx="8"/>
          </p:nvPr>
        </p:nvSpPr>
        <p:spPr>
          <a:xfrm>
            <a:off x="6269441" y="3236659"/>
            <a:ext cx="2397440" cy="892514"/>
          </a:xfrm>
          <a:prstGeom prst="rect">
            <a:avLst/>
          </a:prstGeom>
          <a:solidFill>
            <a:srgbClr val="F2F2F2"/>
          </a:solidFill>
          <a:ln>
            <a:noFill/>
          </a:ln>
        </p:spPr>
      </p:sp>
      <p:sp>
        <p:nvSpPr>
          <p:cNvPr id="385" name="Google Shape;385;p279"/>
          <p:cNvSpPr>
            <a:spLocks noGrp="1"/>
          </p:cNvSpPr>
          <p:nvPr>
            <p:ph type="pic" idx="9"/>
          </p:nvPr>
        </p:nvSpPr>
        <p:spPr>
          <a:xfrm>
            <a:off x="9013761" y="3236659"/>
            <a:ext cx="2397440" cy="892514"/>
          </a:xfrm>
          <a:prstGeom prst="rect">
            <a:avLst/>
          </a:prstGeom>
          <a:solidFill>
            <a:srgbClr val="F2F2F2"/>
          </a:solidFill>
          <a:ln>
            <a:noFill/>
          </a:ln>
        </p:spPr>
      </p:sp>
      <p:sp>
        <p:nvSpPr>
          <p:cNvPr id="386" name="Google Shape;386;p279"/>
          <p:cNvSpPr>
            <a:spLocks noGrp="1"/>
          </p:cNvSpPr>
          <p:nvPr>
            <p:ph type="pic" idx="13"/>
          </p:nvPr>
        </p:nvSpPr>
        <p:spPr>
          <a:xfrm>
            <a:off x="780799" y="4495568"/>
            <a:ext cx="2397440" cy="892514"/>
          </a:xfrm>
          <a:prstGeom prst="rect">
            <a:avLst/>
          </a:prstGeom>
          <a:solidFill>
            <a:srgbClr val="F2F2F2"/>
          </a:solidFill>
          <a:ln>
            <a:noFill/>
          </a:ln>
        </p:spPr>
      </p:sp>
      <p:sp>
        <p:nvSpPr>
          <p:cNvPr id="387" name="Google Shape;387;p279"/>
          <p:cNvSpPr>
            <a:spLocks noGrp="1"/>
          </p:cNvSpPr>
          <p:nvPr>
            <p:ph type="pic" idx="14"/>
          </p:nvPr>
        </p:nvSpPr>
        <p:spPr>
          <a:xfrm>
            <a:off x="3525120" y="4495568"/>
            <a:ext cx="2397440" cy="892514"/>
          </a:xfrm>
          <a:prstGeom prst="rect">
            <a:avLst/>
          </a:prstGeom>
          <a:solidFill>
            <a:srgbClr val="F2F2F2"/>
          </a:solidFill>
          <a:ln>
            <a:noFill/>
          </a:ln>
        </p:spPr>
      </p:sp>
      <p:sp>
        <p:nvSpPr>
          <p:cNvPr id="388" name="Google Shape;388;p279"/>
          <p:cNvSpPr>
            <a:spLocks noGrp="1"/>
          </p:cNvSpPr>
          <p:nvPr>
            <p:ph type="pic" idx="15"/>
          </p:nvPr>
        </p:nvSpPr>
        <p:spPr>
          <a:xfrm>
            <a:off x="6269441" y="4495568"/>
            <a:ext cx="2397440" cy="892514"/>
          </a:xfrm>
          <a:prstGeom prst="rect">
            <a:avLst/>
          </a:prstGeom>
          <a:solidFill>
            <a:srgbClr val="F2F2F2"/>
          </a:solidFill>
          <a:ln>
            <a:noFill/>
          </a:ln>
        </p:spPr>
      </p:sp>
      <p:sp>
        <p:nvSpPr>
          <p:cNvPr id="389" name="Google Shape;389;p279"/>
          <p:cNvSpPr>
            <a:spLocks noGrp="1"/>
          </p:cNvSpPr>
          <p:nvPr>
            <p:ph type="pic" idx="16"/>
          </p:nvPr>
        </p:nvSpPr>
        <p:spPr>
          <a:xfrm>
            <a:off x="9013761" y="4495568"/>
            <a:ext cx="2397440" cy="892514"/>
          </a:xfrm>
          <a:prstGeom prst="rect">
            <a:avLst/>
          </a:prstGeom>
          <a:solidFill>
            <a:srgbClr val="F2F2F2"/>
          </a:solidFill>
          <a:ln>
            <a:noFill/>
          </a:ln>
        </p:spPr>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12_slide">
  <p:cSld name="12_slide">
    <p:spTree>
      <p:nvGrpSpPr>
        <p:cNvPr id="1" name="Shape 390"/>
        <p:cNvGrpSpPr/>
        <p:nvPr/>
      </p:nvGrpSpPr>
      <p:grpSpPr>
        <a:xfrm>
          <a:off x="0" y="0"/>
          <a:ext cx="0" cy="0"/>
          <a:chOff x="0" y="0"/>
          <a:chExt cx="0" cy="0"/>
        </a:xfrm>
      </p:grpSpPr>
      <p:sp>
        <p:nvSpPr>
          <p:cNvPr id="391" name="Google Shape;391;p280"/>
          <p:cNvSpPr>
            <a:spLocks noGrp="1"/>
          </p:cNvSpPr>
          <p:nvPr>
            <p:ph type="pic" idx="2"/>
          </p:nvPr>
        </p:nvSpPr>
        <p:spPr>
          <a:xfrm>
            <a:off x="747589" y="1735566"/>
            <a:ext cx="3454687" cy="3999122"/>
          </a:xfrm>
          <a:prstGeom prst="rect">
            <a:avLst/>
          </a:prstGeom>
          <a:solidFill>
            <a:srgbClr val="F2F2F2"/>
          </a:solidFill>
          <a:ln>
            <a:noFill/>
          </a:ln>
        </p:spPr>
      </p:sp>
      <p:sp>
        <p:nvSpPr>
          <p:cNvPr id="392" name="Google Shape;392;p280"/>
          <p:cNvSpPr>
            <a:spLocks noGrp="1"/>
          </p:cNvSpPr>
          <p:nvPr>
            <p:ph type="pic" idx="3"/>
          </p:nvPr>
        </p:nvSpPr>
        <p:spPr>
          <a:xfrm>
            <a:off x="4330279" y="1735566"/>
            <a:ext cx="3454687" cy="3999122"/>
          </a:xfrm>
          <a:prstGeom prst="rect">
            <a:avLst/>
          </a:prstGeom>
          <a:solidFill>
            <a:srgbClr val="F2F2F2"/>
          </a:solidFill>
          <a:ln>
            <a:noFill/>
          </a:ln>
        </p:spPr>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13_slide">
  <p:cSld name="13_slide">
    <p:spTree>
      <p:nvGrpSpPr>
        <p:cNvPr id="1" name="Shape 393"/>
        <p:cNvGrpSpPr/>
        <p:nvPr/>
      </p:nvGrpSpPr>
      <p:grpSpPr>
        <a:xfrm>
          <a:off x="0" y="0"/>
          <a:ext cx="0" cy="0"/>
          <a:chOff x="0" y="0"/>
          <a:chExt cx="0" cy="0"/>
        </a:xfrm>
      </p:grpSpPr>
      <p:sp>
        <p:nvSpPr>
          <p:cNvPr id="394" name="Google Shape;394;p281"/>
          <p:cNvSpPr>
            <a:spLocks noGrp="1"/>
          </p:cNvSpPr>
          <p:nvPr>
            <p:ph type="pic" idx="2"/>
          </p:nvPr>
        </p:nvSpPr>
        <p:spPr>
          <a:xfrm>
            <a:off x="7548023" y="-11151"/>
            <a:ext cx="4643977" cy="6869151"/>
          </a:xfrm>
          <a:prstGeom prst="rect">
            <a:avLst/>
          </a:prstGeom>
          <a:solidFill>
            <a:srgbClr val="F2F2F2"/>
          </a:solidFill>
          <a:ln>
            <a:noFill/>
          </a:ln>
        </p:spPr>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14_slide">
  <p:cSld name="14_slide">
    <p:spTree>
      <p:nvGrpSpPr>
        <p:cNvPr id="1" name="Shape 395"/>
        <p:cNvGrpSpPr/>
        <p:nvPr/>
      </p:nvGrpSpPr>
      <p:grpSpPr>
        <a:xfrm>
          <a:off x="0" y="0"/>
          <a:ext cx="0" cy="0"/>
          <a:chOff x="0" y="0"/>
          <a:chExt cx="0" cy="0"/>
        </a:xfrm>
      </p:grpSpPr>
      <p:sp>
        <p:nvSpPr>
          <p:cNvPr id="396" name="Google Shape;396;p282"/>
          <p:cNvSpPr>
            <a:spLocks noGrp="1"/>
          </p:cNvSpPr>
          <p:nvPr>
            <p:ph type="pic" idx="2"/>
          </p:nvPr>
        </p:nvSpPr>
        <p:spPr>
          <a:xfrm>
            <a:off x="4407323" y="1735566"/>
            <a:ext cx="3454687" cy="3999122"/>
          </a:xfrm>
          <a:prstGeom prst="rect">
            <a:avLst/>
          </a:prstGeom>
          <a:solidFill>
            <a:srgbClr val="F2F2F2"/>
          </a:solidFill>
          <a:ln>
            <a:noFill/>
          </a:ln>
        </p:spPr>
      </p:sp>
      <p:sp>
        <p:nvSpPr>
          <p:cNvPr id="397" name="Google Shape;397;p282"/>
          <p:cNvSpPr>
            <a:spLocks noGrp="1"/>
          </p:cNvSpPr>
          <p:nvPr>
            <p:ph type="pic" idx="3"/>
          </p:nvPr>
        </p:nvSpPr>
        <p:spPr>
          <a:xfrm>
            <a:off x="7990013" y="1735566"/>
            <a:ext cx="3454687" cy="3999122"/>
          </a:xfrm>
          <a:prstGeom prst="rect">
            <a:avLst/>
          </a:prstGeom>
          <a:solidFill>
            <a:srgbClr val="F2F2F2"/>
          </a:solidFill>
          <a:ln>
            <a:noFill/>
          </a:ln>
        </p:spPr>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15_slide">
  <p:cSld name="15_slide">
    <p:spTree>
      <p:nvGrpSpPr>
        <p:cNvPr id="1" name="Shape 398"/>
        <p:cNvGrpSpPr/>
        <p:nvPr/>
      </p:nvGrpSpPr>
      <p:grpSpPr>
        <a:xfrm>
          <a:off x="0" y="0"/>
          <a:ext cx="0" cy="0"/>
          <a:chOff x="0" y="0"/>
          <a:chExt cx="0" cy="0"/>
        </a:xfrm>
      </p:grpSpPr>
      <p:sp>
        <p:nvSpPr>
          <p:cNvPr id="399" name="Google Shape;399;p283"/>
          <p:cNvSpPr>
            <a:spLocks noGrp="1"/>
          </p:cNvSpPr>
          <p:nvPr>
            <p:ph type="pic" idx="2"/>
          </p:nvPr>
        </p:nvSpPr>
        <p:spPr>
          <a:xfrm>
            <a:off x="4379579" y="-11152"/>
            <a:ext cx="7812421" cy="6869151"/>
          </a:xfrm>
          <a:prstGeom prst="rect">
            <a:avLst/>
          </a:prstGeom>
          <a:solidFill>
            <a:srgbClr val="F2F2F2"/>
          </a:solidFill>
          <a:ln>
            <a:noFill/>
          </a:ln>
        </p:spPr>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16_slide">
  <p:cSld name="16_slide">
    <p:spTree>
      <p:nvGrpSpPr>
        <p:cNvPr id="1" name="Shape 400"/>
        <p:cNvGrpSpPr/>
        <p:nvPr/>
      </p:nvGrpSpPr>
      <p:grpSpPr>
        <a:xfrm>
          <a:off x="0" y="0"/>
          <a:ext cx="0" cy="0"/>
          <a:chOff x="0" y="0"/>
          <a:chExt cx="0" cy="0"/>
        </a:xfrm>
      </p:grpSpPr>
      <p:sp>
        <p:nvSpPr>
          <p:cNvPr id="401" name="Google Shape;401;p284"/>
          <p:cNvSpPr>
            <a:spLocks noGrp="1"/>
          </p:cNvSpPr>
          <p:nvPr>
            <p:ph type="pic" idx="2"/>
          </p:nvPr>
        </p:nvSpPr>
        <p:spPr>
          <a:xfrm>
            <a:off x="-2511399" y="1712857"/>
            <a:ext cx="5022797" cy="2891798"/>
          </a:xfrm>
          <a:prstGeom prst="rect">
            <a:avLst/>
          </a:prstGeom>
          <a:solidFill>
            <a:srgbClr val="F2F2F2"/>
          </a:solidFill>
          <a:ln>
            <a:noFill/>
          </a:ln>
        </p:spPr>
      </p:sp>
      <p:sp>
        <p:nvSpPr>
          <p:cNvPr id="402" name="Google Shape;402;p284"/>
          <p:cNvSpPr>
            <a:spLocks noGrp="1"/>
          </p:cNvSpPr>
          <p:nvPr>
            <p:ph type="pic" idx="3"/>
          </p:nvPr>
        </p:nvSpPr>
        <p:spPr>
          <a:xfrm>
            <a:off x="3584600" y="1712857"/>
            <a:ext cx="5022797" cy="2891798"/>
          </a:xfrm>
          <a:prstGeom prst="rect">
            <a:avLst/>
          </a:prstGeom>
          <a:solidFill>
            <a:srgbClr val="F2F2F2"/>
          </a:solidFill>
          <a:ln>
            <a:noFill/>
          </a:ln>
        </p:spPr>
      </p:sp>
      <p:sp>
        <p:nvSpPr>
          <p:cNvPr id="403" name="Google Shape;403;p284"/>
          <p:cNvSpPr>
            <a:spLocks noGrp="1"/>
          </p:cNvSpPr>
          <p:nvPr>
            <p:ph type="pic" idx="4"/>
          </p:nvPr>
        </p:nvSpPr>
        <p:spPr>
          <a:xfrm>
            <a:off x="9680602" y="1712857"/>
            <a:ext cx="5022797" cy="2891798"/>
          </a:xfrm>
          <a:prstGeom prst="rect">
            <a:avLst/>
          </a:prstGeom>
          <a:solidFill>
            <a:srgbClr val="F2F2F2"/>
          </a:solidFill>
          <a:ln>
            <a:noFill/>
          </a:ln>
        </p:spPr>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17_slide">
  <p:cSld name="17_slide">
    <p:spTree>
      <p:nvGrpSpPr>
        <p:cNvPr id="1" name="Shape 404"/>
        <p:cNvGrpSpPr/>
        <p:nvPr/>
      </p:nvGrpSpPr>
      <p:grpSpPr>
        <a:xfrm>
          <a:off x="0" y="0"/>
          <a:ext cx="0" cy="0"/>
          <a:chOff x="0" y="0"/>
          <a:chExt cx="0" cy="0"/>
        </a:xfrm>
      </p:grpSpPr>
      <p:sp>
        <p:nvSpPr>
          <p:cNvPr id="405" name="Google Shape;405;p285"/>
          <p:cNvSpPr>
            <a:spLocks noGrp="1"/>
          </p:cNvSpPr>
          <p:nvPr>
            <p:ph type="pic" idx="2"/>
          </p:nvPr>
        </p:nvSpPr>
        <p:spPr>
          <a:xfrm>
            <a:off x="4657688" y="0"/>
            <a:ext cx="6142693" cy="6858000"/>
          </a:xfrm>
          <a:prstGeom prst="rect">
            <a:avLst/>
          </a:prstGeom>
          <a:solidFill>
            <a:srgbClr val="F2F2F2"/>
          </a:solidFill>
          <a:ln>
            <a:noFill/>
          </a:ln>
        </p:spPr>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18_slide">
  <p:cSld name="18_slide">
    <p:spTree>
      <p:nvGrpSpPr>
        <p:cNvPr id="1" name="Shape 406"/>
        <p:cNvGrpSpPr/>
        <p:nvPr/>
      </p:nvGrpSpPr>
      <p:grpSpPr>
        <a:xfrm>
          <a:off x="0" y="0"/>
          <a:ext cx="0" cy="0"/>
          <a:chOff x="0" y="0"/>
          <a:chExt cx="0" cy="0"/>
        </a:xfrm>
      </p:grpSpPr>
      <p:sp>
        <p:nvSpPr>
          <p:cNvPr id="407" name="Google Shape;407;p286"/>
          <p:cNvSpPr>
            <a:spLocks noGrp="1"/>
          </p:cNvSpPr>
          <p:nvPr>
            <p:ph type="pic" idx="2"/>
          </p:nvPr>
        </p:nvSpPr>
        <p:spPr>
          <a:xfrm>
            <a:off x="745783" y="1641727"/>
            <a:ext cx="5435475" cy="4039975"/>
          </a:xfrm>
          <a:prstGeom prst="rect">
            <a:avLst/>
          </a:prstGeom>
          <a:solidFill>
            <a:srgbClr val="F2F2F2"/>
          </a:solidFill>
          <a:ln>
            <a:noFill/>
          </a:ln>
        </p:spPr>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19_slide">
  <p:cSld name="19_slide">
    <p:spTree>
      <p:nvGrpSpPr>
        <p:cNvPr id="1" name="Shape 408"/>
        <p:cNvGrpSpPr/>
        <p:nvPr/>
      </p:nvGrpSpPr>
      <p:grpSpPr>
        <a:xfrm>
          <a:off x="0" y="0"/>
          <a:ext cx="0" cy="0"/>
          <a:chOff x="0" y="0"/>
          <a:chExt cx="0" cy="0"/>
        </a:xfrm>
      </p:grpSpPr>
      <p:sp>
        <p:nvSpPr>
          <p:cNvPr id="409" name="Google Shape;409;p287"/>
          <p:cNvSpPr>
            <a:spLocks noGrp="1"/>
          </p:cNvSpPr>
          <p:nvPr>
            <p:ph type="pic" idx="2"/>
          </p:nvPr>
        </p:nvSpPr>
        <p:spPr>
          <a:xfrm>
            <a:off x="0" y="0"/>
            <a:ext cx="7818066" cy="6869413"/>
          </a:xfrm>
          <a:prstGeom prst="rect">
            <a:avLst/>
          </a:prstGeom>
          <a:solidFill>
            <a:srgbClr val="F2F2F2"/>
          </a:solidFill>
          <a:ln>
            <a:noFill/>
          </a:ln>
        </p:spPr>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20_slide">
  <p:cSld name="20_slide">
    <p:spTree>
      <p:nvGrpSpPr>
        <p:cNvPr id="1" name="Shape 410"/>
        <p:cNvGrpSpPr/>
        <p:nvPr/>
      </p:nvGrpSpPr>
      <p:grpSpPr>
        <a:xfrm>
          <a:off x="0" y="0"/>
          <a:ext cx="0" cy="0"/>
          <a:chOff x="0" y="0"/>
          <a:chExt cx="0" cy="0"/>
        </a:xfrm>
      </p:grpSpPr>
      <p:sp>
        <p:nvSpPr>
          <p:cNvPr id="411" name="Google Shape;411;p288"/>
          <p:cNvSpPr>
            <a:spLocks noGrp="1"/>
          </p:cNvSpPr>
          <p:nvPr>
            <p:ph type="pic" idx="2"/>
          </p:nvPr>
        </p:nvSpPr>
        <p:spPr>
          <a:xfrm>
            <a:off x="6010742" y="1641727"/>
            <a:ext cx="5435475" cy="4039975"/>
          </a:xfrm>
          <a:prstGeom prst="rect">
            <a:avLst/>
          </a:prstGeom>
          <a:solidFill>
            <a:srgbClr val="F2F2F2"/>
          </a:solidFill>
          <a:ln>
            <a:noFill/>
          </a:ln>
        </p:spPr>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21_slide">
  <p:cSld name="21_slide">
    <p:spTree>
      <p:nvGrpSpPr>
        <p:cNvPr id="1" name="Shape 412"/>
        <p:cNvGrpSpPr/>
        <p:nvPr/>
      </p:nvGrpSpPr>
      <p:grpSpPr>
        <a:xfrm>
          <a:off x="0" y="0"/>
          <a:ext cx="0" cy="0"/>
          <a:chOff x="0" y="0"/>
          <a:chExt cx="0" cy="0"/>
        </a:xfrm>
      </p:grpSpPr>
      <p:sp>
        <p:nvSpPr>
          <p:cNvPr id="413" name="Google Shape;413;p289"/>
          <p:cNvSpPr>
            <a:spLocks noGrp="1"/>
          </p:cNvSpPr>
          <p:nvPr>
            <p:ph type="pic" idx="2"/>
          </p:nvPr>
        </p:nvSpPr>
        <p:spPr>
          <a:xfrm>
            <a:off x="3316218" y="0"/>
            <a:ext cx="6142693" cy="6858000"/>
          </a:xfrm>
          <a:prstGeom prst="rect">
            <a:avLst/>
          </a:prstGeom>
          <a:solidFill>
            <a:srgbClr val="F2F2F2"/>
          </a:solidFill>
          <a:ln>
            <a:noFill/>
          </a:ln>
        </p:spPr>
      </p:sp>
      <p:sp>
        <p:nvSpPr>
          <p:cNvPr id="414" name="Google Shape;414;p289"/>
          <p:cNvSpPr>
            <a:spLocks noGrp="1"/>
          </p:cNvSpPr>
          <p:nvPr>
            <p:ph type="pic" idx="3"/>
          </p:nvPr>
        </p:nvSpPr>
        <p:spPr>
          <a:xfrm>
            <a:off x="7541024" y="0"/>
            <a:ext cx="4659195" cy="6858000"/>
          </a:xfrm>
          <a:prstGeom prst="rect">
            <a:avLst/>
          </a:prstGeom>
          <a:solidFill>
            <a:srgbClr val="F2F2F2"/>
          </a:solidFill>
          <a:ln>
            <a:noFill/>
          </a:ln>
        </p:spPr>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22_slide">
  <p:cSld name="22_slide">
    <p:spTree>
      <p:nvGrpSpPr>
        <p:cNvPr id="1" name="Shape 415"/>
        <p:cNvGrpSpPr/>
        <p:nvPr/>
      </p:nvGrpSpPr>
      <p:grpSpPr>
        <a:xfrm>
          <a:off x="0" y="0"/>
          <a:ext cx="0" cy="0"/>
          <a:chOff x="0" y="0"/>
          <a:chExt cx="0" cy="0"/>
        </a:xfrm>
      </p:grpSpPr>
      <p:sp>
        <p:nvSpPr>
          <p:cNvPr id="416" name="Google Shape;416;p290"/>
          <p:cNvSpPr>
            <a:spLocks noGrp="1"/>
          </p:cNvSpPr>
          <p:nvPr>
            <p:ph type="pic" idx="2"/>
          </p:nvPr>
        </p:nvSpPr>
        <p:spPr>
          <a:xfrm>
            <a:off x="2671026" y="-1"/>
            <a:ext cx="3970043" cy="4434836"/>
          </a:xfrm>
          <a:prstGeom prst="rect">
            <a:avLst/>
          </a:prstGeom>
          <a:solidFill>
            <a:srgbClr val="F2F2F2"/>
          </a:solidFill>
          <a:ln>
            <a:noFill/>
          </a:ln>
        </p:spPr>
      </p:sp>
      <p:sp>
        <p:nvSpPr>
          <p:cNvPr id="417" name="Google Shape;417;p290"/>
          <p:cNvSpPr>
            <a:spLocks noGrp="1"/>
          </p:cNvSpPr>
          <p:nvPr>
            <p:ph type="pic" idx="3"/>
          </p:nvPr>
        </p:nvSpPr>
        <p:spPr>
          <a:xfrm>
            <a:off x="5460923" y="-1"/>
            <a:ext cx="3970043" cy="4434836"/>
          </a:xfrm>
          <a:prstGeom prst="rect">
            <a:avLst/>
          </a:prstGeom>
          <a:solidFill>
            <a:srgbClr val="F2F2F2"/>
          </a:solidFill>
          <a:ln>
            <a:noFill/>
          </a:ln>
        </p:spPr>
      </p:sp>
      <p:sp>
        <p:nvSpPr>
          <p:cNvPr id="418" name="Google Shape;418;p290"/>
          <p:cNvSpPr>
            <a:spLocks noGrp="1"/>
          </p:cNvSpPr>
          <p:nvPr>
            <p:ph type="pic" idx="4"/>
          </p:nvPr>
        </p:nvSpPr>
        <p:spPr>
          <a:xfrm>
            <a:off x="8221115" y="-1"/>
            <a:ext cx="3970043" cy="4434836"/>
          </a:xfrm>
          <a:prstGeom prst="rect">
            <a:avLst/>
          </a:prstGeom>
          <a:solidFill>
            <a:srgbClr val="F2F2F2"/>
          </a:solidFill>
          <a:ln>
            <a:noFill/>
          </a:ln>
        </p:spPr>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23_slide">
  <p:cSld name="23_slide">
    <p:spTree>
      <p:nvGrpSpPr>
        <p:cNvPr id="1" name="Shape 419"/>
        <p:cNvGrpSpPr/>
        <p:nvPr/>
      </p:nvGrpSpPr>
      <p:grpSpPr>
        <a:xfrm>
          <a:off x="0" y="0"/>
          <a:ext cx="0" cy="0"/>
          <a:chOff x="0" y="0"/>
          <a:chExt cx="0" cy="0"/>
        </a:xfrm>
      </p:grpSpPr>
      <p:sp>
        <p:nvSpPr>
          <p:cNvPr id="420" name="Google Shape;420;p291"/>
          <p:cNvSpPr>
            <a:spLocks noGrp="1"/>
          </p:cNvSpPr>
          <p:nvPr>
            <p:ph type="pic" idx="2"/>
          </p:nvPr>
        </p:nvSpPr>
        <p:spPr>
          <a:xfrm>
            <a:off x="7485063" y="627903"/>
            <a:ext cx="2218958" cy="2218380"/>
          </a:xfrm>
          <a:prstGeom prst="rect">
            <a:avLst/>
          </a:prstGeom>
          <a:solidFill>
            <a:srgbClr val="F2F2F2"/>
          </a:solidFill>
          <a:ln>
            <a:noFill/>
          </a:ln>
        </p:spPr>
      </p:sp>
      <p:sp>
        <p:nvSpPr>
          <p:cNvPr id="421" name="Google Shape;421;p291"/>
          <p:cNvSpPr>
            <a:spLocks noGrp="1"/>
          </p:cNvSpPr>
          <p:nvPr>
            <p:ph type="pic" idx="3"/>
          </p:nvPr>
        </p:nvSpPr>
        <p:spPr>
          <a:xfrm>
            <a:off x="8487915" y="2988577"/>
            <a:ext cx="2923285" cy="2922525"/>
          </a:xfrm>
          <a:prstGeom prst="rect">
            <a:avLst/>
          </a:prstGeom>
          <a:solidFill>
            <a:srgbClr val="F2F2F2"/>
          </a:solidFill>
          <a:ln>
            <a:noFill/>
          </a:ln>
        </p:spPr>
      </p:sp>
      <p:sp>
        <p:nvSpPr>
          <p:cNvPr id="422" name="Google Shape;422;p291"/>
          <p:cNvSpPr>
            <a:spLocks noGrp="1"/>
          </p:cNvSpPr>
          <p:nvPr>
            <p:ph type="pic" idx="4"/>
          </p:nvPr>
        </p:nvSpPr>
        <p:spPr>
          <a:xfrm>
            <a:off x="6636696" y="2988577"/>
            <a:ext cx="1697038" cy="1696597"/>
          </a:xfrm>
          <a:prstGeom prst="rect">
            <a:avLst/>
          </a:prstGeom>
          <a:solidFill>
            <a:srgbClr val="F2F2F2"/>
          </a:solidFill>
          <a:ln>
            <a:noFill/>
          </a:ln>
        </p:spPr>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24_slide">
  <p:cSld name="24_slide">
    <p:spTree>
      <p:nvGrpSpPr>
        <p:cNvPr id="1" name="Shape 423"/>
        <p:cNvGrpSpPr/>
        <p:nvPr/>
      </p:nvGrpSpPr>
      <p:grpSpPr>
        <a:xfrm>
          <a:off x="0" y="0"/>
          <a:ext cx="0" cy="0"/>
          <a:chOff x="0" y="0"/>
          <a:chExt cx="0" cy="0"/>
        </a:xfrm>
      </p:grpSpPr>
      <p:sp>
        <p:nvSpPr>
          <p:cNvPr id="424" name="Google Shape;424;p292"/>
          <p:cNvSpPr>
            <a:spLocks noGrp="1"/>
          </p:cNvSpPr>
          <p:nvPr>
            <p:ph type="pic" idx="2"/>
          </p:nvPr>
        </p:nvSpPr>
        <p:spPr>
          <a:xfrm>
            <a:off x="1765158" y="1616567"/>
            <a:ext cx="1945814" cy="4111559"/>
          </a:xfrm>
          <a:prstGeom prst="rect">
            <a:avLst/>
          </a:prstGeom>
          <a:solidFill>
            <a:srgbClr val="F2F2F2"/>
          </a:solidFill>
          <a:ln>
            <a:noFill/>
          </a:ln>
        </p:spPr>
      </p:sp>
      <p:sp>
        <p:nvSpPr>
          <p:cNvPr id="425" name="Google Shape;425;p292"/>
          <p:cNvSpPr>
            <a:spLocks noGrp="1"/>
          </p:cNvSpPr>
          <p:nvPr>
            <p:ph type="pic" idx="3"/>
          </p:nvPr>
        </p:nvSpPr>
        <p:spPr>
          <a:xfrm>
            <a:off x="5439218" y="1616567"/>
            <a:ext cx="1945814" cy="4111559"/>
          </a:xfrm>
          <a:prstGeom prst="rect">
            <a:avLst/>
          </a:prstGeom>
          <a:solidFill>
            <a:srgbClr val="F2F2F2"/>
          </a:solidFill>
          <a:ln>
            <a:noFill/>
          </a:ln>
        </p:spPr>
      </p:sp>
      <p:sp>
        <p:nvSpPr>
          <p:cNvPr id="426" name="Google Shape;426;p292"/>
          <p:cNvSpPr>
            <a:spLocks noGrp="1"/>
          </p:cNvSpPr>
          <p:nvPr>
            <p:ph type="pic" idx="4"/>
          </p:nvPr>
        </p:nvSpPr>
        <p:spPr>
          <a:xfrm>
            <a:off x="9235754" y="1616567"/>
            <a:ext cx="1945814" cy="4111559"/>
          </a:xfrm>
          <a:prstGeom prst="rect">
            <a:avLst/>
          </a:prstGeom>
          <a:solidFill>
            <a:srgbClr val="F2F2F2"/>
          </a:solidFill>
          <a:ln>
            <a:noFill/>
          </a:ln>
        </p:spPr>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25_slide">
  <p:cSld name="25_slide">
    <p:spTree>
      <p:nvGrpSpPr>
        <p:cNvPr id="1" name="Shape 427"/>
        <p:cNvGrpSpPr/>
        <p:nvPr/>
      </p:nvGrpSpPr>
      <p:grpSpPr>
        <a:xfrm>
          <a:off x="0" y="0"/>
          <a:ext cx="0" cy="0"/>
          <a:chOff x="0" y="0"/>
          <a:chExt cx="0" cy="0"/>
        </a:xfrm>
      </p:grpSpPr>
      <p:sp>
        <p:nvSpPr>
          <p:cNvPr id="428" name="Google Shape;428;p293"/>
          <p:cNvSpPr>
            <a:spLocks noGrp="1"/>
          </p:cNvSpPr>
          <p:nvPr>
            <p:ph type="pic" idx="2"/>
          </p:nvPr>
        </p:nvSpPr>
        <p:spPr>
          <a:xfrm>
            <a:off x="4833251" y="2099608"/>
            <a:ext cx="2528229" cy="3379817"/>
          </a:xfrm>
          <a:prstGeom prst="rect">
            <a:avLst/>
          </a:prstGeom>
          <a:solidFill>
            <a:srgbClr val="F2F2F2"/>
          </a:solidFill>
          <a:ln>
            <a:noFill/>
          </a:ln>
        </p:spPr>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26_slide">
  <p:cSld name="26_slide">
    <p:spTree>
      <p:nvGrpSpPr>
        <p:cNvPr id="1" name="Shape 429"/>
        <p:cNvGrpSpPr/>
        <p:nvPr/>
      </p:nvGrpSpPr>
      <p:grpSpPr>
        <a:xfrm>
          <a:off x="0" y="0"/>
          <a:ext cx="0" cy="0"/>
          <a:chOff x="0" y="0"/>
          <a:chExt cx="0" cy="0"/>
        </a:xfrm>
      </p:grpSpPr>
      <p:sp>
        <p:nvSpPr>
          <p:cNvPr id="430" name="Google Shape;430;p294"/>
          <p:cNvSpPr>
            <a:spLocks noGrp="1"/>
          </p:cNvSpPr>
          <p:nvPr>
            <p:ph type="pic" idx="2"/>
          </p:nvPr>
        </p:nvSpPr>
        <p:spPr>
          <a:xfrm>
            <a:off x="1449316" y="2114606"/>
            <a:ext cx="3626150" cy="2266340"/>
          </a:xfrm>
          <a:prstGeom prst="rect">
            <a:avLst/>
          </a:prstGeom>
          <a:solidFill>
            <a:srgbClr val="F2F2F2"/>
          </a:solidFill>
          <a:ln>
            <a:noFill/>
          </a:ln>
        </p:spPr>
      </p:sp>
      <p:sp>
        <p:nvSpPr>
          <p:cNvPr id="431" name="Google Shape;431;p294"/>
          <p:cNvSpPr>
            <a:spLocks noGrp="1"/>
          </p:cNvSpPr>
          <p:nvPr>
            <p:ph type="pic" idx="3"/>
          </p:nvPr>
        </p:nvSpPr>
        <p:spPr>
          <a:xfrm>
            <a:off x="7173347" y="2114606"/>
            <a:ext cx="3626150" cy="2266340"/>
          </a:xfrm>
          <a:prstGeom prst="rect">
            <a:avLst/>
          </a:prstGeom>
          <a:solidFill>
            <a:srgbClr val="F2F2F2"/>
          </a:solidFill>
          <a:ln>
            <a:noFill/>
          </a:ln>
        </p:spPr>
      </p:sp>
      <p:sp>
        <p:nvSpPr>
          <p:cNvPr id="432" name="Google Shape;432;p294"/>
          <p:cNvSpPr>
            <a:spLocks noGrp="1"/>
          </p:cNvSpPr>
          <p:nvPr>
            <p:ph type="pic" idx="4"/>
          </p:nvPr>
        </p:nvSpPr>
        <p:spPr>
          <a:xfrm>
            <a:off x="3825346" y="1769693"/>
            <a:ext cx="4586924" cy="2866822"/>
          </a:xfrm>
          <a:prstGeom prst="rect">
            <a:avLst/>
          </a:prstGeom>
          <a:solidFill>
            <a:srgbClr val="F2F2F2"/>
          </a:solidFill>
          <a:ln>
            <a:noFill/>
          </a:ln>
        </p:spPr>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27_slide">
  <p:cSld name="27_slide">
    <p:spTree>
      <p:nvGrpSpPr>
        <p:cNvPr id="1" name="Shape 433"/>
        <p:cNvGrpSpPr/>
        <p:nvPr/>
      </p:nvGrpSpPr>
      <p:grpSpPr>
        <a:xfrm>
          <a:off x="0" y="0"/>
          <a:ext cx="0" cy="0"/>
          <a:chOff x="0" y="0"/>
          <a:chExt cx="0" cy="0"/>
        </a:xfrm>
      </p:grpSpPr>
      <p:sp>
        <p:nvSpPr>
          <p:cNvPr id="434" name="Google Shape;434;p295"/>
          <p:cNvSpPr>
            <a:spLocks noGrp="1"/>
          </p:cNvSpPr>
          <p:nvPr>
            <p:ph type="pic" idx="2"/>
          </p:nvPr>
        </p:nvSpPr>
        <p:spPr>
          <a:xfrm>
            <a:off x="1471886" y="1651649"/>
            <a:ext cx="1945814" cy="4111559"/>
          </a:xfrm>
          <a:prstGeom prst="rect">
            <a:avLst/>
          </a:prstGeom>
          <a:solidFill>
            <a:srgbClr val="F2F2F2"/>
          </a:solid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28_slide">
  <p:cSld name="28_slide">
    <p:spTree>
      <p:nvGrpSpPr>
        <p:cNvPr id="1" name="Shape 435"/>
        <p:cNvGrpSpPr/>
        <p:nvPr/>
      </p:nvGrpSpPr>
      <p:grpSpPr>
        <a:xfrm>
          <a:off x="0" y="0"/>
          <a:ext cx="0" cy="0"/>
          <a:chOff x="0" y="0"/>
          <a:chExt cx="0" cy="0"/>
        </a:xfrm>
      </p:grpSpPr>
      <p:sp>
        <p:nvSpPr>
          <p:cNvPr id="436" name="Google Shape;436;p296"/>
          <p:cNvSpPr>
            <a:spLocks noGrp="1"/>
          </p:cNvSpPr>
          <p:nvPr>
            <p:ph type="pic" idx="2"/>
          </p:nvPr>
        </p:nvSpPr>
        <p:spPr>
          <a:xfrm>
            <a:off x="-199169" y="2432304"/>
            <a:ext cx="12590339" cy="4599867"/>
          </a:xfrm>
          <a:prstGeom prst="rect">
            <a:avLst/>
          </a:prstGeom>
          <a:solidFill>
            <a:srgbClr val="F2F2F2"/>
          </a:solidFill>
          <a:ln>
            <a:noFill/>
          </a:ln>
        </p:spPr>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3_Image Layout">
  <p:cSld name="3_Image Layout">
    <p:spTree>
      <p:nvGrpSpPr>
        <p:cNvPr id="1" name="Shape 437"/>
        <p:cNvGrpSpPr/>
        <p:nvPr/>
      </p:nvGrpSpPr>
      <p:grpSpPr>
        <a:xfrm>
          <a:off x="0" y="0"/>
          <a:ext cx="0" cy="0"/>
          <a:chOff x="0" y="0"/>
          <a:chExt cx="0" cy="0"/>
        </a:xfrm>
      </p:grpSpPr>
      <p:sp>
        <p:nvSpPr>
          <p:cNvPr id="438" name="Google Shape;438;p297"/>
          <p:cNvSpPr>
            <a:spLocks noGrp="1"/>
          </p:cNvSpPr>
          <p:nvPr>
            <p:ph type="pic" idx="2"/>
          </p:nvPr>
        </p:nvSpPr>
        <p:spPr>
          <a:xfrm>
            <a:off x="6480636" y="1431517"/>
            <a:ext cx="3994966" cy="3994966"/>
          </a:xfrm>
          <a:prstGeom prst="rect">
            <a:avLst/>
          </a:prstGeom>
          <a:solidFill>
            <a:srgbClr val="F2F2F2"/>
          </a:solidFill>
          <a:ln>
            <a:noFill/>
          </a:ln>
        </p:spPr>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Images and Contents Layout">
  <p:cSld name="Images and Contents Layout">
    <p:spTree>
      <p:nvGrpSpPr>
        <p:cNvPr id="1" name="Shape 439"/>
        <p:cNvGrpSpPr/>
        <p:nvPr/>
      </p:nvGrpSpPr>
      <p:grpSpPr>
        <a:xfrm>
          <a:off x="0" y="0"/>
          <a:ext cx="0" cy="0"/>
          <a:chOff x="0" y="0"/>
          <a:chExt cx="0" cy="0"/>
        </a:xfrm>
      </p:grpSpPr>
      <p:sp>
        <p:nvSpPr>
          <p:cNvPr id="440" name="Google Shape;440;p298"/>
          <p:cNvSpPr>
            <a:spLocks noGrp="1"/>
          </p:cNvSpPr>
          <p:nvPr>
            <p:ph type="pic" idx="2"/>
          </p:nvPr>
        </p:nvSpPr>
        <p:spPr>
          <a:xfrm>
            <a:off x="0" y="-1"/>
            <a:ext cx="12192000" cy="6857999"/>
          </a:xfrm>
          <a:prstGeom prst="rect">
            <a:avLst/>
          </a:prstGeom>
          <a:solidFill>
            <a:srgbClr val="F2F2F2"/>
          </a:solidFill>
          <a:ln>
            <a:noFill/>
          </a:ln>
        </p:spPr>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1_Images and Contents Layout">
  <p:cSld name="1_Images and Contents Layout">
    <p:spTree>
      <p:nvGrpSpPr>
        <p:cNvPr id="1" name="Shape 441"/>
        <p:cNvGrpSpPr/>
        <p:nvPr/>
      </p:nvGrpSpPr>
      <p:grpSpPr>
        <a:xfrm>
          <a:off x="0" y="0"/>
          <a:ext cx="0" cy="0"/>
          <a:chOff x="0" y="0"/>
          <a:chExt cx="0" cy="0"/>
        </a:xfrm>
      </p:grpSpPr>
      <p:sp>
        <p:nvSpPr>
          <p:cNvPr id="442" name="Google Shape;442;p299"/>
          <p:cNvSpPr>
            <a:spLocks noGrp="1"/>
          </p:cNvSpPr>
          <p:nvPr>
            <p:ph type="pic" idx="2"/>
          </p:nvPr>
        </p:nvSpPr>
        <p:spPr>
          <a:xfrm>
            <a:off x="0" y="2948947"/>
            <a:ext cx="12192000" cy="3909054"/>
          </a:xfrm>
          <a:prstGeom prst="rect">
            <a:avLst/>
          </a:prstGeom>
          <a:solidFill>
            <a:srgbClr val="D8D8D8"/>
          </a:solid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29_Slide">
  <p:cSld name="29_Slide">
    <p:spTree>
      <p:nvGrpSpPr>
        <p:cNvPr id="1" name="Shape 443"/>
        <p:cNvGrpSpPr/>
        <p:nvPr/>
      </p:nvGrpSpPr>
      <p:grpSpPr>
        <a:xfrm>
          <a:off x="0" y="0"/>
          <a:ext cx="0" cy="0"/>
          <a:chOff x="0" y="0"/>
          <a:chExt cx="0" cy="0"/>
        </a:xfrm>
      </p:grpSpPr>
      <p:sp>
        <p:nvSpPr>
          <p:cNvPr id="444" name="Google Shape;444;p300"/>
          <p:cNvSpPr>
            <a:spLocks noGrp="1"/>
          </p:cNvSpPr>
          <p:nvPr>
            <p:ph type="pic" idx="2"/>
          </p:nvPr>
        </p:nvSpPr>
        <p:spPr>
          <a:xfrm>
            <a:off x="569787" y="565907"/>
            <a:ext cx="6765611" cy="5726187"/>
          </a:xfrm>
          <a:prstGeom prst="rect">
            <a:avLst/>
          </a:prstGeom>
          <a:solidFill>
            <a:srgbClr val="F2F2F2"/>
          </a:solidFill>
          <a:ln>
            <a:noFill/>
          </a:ln>
        </p:spPr>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31_Slide">
  <p:cSld name="31_Slide">
    <p:spTree>
      <p:nvGrpSpPr>
        <p:cNvPr id="1" name="Shape 445"/>
        <p:cNvGrpSpPr/>
        <p:nvPr/>
      </p:nvGrpSpPr>
      <p:grpSpPr>
        <a:xfrm>
          <a:off x="0" y="0"/>
          <a:ext cx="0" cy="0"/>
          <a:chOff x="0" y="0"/>
          <a:chExt cx="0" cy="0"/>
        </a:xfrm>
      </p:grpSpPr>
      <p:sp>
        <p:nvSpPr>
          <p:cNvPr id="446" name="Google Shape;446;p301"/>
          <p:cNvSpPr>
            <a:spLocks noGrp="1"/>
          </p:cNvSpPr>
          <p:nvPr>
            <p:ph type="pic" idx="2"/>
          </p:nvPr>
        </p:nvSpPr>
        <p:spPr>
          <a:xfrm>
            <a:off x="0" y="-1"/>
            <a:ext cx="6095999" cy="6858000"/>
          </a:xfrm>
          <a:prstGeom prst="rect">
            <a:avLst/>
          </a:prstGeom>
          <a:solidFill>
            <a:srgbClr val="F2F2F2"/>
          </a:solidFill>
          <a:ln>
            <a:noFill/>
          </a:ln>
        </p:spPr>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32_Slide">
  <p:cSld name="32_Slide">
    <p:spTree>
      <p:nvGrpSpPr>
        <p:cNvPr id="1" name="Shape 447"/>
        <p:cNvGrpSpPr/>
        <p:nvPr/>
      </p:nvGrpSpPr>
      <p:grpSpPr>
        <a:xfrm>
          <a:off x="0" y="0"/>
          <a:ext cx="0" cy="0"/>
          <a:chOff x="0" y="0"/>
          <a:chExt cx="0" cy="0"/>
        </a:xfrm>
      </p:grpSpPr>
      <p:sp>
        <p:nvSpPr>
          <p:cNvPr id="448" name="Google Shape;448;p302"/>
          <p:cNvSpPr>
            <a:spLocks noGrp="1"/>
          </p:cNvSpPr>
          <p:nvPr>
            <p:ph type="pic" idx="2"/>
          </p:nvPr>
        </p:nvSpPr>
        <p:spPr>
          <a:xfrm>
            <a:off x="5706881" y="1715985"/>
            <a:ext cx="6675913" cy="3426030"/>
          </a:xfrm>
          <a:prstGeom prst="rect">
            <a:avLst/>
          </a:prstGeom>
          <a:solidFill>
            <a:srgbClr val="F2F2F2"/>
          </a:solid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2_Full Image">
  <p:cSld name="2_Full Image">
    <p:spTree>
      <p:nvGrpSpPr>
        <p:cNvPr id="1" name="Shape 449"/>
        <p:cNvGrpSpPr/>
        <p:nvPr/>
      </p:nvGrpSpPr>
      <p:grpSpPr>
        <a:xfrm>
          <a:off x="0" y="0"/>
          <a:ext cx="0" cy="0"/>
          <a:chOff x="0" y="0"/>
          <a:chExt cx="0" cy="0"/>
        </a:xfrm>
      </p:grpSpPr>
      <p:sp>
        <p:nvSpPr>
          <p:cNvPr id="450" name="Google Shape;450;p303"/>
          <p:cNvSpPr>
            <a:spLocks noGrp="1"/>
          </p:cNvSpPr>
          <p:nvPr>
            <p:ph type="pic" idx="2"/>
          </p:nvPr>
        </p:nvSpPr>
        <p:spPr>
          <a:xfrm>
            <a:off x="0" y="-1"/>
            <a:ext cx="12192000" cy="3429001"/>
          </a:xfrm>
          <a:prstGeom prst="rect">
            <a:avLst/>
          </a:prstGeom>
          <a:solidFill>
            <a:srgbClr val="F2F2F2"/>
          </a:solidFill>
          <a:ln>
            <a:noFill/>
          </a:ln>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9" Type="http://schemas.openxmlformats.org/officeDocument/2006/relationships/theme" Target="../theme/theme2.xml"/><Relationship Id="rId38" Type="http://schemas.openxmlformats.org/officeDocument/2006/relationships/image" Target="../media/image1.png"/><Relationship Id="rId37" Type="http://schemas.openxmlformats.org/officeDocument/2006/relationships/slideLayout" Target="../slideLayouts/slideLayout51.xml"/><Relationship Id="rId36" Type="http://schemas.openxmlformats.org/officeDocument/2006/relationships/slideLayout" Target="../slideLayouts/slideLayout50.xml"/><Relationship Id="rId35" Type="http://schemas.openxmlformats.org/officeDocument/2006/relationships/slideLayout" Target="../slideLayouts/slideLayout49.xml"/><Relationship Id="rId34" Type="http://schemas.openxmlformats.org/officeDocument/2006/relationships/slideLayout" Target="../slideLayouts/slideLayout48.xml"/><Relationship Id="rId33" Type="http://schemas.openxmlformats.org/officeDocument/2006/relationships/slideLayout" Target="../slideLayouts/slideLayout47.xml"/><Relationship Id="rId32" Type="http://schemas.openxmlformats.org/officeDocument/2006/relationships/slideLayout" Target="../slideLayouts/slideLayout46.xml"/><Relationship Id="rId31" Type="http://schemas.openxmlformats.org/officeDocument/2006/relationships/slideLayout" Target="../slideLayouts/slideLayout45.xml"/><Relationship Id="rId30" Type="http://schemas.openxmlformats.org/officeDocument/2006/relationships/slideLayout" Target="../slideLayouts/slideLayout44.xml"/><Relationship Id="rId3" Type="http://schemas.openxmlformats.org/officeDocument/2006/relationships/slideLayout" Target="../slideLayouts/slideLayout17.xml"/><Relationship Id="rId29" Type="http://schemas.openxmlformats.org/officeDocument/2006/relationships/slideLayout" Target="../slideLayouts/slideLayout43.xml"/><Relationship Id="rId28" Type="http://schemas.openxmlformats.org/officeDocument/2006/relationships/slideLayout" Target="../slideLayouts/slideLayout42.xml"/><Relationship Id="rId27" Type="http://schemas.openxmlformats.org/officeDocument/2006/relationships/slideLayout" Target="../slideLayouts/slideLayout41.xml"/><Relationship Id="rId26" Type="http://schemas.openxmlformats.org/officeDocument/2006/relationships/slideLayout" Target="../slideLayouts/slideLayout40.xml"/><Relationship Id="rId25" Type="http://schemas.openxmlformats.org/officeDocument/2006/relationships/slideLayout" Target="../slideLayouts/slideLayout39.xml"/><Relationship Id="rId24" Type="http://schemas.openxmlformats.org/officeDocument/2006/relationships/slideLayout" Target="../slideLayouts/slideLayout38.xml"/><Relationship Id="rId23" Type="http://schemas.openxmlformats.org/officeDocument/2006/relationships/slideLayout" Target="../slideLayouts/slideLayout37.xml"/><Relationship Id="rId22" Type="http://schemas.openxmlformats.org/officeDocument/2006/relationships/slideLayout" Target="../slideLayouts/slideLayout36.xml"/><Relationship Id="rId21" Type="http://schemas.openxmlformats.org/officeDocument/2006/relationships/slideLayout" Target="../slideLayouts/slideLayout35.xml"/><Relationship Id="rId20" Type="http://schemas.openxmlformats.org/officeDocument/2006/relationships/slideLayout" Target="../slideLayouts/slideLayout34.xml"/><Relationship Id="rId2" Type="http://schemas.openxmlformats.org/officeDocument/2006/relationships/slideLayout" Target="../slideLayouts/slideLayout16.xml"/><Relationship Id="rId19" Type="http://schemas.openxmlformats.org/officeDocument/2006/relationships/slideLayout" Target="../slideLayouts/slideLayout33.xml"/><Relationship Id="rId18" Type="http://schemas.openxmlformats.org/officeDocument/2006/relationships/slideLayout" Target="../slideLayouts/slideLayout32.xml"/><Relationship Id="rId17" Type="http://schemas.openxmlformats.org/officeDocument/2006/relationships/slideLayout" Target="../slideLayouts/slideLayout31.xml"/><Relationship Id="rId16" Type="http://schemas.openxmlformats.org/officeDocument/2006/relationships/slideLayout" Target="../slideLayouts/slideLayout30.xml"/><Relationship Id="rId15" Type="http://schemas.openxmlformats.org/officeDocument/2006/relationships/slideLayout" Target="../slideLayouts/slideLayout29.xml"/><Relationship Id="rId14" Type="http://schemas.openxmlformats.org/officeDocument/2006/relationships/slideLayout" Target="../slideLayouts/slideLayout28.xml"/><Relationship Id="rId13" Type="http://schemas.openxmlformats.org/officeDocument/2006/relationships/slideLayout" Target="../slideLayouts/slideLayout27.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60.xml"/><Relationship Id="rId8" Type="http://schemas.openxmlformats.org/officeDocument/2006/relationships/slideLayout" Target="../slideLayouts/slideLayout59.xml"/><Relationship Id="rId7" Type="http://schemas.openxmlformats.org/officeDocument/2006/relationships/slideLayout" Target="../slideLayouts/slideLayout58.xml"/><Relationship Id="rId6" Type="http://schemas.openxmlformats.org/officeDocument/2006/relationships/slideLayout" Target="../slideLayouts/slideLayout57.xml"/><Relationship Id="rId5" Type="http://schemas.openxmlformats.org/officeDocument/2006/relationships/slideLayout" Target="../slideLayouts/slideLayout56.xml"/><Relationship Id="rId40" Type="http://schemas.openxmlformats.org/officeDocument/2006/relationships/theme" Target="../theme/theme3.xml"/><Relationship Id="rId4" Type="http://schemas.openxmlformats.org/officeDocument/2006/relationships/slideLayout" Target="../slideLayouts/slideLayout55.xml"/><Relationship Id="rId39" Type="http://schemas.openxmlformats.org/officeDocument/2006/relationships/slideLayout" Target="../slideLayouts/slideLayout90.xml"/><Relationship Id="rId38" Type="http://schemas.openxmlformats.org/officeDocument/2006/relationships/slideLayout" Target="../slideLayouts/slideLayout89.xml"/><Relationship Id="rId37" Type="http://schemas.openxmlformats.org/officeDocument/2006/relationships/slideLayout" Target="../slideLayouts/slideLayout88.xml"/><Relationship Id="rId36" Type="http://schemas.openxmlformats.org/officeDocument/2006/relationships/slideLayout" Target="../slideLayouts/slideLayout87.xml"/><Relationship Id="rId35" Type="http://schemas.openxmlformats.org/officeDocument/2006/relationships/slideLayout" Target="../slideLayouts/slideLayout86.xml"/><Relationship Id="rId34" Type="http://schemas.openxmlformats.org/officeDocument/2006/relationships/slideLayout" Target="../slideLayouts/slideLayout85.xml"/><Relationship Id="rId33" Type="http://schemas.openxmlformats.org/officeDocument/2006/relationships/slideLayout" Target="../slideLayouts/slideLayout84.xml"/><Relationship Id="rId32" Type="http://schemas.openxmlformats.org/officeDocument/2006/relationships/slideLayout" Target="../slideLayouts/slideLayout83.xml"/><Relationship Id="rId31" Type="http://schemas.openxmlformats.org/officeDocument/2006/relationships/slideLayout" Target="../slideLayouts/slideLayout82.xml"/><Relationship Id="rId30" Type="http://schemas.openxmlformats.org/officeDocument/2006/relationships/slideLayout" Target="../slideLayouts/slideLayout81.xml"/><Relationship Id="rId3" Type="http://schemas.openxmlformats.org/officeDocument/2006/relationships/slideLayout" Target="../slideLayouts/slideLayout54.xml"/><Relationship Id="rId29" Type="http://schemas.openxmlformats.org/officeDocument/2006/relationships/slideLayout" Target="../slideLayouts/slideLayout80.xml"/><Relationship Id="rId28" Type="http://schemas.openxmlformats.org/officeDocument/2006/relationships/slideLayout" Target="../slideLayouts/slideLayout79.xml"/><Relationship Id="rId27" Type="http://schemas.openxmlformats.org/officeDocument/2006/relationships/slideLayout" Target="../slideLayouts/slideLayout78.xml"/><Relationship Id="rId26" Type="http://schemas.openxmlformats.org/officeDocument/2006/relationships/slideLayout" Target="../slideLayouts/slideLayout77.xml"/><Relationship Id="rId25" Type="http://schemas.openxmlformats.org/officeDocument/2006/relationships/slideLayout" Target="../slideLayouts/slideLayout76.xml"/><Relationship Id="rId24" Type="http://schemas.openxmlformats.org/officeDocument/2006/relationships/slideLayout" Target="../slideLayouts/slideLayout75.xml"/><Relationship Id="rId23" Type="http://schemas.openxmlformats.org/officeDocument/2006/relationships/slideLayout" Target="../slideLayouts/slideLayout74.xml"/><Relationship Id="rId22" Type="http://schemas.openxmlformats.org/officeDocument/2006/relationships/slideLayout" Target="../slideLayouts/slideLayout73.xml"/><Relationship Id="rId21" Type="http://schemas.openxmlformats.org/officeDocument/2006/relationships/slideLayout" Target="../slideLayouts/slideLayout72.xml"/><Relationship Id="rId20" Type="http://schemas.openxmlformats.org/officeDocument/2006/relationships/slideLayout" Target="../slideLayouts/slideLayout71.xml"/><Relationship Id="rId2" Type="http://schemas.openxmlformats.org/officeDocument/2006/relationships/slideLayout" Target="../slideLayouts/slideLayout53.xml"/><Relationship Id="rId19" Type="http://schemas.openxmlformats.org/officeDocument/2006/relationships/slideLayout" Target="../slideLayouts/slideLayout70.xml"/><Relationship Id="rId18" Type="http://schemas.openxmlformats.org/officeDocument/2006/relationships/slideLayout" Target="../slideLayouts/slideLayout69.xml"/><Relationship Id="rId17" Type="http://schemas.openxmlformats.org/officeDocument/2006/relationships/slideLayout" Target="../slideLayouts/slideLayout68.xml"/><Relationship Id="rId16" Type="http://schemas.openxmlformats.org/officeDocument/2006/relationships/slideLayout" Target="../slideLayouts/slideLayout67.xml"/><Relationship Id="rId15" Type="http://schemas.openxmlformats.org/officeDocument/2006/relationships/slideLayout" Target="../slideLayouts/slideLayout66.xml"/><Relationship Id="rId14" Type="http://schemas.openxmlformats.org/officeDocument/2006/relationships/slideLayout" Target="../slideLayouts/slideLayout65.xml"/><Relationship Id="rId13" Type="http://schemas.openxmlformats.org/officeDocument/2006/relationships/slideLayout" Target="../slideLayouts/slideLayout64.xml"/><Relationship Id="rId12" Type="http://schemas.openxmlformats.org/officeDocument/2006/relationships/slideLayout" Target="../slideLayouts/slideLayout63.xml"/><Relationship Id="rId11" Type="http://schemas.openxmlformats.org/officeDocument/2006/relationships/slideLayout" Target="../slideLayouts/slideLayout62.xml"/><Relationship Id="rId10" Type="http://schemas.openxmlformats.org/officeDocument/2006/relationships/slideLayout" Target="../slideLayouts/slideLayout61.xml"/><Relationship Id="rId1"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4"/>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24"/>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12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3" name="Google Shape;13;p124"/>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4" name="Google Shape;14;p12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15" name="Google Shape;15;p124"/>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US" sz="1000" b="0" i="0" u="none" strike="noStrike" cap="none">
                <a:solidFill>
                  <a:schemeClr val="lt1"/>
                </a:solidFill>
                <a:latin typeface="Roboto" panose="02000000000000000000"/>
                <a:ea typeface="Roboto" panose="02000000000000000000"/>
                <a:cs typeface="Roboto" panose="02000000000000000000"/>
                <a:sym typeface="Roboto" panose="02000000000000000000"/>
              </a:rPr>
            </a:fld>
            <a:r>
              <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rPr>
              <a:t>  </a:t>
            </a:r>
            <a:endParaRPr lang="en-US" sz="1000" b="1" i="0" u="none" strike="noStrike" cap="none">
              <a:solidFill>
                <a:schemeClr val="lt1"/>
              </a:solidFill>
              <a:latin typeface="Montserrat" panose="00000500000000000000"/>
              <a:ea typeface="Montserrat" panose="00000500000000000000"/>
              <a:cs typeface="Montserrat" panose="00000500000000000000"/>
              <a:sym typeface="Montserrat" panose="00000500000000000000"/>
            </a:endParaRPr>
          </a:p>
        </p:txBody>
      </p:sp>
      <p:pic>
        <p:nvPicPr>
          <p:cNvPr id="16" name="Google Shape;16;p124"/>
          <p:cNvPicPr preferRelativeResize="0"/>
          <p:nvPr/>
        </p:nvPicPr>
        <p:blipFill rotWithShape="1">
          <a:blip r:embed="rId38"/>
          <a:srcRect/>
          <a:stretch>
            <a:fillRect/>
          </a:stretch>
        </p:blipFill>
        <p:spPr>
          <a:xfrm>
            <a:off x="9889776" y="513944"/>
            <a:ext cx="2026596" cy="61194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 id="2147483678" r:id="rId15"/>
    <p:sldLayoutId id="2147483679" r:id="rId16"/>
    <p:sldLayoutId id="2147483680" r:id="rId17"/>
    <p:sldLayoutId id="2147483681" r:id="rId18"/>
    <p:sldLayoutId id="2147483682" r:id="rId19"/>
    <p:sldLayoutId id="2147483683" r:id="rId20"/>
    <p:sldLayoutId id="2147483684" r:id="rId21"/>
    <p:sldLayoutId id="2147483685" r:id="rId22"/>
    <p:sldLayoutId id="2147483686" r:id="rId23"/>
    <p:sldLayoutId id="2147483687" r:id="rId24"/>
    <p:sldLayoutId id="2147483688" r:id="rId25"/>
    <p:sldLayoutId id="2147483689" r:id="rId26"/>
    <p:sldLayoutId id="2147483690" r:id="rId27"/>
    <p:sldLayoutId id="2147483691" r:id="rId28"/>
    <p:sldLayoutId id="2147483692" r:id="rId29"/>
    <p:sldLayoutId id="2147483693" r:id="rId30"/>
    <p:sldLayoutId id="2147483694" r:id="rId31"/>
    <p:sldLayoutId id="2147483695" r:id="rId32"/>
    <p:sldLayoutId id="2147483696" r:id="rId33"/>
    <p:sldLayoutId id="2147483697" r:id="rId34"/>
    <p:sldLayoutId id="2147483698" r:id="rId35"/>
    <p:sldLayoutId id="2147483699" r:id="rId36"/>
    <p:sldLayoutId id="2147483700" r:id="rId3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20"/>
        <p:cNvGrpSpPr/>
        <p:nvPr/>
      </p:nvGrpSpPr>
      <p:grpSpPr>
        <a:xfrm>
          <a:off x="0" y="0"/>
          <a:ext cx="0" cy="0"/>
          <a:chOff x="0" y="0"/>
          <a:chExt cx="0" cy="0"/>
        </a:xfrm>
      </p:grpSpPr>
      <p:sp>
        <p:nvSpPr>
          <p:cNvPr id="321" name="Google Shape;321;p136"/>
          <p:cNvSpPr txBox="1">
            <a:spLocks noGrp="1"/>
          </p:cNvSpPr>
          <p:nvPr>
            <p:ph type="title"/>
          </p:nvPr>
        </p:nvSpPr>
        <p:spPr>
          <a:xfrm>
            <a:off x="838201" y="365126"/>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Arial" panose="020B0604020202020204"/>
              <a:buNone/>
              <a:defRPr sz="44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2" name="Google Shape;322;p136"/>
          <p:cNvSpPr txBox="1">
            <a:spLocks noGrp="1"/>
          </p:cNvSpPr>
          <p:nvPr>
            <p:ph type="body" idx="1"/>
          </p:nvPr>
        </p:nvSpPr>
        <p:spPr>
          <a:xfrm>
            <a:off x="838201"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90000"/>
              </a:lnSpc>
              <a:spcBef>
                <a:spcPts val="1000"/>
              </a:spcBef>
              <a:spcAft>
                <a:spcPts val="0"/>
              </a:spcAft>
              <a:buClr>
                <a:schemeClr val="dk1"/>
              </a:buClr>
              <a:buSzPts val="2800"/>
              <a:buFont typeface="Arial" panose="020B0604020202020204"/>
              <a:buNone/>
              <a:defRPr sz="28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228600" algn="l" rtl="0">
              <a:lnSpc>
                <a:spcPct val="90000"/>
              </a:lnSpc>
              <a:spcBef>
                <a:spcPts val="500"/>
              </a:spcBef>
              <a:spcAft>
                <a:spcPts val="0"/>
              </a:spcAft>
              <a:buClr>
                <a:schemeClr val="dk1"/>
              </a:buClr>
              <a:buSzPts val="2400"/>
              <a:buFont typeface="Arial" panose="020B0604020202020204"/>
              <a:buNone/>
              <a:defRPr sz="2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228600" algn="l" rtl="0">
              <a:lnSpc>
                <a:spcPct val="90000"/>
              </a:lnSpc>
              <a:spcBef>
                <a:spcPts val="500"/>
              </a:spcBef>
              <a:spcAft>
                <a:spcPts val="0"/>
              </a:spcAft>
              <a:buClr>
                <a:schemeClr val="dk1"/>
              </a:buClr>
              <a:buSzPts val="2000"/>
              <a:buFont typeface="Arial" panose="020B0604020202020204"/>
              <a:buNone/>
              <a:defRPr sz="20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228600" algn="l" rtl="0">
              <a:lnSpc>
                <a:spcPct val="90000"/>
              </a:lnSpc>
              <a:spcBef>
                <a:spcPts val="500"/>
              </a:spcBef>
              <a:spcAft>
                <a:spcPts val="0"/>
              </a:spcAft>
              <a:buClr>
                <a:schemeClr val="dk1"/>
              </a:buClr>
              <a:buSzPts val="1800"/>
              <a:buFont typeface="Arial" panose="020B0604020202020204"/>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23" name="Google Shape;323;p136"/>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24" name="Google Shape;324;p136"/>
          <p:cNvSpPr txBox="1">
            <a:spLocks noGrp="1"/>
          </p:cNvSpPr>
          <p:nvPr>
            <p:ph type="ftr" idx="11"/>
          </p:nvPr>
        </p:nvSpPr>
        <p:spPr>
          <a:xfrm>
            <a:off x="4038601" y="6356351"/>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325" name="Google Shape;325;p136"/>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1200">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en-US"/>
            </a:fld>
            <a:endParaRPr lang="en-US"/>
          </a:p>
        </p:txBody>
      </p:sp>
      <p:sp>
        <p:nvSpPr>
          <p:cNvPr id="326" name="Google Shape;326;p136"/>
          <p:cNvSpPr txBox="1"/>
          <p:nvPr/>
        </p:nvSpPr>
        <p:spPr>
          <a:xfrm>
            <a:off x="11829114" y="305271"/>
            <a:ext cx="304726" cy="400091"/>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fld id="{00000000-1234-1234-1234-123412341234}" type="slidenum">
              <a:rPr lang="en-US" sz="1000" b="0" i="0">
                <a:solidFill>
                  <a:schemeClr val="lt1"/>
                </a:solidFill>
                <a:latin typeface="Roboto" panose="02000000000000000000"/>
                <a:ea typeface="Roboto" panose="02000000000000000000"/>
                <a:cs typeface="Roboto" panose="02000000000000000000"/>
                <a:sym typeface="Roboto" panose="02000000000000000000"/>
              </a:rPr>
            </a:fld>
            <a:r>
              <a:rPr lang="en-US" sz="1000" b="1" i="0">
                <a:solidFill>
                  <a:schemeClr val="lt1"/>
                </a:solidFill>
                <a:latin typeface="Montserrat" panose="00000500000000000000"/>
                <a:ea typeface="Montserrat" panose="00000500000000000000"/>
                <a:cs typeface="Montserrat" panose="00000500000000000000"/>
                <a:sym typeface="Montserrat" panose="00000500000000000000"/>
              </a:rPr>
              <a:t>  </a:t>
            </a:r>
            <a:endParaRPr lang="en-US" sz="1000" b="1" i="0">
              <a:solidFill>
                <a:schemeClr val="lt1"/>
              </a:solidFill>
              <a:latin typeface="Montserrat" panose="00000500000000000000"/>
              <a:ea typeface="Montserrat" panose="00000500000000000000"/>
              <a:cs typeface="Montserrat" panose="00000500000000000000"/>
              <a:sym typeface="Montserrat" panose="00000500000000000000"/>
            </a:endParaRPr>
          </a:p>
        </p:txBody>
      </p:sp>
    </p:spTree>
  </p:cSld>
  <p:clrMap bg1="lt1" tx1="dk1" bg2="dk2" tx2="lt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6.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6.png"/><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8.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8.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5.xml"/><Relationship Id="rId2" Type="http://schemas.openxmlformats.org/officeDocument/2006/relationships/image" Target="../media/image12.png"/><Relationship Id="rId1" Type="http://schemas.openxmlformats.org/officeDocument/2006/relationships/image" Target="../media/image11.png"/></Relationships>
</file>

<file path=ppt/slides/_rels/slide20.xml.rels><?xml version="1.0" encoding="UTF-8" standalone="yes"?>
<Relationships xmlns="http://schemas.openxmlformats.org/package/2006/relationships"><Relationship Id="rId6" Type="http://schemas.openxmlformats.org/officeDocument/2006/relationships/slideLayout" Target="../slideLayouts/slideLayout53.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tags" Target="../tags/tag2.xml"/></Relationships>
</file>

<file path=ppt/slides/_rels/slide24.xml.rels><?xml version="1.0" encoding="UTF-8" standalone="yes"?>
<Relationships xmlns="http://schemas.openxmlformats.org/package/2006/relationships"><Relationship Id="rId9" Type="http://schemas.openxmlformats.org/officeDocument/2006/relationships/tags" Target="../tags/tag11.xml"/><Relationship Id="rId8" Type="http://schemas.openxmlformats.org/officeDocument/2006/relationships/tags" Target="../tags/tag10.xml"/><Relationship Id="rId7" Type="http://schemas.openxmlformats.org/officeDocument/2006/relationships/tags" Target="../tags/tag9.xml"/><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5" Type="http://schemas.openxmlformats.org/officeDocument/2006/relationships/slideLayout" Target="../slideLayouts/slideLayout18.xml"/><Relationship Id="rId14" Type="http://schemas.openxmlformats.org/officeDocument/2006/relationships/tags" Target="../tags/tag16.xml"/><Relationship Id="rId13" Type="http://schemas.openxmlformats.org/officeDocument/2006/relationships/tags" Target="../tags/tag15.xml"/><Relationship Id="rId12" Type="http://schemas.openxmlformats.org/officeDocument/2006/relationships/tags" Target="../tags/tag14.xml"/><Relationship Id="rId11" Type="http://schemas.openxmlformats.org/officeDocument/2006/relationships/tags" Target="../tags/tag13.xml"/><Relationship Id="rId10" Type="http://schemas.openxmlformats.org/officeDocument/2006/relationships/tags" Target="../tags/tag12.xml"/><Relationship Id="rId1" Type="http://schemas.openxmlformats.org/officeDocument/2006/relationships/tags" Target="../tags/tag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tags" Target="../tags/tag1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8.xml"/><Relationship Id="rId2" Type="http://schemas.openxmlformats.org/officeDocument/2006/relationships/image" Target="../media/image15.png"/><Relationship Id="rId1" Type="http://schemas.openxmlformats.org/officeDocument/2006/relationships/image" Target="../media/image14.png"/></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8.xml"/><Relationship Id="rId2" Type="http://schemas.openxmlformats.org/officeDocument/2006/relationships/image" Target="../media/image17.png"/><Relationship Id="rId1" Type="http://schemas.openxmlformats.org/officeDocument/2006/relationships/image" Target="../media/image16.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8.xml"/><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8.xml"/><Relationship Id="rId2" Type="http://schemas.openxmlformats.org/officeDocument/2006/relationships/image" Target="../media/image21.png"/><Relationship Id="rId1"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8.xml"/><Relationship Id="rId1" Type="http://schemas.openxmlformats.org/officeDocument/2006/relationships/image" Target="../media/image22.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23.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47.xml"/><Relationship Id="rId4" Type="http://schemas.openxmlformats.org/officeDocument/2006/relationships/hyperlink" Target="https://imarticus.org/" TargetMode="External"/><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sz="quarter" idx="14"/>
          </p:nvPr>
        </p:nvPicPr>
        <p:blipFill rotWithShape="1">
          <a:blip r:embed="rId1" cstate="email"/>
          <a:srcRect/>
          <a:stretch>
            <a:fillRect/>
          </a:stretch>
        </p:blipFill>
        <p:spPr>
          <a:xfrm>
            <a:off x="1588" y="1"/>
            <a:ext cx="12190412" cy="6858000"/>
          </a:xfrm>
          <a:prstGeom prst="rect">
            <a:avLst/>
          </a:prstGeom>
        </p:spPr>
      </p:pic>
      <p:sp>
        <p:nvSpPr>
          <p:cNvPr id="13" name="Rectangle 12"/>
          <p:cNvSpPr/>
          <p:nvPr/>
        </p:nvSpPr>
        <p:spPr>
          <a:xfrm>
            <a:off x="1588" y="1"/>
            <a:ext cx="12190411" cy="6920871"/>
          </a:xfrm>
          <a:prstGeom prst="rect">
            <a:avLst/>
          </a:prstGeom>
          <a:gradFill flip="none" rotWithShape="1">
            <a:gsLst>
              <a:gs pos="2000">
                <a:srgbClr val="25B6C2">
                  <a:alpha val="20000"/>
                </a:srgbClr>
              </a:gs>
              <a:gs pos="100000">
                <a:srgbClr val="0692DB">
                  <a:alpha val="64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Rectangle 18"/>
          <p:cNvSpPr/>
          <p:nvPr/>
        </p:nvSpPr>
        <p:spPr>
          <a:xfrm>
            <a:off x="1587" y="4507667"/>
            <a:ext cx="12190411" cy="160944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0" name="TextBox 19"/>
          <p:cNvSpPr txBox="1"/>
          <p:nvPr/>
        </p:nvSpPr>
        <p:spPr>
          <a:xfrm>
            <a:off x="3386570" y="4776916"/>
            <a:ext cx="9271791" cy="553085"/>
          </a:xfrm>
          <a:prstGeom prst="rect">
            <a:avLst/>
          </a:prstGeom>
          <a:noFill/>
          <a:ln>
            <a:noFill/>
          </a:ln>
        </p:spPr>
        <p:txBody>
          <a:bodyPr wrap="square" rtlCol="0">
            <a:spAutoFit/>
          </a:bodyPr>
          <a:lstStyle/>
          <a:p>
            <a:pPr marL="0" marR="0" lvl="0" indent="0" algn="l" defTabSz="914400" rtl="0" eaLnBrk="1" fontAlgn="base" latinLnBrk="0" hangingPunct="1">
              <a:lnSpc>
                <a:spcPct val="100000"/>
              </a:lnSpc>
              <a:spcBef>
                <a:spcPts val="25"/>
              </a:spcBef>
              <a:spcAft>
                <a:spcPts val="25"/>
              </a:spcAft>
              <a:buClrTx/>
              <a:buSzTx/>
              <a:buFontTx/>
              <a:buNone/>
              <a:defRPr/>
            </a:pPr>
            <a:r>
              <a:rPr kumimoji="0" lang="en-IN" altLang="en-US" sz="3000" b="1" i="0" u="none" strike="noStrike" kern="1200" cap="none" spc="0" normalizeH="0" baseline="0" noProof="0" dirty="0">
                <a:ln>
                  <a:noFill/>
                </a:ln>
                <a:solidFill>
                  <a:srgbClr val="000000">
                    <a:lumMod val="50000"/>
                  </a:srgbClr>
                </a:solidFill>
                <a:effectLst/>
                <a:uLnTx/>
                <a:uFillTx/>
                <a:latin typeface="Arial" panose="020B0604020202020204" pitchFamily="34" charset="0"/>
                <a:ea typeface="+mn-ea"/>
                <a:cs typeface="Arial" panose="020B0604020202020204" pitchFamily="34" charset="0"/>
              </a:rPr>
              <a:t>Loan Syndication </a:t>
            </a:r>
            <a:endParaRPr kumimoji="0" lang="en-IN" altLang="en-US" sz="3000" b="1" i="0" u="none" strike="noStrike" kern="1200" cap="none" spc="0" normalizeH="0" baseline="0" noProof="0" dirty="0">
              <a:ln>
                <a:noFill/>
              </a:ln>
              <a:solidFill>
                <a:srgbClr val="000000">
                  <a:lumMod val="50000"/>
                </a:srgbClr>
              </a:solidFill>
              <a:effectLst/>
              <a:uLnTx/>
              <a:uFillTx/>
              <a:latin typeface="Arial" panose="020B0604020202020204" pitchFamily="34" charset="0"/>
              <a:ea typeface="+mn-ea"/>
              <a:cs typeface="Arial" panose="020B0604020202020204" pitchFamily="34" charset="0"/>
            </a:endParaRPr>
          </a:p>
        </p:txBody>
      </p:sp>
      <p:sp>
        <p:nvSpPr>
          <p:cNvPr id="21" name="TextBox 20"/>
          <p:cNvSpPr txBox="1"/>
          <p:nvPr/>
        </p:nvSpPr>
        <p:spPr>
          <a:xfrm>
            <a:off x="3386569" y="5407886"/>
            <a:ext cx="6261927" cy="460375"/>
          </a:xfrm>
          <a:prstGeom prst="rect">
            <a:avLst/>
          </a:prstGeom>
          <a:noFill/>
        </p:spPr>
        <p:txBody>
          <a:bodyPr wrap="square" rtlCol="0">
            <a:spAutoFit/>
          </a:bodyPr>
          <a:lstStyle/>
          <a:p>
            <a:pPr lvl="0" fontAlgn="base">
              <a:spcBef>
                <a:spcPts val="20"/>
              </a:spcBef>
              <a:spcAft>
                <a:spcPts val="20"/>
              </a:spcAft>
              <a:defRPr/>
            </a:pPr>
            <a:endParaRPr kumimoji="0" lang="en-US" sz="2400" b="0" i="0" u="none" strike="noStrike" kern="1200" cap="none" spc="100" normalizeH="0" baseline="0" noProof="0" dirty="0">
              <a:ln>
                <a:noFill/>
              </a:ln>
              <a:solidFill>
                <a:srgbClr val="000000">
                  <a:lumMod val="75000"/>
                  <a:lumOff val="25000"/>
                </a:srgbClr>
              </a:solidFill>
              <a:effectLst/>
              <a:uLnTx/>
              <a:uFillTx/>
              <a:latin typeface="Arial" panose="020B0604020202020204" pitchFamily="34" charset="0"/>
              <a:ea typeface="+mn-ea"/>
              <a:cs typeface="Arial" panose="020B0604020202020204" pitchFamily="34" charset="0"/>
            </a:endParaRPr>
          </a:p>
        </p:txBody>
      </p:sp>
      <p:sp>
        <p:nvSpPr>
          <p:cNvPr id="11" name="Round Diagonal Corner Rectangle 10"/>
          <p:cNvSpPr/>
          <p:nvPr/>
        </p:nvSpPr>
        <p:spPr>
          <a:xfrm>
            <a:off x="422310" y="4252060"/>
            <a:ext cx="2758374" cy="2120655"/>
          </a:xfrm>
          <a:prstGeom prst="round2DiagRect">
            <a:avLst>
              <a:gd name="adj1" fmla="val 1865"/>
              <a:gd name="adj2" fmla="val 0"/>
            </a:avLst>
          </a:prstGeom>
          <a:solidFill>
            <a:srgbClr val="445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335069" y="357053"/>
            <a:ext cx="2980928" cy="898541"/>
          </a:xfrm>
          <a:prstGeom prst="rect">
            <a:avLst/>
          </a:prstGeom>
        </p:spPr>
      </p:pic>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2311" y="4881319"/>
            <a:ext cx="2860159" cy="86213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1" cstate="email"/>
          <a:srcRect/>
          <a:stretch>
            <a:fillRect/>
          </a:stretch>
        </p:blipFill>
        <p:spPr>
          <a:solidFill>
            <a:schemeClr val="bg1">
              <a:lumMod val="95000"/>
            </a:schemeClr>
          </a:solidFill>
        </p:spPr>
      </p:pic>
      <p:sp>
        <p:nvSpPr>
          <p:cNvPr id="13" name="Rectangle 12"/>
          <p:cNvSpPr/>
          <p:nvPr/>
        </p:nvSpPr>
        <p:spPr>
          <a:xfrm>
            <a:off x="1588" y="-14288"/>
            <a:ext cx="12188825" cy="7591112"/>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Rectangle 5"/>
          <p:cNvSpPr/>
          <p:nvPr/>
        </p:nvSpPr>
        <p:spPr>
          <a:xfrm>
            <a:off x="1588" y="3190420"/>
            <a:ext cx="12188825" cy="2510293"/>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srgbClr val="FFFFFF"/>
              </a:solidFill>
              <a:effectLst/>
              <a:uLnTx/>
              <a:uFillTx/>
              <a:latin typeface="Arial" panose="020B0604020202020204"/>
              <a:ea typeface="굴림" panose="020B0600000101010101" pitchFamily="34" charset="-127"/>
              <a:cs typeface="+mn-cs"/>
            </a:endParaRPr>
          </a:p>
        </p:txBody>
      </p:sp>
      <p:sp>
        <p:nvSpPr>
          <p:cNvPr id="7" name="Rectangle 6"/>
          <p:cNvSpPr/>
          <p:nvPr/>
        </p:nvSpPr>
        <p:spPr>
          <a:xfrm>
            <a:off x="1588" y="3362964"/>
            <a:ext cx="12188825" cy="2128315"/>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ko-KR" altLang="en-US" sz="1800" b="0" i="0" u="none" strike="noStrike" kern="1200" cap="none" spc="0" normalizeH="0" baseline="0" noProof="0">
              <a:ln>
                <a:noFill/>
              </a:ln>
              <a:solidFill>
                <a:srgbClr val="FFFFFF"/>
              </a:solidFill>
              <a:effectLst/>
              <a:uLnTx/>
              <a:uFillTx/>
              <a:latin typeface="Arial" panose="020B0604020202020204"/>
              <a:ea typeface="굴림" panose="020B0600000101010101" pitchFamily="34" charset="-127"/>
              <a:cs typeface="+mn-cs"/>
            </a:endParaRPr>
          </a:p>
        </p:txBody>
      </p:sp>
      <p:sp>
        <p:nvSpPr>
          <p:cNvPr id="19" name="TextBox 18"/>
          <p:cNvSpPr txBox="1"/>
          <p:nvPr/>
        </p:nvSpPr>
        <p:spPr>
          <a:xfrm>
            <a:off x="3841715" y="3436581"/>
            <a:ext cx="4508571" cy="646331"/>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3600" b="1" i="0" u="none" strike="noStrike" kern="1200" cap="none" spc="0" normalizeH="0" baseline="0" noProof="0" dirty="0">
                <a:ln>
                  <a:noFill/>
                </a:ln>
                <a:solidFill>
                  <a:srgbClr val="FFFFFF"/>
                </a:solidFill>
                <a:effectLst/>
                <a:uLnTx/>
                <a:uFillTx/>
                <a:latin typeface="Arial" panose="020B0604020202020204" pitchFamily="34" charset="0"/>
                <a:ea typeface="Cambria" panose="02040503050406030204" pitchFamily="18" charset="0"/>
                <a:cs typeface="Arial" panose="020B0604020202020204" pitchFamily="34" charset="0"/>
              </a:rPr>
              <a:t>DISCLAIMER</a:t>
            </a:r>
            <a:endParaRPr kumimoji="0" lang="en-US" sz="3300" b="0" i="0" u="none" strike="noStrike" kern="1200" cap="none" spc="150" normalizeH="0" baseline="0" noProof="0" dirty="0">
              <a:ln>
                <a:noFill/>
              </a:ln>
              <a:solidFill>
                <a:srgbClr val="FFFFFF"/>
              </a:solidFill>
              <a:effectLst/>
              <a:uLnTx/>
              <a:uFillTx/>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p:cNvSpPr txBox="1"/>
          <p:nvPr/>
        </p:nvSpPr>
        <p:spPr>
          <a:xfrm>
            <a:off x="442135" y="4060016"/>
            <a:ext cx="11307731" cy="1200329"/>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The training content and delivery of this presentation is confidential, and cannot be recorded, or copied and distributed to any third party, without the written consent of </a:t>
            </a:r>
            <a:r>
              <a:rPr kumimoji="0" lang="en-IN" sz="24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Imarticus</a:t>
            </a:r>
            <a:r>
              <a:rPr kumimoji="0" lang="en-IN"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Learning </a:t>
            </a:r>
            <a:r>
              <a:rPr kumimoji="0" lang="en-IN" sz="2400" b="0" i="0" u="none" strike="noStrike" kern="1200" cap="none" spc="0" normalizeH="0" baseline="0" noProof="0" dirty="0" err="1">
                <a:ln>
                  <a:noFill/>
                </a:ln>
                <a:solidFill>
                  <a:srgbClr val="FFFFFF"/>
                </a:solidFill>
                <a:effectLst/>
                <a:uLnTx/>
                <a:uFillTx/>
                <a:latin typeface="Arial" panose="020B0604020202020204" pitchFamily="34" charset="0"/>
                <a:ea typeface="+mn-ea"/>
                <a:cs typeface="Arial" panose="020B0604020202020204" pitchFamily="34" charset="0"/>
              </a:rPr>
              <a:t>Pvt.</a:t>
            </a:r>
            <a:r>
              <a:rPr kumimoji="0" lang="en-IN"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Ltd.</a:t>
            </a:r>
            <a:endParaRPr kumimoji="0" lang="en-IN"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9603" y="252267"/>
            <a:ext cx="2060810" cy="6211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p:cNvSpPr txBox="1"/>
          <p:nvPr/>
        </p:nvSpPr>
        <p:spPr>
          <a:xfrm>
            <a:off x="714519" y="528451"/>
            <a:ext cx="4508571" cy="461665"/>
          </a:xfrm>
          <a:prstGeom prst="rect">
            <a:avLst/>
          </a:prstGeom>
          <a:noFill/>
          <a:ln>
            <a:noFill/>
          </a:ln>
        </p:spPr>
        <p:txBody>
          <a:bodyPr wrap="square" rtlCol="0">
            <a:spAutoFit/>
          </a:bodyPr>
          <a:lstStyle>
            <a:defPPr>
              <a:defRPr lang="en-US"/>
            </a:defPPr>
            <a:lvl1pPr defTabSz="914400">
              <a:defRPr sz="2200" b="1">
                <a:solidFill>
                  <a:schemeClr val="tx2">
                    <a:lumMod val="75000"/>
                  </a:schemeClr>
                </a:solidFill>
                <a:latin typeface="Arial Regular"/>
                <a:ea typeface="Open Sans" panose="020B0606030504020204" pitchFamily="34" charset="0"/>
                <a:cs typeface="Open Sans" panose="020B0606030504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2400" b="1" i="0" u="none" strike="noStrike" kern="1200" cap="none" spc="0" normalizeH="0" baseline="0" noProof="0" dirty="0">
                <a:ln>
                  <a:noFill/>
                </a:ln>
                <a:solidFill>
                  <a:srgbClr val="44546A">
                    <a:lumMod val="75000"/>
                  </a:srgbClr>
                </a:solidFill>
                <a:effectLst/>
                <a:uLnTx/>
                <a:uFillTx/>
                <a:latin typeface="Arial Regular"/>
              </a:rPr>
              <a:t>LEARNING OBJECTIVES</a:t>
            </a:r>
            <a:endParaRPr kumimoji="0" lang="en-US" sz="2400" b="1" i="0" u="none" strike="noStrike" kern="1200" cap="none" spc="0" normalizeH="0" baseline="0" noProof="0" dirty="0">
              <a:ln>
                <a:noFill/>
              </a:ln>
              <a:solidFill>
                <a:srgbClr val="44546A">
                  <a:lumMod val="75000"/>
                </a:srgbClr>
              </a:solidFill>
              <a:effectLst/>
              <a:uLnTx/>
              <a:uFillTx/>
              <a:latin typeface="Arial Regular"/>
            </a:endParaRPr>
          </a:p>
        </p:txBody>
      </p:sp>
      <p:sp>
        <p:nvSpPr>
          <p:cNvPr id="52" name="Rectangle 4"/>
          <p:cNvSpPr/>
          <p:nvPr/>
        </p:nvSpPr>
        <p:spPr>
          <a:xfrm flipH="1">
            <a:off x="1588" y="627903"/>
            <a:ext cx="560419" cy="270354"/>
          </a:xfrm>
          <a:custGeom>
            <a:avLst/>
            <a:gdLst>
              <a:gd name="connsiteX0" fmla="*/ 0 w 14981402"/>
              <a:gd name="connsiteY0" fmla="*/ 0 h 3987559"/>
              <a:gd name="connsiteX1" fmla="*/ 14981402 w 14981402"/>
              <a:gd name="connsiteY1" fmla="*/ 0 h 3987559"/>
              <a:gd name="connsiteX2" fmla="*/ 14981402 w 14981402"/>
              <a:gd name="connsiteY2" fmla="*/ 3987559 h 3987559"/>
              <a:gd name="connsiteX3" fmla="*/ 0 w 14981402"/>
              <a:gd name="connsiteY3" fmla="*/ 3987559 h 3987559"/>
              <a:gd name="connsiteX4" fmla="*/ 0 w 14981402"/>
              <a:gd name="connsiteY4" fmla="*/ 0 h 3987559"/>
              <a:gd name="connsiteX0-1" fmla="*/ 1261242 w 14981402"/>
              <a:gd name="connsiteY0-2" fmla="*/ 0 h 3987559"/>
              <a:gd name="connsiteX1-3" fmla="*/ 14981402 w 14981402"/>
              <a:gd name="connsiteY1-4" fmla="*/ 0 h 3987559"/>
              <a:gd name="connsiteX2-5" fmla="*/ 14981402 w 14981402"/>
              <a:gd name="connsiteY2-6" fmla="*/ 3987559 h 3987559"/>
              <a:gd name="connsiteX3-7" fmla="*/ 0 w 14981402"/>
              <a:gd name="connsiteY3-8" fmla="*/ 3987559 h 3987559"/>
              <a:gd name="connsiteX4-9" fmla="*/ 1261242 w 14981402"/>
              <a:gd name="connsiteY4-10" fmla="*/ 0 h 3987559"/>
              <a:gd name="connsiteX0-11" fmla="*/ 1229711 w 14981402"/>
              <a:gd name="connsiteY0-12" fmla="*/ 0 h 3987559"/>
              <a:gd name="connsiteX1-13" fmla="*/ 14981402 w 14981402"/>
              <a:gd name="connsiteY1-14" fmla="*/ 0 h 3987559"/>
              <a:gd name="connsiteX2-15" fmla="*/ 14981402 w 14981402"/>
              <a:gd name="connsiteY2-16" fmla="*/ 3987559 h 3987559"/>
              <a:gd name="connsiteX3-17" fmla="*/ 0 w 14981402"/>
              <a:gd name="connsiteY3-18" fmla="*/ 3987559 h 3987559"/>
              <a:gd name="connsiteX4-19" fmla="*/ 1229711 w 14981402"/>
              <a:gd name="connsiteY4-20" fmla="*/ 0 h 3987559"/>
              <a:gd name="connsiteX0-21" fmla="*/ 2516033 w 16267724"/>
              <a:gd name="connsiteY0-22" fmla="*/ 0 h 3987559"/>
              <a:gd name="connsiteX1-23" fmla="*/ 16267724 w 16267724"/>
              <a:gd name="connsiteY1-24" fmla="*/ 0 h 3987559"/>
              <a:gd name="connsiteX2-25" fmla="*/ 16267724 w 16267724"/>
              <a:gd name="connsiteY2-26" fmla="*/ 3987559 h 3987559"/>
              <a:gd name="connsiteX3-27" fmla="*/ 0 w 16267724"/>
              <a:gd name="connsiteY3-28" fmla="*/ 3987559 h 3987559"/>
              <a:gd name="connsiteX4-29" fmla="*/ 2516033 w 16267724"/>
              <a:gd name="connsiteY4-30" fmla="*/ 0 h 3987559"/>
              <a:gd name="connsiteX0-31" fmla="*/ -1 w 13751690"/>
              <a:gd name="connsiteY0-32" fmla="*/ 0 h 3987559"/>
              <a:gd name="connsiteX1-33" fmla="*/ 13751690 w 13751690"/>
              <a:gd name="connsiteY1-34" fmla="*/ 0 h 3987559"/>
              <a:gd name="connsiteX2-35" fmla="*/ 13751690 w 13751690"/>
              <a:gd name="connsiteY2-36" fmla="*/ 3987559 h 3987559"/>
              <a:gd name="connsiteX3-37" fmla="*/ 354838 w 13751690"/>
              <a:gd name="connsiteY3-38" fmla="*/ 3226202 h 3987559"/>
              <a:gd name="connsiteX4-39" fmla="*/ -1 w 13751690"/>
              <a:gd name="connsiteY4-40" fmla="*/ 0 h 3987559"/>
              <a:gd name="connsiteX0-41" fmla="*/ 2409708 w 16161399"/>
              <a:gd name="connsiteY0-42" fmla="*/ 0 h 3987559"/>
              <a:gd name="connsiteX1-43" fmla="*/ 16161399 w 16161399"/>
              <a:gd name="connsiteY1-44" fmla="*/ 0 h 3987559"/>
              <a:gd name="connsiteX2-45" fmla="*/ 16161399 w 16161399"/>
              <a:gd name="connsiteY2-46" fmla="*/ 3987559 h 3987559"/>
              <a:gd name="connsiteX3-47" fmla="*/ 0 w 16161399"/>
              <a:gd name="connsiteY3-48" fmla="*/ 3960361 h 3987559"/>
              <a:gd name="connsiteX4-49" fmla="*/ 2409708 w 16161399"/>
              <a:gd name="connsiteY4-50" fmla="*/ 0 h 39875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161399" h="3987559">
                <a:moveTo>
                  <a:pt x="2409708" y="0"/>
                </a:moveTo>
                <a:lnTo>
                  <a:pt x="16161399" y="0"/>
                </a:lnTo>
                <a:lnTo>
                  <a:pt x="16161399" y="3987559"/>
                </a:lnTo>
                <a:lnTo>
                  <a:pt x="0" y="3960361"/>
                </a:lnTo>
                <a:lnTo>
                  <a:pt x="2409708" y="0"/>
                </a:lnTo>
                <a:close/>
              </a:path>
            </a:pathLst>
          </a:custGeom>
          <a:solidFill>
            <a:srgbClr val="19A7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4"/>
          <p:cNvSpPr/>
          <p:nvPr/>
        </p:nvSpPr>
        <p:spPr>
          <a:xfrm>
            <a:off x="7541449" y="4862147"/>
            <a:ext cx="4648964" cy="1237402"/>
          </a:xfrm>
          <a:custGeom>
            <a:avLst/>
            <a:gdLst>
              <a:gd name="connsiteX0" fmla="*/ 0 w 14981402"/>
              <a:gd name="connsiteY0" fmla="*/ 0 h 3987559"/>
              <a:gd name="connsiteX1" fmla="*/ 14981402 w 14981402"/>
              <a:gd name="connsiteY1" fmla="*/ 0 h 3987559"/>
              <a:gd name="connsiteX2" fmla="*/ 14981402 w 14981402"/>
              <a:gd name="connsiteY2" fmla="*/ 3987559 h 3987559"/>
              <a:gd name="connsiteX3" fmla="*/ 0 w 14981402"/>
              <a:gd name="connsiteY3" fmla="*/ 3987559 h 3987559"/>
              <a:gd name="connsiteX4" fmla="*/ 0 w 14981402"/>
              <a:gd name="connsiteY4" fmla="*/ 0 h 3987559"/>
              <a:gd name="connsiteX0-1" fmla="*/ 1261242 w 14981402"/>
              <a:gd name="connsiteY0-2" fmla="*/ 0 h 3987559"/>
              <a:gd name="connsiteX1-3" fmla="*/ 14981402 w 14981402"/>
              <a:gd name="connsiteY1-4" fmla="*/ 0 h 3987559"/>
              <a:gd name="connsiteX2-5" fmla="*/ 14981402 w 14981402"/>
              <a:gd name="connsiteY2-6" fmla="*/ 3987559 h 3987559"/>
              <a:gd name="connsiteX3-7" fmla="*/ 0 w 14981402"/>
              <a:gd name="connsiteY3-8" fmla="*/ 3987559 h 3987559"/>
              <a:gd name="connsiteX4-9" fmla="*/ 1261242 w 14981402"/>
              <a:gd name="connsiteY4-10" fmla="*/ 0 h 3987559"/>
              <a:gd name="connsiteX0-11" fmla="*/ 1229711 w 14981402"/>
              <a:gd name="connsiteY0-12" fmla="*/ 0 h 3987559"/>
              <a:gd name="connsiteX1-13" fmla="*/ 14981402 w 14981402"/>
              <a:gd name="connsiteY1-14" fmla="*/ 0 h 3987559"/>
              <a:gd name="connsiteX2-15" fmla="*/ 14981402 w 14981402"/>
              <a:gd name="connsiteY2-16" fmla="*/ 3987559 h 3987559"/>
              <a:gd name="connsiteX3-17" fmla="*/ 0 w 14981402"/>
              <a:gd name="connsiteY3-18" fmla="*/ 3987559 h 3987559"/>
              <a:gd name="connsiteX4-19" fmla="*/ 1229711 w 14981402"/>
              <a:gd name="connsiteY4-20" fmla="*/ 0 h 398755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981402" h="3987559">
                <a:moveTo>
                  <a:pt x="1229711" y="0"/>
                </a:moveTo>
                <a:lnTo>
                  <a:pt x="14981402" y="0"/>
                </a:lnTo>
                <a:lnTo>
                  <a:pt x="14981402" y="3987559"/>
                </a:lnTo>
                <a:lnTo>
                  <a:pt x="0" y="3987559"/>
                </a:lnTo>
                <a:lnTo>
                  <a:pt x="1229711"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050" name="Picture 2" descr="The Burning Mind Project | Whose Objective Is It Anyway?"/>
          <p:cNvPicPr>
            <a:picLocks noGrp="1" noChangeAspect="1" noChangeArrowheads="1"/>
          </p:cNvPicPr>
          <p:nvPr>
            <p:ph type="pic" sz="quarter" idx="14"/>
          </p:nvPr>
        </p:nvPicPr>
        <p:blipFill>
          <a:blip r:embed="rId1" cstate="email"/>
          <a:srcRect/>
          <a:stretch>
            <a:fillRect/>
          </a:stretch>
        </p:blipFill>
        <p:spPr bwMode="auto">
          <a:xfrm flipH="1">
            <a:off x="5223090" y="0"/>
            <a:ext cx="6967323" cy="6858000"/>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p:cNvSpPr/>
          <p:nvPr/>
        </p:nvSpPr>
        <p:spPr>
          <a:xfrm>
            <a:off x="5223090" y="0"/>
            <a:ext cx="6967323" cy="6858001"/>
          </a:xfrm>
          <a:prstGeom prst="rect">
            <a:avLst/>
          </a:prstGeom>
          <a:gradFill flip="none" rotWithShape="1">
            <a:gsLst>
              <a:gs pos="2000">
                <a:srgbClr val="25B6C2">
                  <a:alpha val="20000"/>
                </a:srgbClr>
              </a:gs>
              <a:gs pos="100000">
                <a:srgbClr val="0692DB">
                  <a:alpha val="64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0" name="Rectangle 29"/>
          <p:cNvSpPr/>
          <p:nvPr/>
        </p:nvSpPr>
        <p:spPr>
          <a:xfrm>
            <a:off x="214409" y="6667500"/>
            <a:ext cx="4759730" cy="190500"/>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29603" y="252267"/>
            <a:ext cx="2060810" cy="621190"/>
          </a:xfrm>
          <a:prstGeom prst="rect">
            <a:avLst/>
          </a:prstGeom>
        </p:spPr>
      </p:pic>
      <p:sp>
        <p:nvSpPr>
          <p:cNvPr id="9" name="TextBox 8"/>
          <p:cNvSpPr txBox="1"/>
          <p:nvPr/>
        </p:nvSpPr>
        <p:spPr>
          <a:xfrm>
            <a:off x="562007" y="2280672"/>
            <a:ext cx="3901599" cy="3338195"/>
          </a:xfrm>
          <a:prstGeom prst="rect">
            <a:avLst/>
          </a:prstGeom>
          <a:noFill/>
        </p:spPr>
        <p:txBody>
          <a:bodyPr wrap="square" rtlCol="0">
            <a:spAutoFit/>
          </a:bodyPr>
          <a:lstStyle/>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Understand about an </a:t>
            </a:r>
            <a:r>
              <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Loan Syndication Concepts</a:t>
            </a:r>
            <a:r>
              <a:rPr kumimoji="0" 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a:t>
            </a:r>
            <a:endParaRPr kumimoji="0" 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endParaRPr lang="en-IN" altLang="en-US" sz="1600" dirty="0">
              <a:solidFill>
                <a:srgbClr val="000000">
                  <a:lumMod val="50000"/>
                </a:srgbClr>
              </a:solidFill>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lang="en-IN" altLang="en-US" sz="1600" dirty="0">
                <a:solidFill>
                  <a:srgbClr val="000000">
                    <a:lumMod val="50000"/>
                  </a:srgbClr>
                </a:solidFill>
                <a:latin typeface="Arial" panose="020B0604020202020204" pitchFamily="34" charset="0"/>
                <a:ea typeface="MS PGothic" panose="020B0600070205080204" charset="-128"/>
                <a:cs typeface="Arial" panose="020B0604020202020204" pitchFamily="34" charset="0"/>
              </a:rPr>
              <a:t>Participants involved in Loan Syndication </a:t>
            </a:r>
            <a:endParaRPr lang="en-IN" altLang="en-US" sz="1600" dirty="0">
              <a:solidFill>
                <a:srgbClr val="000000">
                  <a:lumMod val="50000"/>
                </a:srgbClr>
              </a:solidFill>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Types of Syndicated Loans </a:t>
            </a: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Syndicated Loan Life Cycle </a:t>
            </a: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r>
              <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Reconciliations Process</a:t>
            </a: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a:p>
            <a:pPr marL="228600" marR="0" lvl="0" indent="-173990" algn="l" defTabSz="914400" rtl="0" eaLnBrk="1" fontAlgn="base" latinLnBrk="0" hangingPunct="1">
              <a:lnSpc>
                <a:spcPct val="110000"/>
              </a:lnSpc>
              <a:spcBef>
                <a:spcPct val="0"/>
              </a:spcBef>
              <a:spcAft>
                <a:spcPct val="0"/>
              </a:spcAft>
              <a:buClrTx/>
              <a:buSzTx/>
              <a:buFont typeface="Arial" panose="020B0604020202020204" pitchFamily="34" charset="0"/>
              <a:buChar char="•"/>
              <a:defRPr/>
            </a:pPr>
            <a:endParaRPr kumimoji="0" lang="en-IN" altLang="en-US" sz="1600" b="0"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p:txBody>
      </p:sp>
      <p:sp>
        <p:nvSpPr>
          <p:cNvPr id="10" name="TextBox 9"/>
          <p:cNvSpPr txBox="1"/>
          <p:nvPr/>
        </p:nvSpPr>
        <p:spPr>
          <a:xfrm>
            <a:off x="562007" y="1518567"/>
            <a:ext cx="4097395" cy="646331"/>
          </a:xfrm>
          <a:prstGeom prst="rect">
            <a:avLst/>
          </a:prstGeom>
          <a:noFill/>
        </p:spPr>
        <p:txBody>
          <a:bodyPr wrap="square" rtlCol="0">
            <a:spAutoFit/>
          </a:bodyPr>
          <a:lstStyle/>
          <a:p>
            <a:pPr marL="0" marR="0" lvl="0" indent="0" algn="l" defTabSz="914400" rtl="0" eaLnBrk="1" fontAlgn="base" latinLnBrk="0" hangingPunct="1">
              <a:lnSpc>
                <a:spcPct val="90000"/>
              </a:lnSpc>
              <a:spcBef>
                <a:spcPct val="0"/>
              </a:spcBef>
              <a:spcAft>
                <a:spcPct val="0"/>
              </a:spcAft>
              <a:buClrTx/>
              <a:buSzTx/>
              <a:buFontTx/>
              <a:buNone/>
              <a:defRPr/>
            </a:pPr>
            <a:r>
              <a:rPr kumimoji="0" lang="en-US" sz="2000" b="1"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rPr>
              <a:t>At the end of this session, you will be able to: </a:t>
            </a:r>
            <a:endParaRPr kumimoji="0" lang="en-US" sz="2000" b="1" i="0" u="none" strike="noStrike" kern="1200" cap="none" spc="0" normalizeH="0" baseline="0" noProof="0" dirty="0">
              <a:ln>
                <a:noFill/>
              </a:ln>
              <a:solidFill>
                <a:srgbClr val="000000">
                  <a:lumMod val="50000"/>
                </a:srgbClr>
              </a:solidFill>
              <a:effectLst/>
              <a:uLnTx/>
              <a:uFillTx/>
              <a:latin typeface="Arial" panose="020B0604020202020204" pitchFamily="34" charset="0"/>
              <a:ea typeface="MS PGothic" panose="020B0600070205080204" charset="-128"/>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4" name="Google Shape;474;p1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IN" altLang="en-US" sz="2400" b="1" dirty="0">
                <a:solidFill>
                  <a:schemeClr val="dk1"/>
                </a:solidFill>
                <a:latin typeface="+mn-lt"/>
                <a:ea typeface="Cambria" panose="02040503050406030204"/>
                <a:cs typeface="Arial" panose="020B0604020202020204" pitchFamily="34" charset="0"/>
                <a:sym typeface="Cambria" panose="02040503050406030204"/>
              </a:rPr>
              <a:t>CORPORATE FINANCE </a:t>
            </a:r>
            <a:r>
              <a:rPr lang="en-US" sz="2400" b="1" dirty="0">
                <a:solidFill>
                  <a:schemeClr val="dk1"/>
                </a:solidFill>
                <a:latin typeface="+mn-lt"/>
                <a:ea typeface="Cambria" panose="02040503050406030204"/>
                <a:cs typeface="Arial" panose="020B0604020202020204" pitchFamily="34" charset="0"/>
                <a:sym typeface="Cambria" panose="02040503050406030204"/>
              </a:rPr>
              <a:t>LOANS</a:t>
            </a:r>
            <a:endParaRPr lang="en-US" dirty="0">
              <a:latin typeface="+mn-lt"/>
            </a:endParaRPr>
          </a:p>
        </p:txBody>
      </p:sp>
      <p:sp>
        <p:nvSpPr>
          <p:cNvPr id="475" name="Google Shape;475;p14"/>
          <p:cNvSpPr/>
          <p:nvPr/>
        </p:nvSpPr>
        <p:spPr>
          <a:xfrm>
            <a:off x="0" y="1376636"/>
            <a:ext cx="12191999" cy="465891"/>
          </a:xfrm>
          <a:prstGeom prst="rect">
            <a:avLst/>
          </a:prstGeom>
          <a:solidFill>
            <a:schemeClr val="bg2"/>
          </a:solid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US" sz="1800" b="1" dirty="0">
                <a:solidFill>
                  <a:srgbClr val="FFFFFF"/>
                </a:solidFill>
                <a:latin typeface="+mn-lt"/>
                <a:ea typeface="Cambria" panose="02040503050406030204"/>
                <a:cs typeface="Arial" panose="020B0604020202020204" pitchFamily="34" charset="0"/>
                <a:sym typeface="Cambria" panose="02040503050406030204"/>
              </a:rPr>
              <a:t>A loan that is extended to</a:t>
            </a:r>
            <a:r>
              <a:rPr lang="en-IN" altLang="en-US" sz="1800" b="1" dirty="0">
                <a:solidFill>
                  <a:srgbClr val="FFFFFF"/>
                </a:solidFill>
                <a:latin typeface="+mn-lt"/>
                <a:ea typeface="Cambria" panose="02040503050406030204"/>
                <a:cs typeface="Arial" panose="020B0604020202020204" pitchFamily="34" charset="0"/>
                <a:sym typeface="Cambria" panose="02040503050406030204"/>
              </a:rPr>
              <a:t> </a:t>
            </a:r>
            <a:r>
              <a:rPr lang="en-US" sz="1800" b="1" dirty="0">
                <a:solidFill>
                  <a:srgbClr val="FFFFFF"/>
                </a:solidFill>
                <a:latin typeface="+mn-lt"/>
                <a:ea typeface="Cambria" panose="02040503050406030204"/>
                <a:cs typeface="Arial" panose="020B0604020202020204" pitchFamily="34" charset="0"/>
                <a:sym typeface="Cambria" panose="02040503050406030204"/>
              </a:rPr>
              <a:t>businesses by a financial institution. </a:t>
            </a:r>
            <a:endParaRPr sz="1400" dirty="0">
              <a:latin typeface="+mn-lt"/>
            </a:endParaRPr>
          </a:p>
        </p:txBody>
      </p:sp>
      <p:sp>
        <p:nvSpPr>
          <p:cNvPr id="476" name="Google Shape;476;p14"/>
          <p:cNvSpPr/>
          <p:nvPr/>
        </p:nvSpPr>
        <p:spPr>
          <a:xfrm>
            <a:off x="1" y="1842526"/>
            <a:ext cx="12206676" cy="369291"/>
          </a:xfrm>
          <a:prstGeom prst="rect">
            <a:avLst/>
          </a:prstGeom>
          <a:solidFill>
            <a:schemeClr val="bg2">
              <a:lumMod val="20000"/>
              <a:lumOff val="80000"/>
            </a:schemeClr>
          </a:solidFill>
          <a:ln>
            <a:noFill/>
          </a:ln>
        </p:spPr>
        <p:txBody>
          <a:bodyPr spcFirstLastPara="1" wrap="square" lIns="91425" tIns="45700" rIns="91425" bIns="45700" anchor="t" anchorCtr="0">
            <a:spAutoFit/>
          </a:bodyPr>
          <a:lstStyle/>
          <a:p>
            <a:pPr algn="ctr"/>
            <a:r>
              <a:rPr lang="en-US" sz="1800" dirty="0">
                <a:latin typeface="+mn-lt"/>
                <a:ea typeface="Cambria" panose="02040503050406030204"/>
                <a:cs typeface="Arial" panose="020B0604020202020204" pitchFamily="34" charset="0"/>
                <a:sym typeface="Cambria" panose="02040503050406030204"/>
              </a:rPr>
              <a:t>Generally used to purchase long-term assets or help fund day-to-day operational costs.</a:t>
            </a:r>
            <a:endParaRPr sz="1600" dirty="0">
              <a:latin typeface="+mn-lt"/>
              <a:ea typeface="Calibri" panose="020F0502020204030204"/>
              <a:cs typeface="Calibri" panose="020F0502020204030204"/>
              <a:sym typeface="Calibri" panose="020F0502020204030204"/>
            </a:endParaRPr>
          </a:p>
        </p:txBody>
      </p:sp>
      <p:sp>
        <p:nvSpPr>
          <p:cNvPr id="3" name="TextBox 2"/>
          <p:cNvSpPr txBox="1"/>
          <p:nvPr/>
        </p:nvSpPr>
        <p:spPr>
          <a:xfrm>
            <a:off x="3023990" y="2695254"/>
            <a:ext cx="6144016" cy="400110"/>
          </a:xfrm>
          <a:prstGeom prst="rect">
            <a:avLst/>
          </a:prstGeom>
          <a:noFill/>
        </p:spPr>
        <p:txBody>
          <a:bodyPr wrap="square">
            <a:spAutoFit/>
          </a:bodyPr>
          <a:lstStyle/>
          <a:p>
            <a:pPr algn="ctr">
              <a:buNone/>
            </a:pPr>
            <a:r>
              <a:rPr lang="en-US" sz="2000" b="1" dirty="0">
                <a:latin typeface="+mn-lt"/>
              </a:rPr>
              <a:t>Key Features of Commercial Loans</a:t>
            </a:r>
            <a:endParaRPr lang="en-US" sz="2000" b="1" dirty="0">
              <a:latin typeface="+mn-lt"/>
            </a:endParaRPr>
          </a:p>
        </p:txBody>
      </p:sp>
      <p:graphicFrame>
        <p:nvGraphicFramePr>
          <p:cNvPr id="4" name="Diagram 3"/>
          <p:cNvGraphicFramePr/>
          <p:nvPr/>
        </p:nvGraphicFramePr>
        <p:xfrm>
          <a:off x="308974" y="2505887"/>
          <a:ext cx="11574049" cy="375712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4" name="Google Shape;474;p1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2400" b="1" dirty="0">
                <a:solidFill>
                  <a:schemeClr val="dk1"/>
                </a:solidFill>
                <a:latin typeface="+mn-lt"/>
                <a:ea typeface="Cambria" panose="02040503050406030204"/>
                <a:cs typeface="Arial" panose="020B0604020202020204" pitchFamily="34" charset="0"/>
                <a:sym typeface="Cambria" panose="02040503050406030204"/>
              </a:rPr>
              <a:t>C</a:t>
            </a:r>
            <a:r>
              <a:rPr lang="en-IN" altLang="en-US" sz="2400" b="1" dirty="0">
                <a:solidFill>
                  <a:schemeClr val="dk1"/>
                </a:solidFill>
                <a:latin typeface="+mn-lt"/>
                <a:ea typeface="Cambria" panose="02040503050406030204"/>
                <a:cs typeface="Arial" panose="020B0604020202020204" pitchFamily="34" charset="0"/>
                <a:sym typeface="Cambria" panose="02040503050406030204"/>
              </a:rPr>
              <a:t>ORPORATE FINANCE</a:t>
            </a:r>
            <a:r>
              <a:rPr lang="en-US" sz="2400" b="1" dirty="0">
                <a:solidFill>
                  <a:schemeClr val="dk1"/>
                </a:solidFill>
                <a:latin typeface="+mn-lt"/>
                <a:ea typeface="Cambria" panose="02040503050406030204"/>
                <a:cs typeface="Arial" panose="020B0604020202020204" pitchFamily="34" charset="0"/>
                <a:sym typeface="Cambria" panose="02040503050406030204"/>
              </a:rPr>
              <a:t> LOANS</a:t>
            </a:r>
            <a:endParaRPr lang="en-US" dirty="0">
              <a:latin typeface="+mn-lt"/>
            </a:endParaRPr>
          </a:p>
        </p:txBody>
      </p:sp>
      <p:sp>
        <p:nvSpPr>
          <p:cNvPr id="475" name="Google Shape;475;p14"/>
          <p:cNvSpPr/>
          <p:nvPr/>
        </p:nvSpPr>
        <p:spPr>
          <a:xfrm>
            <a:off x="1849121" y="1136049"/>
            <a:ext cx="8127999" cy="369332"/>
          </a:xfrm>
          <a:prstGeom prst="rect">
            <a:avLst/>
          </a:prstGeom>
          <a:noFill/>
        </p:spPr>
        <p:txBody>
          <a:bodyPr wrap="square">
            <a:spAutoFit/>
          </a:bodyPr>
          <a:lstStyle/>
          <a:p>
            <a:pPr algn="ctr"/>
            <a:r>
              <a:rPr lang="en-US" sz="1800" b="1" dirty="0">
                <a:latin typeface="+mn-lt"/>
                <a:sym typeface="Cambria" panose="02040503050406030204"/>
              </a:rPr>
              <a:t>These loans are used for</a:t>
            </a:r>
            <a:endParaRPr lang="en-US" sz="1800" b="1" dirty="0">
              <a:latin typeface="+mn-lt"/>
              <a:sym typeface="Cambria" panose="02040503050406030204"/>
            </a:endParaRPr>
          </a:p>
        </p:txBody>
      </p:sp>
      <p:sp>
        <p:nvSpPr>
          <p:cNvPr id="7" name="TextBox 6"/>
          <p:cNvSpPr txBox="1"/>
          <p:nvPr/>
        </p:nvSpPr>
        <p:spPr>
          <a:xfrm>
            <a:off x="786948" y="6246297"/>
            <a:ext cx="10618104" cy="523220"/>
          </a:xfrm>
          <a:prstGeom prst="rect">
            <a:avLst/>
          </a:prstGeom>
          <a:solidFill>
            <a:schemeClr val="accent3"/>
          </a:solidFill>
        </p:spPr>
        <p:txBody>
          <a:bodyPr wrap="square">
            <a:spAutoFit/>
          </a:bodyPr>
          <a:lstStyle/>
          <a:p>
            <a:pPr algn="ctr"/>
            <a:r>
              <a:rPr lang="en-US" sz="1400" b="1" i="1" dirty="0">
                <a:solidFill>
                  <a:schemeClr val="bg1"/>
                </a:solidFill>
                <a:latin typeface="+mn-lt"/>
              </a:rPr>
              <a:t>Commercial loans are vital for business growth and operations. They provide businesses with access to funds that can be strategically used for expansion, managing cash flows, or investing in infrastructure and resources.</a:t>
            </a:r>
            <a:endParaRPr lang="en-US" sz="1400" b="1" i="1" dirty="0">
              <a:solidFill>
                <a:schemeClr val="bg1"/>
              </a:solidFill>
              <a:latin typeface="+mn-lt"/>
            </a:endParaRPr>
          </a:p>
        </p:txBody>
      </p:sp>
      <p:graphicFrame>
        <p:nvGraphicFramePr>
          <p:cNvPr id="2" name="Diagram 1"/>
          <p:cNvGraphicFramePr/>
          <p:nvPr/>
        </p:nvGraphicFramePr>
        <p:xfrm>
          <a:off x="889452" y="1592097"/>
          <a:ext cx="10515600" cy="4198152"/>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8167160" y="2599250"/>
            <a:ext cx="3801165" cy="2894410"/>
          </a:xfrm>
          <a:prstGeom prst="rect">
            <a:avLst/>
          </a:prstGeom>
        </p:spPr>
      </p:pic>
      <p:grpSp>
        <p:nvGrpSpPr>
          <p:cNvPr id="505" name="Google Shape;505;p17"/>
          <p:cNvGrpSpPr/>
          <p:nvPr/>
        </p:nvGrpSpPr>
        <p:grpSpPr>
          <a:xfrm>
            <a:off x="1952787" y="1692462"/>
            <a:ext cx="5207903" cy="4040367"/>
            <a:chOff x="827584" y="1402150"/>
            <a:chExt cx="6347968" cy="3116357"/>
          </a:xfrm>
        </p:grpSpPr>
        <p:sp>
          <p:nvSpPr>
            <p:cNvPr id="506" name="Google Shape;506;p17"/>
            <p:cNvSpPr/>
            <p:nvPr/>
          </p:nvSpPr>
          <p:spPr>
            <a:xfrm>
              <a:off x="827584" y="1772816"/>
              <a:ext cx="3096344" cy="2736304"/>
            </a:xfrm>
            <a:prstGeom prst="rect">
              <a:avLst/>
            </a:prstGeom>
            <a:solidFill>
              <a:srgbClr val="F2F2F2"/>
            </a:solidFill>
            <a:ln w="9525" cap="flat" cmpd="sng">
              <a:solidFill>
                <a:schemeClr val="bg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sz="1000" dirty="0">
                <a:latin typeface="+mn-lt"/>
                <a:ea typeface="Cambria" panose="02040503050406030204"/>
                <a:cs typeface="Arial" panose="020B0604020202020204" pitchFamily="34" charset="0"/>
                <a:sym typeface="Cambria" panose="02040503050406030204"/>
              </a:endParaRPr>
            </a:p>
          </p:txBody>
        </p:sp>
        <p:sp>
          <p:nvSpPr>
            <p:cNvPr id="507" name="Google Shape;507;p17"/>
            <p:cNvSpPr/>
            <p:nvPr/>
          </p:nvSpPr>
          <p:spPr>
            <a:xfrm>
              <a:off x="4079208" y="1782203"/>
              <a:ext cx="3096344" cy="2736304"/>
            </a:xfrm>
            <a:prstGeom prst="rect">
              <a:avLst/>
            </a:prstGeom>
            <a:solidFill>
              <a:srgbClr val="F2F2F2"/>
            </a:solidFill>
            <a:ln w="9525" cap="flat" cmpd="sng">
              <a:solidFill>
                <a:schemeClr val="bg2"/>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sz="1000" dirty="0">
                <a:latin typeface="+mn-lt"/>
                <a:ea typeface="Cambria" panose="02040503050406030204"/>
                <a:cs typeface="Arial" panose="020B0604020202020204" pitchFamily="34" charset="0"/>
                <a:sym typeface="Cambria" panose="02040503050406030204"/>
              </a:endParaRPr>
            </a:p>
          </p:txBody>
        </p:sp>
        <p:sp>
          <p:nvSpPr>
            <p:cNvPr id="508" name="Google Shape;508;p17"/>
            <p:cNvSpPr/>
            <p:nvPr/>
          </p:nvSpPr>
          <p:spPr>
            <a:xfrm>
              <a:off x="1377965" y="1402150"/>
              <a:ext cx="1995582" cy="783148"/>
            </a:xfrm>
            <a:prstGeom prst="roundRect">
              <a:avLst>
                <a:gd name="adj" fmla="val 16667"/>
              </a:avLst>
            </a:prstGeom>
            <a:solidFill>
              <a:schemeClr val="bg2"/>
            </a:solidFill>
            <a:ln>
              <a:noFill/>
            </a:ln>
          </p:spPr>
          <p:txBody>
            <a:bodyPr spcFirstLastPara="1" wrap="square" lIns="91425" tIns="45700" rIns="91425" bIns="45700" anchor="t" anchorCtr="0">
              <a:spAutoFit/>
            </a:bodyPr>
            <a:lstStyle/>
            <a:p>
              <a:pPr algn="ctr"/>
              <a:r>
                <a:rPr lang="en-US" sz="2000" b="1" dirty="0">
                  <a:solidFill>
                    <a:srgbClr val="FFFFFF"/>
                  </a:solidFill>
                  <a:latin typeface="+mn-lt"/>
                  <a:ea typeface="Cambria" panose="02040503050406030204"/>
                  <a:cs typeface="Arial" panose="020B0604020202020204" pitchFamily="34" charset="0"/>
                  <a:sym typeface="Cambria" panose="02040503050406030204"/>
                </a:rPr>
                <a:t>Bilateral Loans</a:t>
              </a:r>
              <a:endParaRPr sz="1400" dirty="0">
                <a:latin typeface="+mn-lt"/>
              </a:endParaRPr>
            </a:p>
          </p:txBody>
        </p:sp>
        <p:sp>
          <p:nvSpPr>
            <p:cNvPr id="509" name="Google Shape;509;p17"/>
            <p:cNvSpPr/>
            <p:nvPr/>
          </p:nvSpPr>
          <p:spPr>
            <a:xfrm>
              <a:off x="4502616" y="1411536"/>
              <a:ext cx="2249529" cy="783148"/>
            </a:xfrm>
            <a:prstGeom prst="roundRect">
              <a:avLst>
                <a:gd name="adj" fmla="val 16667"/>
              </a:avLst>
            </a:prstGeom>
            <a:solidFill>
              <a:schemeClr val="bg2"/>
            </a:solidFill>
            <a:ln>
              <a:noFill/>
            </a:ln>
          </p:spPr>
          <p:txBody>
            <a:bodyPr spcFirstLastPara="1" wrap="square" lIns="91425" tIns="45700" rIns="91425" bIns="45700" anchor="t" anchorCtr="0">
              <a:spAutoFit/>
            </a:bodyPr>
            <a:lstStyle/>
            <a:p>
              <a:pPr algn="ctr"/>
              <a:r>
                <a:rPr lang="en-US" sz="2000" b="1" dirty="0">
                  <a:solidFill>
                    <a:srgbClr val="FFFFFF"/>
                  </a:solidFill>
                  <a:latin typeface="+mn-lt"/>
                  <a:ea typeface="Cambria" panose="02040503050406030204"/>
                  <a:cs typeface="Arial" panose="020B0604020202020204" pitchFamily="34" charset="0"/>
                  <a:sym typeface="Cambria" panose="02040503050406030204"/>
                </a:rPr>
                <a:t>Syndicated Loans</a:t>
              </a:r>
              <a:endParaRPr sz="1400" dirty="0">
                <a:latin typeface="+mn-lt"/>
              </a:endParaRPr>
            </a:p>
          </p:txBody>
        </p:sp>
        <p:sp>
          <p:nvSpPr>
            <p:cNvPr id="510" name="Google Shape;510;p17"/>
            <p:cNvSpPr/>
            <p:nvPr/>
          </p:nvSpPr>
          <p:spPr>
            <a:xfrm>
              <a:off x="1331124" y="2741476"/>
              <a:ext cx="2017254" cy="1020745"/>
            </a:xfrm>
            <a:prstGeom prst="rect">
              <a:avLst/>
            </a:prstGeom>
            <a:noFill/>
            <a:ln>
              <a:noFill/>
            </a:ln>
          </p:spPr>
          <p:txBody>
            <a:bodyPr spcFirstLastPara="1" wrap="square" lIns="91425" tIns="45700" rIns="91425" bIns="45700" anchor="t" anchorCtr="0">
              <a:spAutoFit/>
            </a:bodyPr>
            <a:lstStyle/>
            <a:p>
              <a:pPr algn="ctr"/>
              <a:r>
                <a:rPr lang="en-US" sz="1600" b="1" dirty="0">
                  <a:latin typeface="+mn-lt"/>
                  <a:ea typeface="Cambria" panose="02040503050406030204"/>
                  <a:cs typeface="Arial" panose="020B0604020202020204" pitchFamily="34" charset="0"/>
                  <a:sym typeface="Cambria" panose="02040503050406030204"/>
                </a:rPr>
                <a:t>An agreement with only one lender under a direct agreement</a:t>
              </a:r>
              <a:endParaRPr sz="1600" b="1" dirty="0">
                <a:latin typeface="+mn-lt"/>
                <a:ea typeface="Cambria" panose="02040503050406030204"/>
                <a:cs typeface="Arial" panose="020B0604020202020204" pitchFamily="34" charset="0"/>
                <a:sym typeface="Cambria" panose="02040503050406030204"/>
              </a:endParaRPr>
            </a:p>
          </p:txBody>
        </p:sp>
        <p:sp>
          <p:nvSpPr>
            <p:cNvPr id="511" name="Google Shape;511;p17"/>
            <p:cNvSpPr/>
            <p:nvPr/>
          </p:nvSpPr>
          <p:spPr>
            <a:xfrm>
              <a:off x="4157364" y="2756937"/>
              <a:ext cx="2940031" cy="1210656"/>
            </a:xfrm>
            <a:prstGeom prst="rect">
              <a:avLst/>
            </a:prstGeom>
            <a:noFill/>
            <a:ln>
              <a:noFill/>
            </a:ln>
          </p:spPr>
          <p:txBody>
            <a:bodyPr spcFirstLastPara="1" wrap="square" lIns="91425" tIns="45700" rIns="91425" bIns="45700" anchor="t" anchorCtr="0">
              <a:spAutoFit/>
            </a:bodyPr>
            <a:lstStyle/>
            <a:p>
              <a:pPr algn="ctr"/>
              <a:r>
                <a:rPr lang="en-US" sz="1600" b="1" dirty="0">
                  <a:latin typeface="+mn-lt"/>
                  <a:ea typeface="Cambria" panose="02040503050406030204"/>
                  <a:cs typeface="Arial" panose="020B0604020202020204" pitchFamily="34" charset="0"/>
                  <a:sym typeface="Cambria" panose="02040503050406030204"/>
                </a:rPr>
                <a:t>large loans provided to a single borrower by a group of lenders  who work together to share the risk and funding</a:t>
              </a:r>
              <a:endParaRPr sz="1600" b="1" dirty="0">
                <a:latin typeface="+mn-lt"/>
                <a:ea typeface="Cambria" panose="02040503050406030204"/>
                <a:cs typeface="Arial" panose="020B0604020202020204" pitchFamily="34" charset="0"/>
                <a:sym typeface="Cambria" panose="02040503050406030204"/>
              </a:endParaRPr>
            </a:p>
          </p:txBody>
        </p:sp>
      </p:grpSp>
      <p:sp>
        <p:nvSpPr>
          <p:cNvPr id="2" name="Title 1"/>
          <p:cNvSpPr>
            <a:spLocks noGrp="1"/>
          </p:cNvSpPr>
          <p:nvPr>
            <p:ph type="title"/>
          </p:nvPr>
        </p:nvSpPr>
        <p:spPr/>
        <p:txBody>
          <a:bodyPr>
            <a:normAutofit/>
          </a:bodyPr>
          <a:lstStyle/>
          <a:p>
            <a:r>
              <a:rPr lang="en-IN" dirty="0">
                <a:latin typeface="+mn-lt"/>
              </a:rPr>
              <a:t>CORPORATE FINANCE LOANS CONTD.</a:t>
            </a:r>
            <a:endParaRPr lang="en-IN" dirty="0">
              <a:latin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US" sz="2400" b="1" dirty="0">
                <a:latin typeface="+mn-lt"/>
              </a:rPr>
              <a:t>FINANCING SOLUTIONS</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US" sz="1800" dirty="0">
                <a:solidFill>
                  <a:srgbClr val="FFFFFF"/>
                </a:solidFill>
                <a:latin typeface="+mn-lt"/>
                <a:ea typeface="Cambria" panose="02040503050406030204"/>
                <a:cs typeface="Arial" panose="020B0604020202020204" pitchFamily="34" charset="0"/>
                <a:sym typeface="Cambria" panose="02040503050406030204"/>
              </a:rPr>
              <a:t>To maximize access to capital and suit individual business needs, banks provide either a standardized financing solution or tailor them for specific customer needs.</a:t>
            </a:r>
            <a:endParaRPr sz="1400" dirty="0">
              <a:latin typeface="+mn-lt"/>
            </a:endParaRPr>
          </a:p>
        </p:txBody>
      </p:sp>
      <p:sp>
        <p:nvSpPr>
          <p:cNvPr id="517" name="Google Shape;517;p18"/>
          <p:cNvSpPr/>
          <p:nvPr/>
        </p:nvSpPr>
        <p:spPr>
          <a:xfrm>
            <a:off x="2464522" y="2122671"/>
            <a:ext cx="9547938" cy="2411751"/>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A group of banks (called a syndicate) provides the loan together. This spreads the risk.</a:t>
            </a:r>
            <a:endParaRPr 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One bank acts as the “lead agent” and handles the paperwork, coordination, and communication with the borrower.</a:t>
            </a:r>
            <a:endParaRPr 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The loan is secured using company assets like inventory, property, or unpaid invoices (accounts receivable).</a:t>
            </a:r>
            <a:endParaRPr 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It can be offered as a lump sum loan (cash-funded) or as a line of credit that the company can draw from as needed.</a:t>
            </a:r>
            <a:endParaRPr 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Useful for businesses that need a large amount of working capital—especially during tight cash flow or growth periods.</a:t>
            </a:r>
            <a:endParaRPr 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600" dirty="0">
                <a:latin typeface="+mn-lt"/>
                <a:ea typeface="Cambria" panose="02040503050406030204"/>
                <a:cs typeface="Arial" panose="020B0604020202020204" pitchFamily="34" charset="0"/>
                <a:sym typeface="Cambria" panose="02040503050406030204"/>
              </a:rPr>
              <a:t>Since assets back the loan and risk is shared among lenders, it’s safer for the banks involved..</a:t>
            </a:r>
            <a:endParaRPr sz="1600" dirty="0">
              <a:latin typeface="+mn-lt"/>
              <a:ea typeface="Cambria" panose="02040503050406030204"/>
              <a:cs typeface="Arial" panose="020B0604020202020204" pitchFamily="34" charset="0"/>
              <a:sym typeface="Cambria" panose="02040503050406030204"/>
            </a:endParaRPr>
          </a:p>
        </p:txBody>
      </p:sp>
      <p:sp>
        <p:nvSpPr>
          <p:cNvPr id="3" name="Google Shape;521;p18"/>
          <p:cNvSpPr/>
          <p:nvPr/>
        </p:nvSpPr>
        <p:spPr>
          <a:xfrm>
            <a:off x="0" y="2735943"/>
            <a:ext cx="2390846" cy="960095"/>
          </a:xfrm>
          <a:prstGeom prst="rect">
            <a:avLst/>
          </a:prstGeom>
          <a:solidFill>
            <a:schemeClr val="accent4"/>
          </a:solidFill>
          <a:ln>
            <a:noFill/>
          </a:ln>
        </p:spPr>
        <p:txBody>
          <a:bodyPr spcFirstLastPara="1" wrap="square" lIns="0" tIns="0" rIns="18275" bIns="18275" anchor="ctr" anchorCtr="0">
            <a:noAutofit/>
          </a:bodyPr>
          <a:lstStyle/>
          <a:p>
            <a:pPr algn="ctr"/>
            <a:r>
              <a:rPr lang="en-US" sz="1800" b="1" dirty="0">
                <a:solidFill>
                  <a:srgbClr val="FFFFFF"/>
                </a:solidFill>
                <a:latin typeface="+mn-lt"/>
                <a:ea typeface="Cambria" panose="02040503050406030204"/>
                <a:cs typeface="Arial" panose="020B0604020202020204" pitchFamily="34" charset="0"/>
                <a:sym typeface="Cambria" panose="02040503050406030204"/>
              </a:rPr>
              <a:t>Syndicated </a:t>
            </a:r>
            <a:endParaRPr sz="1400" dirty="0">
              <a:latin typeface="+mn-lt"/>
            </a:endParaRPr>
          </a:p>
          <a:p>
            <a:pPr algn="ctr"/>
            <a:r>
              <a:rPr lang="en-US" sz="1800" b="1" dirty="0">
                <a:solidFill>
                  <a:srgbClr val="FFFFFF"/>
                </a:solidFill>
                <a:latin typeface="+mn-lt"/>
                <a:ea typeface="Cambria" panose="02040503050406030204"/>
                <a:cs typeface="Arial" panose="020B0604020202020204" pitchFamily="34" charset="0"/>
                <a:sym typeface="Cambria" panose="02040503050406030204"/>
              </a:rPr>
              <a:t>Asset-based Financing</a:t>
            </a:r>
            <a:endParaRPr sz="1400" dirty="0">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5362" y="340074"/>
            <a:ext cx="10515600" cy="849899"/>
          </a:xfrm>
        </p:spPr>
        <p:txBody>
          <a:bodyPr wrap="square" anchor="ctr">
            <a:normAutofit/>
          </a:bodyPr>
          <a:lstStyle/>
          <a:p>
            <a:r>
              <a:rPr lang="en-US" dirty="0">
                <a:latin typeface="+mn-lt"/>
              </a:rPr>
              <a:t>Bilateral Loan vs. Syndicated </a:t>
            </a:r>
            <a:r>
              <a:rPr lang="en-IN" altLang="en-US" dirty="0">
                <a:latin typeface="+mn-lt"/>
              </a:rPr>
              <a:t>Loan</a:t>
            </a:r>
            <a:endParaRPr lang="en-IN" altLang="en-US" dirty="0">
              <a:latin typeface="+mn-lt"/>
            </a:endParaRPr>
          </a:p>
        </p:txBody>
      </p:sp>
      <p:graphicFrame>
        <p:nvGraphicFramePr>
          <p:cNvPr id="3" name="Table 2"/>
          <p:cNvGraphicFramePr>
            <a:graphicFrameLocks noGrp="1"/>
          </p:cNvGraphicFramePr>
          <p:nvPr>
            <p:custDataLst>
              <p:tags r:id="rId1"/>
            </p:custDataLst>
          </p:nvPr>
        </p:nvGraphicFramePr>
        <p:xfrm>
          <a:off x="780415" y="895985"/>
          <a:ext cx="9578340" cy="5410200"/>
        </p:xfrm>
        <a:graphic>
          <a:graphicData uri="http://schemas.openxmlformats.org/drawingml/2006/table">
            <a:tbl>
              <a:tblPr firstRow="1" bandRow="1">
                <a:noFill/>
              </a:tblPr>
              <a:tblGrid>
                <a:gridCol w="3062605"/>
                <a:gridCol w="3263900"/>
                <a:gridCol w="3251835"/>
              </a:tblGrid>
              <a:tr h="598170">
                <a:tc>
                  <a:txBody>
                    <a:bodyPr/>
                    <a:lstStyle/>
                    <a:p>
                      <a:r>
                        <a:rPr lang="en-IN" sz="1100" b="0" cap="all" spc="150">
                          <a:solidFill>
                            <a:schemeClr val="lt1"/>
                          </a:solidFill>
                        </a:rPr>
                        <a:t>Feature</a:t>
                      </a:r>
                      <a:endParaRPr lang="en-IN" sz="1100" b="0" cap="all" spc="150">
                        <a:solidFill>
                          <a:schemeClr val="lt1"/>
                        </a:solidFill>
                      </a:endParaRPr>
                    </a:p>
                  </a:txBody>
                  <a:tcPr marL="85216" marR="85216" marT="85216" marB="85216" anchor="ctr">
                    <a:lnL w="12700" cmpd="sng">
                      <a:noFill/>
                      <a:prstDash val="solid"/>
                    </a:lnL>
                    <a:lnR w="12700" cmpd="sng">
                      <a:noFill/>
                      <a:prstDash val="solid"/>
                    </a:lnR>
                    <a:lnT w="12700" cmpd="sng">
                      <a:noFill/>
                    </a:lnT>
                    <a:lnB w="12700" cmpd="sng">
                      <a:noFill/>
                      <a:prstDash val="solid"/>
                    </a:lnB>
                    <a:solidFill>
                      <a:srgbClr val="505356"/>
                    </a:solidFill>
                  </a:tcPr>
                </a:tc>
                <a:tc>
                  <a:txBody>
                    <a:bodyPr/>
                    <a:lstStyle/>
                    <a:p>
                      <a:pPr algn="ctr"/>
                      <a:r>
                        <a:rPr lang="en-IN" sz="1100" b="0" cap="all" spc="150" dirty="0">
                          <a:solidFill>
                            <a:schemeClr val="lt1"/>
                          </a:solidFill>
                        </a:rPr>
                        <a:t>Bilateral Loan</a:t>
                      </a:r>
                      <a:endParaRPr lang="en-IN" sz="1100" b="0" cap="all" spc="150" dirty="0">
                        <a:solidFill>
                          <a:schemeClr val="lt1"/>
                        </a:solidFill>
                      </a:endParaRPr>
                    </a:p>
                  </a:txBody>
                  <a:tcPr marL="85216" marR="85216" marT="85216" marB="85216" anchor="ctr">
                    <a:lnL w="12700" cmpd="sng">
                      <a:noFill/>
                      <a:prstDash val="solid"/>
                    </a:lnL>
                    <a:lnR w="12700" cmpd="sng">
                      <a:noFill/>
                      <a:prstDash val="solid"/>
                    </a:lnR>
                    <a:lnT w="12700" cmpd="sng">
                      <a:noFill/>
                    </a:lnT>
                    <a:lnB w="12700" cmpd="sng">
                      <a:noFill/>
                      <a:prstDash val="solid"/>
                    </a:lnB>
                    <a:solidFill>
                      <a:srgbClr val="505356"/>
                    </a:solidFill>
                  </a:tcPr>
                </a:tc>
                <a:tc>
                  <a:txBody>
                    <a:bodyPr/>
                    <a:lstStyle/>
                    <a:p>
                      <a:pPr algn="ctr"/>
                      <a:r>
                        <a:rPr lang="en-IN" sz="1100" b="0" cap="all" spc="150" dirty="0">
                          <a:solidFill>
                            <a:schemeClr val="lt1"/>
                          </a:solidFill>
                        </a:rPr>
                        <a:t>Syndicated Asset-Based Lending</a:t>
                      </a:r>
                      <a:endParaRPr lang="en-IN" sz="1100" b="0" cap="all" spc="150" dirty="0">
                        <a:solidFill>
                          <a:schemeClr val="lt1"/>
                        </a:solidFill>
                      </a:endParaRPr>
                    </a:p>
                  </a:txBody>
                  <a:tcPr marL="85216" marR="85216" marT="85216" marB="85216" anchor="ctr">
                    <a:lnL w="12700" cmpd="sng">
                      <a:noFill/>
                      <a:prstDash val="solid"/>
                    </a:lnL>
                    <a:lnR w="12700" cmpd="sng">
                      <a:noFill/>
                      <a:prstDash val="solid"/>
                    </a:lnR>
                    <a:lnT w="12700" cmpd="sng">
                      <a:noFill/>
                    </a:lnT>
                    <a:lnB w="12700" cmpd="sng">
                      <a:noFill/>
                      <a:prstDash val="solid"/>
                    </a:lnB>
                    <a:solidFill>
                      <a:srgbClr val="505356"/>
                    </a:solidFill>
                  </a:tcPr>
                </a:tc>
              </a:tr>
              <a:tr h="520065">
                <a:tc>
                  <a:txBody>
                    <a:bodyPr/>
                    <a:lstStyle/>
                    <a:p>
                      <a:r>
                        <a:rPr lang="en-IN" sz="1100" b="1" cap="none" spc="0" dirty="0">
                          <a:solidFill>
                            <a:schemeClr val="tx1"/>
                          </a:solidFill>
                        </a:rPr>
                        <a:t>Definition</a:t>
                      </a:r>
                      <a:endParaRPr lang="en-IN" sz="1100" cap="none" spc="0" dirty="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A loan between one lender and one borrower</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Loan backed by assets, funded by multiple lenders</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r>
              <a:tr h="520700">
                <a:tc>
                  <a:txBody>
                    <a:bodyPr/>
                    <a:lstStyle/>
                    <a:p>
                      <a:r>
                        <a:rPr lang="en-IN" sz="1100" b="1" cap="none" spc="0">
                          <a:solidFill>
                            <a:schemeClr val="tx1"/>
                          </a:solidFill>
                        </a:rPr>
                        <a:t>Parties Involved</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One lender, one borrower</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Multiple lenders (syndicate) + borrower</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r h="528955">
                <a:tc>
                  <a:txBody>
                    <a:bodyPr/>
                    <a:lstStyle/>
                    <a:p>
                      <a:r>
                        <a:rPr lang="en-IN" sz="1100" b="1" cap="none" spc="0">
                          <a:solidFill>
                            <a:schemeClr val="tx1"/>
                          </a:solidFill>
                        </a:rPr>
                        <a:t>Collateral</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May be secured or unsecured</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Secured by assets like receivables, inventory, property</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r>
              <a:tr h="529590">
                <a:tc>
                  <a:txBody>
                    <a:bodyPr/>
                    <a:lstStyle/>
                    <a:p>
                      <a:r>
                        <a:rPr lang="en-IN" sz="1100" b="1" cap="none" spc="0">
                          <a:solidFill>
                            <a:schemeClr val="tx1"/>
                          </a:solidFill>
                        </a:rPr>
                        <a:t>Structure Complexity</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Simple</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US" sz="1100" cap="none" spc="0">
                          <a:solidFill>
                            <a:schemeClr val="tx1"/>
                          </a:solidFill>
                        </a:rPr>
                        <a:t>Moderate to complex (requires syndication and collateral mgmt)</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r h="520700">
                <a:tc>
                  <a:txBody>
                    <a:bodyPr/>
                    <a:lstStyle/>
                    <a:p>
                      <a:r>
                        <a:rPr lang="en-IN" sz="1100" b="1" cap="none" spc="0">
                          <a:solidFill>
                            <a:schemeClr val="tx1"/>
                          </a:solidFill>
                        </a:rPr>
                        <a:t>Credit Evaluation</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Based on borrower’s credit profile</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Based on quality of assets and borrower’s financials</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r>
              <a:tr h="380365">
                <a:tc>
                  <a:txBody>
                    <a:bodyPr/>
                    <a:lstStyle/>
                    <a:p>
                      <a:r>
                        <a:rPr lang="en-IN" sz="1100" b="1" cap="none" spc="0">
                          <a:solidFill>
                            <a:schemeClr val="tx1"/>
                          </a:solidFill>
                        </a:rPr>
                        <a:t>Loan Amount</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Typically smaller or mid-sized</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Large financing needs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r h="528955">
                <a:tc>
                  <a:txBody>
                    <a:bodyPr/>
                    <a:lstStyle/>
                    <a:p>
                      <a:r>
                        <a:rPr lang="en-IN" sz="1100" b="1" cap="none" spc="0">
                          <a:solidFill>
                            <a:schemeClr val="tx1"/>
                          </a:solidFill>
                        </a:rPr>
                        <a:t>Repayment</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Fixed schedule (term or revolving)</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Flexible drawdowns based on asset availability</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r>
              <a:tr h="381635">
                <a:tc>
                  <a:txBody>
                    <a:bodyPr/>
                    <a:lstStyle/>
                    <a:p>
                      <a:r>
                        <a:rPr lang="en-IN" sz="1100" b="1" cap="none" spc="0">
                          <a:solidFill>
                            <a:schemeClr val="tx1"/>
                          </a:solidFill>
                        </a:rPr>
                        <a:t>Debt on Balance Sheet</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Yes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Yes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r h="520065">
                <a:tc>
                  <a:txBody>
                    <a:bodyPr/>
                    <a:lstStyle/>
                    <a:p>
                      <a:r>
                        <a:rPr lang="en-IN" sz="1100" b="1" cap="none" spc="0">
                          <a:solidFill>
                            <a:schemeClr val="tx1"/>
                          </a:solidFill>
                        </a:rPr>
                        <a:t>Use Case</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General business needs, capex, working capital</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c>
                  <a:txBody>
                    <a:bodyPr/>
                    <a:lstStyle/>
                    <a:p>
                      <a:pPr marL="171450" indent="-171450">
                        <a:buFont typeface="Arial" panose="020B0604020202020204" pitchFamily="34" charset="0"/>
                        <a:buChar char="•"/>
                      </a:pPr>
                      <a:r>
                        <a:rPr lang="en-US" sz="1100" cap="none" spc="0">
                          <a:solidFill>
                            <a:schemeClr val="tx1"/>
                          </a:solidFill>
                        </a:rPr>
                        <a:t>Working capital, liquidity support for large firms</a:t>
                      </a:r>
                      <a:endParaRPr lang="en-US"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noFill/>
                  </a:tcPr>
                </a:tc>
              </a:tr>
              <a:tr h="381000">
                <a:tc>
                  <a:txBody>
                    <a:bodyPr/>
                    <a:lstStyle/>
                    <a:p>
                      <a:r>
                        <a:rPr lang="en-IN" sz="1100" b="1" cap="none" spc="0">
                          <a:solidFill>
                            <a:schemeClr val="tx1"/>
                          </a:solidFill>
                        </a:rPr>
                        <a:t>Typical Users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All business sizes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c>
                  <a:txBody>
                    <a:bodyPr/>
                    <a:lstStyle/>
                    <a:p>
                      <a:pPr marL="171450" indent="-171450">
                        <a:buFont typeface="Arial" panose="020B0604020202020204" pitchFamily="34" charset="0"/>
                        <a:buChar char="•"/>
                      </a:pPr>
                      <a:r>
                        <a:rPr lang="en-IN" sz="1100" cap="none" spc="0">
                          <a:solidFill>
                            <a:schemeClr val="tx1"/>
                          </a:solidFill>
                        </a:rPr>
                        <a:t>Mid to large corporates</a:t>
                      </a:r>
                      <a:endParaRPr lang="en-IN" sz="1100" cap="none" spc="0">
                        <a:solidFill>
                          <a:schemeClr val="tx1"/>
                        </a:solidFill>
                      </a:endParaRPr>
                    </a:p>
                  </a:txBody>
                  <a:tcPr marL="85216" marR="85216" marT="85216" marB="85216" anchor="ctr">
                    <a:lnL w="12700" cmpd="sng">
                      <a:noFill/>
                      <a:prstDash val="solid"/>
                    </a:lnL>
                    <a:lnR w="12700" cmpd="sng">
                      <a:noFill/>
                      <a:prstDash val="solid"/>
                    </a:lnR>
                    <a:lnT w="12700" cmpd="sng">
                      <a:noFill/>
                      <a:prstDash val="solid"/>
                    </a:lnT>
                    <a:lnB w="12700" cmpd="sng">
                      <a:noFill/>
                      <a:prstDash val="solid"/>
                    </a:lnB>
                    <a:solidFill>
                      <a:srgbClr val="000000">
                        <a:alpha val="7843"/>
                      </a:srgb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a:t>
            </a:r>
            <a:endParaRPr lang="en-IN" altLang="en-US"/>
          </a:p>
        </p:txBody>
      </p:sp>
      <p:sp>
        <p:nvSpPr>
          <p:cNvPr id="3" name="Text Box 2"/>
          <p:cNvSpPr txBox="1"/>
          <p:nvPr/>
        </p:nvSpPr>
        <p:spPr>
          <a:xfrm>
            <a:off x="810260" y="1145540"/>
            <a:ext cx="10216515" cy="22800310"/>
          </a:xfrm>
          <a:prstGeom prst="rect">
            <a:avLst/>
          </a:prstGeom>
          <a:noFill/>
        </p:spPr>
        <p:txBody>
          <a:bodyPr wrap="square" rtlCol="0">
            <a:noAutofit/>
          </a:bodyPr>
          <a:p>
            <a:r>
              <a:rPr lang="en-US" altLang="en-US"/>
              <a:t>The corporate loan syndication process is a structured method where a group of lenders, known as a syndicate, provides a single, large loan to one borrower, typically a corporation or government entity. This approach distributes risk among multiple institutions, making it feasible to fund substantial projects such as mergers, acquisitions, or infrastructure development that would be too large for any single lender</a:t>
            </a:r>
            <a:r>
              <a:rPr lang="en-IN" altLang="en-US"/>
              <a:t>.</a:t>
            </a:r>
            <a:endParaRPr lang="en-IN" altLang="en-US"/>
          </a:p>
          <a:p>
            <a:endParaRPr lang="en-IN" altLang="en-US"/>
          </a:p>
          <a:p>
            <a:r>
              <a:rPr lang="en-US" altLang="en-US"/>
              <a:t>Loan syndication is more than just pooling lenders together — it’s a carefully structured process where every participant is compensated for the risk, effort, and administration they take on</a:t>
            </a:r>
            <a:r>
              <a:rPr lang="en-IN" altLang="en-US"/>
              <a:t>.</a:t>
            </a:r>
            <a:endParaRPr lang="en-IN" altLang="en-US"/>
          </a:p>
          <a:p>
            <a:endParaRPr lang="en-IN" altLang="en-US"/>
          </a:p>
          <a:p>
            <a:r>
              <a:rPr lang="en-US" altLang="en-US"/>
              <a:t>From the initial mandate fee to the final exit charges, each stage introduces specific costs that shape the overall economics of the deal. For borrowers, recognizing these fees is critical to evaluating the real cost of capital. For lenders, it ensures transparency and fair value across the lifecycle of the loan</a:t>
            </a:r>
            <a:endParaRPr lang="en-US" altLang="en-US"/>
          </a:p>
          <a:p>
            <a:endParaRPr lang="en-US" altLang="en-US"/>
          </a:p>
          <a:p>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pic>
        <p:nvPicPr>
          <p:cNvPr id="3" name="Picture 2"/>
          <p:cNvPicPr>
            <a:picLocks noChangeAspect="1"/>
          </p:cNvPicPr>
          <p:nvPr/>
        </p:nvPicPr>
        <p:blipFill>
          <a:blip r:embed="rId1"/>
          <a:stretch>
            <a:fillRect/>
          </a:stretch>
        </p:blipFill>
        <p:spPr>
          <a:xfrm>
            <a:off x="904240" y="742950"/>
            <a:ext cx="9792970" cy="561467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 Process Flow:</a:t>
            </a:r>
            <a:endParaRPr lang="en-IN" altLang="en-US"/>
          </a:p>
        </p:txBody>
      </p:sp>
      <p:sp>
        <p:nvSpPr>
          <p:cNvPr id="3" name="Text Box 2"/>
          <p:cNvSpPr txBox="1"/>
          <p:nvPr/>
        </p:nvSpPr>
        <p:spPr>
          <a:xfrm>
            <a:off x="810260" y="1136015"/>
            <a:ext cx="10216515" cy="22800310"/>
          </a:xfrm>
          <a:prstGeom prst="rect">
            <a:avLst/>
          </a:prstGeom>
          <a:noFill/>
        </p:spPr>
        <p:txBody>
          <a:bodyPr wrap="square" rtlCol="0">
            <a:noAutofit/>
          </a:bodyPr>
          <a:p>
            <a:r>
              <a:rPr lang="en-US" altLang="en-US" b="1"/>
              <a:t>Origination/Pre-Mandate Stage:</a:t>
            </a:r>
            <a:r>
              <a:rPr lang="en-US" altLang="en-US"/>
              <a:t> The borrower identifies a need for a large loan and approaches a single bank or financial institution to act as the lead arranger (also called the mandated lead arranger or syndicate leader). The lead arranger assesses the borrower's needs, project feasibility, and financial health, then designs the initial loan structure and terms in a proposal or "term sheet".</a:t>
            </a:r>
            <a:endParaRPr lang="en-US" altLang="en-US"/>
          </a:p>
          <a:p>
            <a:endParaRPr lang="en-US" altLang="en-US"/>
          </a:p>
          <a:p>
            <a:r>
              <a:rPr lang="en-US" altLang="en-US" b="1"/>
              <a:t>Preparation and Syndication:</a:t>
            </a:r>
            <a:r>
              <a:rPr lang="en-US" altLang="en-US"/>
              <a:t> The lead arranger prepares a comprehensive information memorandum (IM) that details the borrower's financials, project specifics, and loan requirements for potential lenders. The arranger then approaches other banks and financial institutions to invite them to participate in the syndicate.</a:t>
            </a:r>
            <a:endParaRPr lang="en-US" altLang="en-US"/>
          </a:p>
          <a:p>
            <a:endParaRPr lang="en-US" altLang="en-US"/>
          </a:p>
          <a:p>
            <a:r>
              <a:rPr lang="en-US" altLang="en-US" b="1"/>
              <a:t>Negotiation and Documentation:</a:t>
            </a:r>
            <a:r>
              <a:rPr lang="en-US" altLang="en-US"/>
              <a:t> Interested lenders conduct their own due diligence and negotiate the final terms and conditions, including interest rates, fees, repayment schedules, and covenants. Once an agreement is reached by all parties, a single, unified loan agreement is drafted by legal counsel and signed by the borrower and all participating lenders.</a:t>
            </a:r>
            <a:endParaRPr lang="en-US" altLang="en-US"/>
          </a:p>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 Process Flow:</a:t>
            </a:r>
            <a:endParaRPr lang="en-IN" altLang="en-US"/>
          </a:p>
        </p:txBody>
      </p:sp>
      <p:sp>
        <p:nvSpPr>
          <p:cNvPr id="3" name="Text Box 2"/>
          <p:cNvSpPr txBox="1"/>
          <p:nvPr/>
        </p:nvSpPr>
        <p:spPr>
          <a:xfrm>
            <a:off x="810260" y="1136015"/>
            <a:ext cx="10216515" cy="22800310"/>
          </a:xfrm>
          <a:prstGeom prst="rect">
            <a:avLst/>
          </a:prstGeom>
          <a:noFill/>
        </p:spPr>
        <p:txBody>
          <a:bodyPr wrap="square" rtlCol="0">
            <a:noAutofit/>
          </a:bodyPr>
          <a:p>
            <a:endParaRPr lang="en-US" altLang="en-US"/>
          </a:p>
          <a:p>
            <a:r>
              <a:rPr lang="en-US" altLang="en-US" b="1"/>
              <a:t>Closing and Disbursement:</a:t>
            </a:r>
            <a:r>
              <a:rPr lang="en-US" altLang="en-US"/>
              <a:t> After all documentation is finalized and regulatory approvals are obtained, the syndicated loan is closed. Funds are then collectively disbursed to the borrower, either in a lump sum or in tranches (instalments) as needed for the project.</a:t>
            </a:r>
            <a:endParaRPr lang="en-US" altLang="en-US"/>
          </a:p>
          <a:p>
            <a:endParaRPr lang="en-US" altLang="en-US"/>
          </a:p>
          <a:p>
            <a:r>
              <a:rPr lang="en-US" altLang="en-US" b="1"/>
              <a:t>Administration and Monitoring:</a:t>
            </a:r>
            <a:r>
              <a:rPr lang="en-US" altLang="en-US"/>
              <a:t> Throughout the life of the loan, an agent bank (often the lead arranger) manages the loan's administration, serving as the intermediary between the borrower and all lenders. This includes coordinating loan disbursements, collecting principal and interest payments from the borrower, distributing funds proportionally to participants, and ensuring compliance with the loan's terms and covenants. </a:t>
            </a:r>
            <a:endParaRPr lang="en-US" altLang="en-US"/>
          </a:p>
          <a:p>
            <a:endParaRPr lang="en-US" altLang="en-US"/>
          </a:p>
          <a:p>
            <a:r>
              <a:rPr lang="en-US" altLang="en-US"/>
              <a:t>The lead bank typically earns arrangement and underwriting fees for its work, while participating lenders receive a portion of the interest and other fees based on their contribution to the loan amount.</a:t>
            </a:r>
            <a:endParaRPr lang="en-US"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 Costs/Fees</a:t>
            </a:r>
            <a:endParaRPr lang="en-IN" altLang="en-US"/>
          </a:p>
        </p:txBody>
      </p:sp>
      <p:sp>
        <p:nvSpPr>
          <p:cNvPr id="3" name="Text Box 2"/>
          <p:cNvSpPr txBox="1"/>
          <p:nvPr/>
        </p:nvSpPr>
        <p:spPr>
          <a:xfrm>
            <a:off x="810260" y="1136015"/>
            <a:ext cx="10269220" cy="4866640"/>
          </a:xfrm>
          <a:prstGeom prst="rect">
            <a:avLst/>
          </a:prstGeom>
          <a:noFill/>
        </p:spPr>
        <p:txBody>
          <a:bodyPr wrap="square" rtlCol="0">
            <a:noAutofit/>
          </a:bodyPr>
          <a:p>
            <a:endParaRPr lang="en-US" altLang="en-US"/>
          </a:p>
          <a:p>
            <a:r>
              <a:rPr lang="en-US" altLang="en-US"/>
              <a:t>Loan syndication is more than just pooling lenders together — it’s a carefully structured process where every participant is compensated for the risk, effort, and administration they take on. From the initial mandate fee to the final exit charges, each stage introduces specific costs that shape the overall economics of the deal. For borrowers, recognizing these fees is critical to evaluating the real cost of capital. For lenders, it ensures transparency and fair value across the lifecycle of the loan.</a:t>
            </a:r>
            <a:endParaRPr lang="en-US" altLang="en-US"/>
          </a:p>
          <a:p>
            <a:endParaRPr lang="en-US" altLang="en-US"/>
          </a:p>
          <a:p>
            <a:r>
              <a:rPr lang="en-US" altLang="en-US"/>
              <a:t>The loan syndication process involves multiple fees across its lifecycle — from mandate and arrangement fees at the start, to underwriting, agent, facility, and participation fees during execution, and finally exit or prepayment fees at closure</a:t>
            </a:r>
            <a:r>
              <a:rPr lang="en-IN" altLang="en-US"/>
              <a:t> paid by the Borrower.</a:t>
            </a:r>
            <a:endParaRPr lang="en-US" altLang="en-US"/>
          </a:p>
          <a:p>
            <a:endParaRPr lang="en-US" altLang="en-US"/>
          </a:p>
          <a:p>
            <a:r>
              <a:rPr lang="en-US" altLang="en-US"/>
              <a:t>Detailed Breakdown</a:t>
            </a:r>
            <a:endParaRPr lang="en-US" altLang="en-US"/>
          </a:p>
          <a:p>
            <a:r>
              <a:rPr lang="en-US" altLang="en-US"/>
              <a:t>1. Mandate/Arrangement Fee: Paid to the lead arranger for structuring and organizing the syndicate.</a:t>
            </a:r>
            <a:endParaRPr lang="en-US" altLang="en-US"/>
          </a:p>
          <a:p>
            <a:endParaRPr lang="en-US" altLang="en-US"/>
          </a:p>
          <a:p>
            <a:r>
              <a:rPr lang="en-US" altLang="en-US"/>
              <a:t>2.Underwriting Fee: Compensation for banks guaranteeing the loan before syndication is complete.</a:t>
            </a:r>
            <a:endParaRPr lang="en-US" altLang="en-US"/>
          </a:p>
          <a:p>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 Process Flow:</a:t>
            </a:r>
            <a:endParaRPr lang="en-IN" altLang="en-US"/>
          </a:p>
        </p:txBody>
      </p:sp>
      <p:sp>
        <p:nvSpPr>
          <p:cNvPr id="3" name="Text Box 2"/>
          <p:cNvSpPr txBox="1"/>
          <p:nvPr/>
        </p:nvSpPr>
        <p:spPr>
          <a:xfrm>
            <a:off x="810260" y="1136015"/>
            <a:ext cx="10216515" cy="22800310"/>
          </a:xfrm>
          <a:prstGeom prst="rect">
            <a:avLst/>
          </a:prstGeom>
          <a:noFill/>
        </p:spPr>
        <p:txBody>
          <a:bodyPr wrap="square" rtlCol="0">
            <a:noAutofit/>
          </a:bodyPr>
          <a:p>
            <a:r>
              <a:rPr lang="en-US" altLang="en-US"/>
              <a:t>3. Upfront Fee: Paid to participating lenders for committing funds. Usually based on loan size and risk.</a:t>
            </a:r>
            <a:endParaRPr lang="en-US" altLang="en-US"/>
          </a:p>
          <a:p>
            <a:endParaRPr lang="en-US" altLang="en-US"/>
          </a:p>
          <a:p>
            <a:r>
              <a:rPr lang="en-US" altLang="en-US"/>
              <a:t>4. Agent Fee: Paid to the agent bank managing loan administration, interest payments, and communication.</a:t>
            </a:r>
            <a:endParaRPr lang="en-US" altLang="en-US"/>
          </a:p>
          <a:p>
            <a:endParaRPr lang="en-US" altLang="en-US"/>
          </a:p>
          <a:p>
            <a:r>
              <a:rPr lang="en-US" altLang="en-US"/>
              <a:t>5. Facility / Commitment Fees: Charged for keeping the loan facility available, even if not fully drawn / Paid on undrawn portions of the loan to compensate lenders for reserving capital.</a:t>
            </a:r>
            <a:endParaRPr lang="en-US" altLang="en-US"/>
          </a:p>
          <a:p>
            <a:endParaRPr lang="en-US" altLang="en-US"/>
          </a:p>
          <a:p>
            <a:r>
              <a:rPr lang="en-US" altLang="en-US"/>
              <a:t>6. Participation Fee: Incentive for lenders to join the syndicate, often negotiated.</a:t>
            </a:r>
            <a:endParaRPr lang="en-US" altLang="en-US"/>
          </a:p>
          <a:p>
            <a:endParaRPr lang="en-US" altLang="en-US"/>
          </a:p>
          <a:p>
            <a:r>
              <a:rPr lang="en-US" altLang="en-US"/>
              <a:t>7. Exit/Prepayment Fee: Charged if the borrower repays early or exits the facility before maturity.</a:t>
            </a:r>
            <a:endParaRPr lang="en-US" altLang="en-US"/>
          </a:p>
          <a:p>
            <a:endParaRPr lang="en-US" altLang="en-US"/>
          </a:p>
          <a:p>
            <a:r>
              <a:rPr lang="en-US" altLang="en-US"/>
              <a:t>8. Amendment/Waiver Fees: Paid when loan terms are renegotiated or covenants waived.</a:t>
            </a:r>
            <a:endParaRPr lang="en-US" altLang="en-US"/>
          </a:p>
          <a:p>
            <a:r>
              <a:rPr lang="en-US" altLang="en-US"/>
              <a:t> </a:t>
            </a:r>
            <a:endParaRPr lang="en-US" altLang="en-US"/>
          </a:p>
          <a:p>
            <a:endParaRPr lang="en-US"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t>Loan Syndication : Primary &amp; Secondary Market</a:t>
            </a:r>
            <a:endParaRPr lang="en-IN" altLang="en-US"/>
          </a:p>
        </p:txBody>
      </p:sp>
      <p:sp>
        <p:nvSpPr>
          <p:cNvPr id="3" name="Text Box 2"/>
          <p:cNvSpPr txBox="1"/>
          <p:nvPr/>
        </p:nvSpPr>
        <p:spPr>
          <a:xfrm>
            <a:off x="810260" y="1136015"/>
            <a:ext cx="10216515" cy="5348605"/>
          </a:xfrm>
          <a:prstGeom prst="rect">
            <a:avLst/>
          </a:prstGeom>
          <a:noFill/>
        </p:spPr>
        <p:txBody>
          <a:bodyPr wrap="square" rtlCol="0">
            <a:noAutofit/>
          </a:bodyPr>
          <a:p>
            <a:r>
              <a:rPr lang="en-US" altLang="en-US"/>
              <a:t>Primary Market </a:t>
            </a:r>
            <a:r>
              <a:rPr lang="en-IN" altLang="en-US"/>
              <a:t>:</a:t>
            </a:r>
            <a:r>
              <a:rPr lang="en-US" altLang="en-US"/>
              <a:t>The primary market is where syndicated loans are originated and structured. The borrower works with the lead bank (or multiple arrangers) to define the loan terms, pricing, and structure. Once the terms are finalized, the loan is underwritten and then sold to other lenders, such as commercial banks, institutional investors, hedge funds, and pension funds. </a:t>
            </a:r>
            <a:endParaRPr lang="en-US" altLang="en-US"/>
          </a:p>
          <a:p>
            <a:endParaRPr lang="en-US" altLang="en-US"/>
          </a:p>
          <a:p>
            <a:r>
              <a:rPr lang="en-US" altLang="en-US"/>
              <a:t>Secondary Market</a:t>
            </a:r>
            <a:r>
              <a:rPr lang="en-IN" altLang="en-US"/>
              <a:t>:</a:t>
            </a:r>
            <a:r>
              <a:rPr lang="en-US" altLang="en-US"/>
              <a:t> Once the loan is funded, it can be traded in the secondary market, where existing lenders can sell portions of their commitments to new investors. The secondary market provides liquidity, allowing lenders to manage their risk exposure. </a:t>
            </a:r>
            <a:endParaRPr lang="en-US" altLang="en-US"/>
          </a:p>
          <a:p>
            <a:endParaRPr lang="en-US" altLang="en-US"/>
          </a:p>
          <a:p>
            <a:r>
              <a:rPr lang="en-US" altLang="en-US"/>
              <a:t>Loan sales in the secondary market can take two forms: </a:t>
            </a:r>
            <a:endParaRPr lang="en-US" altLang="en-US"/>
          </a:p>
          <a:p>
            <a:endParaRPr lang="en-US" altLang="en-US"/>
          </a:p>
          <a:p>
            <a:r>
              <a:rPr lang="en-US" altLang="en-US"/>
              <a:t>1. PAR Trades – When the loan is performing well and sold at or near face value. </a:t>
            </a:r>
            <a:endParaRPr lang="en-US" altLang="en-US"/>
          </a:p>
          <a:p>
            <a:endParaRPr lang="en-US" altLang="en-US"/>
          </a:p>
          <a:p>
            <a:r>
              <a:rPr lang="en-US" altLang="en-US"/>
              <a:t>2. Distressed Trades – When the borrower is experiencing financial difficulties, and the loan is sold at a discount due to increased credit risk. </a:t>
            </a:r>
            <a:endParaRPr lang="en-US" altLang="en-US"/>
          </a:p>
          <a:p>
            <a:endParaRPr lang="en-US" altLang="en-US"/>
          </a:p>
          <a:p>
            <a:r>
              <a:rPr lang="en-US" altLang="en-US"/>
              <a:t>Organizations such as the Loan Syndications and Trading Association (LSTA) in the U.S. and the Loan Market Association (LMA) in Europe help standardize practices and documentation for the secondary loan</a:t>
            </a:r>
            <a:endParaRPr lang="en-US" altLang="en-US"/>
          </a:p>
          <a:p>
            <a:r>
              <a:rPr lang="en-US" altLang="en-US"/>
              <a:t> </a:t>
            </a:r>
            <a:endParaRPr lang="en-US" altLang="en-US"/>
          </a:p>
          <a:p>
            <a:endParaRPr lang="en-US"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555115" y="525780"/>
            <a:ext cx="8905875" cy="60166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Syndicated Loan Structures </a:t>
            </a:r>
            <a:endParaRPr lang="en-IN" altLang="en-US"/>
          </a:p>
        </p:txBody>
      </p:sp>
      <p:sp>
        <p:nvSpPr>
          <p:cNvPr id="3" name="Text Box 2"/>
          <p:cNvSpPr txBox="1"/>
          <p:nvPr/>
        </p:nvSpPr>
        <p:spPr>
          <a:xfrm>
            <a:off x="810260" y="1136015"/>
            <a:ext cx="10216515" cy="5348605"/>
          </a:xfrm>
          <a:prstGeom prst="rect">
            <a:avLst/>
          </a:prstGeom>
          <a:noFill/>
        </p:spPr>
        <p:txBody>
          <a:bodyPr wrap="square" rtlCol="0">
            <a:noAutofit/>
          </a:bodyPr>
          <a:p>
            <a:r>
              <a:rPr lang="en-US" altLang="en-US"/>
              <a:t>Syndicated loans can vary significantly in structure. They can be broad and widely syndicated, where a large number of institutional lenders participate, or more bilateral, with a small, select group of lenders providing financing in a more private arrangement. Common types of syndicated loan structures include: </a:t>
            </a:r>
            <a:endParaRPr lang="en-US" altLang="en-US"/>
          </a:p>
          <a:p>
            <a:endParaRPr lang="en-US" altLang="en-US"/>
          </a:p>
          <a:p>
            <a:r>
              <a:rPr lang="en-US" altLang="en-US"/>
              <a:t>1. Term Loans (TLA &amp; TLB) – Fixed maturity loans where the borrower receives the full loan amount upfront and repays principal over time. TLBs (Term Loan B) are often structured for institutional investors with fewer amortization requirements and a large bullet repayment at maturity. </a:t>
            </a:r>
            <a:endParaRPr lang="en-US" altLang="en-US"/>
          </a:p>
          <a:p>
            <a:endParaRPr lang="en-US" altLang="en-US"/>
          </a:p>
          <a:p>
            <a:r>
              <a:rPr lang="en-US" altLang="en-US"/>
              <a:t>2. Revolving Credit Facilities (Revolvers) – A flexible loan where the borrower can draw, repay, and redraw funds as needed up to a set limit. </a:t>
            </a:r>
            <a:endParaRPr lang="en-US" altLang="en-US"/>
          </a:p>
          <a:p>
            <a:endParaRPr lang="en-US" altLang="en-US"/>
          </a:p>
          <a:p>
            <a:endParaRPr lang="en-US"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Syndicated Loan Structures </a:t>
            </a:r>
            <a:endParaRPr lang="en-IN" altLang="en-US"/>
          </a:p>
        </p:txBody>
      </p:sp>
      <p:sp>
        <p:nvSpPr>
          <p:cNvPr id="3" name="Text Box 2"/>
          <p:cNvSpPr txBox="1"/>
          <p:nvPr/>
        </p:nvSpPr>
        <p:spPr>
          <a:xfrm>
            <a:off x="810260" y="1136015"/>
            <a:ext cx="10216515" cy="5348605"/>
          </a:xfrm>
          <a:prstGeom prst="rect">
            <a:avLst/>
          </a:prstGeom>
          <a:noFill/>
        </p:spPr>
        <p:txBody>
          <a:bodyPr wrap="square" rtlCol="0">
            <a:noAutofit/>
          </a:bodyPr>
          <a:p>
            <a:endParaRPr lang="en-US" altLang="en-US"/>
          </a:p>
          <a:p>
            <a:r>
              <a:rPr lang="en-US" altLang="en-US"/>
              <a:t>3. Delayed Draw Term Loans (DDTLs) – A term loan that allows the borrower to draw funds over a predetermined period rather than receiving the full amount upfront. </a:t>
            </a:r>
            <a:endParaRPr lang="en-US" altLang="en-US"/>
          </a:p>
          <a:p>
            <a:endParaRPr lang="en-US" altLang="en-US"/>
          </a:p>
          <a:p>
            <a:r>
              <a:rPr lang="en-US" altLang="en-US"/>
              <a:t>4. Bridge Loans – Short-term loans designed to provide temporary funding until permanent financing is secured. </a:t>
            </a:r>
            <a:endParaRPr lang="en-US" altLang="en-US"/>
          </a:p>
          <a:p>
            <a:endParaRPr lang="en-US" altLang="en-US"/>
          </a:p>
          <a:p>
            <a:r>
              <a:rPr lang="en-US" altLang="en-US"/>
              <a:t>5. Asset-Backed Loans (ABL) – Loans secured by the borrower’s assets, often used in structured finance. </a:t>
            </a:r>
            <a:endParaRPr lang="en-US" altLang="en-US"/>
          </a:p>
          <a:p>
            <a:endParaRPr lang="en-US" altLang="en-US"/>
          </a:p>
          <a:p>
            <a:r>
              <a:rPr lang="en-US" altLang="en-US"/>
              <a:t>6. Mezzanine Loans – High-risk, high-yield loans that sit between senior debt and equity financing, often used in leveraged buyouts. </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4"/>
        <p:cNvGrpSpPr/>
        <p:nvPr/>
      </p:nvGrpSpPr>
      <p:grpSpPr>
        <a:xfrm>
          <a:off x="0" y="0"/>
          <a:ext cx="0" cy="0"/>
          <a:chOff x="0" y="0"/>
          <a:chExt cx="0" cy="0"/>
        </a:xfrm>
      </p:grpSpPr>
      <p:pic>
        <p:nvPicPr>
          <p:cNvPr id="10" name="Picture Placeholder 9"/>
          <p:cNvPicPr preferRelativeResize="0">
            <a:picLocks noGrp="1"/>
          </p:cNvPicPr>
          <p:nvPr>
            <p:ph type="pic" idx="2"/>
          </p:nvPr>
        </p:nvPicPr>
        <p:blipFill rotWithShape="1">
          <a:blip r:embed="rId1"/>
          <a:srcRect t="3475" b="3475"/>
          <a:stretch>
            <a:fillRect/>
          </a:stretch>
        </p:blipFill>
        <p:spPr>
          <a:xfrm>
            <a:off x="4224759" y="0"/>
            <a:ext cx="7967241" cy="6858000"/>
          </a:xfrm>
          <a:custGeom>
            <a:avLst/>
            <a:gdLst>
              <a:gd name="connsiteX0" fmla="*/ 0 w 7896443"/>
              <a:gd name="connsiteY0" fmla="*/ 0 h 7173838"/>
              <a:gd name="connsiteX1" fmla="*/ 7896443 w 7896443"/>
              <a:gd name="connsiteY1" fmla="*/ 0 h 7173838"/>
              <a:gd name="connsiteX2" fmla="*/ 7896443 w 7896443"/>
              <a:gd name="connsiteY2" fmla="*/ 7173838 h 7173838"/>
              <a:gd name="connsiteX3" fmla="*/ 1949610 w 7896443"/>
              <a:gd name="connsiteY3" fmla="*/ 7173838 h 7173838"/>
              <a:gd name="connsiteX4" fmla="*/ 0 w 7896443"/>
              <a:gd name="connsiteY4" fmla="*/ 393422 h 71738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96443" h="7173838">
                <a:moveTo>
                  <a:pt x="0" y="0"/>
                </a:moveTo>
                <a:lnTo>
                  <a:pt x="7896443" y="0"/>
                </a:lnTo>
                <a:lnTo>
                  <a:pt x="7896443" y="7173838"/>
                </a:lnTo>
                <a:lnTo>
                  <a:pt x="1949610" y="7173838"/>
                </a:lnTo>
                <a:lnTo>
                  <a:pt x="0" y="393422"/>
                </a:lnTo>
                <a:close/>
              </a:path>
            </a:pathLst>
          </a:custGeom>
          <a:solidFill>
            <a:srgbClr val="F2F2F2"/>
          </a:solidFill>
          <a:ln>
            <a:noFill/>
          </a:ln>
        </p:spPr>
      </p:pic>
      <p:sp>
        <p:nvSpPr>
          <p:cNvPr id="9" name="Google Shape;1067;p18"/>
          <p:cNvSpPr/>
          <p:nvPr/>
        </p:nvSpPr>
        <p:spPr>
          <a:xfrm flipH="1">
            <a:off x="4068006" y="1"/>
            <a:ext cx="8123993" cy="6858000"/>
          </a:xfrm>
          <a:custGeom>
            <a:avLst/>
            <a:gdLst/>
            <a:ahLst/>
            <a:cxnLst/>
            <a:rect l="l" t="t" r="r" b="b"/>
            <a:pathLst>
              <a:path w="16143890" h="13716000" extrusionOk="0">
                <a:moveTo>
                  <a:pt x="0" y="0"/>
                </a:moveTo>
                <a:lnTo>
                  <a:pt x="16143890" y="0"/>
                </a:lnTo>
                <a:lnTo>
                  <a:pt x="12044855" y="13716000"/>
                </a:lnTo>
                <a:lnTo>
                  <a:pt x="0" y="13716000"/>
                </a:lnTo>
                <a:lnTo>
                  <a:pt x="0" y="0"/>
                </a:lnTo>
                <a:close/>
              </a:path>
            </a:pathLst>
          </a:custGeom>
          <a:solidFill>
            <a:srgbClr val="25B5CA">
              <a:alpha val="80000"/>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sp>
        <p:nvSpPr>
          <p:cNvPr id="1066" name="Google Shape;1066;p18"/>
          <p:cNvSpPr/>
          <p:nvPr/>
        </p:nvSpPr>
        <p:spPr>
          <a:xfrm flipH="1">
            <a:off x="1588" y="627903"/>
            <a:ext cx="560419" cy="270354"/>
          </a:xfrm>
          <a:custGeom>
            <a:avLst/>
            <a:gdLst/>
            <a:ahLst/>
            <a:cxnLst/>
            <a:rect l="l" t="t" r="r" b="b"/>
            <a:pathLst>
              <a:path w="16161399" h="3987559" extrusionOk="0">
                <a:moveTo>
                  <a:pt x="2409708" y="0"/>
                </a:moveTo>
                <a:lnTo>
                  <a:pt x="16161399" y="0"/>
                </a:lnTo>
                <a:lnTo>
                  <a:pt x="16161399" y="3987559"/>
                </a:lnTo>
                <a:lnTo>
                  <a:pt x="0" y="3960361"/>
                </a:lnTo>
                <a:lnTo>
                  <a:pt x="2409708" y="0"/>
                </a:lnTo>
                <a:close/>
              </a:path>
            </a:pathLst>
          </a:custGeom>
          <a:solidFill>
            <a:srgbClr val="19A7CE"/>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panose="020B0604020202020204"/>
              <a:buNone/>
              <a:defRPr/>
            </a:pPr>
            <a:endParaRPr kumimoji="0" sz="1800" b="0" i="0" u="none" strike="noStrike" kern="0" cap="none" spc="0" normalizeH="0" baseline="0" noProof="0">
              <a:ln>
                <a:noFill/>
              </a:ln>
              <a:solidFill>
                <a:srgbClr val="FFFFFF"/>
              </a:solidFill>
              <a:effectLst/>
              <a:uLnTx/>
              <a:uFillTx/>
              <a:latin typeface="Arial" panose="020B0604020202020204"/>
              <a:ea typeface="Arial" panose="020B0604020202020204"/>
              <a:cs typeface="Arial" panose="020B0604020202020204"/>
              <a:sym typeface="Arial" panose="020B0604020202020204"/>
            </a:endParaRPr>
          </a:p>
        </p:txBody>
      </p:sp>
      <p:pic>
        <p:nvPicPr>
          <p:cNvPr id="1070" name="Google Shape;1070;p18"/>
          <p:cNvPicPr preferRelativeResize="0"/>
          <p:nvPr/>
        </p:nvPicPr>
        <p:blipFill rotWithShape="1">
          <a:blip r:embed="rId2"/>
          <a:srcRect/>
          <a:stretch>
            <a:fillRect/>
          </a:stretch>
        </p:blipFill>
        <p:spPr>
          <a:xfrm>
            <a:off x="9605081" y="442892"/>
            <a:ext cx="2507744" cy="790998"/>
          </a:xfrm>
          <a:prstGeom prst="rect">
            <a:avLst/>
          </a:prstGeom>
          <a:noFill/>
          <a:ln>
            <a:noFill/>
          </a:ln>
        </p:spPr>
      </p:pic>
      <p:grpSp>
        <p:nvGrpSpPr>
          <p:cNvPr id="2" name="Group 1"/>
          <p:cNvGrpSpPr/>
          <p:nvPr/>
        </p:nvGrpSpPr>
        <p:grpSpPr>
          <a:xfrm>
            <a:off x="1587" y="2337971"/>
            <a:ext cx="8833319" cy="2182058"/>
            <a:chOff x="1587" y="2337971"/>
            <a:chExt cx="8833319" cy="2182058"/>
          </a:xfrm>
        </p:grpSpPr>
        <p:sp>
          <p:nvSpPr>
            <p:cNvPr id="1068" name="Google Shape;1068;p18"/>
            <p:cNvSpPr/>
            <p:nvPr/>
          </p:nvSpPr>
          <p:spPr>
            <a:xfrm flipH="1">
              <a:off x="1587" y="2337971"/>
              <a:ext cx="8833319" cy="2182058"/>
            </a:xfrm>
            <a:custGeom>
              <a:avLst/>
              <a:gdLst/>
              <a:ahLst/>
              <a:cxnLst/>
              <a:rect l="l" t="t" r="r" b="b"/>
              <a:pathLst>
                <a:path w="14981402" h="3987559" extrusionOk="0">
                  <a:moveTo>
                    <a:pt x="1229711" y="0"/>
                  </a:moveTo>
                  <a:lnTo>
                    <a:pt x="14981402" y="0"/>
                  </a:lnTo>
                  <a:lnTo>
                    <a:pt x="14981402" y="3987559"/>
                  </a:lnTo>
                  <a:lnTo>
                    <a:pt x="0" y="3987559"/>
                  </a:lnTo>
                  <a:lnTo>
                    <a:pt x="1229711" y="0"/>
                  </a:lnTo>
                  <a:close/>
                </a:path>
              </a:pathLst>
            </a:custGeom>
            <a:solidFill>
              <a:schemeClr val="dk2"/>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Arial" panose="020B0604020202020204"/>
                <a:buNone/>
                <a:defRPr/>
              </a:pPr>
              <a:endParaRPr kumimoji="0" sz="1800" b="0" i="0" u="none" strike="noStrike" kern="0" cap="none" spc="0" normalizeH="0" baseline="0" noProof="0" dirty="0">
                <a:ln>
                  <a:noFill/>
                </a:ln>
                <a:solidFill>
                  <a:srgbClr val="FFFFFF"/>
                </a:solidFill>
                <a:effectLst/>
                <a:uLnTx/>
                <a:uFillTx/>
                <a:latin typeface="Arial" panose="020B0604020202020204" pitchFamily="34" charset="0"/>
                <a:sym typeface="Arial" panose="020B0604020202020204"/>
              </a:endParaRPr>
            </a:p>
          </p:txBody>
        </p:sp>
        <p:sp>
          <p:nvSpPr>
            <p:cNvPr id="1069" name="Google Shape;1069;p18"/>
            <p:cNvSpPr txBox="1"/>
            <p:nvPr/>
          </p:nvSpPr>
          <p:spPr>
            <a:xfrm>
              <a:off x="459616" y="2705745"/>
              <a:ext cx="7373533" cy="76708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FFFF"/>
                </a:buClr>
                <a:buSzPts val="4400"/>
                <a:buFont typeface="Arial" panose="020B0604020202020204"/>
                <a:buNone/>
                <a:defRPr/>
              </a:pPr>
              <a:r>
                <a:rPr kumimoji="0" lang="en-US" sz="4400" b="1" i="0" u="none" strike="noStrike" kern="0" cap="none" spc="0" normalizeH="0" baseline="0" noProof="0" dirty="0">
                  <a:ln>
                    <a:noFill/>
                  </a:ln>
                  <a:solidFill>
                    <a:srgbClr val="FFFFFF"/>
                  </a:solidFill>
                  <a:effectLst/>
                  <a:uLnTx/>
                  <a:uFillTx/>
                  <a:latin typeface="Century Gothic" panose="020B0502020202020204" pitchFamily="34" charset="0"/>
                  <a:sym typeface="Arial" panose="020B0604020202020204"/>
                </a:rPr>
                <a:t>Life Cycle of a Loan</a:t>
              </a:r>
              <a:endParaRPr kumimoji="0" lang="en-US" sz="4400" b="1" i="0" u="none" strike="noStrike" kern="0" cap="none" spc="0" normalizeH="0" baseline="0" noProof="0" dirty="0">
                <a:ln>
                  <a:noFill/>
                </a:ln>
                <a:solidFill>
                  <a:srgbClr val="FFFFFF"/>
                </a:solidFill>
                <a:effectLst/>
                <a:uLnTx/>
                <a:uFillTx/>
                <a:latin typeface="Century Gothic" panose="020B0502020202020204" pitchFamily="34" charset="0"/>
                <a:sym typeface="Arial" panose="020B0604020202020204"/>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TO LOAN PROCESS</a:t>
            </a:r>
            <a:endParaRPr lang="en-IN" dirty="0"/>
          </a:p>
        </p:txBody>
      </p:sp>
      <p:graphicFrame>
        <p:nvGraphicFramePr>
          <p:cNvPr id="5" name="Diagram 4"/>
          <p:cNvGraphicFramePr/>
          <p:nvPr/>
        </p:nvGraphicFramePr>
        <p:xfrm>
          <a:off x="700550" y="2304789"/>
          <a:ext cx="10515600" cy="443421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11" name="TextBox 10"/>
          <p:cNvSpPr txBox="1"/>
          <p:nvPr/>
        </p:nvSpPr>
        <p:spPr>
          <a:xfrm>
            <a:off x="0" y="1350682"/>
            <a:ext cx="12192000" cy="1077218"/>
          </a:xfrm>
          <a:prstGeom prst="rect">
            <a:avLst/>
          </a:prstGeom>
          <a:solidFill>
            <a:schemeClr val="accent3">
              <a:lumMod val="20000"/>
              <a:lumOff val="80000"/>
            </a:schemeClr>
          </a:solidFill>
        </p:spPr>
        <p:txBody>
          <a:bodyPr wrap="square">
            <a:spAutoFit/>
          </a:bodyPr>
          <a:lstStyle/>
          <a:p>
            <a:pPr marL="285750" indent="-285750">
              <a:buFont typeface="Arial" panose="020B0604020202020204" pitchFamily="34" charset="0"/>
              <a:buChar char="•"/>
            </a:pPr>
            <a:r>
              <a:rPr lang="en-US" sz="1600" dirty="0"/>
              <a:t>Understanding how commercial loans are processed helps businesses prepare better and improve their chances of approval.</a:t>
            </a:r>
            <a:endParaRPr lang="en-US" sz="1600" dirty="0"/>
          </a:p>
          <a:p>
            <a:pPr marL="285750" indent="-285750">
              <a:buFont typeface="Arial" panose="020B0604020202020204" pitchFamily="34" charset="0"/>
              <a:buChar char="•"/>
            </a:pPr>
            <a:r>
              <a:rPr lang="en-US" sz="1600" dirty="0"/>
              <a:t>Commercial loans support business needs such as expansion, working capital, equipment purchase, or project financing.</a:t>
            </a:r>
            <a:endParaRPr lang="en-US" sz="1600" dirty="0"/>
          </a:p>
          <a:p>
            <a:pPr marL="285750" indent="-285750">
              <a:buFont typeface="Arial" panose="020B0604020202020204" pitchFamily="34" charset="0"/>
              <a:buChar char="•"/>
            </a:pPr>
            <a:r>
              <a:rPr lang="en-US" sz="1600" dirty="0"/>
              <a:t> A well-organized loan process ensures both the lender’s risk is managed, and the borrower receives the most suitable financial solution</a:t>
            </a:r>
            <a:endParaRPr lang="en-IN"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US" sz="2400" b="1" dirty="0">
                <a:latin typeface="+mn-lt"/>
              </a:rPr>
              <a:t>LIFE CYCLE OF A </a:t>
            </a:r>
            <a:r>
              <a:rPr lang="en-IN" altLang="en-US" sz="2400" b="1" dirty="0">
                <a:latin typeface="+mn-lt"/>
              </a:rPr>
              <a:t>SYNDICATE</a:t>
            </a:r>
            <a:r>
              <a:rPr lang="en-US" sz="2400" b="1" dirty="0">
                <a:latin typeface="+mn-lt"/>
              </a:rPr>
              <a:t> LOAN</a:t>
            </a:r>
            <a:endParaRPr lang="en-US" dirty="0">
              <a:latin typeface="+mn-lt"/>
            </a:endParaRPr>
          </a:p>
        </p:txBody>
      </p:sp>
      <p:sp>
        <p:nvSpPr>
          <p:cNvPr id="586" name="Google Shape;586;p21"/>
          <p:cNvSpPr/>
          <p:nvPr/>
        </p:nvSpPr>
        <p:spPr>
          <a:xfrm>
            <a:off x="5369749" y="2245045"/>
            <a:ext cx="1078821" cy="369332"/>
          </a:xfrm>
          <a:prstGeom prst="rect">
            <a:avLst/>
          </a:prstGeom>
          <a:noFill/>
          <a:ln>
            <a:noFill/>
          </a:ln>
        </p:spPr>
        <p:txBody>
          <a:bodyPr spcFirstLastPara="1" wrap="square" lIns="0" tIns="0" rIns="0" bIns="0" anchor="t" anchorCtr="0">
            <a:spAutoFit/>
          </a:bodyPr>
          <a:lstStyle/>
          <a:p>
            <a:r>
              <a:rPr lang="en-US" sz="1200" b="1" dirty="0">
                <a:solidFill>
                  <a:srgbClr val="FFFFFF"/>
                </a:solidFill>
                <a:latin typeface="+mn-lt"/>
                <a:ea typeface="Cambria" panose="02040503050406030204"/>
                <a:cs typeface="Arial" panose="020B0604020202020204" pitchFamily="34" charset="0"/>
                <a:sym typeface="Cambria" panose="02040503050406030204"/>
              </a:rPr>
              <a:t>Loan Processes</a:t>
            </a:r>
            <a:endParaRPr sz="1800" dirty="0">
              <a:latin typeface="+mn-lt"/>
              <a:ea typeface="Cambria" panose="02040503050406030204"/>
              <a:cs typeface="Arial" panose="020B0604020202020204" pitchFamily="34" charset="0"/>
              <a:sym typeface="Cambria" panose="02040503050406030204"/>
            </a:endParaRPr>
          </a:p>
        </p:txBody>
      </p:sp>
      <p:grpSp>
        <p:nvGrpSpPr>
          <p:cNvPr id="605" name="Google Shape;605;p21"/>
          <p:cNvGrpSpPr/>
          <p:nvPr/>
        </p:nvGrpSpPr>
        <p:grpSpPr>
          <a:xfrm>
            <a:off x="1956723" y="2169559"/>
            <a:ext cx="8278555" cy="436290"/>
            <a:chOff x="624499" y="2374832"/>
            <a:chExt cx="8278555" cy="436290"/>
          </a:xfrm>
          <a:solidFill>
            <a:schemeClr val="bg2"/>
          </a:solidFill>
        </p:grpSpPr>
        <p:sp>
          <p:nvSpPr>
            <p:cNvPr id="606" name="Google Shape;606;p21"/>
            <p:cNvSpPr/>
            <p:nvPr/>
          </p:nvSpPr>
          <p:spPr>
            <a:xfrm>
              <a:off x="624499" y="2374832"/>
              <a:ext cx="8278555" cy="436290"/>
            </a:xfrm>
            <a:custGeom>
              <a:avLst/>
              <a:gdLst/>
              <a:ahLst/>
              <a:cxnLst/>
              <a:rect l="l" t="t" r="r" b="b"/>
              <a:pathLst>
                <a:path w="18216" h="875" extrusionOk="0">
                  <a:moveTo>
                    <a:pt x="146" y="0"/>
                  </a:moveTo>
                  <a:cubicBezTo>
                    <a:pt x="65" y="0"/>
                    <a:pt x="0" y="66"/>
                    <a:pt x="0" y="146"/>
                  </a:cubicBezTo>
                  <a:lnTo>
                    <a:pt x="0" y="730"/>
                  </a:lnTo>
                  <a:cubicBezTo>
                    <a:pt x="0" y="810"/>
                    <a:pt x="65" y="875"/>
                    <a:pt x="146" y="875"/>
                  </a:cubicBezTo>
                  <a:lnTo>
                    <a:pt x="18071" y="875"/>
                  </a:lnTo>
                  <a:cubicBezTo>
                    <a:pt x="18151" y="875"/>
                    <a:pt x="18216" y="810"/>
                    <a:pt x="18216" y="730"/>
                  </a:cubicBezTo>
                  <a:lnTo>
                    <a:pt x="18216" y="146"/>
                  </a:lnTo>
                  <a:cubicBezTo>
                    <a:pt x="18216" y="66"/>
                    <a:pt x="18151" y="0"/>
                    <a:pt x="18071" y="0"/>
                  </a:cubicBezTo>
                  <a:lnTo>
                    <a:pt x="146" y="0"/>
                  </a:lnTo>
                  <a:close/>
                </a:path>
              </a:pathLst>
            </a:custGeom>
            <a:grpFill/>
            <a:ln>
              <a:noFill/>
            </a:ln>
          </p:spPr>
          <p:txBody>
            <a:bodyPr spcFirstLastPara="1" wrap="square" lIns="91425" tIns="45700" rIns="91425" bIns="45700" anchor="t" anchorCtr="0">
              <a:noAutofit/>
            </a:bodyPr>
            <a:lstStyle/>
            <a:p>
              <a:endParaRPr sz="1800" dirty="0">
                <a:latin typeface="+mn-lt"/>
                <a:ea typeface="Cambria" panose="02040503050406030204"/>
                <a:cs typeface="Arial" panose="020B0604020202020204" pitchFamily="34" charset="0"/>
                <a:sym typeface="Cambria" panose="02040503050406030204"/>
              </a:endParaRPr>
            </a:p>
          </p:txBody>
        </p:sp>
        <p:sp>
          <p:nvSpPr>
            <p:cNvPr id="607" name="Google Shape;607;p21"/>
            <p:cNvSpPr/>
            <p:nvPr/>
          </p:nvSpPr>
          <p:spPr>
            <a:xfrm>
              <a:off x="3470807" y="2436303"/>
              <a:ext cx="2585939" cy="276999"/>
            </a:xfrm>
            <a:prstGeom prst="rect">
              <a:avLst/>
            </a:prstGeom>
            <a:grpFill/>
            <a:ln>
              <a:noFill/>
            </a:ln>
          </p:spPr>
          <p:txBody>
            <a:bodyPr spcFirstLastPara="1" wrap="square" lIns="0" tIns="0" rIns="0" bIns="0" anchor="t" anchorCtr="0">
              <a:spAutoFit/>
            </a:bodyPr>
            <a:lstStyle/>
            <a:p>
              <a:pPr algn="ctr"/>
              <a:r>
                <a:rPr lang="en-US" sz="1800" dirty="0">
                  <a:solidFill>
                    <a:srgbClr val="FFFFFF"/>
                  </a:solidFill>
                  <a:latin typeface="+mn-lt"/>
                  <a:ea typeface="Cambria" panose="02040503050406030204"/>
                  <a:cs typeface="Arial" panose="020B0604020202020204" pitchFamily="34" charset="0"/>
                  <a:sym typeface="Cambria" panose="02040503050406030204"/>
                </a:rPr>
                <a:t>Loan Processes</a:t>
              </a:r>
              <a:endParaRPr sz="1800" dirty="0">
                <a:latin typeface="+mn-lt"/>
                <a:ea typeface="Cambria" panose="02040503050406030204"/>
                <a:cs typeface="Arial" panose="020B0604020202020204" pitchFamily="34" charset="0"/>
                <a:sym typeface="Cambria" panose="02040503050406030204"/>
              </a:endParaRPr>
            </a:p>
          </p:txBody>
        </p:sp>
      </p:grpSp>
      <p:grpSp>
        <p:nvGrpSpPr>
          <p:cNvPr id="2" name="Group 1"/>
          <p:cNvGrpSpPr/>
          <p:nvPr/>
        </p:nvGrpSpPr>
        <p:grpSpPr>
          <a:xfrm>
            <a:off x="260539" y="2827528"/>
            <a:ext cx="11670923" cy="3464542"/>
            <a:chOff x="1877126" y="2687569"/>
            <a:chExt cx="8325996" cy="3464542"/>
          </a:xfrm>
        </p:grpSpPr>
        <p:sp>
          <p:nvSpPr>
            <p:cNvPr id="573" name="Google Shape;573;p21"/>
            <p:cNvSpPr/>
            <p:nvPr/>
          </p:nvSpPr>
          <p:spPr>
            <a:xfrm>
              <a:off x="1896176" y="3370777"/>
              <a:ext cx="91358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Technology </a:t>
              </a:r>
              <a:endParaRPr sz="1600" dirty="0">
                <a:latin typeface="+mn-lt"/>
                <a:ea typeface="Cambria" panose="02040503050406030204"/>
                <a:cs typeface="Arial" panose="020B0604020202020204" pitchFamily="34" charset="0"/>
                <a:sym typeface="Cambria" panose="02040503050406030204"/>
              </a:endParaRPr>
            </a:p>
          </p:txBody>
        </p:sp>
        <p:sp>
          <p:nvSpPr>
            <p:cNvPr id="574" name="Google Shape;574;p21"/>
            <p:cNvSpPr/>
            <p:nvPr/>
          </p:nvSpPr>
          <p:spPr>
            <a:xfrm>
              <a:off x="1896176" y="3553341"/>
              <a:ext cx="63889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Delivery</a:t>
              </a:r>
              <a:endParaRPr sz="1600" dirty="0">
                <a:latin typeface="+mn-lt"/>
                <a:ea typeface="Cambria" panose="02040503050406030204"/>
                <a:cs typeface="Arial" panose="020B0604020202020204" pitchFamily="34" charset="0"/>
                <a:sym typeface="Cambria" panose="02040503050406030204"/>
              </a:endParaRPr>
            </a:p>
          </p:txBody>
        </p:sp>
        <p:sp>
          <p:nvSpPr>
            <p:cNvPr id="575" name="Google Shape;575;p21"/>
            <p:cNvSpPr/>
            <p:nvPr/>
          </p:nvSpPr>
          <p:spPr>
            <a:xfrm>
              <a:off x="2275588" y="5517077"/>
              <a:ext cx="47929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Other </a:t>
              </a:r>
              <a:endParaRPr sz="1600" dirty="0">
                <a:latin typeface="+mn-lt"/>
                <a:ea typeface="Cambria" panose="02040503050406030204"/>
                <a:cs typeface="Arial" panose="020B0604020202020204" pitchFamily="34" charset="0"/>
                <a:sym typeface="Cambria" panose="02040503050406030204"/>
              </a:endParaRPr>
            </a:p>
          </p:txBody>
        </p:sp>
        <p:sp>
          <p:nvSpPr>
            <p:cNvPr id="576" name="Google Shape;576;p21"/>
            <p:cNvSpPr/>
            <p:nvPr/>
          </p:nvSpPr>
          <p:spPr>
            <a:xfrm>
              <a:off x="1877126" y="5694877"/>
              <a:ext cx="65" cy="246221"/>
            </a:xfrm>
            <a:prstGeom prst="rect">
              <a:avLst/>
            </a:prstGeom>
            <a:noFill/>
            <a:ln>
              <a:noFill/>
            </a:ln>
          </p:spPr>
          <p:txBody>
            <a:bodyPr spcFirstLastPara="1" wrap="square" lIns="0" tIns="0" rIns="0" bIns="0" anchor="t" anchorCtr="0">
              <a:sp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577" name="Google Shape;577;p21"/>
            <p:cNvSpPr/>
            <p:nvPr/>
          </p:nvSpPr>
          <p:spPr>
            <a:xfrm>
              <a:off x="1896176" y="3553341"/>
              <a:ext cx="63889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Delivery</a:t>
              </a:r>
              <a:endParaRPr sz="1600" dirty="0">
                <a:latin typeface="+mn-lt"/>
                <a:ea typeface="Cambria" panose="02040503050406030204"/>
                <a:cs typeface="Arial" panose="020B0604020202020204" pitchFamily="34" charset="0"/>
                <a:sym typeface="Cambria" panose="02040503050406030204"/>
              </a:endParaRPr>
            </a:p>
          </p:txBody>
        </p:sp>
        <p:sp>
          <p:nvSpPr>
            <p:cNvPr id="578" name="Google Shape;578;p21"/>
            <p:cNvSpPr/>
            <p:nvPr/>
          </p:nvSpPr>
          <p:spPr>
            <a:xfrm>
              <a:off x="2094614" y="5645665"/>
              <a:ext cx="918649" cy="246221"/>
            </a:xfrm>
            <a:prstGeom prst="rect">
              <a:avLst/>
            </a:prstGeom>
            <a:noFill/>
            <a:ln>
              <a:noFill/>
            </a:ln>
          </p:spPr>
          <p:txBody>
            <a:bodyPr spcFirstLastPara="1" wrap="square" lIns="0" tIns="0" rIns="0" bIns="0" anchor="t" anchorCtr="0">
              <a:spAutoFit/>
            </a:bodyPr>
            <a:lstStyle/>
            <a:p>
              <a:r>
                <a:rPr lang="en-US" sz="1600" b="1" dirty="0">
                  <a:solidFill>
                    <a:srgbClr val="FFFFFF"/>
                  </a:solidFill>
                  <a:latin typeface="+mn-lt"/>
                  <a:ea typeface="Cambria" panose="02040503050406030204"/>
                  <a:cs typeface="Arial" panose="020B0604020202020204" pitchFamily="34" charset="0"/>
                  <a:sym typeface="Cambria" panose="02040503050406030204"/>
                </a:rPr>
                <a:t>Operations</a:t>
              </a:r>
              <a:endParaRPr sz="1600" dirty="0">
                <a:latin typeface="+mn-lt"/>
                <a:ea typeface="Cambria" panose="02040503050406030204"/>
                <a:cs typeface="Arial" panose="020B0604020202020204" pitchFamily="34" charset="0"/>
                <a:sym typeface="Cambria" panose="02040503050406030204"/>
              </a:endParaRPr>
            </a:p>
          </p:txBody>
        </p:sp>
        <p:sp>
          <p:nvSpPr>
            <p:cNvPr id="579" name="Google Shape;579;p21"/>
            <p:cNvSpPr/>
            <p:nvPr/>
          </p:nvSpPr>
          <p:spPr>
            <a:xfrm>
              <a:off x="1896175" y="4375665"/>
              <a:ext cx="126957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Domain Specific </a:t>
              </a:r>
              <a:endParaRPr sz="1600" dirty="0">
                <a:latin typeface="+mn-lt"/>
                <a:ea typeface="Cambria" panose="02040503050406030204"/>
                <a:cs typeface="Arial" panose="020B0604020202020204" pitchFamily="34" charset="0"/>
                <a:sym typeface="Cambria" panose="02040503050406030204"/>
              </a:endParaRPr>
            </a:p>
          </p:txBody>
        </p:sp>
        <p:sp>
          <p:nvSpPr>
            <p:cNvPr id="580" name="Google Shape;580;p21"/>
            <p:cNvSpPr/>
            <p:nvPr/>
          </p:nvSpPr>
          <p:spPr>
            <a:xfrm>
              <a:off x="1896176" y="4558227"/>
              <a:ext cx="886589"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Operations </a:t>
              </a:r>
              <a:endParaRPr sz="1600" dirty="0">
                <a:latin typeface="+mn-lt"/>
                <a:ea typeface="Cambria" panose="02040503050406030204"/>
                <a:cs typeface="Arial" panose="020B0604020202020204" pitchFamily="34" charset="0"/>
                <a:sym typeface="Cambria" panose="02040503050406030204"/>
              </a:endParaRPr>
            </a:p>
          </p:txBody>
        </p:sp>
        <p:sp>
          <p:nvSpPr>
            <p:cNvPr id="581" name="Google Shape;581;p21"/>
            <p:cNvSpPr/>
            <p:nvPr/>
          </p:nvSpPr>
          <p:spPr>
            <a:xfrm>
              <a:off x="1896176" y="4740790"/>
              <a:ext cx="77264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Capability</a:t>
              </a:r>
              <a:endParaRPr sz="1600" dirty="0">
                <a:latin typeface="+mn-lt"/>
                <a:ea typeface="Cambria" panose="02040503050406030204"/>
                <a:cs typeface="Arial" panose="020B0604020202020204" pitchFamily="34" charset="0"/>
                <a:sym typeface="Cambria" panose="02040503050406030204"/>
              </a:endParaRPr>
            </a:p>
          </p:txBody>
        </p:sp>
        <p:sp>
          <p:nvSpPr>
            <p:cNvPr id="582" name="Google Shape;582;p21"/>
            <p:cNvSpPr/>
            <p:nvPr/>
          </p:nvSpPr>
          <p:spPr>
            <a:xfrm>
              <a:off x="1896175" y="4375665"/>
              <a:ext cx="126957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Domain Specific </a:t>
              </a:r>
              <a:endParaRPr sz="1600" dirty="0">
                <a:latin typeface="+mn-lt"/>
                <a:ea typeface="Cambria" panose="02040503050406030204"/>
                <a:cs typeface="Arial" panose="020B0604020202020204" pitchFamily="34" charset="0"/>
                <a:sym typeface="Cambria" panose="02040503050406030204"/>
              </a:endParaRPr>
            </a:p>
          </p:txBody>
        </p:sp>
        <p:sp>
          <p:nvSpPr>
            <p:cNvPr id="583" name="Google Shape;583;p21"/>
            <p:cNvSpPr/>
            <p:nvPr/>
          </p:nvSpPr>
          <p:spPr>
            <a:xfrm>
              <a:off x="1896176" y="4558227"/>
              <a:ext cx="886589"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Operations </a:t>
              </a:r>
              <a:endParaRPr sz="1600" dirty="0">
                <a:latin typeface="+mn-lt"/>
                <a:ea typeface="Cambria" panose="02040503050406030204"/>
                <a:cs typeface="Arial" panose="020B0604020202020204" pitchFamily="34" charset="0"/>
                <a:sym typeface="Cambria" panose="02040503050406030204"/>
              </a:endParaRPr>
            </a:p>
          </p:txBody>
        </p:sp>
        <p:sp>
          <p:nvSpPr>
            <p:cNvPr id="584" name="Google Shape;584;p21"/>
            <p:cNvSpPr/>
            <p:nvPr/>
          </p:nvSpPr>
          <p:spPr>
            <a:xfrm>
              <a:off x="1896176" y="4740790"/>
              <a:ext cx="77264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Capability</a:t>
              </a:r>
              <a:endParaRPr sz="1600" dirty="0">
                <a:latin typeface="+mn-lt"/>
                <a:ea typeface="Cambria" panose="02040503050406030204"/>
                <a:cs typeface="Arial" panose="020B0604020202020204" pitchFamily="34" charset="0"/>
                <a:sym typeface="Cambria" panose="02040503050406030204"/>
              </a:endParaRPr>
            </a:p>
          </p:txBody>
        </p:sp>
        <p:sp>
          <p:nvSpPr>
            <p:cNvPr id="587" name="Google Shape;587;p21"/>
            <p:cNvSpPr/>
            <p:nvPr/>
          </p:nvSpPr>
          <p:spPr>
            <a:xfrm>
              <a:off x="8901109" y="2687569"/>
              <a:ext cx="1302013" cy="527703"/>
            </a:xfrm>
            <a:custGeom>
              <a:avLst/>
              <a:gdLst/>
              <a:ahLst/>
              <a:cxnLst/>
              <a:rect l="l" t="t" r="r" b="b"/>
              <a:pathLst>
                <a:path w="2866" h="1058" extrusionOk="0">
                  <a:moveTo>
                    <a:pt x="176" y="0"/>
                  </a:moveTo>
                  <a:cubicBezTo>
                    <a:pt x="79" y="0"/>
                    <a:pt x="0" y="79"/>
                    <a:pt x="0" y="176"/>
                  </a:cubicBezTo>
                  <a:lnTo>
                    <a:pt x="0" y="882"/>
                  </a:lnTo>
                  <a:cubicBezTo>
                    <a:pt x="0" y="979"/>
                    <a:pt x="79" y="1058"/>
                    <a:pt x="176" y="1058"/>
                  </a:cubicBezTo>
                  <a:lnTo>
                    <a:pt x="2690" y="1058"/>
                  </a:lnTo>
                  <a:cubicBezTo>
                    <a:pt x="2787" y="1058"/>
                    <a:pt x="2866" y="979"/>
                    <a:pt x="2866" y="882"/>
                  </a:cubicBezTo>
                  <a:lnTo>
                    <a:pt x="2866" y="176"/>
                  </a:lnTo>
                  <a:cubicBezTo>
                    <a:pt x="2866" y="79"/>
                    <a:pt x="2787" y="0"/>
                    <a:pt x="2690" y="0"/>
                  </a:cubicBezTo>
                  <a:lnTo>
                    <a:pt x="176"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grpSp>
          <p:nvGrpSpPr>
            <p:cNvPr id="588" name="Google Shape;588;p21"/>
            <p:cNvGrpSpPr/>
            <p:nvPr/>
          </p:nvGrpSpPr>
          <p:grpSpPr>
            <a:xfrm>
              <a:off x="1924566" y="2687569"/>
              <a:ext cx="1303887" cy="527703"/>
              <a:chOff x="400565" y="2687568"/>
              <a:chExt cx="1303887" cy="527703"/>
            </a:xfrm>
          </p:grpSpPr>
          <p:sp>
            <p:nvSpPr>
              <p:cNvPr id="589" name="Google Shape;589;p21"/>
              <p:cNvSpPr/>
              <p:nvPr/>
            </p:nvSpPr>
            <p:spPr>
              <a:xfrm>
                <a:off x="400565" y="2687568"/>
                <a:ext cx="1303887" cy="527703"/>
              </a:xfrm>
              <a:custGeom>
                <a:avLst/>
                <a:gdLst/>
                <a:ahLst/>
                <a:cxnLst/>
                <a:rect l="l" t="t" r="r" b="b"/>
                <a:pathLst>
                  <a:path w="11466" h="4233" extrusionOk="0">
                    <a:moveTo>
                      <a:pt x="705" y="0"/>
                    </a:moveTo>
                    <a:cubicBezTo>
                      <a:pt x="316" y="0"/>
                      <a:pt x="0" y="316"/>
                      <a:pt x="0" y="705"/>
                    </a:cubicBezTo>
                    <a:lnTo>
                      <a:pt x="0" y="3528"/>
                    </a:lnTo>
                    <a:cubicBezTo>
                      <a:pt x="0" y="3917"/>
                      <a:pt x="316" y="4233"/>
                      <a:pt x="705" y="4233"/>
                    </a:cubicBezTo>
                    <a:lnTo>
                      <a:pt x="10761" y="4233"/>
                    </a:lnTo>
                    <a:cubicBezTo>
                      <a:pt x="11151" y="4233"/>
                      <a:pt x="11466" y="3917"/>
                      <a:pt x="11466" y="3528"/>
                    </a:cubicBezTo>
                    <a:lnTo>
                      <a:pt x="11466" y="705"/>
                    </a:lnTo>
                    <a:cubicBezTo>
                      <a:pt x="11466" y="316"/>
                      <a:pt x="11151" y="0"/>
                      <a:pt x="10761" y="0"/>
                    </a:cubicBezTo>
                    <a:lnTo>
                      <a:pt x="705"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sp>
            <p:nvSpPr>
              <p:cNvPr id="590" name="Google Shape;590;p21"/>
              <p:cNvSpPr/>
              <p:nvPr/>
            </p:nvSpPr>
            <p:spPr>
              <a:xfrm>
                <a:off x="576416" y="2843697"/>
                <a:ext cx="952184"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Origination</a:t>
                </a:r>
                <a:endParaRPr sz="1600" dirty="0">
                  <a:latin typeface="+mn-lt"/>
                </a:endParaRPr>
              </a:p>
            </p:txBody>
          </p:sp>
        </p:grpSp>
        <p:grpSp>
          <p:nvGrpSpPr>
            <p:cNvPr id="591" name="Google Shape;591;p21"/>
            <p:cNvGrpSpPr/>
            <p:nvPr/>
          </p:nvGrpSpPr>
          <p:grpSpPr>
            <a:xfrm>
              <a:off x="3318376" y="2687569"/>
              <a:ext cx="1303887" cy="527703"/>
              <a:chOff x="1794375" y="2687568"/>
              <a:chExt cx="1303887" cy="527703"/>
            </a:xfrm>
          </p:grpSpPr>
          <p:sp>
            <p:nvSpPr>
              <p:cNvPr id="592" name="Google Shape;592;p21"/>
              <p:cNvSpPr/>
              <p:nvPr/>
            </p:nvSpPr>
            <p:spPr>
              <a:xfrm>
                <a:off x="1794375" y="2687568"/>
                <a:ext cx="1303887" cy="527703"/>
              </a:xfrm>
              <a:custGeom>
                <a:avLst/>
                <a:gdLst/>
                <a:ahLst/>
                <a:cxnLst/>
                <a:rect l="l" t="t" r="r" b="b"/>
                <a:pathLst>
                  <a:path w="5734" h="2117" extrusionOk="0">
                    <a:moveTo>
                      <a:pt x="353" y="0"/>
                    </a:moveTo>
                    <a:cubicBezTo>
                      <a:pt x="158" y="0"/>
                      <a:pt x="0" y="158"/>
                      <a:pt x="0" y="353"/>
                    </a:cubicBezTo>
                    <a:lnTo>
                      <a:pt x="0" y="1764"/>
                    </a:lnTo>
                    <a:cubicBezTo>
                      <a:pt x="0" y="1959"/>
                      <a:pt x="158" y="2117"/>
                      <a:pt x="353" y="2117"/>
                    </a:cubicBezTo>
                    <a:lnTo>
                      <a:pt x="5381" y="2117"/>
                    </a:lnTo>
                    <a:cubicBezTo>
                      <a:pt x="5576" y="2117"/>
                      <a:pt x="5734" y="1959"/>
                      <a:pt x="5734" y="1764"/>
                    </a:cubicBezTo>
                    <a:lnTo>
                      <a:pt x="5734" y="353"/>
                    </a:lnTo>
                    <a:cubicBezTo>
                      <a:pt x="5734" y="158"/>
                      <a:pt x="5576" y="0"/>
                      <a:pt x="5381" y="0"/>
                    </a:cubicBezTo>
                    <a:lnTo>
                      <a:pt x="353"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sp>
            <p:nvSpPr>
              <p:cNvPr id="593" name="Google Shape;593;p21"/>
              <p:cNvSpPr/>
              <p:nvPr/>
            </p:nvSpPr>
            <p:spPr>
              <a:xfrm>
                <a:off x="1906063" y="2825036"/>
                <a:ext cx="1029969"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Processing</a:t>
                </a:r>
                <a:endParaRPr sz="1600" b="1" dirty="0">
                  <a:latin typeface="+mn-lt"/>
                  <a:ea typeface="Cambria" panose="02040503050406030204"/>
                  <a:cs typeface="Arial" panose="020B0604020202020204" pitchFamily="34" charset="0"/>
                  <a:sym typeface="Cambria" panose="02040503050406030204"/>
                </a:endParaRPr>
              </a:p>
            </p:txBody>
          </p:sp>
        </p:grpSp>
        <p:grpSp>
          <p:nvGrpSpPr>
            <p:cNvPr id="594" name="Google Shape;594;p21"/>
            <p:cNvGrpSpPr/>
            <p:nvPr/>
          </p:nvGrpSpPr>
          <p:grpSpPr>
            <a:xfrm>
              <a:off x="4714059" y="2687569"/>
              <a:ext cx="1302013" cy="527703"/>
              <a:chOff x="3190058" y="2687568"/>
              <a:chExt cx="1302013" cy="527703"/>
            </a:xfrm>
          </p:grpSpPr>
          <p:sp>
            <p:nvSpPr>
              <p:cNvPr id="595" name="Google Shape;595;p21"/>
              <p:cNvSpPr/>
              <p:nvPr/>
            </p:nvSpPr>
            <p:spPr>
              <a:xfrm>
                <a:off x="3190058" y="2687568"/>
                <a:ext cx="1302013" cy="527703"/>
              </a:xfrm>
              <a:custGeom>
                <a:avLst/>
                <a:gdLst/>
                <a:ahLst/>
                <a:cxnLst/>
                <a:rect l="l" t="t" r="r" b="b"/>
                <a:pathLst>
                  <a:path w="5733" h="2117" extrusionOk="0">
                    <a:moveTo>
                      <a:pt x="353" y="0"/>
                    </a:moveTo>
                    <a:cubicBezTo>
                      <a:pt x="158" y="0"/>
                      <a:pt x="0" y="158"/>
                      <a:pt x="0" y="353"/>
                    </a:cubicBezTo>
                    <a:lnTo>
                      <a:pt x="0" y="1764"/>
                    </a:lnTo>
                    <a:cubicBezTo>
                      <a:pt x="0" y="1959"/>
                      <a:pt x="158" y="2117"/>
                      <a:pt x="353" y="2117"/>
                    </a:cubicBezTo>
                    <a:lnTo>
                      <a:pt x="5381" y="2117"/>
                    </a:lnTo>
                    <a:cubicBezTo>
                      <a:pt x="5576" y="2117"/>
                      <a:pt x="5733" y="1959"/>
                      <a:pt x="5733" y="1764"/>
                    </a:cubicBezTo>
                    <a:lnTo>
                      <a:pt x="5733" y="353"/>
                    </a:lnTo>
                    <a:cubicBezTo>
                      <a:pt x="5733" y="158"/>
                      <a:pt x="5576" y="0"/>
                      <a:pt x="5381" y="0"/>
                    </a:cubicBezTo>
                    <a:lnTo>
                      <a:pt x="353"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sp>
            <p:nvSpPr>
              <p:cNvPr id="596" name="Google Shape;596;p21"/>
              <p:cNvSpPr/>
              <p:nvPr/>
            </p:nvSpPr>
            <p:spPr>
              <a:xfrm>
                <a:off x="3280013" y="2860007"/>
                <a:ext cx="1122102"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Underwriting</a:t>
                </a:r>
                <a:endParaRPr sz="1600" b="1" dirty="0">
                  <a:latin typeface="+mn-lt"/>
                  <a:ea typeface="Cambria" panose="02040503050406030204"/>
                  <a:cs typeface="Arial" panose="020B0604020202020204" pitchFamily="34" charset="0"/>
                  <a:sym typeface="Cambria" panose="02040503050406030204"/>
                </a:endParaRPr>
              </a:p>
            </p:txBody>
          </p:sp>
        </p:grpSp>
        <p:grpSp>
          <p:nvGrpSpPr>
            <p:cNvPr id="597" name="Google Shape;597;p21"/>
            <p:cNvGrpSpPr/>
            <p:nvPr/>
          </p:nvGrpSpPr>
          <p:grpSpPr>
            <a:xfrm>
              <a:off x="6126513" y="2687569"/>
              <a:ext cx="1302013" cy="527703"/>
              <a:chOff x="4602512" y="2687568"/>
              <a:chExt cx="1302013" cy="527703"/>
            </a:xfrm>
          </p:grpSpPr>
          <p:sp>
            <p:nvSpPr>
              <p:cNvPr id="598" name="Google Shape;598;p21"/>
              <p:cNvSpPr/>
              <p:nvPr/>
            </p:nvSpPr>
            <p:spPr>
              <a:xfrm>
                <a:off x="4602512" y="2687568"/>
                <a:ext cx="1302013" cy="527703"/>
              </a:xfrm>
              <a:custGeom>
                <a:avLst/>
                <a:gdLst/>
                <a:ahLst/>
                <a:cxnLst/>
                <a:rect l="l" t="t" r="r" b="b"/>
                <a:pathLst>
                  <a:path w="2867" h="1058" extrusionOk="0">
                    <a:moveTo>
                      <a:pt x="177" y="0"/>
                    </a:moveTo>
                    <a:cubicBezTo>
                      <a:pt x="79" y="0"/>
                      <a:pt x="0" y="79"/>
                      <a:pt x="0" y="176"/>
                    </a:cubicBezTo>
                    <a:lnTo>
                      <a:pt x="0" y="882"/>
                    </a:lnTo>
                    <a:cubicBezTo>
                      <a:pt x="0" y="979"/>
                      <a:pt x="79" y="1058"/>
                      <a:pt x="177" y="1058"/>
                    </a:cubicBezTo>
                    <a:lnTo>
                      <a:pt x="2690" y="1058"/>
                    </a:lnTo>
                    <a:cubicBezTo>
                      <a:pt x="2788" y="1058"/>
                      <a:pt x="2867" y="979"/>
                      <a:pt x="2867" y="882"/>
                    </a:cubicBezTo>
                    <a:lnTo>
                      <a:pt x="2867" y="176"/>
                    </a:lnTo>
                    <a:cubicBezTo>
                      <a:pt x="2867" y="79"/>
                      <a:pt x="2788" y="0"/>
                      <a:pt x="2690" y="0"/>
                    </a:cubicBezTo>
                    <a:lnTo>
                      <a:pt x="177"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sp>
            <p:nvSpPr>
              <p:cNvPr id="599" name="Google Shape;599;p21"/>
              <p:cNvSpPr/>
              <p:nvPr/>
            </p:nvSpPr>
            <p:spPr>
              <a:xfrm>
                <a:off x="4736550" y="2760284"/>
                <a:ext cx="1033937"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Closing and  </a:t>
                </a:r>
                <a:endParaRPr sz="1600" b="1" dirty="0">
                  <a:latin typeface="+mn-lt"/>
                  <a:ea typeface="Cambria" panose="02040503050406030204"/>
                  <a:cs typeface="Arial" panose="020B0604020202020204" pitchFamily="34" charset="0"/>
                  <a:sym typeface="Cambria" panose="02040503050406030204"/>
                </a:endParaRPr>
              </a:p>
            </p:txBody>
          </p:sp>
          <p:sp>
            <p:nvSpPr>
              <p:cNvPr id="600" name="Google Shape;600;p21"/>
              <p:cNvSpPr/>
              <p:nvPr/>
            </p:nvSpPr>
            <p:spPr>
              <a:xfrm>
                <a:off x="4914195" y="2961807"/>
                <a:ext cx="678647" cy="246221"/>
              </a:xfrm>
              <a:prstGeom prst="rect">
                <a:avLst/>
              </a:prstGeom>
              <a:noFill/>
              <a:ln>
                <a:noFill/>
              </a:ln>
            </p:spPr>
            <p:txBody>
              <a:bodyPr spcFirstLastPara="1" wrap="square" lIns="0" tIns="0" rIns="0" bIns="0" anchor="t" anchorCtr="0">
                <a:spAutoFit/>
              </a:bodyPr>
              <a:lstStyle/>
              <a:p>
                <a:r>
                  <a:rPr lang="en-US" sz="1600" b="1" dirty="0">
                    <a:solidFill>
                      <a:srgbClr val="FFFFFF"/>
                    </a:solidFill>
                    <a:latin typeface="+mn-lt"/>
                    <a:ea typeface="Cambria" panose="02040503050406030204"/>
                    <a:cs typeface="Arial" panose="020B0604020202020204" pitchFamily="34" charset="0"/>
                    <a:sym typeface="Cambria" panose="02040503050406030204"/>
                  </a:rPr>
                  <a:t>Funding</a:t>
                </a:r>
                <a:endParaRPr sz="1600" b="1" dirty="0">
                  <a:latin typeface="+mn-lt"/>
                  <a:ea typeface="Cambria" panose="02040503050406030204"/>
                  <a:cs typeface="Arial" panose="020B0604020202020204" pitchFamily="34" charset="0"/>
                  <a:sym typeface="Cambria" panose="02040503050406030204"/>
                </a:endParaRPr>
              </a:p>
            </p:txBody>
          </p:sp>
        </p:grpSp>
        <p:grpSp>
          <p:nvGrpSpPr>
            <p:cNvPr id="601" name="Google Shape;601;p21"/>
            <p:cNvGrpSpPr/>
            <p:nvPr/>
          </p:nvGrpSpPr>
          <p:grpSpPr>
            <a:xfrm>
              <a:off x="7505425" y="2687569"/>
              <a:ext cx="1302013" cy="527703"/>
              <a:chOff x="5981424" y="2687568"/>
              <a:chExt cx="1302013" cy="527703"/>
            </a:xfrm>
          </p:grpSpPr>
          <p:sp>
            <p:nvSpPr>
              <p:cNvPr id="602" name="Google Shape;602;p21"/>
              <p:cNvSpPr/>
              <p:nvPr/>
            </p:nvSpPr>
            <p:spPr>
              <a:xfrm>
                <a:off x="5981424" y="2687568"/>
                <a:ext cx="1302013" cy="527703"/>
              </a:xfrm>
              <a:custGeom>
                <a:avLst/>
                <a:gdLst/>
                <a:ahLst/>
                <a:cxnLst/>
                <a:rect l="l" t="t" r="r" b="b"/>
                <a:pathLst>
                  <a:path w="2867" h="1058" extrusionOk="0">
                    <a:moveTo>
                      <a:pt x="176" y="0"/>
                    </a:moveTo>
                    <a:cubicBezTo>
                      <a:pt x="79" y="0"/>
                      <a:pt x="0" y="79"/>
                      <a:pt x="0" y="176"/>
                    </a:cubicBezTo>
                    <a:lnTo>
                      <a:pt x="0" y="882"/>
                    </a:lnTo>
                    <a:cubicBezTo>
                      <a:pt x="0" y="979"/>
                      <a:pt x="79" y="1058"/>
                      <a:pt x="176" y="1058"/>
                    </a:cubicBezTo>
                    <a:lnTo>
                      <a:pt x="2690" y="1058"/>
                    </a:lnTo>
                    <a:cubicBezTo>
                      <a:pt x="2788" y="1058"/>
                      <a:pt x="2867" y="979"/>
                      <a:pt x="2867" y="882"/>
                    </a:cubicBezTo>
                    <a:lnTo>
                      <a:pt x="2867" y="176"/>
                    </a:lnTo>
                    <a:cubicBezTo>
                      <a:pt x="2867" y="79"/>
                      <a:pt x="2788" y="0"/>
                      <a:pt x="2690" y="0"/>
                    </a:cubicBezTo>
                    <a:lnTo>
                      <a:pt x="176" y="0"/>
                    </a:lnTo>
                    <a:close/>
                  </a:path>
                </a:pathLst>
              </a:custGeom>
              <a:solidFill>
                <a:schemeClr val="accent4">
                  <a:alpha val="74901"/>
                </a:schemeClr>
              </a:solidFill>
              <a:ln>
                <a:noFill/>
              </a:ln>
            </p:spPr>
            <p:txBody>
              <a:bodyPr spcFirstLastPara="1" wrap="square" lIns="91425" tIns="45700" rIns="91425" bIns="45700" anchor="t" anchorCtr="0">
                <a:noAutofit/>
              </a:bodyPr>
              <a:lstStyle/>
              <a:p>
                <a:endParaRPr sz="1600" b="1" dirty="0">
                  <a:latin typeface="+mn-lt"/>
                  <a:ea typeface="Cambria" panose="02040503050406030204"/>
                  <a:cs typeface="Arial" panose="020B0604020202020204" pitchFamily="34" charset="0"/>
                  <a:sym typeface="Cambria" panose="02040503050406030204"/>
                </a:endParaRPr>
              </a:p>
            </p:txBody>
          </p:sp>
          <p:sp>
            <p:nvSpPr>
              <p:cNvPr id="603" name="Google Shape;603;p21"/>
              <p:cNvSpPr/>
              <p:nvPr/>
            </p:nvSpPr>
            <p:spPr>
              <a:xfrm>
                <a:off x="6176443" y="2829587"/>
                <a:ext cx="997389"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Post Closing</a:t>
                </a:r>
                <a:endParaRPr sz="1600" b="1" dirty="0">
                  <a:latin typeface="+mn-lt"/>
                  <a:ea typeface="Cambria" panose="02040503050406030204"/>
                  <a:cs typeface="Arial" panose="020B0604020202020204" pitchFamily="34" charset="0"/>
                  <a:sym typeface="Cambria" panose="02040503050406030204"/>
                </a:endParaRPr>
              </a:p>
            </p:txBody>
          </p:sp>
        </p:grpSp>
        <p:sp>
          <p:nvSpPr>
            <p:cNvPr id="604" name="Google Shape;604;p21"/>
            <p:cNvSpPr/>
            <p:nvPr/>
          </p:nvSpPr>
          <p:spPr>
            <a:xfrm>
              <a:off x="1902085" y="5715821"/>
              <a:ext cx="8278555" cy="436290"/>
            </a:xfrm>
            <a:custGeom>
              <a:avLst/>
              <a:gdLst/>
              <a:ahLst/>
              <a:cxnLst/>
              <a:rect l="l" t="t" r="r" b="b"/>
              <a:pathLst>
                <a:path w="18216" h="871" extrusionOk="0">
                  <a:moveTo>
                    <a:pt x="145" y="0"/>
                  </a:moveTo>
                  <a:cubicBezTo>
                    <a:pt x="65" y="0"/>
                    <a:pt x="0" y="65"/>
                    <a:pt x="0" y="145"/>
                  </a:cubicBezTo>
                  <a:lnTo>
                    <a:pt x="0" y="726"/>
                  </a:lnTo>
                  <a:cubicBezTo>
                    <a:pt x="0" y="806"/>
                    <a:pt x="65" y="871"/>
                    <a:pt x="145" y="871"/>
                  </a:cubicBezTo>
                  <a:lnTo>
                    <a:pt x="18071" y="871"/>
                  </a:lnTo>
                  <a:cubicBezTo>
                    <a:pt x="18151" y="871"/>
                    <a:pt x="18216" y="806"/>
                    <a:pt x="18216" y="726"/>
                  </a:cubicBezTo>
                  <a:lnTo>
                    <a:pt x="18216" y="145"/>
                  </a:lnTo>
                  <a:cubicBezTo>
                    <a:pt x="18216" y="65"/>
                    <a:pt x="18151" y="0"/>
                    <a:pt x="18071" y="0"/>
                  </a:cubicBezTo>
                  <a:lnTo>
                    <a:pt x="145" y="0"/>
                  </a:lnTo>
                  <a:close/>
                </a:path>
              </a:pathLst>
            </a:custGeom>
            <a:solidFill>
              <a:schemeClr val="accent4">
                <a:alpha val="74901"/>
              </a:schemeClr>
            </a:solidFill>
            <a:ln>
              <a:noFill/>
            </a:ln>
          </p:spPr>
          <p:txBody>
            <a:bodyPr spcFirstLastPara="1" wrap="square" lIns="91425" tIns="45700" rIns="91425" bIns="45700" anchor="ctr" anchorCtr="0">
              <a:no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Customer Relationship Management, Finance and Accounting, Human Resources and Help Desk</a:t>
              </a:r>
              <a:endParaRPr sz="1600" dirty="0">
                <a:latin typeface="+mn-lt"/>
              </a:endParaRPr>
            </a:p>
          </p:txBody>
        </p:sp>
        <p:sp>
          <p:nvSpPr>
            <p:cNvPr id="608" name="Google Shape;608;p21"/>
            <p:cNvSpPr/>
            <p:nvPr/>
          </p:nvSpPr>
          <p:spPr>
            <a:xfrm>
              <a:off x="9169926" y="2830920"/>
              <a:ext cx="981780" cy="246221"/>
            </a:xfrm>
            <a:prstGeom prst="rect">
              <a:avLst/>
            </a:prstGeom>
            <a:noFill/>
            <a:ln>
              <a:noFill/>
            </a:ln>
          </p:spPr>
          <p:txBody>
            <a:bodyPr spcFirstLastPara="1" wrap="square" lIns="0" tIns="0" rIns="0" bIns="0" anchor="t" anchorCtr="0">
              <a:spAutoFit/>
            </a:bodyPr>
            <a:lstStyle/>
            <a:p>
              <a:pPr algn="ctr"/>
              <a:r>
                <a:rPr lang="en-US" sz="1600" b="1" dirty="0">
                  <a:solidFill>
                    <a:srgbClr val="FFFFFF"/>
                  </a:solidFill>
                  <a:latin typeface="+mn-lt"/>
                  <a:ea typeface="Cambria" panose="02040503050406030204"/>
                  <a:cs typeface="Arial" panose="020B0604020202020204" pitchFamily="34" charset="0"/>
                  <a:sym typeface="Cambria" panose="02040503050406030204"/>
                </a:rPr>
                <a:t>Servicing</a:t>
              </a:r>
              <a:endParaRPr sz="1600" b="1" dirty="0">
                <a:latin typeface="+mn-lt"/>
                <a:ea typeface="Cambria" panose="02040503050406030204"/>
                <a:cs typeface="Arial" panose="020B0604020202020204" pitchFamily="34" charset="0"/>
                <a:sym typeface="Cambria" panose="02040503050406030204"/>
              </a:endParaRPr>
            </a:p>
          </p:txBody>
        </p:sp>
        <p:sp>
          <p:nvSpPr>
            <p:cNvPr id="609" name="Google Shape;609;p21"/>
            <p:cNvSpPr/>
            <p:nvPr/>
          </p:nvSpPr>
          <p:spPr>
            <a:xfrm>
              <a:off x="1924565" y="3391021"/>
              <a:ext cx="1320748" cy="2229232"/>
            </a:xfrm>
            <a:custGeom>
              <a:avLst/>
              <a:gdLst/>
              <a:ahLst/>
              <a:cxnLst/>
              <a:rect l="l" t="t" r="r" b="b"/>
              <a:pathLst>
                <a:path w="5808" h="8916" extrusionOk="0">
                  <a:moveTo>
                    <a:pt x="288" y="0"/>
                  </a:moveTo>
                  <a:cubicBezTo>
                    <a:pt x="129" y="0"/>
                    <a:pt x="0" y="129"/>
                    <a:pt x="0" y="287"/>
                  </a:cubicBezTo>
                  <a:lnTo>
                    <a:pt x="0" y="8629"/>
                  </a:lnTo>
                  <a:cubicBezTo>
                    <a:pt x="0" y="8788"/>
                    <a:pt x="129" y="8916"/>
                    <a:pt x="288" y="8916"/>
                  </a:cubicBezTo>
                  <a:lnTo>
                    <a:pt x="5521" y="8916"/>
                  </a:lnTo>
                  <a:cubicBezTo>
                    <a:pt x="5680" y="8916"/>
                    <a:pt x="5808" y="8788"/>
                    <a:pt x="5808" y="8629"/>
                  </a:cubicBezTo>
                  <a:lnTo>
                    <a:pt x="5808" y="287"/>
                  </a:lnTo>
                  <a:cubicBezTo>
                    <a:pt x="5808" y="129"/>
                    <a:pt x="5680" y="0"/>
                    <a:pt x="5521" y="0"/>
                  </a:cubicBezTo>
                  <a:lnTo>
                    <a:pt x="288"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10" name="Google Shape;610;p21"/>
            <p:cNvSpPr/>
            <p:nvPr/>
          </p:nvSpPr>
          <p:spPr>
            <a:xfrm>
              <a:off x="1999502" y="3513597"/>
              <a:ext cx="64658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Product </a:t>
              </a:r>
              <a:endParaRPr sz="1600" dirty="0">
                <a:latin typeface="+mn-lt"/>
                <a:ea typeface="Cambria" panose="02040503050406030204"/>
                <a:cs typeface="Arial" panose="020B0604020202020204" pitchFamily="34" charset="0"/>
                <a:sym typeface="Cambria" panose="02040503050406030204"/>
              </a:endParaRPr>
            </a:p>
          </p:txBody>
        </p:sp>
        <p:sp>
          <p:nvSpPr>
            <p:cNvPr id="611" name="Google Shape;611;p21"/>
            <p:cNvSpPr/>
            <p:nvPr/>
          </p:nvSpPr>
          <p:spPr>
            <a:xfrm>
              <a:off x="1999501" y="3713044"/>
              <a:ext cx="102066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Development</a:t>
              </a:r>
              <a:endParaRPr sz="1600" dirty="0">
                <a:latin typeface="+mn-lt"/>
                <a:ea typeface="Cambria" panose="02040503050406030204"/>
                <a:cs typeface="Arial" panose="020B0604020202020204" pitchFamily="34" charset="0"/>
                <a:sym typeface="Cambria" panose="02040503050406030204"/>
              </a:endParaRPr>
            </a:p>
          </p:txBody>
        </p:sp>
        <p:sp>
          <p:nvSpPr>
            <p:cNvPr id="612" name="Google Shape;612;p21"/>
            <p:cNvSpPr/>
            <p:nvPr/>
          </p:nvSpPr>
          <p:spPr>
            <a:xfrm>
              <a:off x="1999502" y="4012214"/>
              <a:ext cx="64658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Product </a:t>
              </a:r>
              <a:endParaRPr sz="1600" dirty="0">
                <a:latin typeface="+mn-lt"/>
                <a:ea typeface="Cambria" panose="02040503050406030204"/>
                <a:cs typeface="Arial" panose="020B0604020202020204" pitchFamily="34" charset="0"/>
                <a:sym typeface="Cambria" panose="02040503050406030204"/>
              </a:endParaRPr>
            </a:p>
          </p:txBody>
        </p:sp>
        <p:sp>
          <p:nvSpPr>
            <p:cNvPr id="613" name="Google Shape;613;p21"/>
            <p:cNvSpPr/>
            <p:nvPr/>
          </p:nvSpPr>
          <p:spPr>
            <a:xfrm>
              <a:off x="1999502" y="4213739"/>
              <a:ext cx="80470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Placement</a:t>
              </a:r>
              <a:endParaRPr sz="1600" dirty="0">
                <a:latin typeface="+mn-lt"/>
                <a:ea typeface="Cambria" panose="02040503050406030204"/>
                <a:cs typeface="Arial" panose="020B0604020202020204" pitchFamily="34" charset="0"/>
                <a:sym typeface="Cambria" panose="02040503050406030204"/>
              </a:endParaRPr>
            </a:p>
          </p:txBody>
        </p:sp>
        <p:sp>
          <p:nvSpPr>
            <p:cNvPr id="614" name="Google Shape;614;p21"/>
            <p:cNvSpPr/>
            <p:nvPr/>
          </p:nvSpPr>
          <p:spPr>
            <a:xfrm>
              <a:off x="1999501" y="4512909"/>
              <a:ext cx="41197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Lead </a:t>
              </a:r>
              <a:endParaRPr sz="1600" dirty="0">
                <a:latin typeface="+mn-lt"/>
                <a:ea typeface="Cambria" panose="02040503050406030204"/>
                <a:cs typeface="Arial" panose="020B0604020202020204" pitchFamily="34" charset="0"/>
                <a:sym typeface="Cambria" panose="02040503050406030204"/>
              </a:endParaRPr>
            </a:p>
          </p:txBody>
        </p:sp>
        <p:sp>
          <p:nvSpPr>
            <p:cNvPr id="615" name="Google Shape;615;p21"/>
            <p:cNvSpPr/>
            <p:nvPr/>
          </p:nvSpPr>
          <p:spPr>
            <a:xfrm>
              <a:off x="1999502" y="4712355"/>
              <a:ext cx="85132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Generation</a:t>
              </a:r>
              <a:endParaRPr sz="1600" dirty="0">
                <a:latin typeface="+mn-lt"/>
                <a:ea typeface="Cambria" panose="02040503050406030204"/>
                <a:cs typeface="Arial" panose="020B0604020202020204" pitchFamily="34" charset="0"/>
                <a:sym typeface="Cambria" panose="02040503050406030204"/>
              </a:endParaRPr>
            </a:p>
          </p:txBody>
        </p:sp>
        <p:sp>
          <p:nvSpPr>
            <p:cNvPr id="616" name="Google Shape;616;p21"/>
            <p:cNvSpPr/>
            <p:nvPr/>
          </p:nvSpPr>
          <p:spPr>
            <a:xfrm>
              <a:off x="1999502" y="5013602"/>
              <a:ext cx="857607"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Loan Setup</a:t>
              </a:r>
              <a:endParaRPr sz="1600" dirty="0">
                <a:latin typeface="+mn-lt"/>
                <a:ea typeface="Cambria" panose="02040503050406030204"/>
                <a:cs typeface="Arial" panose="020B0604020202020204" pitchFamily="34" charset="0"/>
                <a:sym typeface="Cambria" panose="02040503050406030204"/>
              </a:endParaRPr>
            </a:p>
          </p:txBody>
        </p:sp>
        <p:sp>
          <p:nvSpPr>
            <p:cNvPr id="617" name="Google Shape;617;p21"/>
            <p:cNvSpPr/>
            <p:nvPr/>
          </p:nvSpPr>
          <p:spPr>
            <a:xfrm>
              <a:off x="1999501" y="5312773"/>
              <a:ext cx="113037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Quotes &amp; locks</a:t>
              </a:r>
              <a:endParaRPr sz="1600" dirty="0">
                <a:latin typeface="+mn-lt"/>
                <a:ea typeface="Cambria" panose="02040503050406030204"/>
                <a:cs typeface="Arial" panose="020B0604020202020204" pitchFamily="34" charset="0"/>
                <a:sym typeface="Cambria" panose="02040503050406030204"/>
              </a:endParaRPr>
            </a:p>
          </p:txBody>
        </p:sp>
        <p:sp>
          <p:nvSpPr>
            <p:cNvPr id="618" name="Google Shape;618;p21"/>
            <p:cNvSpPr/>
            <p:nvPr/>
          </p:nvSpPr>
          <p:spPr>
            <a:xfrm>
              <a:off x="3314628" y="3391021"/>
              <a:ext cx="1320748" cy="2229232"/>
            </a:xfrm>
            <a:custGeom>
              <a:avLst/>
              <a:gdLst/>
              <a:ahLst/>
              <a:cxnLst/>
              <a:rect l="l" t="t" r="r" b="b"/>
              <a:pathLst>
                <a:path w="5808" h="8916" extrusionOk="0">
                  <a:moveTo>
                    <a:pt x="287" y="0"/>
                  </a:moveTo>
                  <a:cubicBezTo>
                    <a:pt x="129" y="0"/>
                    <a:pt x="0" y="129"/>
                    <a:pt x="0" y="287"/>
                  </a:cubicBezTo>
                  <a:lnTo>
                    <a:pt x="0" y="8629"/>
                  </a:lnTo>
                  <a:cubicBezTo>
                    <a:pt x="0" y="8788"/>
                    <a:pt x="129" y="8916"/>
                    <a:pt x="287" y="8916"/>
                  </a:cubicBezTo>
                  <a:lnTo>
                    <a:pt x="5521" y="8916"/>
                  </a:lnTo>
                  <a:cubicBezTo>
                    <a:pt x="5679" y="8916"/>
                    <a:pt x="5808" y="8788"/>
                    <a:pt x="5808" y="8629"/>
                  </a:cubicBezTo>
                  <a:lnTo>
                    <a:pt x="5808" y="287"/>
                  </a:lnTo>
                  <a:cubicBezTo>
                    <a:pt x="5808" y="129"/>
                    <a:pt x="5679" y="0"/>
                    <a:pt x="5521" y="0"/>
                  </a:cubicBezTo>
                  <a:lnTo>
                    <a:pt x="287"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19" name="Google Shape;619;p21"/>
            <p:cNvSpPr/>
            <p:nvPr/>
          </p:nvSpPr>
          <p:spPr>
            <a:xfrm>
              <a:off x="3389564" y="3663182"/>
              <a:ext cx="78124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Borrower </a:t>
              </a:r>
              <a:endParaRPr sz="1600" dirty="0">
                <a:latin typeface="+mn-lt"/>
                <a:ea typeface="Cambria" panose="02040503050406030204"/>
                <a:cs typeface="Arial" panose="020B0604020202020204" pitchFamily="34" charset="0"/>
                <a:sym typeface="Cambria" panose="02040503050406030204"/>
              </a:endParaRPr>
            </a:p>
          </p:txBody>
        </p:sp>
        <p:sp>
          <p:nvSpPr>
            <p:cNvPr id="620" name="Google Shape;620;p21"/>
            <p:cNvSpPr/>
            <p:nvPr/>
          </p:nvSpPr>
          <p:spPr>
            <a:xfrm>
              <a:off x="3389565" y="3862630"/>
              <a:ext cx="885435"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Verification</a:t>
              </a:r>
              <a:endParaRPr sz="1600" dirty="0">
                <a:latin typeface="+mn-lt"/>
                <a:ea typeface="Cambria" panose="02040503050406030204"/>
                <a:cs typeface="Arial" panose="020B0604020202020204" pitchFamily="34" charset="0"/>
                <a:sym typeface="Cambria" panose="02040503050406030204"/>
              </a:endParaRPr>
            </a:p>
          </p:txBody>
        </p:sp>
        <p:sp>
          <p:nvSpPr>
            <p:cNvPr id="621" name="Google Shape;621;p21"/>
            <p:cNvSpPr/>
            <p:nvPr/>
          </p:nvSpPr>
          <p:spPr>
            <a:xfrm>
              <a:off x="3389564" y="4163877"/>
              <a:ext cx="88710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Automated </a:t>
              </a:r>
              <a:endParaRPr sz="1600" dirty="0">
                <a:latin typeface="+mn-lt"/>
                <a:ea typeface="Cambria" panose="02040503050406030204"/>
                <a:cs typeface="Arial" panose="020B0604020202020204" pitchFamily="34" charset="0"/>
                <a:sym typeface="Cambria" panose="02040503050406030204"/>
              </a:endParaRPr>
            </a:p>
          </p:txBody>
        </p:sp>
        <p:sp>
          <p:nvSpPr>
            <p:cNvPr id="622" name="Google Shape;622;p21"/>
            <p:cNvSpPr/>
            <p:nvPr/>
          </p:nvSpPr>
          <p:spPr>
            <a:xfrm>
              <a:off x="3389564" y="4363324"/>
              <a:ext cx="104195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Underwriting</a:t>
              </a:r>
              <a:endParaRPr sz="1600" dirty="0">
                <a:latin typeface="+mn-lt"/>
                <a:ea typeface="Cambria" panose="02040503050406030204"/>
                <a:cs typeface="Arial" panose="020B0604020202020204" pitchFamily="34" charset="0"/>
                <a:sym typeface="Cambria" panose="02040503050406030204"/>
              </a:endParaRPr>
            </a:p>
          </p:txBody>
        </p:sp>
        <p:sp>
          <p:nvSpPr>
            <p:cNvPr id="623" name="Google Shape;623;p21"/>
            <p:cNvSpPr/>
            <p:nvPr/>
          </p:nvSpPr>
          <p:spPr>
            <a:xfrm>
              <a:off x="3389564" y="4662494"/>
              <a:ext cx="122219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Appraisal Order</a:t>
              </a:r>
              <a:endParaRPr sz="1600" dirty="0">
                <a:latin typeface="+mn-lt"/>
                <a:ea typeface="Cambria" panose="02040503050406030204"/>
                <a:cs typeface="Arial" panose="020B0604020202020204" pitchFamily="34" charset="0"/>
                <a:sym typeface="Cambria" panose="02040503050406030204"/>
              </a:endParaRPr>
            </a:p>
          </p:txBody>
        </p:sp>
        <p:sp>
          <p:nvSpPr>
            <p:cNvPr id="624" name="Google Shape;624;p21"/>
            <p:cNvSpPr/>
            <p:nvPr/>
          </p:nvSpPr>
          <p:spPr>
            <a:xfrm>
              <a:off x="3389564" y="4963741"/>
              <a:ext cx="86882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Conditions </a:t>
              </a:r>
              <a:endParaRPr sz="1600" dirty="0">
                <a:latin typeface="+mn-lt"/>
                <a:ea typeface="Cambria" panose="02040503050406030204"/>
                <a:cs typeface="Arial" panose="020B0604020202020204" pitchFamily="34" charset="0"/>
                <a:sym typeface="Cambria" panose="02040503050406030204"/>
              </a:endParaRPr>
            </a:p>
          </p:txBody>
        </p:sp>
        <p:sp>
          <p:nvSpPr>
            <p:cNvPr id="625" name="Google Shape;625;p21"/>
            <p:cNvSpPr/>
            <p:nvPr/>
          </p:nvSpPr>
          <p:spPr>
            <a:xfrm>
              <a:off x="3389565" y="5163188"/>
              <a:ext cx="637995"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Clearing</a:t>
              </a:r>
              <a:endParaRPr sz="1600" dirty="0">
                <a:latin typeface="+mn-lt"/>
                <a:ea typeface="Cambria" panose="02040503050406030204"/>
                <a:cs typeface="Arial" panose="020B0604020202020204" pitchFamily="34" charset="0"/>
                <a:sym typeface="Cambria" panose="02040503050406030204"/>
              </a:endParaRPr>
            </a:p>
          </p:txBody>
        </p:sp>
        <p:sp>
          <p:nvSpPr>
            <p:cNvPr id="626" name="Google Shape;626;p21"/>
            <p:cNvSpPr/>
            <p:nvPr/>
          </p:nvSpPr>
          <p:spPr>
            <a:xfrm>
              <a:off x="4708438" y="3391021"/>
              <a:ext cx="1318874" cy="2229232"/>
            </a:xfrm>
            <a:custGeom>
              <a:avLst/>
              <a:gdLst/>
              <a:ahLst/>
              <a:cxnLst/>
              <a:rect l="l" t="t" r="r" b="b"/>
              <a:pathLst>
                <a:path w="5808" h="8916" extrusionOk="0">
                  <a:moveTo>
                    <a:pt x="288" y="0"/>
                  </a:moveTo>
                  <a:cubicBezTo>
                    <a:pt x="129" y="0"/>
                    <a:pt x="0" y="129"/>
                    <a:pt x="0" y="287"/>
                  </a:cubicBezTo>
                  <a:lnTo>
                    <a:pt x="0" y="8629"/>
                  </a:lnTo>
                  <a:cubicBezTo>
                    <a:pt x="0" y="8788"/>
                    <a:pt x="129" y="8916"/>
                    <a:pt x="288" y="8916"/>
                  </a:cubicBezTo>
                  <a:lnTo>
                    <a:pt x="5521" y="8916"/>
                  </a:lnTo>
                  <a:cubicBezTo>
                    <a:pt x="5680" y="8916"/>
                    <a:pt x="5808" y="8788"/>
                    <a:pt x="5808" y="8629"/>
                  </a:cubicBezTo>
                  <a:lnTo>
                    <a:pt x="5808" y="287"/>
                  </a:lnTo>
                  <a:cubicBezTo>
                    <a:pt x="5808" y="129"/>
                    <a:pt x="5680" y="0"/>
                    <a:pt x="5521" y="0"/>
                  </a:cubicBezTo>
                  <a:lnTo>
                    <a:pt x="288"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27" name="Google Shape;627;p21"/>
            <p:cNvSpPr/>
            <p:nvPr/>
          </p:nvSpPr>
          <p:spPr>
            <a:xfrm>
              <a:off x="4783374" y="3762905"/>
              <a:ext cx="37350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Risk </a:t>
              </a:r>
              <a:endParaRPr sz="1600" dirty="0">
                <a:latin typeface="+mn-lt"/>
                <a:ea typeface="Cambria" panose="02040503050406030204"/>
                <a:cs typeface="Arial" panose="020B0604020202020204" pitchFamily="34" charset="0"/>
                <a:sym typeface="Cambria" panose="02040503050406030204"/>
              </a:endParaRPr>
            </a:p>
          </p:txBody>
        </p:sp>
        <p:sp>
          <p:nvSpPr>
            <p:cNvPr id="628" name="Google Shape;628;p21"/>
            <p:cNvSpPr/>
            <p:nvPr/>
          </p:nvSpPr>
          <p:spPr>
            <a:xfrm>
              <a:off x="4783374" y="3962352"/>
              <a:ext cx="90730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Assessment</a:t>
              </a:r>
              <a:endParaRPr sz="1600" dirty="0">
                <a:latin typeface="+mn-lt"/>
                <a:ea typeface="Cambria" panose="02040503050406030204"/>
                <a:cs typeface="Arial" panose="020B0604020202020204" pitchFamily="34" charset="0"/>
                <a:sym typeface="Cambria" panose="02040503050406030204"/>
              </a:endParaRPr>
            </a:p>
          </p:txBody>
        </p:sp>
        <p:sp>
          <p:nvSpPr>
            <p:cNvPr id="629" name="Google Shape;629;p21"/>
            <p:cNvSpPr/>
            <p:nvPr/>
          </p:nvSpPr>
          <p:spPr>
            <a:xfrm>
              <a:off x="4783374" y="4263600"/>
              <a:ext cx="65954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Validate </a:t>
              </a:r>
              <a:endParaRPr sz="1600" dirty="0">
                <a:latin typeface="+mn-lt"/>
                <a:ea typeface="Cambria" panose="02040503050406030204"/>
                <a:cs typeface="Arial" panose="020B0604020202020204" pitchFamily="34" charset="0"/>
                <a:sym typeface="Cambria" panose="02040503050406030204"/>
              </a:endParaRPr>
            </a:p>
          </p:txBody>
        </p:sp>
        <p:sp>
          <p:nvSpPr>
            <p:cNvPr id="630" name="Google Shape;630;p21"/>
            <p:cNvSpPr/>
            <p:nvPr/>
          </p:nvSpPr>
          <p:spPr>
            <a:xfrm>
              <a:off x="4783375" y="4463047"/>
              <a:ext cx="82875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Conditions</a:t>
              </a:r>
              <a:endParaRPr sz="1600" dirty="0">
                <a:latin typeface="+mn-lt"/>
                <a:ea typeface="Cambria" panose="02040503050406030204"/>
                <a:cs typeface="Arial" panose="020B0604020202020204" pitchFamily="34" charset="0"/>
                <a:sym typeface="Cambria" panose="02040503050406030204"/>
              </a:endParaRPr>
            </a:p>
          </p:txBody>
        </p:sp>
        <p:sp>
          <p:nvSpPr>
            <p:cNvPr id="631" name="Google Shape;631;p21"/>
            <p:cNvSpPr/>
            <p:nvPr/>
          </p:nvSpPr>
          <p:spPr>
            <a:xfrm>
              <a:off x="4783375" y="4762217"/>
              <a:ext cx="111620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Loan Approval</a:t>
              </a:r>
              <a:endParaRPr sz="1600" dirty="0">
                <a:latin typeface="+mn-lt"/>
                <a:ea typeface="Cambria" panose="02040503050406030204"/>
                <a:cs typeface="Arial" panose="020B0604020202020204" pitchFamily="34" charset="0"/>
                <a:sym typeface="Cambria" panose="02040503050406030204"/>
              </a:endParaRPr>
            </a:p>
          </p:txBody>
        </p:sp>
        <p:sp>
          <p:nvSpPr>
            <p:cNvPr id="632" name="Google Shape;632;p21"/>
            <p:cNvSpPr/>
            <p:nvPr/>
          </p:nvSpPr>
          <p:spPr>
            <a:xfrm>
              <a:off x="4783374" y="5063464"/>
              <a:ext cx="1061316"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Asset Grading</a:t>
              </a:r>
              <a:endParaRPr sz="1600" dirty="0">
                <a:latin typeface="+mn-lt"/>
                <a:ea typeface="Cambria" panose="02040503050406030204"/>
                <a:cs typeface="Arial" panose="020B0604020202020204" pitchFamily="34" charset="0"/>
                <a:sym typeface="Cambria" panose="02040503050406030204"/>
              </a:endParaRPr>
            </a:p>
          </p:txBody>
        </p:sp>
        <p:sp>
          <p:nvSpPr>
            <p:cNvPr id="633" name="Google Shape;633;p21"/>
            <p:cNvSpPr/>
            <p:nvPr/>
          </p:nvSpPr>
          <p:spPr>
            <a:xfrm>
              <a:off x="6098501" y="3391021"/>
              <a:ext cx="1318874" cy="2229232"/>
            </a:xfrm>
            <a:custGeom>
              <a:avLst/>
              <a:gdLst/>
              <a:ahLst/>
              <a:cxnLst/>
              <a:rect l="l" t="t" r="r" b="b"/>
              <a:pathLst>
                <a:path w="2904" h="4458" extrusionOk="0">
                  <a:moveTo>
                    <a:pt x="144" y="0"/>
                  </a:moveTo>
                  <a:cubicBezTo>
                    <a:pt x="65" y="0"/>
                    <a:pt x="0" y="64"/>
                    <a:pt x="0" y="143"/>
                  </a:cubicBezTo>
                  <a:lnTo>
                    <a:pt x="0" y="4314"/>
                  </a:lnTo>
                  <a:cubicBezTo>
                    <a:pt x="0" y="4394"/>
                    <a:pt x="65" y="4458"/>
                    <a:pt x="144" y="4458"/>
                  </a:cubicBezTo>
                  <a:lnTo>
                    <a:pt x="2761" y="4458"/>
                  </a:lnTo>
                  <a:cubicBezTo>
                    <a:pt x="2840" y="4458"/>
                    <a:pt x="2904" y="4394"/>
                    <a:pt x="2904" y="4314"/>
                  </a:cubicBezTo>
                  <a:lnTo>
                    <a:pt x="2904" y="143"/>
                  </a:lnTo>
                  <a:cubicBezTo>
                    <a:pt x="2904" y="64"/>
                    <a:pt x="2840" y="0"/>
                    <a:pt x="2761" y="0"/>
                  </a:cubicBezTo>
                  <a:lnTo>
                    <a:pt x="144"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34" name="Google Shape;634;p21"/>
            <p:cNvSpPr/>
            <p:nvPr/>
          </p:nvSpPr>
          <p:spPr>
            <a:xfrm>
              <a:off x="6171564" y="3663182"/>
              <a:ext cx="37350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Risk </a:t>
              </a:r>
              <a:endParaRPr sz="1600" dirty="0">
                <a:latin typeface="+mn-lt"/>
                <a:ea typeface="Cambria" panose="02040503050406030204"/>
                <a:cs typeface="Arial" panose="020B0604020202020204" pitchFamily="34" charset="0"/>
                <a:sym typeface="Cambria" panose="02040503050406030204"/>
              </a:endParaRPr>
            </a:p>
          </p:txBody>
        </p:sp>
        <p:sp>
          <p:nvSpPr>
            <p:cNvPr id="635" name="Google Shape;635;p21"/>
            <p:cNvSpPr/>
            <p:nvPr/>
          </p:nvSpPr>
          <p:spPr>
            <a:xfrm>
              <a:off x="6171565" y="3862629"/>
              <a:ext cx="99867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Management</a:t>
              </a:r>
              <a:endParaRPr sz="1600" dirty="0">
                <a:latin typeface="+mn-lt"/>
                <a:ea typeface="Cambria" panose="02040503050406030204"/>
                <a:cs typeface="Arial" panose="020B0604020202020204" pitchFamily="34" charset="0"/>
                <a:sym typeface="Cambria" panose="02040503050406030204"/>
              </a:endParaRPr>
            </a:p>
          </p:txBody>
        </p:sp>
        <p:sp>
          <p:nvSpPr>
            <p:cNvPr id="636" name="Google Shape;636;p21"/>
            <p:cNvSpPr/>
            <p:nvPr/>
          </p:nvSpPr>
          <p:spPr>
            <a:xfrm>
              <a:off x="6171564" y="4163877"/>
              <a:ext cx="65954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Validate </a:t>
              </a:r>
              <a:endParaRPr sz="1600" dirty="0">
                <a:latin typeface="+mn-lt"/>
                <a:ea typeface="Cambria" panose="02040503050406030204"/>
                <a:cs typeface="Arial" panose="020B0604020202020204" pitchFamily="34" charset="0"/>
                <a:sym typeface="Cambria" panose="02040503050406030204"/>
              </a:endParaRPr>
            </a:p>
          </p:txBody>
        </p:sp>
        <p:sp>
          <p:nvSpPr>
            <p:cNvPr id="637" name="Google Shape;637;p21"/>
            <p:cNvSpPr/>
            <p:nvPr/>
          </p:nvSpPr>
          <p:spPr>
            <a:xfrm>
              <a:off x="6171565" y="4363324"/>
              <a:ext cx="63216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Funding</a:t>
              </a:r>
              <a:endParaRPr sz="1600" dirty="0">
                <a:latin typeface="+mn-lt"/>
                <a:ea typeface="Cambria" panose="02040503050406030204"/>
                <a:cs typeface="Arial" panose="020B0604020202020204" pitchFamily="34" charset="0"/>
                <a:sym typeface="Cambria" panose="02040503050406030204"/>
              </a:endParaRPr>
            </a:p>
          </p:txBody>
        </p:sp>
        <p:sp>
          <p:nvSpPr>
            <p:cNvPr id="638" name="Google Shape;638;p21"/>
            <p:cNvSpPr/>
            <p:nvPr/>
          </p:nvSpPr>
          <p:spPr>
            <a:xfrm>
              <a:off x="6171564" y="4662494"/>
              <a:ext cx="830356"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Document </a:t>
              </a:r>
              <a:endParaRPr sz="1600" dirty="0">
                <a:latin typeface="+mn-lt"/>
                <a:ea typeface="Cambria" panose="02040503050406030204"/>
                <a:cs typeface="Arial" panose="020B0604020202020204" pitchFamily="34" charset="0"/>
                <a:sym typeface="Cambria" panose="02040503050406030204"/>
              </a:endParaRPr>
            </a:p>
          </p:txBody>
        </p:sp>
        <p:sp>
          <p:nvSpPr>
            <p:cNvPr id="639" name="Google Shape;639;p21"/>
            <p:cNvSpPr/>
            <p:nvPr/>
          </p:nvSpPr>
          <p:spPr>
            <a:xfrm>
              <a:off x="6171564" y="4864018"/>
              <a:ext cx="77816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Validation</a:t>
              </a:r>
              <a:endParaRPr sz="1600" dirty="0">
                <a:latin typeface="+mn-lt"/>
                <a:ea typeface="Cambria" panose="02040503050406030204"/>
                <a:cs typeface="Arial" panose="020B0604020202020204" pitchFamily="34" charset="0"/>
                <a:sym typeface="Cambria" panose="02040503050406030204"/>
              </a:endParaRPr>
            </a:p>
          </p:txBody>
        </p:sp>
        <p:sp>
          <p:nvSpPr>
            <p:cNvPr id="640" name="Google Shape;640;p21"/>
            <p:cNvSpPr/>
            <p:nvPr/>
          </p:nvSpPr>
          <p:spPr>
            <a:xfrm>
              <a:off x="6171564" y="5163189"/>
              <a:ext cx="101380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Warehousing</a:t>
              </a:r>
              <a:endParaRPr sz="1600" dirty="0">
                <a:latin typeface="+mn-lt"/>
                <a:ea typeface="Cambria" panose="02040503050406030204"/>
                <a:cs typeface="Arial" panose="020B0604020202020204" pitchFamily="34" charset="0"/>
                <a:sym typeface="Cambria" panose="02040503050406030204"/>
              </a:endParaRPr>
            </a:p>
          </p:txBody>
        </p:sp>
        <p:sp>
          <p:nvSpPr>
            <p:cNvPr id="641" name="Google Shape;641;p21"/>
            <p:cNvSpPr/>
            <p:nvPr/>
          </p:nvSpPr>
          <p:spPr>
            <a:xfrm>
              <a:off x="7492310" y="3391021"/>
              <a:ext cx="1318874" cy="2229232"/>
            </a:xfrm>
            <a:custGeom>
              <a:avLst/>
              <a:gdLst/>
              <a:ahLst/>
              <a:cxnLst/>
              <a:rect l="l" t="t" r="r" b="b"/>
              <a:pathLst>
                <a:path w="2904" h="4458" extrusionOk="0">
                  <a:moveTo>
                    <a:pt x="144" y="0"/>
                  </a:moveTo>
                  <a:cubicBezTo>
                    <a:pt x="64" y="0"/>
                    <a:pt x="0" y="64"/>
                    <a:pt x="0" y="143"/>
                  </a:cubicBezTo>
                  <a:lnTo>
                    <a:pt x="0" y="4314"/>
                  </a:lnTo>
                  <a:cubicBezTo>
                    <a:pt x="0" y="4394"/>
                    <a:pt x="64" y="4458"/>
                    <a:pt x="144" y="4458"/>
                  </a:cubicBezTo>
                  <a:lnTo>
                    <a:pt x="2760" y="4458"/>
                  </a:lnTo>
                  <a:cubicBezTo>
                    <a:pt x="2840" y="4458"/>
                    <a:pt x="2904" y="4394"/>
                    <a:pt x="2904" y="4314"/>
                  </a:cubicBezTo>
                  <a:lnTo>
                    <a:pt x="2904" y="143"/>
                  </a:lnTo>
                  <a:cubicBezTo>
                    <a:pt x="2904" y="64"/>
                    <a:pt x="2840" y="0"/>
                    <a:pt x="2760" y="0"/>
                  </a:cubicBezTo>
                  <a:lnTo>
                    <a:pt x="144"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42" name="Google Shape;642;p21"/>
            <p:cNvSpPr/>
            <p:nvPr/>
          </p:nvSpPr>
          <p:spPr>
            <a:xfrm>
              <a:off x="7567247" y="3465813"/>
              <a:ext cx="74437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Purchase </a:t>
              </a:r>
              <a:endParaRPr sz="1600" dirty="0">
                <a:latin typeface="+mn-lt"/>
                <a:ea typeface="Cambria" panose="02040503050406030204"/>
                <a:cs typeface="Arial" panose="020B0604020202020204" pitchFamily="34" charset="0"/>
                <a:sym typeface="Cambria" panose="02040503050406030204"/>
              </a:endParaRPr>
            </a:p>
          </p:txBody>
        </p:sp>
        <p:sp>
          <p:nvSpPr>
            <p:cNvPr id="643" name="Google Shape;643;p21"/>
            <p:cNvSpPr/>
            <p:nvPr/>
          </p:nvSpPr>
          <p:spPr>
            <a:xfrm>
              <a:off x="7567247" y="3665260"/>
              <a:ext cx="637995"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Clearing</a:t>
              </a:r>
              <a:endParaRPr sz="1600" dirty="0">
                <a:latin typeface="+mn-lt"/>
                <a:ea typeface="Cambria" panose="02040503050406030204"/>
                <a:cs typeface="Arial" panose="020B0604020202020204" pitchFamily="34" charset="0"/>
                <a:sym typeface="Cambria" panose="02040503050406030204"/>
              </a:endParaRPr>
            </a:p>
          </p:txBody>
        </p:sp>
        <p:sp>
          <p:nvSpPr>
            <p:cNvPr id="644" name="Google Shape;644;p21"/>
            <p:cNvSpPr/>
            <p:nvPr/>
          </p:nvSpPr>
          <p:spPr>
            <a:xfrm>
              <a:off x="7567246" y="3964430"/>
              <a:ext cx="97129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Post Closing </a:t>
              </a:r>
              <a:endParaRPr sz="1600" dirty="0">
                <a:latin typeface="+mn-lt"/>
                <a:ea typeface="Cambria" panose="02040503050406030204"/>
                <a:cs typeface="Arial" panose="020B0604020202020204" pitchFamily="34" charset="0"/>
                <a:sym typeface="Cambria" panose="02040503050406030204"/>
              </a:endParaRPr>
            </a:p>
          </p:txBody>
        </p:sp>
        <p:sp>
          <p:nvSpPr>
            <p:cNvPr id="645" name="Google Shape;645;p21"/>
            <p:cNvSpPr/>
            <p:nvPr/>
          </p:nvSpPr>
          <p:spPr>
            <a:xfrm>
              <a:off x="7567247" y="4165954"/>
              <a:ext cx="811119"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document </a:t>
              </a:r>
              <a:endParaRPr sz="1600" dirty="0">
                <a:latin typeface="+mn-lt"/>
                <a:ea typeface="Cambria" panose="02040503050406030204"/>
                <a:cs typeface="Arial" panose="020B0604020202020204" pitchFamily="34" charset="0"/>
                <a:sym typeface="Cambria" panose="02040503050406030204"/>
              </a:endParaRPr>
            </a:p>
          </p:txBody>
        </p:sp>
        <p:sp>
          <p:nvSpPr>
            <p:cNvPr id="646" name="Google Shape;646;p21"/>
            <p:cNvSpPr/>
            <p:nvPr/>
          </p:nvSpPr>
          <p:spPr>
            <a:xfrm>
              <a:off x="7567247" y="4365401"/>
              <a:ext cx="47622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follow</a:t>
              </a:r>
              <a:endParaRPr sz="1600" dirty="0">
                <a:latin typeface="+mn-lt"/>
                <a:ea typeface="Cambria" panose="02040503050406030204"/>
                <a:cs typeface="Arial" panose="020B0604020202020204" pitchFamily="34" charset="0"/>
                <a:sym typeface="Cambria" panose="02040503050406030204"/>
              </a:endParaRPr>
            </a:p>
          </p:txBody>
        </p:sp>
        <p:sp>
          <p:nvSpPr>
            <p:cNvPr id="647" name="Google Shape;647;p21"/>
            <p:cNvSpPr/>
            <p:nvPr/>
          </p:nvSpPr>
          <p:spPr>
            <a:xfrm>
              <a:off x="8005622" y="4365401"/>
              <a:ext cx="6091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a:t>
              </a:r>
              <a:endParaRPr sz="1600" dirty="0">
                <a:latin typeface="+mn-lt"/>
                <a:ea typeface="Cambria" panose="02040503050406030204"/>
                <a:cs typeface="Arial" panose="020B0604020202020204" pitchFamily="34" charset="0"/>
                <a:sym typeface="Cambria" panose="02040503050406030204"/>
              </a:endParaRPr>
            </a:p>
          </p:txBody>
        </p:sp>
        <p:sp>
          <p:nvSpPr>
            <p:cNvPr id="648" name="Google Shape;648;p21"/>
            <p:cNvSpPr/>
            <p:nvPr/>
          </p:nvSpPr>
          <p:spPr>
            <a:xfrm>
              <a:off x="8058077" y="4365401"/>
              <a:ext cx="198772"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up</a:t>
              </a:r>
              <a:endParaRPr sz="1600" dirty="0">
                <a:latin typeface="+mn-lt"/>
                <a:ea typeface="Cambria" panose="02040503050406030204"/>
                <a:cs typeface="Arial" panose="020B0604020202020204" pitchFamily="34" charset="0"/>
                <a:sym typeface="Cambria" panose="02040503050406030204"/>
              </a:endParaRPr>
            </a:p>
          </p:txBody>
        </p:sp>
        <p:sp>
          <p:nvSpPr>
            <p:cNvPr id="649" name="Google Shape;649;p21"/>
            <p:cNvSpPr/>
            <p:nvPr/>
          </p:nvSpPr>
          <p:spPr>
            <a:xfrm>
              <a:off x="7567246" y="4664571"/>
              <a:ext cx="981744"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Validation &amp; </a:t>
              </a:r>
              <a:endParaRPr sz="1600" dirty="0">
                <a:latin typeface="+mn-lt"/>
                <a:ea typeface="Cambria" panose="02040503050406030204"/>
                <a:cs typeface="Arial" panose="020B0604020202020204" pitchFamily="34" charset="0"/>
                <a:sym typeface="Cambria" panose="02040503050406030204"/>
              </a:endParaRPr>
            </a:p>
          </p:txBody>
        </p:sp>
        <p:sp>
          <p:nvSpPr>
            <p:cNvPr id="650" name="Google Shape;650;p21"/>
            <p:cNvSpPr/>
            <p:nvPr/>
          </p:nvSpPr>
          <p:spPr>
            <a:xfrm>
              <a:off x="7567247" y="4866097"/>
              <a:ext cx="638893"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Delivery</a:t>
              </a:r>
              <a:endParaRPr sz="1600" dirty="0">
                <a:latin typeface="+mn-lt"/>
                <a:ea typeface="Cambria" panose="02040503050406030204"/>
                <a:cs typeface="Arial" panose="020B0604020202020204" pitchFamily="34" charset="0"/>
                <a:sym typeface="Cambria" panose="02040503050406030204"/>
              </a:endParaRPr>
            </a:p>
          </p:txBody>
        </p:sp>
        <p:sp>
          <p:nvSpPr>
            <p:cNvPr id="651" name="Google Shape;651;p21"/>
            <p:cNvSpPr/>
            <p:nvPr/>
          </p:nvSpPr>
          <p:spPr>
            <a:xfrm>
              <a:off x="7567246" y="5165266"/>
              <a:ext cx="84318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Secondary </a:t>
              </a:r>
              <a:endParaRPr sz="1600" dirty="0">
                <a:latin typeface="+mn-lt"/>
                <a:ea typeface="Cambria" panose="02040503050406030204"/>
                <a:cs typeface="Arial" panose="020B0604020202020204" pitchFamily="34" charset="0"/>
                <a:sym typeface="Cambria" panose="02040503050406030204"/>
              </a:endParaRPr>
            </a:p>
          </p:txBody>
        </p:sp>
        <p:sp>
          <p:nvSpPr>
            <p:cNvPr id="652" name="Google Shape;652;p21"/>
            <p:cNvSpPr/>
            <p:nvPr/>
          </p:nvSpPr>
          <p:spPr>
            <a:xfrm>
              <a:off x="7567246" y="5364713"/>
              <a:ext cx="786306"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Marketing</a:t>
              </a:r>
              <a:endParaRPr sz="1600" dirty="0">
                <a:latin typeface="+mn-lt"/>
                <a:ea typeface="Cambria" panose="02040503050406030204"/>
                <a:cs typeface="Arial" panose="020B0604020202020204" pitchFamily="34" charset="0"/>
                <a:sym typeface="Cambria" panose="02040503050406030204"/>
              </a:endParaRPr>
            </a:p>
          </p:txBody>
        </p:sp>
        <p:sp>
          <p:nvSpPr>
            <p:cNvPr id="653" name="Google Shape;653;p21"/>
            <p:cNvSpPr/>
            <p:nvPr/>
          </p:nvSpPr>
          <p:spPr>
            <a:xfrm>
              <a:off x="8884247" y="3391021"/>
              <a:ext cx="1318874" cy="2229232"/>
            </a:xfrm>
            <a:custGeom>
              <a:avLst/>
              <a:gdLst/>
              <a:ahLst/>
              <a:cxnLst/>
              <a:rect l="l" t="t" r="r" b="b"/>
              <a:pathLst>
                <a:path w="2904" h="4458" extrusionOk="0">
                  <a:moveTo>
                    <a:pt x="144" y="0"/>
                  </a:moveTo>
                  <a:cubicBezTo>
                    <a:pt x="65" y="0"/>
                    <a:pt x="0" y="64"/>
                    <a:pt x="0" y="143"/>
                  </a:cubicBezTo>
                  <a:lnTo>
                    <a:pt x="0" y="4314"/>
                  </a:lnTo>
                  <a:cubicBezTo>
                    <a:pt x="0" y="4394"/>
                    <a:pt x="65" y="4458"/>
                    <a:pt x="144" y="4458"/>
                  </a:cubicBezTo>
                  <a:lnTo>
                    <a:pt x="2761" y="4458"/>
                  </a:lnTo>
                  <a:cubicBezTo>
                    <a:pt x="2840" y="4458"/>
                    <a:pt x="2904" y="4394"/>
                    <a:pt x="2904" y="4314"/>
                  </a:cubicBezTo>
                  <a:lnTo>
                    <a:pt x="2904" y="143"/>
                  </a:lnTo>
                  <a:cubicBezTo>
                    <a:pt x="2904" y="64"/>
                    <a:pt x="2840" y="0"/>
                    <a:pt x="2761" y="0"/>
                  </a:cubicBezTo>
                  <a:lnTo>
                    <a:pt x="144" y="0"/>
                  </a:lnTo>
                  <a:close/>
                </a:path>
              </a:pathLst>
            </a:custGeom>
            <a:solidFill>
              <a:srgbClr val="0096EA"/>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54" name="Google Shape;654;p21"/>
            <p:cNvSpPr/>
            <p:nvPr/>
          </p:nvSpPr>
          <p:spPr>
            <a:xfrm>
              <a:off x="8959183" y="3663182"/>
              <a:ext cx="1179810"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Loan File Setup</a:t>
              </a:r>
              <a:endParaRPr sz="1600" dirty="0">
                <a:latin typeface="+mn-lt"/>
                <a:ea typeface="Cambria" panose="02040503050406030204"/>
                <a:cs typeface="Arial" panose="020B0604020202020204" pitchFamily="34" charset="0"/>
                <a:sym typeface="Cambria" panose="02040503050406030204"/>
              </a:endParaRPr>
            </a:p>
          </p:txBody>
        </p:sp>
        <p:sp>
          <p:nvSpPr>
            <p:cNvPr id="655" name="Google Shape;655;p21"/>
            <p:cNvSpPr/>
            <p:nvPr/>
          </p:nvSpPr>
          <p:spPr>
            <a:xfrm>
              <a:off x="8959183" y="3962352"/>
              <a:ext cx="103130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Processing &amp; </a:t>
              </a:r>
              <a:endParaRPr sz="1600" dirty="0">
                <a:latin typeface="+mn-lt"/>
                <a:ea typeface="Cambria" panose="02040503050406030204"/>
                <a:cs typeface="Arial" panose="020B0604020202020204" pitchFamily="34" charset="0"/>
                <a:sym typeface="Cambria" panose="02040503050406030204"/>
              </a:endParaRPr>
            </a:p>
          </p:txBody>
        </p:sp>
        <p:sp>
          <p:nvSpPr>
            <p:cNvPr id="656" name="Google Shape;656;p21"/>
            <p:cNvSpPr/>
            <p:nvPr/>
          </p:nvSpPr>
          <p:spPr>
            <a:xfrm>
              <a:off x="8959183" y="4163877"/>
              <a:ext cx="764568"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Reporting</a:t>
              </a:r>
              <a:endParaRPr sz="1600" dirty="0">
                <a:latin typeface="+mn-lt"/>
                <a:ea typeface="Cambria" panose="02040503050406030204"/>
                <a:cs typeface="Arial" panose="020B0604020202020204" pitchFamily="34" charset="0"/>
                <a:sym typeface="Cambria" panose="02040503050406030204"/>
              </a:endParaRPr>
            </a:p>
          </p:txBody>
        </p:sp>
        <p:sp>
          <p:nvSpPr>
            <p:cNvPr id="657" name="Google Shape;657;p21"/>
            <p:cNvSpPr/>
            <p:nvPr/>
          </p:nvSpPr>
          <p:spPr>
            <a:xfrm>
              <a:off x="8959184" y="4463047"/>
              <a:ext cx="602409"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Escrow </a:t>
              </a:r>
              <a:endParaRPr sz="1600" dirty="0">
                <a:latin typeface="+mn-lt"/>
                <a:ea typeface="Cambria" panose="02040503050406030204"/>
                <a:cs typeface="Arial" panose="020B0604020202020204" pitchFamily="34" charset="0"/>
                <a:sym typeface="Cambria" panose="02040503050406030204"/>
              </a:endParaRPr>
            </a:p>
          </p:txBody>
        </p:sp>
        <p:sp>
          <p:nvSpPr>
            <p:cNvPr id="658" name="Google Shape;658;p21"/>
            <p:cNvSpPr/>
            <p:nvPr/>
          </p:nvSpPr>
          <p:spPr>
            <a:xfrm>
              <a:off x="8959184" y="4662494"/>
              <a:ext cx="99867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Management</a:t>
              </a:r>
              <a:endParaRPr sz="1600" dirty="0">
                <a:latin typeface="+mn-lt"/>
                <a:ea typeface="Cambria" panose="02040503050406030204"/>
                <a:cs typeface="Arial" panose="020B0604020202020204" pitchFamily="34" charset="0"/>
                <a:sym typeface="Cambria" panose="02040503050406030204"/>
              </a:endParaRPr>
            </a:p>
          </p:txBody>
        </p:sp>
        <p:sp>
          <p:nvSpPr>
            <p:cNvPr id="659" name="Google Shape;659;p21"/>
            <p:cNvSpPr/>
            <p:nvPr/>
          </p:nvSpPr>
          <p:spPr>
            <a:xfrm>
              <a:off x="8959184" y="4963741"/>
              <a:ext cx="918521"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Collections, </a:t>
              </a:r>
              <a:endParaRPr sz="1600" dirty="0">
                <a:latin typeface="+mn-lt"/>
                <a:ea typeface="Cambria" panose="02040503050406030204"/>
                <a:cs typeface="Arial" panose="020B0604020202020204" pitchFamily="34" charset="0"/>
                <a:sym typeface="Cambria" panose="02040503050406030204"/>
              </a:endParaRPr>
            </a:p>
          </p:txBody>
        </p:sp>
        <p:sp>
          <p:nvSpPr>
            <p:cNvPr id="660" name="Google Shape;660;p21"/>
            <p:cNvSpPr/>
            <p:nvPr/>
          </p:nvSpPr>
          <p:spPr>
            <a:xfrm>
              <a:off x="8959183" y="5163189"/>
              <a:ext cx="976806" cy="246221"/>
            </a:xfrm>
            <a:prstGeom prst="rect">
              <a:avLst/>
            </a:prstGeom>
            <a:noFill/>
            <a:ln>
              <a:noFill/>
            </a:ln>
          </p:spPr>
          <p:txBody>
            <a:bodyPr spcFirstLastPara="1" wrap="square" lIns="0" tIns="0" rIns="0" bIns="0" anchor="t" anchorCtr="0">
              <a:spAutoFit/>
            </a:bodyPr>
            <a:lstStyle/>
            <a:p>
              <a:r>
                <a:rPr lang="en-US" sz="1600" dirty="0">
                  <a:solidFill>
                    <a:srgbClr val="FFFFFF"/>
                  </a:solidFill>
                  <a:latin typeface="+mn-lt"/>
                  <a:ea typeface="Cambria" panose="02040503050406030204"/>
                  <a:cs typeface="Arial" panose="020B0604020202020204" pitchFamily="34" charset="0"/>
                  <a:sym typeface="Cambria" panose="02040503050406030204"/>
                </a:rPr>
                <a:t>Foreclosures</a:t>
              </a:r>
              <a:endParaRPr sz="1600" dirty="0">
                <a:latin typeface="+mn-lt"/>
                <a:ea typeface="Cambria" panose="02040503050406030204"/>
                <a:cs typeface="Arial" panose="020B0604020202020204" pitchFamily="34" charset="0"/>
                <a:sym typeface="Cambria" panose="02040503050406030204"/>
              </a:endParaRPr>
            </a:p>
          </p:txBody>
        </p:sp>
        <p:sp>
          <p:nvSpPr>
            <p:cNvPr id="661" name="Google Shape;661;p21"/>
            <p:cNvSpPr/>
            <p:nvPr/>
          </p:nvSpPr>
          <p:spPr>
            <a:xfrm>
              <a:off x="1924567" y="3391021"/>
              <a:ext cx="1320747" cy="2229234"/>
            </a:xfrm>
            <a:custGeom>
              <a:avLst/>
              <a:gdLst/>
              <a:ahLst/>
              <a:cxnLst/>
              <a:rect l="l" t="t" r="r" b="b"/>
              <a:pathLst>
                <a:path w="5808" h="8916" extrusionOk="0">
                  <a:moveTo>
                    <a:pt x="288" y="0"/>
                  </a:moveTo>
                  <a:cubicBezTo>
                    <a:pt x="129" y="0"/>
                    <a:pt x="0" y="129"/>
                    <a:pt x="0" y="287"/>
                  </a:cubicBezTo>
                  <a:lnTo>
                    <a:pt x="0" y="8629"/>
                  </a:lnTo>
                  <a:cubicBezTo>
                    <a:pt x="0" y="8788"/>
                    <a:pt x="129" y="8916"/>
                    <a:pt x="288" y="8916"/>
                  </a:cubicBezTo>
                  <a:lnTo>
                    <a:pt x="5521" y="8916"/>
                  </a:lnTo>
                  <a:cubicBezTo>
                    <a:pt x="5680" y="8916"/>
                    <a:pt x="5808" y="8788"/>
                    <a:pt x="5808" y="8629"/>
                  </a:cubicBezTo>
                  <a:lnTo>
                    <a:pt x="5808" y="287"/>
                  </a:lnTo>
                  <a:cubicBezTo>
                    <a:pt x="5808" y="129"/>
                    <a:pt x="5680" y="0"/>
                    <a:pt x="5521" y="0"/>
                  </a:cubicBezTo>
                  <a:lnTo>
                    <a:pt x="288"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62" name="Google Shape;662;p21"/>
            <p:cNvSpPr/>
            <p:nvPr/>
          </p:nvSpPr>
          <p:spPr>
            <a:xfrm>
              <a:off x="1999502" y="3513597"/>
              <a:ext cx="646587"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Product </a:t>
              </a:r>
              <a:endParaRPr sz="1600" dirty="0">
                <a:latin typeface="+mn-lt"/>
              </a:endParaRPr>
            </a:p>
          </p:txBody>
        </p:sp>
        <p:sp>
          <p:nvSpPr>
            <p:cNvPr id="663" name="Google Shape;663;p21"/>
            <p:cNvSpPr/>
            <p:nvPr/>
          </p:nvSpPr>
          <p:spPr>
            <a:xfrm>
              <a:off x="1999501" y="3713044"/>
              <a:ext cx="1020664"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Development</a:t>
              </a:r>
              <a:endParaRPr sz="1600" dirty="0">
                <a:latin typeface="+mn-lt"/>
              </a:endParaRPr>
            </a:p>
          </p:txBody>
        </p:sp>
        <p:sp>
          <p:nvSpPr>
            <p:cNvPr id="664" name="Google Shape;664;p21"/>
            <p:cNvSpPr/>
            <p:nvPr/>
          </p:nvSpPr>
          <p:spPr>
            <a:xfrm>
              <a:off x="1999502" y="4012214"/>
              <a:ext cx="646587"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Product</a:t>
              </a:r>
              <a:r>
                <a:rPr lang="en-US" sz="1600" dirty="0">
                  <a:solidFill>
                    <a:srgbClr val="FFFFFF"/>
                  </a:solidFill>
                  <a:latin typeface="+mn-lt"/>
                  <a:ea typeface="Cambria" panose="02040503050406030204"/>
                  <a:cs typeface="Arial" panose="020B0604020202020204" pitchFamily="34" charset="0"/>
                  <a:sym typeface="Cambria" panose="02040503050406030204"/>
                </a:rPr>
                <a:t> </a:t>
              </a:r>
              <a:endParaRPr sz="1600" dirty="0">
                <a:latin typeface="+mn-lt"/>
                <a:ea typeface="Cambria" panose="02040503050406030204"/>
                <a:cs typeface="Arial" panose="020B0604020202020204" pitchFamily="34" charset="0"/>
                <a:sym typeface="Cambria" panose="02040503050406030204"/>
              </a:endParaRPr>
            </a:p>
          </p:txBody>
        </p:sp>
        <p:sp>
          <p:nvSpPr>
            <p:cNvPr id="665" name="Google Shape;665;p21"/>
            <p:cNvSpPr/>
            <p:nvPr/>
          </p:nvSpPr>
          <p:spPr>
            <a:xfrm>
              <a:off x="1999502" y="4213739"/>
              <a:ext cx="804707"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Placement</a:t>
              </a:r>
              <a:endParaRPr sz="1600" dirty="0">
                <a:latin typeface="+mn-lt"/>
              </a:endParaRPr>
            </a:p>
          </p:txBody>
        </p:sp>
        <p:sp>
          <p:nvSpPr>
            <p:cNvPr id="666" name="Google Shape;666;p21"/>
            <p:cNvSpPr/>
            <p:nvPr/>
          </p:nvSpPr>
          <p:spPr>
            <a:xfrm>
              <a:off x="1999501" y="4512909"/>
              <a:ext cx="411972"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Lead</a:t>
              </a:r>
              <a:r>
                <a:rPr lang="en-US" sz="1600" dirty="0">
                  <a:solidFill>
                    <a:srgbClr val="FFFFFF"/>
                  </a:solidFill>
                  <a:latin typeface="+mn-lt"/>
                  <a:ea typeface="Cambria" panose="02040503050406030204"/>
                  <a:cs typeface="Arial" panose="020B0604020202020204" pitchFamily="34" charset="0"/>
                  <a:sym typeface="Cambria" panose="02040503050406030204"/>
                </a:rPr>
                <a:t> </a:t>
              </a:r>
              <a:endParaRPr sz="1600" dirty="0">
                <a:latin typeface="+mn-lt"/>
                <a:ea typeface="Cambria" panose="02040503050406030204"/>
                <a:cs typeface="Arial" panose="020B0604020202020204" pitchFamily="34" charset="0"/>
                <a:sym typeface="Cambria" panose="02040503050406030204"/>
              </a:endParaRPr>
            </a:p>
          </p:txBody>
        </p:sp>
        <p:sp>
          <p:nvSpPr>
            <p:cNvPr id="667" name="Google Shape;667;p21"/>
            <p:cNvSpPr/>
            <p:nvPr/>
          </p:nvSpPr>
          <p:spPr>
            <a:xfrm>
              <a:off x="1999502" y="4712355"/>
              <a:ext cx="851323"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Generation</a:t>
              </a:r>
              <a:endParaRPr sz="1600" dirty="0">
                <a:latin typeface="+mn-lt"/>
              </a:endParaRPr>
            </a:p>
          </p:txBody>
        </p:sp>
        <p:sp>
          <p:nvSpPr>
            <p:cNvPr id="668" name="Google Shape;668;p21"/>
            <p:cNvSpPr/>
            <p:nvPr/>
          </p:nvSpPr>
          <p:spPr>
            <a:xfrm>
              <a:off x="1999502" y="5013602"/>
              <a:ext cx="857607"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Loan Setup</a:t>
              </a:r>
              <a:endParaRPr sz="1600" dirty="0">
                <a:latin typeface="+mn-lt"/>
              </a:endParaRPr>
            </a:p>
          </p:txBody>
        </p:sp>
        <p:sp>
          <p:nvSpPr>
            <p:cNvPr id="669" name="Google Shape;669;p21"/>
            <p:cNvSpPr/>
            <p:nvPr/>
          </p:nvSpPr>
          <p:spPr>
            <a:xfrm>
              <a:off x="1999501" y="5312773"/>
              <a:ext cx="1130374"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Quotes &amp; locks</a:t>
              </a:r>
              <a:endParaRPr sz="1600" dirty="0">
                <a:latin typeface="+mn-lt"/>
              </a:endParaRPr>
            </a:p>
          </p:txBody>
        </p:sp>
        <p:sp>
          <p:nvSpPr>
            <p:cNvPr id="670" name="Google Shape;670;p21"/>
            <p:cNvSpPr/>
            <p:nvPr/>
          </p:nvSpPr>
          <p:spPr>
            <a:xfrm>
              <a:off x="3314630" y="3391021"/>
              <a:ext cx="1320747" cy="2229234"/>
            </a:xfrm>
            <a:custGeom>
              <a:avLst/>
              <a:gdLst/>
              <a:ahLst/>
              <a:cxnLst/>
              <a:rect l="l" t="t" r="r" b="b"/>
              <a:pathLst>
                <a:path w="5808" h="8916" extrusionOk="0">
                  <a:moveTo>
                    <a:pt x="287" y="0"/>
                  </a:moveTo>
                  <a:cubicBezTo>
                    <a:pt x="129" y="0"/>
                    <a:pt x="0" y="129"/>
                    <a:pt x="0" y="287"/>
                  </a:cubicBezTo>
                  <a:lnTo>
                    <a:pt x="0" y="8629"/>
                  </a:lnTo>
                  <a:cubicBezTo>
                    <a:pt x="0" y="8788"/>
                    <a:pt x="129" y="8916"/>
                    <a:pt x="287" y="8916"/>
                  </a:cubicBezTo>
                  <a:lnTo>
                    <a:pt x="5521" y="8916"/>
                  </a:lnTo>
                  <a:cubicBezTo>
                    <a:pt x="5679" y="8916"/>
                    <a:pt x="5808" y="8788"/>
                    <a:pt x="5808" y="8629"/>
                  </a:cubicBezTo>
                  <a:lnTo>
                    <a:pt x="5808" y="287"/>
                  </a:lnTo>
                  <a:cubicBezTo>
                    <a:pt x="5808" y="129"/>
                    <a:pt x="5679" y="0"/>
                    <a:pt x="5521" y="0"/>
                  </a:cubicBezTo>
                  <a:lnTo>
                    <a:pt x="287"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71" name="Google Shape;671;p21"/>
            <p:cNvSpPr/>
            <p:nvPr/>
          </p:nvSpPr>
          <p:spPr>
            <a:xfrm>
              <a:off x="3389564" y="3663182"/>
              <a:ext cx="78124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Borrower </a:t>
              </a:r>
              <a:endParaRPr sz="1600" dirty="0">
                <a:latin typeface="+mn-lt"/>
              </a:endParaRPr>
            </a:p>
          </p:txBody>
        </p:sp>
        <p:sp>
          <p:nvSpPr>
            <p:cNvPr id="672" name="Google Shape;672;p21"/>
            <p:cNvSpPr/>
            <p:nvPr/>
          </p:nvSpPr>
          <p:spPr>
            <a:xfrm>
              <a:off x="3389565" y="3862630"/>
              <a:ext cx="885435"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Verification</a:t>
              </a:r>
              <a:endParaRPr sz="1600" dirty="0">
                <a:latin typeface="+mn-lt"/>
              </a:endParaRPr>
            </a:p>
          </p:txBody>
        </p:sp>
        <p:sp>
          <p:nvSpPr>
            <p:cNvPr id="673" name="Google Shape;673;p21"/>
            <p:cNvSpPr/>
            <p:nvPr/>
          </p:nvSpPr>
          <p:spPr>
            <a:xfrm>
              <a:off x="3389564" y="4163877"/>
              <a:ext cx="887102"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Automated </a:t>
              </a:r>
              <a:endParaRPr sz="1600" dirty="0">
                <a:latin typeface="+mn-lt"/>
              </a:endParaRPr>
            </a:p>
          </p:txBody>
        </p:sp>
        <p:sp>
          <p:nvSpPr>
            <p:cNvPr id="674" name="Google Shape;674;p21"/>
            <p:cNvSpPr/>
            <p:nvPr/>
          </p:nvSpPr>
          <p:spPr>
            <a:xfrm>
              <a:off x="3389564" y="4363324"/>
              <a:ext cx="1041952"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Underwriting</a:t>
              </a:r>
              <a:endParaRPr sz="1600" dirty="0">
                <a:latin typeface="+mn-lt"/>
              </a:endParaRPr>
            </a:p>
          </p:txBody>
        </p:sp>
        <p:sp>
          <p:nvSpPr>
            <p:cNvPr id="675" name="Google Shape;675;p21"/>
            <p:cNvSpPr/>
            <p:nvPr/>
          </p:nvSpPr>
          <p:spPr>
            <a:xfrm>
              <a:off x="3389564" y="4662494"/>
              <a:ext cx="1222194"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Appraisal Order</a:t>
              </a:r>
              <a:endParaRPr sz="1600" dirty="0">
                <a:latin typeface="+mn-lt"/>
              </a:endParaRPr>
            </a:p>
          </p:txBody>
        </p:sp>
        <p:sp>
          <p:nvSpPr>
            <p:cNvPr id="676" name="Google Shape;676;p21"/>
            <p:cNvSpPr/>
            <p:nvPr/>
          </p:nvSpPr>
          <p:spPr>
            <a:xfrm>
              <a:off x="3389564" y="4963741"/>
              <a:ext cx="868828"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Conditions </a:t>
              </a:r>
              <a:endParaRPr sz="1600" dirty="0">
                <a:latin typeface="+mn-lt"/>
              </a:endParaRPr>
            </a:p>
          </p:txBody>
        </p:sp>
        <p:sp>
          <p:nvSpPr>
            <p:cNvPr id="677" name="Google Shape;677;p21"/>
            <p:cNvSpPr/>
            <p:nvPr/>
          </p:nvSpPr>
          <p:spPr>
            <a:xfrm>
              <a:off x="3389565" y="5163188"/>
              <a:ext cx="637995"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Clearing</a:t>
              </a:r>
              <a:endParaRPr sz="1600" dirty="0">
                <a:latin typeface="+mn-lt"/>
              </a:endParaRPr>
            </a:p>
          </p:txBody>
        </p:sp>
        <p:sp>
          <p:nvSpPr>
            <p:cNvPr id="678" name="Google Shape;678;p21"/>
            <p:cNvSpPr/>
            <p:nvPr/>
          </p:nvSpPr>
          <p:spPr>
            <a:xfrm>
              <a:off x="4708439" y="3391021"/>
              <a:ext cx="1318874" cy="2229234"/>
            </a:xfrm>
            <a:custGeom>
              <a:avLst/>
              <a:gdLst/>
              <a:ahLst/>
              <a:cxnLst/>
              <a:rect l="l" t="t" r="r" b="b"/>
              <a:pathLst>
                <a:path w="5808" h="8916" extrusionOk="0">
                  <a:moveTo>
                    <a:pt x="288" y="0"/>
                  </a:moveTo>
                  <a:cubicBezTo>
                    <a:pt x="129" y="0"/>
                    <a:pt x="0" y="129"/>
                    <a:pt x="0" y="287"/>
                  </a:cubicBezTo>
                  <a:lnTo>
                    <a:pt x="0" y="8629"/>
                  </a:lnTo>
                  <a:cubicBezTo>
                    <a:pt x="0" y="8788"/>
                    <a:pt x="129" y="8916"/>
                    <a:pt x="288" y="8916"/>
                  </a:cubicBezTo>
                  <a:lnTo>
                    <a:pt x="5521" y="8916"/>
                  </a:lnTo>
                  <a:cubicBezTo>
                    <a:pt x="5680" y="8916"/>
                    <a:pt x="5808" y="8788"/>
                    <a:pt x="5808" y="8629"/>
                  </a:cubicBezTo>
                  <a:lnTo>
                    <a:pt x="5808" y="287"/>
                  </a:lnTo>
                  <a:cubicBezTo>
                    <a:pt x="5808" y="129"/>
                    <a:pt x="5680" y="0"/>
                    <a:pt x="5521" y="0"/>
                  </a:cubicBezTo>
                  <a:lnTo>
                    <a:pt x="288"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79" name="Google Shape;679;p21"/>
            <p:cNvSpPr/>
            <p:nvPr/>
          </p:nvSpPr>
          <p:spPr>
            <a:xfrm>
              <a:off x="4783374" y="3762905"/>
              <a:ext cx="37350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Risk </a:t>
              </a:r>
              <a:endParaRPr sz="1600" dirty="0">
                <a:latin typeface="+mn-lt"/>
              </a:endParaRPr>
            </a:p>
          </p:txBody>
        </p:sp>
        <p:sp>
          <p:nvSpPr>
            <p:cNvPr id="680" name="Google Shape;680;p21"/>
            <p:cNvSpPr/>
            <p:nvPr/>
          </p:nvSpPr>
          <p:spPr>
            <a:xfrm>
              <a:off x="4783374" y="3962352"/>
              <a:ext cx="90730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Assessment</a:t>
              </a:r>
              <a:endParaRPr sz="1600" dirty="0">
                <a:latin typeface="+mn-lt"/>
              </a:endParaRPr>
            </a:p>
          </p:txBody>
        </p:sp>
        <p:sp>
          <p:nvSpPr>
            <p:cNvPr id="681" name="Google Shape;681;p21"/>
            <p:cNvSpPr/>
            <p:nvPr/>
          </p:nvSpPr>
          <p:spPr>
            <a:xfrm>
              <a:off x="4783374" y="4263600"/>
              <a:ext cx="65954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Validate </a:t>
              </a:r>
              <a:endParaRPr sz="1600" dirty="0">
                <a:latin typeface="+mn-lt"/>
              </a:endParaRPr>
            </a:p>
          </p:txBody>
        </p:sp>
        <p:sp>
          <p:nvSpPr>
            <p:cNvPr id="682" name="Google Shape;682;p21"/>
            <p:cNvSpPr/>
            <p:nvPr/>
          </p:nvSpPr>
          <p:spPr>
            <a:xfrm>
              <a:off x="4783375" y="4463047"/>
              <a:ext cx="828753"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Conditions</a:t>
              </a:r>
              <a:endParaRPr sz="1600" dirty="0">
                <a:latin typeface="+mn-lt"/>
              </a:endParaRPr>
            </a:p>
          </p:txBody>
        </p:sp>
        <p:sp>
          <p:nvSpPr>
            <p:cNvPr id="683" name="Google Shape;683;p21"/>
            <p:cNvSpPr/>
            <p:nvPr/>
          </p:nvSpPr>
          <p:spPr>
            <a:xfrm>
              <a:off x="4783375" y="4762217"/>
              <a:ext cx="1116203"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Loan Approval</a:t>
              </a:r>
              <a:endParaRPr sz="1600" dirty="0">
                <a:latin typeface="+mn-lt"/>
              </a:endParaRPr>
            </a:p>
          </p:txBody>
        </p:sp>
        <p:sp>
          <p:nvSpPr>
            <p:cNvPr id="684" name="Google Shape;684;p21"/>
            <p:cNvSpPr/>
            <p:nvPr/>
          </p:nvSpPr>
          <p:spPr>
            <a:xfrm>
              <a:off x="4783374" y="5063464"/>
              <a:ext cx="1061316"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Asset Grading</a:t>
              </a:r>
              <a:endParaRPr sz="1600" dirty="0">
                <a:latin typeface="+mn-lt"/>
              </a:endParaRPr>
            </a:p>
          </p:txBody>
        </p:sp>
        <p:sp>
          <p:nvSpPr>
            <p:cNvPr id="685" name="Google Shape;685;p21"/>
            <p:cNvSpPr/>
            <p:nvPr/>
          </p:nvSpPr>
          <p:spPr>
            <a:xfrm>
              <a:off x="6098502" y="3391021"/>
              <a:ext cx="1318874" cy="2229234"/>
            </a:xfrm>
            <a:custGeom>
              <a:avLst/>
              <a:gdLst/>
              <a:ahLst/>
              <a:cxnLst/>
              <a:rect l="l" t="t" r="r" b="b"/>
              <a:pathLst>
                <a:path w="2904" h="4458" extrusionOk="0">
                  <a:moveTo>
                    <a:pt x="144" y="0"/>
                  </a:moveTo>
                  <a:cubicBezTo>
                    <a:pt x="65" y="0"/>
                    <a:pt x="0" y="64"/>
                    <a:pt x="0" y="143"/>
                  </a:cubicBezTo>
                  <a:lnTo>
                    <a:pt x="0" y="4314"/>
                  </a:lnTo>
                  <a:cubicBezTo>
                    <a:pt x="0" y="4394"/>
                    <a:pt x="65" y="4458"/>
                    <a:pt x="144" y="4458"/>
                  </a:cubicBezTo>
                  <a:lnTo>
                    <a:pt x="2761" y="4458"/>
                  </a:lnTo>
                  <a:cubicBezTo>
                    <a:pt x="2840" y="4458"/>
                    <a:pt x="2904" y="4394"/>
                    <a:pt x="2904" y="4314"/>
                  </a:cubicBezTo>
                  <a:lnTo>
                    <a:pt x="2904" y="143"/>
                  </a:lnTo>
                  <a:cubicBezTo>
                    <a:pt x="2904" y="64"/>
                    <a:pt x="2840" y="0"/>
                    <a:pt x="2761" y="0"/>
                  </a:cubicBezTo>
                  <a:lnTo>
                    <a:pt x="144"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86" name="Google Shape;686;p21"/>
            <p:cNvSpPr/>
            <p:nvPr/>
          </p:nvSpPr>
          <p:spPr>
            <a:xfrm>
              <a:off x="6171564" y="3663182"/>
              <a:ext cx="37350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Risk </a:t>
              </a:r>
              <a:endParaRPr sz="1600" dirty="0">
                <a:latin typeface="+mn-lt"/>
              </a:endParaRPr>
            </a:p>
          </p:txBody>
        </p:sp>
        <p:sp>
          <p:nvSpPr>
            <p:cNvPr id="687" name="Google Shape;687;p21"/>
            <p:cNvSpPr/>
            <p:nvPr/>
          </p:nvSpPr>
          <p:spPr>
            <a:xfrm>
              <a:off x="6171565" y="3862629"/>
              <a:ext cx="998671"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Management</a:t>
              </a:r>
              <a:endParaRPr sz="1600" dirty="0">
                <a:latin typeface="+mn-lt"/>
              </a:endParaRPr>
            </a:p>
          </p:txBody>
        </p:sp>
        <p:sp>
          <p:nvSpPr>
            <p:cNvPr id="688" name="Google Shape;688;p21"/>
            <p:cNvSpPr/>
            <p:nvPr/>
          </p:nvSpPr>
          <p:spPr>
            <a:xfrm>
              <a:off x="6171564" y="4163877"/>
              <a:ext cx="65954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Validate </a:t>
              </a:r>
              <a:endParaRPr sz="1600" dirty="0">
                <a:latin typeface="+mn-lt"/>
              </a:endParaRPr>
            </a:p>
          </p:txBody>
        </p:sp>
        <p:sp>
          <p:nvSpPr>
            <p:cNvPr id="689" name="Google Shape;689;p21"/>
            <p:cNvSpPr/>
            <p:nvPr/>
          </p:nvSpPr>
          <p:spPr>
            <a:xfrm>
              <a:off x="6171565" y="4363324"/>
              <a:ext cx="632161"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Funding</a:t>
              </a:r>
              <a:endParaRPr sz="1600" dirty="0">
                <a:latin typeface="+mn-lt"/>
              </a:endParaRPr>
            </a:p>
          </p:txBody>
        </p:sp>
        <p:sp>
          <p:nvSpPr>
            <p:cNvPr id="690" name="Google Shape;690;p21"/>
            <p:cNvSpPr/>
            <p:nvPr/>
          </p:nvSpPr>
          <p:spPr>
            <a:xfrm>
              <a:off x="6171564" y="4662494"/>
              <a:ext cx="830356"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Document </a:t>
              </a:r>
              <a:endParaRPr sz="1600" dirty="0">
                <a:latin typeface="+mn-lt"/>
              </a:endParaRPr>
            </a:p>
          </p:txBody>
        </p:sp>
        <p:sp>
          <p:nvSpPr>
            <p:cNvPr id="691" name="Google Shape;691;p21"/>
            <p:cNvSpPr/>
            <p:nvPr/>
          </p:nvSpPr>
          <p:spPr>
            <a:xfrm>
              <a:off x="6171564" y="4864018"/>
              <a:ext cx="778162"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Validation</a:t>
              </a:r>
              <a:endParaRPr sz="1600" dirty="0">
                <a:latin typeface="+mn-lt"/>
              </a:endParaRPr>
            </a:p>
          </p:txBody>
        </p:sp>
        <p:sp>
          <p:nvSpPr>
            <p:cNvPr id="692" name="Google Shape;692;p21"/>
            <p:cNvSpPr/>
            <p:nvPr/>
          </p:nvSpPr>
          <p:spPr>
            <a:xfrm>
              <a:off x="6171564" y="5163189"/>
              <a:ext cx="1013804"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Warehousing</a:t>
              </a:r>
              <a:endParaRPr sz="1600" dirty="0">
                <a:latin typeface="+mn-lt"/>
              </a:endParaRPr>
            </a:p>
          </p:txBody>
        </p:sp>
        <p:sp>
          <p:nvSpPr>
            <p:cNvPr id="693" name="Google Shape;693;p21"/>
            <p:cNvSpPr/>
            <p:nvPr/>
          </p:nvSpPr>
          <p:spPr>
            <a:xfrm>
              <a:off x="7492311" y="3391021"/>
              <a:ext cx="1318874" cy="2229234"/>
            </a:xfrm>
            <a:custGeom>
              <a:avLst/>
              <a:gdLst/>
              <a:ahLst/>
              <a:cxnLst/>
              <a:rect l="l" t="t" r="r" b="b"/>
              <a:pathLst>
                <a:path w="2904" h="4458" extrusionOk="0">
                  <a:moveTo>
                    <a:pt x="144" y="0"/>
                  </a:moveTo>
                  <a:cubicBezTo>
                    <a:pt x="64" y="0"/>
                    <a:pt x="0" y="64"/>
                    <a:pt x="0" y="143"/>
                  </a:cubicBezTo>
                  <a:lnTo>
                    <a:pt x="0" y="4314"/>
                  </a:lnTo>
                  <a:cubicBezTo>
                    <a:pt x="0" y="4394"/>
                    <a:pt x="64" y="4458"/>
                    <a:pt x="144" y="4458"/>
                  </a:cubicBezTo>
                  <a:lnTo>
                    <a:pt x="2760" y="4458"/>
                  </a:lnTo>
                  <a:cubicBezTo>
                    <a:pt x="2840" y="4458"/>
                    <a:pt x="2904" y="4394"/>
                    <a:pt x="2904" y="4314"/>
                  </a:cubicBezTo>
                  <a:lnTo>
                    <a:pt x="2904" y="143"/>
                  </a:lnTo>
                  <a:cubicBezTo>
                    <a:pt x="2904" y="64"/>
                    <a:pt x="2840" y="0"/>
                    <a:pt x="2760" y="0"/>
                  </a:cubicBezTo>
                  <a:lnTo>
                    <a:pt x="144"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694" name="Google Shape;694;p21"/>
            <p:cNvSpPr/>
            <p:nvPr/>
          </p:nvSpPr>
          <p:spPr>
            <a:xfrm>
              <a:off x="7567247" y="3465813"/>
              <a:ext cx="744371"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Purchase </a:t>
              </a:r>
              <a:endParaRPr sz="1600" dirty="0">
                <a:latin typeface="+mn-lt"/>
              </a:endParaRPr>
            </a:p>
          </p:txBody>
        </p:sp>
        <p:sp>
          <p:nvSpPr>
            <p:cNvPr id="695" name="Google Shape;695;p21"/>
            <p:cNvSpPr/>
            <p:nvPr/>
          </p:nvSpPr>
          <p:spPr>
            <a:xfrm>
              <a:off x="7567247" y="3665260"/>
              <a:ext cx="637995"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Clearing</a:t>
              </a:r>
              <a:endParaRPr sz="1600" dirty="0">
                <a:latin typeface="+mn-lt"/>
              </a:endParaRPr>
            </a:p>
          </p:txBody>
        </p:sp>
        <p:sp>
          <p:nvSpPr>
            <p:cNvPr id="696" name="Google Shape;696;p21"/>
            <p:cNvSpPr/>
            <p:nvPr/>
          </p:nvSpPr>
          <p:spPr>
            <a:xfrm>
              <a:off x="7567246" y="3964430"/>
              <a:ext cx="971292"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Post Closing </a:t>
              </a:r>
              <a:endParaRPr sz="1600" dirty="0">
                <a:latin typeface="+mn-lt"/>
              </a:endParaRPr>
            </a:p>
          </p:txBody>
        </p:sp>
        <p:sp>
          <p:nvSpPr>
            <p:cNvPr id="697" name="Google Shape;697;p21"/>
            <p:cNvSpPr/>
            <p:nvPr/>
          </p:nvSpPr>
          <p:spPr>
            <a:xfrm>
              <a:off x="7567247" y="4157645"/>
              <a:ext cx="1191483" cy="492443"/>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Document follow-up </a:t>
              </a:r>
              <a:endParaRPr sz="1600" dirty="0">
                <a:latin typeface="+mn-lt"/>
              </a:endParaRPr>
            </a:p>
          </p:txBody>
        </p:sp>
        <p:sp>
          <p:nvSpPr>
            <p:cNvPr id="698" name="Google Shape;698;p21"/>
            <p:cNvSpPr/>
            <p:nvPr/>
          </p:nvSpPr>
          <p:spPr>
            <a:xfrm>
              <a:off x="7567246" y="4664571"/>
              <a:ext cx="981744"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Validation &amp; </a:t>
              </a:r>
              <a:endParaRPr sz="1600" dirty="0">
                <a:latin typeface="+mn-lt"/>
              </a:endParaRPr>
            </a:p>
          </p:txBody>
        </p:sp>
        <p:sp>
          <p:nvSpPr>
            <p:cNvPr id="699" name="Google Shape;699;p21"/>
            <p:cNvSpPr/>
            <p:nvPr/>
          </p:nvSpPr>
          <p:spPr>
            <a:xfrm>
              <a:off x="7567247" y="4866097"/>
              <a:ext cx="638893"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Delivery</a:t>
              </a:r>
              <a:endParaRPr sz="1600" dirty="0">
                <a:latin typeface="+mn-lt"/>
              </a:endParaRPr>
            </a:p>
          </p:txBody>
        </p:sp>
        <p:sp>
          <p:nvSpPr>
            <p:cNvPr id="700" name="Google Shape;700;p21"/>
            <p:cNvSpPr/>
            <p:nvPr/>
          </p:nvSpPr>
          <p:spPr>
            <a:xfrm>
              <a:off x="7567246" y="5165266"/>
              <a:ext cx="84318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Secondary </a:t>
              </a:r>
              <a:endParaRPr sz="1600" dirty="0">
                <a:latin typeface="+mn-lt"/>
              </a:endParaRPr>
            </a:p>
          </p:txBody>
        </p:sp>
        <p:sp>
          <p:nvSpPr>
            <p:cNvPr id="701" name="Google Shape;701;p21"/>
            <p:cNvSpPr/>
            <p:nvPr/>
          </p:nvSpPr>
          <p:spPr>
            <a:xfrm>
              <a:off x="7567246" y="5364713"/>
              <a:ext cx="786306"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Marketing</a:t>
              </a:r>
              <a:endParaRPr sz="1600" dirty="0">
                <a:latin typeface="+mn-lt"/>
              </a:endParaRPr>
            </a:p>
          </p:txBody>
        </p:sp>
        <p:sp>
          <p:nvSpPr>
            <p:cNvPr id="702" name="Google Shape;702;p21"/>
            <p:cNvSpPr/>
            <p:nvPr/>
          </p:nvSpPr>
          <p:spPr>
            <a:xfrm>
              <a:off x="8884247" y="3391021"/>
              <a:ext cx="1318874" cy="2229234"/>
            </a:xfrm>
            <a:custGeom>
              <a:avLst/>
              <a:gdLst/>
              <a:ahLst/>
              <a:cxnLst/>
              <a:rect l="l" t="t" r="r" b="b"/>
              <a:pathLst>
                <a:path w="2904" h="4458" extrusionOk="0">
                  <a:moveTo>
                    <a:pt x="144" y="0"/>
                  </a:moveTo>
                  <a:cubicBezTo>
                    <a:pt x="65" y="0"/>
                    <a:pt x="0" y="64"/>
                    <a:pt x="0" y="143"/>
                  </a:cubicBezTo>
                  <a:lnTo>
                    <a:pt x="0" y="4314"/>
                  </a:lnTo>
                  <a:cubicBezTo>
                    <a:pt x="0" y="4394"/>
                    <a:pt x="65" y="4458"/>
                    <a:pt x="144" y="4458"/>
                  </a:cubicBezTo>
                  <a:lnTo>
                    <a:pt x="2761" y="4458"/>
                  </a:lnTo>
                  <a:cubicBezTo>
                    <a:pt x="2840" y="4458"/>
                    <a:pt x="2904" y="4394"/>
                    <a:pt x="2904" y="4314"/>
                  </a:cubicBezTo>
                  <a:lnTo>
                    <a:pt x="2904" y="143"/>
                  </a:lnTo>
                  <a:cubicBezTo>
                    <a:pt x="2904" y="64"/>
                    <a:pt x="2840" y="0"/>
                    <a:pt x="2761" y="0"/>
                  </a:cubicBezTo>
                  <a:lnTo>
                    <a:pt x="144" y="0"/>
                  </a:lnTo>
                  <a:close/>
                </a:path>
              </a:pathLst>
            </a:custGeom>
            <a:solidFill>
              <a:schemeClr val="accent4">
                <a:lumMod val="20000"/>
                <a:lumOff val="80000"/>
              </a:schemeClr>
            </a:solidFill>
            <a:ln w="9525" cap="flat" cmpd="sng">
              <a:solidFill>
                <a:srgbClr val="035642"/>
              </a:solidFill>
              <a:prstDash val="solid"/>
              <a:round/>
              <a:headEnd type="none" w="sm" len="sm"/>
              <a:tailEnd type="none" w="sm" len="sm"/>
            </a:ln>
          </p:spPr>
          <p:txBody>
            <a:bodyPr spcFirstLastPara="1" wrap="square" lIns="91425" tIns="45700" rIns="91425" bIns="45700" anchor="t" anchorCtr="0">
              <a:noAutofit/>
            </a:bodyPr>
            <a:lstStyle/>
            <a:p>
              <a:endParaRPr sz="1600" dirty="0">
                <a:latin typeface="+mn-lt"/>
                <a:ea typeface="Cambria" panose="02040503050406030204"/>
                <a:cs typeface="Arial" panose="020B0604020202020204" pitchFamily="34" charset="0"/>
                <a:sym typeface="Cambria" panose="02040503050406030204"/>
              </a:endParaRPr>
            </a:p>
          </p:txBody>
        </p:sp>
        <p:sp>
          <p:nvSpPr>
            <p:cNvPr id="703" name="Google Shape;703;p21"/>
            <p:cNvSpPr/>
            <p:nvPr/>
          </p:nvSpPr>
          <p:spPr>
            <a:xfrm>
              <a:off x="8959183" y="3663182"/>
              <a:ext cx="1179810"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Loan File Setup</a:t>
              </a:r>
              <a:endParaRPr sz="1600" dirty="0">
                <a:latin typeface="+mn-lt"/>
              </a:endParaRPr>
            </a:p>
          </p:txBody>
        </p:sp>
        <p:sp>
          <p:nvSpPr>
            <p:cNvPr id="704" name="Google Shape;704;p21"/>
            <p:cNvSpPr/>
            <p:nvPr/>
          </p:nvSpPr>
          <p:spPr>
            <a:xfrm>
              <a:off x="8959183" y="3962352"/>
              <a:ext cx="1031308"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Processing &amp; </a:t>
              </a:r>
              <a:endParaRPr sz="1600" dirty="0">
                <a:latin typeface="+mn-lt"/>
              </a:endParaRPr>
            </a:p>
          </p:txBody>
        </p:sp>
        <p:sp>
          <p:nvSpPr>
            <p:cNvPr id="705" name="Google Shape;705;p21"/>
            <p:cNvSpPr/>
            <p:nvPr/>
          </p:nvSpPr>
          <p:spPr>
            <a:xfrm>
              <a:off x="8959183" y="4163877"/>
              <a:ext cx="764568"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Reporting</a:t>
              </a:r>
              <a:endParaRPr sz="1600" dirty="0">
                <a:latin typeface="+mn-lt"/>
              </a:endParaRPr>
            </a:p>
          </p:txBody>
        </p:sp>
        <p:sp>
          <p:nvSpPr>
            <p:cNvPr id="706" name="Google Shape;706;p21"/>
            <p:cNvSpPr/>
            <p:nvPr/>
          </p:nvSpPr>
          <p:spPr>
            <a:xfrm>
              <a:off x="8959184" y="4463047"/>
              <a:ext cx="602409"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Escrow </a:t>
              </a:r>
              <a:endParaRPr sz="1600" dirty="0">
                <a:latin typeface="+mn-lt"/>
              </a:endParaRPr>
            </a:p>
          </p:txBody>
        </p:sp>
        <p:sp>
          <p:nvSpPr>
            <p:cNvPr id="707" name="Google Shape;707;p21"/>
            <p:cNvSpPr/>
            <p:nvPr/>
          </p:nvSpPr>
          <p:spPr>
            <a:xfrm>
              <a:off x="8959184" y="4662494"/>
              <a:ext cx="998671"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Management</a:t>
              </a:r>
              <a:endParaRPr sz="1600" dirty="0">
                <a:latin typeface="+mn-lt"/>
              </a:endParaRPr>
            </a:p>
          </p:txBody>
        </p:sp>
        <p:sp>
          <p:nvSpPr>
            <p:cNvPr id="708" name="Google Shape;708;p21"/>
            <p:cNvSpPr/>
            <p:nvPr/>
          </p:nvSpPr>
          <p:spPr>
            <a:xfrm>
              <a:off x="8959184" y="4963741"/>
              <a:ext cx="918521"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Collections, </a:t>
              </a:r>
              <a:endParaRPr sz="1600" dirty="0">
                <a:latin typeface="+mn-lt"/>
              </a:endParaRPr>
            </a:p>
          </p:txBody>
        </p:sp>
        <p:sp>
          <p:nvSpPr>
            <p:cNvPr id="709" name="Google Shape;709;p21"/>
            <p:cNvSpPr/>
            <p:nvPr/>
          </p:nvSpPr>
          <p:spPr>
            <a:xfrm>
              <a:off x="8959183" y="5163189"/>
              <a:ext cx="976806" cy="246221"/>
            </a:xfrm>
            <a:prstGeom prst="rect">
              <a:avLst/>
            </a:prstGeom>
            <a:noFill/>
            <a:ln>
              <a:noFill/>
            </a:ln>
          </p:spPr>
          <p:txBody>
            <a:bodyPr spcFirstLastPara="1" wrap="square" lIns="0" tIns="0" rIns="0" bIns="0" anchor="t" anchorCtr="0">
              <a:spAutoFit/>
            </a:bodyPr>
            <a:lstStyle/>
            <a:p>
              <a:r>
                <a:rPr lang="en-US" sz="1600" dirty="0">
                  <a:latin typeface="+mn-lt"/>
                  <a:ea typeface="Cambria" panose="02040503050406030204"/>
                  <a:cs typeface="Arial" panose="020B0604020202020204" pitchFamily="34" charset="0"/>
                  <a:sym typeface="Cambria" panose="02040503050406030204"/>
                </a:rPr>
                <a:t>Foreclosures</a:t>
              </a:r>
              <a:endParaRPr sz="1600" dirty="0">
                <a:latin typeface="+mn-lt"/>
              </a:endParaRPr>
            </a:p>
          </p:txBody>
        </p:sp>
      </p:grpSp>
      <p:sp>
        <p:nvSpPr>
          <p:cNvPr id="710" name="Google Shape;710;p21"/>
          <p:cNvSpPr txBox="1"/>
          <p:nvPr/>
        </p:nvSpPr>
        <p:spPr>
          <a:xfrm>
            <a:off x="0" y="1404588"/>
            <a:ext cx="12192000" cy="369291"/>
          </a:xfrm>
          <a:prstGeom prst="rect">
            <a:avLst/>
          </a:prstGeom>
          <a:solidFill>
            <a:schemeClr val="bg2"/>
          </a:solidFill>
          <a:ln>
            <a:noFill/>
          </a:ln>
        </p:spPr>
        <p:txBody>
          <a:bodyPr spcFirstLastPara="1" wrap="square" lIns="91425" tIns="45700" rIns="91425" bIns="45700" anchor="ctr" anchorCtr="0">
            <a:spAutoFit/>
          </a:bodyPr>
          <a:lstStyle/>
          <a:p>
            <a:pPr algn="ctr"/>
            <a:r>
              <a:rPr lang="en-US" sz="1800" dirty="0">
                <a:solidFill>
                  <a:srgbClr val="FFFFFF"/>
                </a:solidFill>
                <a:effectLst/>
                <a:latin typeface="+mn-lt"/>
              </a:rPr>
              <a:t>Origination to contract management.</a:t>
            </a:r>
            <a:endParaRPr sz="1200" dirty="0">
              <a:latin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24"/>
          <p:cNvSpPr/>
          <p:nvPr/>
        </p:nvSpPr>
        <p:spPr>
          <a:xfrm>
            <a:off x="140797" y="2952153"/>
            <a:ext cx="11132321" cy="2237382"/>
          </a:xfrm>
          <a:prstGeom prst="roundRect">
            <a:avLst>
              <a:gd name="adj" fmla="val 2717"/>
            </a:avLst>
          </a:prstGeom>
          <a:solidFill>
            <a:schemeClr val="bg2">
              <a:lumMod val="20000"/>
              <a:lumOff val="80000"/>
            </a:schemeClr>
          </a:solidFill>
          <a:ln>
            <a:noFill/>
          </a:ln>
        </p:spPr>
        <p:txBody>
          <a:bodyPr spcFirstLastPara="1" wrap="square" lIns="91425" tIns="45700" rIns="91425" bIns="45700" anchor="ctr" anchorCtr="0">
            <a:spAutoFit/>
          </a:bodyPr>
          <a:lstStyle/>
          <a:p>
            <a:pPr marL="402590" indent="-283210" algn="l" rtl="0">
              <a:spcBef>
                <a:spcPts val="1200"/>
              </a:spcBef>
              <a:buFont typeface="Arial" panose="020B0604020202020204" pitchFamily="34" charset="0"/>
              <a:buChar char="•"/>
            </a:pPr>
            <a:r>
              <a:rPr lang="en-US" sz="1800" dirty="0">
                <a:solidFill>
                  <a:srgbClr val="0C0C0C"/>
                </a:solidFill>
                <a:effectLst/>
                <a:latin typeface="+mn-lt"/>
              </a:rPr>
              <a:t>Credit analysis assesses a borrower's loan application to see if they can generate enough cash flow to meet their debt obligations.</a:t>
            </a:r>
            <a:endParaRPr lang="en-US" sz="1800" dirty="0">
              <a:solidFill>
                <a:srgbClr val="0C0C0C"/>
              </a:solidFill>
              <a:effectLst/>
              <a:latin typeface="+mn-lt"/>
            </a:endParaRPr>
          </a:p>
          <a:p>
            <a:pPr marL="402590" indent="-283210" algn="l" rtl="0">
              <a:spcBef>
                <a:spcPts val="1200"/>
              </a:spcBef>
              <a:buFont typeface="Arial" panose="020B0604020202020204" pitchFamily="34" charset="0"/>
              <a:buChar char="•"/>
            </a:pPr>
            <a:r>
              <a:rPr lang="en-US" sz="1800" dirty="0">
                <a:solidFill>
                  <a:srgbClr val="0C0C0C"/>
                </a:solidFill>
                <a:effectLst/>
                <a:latin typeface="+mn-lt"/>
              </a:rPr>
              <a:t>This process includes gathering information from the borrower, evaluating it, and deciding whether to approve the loan.</a:t>
            </a:r>
            <a:endParaRPr lang="en-US" sz="1800" dirty="0">
              <a:solidFill>
                <a:srgbClr val="0C0C0C"/>
              </a:solidFill>
              <a:effectLst/>
              <a:latin typeface="+mn-lt"/>
            </a:endParaRPr>
          </a:p>
          <a:p>
            <a:pPr marL="402590" indent="-283210" algn="l" rtl="0">
              <a:spcBef>
                <a:spcPts val="1200"/>
              </a:spcBef>
              <a:buFont typeface="Arial" panose="020B0604020202020204" pitchFamily="34" charset="0"/>
              <a:buChar char="•"/>
            </a:pPr>
            <a:r>
              <a:rPr lang="en-US" sz="1800" dirty="0">
                <a:solidFill>
                  <a:srgbClr val="0C0C0C"/>
                </a:solidFill>
                <a:effectLst/>
                <a:latin typeface="+mn-lt"/>
              </a:rPr>
              <a:t>Techniques like ratio analysis, trend analysis, cash flow analysis, and projections are used to evaluate the borrower's creditworthiness.</a:t>
            </a:r>
            <a:endParaRPr sz="1400" dirty="0">
              <a:latin typeface="+mn-lt"/>
            </a:endParaRPr>
          </a:p>
        </p:txBody>
      </p:sp>
      <p:sp>
        <p:nvSpPr>
          <p:cNvPr id="731" name="Google Shape;731;p2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latin typeface="+mn-lt"/>
              </a:rPr>
              <a:t>LIFECYCLE OF A </a:t>
            </a:r>
            <a:r>
              <a:rPr lang="en-IN" altLang="en-US" dirty="0">
                <a:latin typeface="+mn-lt"/>
              </a:rPr>
              <a:t>SYNDICATE</a:t>
            </a:r>
            <a:r>
              <a:rPr lang="en-US" dirty="0">
                <a:latin typeface="+mn-lt"/>
              </a:rPr>
              <a:t> LOAN - </a:t>
            </a:r>
            <a:r>
              <a:rPr lang="en-US" dirty="0">
                <a:solidFill>
                  <a:schemeClr val="bg2">
                    <a:lumMod val="75000"/>
                  </a:schemeClr>
                </a:solidFill>
                <a:latin typeface="+mn-lt"/>
                <a:ea typeface="Cambria" panose="02040503050406030204"/>
                <a:cs typeface="Arial" panose="020B0604020202020204" pitchFamily="34" charset="0"/>
                <a:sym typeface="Cambria" panose="02040503050406030204"/>
              </a:rPr>
              <a:t>CREDIT ANALYSIS </a:t>
            </a:r>
            <a:endParaRPr lang="en-US" dirty="0">
              <a:solidFill>
                <a:schemeClr val="bg2">
                  <a:lumMod val="75000"/>
                </a:schemeClr>
              </a:solidFill>
              <a:latin typeface="+mn-lt"/>
            </a:endParaRPr>
          </a:p>
        </p:txBody>
      </p:sp>
      <p:sp>
        <p:nvSpPr>
          <p:cNvPr id="733" name="Google Shape;733;p24"/>
          <p:cNvSpPr/>
          <p:nvPr/>
        </p:nvSpPr>
        <p:spPr>
          <a:xfrm>
            <a:off x="140797" y="2214671"/>
            <a:ext cx="3706682" cy="442630"/>
          </a:xfrm>
          <a:prstGeom prst="roundRect">
            <a:avLst>
              <a:gd name="adj" fmla="val 16667"/>
            </a:avLst>
          </a:prstGeom>
          <a:solidFill>
            <a:schemeClr val="bg2"/>
          </a:solidFill>
          <a:ln>
            <a:noFill/>
          </a:ln>
        </p:spPr>
        <p:txBody>
          <a:bodyPr spcFirstLastPara="1" wrap="square" lIns="91425" tIns="45700" rIns="91425" bIns="45700" anchor="t" anchorCtr="0">
            <a:spAutoFit/>
          </a:bodyPr>
          <a:lstStyle/>
          <a:p>
            <a:pPr algn="ctr"/>
            <a:r>
              <a:rPr lang="en-US" sz="2000" b="1" dirty="0">
                <a:solidFill>
                  <a:srgbClr val="FFFFFF"/>
                </a:solidFill>
                <a:latin typeface="+mn-lt"/>
                <a:ea typeface="Cambria" panose="02040503050406030204"/>
                <a:cs typeface="Arial" panose="020B0604020202020204" pitchFamily="34" charset="0"/>
                <a:sym typeface="Cambria" panose="02040503050406030204"/>
              </a:rPr>
              <a:t>Credit Analysis Process </a:t>
            </a:r>
            <a:endParaRPr sz="1400" dirty="0">
              <a:latin typeface="+mn-l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1" name="Google Shape;731;p24"/>
          <p:cNvSpPr txBox="1">
            <a:spLocks noGrp="1"/>
          </p:cNvSpPr>
          <p:nvPr>
            <p:ph type="title"/>
          </p:nvPr>
        </p:nvSpPr>
        <p:spPr/>
        <p:txBody>
          <a:bodyPr spcFirstLastPara="1" wrap="square" lIns="91425" tIns="45700" rIns="91425" bIns="45700" anchor="ctr" anchorCtr="0">
            <a:normAutofit/>
          </a:bodyPr>
          <a:lstStyle/>
          <a:p>
            <a:r>
              <a:rPr lang="en-US" dirty="0">
                <a:latin typeface="+mn-lt"/>
              </a:rPr>
              <a:t>LIFECYCLE OF A </a:t>
            </a:r>
            <a:r>
              <a:rPr lang="en-IN" altLang="en-US" dirty="0">
                <a:latin typeface="+mn-lt"/>
              </a:rPr>
              <a:t>SYNDICATED</a:t>
            </a:r>
            <a:r>
              <a:rPr lang="en-US" dirty="0">
                <a:latin typeface="+mn-lt"/>
              </a:rPr>
              <a:t> LOAN CREDIT ANALYSIS</a:t>
            </a:r>
            <a:endParaRPr lang="en-US" dirty="0">
              <a:latin typeface="+mn-lt"/>
            </a:endParaRPr>
          </a:p>
        </p:txBody>
      </p:sp>
      <p:graphicFrame>
        <p:nvGraphicFramePr>
          <p:cNvPr id="4" name="Table 3"/>
          <p:cNvGraphicFramePr>
            <a:graphicFrameLocks noGrp="1"/>
          </p:cNvGraphicFramePr>
          <p:nvPr>
            <p:custDataLst>
              <p:tags r:id="rId1"/>
            </p:custDataLst>
          </p:nvPr>
        </p:nvGraphicFramePr>
        <p:xfrm>
          <a:off x="655320" y="1297305"/>
          <a:ext cx="10515600" cy="4705350"/>
        </p:xfrm>
        <a:graphic>
          <a:graphicData uri="http://schemas.openxmlformats.org/drawingml/2006/table">
            <a:tbl>
              <a:tblPr>
                <a:tableStyleId>{5A111915-BE36-4E01-A7E5-04B1672EAD32}</a:tableStyleId>
              </a:tblPr>
              <a:tblGrid>
                <a:gridCol w="1547495"/>
                <a:gridCol w="4380865"/>
                <a:gridCol w="4587240"/>
              </a:tblGrid>
              <a:tr h="981075">
                <a:tc>
                  <a:txBody>
                    <a:bodyPr/>
                    <a:lstStyle/>
                    <a:p>
                      <a:pPr algn="ctr"/>
                      <a:r>
                        <a:rPr lang="en-IN" sz="1400" b="1" dirty="0"/>
                        <a:t>Actor</a:t>
                      </a:r>
                      <a:endParaRPr lang="en-IN" sz="1400" b="1"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t>Key Activity</a:t>
                      </a:r>
                      <a:endParaRPr lang="en-IN" sz="1400" b="1"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400" b="1" dirty="0"/>
                        <a:t>Purpose</a:t>
                      </a:r>
                      <a:endParaRPr lang="en-IN" sz="1400" b="1"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48055">
                <a:tc rowSpan="5">
                  <a:txBody>
                    <a:bodyPr/>
                    <a:lstStyle/>
                    <a:p>
                      <a:pPr algn="ctr"/>
                      <a:r>
                        <a:rPr lang="en-IN" sz="1400" b="1" dirty="0"/>
                        <a:t>Lead Bank</a:t>
                      </a:r>
                      <a:endParaRPr lang="en-IN" sz="1400" b="1"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Negotiates and agrees on broad terms of sanction with the customer</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Aligns on preliminary loan terms before further evaluation</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3720">
                <a:tc vMerge="1">
                  <a:tcPr marL="75457" marR="75457" marT="37728" marB="37728" anchor="ctr">
                    <a:lnL>
                      <a:noFill/>
                    </a:lnL>
                    <a:lnR>
                      <a:noFill/>
                    </a:lnR>
                    <a:lnT>
                      <a:noFill/>
                    </a:lnT>
                    <a:lnB>
                      <a:noFill/>
                    </a:lnB>
                    <a:solidFill>
                      <a:schemeClr val="accent3">
                        <a:lumMod val="40000"/>
                        <a:lumOff val="60000"/>
                      </a:schemeClr>
                    </a:solidFill>
                  </a:tcPr>
                </a:tc>
                <a:tc>
                  <a:txBody>
                    <a:bodyPr/>
                    <a:lstStyle/>
                    <a:p>
                      <a:pPr marL="171450" indent="-171450">
                        <a:buFont typeface="Arial" panose="020B0604020202020204" pitchFamily="34" charset="0"/>
                        <a:buChar char="•"/>
                      </a:pPr>
                      <a:r>
                        <a:rPr lang="en-US" sz="1400"/>
                        <a:t>Coordinates and conducts site inspection</a:t>
                      </a:r>
                      <a:endParaRPr lang="en-US" sz="140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Physically verifies project and its viability</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21055">
                <a:tc vMerge="1">
                  <a:tcPr marL="75457" marR="75457" marT="37728" marB="37728" anchor="ctr">
                    <a:lnL>
                      <a:noFill/>
                    </a:lnL>
                    <a:lnR>
                      <a:noFill/>
                    </a:lnR>
                    <a:lnT>
                      <a:noFill/>
                    </a:lnT>
                    <a:lnB>
                      <a:noFill/>
                    </a:lnB>
                    <a:solidFill>
                      <a:schemeClr val="accent3">
                        <a:lumMod val="40000"/>
                        <a:lumOff val="60000"/>
                      </a:schemeClr>
                    </a:solidFill>
                  </a:tcPr>
                </a:tc>
                <a:tc>
                  <a:txBody>
                    <a:bodyPr/>
                    <a:lstStyle/>
                    <a:p>
                      <a:pPr marL="171450" indent="-171450">
                        <a:buFont typeface="Arial" panose="020B0604020202020204" pitchFamily="34" charset="0"/>
                        <a:buChar char="•"/>
                      </a:pPr>
                      <a:r>
                        <a:rPr lang="en-US" sz="1400"/>
                        <a:t>Performs subjective and objective analysis</a:t>
                      </a:r>
                      <a:endParaRPr lang="en-US" sz="140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Combines field insights with financial analysis</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847090">
                <a:tc vMerge="1">
                  <a:tcPr marL="75457" marR="75457" marT="37728" marB="37728" anchor="ctr">
                    <a:lnL>
                      <a:noFill/>
                    </a:lnL>
                    <a:lnR>
                      <a:noFill/>
                    </a:lnR>
                    <a:lnT>
                      <a:noFill/>
                    </a:lnT>
                    <a:lnB>
                      <a:noFill/>
                    </a:lnB>
                    <a:solidFill>
                      <a:schemeClr val="accent3">
                        <a:lumMod val="40000"/>
                        <a:lumOff val="60000"/>
                      </a:schemeClr>
                    </a:solidFill>
                  </a:tcPr>
                </a:tc>
                <a:tc>
                  <a:txBody>
                    <a:bodyPr/>
                    <a:lstStyle/>
                    <a:p>
                      <a:pPr marL="171450" indent="-171450">
                        <a:buFont typeface="Arial" panose="020B0604020202020204" pitchFamily="34" charset="0"/>
                        <a:buChar char="•"/>
                      </a:pPr>
                      <a:r>
                        <a:rPr lang="en-US" sz="1400"/>
                        <a:t>Validates the complete credit analysis</a:t>
                      </a:r>
                      <a:endParaRPr lang="en-US" sz="140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Internal review to ensure accuracy and policy compliance</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54355">
                <a:tc vMerge="1">
                  <a:tcPr marL="75457" marR="75457" marT="37728" marB="37728" anchor="ctr">
                    <a:lnL>
                      <a:noFill/>
                    </a:lnL>
                    <a:lnR>
                      <a:noFill/>
                    </a:lnR>
                    <a:lnT>
                      <a:noFill/>
                    </a:lnT>
                    <a:lnB>
                      <a:noFill/>
                    </a:lnB>
                    <a:solidFill>
                      <a:schemeClr val="accent3">
                        <a:lumMod val="40000"/>
                        <a:lumOff val="60000"/>
                      </a:schemeClr>
                    </a:solidFill>
                  </a:tcPr>
                </a:tc>
                <a:tc>
                  <a:txBody>
                    <a:bodyPr/>
                    <a:lstStyle/>
                    <a:p>
                      <a:pPr marL="171450" indent="-171450">
                        <a:buFont typeface="Arial" panose="020B0604020202020204" pitchFamily="34" charset="0"/>
                        <a:buChar char="•"/>
                      </a:pPr>
                      <a:r>
                        <a:rPr lang="en-US" sz="1400" dirty="0"/>
                        <a:t>Makes credit decision and communicates it to the customer</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en-US" sz="1400" dirty="0"/>
                        <a:t>Final approval/rejection of the loan request</a:t>
                      </a:r>
                      <a:endParaRPr lang="en-US" sz="1400" dirty="0"/>
                    </a:p>
                  </a:txBody>
                  <a:tcPr marL="75457" marR="75457" marT="37728" marB="3772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LIFECYCLE OF A LOAN- COLLATERAL</a:t>
            </a:r>
            <a:endParaRPr lang="en-IN" dirty="0">
              <a:latin typeface="+mn-lt"/>
            </a:endParaRPr>
          </a:p>
        </p:txBody>
      </p:sp>
      <p:sp>
        <p:nvSpPr>
          <p:cNvPr id="6" name="TextBox 5"/>
          <p:cNvSpPr txBox="1"/>
          <p:nvPr>
            <p:custDataLst>
              <p:tags r:id="rId1"/>
            </p:custDataLst>
          </p:nvPr>
        </p:nvSpPr>
        <p:spPr>
          <a:xfrm>
            <a:off x="263053" y="1747951"/>
            <a:ext cx="2893512" cy="307777"/>
          </a:xfrm>
          <a:prstGeom prst="rect">
            <a:avLst/>
          </a:prstGeom>
          <a:solidFill>
            <a:schemeClr val="accent3"/>
          </a:solidFill>
        </p:spPr>
        <p:txBody>
          <a:bodyPr wrap="square" anchor="ctr">
            <a:spAutoFit/>
          </a:bodyPr>
          <a:lstStyle/>
          <a:p>
            <a:pPr algn="ctr"/>
            <a:r>
              <a:rPr lang="en-US" sz="1400" b="1" dirty="0">
                <a:solidFill>
                  <a:schemeClr val="bg1"/>
                </a:solidFill>
                <a:latin typeface="+mn-lt"/>
              </a:rPr>
              <a:t>Definition and Role</a:t>
            </a:r>
            <a:endParaRPr lang="en-US" sz="1400" b="1" dirty="0">
              <a:solidFill>
                <a:schemeClr val="bg1"/>
              </a:solidFill>
              <a:latin typeface="+mn-lt"/>
            </a:endParaRPr>
          </a:p>
        </p:txBody>
      </p:sp>
      <p:sp>
        <p:nvSpPr>
          <p:cNvPr id="8" name="TextBox 7"/>
          <p:cNvSpPr txBox="1"/>
          <p:nvPr>
            <p:custDataLst>
              <p:tags r:id="rId2"/>
            </p:custDataLst>
          </p:nvPr>
        </p:nvSpPr>
        <p:spPr>
          <a:xfrm>
            <a:off x="241340" y="4247259"/>
            <a:ext cx="2893512" cy="307777"/>
          </a:xfrm>
          <a:prstGeom prst="rect">
            <a:avLst/>
          </a:prstGeom>
          <a:solidFill>
            <a:schemeClr val="accent3"/>
          </a:solidFill>
        </p:spPr>
        <p:txBody>
          <a:bodyPr wrap="square">
            <a:spAutoFit/>
          </a:bodyPr>
          <a:lstStyle/>
          <a:p>
            <a:pPr algn="ctr"/>
            <a:r>
              <a:rPr lang="en-US" sz="1400" b="1" dirty="0">
                <a:solidFill>
                  <a:schemeClr val="bg1"/>
                </a:solidFill>
                <a:latin typeface="+mn-lt"/>
              </a:rPr>
              <a:t>Lifecycle Presence</a:t>
            </a:r>
            <a:endParaRPr lang="en-US" sz="1400" b="1" dirty="0">
              <a:solidFill>
                <a:schemeClr val="bg1"/>
              </a:solidFill>
              <a:latin typeface="+mn-lt"/>
            </a:endParaRPr>
          </a:p>
        </p:txBody>
      </p:sp>
      <p:sp>
        <p:nvSpPr>
          <p:cNvPr id="10" name="TextBox 9"/>
          <p:cNvSpPr txBox="1"/>
          <p:nvPr>
            <p:custDataLst>
              <p:tags r:id="rId3"/>
            </p:custDataLst>
          </p:nvPr>
        </p:nvSpPr>
        <p:spPr>
          <a:xfrm>
            <a:off x="241340" y="5573454"/>
            <a:ext cx="2893512" cy="307777"/>
          </a:xfrm>
          <a:prstGeom prst="rect">
            <a:avLst/>
          </a:prstGeom>
          <a:solidFill>
            <a:schemeClr val="accent3"/>
          </a:solidFill>
        </p:spPr>
        <p:txBody>
          <a:bodyPr wrap="square">
            <a:spAutoFit/>
          </a:bodyPr>
          <a:lstStyle/>
          <a:p>
            <a:pPr algn="ctr">
              <a:buNone/>
            </a:pPr>
            <a:r>
              <a:rPr lang="en-US" sz="1400" b="1" dirty="0">
                <a:solidFill>
                  <a:schemeClr val="bg1"/>
                </a:solidFill>
                <a:latin typeface="+mn-lt"/>
              </a:rPr>
              <a:t>Ongoing Monitoring</a:t>
            </a:r>
            <a:endParaRPr lang="en-US" sz="1400" b="1" dirty="0">
              <a:solidFill>
                <a:schemeClr val="bg1"/>
              </a:solidFill>
              <a:latin typeface="+mn-lt"/>
            </a:endParaRPr>
          </a:p>
        </p:txBody>
      </p:sp>
      <p:sp>
        <p:nvSpPr>
          <p:cNvPr id="11" name="TextBox 10"/>
          <p:cNvSpPr txBox="1"/>
          <p:nvPr>
            <p:custDataLst>
              <p:tags r:id="rId4"/>
            </p:custDataLst>
          </p:nvPr>
        </p:nvSpPr>
        <p:spPr>
          <a:xfrm>
            <a:off x="263053" y="2930241"/>
            <a:ext cx="2893512" cy="523220"/>
          </a:xfrm>
          <a:prstGeom prst="rect">
            <a:avLst/>
          </a:prstGeom>
          <a:solidFill>
            <a:schemeClr val="accent3"/>
          </a:solidFill>
        </p:spPr>
        <p:txBody>
          <a:bodyPr wrap="square">
            <a:spAutoFit/>
          </a:bodyPr>
          <a:lstStyle/>
          <a:p>
            <a:pPr algn="ctr"/>
            <a:r>
              <a:rPr lang="en-US" sz="1400" b="1" dirty="0">
                <a:solidFill>
                  <a:schemeClr val="bg1"/>
                </a:solidFill>
                <a:latin typeface="+mn-lt"/>
              </a:rPr>
              <a:t>Assessed During Credit Analysis</a:t>
            </a:r>
            <a:endParaRPr lang="en-US" sz="1400" b="1" dirty="0">
              <a:solidFill>
                <a:schemeClr val="bg1"/>
              </a:solidFill>
              <a:latin typeface="+mn-lt"/>
            </a:endParaRPr>
          </a:p>
        </p:txBody>
      </p:sp>
      <p:sp>
        <p:nvSpPr>
          <p:cNvPr id="12" name="TextBox 11"/>
          <p:cNvSpPr txBox="1"/>
          <p:nvPr>
            <p:custDataLst>
              <p:tags r:id="rId5"/>
            </p:custDataLst>
          </p:nvPr>
        </p:nvSpPr>
        <p:spPr>
          <a:xfrm>
            <a:off x="263053" y="2383771"/>
            <a:ext cx="2893512" cy="307777"/>
          </a:xfrm>
          <a:prstGeom prst="rect">
            <a:avLst/>
          </a:prstGeom>
          <a:solidFill>
            <a:schemeClr val="accent3"/>
          </a:solidFill>
        </p:spPr>
        <p:txBody>
          <a:bodyPr wrap="square">
            <a:spAutoFit/>
          </a:bodyPr>
          <a:lstStyle/>
          <a:p>
            <a:pPr algn="ctr"/>
            <a:r>
              <a:rPr lang="en-US" sz="1400" b="1" dirty="0">
                <a:solidFill>
                  <a:schemeClr val="bg1"/>
                </a:solidFill>
                <a:latin typeface="+mn-lt"/>
              </a:rPr>
              <a:t>Risk Mitigation Tool</a:t>
            </a:r>
            <a:r>
              <a:rPr lang="en-US" sz="1400" dirty="0">
                <a:solidFill>
                  <a:schemeClr val="bg1"/>
                </a:solidFill>
                <a:latin typeface="+mn-lt"/>
              </a:rPr>
              <a:t>.</a:t>
            </a:r>
            <a:endParaRPr lang="en-US" sz="1400" dirty="0">
              <a:solidFill>
                <a:schemeClr val="bg1"/>
              </a:solidFill>
              <a:latin typeface="+mn-lt"/>
            </a:endParaRPr>
          </a:p>
        </p:txBody>
      </p:sp>
      <p:sp>
        <p:nvSpPr>
          <p:cNvPr id="13" name="TextBox 12"/>
          <p:cNvSpPr txBox="1"/>
          <p:nvPr>
            <p:custDataLst>
              <p:tags r:id="rId6"/>
            </p:custDataLst>
          </p:nvPr>
        </p:nvSpPr>
        <p:spPr>
          <a:xfrm>
            <a:off x="241340" y="4849995"/>
            <a:ext cx="2893512" cy="523220"/>
          </a:xfrm>
          <a:prstGeom prst="rect">
            <a:avLst/>
          </a:prstGeom>
          <a:solidFill>
            <a:schemeClr val="accent3"/>
          </a:solidFill>
        </p:spPr>
        <p:txBody>
          <a:bodyPr wrap="square">
            <a:spAutoFit/>
          </a:bodyPr>
          <a:lstStyle/>
          <a:p>
            <a:pPr algn="ctr">
              <a:buNone/>
            </a:pPr>
            <a:r>
              <a:rPr lang="en-US" sz="1400" b="1" dirty="0">
                <a:solidFill>
                  <a:schemeClr val="bg1"/>
                </a:solidFill>
                <a:latin typeface="+mn-lt"/>
              </a:rPr>
              <a:t>Legal Perfection &amp; Lien Creation</a:t>
            </a:r>
            <a:endParaRPr lang="en-US" sz="1400" b="1" dirty="0">
              <a:solidFill>
                <a:schemeClr val="bg1"/>
              </a:solidFill>
              <a:latin typeface="+mn-lt"/>
            </a:endParaRPr>
          </a:p>
        </p:txBody>
      </p:sp>
      <p:sp>
        <p:nvSpPr>
          <p:cNvPr id="14" name="TextBox 13"/>
          <p:cNvSpPr txBox="1"/>
          <p:nvPr>
            <p:custDataLst>
              <p:tags r:id="rId7"/>
            </p:custDataLst>
          </p:nvPr>
        </p:nvSpPr>
        <p:spPr>
          <a:xfrm>
            <a:off x="263053" y="3720274"/>
            <a:ext cx="2893512" cy="307777"/>
          </a:xfrm>
          <a:prstGeom prst="rect">
            <a:avLst/>
          </a:prstGeom>
          <a:solidFill>
            <a:schemeClr val="accent3"/>
          </a:solidFill>
        </p:spPr>
        <p:txBody>
          <a:bodyPr wrap="square">
            <a:spAutoFit/>
          </a:bodyPr>
          <a:lstStyle/>
          <a:p>
            <a:pPr algn="ctr"/>
            <a:r>
              <a:rPr lang="en-US" sz="1400" b="1" dirty="0">
                <a:solidFill>
                  <a:schemeClr val="bg1"/>
                </a:solidFill>
                <a:latin typeface="+mn-lt"/>
              </a:rPr>
              <a:t>Forms of Collateral</a:t>
            </a:r>
            <a:endParaRPr lang="en-US" sz="1400" b="1" dirty="0">
              <a:solidFill>
                <a:schemeClr val="bg1"/>
              </a:solidFill>
              <a:latin typeface="+mn-lt"/>
            </a:endParaRPr>
          </a:p>
        </p:txBody>
      </p:sp>
      <p:sp>
        <p:nvSpPr>
          <p:cNvPr id="16" name="TextBox 15"/>
          <p:cNvSpPr txBox="1"/>
          <p:nvPr>
            <p:custDataLst>
              <p:tags r:id="rId8"/>
            </p:custDataLst>
          </p:nvPr>
        </p:nvSpPr>
        <p:spPr>
          <a:xfrm>
            <a:off x="3303739" y="1640230"/>
            <a:ext cx="8270310" cy="523220"/>
          </a:xfrm>
          <a:prstGeom prst="rect">
            <a:avLst/>
          </a:prstGeom>
          <a:solidFill>
            <a:schemeClr val="accent3">
              <a:lumMod val="40000"/>
              <a:lumOff val="60000"/>
            </a:schemeClr>
          </a:solidFill>
        </p:spPr>
        <p:txBody>
          <a:bodyPr wrap="square">
            <a:spAutoFit/>
          </a:bodyPr>
          <a:lstStyle/>
          <a:p>
            <a:r>
              <a:rPr lang="en-US" sz="1400" dirty="0">
                <a:latin typeface="+mn-lt"/>
              </a:rPr>
              <a:t>Collateral is a borrower's pledged asset (such as real estate, equipment, inventory, or receivables) that secures the loan and protects the lender in case of default.</a:t>
            </a:r>
            <a:endParaRPr lang="en-US" sz="1400" dirty="0">
              <a:latin typeface="+mn-lt"/>
            </a:endParaRPr>
          </a:p>
        </p:txBody>
      </p:sp>
      <p:sp>
        <p:nvSpPr>
          <p:cNvPr id="19" name="TextBox 18"/>
          <p:cNvSpPr txBox="1"/>
          <p:nvPr>
            <p:custDataLst>
              <p:tags r:id="rId9"/>
            </p:custDataLst>
          </p:nvPr>
        </p:nvSpPr>
        <p:spPr>
          <a:xfrm>
            <a:off x="3303739" y="2286554"/>
            <a:ext cx="8270310" cy="523220"/>
          </a:xfrm>
          <a:prstGeom prst="rect">
            <a:avLst/>
          </a:prstGeom>
          <a:solidFill>
            <a:schemeClr val="accent3">
              <a:lumMod val="40000"/>
              <a:lumOff val="60000"/>
            </a:schemeClr>
          </a:solidFill>
        </p:spPr>
        <p:txBody>
          <a:bodyPr wrap="square">
            <a:spAutoFit/>
          </a:bodyPr>
          <a:lstStyle/>
          <a:p>
            <a:r>
              <a:rPr lang="en-US" sz="1400" dirty="0">
                <a:latin typeface="+mn-lt"/>
              </a:rPr>
              <a:t>It reduces the credit risk for the bank by offering a form of security that can be liquidated to recover dues if the borrower fails to repay</a:t>
            </a:r>
            <a:endParaRPr lang="en-US" sz="1400" dirty="0">
              <a:latin typeface="+mn-lt"/>
            </a:endParaRPr>
          </a:p>
        </p:txBody>
      </p:sp>
      <p:sp>
        <p:nvSpPr>
          <p:cNvPr id="20" name="TextBox 19"/>
          <p:cNvSpPr txBox="1"/>
          <p:nvPr>
            <p:custDataLst>
              <p:tags r:id="rId10"/>
            </p:custDataLst>
          </p:nvPr>
        </p:nvSpPr>
        <p:spPr>
          <a:xfrm>
            <a:off x="3305827" y="2939994"/>
            <a:ext cx="8270310" cy="523220"/>
          </a:xfrm>
          <a:prstGeom prst="rect">
            <a:avLst/>
          </a:prstGeom>
          <a:solidFill>
            <a:schemeClr val="accent3">
              <a:lumMod val="40000"/>
              <a:lumOff val="60000"/>
            </a:schemeClr>
          </a:solidFill>
        </p:spPr>
        <p:txBody>
          <a:bodyPr wrap="square">
            <a:spAutoFit/>
          </a:bodyPr>
          <a:lstStyle/>
          <a:p>
            <a:r>
              <a:rPr lang="en-US" sz="1400" dirty="0">
                <a:latin typeface="+mn-lt"/>
              </a:rPr>
              <a:t>Collateral is carefully evaluated for its value, ownership, legal standing, and ease of liquidation during the credit appraisal stage.</a:t>
            </a:r>
            <a:endParaRPr lang="en-US" sz="1400" dirty="0">
              <a:latin typeface="+mn-lt"/>
            </a:endParaRPr>
          </a:p>
        </p:txBody>
      </p:sp>
      <p:sp>
        <p:nvSpPr>
          <p:cNvPr id="21" name="TextBox 20"/>
          <p:cNvSpPr txBox="1"/>
          <p:nvPr>
            <p:custDataLst>
              <p:tags r:id="rId11"/>
            </p:custDataLst>
          </p:nvPr>
        </p:nvSpPr>
        <p:spPr>
          <a:xfrm>
            <a:off x="3303739" y="3634524"/>
            <a:ext cx="8270310" cy="523220"/>
          </a:xfrm>
          <a:prstGeom prst="rect">
            <a:avLst/>
          </a:prstGeom>
          <a:solidFill>
            <a:schemeClr val="accent3">
              <a:lumMod val="40000"/>
              <a:lumOff val="60000"/>
            </a:schemeClr>
          </a:solidFill>
        </p:spPr>
        <p:txBody>
          <a:bodyPr wrap="square">
            <a:spAutoFit/>
          </a:bodyPr>
          <a:lstStyle/>
          <a:p>
            <a:r>
              <a:rPr lang="en-US" sz="1400" dirty="0">
                <a:latin typeface="+mn-lt"/>
              </a:rPr>
              <a:t>Common forms include fixed assets (land/buildings), current assets (inventory, receivables), financial assets (deposits, securities), and third-party guarantees.</a:t>
            </a:r>
            <a:endParaRPr lang="en-US" sz="1400" dirty="0">
              <a:latin typeface="+mn-lt"/>
            </a:endParaRPr>
          </a:p>
        </p:txBody>
      </p:sp>
      <p:sp>
        <p:nvSpPr>
          <p:cNvPr id="22" name="TextBox 21"/>
          <p:cNvSpPr txBox="1"/>
          <p:nvPr>
            <p:custDataLst>
              <p:tags r:id="rId12"/>
            </p:custDataLst>
          </p:nvPr>
        </p:nvSpPr>
        <p:spPr>
          <a:xfrm>
            <a:off x="3303739" y="4190236"/>
            <a:ext cx="8270310" cy="523220"/>
          </a:xfrm>
          <a:prstGeom prst="rect">
            <a:avLst/>
          </a:prstGeom>
          <a:solidFill>
            <a:schemeClr val="accent3">
              <a:lumMod val="40000"/>
              <a:lumOff val="60000"/>
            </a:schemeClr>
          </a:solidFill>
        </p:spPr>
        <p:txBody>
          <a:bodyPr wrap="square">
            <a:spAutoFit/>
          </a:bodyPr>
          <a:lstStyle/>
          <a:p>
            <a:r>
              <a:rPr lang="en-US" sz="1400" dirty="0">
                <a:latin typeface="+mn-lt"/>
              </a:rPr>
              <a:t>Collateral plays a role across multiple loan stages—</a:t>
            </a:r>
            <a:r>
              <a:rPr lang="en-US" sz="1400" b="1" dirty="0">
                <a:latin typeface="+mn-lt"/>
              </a:rPr>
              <a:t>origination</a:t>
            </a:r>
            <a:r>
              <a:rPr lang="en-US" sz="1400" dirty="0">
                <a:latin typeface="+mn-lt"/>
              </a:rPr>
              <a:t> (assessment), </a:t>
            </a:r>
            <a:r>
              <a:rPr lang="en-US" sz="1400" b="1" dirty="0">
                <a:latin typeface="+mn-lt"/>
              </a:rPr>
              <a:t>documentation</a:t>
            </a:r>
            <a:r>
              <a:rPr lang="en-US" sz="1400" dirty="0">
                <a:latin typeface="+mn-lt"/>
              </a:rPr>
              <a:t> (legal creation of charge), </a:t>
            </a:r>
            <a:r>
              <a:rPr lang="en-US" sz="1400" b="1" dirty="0">
                <a:latin typeface="+mn-lt"/>
              </a:rPr>
              <a:t>monitoring</a:t>
            </a:r>
            <a:r>
              <a:rPr lang="en-US" sz="1400" dirty="0">
                <a:latin typeface="+mn-lt"/>
              </a:rPr>
              <a:t> (regular valuation), and </a:t>
            </a:r>
            <a:r>
              <a:rPr lang="en-US" sz="1400" b="1" dirty="0">
                <a:latin typeface="+mn-lt"/>
              </a:rPr>
              <a:t>closure</a:t>
            </a:r>
            <a:r>
              <a:rPr lang="en-US" sz="1400" dirty="0">
                <a:latin typeface="+mn-lt"/>
              </a:rPr>
              <a:t> (release or enforcement).</a:t>
            </a:r>
            <a:endParaRPr lang="en-US" sz="1400" dirty="0">
              <a:latin typeface="+mn-lt"/>
            </a:endParaRPr>
          </a:p>
        </p:txBody>
      </p:sp>
      <p:sp>
        <p:nvSpPr>
          <p:cNvPr id="23" name="TextBox 22"/>
          <p:cNvSpPr txBox="1"/>
          <p:nvPr>
            <p:custDataLst>
              <p:tags r:id="rId13"/>
            </p:custDataLst>
          </p:nvPr>
        </p:nvSpPr>
        <p:spPr>
          <a:xfrm>
            <a:off x="3303739" y="4745948"/>
            <a:ext cx="8270310" cy="523220"/>
          </a:xfrm>
          <a:prstGeom prst="rect">
            <a:avLst/>
          </a:prstGeom>
          <a:solidFill>
            <a:schemeClr val="accent3">
              <a:lumMod val="40000"/>
              <a:lumOff val="60000"/>
            </a:schemeClr>
          </a:solidFill>
        </p:spPr>
        <p:txBody>
          <a:bodyPr wrap="square">
            <a:spAutoFit/>
          </a:bodyPr>
          <a:lstStyle/>
          <a:p>
            <a:pPr>
              <a:buFont typeface="+mj-lt"/>
              <a:buAutoNum type="arabicPeriod"/>
            </a:pPr>
            <a:r>
              <a:rPr lang="en-US" sz="1400" dirty="0">
                <a:latin typeface="+mn-lt"/>
              </a:rPr>
              <a:t>A proper legal charge is created on the collateral—such as a mortgage, hypothecation, or pledge—to ensure enforceability in case of default.</a:t>
            </a:r>
            <a:endParaRPr lang="en-US" sz="1400" dirty="0">
              <a:latin typeface="+mn-lt"/>
            </a:endParaRPr>
          </a:p>
        </p:txBody>
      </p:sp>
      <p:sp>
        <p:nvSpPr>
          <p:cNvPr id="24" name="TextBox 23"/>
          <p:cNvSpPr txBox="1"/>
          <p:nvPr>
            <p:custDataLst>
              <p:tags r:id="rId14"/>
            </p:custDataLst>
          </p:nvPr>
        </p:nvSpPr>
        <p:spPr>
          <a:xfrm>
            <a:off x="3303739" y="5470112"/>
            <a:ext cx="8270310" cy="737235"/>
          </a:xfrm>
          <a:prstGeom prst="rect">
            <a:avLst/>
          </a:prstGeom>
          <a:solidFill>
            <a:schemeClr val="accent3">
              <a:lumMod val="40000"/>
              <a:lumOff val="60000"/>
            </a:schemeClr>
          </a:solidFill>
        </p:spPr>
        <p:txBody>
          <a:bodyPr wrap="square">
            <a:spAutoFit/>
          </a:bodyPr>
          <a:lstStyle/>
          <a:p>
            <a:r>
              <a:rPr lang="en-US" sz="1400" dirty="0">
                <a:latin typeface="+mn-lt"/>
              </a:rPr>
              <a:t>The value and condition of collateral are monitored throughout the loan tenure to ensure continued adequacy of security </a:t>
            </a:r>
            <a:r>
              <a:rPr lang="en-US" sz="1400" dirty="0" err="1">
                <a:latin typeface="+mn-lt"/>
              </a:rPr>
              <a:t>cover.</a:t>
            </a:r>
            <a:endParaRPr lang="en-US" sz="1400" dirty="0" err="1">
              <a:latin typeface="+mn-lt"/>
            </a:endParaRPr>
          </a:p>
          <a:p>
            <a:endParaRPr lang="en-US" sz="1400" dirty="0" err="1">
              <a:latin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grpSp>
        <p:nvGrpSpPr>
          <p:cNvPr id="3" name="Group 2"/>
          <p:cNvGrpSpPr/>
          <p:nvPr/>
        </p:nvGrpSpPr>
        <p:grpSpPr>
          <a:xfrm>
            <a:off x="2565170" y="1666123"/>
            <a:ext cx="7061661" cy="4446240"/>
            <a:chOff x="2200810" y="1171600"/>
            <a:chExt cx="7061661" cy="4446240"/>
          </a:xfrm>
        </p:grpSpPr>
        <p:sp>
          <p:nvSpPr>
            <p:cNvPr id="763" name="Google Shape;763;p27"/>
            <p:cNvSpPr/>
            <p:nvPr/>
          </p:nvSpPr>
          <p:spPr>
            <a:xfrm>
              <a:off x="2495601" y="2186151"/>
              <a:ext cx="3274139" cy="3293169"/>
            </a:xfrm>
            <a:prstGeom prst="rect">
              <a:avLst/>
            </a:prstGeom>
            <a:noFill/>
            <a:ln>
              <a:noFill/>
            </a:ln>
          </p:spPr>
          <p:txBody>
            <a:bodyPr spcFirstLastPara="1" wrap="square" lIns="91425" tIns="45700" rIns="91425" bIns="45700" anchor="ctr" anchorCtr="0">
              <a:spAutoFit/>
            </a:bodyPr>
            <a:lstStyle/>
            <a:p>
              <a:pPr marL="285750" indent="-285750">
                <a:buClr>
                  <a:srgbClr val="0C0C0C"/>
                </a:buClr>
                <a:buSzPts val="1800"/>
                <a:buFont typeface="Arial" panose="020B0604020202020204"/>
                <a:buChar char="•"/>
              </a:pPr>
              <a:r>
                <a:rPr lang="en-US" sz="1800" b="1" dirty="0">
                  <a:solidFill>
                    <a:srgbClr val="0C0C0C"/>
                  </a:solidFill>
                  <a:latin typeface="+mn-lt"/>
                  <a:ea typeface="Cambria" panose="02040503050406030204"/>
                  <a:cs typeface="Arial" panose="020B0604020202020204" pitchFamily="34" charset="0"/>
                  <a:sym typeface="Cambria" panose="02040503050406030204"/>
                </a:rPr>
                <a:t>Any  property or asset</a:t>
              </a:r>
              <a:endParaRPr lang="en-US" sz="1800" b="1" dirty="0">
                <a:solidFill>
                  <a:srgbClr val="0C0C0C"/>
                </a:solidFill>
                <a:latin typeface="+mn-lt"/>
                <a:ea typeface="Cambria" panose="02040503050406030204"/>
                <a:cs typeface="Arial" panose="020B0604020202020204" pitchFamily="34" charset="0"/>
                <a:sym typeface="Cambria" panose="02040503050406030204"/>
              </a:endParaRPr>
            </a:p>
            <a:p>
              <a:pPr marL="285750" indent="-285750">
                <a:buClr>
                  <a:srgbClr val="0C0C0C"/>
                </a:buClr>
                <a:buSzPts val="1800"/>
                <a:buFont typeface="Arial" panose="020B0604020202020204"/>
                <a:buChar char="•"/>
              </a:pPr>
              <a:r>
                <a:rPr lang="en-US" sz="1800" b="1" dirty="0">
                  <a:solidFill>
                    <a:srgbClr val="0C0C0C"/>
                  </a:solidFill>
                  <a:latin typeface="+mn-lt"/>
                  <a:ea typeface="Cambria" panose="02040503050406030204"/>
                  <a:cs typeface="Arial" panose="020B0604020202020204" pitchFamily="34" charset="0"/>
                  <a:sym typeface="Cambria" panose="02040503050406030204"/>
                </a:rPr>
                <a:t>G</a:t>
              </a:r>
              <a:r>
                <a:rPr lang="en-US" sz="1800" dirty="0">
                  <a:solidFill>
                    <a:srgbClr val="0C0C0C"/>
                  </a:solidFill>
                  <a:latin typeface="+mn-lt"/>
                  <a:ea typeface="Cambria" panose="02040503050406030204"/>
                  <a:cs typeface="Arial" panose="020B0604020202020204" pitchFamily="34" charset="0"/>
                  <a:sym typeface="Cambria" panose="02040503050406030204"/>
                </a:rPr>
                <a:t>iven  by a borrower to a lender to secure a loan</a:t>
              </a:r>
              <a:endParaRPr sz="1400" dirty="0">
                <a:latin typeface="+mn-lt"/>
              </a:endParaRPr>
            </a:p>
            <a:p>
              <a:pPr marL="285750" indent="-285750">
                <a:spcBef>
                  <a:spcPts val="600"/>
                </a:spcBef>
                <a:buClr>
                  <a:srgbClr val="0C0C0C"/>
                </a:buClr>
                <a:buSzPts val="1800"/>
                <a:buFont typeface="Arial" panose="020B0604020202020204"/>
                <a:buChar char="•"/>
              </a:pPr>
              <a:r>
                <a:rPr lang="en-US" sz="1800" dirty="0">
                  <a:solidFill>
                    <a:srgbClr val="0C0C0C"/>
                  </a:solidFill>
                  <a:latin typeface="+mn-lt"/>
                  <a:ea typeface="Cambria" panose="02040503050406030204"/>
                  <a:cs typeface="Arial" panose="020B0604020202020204" pitchFamily="34" charset="0"/>
                  <a:sym typeface="Cambria" panose="02040503050406030204"/>
                </a:rPr>
                <a:t>Collateral can be the title of a </a:t>
              </a:r>
              <a:r>
                <a:rPr lang="en-US" sz="1800" b="1" dirty="0">
                  <a:solidFill>
                    <a:srgbClr val="0C0C0C"/>
                  </a:solidFill>
                  <a:latin typeface="+mn-lt"/>
                  <a:ea typeface="Cambria" panose="02040503050406030204"/>
                  <a:cs typeface="Arial" panose="020B0604020202020204" pitchFamily="34" charset="0"/>
                  <a:sym typeface="Cambria" panose="02040503050406030204"/>
                </a:rPr>
                <a:t>parcel of land, a car, or a house</a:t>
              </a:r>
              <a:endParaRPr sz="1400" dirty="0">
                <a:latin typeface="+mn-lt"/>
              </a:endParaRPr>
            </a:p>
            <a:p>
              <a:pPr marL="285750" indent="-285750">
                <a:spcBef>
                  <a:spcPts val="600"/>
                </a:spcBef>
                <a:buClr>
                  <a:srgbClr val="0C0C0C"/>
                </a:buClr>
                <a:buSzPts val="1800"/>
                <a:buFont typeface="Arial" panose="020B0604020202020204"/>
                <a:buChar char="•"/>
              </a:pPr>
              <a:r>
                <a:rPr lang="en-US" sz="1800" dirty="0">
                  <a:solidFill>
                    <a:srgbClr val="0C0C0C"/>
                  </a:solidFill>
                  <a:latin typeface="+mn-lt"/>
                  <a:ea typeface="Cambria" panose="02040503050406030204"/>
                  <a:cs typeface="Arial" panose="020B0604020202020204" pitchFamily="34" charset="0"/>
                  <a:sym typeface="Cambria" panose="02040503050406030204"/>
                </a:rPr>
                <a:t>Collateral, and /or the ownership title to it, stays with the lender </a:t>
              </a:r>
              <a:r>
                <a:rPr lang="en-US" sz="1800" b="1" dirty="0">
                  <a:solidFill>
                    <a:srgbClr val="0C0C0C"/>
                  </a:solidFill>
                  <a:latin typeface="+mn-lt"/>
                  <a:ea typeface="Cambria" panose="02040503050406030204"/>
                  <a:cs typeface="Arial" panose="020B0604020202020204" pitchFamily="34" charset="0"/>
                  <a:sym typeface="Cambria" panose="02040503050406030204"/>
                </a:rPr>
                <a:t>throughout the time the borrower is paying the loan</a:t>
              </a:r>
              <a:endParaRPr sz="1800" b="1" dirty="0">
                <a:solidFill>
                  <a:srgbClr val="0C0C0C"/>
                </a:solidFill>
                <a:latin typeface="+mn-lt"/>
                <a:ea typeface="Cambria" panose="02040503050406030204"/>
                <a:cs typeface="Arial" panose="020B0604020202020204" pitchFamily="34" charset="0"/>
                <a:sym typeface="Cambria" panose="02040503050406030204"/>
              </a:endParaRPr>
            </a:p>
          </p:txBody>
        </p:sp>
        <p:sp>
          <p:nvSpPr>
            <p:cNvPr id="764" name="Google Shape;764;p27"/>
            <p:cNvSpPr/>
            <p:nvPr/>
          </p:nvSpPr>
          <p:spPr>
            <a:xfrm>
              <a:off x="5951985" y="2190257"/>
              <a:ext cx="2880301" cy="3016170"/>
            </a:xfrm>
            <a:prstGeom prst="rect">
              <a:avLst/>
            </a:prstGeom>
            <a:noFill/>
            <a:ln>
              <a:noFill/>
            </a:ln>
          </p:spPr>
          <p:txBody>
            <a:bodyPr spcFirstLastPara="1" wrap="square" lIns="91425" tIns="45700" rIns="91425" bIns="45700" anchor="ctr" anchorCtr="0">
              <a:spAutoFit/>
            </a:bodyPr>
            <a:lstStyle/>
            <a:p>
              <a:pPr marL="285750" indent="-285750">
                <a:buClr>
                  <a:srgbClr val="0C0C0C"/>
                </a:buClr>
                <a:buSzPts val="1800"/>
                <a:buFont typeface="Arial" panose="020B0604020202020204"/>
                <a:buChar char="•"/>
              </a:pPr>
              <a:r>
                <a:rPr lang="en-US" sz="1800" dirty="0">
                  <a:solidFill>
                    <a:srgbClr val="0C0C0C"/>
                  </a:solidFill>
                  <a:latin typeface="+mn-lt"/>
                  <a:ea typeface="Cambria" panose="02040503050406030204"/>
                  <a:cs typeface="Arial" panose="020B0604020202020204" pitchFamily="34" charset="0"/>
                  <a:sym typeface="Cambria" panose="02040503050406030204"/>
                </a:rPr>
                <a:t>Refer  specifically to </a:t>
              </a:r>
              <a:r>
                <a:rPr lang="en-US" sz="1800" b="1" dirty="0">
                  <a:solidFill>
                    <a:srgbClr val="0C0C0C"/>
                  </a:solidFill>
                  <a:latin typeface="+mn-lt"/>
                  <a:ea typeface="Cambria" panose="02040503050406030204"/>
                  <a:cs typeface="Arial" panose="020B0604020202020204" pitchFamily="34" charset="0"/>
                  <a:sym typeface="Cambria" panose="02040503050406030204"/>
                </a:rPr>
                <a:t>financial assets (such as stock shares) </a:t>
              </a:r>
              <a:r>
                <a:rPr lang="en-US" sz="1800" dirty="0">
                  <a:solidFill>
                    <a:srgbClr val="0C0C0C"/>
                  </a:solidFill>
                  <a:latin typeface="+mn-lt"/>
                  <a:ea typeface="Cambria" panose="02040503050406030204"/>
                  <a:cs typeface="Arial" panose="020B0604020202020204" pitchFamily="34" charset="0"/>
                  <a:sym typeface="Cambria" panose="02040503050406030204"/>
                </a:rPr>
                <a:t>that are used as collateral</a:t>
              </a:r>
              <a:endParaRPr sz="1400" dirty="0">
                <a:latin typeface="+mn-lt"/>
              </a:endParaRPr>
            </a:p>
            <a:p>
              <a:pPr marL="285750" indent="-285750">
                <a:spcBef>
                  <a:spcPts val="600"/>
                </a:spcBef>
                <a:buClr>
                  <a:srgbClr val="0C0C0C"/>
                </a:buClr>
                <a:buSzPts val="1800"/>
                <a:buFont typeface="Arial" panose="020B0604020202020204"/>
                <a:buChar char="•"/>
              </a:pPr>
              <a:r>
                <a:rPr lang="en-US" sz="1800" dirty="0">
                  <a:solidFill>
                    <a:srgbClr val="0C0C0C"/>
                  </a:solidFill>
                  <a:latin typeface="+mn-lt"/>
                  <a:ea typeface="Cambria" panose="02040503050406030204"/>
                  <a:cs typeface="Arial" panose="020B0604020202020204" pitchFamily="34" charset="0"/>
                  <a:sym typeface="Cambria" panose="02040503050406030204"/>
                </a:rPr>
                <a:t>Securities are assets such as </a:t>
              </a:r>
              <a:r>
                <a:rPr lang="en-US" sz="1800" b="1" dirty="0">
                  <a:solidFill>
                    <a:srgbClr val="0C0C0C"/>
                  </a:solidFill>
                  <a:latin typeface="+mn-lt"/>
                  <a:ea typeface="Cambria" panose="02040503050406030204"/>
                  <a:cs typeface="Arial" panose="020B0604020202020204" pitchFamily="34" charset="0"/>
                  <a:sym typeface="Cambria" panose="02040503050406030204"/>
                </a:rPr>
                <a:t>bonds and stocks</a:t>
              </a:r>
              <a:endParaRPr sz="1400" dirty="0">
                <a:latin typeface="+mn-lt"/>
              </a:endParaRPr>
            </a:p>
            <a:p>
              <a:pPr marL="285750" indent="-285750">
                <a:spcBef>
                  <a:spcPts val="600"/>
                </a:spcBef>
                <a:buClr>
                  <a:srgbClr val="0C0C0C"/>
                </a:buClr>
                <a:buSzPts val="1800"/>
                <a:buFont typeface="Arial" panose="020B0604020202020204"/>
                <a:buChar char="•"/>
              </a:pPr>
              <a:r>
                <a:rPr lang="en-US" sz="1800" dirty="0">
                  <a:solidFill>
                    <a:srgbClr val="0C0C0C"/>
                  </a:solidFill>
                  <a:latin typeface="+mn-lt"/>
                  <a:ea typeface="Cambria" panose="02040503050406030204"/>
                  <a:cs typeface="Arial" panose="020B0604020202020204" pitchFamily="34" charset="0"/>
                  <a:sym typeface="Cambria" panose="02040503050406030204"/>
                </a:rPr>
                <a:t>Securities portfolio remains </a:t>
              </a:r>
              <a:r>
                <a:rPr lang="en-US" sz="1800" b="1" dirty="0">
                  <a:solidFill>
                    <a:srgbClr val="0C0C0C"/>
                  </a:solidFill>
                  <a:latin typeface="+mn-lt"/>
                  <a:ea typeface="Cambria" panose="02040503050406030204"/>
                  <a:cs typeface="Arial" panose="020B0604020202020204" pitchFamily="34" charset="0"/>
                  <a:sym typeface="Cambria" panose="02040503050406030204"/>
                </a:rPr>
                <a:t>under the borrower’s control</a:t>
              </a:r>
              <a:endParaRPr sz="1800" b="1" dirty="0">
                <a:solidFill>
                  <a:srgbClr val="0C0C0C"/>
                </a:solidFill>
                <a:latin typeface="+mn-lt"/>
                <a:ea typeface="Cambria" panose="02040503050406030204"/>
                <a:cs typeface="Arial" panose="020B0604020202020204" pitchFamily="34" charset="0"/>
                <a:sym typeface="Cambria" panose="02040503050406030204"/>
              </a:endParaRPr>
            </a:p>
          </p:txBody>
        </p:sp>
        <p:sp>
          <p:nvSpPr>
            <p:cNvPr id="765" name="Google Shape;765;p27"/>
            <p:cNvSpPr/>
            <p:nvPr/>
          </p:nvSpPr>
          <p:spPr>
            <a:xfrm>
              <a:off x="5769740" y="1171600"/>
              <a:ext cx="3492731" cy="838200"/>
            </a:xfrm>
            <a:prstGeom prst="rightArrow">
              <a:avLst>
                <a:gd name="adj1" fmla="val 50000"/>
                <a:gd name="adj2" fmla="val 50000"/>
              </a:avLst>
            </a:prstGeom>
            <a:solidFill>
              <a:schemeClr val="accent3">
                <a:alpha val="80000"/>
              </a:schemeClr>
            </a:solidFill>
            <a:ln>
              <a:noFill/>
            </a:ln>
          </p:spPr>
          <p:txBody>
            <a:bodyPr spcFirstLastPara="1" wrap="square" lIns="91425" tIns="45700" rIns="91425" bIns="45700" anchor="ctr" anchorCtr="0">
              <a:noAutofit/>
            </a:bodyPr>
            <a:lstStyle/>
            <a:p>
              <a:pPr algn="ctr">
                <a:buClr>
                  <a:srgbClr val="FFFFFF"/>
                </a:buClr>
                <a:buSzPts val="2000"/>
              </a:pPr>
              <a:r>
                <a:rPr lang="en-US" sz="2000" b="1" dirty="0">
                  <a:solidFill>
                    <a:srgbClr val="FFFFFF"/>
                  </a:solidFill>
                  <a:latin typeface="+mn-lt"/>
                  <a:ea typeface="Cambria" panose="02040503050406030204"/>
                  <a:cs typeface="Arial" panose="020B0604020202020204" pitchFamily="34" charset="0"/>
                  <a:sym typeface="Cambria" panose="02040503050406030204"/>
                </a:rPr>
                <a:t>Securities</a:t>
              </a:r>
              <a:endParaRPr sz="1400" dirty="0">
                <a:latin typeface="+mn-lt"/>
              </a:endParaRPr>
            </a:p>
          </p:txBody>
        </p:sp>
        <p:sp>
          <p:nvSpPr>
            <p:cNvPr id="766" name="Google Shape;766;p27"/>
            <p:cNvSpPr/>
            <p:nvPr/>
          </p:nvSpPr>
          <p:spPr>
            <a:xfrm flipH="1">
              <a:off x="2200810" y="1171600"/>
              <a:ext cx="3568931" cy="838200"/>
            </a:xfrm>
            <a:prstGeom prst="rightArrow">
              <a:avLst>
                <a:gd name="adj1" fmla="val 50000"/>
                <a:gd name="adj2" fmla="val 50000"/>
              </a:avLst>
            </a:prstGeom>
            <a:solidFill>
              <a:schemeClr val="bg2">
                <a:alpha val="80000"/>
              </a:schemeClr>
            </a:solidFill>
            <a:ln>
              <a:noFill/>
            </a:ln>
          </p:spPr>
          <p:txBody>
            <a:bodyPr spcFirstLastPara="1" wrap="square" lIns="91425" tIns="45700" rIns="91425" bIns="45700" anchor="ctr" anchorCtr="0">
              <a:noAutofit/>
            </a:bodyPr>
            <a:lstStyle/>
            <a:p>
              <a:pPr algn="ctr">
                <a:buClr>
                  <a:srgbClr val="FFFFFF"/>
                </a:buClr>
                <a:buSzPts val="2000"/>
              </a:pPr>
              <a:r>
                <a:rPr lang="en-US" sz="2000" b="1" dirty="0">
                  <a:solidFill>
                    <a:srgbClr val="FFFFFF"/>
                  </a:solidFill>
                  <a:latin typeface="+mn-lt"/>
                  <a:ea typeface="Cambria" panose="02040503050406030204"/>
                  <a:cs typeface="Arial" panose="020B0604020202020204" pitchFamily="34" charset="0"/>
                  <a:sym typeface="Cambria" panose="02040503050406030204"/>
                </a:rPr>
                <a:t>Collateral</a:t>
              </a:r>
              <a:endParaRPr sz="1400" dirty="0">
                <a:latin typeface="+mn-lt"/>
              </a:endParaRPr>
            </a:p>
          </p:txBody>
        </p:sp>
        <p:cxnSp>
          <p:nvCxnSpPr>
            <p:cNvPr id="767" name="Google Shape;767;p27"/>
            <p:cNvCxnSpPr/>
            <p:nvPr/>
          </p:nvCxnSpPr>
          <p:spPr>
            <a:xfrm>
              <a:off x="5769740" y="1336170"/>
              <a:ext cx="1" cy="4281670"/>
            </a:xfrm>
            <a:prstGeom prst="straightConnector1">
              <a:avLst/>
            </a:prstGeom>
            <a:noFill/>
            <a:ln w="9525" cap="flat" cmpd="sng">
              <a:solidFill>
                <a:schemeClr val="dk1"/>
              </a:solidFill>
              <a:prstDash val="solid"/>
              <a:round/>
              <a:headEnd type="oval" w="med" len="med"/>
              <a:tailEnd type="oval" w="med" len="med"/>
            </a:ln>
          </p:spPr>
        </p:cxnSp>
      </p:grpSp>
      <p:sp>
        <p:nvSpPr>
          <p:cNvPr id="2" name="Title 1"/>
          <p:cNvSpPr>
            <a:spLocks noGrp="1"/>
          </p:cNvSpPr>
          <p:nvPr>
            <p:ph type="title"/>
          </p:nvPr>
        </p:nvSpPr>
        <p:spPr/>
        <p:txBody>
          <a:bodyPr>
            <a:normAutofit/>
          </a:bodyPr>
          <a:lstStyle/>
          <a:p>
            <a:r>
              <a:rPr lang="en-US" dirty="0">
                <a:latin typeface="+mn-lt"/>
              </a:rPr>
              <a:t>LIFECYCLE OF A COMMERCIAL LOAN - COLLATERAL</a:t>
            </a:r>
            <a:endParaRPr lang="en-IN" dirty="0">
              <a:latin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2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latin typeface="+mn-lt"/>
              </a:rPr>
              <a:t>LIFECYCLE OF A COMMERCIAL LOAN - </a:t>
            </a:r>
            <a:r>
              <a:rPr lang="en-US" sz="2400" b="1" dirty="0">
                <a:latin typeface="+mn-lt"/>
              </a:rPr>
              <a:t>UNDERWRITING</a:t>
            </a:r>
            <a:endParaRPr lang="en-US" dirty="0">
              <a:latin typeface="+mn-lt"/>
            </a:endParaRPr>
          </a:p>
        </p:txBody>
      </p:sp>
      <p:sp>
        <p:nvSpPr>
          <p:cNvPr id="773" name="Google Shape;773;p28"/>
          <p:cNvSpPr/>
          <p:nvPr/>
        </p:nvSpPr>
        <p:spPr>
          <a:xfrm>
            <a:off x="0" y="1537558"/>
            <a:ext cx="12192000" cy="707846"/>
          </a:xfrm>
          <a:prstGeom prst="rect">
            <a:avLst/>
          </a:prstGeom>
          <a:solidFill>
            <a:schemeClr val="bg2"/>
          </a:solidFill>
          <a:ln>
            <a:noFill/>
          </a:ln>
        </p:spPr>
        <p:txBody>
          <a:bodyPr spcFirstLastPara="1" wrap="square" lIns="91425" tIns="45700" rIns="91425" bIns="45700" anchor="ctr" anchorCtr="0">
            <a:spAutoFit/>
          </a:bodyPr>
          <a:lstStyle/>
          <a:p>
            <a:pPr algn="ctr"/>
            <a:r>
              <a:rPr lang="en-US" sz="2000" dirty="0">
                <a:solidFill>
                  <a:srgbClr val="FFFFFF"/>
                </a:solidFill>
                <a:effectLst/>
                <a:latin typeface="+mn-lt"/>
              </a:rPr>
              <a:t>The lender evaluates whether a borrower's loan application poses an acceptable risk. </a:t>
            </a:r>
            <a:endParaRPr lang="en-US" sz="2000" dirty="0">
              <a:solidFill>
                <a:srgbClr val="FFFFFF"/>
              </a:solidFill>
              <a:effectLst/>
              <a:latin typeface="+mn-lt"/>
            </a:endParaRPr>
          </a:p>
          <a:p>
            <a:pPr algn="ctr"/>
            <a:r>
              <a:rPr lang="en-US" sz="2000" dirty="0">
                <a:solidFill>
                  <a:srgbClr val="FFFFFF"/>
                </a:solidFill>
                <a:effectLst/>
                <a:latin typeface="+mn-lt"/>
              </a:rPr>
              <a:t>Underwriters analyze the borrower’s credit v/s collateral to determine their ability to repay the loan.</a:t>
            </a:r>
            <a:endParaRPr sz="2000" dirty="0">
              <a:solidFill>
                <a:srgbClr val="FFFFFF"/>
              </a:solidFill>
              <a:latin typeface="+mn-lt"/>
              <a:ea typeface="Cambria" panose="02040503050406030204"/>
              <a:cs typeface="Arial" panose="020B0604020202020204" pitchFamily="34" charset="0"/>
              <a:sym typeface="Cambria" panose="02040503050406030204"/>
            </a:endParaRPr>
          </a:p>
        </p:txBody>
      </p:sp>
      <p:grpSp>
        <p:nvGrpSpPr>
          <p:cNvPr id="2" name="Group 1"/>
          <p:cNvGrpSpPr/>
          <p:nvPr/>
        </p:nvGrpSpPr>
        <p:grpSpPr>
          <a:xfrm>
            <a:off x="1903512" y="2832271"/>
            <a:ext cx="8568952" cy="3068864"/>
            <a:chOff x="1847528" y="2487038"/>
            <a:chExt cx="8568952" cy="3068864"/>
          </a:xfrm>
          <a:solidFill>
            <a:schemeClr val="bg1">
              <a:lumMod val="85000"/>
            </a:schemeClr>
          </a:solidFill>
        </p:grpSpPr>
        <p:sp>
          <p:nvSpPr>
            <p:cNvPr id="774" name="Google Shape;774;p28"/>
            <p:cNvSpPr/>
            <p:nvPr/>
          </p:nvSpPr>
          <p:spPr>
            <a:xfrm>
              <a:off x="1847528" y="2487038"/>
              <a:ext cx="8568952" cy="923289"/>
            </a:xfrm>
            <a:prstGeom prst="rect">
              <a:avLst/>
            </a:prstGeom>
            <a:grpFill/>
            <a:ln>
              <a:noFill/>
            </a:ln>
          </p:spPr>
          <p:txBody>
            <a:bodyPr spcFirstLastPara="1" wrap="square" lIns="91425" tIns="45700" rIns="91425" bIns="45700" anchor="ctr" anchorCtr="0">
              <a:spAutoFit/>
            </a:bodyPr>
            <a:lstStyle/>
            <a:p>
              <a:pPr marL="116205">
                <a:buClr>
                  <a:srgbClr val="555555"/>
                </a:buClr>
                <a:buSzPts val="1800"/>
              </a:pPr>
              <a:r>
                <a:rPr lang="en-US" sz="1800" b="1">
                  <a:solidFill>
                    <a:srgbClr val="000000"/>
                  </a:solidFill>
                  <a:effectLst/>
                  <a:latin typeface="+mn-lt"/>
                </a:rPr>
                <a:t>Credit</a:t>
              </a:r>
              <a:r>
                <a:rPr lang="en-US" sz="1800">
                  <a:solidFill>
                    <a:srgbClr val="000000"/>
                  </a:solidFill>
                  <a:effectLst/>
                  <a:latin typeface="+mn-lt"/>
                </a:rPr>
                <a:t> indicates a borrower's management of debt and their historical performance, derived from credit reports from agencies like Equifax, TransUnion, and Experian.</a:t>
              </a:r>
              <a:endParaRPr sz="1800" dirty="0">
                <a:solidFill>
                  <a:schemeClr val="tx1"/>
                </a:solidFill>
                <a:latin typeface="+mn-lt"/>
                <a:ea typeface="Cambria" panose="02040503050406030204"/>
                <a:cs typeface="Arial" panose="020B0604020202020204" pitchFamily="34" charset="0"/>
                <a:sym typeface="Cambria" panose="02040503050406030204"/>
              </a:endParaRPr>
            </a:p>
          </p:txBody>
        </p:sp>
        <p:sp>
          <p:nvSpPr>
            <p:cNvPr id="775" name="Google Shape;775;p28"/>
            <p:cNvSpPr/>
            <p:nvPr/>
          </p:nvSpPr>
          <p:spPr>
            <a:xfrm>
              <a:off x="1847528" y="3728457"/>
              <a:ext cx="8568952" cy="646290"/>
            </a:xfrm>
            <a:prstGeom prst="rect">
              <a:avLst/>
            </a:prstGeom>
            <a:grpFill/>
            <a:ln>
              <a:noFill/>
            </a:ln>
          </p:spPr>
          <p:txBody>
            <a:bodyPr spcFirstLastPara="1" wrap="square" lIns="91425" tIns="45700" rIns="91425" bIns="45700" anchor="ctr" anchorCtr="0">
              <a:spAutoFit/>
            </a:bodyPr>
            <a:lstStyle/>
            <a:p>
              <a:pPr marL="116205">
                <a:buClr>
                  <a:srgbClr val="555555"/>
                </a:buClr>
                <a:buSzPts val="1800"/>
              </a:pPr>
              <a:r>
                <a:rPr lang="en-US" sz="1800" b="1">
                  <a:solidFill>
                    <a:srgbClr val="000000"/>
                  </a:solidFill>
                  <a:effectLst/>
                  <a:latin typeface="+mn-lt"/>
                </a:rPr>
                <a:t>Capacity</a:t>
              </a:r>
              <a:r>
                <a:rPr lang="en-US" sz="1800">
                  <a:solidFill>
                    <a:srgbClr val="000000"/>
                  </a:solidFill>
                  <a:effectLst/>
                  <a:latin typeface="+mn-lt"/>
                </a:rPr>
                <a:t> indicates a borrower's capability to repay a loan, taking into account their income, existing debts, and assets as evaluated by the underwriter.</a:t>
              </a:r>
              <a:endParaRPr sz="1800" dirty="0">
                <a:solidFill>
                  <a:schemeClr val="tx1"/>
                </a:solidFill>
                <a:latin typeface="+mn-lt"/>
                <a:ea typeface="Cambria" panose="02040503050406030204"/>
                <a:cs typeface="Arial" panose="020B0604020202020204" pitchFamily="34" charset="0"/>
                <a:sym typeface="Cambria" panose="02040503050406030204"/>
              </a:endParaRPr>
            </a:p>
          </p:txBody>
        </p:sp>
        <p:sp>
          <p:nvSpPr>
            <p:cNvPr id="776" name="Google Shape;776;p28"/>
            <p:cNvSpPr/>
            <p:nvPr/>
          </p:nvSpPr>
          <p:spPr>
            <a:xfrm>
              <a:off x="1847528" y="4909612"/>
              <a:ext cx="8568952" cy="646290"/>
            </a:xfrm>
            <a:prstGeom prst="rect">
              <a:avLst/>
            </a:prstGeom>
            <a:grpFill/>
            <a:ln>
              <a:noFill/>
            </a:ln>
          </p:spPr>
          <p:txBody>
            <a:bodyPr spcFirstLastPara="1" wrap="square" lIns="91425" tIns="45700" rIns="91425" bIns="45700" anchor="ctr" anchorCtr="0">
              <a:spAutoFit/>
            </a:bodyPr>
            <a:lstStyle/>
            <a:p>
              <a:pPr marL="116205">
                <a:buClr>
                  <a:srgbClr val="676767"/>
                </a:buClr>
                <a:buSzPts val="1800"/>
              </a:pPr>
              <a:r>
                <a:rPr lang="en-US" sz="1800" b="1" dirty="0">
                  <a:solidFill>
                    <a:schemeClr val="tx1"/>
                  </a:solidFill>
                  <a:latin typeface="+mn-lt"/>
                  <a:ea typeface="Cambria" panose="02040503050406030204"/>
                  <a:cs typeface="Arial" panose="020B0604020202020204" pitchFamily="34" charset="0"/>
                  <a:sym typeface="Cambria" panose="02040503050406030204"/>
                </a:rPr>
                <a:t>Collateral</a:t>
              </a:r>
              <a:r>
                <a:rPr lang="en-US" sz="1800" dirty="0">
                  <a:solidFill>
                    <a:schemeClr val="tx1"/>
                  </a:solidFill>
                  <a:latin typeface="+mn-lt"/>
                  <a:ea typeface="Cambria" panose="02040503050406030204"/>
                  <a:cs typeface="Arial" panose="020B0604020202020204" pitchFamily="34" charset="0"/>
                  <a:sym typeface="Cambria" panose="02040503050406030204"/>
                </a:rPr>
                <a:t> is an asset or property that an individual or entity offers to a lender as security for a loan.</a:t>
              </a:r>
              <a:endParaRPr sz="1800" dirty="0">
                <a:solidFill>
                  <a:schemeClr val="tx1"/>
                </a:solidFill>
                <a:latin typeface="+mn-lt"/>
                <a:ea typeface="Cambria" panose="02040503050406030204"/>
                <a:cs typeface="Arial" panose="020B0604020202020204" pitchFamily="34" charset="0"/>
                <a:sym typeface="Cambria" panose="02040503050406030204"/>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latin typeface="+mn-lt"/>
              </a:rPr>
              <a:t>LIFECYCLE OF A LOAN - UNDERWRITING</a:t>
            </a:r>
            <a:endParaRPr lang="en-US" dirty="0">
              <a:latin typeface="+mn-lt"/>
            </a:endParaRPr>
          </a:p>
        </p:txBody>
      </p:sp>
      <p:sp>
        <p:nvSpPr>
          <p:cNvPr id="782" name="Google Shape;782;p29"/>
          <p:cNvSpPr/>
          <p:nvPr/>
        </p:nvSpPr>
        <p:spPr>
          <a:xfrm>
            <a:off x="1847528" y="908720"/>
            <a:ext cx="8568952" cy="5400600"/>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sz="1000" dirty="0">
              <a:latin typeface="+mn-lt"/>
              <a:ea typeface="Cambria" panose="02040503050406030204"/>
              <a:cs typeface="Arial" panose="020B0604020202020204" pitchFamily="34" charset="0"/>
              <a:sym typeface="Cambria" panose="02040503050406030204"/>
            </a:endParaRPr>
          </a:p>
        </p:txBody>
      </p:sp>
      <p:sp>
        <p:nvSpPr>
          <p:cNvPr id="783" name="Google Shape;783;p29"/>
          <p:cNvSpPr/>
          <p:nvPr/>
        </p:nvSpPr>
        <p:spPr>
          <a:xfrm>
            <a:off x="0" y="6362665"/>
            <a:ext cx="12192000" cy="419877"/>
          </a:xfrm>
          <a:prstGeom prst="rect">
            <a:avLst/>
          </a:prstGeom>
          <a:solidFill>
            <a:schemeClr val="bg2"/>
          </a:solidFill>
          <a:ln>
            <a:noFill/>
          </a:ln>
        </p:spPr>
        <p:txBody>
          <a:bodyPr spcFirstLastPara="1" wrap="square" lIns="91425" tIns="45700" rIns="91425" bIns="45700" anchor="ctr" anchorCtr="0">
            <a:noAutofit/>
          </a:bodyPr>
          <a:lstStyle/>
          <a:p>
            <a:pPr algn="ctr"/>
            <a:r>
              <a:rPr lang="en-US" sz="2000" b="1" dirty="0">
                <a:solidFill>
                  <a:srgbClr val="FFFFFF"/>
                </a:solidFill>
                <a:latin typeface="+mn-lt"/>
                <a:ea typeface="Cambria" panose="02040503050406030204"/>
                <a:cs typeface="Arial" panose="020B0604020202020204" pitchFamily="34" charset="0"/>
                <a:sym typeface="Cambria" panose="02040503050406030204"/>
              </a:rPr>
              <a:t>Loan Servicing</a:t>
            </a:r>
            <a:endParaRPr sz="1400" dirty="0">
              <a:latin typeface="+mn-lt"/>
            </a:endParaRPr>
          </a:p>
        </p:txBody>
      </p:sp>
      <p:graphicFrame>
        <p:nvGraphicFramePr>
          <p:cNvPr id="3" name="Table 2"/>
          <p:cNvGraphicFramePr>
            <a:graphicFrameLocks noGrp="1"/>
          </p:cNvGraphicFramePr>
          <p:nvPr/>
        </p:nvGraphicFramePr>
        <p:xfrm>
          <a:off x="1101545" y="1313543"/>
          <a:ext cx="9623152" cy="4658101"/>
        </p:xfrm>
        <a:graphic>
          <a:graphicData uri="http://schemas.openxmlformats.org/drawingml/2006/table">
            <a:tbl>
              <a:tblPr>
                <a:tableStyleId>{1E171933-4619-4E11-9A3F-F7608DF75F80}</a:tableStyleId>
              </a:tblPr>
              <a:tblGrid>
                <a:gridCol w="3044570"/>
                <a:gridCol w="6578582"/>
              </a:tblGrid>
              <a:tr h="312775">
                <a:tc>
                  <a:txBody>
                    <a:bodyPr/>
                    <a:lstStyle/>
                    <a:p>
                      <a:pPr marL="0" indent="0" algn="ctr">
                        <a:buFont typeface="Arial" panose="020B0604020202020204" pitchFamily="34" charset="0"/>
                        <a:buNone/>
                      </a:pPr>
                      <a:r>
                        <a:rPr lang="en-IN" sz="1400" b="1" dirty="0"/>
                        <a:t>Stage</a:t>
                      </a:r>
                      <a:endParaRPr lang="en-IN" sz="1400" dirty="0"/>
                    </a:p>
                  </a:txBody>
                  <a:tcPr marL="83680" marR="83680" marT="41840" marB="41840" anchor="ctr"/>
                </a:tc>
                <a:tc>
                  <a:txBody>
                    <a:bodyPr/>
                    <a:lstStyle/>
                    <a:p>
                      <a:pPr marL="0" indent="0" algn="ctr">
                        <a:buFont typeface="Arial" panose="020B0604020202020204" pitchFamily="34" charset="0"/>
                        <a:buNone/>
                      </a:pPr>
                      <a:r>
                        <a:rPr lang="en-IN" sz="1400" b="1" dirty="0"/>
                        <a:t>Description</a:t>
                      </a:r>
                      <a:endParaRPr lang="en-IN" sz="1400" dirty="0"/>
                    </a:p>
                  </a:txBody>
                  <a:tcPr marL="83680" marR="83680" marT="41840" marB="41840" anchor="ctr"/>
                </a:tc>
              </a:tr>
              <a:tr h="499302">
                <a:tc>
                  <a:txBody>
                    <a:bodyPr/>
                    <a:lstStyle/>
                    <a:p>
                      <a:pPr marL="0" indent="0">
                        <a:buFont typeface="Arial" panose="020B0604020202020204" pitchFamily="34" charset="0"/>
                        <a:buNone/>
                      </a:pPr>
                      <a:r>
                        <a:rPr lang="en-IN" sz="1400" b="1" dirty="0"/>
                        <a:t>Application Review</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Assess the completeness of the loan application and initial eligibility checks.</a:t>
                      </a:r>
                      <a:endParaRPr lang="en-US" sz="1400" dirty="0"/>
                    </a:p>
                  </a:txBody>
                  <a:tcPr marL="83680" marR="83680" marT="41840" marB="41840" anchor="ctr"/>
                </a:tc>
              </a:tr>
              <a:tr h="499302">
                <a:tc>
                  <a:txBody>
                    <a:bodyPr/>
                    <a:lstStyle/>
                    <a:p>
                      <a:pPr marL="0" indent="0">
                        <a:buFont typeface="Arial" panose="020B0604020202020204" pitchFamily="34" charset="0"/>
                        <a:buNone/>
                      </a:pPr>
                      <a:r>
                        <a:rPr lang="en-IN" sz="1400" b="1" dirty="0"/>
                        <a:t>Document Collection</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Gather financial statements, tax returns, legal documents, project details.</a:t>
                      </a:r>
                      <a:endParaRPr lang="en-US" sz="1400" dirty="0"/>
                    </a:p>
                  </a:txBody>
                  <a:tcPr marL="83680" marR="83680" marT="41840" marB="41840" anchor="ctr"/>
                </a:tc>
              </a:tr>
              <a:tr h="499302">
                <a:tc>
                  <a:txBody>
                    <a:bodyPr/>
                    <a:lstStyle/>
                    <a:p>
                      <a:pPr marL="0" indent="0">
                        <a:buFont typeface="Arial" panose="020B0604020202020204" pitchFamily="34" charset="0"/>
                        <a:buNone/>
                      </a:pPr>
                      <a:r>
                        <a:rPr lang="en-IN" sz="1400" b="1" dirty="0"/>
                        <a:t>Financial Analysis</a:t>
                      </a:r>
                      <a:endParaRPr lang="en-IN" sz="1400" dirty="0"/>
                    </a:p>
                  </a:txBody>
                  <a:tcPr marL="83680" marR="83680" marT="41840" marB="41840" anchor="ctr"/>
                </a:tc>
                <a:tc>
                  <a:txBody>
                    <a:bodyPr/>
                    <a:lstStyle/>
                    <a:p>
                      <a:pPr marL="0" indent="0">
                        <a:buFont typeface="Arial" panose="020B0604020202020204" pitchFamily="34" charset="0"/>
                        <a:buNone/>
                      </a:pPr>
                      <a:r>
                        <a:rPr lang="en-US" sz="1400"/>
                        <a:t>Evaluate borrower’s income, cash flows, balance sheet, and financial ratios.</a:t>
                      </a:r>
                      <a:endParaRPr lang="en-US" sz="1400"/>
                    </a:p>
                  </a:txBody>
                  <a:tcPr marL="83680" marR="83680" marT="41840" marB="41840" anchor="ctr"/>
                </a:tc>
              </a:tr>
              <a:tr h="499302">
                <a:tc>
                  <a:txBody>
                    <a:bodyPr/>
                    <a:lstStyle/>
                    <a:p>
                      <a:pPr marL="0" indent="0">
                        <a:buFont typeface="Arial" panose="020B0604020202020204" pitchFamily="34" charset="0"/>
                        <a:buNone/>
                      </a:pPr>
                      <a:r>
                        <a:rPr lang="en-IN" sz="1400" b="1" dirty="0"/>
                        <a:t>Collateral Evaluation</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Assess the value, ownership, and lien status of proposed collateral.</a:t>
                      </a:r>
                      <a:endParaRPr lang="en-US" sz="1400" dirty="0"/>
                    </a:p>
                  </a:txBody>
                  <a:tcPr marL="83680" marR="83680" marT="41840" marB="41840" anchor="ctr"/>
                </a:tc>
              </a:tr>
              <a:tr h="499302">
                <a:tc>
                  <a:txBody>
                    <a:bodyPr/>
                    <a:lstStyle/>
                    <a:p>
                      <a:pPr marL="0" indent="0">
                        <a:buFont typeface="Arial" panose="020B0604020202020204" pitchFamily="34" charset="0"/>
                        <a:buNone/>
                      </a:pPr>
                      <a:r>
                        <a:rPr lang="en-IN" sz="1400" b="1" dirty="0"/>
                        <a:t>Risk Assessment</a:t>
                      </a:r>
                      <a:endParaRPr lang="en-IN" sz="1400" dirty="0"/>
                    </a:p>
                  </a:txBody>
                  <a:tcPr marL="83680" marR="83680" marT="41840" marB="41840" anchor="ctr"/>
                </a:tc>
                <a:tc>
                  <a:txBody>
                    <a:bodyPr/>
                    <a:lstStyle/>
                    <a:p>
                      <a:pPr marL="0" indent="0">
                        <a:buFont typeface="Arial" panose="020B0604020202020204" pitchFamily="34" charset="0"/>
                        <a:buNone/>
                      </a:pPr>
                      <a:r>
                        <a:rPr lang="en-US" sz="1400"/>
                        <a:t>Analyze industry risk, borrower history, credit score, and market conditions.</a:t>
                      </a:r>
                      <a:endParaRPr lang="en-US" sz="1400"/>
                    </a:p>
                  </a:txBody>
                  <a:tcPr marL="83680" marR="83680" marT="41840" marB="41840" anchor="ctr"/>
                </a:tc>
              </a:tr>
              <a:tr h="312775">
                <a:tc>
                  <a:txBody>
                    <a:bodyPr/>
                    <a:lstStyle/>
                    <a:p>
                      <a:pPr marL="0" indent="0">
                        <a:buFont typeface="Arial" panose="020B0604020202020204" pitchFamily="34" charset="0"/>
                        <a:buNone/>
                      </a:pPr>
                      <a:r>
                        <a:rPr lang="en-IN" sz="1400" b="1" dirty="0"/>
                        <a:t>Credit Scoring &amp; Rating</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Assign a risk rating or credit score to the borrower.</a:t>
                      </a:r>
                      <a:endParaRPr lang="en-US" sz="1400" dirty="0"/>
                    </a:p>
                  </a:txBody>
                  <a:tcPr marL="83680" marR="83680" marT="41840" marB="41840" anchor="ctr"/>
                </a:tc>
              </a:tr>
              <a:tr h="537437">
                <a:tc>
                  <a:txBody>
                    <a:bodyPr/>
                    <a:lstStyle/>
                    <a:p>
                      <a:pPr marL="0" indent="0">
                        <a:buFont typeface="Arial" panose="020B0604020202020204" pitchFamily="34" charset="0"/>
                        <a:buNone/>
                      </a:pPr>
                      <a:r>
                        <a:rPr lang="en-IN" sz="1400" b="1" dirty="0"/>
                        <a:t>Terms Structuring</a:t>
                      </a:r>
                      <a:endParaRPr lang="en-IN" sz="1400" dirty="0"/>
                    </a:p>
                  </a:txBody>
                  <a:tcPr marL="83680" marR="83680" marT="41840" marB="41840" anchor="ctr"/>
                </a:tc>
                <a:tc>
                  <a:txBody>
                    <a:bodyPr/>
                    <a:lstStyle/>
                    <a:p>
                      <a:pPr marL="0" indent="0">
                        <a:buFont typeface="Arial" panose="020B0604020202020204" pitchFamily="34" charset="0"/>
                        <a:buNone/>
                      </a:pPr>
                      <a:r>
                        <a:rPr lang="en-US" sz="1400"/>
                        <a:t>Decide on loan amount, interest rate, tenure, repayment schedule, and covenants.</a:t>
                      </a:r>
                      <a:endParaRPr lang="en-US" sz="1400"/>
                    </a:p>
                  </a:txBody>
                  <a:tcPr marL="83680" marR="83680" marT="41840" marB="41840" anchor="ctr"/>
                </a:tc>
              </a:tr>
              <a:tr h="499302">
                <a:tc>
                  <a:txBody>
                    <a:bodyPr/>
                    <a:lstStyle/>
                    <a:p>
                      <a:pPr marL="0" indent="0">
                        <a:buFont typeface="Arial" panose="020B0604020202020204" pitchFamily="34" charset="0"/>
                        <a:buNone/>
                      </a:pPr>
                      <a:r>
                        <a:rPr lang="en-IN" sz="1400" b="1" dirty="0"/>
                        <a:t>Credit Approval</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Present findings to the credit committee or approver for final sanction.</a:t>
                      </a:r>
                      <a:endParaRPr lang="en-US" sz="1400" dirty="0"/>
                    </a:p>
                  </a:txBody>
                  <a:tcPr marL="83680" marR="83680" marT="41840" marB="41840" anchor="ctr"/>
                </a:tc>
              </a:tr>
              <a:tr h="499302">
                <a:tc>
                  <a:txBody>
                    <a:bodyPr/>
                    <a:lstStyle/>
                    <a:p>
                      <a:pPr marL="0" indent="0">
                        <a:buFont typeface="Arial" panose="020B0604020202020204" pitchFamily="34" charset="0"/>
                        <a:buNone/>
                      </a:pPr>
                      <a:r>
                        <a:rPr lang="en-IN" sz="1400" b="1" dirty="0"/>
                        <a:t>Communication of Decision</a:t>
                      </a:r>
                      <a:endParaRPr lang="en-IN" sz="1400" dirty="0"/>
                    </a:p>
                  </a:txBody>
                  <a:tcPr marL="83680" marR="83680" marT="41840" marB="41840" anchor="ctr"/>
                </a:tc>
                <a:tc>
                  <a:txBody>
                    <a:bodyPr/>
                    <a:lstStyle/>
                    <a:p>
                      <a:pPr marL="0" indent="0">
                        <a:buFont typeface="Arial" panose="020B0604020202020204" pitchFamily="34" charset="0"/>
                        <a:buNone/>
                      </a:pPr>
                      <a:r>
                        <a:rPr lang="en-US" sz="1400" dirty="0"/>
                        <a:t>Inform the borrower of the approval, rejection, or need for modifications.</a:t>
                      </a:r>
                      <a:endParaRPr lang="en-US" sz="1400" dirty="0"/>
                    </a:p>
                  </a:txBody>
                  <a:tcPr marL="83680" marR="83680" marT="41840" marB="41840" anchor="ct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7" name="Google Shape;797;p30"/>
          <p:cNvSpPr/>
          <p:nvPr/>
        </p:nvSpPr>
        <p:spPr>
          <a:xfrm>
            <a:off x="2931885" y="1977976"/>
            <a:ext cx="5248405" cy="4245204"/>
          </a:xfrm>
          <a:prstGeom prst="roundRect">
            <a:avLst>
              <a:gd name="adj" fmla="val 0"/>
            </a:avLst>
          </a:prstGeom>
          <a:solidFill>
            <a:schemeClr val="bg2">
              <a:lumMod val="20000"/>
              <a:lumOff val="80000"/>
              <a:alpha val="89803"/>
            </a:schemeClr>
          </a:solidFill>
          <a:ln>
            <a:noFill/>
          </a:ln>
        </p:spPr>
        <p:txBody>
          <a:bodyPr spcFirstLastPara="1" wrap="square" lIns="296775" tIns="172950" rIns="296775" bIns="172950" anchor="ctr" anchorCtr="0">
            <a:noAutofit/>
          </a:bodyPr>
          <a:lstStyle/>
          <a:p>
            <a:endParaRPr sz="1800" dirty="0">
              <a:latin typeface="+mn-lt"/>
              <a:ea typeface="Calibri" panose="020F0502020204030204"/>
              <a:cs typeface="Calibri" panose="020F0502020204030204"/>
              <a:sym typeface="Calibri" panose="020F0502020204030204"/>
            </a:endParaRPr>
          </a:p>
        </p:txBody>
      </p:sp>
      <p:sp>
        <p:nvSpPr>
          <p:cNvPr id="798" name="Google Shape;798;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a:latin typeface="+mn-lt"/>
              </a:rPr>
              <a:t>LIFECYCLE OF A COMMERCIAL LOAN - </a:t>
            </a:r>
            <a:r>
              <a:rPr lang="en-US" sz="2400" b="1" dirty="0">
                <a:latin typeface="+mn-lt"/>
              </a:rPr>
              <a:t>LOAN SERVICING</a:t>
            </a:r>
            <a:endParaRPr lang="en-US" dirty="0">
              <a:latin typeface="+mn-lt"/>
            </a:endParaRPr>
          </a:p>
        </p:txBody>
      </p:sp>
      <p:sp>
        <p:nvSpPr>
          <p:cNvPr id="801" name="Google Shape;801;p30"/>
          <p:cNvSpPr/>
          <p:nvPr/>
        </p:nvSpPr>
        <p:spPr>
          <a:xfrm>
            <a:off x="0" y="1372367"/>
            <a:ext cx="12192000" cy="369291"/>
          </a:xfrm>
          <a:prstGeom prst="rect">
            <a:avLst/>
          </a:prstGeom>
          <a:solidFill>
            <a:schemeClr val="bg2"/>
          </a:solidFill>
          <a:ln>
            <a:noFill/>
          </a:ln>
        </p:spPr>
        <p:txBody>
          <a:bodyPr spcFirstLastPara="1" wrap="square" lIns="91425" tIns="45700" rIns="91425" bIns="45700" anchor="ctr" anchorCtr="0">
            <a:spAutoFit/>
          </a:bodyPr>
          <a:lstStyle/>
          <a:p>
            <a:pPr algn="ctr"/>
            <a:r>
              <a:rPr lang="en-US" sz="1800" b="1">
                <a:solidFill>
                  <a:srgbClr val="FFFFFF"/>
                </a:solidFill>
                <a:effectLst/>
                <a:latin typeface="+mn-lt"/>
              </a:rPr>
              <a:t>Loan servicing involves managing a loan from the time the funds are disbursed until it is fully repaid.</a:t>
            </a:r>
            <a:endParaRPr sz="1400" dirty="0">
              <a:latin typeface="+mn-lt"/>
            </a:endParaRPr>
          </a:p>
        </p:txBody>
      </p:sp>
      <p:sp>
        <p:nvSpPr>
          <p:cNvPr id="2" name="Google Shape;800;p30"/>
          <p:cNvSpPr/>
          <p:nvPr/>
        </p:nvSpPr>
        <p:spPr>
          <a:xfrm>
            <a:off x="3265885" y="2315313"/>
            <a:ext cx="4580404" cy="3323946"/>
          </a:xfrm>
          <a:prstGeom prst="rect">
            <a:avLst/>
          </a:prstGeom>
          <a:noFill/>
          <a:ln>
            <a:noFill/>
          </a:ln>
        </p:spPr>
        <p:txBody>
          <a:bodyPr spcFirstLastPara="1" wrap="square" lIns="91425" tIns="45700" rIns="91425" bIns="45700" anchor="ctr" anchorCtr="0">
            <a:spAutoFit/>
          </a:bodyPr>
          <a:lstStyle/>
          <a:p>
            <a:pPr marL="402590" indent="-347345" algn="l" rtl="0">
              <a:spcBef>
                <a:spcPts val="1200"/>
              </a:spcBef>
              <a:buFont typeface="Arial" panose="020B0604020202020204" pitchFamily="34" charset="0"/>
              <a:buChar char="•"/>
            </a:pPr>
            <a:r>
              <a:rPr lang="en-US" sz="1800" dirty="0">
                <a:solidFill>
                  <a:srgbClr val="000000"/>
                </a:solidFill>
                <a:effectLst/>
                <a:latin typeface="+mn-lt"/>
              </a:rPr>
              <a:t>Loan servicing begins shortly after the loan approval process is completed.</a:t>
            </a:r>
            <a:endParaRPr lang="en-US" sz="1800" dirty="0">
              <a:solidFill>
                <a:srgbClr val="000000"/>
              </a:solidFill>
              <a:effectLst/>
              <a:latin typeface="+mn-lt"/>
            </a:endParaRPr>
          </a:p>
          <a:p>
            <a:pPr marL="402590" indent="-347345" algn="l" rtl="0">
              <a:spcBef>
                <a:spcPts val="1200"/>
              </a:spcBef>
              <a:buFont typeface="Arial" panose="020B0604020202020204" pitchFamily="34" charset="0"/>
              <a:buChar char="•"/>
            </a:pPr>
            <a:r>
              <a:rPr lang="en-US" sz="1800" dirty="0">
                <a:solidFill>
                  <a:srgbClr val="000000"/>
                </a:solidFill>
                <a:effectLst/>
                <a:latin typeface="+mn-lt"/>
              </a:rPr>
              <a:t>Approval signifies the covenants and disbursal timeline for the loan.</a:t>
            </a:r>
            <a:endParaRPr lang="en-US" sz="1800" dirty="0">
              <a:solidFill>
                <a:srgbClr val="000000"/>
              </a:solidFill>
              <a:effectLst/>
              <a:latin typeface="+mn-lt"/>
            </a:endParaRPr>
          </a:p>
          <a:p>
            <a:pPr marL="402590" indent="-347345" algn="l" rtl="0">
              <a:spcBef>
                <a:spcPts val="1200"/>
              </a:spcBef>
              <a:buFont typeface="Arial" panose="020B0604020202020204" pitchFamily="34" charset="0"/>
              <a:buChar char="•"/>
            </a:pPr>
            <a:r>
              <a:rPr lang="en-US" sz="1800" dirty="0">
                <a:solidFill>
                  <a:srgbClr val="000000"/>
                </a:solidFill>
                <a:effectLst/>
                <a:latin typeface="+mn-lt"/>
              </a:rPr>
              <a:t>Once the loan is closed and booked, information from the Loan Origination system is transferred to the Lending Bank’s Loan Servicing system to oversee servicing activities throughout the loan's duration.</a:t>
            </a:r>
            <a:endParaRPr sz="18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LIFECYCLE OF A COMMERCIAL LOAN - LOAN SERVICING</a:t>
            </a:r>
            <a:endParaRPr lang="en-IN" dirty="0">
              <a:latin typeface="+mn-lt"/>
            </a:endParaRPr>
          </a:p>
        </p:txBody>
      </p:sp>
      <p:graphicFrame>
        <p:nvGraphicFramePr>
          <p:cNvPr id="3" name="Table 2"/>
          <p:cNvGraphicFramePr>
            <a:graphicFrameLocks noGrp="1"/>
          </p:cNvGraphicFramePr>
          <p:nvPr>
            <p:custDataLst>
              <p:tags r:id="rId1"/>
            </p:custDataLst>
          </p:nvPr>
        </p:nvGraphicFramePr>
        <p:xfrm>
          <a:off x="553085" y="1314450"/>
          <a:ext cx="10617835" cy="4926965"/>
        </p:xfrm>
        <a:graphic>
          <a:graphicData uri="http://schemas.openxmlformats.org/drawingml/2006/table">
            <a:tbl>
              <a:tblPr>
                <a:tableStyleId>{ED083AE6-46FA-4A59-8FB0-9F97EB10719F}</a:tableStyleId>
              </a:tblPr>
              <a:tblGrid>
                <a:gridCol w="3383915"/>
                <a:gridCol w="7233920"/>
              </a:tblGrid>
              <a:tr h="373380">
                <a:tc>
                  <a:txBody>
                    <a:bodyPr/>
                    <a:lstStyle/>
                    <a:p>
                      <a:pPr algn="ctr"/>
                      <a:r>
                        <a:rPr lang="en-IN" sz="1100" b="1" dirty="0">
                          <a:solidFill>
                            <a:schemeClr val="bg1"/>
                          </a:solidFill>
                        </a:rPr>
                        <a:t>Step</a:t>
                      </a:r>
                      <a:endParaRPr lang="en-IN" sz="1100" b="1" dirty="0">
                        <a:solidFill>
                          <a:schemeClr val="bg1"/>
                        </a:solidFill>
                      </a:endParaRPr>
                    </a:p>
                  </a:txBody>
                  <a:tcPr marL="66264" marR="66264" marT="33132" marB="33132" anchor="ctr">
                    <a:solidFill>
                      <a:schemeClr val="accent6"/>
                    </a:solidFill>
                  </a:tcPr>
                </a:tc>
                <a:tc>
                  <a:txBody>
                    <a:bodyPr/>
                    <a:lstStyle/>
                    <a:p>
                      <a:pPr algn="ctr"/>
                      <a:r>
                        <a:rPr lang="en-IN" sz="1100" b="1" dirty="0">
                          <a:solidFill>
                            <a:schemeClr val="bg1"/>
                          </a:solidFill>
                        </a:rPr>
                        <a:t>Description</a:t>
                      </a:r>
                      <a:endParaRPr lang="en-IN" sz="1100" b="1" dirty="0">
                        <a:solidFill>
                          <a:schemeClr val="bg1"/>
                        </a:solidFill>
                      </a:endParaRPr>
                    </a:p>
                  </a:txBody>
                  <a:tcPr marL="66264" marR="66264" marT="33132" marB="33132" anchor="ctr">
                    <a:solidFill>
                      <a:schemeClr val="accent6"/>
                    </a:solidFill>
                  </a:tcPr>
                </a:tc>
              </a:tr>
              <a:tr h="593090">
                <a:tc>
                  <a:txBody>
                    <a:bodyPr/>
                    <a:lstStyle/>
                    <a:p>
                      <a:r>
                        <a:rPr lang="en-IN" sz="1300" b="1" dirty="0"/>
                        <a:t>Utilisation/Drawdown Management / Disbursement</a:t>
                      </a:r>
                      <a:endParaRPr lang="en-IN" sz="1300" b="1" dirty="0"/>
                    </a:p>
                  </a:txBody>
                  <a:tcPr marL="66264" marR="66264" marT="33132" marB="33132" anchor="ctr">
                    <a:solidFill>
                      <a:schemeClr val="bg1"/>
                    </a:solidFill>
                  </a:tcPr>
                </a:tc>
                <a:tc>
                  <a:txBody>
                    <a:bodyPr/>
                    <a:lstStyle/>
                    <a:p>
                      <a:r>
                        <a:rPr lang="en-US" sz="1300" dirty="0"/>
                        <a:t>Release of approved loan amount based on </a:t>
                      </a:r>
                      <a:r>
                        <a:rPr lang="en-US" sz="1300" dirty="0" err="1"/>
                        <a:t>utilisation</a:t>
                      </a:r>
                      <a:r>
                        <a:rPr lang="en-US" sz="1300" dirty="0"/>
                        <a:t> requests and disbursement schedule.</a:t>
                      </a:r>
                      <a:endParaRPr lang="en-US" sz="1300" dirty="0"/>
                    </a:p>
                  </a:txBody>
                  <a:tcPr marL="66264" marR="66264" marT="33132" marB="33132" anchor="ctr">
                    <a:solidFill>
                      <a:schemeClr val="bg1"/>
                    </a:solidFill>
                  </a:tcPr>
                </a:tc>
              </a:tr>
              <a:tr h="396875">
                <a:tc>
                  <a:txBody>
                    <a:bodyPr/>
                    <a:lstStyle/>
                    <a:p>
                      <a:r>
                        <a:rPr lang="en-IN" sz="1300" b="1" dirty="0"/>
                        <a:t>Billing/Invoicing</a:t>
                      </a:r>
                      <a:endParaRPr lang="en-IN" sz="1300" b="1" dirty="0"/>
                    </a:p>
                  </a:txBody>
                  <a:tcPr marL="66264" marR="66264" marT="33132" marB="33132" anchor="ctr">
                    <a:solidFill>
                      <a:schemeClr val="bg1"/>
                    </a:solidFill>
                  </a:tcPr>
                </a:tc>
                <a:tc>
                  <a:txBody>
                    <a:bodyPr/>
                    <a:lstStyle/>
                    <a:p>
                      <a:r>
                        <a:rPr lang="en-US" sz="1300"/>
                        <a:t>Generation of periodic invoices for interest, fees, and charges as per loan agreement.</a:t>
                      </a:r>
                      <a:endParaRPr lang="en-US" sz="1300"/>
                    </a:p>
                  </a:txBody>
                  <a:tcPr marL="66264" marR="66264" marT="33132" marB="33132" anchor="ctr">
                    <a:solidFill>
                      <a:schemeClr val="bg1"/>
                    </a:solidFill>
                  </a:tcPr>
                </a:tc>
              </a:tr>
              <a:tr h="395605">
                <a:tc>
                  <a:txBody>
                    <a:bodyPr/>
                    <a:lstStyle/>
                    <a:p>
                      <a:r>
                        <a:rPr lang="en-IN" sz="1300" b="1"/>
                        <a:t>Payments Management</a:t>
                      </a:r>
                      <a:endParaRPr lang="en-IN" sz="1300" b="1"/>
                    </a:p>
                  </a:txBody>
                  <a:tcPr marL="66264" marR="66264" marT="33132" marB="33132" anchor="ctr">
                    <a:solidFill>
                      <a:schemeClr val="bg1"/>
                    </a:solidFill>
                  </a:tcPr>
                </a:tc>
                <a:tc>
                  <a:txBody>
                    <a:bodyPr/>
                    <a:lstStyle/>
                    <a:p>
                      <a:r>
                        <a:rPr lang="en-US" sz="1300" dirty="0"/>
                        <a:t>Recording and monitoring of payments made by the borrower towards loan obligations.</a:t>
                      </a:r>
                      <a:endParaRPr lang="en-US" sz="1300" dirty="0"/>
                    </a:p>
                  </a:txBody>
                  <a:tcPr marL="66264" marR="66264" marT="33132" marB="33132" anchor="ctr">
                    <a:solidFill>
                      <a:schemeClr val="bg1"/>
                    </a:solidFill>
                  </a:tcPr>
                </a:tc>
              </a:tr>
              <a:tr h="396240">
                <a:tc>
                  <a:txBody>
                    <a:bodyPr/>
                    <a:lstStyle/>
                    <a:p>
                      <a:r>
                        <a:rPr lang="en-IN" sz="1300" b="1"/>
                        <a:t>Contract Management</a:t>
                      </a:r>
                      <a:endParaRPr lang="en-IN" sz="1300" b="1"/>
                    </a:p>
                  </a:txBody>
                  <a:tcPr marL="66264" marR="66264" marT="33132" marB="33132" anchor="ctr">
                    <a:solidFill>
                      <a:schemeClr val="bg1"/>
                    </a:solidFill>
                  </a:tcPr>
                </a:tc>
                <a:tc>
                  <a:txBody>
                    <a:bodyPr/>
                    <a:lstStyle/>
                    <a:p>
                      <a:r>
                        <a:rPr lang="en-US" sz="1300" dirty="0"/>
                        <a:t>Administration and upkeep of loan contracts, terms, renewals, and amendments.</a:t>
                      </a:r>
                      <a:endParaRPr lang="en-US" sz="1300" dirty="0"/>
                    </a:p>
                  </a:txBody>
                  <a:tcPr marL="66264" marR="66264" marT="33132" marB="33132" anchor="ctr">
                    <a:solidFill>
                      <a:schemeClr val="bg1"/>
                    </a:solidFill>
                  </a:tcPr>
                </a:tc>
              </a:tr>
              <a:tr h="396240">
                <a:tc>
                  <a:txBody>
                    <a:bodyPr/>
                    <a:lstStyle/>
                    <a:p>
                      <a:r>
                        <a:rPr lang="en-IN" sz="1300" b="1"/>
                        <a:t>Collateral Management &amp; Insurance</a:t>
                      </a:r>
                      <a:endParaRPr lang="en-IN" sz="1300" b="1"/>
                    </a:p>
                  </a:txBody>
                  <a:tcPr marL="66264" marR="66264" marT="33132" marB="33132" anchor="ctr">
                    <a:solidFill>
                      <a:schemeClr val="bg1"/>
                    </a:solidFill>
                  </a:tcPr>
                </a:tc>
                <a:tc>
                  <a:txBody>
                    <a:bodyPr/>
                    <a:lstStyle/>
                    <a:p>
                      <a:r>
                        <a:rPr lang="en-US" sz="1300"/>
                        <a:t>Regular monitoring and valuation of pledged collateral and ensuring valid insurance coverage.</a:t>
                      </a:r>
                      <a:endParaRPr lang="en-US" sz="1300"/>
                    </a:p>
                  </a:txBody>
                  <a:tcPr marL="66264" marR="66264" marT="33132" marB="33132" anchor="ctr">
                    <a:solidFill>
                      <a:schemeClr val="bg1"/>
                    </a:solidFill>
                  </a:tcPr>
                </a:tc>
              </a:tr>
              <a:tr h="396240">
                <a:tc>
                  <a:txBody>
                    <a:bodyPr/>
                    <a:lstStyle/>
                    <a:p>
                      <a:r>
                        <a:rPr lang="en-IN" sz="1300" b="1" dirty="0"/>
                        <a:t>Delinquency Management</a:t>
                      </a:r>
                      <a:endParaRPr lang="en-IN" sz="1300" b="1" dirty="0"/>
                    </a:p>
                  </a:txBody>
                  <a:tcPr marL="66264" marR="66264" marT="33132" marB="33132" anchor="ctr">
                    <a:solidFill>
                      <a:schemeClr val="bg1"/>
                    </a:solidFill>
                  </a:tcPr>
                </a:tc>
                <a:tc>
                  <a:txBody>
                    <a:bodyPr/>
                    <a:lstStyle/>
                    <a:p>
                      <a:r>
                        <a:rPr lang="en-US" sz="1300" dirty="0"/>
                        <a:t>Tracking overdue payments, sending reminders, and initiating recovery actions if necessary.</a:t>
                      </a:r>
                      <a:endParaRPr lang="en-US" sz="1300" dirty="0"/>
                    </a:p>
                  </a:txBody>
                  <a:tcPr marL="66264" marR="66264" marT="33132" marB="33132" anchor="ctr">
                    <a:solidFill>
                      <a:schemeClr val="bg1"/>
                    </a:solidFill>
                  </a:tcPr>
                </a:tc>
              </a:tr>
              <a:tr h="395605">
                <a:tc>
                  <a:txBody>
                    <a:bodyPr/>
                    <a:lstStyle/>
                    <a:p>
                      <a:r>
                        <a:rPr lang="en-IN" sz="1300" b="1"/>
                        <a:t>Document Management</a:t>
                      </a:r>
                      <a:endParaRPr lang="en-IN" sz="1300" b="1"/>
                    </a:p>
                  </a:txBody>
                  <a:tcPr marL="66264" marR="66264" marT="33132" marB="33132" anchor="ctr">
                    <a:solidFill>
                      <a:schemeClr val="bg1"/>
                    </a:solidFill>
                  </a:tcPr>
                </a:tc>
                <a:tc>
                  <a:txBody>
                    <a:bodyPr/>
                    <a:lstStyle/>
                    <a:p>
                      <a:r>
                        <a:rPr lang="en-US" sz="1300"/>
                        <a:t>Maintaining all related documents such as agreements, guarantees, communication, etc.</a:t>
                      </a:r>
                      <a:endParaRPr lang="en-US" sz="1300"/>
                    </a:p>
                  </a:txBody>
                  <a:tcPr marL="66264" marR="66264" marT="33132" marB="33132" anchor="ctr">
                    <a:solidFill>
                      <a:schemeClr val="bg1"/>
                    </a:solidFill>
                  </a:tcPr>
                </a:tc>
              </a:tr>
              <a:tr h="395605">
                <a:tc>
                  <a:txBody>
                    <a:bodyPr/>
                    <a:lstStyle/>
                    <a:p>
                      <a:r>
                        <a:rPr lang="en-IN" sz="1300" b="1"/>
                        <a:t>Controls</a:t>
                      </a:r>
                      <a:endParaRPr lang="en-IN" sz="1300" b="1"/>
                    </a:p>
                  </a:txBody>
                  <a:tcPr marL="66264" marR="66264" marT="33132" marB="33132" anchor="ctr">
                    <a:solidFill>
                      <a:schemeClr val="bg1"/>
                    </a:solidFill>
                  </a:tcPr>
                </a:tc>
                <a:tc>
                  <a:txBody>
                    <a:bodyPr/>
                    <a:lstStyle/>
                    <a:p>
                      <a:r>
                        <a:rPr lang="en-US" sz="1300"/>
                        <a:t>Internal checks and compliance reviews to ensure loan servicing is within policy.</a:t>
                      </a:r>
                      <a:endParaRPr lang="en-US" sz="1300"/>
                    </a:p>
                  </a:txBody>
                  <a:tcPr marL="66264" marR="66264" marT="33132" marB="33132" anchor="ctr">
                    <a:solidFill>
                      <a:schemeClr val="bg1"/>
                    </a:solidFill>
                  </a:tcPr>
                </a:tc>
              </a:tr>
              <a:tr h="396240">
                <a:tc>
                  <a:txBody>
                    <a:bodyPr/>
                    <a:lstStyle/>
                    <a:p>
                      <a:r>
                        <a:rPr lang="en-IN" sz="1300" b="1"/>
                        <a:t>Servicing Events</a:t>
                      </a:r>
                      <a:endParaRPr lang="en-IN" sz="1300" b="1"/>
                    </a:p>
                  </a:txBody>
                  <a:tcPr marL="66264" marR="66264" marT="33132" marB="33132" anchor="ctr">
                    <a:solidFill>
                      <a:schemeClr val="bg1"/>
                    </a:solidFill>
                  </a:tcPr>
                </a:tc>
                <a:tc>
                  <a:txBody>
                    <a:bodyPr/>
                    <a:lstStyle/>
                    <a:p>
                      <a:r>
                        <a:rPr lang="en-US" sz="1300" dirty="0"/>
                        <a:t>Handling of life-cycle events like rate changes, restructures, top-ups, etc.</a:t>
                      </a:r>
                      <a:endParaRPr lang="en-US" sz="1300" dirty="0"/>
                    </a:p>
                  </a:txBody>
                  <a:tcPr marL="66264" marR="66264" marT="33132" marB="33132" anchor="ctr">
                    <a:solidFill>
                      <a:schemeClr val="bg1"/>
                    </a:solidFill>
                  </a:tcPr>
                </a:tc>
              </a:tr>
              <a:tr h="395605">
                <a:tc>
                  <a:txBody>
                    <a:bodyPr/>
                    <a:lstStyle/>
                    <a:p>
                      <a:r>
                        <a:rPr lang="en-IN" sz="1300" b="1"/>
                        <a:t>Contract End Management</a:t>
                      </a:r>
                      <a:endParaRPr lang="en-IN" sz="1300" b="1"/>
                    </a:p>
                  </a:txBody>
                  <a:tcPr marL="66264" marR="66264" marT="33132" marB="33132" anchor="ctr">
                    <a:solidFill>
                      <a:schemeClr val="bg1"/>
                    </a:solidFill>
                  </a:tcPr>
                </a:tc>
                <a:tc>
                  <a:txBody>
                    <a:bodyPr/>
                    <a:lstStyle/>
                    <a:p>
                      <a:r>
                        <a:rPr lang="en-US" sz="1300" dirty="0"/>
                        <a:t>Managing closure of loan contracts—repayment, settlement, release of security, etc.</a:t>
                      </a:r>
                      <a:endParaRPr lang="en-US" sz="1300" dirty="0"/>
                    </a:p>
                  </a:txBody>
                  <a:tcPr marL="66264" marR="66264" marT="33132" marB="33132" anchor="ctr">
                    <a:solidFill>
                      <a:schemeClr val="bg1"/>
                    </a:solidFill>
                  </a:tcPr>
                </a:tc>
              </a:tr>
              <a:tr h="396240">
                <a:tc>
                  <a:txBody>
                    <a:bodyPr/>
                    <a:lstStyle/>
                    <a:p>
                      <a:r>
                        <a:rPr lang="en-IN" sz="1300" b="1"/>
                        <a:t>Customer Interaction</a:t>
                      </a:r>
                      <a:endParaRPr lang="en-IN" sz="1300" b="1"/>
                    </a:p>
                  </a:txBody>
                  <a:tcPr marL="66264" marR="66264" marT="33132" marB="33132" anchor="ctr">
                    <a:solidFill>
                      <a:schemeClr val="bg1"/>
                    </a:solidFill>
                  </a:tcPr>
                </a:tc>
                <a:tc>
                  <a:txBody>
                    <a:bodyPr/>
                    <a:lstStyle/>
                    <a:p>
                      <a:r>
                        <a:rPr lang="en-US" sz="1300" dirty="0"/>
                        <a:t>Ongoing support and communication with the borrower for servicing-related matters.</a:t>
                      </a:r>
                      <a:endParaRPr lang="en-US" sz="1300" dirty="0"/>
                    </a:p>
                  </a:txBody>
                  <a:tcPr marL="66264" marR="66264" marT="33132" marB="33132" anchor="ctr">
                    <a:solidFill>
                      <a:schemeClr val="bg1"/>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pic>
        <p:nvPicPr>
          <p:cNvPr id="825" name="Google Shape;825;p33"/>
          <p:cNvPicPr preferRelativeResize="0"/>
          <p:nvPr/>
        </p:nvPicPr>
        <p:blipFill rotWithShape="1">
          <a:blip r:embed="rId1"/>
          <a:srcRect/>
          <a:stretch>
            <a:fillRect/>
          </a:stretch>
        </p:blipFill>
        <p:spPr>
          <a:xfrm>
            <a:off x="6447655" y="1136048"/>
            <a:ext cx="5744345" cy="5446847"/>
          </a:xfrm>
          <a:prstGeom prst="rect">
            <a:avLst/>
          </a:prstGeom>
          <a:noFill/>
          <a:ln>
            <a:noFill/>
          </a:ln>
        </p:spPr>
      </p:pic>
      <p:sp>
        <p:nvSpPr>
          <p:cNvPr id="2" name="Title 1"/>
          <p:cNvSpPr>
            <a:spLocks noGrp="1"/>
          </p:cNvSpPr>
          <p:nvPr>
            <p:ph type="title"/>
          </p:nvPr>
        </p:nvSpPr>
        <p:spPr/>
        <p:txBody>
          <a:bodyPr>
            <a:normAutofit/>
          </a:bodyPr>
          <a:lstStyle/>
          <a:p>
            <a:r>
              <a:rPr lang="en-US" sz="2000" dirty="0">
                <a:latin typeface="Arial" panose="020B0604020202020204" pitchFamily="34" charset="0"/>
              </a:rPr>
              <a:t>LIFECYCLE OF A CO</a:t>
            </a:r>
            <a:r>
              <a:rPr lang="en-IN" altLang="en-US" sz="2000" dirty="0">
                <a:latin typeface="Arial" panose="020B0604020202020204" pitchFamily="34" charset="0"/>
              </a:rPr>
              <a:t>RPORATE</a:t>
            </a:r>
            <a:r>
              <a:rPr lang="en-US" sz="2000" dirty="0">
                <a:latin typeface="Arial" panose="020B0604020202020204" pitchFamily="34" charset="0"/>
              </a:rPr>
              <a:t> LOAN - </a:t>
            </a:r>
            <a:r>
              <a:rPr lang="en-IN" sz="2000" dirty="0">
                <a:latin typeface="Arial" panose="020B0604020202020204" pitchFamily="34" charset="0"/>
              </a:rPr>
              <a:t>LOAN DISBURSEMENT</a:t>
            </a:r>
            <a:endParaRPr lang="en-IN" sz="2000" dirty="0">
              <a:latin typeface="Arial" panose="020B0604020202020204" pitchFamily="34" charset="0"/>
            </a:endParaRPr>
          </a:p>
        </p:txBody>
      </p:sp>
      <p:sp>
        <p:nvSpPr>
          <p:cNvPr id="814" name="Google Shape;814;p32"/>
          <p:cNvSpPr/>
          <p:nvPr/>
        </p:nvSpPr>
        <p:spPr>
          <a:xfrm>
            <a:off x="105134" y="1328506"/>
            <a:ext cx="6342519" cy="5061931"/>
          </a:xfrm>
          <a:prstGeom prst="rect">
            <a:avLst/>
          </a:prstGeom>
          <a:solidFill>
            <a:schemeClr val="bg2"/>
          </a:solidFill>
          <a:ln>
            <a:noFill/>
          </a:ln>
        </p:spPr>
        <p:txBody>
          <a:bodyPr spcFirstLastPara="1" wrap="square" lIns="91425" tIns="45700" rIns="91425" bIns="45700" anchor="ctr" anchorCtr="0">
            <a:noAutofit/>
          </a:bodyPr>
          <a:lstStyle/>
          <a:p>
            <a:pPr marL="285750" indent="-285750">
              <a:buFont typeface="Wingdings" panose="05000000000000000000" pitchFamily="2" charset="2"/>
              <a:buChar char="Ø"/>
            </a:pP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A </a:t>
            </a:r>
            <a:r>
              <a:rPr lang="en-IN" alt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Corporate</a:t>
            </a: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 loan drawdown refers to the process by which a borrower accesses funds from an approved loan facility. Instead of receiving the full loan amount upfront, funds are "drawn down" as needed, typically in tranches.</a:t>
            </a: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Aligns disbursements with project or business cash flow needs</a:t>
            </a: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Reduces interest costs by borrowing only when necessary</a:t>
            </a: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Allows better financial control and planning</a:t>
            </a: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endPar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a:p>
            <a:pPr marL="285750" indent="-285750">
              <a:buFont typeface="Wingdings" panose="05000000000000000000" pitchFamily="2" charset="2"/>
              <a:buChar char="Ø"/>
            </a:pPr>
            <a:r>
              <a:rPr lang="en-US"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Key Applications: Real estate and construction financing Working capital loans ; Equipment or infrastructure purchases</a:t>
            </a:r>
            <a:endParaRPr lang="en-US" sz="1800" dirty="0">
              <a:latin typeface="Arial" panose="020B0604020202020204" pitchFamily="34" charset="0"/>
            </a:endParaRPr>
          </a:p>
          <a:p>
            <a:endParaRPr sz="1800"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4" name="TextBox 3"/>
          <p:cNvSpPr txBox="1"/>
          <p:nvPr/>
        </p:nvSpPr>
        <p:spPr>
          <a:xfrm>
            <a:off x="8341496" y="3553149"/>
            <a:ext cx="1956661" cy="369332"/>
          </a:xfrm>
          <a:prstGeom prst="rect">
            <a:avLst/>
          </a:prstGeom>
          <a:noFill/>
        </p:spPr>
        <p:txBody>
          <a:bodyPr wrap="square">
            <a:spAutoFit/>
          </a:bodyPr>
          <a:lstStyle/>
          <a:p>
            <a:pPr algn="ctr"/>
            <a:r>
              <a:rPr lang="en-IN" sz="1800" b="1" dirty="0">
                <a:latin typeface="Arial" panose="020B0604020202020204" pitchFamily="34" charset="0"/>
              </a:rPr>
              <a:t>Loan Drawdown</a:t>
            </a:r>
            <a:endParaRPr lang="en-IN" sz="1800" b="1"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dirty="0">
                <a:latin typeface="Arial" panose="020B0604020202020204" pitchFamily="34" charset="0"/>
              </a:rPr>
              <a:t>LIFECYCLE OF A C</a:t>
            </a:r>
            <a:r>
              <a:rPr lang="en-IN" altLang="en-US" sz="2000" dirty="0">
                <a:latin typeface="Arial" panose="020B0604020202020204" pitchFamily="34" charset="0"/>
              </a:rPr>
              <a:t>ORPORATE</a:t>
            </a:r>
            <a:r>
              <a:rPr lang="en-US" sz="2000" dirty="0">
                <a:latin typeface="Arial" panose="020B0604020202020204" pitchFamily="34" charset="0"/>
              </a:rPr>
              <a:t> LOAN - </a:t>
            </a:r>
            <a:r>
              <a:rPr lang="en-IN" sz="2000" dirty="0">
                <a:latin typeface="Arial" panose="020B0604020202020204" pitchFamily="34" charset="0"/>
              </a:rPr>
              <a:t>LOAN DISBURSEMENT</a:t>
            </a:r>
            <a:endParaRPr lang="en-IN" sz="2000" dirty="0">
              <a:latin typeface="Arial" panose="020B0604020202020204" pitchFamily="34" charset="0"/>
            </a:endParaRPr>
          </a:p>
        </p:txBody>
      </p:sp>
      <p:graphicFrame>
        <p:nvGraphicFramePr>
          <p:cNvPr id="3" name="Table 2"/>
          <p:cNvGraphicFramePr>
            <a:graphicFrameLocks noGrp="1"/>
          </p:cNvGraphicFramePr>
          <p:nvPr/>
        </p:nvGraphicFramePr>
        <p:xfrm>
          <a:off x="771985" y="1306286"/>
          <a:ext cx="10282272" cy="5056376"/>
        </p:xfrm>
        <a:graphic>
          <a:graphicData uri="http://schemas.openxmlformats.org/drawingml/2006/table">
            <a:tbl>
              <a:tblPr>
                <a:tableStyleId>{5202B0CA-FC54-4496-8BCA-5EF66A818D29}</a:tableStyleId>
              </a:tblPr>
              <a:tblGrid>
                <a:gridCol w="2570568"/>
                <a:gridCol w="2570568"/>
                <a:gridCol w="2570568"/>
                <a:gridCol w="2570568"/>
              </a:tblGrid>
              <a:tr h="345440">
                <a:tc>
                  <a:txBody>
                    <a:bodyPr/>
                    <a:lstStyle/>
                    <a:p>
                      <a:r>
                        <a:rPr lang="en-IN" sz="1400" b="1"/>
                        <a:t>Feature</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Annuity Loan</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Amortized Loan</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a:t>Bullet Loan</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Repayment Structure</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Fixed periodic payments (equal installments)</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Gradually reducing principal + interest</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Interest-only until maturity, principal repaid in lump sum</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dirty="0" err="1"/>
                        <a:t>Installment</a:t>
                      </a:r>
                      <a:r>
                        <a:rPr lang="en-IN" sz="1400" b="1" dirty="0"/>
                        <a:t> Amount</a:t>
                      </a:r>
                      <a:endParaRPr lang="en-IN" sz="1400" dirty="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Same throughout the loan term</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Varies (interest reduces over time, principal increases)</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Small periodic interest payments; large final payment</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Principal Repayment</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Included in each payment</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Gradually repaid over the loan term</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Entire principal repaid at maturity</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Interest Calculation</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Based on reducing principal balance</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Based on outstanding principal</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Based on full principal throughout loan term</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Cash Flow Impact</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Predictable; stable outflows</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Higher initial payments, lower over time</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Low cash outflows during the term, high at maturity</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Common Use Cases</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Mortgages, car loans, consumer finance</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Equipment loans, term loans with flexibility</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Bonds, bridge loans, mezzanine finance</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Risk Profile for Lender</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Lower, due to steady repayment of principal</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Moderate; depends on borrower's payment capacity</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Higher; principal risk remains till maturity</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8867">
                <a:tc>
                  <a:txBody>
                    <a:bodyPr/>
                    <a:lstStyle/>
                    <a:p>
                      <a:r>
                        <a:rPr lang="en-IN" sz="1400" b="1"/>
                        <a:t>Suitability for Borrower</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a:t>Stable cash flow scenarios</a:t>
                      </a:r>
                      <a:endParaRPr lang="en-IN"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a:t>Projects with phased revenue generation</a:t>
                      </a:r>
                      <a:endParaRPr lang="en-US" sz="140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Borrowers expecting lump sum inflow or refinancing later</a:t>
                      </a:r>
                      <a:endParaRPr lang="en-US" sz="1400" dirty="0"/>
                    </a:p>
                  </a:txBody>
                  <a:tcPr marL="89411" marR="89411" marT="44706" marB="4470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30"/>
        <p:cNvGrpSpPr/>
        <p:nvPr/>
      </p:nvGrpSpPr>
      <p:grpSpPr>
        <a:xfrm>
          <a:off x="0" y="0"/>
          <a:ext cx="0" cy="0"/>
          <a:chOff x="0" y="0"/>
          <a:chExt cx="0" cy="0"/>
        </a:xfrm>
      </p:grpSpPr>
      <p:sp>
        <p:nvSpPr>
          <p:cNvPr id="832" name="Google Shape;832;p34"/>
          <p:cNvSpPr/>
          <p:nvPr/>
        </p:nvSpPr>
        <p:spPr>
          <a:xfrm>
            <a:off x="0" y="1728974"/>
            <a:ext cx="12192000" cy="482506"/>
          </a:xfrm>
          <a:prstGeom prst="rect">
            <a:avLst/>
          </a:prstGeom>
          <a:solidFill>
            <a:schemeClr val="bg2"/>
          </a:solidFill>
          <a:ln>
            <a:noFill/>
          </a:ln>
        </p:spPr>
        <p:txBody>
          <a:bodyPr spcFirstLastPara="1" wrap="square" lIns="91425" tIns="45700" rIns="91425" bIns="45700" anchor="ctr" anchorCtr="0">
            <a:noAutofit/>
          </a:bodyPr>
          <a:lstStyle/>
          <a:p>
            <a:pPr algn="ctr"/>
            <a:r>
              <a:rPr lang="en-US" sz="2000" b="1" dirty="0">
                <a:solidFill>
                  <a:srgbClr val="FFFFFF"/>
                </a:solidFill>
                <a:latin typeface="Arial" panose="020B0604020202020204" pitchFamily="34" charset="0"/>
                <a:ea typeface="Cambria" panose="02040503050406030204"/>
                <a:cs typeface="Arial" panose="020B0604020202020204" pitchFamily="34" charset="0"/>
                <a:sym typeface="Cambria" panose="02040503050406030204"/>
              </a:rPr>
              <a:t>Back-end activities include:</a:t>
            </a:r>
            <a:endParaRPr sz="1400" dirty="0">
              <a:latin typeface="Arial" panose="020B0604020202020204" pitchFamily="34" charset="0"/>
            </a:endParaRPr>
          </a:p>
        </p:txBody>
      </p:sp>
      <p:grpSp>
        <p:nvGrpSpPr>
          <p:cNvPr id="3" name="Group 2"/>
          <p:cNvGrpSpPr/>
          <p:nvPr/>
        </p:nvGrpSpPr>
        <p:grpSpPr>
          <a:xfrm>
            <a:off x="2933793" y="2584580"/>
            <a:ext cx="6324600" cy="3079101"/>
            <a:chOff x="2075519" y="2183363"/>
            <a:chExt cx="8307279" cy="3653079"/>
          </a:xfrm>
        </p:grpSpPr>
        <p:sp>
          <p:nvSpPr>
            <p:cNvPr id="833" name="Google Shape;833;p34"/>
            <p:cNvSpPr/>
            <p:nvPr/>
          </p:nvSpPr>
          <p:spPr>
            <a:xfrm>
              <a:off x="2075519" y="2183363"/>
              <a:ext cx="2762421" cy="1800200"/>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lvl="1" algn="ctr"/>
              <a:r>
                <a:rPr lang="en-US" sz="1800" b="1" dirty="0">
                  <a:latin typeface="Arial" panose="020B0604020202020204" pitchFamily="34" charset="0"/>
                  <a:ea typeface="Cambria" panose="02040503050406030204"/>
                  <a:cs typeface="Arial" panose="020B0604020202020204" pitchFamily="34" charset="0"/>
                  <a:sym typeface="Cambria" panose="02040503050406030204"/>
                </a:rPr>
                <a:t>Setting up a loan account</a:t>
              </a:r>
              <a:endParaRPr sz="1200" dirty="0">
                <a:latin typeface="Arial" panose="020B0604020202020204" pitchFamily="34" charset="0"/>
              </a:endParaRPr>
            </a:p>
          </p:txBody>
        </p:sp>
        <p:sp>
          <p:nvSpPr>
            <p:cNvPr id="834" name="Google Shape;834;p34"/>
            <p:cNvSpPr/>
            <p:nvPr/>
          </p:nvSpPr>
          <p:spPr>
            <a:xfrm>
              <a:off x="4847948" y="2188637"/>
              <a:ext cx="3002631" cy="1800557"/>
            </a:xfrm>
            <a:prstGeom prst="rect">
              <a:avLst/>
            </a:prstGeom>
            <a:solidFill>
              <a:schemeClr val="accent4">
                <a:lumMod val="20000"/>
                <a:lumOff val="80000"/>
              </a:schemeClr>
            </a:solidFill>
            <a:ln>
              <a:noFill/>
            </a:ln>
          </p:spPr>
          <p:txBody>
            <a:bodyPr spcFirstLastPara="1" wrap="square" lIns="91425" tIns="45700" rIns="91425" bIns="45700" anchor="ctr" anchorCtr="0">
              <a:noAutofit/>
            </a:bodyPr>
            <a:lstStyle/>
            <a:p>
              <a:pPr lvl="1" algn="l"/>
              <a:r>
                <a:rPr lang="en-US" sz="1800" b="1" dirty="0">
                  <a:latin typeface="Arial" panose="020B0604020202020204" pitchFamily="34" charset="0"/>
                  <a:ea typeface="Cambria" panose="02040503050406030204"/>
                  <a:cs typeface="Arial" panose="020B0604020202020204" pitchFamily="34" charset="0"/>
                  <a:sym typeface="Cambria" panose="02040503050406030204"/>
                </a:rPr>
                <a:t>Capturing loan disbursement details</a:t>
              </a:r>
              <a:endParaRPr sz="1200" dirty="0">
                <a:latin typeface="Arial" panose="020B0604020202020204" pitchFamily="34" charset="0"/>
              </a:endParaRPr>
            </a:p>
          </p:txBody>
        </p:sp>
        <p:sp>
          <p:nvSpPr>
            <p:cNvPr id="835" name="Google Shape;835;p34"/>
            <p:cNvSpPr/>
            <p:nvPr/>
          </p:nvSpPr>
          <p:spPr>
            <a:xfrm>
              <a:off x="7860588" y="2183363"/>
              <a:ext cx="2522210" cy="1800557"/>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lvl="1" algn="ctr"/>
              <a:r>
                <a:rPr lang="en-US" sz="1800" b="1" dirty="0">
                  <a:latin typeface="Arial" panose="020B0604020202020204" pitchFamily="34" charset="0"/>
                  <a:ea typeface="Cambria" panose="02040503050406030204"/>
                  <a:cs typeface="Arial" panose="020B0604020202020204" pitchFamily="34" charset="0"/>
                  <a:sym typeface="Cambria" panose="02040503050406030204"/>
                </a:rPr>
                <a:t>Drawdown schedule, last available date</a:t>
              </a:r>
              <a:endParaRPr sz="1200" dirty="0">
                <a:latin typeface="Arial" panose="020B0604020202020204" pitchFamily="34" charset="0"/>
              </a:endParaRPr>
            </a:p>
          </p:txBody>
        </p:sp>
        <p:sp>
          <p:nvSpPr>
            <p:cNvPr id="836" name="Google Shape;836;p34"/>
            <p:cNvSpPr/>
            <p:nvPr/>
          </p:nvSpPr>
          <p:spPr>
            <a:xfrm>
              <a:off x="3508764" y="4036242"/>
              <a:ext cx="2762420" cy="1800200"/>
            </a:xfrm>
            <a:prstGeom prst="rect">
              <a:avLst/>
            </a:prstGeom>
            <a:solidFill>
              <a:schemeClr val="accent4">
                <a:lumMod val="20000"/>
                <a:lumOff val="80000"/>
              </a:schemeClr>
            </a:solidFill>
            <a:ln>
              <a:noFill/>
            </a:ln>
          </p:spPr>
          <p:txBody>
            <a:bodyPr spcFirstLastPara="1" wrap="square" lIns="91425" tIns="45700" rIns="91425" bIns="45700" anchor="ctr" anchorCtr="0">
              <a:noAutofit/>
            </a:bodyPr>
            <a:lstStyle/>
            <a:p>
              <a:pPr lvl="1" algn="ctr"/>
              <a:r>
                <a:rPr lang="en-US" sz="1800" b="1" dirty="0">
                  <a:latin typeface="Arial" panose="020B0604020202020204" pitchFamily="34" charset="0"/>
                  <a:ea typeface="Cambria" panose="02040503050406030204"/>
                  <a:cs typeface="Arial" panose="020B0604020202020204" pitchFamily="34" charset="0"/>
                  <a:sym typeface="Cambria" panose="02040503050406030204"/>
                </a:rPr>
                <a:t>Currency, amount, tenor, repayment schedule</a:t>
              </a:r>
              <a:endParaRPr sz="1200" dirty="0">
                <a:latin typeface="Arial" panose="020B0604020202020204" pitchFamily="34" charset="0"/>
              </a:endParaRPr>
            </a:p>
          </p:txBody>
        </p:sp>
        <p:sp>
          <p:nvSpPr>
            <p:cNvPr id="837" name="Google Shape;837;p34"/>
            <p:cNvSpPr/>
            <p:nvPr/>
          </p:nvSpPr>
          <p:spPr>
            <a:xfrm>
              <a:off x="6301769" y="4031187"/>
              <a:ext cx="2762420" cy="1800200"/>
            </a:xfrm>
            <a:prstGeom prst="rect">
              <a:avLst/>
            </a:prstGeom>
            <a:solidFill>
              <a:schemeClr val="accent4">
                <a:lumMod val="20000"/>
                <a:lumOff val="80000"/>
              </a:schemeClr>
            </a:solidFill>
            <a:ln>
              <a:noFill/>
            </a:ln>
          </p:spPr>
          <p:txBody>
            <a:bodyPr spcFirstLastPara="1" wrap="square" lIns="91425" tIns="45700" rIns="91425" bIns="45700" anchor="ctr" anchorCtr="0">
              <a:noAutofit/>
            </a:bodyPr>
            <a:lstStyle/>
            <a:p>
              <a:pPr lvl="1" algn="ctr"/>
              <a:r>
                <a:rPr lang="en-US" sz="1800" b="1" dirty="0">
                  <a:latin typeface="Arial" panose="020B0604020202020204" pitchFamily="34" charset="0"/>
                  <a:ea typeface="Cambria" panose="02040503050406030204"/>
                  <a:cs typeface="Arial" panose="020B0604020202020204" pitchFamily="34" charset="0"/>
                  <a:sym typeface="Cambria" panose="02040503050406030204"/>
                </a:rPr>
                <a:t>Capture details of collateral, etc.</a:t>
              </a:r>
              <a:endParaRPr sz="1200" dirty="0">
                <a:latin typeface="Arial" panose="020B0604020202020204" pitchFamily="34" charset="0"/>
              </a:endParaRPr>
            </a:p>
          </p:txBody>
        </p:sp>
      </p:grpSp>
      <p:sp>
        <p:nvSpPr>
          <p:cNvPr id="2" name="Title 1"/>
          <p:cNvSpPr>
            <a:spLocks noGrp="1"/>
          </p:cNvSpPr>
          <p:nvPr>
            <p:ph type="title"/>
          </p:nvPr>
        </p:nvSpPr>
        <p:spPr/>
        <p:txBody>
          <a:bodyPr>
            <a:normAutofit/>
          </a:bodyPr>
          <a:lstStyle/>
          <a:p>
            <a:r>
              <a:rPr lang="en-US" sz="2000" dirty="0">
                <a:latin typeface="Arial" panose="020B0604020202020204" pitchFamily="34" charset="0"/>
              </a:rPr>
              <a:t>LIFECYCLE OF A CO</a:t>
            </a:r>
            <a:r>
              <a:rPr lang="en-IN" altLang="en-US" sz="2000" dirty="0">
                <a:latin typeface="Arial" panose="020B0604020202020204" pitchFamily="34" charset="0"/>
              </a:rPr>
              <a:t>RPORATE</a:t>
            </a:r>
            <a:r>
              <a:rPr lang="en-US" sz="2000" dirty="0">
                <a:latin typeface="Arial" panose="020B0604020202020204" pitchFamily="34" charset="0"/>
              </a:rPr>
              <a:t> LOAN - </a:t>
            </a:r>
            <a:r>
              <a:rPr lang="en-IN" sz="2000" dirty="0">
                <a:latin typeface="Arial" panose="020B0604020202020204" pitchFamily="34" charset="0"/>
              </a:rPr>
              <a:t>LOAN DISBURSEMENT </a:t>
            </a:r>
            <a:endParaRPr lang="en-IN" sz="2000" dirty="0">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41"/>
        <p:cNvGrpSpPr/>
        <p:nvPr/>
      </p:nvGrpSpPr>
      <p:grpSpPr>
        <a:xfrm>
          <a:off x="0" y="0"/>
          <a:ext cx="0" cy="0"/>
          <a:chOff x="0" y="0"/>
          <a:chExt cx="0" cy="0"/>
        </a:xfrm>
      </p:grpSpPr>
      <p:sp>
        <p:nvSpPr>
          <p:cNvPr id="842" name="Google Shape;842;p35"/>
          <p:cNvSpPr/>
          <p:nvPr/>
        </p:nvSpPr>
        <p:spPr>
          <a:xfrm>
            <a:off x="1570653" y="3844595"/>
            <a:ext cx="9144000" cy="2528340"/>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43" name="Google Shape;843;p35"/>
          <p:cNvSpPr/>
          <p:nvPr/>
        </p:nvSpPr>
        <p:spPr>
          <a:xfrm>
            <a:off x="1570653" y="1160646"/>
            <a:ext cx="9144000" cy="2528340"/>
          </a:xfrm>
          <a:prstGeom prst="rect">
            <a:avLst/>
          </a:prstGeom>
          <a:solidFill>
            <a:srgbClr val="D8D8D8"/>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44" name="Google Shape;844;p3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US" sz="2400" b="1" dirty="0">
                <a:latin typeface="Arial" panose="020B0604020202020204" pitchFamily="34" charset="0"/>
              </a:rPr>
              <a:t>LOAN SERVICING EVENTS</a:t>
            </a:r>
            <a:endParaRPr lang="en-US" dirty="0">
              <a:latin typeface="Arial" panose="020B0604020202020204" pitchFamily="34" charset="0"/>
            </a:endParaRPr>
          </a:p>
        </p:txBody>
      </p:sp>
      <p:sp>
        <p:nvSpPr>
          <p:cNvPr id="845" name="Google Shape;845;p35"/>
          <p:cNvSpPr/>
          <p:nvPr/>
        </p:nvSpPr>
        <p:spPr>
          <a:xfrm>
            <a:off x="4774501" y="1304662"/>
            <a:ext cx="5621338" cy="2232248"/>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Billing Cycle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Interest receivable schedule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Principle repayment schedule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Penal/ overdue interest / principle receivable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Charges, fees, rebates, refunds management</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Billing / invoicing</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Reminders</a:t>
            </a:r>
            <a:endParaRPr sz="1400" dirty="0">
              <a:latin typeface="Arial" panose="020B0604020202020204" pitchFamily="34" charset="0"/>
            </a:endParaRPr>
          </a:p>
        </p:txBody>
      </p:sp>
      <p:sp>
        <p:nvSpPr>
          <p:cNvPr id="846" name="Google Shape;846;p35"/>
          <p:cNvSpPr/>
          <p:nvPr/>
        </p:nvSpPr>
        <p:spPr>
          <a:xfrm>
            <a:off x="1996820" y="2528798"/>
            <a:ext cx="2381119" cy="864096"/>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Billing and Invoicing</a:t>
            </a:r>
            <a:endParaRPr sz="1400" dirty="0">
              <a:latin typeface="Arial" panose="020B0604020202020204" pitchFamily="34" charset="0"/>
            </a:endParaRPr>
          </a:p>
        </p:txBody>
      </p:sp>
      <p:sp>
        <p:nvSpPr>
          <p:cNvPr id="847" name="Google Shape;847;p35"/>
          <p:cNvSpPr/>
          <p:nvPr/>
        </p:nvSpPr>
        <p:spPr>
          <a:xfrm>
            <a:off x="4774501" y="3960898"/>
            <a:ext cx="5621338" cy="2232248"/>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Payment instructions management – direct debits, manual payments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Receive cheque payment or fund transfers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Appropriate principle, interest, charges, other receivables</a:t>
            </a:r>
            <a:endParaRPr sz="1400" dirty="0">
              <a:latin typeface="Arial" panose="020B0604020202020204" pitchFamily="34" charset="0"/>
            </a:endParaRPr>
          </a:p>
        </p:txBody>
      </p:sp>
      <p:sp>
        <p:nvSpPr>
          <p:cNvPr id="848" name="Google Shape;848;p35"/>
          <p:cNvSpPr/>
          <p:nvPr/>
        </p:nvSpPr>
        <p:spPr>
          <a:xfrm>
            <a:off x="2086774" y="5193095"/>
            <a:ext cx="2291164" cy="1120605"/>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Payments Management</a:t>
            </a:r>
            <a:endParaRPr sz="1400" dirty="0">
              <a:latin typeface="Arial" panose="020B0604020202020204" pitchFamily="34" charset="0"/>
            </a:endParaRPr>
          </a:p>
        </p:txBody>
      </p:sp>
      <p:pic>
        <p:nvPicPr>
          <p:cNvPr id="849" name="Google Shape;849;p35"/>
          <p:cNvPicPr preferRelativeResize="0"/>
          <p:nvPr/>
        </p:nvPicPr>
        <p:blipFill rotWithShape="1">
          <a:blip r:embed="rId1"/>
          <a:srcRect/>
          <a:stretch>
            <a:fillRect/>
          </a:stretch>
        </p:blipFill>
        <p:spPr>
          <a:xfrm>
            <a:off x="2719848" y="1503782"/>
            <a:ext cx="1025017" cy="1025017"/>
          </a:xfrm>
          <a:prstGeom prst="rect">
            <a:avLst/>
          </a:prstGeom>
          <a:noFill/>
          <a:ln>
            <a:noFill/>
          </a:ln>
        </p:spPr>
      </p:pic>
      <p:pic>
        <p:nvPicPr>
          <p:cNvPr id="850" name="Google Shape;850;p35"/>
          <p:cNvPicPr preferRelativeResize="0"/>
          <p:nvPr/>
        </p:nvPicPr>
        <p:blipFill rotWithShape="1">
          <a:blip r:embed="rId2"/>
          <a:srcRect/>
          <a:stretch>
            <a:fillRect/>
          </a:stretch>
        </p:blipFill>
        <p:spPr>
          <a:xfrm>
            <a:off x="2523491" y="4106393"/>
            <a:ext cx="1270000" cy="1270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36"/>
          <p:cNvSpPr/>
          <p:nvPr/>
        </p:nvSpPr>
        <p:spPr>
          <a:xfrm>
            <a:off x="1561323" y="3769951"/>
            <a:ext cx="9144000" cy="2528340"/>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56" name="Google Shape;856;p36"/>
          <p:cNvSpPr/>
          <p:nvPr/>
        </p:nvSpPr>
        <p:spPr>
          <a:xfrm>
            <a:off x="1561323" y="1216630"/>
            <a:ext cx="9144000" cy="2528340"/>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57" name="Google Shape;857;p3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US" sz="2400" b="1" dirty="0">
                <a:latin typeface="Arial" panose="020B0604020202020204" pitchFamily="34" charset="0"/>
              </a:rPr>
              <a:t>LOAN SERVICING EVENTS</a:t>
            </a:r>
            <a:endParaRPr lang="en-US" dirty="0">
              <a:latin typeface="Arial" panose="020B0604020202020204" pitchFamily="34" charset="0"/>
            </a:endParaRPr>
          </a:p>
        </p:txBody>
      </p:sp>
      <p:sp>
        <p:nvSpPr>
          <p:cNvPr id="858" name="Google Shape;858;p36"/>
          <p:cNvSpPr/>
          <p:nvPr/>
        </p:nvSpPr>
        <p:spPr>
          <a:xfrm>
            <a:off x="4787575" y="1260479"/>
            <a:ext cx="5666228" cy="2440642"/>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Process payment received</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Pre payment, underpayment, overdue payments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Review /monitor contract</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Manage interest conditions – Floating rates, mark up, mark down</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Limit adjustments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Customer reports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Credit reports</a:t>
            </a:r>
            <a:endParaRPr sz="1400" dirty="0">
              <a:latin typeface="Arial" panose="020B0604020202020204" pitchFamily="34" charset="0"/>
            </a:endParaRPr>
          </a:p>
        </p:txBody>
      </p:sp>
      <p:sp>
        <p:nvSpPr>
          <p:cNvPr id="859" name="Google Shape;859;p36"/>
          <p:cNvSpPr/>
          <p:nvPr/>
        </p:nvSpPr>
        <p:spPr>
          <a:xfrm>
            <a:off x="2028867" y="2445569"/>
            <a:ext cx="2291164" cy="1120605"/>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Contract Management</a:t>
            </a:r>
            <a:endParaRPr sz="1400" dirty="0">
              <a:latin typeface="Arial" panose="020B0604020202020204" pitchFamily="34" charset="0"/>
            </a:endParaRPr>
          </a:p>
        </p:txBody>
      </p:sp>
      <p:sp>
        <p:nvSpPr>
          <p:cNvPr id="860" name="Google Shape;860;p36"/>
          <p:cNvSpPr/>
          <p:nvPr/>
        </p:nvSpPr>
        <p:spPr>
          <a:xfrm>
            <a:off x="4787575" y="3966444"/>
            <a:ext cx="5162172" cy="1928253"/>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List of collateral under the contract</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Substitution, release of collaterals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Collateral valuation, mark to market</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Monitor collateral</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Liens</a:t>
            </a:r>
            <a:endParaRPr sz="1400" dirty="0">
              <a:latin typeface="Arial" panose="020B0604020202020204" pitchFamily="34" charset="0"/>
            </a:endParaRPr>
          </a:p>
        </p:txBody>
      </p:sp>
      <p:sp>
        <p:nvSpPr>
          <p:cNvPr id="861" name="Google Shape;861;p36"/>
          <p:cNvSpPr/>
          <p:nvPr/>
        </p:nvSpPr>
        <p:spPr>
          <a:xfrm>
            <a:off x="2062025" y="5151414"/>
            <a:ext cx="2291164" cy="1120605"/>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Collateral Management</a:t>
            </a:r>
            <a:endParaRPr sz="1400" dirty="0">
              <a:latin typeface="Arial" panose="020B0604020202020204" pitchFamily="34" charset="0"/>
            </a:endParaRPr>
          </a:p>
        </p:txBody>
      </p:sp>
      <p:pic>
        <p:nvPicPr>
          <p:cNvPr id="862" name="Google Shape;862;p36"/>
          <p:cNvPicPr preferRelativeResize="0"/>
          <p:nvPr/>
        </p:nvPicPr>
        <p:blipFill rotWithShape="1">
          <a:blip r:embed="rId1"/>
          <a:srcRect/>
          <a:stretch>
            <a:fillRect/>
          </a:stretch>
        </p:blipFill>
        <p:spPr>
          <a:xfrm>
            <a:off x="2539449" y="1415270"/>
            <a:ext cx="1270000" cy="1270000"/>
          </a:xfrm>
          <a:prstGeom prst="rect">
            <a:avLst/>
          </a:prstGeom>
          <a:noFill/>
          <a:ln>
            <a:noFill/>
          </a:ln>
        </p:spPr>
      </p:pic>
      <p:pic>
        <p:nvPicPr>
          <p:cNvPr id="863" name="Google Shape;863;p36"/>
          <p:cNvPicPr preferRelativeResize="0"/>
          <p:nvPr/>
        </p:nvPicPr>
        <p:blipFill rotWithShape="1">
          <a:blip r:embed="rId2"/>
          <a:srcRect/>
          <a:stretch>
            <a:fillRect/>
          </a:stretch>
        </p:blipFill>
        <p:spPr>
          <a:xfrm>
            <a:off x="2692313" y="4105915"/>
            <a:ext cx="1117137" cy="111713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p37"/>
          <p:cNvSpPr/>
          <p:nvPr/>
        </p:nvSpPr>
        <p:spPr>
          <a:xfrm>
            <a:off x="1673290" y="3843508"/>
            <a:ext cx="9144000" cy="2528340"/>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69" name="Google Shape;869;p37"/>
          <p:cNvSpPr/>
          <p:nvPr/>
        </p:nvSpPr>
        <p:spPr>
          <a:xfrm>
            <a:off x="1663959" y="1263283"/>
            <a:ext cx="9144000" cy="2528340"/>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70" name="Google Shape;870;p37"/>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US" sz="2400" b="1" dirty="0">
                <a:latin typeface="Arial" panose="020B0604020202020204" pitchFamily="34" charset="0"/>
              </a:rPr>
              <a:t>LOAN SERVICING EVENTS</a:t>
            </a:r>
            <a:endParaRPr lang="en-US" dirty="0">
              <a:latin typeface="Arial" panose="020B0604020202020204" pitchFamily="34" charset="0"/>
            </a:endParaRPr>
          </a:p>
        </p:txBody>
      </p:sp>
      <p:sp>
        <p:nvSpPr>
          <p:cNvPr id="871" name="Google Shape;871;p37"/>
          <p:cNvSpPr/>
          <p:nvPr/>
        </p:nvSpPr>
        <p:spPr>
          <a:xfrm>
            <a:off x="1847528" y="908720"/>
            <a:ext cx="8568952" cy="5400600"/>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sz="1000"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72" name="Google Shape;872;p37"/>
          <p:cNvSpPr/>
          <p:nvPr/>
        </p:nvSpPr>
        <p:spPr>
          <a:xfrm>
            <a:off x="4566683" y="1350981"/>
            <a:ext cx="6241276" cy="2360574"/>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Principle /Interest waivers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Premature payments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Reduce / waive fees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Restructure loans – duration, interest rates, instalments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One time settlements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Legal actions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Write offs</a:t>
            </a:r>
            <a:endParaRPr sz="1800"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73" name="Google Shape;873;p37"/>
          <p:cNvSpPr/>
          <p:nvPr/>
        </p:nvSpPr>
        <p:spPr>
          <a:xfrm>
            <a:off x="2109099" y="2590951"/>
            <a:ext cx="2291164" cy="1120605"/>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Delinquency Management</a:t>
            </a:r>
            <a:endParaRPr sz="1400" dirty="0">
              <a:latin typeface="Arial" panose="020B0604020202020204" pitchFamily="34" charset="0"/>
            </a:endParaRPr>
          </a:p>
        </p:txBody>
      </p:sp>
      <p:sp>
        <p:nvSpPr>
          <p:cNvPr id="874" name="Google Shape;874;p37"/>
          <p:cNvSpPr/>
          <p:nvPr/>
        </p:nvSpPr>
        <p:spPr>
          <a:xfrm>
            <a:off x="4576014" y="3923576"/>
            <a:ext cx="6241276" cy="2333186"/>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Accounting entries for individual loan events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Reconciliations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Risk, regulatory and tax controls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Fraud and anti money laundering monitoring and control</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Business activity monitoring</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Exceptions handling</a:t>
            </a:r>
            <a:endParaRPr sz="1400" dirty="0">
              <a:latin typeface="Arial" panose="020B0604020202020204" pitchFamily="34" charset="0"/>
            </a:endParaRPr>
          </a:p>
        </p:txBody>
      </p:sp>
      <p:sp>
        <p:nvSpPr>
          <p:cNvPr id="875" name="Google Shape;875;p37"/>
          <p:cNvSpPr/>
          <p:nvPr/>
        </p:nvSpPr>
        <p:spPr>
          <a:xfrm>
            <a:off x="2033330" y="5659828"/>
            <a:ext cx="2291164" cy="473830"/>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Controls</a:t>
            </a:r>
            <a:endParaRPr sz="1400" dirty="0">
              <a:latin typeface="Arial" panose="020B0604020202020204" pitchFamily="34" charset="0"/>
            </a:endParaRPr>
          </a:p>
        </p:txBody>
      </p:sp>
      <p:pic>
        <p:nvPicPr>
          <p:cNvPr id="876" name="Google Shape;876;p37"/>
          <p:cNvPicPr preferRelativeResize="0"/>
          <p:nvPr/>
        </p:nvPicPr>
        <p:blipFill rotWithShape="1">
          <a:blip r:embed="rId1"/>
          <a:srcRect/>
          <a:stretch>
            <a:fillRect/>
          </a:stretch>
        </p:blipFill>
        <p:spPr>
          <a:xfrm>
            <a:off x="2596922" y="1479307"/>
            <a:ext cx="1270000" cy="1270000"/>
          </a:xfrm>
          <a:prstGeom prst="rect">
            <a:avLst/>
          </a:prstGeom>
          <a:noFill/>
          <a:ln>
            <a:noFill/>
          </a:ln>
        </p:spPr>
      </p:pic>
      <p:pic>
        <p:nvPicPr>
          <p:cNvPr id="877" name="Google Shape;877;p37"/>
          <p:cNvPicPr preferRelativeResize="0"/>
          <p:nvPr/>
        </p:nvPicPr>
        <p:blipFill rotWithShape="1">
          <a:blip r:embed="rId2"/>
          <a:srcRect/>
          <a:stretch>
            <a:fillRect/>
          </a:stretch>
        </p:blipFill>
        <p:spPr>
          <a:xfrm>
            <a:off x="2589802" y="4425668"/>
            <a:ext cx="1270000" cy="99597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4" name="Google Shape;884;p38"/>
          <p:cNvSpPr/>
          <p:nvPr/>
        </p:nvSpPr>
        <p:spPr>
          <a:xfrm>
            <a:off x="1847528" y="908720"/>
            <a:ext cx="8568952" cy="5400600"/>
          </a:xfrm>
          <a:prstGeom prst="rect">
            <a:avLst/>
          </a:prstGeom>
          <a:noFill/>
          <a:ln>
            <a:no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endParaRPr sz="1000" dirty="0">
              <a:latin typeface="Arial" panose="020B0604020202020204" pitchFamily="34" charset="0"/>
              <a:ea typeface="Cambria" panose="02040503050406030204"/>
              <a:cs typeface="Arial" panose="020B0604020202020204" pitchFamily="34" charset="0"/>
              <a:sym typeface="Cambria" panose="02040503050406030204"/>
            </a:endParaRPr>
          </a:p>
        </p:txBody>
      </p:sp>
      <p:grpSp>
        <p:nvGrpSpPr>
          <p:cNvPr id="3" name="Group 2"/>
          <p:cNvGrpSpPr/>
          <p:nvPr/>
        </p:nvGrpSpPr>
        <p:grpSpPr>
          <a:xfrm>
            <a:off x="1570653" y="1225961"/>
            <a:ext cx="9144000" cy="5158794"/>
            <a:chOff x="1524000" y="908720"/>
            <a:chExt cx="9144000" cy="5158794"/>
          </a:xfrm>
        </p:grpSpPr>
        <p:sp>
          <p:nvSpPr>
            <p:cNvPr id="882" name="Google Shape;882;p38"/>
            <p:cNvSpPr/>
            <p:nvPr/>
          </p:nvSpPr>
          <p:spPr>
            <a:xfrm>
              <a:off x="1524000" y="3539173"/>
              <a:ext cx="9144000" cy="2528340"/>
            </a:xfrm>
            <a:prstGeom prst="rect">
              <a:avLst/>
            </a:prstGeom>
            <a:solidFill>
              <a:schemeClr val="accent3">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83" name="Google Shape;883;p38"/>
            <p:cNvSpPr/>
            <p:nvPr/>
          </p:nvSpPr>
          <p:spPr>
            <a:xfrm>
              <a:off x="1524000" y="908720"/>
              <a:ext cx="9144000" cy="2528340"/>
            </a:xfrm>
            <a:prstGeom prst="rect">
              <a:avLst/>
            </a:prstGeom>
            <a:solidFill>
              <a:schemeClr val="bg2">
                <a:lumMod val="20000"/>
                <a:lumOff val="80000"/>
              </a:schemeClr>
            </a:solidFill>
            <a:ln>
              <a:noFill/>
            </a:ln>
          </p:spPr>
          <p:txBody>
            <a:bodyPr spcFirstLastPara="1" wrap="square" lIns="91425" tIns="45700" rIns="91425" bIns="45700" anchor="ctr" anchorCtr="0">
              <a:noAutofit/>
            </a:bodyPr>
            <a:lstStyle/>
            <a:p>
              <a:pPr lvl="1" algn="ctr"/>
              <a:endParaRPr sz="2000" b="1" dirty="0">
                <a:latin typeface="Arial" panose="020B0604020202020204" pitchFamily="34" charset="0"/>
                <a:ea typeface="Cambria" panose="02040503050406030204"/>
                <a:cs typeface="Arial" panose="020B0604020202020204" pitchFamily="34" charset="0"/>
                <a:sym typeface="Cambria" panose="02040503050406030204"/>
              </a:endParaRPr>
            </a:p>
          </p:txBody>
        </p:sp>
        <p:sp>
          <p:nvSpPr>
            <p:cNvPr id="886" name="Google Shape;886;p38"/>
            <p:cNvSpPr/>
            <p:nvPr/>
          </p:nvSpPr>
          <p:spPr>
            <a:xfrm>
              <a:off x="4374023" y="1140707"/>
              <a:ext cx="5989756" cy="1928253"/>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Statements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Status reporting</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MIS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Analytical reporting</a:t>
              </a:r>
              <a:endParaRPr sz="1400" dirty="0">
                <a:latin typeface="Arial" panose="020B0604020202020204" pitchFamily="34" charset="0"/>
              </a:endParaRPr>
            </a:p>
          </p:txBody>
        </p:sp>
        <p:sp>
          <p:nvSpPr>
            <p:cNvPr id="887" name="Google Shape;887;p38"/>
            <p:cNvSpPr/>
            <p:nvPr/>
          </p:nvSpPr>
          <p:spPr>
            <a:xfrm>
              <a:off x="1921095" y="2331195"/>
              <a:ext cx="2291164" cy="748304"/>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Customer Servicing</a:t>
              </a:r>
              <a:endParaRPr sz="1400" dirty="0">
                <a:latin typeface="Arial" panose="020B0604020202020204" pitchFamily="34" charset="0"/>
              </a:endParaRPr>
            </a:p>
          </p:txBody>
        </p:sp>
        <p:sp>
          <p:nvSpPr>
            <p:cNvPr id="888" name="Google Shape;888;p38"/>
            <p:cNvSpPr/>
            <p:nvPr/>
          </p:nvSpPr>
          <p:spPr>
            <a:xfrm>
              <a:off x="4426724" y="3501009"/>
              <a:ext cx="5989756" cy="2566505"/>
            </a:xfrm>
            <a:prstGeom prst="rect">
              <a:avLst/>
            </a:prstGeom>
            <a:noFill/>
            <a:ln>
              <a:noFill/>
            </a:ln>
          </p:spPr>
          <p:txBody>
            <a:bodyPr spcFirstLastPara="1" wrap="square" lIns="91425" tIns="45700" rIns="91425" bIns="45700" anchor="ctr" anchorCtr="0">
              <a:noAutofit/>
            </a:bodyPr>
            <a:lstStyle/>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Process contract end checks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Refunds, recoveries, fees , charges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Release charges on collaterals / securities (lien release)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Notify insurance</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Release documents</a:t>
              </a:r>
              <a:endParaRPr sz="1400" dirty="0">
                <a:latin typeface="Arial" panose="020B0604020202020204" pitchFamily="34" charset="0"/>
              </a:endParaRPr>
            </a:p>
            <a:p>
              <a:pPr marL="400050" indent="-285750">
                <a:buSzPts val="1800"/>
                <a:buFont typeface="Arial" panose="020B0604020202020204"/>
                <a:buChar char="•"/>
              </a:pPr>
              <a:r>
                <a:rPr lang="en-US" sz="1800" dirty="0">
                  <a:latin typeface="Arial" panose="020B0604020202020204" pitchFamily="34" charset="0"/>
                  <a:ea typeface="Cambria" panose="02040503050406030204"/>
                  <a:cs typeface="Arial" panose="020B0604020202020204" pitchFamily="34" charset="0"/>
                  <a:sym typeface="Cambria" panose="02040503050406030204"/>
                </a:rPr>
                <a:t>End contract processing</a:t>
              </a:r>
              <a:endParaRPr sz="1400" dirty="0">
                <a:latin typeface="Arial" panose="020B0604020202020204" pitchFamily="34" charset="0"/>
              </a:endParaRPr>
            </a:p>
          </p:txBody>
        </p:sp>
        <p:sp>
          <p:nvSpPr>
            <p:cNvPr id="889" name="Google Shape;889;p38"/>
            <p:cNvSpPr/>
            <p:nvPr/>
          </p:nvSpPr>
          <p:spPr>
            <a:xfrm>
              <a:off x="1973796" y="4946909"/>
              <a:ext cx="2291164" cy="1120605"/>
            </a:xfrm>
            <a:prstGeom prst="roundRect">
              <a:avLst>
                <a:gd name="adj" fmla="val 16667"/>
              </a:avLst>
            </a:prstGeom>
            <a:noFill/>
            <a:ln>
              <a:noFill/>
            </a:ln>
          </p:spPr>
          <p:txBody>
            <a:bodyPr spcFirstLastPara="1" wrap="square" lIns="91425" tIns="45700" rIns="91425" bIns="45700" anchor="ctr" anchorCtr="0">
              <a:noAutofit/>
            </a:bodyPr>
            <a:lstStyle/>
            <a:p>
              <a:pPr algn="ctr"/>
              <a:r>
                <a:rPr lang="en-US" sz="2000" b="1" dirty="0">
                  <a:latin typeface="Arial" panose="020B0604020202020204" pitchFamily="34" charset="0"/>
                  <a:ea typeface="Cambria" panose="02040503050406030204"/>
                  <a:cs typeface="Arial" panose="020B0604020202020204" pitchFamily="34" charset="0"/>
                  <a:sym typeface="Cambria" panose="02040503050406030204"/>
                </a:rPr>
                <a:t>Contract End Management</a:t>
              </a:r>
              <a:endParaRPr sz="1400" dirty="0">
                <a:latin typeface="Arial" panose="020B0604020202020204" pitchFamily="34" charset="0"/>
              </a:endParaRPr>
            </a:p>
          </p:txBody>
        </p:sp>
        <p:pic>
          <p:nvPicPr>
            <p:cNvPr id="890" name="Google Shape;890;p38"/>
            <p:cNvPicPr preferRelativeResize="0"/>
            <p:nvPr/>
          </p:nvPicPr>
          <p:blipFill rotWithShape="1">
            <a:blip r:embed="rId1"/>
            <a:srcRect/>
            <a:stretch>
              <a:fillRect/>
            </a:stretch>
          </p:blipFill>
          <p:spPr>
            <a:xfrm>
              <a:off x="2495601" y="1184996"/>
              <a:ext cx="1208747" cy="1134444"/>
            </a:xfrm>
            <a:prstGeom prst="rect">
              <a:avLst/>
            </a:prstGeom>
            <a:noFill/>
            <a:ln>
              <a:noFill/>
            </a:ln>
          </p:spPr>
        </p:pic>
        <p:pic>
          <p:nvPicPr>
            <p:cNvPr id="891" name="Google Shape;891;p38"/>
            <p:cNvPicPr preferRelativeResize="0"/>
            <p:nvPr/>
          </p:nvPicPr>
          <p:blipFill rotWithShape="1">
            <a:blip r:embed="rId2"/>
            <a:srcRect/>
            <a:stretch>
              <a:fillRect/>
            </a:stretch>
          </p:blipFill>
          <p:spPr>
            <a:xfrm>
              <a:off x="2464973" y="3852234"/>
              <a:ext cx="1270000" cy="1270000"/>
            </a:xfrm>
            <a:prstGeom prst="rect">
              <a:avLst/>
            </a:prstGeom>
            <a:noFill/>
            <a:ln>
              <a:noFill/>
            </a:ln>
          </p:spPr>
        </p:pic>
      </p:grpSp>
      <p:sp>
        <p:nvSpPr>
          <p:cNvPr id="2" name="Title 1"/>
          <p:cNvSpPr>
            <a:spLocks noGrp="1"/>
          </p:cNvSpPr>
          <p:nvPr>
            <p:ph type="title"/>
          </p:nvPr>
        </p:nvSpPr>
        <p:spPr/>
        <p:txBody>
          <a:bodyPr>
            <a:normAutofit/>
          </a:bodyPr>
          <a:lstStyle/>
          <a:p>
            <a:r>
              <a:rPr lang="en-IN" dirty="0">
                <a:latin typeface="Arial" panose="020B0604020202020204" pitchFamily="34" charset="0"/>
              </a:rPr>
              <a:t>LOAN SERVICING EVENTS</a:t>
            </a:r>
            <a:endParaRPr lang="en-IN" dirty="0">
              <a:latin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4610" y="443784"/>
            <a:ext cx="10515600" cy="578771"/>
          </a:xfrm>
        </p:spPr>
        <p:txBody>
          <a:bodyPr wrap="square" anchor="ctr">
            <a:normAutofit/>
          </a:bodyPr>
          <a:lstStyle/>
          <a:p>
            <a:r>
              <a:rPr lang="en-US" dirty="0"/>
              <a:t>SUMMARY </a:t>
            </a:r>
            <a:endParaRPr lang="en-IN" dirty="0"/>
          </a:p>
        </p:txBody>
      </p:sp>
      <p:graphicFrame>
        <p:nvGraphicFramePr>
          <p:cNvPr id="3" name="Table 2"/>
          <p:cNvGraphicFramePr>
            <a:graphicFrameLocks noGrp="1"/>
          </p:cNvGraphicFramePr>
          <p:nvPr/>
        </p:nvGraphicFramePr>
        <p:xfrm>
          <a:off x="363255" y="1022555"/>
          <a:ext cx="11298477" cy="5750120"/>
        </p:xfrm>
        <a:graphic>
          <a:graphicData uri="http://schemas.openxmlformats.org/drawingml/2006/table">
            <a:tbl>
              <a:tblPr firstRow="1" bandRow="1">
                <a:tableStyleId>{F2DE63D5-997A-4646-A377-4702673A728D}</a:tableStyleId>
              </a:tblPr>
              <a:tblGrid>
                <a:gridCol w="595991"/>
                <a:gridCol w="2099470"/>
                <a:gridCol w="3139160"/>
                <a:gridCol w="2701942"/>
                <a:gridCol w="2761914"/>
              </a:tblGrid>
              <a:tr h="263776">
                <a:tc>
                  <a:txBody>
                    <a:bodyPr/>
                    <a:lstStyle/>
                    <a:p>
                      <a:pPr algn="ctr"/>
                      <a:r>
                        <a:rPr lang="en-IN" sz="1500" b="1" dirty="0"/>
                        <a:t>Step No.</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500" b="1" dirty="0"/>
                        <a:t>Loan Servicing Event</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500" b="1" dirty="0"/>
                        <a:t>Description</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500" b="1" dirty="0"/>
                        <a:t>Tools / Processes Involved</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IN" sz="1500" b="1" dirty="0"/>
                        <a:t>Key Risks / Challenges</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1</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Contract &amp; Collateral Management</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Recording loan terms, covenants, and collateral details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Loan origination system, document repository, legal compliance checks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Incomplete data, legal enforceability, collateral </a:t>
                      </a:r>
                      <a:r>
                        <a:rPr lang="en-US" sz="1500" dirty="0" err="1"/>
                        <a:t>misvaluation</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2</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Billing &amp; Invoicing</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Generation and dispatch of periodic payment schedules and interest notices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Loan servicing software, payment schedules, auto-invoicing</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Errors in billing, incorrect interest calculation</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3</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Payment Management</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Receiving, allocating, and reconciling payments from borrowers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Payment gateway, accounting systems, reconciliation engines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Misapplied payments, system failures, late receipts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4</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Customer Servicing</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dirty="0"/>
                        <a:t>Ongoing communication, account queries, statement requests</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CRM, call center, email, chat support</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Poor response time, misinformation, reputational risk</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5</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Delinquency Management</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Identifying and managing late or missed payments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Aging reports, dunning systems, collection workflows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Rising NPAs, legal recovery delays, compliance with fair practices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6</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Controls &amp; Compliance</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Monitoring internal controls, audit trails, and regulatory compliance</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Internal audit, SOX tools, regulatory reporting modules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Regulatory breaches, audit gaps, lack of segregation of duties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26868">
                <a:tc>
                  <a:txBody>
                    <a:bodyPr/>
                    <a:lstStyle/>
                    <a:p>
                      <a:r>
                        <a:rPr lang="en-IN" sz="1500" dirty="0"/>
                        <a:t>7</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b="1" dirty="0"/>
                        <a:t>Contract End Management</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Closure, renewal, settlement, or refinancing of the loan</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a:t>Closure letters, lien release, renewal agreements</a:t>
                      </a:r>
                      <a:endParaRPr lang="en-US"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500" dirty="0"/>
                        <a:t>Improper closure, missed documentation, lien release delays</a:t>
                      </a:r>
                      <a:endParaRPr lang="en-IN" sz="1500" dirty="0">
                        <a:latin typeface="Arial" panose="020B0604020202020204" pitchFamily="34" charset="0"/>
                      </a:endParaRPr>
                    </a:p>
                  </a:txBody>
                  <a:tcPr marL="61542" marR="61542" marT="30770" marB="3077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Loan Syndication - Reconciliations Operations</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IN" altLang="en-US" sz="1800" dirty="0">
                <a:solidFill>
                  <a:srgbClr val="FFFFFF"/>
                </a:solidFill>
                <a:latin typeface="+mn-lt"/>
                <a:ea typeface="Cambria" panose="02040503050406030204"/>
                <a:cs typeface="Arial" panose="020B0604020202020204" pitchFamily="34" charset="0"/>
                <a:sym typeface="Cambria" panose="02040503050406030204"/>
              </a:rPr>
              <a:t>Reconciliation is crucial &amp; critical process of making sure that everyone’s accounting records match perfectly</a:t>
            </a:r>
            <a:endParaRPr sz="1400" dirty="0">
              <a:latin typeface="+mn-lt"/>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285750" indent="-285750">
              <a:buFont typeface="Wingdings" panose="05000000000000000000" charset="0"/>
              <a:buChar char="q"/>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In a syndicated loan, we have:</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The Borrower: The company taking the loan.</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The Lead Bank (Agent): The "Group Leader" who collects money from the borrower and distributes it to others.</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Participant Banks: The other banks who contributed money.</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Reconciliation is the "Check-and-Verify" step. It ensures that the amount the Borrower says they paid matches what the Agent Bank says they received, and what the Participant Banks say they were given.</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How it Works (The Flow)</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Payment: The Borrower pays the total interest/principal to the Agent Bank.</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Distribution: The Agent Bank calculates each bank's share (e.g., Bank A gets 30%, Bank B gets 70%) and sends the money.</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The Comparison: At the end of the month, all parties compare their records.</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Internal Record: "I should have received 30 </a:t>
            </a:r>
            <a:r>
              <a:rPr lang="en-IN" altLang="en-US" sz="1600" dirty="0">
                <a:latin typeface="+mn-lt"/>
                <a:ea typeface="Cambria" panose="02040503050406030204"/>
                <a:cs typeface="Arial" panose="020B0604020202020204" pitchFamily="34" charset="0"/>
                <a:sym typeface="Cambria" panose="02040503050406030204"/>
              </a:rPr>
              <a:t>m$</a:t>
            </a:r>
            <a:r>
              <a:rPr lang="en-US" altLang="en-US" sz="1600" dirty="0">
                <a:latin typeface="+mn-lt"/>
                <a:ea typeface="Cambria" panose="02040503050406030204"/>
                <a:cs typeface="Arial" panose="020B0604020202020204" pitchFamily="34" charset="0"/>
                <a:sym typeface="Cambria" panose="02040503050406030204"/>
              </a:rPr>
              <a:t>."</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Bank Statement: "I actually received </a:t>
            </a:r>
            <a:r>
              <a:rPr lang="en-IN" altLang="en-US" sz="1600" dirty="0">
                <a:latin typeface="+mn-lt"/>
                <a:ea typeface="Cambria" panose="02040503050406030204"/>
                <a:cs typeface="Arial" panose="020B0604020202020204" pitchFamily="34" charset="0"/>
                <a:sym typeface="Cambria" panose="02040503050406030204"/>
              </a:rPr>
              <a:t>25 m$</a:t>
            </a:r>
            <a:r>
              <a:rPr lang="en-US" altLang="en-US" sz="1600" dirty="0">
                <a:latin typeface="+mn-lt"/>
                <a:ea typeface="Cambria" panose="02040503050406030204"/>
                <a:cs typeface="Arial" panose="020B0604020202020204" pitchFamily="34" charset="0"/>
                <a:sym typeface="Cambria" panose="02040503050406030204"/>
              </a:rPr>
              <a:t>"</a:t>
            </a:r>
            <a:r>
              <a:rPr lang="en-IN" altLang="en-US" sz="1600" dirty="0">
                <a:latin typeface="+mn-lt"/>
                <a:ea typeface="Cambria" panose="02040503050406030204"/>
                <a:cs typeface="Arial" panose="020B0604020202020204" pitchFamily="34" charset="0"/>
                <a:sym typeface="Cambria" panose="02040503050406030204"/>
              </a:rPr>
              <a:t>; hence there is a break of 5 m$</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Result: If they match, the account is "reconciled." If not, it's a "Break."</a:t>
            </a:r>
            <a:endParaRPr lang="en-US" altLang="en-US"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dirty="0">
                <a:latin typeface="+mn-lt"/>
              </a:rPr>
              <a:t>Reconciliation</a:t>
            </a:r>
            <a:endParaRPr lang="en-IN" alt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285750" indent="-285750">
              <a:buFont typeface="Wingdings" panose="05000000000000000000" charset="0"/>
              <a:buChar char="q"/>
            </a:pPr>
            <a:r>
              <a:rPr lang="en-US" altLang="en-US" dirty="0">
                <a:solidFill>
                  <a:schemeClr val="bg1"/>
                </a:solidFill>
                <a:ea typeface="Cambria" panose="02040503050406030204"/>
                <a:cs typeface="Arial" panose="020B0604020202020204" pitchFamily="34" charset="0"/>
                <a:sym typeface="Cambria" panose="02040503050406030204"/>
              </a:rPr>
              <a:t>Reconciliation is the process of making sure that everyone’s "notebooks" (accounting records) match perfectly.</a:t>
            </a:r>
            <a:endParaRPr lang="en-US" altLang="en-US" sz="1400" dirty="0">
              <a:solidFill>
                <a:schemeClr val="bg1"/>
              </a:solidFill>
              <a:latin typeface="+mn-lt"/>
              <a:ea typeface="Cambria" panose="02040503050406030204"/>
              <a:cs typeface="Arial" panose="020B0604020202020204" pitchFamily="34" charset="0"/>
              <a:sym typeface="Cambria" panose="02040503050406030204"/>
            </a:endParaRPr>
          </a:p>
        </p:txBody>
      </p:sp>
      <p:sp>
        <p:nvSpPr>
          <p:cNvPr id="517" name="Google Shape;517;p18"/>
          <p:cNvSpPr/>
          <p:nvPr/>
        </p:nvSpPr>
        <p:spPr>
          <a:xfrm>
            <a:off x="409575" y="2122805"/>
            <a:ext cx="7841615"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indent="0">
              <a:buNone/>
            </a:pPr>
            <a:r>
              <a:rPr lang="en-US" altLang="en-US" sz="1600" dirty="0">
                <a:latin typeface="+mn-lt"/>
                <a:ea typeface="Cambria" panose="02040503050406030204"/>
                <a:cs typeface="Arial" panose="020B0604020202020204" pitchFamily="34" charset="0"/>
                <a:sym typeface="Cambria" panose="02040503050406030204"/>
              </a:rPr>
              <a:t>Trust: Participant banks need to know the Lead Bank is distributing money fairly and on time.</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Regulatory Compliance: T</a:t>
            </a:r>
            <a:r>
              <a:rPr lang="en-IN" altLang="en-US" sz="1600" dirty="0">
                <a:latin typeface="+mn-lt"/>
                <a:ea typeface="Cambria" panose="02040503050406030204"/>
                <a:cs typeface="Arial" panose="020B0604020202020204" pitchFamily="34" charset="0"/>
                <a:sym typeface="Cambria" panose="02040503050406030204"/>
              </a:rPr>
              <a:t>he Regulators </a:t>
            </a:r>
            <a:r>
              <a:rPr lang="en-US" altLang="en-US" sz="1600" dirty="0">
                <a:latin typeface="+mn-lt"/>
                <a:ea typeface="Cambria" panose="02040503050406030204"/>
                <a:cs typeface="Arial" panose="020B0604020202020204" pitchFamily="34" charset="0"/>
                <a:sym typeface="Cambria" panose="02040503050406030204"/>
              </a:rPr>
              <a:t>and auditors require banks to prove their books are 100% accurate.</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Risk Management: If a payment is missed and not caught through reconciliation, it could look like the borrower is defaulting (failing to pay) when they actually aren't.</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Possible Reconciliation "Breaks" (Errors)</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A "Break" is simply a mismatch between two sets of records. </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endParaRPr lang="en-US" altLang="en-US" sz="1600" dirty="0">
              <a:latin typeface="+mn-lt"/>
              <a:ea typeface="Cambria" panose="02040503050406030204"/>
              <a:cs typeface="Arial" panose="020B0604020202020204" pitchFamily="34" charset="0"/>
              <a:sym typeface="Cambria" panose="02040503050406030204"/>
            </a:endParaRPr>
          </a:p>
        </p:txBody>
      </p:sp>
      <p:pic>
        <p:nvPicPr>
          <p:cNvPr id="2" name="Picture 1"/>
          <p:cNvPicPr>
            <a:picLocks noChangeAspect="1"/>
          </p:cNvPicPr>
          <p:nvPr/>
        </p:nvPicPr>
        <p:blipFill>
          <a:blip r:embed="rId1"/>
          <a:stretch>
            <a:fillRect/>
          </a:stretch>
        </p:blipFill>
        <p:spPr>
          <a:xfrm>
            <a:off x="8341360" y="2014855"/>
            <a:ext cx="3562350" cy="428498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TYPES OF RECON - BREAKS</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285750" indent="-285750">
              <a:buFont typeface="Wingdings" panose="05000000000000000000" charset="0"/>
              <a:buChar char="q"/>
            </a:pPr>
            <a:r>
              <a:rPr lang="en-US" altLang="en-US" dirty="0">
                <a:solidFill>
                  <a:schemeClr val="bg1"/>
                </a:solidFill>
                <a:ea typeface="Cambria" panose="02040503050406030204"/>
                <a:cs typeface="Arial" panose="020B0604020202020204" pitchFamily="34" charset="0"/>
                <a:sym typeface="Cambria" panose="02040503050406030204"/>
              </a:rPr>
              <a:t>Reconciliation is the process of making sure that everyone’s "notebooks" (accounting records) match perfectly.</a:t>
            </a:r>
            <a:endParaRPr lang="en-US" altLang="en-US" sz="1400" dirty="0">
              <a:solidFill>
                <a:schemeClr val="bg1"/>
              </a:solidFill>
              <a:latin typeface="+mn-lt"/>
              <a:ea typeface="Cambria" panose="02040503050406030204"/>
              <a:cs typeface="Arial" panose="020B0604020202020204" pitchFamily="34" charset="0"/>
              <a:sym typeface="Cambria" panose="02040503050406030204"/>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342900" indent="-342900">
              <a:buFont typeface="Wingdings" panose="05000000000000000000" charset="0"/>
              <a:buChar char="q"/>
            </a:pPr>
            <a:r>
              <a:rPr lang="en-US" altLang="en-US" sz="2000" b="1" dirty="0">
                <a:latin typeface="+mn-lt"/>
                <a:ea typeface="Cambria" panose="02040503050406030204"/>
                <a:cs typeface="Arial" panose="020B0604020202020204" pitchFamily="34" charset="0"/>
                <a:sym typeface="Cambria" panose="02040503050406030204"/>
              </a:rPr>
              <a:t>Type</a:t>
            </a:r>
            <a:r>
              <a:rPr lang="en-IN" altLang="en-US" sz="2000" b="1" dirty="0">
                <a:latin typeface="+mn-lt"/>
                <a:ea typeface="Cambria" panose="02040503050406030204"/>
                <a:cs typeface="Arial" panose="020B0604020202020204" pitchFamily="34" charset="0"/>
                <a:sym typeface="Cambria" panose="02040503050406030204"/>
              </a:rPr>
              <a:t>s</a:t>
            </a:r>
            <a:r>
              <a:rPr lang="en-US" altLang="en-US" sz="2000" b="1" dirty="0">
                <a:latin typeface="+mn-lt"/>
                <a:ea typeface="Cambria" panose="02040503050406030204"/>
                <a:cs typeface="Arial" panose="020B0604020202020204" pitchFamily="34" charset="0"/>
                <a:sym typeface="Cambria" panose="02040503050406030204"/>
              </a:rPr>
              <a:t> of </a:t>
            </a:r>
            <a:r>
              <a:rPr lang="en-IN" altLang="en-US" sz="2000" b="1" dirty="0">
                <a:latin typeface="+mn-lt"/>
                <a:ea typeface="Cambria" panose="02040503050406030204"/>
                <a:cs typeface="Arial" panose="020B0604020202020204" pitchFamily="34" charset="0"/>
                <a:sym typeface="Cambria" panose="02040503050406030204"/>
              </a:rPr>
              <a:t>Recon </a:t>
            </a:r>
            <a:r>
              <a:rPr lang="en-US" altLang="en-US" sz="2000" b="1" dirty="0">
                <a:latin typeface="+mn-lt"/>
                <a:ea typeface="Cambria" panose="02040503050406030204"/>
                <a:cs typeface="Arial" panose="020B0604020202020204" pitchFamily="34" charset="0"/>
                <a:sym typeface="Cambria" panose="02040503050406030204"/>
              </a:rPr>
              <a:t>Break</a:t>
            </a:r>
            <a:r>
              <a:rPr lang="en-IN" altLang="en-US" sz="2000" b="1" dirty="0">
                <a:latin typeface="+mn-lt"/>
                <a:ea typeface="Cambria" panose="02040503050406030204"/>
                <a:cs typeface="Arial" panose="020B0604020202020204" pitchFamily="34" charset="0"/>
                <a:sym typeface="Cambria" panose="02040503050406030204"/>
              </a:rPr>
              <a:t>s : </a:t>
            </a:r>
            <a:r>
              <a:rPr lang="en-US" altLang="en-US" sz="2000" dirty="0">
                <a:ea typeface="Cambria" panose="02040503050406030204"/>
                <a:cs typeface="Arial" panose="020B0604020202020204" pitchFamily="34" charset="0"/>
                <a:sym typeface="Cambria" panose="02040503050406030204"/>
              </a:rPr>
              <a:t>Common causes include:</a:t>
            </a:r>
            <a:endParaRPr lang="en-US" altLang="en-US" sz="2000" dirty="0">
              <a:latin typeface="+mn-lt"/>
              <a:ea typeface="Cambria" panose="02040503050406030204"/>
              <a:cs typeface="Arial" panose="020B0604020202020204" pitchFamily="34" charset="0"/>
              <a:sym typeface="Cambria" panose="02040503050406030204"/>
            </a:endParaRPr>
          </a:p>
          <a:p>
            <a:pPr indent="0">
              <a:buFont typeface="Wingdings" panose="05000000000000000000" charset="0"/>
              <a:buNone/>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Timing Difference</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The borrower paid on Friday, but the bank recorded it on Monday.</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 </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Calculation Error</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The Agent Bank calculated 10% interest instead of 10.5%.</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endParaRPr lang="en-IN"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IN" altLang="en-US" sz="1600" dirty="0">
                <a:latin typeface="+mn-lt"/>
                <a:ea typeface="Cambria" panose="02040503050406030204"/>
                <a:cs typeface="Arial" panose="020B0604020202020204" pitchFamily="34" charset="0"/>
                <a:sym typeface="Cambria" panose="02040503050406030204"/>
              </a:rPr>
              <a:t>T</a:t>
            </a:r>
            <a:r>
              <a:rPr lang="en-US" altLang="en-US" sz="1600" dirty="0">
                <a:latin typeface="+mn-lt"/>
                <a:ea typeface="Cambria" panose="02040503050406030204"/>
                <a:cs typeface="Arial" panose="020B0604020202020204" pitchFamily="34" charset="0"/>
                <a:sym typeface="Cambria" panose="02040503050406030204"/>
              </a:rPr>
              <a:t>ax Issues (TDS)</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The borrower deducted Tax Deducted at Source (TDS) but didn't inform the bank, so the cash received is less than expected.</a:t>
            </a:r>
            <a:endParaRPr lang="en-US" altLang="en-US" sz="1600" dirty="0">
              <a:latin typeface="+mn-lt"/>
              <a:ea typeface="Cambria" panose="02040503050406030204"/>
              <a:cs typeface="Arial" panose="020B0604020202020204" pitchFamily="34" charset="0"/>
              <a:sym typeface="Cambria" panose="02040503050406030204"/>
            </a:endParaRPr>
          </a:p>
          <a:p>
            <a:pPr indent="0">
              <a:buNone/>
            </a:pPr>
            <a:r>
              <a:rPr lang="en-US" altLang="en-US" sz="1600" dirty="0">
                <a:latin typeface="+mn-lt"/>
                <a:ea typeface="Cambria" panose="02040503050406030204"/>
                <a:cs typeface="Arial" panose="020B0604020202020204" pitchFamily="34" charset="0"/>
                <a:sym typeface="Cambria" panose="02040503050406030204"/>
              </a:rPr>
              <a:t> </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Currency Fluctuations</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If the loan is in Dollars ($) but the bank records in Rupees (₹), the exchange rate might change between the time of payment and recording.</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 Data Entry Error</a:t>
            </a:r>
            <a:r>
              <a:rPr lang="en-IN" altLang="en-US" sz="1600" dirty="0">
                <a:latin typeface="+mn-lt"/>
                <a:ea typeface="Cambria" panose="02040503050406030204"/>
                <a:cs typeface="Arial" panose="020B0604020202020204" pitchFamily="34" charset="0"/>
                <a:sym typeface="Cambria" panose="02040503050406030204"/>
              </a:rPr>
              <a:t> : </a:t>
            </a:r>
            <a:r>
              <a:rPr lang="en-US" altLang="en-US" sz="1600" dirty="0">
                <a:latin typeface="+mn-lt"/>
                <a:ea typeface="Cambria" panose="02040503050406030204"/>
                <a:cs typeface="Arial" panose="020B0604020202020204" pitchFamily="34" charset="0"/>
                <a:sym typeface="Cambria" panose="02040503050406030204"/>
              </a:rPr>
              <a:t> Someone typed </a:t>
            </a:r>
            <a:r>
              <a:rPr lang="en-IN" altLang="en-US" sz="1600" dirty="0">
                <a:latin typeface="+mn-lt"/>
                <a:ea typeface="Cambria" panose="02040503050406030204"/>
                <a:cs typeface="Arial" panose="020B0604020202020204" pitchFamily="34" charset="0"/>
                <a:sym typeface="Cambria" panose="02040503050406030204"/>
              </a:rPr>
              <a:t>$</a:t>
            </a:r>
            <a:r>
              <a:rPr lang="en-US" altLang="en-US" sz="1600" dirty="0">
                <a:latin typeface="+mn-lt"/>
                <a:ea typeface="Cambria" panose="02040503050406030204"/>
                <a:cs typeface="Arial" panose="020B0604020202020204" pitchFamily="34" charset="0"/>
                <a:sym typeface="Cambria" panose="02040503050406030204"/>
              </a:rPr>
              <a:t>10,00,000 instead of </a:t>
            </a:r>
            <a:r>
              <a:rPr lang="en-IN" altLang="en-US" sz="1600" dirty="0">
                <a:latin typeface="+mn-lt"/>
                <a:ea typeface="Cambria" panose="02040503050406030204"/>
                <a:cs typeface="Arial" panose="020B0604020202020204" pitchFamily="34" charset="0"/>
                <a:sym typeface="Cambria" panose="02040503050406030204"/>
              </a:rPr>
              <a:t>$</a:t>
            </a:r>
            <a:r>
              <a:rPr lang="en-US" altLang="en-US" sz="1600" dirty="0">
                <a:latin typeface="+mn-lt"/>
                <a:ea typeface="Cambria" panose="02040503050406030204"/>
                <a:cs typeface="Arial" panose="020B0604020202020204" pitchFamily="34" charset="0"/>
                <a:sym typeface="Cambria" panose="02040503050406030204"/>
              </a:rPr>
              <a:t>1,00,000 (a "fat-finger" error).</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q"/>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q"/>
            </a:pPr>
            <a:endParaRPr lang="en-US" altLang="en-US"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RECON BREAKS - FIXING SOLUTIONS</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285750" indent="-285750">
              <a:buFont typeface="Wingdings" panose="05000000000000000000" charset="0"/>
              <a:buChar char="q"/>
            </a:pPr>
            <a:r>
              <a:rPr lang="en-US" altLang="en-US" dirty="0">
                <a:solidFill>
                  <a:schemeClr val="bg1"/>
                </a:solidFill>
                <a:ea typeface="Cambria" panose="02040503050406030204"/>
                <a:cs typeface="Arial" panose="020B0604020202020204" pitchFamily="34" charset="0"/>
                <a:sym typeface="Cambria" panose="02040503050406030204"/>
              </a:rPr>
              <a:t>Reconciliation is the process of making sure that everyone’s "notebooks" (accounting records) match perfectly.</a:t>
            </a:r>
            <a:endParaRPr lang="en-US" altLang="en-US" sz="1400" dirty="0">
              <a:solidFill>
                <a:schemeClr val="bg1"/>
              </a:solidFill>
              <a:latin typeface="+mn-lt"/>
              <a:ea typeface="Cambria" panose="02040503050406030204"/>
              <a:cs typeface="Arial" panose="020B0604020202020204" pitchFamily="34" charset="0"/>
              <a:sym typeface="Cambria" panose="02040503050406030204"/>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342900" indent="-342900">
              <a:buFont typeface="Wingdings" panose="05000000000000000000" charset="0"/>
              <a:buChar char="q"/>
            </a:pPr>
            <a:r>
              <a:rPr lang="en-IN" altLang="en-US" sz="2000" b="1" dirty="0">
                <a:latin typeface="+mn-lt"/>
                <a:ea typeface="Cambria" panose="02040503050406030204"/>
                <a:cs typeface="Arial" panose="020B0604020202020204" pitchFamily="34" charset="0"/>
                <a:sym typeface="Cambria" panose="02040503050406030204"/>
              </a:rPr>
              <a:t>Fixing these Breaks</a:t>
            </a:r>
            <a:endParaRPr lang="en-US" altLang="en-US" sz="2000" b="1"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q"/>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Fixing a break is like being a financial detective. The steps are:</a:t>
            </a:r>
            <a:endParaRPr lang="en-US" altLang="en-US" sz="1600" dirty="0">
              <a:latin typeface="+mn-lt"/>
              <a:ea typeface="Cambria" panose="02040503050406030204"/>
              <a:cs typeface="Arial" panose="020B0604020202020204" pitchFamily="34" charset="0"/>
              <a:sym typeface="Cambria" panose="02040503050406030204"/>
            </a:endParaRPr>
          </a:p>
          <a:p>
            <a:pPr indent="457200">
              <a:buFont typeface="Wingdings" panose="05000000000000000000" charset="0"/>
              <a:buNone/>
            </a:pPr>
            <a:r>
              <a:rPr lang="en-IN" altLang="en-US" sz="1600" dirty="0">
                <a:latin typeface="+mn-lt"/>
                <a:ea typeface="Cambria" panose="02040503050406030204"/>
                <a:cs typeface="Arial" panose="020B0604020202020204" pitchFamily="34" charset="0"/>
                <a:sym typeface="Cambria" panose="02040503050406030204"/>
              </a:rPr>
              <a:t>a) </a:t>
            </a:r>
            <a:r>
              <a:rPr lang="en-US" altLang="en-US" sz="1600" dirty="0">
                <a:latin typeface="+mn-lt"/>
                <a:ea typeface="Cambria" panose="02040503050406030204"/>
                <a:cs typeface="Arial" panose="020B0604020202020204" pitchFamily="34" charset="0"/>
                <a:sym typeface="Cambria" panose="02040503050406030204"/>
              </a:rPr>
              <a:t>Identification: Use software to flag any entries where Record A ≠ Record B.</a:t>
            </a:r>
            <a:endParaRPr lang="en-US" altLang="en-US" sz="1600" dirty="0">
              <a:latin typeface="+mn-lt"/>
              <a:ea typeface="Cambria" panose="02040503050406030204"/>
              <a:cs typeface="Arial" panose="020B0604020202020204" pitchFamily="34" charset="0"/>
              <a:sym typeface="Cambria" panose="02040503050406030204"/>
            </a:endParaRPr>
          </a:p>
          <a:p>
            <a:pPr indent="457200">
              <a:buFont typeface="Wingdings" panose="05000000000000000000" charset="0"/>
              <a:buNone/>
            </a:pPr>
            <a:r>
              <a:rPr lang="en-IN" altLang="en-US" sz="1600" dirty="0">
                <a:latin typeface="+mn-lt"/>
                <a:ea typeface="Cambria" panose="02040503050406030204"/>
                <a:cs typeface="Arial" panose="020B0604020202020204" pitchFamily="34" charset="0"/>
                <a:sym typeface="Cambria" panose="02040503050406030204"/>
              </a:rPr>
              <a:t>b) I</a:t>
            </a:r>
            <a:r>
              <a:rPr lang="en-US" altLang="en-US" sz="1600" dirty="0">
                <a:latin typeface="+mn-lt"/>
                <a:ea typeface="Cambria" panose="02040503050406030204"/>
                <a:cs typeface="Arial" panose="020B0604020202020204" pitchFamily="34" charset="0"/>
                <a:sym typeface="Cambria" panose="02040503050406030204"/>
              </a:rPr>
              <a:t>nvestigation: Look at the "Transaction Memo" or "Swift Message" (bank receipt) to see where the numbers diverged.</a:t>
            </a:r>
            <a:endParaRPr lang="en-US" altLang="en-US" sz="1600" dirty="0">
              <a:latin typeface="+mn-lt"/>
              <a:ea typeface="Cambria" panose="02040503050406030204"/>
              <a:cs typeface="Arial" panose="020B0604020202020204" pitchFamily="34" charset="0"/>
              <a:sym typeface="Cambria" panose="02040503050406030204"/>
            </a:endParaRPr>
          </a:p>
          <a:p>
            <a:pPr indent="457200">
              <a:buFont typeface="Wingdings" panose="05000000000000000000" charset="0"/>
              <a:buNone/>
            </a:pPr>
            <a:r>
              <a:rPr lang="en-IN" altLang="en-US" sz="1600" dirty="0">
                <a:latin typeface="+mn-lt"/>
                <a:ea typeface="Cambria" panose="02040503050406030204"/>
                <a:cs typeface="Arial" panose="020B0604020202020204" pitchFamily="34" charset="0"/>
                <a:sym typeface="Cambria" panose="02040503050406030204"/>
              </a:rPr>
              <a:t>c) </a:t>
            </a:r>
            <a:r>
              <a:rPr lang="en-US" altLang="en-US" sz="1600" dirty="0">
                <a:latin typeface="+mn-lt"/>
                <a:ea typeface="Cambria" panose="02040503050406030204"/>
                <a:cs typeface="Arial" panose="020B0604020202020204" pitchFamily="34" charset="0"/>
                <a:sym typeface="Cambria" panose="02040503050406030204"/>
              </a:rPr>
              <a:t>Communication: The Agent Bank contacts the Participant Bank or Borrower to clarify (e.g., "Did yo deduct TDS?").</a:t>
            </a:r>
            <a:endParaRPr lang="en-US" altLang="en-US" sz="1600" dirty="0">
              <a:latin typeface="+mn-lt"/>
              <a:ea typeface="Cambria" panose="02040503050406030204"/>
              <a:cs typeface="Arial" panose="020B0604020202020204" pitchFamily="34" charset="0"/>
              <a:sym typeface="Cambria" panose="02040503050406030204"/>
            </a:endParaRPr>
          </a:p>
          <a:p>
            <a:pPr indent="0">
              <a:buFont typeface="Wingdings" panose="05000000000000000000" charset="0"/>
              <a:buNone/>
            </a:pPr>
            <a:r>
              <a:rPr lang="en-IN" altLang="en-US" sz="1600" dirty="0">
                <a:latin typeface="+mn-lt"/>
                <a:ea typeface="Cambria" panose="02040503050406030204"/>
                <a:cs typeface="Arial" panose="020B0604020202020204" pitchFamily="34" charset="0"/>
                <a:sym typeface="Cambria" panose="02040503050406030204"/>
              </a:rPr>
              <a:t>        d) </a:t>
            </a:r>
            <a:r>
              <a:rPr lang="en-US" altLang="en-US" sz="1600" dirty="0">
                <a:latin typeface="+mn-lt"/>
                <a:ea typeface="Cambria" panose="02040503050406030204"/>
                <a:cs typeface="Arial" panose="020B0604020202020204" pitchFamily="34" charset="0"/>
                <a:sym typeface="Cambria" panose="02040503050406030204"/>
              </a:rPr>
              <a:t>Correction: If it was a manual error, pass a "Rectification Entry" (like you learn in Accountancy).</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If it was a timing issue, just mark it as "Cleared" once the money hits the statement.</a:t>
            </a: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endParaRPr lang="en-US" altLang="en-US" sz="1600" dirty="0">
              <a:latin typeface="+mn-lt"/>
              <a:ea typeface="Cambria" panose="02040503050406030204"/>
              <a:cs typeface="Arial" panose="020B0604020202020204" pitchFamily="34" charset="0"/>
              <a:sym typeface="Cambria" panose="02040503050406030204"/>
            </a:endParaRPr>
          </a:p>
          <a:p>
            <a:pPr marL="285750" indent="-285750">
              <a:buFont typeface="Wingdings" panose="05000000000000000000" charset="0"/>
              <a:buChar char="Ø"/>
            </a:pPr>
            <a:r>
              <a:rPr lang="en-US" altLang="en-US" sz="1600" dirty="0">
                <a:latin typeface="+mn-lt"/>
                <a:ea typeface="Cambria" panose="02040503050406030204"/>
                <a:cs typeface="Arial" panose="020B0604020202020204" pitchFamily="34" charset="0"/>
                <a:sym typeface="Cambria" panose="02040503050406030204"/>
              </a:rPr>
              <a:t>Final Settlement: Adjust the cash balance so the books show the true picture.</a:t>
            </a:r>
            <a:endParaRPr lang="en-US" altLang="en-US"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nvPr>
        </p:nvSpPr>
        <p:spPr/>
        <p:txBody>
          <a:bodyPr/>
          <a:p>
            <a:r>
              <a:rPr lang="en-IN" altLang="en-US"/>
              <a:t>LOAN SYNDICATION - TOOL</a:t>
            </a:r>
            <a:endParaRPr lang="en-IN" altLang="en-US"/>
          </a:p>
        </p:txBody>
      </p:sp>
      <p:pic>
        <p:nvPicPr>
          <p:cNvPr id="4" name="Picture 3"/>
          <p:cNvPicPr>
            <a:picLocks noChangeAspect="1"/>
          </p:cNvPicPr>
          <p:nvPr/>
        </p:nvPicPr>
        <p:blipFill>
          <a:blip r:embed="rId1"/>
          <a:srcRect l="2359" t="1894" r="-836" b="207"/>
          <a:stretch>
            <a:fillRect/>
          </a:stretch>
        </p:blipFill>
        <p:spPr>
          <a:xfrm>
            <a:off x="1460500" y="1089025"/>
            <a:ext cx="8749030" cy="554736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CLEARPAR - APPLICATION TOOL </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IN" altLang="en-US" sz="1800" dirty="0">
                <a:solidFill>
                  <a:srgbClr val="FFFFFF"/>
                </a:solidFill>
                <a:latin typeface="+mn-lt"/>
                <a:ea typeface="Cambria" panose="02040503050406030204"/>
                <a:cs typeface="Arial" panose="020B0604020202020204" pitchFamily="34" charset="0"/>
                <a:sym typeface="Cambria" panose="02040503050406030204"/>
              </a:rPr>
              <a:t>ClearPar is technology platform used by agents </a:t>
            </a:r>
            <a:r>
              <a:rPr lang="en-US" sz="1800" dirty="0">
                <a:solidFill>
                  <a:srgbClr val="FFFFFF"/>
                </a:solidFill>
                <a:latin typeface="+mn-lt"/>
                <a:ea typeface="Cambria" panose="02040503050406030204"/>
                <a:cs typeface="Arial" panose="020B0604020202020204" pitchFamily="34" charset="0"/>
                <a:sym typeface="Cambria" panose="02040503050406030204"/>
              </a:rPr>
              <a:t>banks </a:t>
            </a:r>
            <a:r>
              <a:rPr lang="en-IN" altLang="en-US" sz="1800" dirty="0">
                <a:solidFill>
                  <a:srgbClr val="FFFFFF"/>
                </a:solidFill>
                <a:latin typeface="+mn-lt"/>
                <a:ea typeface="Cambria" panose="02040503050406030204"/>
                <a:cs typeface="Arial" panose="020B0604020202020204" pitchFamily="34" charset="0"/>
                <a:sym typeface="Cambria" panose="02040503050406030204"/>
              </a:rPr>
              <a:t>to process the Loan Syndication Operations </a:t>
            </a:r>
            <a:endParaRPr sz="1400" dirty="0">
              <a:latin typeface="+mn-lt"/>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285750" indent="-285750">
              <a:buFont typeface="Wingdings" panose="05000000000000000000" charset="0"/>
              <a:buChar char="q"/>
            </a:pPr>
            <a:r>
              <a:rPr lang="en-US" altLang="en-US" sz="1600">
                <a:sym typeface="+mn-ea"/>
              </a:rPr>
              <a:t>ClearPar is a technology platform used by banks, institutional investors, and agent banks to settle syndicated loan trades efficiently. It automates document generation, communication between counterparties, portfolio reconciliation, and maintains an audit trail, covering both primary syndication and secondary market trades across US, Europe, and APAC. In APAC, ClearPar is highlighted for streamlining historically manual settlement practices, improving efficiency, and supporting compliance with industry standards</a:t>
            </a:r>
            <a:r>
              <a:rPr lang="en-IN" altLang="en-US" sz="1600">
                <a:sym typeface="+mn-ea"/>
              </a:rPr>
              <a:t>; </a:t>
            </a:r>
            <a:r>
              <a:rPr lang="en-US" altLang="en-US" sz="1600">
                <a:sym typeface="+mn-ea"/>
              </a:rPr>
              <a:t>Where ClearPar fits in the workflow</a:t>
            </a:r>
            <a:br>
              <a:rPr lang="en-US" altLang="en-US" sz="1600">
                <a:sym typeface="+mn-ea"/>
              </a:rPr>
            </a:br>
            <a:endParaRPr lang="en-US" altLang="en-US" sz="1600">
              <a:sym typeface="+mn-ea"/>
            </a:endParaRPr>
          </a:p>
          <a:p>
            <a:pPr marL="285750" indent="-285750">
              <a:buFont typeface="Wingdings" panose="05000000000000000000" charset="0"/>
              <a:buChar char="Ø"/>
            </a:pPr>
            <a:r>
              <a:rPr lang="en-US" altLang="en-US" sz="1600">
                <a:sym typeface="+mn-ea"/>
              </a:rPr>
              <a:t>Document generation: Creates standardized contracts and confirmations needed for loan trades, aligned with LMA/LSTA standards.</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Communication tools: Connects buyers, sellers, agent banks, custodians, and lawyers to resolve trade details faster.</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Portfolio reconciliation: Helps parties match positions and settle differences, reducing operational breaks.</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Audit trail: Stores time-stamped records of actions to manage risk and aid compliance and dispute resolution.</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Primary and secondary workflows: Supports straight-through processes from initial syndication to later transfers, including par and distressed trades.</a:t>
            </a:r>
            <a:br>
              <a:rPr lang="en-US" altLang="en-US" sz="1600">
                <a:sym typeface="+mn-ea"/>
              </a:rPr>
            </a:br>
            <a:endParaRPr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CLEARPAR - APPLICATION TOOL </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IN" altLang="en-US" sz="1800" dirty="0">
                <a:solidFill>
                  <a:srgbClr val="FFFFFF"/>
                </a:solidFill>
                <a:latin typeface="+mn-lt"/>
                <a:ea typeface="Cambria" panose="02040503050406030204"/>
                <a:cs typeface="Arial" panose="020B0604020202020204" pitchFamily="34" charset="0"/>
                <a:sym typeface="Cambria" panose="02040503050406030204"/>
              </a:rPr>
              <a:t>ClearPar is technology platform used by agents </a:t>
            </a:r>
            <a:r>
              <a:rPr lang="en-US" sz="1800" dirty="0">
                <a:solidFill>
                  <a:srgbClr val="FFFFFF"/>
                </a:solidFill>
                <a:latin typeface="+mn-lt"/>
                <a:ea typeface="Cambria" panose="02040503050406030204"/>
                <a:cs typeface="Arial" panose="020B0604020202020204" pitchFamily="34" charset="0"/>
                <a:sym typeface="Cambria" panose="02040503050406030204"/>
              </a:rPr>
              <a:t>banks </a:t>
            </a:r>
            <a:r>
              <a:rPr lang="en-IN" altLang="en-US" sz="1800" dirty="0">
                <a:solidFill>
                  <a:srgbClr val="FFFFFF"/>
                </a:solidFill>
                <a:latin typeface="+mn-lt"/>
                <a:ea typeface="Cambria" panose="02040503050406030204"/>
                <a:cs typeface="Arial" panose="020B0604020202020204" pitchFamily="34" charset="0"/>
                <a:sym typeface="Cambria" panose="02040503050406030204"/>
              </a:rPr>
              <a:t>to process the Loan Syndication Operations </a:t>
            </a:r>
            <a:endParaRPr sz="1400" dirty="0">
              <a:latin typeface="+mn-lt"/>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285750" indent="-285750">
              <a:buFont typeface="Wingdings" panose="05000000000000000000" charset="0"/>
              <a:buChar char="q"/>
            </a:pPr>
            <a:r>
              <a:rPr lang="en-US" altLang="en-US" sz="1600">
                <a:sym typeface="+mn-ea"/>
              </a:rPr>
              <a:t>Why ClearPar is important </a:t>
            </a:r>
            <a:endParaRPr lang="en-US" altLang="en-US" sz="1600">
              <a:sym typeface="+mn-ea"/>
            </a:endParaRPr>
          </a:p>
          <a:p>
            <a:pPr marL="285750" indent="-285750">
              <a:buFont typeface="Wingdings" panose="05000000000000000000" charset="0"/>
              <a:buChar char="q"/>
            </a:pPr>
            <a:endParaRPr lang="en-US" altLang="en-US" sz="1600">
              <a:sym typeface="+mn-ea"/>
            </a:endParaRPr>
          </a:p>
          <a:p>
            <a:pPr marL="285750" indent="-285750">
              <a:buFont typeface="Wingdings" panose="05000000000000000000" charset="0"/>
              <a:buChar char="Ø"/>
            </a:pPr>
            <a:r>
              <a:rPr lang="en-US" altLang="en-US" sz="1600">
                <a:sym typeface="+mn-ea"/>
              </a:rPr>
              <a:t>Speed and certainty of settlement: Faster trade settlement means lenders can quickly update who holds what portion of the loan, reducing delays and funding costs.</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Lower operational risk: Automation reduces manual errors in documents, calculations, and communications, which can otherwise cause costly settlement failures.</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Better liquidity: When trades settle reliably, more investors are willing to participate, making it easier to buy/sell loan exposures and keep the market active.</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Compliance and transparency: The audit trail and standardized workflows help meet industry and regulatory expectations, which is crucial for banks and institutional investors.</a:t>
            </a:r>
            <a:endParaRPr lang="en-US" altLang="en-US" sz="1600">
              <a:sym typeface="+mn-ea"/>
            </a:endParaRPr>
          </a:p>
          <a:p>
            <a:pPr marL="285750" indent="-285750">
              <a:buFont typeface="Wingdings" panose="05000000000000000000" charset="0"/>
              <a:buChar char="Ø"/>
            </a:pPr>
            <a:endParaRPr lang="en-US" altLang="en-US" sz="1600">
              <a:sym typeface="+mn-ea"/>
            </a:endParaRPr>
          </a:p>
          <a:p>
            <a:pPr marL="285750" indent="-285750">
              <a:buFont typeface="Wingdings" panose="05000000000000000000" charset="0"/>
              <a:buChar char="Ø"/>
            </a:pPr>
            <a:r>
              <a:rPr lang="en-US" altLang="en-US" sz="1600">
                <a:sym typeface="+mn-ea"/>
              </a:rPr>
              <a:t>Global standardization: ClearPar reflects common market standards (LMA/LSTA) and is used across regions, helping Indian market participants integrate with global practices.</a:t>
            </a:r>
            <a:br>
              <a:rPr lang="en-US" altLang="en-US" sz="1600">
                <a:sym typeface="+mn-ea"/>
              </a:rPr>
            </a:br>
            <a:endParaRPr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8" name="Google Shape;518;p1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algn="l"/>
            <a:r>
              <a:rPr lang="en-IN" altLang="en-US" sz="2400" b="1" dirty="0">
                <a:latin typeface="+mn-lt"/>
              </a:rPr>
              <a:t>CLEARPAR - APPLICATION TOOL </a:t>
            </a:r>
            <a:endParaRPr lang="en-US" dirty="0">
              <a:latin typeface="+mn-lt"/>
            </a:endParaRPr>
          </a:p>
        </p:txBody>
      </p:sp>
      <p:sp>
        <p:nvSpPr>
          <p:cNvPr id="519" name="Google Shape;519;p18"/>
          <p:cNvSpPr/>
          <p:nvPr/>
        </p:nvSpPr>
        <p:spPr>
          <a:xfrm>
            <a:off x="0" y="1343512"/>
            <a:ext cx="12192000" cy="671904"/>
          </a:xfrm>
          <a:prstGeom prst="rect">
            <a:avLst/>
          </a:prstGeom>
          <a:solidFill>
            <a:schemeClr val="bg2"/>
          </a:solidFill>
          <a:ln>
            <a:solidFill>
              <a:schemeClr val="bg2"/>
            </a:solidFill>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lgn="ctr"/>
            <a:r>
              <a:rPr lang="en-IN" altLang="en-US" sz="1800" dirty="0">
                <a:solidFill>
                  <a:srgbClr val="FFFFFF"/>
                </a:solidFill>
                <a:latin typeface="+mn-lt"/>
                <a:ea typeface="Cambria" panose="02040503050406030204"/>
                <a:cs typeface="Arial" panose="020B0604020202020204" pitchFamily="34" charset="0"/>
                <a:sym typeface="Cambria" panose="02040503050406030204"/>
              </a:rPr>
              <a:t>ClearPar is technology platform used by agents </a:t>
            </a:r>
            <a:r>
              <a:rPr lang="en-US" sz="1800" dirty="0">
                <a:solidFill>
                  <a:srgbClr val="FFFFFF"/>
                </a:solidFill>
                <a:latin typeface="+mn-lt"/>
                <a:ea typeface="Cambria" panose="02040503050406030204"/>
                <a:cs typeface="Arial" panose="020B0604020202020204" pitchFamily="34" charset="0"/>
                <a:sym typeface="Cambria" panose="02040503050406030204"/>
              </a:rPr>
              <a:t>banks </a:t>
            </a:r>
            <a:r>
              <a:rPr lang="en-IN" altLang="en-US" sz="1800" dirty="0">
                <a:solidFill>
                  <a:srgbClr val="FFFFFF"/>
                </a:solidFill>
                <a:latin typeface="+mn-lt"/>
                <a:ea typeface="Cambria" panose="02040503050406030204"/>
                <a:cs typeface="Arial" panose="020B0604020202020204" pitchFamily="34" charset="0"/>
                <a:sym typeface="Cambria" panose="02040503050406030204"/>
              </a:rPr>
              <a:t>to process the Loan Syndication Operations </a:t>
            </a:r>
            <a:endParaRPr sz="1400" dirty="0">
              <a:latin typeface="+mn-lt"/>
            </a:endParaRPr>
          </a:p>
        </p:txBody>
      </p:sp>
      <p:sp>
        <p:nvSpPr>
          <p:cNvPr id="517" name="Google Shape;517;p18"/>
          <p:cNvSpPr/>
          <p:nvPr/>
        </p:nvSpPr>
        <p:spPr>
          <a:xfrm>
            <a:off x="409575" y="2122805"/>
            <a:ext cx="11602720" cy="4177030"/>
          </a:xfrm>
          <a:prstGeom prst="rect">
            <a:avLst/>
          </a:prstGeom>
          <a:solidFill>
            <a:schemeClr val="accent4">
              <a:lumMod val="20000"/>
              <a:lumOff val="80000"/>
            </a:schemeClr>
          </a:solidFill>
          <a:ln w="25400" cap="flat" cmpd="sng">
            <a:noFill/>
            <a:prstDash val="solid"/>
            <a:round/>
            <a:headEnd type="none" w="sm" len="sm"/>
            <a:tailEnd type="none" w="sm" len="sm"/>
          </a:ln>
        </p:spPr>
        <p:txBody>
          <a:bodyPr spcFirstLastPara="1" wrap="square" lIns="0" tIns="0" rIns="18275" bIns="18275" anchor="t" anchorCtr="0">
            <a:noAutofit/>
          </a:bodyPr>
          <a:lstStyle/>
          <a:p>
            <a:pPr marL="285750" indent="-285750">
              <a:buFont typeface="Wingdings" panose="05000000000000000000" charset="0"/>
              <a:buChar char="q"/>
            </a:pPr>
            <a:r>
              <a:rPr lang="en-US" altLang="en-US" sz="1600">
                <a:sym typeface="+mn-ea"/>
              </a:rPr>
              <a:t>Simple example</a:t>
            </a:r>
            <a:br>
              <a:rPr lang="en-US" altLang="en-US" sz="1600">
                <a:sym typeface="+mn-ea"/>
              </a:rPr>
            </a:br>
            <a:endParaRPr lang="en-US" altLang="en-US" sz="1600">
              <a:sym typeface="+mn-ea"/>
            </a:endParaRPr>
          </a:p>
          <a:p>
            <a:pPr marL="285750" indent="-285750">
              <a:buFont typeface="Wingdings" panose="05000000000000000000" charset="0"/>
              <a:buChar char="q"/>
            </a:pPr>
            <a:r>
              <a:rPr lang="en-US" altLang="en-US" sz="1600">
                <a:sym typeface="+mn-ea"/>
              </a:rPr>
              <a:t>Scenario: A </a:t>
            </a:r>
            <a:r>
              <a:rPr lang="en-IN" altLang="en-US" sz="1600">
                <a:sym typeface="+mn-ea"/>
              </a:rPr>
              <a:t> </a:t>
            </a:r>
            <a:r>
              <a:rPr lang="en-US" altLang="en-US" sz="1600">
                <a:sym typeface="+mn-ea"/>
              </a:rPr>
              <a:t>1,000 </a:t>
            </a:r>
            <a:r>
              <a:rPr lang="en-IN" altLang="en-US" sz="1600">
                <a:sym typeface="+mn-ea"/>
              </a:rPr>
              <a:t>m $</a:t>
            </a:r>
            <a:r>
              <a:rPr lang="en-US" altLang="en-US" sz="1600">
                <a:sym typeface="+mn-ea"/>
              </a:rPr>
              <a:t> syndicated loan has 10 lenders. One lender wants to sell 100 </a:t>
            </a:r>
            <a:r>
              <a:rPr lang="en-IN" altLang="en-US" sz="1600">
                <a:sym typeface="+mn-ea"/>
              </a:rPr>
              <a:t>m$ </a:t>
            </a:r>
            <a:r>
              <a:rPr lang="en-US" altLang="en-US" sz="1600">
                <a:sym typeface="+mn-ea"/>
              </a:rPr>
              <a:t> of its share to another investor.</a:t>
            </a:r>
            <a:br>
              <a:rPr lang="en-US" altLang="en-US" sz="1600">
                <a:sym typeface="+mn-ea"/>
              </a:rPr>
            </a:br>
            <a:br>
              <a:rPr lang="en-US" altLang="en-US" sz="1600">
                <a:sym typeface="+mn-ea"/>
              </a:rPr>
            </a:br>
            <a:r>
              <a:rPr lang="en-US" altLang="en-US" sz="1600">
                <a:sym typeface="+mn-ea"/>
              </a:rPr>
              <a:t>Without ClearPar: Multiple emails, manual drafts, version mismatches, and delays increase settlement time and risk.</a:t>
            </a:r>
            <a:br>
              <a:rPr lang="en-US" altLang="en-US" sz="1600">
                <a:sym typeface="+mn-ea"/>
              </a:rPr>
            </a:br>
            <a:br>
              <a:rPr lang="en-US" altLang="en-US" sz="1600">
                <a:sym typeface="+mn-ea"/>
              </a:rPr>
            </a:br>
            <a:r>
              <a:rPr lang="en-US" altLang="en-US" sz="1600">
                <a:sym typeface="+mn-ea"/>
              </a:rPr>
              <a:t>With ClearPar: Standard docs are auto-generated, parties communicate in one platform, positions are reconciled, and an audit trail tracks every step—leading to quicker, cleaner settlement.</a:t>
            </a:r>
            <a:br>
              <a:rPr lang="en-US" altLang="en-US" sz="1600">
                <a:sym typeface="+mn-ea"/>
              </a:rPr>
            </a:br>
            <a:br>
              <a:rPr lang="en-US" altLang="en-US" sz="1600">
                <a:sym typeface="+mn-ea"/>
              </a:rPr>
            </a:br>
            <a:r>
              <a:rPr lang="en-US" altLang="en-US" sz="1600">
                <a:sym typeface="+mn-ea"/>
              </a:rPr>
              <a:t>Key takeaways</a:t>
            </a:r>
            <a:br>
              <a:rPr lang="en-US" altLang="en-US" sz="1600">
                <a:sym typeface="+mn-ea"/>
              </a:rPr>
            </a:br>
            <a:r>
              <a:rPr lang="en-US" altLang="en-US" sz="1600">
                <a:sym typeface="+mn-ea"/>
              </a:rPr>
              <a:t>ClearPar is the settlement backbone for syndicated loan trades, making complex, multi-party processes simpler and safer.</a:t>
            </a:r>
            <a:br>
              <a:rPr lang="en-US" altLang="en-US" sz="1600">
                <a:sym typeface="+mn-ea"/>
              </a:rPr>
            </a:br>
            <a:r>
              <a:rPr lang="en-US" altLang="en-US" sz="1600">
                <a:sym typeface="+mn-ea"/>
              </a:rPr>
              <a:t>It boosts liquidity, reduces risk, and supports compliance across primary and secondary loan markets.</a:t>
            </a:r>
            <a:br>
              <a:rPr lang="en-US" altLang="en-US" sz="1600">
                <a:sym typeface="+mn-ea"/>
              </a:rPr>
            </a:br>
            <a:br>
              <a:rPr lang="en-US" altLang="en-US" sz="1600">
                <a:sym typeface="+mn-ea"/>
              </a:rPr>
            </a:br>
            <a:endParaRPr sz="1600" dirty="0">
              <a:latin typeface="+mn-lt"/>
              <a:ea typeface="Cambria" panose="02040503050406030204"/>
              <a:cs typeface="Arial" panose="020B0604020202020204" pitchFamily="34" charset="0"/>
              <a:sym typeface="Cambria" panose="02040503050406030204"/>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grpSp>
        <p:nvGrpSpPr>
          <p:cNvPr id="839" name="Google Shape;839;p48"/>
          <p:cNvGrpSpPr/>
          <p:nvPr/>
        </p:nvGrpSpPr>
        <p:grpSpPr>
          <a:xfrm>
            <a:off x="4820748" y="531121"/>
            <a:ext cx="7371252" cy="6326878"/>
            <a:chOff x="4820748" y="531121"/>
            <a:chExt cx="7371252" cy="6326878"/>
          </a:xfrm>
        </p:grpSpPr>
        <p:sp>
          <p:nvSpPr>
            <p:cNvPr id="840" name="Google Shape;840;p48"/>
            <p:cNvSpPr/>
            <p:nvPr/>
          </p:nvSpPr>
          <p:spPr>
            <a:xfrm>
              <a:off x="4820748" y="531121"/>
              <a:ext cx="7371252" cy="6326878"/>
            </a:xfrm>
            <a:custGeom>
              <a:avLst/>
              <a:gdLst/>
              <a:ahLst/>
              <a:cxnLst/>
              <a:rect l="l" t="t" r="r" b="b"/>
              <a:pathLst>
                <a:path w="7371252" h="6326878" extrusionOk="0">
                  <a:moveTo>
                    <a:pt x="4069070" y="0"/>
                  </a:moveTo>
                  <a:cubicBezTo>
                    <a:pt x="5403395" y="0"/>
                    <a:pt x="6587716" y="642250"/>
                    <a:pt x="7329760" y="1634481"/>
                  </a:cubicBezTo>
                  <a:lnTo>
                    <a:pt x="7371252" y="1692828"/>
                  </a:lnTo>
                  <a:lnTo>
                    <a:pt x="7371252" y="6326878"/>
                  </a:lnTo>
                  <a:lnTo>
                    <a:pt x="683876" y="6326878"/>
                  </a:lnTo>
                  <a:lnTo>
                    <a:pt x="589093" y="6179031"/>
                  </a:lnTo>
                  <a:cubicBezTo>
                    <a:pt x="215270" y="5563799"/>
                    <a:pt x="0" y="4841574"/>
                    <a:pt x="0" y="4069070"/>
                  </a:cubicBezTo>
                  <a:cubicBezTo>
                    <a:pt x="0" y="1821785"/>
                    <a:pt x="1821785" y="0"/>
                    <a:pt x="4069070" y="0"/>
                  </a:cubicBezTo>
                  <a:close/>
                </a:path>
              </a:pathLst>
            </a:custGeom>
            <a:solidFill>
              <a:srgbClr val="E0F7F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cxnSp>
          <p:nvCxnSpPr>
            <p:cNvPr id="841" name="Google Shape;841;p48"/>
            <p:cNvCxnSpPr/>
            <p:nvPr/>
          </p:nvCxnSpPr>
          <p:spPr>
            <a:xfrm>
              <a:off x="11883463" y="4050043"/>
              <a:ext cx="0" cy="1986517"/>
            </a:xfrm>
            <a:prstGeom prst="straightConnector1">
              <a:avLst/>
            </a:prstGeom>
            <a:noFill/>
            <a:ln w="9525" cap="flat" cmpd="sng">
              <a:solidFill>
                <a:srgbClr val="7F7F7F"/>
              </a:solidFill>
              <a:prstDash val="solid"/>
              <a:miter lim="800000"/>
              <a:headEnd type="none" w="sm" len="sm"/>
              <a:tailEnd type="none" w="sm" len="sm"/>
            </a:ln>
          </p:spPr>
        </p:cxnSp>
      </p:grpSp>
      <p:grpSp>
        <p:nvGrpSpPr>
          <p:cNvPr id="842" name="Google Shape;842;p48"/>
          <p:cNvGrpSpPr/>
          <p:nvPr/>
        </p:nvGrpSpPr>
        <p:grpSpPr>
          <a:xfrm>
            <a:off x="0" y="0"/>
            <a:ext cx="3264675" cy="3483123"/>
            <a:chOff x="0" y="0"/>
            <a:chExt cx="3264675" cy="3483123"/>
          </a:xfrm>
        </p:grpSpPr>
        <p:sp>
          <p:nvSpPr>
            <p:cNvPr id="843" name="Google Shape;843;p48"/>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blipFill rotWithShape="1">
              <a:blip r:embed="rId1"/>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844" name="Google Shape;844;p48"/>
            <p:cNvSpPr/>
            <p:nvPr/>
          </p:nvSpPr>
          <p:spPr>
            <a:xfrm>
              <a:off x="0" y="0"/>
              <a:ext cx="3264675" cy="3483123"/>
            </a:xfrm>
            <a:custGeom>
              <a:avLst/>
              <a:gdLst/>
              <a:ahLst/>
              <a:cxnLst/>
              <a:rect l="l" t="t" r="r" b="b"/>
              <a:pathLst>
                <a:path w="3264675" h="3483123" extrusionOk="0">
                  <a:moveTo>
                    <a:pt x="0" y="0"/>
                  </a:moveTo>
                  <a:lnTo>
                    <a:pt x="2576937" y="0"/>
                  </a:lnTo>
                  <a:lnTo>
                    <a:pt x="2683716" y="97048"/>
                  </a:lnTo>
                  <a:cubicBezTo>
                    <a:pt x="3042662" y="455994"/>
                    <a:pt x="3264675" y="951873"/>
                    <a:pt x="3264675" y="1499606"/>
                  </a:cubicBezTo>
                  <a:cubicBezTo>
                    <a:pt x="3264675" y="2595072"/>
                    <a:pt x="2376624" y="3483123"/>
                    <a:pt x="1281158" y="3483123"/>
                  </a:cubicBezTo>
                  <a:cubicBezTo>
                    <a:pt x="801892" y="3483123"/>
                    <a:pt x="362326" y="3313145"/>
                    <a:pt x="19457" y="3030184"/>
                  </a:cubicBezTo>
                  <a:lnTo>
                    <a:pt x="0" y="3012501"/>
                  </a:lnTo>
                  <a:close/>
                </a:path>
              </a:pathLst>
            </a:custGeom>
            <a:solidFill>
              <a:schemeClr val="accent4">
                <a:alpha val="83529"/>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grpSp>
      <p:sp>
        <p:nvSpPr>
          <p:cNvPr id="845" name="Google Shape;845;p48"/>
          <p:cNvSpPr/>
          <p:nvPr/>
        </p:nvSpPr>
        <p:spPr>
          <a:xfrm>
            <a:off x="745108" y="855691"/>
            <a:ext cx="5471182" cy="5471187"/>
          </a:xfrm>
          <a:prstGeom prst="ellipse">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pic>
        <p:nvPicPr>
          <p:cNvPr id="846" name="Google Shape;846;p48" descr="A person in a suit shaking hands with another person&#10;&#10;Description automatically generated"/>
          <p:cNvPicPr preferRelativeResize="0"/>
          <p:nvPr/>
        </p:nvPicPr>
        <p:blipFill rotWithShape="1">
          <a:blip r:embed="rId2"/>
          <a:srcRect l="17301" t="950" r="17301" b="949"/>
          <a:stretch>
            <a:fillRect/>
          </a:stretch>
        </p:blipFill>
        <p:spPr>
          <a:xfrm>
            <a:off x="665986" y="855691"/>
            <a:ext cx="5471182" cy="5471187"/>
          </a:xfrm>
          <a:custGeom>
            <a:avLst/>
            <a:gdLst/>
            <a:ahLst/>
            <a:cxnLst/>
            <a:rect l="l" t="t" r="r" b="b"/>
            <a:pathLst>
              <a:path w="5471182" h="5471188" extrusionOk="0">
                <a:moveTo>
                  <a:pt x="2735591" y="0"/>
                </a:moveTo>
                <a:cubicBezTo>
                  <a:pt x="4246416" y="0"/>
                  <a:pt x="5471182" y="1224767"/>
                  <a:pt x="5471182" y="2735594"/>
                </a:cubicBezTo>
                <a:cubicBezTo>
                  <a:pt x="5471182" y="4246421"/>
                  <a:pt x="4246416" y="5471188"/>
                  <a:pt x="2735591" y="5471188"/>
                </a:cubicBezTo>
                <a:cubicBezTo>
                  <a:pt x="1224766" y="5471188"/>
                  <a:pt x="0" y="4246421"/>
                  <a:pt x="0" y="2735594"/>
                </a:cubicBezTo>
                <a:cubicBezTo>
                  <a:pt x="0" y="1224767"/>
                  <a:pt x="1224766" y="0"/>
                  <a:pt x="2735591" y="0"/>
                </a:cubicBezTo>
                <a:close/>
              </a:path>
            </a:pathLst>
          </a:custGeom>
          <a:noFill/>
          <a:ln>
            <a:noFill/>
          </a:ln>
        </p:spPr>
      </p:pic>
      <p:sp>
        <p:nvSpPr>
          <p:cNvPr id="847" name="Google Shape;847;p48"/>
          <p:cNvSpPr/>
          <p:nvPr/>
        </p:nvSpPr>
        <p:spPr>
          <a:xfrm>
            <a:off x="853414" y="855691"/>
            <a:ext cx="5471183" cy="5471187"/>
          </a:xfrm>
          <a:prstGeom prst="ellipse">
            <a:avLst/>
          </a:prstGeom>
          <a:noFill/>
          <a:ln w="12700" cap="flat" cmpd="sng">
            <a:solidFill>
              <a:srgbClr val="3F3F3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800"/>
              <a:buFont typeface="Arial" panose="020B0604020202020204"/>
              <a:buNone/>
            </a:pPr>
            <a:endParaRPr sz="1800" b="0" i="0" u="none" strike="noStrike" cap="none">
              <a:solidFill>
                <a:srgbClr val="FFFFFF"/>
              </a:solidFill>
              <a:latin typeface="Arial" panose="020B0604020202020204"/>
              <a:ea typeface="Arial" panose="020B0604020202020204"/>
              <a:cs typeface="Arial" panose="020B0604020202020204"/>
              <a:sym typeface="Arial" panose="020B0604020202020204"/>
            </a:endParaRPr>
          </a:p>
        </p:txBody>
      </p:sp>
      <p:sp>
        <p:nvSpPr>
          <p:cNvPr id="848" name="Google Shape;848;p48"/>
          <p:cNvSpPr txBox="1"/>
          <p:nvPr/>
        </p:nvSpPr>
        <p:spPr>
          <a:xfrm>
            <a:off x="6803154" y="3472867"/>
            <a:ext cx="4885246" cy="83099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2AC6D1"/>
              </a:buClr>
              <a:buSzPts val="4800"/>
              <a:buFont typeface="Arial" panose="020B0604020202020204"/>
              <a:buNone/>
            </a:pPr>
            <a:r>
              <a:rPr lang="en-US" sz="4800" b="1" i="0" u="none" strike="noStrike" cap="none">
                <a:solidFill>
                  <a:srgbClr val="2AC6D1"/>
                </a:solidFill>
                <a:latin typeface="Arial" panose="020B0604020202020204"/>
                <a:ea typeface="Arial" panose="020B0604020202020204"/>
                <a:cs typeface="Arial" panose="020B0604020202020204"/>
                <a:sym typeface="Arial" panose="020B0604020202020204"/>
              </a:rPr>
              <a:t>THANK YOU !!!</a:t>
            </a:r>
            <a:endParaRPr sz="20600" b="1" i="0" u="none" strike="noStrike" cap="none">
              <a:solidFill>
                <a:srgbClr val="2AC6D1"/>
              </a:solidFill>
              <a:latin typeface="Arial" panose="020B0604020202020204"/>
              <a:ea typeface="Arial" panose="020B0604020202020204"/>
              <a:cs typeface="Arial" panose="020B0604020202020204"/>
              <a:sym typeface="Arial" panose="020B0604020202020204"/>
            </a:endParaRPr>
          </a:p>
        </p:txBody>
      </p:sp>
      <p:pic>
        <p:nvPicPr>
          <p:cNvPr id="849" name="Google Shape;849;p48" descr="Text&#10;&#10;Description automatically generated"/>
          <p:cNvPicPr preferRelativeResize="0"/>
          <p:nvPr/>
        </p:nvPicPr>
        <p:blipFill rotWithShape="1">
          <a:blip r:embed="rId3"/>
          <a:srcRect l="6879" t="8371" r="6879" b="8371"/>
          <a:stretch>
            <a:fillRect/>
          </a:stretch>
        </p:blipFill>
        <p:spPr>
          <a:xfrm>
            <a:off x="7828034" y="2437493"/>
            <a:ext cx="2835486" cy="830997"/>
          </a:xfrm>
          <a:prstGeom prst="rect">
            <a:avLst/>
          </a:prstGeom>
          <a:noFill/>
          <a:ln>
            <a:noFill/>
          </a:ln>
        </p:spPr>
      </p:pic>
      <p:sp>
        <p:nvSpPr>
          <p:cNvPr id="850" name="Google Shape;850;p48"/>
          <p:cNvSpPr txBox="1"/>
          <p:nvPr/>
        </p:nvSpPr>
        <p:spPr>
          <a:xfrm>
            <a:off x="7892531" y="5411982"/>
            <a:ext cx="2661628" cy="624578"/>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panose="020B0604020202020204"/>
              <a:buNone/>
            </a:pPr>
            <a:r>
              <a:rPr lang="en-US" sz="2000" b="1" i="0" u="none" strike="noStrike" cap="none">
                <a:solidFill>
                  <a:schemeClr val="dk2"/>
                </a:solidFill>
                <a:latin typeface="Arial" panose="020B0604020202020204"/>
                <a:ea typeface="Arial" panose="020B0604020202020204"/>
                <a:cs typeface="Arial" panose="020B0604020202020204"/>
                <a:sym typeface="Arial" panose="020B0604020202020204"/>
              </a:rPr>
              <a:t>Contact us today!</a:t>
            </a:r>
            <a:br>
              <a:rPr lang="en-US" sz="2000" b="1" i="0" u="none" strike="noStrike" cap="none">
                <a:solidFill>
                  <a:schemeClr val="dk2"/>
                </a:solidFill>
                <a:latin typeface="Arial" panose="020B0604020202020204"/>
                <a:ea typeface="Arial" panose="020B0604020202020204"/>
                <a:cs typeface="Arial" panose="020B0604020202020204"/>
                <a:sym typeface="Arial" panose="020B0604020202020204"/>
              </a:rPr>
            </a:br>
            <a:r>
              <a:rPr lang="en-US" sz="2000" b="0" i="0" u="sng" strike="noStrike" cap="none">
                <a:solidFill>
                  <a:schemeClr val="dk2"/>
                </a:solidFill>
                <a:latin typeface="Arial" panose="020B0604020202020204"/>
                <a:ea typeface="Arial" panose="020B0604020202020204"/>
                <a:cs typeface="Arial" panose="020B0604020202020204"/>
                <a:sym typeface="Arial" panose="020B0604020202020204"/>
                <a:hlinkClick r:id="rId4"/>
              </a:rPr>
              <a:t>https://imarticus.org/</a:t>
            </a:r>
            <a:r>
              <a:rPr lang="en-US" sz="2000" b="0" i="0" u="none" strike="noStrike" cap="none">
                <a:solidFill>
                  <a:schemeClr val="dk2"/>
                </a:solidFill>
                <a:latin typeface="Arial" panose="020B0604020202020204"/>
                <a:ea typeface="Arial" panose="020B0604020202020204"/>
                <a:cs typeface="Arial" panose="020B0604020202020204"/>
                <a:sym typeface="Arial" panose="020B0604020202020204"/>
              </a:rPr>
              <a:t> </a:t>
            </a:r>
            <a:br>
              <a:rPr lang="en-US" sz="2000" b="0" i="0" u="none" strike="noStrike" cap="none">
                <a:solidFill>
                  <a:schemeClr val="dk2"/>
                </a:solidFill>
                <a:latin typeface="Arial" panose="020B0604020202020204"/>
                <a:ea typeface="Arial" panose="020B0604020202020204"/>
                <a:cs typeface="Arial" panose="020B0604020202020204"/>
                <a:sym typeface="Arial" panose="020B0604020202020204"/>
              </a:rPr>
            </a:br>
            <a:endParaRPr sz="2000" b="0" i="0" u="none" strike="noStrike" cap="none">
              <a:solidFill>
                <a:schemeClr val="dk2"/>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tags/tag1.xml><?xml version="1.0" encoding="utf-8"?>
<p:tagLst xmlns:p="http://schemas.openxmlformats.org/presentationml/2006/main">
  <p:tag name="TABLE_ENDDRAG_ORIGIN_RECT" val="754*426"/>
  <p:tag name="TABLE_ENDDRAG_RECT" val="61*70*754*426"/>
</p:tagLst>
</file>

<file path=ppt/tags/tag2.xml><?xml version="1.0" encoding="utf-8"?>
<p:tagLst xmlns:p="http://schemas.openxmlformats.org/presentationml/2006/main">
  <p:tag name="TABLE_ENDDRAG_ORIGIN_RECT" val="828*340"/>
  <p:tag name="TABLE_ENDDRAG_RECT" val="51*137*828*340"/>
</p:tagLst>
</file>

<file path=ppt/tags/tag3.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4.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5.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6.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7.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8.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9.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0.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1.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2.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3.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4.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5.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6.xml><?xml version="1.0" encoding="utf-8"?>
<p:tagLst xmlns:p="http://schemas.openxmlformats.org/presentationml/2006/main">
  <p:tag name="KSO_WM_DIAGRAM_VIRTUALLY_FRAME" val="{&quot;height&quot;:359.6155118110236,&quot;left&quot;:19.00314960629921,&quot;top&quot;:129.15196850393698,&quot;width&quot;:892.5037007874016}"/>
</p:tagLst>
</file>

<file path=ppt/tags/tag17.xml><?xml version="1.0" encoding="utf-8"?>
<p:tagLst xmlns:p="http://schemas.openxmlformats.org/presentationml/2006/main">
  <p:tag name="TABLE_ENDDRAG_ORIGIN_RECT" val="836*387"/>
  <p:tag name="TABLE_ENDDRAG_RECT" val="43*103*836*38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29177</Words>
  <Application>WPS Presentation</Application>
  <PresentationFormat>Widescreen</PresentationFormat>
  <Paragraphs>1028</Paragraphs>
  <Slides>46</Slides>
  <Notes>0</Notes>
  <HiddenSlides>0</HiddenSlides>
  <MMClips>0</MMClips>
  <ScaleCrop>false</ScaleCrop>
  <HeadingPairs>
    <vt:vector size="6" baseType="variant">
      <vt:variant>
        <vt:lpstr>已用的字体</vt:lpstr>
      </vt:variant>
      <vt:variant>
        <vt:i4>23</vt:i4>
      </vt:variant>
      <vt:variant>
        <vt:lpstr>主题</vt:lpstr>
      </vt:variant>
      <vt:variant>
        <vt:i4>3</vt:i4>
      </vt:variant>
      <vt:variant>
        <vt:lpstr>幻灯片标题</vt:lpstr>
      </vt:variant>
      <vt:variant>
        <vt:i4>46</vt:i4>
      </vt:variant>
    </vt:vector>
  </HeadingPairs>
  <TitlesOfParts>
    <vt:vector size="72" baseType="lpstr">
      <vt:lpstr>Arial</vt:lpstr>
      <vt:lpstr>SimSun</vt:lpstr>
      <vt:lpstr>Wingdings</vt:lpstr>
      <vt:lpstr>Arial</vt:lpstr>
      <vt:lpstr>Roboto</vt:lpstr>
      <vt:lpstr>Times New Roman</vt:lpstr>
      <vt:lpstr>Montserrat</vt:lpstr>
      <vt:lpstr>굴림</vt:lpstr>
      <vt:lpstr>Cambria</vt:lpstr>
      <vt:lpstr>Lato Medium</vt:lpstr>
      <vt:lpstr>Calibri</vt:lpstr>
      <vt:lpstr>Arial Regular</vt:lpstr>
      <vt:lpstr>Open Sans</vt:lpstr>
      <vt:lpstr>Segoe Print</vt:lpstr>
      <vt:lpstr>MS PGothic</vt:lpstr>
      <vt:lpstr>Cambria</vt:lpstr>
      <vt:lpstr>Calibri</vt:lpstr>
      <vt:lpstr>Microsoft YaHei</vt:lpstr>
      <vt:lpstr>Arial Unicode MS</vt:lpstr>
      <vt:lpstr>Calibri Light</vt:lpstr>
      <vt:lpstr>Century Gothic</vt:lpstr>
      <vt:lpstr>Wingdings</vt:lpstr>
      <vt:lpstr>Malgun Gothic</vt:lpstr>
      <vt:lpstr>Office Theme</vt:lpstr>
      <vt:lpstr>2_Office Theme</vt:lpstr>
      <vt:lpstr>1_Office Theme</vt:lpstr>
      <vt:lpstr>PowerPoint 演示文稿</vt:lpstr>
      <vt:lpstr>PowerPoint 演示文稿</vt:lpstr>
      <vt:lpstr>PowerPoint 演示文稿</vt:lpstr>
      <vt:lpstr>CORPORATE FINANCE LOANS</vt:lpstr>
      <vt:lpstr>CORPORATE FINANCE LOANS</vt:lpstr>
      <vt:lpstr>CORPORATE FINANCE LOANS CONTD.</vt:lpstr>
      <vt:lpstr>FINANCING SOLUTIONS</vt:lpstr>
      <vt:lpstr>Bilateral Loan vs. Syndicated Loan</vt:lpstr>
      <vt:lpstr>Loan Syndication</vt:lpstr>
      <vt:lpstr>PowerPoint 演示文稿</vt:lpstr>
      <vt:lpstr>Loan Syndication Process Flow:</vt:lpstr>
      <vt:lpstr>Loan Syndication Process Flow:</vt:lpstr>
      <vt:lpstr>Loan Syndication Costs/Fees</vt:lpstr>
      <vt:lpstr>Loan Syndication Process Flow:</vt:lpstr>
      <vt:lpstr>Loan Syndication : Primary &amp; Secondary Market</vt:lpstr>
      <vt:lpstr>PowerPoint 演示文稿</vt:lpstr>
      <vt:lpstr>Syndicated Loan Structures </vt:lpstr>
      <vt:lpstr>Syndicated Loan Structures </vt:lpstr>
      <vt:lpstr>PowerPoint 演示文稿</vt:lpstr>
      <vt:lpstr>INTRODUCTION  TO LOAN PROCESS</vt:lpstr>
      <vt:lpstr>LIFE CYCLE OF A SYNDICATE LOAN</vt:lpstr>
      <vt:lpstr>LIFECYCLE OF A SYNDICATE LOAN - CREDIT ANALYSIS </vt:lpstr>
      <vt:lpstr>LIFECYCLE OF A SYNDICATED LOAN CREDIT ANALYSIS</vt:lpstr>
      <vt:lpstr>LIFECYCLE OF A LOAN- COLLATERAL</vt:lpstr>
      <vt:lpstr>LIFECYCLE OF A COMMERCIAL LOAN - COLLATERAL</vt:lpstr>
      <vt:lpstr>LIFECYCLE OF A COMMERCIAL LOAN - UNDERWRITING</vt:lpstr>
      <vt:lpstr>LIFECYCLE OF A LOAN - UNDERWRITING</vt:lpstr>
      <vt:lpstr>LIFECYCLE OF A COMMERCIAL LOAN - LOAN SERVICING</vt:lpstr>
      <vt:lpstr>LIFECYCLE OF A COMMERCIAL LOAN - LOAN SERVICING</vt:lpstr>
      <vt:lpstr>LIFECYCLE OF A CORPORATE LOAN - LOAN DISBURSEMENT</vt:lpstr>
      <vt:lpstr>LIFECYCLE OF A CORPORATE LOAN - LOAN DISBURSEMENT</vt:lpstr>
      <vt:lpstr>LIFECYCLE OF A CORPORATE LOAN - LOAN DISBURSEMENT </vt:lpstr>
      <vt:lpstr>LOAN SERVICING EVENTS</vt:lpstr>
      <vt:lpstr>LOAN SERVICING EVENTS</vt:lpstr>
      <vt:lpstr>LOAN SERVICING EVENTS</vt:lpstr>
      <vt:lpstr>LOAN SERVICING EVENTS</vt:lpstr>
      <vt:lpstr>SUMMARY </vt:lpstr>
      <vt:lpstr>Loan Syndication - Reconciliations Operations</vt:lpstr>
      <vt:lpstr>Reconciliation</vt:lpstr>
      <vt:lpstr>TYPES OF RECON - BREAKS</vt:lpstr>
      <vt:lpstr>RECON BREAKS - FIXING SOLUTIONS</vt:lpstr>
      <vt:lpstr>LOAN SYNDICATION - TOOL</vt:lpstr>
      <vt:lpstr>CLEARPAR - APPLICATION TOOL </vt:lpstr>
      <vt:lpstr>CLEARPAR - APPLICATION TOOL </vt:lpstr>
      <vt:lpstr>CLEARPAR - APPLICATION TOOL </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Ravi Kumar</cp:lastModifiedBy>
  <cp:revision>13</cp:revision>
  <dcterms:created xsi:type="dcterms:W3CDTF">2025-07-23T00:59:00Z</dcterms:created>
  <dcterms:modified xsi:type="dcterms:W3CDTF">2026-04-29T17:47:32Z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A393A5FAC78B42DA9A4E0EB0E2632C7A_13</vt:lpwstr>
  </property>
  <property fmtid="{D5CDD505-2E9C-101B-9397-08002B2CF9AE}" pid="3" name="KSOProductBuildVer">
    <vt:lpwstr>1033-12.2.0.23196</vt:lpwstr>
  </property>
</Properties>
</file>