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155448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3657600" cy="548640"/>
          </a:xfrm>
          <a:prstGeom prst="rect">
            <a:avLst/>
          </a:prstGeom>
          <a:noFill/>
        </p:spPr>
        <p:txBody>
          <a:bodyPr wrap="square">
            <a:spAutoFit/>
          </a:bodyPr>
          <a:lstStyle/>
          <a:p>
            <a:pPr algn="l"/>
            <a:r>
              <a:rPr sz="1300" b="1" i="0">
                <a:solidFill>
                  <a:srgbClr val="8B6914"/>
                </a:solidFill>
              </a:rPr>
              <a:t>CIBOP</a:t>
            </a:r>
          </a:p>
        </p:txBody>
      </p:sp>
      <p:sp>
        <p:nvSpPr>
          <p:cNvPr id="5" name="TextBox 4"/>
          <p:cNvSpPr txBox="1"/>
          <p:nvPr/>
        </p:nvSpPr>
        <p:spPr>
          <a:xfrm>
            <a:off x="457200" y="822960"/>
            <a:ext cx="4572000" cy="457200"/>
          </a:xfrm>
          <a:prstGeom prst="rect">
            <a:avLst/>
          </a:prstGeom>
          <a:noFill/>
        </p:spPr>
        <p:txBody>
          <a:bodyPr wrap="square">
            <a:spAutoFit/>
          </a:bodyPr>
          <a:lstStyle/>
          <a:p>
            <a:pPr algn="l"/>
            <a:r>
              <a:rPr sz="1100" b="0" i="0">
                <a:solidFill>
                  <a:srgbClr val="CCCCCC"/>
                </a:solidFill>
              </a:rPr>
              <a:t>MODULE 8</a:t>
            </a:r>
          </a:p>
        </p:txBody>
      </p:sp>
      <p:sp>
        <p:nvSpPr>
          <p:cNvPr id="6" name="TextBox 5"/>
          <p:cNvSpPr txBox="1"/>
          <p:nvPr/>
        </p:nvSpPr>
        <p:spPr>
          <a:xfrm>
            <a:off x="457200" y="1463040"/>
            <a:ext cx="10972800" cy="2011680"/>
          </a:xfrm>
          <a:prstGeom prst="rect">
            <a:avLst/>
          </a:prstGeom>
          <a:noFill/>
        </p:spPr>
        <p:txBody>
          <a:bodyPr wrap="square">
            <a:spAutoFit/>
          </a:bodyPr>
          <a:lstStyle/>
          <a:p>
            <a:pPr algn="l"/>
            <a:r>
              <a:rPr sz="4400" b="1" i="0">
                <a:solidFill>
                  <a:srgbClr val="FFFFFF"/>
                </a:solidFill>
              </a:rPr>
              <a:t>Securities Trading
Organisation &amp; RDM</a:t>
            </a:r>
          </a:p>
        </p:txBody>
      </p:sp>
      <p:sp>
        <p:nvSpPr>
          <p:cNvPr id="7" name="TextBox 6"/>
          <p:cNvSpPr txBox="1"/>
          <p:nvPr/>
        </p:nvSpPr>
        <p:spPr>
          <a:xfrm>
            <a:off x="457200" y="3566160"/>
            <a:ext cx="9601200" cy="1645920"/>
          </a:xfrm>
          <a:prstGeom prst="rect">
            <a:avLst/>
          </a:prstGeom>
          <a:noFill/>
        </p:spPr>
        <p:txBody>
          <a:bodyPr wrap="square">
            <a:spAutoFit/>
          </a:bodyPr>
          <a:lstStyle/>
          <a:p>
            <a:pPr algn="l"/>
            <a:r>
              <a:rPr sz="1400" b="0" i="1">
                <a:solidFill>
                  <a:srgbClr val="CCDDFF"/>
                </a:solidFill>
              </a:rPr>
              <a:t>Thousands of trades execute every second. Behind every one sits an invisible machine — the Securities Trading Organisation. This module unpacks that machine: who does what, how trades settle, and why the data beneath it all is the difference between a clean book and a catastrophic fail.</a:t>
            </a:r>
          </a:p>
        </p:txBody>
      </p:sp>
      <p:sp>
        <p:nvSpPr>
          <p:cNvPr id="8" name="TextBox 7"/>
          <p:cNvSpPr txBox="1"/>
          <p:nvPr/>
        </p:nvSpPr>
        <p:spPr>
          <a:xfrm>
            <a:off x="457200" y="5486400"/>
            <a:ext cx="4572000" cy="457200"/>
          </a:xfrm>
          <a:prstGeom prst="rect">
            <a:avLst/>
          </a:prstGeom>
          <a:noFill/>
        </p:spPr>
        <p:txBody>
          <a:bodyPr wrap="square">
            <a:spAutoFit/>
          </a:bodyPr>
          <a:lstStyle/>
          <a:p>
            <a:pPr algn="l"/>
            <a:r>
              <a:rPr sz="1300" b="1" i="0">
                <a:solidFill>
                  <a:srgbClr val="FFFFFF"/>
                </a:solidFill>
              </a:rPr>
              <a:t>STO.1 – STO.6</a:t>
            </a:r>
          </a:p>
        </p:txBody>
      </p:sp>
      <p:sp>
        <p:nvSpPr>
          <p:cNvPr id="9" name="TextBox 8"/>
          <p:cNvSpPr txBox="1"/>
          <p:nvPr/>
        </p:nvSpPr>
        <p:spPr>
          <a:xfrm>
            <a:off x="457200" y="5943600"/>
            <a:ext cx="9144000" cy="548640"/>
          </a:xfrm>
          <a:prstGeom prst="rect">
            <a:avLst/>
          </a:prstGeom>
          <a:noFill/>
        </p:spPr>
        <p:txBody>
          <a:bodyPr wrap="square">
            <a:spAutoFit/>
          </a:bodyPr>
          <a:lstStyle/>
          <a:p>
            <a:pPr algn="l"/>
            <a:r>
              <a:rPr sz="1100" b="0" i="0">
                <a:solidFill>
                  <a:srgbClr val="CCCCCC"/>
                </a:solidFill>
              </a:rPr>
              <a:t>Front • Middle • Back Office • Reference Data • Corporate 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STO.1 — Introduction to the Securities Trading Organisation</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Quick Recap</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143000"/>
            <a:ext cx="11640312" cy="36576"/>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10972800" cy="5303520"/>
          </a:xfrm>
          <a:prstGeom prst="rect">
            <a:avLst/>
          </a:prstGeom>
          <a:noFill/>
        </p:spPr>
        <p:txBody>
          <a:bodyPr wrap="square">
            <a:spAutoFit/>
          </a:bodyPr>
          <a:lstStyle/>
          <a:p>
            <a:pPr algn="l"/>
            <a:r>
              <a:rPr sz="1900" b="1">
                <a:solidFill>
                  <a:srgbClr val="005F5F"/>
                </a:solidFill>
              </a:rPr>
              <a:t>Before we begin — key ideas from prior learning:</a:t>
            </a:r>
          </a:p>
          <a:p>
            <a:pPr lvl="1" algn="l"/>
            <a:r>
              <a:rPr sz="1700">
                <a:solidFill>
                  <a:srgbClr val="1A1A2E"/>
                </a:solidFill>
              </a:rPr>
              <a:t>• Capital markets involve the buying and selling of securities — equities, bonds, derivatives.</a:t>
            </a:r>
          </a:p>
          <a:p>
            <a:pPr lvl="1" algn="l"/>
            <a:r>
              <a:rPr sz="1700">
                <a:solidFill>
                  <a:srgbClr val="1A1A2E"/>
                </a:solidFill>
              </a:rPr>
              <a:t>• A trade is not complete at execution — it must be confirmed, cleared, and settled.</a:t>
            </a:r>
          </a:p>
          <a:p>
            <a:pPr lvl="1" algn="l"/>
            <a:r>
              <a:rPr sz="1700">
                <a:solidFill>
                  <a:srgbClr val="1A1A2E"/>
                </a:solidFill>
              </a:rPr>
              <a:t>• Multiple parties are involved: the bank, counterparty, exchange, clearinghouse, and custodian.</a:t>
            </a:r>
          </a:p>
          <a:p>
            <a:pPr lvl="1" algn="l"/>
            <a:r>
              <a:rPr sz="1700">
                <a:solidFill>
                  <a:srgbClr val="1A1A2E"/>
                </a:solidFill>
              </a:rPr>
              <a:t>• Operational failures — settlement fails, reconciliation breaks — carry financial and regulatory costs.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STO.1 — Introduction to the Securities Trading Organisation</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Scenario / Case Study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11430000" cy="502920"/>
          </a:xfrm>
          <a:prstGeom prst="rect">
            <a:avLst/>
          </a:prstGeom>
          <a:noFill/>
        </p:spPr>
        <p:txBody>
          <a:bodyPr wrap="square">
            <a:spAutoFit/>
          </a:bodyPr>
          <a:lstStyle/>
          <a:p>
            <a:pPr algn="l"/>
            <a:r>
              <a:rPr sz="1600" b="1" i="0">
                <a:solidFill>
                  <a:srgbClr val="1E3A5F"/>
                </a:solidFill>
              </a:rPr>
              <a:t>Day in the Life: Trade 1234 Meets the STO</a:t>
            </a:r>
          </a:p>
        </p:txBody>
      </p:sp>
      <p:sp>
        <p:nvSpPr>
          <p:cNvPr id="9" name="TextBox 8"/>
          <p:cNvSpPr txBox="1"/>
          <p:nvPr/>
        </p:nvSpPr>
        <p:spPr>
          <a:xfrm>
            <a:off x="365760" y="1783080"/>
            <a:ext cx="11247120" cy="3108960"/>
          </a:xfrm>
          <a:prstGeom prst="rect">
            <a:avLst/>
          </a:prstGeom>
          <a:noFill/>
        </p:spPr>
        <p:txBody>
          <a:bodyPr wrap="square">
            <a:spAutoFit/>
          </a:bodyPr>
          <a:lstStyle/>
          <a:p>
            <a:pPr algn="l"/>
            <a:r>
              <a:rPr sz="1400" b="0" i="0">
                <a:solidFill>
                  <a:srgbClr val="1A1A2E"/>
                </a:solidFill>
              </a:rPr>
              <a:t>At 10:03 AM, a fund manager instructs CIBOP Bank to buy 500,000 shares of HDFC Bank at market. The order enters the OMS, passes pre-trade compliance checks, and hits the NSE in 200 milliseconds. Fill confirmed. Now the back office has until T+1 to confirm the trade with the counterparty, instruct the custodian, and ensure the securities arrive in the client's account. Four systems, twelve people, and one golden rule: no settlement failure.</a:t>
            </a:r>
          </a:p>
        </p:txBody>
      </p:sp>
      <p:sp>
        <p:nvSpPr>
          <p:cNvPr id="10" name="Rectangle 9"/>
          <p:cNvSpPr/>
          <p:nvPr/>
        </p:nvSpPr>
        <p:spPr>
          <a:xfrm>
            <a:off x="274320" y="5029200"/>
            <a:ext cx="11640312" cy="1554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120640"/>
            <a:ext cx="11155680" cy="1371600"/>
          </a:xfrm>
          <a:prstGeom prst="rect">
            <a:avLst/>
          </a:prstGeom>
          <a:noFill/>
        </p:spPr>
        <p:txBody>
          <a:bodyPr wrap="square">
            <a:spAutoFit/>
          </a:bodyPr>
          <a:lstStyle/>
          <a:p>
            <a:pPr algn="l"/>
            <a:r>
              <a:rPr sz="1300" b="0" i="1">
                <a:solidFill>
                  <a:srgbClr val="FFFFFF"/>
                </a:solidFill>
              </a:rPr>
              <a:t>💡  Think about it: If any one of the three STO divisions — front, middle, back — makes an error, who catches it, and what is the cost?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STO.1 — Introduction to the Securities Trading Organisation</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Key Concept</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1E3A5F"/>
                </a:solidFill>
              </a:rPr>
              <a:t>The Three Divisions of the STO</a:t>
            </a:r>
          </a:p>
        </p:txBody>
      </p:sp>
      <p:sp>
        <p:nvSpPr>
          <p:cNvPr id="9" name="TextBox 8"/>
          <p:cNvSpPr txBox="1"/>
          <p:nvPr/>
        </p:nvSpPr>
        <p:spPr>
          <a:xfrm>
            <a:off x="457200" y="1828800"/>
            <a:ext cx="10972800" cy="4114800"/>
          </a:xfrm>
          <a:prstGeom prst="rect">
            <a:avLst/>
          </a:prstGeom>
          <a:noFill/>
        </p:spPr>
        <p:txBody>
          <a:bodyPr wrap="square">
            <a:spAutoFit/>
          </a:bodyPr>
          <a:lstStyle/>
          <a:p>
            <a:pPr lvl="1" algn="l"/>
            <a:r>
              <a:rPr sz="1500">
                <a:solidFill>
                  <a:srgbClr val="1A1A2E"/>
                </a:solidFill>
              </a:rPr>
              <a:t>• FRONT OFFICE: Revenue-generating — traders, sales, research, structuring. Executes trades and manages client relationships.</a:t>
            </a:r>
          </a:p>
          <a:p>
            <a:pPr lvl="1" algn="l"/>
            <a:r>
              <a:rPr sz="1500">
                <a:solidFill>
                  <a:srgbClr val="1A1A2E"/>
                </a:solidFill>
              </a:rPr>
              <a:t>• MIDDLE OFFICE: Governance layer — risk management, P&amp;L attribution, independent price verification, compliance.</a:t>
            </a:r>
          </a:p>
          <a:p>
            <a:pPr lvl="1" algn="l"/>
            <a:r>
              <a:rPr sz="1500">
                <a:solidFill>
                  <a:srgbClr val="1A1A2E"/>
                </a:solidFill>
              </a:rPr>
              <a:t>• BACK OFFICE: Settlement engine — confirms trades, instructs custodians, reconciles positions, processes corporate actions.</a:t>
            </a:r>
          </a:p>
          <a:p>
            <a:pPr lvl="1" algn="l"/>
            <a:r>
              <a:rPr sz="1500">
                <a:solidFill>
                  <a:srgbClr val="1A1A2E"/>
                </a:solidFill>
              </a:rPr>
              <a:t>• CHINESE WALL: Mandatory information barrier between front office and back/middle office — prevents insider trading and front-running.</a:t>
            </a:r>
          </a:p>
          <a:p>
            <a:pPr lvl="1" algn="l"/>
            <a:r>
              <a:rPr sz="1500">
                <a:solidFill>
                  <a:srgbClr val="1A1A2E"/>
                </a:solidFill>
              </a:rPr>
              <a:t>• STP RATE: Straight-Through Processing — the % of trades that settle without manual intervention. Target: &gt;95%.</a:t>
            </a:r>
          </a:p>
        </p:txBody>
      </p:sp>
      <p:sp>
        <p:nvSpPr>
          <p:cNvPr id="10" name="Rectangle 9"/>
          <p:cNvSpPr/>
          <p:nvPr/>
        </p:nvSpPr>
        <p:spPr>
          <a:xfrm>
            <a:off x="365760" y="5577840"/>
            <a:ext cx="1143000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623560"/>
            <a:ext cx="11155680" cy="914400"/>
          </a:xfrm>
          <a:prstGeom prst="rect">
            <a:avLst/>
          </a:prstGeom>
          <a:noFill/>
        </p:spPr>
        <p:txBody>
          <a:bodyPr wrap="square">
            <a:spAutoFit/>
          </a:bodyPr>
          <a:lstStyle/>
          <a:p>
            <a:pPr algn="l"/>
            <a:r>
              <a:rPr sz="1000" b="0" i="1">
                <a:solidFill>
                  <a:srgbClr val="555555"/>
                </a:solidFill>
              </a:rPr>
              <a:t>[DIAGRAM: See Source Slide — STO Three-Division org chart with role examples in each division]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STO.1 — Introduction to the Securities Trading Organisation</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Going Deeper</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8B6914"/>
                </a:solidFill>
              </a:rPr>
              <a:t>STP Rate, Settlement Metrics &amp; Systems</a:t>
            </a:r>
          </a:p>
        </p:txBody>
      </p:sp>
      <p:sp>
        <p:nvSpPr>
          <p:cNvPr id="9" name="TextBox 8"/>
          <p:cNvSpPr txBox="1"/>
          <p:nvPr/>
        </p:nvSpPr>
        <p:spPr>
          <a:xfrm>
            <a:off x="457200" y="1828800"/>
            <a:ext cx="10972800" cy="4572000"/>
          </a:xfrm>
          <a:prstGeom prst="rect">
            <a:avLst/>
          </a:prstGeom>
          <a:noFill/>
        </p:spPr>
        <p:txBody>
          <a:bodyPr wrap="square">
            <a:spAutoFit/>
          </a:bodyPr>
          <a:lstStyle/>
          <a:p>
            <a:pPr lvl="1" algn="l"/>
            <a:r>
              <a:rPr sz="1400">
                <a:solidFill>
                  <a:srgbClr val="FFFFFF"/>
                </a:solidFill>
              </a:rPr>
              <a:t>• Settlement fail rate: &lt;1% is the industry benchmark; CSDR/SEBI impose financial penalties above threshold.</a:t>
            </a:r>
          </a:p>
          <a:p>
            <a:pPr lvl="1" algn="l"/>
            <a:r>
              <a:rPr sz="1400">
                <a:solidFill>
                  <a:srgbClr val="FFFFFF"/>
                </a:solidFill>
              </a:rPr>
              <a:t>• OMS (Order Management System) → EMS (Execution) → Risk System → Settlement System: each feeds the next.</a:t>
            </a:r>
          </a:p>
          <a:p>
            <a:pPr lvl="1" algn="l"/>
            <a:r>
              <a:rPr sz="1400">
                <a:solidFill>
                  <a:srgbClr val="FFFFFF"/>
                </a:solidFill>
              </a:rPr>
              <a:t>• A break in the system chain causes manual intervention — raising cost-per-trade and operational risk.</a:t>
            </a:r>
          </a:p>
          <a:p>
            <a:pPr lvl="1" algn="l"/>
            <a:r>
              <a:rPr sz="1400">
                <a:solidFill>
                  <a:srgbClr val="FFFFFF"/>
                </a:solidFill>
              </a:rPr>
              <a:t>• Cost per trade = total operational cost / trade volume — the metric that drives automation investment.</a:t>
            </a:r>
          </a:p>
          <a:p>
            <a:pPr lvl="1" algn="l"/>
            <a:r>
              <a:rPr sz="1400">
                <a:solidFill>
                  <a:srgbClr val="FFFFFF"/>
                </a:solidFill>
              </a:rPr>
              <a:t>• Reconciliation breaks aged &gt;3 days are escalated to management and flagged in audit/compliance reports.</a:t>
            </a:r>
          </a:p>
          <a:p>
            <a:pPr lvl="1" algn="l"/>
            <a:r>
              <a:rPr sz="1400">
                <a:solidFill>
                  <a:srgbClr val="FFFFFF"/>
                </a:solidFill>
              </a:rPr>
              <a:t>• The Chinese Wall is enforced via physical separation, IT access controls, and email monitoring policies.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STO.1 — Introduction to the Securities Trading Organisation</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Think &amp; Discuss</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0972800" cy="502920"/>
          </a:xfrm>
          <a:prstGeom prst="rect">
            <a:avLst/>
          </a:prstGeom>
          <a:noFill/>
        </p:spPr>
        <p:txBody>
          <a:bodyPr wrap="square">
            <a:spAutoFit/>
          </a:bodyPr>
          <a:lstStyle/>
          <a:p>
            <a:pPr algn="l"/>
            <a:r>
              <a:rPr sz="1600" b="1" i="0">
                <a:solidFill>
                  <a:srgbClr val="1E3A5F"/>
                </a:solidFill>
              </a:rPr>
              <a:t>Discussion Questions</a:t>
            </a:r>
          </a:p>
        </p:txBody>
      </p:sp>
      <p:sp>
        <p:nvSpPr>
          <p:cNvPr id="9" name="Rectangle 8"/>
          <p:cNvSpPr/>
          <p:nvPr/>
        </p:nvSpPr>
        <p:spPr>
          <a:xfrm>
            <a:off x="365760" y="17830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11064240" cy="1005840"/>
          </a:xfrm>
          <a:prstGeom prst="rect">
            <a:avLst/>
          </a:prstGeom>
          <a:noFill/>
        </p:spPr>
        <p:txBody>
          <a:bodyPr wrap="square">
            <a:spAutoFit/>
          </a:bodyPr>
          <a:lstStyle/>
          <a:p>
            <a:pPr algn="l"/>
            <a:r>
              <a:rPr sz="1400" b="0" i="0">
                <a:solidFill>
                  <a:srgbClr val="1A1A2E"/>
                </a:solidFill>
              </a:rPr>
              <a:t>Q1.  An STP rate of 92% sounds impressive — but at a bank processing 200,000 trades per day, how many manual interventions does that represent? What are the cost and risk implications?</a:t>
            </a:r>
          </a:p>
        </p:txBody>
      </p:sp>
      <p:sp>
        <p:nvSpPr>
          <p:cNvPr id="11" name="Rectangle 10"/>
          <p:cNvSpPr/>
          <p:nvPr/>
        </p:nvSpPr>
        <p:spPr>
          <a:xfrm>
            <a:off x="365760" y="31546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46120"/>
            <a:ext cx="11064240" cy="1005840"/>
          </a:xfrm>
          <a:prstGeom prst="rect">
            <a:avLst/>
          </a:prstGeom>
          <a:noFill/>
        </p:spPr>
        <p:txBody>
          <a:bodyPr wrap="square">
            <a:spAutoFit/>
          </a:bodyPr>
          <a:lstStyle/>
          <a:p>
            <a:pPr algn="l"/>
            <a:r>
              <a:rPr sz="1400" b="0" i="0">
                <a:solidFill>
                  <a:srgbClr val="1A1A2E"/>
                </a:solidFill>
              </a:rPr>
              <a:t>Q2.  The Chinese Wall is a regulatory requirement, but does it ever create operational problems? How do banks manage legitimate communication needs across the wall?</a:t>
            </a:r>
          </a:p>
        </p:txBody>
      </p:sp>
      <p:sp>
        <p:nvSpPr>
          <p:cNvPr id="13" name="Rectangle 12"/>
          <p:cNvSpPr/>
          <p:nvPr/>
        </p:nvSpPr>
        <p:spPr>
          <a:xfrm>
            <a:off x="365760" y="45262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617720"/>
            <a:ext cx="11064240" cy="1005840"/>
          </a:xfrm>
          <a:prstGeom prst="rect">
            <a:avLst/>
          </a:prstGeom>
          <a:noFill/>
        </p:spPr>
        <p:txBody>
          <a:bodyPr wrap="square">
            <a:spAutoFit/>
          </a:bodyPr>
          <a:lstStyle/>
          <a:p>
            <a:pPr algn="l"/>
            <a:r>
              <a:rPr sz="1400" b="0" i="0">
                <a:solidFill>
                  <a:srgbClr val="1A1A2E"/>
                </a:solidFill>
              </a:rPr>
              <a:t>Q3.  If you had to improve one STO performance metric — STP rate, settlement fail rate, or reconciliation breaks — which would you choose and why?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STO.1 — Introduction to the Securities Trading Organisation</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Interview Ready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02920"/>
          </a:xfrm>
          <a:prstGeom prst="rect">
            <a:avLst/>
          </a:prstGeom>
          <a:noFill/>
        </p:spPr>
        <p:txBody>
          <a:bodyPr wrap="square">
            <a:spAutoFit/>
          </a:bodyPr>
          <a:lstStyle/>
          <a:p>
            <a:pPr algn="l"/>
            <a:r>
              <a:rPr sz="1600" b="1" i="0">
                <a:solidFill>
                  <a:srgbClr val="8B6914"/>
                </a:solidFill>
              </a:rPr>
              <a:t>🎯  Questions You Must Be Able to Answer</a:t>
            </a:r>
          </a:p>
        </p:txBody>
      </p:sp>
      <p:sp>
        <p:nvSpPr>
          <p:cNvPr id="9" name="Rectangle 8"/>
          <p:cNvSpPr/>
          <p:nvPr/>
        </p:nvSpPr>
        <p:spPr>
          <a:xfrm>
            <a:off x="365760" y="182880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74519"/>
            <a:ext cx="11064240" cy="457200"/>
          </a:xfrm>
          <a:prstGeom prst="rect">
            <a:avLst/>
          </a:prstGeom>
          <a:noFill/>
        </p:spPr>
        <p:txBody>
          <a:bodyPr wrap="square">
            <a:spAutoFit/>
          </a:bodyPr>
          <a:lstStyle/>
          <a:p>
            <a:pPr algn="l"/>
            <a:r>
              <a:rPr sz="1200" b="1" i="0">
                <a:solidFill>
                  <a:srgbClr val="8B6914"/>
                </a:solidFill>
              </a:rPr>
              <a:t>Q: What are the three main divisions of a Securities Trading Organisation?</a:t>
            </a:r>
          </a:p>
        </p:txBody>
      </p:sp>
      <p:sp>
        <p:nvSpPr>
          <p:cNvPr id="11" name="TextBox 10"/>
          <p:cNvSpPr txBox="1"/>
          <p:nvPr/>
        </p:nvSpPr>
        <p:spPr>
          <a:xfrm>
            <a:off x="502920" y="2331720"/>
            <a:ext cx="11064240" cy="777240"/>
          </a:xfrm>
          <a:prstGeom prst="rect">
            <a:avLst/>
          </a:prstGeom>
          <a:noFill/>
        </p:spPr>
        <p:txBody>
          <a:bodyPr wrap="square">
            <a:spAutoFit/>
          </a:bodyPr>
          <a:lstStyle/>
          <a:p>
            <a:pPr algn="l"/>
            <a:r>
              <a:rPr sz="1100" b="0" i="0">
                <a:solidFill>
                  <a:srgbClr val="FFFFFF"/>
                </a:solidFill>
              </a:rPr>
              <a:t>A: Front Office (revenue/execution), Middle Office (risk/governance/P&amp;L), Back Office (operations/settlement/custody/reconciliation).</a:t>
            </a:r>
          </a:p>
        </p:txBody>
      </p:sp>
      <p:sp>
        <p:nvSpPr>
          <p:cNvPr id="12" name="Rectangle 11"/>
          <p:cNvSpPr/>
          <p:nvPr/>
        </p:nvSpPr>
        <p:spPr>
          <a:xfrm>
            <a:off x="365760" y="329184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37560"/>
            <a:ext cx="11064240" cy="457200"/>
          </a:xfrm>
          <a:prstGeom prst="rect">
            <a:avLst/>
          </a:prstGeom>
          <a:noFill/>
        </p:spPr>
        <p:txBody>
          <a:bodyPr wrap="square">
            <a:spAutoFit/>
          </a:bodyPr>
          <a:lstStyle/>
          <a:p>
            <a:pPr algn="l"/>
            <a:r>
              <a:rPr sz="1200" b="1" i="0">
                <a:solidFill>
                  <a:srgbClr val="8B6914"/>
                </a:solidFill>
              </a:rPr>
              <a:t>Q: What is Straight-Through Processing (STP) and why does it matter?</a:t>
            </a:r>
          </a:p>
        </p:txBody>
      </p:sp>
      <p:sp>
        <p:nvSpPr>
          <p:cNvPr id="14" name="TextBox 13"/>
          <p:cNvSpPr txBox="1"/>
          <p:nvPr/>
        </p:nvSpPr>
        <p:spPr>
          <a:xfrm>
            <a:off x="502920" y="3794760"/>
            <a:ext cx="11064240" cy="777240"/>
          </a:xfrm>
          <a:prstGeom prst="rect">
            <a:avLst/>
          </a:prstGeom>
          <a:noFill/>
        </p:spPr>
        <p:txBody>
          <a:bodyPr wrap="square">
            <a:spAutoFit/>
          </a:bodyPr>
          <a:lstStyle/>
          <a:p>
            <a:pPr algn="l"/>
            <a:r>
              <a:rPr sz="1100" b="0" i="0">
                <a:solidFill>
                  <a:srgbClr val="FFFFFF"/>
                </a:solidFill>
              </a:rPr>
              <a:t>A: STP is automated trade processing from execution to settlement with zero manual intervention. A high STP rate reduces cost, operational risk, and settlement fails.</a:t>
            </a:r>
          </a:p>
        </p:txBody>
      </p:sp>
      <p:sp>
        <p:nvSpPr>
          <p:cNvPr id="15" name="Rectangle 14"/>
          <p:cNvSpPr/>
          <p:nvPr/>
        </p:nvSpPr>
        <p:spPr>
          <a:xfrm>
            <a:off x="365760" y="475488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00600"/>
            <a:ext cx="11064240" cy="457200"/>
          </a:xfrm>
          <a:prstGeom prst="rect">
            <a:avLst/>
          </a:prstGeom>
          <a:noFill/>
        </p:spPr>
        <p:txBody>
          <a:bodyPr wrap="square">
            <a:spAutoFit/>
          </a:bodyPr>
          <a:lstStyle/>
          <a:p>
            <a:pPr algn="l"/>
            <a:r>
              <a:rPr sz="1200" b="1" i="0">
                <a:solidFill>
                  <a:srgbClr val="8B6914"/>
                </a:solidFill>
              </a:rPr>
              <a:t>Q: What is the Chinese Wall and why is it legally required?</a:t>
            </a:r>
          </a:p>
        </p:txBody>
      </p:sp>
      <p:sp>
        <p:nvSpPr>
          <p:cNvPr id="17" name="TextBox 16"/>
          <p:cNvSpPr txBox="1"/>
          <p:nvPr/>
        </p:nvSpPr>
        <p:spPr>
          <a:xfrm>
            <a:off x="502920" y="5257800"/>
            <a:ext cx="11064240" cy="777240"/>
          </a:xfrm>
          <a:prstGeom prst="rect">
            <a:avLst/>
          </a:prstGeom>
          <a:noFill/>
        </p:spPr>
        <p:txBody>
          <a:bodyPr wrap="square">
            <a:spAutoFit/>
          </a:bodyPr>
          <a:lstStyle/>
          <a:p>
            <a:pPr algn="l"/>
            <a:r>
              <a:rPr sz="1100" b="0" i="0">
                <a:solidFill>
                  <a:srgbClr val="FFFFFF"/>
                </a:solidFill>
              </a:rPr>
              <a:t>A: An information barrier preventing front office traders from accessing client or settlement data in the back/middle office — required to prevent insider trading and front-running.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STO.2 — Front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Quick Recap</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143000"/>
            <a:ext cx="11640312" cy="36576"/>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10972800" cy="5303520"/>
          </a:xfrm>
          <a:prstGeom prst="rect">
            <a:avLst/>
          </a:prstGeom>
          <a:noFill/>
        </p:spPr>
        <p:txBody>
          <a:bodyPr wrap="square">
            <a:spAutoFit/>
          </a:bodyPr>
          <a:lstStyle/>
          <a:p>
            <a:pPr algn="l"/>
            <a:r>
              <a:rPr sz="1900" b="1">
                <a:solidFill>
                  <a:srgbClr val="005F5F"/>
                </a:solidFill>
              </a:rPr>
              <a:t>Before we begin — key ideas from prior learning:</a:t>
            </a:r>
          </a:p>
          <a:p>
            <a:pPr lvl="1" algn="l"/>
            <a:r>
              <a:rPr sz="1700">
                <a:solidFill>
                  <a:srgbClr val="1A1A2E"/>
                </a:solidFill>
              </a:rPr>
              <a:t>• The front office generates revenue through trading, sales, research, and structuring.</a:t>
            </a:r>
          </a:p>
          <a:p>
            <a:pPr lvl="1" algn="l"/>
            <a:r>
              <a:rPr sz="1700">
                <a:solidFill>
                  <a:srgbClr val="1A1A2E"/>
                </a:solidFill>
              </a:rPr>
              <a:t>• Orders originate from clients, flow through sales to traders, and are executed on market.</a:t>
            </a:r>
          </a:p>
          <a:p>
            <a:pPr lvl="1" algn="l"/>
            <a:r>
              <a:rPr sz="1700">
                <a:solidFill>
                  <a:srgbClr val="1A1A2E"/>
                </a:solidFill>
              </a:rPr>
              <a:t>• The OMS manages orders pre- and post-execution; the EMS routes orders to exchanges.</a:t>
            </a:r>
          </a:p>
          <a:p>
            <a:pPr lvl="1" algn="l"/>
            <a:r>
              <a:rPr sz="1700">
                <a:solidFill>
                  <a:srgbClr val="1A1A2E"/>
                </a:solidFill>
              </a:rPr>
              <a:t>• Best execution is a regulatory obligation under MiFID II and SEBI rules.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STO.2 — Front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Scenario / Case Study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11430000" cy="502920"/>
          </a:xfrm>
          <a:prstGeom prst="rect">
            <a:avLst/>
          </a:prstGeom>
          <a:noFill/>
        </p:spPr>
        <p:txBody>
          <a:bodyPr wrap="square">
            <a:spAutoFit/>
          </a:bodyPr>
          <a:lstStyle/>
          <a:p>
            <a:pPr algn="l"/>
            <a:r>
              <a:rPr sz="1600" b="1" i="0">
                <a:solidFill>
                  <a:srgbClr val="1E3A5F"/>
                </a:solidFill>
              </a:rPr>
              <a:t>The Wrong-Side Trade</a:t>
            </a:r>
          </a:p>
        </p:txBody>
      </p:sp>
      <p:sp>
        <p:nvSpPr>
          <p:cNvPr id="9" name="TextBox 8"/>
          <p:cNvSpPr txBox="1"/>
          <p:nvPr/>
        </p:nvSpPr>
        <p:spPr>
          <a:xfrm>
            <a:off x="365760" y="1783080"/>
            <a:ext cx="11247120" cy="3108960"/>
          </a:xfrm>
          <a:prstGeom prst="rect">
            <a:avLst/>
          </a:prstGeom>
          <a:noFill/>
        </p:spPr>
        <p:txBody>
          <a:bodyPr wrap="square">
            <a:spAutoFit/>
          </a:bodyPr>
          <a:lstStyle/>
          <a:p>
            <a:pPr algn="l"/>
            <a:r>
              <a:rPr sz="1400" b="0" i="0">
                <a:solidFill>
                  <a:srgbClr val="1A1A2E"/>
                </a:solidFill>
              </a:rPr>
              <a:t>At 2:15 PM, an equity trader at CIBOP Bank executes what she believes is a client sell order for 1 million Infosys shares. She enters the trade as a BUY instead. The error is not caught until the middle office P&amp;L attribution review at end of day — by which point Infosys has moved Rs 12 per share. The bank is now long 1 million shares it should not hold, with a Rs 1.2 crore market risk exposure. The error log is filed, the risk desk is alerted, and the client is never told — but the compliance team certainly is.</a:t>
            </a:r>
          </a:p>
        </p:txBody>
      </p:sp>
      <p:sp>
        <p:nvSpPr>
          <p:cNvPr id="10" name="Rectangle 9"/>
          <p:cNvSpPr/>
          <p:nvPr/>
        </p:nvSpPr>
        <p:spPr>
          <a:xfrm>
            <a:off x="274320" y="5029200"/>
            <a:ext cx="11640312" cy="1554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120640"/>
            <a:ext cx="11155680" cy="1371600"/>
          </a:xfrm>
          <a:prstGeom prst="rect">
            <a:avLst/>
          </a:prstGeom>
          <a:noFill/>
        </p:spPr>
        <p:txBody>
          <a:bodyPr wrap="square">
            <a:spAutoFit/>
          </a:bodyPr>
          <a:lstStyle/>
          <a:p>
            <a:pPr algn="l"/>
            <a:r>
              <a:rPr sz="1300" b="0" i="1">
                <a:solidFill>
                  <a:srgbClr val="FFFFFF"/>
                </a:solidFill>
              </a:rPr>
              <a:t>💡  Think about it: What controls should have caught this before end of day? And who bears the cost of the error?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STO.2 — Front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Key Concept</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1E3A5F"/>
                </a:solidFill>
              </a:rPr>
              <a:t>Order Flow &amp; Best Execution</a:t>
            </a:r>
          </a:p>
        </p:txBody>
      </p:sp>
      <p:sp>
        <p:nvSpPr>
          <p:cNvPr id="9" name="TextBox 8"/>
          <p:cNvSpPr txBox="1"/>
          <p:nvPr/>
        </p:nvSpPr>
        <p:spPr>
          <a:xfrm>
            <a:off x="457200" y="1828800"/>
            <a:ext cx="10972800" cy="4114800"/>
          </a:xfrm>
          <a:prstGeom prst="rect">
            <a:avLst/>
          </a:prstGeom>
          <a:noFill/>
        </p:spPr>
        <p:txBody>
          <a:bodyPr wrap="square">
            <a:spAutoFit/>
          </a:bodyPr>
          <a:lstStyle/>
          <a:p>
            <a:pPr lvl="1" algn="l"/>
            <a:r>
              <a:rPr sz="1500">
                <a:solidFill>
                  <a:srgbClr val="1A1A2E"/>
                </a:solidFill>
              </a:rPr>
              <a:t>• Order Flow: Client → Sales (order received, logged) → Trader (execution instruction with algo choice) → OMS → EMS → Exchange → Fill confirmation → Back to OMS.</a:t>
            </a:r>
          </a:p>
          <a:p>
            <a:pPr lvl="1" algn="l"/>
            <a:r>
              <a:rPr sz="1500">
                <a:solidFill>
                  <a:srgbClr val="1A1A2E"/>
                </a:solidFill>
              </a:rPr>
              <a:t>• Pre-trade Compliance Checks: OMS automatically checks restricted list, position limits, account eligibility before releasing any order to market.</a:t>
            </a:r>
          </a:p>
          <a:p>
            <a:pPr lvl="1" algn="l"/>
            <a:r>
              <a:rPr sz="1500">
                <a:solidFill>
                  <a:srgbClr val="1A1A2E"/>
                </a:solidFill>
              </a:rPr>
              <a:t>• VWAP / TWAP / IS Algorithms: execution strategies that balance market impact against speed — selected based on order size, urgency, and market conditions.</a:t>
            </a:r>
          </a:p>
          <a:p>
            <a:pPr lvl="1" algn="l"/>
            <a:r>
              <a:rPr sz="1500">
                <a:solidFill>
                  <a:srgbClr val="1A1A2E"/>
                </a:solidFill>
              </a:rPr>
              <a:t>• Best Execution (MiFID II / SEBI): firms must achieve the best possible result for clients — price, speed, likelihood of execution, size, cost. All documented in a Best Execution Policy.</a:t>
            </a:r>
          </a:p>
          <a:p>
            <a:pPr lvl="1" algn="l"/>
            <a:r>
              <a:rPr sz="1500">
                <a:solidFill>
                  <a:srgbClr val="1A1A2E"/>
                </a:solidFill>
              </a:rPr>
              <a:t>• Agency vs Proprietary: agency = no bank risk (earn commission); proprietary = bank's own capital at risk (post-Volcker: heavily restricted).</a:t>
            </a:r>
          </a:p>
        </p:txBody>
      </p:sp>
      <p:sp>
        <p:nvSpPr>
          <p:cNvPr id="10" name="Rectangle 9"/>
          <p:cNvSpPr/>
          <p:nvPr/>
        </p:nvSpPr>
        <p:spPr>
          <a:xfrm>
            <a:off x="365760" y="5577840"/>
            <a:ext cx="1143000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623560"/>
            <a:ext cx="11155680" cy="914400"/>
          </a:xfrm>
          <a:prstGeom prst="rect">
            <a:avLst/>
          </a:prstGeom>
          <a:noFill/>
        </p:spPr>
        <p:txBody>
          <a:bodyPr wrap="square">
            <a:spAutoFit/>
          </a:bodyPr>
          <a:lstStyle/>
          <a:p>
            <a:pPr algn="l"/>
            <a:r>
              <a:rPr sz="1000" b="0" i="1">
                <a:solidFill>
                  <a:srgbClr val="555555"/>
                </a:solidFill>
              </a:rPr>
              <a:t>[DIAGRAM: See Source Slide — Order flow diagram from client instruction through OMS/EMS to execution]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STO.2 — Front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Going Deeper</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8B6914"/>
                </a:solidFill>
              </a:rPr>
              <a:t>Front Office P&amp;L and Error Management</a:t>
            </a:r>
          </a:p>
        </p:txBody>
      </p:sp>
      <p:sp>
        <p:nvSpPr>
          <p:cNvPr id="9" name="TextBox 8"/>
          <p:cNvSpPr txBox="1"/>
          <p:nvPr/>
        </p:nvSpPr>
        <p:spPr>
          <a:xfrm>
            <a:off x="457200" y="1828800"/>
            <a:ext cx="10972800" cy="4572000"/>
          </a:xfrm>
          <a:prstGeom prst="rect">
            <a:avLst/>
          </a:prstGeom>
          <a:noFill/>
        </p:spPr>
        <p:txBody>
          <a:bodyPr wrap="square">
            <a:spAutoFit/>
          </a:bodyPr>
          <a:lstStyle/>
          <a:p>
            <a:pPr lvl="1" algn="l"/>
            <a:r>
              <a:rPr sz="1400">
                <a:solidFill>
                  <a:srgbClr val="FFFFFF"/>
                </a:solidFill>
              </a:rPr>
              <a:t>• Daily P&amp;L = Realised (closed positions) + Unrealised MTM (open positions) − Commissions − Financing costs.</a:t>
            </a:r>
          </a:p>
          <a:p>
            <a:pPr lvl="1" algn="l"/>
            <a:r>
              <a:rPr sz="1400">
                <a:solidFill>
                  <a:srgbClr val="FFFFFF"/>
                </a:solidFill>
              </a:rPr>
              <a:t>• Traders do NOT mark their own books — middle office IPV uses independent pricing sources to verify every position.</a:t>
            </a:r>
          </a:p>
          <a:p>
            <a:pPr lvl="1" algn="l"/>
            <a:r>
              <a:rPr sz="1400">
                <a:solidFill>
                  <a:srgbClr val="FFFFFF"/>
                </a:solidFill>
              </a:rPr>
              <a:t>• P&amp;L Attribution breaks down daily results: market move delta P&amp;L, carry/theta, new trades, unexplained residual.</a:t>
            </a:r>
          </a:p>
          <a:p>
            <a:pPr lvl="1" algn="l"/>
            <a:r>
              <a:rPr sz="1400">
                <a:solidFill>
                  <a:srgbClr val="FFFFFF"/>
                </a:solidFill>
              </a:rPr>
              <a:t>• Unexplained P&amp;L triggers investigation before books close — common causes: missing trades, data error, pricing discrepancy.</a:t>
            </a:r>
          </a:p>
          <a:p>
            <a:pPr lvl="1" algn="l"/>
            <a:r>
              <a:rPr sz="1400">
                <a:solidFill>
                  <a:srgbClr val="FFFFFF"/>
                </a:solidFill>
              </a:rPr>
              <a:t>• Error types: wrong security (ISIN error), wrong side (most expensive), wrong quantity, duplicate trade — all require immediate escalation.</a:t>
            </a:r>
          </a:p>
          <a:p>
            <a:pPr lvl="1" algn="l"/>
            <a:r>
              <a:rPr sz="1400">
                <a:solidFill>
                  <a:srgbClr val="FFFFFF"/>
                </a:solidFill>
              </a:rPr>
              <a:t>• Error P&amp;L impact threshold: typically £10k–£100k before mandatory senior management escalation.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STO.2 — Front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Think &amp; Discuss</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0972800" cy="502920"/>
          </a:xfrm>
          <a:prstGeom prst="rect">
            <a:avLst/>
          </a:prstGeom>
          <a:noFill/>
        </p:spPr>
        <p:txBody>
          <a:bodyPr wrap="square">
            <a:spAutoFit/>
          </a:bodyPr>
          <a:lstStyle/>
          <a:p>
            <a:pPr algn="l"/>
            <a:r>
              <a:rPr sz="1600" b="1" i="0">
                <a:solidFill>
                  <a:srgbClr val="1E3A5F"/>
                </a:solidFill>
              </a:rPr>
              <a:t>Discussion Questions</a:t>
            </a:r>
          </a:p>
        </p:txBody>
      </p:sp>
      <p:sp>
        <p:nvSpPr>
          <p:cNvPr id="9" name="Rectangle 8"/>
          <p:cNvSpPr/>
          <p:nvPr/>
        </p:nvSpPr>
        <p:spPr>
          <a:xfrm>
            <a:off x="365760" y="17830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11064240" cy="1005840"/>
          </a:xfrm>
          <a:prstGeom prst="rect">
            <a:avLst/>
          </a:prstGeom>
          <a:noFill/>
        </p:spPr>
        <p:txBody>
          <a:bodyPr wrap="square">
            <a:spAutoFit/>
          </a:bodyPr>
          <a:lstStyle/>
          <a:p>
            <a:pPr algn="l"/>
            <a:r>
              <a:rPr sz="1400" b="0" i="0">
                <a:solidFill>
                  <a:srgbClr val="1A1A2E"/>
                </a:solidFill>
              </a:rPr>
              <a:t>Q1.  A trader argues that best execution is always about getting the best price. The regulations say otherwise — what other factors count, and why?</a:t>
            </a:r>
          </a:p>
        </p:txBody>
      </p:sp>
      <p:sp>
        <p:nvSpPr>
          <p:cNvPr id="11" name="Rectangle 10"/>
          <p:cNvSpPr/>
          <p:nvPr/>
        </p:nvSpPr>
        <p:spPr>
          <a:xfrm>
            <a:off x="365760" y="31546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46120"/>
            <a:ext cx="11064240" cy="1005840"/>
          </a:xfrm>
          <a:prstGeom prst="rect">
            <a:avLst/>
          </a:prstGeom>
          <a:noFill/>
        </p:spPr>
        <p:txBody>
          <a:bodyPr wrap="square">
            <a:spAutoFit/>
          </a:bodyPr>
          <a:lstStyle/>
          <a:p>
            <a:pPr algn="l"/>
            <a:r>
              <a:rPr sz="1400" b="0" i="0">
                <a:solidFill>
                  <a:srgbClr val="1A1A2E"/>
                </a:solidFill>
              </a:rPr>
              <a:t>Q2.  The Volcker Rule restricted proprietary trading in banks. Was this the right response to the 2008 crisis, or did it remove a valuable market-making function?</a:t>
            </a:r>
          </a:p>
        </p:txBody>
      </p:sp>
      <p:sp>
        <p:nvSpPr>
          <p:cNvPr id="13" name="Rectangle 12"/>
          <p:cNvSpPr/>
          <p:nvPr/>
        </p:nvSpPr>
        <p:spPr>
          <a:xfrm>
            <a:off x="365760" y="45262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617720"/>
            <a:ext cx="11064240" cy="1005840"/>
          </a:xfrm>
          <a:prstGeom prst="rect">
            <a:avLst/>
          </a:prstGeom>
          <a:noFill/>
        </p:spPr>
        <p:txBody>
          <a:bodyPr wrap="square">
            <a:spAutoFit/>
          </a:bodyPr>
          <a:lstStyle/>
          <a:p>
            <a:pPr algn="l"/>
            <a:r>
              <a:rPr sz="1400" b="0" i="0">
                <a:solidFill>
                  <a:srgbClr val="1A1A2E"/>
                </a:solidFill>
              </a:rPr>
              <a:t>Q3.  If the OMS pre-trade compliance check flags an order as breaching a position limit, should the trader be able to override it? What governance should surround any override?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STO.2 — Front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Interview Ready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02920"/>
          </a:xfrm>
          <a:prstGeom prst="rect">
            <a:avLst/>
          </a:prstGeom>
          <a:noFill/>
        </p:spPr>
        <p:txBody>
          <a:bodyPr wrap="square">
            <a:spAutoFit/>
          </a:bodyPr>
          <a:lstStyle/>
          <a:p>
            <a:pPr algn="l"/>
            <a:r>
              <a:rPr sz="1600" b="1" i="0">
                <a:solidFill>
                  <a:srgbClr val="8B6914"/>
                </a:solidFill>
              </a:rPr>
              <a:t>🎯  Questions You Must Be Able to Answer</a:t>
            </a:r>
          </a:p>
        </p:txBody>
      </p:sp>
      <p:sp>
        <p:nvSpPr>
          <p:cNvPr id="9" name="Rectangle 8"/>
          <p:cNvSpPr/>
          <p:nvPr/>
        </p:nvSpPr>
        <p:spPr>
          <a:xfrm>
            <a:off x="365760" y="182880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74519"/>
            <a:ext cx="11064240" cy="457200"/>
          </a:xfrm>
          <a:prstGeom prst="rect">
            <a:avLst/>
          </a:prstGeom>
          <a:noFill/>
        </p:spPr>
        <p:txBody>
          <a:bodyPr wrap="square">
            <a:spAutoFit/>
          </a:bodyPr>
          <a:lstStyle/>
          <a:p>
            <a:pPr algn="l"/>
            <a:r>
              <a:rPr sz="1200" b="1" i="0">
                <a:solidFill>
                  <a:srgbClr val="8B6914"/>
                </a:solidFill>
              </a:rPr>
              <a:t>Q: What is the difference between agency trading and proprietary trading?</a:t>
            </a:r>
          </a:p>
        </p:txBody>
      </p:sp>
      <p:sp>
        <p:nvSpPr>
          <p:cNvPr id="11" name="TextBox 10"/>
          <p:cNvSpPr txBox="1"/>
          <p:nvPr/>
        </p:nvSpPr>
        <p:spPr>
          <a:xfrm>
            <a:off x="502920" y="2331720"/>
            <a:ext cx="11064240" cy="777240"/>
          </a:xfrm>
          <a:prstGeom prst="rect">
            <a:avLst/>
          </a:prstGeom>
          <a:noFill/>
        </p:spPr>
        <p:txBody>
          <a:bodyPr wrap="square">
            <a:spAutoFit/>
          </a:bodyPr>
          <a:lstStyle/>
          <a:p>
            <a:pPr algn="l"/>
            <a:r>
              <a:rPr sz="1100" b="0" i="0">
                <a:solidFill>
                  <a:srgbClr val="FFFFFF"/>
                </a:solidFill>
              </a:rPr>
              <a:t>A: Agency: bank executes on a client's behalf, earns a commission, bears no market risk. Proprietary: bank trades its own capital, bears full market risk. Volcker Rule restricts prop trading at deposit-taking banks.</a:t>
            </a:r>
          </a:p>
        </p:txBody>
      </p:sp>
      <p:sp>
        <p:nvSpPr>
          <p:cNvPr id="12" name="Rectangle 11"/>
          <p:cNvSpPr/>
          <p:nvPr/>
        </p:nvSpPr>
        <p:spPr>
          <a:xfrm>
            <a:off x="365760" y="329184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37560"/>
            <a:ext cx="11064240" cy="457200"/>
          </a:xfrm>
          <a:prstGeom prst="rect">
            <a:avLst/>
          </a:prstGeom>
          <a:noFill/>
        </p:spPr>
        <p:txBody>
          <a:bodyPr wrap="square">
            <a:spAutoFit/>
          </a:bodyPr>
          <a:lstStyle/>
          <a:p>
            <a:pPr algn="l"/>
            <a:r>
              <a:rPr sz="1200" b="1" i="0">
                <a:solidFill>
                  <a:srgbClr val="8B6914"/>
                </a:solidFill>
              </a:rPr>
              <a:t>Q: What does best execution mean under MiFID II?</a:t>
            </a:r>
          </a:p>
        </p:txBody>
      </p:sp>
      <p:sp>
        <p:nvSpPr>
          <p:cNvPr id="14" name="TextBox 13"/>
          <p:cNvSpPr txBox="1"/>
          <p:nvPr/>
        </p:nvSpPr>
        <p:spPr>
          <a:xfrm>
            <a:off x="502920" y="3794760"/>
            <a:ext cx="11064240" cy="777240"/>
          </a:xfrm>
          <a:prstGeom prst="rect">
            <a:avLst/>
          </a:prstGeom>
          <a:noFill/>
        </p:spPr>
        <p:txBody>
          <a:bodyPr wrap="square">
            <a:spAutoFit/>
          </a:bodyPr>
          <a:lstStyle/>
          <a:p>
            <a:pPr algn="l"/>
            <a:r>
              <a:rPr sz="1100" b="0" i="0">
                <a:solidFill>
                  <a:srgbClr val="FFFFFF"/>
                </a:solidFill>
              </a:rPr>
              <a:t>A: Firms must take all sufficient steps to obtain the best possible result for clients, considering price, speed, likelihood of execution, size, and cost. Documented in a Best Execution Policy.</a:t>
            </a:r>
          </a:p>
        </p:txBody>
      </p:sp>
      <p:sp>
        <p:nvSpPr>
          <p:cNvPr id="15" name="Rectangle 14"/>
          <p:cNvSpPr/>
          <p:nvPr/>
        </p:nvSpPr>
        <p:spPr>
          <a:xfrm>
            <a:off x="365760" y="475488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00600"/>
            <a:ext cx="11064240" cy="457200"/>
          </a:xfrm>
          <a:prstGeom prst="rect">
            <a:avLst/>
          </a:prstGeom>
          <a:noFill/>
        </p:spPr>
        <p:txBody>
          <a:bodyPr wrap="square">
            <a:spAutoFit/>
          </a:bodyPr>
          <a:lstStyle/>
          <a:p>
            <a:pPr algn="l"/>
            <a:r>
              <a:rPr sz="1200" b="1" i="0">
                <a:solidFill>
                  <a:srgbClr val="8B6914"/>
                </a:solidFill>
              </a:rPr>
              <a:t>Q: What is P&amp;L attribution and why is it done independently?</a:t>
            </a:r>
          </a:p>
        </p:txBody>
      </p:sp>
      <p:sp>
        <p:nvSpPr>
          <p:cNvPr id="17" name="TextBox 16"/>
          <p:cNvSpPr txBox="1"/>
          <p:nvPr/>
        </p:nvSpPr>
        <p:spPr>
          <a:xfrm>
            <a:off x="502920" y="5257800"/>
            <a:ext cx="11064240" cy="777240"/>
          </a:xfrm>
          <a:prstGeom prst="rect">
            <a:avLst/>
          </a:prstGeom>
          <a:noFill/>
        </p:spPr>
        <p:txBody>
          <a:bodyPr wrap="square">
            <a:spAutoFit/>
          </a:bodyPr>
          <a:lstStyle/>
          <a:p>
            <a:pPr algn="l"/>
            <a:r>
              <a:rPr sz="1100" b="0" i="0">
                <a:solidFill>
                  <a:srgbClr val="FFFFFF"/>
                </a:solidFill>
              </a:rPr>
              <a:t>A: Decomposing daily P&amp;L into market move, carry, new trades, and unexplained residual. Done independently by the middle office using separate pricing sources to prevent traders inflating their own reported profits.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STO.3 — Middle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Quick Recap</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143000"/>
            <a:ext cx="11640312" cy="36576"/>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10972800" cy="5303520"/>
          </a:xfrm>
          <a:prstGeom prst="rect">
            <a:avLst/>
          </a:prstGeom>
          <a:noFill/>
        </p:spPr>
        <p:txBody>
          <a:bodyPr wrap="square">
            <a:spAutoFit/>
          </a:bodyPr>
          <a:lstStyle/>
          <a:p>
            <a:pPr algn="l"/>
            <a:r>
              <a:rPr sz="1900" b="1">
                <a:solidFill>
                  <a:srgbClr val="005F5F"/>
                </a:solidFill>
              </a:rPr>
              <a:t>Before we begin — key ideas from prior learning:</a:t>
            </a:r>
          </a:p>
          <a:p>
            <a:pPr lvl="1" algn="l"/>
            <a:r>
              <a:rPr sz="1700">
                <a:solidFill>
                  <a:srgbClr val="1A1A2E"/>
                </a:solidFill>
              </a:rPr>
              <a:t>• The middle office provides the governance layer between front office and back office.</a:t>
            </a:r>
          </a:p>
          <a:p>
            <a:pPr lvl="1" algn="l"/>
            <a:r>
              <a:rPr sz="1700">
                <a:solidFill>
                  <a:srgbClr val="1A1A2E"/>
                </a:solidFill>
              </a:rPr>
              <a:t>• It does not execute or settle trades — it validates, verifies, monitors, and escalates.</a:t>
            </a:r>
          </a:p>
          <a:p>
            <a:pPr lvl="1" algn="l"/>
            <a:r>
              <a:rPr sz="1700">
                <a:solidFill>
                  <a:srgbClr val="1A1A2E"/>
                </a:solidFill>
              </a:rPr>
              <a:t>• Every trading desk operates within risk limits approved by the risk committee.</a:t>
            </a:r>
          </a:p>
          <a:p>
            <a:pPr lvl="1" algn="l"/>
            <a:r>
              <a:rPr sz="1700">
                <a:solidFill>
                  <a:srgbClr val="1A1A2E"/>
                </a:solidFill>
              </a:rPr>
              <a:t>• IPV (Independent Price Verification) ensures P&amp;L cannot be inflated by trader self-marking.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STO.3 — Middle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Scenario / Case Study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11430000" cy="502920"/>
          </a:xfrm>
          <a:prstGeom prst="rect">
            <a:avLst/>
          </a:prstGeom>
          <a:noFill/>
        </p:spPr>
        <p:txBody>
          <a:bodyPr wrap="square">
            <a:spAutoFit/>
          </a:bodyPr>
          <a:lstStyle/>
          <a:p>
            <a:pPr algn="l"/>
            <a:r>
              <a:rPr sz="1600" b="1" i="0">
                <a:solidFill>
                  <a:srgbClr val="1E3A5F"/>
                </a:solidFill>
              </a:rPr>
              <a:t>The IPV Dispute</a:t>
            </a:r>
          </a:p>
        </p:txBody>
      </p:sp>
      <p:sp>
        <p:nvSpPr>
          <p:cNvPr id="9" name="TextBox 8"/>
          <p:cNvSpPr txBox="1"/>
          <p:nvPr/>
        </p:nvSpPr>
        <p:spPr>
          <a:xfrm>
            <a:off x="365760" y="1783080"/>
            <a:ext cx="11247120" cy="3108960"/>
          </a:xfrm>
          <a:prstGeom prst="rect">
            <a:avLst/>
          </a:prstGeom>
          <a:noFill/>
        </p:spPr>
        <p:txBody>
          <a:bodyPr wrap="square">
            <a:spAutoFit/>
          </a:bodyPr>
          <a:lstStyle/>
          <a:p>
            <a:pPr algn="l"/>
            <a:r>
              <a:rPr sz="1400" b="0" i="0">
                <a:solidFill>
                  <a:srgbClr val="1A1A2E"/>
                </a:solidFill>
              </a:rPr>
              <a:t>CIBOP's structured credit trader marks a portfolio of illiquid CLO tranches at 98.5 — his model-based fair value. The middle office IPV team checks three independent pricing vendors: Bloomberg prices them at 94.2 on average. The difference: Rs 42 crore on a Rs 1,000 crore book. The middle office applies an IPV reserve of Rs 42 crore against the desk's reported P&amp;L. The trader protests. The risk committee reviews. The reserve stands. The trader's bonus is materially affected.</a:t>
            </a:r>
          </a:p>
        </p:txBody>
      </p:sp>
      <p:sp>
        <p:nvSpPr>
          <p:cNvPr id="10" name="Rectangle 9"/>
          <p:cNvSpPr/>
          <p:nvPr/>
        </p:nvSpPr>
        <p:spPr>
          <a:xfrm>
            <a:off x="274320" y="5029200"/>
            <a:ext cx="11640312" cy="1554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120640"/>
            <a:ext cx="11155680" cy="1371600"/>
          </a:xfrm>
          <a:prstGeom prst="rect">
            <a:avLst/>
          </a:prstGeom>
          <a:noFill/>
        </p:spPr>
        <p:txBody>
          <a:bodyPr wrap="square">
            <a:spAutoFit/>
          </a:bodyPr>
          <a:lstStyle/>
          <a:p>
            <a:pPr algn="l"/>
            <a:r>
              <a:rPr sz="1300" b="0" i="1">
                <a:solidFill>
                  <a:srgbClr val="FFFFFF"/>
                </a:solidFill>
              </a:rPr>
              <a:t>💡  Think about it: Without IPV, how could a trader systematically inflate their P&amp;L over time? What would eventually expose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STO.3 — Middle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Key Concept</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1E3A5F"/>
                </a:solidFill>
              </a:rPr>
              <a:t>Risk Limits, IPV, and P&amp;L Attribution</a:t>
            </a:r>
          </a:p>
        </p:txBody>
      </p:sp>
      <p:sp>
        <p:nvSpPr>
          <p:cNvPr id="9" name="TextBox 8"/>
          <p:cNvSpPr txBox="1"/>
          <p:nvPr/>
        </p:nvSpPr>
        <p:spPr>
          <a:xfrm>
            <a:off x="457200" y="1828800"/>
            <a:ext cx="10972800" cy="4114800"/>
          </a:xfrm>
          <a:prstGeom prst="rect">
            <a:avLst/>
          </a:prstGeom>
          <a:noFill/>
        </p:spPr>
        <p:txBody>
          <a:bodyPr wrap="square">
            <a:spAutoFit/>
          </a:bodyPr>
          <a:lstStyle/>
          <a:p>
            <a:pPr lvl="1" algn="l"/>
            <a:r>
              <a:rPr sz="1500">
                <a:solidFill>
                  <a:srgbClr val="1A1A2E"/>
                </a:solidFill>
              </a:rPr>
              <a:t>• Risk Limits: position limits (size), VaR limits (max expected daily loss at 95%/99% confidence), DV01 limits (fixed income rate sensitivity), counterparty and concentration limits.</a:t>
            </a:r>
          </a:p>
          <a:p>
            <a:pPr lvl="1" algn="l"/>
            <a:r>
              <a:rPr sz="1500">
                <a:solidFill>
                  <a:srgbClr val="1A1A2E"/>
                </a:solidFill>
              </a:rPr>
              <a:t>• VaR (Value at Risk): statistical measure of the maximum expected loss over a given period at a given confidence level — e.g., "1-day 99% VaR = Rs 5 crore" means only a 1% chance of losing more than Rs 5 crore in one day.</a:t>
            </a:r>
          </a:p>
          <a:p>
            <a:pPr lvl="1" algn="l"/>
            <a:r>
              <a:rPr sz="1500">
                <a:solidFill>
                  <a:srgbClr val="1A1A2E"/>
                </a:solidFill>
              </a:rPr>
              <a:t>• IPV (Independent Price Verification): middle office values all positions using external sources — Bloomberg, Refinitiv, broker quotes. Material differences → IPV reserve deducted from P&amp;L.</a:t>
            </a:r>
          </a:p>
          <a:p>
            <a:pPr lvl="1" algn="l"/>
            <a:r>
              <a:rPr sz="1500">
                <a:solidFill>
                  <a:srgbClr val="1A1A2E"/>
                </a:solidFill>
              </a:rPr>
              <a:t>• P&amp;L Attribution: Delta P&amp;L (price move × position) + Carry/Theta + New Trades P&amp;L. Unexplained residual &gt; threshold triggers investigation.</a:t>
            </a:r>
          </a:p>
          <a:p>
            <a:pPr lvl="1" algn="l"/>
            <a:r>
              <a:rPr sz="1500">
                <a:solidFill>
                  <a:srgbClr val="1A1A2E"/>
                </a:solidFill>
              </a:rPr>
              <a:t>• Collateral (ISDA/CSA): daily variation margin calls issued and received based on net MTM exposure of OTC derivative positions.</a:t>
            </a:r>
          </a:p>
        </p:txBody>
      </p:sp>
      <p:sp>
        <p:nvSpPr>
          <p:cNvPr id="10" name="Rectangle 9"/>
          <p:cNvSpPr/>
          <p:nvPr/>
        </p:nvSpPr>
        <p:spPr>
          <a:xfrm>
            <a:off x="365760" y="5577840"/>
            <a:ext cx="1143000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623560"/>
            <a:ext cx="11155680" cy="914400"/>
          </a:xfrm>
          <a:prstGeom prst="rect">
            <a:avLst/>
          </a:prstGeom>
          <a:noFill/>
        </p:spPr>
        <p:txBody>
          <a:bodyPr wrap="square">
            <a:spAutoFit/>
          </a:bodyPr>
          <a:lstStyle/>
          <a:p>
            <a:pPr algn="l"/>
            <a:r>
              <a:rPr sz="1000" b="0" i="1">
                <a:solidFill>
                  <a:srgbClr val="555555"/>
                </a:solidFill>
              </a:rPr>
              <a:t>[TABLE: See Source Slide — Risk limit framework table showing limit types, measurement, and breach escalation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STO.3 — Middle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Going Deeper</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8B6914"/>
                </a:solidFill>
              </a:rPr>
              <a:t>Trade Confirmation &amp; Exception Management</a:t>
            </a:r>
          </a:p>
        </p:txBody>
      </p:sp>
      <p:sp>
        <p:nvSpPr>
          <p:cNvPr id="9" name="TextBox 8"/>
          <p:cNvSpPr txBox="1"/>
          <p:nvPr/>
        </p:nvSpPr>
        <p:spPr>
          <a:xfrm>
            <a:off x="457200" y="1828800"/>
            <a:ext cx="10972800" cy="4572000"/>
          </a:xfrm>
          <a:prstGeom prst="rect">
            <a:avLst/>
          </a:prstGeom>
          <a:noFill/>
        </p:spPr>
        <p:txBody>
          <a:bodyPr wrap="square">
            <a:spAutoFit/>
          </a:bodyPr>
          <a:lstStyle/>
          <a:p>
            <a:pPr lvl="1" algn="l"/>
            <a:r>
              <a:rPr sz="1400">
                <a:solidFill>
                  <a:srgbClr val="FFFFFF"/>
                </a:solidFill>
              </a:rPr>
              <a:t>• Affirmation: both sides agree on economic terms post-execution (instrument, direction, quantity, price, settlement date).</a:t>
            </a:r>
          </a:p>
          <a:p>
            <a:pPr lvl="1" algn="l"/>
            <a:r>
              <a:rPr sz="1400">
                <a:solidFill>
                  <a:srgbClr val="FFFFFF"/>
                </a:solidFill>
              </a:rPr>
              <a:t>• Formal Confirmation: legal documents exchanged via DTCC TIW / Markit MatchIT for OTC trades; must match within T+1.</a:t>
            </a:r>
          </a:p>
          <a:p>
            <a:pPr lvl="1" algn="l"/>
            <a:r>
              <a:rPr sz="1400">
                <a:solidFill>
                  <a:srgbClr val="FFFFFF"/>
                </a:solidFill>
              </a:rPr>
              <a:t>• Unmatched confirms aged &gt;T+1 = compliance breach and settlement risk — must be escalated immediately.</a:t>
            </a:r>
          </a:p>
          <a:p>
            <a:pPr lvl="1" algn="l"/>
            <a:r>
              <a:rPr sz="1400">
                <a:solidFill>
                  <a:srgbClr val="FFFFFF"/>
                </a:solidFill>
              </a:rPr>
              <a:t>• Exception report runs daily: unconfirmed trades, limit breaches, IPV differences, collateral disputes — each time-stamped and assigned to an owner.</a:t>
            </a:r>
          </a:p>
          <a:p>
            <a:pPr lvl="1" algn="l"/>
            <a:r>
              <a:rPr sz="1400">
                <a:solidFill>
                  <a:srgbClr val="FFFFFF"/>
                </a:solidFill>
              </a:rPr>
              <a:t>• Initial Margin (IM): separate from variation margin — required under post-2008 BCBS/IOSCO rules for non-centrally cleared OTC derivatives.</a:t>
            </a:r>
          </a:p>
          <a:p>
            <a:pPr lvl="1" algn="l"/>
            <a:r>
              <a:rPr sz="1400">
                <a:solidFill>
                  <a:srgbClr val="FFFFFF"/>
                </a:solidFill>
              </a:rPr>
              <a:t>• CVA (Credit Valuation Adjustment): reduces the value of your OTC derivative receivables to reflect counterparty default probability.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STO.3 — Middle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Think &amp; Discuss</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0972800" cy="502920"/>
          </a:xfrm>
          <a:prstGeom prst="rect">
            <a:avLst/>
          </a:prstGeom>
          <a:noFill/>
        </p:spPr>
        <p:txBody>
          <a:bodyPr wrap="square">
            <a:spAutoFit/>
          </a:bodyPr>
          <a:lstStyle/>
          <a:p>
            <a:pPr algn="l"/>
            <a:r>
              <a:rPr sz="1600" b="1" i="0">
                <a:solidFill>
                  <a:srgbClr val="1E3A5F"/>
                </a:solidFill>
              </a:rPr>
              <a:t>Discussion Questions</a:t>
            </a:r>
          </a:p>
        </p:txBody>
      </p:sp>
      <p:sp>
        <p:nvSpPr>
          <p:cNvPr id="9" name="Rectangle 8"/>
          <p:cNvSpPr/>
          <p:nvPr/>
        </p:nvSpPr>
        <p:spPr>
          <a:xfrm>
            <a:off x="365760" y="17830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11064240" cy="1005840"/>
          </a:xfrm>
          <a:prstGeom prst="rect">
            <a:avLst/>
          </a:prstGeom>
          <a:noFill/>
        </p:spPr>
        <p:txBody>
          <a:bodyPr wrap="square">
            <a:spAutoFit/>
          </a:bodyPr>
          <a:lstStyle/>
          <a:p>
            <a:pPr algn="l"/>
            <a:r>
              <a:rPr sz="1400" b="0" i="0">
                <a:solidFill>
                  <a:srgbClr val="1A1A2E"/>
                </a:solidFill>
              </a:rPr>
              <a:t>Q1.  A trader whose P&amp;L is reduced by an IPV reserve argues the reserve is "conservative" and will "reverse out" next quarter. Under what circumstances might that be true, and when is it a red flag?</a:t>
            </a:r>
          </a:p>
        </p:txBody>
      </p:sp>
      <p:sp>
        <p:nvSpPr>
          <p:cNvPr id="11" name="Rectangle 10"/>
          <p:cNvSpPr/>
          <p:nvPr/>
        </p:nvSpPr>
        <p:spPr>
          <a:xfrm>
            <a:off x="365760" y="31546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46120"/>
            <a:ext cx="11064240" cy="1005840"/>
          </a:xfrm>
          <a:prstGeom prst="rect">
            <a:avLst/>
          </a:prstGeom>
          <a:noFill/>
        </p:spPr>
        <p:txBody>
          <a:bodyPr wrap="square">
            <a:spAutoFit/>
          </a:bodyPr>
          <a:lstStyle/>
          <a:p>
            <a:pPr algn="l"/>
            <a:r>
              <a:rPr sz="1400" b="0" i="0">
                <a:solidFill>
                  <a:srgbClr val="1A1A2E"/>
                </a:solidFill>
              </a:rPr>
              <a:t>Q2.  VaR limits are widely used but widely criticised — they worked poorly in the 2008 crisis. What are VaR's known limitations, and what complementary risk measures are used alongside it?</a:t>
            </a:r>
          </a:p>
        </p:txBody>
      </p:sp>
      <p:sp>
        <p:nvSpPr>
          <p:cNvPr id="13" name="Rectangle 12"/>
          <p:cNvSpPr/>
          <p:nvPr/>
        </p:nvSpPr>
        <p:spPr>
          <a:xfrm>
            <a:off x="365760" y="45262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617720"/>
            <a:ext cx="11064240" cy="1005840"/>
          </a:xfrm>
          <a:prstGeom prst="rect">
            <a:avLst/>
          </a:prstGeom>
          <a:noFill/>
        </p:spPr>
        <p:txBody>
          <a:bodyPr wrap="square">
            <a:spAutoFit/>
          </a:bodyPr>
          <a:lstStyle/>
          <a:p>
            <a:pPr algn="l"/>
            <a:r>
              <a:rPr sz="1400" b="0" i="0">
                <a:solidFill>
                  <a:srgbClr val="1A1A2E"/>
                </a:solidFill>
              </a:rPr>
              <a:t>Q3.  The middle office is independent of the front office — but they must work together daily. How do you maintain independence without creating a culture of adversarial checking?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STO.3 — Middle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Interview Ready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02920"/>
          </a:xfrm>
          <a:prstGeom prst="rect">
            <a:avLst/>
          </a:prstGeom>
          <a:noFill/>
        </p:spPr>
        <p:txBody>
          <a:bodyPr wrap="square">
            <a:spAutoFit/>
          </a:bodyPr>
          <a:lstStyle/>
          <a:p>
            <a:pPr algn="l"/>
            <a:r>
              <a:rPr sz="1600" b="1" i="0">
                <a:solidFill>
                  <a:srgbClr val="8B6914"/>
                </a:solidFill>
              </a:rPr>
              <a:t>🎯  Questions You Must Be Able to Answer</a:t>
            </a:r>
          </a:p>
        </p:txBody>
      </p:sp>
      <p:sp>
        <p:nvSpPr>
          <p:cNvPr id="9" name="Rectangle 8"/>
          <p:cNvSpPr/>
          <p:nvPr/>
        </p:nvSpPr>
        <p:spPr>
          <a:xfrm>
            <a:off x="365760" y="182880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74519"/>
            <a:ext cx="11064240" cy="457200"/>
          </a:xfrm>
          <a:prstGeom prst="rect">
            <a:avLst/>
          </a:prstGeom>
          <a:noFill/>
        </p:spPr>
        <p:txBody>
          <a:bodyPr wrap="square">
            <a:spAutoFit/>
          </a:bodyPr>
          <a:lstStyle/>
          <a:p>
            <a:pPr algn="l"/>
            <a:r>
              <a:rPr sz="1200" b="1" i="0">
                <a:solidFill>
                  <a:srgbClr val="8B6914"/>
                </a:solidFill>
              </a:rPr>
              <a:t>Q: What is Independent Price Verification (IPV) and why is it important?</a:t>
            </a:r>
          </a:p>
        </p:txBody>
      </p:sp>
      <p:sp>
        <p:nvSpPr>
          <p:cNvPr id="11" name="TextBox 10"/>
          <p:cNvSpPr txBox="1"/>
          <p:nvPr/>
        </p:nvSpPr>
        <p:spPr>
          <a:xfrm>
            <a:off x="502920" y="2331720"/>
            <a:ext cx="11064240" cy="777240"/>
          </a:xfrm>
          <a:prstGeom prst="rect">
            <a:avLst/>
          </a:prstGeom>
          <a:noFill/>
        </p:spPr>
        <p:txBody>
          <a:bodyPr wrap="square">
            <a:spAutoFit/>
          </a:bodyPr>
          <a:lstStyle/>
          <a:p>
            <a:pPr algn="l"/>
            <a:r>
              <a:rPr sz="1100" b="0" i="0">
                <a:solidFill>
                  <a:srgbClr val="FFFFFF"/>
                </a:solidFill>
              </a:rPr>
              <a:t>A: Using external, independent pricing sources to value the firm's trading positions, separate from the trader's own marks. Prevents P&amp;L inflation and ensures reported profits are based on fair market values.</a:t>
            </a:r>
          </a:p>
        </p:txBody>
      </p:sp>
      <p:sp>
        <p:nvSpPr>
          <p:cNvPr id="12" name="Rectangle 11"/>
          <p:cNvSpPr/>
          <p:nvPr/>
        </p:nvSpPr>
        <p:spPr>
          <a:xfrm>
            <a:off x="365760" y="329184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37560"/>
            <a:ext cx="11064240" cy="457200"/>
          </a:xfrm>
          <a:prstGeom prst="rect">
            <a:avLst/>
          </a:prstGeom>
          <a:noFill/>
        </p:spPr>
        <p:txBody>
          <a:bodyPr wrap="square">
            <a:spAutoFit/>
          </a:bodyPr>
          <a:lstStyle/>
          <a:p>
            <a:pPr algn="l"/>
            <a:r>
              <a:rPr sz="1200" b="1" i="0">
                <a:solidFill>
                  <a:srgbClr val="8B6914"/>
                </a:solidFill>
              </a:rPr>
              <a:t>Q: What types of risk limits does the middle office enforce?</a:t>
            </a:r>
          </a:p>
        </p:txBody>
      </p:sp>
      <p:sp>
        <p:nvSpPr>
          <p:cNvPr id="14" name="TextBox 13"/>
          <p:cNvSpPr txBox="1"/>
          <p:nvPr/>
        </p:nvSpPr>
        <p:spPr>
          <a:xfrm>
            <a:off x="502920" y="3794760"/>
            <a:ext cx="11064240" cy="777240"/>
          </a:xfrm>
          <a:prstGeom prst="rect">
            <a:avLst/>
          </a:prstGeom>
          <a:noFill/>
        </p:spPr>
        <p:txBody>
          <a:bodyPr wrap="square">
            <a:spAutoFit/>
          </a:bodyPr>
          <a:lstStyle/>
          <a:p>
            <a:pPr algn="l"/>
            <a:r>
              <a:rPr sz="1100" b="0" i="0">
                <a:solidFill>
                  <a:srgbClr val="FFFFFF"/>
                </a:solidFill>
              </a:rPr>
              <a:t>A: Position limits (size), VaR limits (statistical max loss), DV01 limits (rate sensitivity), counterparty limits (max exposure per firm), and concentration limits (max sector exposure).</a:t>
            </a:r>
          </a:p>
        </p:txBody>
      </p:sp>
      <p:sp>
        <p:nvSpPr>
          <p:cNvPr id="15" name="Rectangle 14"/>
          <p:cNvSpPr/>
          <p:nvPr/>
        </p:nvSpPr>
        <p:spPr>
          <a:xfrm>
            <a:off x="365760" y="475488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00600"/>
            <a:ext cx="11064240" cy="457200"/>
          </a:xfrm>
          <a:prstGeom prst="rect">
            <a:avLst/>
          </a:prstGeom>
          <a:noFill/>
        </p:spPr>
        <p:txBody>
          <a:bodyPr wrap="square">
            <a:spAutoFit/>
          </a:bodyPr>
          <a:lstStyle/>
          <a:p>
            <a:pPr algn="l"/>
            <a:r>
              <a:rPr sz="1200" b="1" i="0">
                <a:solidFill>
                  <a:srgbClr val="8B6914"/>
                </a:solidFill>
              </a:rPr>
              <a:t>Q: What is variation margin in the context of OTC derivatives?</a:t>
            </a:r>
          </a:p>
        </p:txBody>
      </p:sp>
      <p:sp>
        <p:nvSpPr>
          <p:cNvPr id="17" name="TextBox 16"/>
          <p:cNvSpPr txBox="1"/>
          <p:nvPr/>
        </p:nvSpPr>
        <p:spPr>
          <a:xfrm>
            <a:off x="502920" y="5257800"/>
            <a:ext cx="11064240" cy="777240"/>
          </a:xfrm>
          <a:prstGeom prst="rect">
            <a:avLst/>
          </a:prstGeom>
          <a:noFill/>
        </p:spPr>
        <p:txBody>
          <a:bodyPr wrap="square">
            <a:spAutoFit/>
          </a:bodyPr>
          <a:lstStyle/>
          <a:p>
            <a:pPr algn="l"/>
            <a:r>
              <a:rPr sz="1100" b="0" i="0">
                <a:solidFill>
                  <a:srgbClr val="FFFFFF"/>
                </a:solidFill>
              </a:rPr>
              <a:t>A: Daily cash or eligible securities posted between ISDA/CSA counterparties to cover the net MTM exposure of OTC derivative positions. If your swap is in-the-money by Rs 10 crore, your counterparty posts Rs 10 crore to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STO.4 — Back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Quick Recap</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143000"/>
            <a:ext cx="11640312" cy="36576"/>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10972800" cy="5303520"/>
          </a:xfrm>
          <a:prstGeom prst="rect">
            <a:avLst/>
          </a:prstGeom>
          <a:noFill/>
        </p:spPr>
        <p:txBody>
          <a:bodyPr wrap="square">
            <a:spAutoFit/>
          </a:bodyPr>
          <a:lstStyle/>
          <a:p>
            <a:pPr algn="l"/>
            <a:r>
              <a:rPr sz="1900" b="1">
                <a:solidFill>
                  <a:srgbClr val="005F5F"/>
                </a:solidFill>
              </a:rPr>
              <a:t>Before we begin — key ideas from prior learning:</a:t>
            </a:r>
          </a:p>
          <a:p>
            <a:pPr lvl="1" algn="l"/>
            <a:r>
              <a:rPr sz="1700">
                <a:solidFill>
                  <a:srgbClr val="1A1A2E"/>
                </a:solidFill>
              </a:rPr>
              <a:t>• Settlement is when a trade becomes real: securities and cash change hands.</a:t>
            </a:r>
          </a:p>
          <a:p>
            <a:pPr lvl="1" algn="l"/>
            <a:r>
              <a:rPr sz="1700">
                <a:solidFill>
                  <a:srgbClr val="1A1A2E"/>
                </a:solidFill>
              </a:rPr>
              <a:t>• India operates T+1 equity settlement — one of the fastest globally since January 2023.</a:t>
            </a:r>
          </a:p>
          <a:p>
            <a:pPr lvl="1" algn="l"/>
            <a:r>
              <a:rPr sz="1700">
                <a:solidFill>
                  <a:srgbClr val="1A1A2E"/>
                </a:solidFill>
              </a:rPr>
              <a:t>• DVP (Delivery versus Payment) ensures simultaneous exchange — eliminating principal risk.</a:t>
            </a:r>
          </a:p>
          <a:p>
            <a:pPr lvl="1" algn="l"/>
            <a:r>
              <a:rPr sz="1700">
                <a:solidFill>
                  <a:srgbClr val="1A1A2E"/>
                </a:solidFill>
              </a:rPr>
              <a:t>• Custodians hold and service securities; CSDs (NSDL, CDSL) are the book of record.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STO.4 — Back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Scenario / Case Study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11430000" cy="502920"/>
          </a:xfrm>
          <a:prstGeom prst="rect">
            <a:avLst/>
          </a:prstGeom>
          <a:noFill/>
        </p:spPr>
        <p:txBody>
          <a:bodyPr wrap="square">
            <a:spAutoFit/>
          </a:bodyPr>
          <a:lstStyle/>
          <a:p>
            <a:pPr algn="l"/>
            <a:r>
              <a:rPr sz="1600" b="1" i="0">
                <a:solidFill>
                  <a:srgbClr val="1E3A5F"/>
                </a:solidFill>
              </a:rPr>
              <a:t>The SSI That Wasn't Updated</a:t>
            </a:r>
          </a:p>
        </p:txBody>
      </p:sp>
      <p:sp>
        <p:nvSpPr>
          <p:cNvPr id="9" name="TextBox 8"/>
          <p:cNvSpPr txBox="1"/>
          <p:nvPr/>
        </p:nvSpPr>
        <p:spPr>
          <a:xfrm>
            <a:off x="365760" y="1783080"/>
            <a:ext cx="11247120" cy="3108960"/>
          </a:xfrm>
          <a:prstGeom prst="rect">
            <a:avLst/>
          </a:prstGeom>
          <a:noFill/>
        </p:spPr>
        <p:txBody>
          <a:bodyPr wrap="square">
            <a:spAutoFit/>
          </a:bodyPr>
          <a:lstStyle/>
          <a:p>
            <a:pPr algn="l"/>
            <a:r>
              <a:rPr sz="1400" b="0" i="0">
                <a:solidFill>
                  <a:srgbClr val="1A1A2E"/>
                </a:solidFill>
              </a:rPr>
              <a:t>CIBOP Bank sells Rs 500 crore of Indian government bonds to a Japanese asset manager. The back office generates a settlement instruction using the SSI on file — which was last updated two years ago, before the Japanese firm changed its custodian. The instruction routes to the old custodian, who rejects it. It is now T+1 at 3:45 PM. The correct custodian's cut-off is 4:00 PM. The operations team has 15 minutes to locate the new SSI, re-instruct, and re-confirm. They miss the cut-off by 4 minutes. The trade fails to settle. Penalty accrues. The relationship manager gets the call.</a:t>
            </a:r>
          </a:p>
        </p:txBody>
      </p:sp>
      <p:sp>
        <p:nvSpPr>
          <p:cNvPr id="10" name="Rectangle 9"/>
          <p:cNvSpPr/>
          <p:nvPr/>
        </p:nvSpPr>
        <p:spPr>
          <a:xfrm>
            <a:off x="274320" y="5029200"/>
            <a:ext cx="11640312" cy="1554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120640"/>
            <a:ext cx="11155680" cy="1371600"/>
          </a:xfrm>
          <a:prstGeom prst="rect">
            <a:avLst/>
          </a:prstGeom>
          <a:noFill/>
        </p:spPr>
        <p:txBody>
          <a:bodyPr wrap="square">
            <a:spAutoFit/>
          </a:bodyPr>
          <a:lstStyle/>
          <a:p>
            <a:pPr algn="l"/>
            <a:r>
              <a:rPr sz="1300" b="0" i="1">
                <a:solidFill>
                  <a:srgbClr val="FFFFFF"/>
                </a:solidFill>
              </a:rPr>
              <a:t>💡  Think about it: What would you put in place to prevent this SSI failure? And at what point in the process should the error have been caught?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STO.4 — Back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Key Concept</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1E3A5F"/>
                </a:solidFill>
              </a:rPr>
              <a:t>Settlement: DVP, T+1, and Fail Management</a:t>
            </a:r>
          </a:p>
        </p:txBody>
      </p:sp>
      <p:sp>
        <p:nvSpPr>
          <p:cNvPr id="9" name="TextBox 8"/>
          <p:cNvSpPr txBox="1"/>
          <p:nvPr/>
        </p:nvSpPr>
        <p:spPr>
          <a:xfrm>
            <a:off x="457200" y="1828800"/>
            <a:ext cx="10972800" cy="4114800"/>
          </a:xfrm>
          <a:prstGeom prst="rect">
            <a:avLst/>
          </a:prstGeom>
          <a:noFill/>
        </p:spPr>
        <p:txBody>
          <a:bodyPr wrap="square">
            <a:spAutoFit/>
          </a:bodyPr>
          <a:lstStyle/>
          <a:p>
            <a:pPr lvl="1" algn="l"/>
            <a:r>
              <a:rPr sz="1500">
                <a:solidFill>
                  <a:srgbClr val="1A1A2E"/>
                </a:solidFill>
              </a:rPr>
              <a:t>• DVP (Delivery versus Payment): settlement is atomic — securities and cash move simultaneously. No securities without cash; no cash without securities. Eliminates Herstatt Risk.</a:t>
            </a:r>
          </a:p>
          <a:p>
            <a:pPr lvl="1" algn="l"/>
            <a:r>
              <a:rPr sz="1500">
                <a:solidFill>
                  <a:srgbClr val="1A1A2E"/>
                </a:solidFill>
              </a:rPr>
              <a:t>• Settlement Cycle: India T+1 (since Jan 2023), US T+1 (since May 2024), Europe T+2 for most equities. Shorter cycle = lower counterparty risk but faster operations required.</a:t>
            </a:r>
          </a:p>
          <a:p>
            <a:pPr lvl="1" algn="l"/>
            <a:r>
              <a:rPr sz="1500">
                <a:solidFill>
                  <a:srgbClr val="1A1A2E"/>
                </a:solidFill>
              </a:rPr>
              <a:t>• Fail Causes: incorrect SSI, insufficient securities in custodian account, cash shortfall on value date, system/communication failure, unresolved trade dispute.</a:t>
            </a:r>
          </a:p>
          <a:p>
            <a:pPr lvl="1" algn="l"/>
            <a:r>
              <a:rPr sz="1500">
                <a:solidFill>
                  <a:srgbClr val="1A1A2E"/>
                </a:solidFill>
              </a:rPr>
              <a:t>• Fails Management: Day 1 fail → chase counterparty; Day 4+ → escalation, potential buy-in notice. Buy-in: exchange purchases securities at failing party's cost.</a:t>
            </a:r>
          </a:p>
          <a:p>
            <a:pPr lvl="1" algn="l"/>
            <a:r>
              <a:rPr sz="1500">
                <a:solidFill>
                  <a:srgbClr val="1A1A2E"/>
                </a:solidFill>
              </a:rPr>
              <a:t>• Three-Way Reconciliation: Internal records ↔ Custodian statement ↔ CSD records. Daily. Breaks must be resolved — aged breaks (&gt;3 days) escalated.</a:t>
            </a:r>
          </a:p>
        </p:txBody>
      </p:sp>
      <p:sp>
        <p:nvSpPr>
          <p:cNvPr id="10" name="Rectangle 9"/>
          <p:cNvSpPr/>
          <p:nvPr/>
        </p:nvSpPr>
        <p:spPr>
          <a:xfrm>
            <a:off x="365760" y="5577840"/>
            <a:ext cx="1143000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623560"/>
            <a:ext cx="11155680" cy="914400"/>
          </a:xfrm>
          <a:prstGeom prst="rect">
            <a:avLst/>
          </a:prstGeom>
          <a:noFill/>
        </p:spPr>
        <p:txBody>
          <a:bodyPr wrap="square">
            <a:spAutoFit/>
          </a:bodyPr>
          <a:lstStyle/>
          <a:p>
            <a:pPr algn="l"/>
            <a:r>
              <a:rPr sz="1000" b="0" i="1">
                <a:solidFill>
                  <a:srgbClr val="555555"/>
                </a:solidFill>
              </a:rPr>
              <a:t>[DIAGRAM: See Source Slide — DVP settlement infrastructure diagram showing buyer, seller, custodians, and CSD]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STO.4 — Back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Going Deeper</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8B6914"/>
                </a:solidFill>
              </a:rPr>
              <a:t>Custody, Asset Servicing &amp; Reconciliation in Depth</a:t>
            </a:r>
          </a:p>
        </p:txBody>
      </p:sp>
      <p:sp>
        <p:nvSpPr>
          <p:cNvPr id="9" name="TextBox 8"/>
          <p:cNvSpPr txBox="1"/>
          <p:nvPr/>
        </p:nvSpPr>
        <p:spPr>
          <a:xfrm>
            <a:off x="457200" y="1828800"/>
            <a:ext cx="10972800" cy="4572000"/>
          </a:xfrm>
          <a:prstGeom prst="rect">
            <a:avLst/>
          </a:prstGeom>
          <a:noFill/>
        </p:spPr>
        <p:txBody>
          <a:bodyPr wrap="square">
            <a:spAutoFit/>
          </a:bodyPr>
          <a:lstStyle/>
          <a:p>
            <a:pPr lvl="1" algn="l"/>
            <a:r>
              <a:rPr sz="1400">
                <a:solidFill>
                  <a:srgbClr val="FFFFFF"/>
                </a:solidFill>
              </a:rPr>
              <a:t>• Global Custodian: holds securities in legally segregated accounts, separate from firm's own assets (client money rules).</a:t>
            </a:r>
          </a:p>
          <a:p>
            <a:pPr lvl="1" algn="l"/>
            <a:r>
              <a:rPr sz="1400">
                <a:solidFill>
                  <a:srgbClr val="FFFFFF"/>
                </a:solidFill>
              </a:rPr>
              <a:t>• Sub-Custodians: local market specialists appointed by the global custodian for markets without direct presence.</a:t>
            </a:r>
          </a:p>
          <a:p>
            <a:pPr lvl="1" algn="l"/>
            <a:r>
              <a:rPr sz="1400">
                <a:solidFill>
                  <a:srgbClr val="FFFFFF"/>
                </a:solidFill>
              </a:rPr>
              <a:t>• Asset Servicing: dividend collection, coupon payments, corporate action processing, proxy voting, tax reclaim.</a:t>
            </a:r>
          </a:p>
          <a:p>
            <a:pPr lvl="1" algn="l"/>
            <a:r>
              <a:rPr sz="1400">
                <a:solidFill>
                  <a:srgbClr val="FFFFFF"/>
                </a:solidFill>
              </a:rPr>
              <a:t>• Nostro Reconciliation: cash account reconciliation — comparing internal nostro ledger against the correspondent bank's statement for every currency.</a:t>
            </a:r>
          </a:p>
          <a:p>
            <a:pPr lvl="1" algn="l"/>
            <a:r>
              <a:rPr sz="1400">
                <a:solidFill>
                  <a:srgbClr val="FFFFFF"/>
                </a:solidFill>
              </a:rPr>
              <a:t>• CSDR (Central Securities Depositories Regulation): EU regulation mandating settlement fails penalties and mandatory buy-ins for persistently failing trades.</a:t>
            </a:r>
          </a:p>
          <a:p>
            <a:pPr lvl="1" algn="l"/>
            <a:r>
              <a:rPr sz="1400">
                <a:solidFill>
                  <a:srgbClr val="FFFFFF"/>
                </a:solidFill>
              </a:rPr>
              <a:t>• SEBI's framework: fines for settlement fails; auction mechanism for securities delivery failures in Indian equity markets.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STO.4 — Back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Think &amp; Discuss</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0972800" cy="502920"/>
          </a:xfrm>
          <a:prstGeom prst="rect">
            <a:avLst/>
          </a:prstGeom>
          <a:noFill/>
        </p:spPr>
        <p:txBody>
          <a:bodyPr wrap="square">
            <a:spAutoFit/>
          </a:bodyPr>
          <a:lstStyle/>
          <a:p>
            <a:pPr algn="l"/>
            <a:r>
              <a:rPr sz="1600" b="1" i="0">
                <a:solidFill>
                  <a:srgbClr val="1E3A5F"/>
                </a:solidFill>
              </a:rPr>
              <a:t>Discussion Questions</a:t>
            </a:r>
          </a:p>
        </p:txBody>
      </p:sp>
      <p:sp>
        <p:nvSpPr>
          <p:cNvPr id="9" name="Rectangle 8"/>
          <p:cNvSpPr/>
          <p:nvPr/>
        </p:nvSpPr>
        <p:spPr>
          <a:xfrm>
            <a:off x="365760" y="17830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11064240" cy="1005840"/>
          </a:xfrm>
          <a:prstGeom prst="rect">
            <a:avLst/>
          </a:prstGeom>
          <a:noFill/>
        </p:spPr>
        <p:txBody>
          <a:bodyPr wrap="square">
            <a:spAutoFit/>
          </a:bodyPr>
          <a:lstStyle/>
          <a:p>
            <a:pPr algn="l"/>
            <a:r>
              <a:rPr sz="1400" b="0" i="0">
                <a:solidFill>
                  <a:srgbClr val="1A1A2E"/>
                </a:solidFill>
              </a:rPr>
              <a:t>Q1.  India moved to T+1 settlement — but critics argued it created operational challenges for foreign investors in different time zones. What are the pros and cons of shorter settlement cycles?</a:t>
            </a:r>
          </a:p>
        </p:txBody>
      </p:sp>
      <p:sp>
        <p:nvSpPr>
          <p:cNvPr id="11" name="Rectangle 10"/>
          <p:cNvSpPr/>
          <p:nvPr/>
        </p:nvSpPr>
        <p:spPr>
          <a:xfrm>
            <a:off x="365760" y="31546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46120"/>
            <a:ext cx="11064240" cy="1005840"/>
          </a:xfrm>
          <a:prstGeom prst="rect">
            <a:avLst/>
          </a:prstGeom>
          <a:noFill/>
        </p:spPr>
        <p:txBody>
          <a:bodyPr wrap="square">
            <a:spAutoFit/>
          </a:bodyPr>
          <a:lstStyle/>
          <a:p>
            <a:pPr algn="l"/>
            <a:r>
              <a:rPr sz="1400" b="0" i="0">
                <a:solidFill>
                  <a:srgbClr val="1A1A2E"/>
                </a:solidFill>
              </a:rPr>
              <a:t>Q2.  A buy-in is described as an "extreme measure" — yet regulators in Europe made it mandatory under CSDR for persistent fails. Is making buy-ins mandatory a good regulatory response?</a:t>
            </a:r>
          </a:p>
        </p:txBody>
      </p:sp>
      <p:sp>
        <p:nvSpPr>
          <p:cNvPr id="13" name="Rectangle 12"/>
          <p:cNvSpPr/>
          <p:nvPr/>
        </p:nvSpPr>
        <p:spPr>
          <a:xfrm>
            <a:off x="365760" y="45262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617720"/>
            <a:ext cx="11064240" cy="1005840"/>
          </a:xfrm>
          <a:prstGeom prst="rect">
            <a:avLst/>
          </a:prstGeom>
          <a:noFill/>
        </p:spPr>
        <p:txBody>
          <a:bodyPr wrap="square">
            <a:spAutoFit/>
          </a:bodyPr>
          <a:lstStyle/>
          <a:p>
            <a:pPr algn="l"/>
            <a:r>
              <a:rPr sz="1400" b="0" i="0">
                <a:solidFill>
                  <a:srgbClr val="1A1A2E"/>
                </a:solidFill>
              </a:rPr>
              <a:t>Q3.  Reconciliation is performed daily across three sets of records. What happens to the reconciliation process when a trade is disputed? How does the back office manage an open dispute while still keeping its books clean?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STO.4 — Back Office Operations</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Interview Ready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02920"/>
          </a:xfrm>
          <a:prstGeom prst="rect">
            <a:avLst/>
          </a:prstGeom>
          <a:noFill/>
        </p:spPr>
        <p:txBody>
          <a:bodyPr wrap="square">
            <a:spAutoFit/>
          </a:bodyPr>
          <a:lstStyle/>
          <a:p>
            <a:pPr algn="l"/>
            <a:r>
              <a:rPr sz="1600" b="1" i="0">
                <a:solidFill>
                  <a:srgbClr val="8B6914"/>
                </a:solidFill>
              </a:rPr>
              <a:t>🎯  Questions You Must Be Able to Answer</a:t>
            </a:r>
          </a:p>
        </p:txBody>
      </p:sp>
      <p:sp>
        <p:nvSpPr>
          <p:cNvPr id="9" name="Rectangle 8"/>
          <p:cNvSpPr/>
          <p:nvPr/>
        </p:nvSpPr>
        <p:spPr>
          <a:xfrm>
            <a:off x="365760" y="182880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74519"/>
            <a:ext cx="11064240" cy="457200"/>
          </a:xfrm>
          <a:prstGeom prst="rect">
            <a:avLst/>
          </a:prstGeom>
          <a:noFill/>
        </p:spPr>
        <p:txBody>
          <a:bodyPr wrap="square">
            <a:spAutoFit/>
          </a:bodyPr>
          <a:lstStyle/>
          <a:p>
            <a:pPr algn="l"/>
            <a:r>
              <a:rPr sz="1200" b="1" i="0">
                <a:solidFill>
                  <a:srgbClr val="8B6914"/>
                </a:solidFill>
              </a:rPr>
              <a:t>Q: What is DVP and why is it important?</a:t>
            </a:r>
          </a:p>
        </p:txBody>
      </p:sp>
      <p:sp>
        <p:nvSpPr>
          <p:cNvPr id="11" name="TextBox 10"/>
          <p:cNvSpPr txBox="1"/>
          <p:nvPr/>
        </p:nvSpPr>
        <p:spPr>
          <a:xfrm>
            <a:off x="502920" y="2331720"/>
            <a:ext cx="11064240" cy="777240"/>
          </a:xfrm>
          <a:prstGeom prst="rect">
            <a:avLst/>
          </a:prstGeom>
          <a:noFill/>
        </p:spPr>
        <p:txBody>
          <a:bodyPr wrap="square">
            <a:spAutoFit/>
          </a:bodyPr>
          <a:lstStyle/>
          <a:p>
            <a:pPr algn="l"/>
            <a:r>
              <a:rPr sz="1100" b="0" i="0">
                <a:solidFill>
                  <a:srgbClr val="FFFFFF"/>
                </a:solidFill>
              </a:rPr>
              <a:t>A: Delivery versus Payment — a settlement mechanism where securities and cash are transferred simultaneously, so neither party delivers without receiving. Eliminates Herstatt Risk (principal loss from one-sided delivery).</a:t>
            </a:r>
          </a:p>
        </p:txBody>
      </p:sp>
      <p:sp>
        <p:nvSpPr>
          <p:cNvPr id="12" name="Rectangle 11"/>
          <p:cNvSpPr/>
          <p:nvPr/>
        </p:nvSpPr>
        <p:spPr>
          <a:xfrm>
            <a:off x="365760" y="329184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37560"/>
            <a:ext cx="11064240" cy="457200"/>
          </a:xfrm>
          <a:prstGeom prst="rect">
            <a:avLst/>
          </a:prstGeom>
          <a:noFill/>
        </p:spPr>
        <p:txBody>
          <a:bodyPr wrap="square">
            <a:spAutoFit/>
          </a:bodyPr>
          <a:lstStyle/>
          <a:p>
            <a:pPr algn="l"/>
            <a:r>
              <a:rPr sz="1200" b="1" i="0">
                <a:solidFill>
                  <a:srgbClr val="8B6914"/>
                </a:solidFill>
              </a:rPr>
              <a:t>Q: What are the main causes of settlement failures?</a:t>
            </a:r>
          </a:p>
        </p:txBody>
      </p:sp>
      <p:sp>
        <p:nvSpPr>
          <p:cNvPr id="14" name="TextBox 13"/>
          <p:cNvSpPr txBox="1"/>
          <p:nvPr/>
        </p:nvSpPr>
        <p:spPr>
          <a:xfrm>
            <a:off x="502920" y="3794760"/>
            <a:ext cx="11064240" cy="777240"/>
          </a:xfrm>
          <a:prstGeom prst="rect">
            <a:avLst/>
          </a:prstGeom>
          <a:noFill/>
        </p:spPr>
        <p:txBody>
          <a:bodyPr wrap="square">
            <a:spAutoFit/>
          </a:bodyPr>
          <a:lstStyle/>
          <a:p>
            <a:pPr algn="l"/>
            <a:r>
              <a:rPr sz="1100" b="0" i="0">
                <a:solidFill>
                  <a:srgbClr val="FFFFFF"/>
                </a:solidFill>
              </a:rPr>
              <a:t>A: Incorrect SSI routing, insufficient securities in the custodian account, cash shortfall on value date, missed system cut-off times, and unresolved trade disputes.</a:t>
            </a:r>
          </a:p>
        </p:txBody>
      </p:sp>
      <p:sp>
        <p:nvSpPr>
          <p:cNvPr id="15" name="Rectangle 14"/>
          <p:cNvSpPr/>
          <p:nvPr/>
        </p:nvSpPr>
        <p:spPr>
          <a:xfrm>
            <a:off x="365760" y="475488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00600"/>
            <a:ext cx="11064240" cy="457200"/>
          </a:xfrm>
          <a:prstGeom prst="rect">
            <a:avLst/>
          </a:prstGeom>
          <a:noFill/>
        </p:spPr>
        <p:txBody>
          <a:bodyPr wrap="square">
            <a:spAutoFit/>
          </a:bodyPr>
          <a:lstStyle/>
          <a:p>
            <a:pPr algn="l"/>
            <a:r>
              <a:rPr sz="1200" b="1" i="0">
                <a:solidFill>
                  <a:srgbClr val="8B6914"/>
                </a:solidFill>
              </a:rPr>
              <a:t>Q: What is three-way reconciliation?</a:t>
            </a:r>
          </a:p>
        </p:txBody>
      </p:sp>
      <p:sp>
        <p:nvSpPr>
          <p:cNvPr id="17" name="TextBox 16"/>
          <p:cNvSpPr txBox="1"/>
          <p:nvPr/>
        </p:nvSpPr>
        <p:spPr>
          <a:xfrm>
            <a:off x="502920" y="5257800"/>
            <a:ext cx="11064240" cy="777240"/>
          </a:xfrm>
          <a:prstGeom prst="rect">
            <a:avLst/>
          </a:prstGeom>
          <a:noFill/>
        </p:spPr>
        <p:txBody>
          <a:bodyPr wrap="square">
            <a:spAutoFit/>
          </a:bodyPr>
          <a:lstStyle/>
          <a:p>
            <a:pPr algn="l"/>
            <a:r>
              <a:rPr sz="1100" b="0" i="0">
                <a:solidFill>
                  <a:srgbClr val="FFFFFF"/>
                </a:solidFill>
              </a:rPr>
              <a:t>A: Comparing the firm's internal position records against the custodian's statement and the CSD's records daily. Differences (breaks) must be investigated and resolved — aged breaks are escalated.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STO.5 — Reference Data Management (RDM)</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Quick Recap</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143000"/>
            <a:ext cx="11640312" cy="36576"/>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10972800" cy="5303520"/>
          </a:xfrm>
          <a:prstGeom prst="rect">
            <a:avLst/>
          </a:prstGeom>
          <a:noFill/>
        </p:spPr>
        <p:txBody>
          <a:bodyPr wrap="square">
            <a:spAutoFit/>
          </a:bodyPr>
          <a:lstStyle/>
          <a:p>
            <a:pPr algn="l"/>
            <a:r>
              <a:rPr sz="1900" b="1">
                <a:solidFill>
                  <a:srgbClr val="005F5F"/>
                </a:solidFill>
              </a:rPr>
              <a:t>Before we begin — key ideas from prior learning:</a:t>
            </a:r>
          </a:p>
          <a:p>
            <a:pPr lvl="1" algn="l"/>
            <a:r>
              <a:rPr sz="1700">
                <a:solidFill>
                  <a:srgbClr val="1A1A2E"/>
                </a:solidFill>
              </a:rPr>
              <a:t>• Reference data is the static, foundational information about instruments, counterparties, and settlement routes.</a:t>
            </a:r>
          </a:p>
          <a:p>
            <a:pPr lvl="1" algn="l"/>
            <a:r>
              <a:rPr sz="1700">
                <a:solidFill>
                  <a:srgbClr val="1A1A2E"/>
                </a:solidFill>
              </a:rPr>
              <a:t>• It underpins every stage of the trade lifecycle — from execution to settlement to reporting.</a:t>
            </a:r>
          </a:p>
          <a:p>
            <a:pPr lvl="1" algn="l"/>
            <a:r>
              <a:rPr sz="1700">
                <a:solidFill>
                  <a:srgbClr val="1A1A2E"/>
                </a:solidFill>
              </a:rPr>
              <a:t>• Key types: Security Master (ISIN, asset class), Counterparty Data (LEI, BIC), SSI, Corporate Actions.</a:t>
            </a:r>
          </a:p>
          <a:p>
            <a:pPr lvl="1" algn="l"/>
            <a:r>
              <a:rPr sz="1700">
                <a:solidFill>
                  <a:srgbClr val="1A1A2E"/>
                </a:solidFill>
              </a:rPr>
              <a:t>• Poor data quality cascades: one bad ISIN → wrong booking → wrong settlement → reconciliation break.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STO.5 — Reference Data Management (RDM)</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Scenario / Case Study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11430000" cy="502920"/>
          </a:xfrm>
          <a:prstGeom prst="rect">
            <a:avLst/>
          </a:prstGeom>
          <a:noFill/>
        </p:spPr>
        <p:txBody>
          <a:bodyPr wrap="square">
            <a:spAutoFit/>
          </a:bodyPr>
          <a:lstStyle/>
          <a:p>
            <a:pPr algn="l"/>
            <a:r>
              <a:rPr sz="1600" b="1" i="0">
                <a:solidFill>
                  <a:srgbClr val="1E3A5F"/>
                </a:solidFill>
              </a:rPr>
              <a:t>The Duplicate ISIN Problem</a:t>
            </a:r>
          </a:p>
        </p:txBody>
      </p:sp>
      <p:sp>
        <p:nvSpPr>
          <p:cNvPr id="9" name="TextBox 8"/>
          <p:cNvSpPr txBox="1"/>
          <p:nvPr/>
        </p:nvSpPr>
        <p:spPr>
          <a:xfrm>
            <a:off x="365760" y="1783080"/>
            <a:ext cx="11247120" cy="3108960"/>
          </a:xfrm>
          <a:prstGeom prst="rect">
            <a:avLst/>
          </a:prstGeom>
          <a:noFill/>
        </p:spPr>
        <p:txBody>
          <a:bodyPr wrap="square">
            <a:spAutoFit/>
          </a:bodyPr>
          <a:lstStyle/>
          <a:p>
            <a:pPr algn="l"/>
            <a:r>
              <a:rPr sz="1400" b="0" i="0">
                <a:solidFill>
                  <a:srgbClr val="1A1A2E"/>
                </a:solidFill>
              </a:rPr>
              <a:t>A corporate bond issued by Tata Steel has just been reopened — a new tranche with the same terms but a new ISIN. The reference data team at CIBOP is notified by Bloomberg but the update is delayed by two days. During those two days, three trades are booked using the old ISIN. Settlement instructions go to the wrong CSD participant. Two trades fail. One confirmation is rejected by the counterparty. Total cost: Rs 4.2 lakh in fail penalties plus half a day of operations time to manually fix each trade. The root cause: no automated feed from the CSD to the security master.</a:t>
            </a:r>
          </a:p>
        </p:txBody>
      </p:sp>
      <p:sp>
        <p:nvSpPr>
          <p:cNvPr id="10" name="Rectangle 9"/>
          <p:cNvSpPr/>
          <p:nvPr/>
        </p:nvSpPr>
        <p:spPr>
          <a:xfrm>
            <a:off x="274320" y="5029200"/>
            <a:ext cx="11640312" cy="1554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120640"/>
            <a:ext cx="11155680" cy="1371600"/>
          </a:xfrm>
          <a:prstGeom prst="rect">
            <a:avLst/>
          </a:prstGeom>
          <a:noFill/>
        </p:spPr>
        <p:txBody>
          <a:bodyPr wrap="square">
            <a:spAutoFit/>
          </a:bodyPr>
          <a:lstStyle/>
          <a:p>
            <a:pPr algn="l"/>
            <a:r>
              <a:rPr sz="1300" b="0" i="1">
                <a:solidFill>
                  <a:srgbClr val="FFFFFF"/>
                </a:solidFill>
              </a:rPr>
              <a:t>💡  Think about it: What controls would you implement to prevent a reference data gap between a new bond issuance and the time it appears in the trading system?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STO.5 — Reference Data Management (RDM)</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Key Concept</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1E3A5F"/>
                </a:solidFill>
              </a:rPr>
              <a:t>The Golden Copy and Reference Data Lifecycle</a:t>
            </a:r>
          </a:p>
        </p:txBody>
      </p:sp>
      <p:sp>
        <p:nvSpPr>
          <p:cNvPr id="9" name="TextBox 8"/>
          <p:cNvSpPr txBox="1"/>
          <p:nvPr/>
        </p:nvSpPr>
        <p:spPr>
          <a:xfrm>
            <a:off x="457200" y="1828800"/>
            <a:ext cx="10972800" cy="4114800"/>
          </a:xfrm>
          <a:prstGeom prst="rect">
            <a:avLst/>
          </a:prstGeom>
          <a:noFill/>
        </p:spPr>
        <p:txBody>
          <a:bodyPr wrap="square">
            <a:spAutoFit/>
          </a:bodyPr>
          <a:lstStyle/>
          <a:p>
            <a:pPr lvl="1" algn="l"/>
            <a:r>
              <a:rPr sz="1500">
                <a:solidFill>
                  <a:srgbClr val="1A1A2E"/>
                </a:solidFill>
              </a:rPr>
              <a:t>• Golden Copy: a single, authoritative, validated reference data record for each entity — consumed by all downstream systems. Eliminates version drift.</a:t>
            </a:r>
          </a:p>
          <a:p>
            <a:pPr lvl="1" algn="l"/>
            <a:r>
              <a:rPr sz="1500">
                <a:solidFill>
                  <a:srgbClr val="1A1A2E"/>
                </a:solidFill>
              </a:rPr>
              <a:t>• Security Master: stores ISIN/CUSIP, asset class, currency, exchange, tick size, maturity — for every instrument the firm trades.</a:t>
            </a:r>
          </a:p>
          <a:p>
            <a:pPr lvl="1" algn="l"/>
            <a:r>
              <a:rPr sz="1500">
                <a:solidFill>
                  <a:srgbClr val="1A1A2E"/>
                </a:solidFill>
              </a:rPr>
              <a:t>• Counterparty Data: LEI (Legal Entity Identifier — global unique ID), SWIFT BIC, legal name, KYC/AML status, credit limit.</a:t>
            </a:r>
          </a:p>
          <a:p>
            <a:pPr lvl="1" algn="l"/>
            <a:r>
              <a:rPr sz="1500">
                <a:solidFill>
                  <a:srgbClr val="1A1A2E"/>
                </a:solidFill>
              </a:rPr>
              <a:t>• SSI (Standard Settlement Instructions): per-counterparty, per-currency, per-asset-class settlement routing — custodian, account, depository. Maintained via DTCC ALERT/Omgeo.</a:t>
            </a:r>
          </a:p>
          <a:p>
            <a:pPr lvl="1" algn="l"/>
            <a:r>
              <a:rPr sz="1500">
                <a:solidFill>
                  <a:srgbClr val="1A1A2E"/>
                </a:solidFill>
              </a:rPr>
              <a:t>• Reference Data Lifecycle: Create → Validate (vs external sources) → Four-Eyes Approve → Distribute → Amend (controlled change) → Retire (not delete — preserve audit trail).</a:t>
            </a:r>
          </a:p>
        </p:txBody>
      </p:sp>
      <p:sp>
        <p:nvSpPr>
          <p:cNvPr id="10" name="Rectangle 9"/>
          <p:cNvSpPr/>
          <p:nvPr/>
        </p:nvSpPr>
        <p:spPr>
          <a:xfrm>
            <a:off x="365760" y="5577840"/>
            <a:ext cx="1143000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623560"/>
            <a:ext cx="11155680" cy="914400"/>
          </a:xfrm>
          <a:prstGeom prst="rect">
            <a:avLst/>
          </a:prstGeom>
          <a:noFill/>
        </p:spPr>
        <p:txBody>
          <a:bodyPr wrap="square">
            <a:spAutoFit/>
          </a:bodyPr>
          <a:lstStyle/>
          <a:p>
            <a:pPr algn="l"/>
            <a:r>
              <a:rPr sz="1000" b="0" i="1">
                <a:solidFill>
                  <a:srgbClr val="555555"/>
                </a:solidFill>
              </a:rPr>
              <a:t>[TABLE: See Source Slide — Reference data hierarchy table showing source authority (Bloomberg vs CSD vs SWIFT) by data type]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STO.5 — Reference Data Management (RDM)</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Going Deeper</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8B6914"/>
                </a:solidFill>
              </a:rPr>
              <a:t>SSI Deep Dive and Data Governance</a:t>
            </a:r>
          </a:p>
        </p:txBody>
      </p:sp>
      <p:sp>
        <p:nvSpPr>
          <p:cNvPr id="9" name="TextBox 8"/>
          <p:cNvSpPr txBox="1"/>
          <p:nvPr/>
        </p:nvSpPr>
        <p:spPr>
          <a:xfrm>
            <a:off x="457200" y="1828800"/>
            <a:ext cx="10972800" cy="4572000"/>
          </a:xfrm>
          <a:prstGeom prst="rect">
            <a:avLst/>
          </a:prstGeom>
          <a:noFill/>
        </p:spPr>
        <p:txBody>
          <a:bodyPr wrap="square">
            <a:spAutoFit/>
          </a:bodyPr>
          <a:lstStyle/>
          <a:p>
            <a:pPr lvl="1" algn="l"/>
            <a:r>
              <a:rPr sz="1400">
                <a:solidFill>
                  <a:srgbClr val="FFFFFF"/>
                </a:solidFill>
              </a:rPr>
              <a:t>• SSI failure is the #1 cause of preventable settlement fails — stale SSI routes instructions to the wrong custodian or account.</a:t>
            </a:r>
          </a:p>
          <a:p>
            <a:pPr lvl="1" algn="l"/>
            <a:r>
              <a:rPr sz="1400">
                <a:solidFill>
                  <a:srgbClr val="FFFFFF"/>
                </a:solidFill>
              </a:rPr>
              <a:t>• DTCC ALERT (Institutional): industry-managed SSI database where counterparties publish and maintain their official settlement instructions.</a:t>
            </a:r>
          </a:p>
          <a:p>
            <a:pPr lvl="1" algn="l"/>
            <a:r>
              <a:rPr sz="1400">
                <a:solidFill>
                  <a:srgbClr val="FFFFFF"/>
                </a:solidFill>
              </a:rPr>
              <a:t>• Omgeo CTM / ALERT: matching platform used for SSI retrieval and trade confirmation in the institutional space.</a:t>
            </a:r>
          </a:p>
          <a:p>
            <a:pPr lvl="1" algn="l"/>
            <a:r>
              <a:rPr sz="1400">
                <a:solidFill>
                  <a:srgbClr val="FFFFFF"/>
                </a:solidFill>
              </a:rPr>
              <a:t>• Data Governance: policies defining who can create/amend reference data, what the approval hierarchy is, and how conflicts between sources are resolved.</a:t>
            </a:r>
          </a:p>
          <a:p>
            <a:pPr lvl="1" algn="l"/>
            <a:r>
              <a:rPr sz="1400">
                <a:solidFill>
                  <a:srgbClr val="FFFFFF"/>
                </a:solidFill>
              </a:rPr>
              <a:t>• GLEIF (Global Legal Entity Identifier Foundation): maintains the global LEI database — required for regulatory reporting under MiFID II, EMIR, CFTC.</a:t>
            </a:r>
          </a:p>
          <a:p>
            <a:pPr lvl="1" algn="l"/>
            <a:r>
              <a:rPr sz="1400">
                <a:solidFill>
                  <a:srgbClr val="FFFFFF"/>
                </a:solidFill>
              </a:rPr>
              <a:t>• Corporate Actions as Reference Data: dividend dates, ex-dates, merger ratios, rights issue terms — all stored in the reference data system and consumed by asset servicing teams.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STO.5 — Reference Data Management (RDM)</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Think &amp; Discuss</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0972800" cy="502920"/>
          </a:xfrm>
          <a:prstGeom prst="rect">
            <a:avLst/>
          </a:prstGeom>
          <a:noFill/>
        </p:spPr>
        <p:txBody>
          <a:bodyPr wrap="square">
            <a:spAutoFit/>
          </a:bodyPr>
          <a:lstStyle/>
          <a:p>
            <a:pPr algn="l"/>
            <a:r>
              <a:rPr sz="1600" b="1" i="0">
                <a:solidFill>
                  <a:srgbClr val="1E3A5F"/>
                </a:solidFill>
              </a:rPr>
              <a:t>Discussion Questions</a:t>
            </a:r>
          </a:p>
        </p:txBody>
      </p:sp>
      <p:sp>
        <p:nvSpPr>
          <p:cNvPr id="9" name="Rectangle 8"/>
          <p:cNvSpPr/>
          <p:nvPr/>
        </p:nvSpPr>
        <p:spPr>
          <a:xfrm>
            <a:off x="365760" y="17830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11064240" cy="1005840"/>
          </a:xfrm>
          <a:prstGeom prst="rect">
            <a:avLst/>
          </a:prstGeom>
          <a:noFill/>
        </p:spPr>
        <p:txBody>
          <a:bodyPr wrap="square">
            <a:spAutoFit/>
          </a:bodyPr>
          <a:lstStyle/>
          <a:p>
            <a:pPr algn="l"/>
            <a:r>
              <a:rPr sz="1400" b="0" i="0">
                <a:solidFill>
                  <a:srgbClr val="1A1A2E"/>
                </a:solidFill>
              </a:rPr>
              <a:t>Q1.  The golden copy concept sounds ideal — but what happens when two authoritative sources (Bloomberg and the CSD) disagree on an ISIN or a corporate action date? How should the hierarchy be determined?</a:t>
            </a:r>
          </a:p>
        </p:txBody>
      </p:sp>
      <p:sp>
        <p:nvSpPr>
          <p:cNvPr id="11" name="Rectangle 10"/>
          <p:cNvSpPr/>
          <p:nvPr/>
        </p:nvSpPr>
        <p:spPr>
          <a:xfrm>
            <a:off x="365760" y="31546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46120"/>
            <a:ext cx="11064240" cy="1005840"/>
          </a:xfrm>
          <a:prstGeom prst="rect">
            <a:avLst/>
          </a:prstGeom>
          <a:noFill/>
        </p:spPr>
        <p:txBody>
          <a:bodyPr wrap="square">
            <a:spAutoFit/>
          </a:bodyPr>
          <a:lstStyle/>
          <a:p>
            <a:pPr algn="l"/>
            <a:r>
              <a:rPr sz="1400" b="0" i="0">
                <a:solidFill>
                  <a:srgbClr val="1A1A2E"/>
                </a:solidFill>
              </a:rPr>
              <a:t>Q2.  Reference data teams are often understaffed compared to front office and even back office teams. How would you make the business case for increased investment in RDM?</a:t>
            </a:r>
          </a:p>
        </p:txBody>
      </p:sp>
      <p:sp>
        <p:nvSpPr>
          <p:cNvPr id="13" name="Rectangle 12"/>
          <p:cNvSpPr/>
          <p:nvPr/>
        </p:nvSpPr>
        <p:spPr>
          <a:xfrm>
            <a:off x="365760" y="45262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617720"/>
            <a:ext cx="11064240" cy="1005840"/>
          </a:xfrm>
          <a:prstGeom prst="rect">
            <a:avLst/>
          </a:prstGeom>
          <a:noFill/>
        </p:spPr>
        <p:txBody>
          <a:bodyPr wrap="square">
            <a:spAutoFit/>
          </a:bodyPr>
          <a:lstStyle/>
          <a:p>
            <a:pPr algn="l"/>
            <a:r>
              <a:rPr sz="1400" b="0" i="0">
                <a:solidFill>
                  <a:srgbClr val="1A1A2E"/>
                </a:solidFill>
              </a:rPr>
              <a:t>Q3.  DTCC ALERT allows counterparties to self-publish their SSI data. What are the risks of a self-publication model, and how should a bank verify data it receives from a counterparty's own SSI submission?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STO.5 — Reference Data Management (RDM)</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Interview Ready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02920"/>
          </a:xfrm>
          <a:prstGeom prst="rect">
            <a:avLst/>
          </a:prstGeom>
          <a:noFill/>
        </p:spPr>
        <p:txBody>
          <a:bodyPr wrap="square">
            <a:spAutoFit/>
          </a:bodyPr>
          <a:lstStyle/>
          <a:p>
            <a:pPr algn="l"/>
            <a:r>
              <a:rPr sz="1600" b="1" i="0">
                <a:solidFill>
                  <a:srgbClr val="8B6914"/>
                </a:solidFill>
              </a:rPr>
              <a:t>🎯  Questions You Must Be Able to Answer</a:t>
            </a:r>
          </a:p>
        </p:txBody>
      </p:sp>
      <p:sp>
        <p:nvSpPr>
          <p:cNvPr id="9" name="Rectangle 8"/>
          <p:cNvSpPr/>
          <p:nvPr/>
        </p:nvSpPr>
        <p:spPr>
          <a:xfrm>
            <a:off x="365760" y="182880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74519"/>
            <a:ext cx="11064240" cy="457200"/>
          </a:xfrm>
          <a:prstGeom prst="rect">
            <a:avLst/>
          </a:prstGeom>
          <a:noFill/>
        </p:spPr>
        <p:txBody>
          <a:bodyPr wrap="square">
            <a:spAutoFit/>
          </a:bodyPr>
          <a:lstStyle/>
          <a:p>
            <a:pPr algn="l"/>
            <a:r>
              <a:rPr sz="1200" b="1" i="0">
                <a:solidFill>
                  <a:srgbClr val="8B6914"/>
                </a:solidFill>
              </a:rPr>
              <a:t>Q: What is reference data and how does it differ from market data?</a:t>
            </a:r>
          </a:p>
        </p:txBody>
      </p:sp>
      <p:sp>
        <p:nvSpPr>
          <p:cNvPr id="11" name="TextBox 10"/>
          <p:cNvSpPr txBox="1"/>
          <p:nvPr/>
        </p:nvSpPr>
        <p:spPr>
          <a:xfrm>
            <a:off x="502920" y="2331720"/>
            <a:ext cx="11064240" cy="777240"/>
          </a:xfrm>
          <a:prstGeom prst="rect">
            <a:avLst/>
          </a:prstGeom>
          <a:noFill/>
        </p:spPr>
        <p:txBody>
          <a:bodyPr wrap="square">
            <a:spAutoFit/>
          </a:bodyPr>
          <a:lstStyle/>
          <a:p>
            <a:pPr algn="l"/>
            <a:r>
              <a:rPr sz="1100" b="0" i="0">
                <a:solidFill>
                  <a:srgbClr val="FFFFFF"/>
                </a:solidFill>
              </a:rPr>
              <a:t>A: Reference data is static, foundational information about instruments and parties — ISINs, LEIs, SSIs, corporate action terms. Market data is real-time pricing and transactional data. Reference data errors cascade downstream; market data errors affect pricing.</a:t>
            </a:r>
          </a:p>
        </p:txBody>
      </p:sp>
      <p:sp>
        <p:nvSpPr>
          <p:cNvPr id="12" name="Rectangle 11"/>
          <p:cNvSpPr/>
          <p:nvPr/>
        </p:nvSpPr>
        <p:spPr>
          <a:xfrm>
            <a:off x="365760" y="329184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37560"/>
            <a:ext cx="11064240" cy="457200"/>
          </a:xfrm>
          <a:prstGeom prst="rect">
            <a:avLst/>
          </a:prstGeom>
          <a:noFill/>
        </p:spPr>
        <p:txBody>
          <a:bodyPr wrap="square">
            <a:spAutoFit/>
          </a:bodyPr>
          <a:lstStyle/>
          <a:p>
            <a:pPr algn="l"/>
            <a:r>
              <a:rPr sz="1200" b="1" i="0">
                <a:solidFill>
                  <a:srgbClr val="8B6914"/>
                </a:solidFill>
              </a:rPr>
              <a:t>Q: What is the golden copy concept in reference data management?</a:t>
            </a:r>
          </a:p>
        </p:txBody>
      </p:sp>
      <p:sp>
        <p:nvSpPr>
          <p:cNvPr id="14" name="TextBox 13"/>
          <p:cNvSpPr txBox="1"/>
          <p:nvPr/>
        </p:nvSpPr>
        <p:spPr>
          <a:xfrm>
            <a:off x="502920" y="3794760"/>
            <a:ext cx="11064240" cy="777240"/>
          </a:xfrm>
          <a:prstGeom prst="rect">
            <a:avLst/>
          </a:prstGeom>
          <a:noFill/>
        </p:spPr>
        <p:txBody>
          <a:bodyPr wrap="square">
            <a:spAutoFit/>
          </a:bodyPr>
          <a:lstStyle/>
          <a:p>
            <a:pPr algn="l"/>
            <a:r>
              <a:rPr sz="1100" b="0" i="0">
                <a:solidFill>
                  <a:srgbClr val="FFFFFF"/>
                </a:solidFill>
              </a:rPr>
              <a:t>A: A single, authoritative, validated record for each data entity — consumed by all downstream systems. Eliminates the version drift that occurs when each system maintains its own copy.</a:t>
            </a:r>
          </a:p>
        </p:txBody>
      </p:sp>
      <p:sp>
        <p:nvSpPr>
          <p:cNvPr id="15" name="Rectangle 14"/>
          <p:cNvSpPr/>
          <p:nvPr/>
        </p:nvSpPr>
        <p:spPr>
          <a:xfrm>
            <a:off x="365760" y="475488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00600"/>
            <a:ext cx="11064240" cy="457200"/>
          </a:xfrm>
          <a:prstGeom prst="rect">
            <a:avLst/>
          </a:prstGeom>
          <a:noFill/>
        </p:spPr>
        <p:txBody>
          <a:bodyPr wrap="square">
            <a:spAutoFit/>
          </a:bodyPr>
          <a:lstStyle/>
          <a:p>
            <a:pPr algn="l"/>
            <a:r>
              <a:rPr sz="1200" b="1" i="0">
                <a:solidFill>
                  <a:srgbClr val="8B6914"/>
                </a:solidFill>
              </a:rPr>
              <a:t>Q: Why are Standard Settlement Instructions (SSIs) so critical, and how are they managed?</a:t>
            </a:r>
          </a:p>
        </p:txBody>
      </p:sp>
      <p:sp>
        <p:nvSpPr>
          <p:cNvPr id="17" name="TextBox 16"/>
          <p:cNvSpPr txBox="1"/>
          <p:nvPr/>
        </p:nvSpPr>
        <p:spPr>
          <a:xfrm>
            <a:off x="502920" y="5257800"/>
            <a:ext cx="11064240" cy="777240"/>
          </a:xfrm>
          <a:prstGeom prst="rect">
            <a:avLst/>
          </a:prstGeom>
          <a:noFill/>
        </p:spPr>
        <p:txBody>
          <a:bodyPr wrap="square">
            <a:spAutoFit/>
          </a:bodyPr>
          <a:lstStyle/>
          <a:p>
            <a:pPr algn="l"/>
            <a:r>
              <a:rPr sz="1100" b="0" i="0">
                <a:solidFill>
                  <a:srgbClr val="FFFFFF"/>
                </a:solidFill>
              </a:rPr>
              <a:t>A: SSIs define exactly where securities and cash should be delivered for each counterparty. Stale or incorrect SSIs are the #1 cause of preventable settlement fails. Managed via industry platforms like DTCC ALERT/Omgeo, where counterparties publish their official instructions.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STO.6 — Corporate Actions Processing</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Quick Recap</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143000"/>
            <a:ext cx="11640312" cy="36576"/>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10972800" cy="5303520"/>
          </a:xfrm>
          <a:prstGeom prst="rect">
            <a:avLst/>
          </a:prstGeom>
          <a:noFill/>
        </p:spPr>
        <p:txBody>
          <a:bodyPr wrap="square">
            <a:spAutoFit/>
          </a:bodyPr>
          <a:lstStyle/>
          <a:p>
            <a:pPr algn="l"/>
            <a:r>
              <a:rPr sz="1900" b="1">
                <a:solidFill>
                  <a:srgbClr val="005F5F"/>
                </a:solidFill>
              </a:rPr>
              <a:t>Before we begin — key ideas from prior learning:</a:t>
            </a:r>
          </a:p>
          <a:p>
            <a:pPr lvl="1" algn="l"/>
            <a:r>
              <a:rPr sz="1700">
                <a:solidFill>
                  <a:srgbClr val="1A1A2E"/>
                </a:solidFill>
              </a:rPr>
              <a:t>• Corporate actions are company-declared events that affect the value or structure of securities.</a:t>
            </a:r>
          </a:p>
          <a:p>
            <a:pPr lvl="1" algn="l"/>
            <a:r>
              <a:rPr sz="1700">
                <a:solidFill>
                  <a:srgbClr val="1A1A2E"/>
                </a:solidFill>
              </a:rPr>
              <a:t>• Mandatory events happen automatically; voluntary events require shareholder elections.</a:t>
            </a:r>
          </a:p>
          <a:p>
            <a:pPr lvl="1" algn="l"/>
            <a:r>
              <a:rPr sz="1700">
                <a:solidFill>
                  <a:srgbClr val="1A1A2E"/>
                </a:solidFill>
              </a:rPr>
              <a:t>• Key dates: Declaration → Ex-Date → Record Date → Payment Date.</a:t>
            </a:r>
          </a:p>
          <a:p>
            <a:pPr lvl="1" algn="l"/>
            <a:r>
              <a:rPr sz="1700">
                <a:solidFill>
                  <a:srgbClr val="1A1A2E"/>
                </a:solidFill>
              </a:rPr>
              <a:t>• Back office must identify eligible holders, notify clients, process elections, and update all position records.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STO.6 — Corporate Actions Processing</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Scenario / Case Study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11430000" cy="502920"/>
          </a:xfrm>
          <a:prstGeom prst="rect">
            <a:avLst/>
          </a:prstGeom>
          <a:noFill/>
        </p:spPr>
        <p:txBody>
          <a:bodyPr wrap="square">
            <a:spAutoFit/>
          </a:bodyPr>
          <a:lstStyle/>
          <a:p>
            <a:pPr algn="l"/>
            <a:r>
              <a:rPr sz="1600" b="1" i="0">
                <a:solidFill>
                  <a:srgbClr val="1E3A5F"/>
                </a:solidFill>
              </a:rPr>
              <a:t>The Rights Issue That Went Wrong</a:t>
            </a:r>
          </a:p>
        </p:txBody>
      </p:sp>
      <p:sp>
        <p:nvSpPr>
          <p:cNvPr id="9" name="TextBox 8"/>
          <p:cNvSpPr txBox="1"/>
          <p:nvPr/>
        </p:nvSpPr>
        <p:spPr>
          <a:xfrm>
            <a:off x="365760" y="1783080"/>
            <a:ext cx="11247120" cy="3108960"/>
          </a:xfrm>
          <a:prstGeom prst="rect">
            <a:avLst/>
          </a:prstGeom>
          <a:noFill/>
        </p:spPr>
        <p:txBody>
          <a:bodyPr wrap="square">
            <a:spAutoFit/>
          </a:bodyPr>
          <a:lstStyle/>
          <a:p>
            <a:pPr algn="l"/>
            <a:r>
              <a:rPr sz="1400" b="0" i="0">
                <a:solidFill>
                  <a:srgbClr val="1A1A2E"/>
                </a:solidFill>
              </a:rPr>
              <a:t>CIBOP Custody Bank holds 8.5 million shares of a mid-cap pharmaceutical company on behalf of 340 institutional clients. The company announces a rights issue: 1 new share for every 4 held, at a 25% discount. Back office sends notifications — but three clients never receive theirs due to an outdated email address in the entity database. Two clients miss the election deadline and their rights lapse. Combined entitlement value lost: Rs 2.8 crore. Both clients file complaints. The firm must make them whole — and the data quality team has an uncomfortable Monday morning.</a:t>
            </a:r>
          </a:p>
        </p:txBody>
      </p:sp>
      <p:sp>
        <p:nvSpPr>
          <p:cNvPr id="10" name="Rectangle 9"/>
          <p:cNvSpPr/>
          <p:nvPr/>
        </p:nvSpPr>
        <p:spPr>
          <a:xfrm>
            <a:off x="274320" y="5029200"/>
            <a:ext cx="11640312" cy="1554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120640"/>
            <a:ext cx="11155680" cy="1371600"/>
          </a:xfrm>
          <a:prstGeom prst="rect">
            <a:avLst/>
          </a:prstGeom>
          <a:noFill/>
        </p:spPr>
        <p:txBody>
          <a:bodyPr wrap="square">
            <a:spAutoFit/>
          </a:bodyPr>
          <a:lstStyle/>
          <a:p>
            <a:pPr algn="l"/>
            <a:r>
              <a:rPr sz="1300" b="0" i="1">
                <a:solidFill>
                  <a:srgbClr val="FFFFFF"/>
                </a:solidFill>
              </a:rPr>
              <a:t>💡  Think about it: At what stage in this process did the root cause failure occur? What system change would prevent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STO.6 — Corporate Actions Processing</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Key Concept</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1E3A5F"/>
                </a:solidFill>
              </a:rPr>
              <a:t>Corporate Action Types and Key Dates</a:t>
            </a:r>
          </a:p>
        </p:txBody>
      </p:sp>
      <p:sp>
        <p:nvSpPr>
          <p:cNvPr id="9" name="TextBox 8"/>
          <p:cNvSpPr txBox="1"/>
          <p:nvPr/>
        </p:nvSpPr>
        <p:spPr>
          <a:xfrm>
            <a:off x="457200" y="1828800"/>
            <a:ext cx="10972800" cy="4114800"/>
          </a:xfrm>
          <a:prstGeom prst="rect">
            <a:avLst/>
          </a:prstGeom>
          <a:noFill/>
        </p:spPr>
        <p:txBody>
          <a:bodyPr wrap="square">
            <a:spAutoFit/>
          </a:bodyPr>
          <a:lstStyle/>
          <a:p>
            <a:pPr lvl="1" algn="l"/>
            <a:r>
              <a:rPr sz="1500">
                <a:solidFill>
                  <a:srgbClr val="1A1A2E"/>
                </a:solidFill>
              </a:rPr>
              <a:t>• MANDATORY: Cash Dividend, Bonus Issue, Stock Split, Mandatory Exchange Merger, Bankruptcy Distribution — happen automatically with no election required.</a:t>
            </a:r>
          </a:p>
          <a:p>
            <a:pPr lvl="1" algn="l"/>
            <a:r>
              <a:rPr sz="1500">
                <a:solidFill>
                  <a:srgbClr val="1A1A2E"/>
                </a:solidFill>
              </a:rPr>
              <a:t>• VOLUNTARY: Rights Issue (exercise / sell nil-paid / lapse), Tender Offer (tender / retain), DRIP (take shares / take cash), Convertible Bond Conversion.</a:t>
            </a:r>
          </a:p>
          <a:p>
            <a:pPr lvl="1" algn="l"/>
            <a:r>
              <a:rPr sz="1500">
                <a:solidFill>
                  <a:srgbClr val="1A1A2E"/>
                </a:solidFill>
              </a:rPr>
              <a:t>• Dividend Key Dates: Declaration Date → Ex-Dividend Date → Record Date → Payment Date. With T+1 settlement: Ex-date = Record date − 1 business day.</a:t>
            </a:r>
          </a:p>
          <a:p>
            <a:pPr lvl="1" algn="l"/>
            <a:r>
              <a:rPr sz="1500">
                <a:solidFill>
                  <a:srgbClr val="1A1A2E"/>
                </a:solidFill>
              </a:rPr>
              <a:t>• Stock Split: 2-for-1 doubles share count, halves price per share. Total market cap unchanged. ALL position records must update simultaneously on ex-date.</a:t>
            </a:r>
          </a:p>
          <a:p>
            <a:pPr lvl="1" algn="l"/>
            <a:r>
              <a:rPr sz="1500">
                <a:solidFill>
                  <a:srgbClr val="1A1A2E"/>
                </a:solidFill>
              </a:rPr>
              <a:t>• Back Office Process: identify eligible holders on record date → notify clients → receive and record elections → submit to registrar → process on effective date → update all position records.</a:t>
            </a:r>
          </a:p>
        </p:txBody>
      </p:sp>
      <p:sp>
        <p:nvSpPr>
          <p:cNvPr id="10" name="Rectangle 9"/>
          <p:cNvSpPr/>
          <p:nvPr/>
        </p:nvSpPr>
        <p:spPr>
          <a:xfrm>
            <a:off x="365760" y="5577840"/>
            <a:ext cx="1143000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623560"/>
            <a:ext cx="11155680" cy="914400"/>
          </a:xfrm>
          <a:prstGeom prst="rect">
            <a:avLst/>
          </a:prstGeom>
          <a:noFill/>
        </p:spPr>
        <p:txBody>
          <a:bodyPr wrap="square">
            <a:spAutoFit/>
          </a:bodyPr>
          <a:lstStyle/>
          <a:p>
            <a:pPr algn="l"/>
            <a:r>
              <a:rPr sz="1000" b="0" i="1">
                <a:solidFill>
                  <a:srgbClr val="555555"/>
                </a:solidFill>
              </a:rPr>
              <a:t>[TABLE: See Source Slide — Mandatory vs Voluntary corporate actions matrix with examples and operations impact]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STO.6 — Corporate Actions Processing</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Going Deeper</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48640"/>
          </a:xfrm>
          <a:prstGeom prst="rect">
            <a:avLst/>
          </a:prstGeom>
          <a:noFill/>
        </p:spPr>
        <p:txBody>
          <a:bodyPr wrap="square">
            <a:spAutoFit/>
          </a:bodyPr>
          <a:lstStyle/>
          <a:p>
            <a:pPr algn="l"/>
            <a:r>
              <a:rPr sz="1800" b="1" i="0">
                <a:solidFill>
                  <a:srgbClr val="8B6914"/>
                </a:solidFill>
              </a:rPr>
              <a:t>Mergers, Operational Risks &amp; Regulatory Reporting</a:t>
            </a:r>
          </a:p>
        </p:txBody>
      </p:sp>
      <p:sp>
        <p:nvSpPr>
          <p:cNvPr id="9" name="TextBox 8"/>
          <p:cNvSpPr txBox="1"/>
          <p:nvPr/>
        </p:nvSpPr>
        <p:spPr>
          <a:xfrm>
            <a:off x="457200" y="1828800"/>
            <a:ext cx="10972800" cy="4572000"/>
          </a:xfrm>
          <a:prstGeom prst="rect">
            <a:avLst/>
          </a:prstGeom>
          <a:noFill/>
        </p:spPr>
        <p:txBody>
          <a:bodyPr wrap="square">
            <a:spAutoFit/>
          </a:bodyPr>
          <a:lstStyle/>
          <a:p>
            <a:pPr lvl="1" algn="l"/>
            <a:r>
              <a:rPr sz="1400">
                <a:solidFill>
                  <a:srgbClr val="FFFFFF"/>
                </a:solidFill>
              </a:rPr>
              <a:t>• M&amp;A Corporate Action: cash takeover (fixed cash per share) OR share-for-share exchange (exchange ratio) OR mixed consideration. Operations must manage election, verify entitlements, debit old position, credit new position on effective date.</a:t>
            </a:r>
          </a:p>
          <a:p>
            <a:pPr lvl="1" algn="l"/>
            <a:r>
              <a:rPr sz="1400">
                <a:solidFill>
                  <a:srgbClr val="FFFFFF"/>
                </a:solidFill>
              </a:rPr>
              <a:t>• Old security is retired in the security master on effective date; new security is created (or existing acquirer record updated).</a:t>
            </a:r>
          </a:p>
          <a:p>
            <a:pPr lvl="1" algn="l"/>
            <a:r>
              <a:rPr sz="1400">
                <a:solidFill>
                  <a:srgbClr val="FFFFFF"/>
                </a:solidFill>
              </a:rPr>
              <a:t>• Missed Election Risk: client loses voluntary entitlement — firm is typically liable to make the client whole (client money rules).</a:t>
            </a:r>
          </a:p>
          <a:p>
            <a:pPr lvl="1" algn="l"/>
            <a:r>
              <a:rPr sz="1400">
                <a:solidFill>
                  <a:srgbClr val="FFFFFF"/>
                </a:solidFill>
              </a:rPr>
              <a:t>• Wrong Entitlement Calculation: dividend credited on wrong quantity — causes P&amp;L discrepancy requiring manual correction and reconciliation investigation.</a:t>
            </a:r>
          </a:p>
          <a:p>
            <a:pPr lvl="1" algn="l"/>
            <a:r>
              <a:rPr sz="1400">
                <a:solidFill>
                  <a:srgbClr val="FFFFFF"/>
                </a:solidFill>
              </a:rPr>
              <a:t>• FX Risk on Foreign Dividends: dividends paid in foreign currency must be converted at the correct rate on payment date — errors credited in wrong currency require reversal and reprocessing.</a:t>
            </a:r>
          </a:p>
          <a:p>
            <a:pPr lvl="1" algn="l"/>
            <a:r>
              <a:rPr sz="1400">
                <a:solidFill>
                  <a:srgbClr val="FFFFFF"/>
                </a:solidFill>
              </a:rPr>
              <a:t>• Regulatory Reporting: all corporate action events must be correctly reflected in SEBI/MiFID II transaction and position reports.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STO.6 — Corporate Actions Processing</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Think &amp; Discuss</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0972800" cy="502920"/>
          </a:xfrm>
          <a:prstGeom prst="rect">
            <a:avLst/>
          </a:prstGeom>
          <a:noFill/>
        </p:spPr>
        <p:txBody>
          <a:bodyPr wrap="square">
            <a:spAutoFit/>
          </a:bodyPr>
          <a:lstStyle/>
          <a:p>
            <a:pPr algn="l"/>
            <a:r>
              <a:rPr sz="1600" b="1" i="0">
                <a:solidFill>
                  <a:srgbClr val="1E3A5F"/>
                </a:solidFill>
              </a:rPr>
              <a:t>Discussion Questions</a:t>
            </a:r>
          </a:p>
        </p:txBody>
      </p:sp>
      <p:sp>
        <p:nvSpPr>
          <p:cNvPr id="9" name="Rectangle 8"/>
          <p:cNvSpPr/>
          <p:nvPr/>
        </p:nvSpPr>
        <p:spPr>
          <a:xfrm>
            <a:off x="365760" y="17830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11064240" cy="1005840"/>
          </a:xfrm>
          <a:prstGeom prst="rect">
            <a:avLst/>
          </a:prstGeom>
          <a:noFill/>
        </p:spPr>
        <p:txBody>
          <a:bodyPr wrap="square">
            <a:spAutoFit/>
          </a:bodyPr>
          <a:lstStyle/>
          <a:p>
            <a:pPr algn="l"/>
            <a:r>
              <a:rPr sz="1400" b="0" i="0">
                <a:solidFill>
                  <a:srgbClr val="1A1A2E"/>
                </a:solidFill>
              </a:rPr>
              <a:t>Q1.  A client misses a rights issue election deadline because they were travelling and did not check their email. The firm sent the notification to the correct address. Who is responsible — the firm or the client? What does your answer depend on?</a:t>
            </a:r>
          </a:p>
        </p:txBody>
      </p:sp>
      <p:sp>
        <p:nvSpPr>
          <p:cNvPr id="11" name="Rectangle 10"/>
          <p:cNvSpPr/>
          <p:nvPr/>
        </p:nvSpPr>
        <p:spPr>
          <a:xfrm>
            <a:off x="365760" y="31546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46120"/>
            <a:ext cx="11064240" cy="1005840"/>
          </a:xfrm>
          <a:prstGeom prst="rect">
            <a:avLst/>
          </a:prstGeom>
          <a:noFill/>
        </p:spPr>
        <p:txBody>
          <a:bodyPr wrap="square">
            <a:spAutoFit/>
          </a:bodyPr>
          <a:lstStyle/>
          <a:p>
            <a:pPr algn="l"/>
            <a:r>
              <a:rPr sz="1400" b="0" i="0">
                <a:solidFill>
                  <a:srgbClr val="1A1A2E"/>
                </a:solidFill>
              </a:rPr>
              <a:t>Q2.  Stock splits are described as "purely mechanical" — the market cap doesn't change, only the share count. Yet operations teams flag them as high-risk events. Why?</a:t>
            </a:r>
          </a:p>
        </p:txBody>
      </p:sp>
      <p:sp>
        <p:nvSpPr>
          <p:cNvPr id="13" name="Rectangle 12"/>
          <p:cNvSpPr/>
          <p:nvPr/>
        </p:nvSpPr>
        <p:spPr>
          <a:xfrm>
            <a:off x="365760" y="4526280"/>
            <a:ext cx="11430000" cy="1188720"/>
          </a:xfrm>
          <a:prstGeom prst="rect">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617720"/>
            <a:ext cx="11064240" cy="1005840"/>
          </a:xfrm>
          <a:prstGeom prst="rect">
            <a:avLst/>
          </a:prstGeom>
          <a:noFill/>
        </p:spPr>
        <p:txBody>
          <a:bodyPr wrap="square">
            <a:spAutoFit/>
          </a:bodyPr>
          <a:lstStyle/>
          <a:p>
            <a:pPr algn="l"/>
            <a:r>
              <a:rPr sz="1400" b="0" i="0">
                <a:solidFill>
                  <a:srgbClr val="1A1A2E"/>
                </a:solidFill>
              </a:rPr>
              <a:t>Q3.  A large custody bank processes corporate actions for hundreds of thousands of client positions across 40 countries simultaneously. What does the operating model need to look like to manage this reliably?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8686800" cy="457200"/>
          </a:xfrm>
          <a:prstGeom prst="rect">
            <a:avLst/>
          </a:prstGeom>
          <a:noFill/>
        </p:spPr>
        <p:txBody>
          <a:bodyPr wrap="square">
            <a:spAutoFit/>
          </a:bodyPr>
          <a:lstStyle/>
          <a:p>
            <a:pPr algn="l"/>
            <a:r>
              <a:rPr sz="1400" b="1" i="0">
                <a:solidFill>
                  <a:srgbClr val="FFFFFF"/>
                </a:solidFill>
              </a:rPr>
              <a:t>STO.6 — Corporate Actions Processing</a:t>
            </a:r>
          </a:p>
        </p:txBody>
      </p:sp>
      <p:sp>
        <p:nvSpPr>
          <p:cNvPr id="5" name="TextBox 4"/>
          <p:cNvSpPr txBox="1"/>
          <p:nvPr/>
        </p:nvSpPr>
        <p:spPr>
          <a:xfrm>
            <a:off x="274320" y="502920"/>
            <a:ext cx="8686800" cy="411480"/>
          </a:xfrm>
          <a:prstGeom prst="rect">
            <a:avLst/>
          </a:prstGeom>
          <a:noFill/>
        </p:spPr>
        <p:txBody>
          <a:bodyPr wrap="square">
            <a:spAutoFit/>
          </a:bodyPr>
          <a:lstStyle/>
          <a:p>
            <a:pPr algn="l"/>
            <a:r>
              <a:rPr sz="1100" b="0" i="0">
                <a:solidFill>
                  <a:srgbClr val="8B6914"/>
                </a:solidFill>
              </a:rPr>
              <a:t>Interview Ready</a:t>
            </a:r>
          </a:p>
        </p:txBody>
      </p:sp>
      <p:sp>
        <p:nvSpPr>
          <p:cNvPr id="6" name="TextBox 5"/>
          <p:cNvSpPr txBox="1"/>
          <p:nvPr/>
        </p:nvSpPr>
        <p:spPr>
          <a:xfrm>
            <a:off x="9144000" y="45720"/>
            <a:ext cx="2926080" cy="365760"/>
          </a:xfrm>
          <a:prstGeom prst="rect">
            <a:avLst/>
          </a:prstGeom>
          <a:noFill/>
        </p:spPr>
        <p:txBody>
          <a:bodyPr wrap="square">
            <a:spAutoFit/>
          </a:bodyPr>
          <a:lstStyle/>
          <a:p>
            <a:pPr algn="r"/>
            <a:r>
              <a:rPr sz="900" b="0" i="0">
                <a:solidFill>
                  <a:srgbClr val="CCCCCC"/>
                </a:solidFill>
              </a:rPr>
              <a:t>CIBOP | Module 8 | STO &amp; RDM</a:t>
            </a:r>
          </a:p>
        </p:txBody>
      </p:sp>
      <p:sp>
        <p:nvSpPr>
          <p:cNvPr id="7" name="Rectangle 6"/>
          <p:cNvSpPr/>
          <p:nvPr/>
        </p:nvSpPr>
        <p:spPr>
          <a:xfrm>
            <a:off x="274320" y="1097280"/>
            <a:ext cx="11640312" cy="36576"/>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88720"/>
            <a:ext cx="11430000" cy="502920"/>
          </a:xfrm>
          <a:prstGeom prst="rect">
            <a:avLst/>
          </a:prstGeom>
          <a:noFill/>
        </p:spPr>
        <p:txBody>
          <a:bodyPr wrap="square">
            <a:spAutoFit/>
          </a:bodyPr>
          <a:lstStyle/>
          <a:p>
            <a:pPr algn="l"/>
            <a:r>
              <a:rPr sz="1600" b="1" i="0">
                <a:solidFill>
                  <a:srgbClr val="8B6914"/>
                </a:solidFill>
              </a:rPr>
              <a:t>🎯  Questions You Must Be Able to Answer</a:t>
            </a:r>
          </a:p>
        </p:txBody>
      </p:sp>
      <p:sp>
        <p:nvSpPr>
          <p:cNvPr id="9" name="Rectangle 8"/>
          <p:cNvSpPr/>
          <p:nvPr/>
        </p:nvSpPr>
        <p:spPr>
          <a:xfrm>
            <a:off x="365760" y="182880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74519"/>
            <a:ext cx="11064240" cy="457200"/>
          </a:xfrm>
          <a:prstGeom prst="rect">
            <a:avLst/>
          </a:prstGeom>
          <a:noFill/>
        </p:spPr>
        <p:txBody>
          <a:bodyPr wrap="square">
            <a:spAutoFit/>
          </a:bodyPr>
          <a:lstStyle/>
          <a:p>
            <a:pPr algn="l"/>
            <a:r>
              <a:rPr sz="1200" b="1" i="0">
                <a:solidFill>
                  <a:srgbClr val="8B6914"/>
                </a:solidFill>
              </a:rPr>
              <a:t>Q: What is the difference between a mandatory and voluntary corporate action?</a:t>
            </a:r>
          </a:p>
        </p:txBody>
      </p:sp>
      <p:sp>
        <p:nvSpPr>
          <p:cNvPr id="11" name="TextBox 10"/>
          <p:cNvSpPr txBox="1"/>
          <p:nvPr/>
        </p:nvSpPr>
        <p:spPr>
          <a:xfrm>
            <a:off x="502920" y="2331720"/>
            <a:ext cx="11064240" cy="777240"/>
          </a:xfrm>
          <a:prstGeom prst="rect">
            <a:avLst/>
          </a:prstGeom>
          <a:noFill/>
        </p:spPr>
        <p:txBody>
          <a:bodyPr wrap="square">
            <a:spAutoFit/>
          </a:bodyPr>
          <a:lstStyle/>
          <a:p>
            <a:pPr algn="l"/>
            <a:r>
              <a:rPr sz="1100" b="0" i="0">
                <a:solidFill>
                  <a:srgbClr val="FFFFFF"/>
                </a:solidFill>
              </a:rPr>
              <a:t>A: Mandatory: happens automatically to all eligible holders — no election required (e.g., cash dividend, stock split, mandatory merger). Voluntary: holder must make an election (e.g., rights issue, tender offer, DRIP). Missing a voluntary deadline results in the default option applying.</a:t>
            </a:r>
          </a:p>
        </p:txBody>
      </p:sp>
      <p:sp>
        <p:nvSpPr>
          <p:cNvPr id="12" name="Rectangle 11"/>
          <p:cNvSpPr/>
          <p:nvPr/>
        </p:nvSpPr>
        <p:spPr>
          <a:xfrm>
            <a:off x="365760" y="329184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37560"/>
            <a:ext cx="11064240" cy="457200"/>
          </a:xfrm>
          <a:prstGeom prst="rect">
            <a:avLst/>
          </a:prstGeom>
          <a:noFill/>
        </p:spPr>
        <p:txBody>
          <a:bodyPr wrap="square">
            <a:spAutoFit/>
          </a:bodyPr>
          <a:lstStyle/>
          <a:p>
            <a:pPr algn="l"/>
            <a:r>
              <a:rPr sz="1200" b="1" i="0">
                <a:solidFill>
                  <a:srgbClr val="8B6914"/>
                </a:solidFill>
              </a:rPr>
              <a:t>Q: What are the four key dates in a dividend corporate action?</a:t>
            </a:r>
          </a:p>
        </p:txBody>
      </p:sp>
      <p:sp>
        <p:nvSpPr>
          <p:cNvPr id="14" name="TextBox 13"/>
          <p:cNvSpPr txBox="1"/>
          <p:nvPr/>
        </p:nvSpPr>
        <p:spPr>
          <a:xfrm>
            <a:off x="502920" y="3794760"/>
            <a:ext cx="11064240" cy="777240"/>
          </a:xfrm>
          <a:prstGeom prst="rect">
            <a:avLst/>
          </a:prstGeom>
          <a:noFill/>
        </p:spPr>
        <p:txBody>
          <a:bodyPr wrap="square">
            <a:spAutoFit/>
          </a:bodyPr>
          <a:lstStyle/>
          <a:p>
            <a:pPr algn="l"/>
            <a:r>
              <a:rPr sz="1100" b="0" i="0">
                <a:solidFill>
                  <a:srgbClr val="FFFFFF"/>
                </a:solidFill>
              </a:rPr>
              <a:t>A: Declaration Date (announced), Ex-Dividend Date (buy before this to receive dividend — T−1 from record date), Record Date (official holder register compiled), Payment Date (cash credited to accounts).</a:t>
            </a:r>
          </a:p>
        </p:txBody>
      </p:sp>
      <p:sp>
        <p:nvSpPr>
          <p:cNvPr id="15" name="Rectangle 14"/>
          <p:cNvSpPr/>
          <p:nvPr/>
        </p:nvSpPr>
        <p:spPr>
          <a:xfrm>
            <a:off x="365760" y="4754880"/>
            <a:ext cx="11430000" cy="1325880"/>
          </a:xfrm>
          <a:prstGeom prst="rect">
            <a:avLst/>
          </a:prstGeom>
          <a:solidFill>
            <a:srgbClr val="0A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00600"/>
            <a:ext cx="11064240" cy="457200"/>
          </a:xfrm>
          <a:prstGeom prst="rect">
            <a:avLst/>
          </a:prstGeom>
          <a:noFill/>
        </p:spPr>
        <p:txBody>
          <a:bodyPr wrap="square">
            <a:spAutoFit/>
          </a:bodyPr>
          <a:lstStyle/>
          <a:p>
            <a:pPr algn="l"/>
            <a:r>
              <a:rPr sz="1200" b="1" i="0">
                <a:solidFill>
                  <a:srgbClr val="8B6914"/>
                </a:solidFill>
              </a:rPr>
              <a:t>Q: What are the key operational risks in corporate actions processing?</a:t>
            </a:r>
          </a:p>
        </p:txBody>
      </p:sp>
      <p:sp>
        <p:nvSpPr>
          <p:cNvPr id="17" name="TextBox 16"/>
          <p:cNvSpPr txBox="1"/>
          <p:nvPr/>
        </p:nvSpPr>
        <p:spPr>
          <a:xfrm>
            <a:off x="502920" y="5257800"/>
            <a:ext cx="11064240" cy="777240"/>
          </a:xfrm>
          <a:prstGeom prst="rect">
            <a:avLst/>
          </a:prstGeom>
          <a:noFill/>
        </p:spPr>
        <p:txBody>
          <a:bodyPr wrap="square">
            <a:spAutoFit/>
          </a:bodyPr>
          <a:lstStyle/>
          <a:p>
            <a:pPr algn="l"/>
            <a:r>
              <a:rPr sz="1100" b="0" i="0">
                <a:solidFill>
                  <a:srgbClr val="FFFFFF"/>
                </a:solidFill>
              </a:rPr>
              <a:t>A: Missed election deadlines (client compensation liability), wrong entitlement calculations, FX conversion errors on foreign dividends, failure to update all position records simultaneously on ex-date, and incorrect regulatory reporting.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972800" cy="731520"/>
          </a:xfrm>
          <a:prstGeom prst="rect">
            <a:avLst/>
          </a:prstGeom>
          <a:noFill/>
        </p:spPr>
        <p:txBody>
          <a:bodyPr wrap="square">
            <a:spAutoFit/>
          </a:bodyPr>
          <a:lstStyle/>
          <a:p>
            <a:pPr algn="ctr"/>
            <a:r>
              <a:rPr sz="1300" b="1" i="0">
                <a:solidFill>
                  <a:srgbClr val="8B6914"/>
                </a:solidFill>
              </a:rPr>
              <a:t>MODULE 8 COMPLETE</a:t>
            </a:r>
          </a:p>
        </p:txBody>
      </p:sp>
      <p:sp>
        <p:nvSpPr>
          <p:cNvPr id="5" name="TextBox 4"/>
          <p:cNvSpPr txBox="1"/>
          <p:nvPr/>
        </p:nvSpPr>
        <p:spPr>
          <a:xfrm>
            <a:off x="457200" y="1188720"/>
            <a:ext cx="10972800" cy="914400"/>
          </a:xfrm>
          <a:prstGeom prst="rect">
            <a:avLst/>
          </a:prstGeom>
          <a:noFill/>
        </p:spPr>
        <p:txBody>
          <a:bodyPr wrap="square">
            <a:spAutoFit/>
          </a:bodyPr>
          <a:lstStyle/>
          <a:p>
            <a:pPr algn="ctr"/>
            <a:r>
              <a:rPr sz="3600" b="1" i="0">
                <a:solidFill>
                  <a:srgbClr val="FFFFFF"/>
                </a:solidFill>
              </a:rPr>
              <a:t>Securities Trading Organisation &amp; RDM</a:t>
            </a:r>
          </a:p>
        </p:txBody>
      </p:sp>
      <p:sp>
        <p:nvSpPr>
          <p:cNvPr id="6" name="TextBox 5"/>
          <p:cNvSpPr txBox="1"/>
          <p:nvPr/>
        </p:nvSpPr>
        <p:spPr>
          <a:xfrm>
            <a:off x="1371600" y="2286000"/>
            <a:ext cx="9144000" cy="2743200"/>
          </a:xfrm>
          <a:prstGeom prst="rect">
            <a:avLst/>
          </a:prstGeom>
          <a:noFill/>
        </p:spPr>
        <p:txBody>
          <a:bodyPr wrap="square">
            <a:spAutoFit/>
          </a:bodyPr>
          <a:lstStyle/>
          <a:p>
            <a:pPr algn="l"/>
            <a:r>
              <a:rPr sz="1500" b="0" i="0">
                <a:solidFill>
                  <a:srgbClr val="F4F8FF"/>
                </a:solidFill>
              </a:rPr>
              <a:t>STO.1 — STO Structure &amp; Overview
STO.2 — Front Office Operations
STO.3 — Middle Office Operations
STO.4 — Back Office &amp; Settlement
STO.5 — Reference Data Management
STO.6 — Corporate Actions Processing</a:t>
            </a:r>
          </a:p>
        </p:txBody>
      </p:sp>
      <p:sp>
        <p:nvSpPr>
          <p:cNvPr id="7" name="TextBox 6"/>
          <p:cNvSpPr txBox="1"/>
          <p:nvPr/>
        </p:nvSpPr>
        <p:spPr>
          <a:xfrm>
            <a:off x="457200" y="5166360"/>
            <a:ext cx="10972800" cy="1097280"/>
          </a:xfrm>
          <a:prstGeom prst="rect">
            <a:avLst/>
          </a:prstGeom>
          <a:noFill/>
        </p:spPr>
        <p:txBody>
          <a:bodyPr wrap="square">
            <a:spAutoFit/>
          </a:bodyPr>
          <a:lstStyle/>
          <a:p>
            <a:pPr algn="ctr"/>
            <a:r>
              <a:rPr sz="1300" b="0" i="1">
                <a:solidFill>
                  <a:srgbClr val="FFFFFF"/>
                </a:solidFill>
              </a:rPr>
              <a:t>The STO is the operational engine of capital markets. Every trade that is executed, confirmed, settled, and reported runs through this machine.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