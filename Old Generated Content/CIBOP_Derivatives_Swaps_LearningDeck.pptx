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4023360"/>
            <a:ext cx="9144000" cy="1120140"/>
          </a:xfrm>
          <a:prstGeom prst="rect">
            <a:avLst/>
          </a:prstGeom>
          <a:solidFill>
            <a:srgbClr val="007A87"/>
          </a:solidFill>
          <a:ln w="12700">
            <a:solidFill>
              <a:srgbClr val="007A87"/>
            </a:solidFill>
            <a:prstDash val="solid"/>
          </a:ln>
        </p:spPr>
      </p:sp>
      <p:sp>
        <p:nvSpPr>
          <p:cNvPr id="4" name="Shape 2"/>
          <p:cNvSpPr/>
          <p:nvPr/>
        </p:nvSpPr>
        <p:spPr>
          <a:xfrm>
            <a:off x="365760" y="1280160"/>
            <a:ext cx="73152" cy="2011680"/>
          </a:xfrm>
          <a:prstGeom prst="rect">
            <a:avLst/>
          </a:prstGeom>
          <a:solidFill>
            <a:srgbClr val="F0A800"/>
          </a:solidFill>
          <a:ln w="12700">
            <a:solidFill>
              <a:srgbClr val="F0A800"/>
            </a:solidFill>
            <a:prstDash val="solid"/>
          </a:ln>
        </p:spPr>
      </p:sp>
      <p:sp>
        <p:nvSpPr>
          <p:cNvPr id="5" name="Text 3"/>
          <p:cNvSpPr/>
          <p:nvPr/>
        </p:nvSpPr>
        <p:spPr>
          <a:xfrm>
            <a:off x="548640" y="1188720"/>
            <a:ext cx="8046720" cy="640080"/>
          </a:xfrm>
          <a:prstGeom prst="rect">
            <a:avLst/>
          </a:prstGeom>
          <a:noFill/>
          <a:ln/>
        </p:spPr>
        <p:txBody>
          <a:bodyPr wrap="square" lIns="0" tIns="0" rIns="0" bIns="0" rtlCol="0" anchor="ctr"/>
          <a:lstStyle/>
          <a:p>
            <a:pPr indent="0" marL="0">
              <a:buNone/>
            </a:pPr>
            <a:r>
              <a:rPr lang="en-US" sz="3200" b="1" dirty="0">
                <a:solidFill>
                  <a:srgbClr val="F0A800"/>
                </a:solidFill>
              </a:rPr>
              <a:t>Derivatives</a:t>
            </a:r>
            <a:endParaRPr lang="en-US" sz="3200" dirty="0"/>
          </a:p>
        </p:txBody>
      </p:sp>
      <p:sp>
        <p:nvSpPr>
          <p:cNvPr id="6" name="Text 4"/>
          <p:cNvSpPr/>
          <p:nvPr/>
        </p:nvSpPr>
        <p:spPr>
          <a:xfrm>
            <a:off x="548640" y="1783080"/>
            <a:ext cx="8046720" cy="502920"/>
          </a:xfrm>
          <a:prstGeom prst="rect">
            <a:avLst/>
          </a:prstGeom>
          <a:noFill/>
          <a:ln/>
        </p:spPr>
        <p:txBody>
          <a:bodyPr wrap="square" lIns="0" tIns="0" rIns="0" bIns="0" rtlCol="0" anchor="ctr"/>
          <a:lstStyle/>
          <a:p>
            <a:pPr indent="0" marL="0">
              <a:buNone/>
            </a:pPr>
            <a:r>
              <a:rPr lang="en-US" sz="2600" dirty="0">
                <a:solidFill>
                  <a:srgbClr val="FFFFFF"/>
                </a:solidFill>
              </a:rPr>
              <a:t>Swaps</a:t>
            </a:r>
            <a:endParaRPr lang="en-US" sz="2600" dirty="0"/>
          </a:p>
        </p:txBody>
      </p:sp>
      <p:sp>
        <p:nvSpPr>
          <p:cNvPr id="7" name="Text 5"/>
          <p:cNvSpPr/>
          <p:nvPr/>
        </p:nvSpPr>
        <p:spPr>
          <a:xfrm>
            <a:off x="548640" y="2331720"/>
            <a:ext cx="7863840" cy="365760"/>
          </a:xfrm>
          <a:prstGeom prst="rect">
            <a:avLst/>
          </a:prstGeom>
          <a:noFill/>
          <a:ln/>
        </p:spPr>
        <p:txBody>
          <a:bodyPr wrap="square" lIns="0" tIns="0" rIns="0" bIns="0" rtlCol="0" anchor="ctr"/>
          <a:lstStyle/>
          <a:p>
            <a:pPr indent="0" marL="0">
              <a:buNone/>
            </a:pPr>
            <a:r>
              <a:rPr lang="en-US" sz="1300" i="1" dirty="0">
                <a:solidFill>
                  <a:srgbClr val="C8D8E8"/>
                </a:solidFill>
              </a:rPr>
              <a:t>Certificate in Investment Banking Operations Programme</a:t>
            </a:r>
            <a:endParaRPr lang="en-US" sz="1300" dirty="0"/>
          </a:p>
        </p:txBody>
      </p:sp>
      <p:sp>
        <p:nvSpPr>
          <p:cNvPr id="8" name="Text 6"/>
          <p:cNvSpPr/>
          <p:nvPr/>
        </p:nvSpPr>
        <p:spPr>
          <a:xfrm>
            <a:off x="365760" y="4160520"/>
            <a:ext cx="8412480" cy="320040"/>
          </a:xfrm>
          <a:prstGeom prst="rect">
            <a:avLst/>
          </a:prstGeom>
          <a:noFill/>
          <a:ln/>
        </p:spPr>
        <p:txBody>
          <a:bodyPr wrap="square" lIns="0" tIns="0" rIns="0" bIns="0" rtlCol="0" anchor="ctr"/>
          <a:lstStyle/>
          <a:p>
            <a:pPr indent="0" marL="0">
              <a:buNone/>
            </a:pPr>
            <a:r>
              <a:rPr lang="en-US" sz="1000" dirty="0">
                <a:solidFill>
                  <a:srgbClr val="FFFFFF"/>
                </a:solidFill>
              </a:rPr>
              <a:t>Imarticus Learning  |  Module D8: Derivatives — Swaps  |  UORs: D8.1 – D8.10</a:t>
            </a:r>
            <a:endParaRPr lang="en-US" sz="1000" dirty="0"/>
          </a:p>
        </p:txBody>
      </p:sp>
      <p:sp>
        <p:nvSpPr>
          <p:cNvPr id="9" name="Text 7"/>
          <p:cNvSpPr/>
          <p:nvPr/>
        </p:nvSpPr>
        <p:spPr>
          <a:xfrm>
            <a:off x="365760" y="4507992"/>
            <a:ext cx="8412480" cy="256032"/>
          </a:xfrm>
          <a:prstGeom prst="rect">
            <a:avLst/>
          </a:prstGeom>
          <a:noFill/>
          <a:ln/>
        </p:spPr>
        <p:txBody>
          <a:bodyPr wrap="square" lIns="0" tIns="0" rIns="0" bIns="0" rtlCol="0" anchor="ctr"/>
          <a:lstStyle/>
          <a:p>
            <a:pPr indent="0" marL="0">
              <a:buNone/>
            </a:pPr>
            <a:r>
              <a:rPr lang="en-US" sz="950" i="1" dirty="0">
                <a:solidFill>
                  <a:srgbClr val="F0A800"/>
                </a:solidFill>
              </a:rPr>
              <a:t>10 Topics · 30 Videos · 40 Assessment Questions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D8.1</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Introduction to Swaps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D8.1 · Introduction to Swaps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swap is an OTC agreement between two parties to exchange future cash flows — typically one stream is fixed, the other floating — on a notional principal amount.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five major swap types: Interest Rate Swap (IRS), Currency Swap, Credit Default Swap (CDS), Equity/Total Return Swap (TRS), and Overnight Index Swap (OIS).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Swaps are bilateral OTC contracts governed by the ISDA Master Agreement. In India, mandatory clearing of IRS through CCIL was introduced by RBI in 2014.</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India's swap market is regulated by RBI (interest rate and currency derivatives) and SEBI (equity derivatives). The RBI Master Direction on Derivatives (2023) is the key compliance framework.</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D8.1 · Introduction to Swaps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An Indian public-sector bank has a large floating-rate loan book funded by fixed-rate deposits. As interest rates rise, interest income increases but liability costs are locked. The treasury head wants to use swaps to manage the mismatch before the next RBI monetary policy review.</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Which swap type would this bank most likely use and why? What is the economic logic of the swap from an ALM perspective? Who would be the natural counterparty for this trade in the Indian market?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D8.1 · Introduction to Swaps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Swap as an Exchange of Cash Flows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 swap replicates the economics of two back-to-back loans without actual lending. In an interest rate swap: Party A pays a fixed rate and receives a floating rate. Party B receives the fixed rate and pays the floating rate. Only the net difference is exchanged — notional principal never changes hands. This net settlement feature massively reduces counterparty credit risk. A currency swap involves actual exchange of principals in different currencies at inception and maturity — making it fundamentally different from an IRS.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IRS</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Fixed vs floating interest exchange. Notional NOT exchanged. Net settlement only.</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Currency Swap</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Interest + principal exchange. Both notionals exchanged at inception and maturity.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CDS</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Protection buyer pays periodic fee. Seller pays contingent on credit event.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OIS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Overnight floating rate (MIBOR) vs fixed. Single net settlement at maturity.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D8.1 · Introduction to Swaps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Swaps Are OTC (Not Exchange-Traded)</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Swaps are customised by definition — maturity, notional, payment frequency, day count, and floating index are all negotiated bilaterally. Exchange standardisation would destroy this flexibility. However, post-2008 G20 reforms mandated central clearing through CCPs (CCIL in India) for standardised vanilla swaps — capturing clearing benefits without sacrificing customisation.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 Swap Market Scale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OTC derivatives market is dominated by IRS and FX swaps. CCIL clears approximately ₹30–40 lakh crore of IRS notional outstanding. The USD/INR FX swap market (used for short-term liquidity) sees daily volumes exceeding $10 billion. Banks are the dominant dealers; insurance companies and mutual funds are common end users.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RBI's Role as Regulator</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RBI regulates all rupee interest rate and foreign exchange derivatives through the Master Direction on Risk Management and Inter-Bank Dealings. Category A users (banks and primary dealers) can deal freely. Category B/C users (corporates, FPIs, individuals) can only hedge underlying exposures. This tiered framework ensures derivatives are used for hedging, not speculation, by non-financial entities.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 as the Global Infrastructure</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International Swaps and Derivatives Association (ISDA) provides the legal framework for all OTC derivative transactions globally. The ISDA Master Agreement (2002 version) governs trade terms, close-out netting, and default procedures. Every Indian bank dealing in swaps maintains bilateral ISDA agreements with their counterparties. The ISDA Credit Support Annex (CSA) governs collateral exchange.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D8.1 · Introduction to Swaps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RBI mandated CCIL clearing for vanilla IRS in 2014 to reduce systemic risk. However, some market participants argue that mandatory clearing reduces bilateral netting efficiency and increases margin costs. Evaluate the trade-off between systemic risk reduction through central clearing versus the operational and cost burden on market participants.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new operations analyst notices that swap confirmations reference both a 'Trade Date' and an 'Effective Date' that are two business days apart. Why are these dates different? What operational events happen between trade date and effective date, and what are the consequences if the confirmation process is not completed by the effective date?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D8.1 · Introduction to Swaps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swap and how is it different from a futures contract?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swap is an OTC bilateral agreement to exchange two streams of cash flows over a defined period on a notional principal. Key differences from futures: (1) OTC vs exchange: swaps are bilateral OTC agreements; futures are exchange-traded standardised contracts. (2) Duration: swaps typically run from 1 year to 30 years; futures are usually short-dated (up to 3 months on Indian exchanges). (3) Customisation: swaps can be tailored — any notional, maturity, frequency; futures have fixed contract sizes and expiries. (4) Settlement: futures are daily MTM settled; most swaps settle cash flows only on payment dates (quarterly, semi-annual, etc.). (5) Counterparty risk: futures are guaranteed by the clearing corporation; vanilla swaps in India are cleared through CCIL. (6) Margin: futures require daily SPAN margin; swaps require initial margin and variation margin if cleared through CCIL.</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Name the five types of swaps and give one use case for each.</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(1) Interest Rate Swap (IRS): A bank with floating-rate loans but fixed-rate liabilities enters a pay-fixed/receive-floating IRS to convert its income stream to match its cost structure — classic ALM hedging. (2) Currency Swap: An Indian company borrows USD through an ECB at lower rates, then enters a USD/INR currency swap to convert USD interest and principal obligations into INR — hedging exchange rate risk over the life of the loan. (3) Credit Default Swap (CDS): A mutual fund holding corporate bonds buys protection via CDS to hedge against the issuer's default — the CDS acts like insurance. (4) OIS (Overnight Index Swap): A bank enters a receive-fixed OIS to hedge its short-term overnight lending exposure, speculating or hedging around RBI policy rate changes. (5) Equity/Total Return Swap (TRS): A hedge fund enters a TRS to gain synthetic leveraged exposure to the Nifty 50 index without holding actual shares — the TRS counterparty (bank) holds the shares.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D8.2</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Interest Rate Swaps: Structure and Pricing</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2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D8.2 · Interest Rate Swaps: Structure and Pricing</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 an IRS, the fixed-rate payer pays a pre-agreed rate on notional and receives MIBOR (or another floating index). The floating-rate payer does the reverse. Notional is never exchanged.</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Indian IRS uses MIBOR (Mumbai Inter-Bank Offer Rate, published by FBIL at 9:45 AM) as the floating leg. Payment frequency: quarterly or semi-annual. Day count: Actual/365.</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IRS pricing: the fixed rate is set so the PV of expected floating cash flows equals the PV of fixed cash flows at inception — making the swap's fair value zero on day one.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Net settlement: only the difference between fixed and floating is paid. If MIBOR &gt; fixed rate, the fixed-rate payer receives net. If MIBOR &lt; fixed rate, the fixed-rate payer pays net.</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D8.2 · Interest Rate Swaps: Structure and Pricing</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HDFC Bank has a 5-year IRS: pays fixed 7.20% and receives 3-month MIBOR on ₹100 crore notional. Quarterly settlement. Today's MIBOR fixing: 7.45%. Day count: Actual/365 (assume 91-day quarter).</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net cash flow for this quarter. Who pays whom and how much? If MIBOR falls to 6.80% next quarter, what is the net cash flow direction and amount? What does this swap achieve for the bank's ALM desk?</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D8.2 · Interest Rate Swaps: Structure and Pricing</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IRS Cash Flow Mechanics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At each settlement date, the IRS generates a single net payment between the two parties. Fixed leg = Fixed Rate × Notional × (Days/365). Floating leg = MIBOR × Notional × (Days/365). Net = Fixed leg − Floating leg. If positive: fixed payer receives net. If negative: fixed payer pays net. Crucially, the notional is never exchanged — it is simply a reference amount for calculating interest. The swap transforms a fixed interest obligation into a floating obligation (or vice versa) without any change in the underlying loan or deposit.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Fixed Leg</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Fixed Rate × Notional × Days/365. Same every period unless rate was reset.</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Floating Leg</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MIBOR fixing × Notional × Days/365. Resets each period on reset date.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Net Payment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Fixed − Floating. Positive = fixed payer receives. Negative = fixed payer pays.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Day Count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Actual/365 is standard for Indian IRS. Matches RBI/FIMMDA market convention.</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D8.2 · Interest Rate Swaps: Structure and Pricing</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ALM Application: Asset-Liability Match</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Banks use IRS to manage interest rate risk on their balance sheet. A bank with floating-rate loans (MCLR-linked) and fixed-rate deposits is 'long fixed, short floating.' Entering a pay-floating/receive-fixed IRS converts the floating loan income to fixed — matching the fixed deposit cost. This is the core ALM use case that drives the majority of Indian IRS volume.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FBIL MIBOR: The Benchmark</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FBIL (Financial Benchmarks India Pvt Ltd) publishes the MIBOR benchmark daily at 9:45 AM based on actual overnight interbank transactions. It replaced the NSE-administered MIBOR in 2015. FBIL MIBOR is the standard floating index for Indian OIS and short-term IRS. For longer-term IRS, MIFOR (MIBOR + USD/INR swap points) is sometimes used for cross-currency structures.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IRS Pricing Intuition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IRS fixed rate at inception equals the 'par swap rate' — the constant rate that makes the present value of all expected floating payments equal to the present value of all fixed payments. As market interest rates move after trade date, the swap's MTM changes — the PV of the fixed stream stays the same but the PV of expected floating payments changes with the curve. A rise in rates benefits the fixed-rate receiver (whose fixed flows are now relatively more valuable).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Hedge Accounting: Ind AS 109</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Under Ind AS 109, companies can designate an IRS as a hedge of a floating-rate liability (cash flow hedge) or a fixed-rate liability (fair value hedge). Cash flow hedge: gains/losses on the IRS go to OCI, not P&amp;L — smoothing earnings. Fair value hedge: both the hedged item and the hedging instrument are marked to market through P&amp;L — netting the volatility. Hedge effectiveness testing (80–125% range) and documentation are mandatory at hedge inception.</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D8.2 · Interest Rate Swaps: Structure and Pricing</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manufacturing company has taken a floating-rate rupee loan at MIBOR + 150 bps for 5 years. The CFO is worried about rising rates and wants to enter an IRS. However, the company's auditors warn that if the swap is not properly designated as a hedge under Ind AS 109, the MTM gains/losses will create P&amp;L volatility. Explain what documentation and testing the company must complete to qualify for cash flow hedge accounting, and what happens if hedge effectiveness is lost mid-term.</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FBIL replaced NSE-MIBOR as India's OIC benchmark in 2015 as part of a global push for transaction-based (rather than survey-based) benchmarks. Given the LIBOR scandal, was this the right move? Compare the robustness of FBIL MIBOR's methodology against the old NSE poll-based MIBOR. Are there remaining vulnerabilities in FBIL's process?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D8.2 · Interest Rate Swaps: Structure and Pricing</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 you calculate the net cash flow on an interest rate swap?</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Net cash flow = Fixed Leg Payment − Floating Leg Payment. Step by step: (1) Fixed leg = Fixed Rate × Notional × (Actual Days in Period / 365). (2) Floating leg = MIBOR Fixing (at start of period) × Notional × (Actual Days in Period / 365). (3) Net = Fixed − Floating. If positive: fixed-rate payer receives this amount from the floating-rate payer. If negative: fixed-rate payer pays this amount to the floating-rate payer. Example: Notional = ₹100 crore. Fixed = 7.20%. MIBOR = 7.45%. Period = 91 days. Fixed leg = 7.20% × 100 crore × 91/365 = ₹1,793,424. Floating leg = 7.45% × 100 crore × 91/365 = ₹1,855,616. Net = ₹1,793,424 − ₹1,855,616 = −₹62,192. Fixed payer pays ₹62,192 net this quarter.</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 cash flow hedge and a fair value hedge under Ind AS 109?</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Both are hedge accounting designations under Ind AS 109 for derivatives hedging interest rate risk. Cash Flow Hedge: used when hedging variability in future cash flows — e.g., a floating-rate loan hedged with a pay-fixed IRS. The effective portion of gains/losses on the IRS goes to Other Comprehensive Income (OCI), NOT P&amp;L. The ineffective portion hits P&amp;L. Cash flows from the IRS are released from OCI to P&amp;L when the hedged transaction affects P&amp;L (each interest payment). This smooths earnings — no P&amp;L volatility from MTM swings. Fair Value Hedge: used when hedging the fair value of a recognised asset or liability — e.g., a fixed-rate bond hedged with a pay-floating IRS. Both the hedging instrument MTM AND an offsetting adjustment to the hedged item's book value flow through P&amp;L — netting out. The key difference: cash flow hedge protects P&amp;L from MTM volatility; fair value hedge accepts both sides into P&amp;L but they should net to near zero if the hedge is effective.</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D8.3</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Currency Swaps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3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D8.3 · Currency Swaps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currency swap involves the exchange of principal AND interest in two different currencies. Unlike IRS, both notionals are physically exchanged at inception and again (reversed) at maturity.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Indian corporates use currency swaps primarily to hedge External Commercial Borrowings (ECBs) — converting USD-denominated loans into INR obligations to eliminate exchange rate risk.</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Cross-currency basis swap: exchanges floating rates in two currencies (e.g., USD SOFR vs INR MIBOR). The 'basis' reflects relative demand for each currency in the swap market.</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Settlement risk on currency swaps is significant — both principals are at risk simultaneously. CLS Bank (Continuous Linked Settlement) mitigates this through payment-versus-payment settlement.</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D8.3 · Currency Swaps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Tata Steel borrowed $200 million through a 5-year ECB at USD SOFR + 120 bps. The CFO wants to eliminate USD exposure by entering a currency swap with a foreign bank, converting to a fixed INR liability at 8.50% per annum on the INR equivalent (assume USD/INR = 84).</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are the cash flows at inception of this currency swap? How much INR notional will Tata Steel receive and how much USD will it pay away? At maturity, what is the reverse exchange? What risk has been eliminated and what new risk (if any) has been introduced?</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D8.3 · Currency Swaps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Currency Swap: Principal Exchange at Every Stage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Currency swaps are uniquely structured around three sets of cash flows: (1) Inception: Party A delivers USD notional to Party B; Party B delivers INR equivalent to Party A. The spot exchange rate at trade date determines the INR amount. (2) During the swap: Party A pays INR interest (fixed or floating); Party B pays USD interest (SOFR-based). (3) Maturity: principals are reversed — Party A returns the INR notional, Party B returns the USD notional. This final exchange is critical: both parties receive back the same principal they originally delivered, regardless of how the exchange rate has moved. The exchange rate risk is fully hedged.</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Inception Exchange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Swap USD notional for INR equivalent at spot rate. Actual cash flows on effective date.</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Periodic Coupons</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One party pays INR interest; counterparty pays USD interest. Net or gross settlement.</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Maturity Exchange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Principals re-exchanged at ORIGINAL inception rate. No FX revaluation impact.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Herstatt Risk</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Settlement risk: one leg settles before the other. CLS eliminates via PvP mechanism.</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D8.3 · Currency Swaps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ECB Hedging: Why Indian Corporates Use Currency Swaps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Indian companies borrow in USD through ECBs because USD rates are often lower than INR rates. But unhedged USD borrowing creates severe balance sheet risk — if INR depreciates (as it has historically), the INR cost of USD debt increases. Currency swaps lock in the conversion rate at inception, making the total INR outflow at maturity certain. This certainty is worth the hedging cost for most CFOs managing INR P&amp;L.</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Cross-Currency Basis: What It Measures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cross-currency basis is the spread added (or subtracted) from the floating rate in one currency when swapping with another. A negative USD/INR basis means INR is in higher demand relative to USD in the swap market — typically due to strong foreign capital inflows into India. During stress periods (COVID, 2013 taper tantrum), basis can widen dramatically, significantly increasing the effective cost of currency swaps for Indian borrowers.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CLS Bank: Eliminating Herstatt Risk</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Herstatt Risk (named after a 1974 German bank failure) occurs when one leg of a foreign exchange settlement is paid before the counterparty pays the other leg. If the counterparty defaults between payments, the paying party loses the full principal. CLS Bank solves this through payment-versus-payment (PvP) — both legs settle simultaneously in real-time using central bank money across 18 major currencies. Indian banks settling USD/INR swaps with global counterparties use CLS for the USD leg.</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RBI ECB Framework and Swap Reporting</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RBI's ECB framework under FEMA restricts which Indian entities can borrow in foreign currency. Hedging requirements: All ECBs with maturity up to 5 years must be fully hedged. Above 5 years, RBI has relaxed hedging requirements for certain infrastructure sectors. Currency swap trades hedging ECBs must be reported to CCIL's trade repository under RBI's OTC derivatives reporting mandate. Operations must ensure both the swap and the underlying ECB are captured in the TR.</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D8.3 · Currency Swaps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Indian companies increasingly borrow in USD through ECBs and then enter currency swaps to convert to INR. Critics argue that the post-swap INR cost often exceeds the cost of borrowing directly in India — making the entire structure economically irrational after hedging costs. Supporters argue the ECB + swap route provides longer tenors unavailable domestically. Who is right? Use the concept of covered interest parity to frame your argument.</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 March 2020, as COVID-19 spread globally, USD liquidity dried up and the cross-currency basis for USD/INR swaps widened sharply — making hedging extremely expensive for Indian companies with existing ECBs. Several companies chose to keep ECBs unhedged. From a risk management perspective, was this rational? What should the operations and treasury function have communicated to the CFO at that time?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D8.3 · Currency Swaps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is a currency swap different from an interest rate swap?</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Three fundamental differences: (1) Principal exchange: In an IRS, the notional is NEVER exchanged — it is only a reference amount for calculating interest. In a currency swap, both principals (in different currencies) ARE physically exchanged at inception and at maturity. (2) Currency: an IRS involves a single currency (e.g., both legs in INR). A currency swap involves two different currencies (e.g., USD and INR). (3) Risk profile: an IRS hedges interest rate risk only. A currency swap hedges both interest rate risk AND currency/exchange rate risk simultaneously. Operationally, currency swaps are more complex — they require actual principal cash flows on two dates, FX rate tracking, cross-border payments (often through nostro accounts and CLS), and dual reporting to trade repositories.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Herstatt Risk and how does CLS Bank address it?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Herstatt Risk is the settlement risk in foreign exchange transactions where one currency leg is paid before the counterparty pays the other. Named after Bankhaus Herstatt (Germany, 1974): German bank received DEM payments from US counterparties, then was closed by regulators before paying USD to those counterparties — those US banks lost the full USD amount already paid. CLS (Continuous Linked Settlement) Bank addresses this through PvP (Payment-versus-Payment): (1) Both parties submit payment instructions to CLS simultaneously. (2) CLS holds both payments in escrow. (3) Both legs settle simultaneously within a 5-hour window using multilateral netting. (4) If either side's payment fails, both are returned — zero settlement risk. CLS currently handles 18 currencies and approximately $6 trillion per day in FX settlements. The INR is not yet in CLS — INR legs of USD/INR swaps are settled through CCIL's FX clearing system.</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D8.4</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Credit Default Swaps (CDS)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4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D8.4 · Credit Default Swaps (CDS)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CDS is a contract where the protection buyer pays a periodic premium (the 'spread' in bps per annum) to the protection seller in exchange for a payment if a specified credit event occurs on a reference entity.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ISDA-defined credit events: Bankruptcy, Failure to Pay, Restructuring (for corporate reference entities), Obligation Acceleration, Repudiation/Moratorium (for sovereign entities).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At a credit event: (1) Physical settlement — buyer delivers defaulted bonds and receives par. (2) Cash settlement via ISDA auction — buyer receives (Par − Recovery Rate) × Notional.</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CDS in India: RBI permits CDS only on listed corporate bonds. Banks, insurance companies, and mutual funds can buy protection. Only scheduled commercial banks and primary dealers can sell protection.</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D8.4 · Credit Default Swaps (CDS)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mutual fund holds ₹50 crore of ABC Infrastructure Ltd bonds (BBB-rated). The fund manager buys 5-year CDS protection at 180 bps per annum from a large PSU bank. Three years later, ABC Infrastructure files for insolvency under the IBC. The ISDA auction determines a recovery rate of 35%.</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annual CDS premium paid. What is the protection payment the fund receives? What was the total cost of protection over three years? Was the hedge effective (compare protection payment to cost)?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D8.4 · Credit Default Swaps (CDS)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CDS as Bond Insurance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 CDS functions economically like an insurance policy on a bond: the protection buyer pays regular premiums; the protection seller receives premiums but faces a large contingent payment if the reference entity defaults. Unlike insurance, CDS can be 'naked' — the protection buyer doesn't need to own the underlying bond (though RBI restricts this in India). The CDS spread reflects the market's assessment of default probability and expected recovery. Higher spread = higher perceived credit risk. Spreads widen rapidly when credit quality deteriorates — providing mark-to-market signals even before actual default.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Protection Buyer</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Pays CDS spread × notional quarterly. Receives (1 − Recovery Rate) × notional at credit event.</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Protection Seller</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Receives CDS spread. Pays (1 − Recovery Rate) × notional at credit event.</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CDS Spread</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Annual fee in bps. 100 bps = 1% of notional per year. Reflects default probability.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ISDA Auction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Determines recovery rate post-credit event. Cash settlement benchmark for all CDS on that entity.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D8.4 · Credit Default Swaps (CDS)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 Credit Events: India-Specific Nuance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Indian corporate bonds, the most common credit events are Failure to Pay and Bankruptcy/IBC filing. Restructuring is the most debated — partial restructuring under IBC resolution plans may or may not trigger CDS depending on how it is structured relative to ISDA definitions. The lack of clarity on IBC-triggered CDS events has been a significant barrier to developing a liquid CDS market in India.</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Naked CDS: Hedging vs Speculation</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 'naked' CDS position is one where the protection buyer does not hold the reference bond — they are purely speculating on the credit quality of the reference entity. EU regulators banned naked sovereign CDS in 2012 citing their role in amplifying the Eurozone crisis (traders could profit from a country defaulting — giving them an incentive to spread negative sentiment). India's RBI restricts CDS to hedging of actual bond positions by most user categories.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CDS in the 2008 Financial Crisis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2008 financial crisis exposed the catastrophic risks of unregulated CDS. AIG had sold $440 billion of CDS protection without holding adequate capital. When mortgage-backed securities defaulted en masse, AIG could not pay — requiring a $182 billion US government bailout. Post-crisis: (1) Mandatory CDS clearing through CCPs. (2) Mandatory trade reporting. (3) Higher capital requirements for CDS sellers. (4) Standardisation of CDS contracts (2009 Big Bang Protocol).</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Indian CDS Market: Constraints and Development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CDS market remains small despite RBI's 2011 framework and subsequent revisions. Key constraints: (1) Corporate bond market itself is shallow — limited reference entities. (2) Restricted counterparty universe — only scheduled commercial banks can sell protection. (3) No market-maker obligation. (4) Hedged-only positioning requirement for most participants. RBI's 2022 revisions attempted to improve liquidity by expanding eligible reference entities and simplifying documentation requirements.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D8.4 · Credit Default Swaps (CDS)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Critics of CDS argue that these instruments amplify credit crises rather than distribute risk efficiently — pointing to AIG's near-collapse in 2008 and the role of naked sovereign CDS in the Eurozone crisis. Supporters argue CDS are essential price discovery tools that allow better pricing of credit risk. Based on the India-specific regulatory framework, do you believe RBI has struck the right balance between allowing CDS as a hedging tool while preventing speculative excess?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IBC (Insolvency and Bankruptcy Code) resolution process in India takes 300–600 days on average before a final resolution plan is approved. For a CDS protection buyer, this creates uncertainty about when (and whether) a credit event is triggered. Walk through the exact sequence of events from an IBC filing to final CDS settlement — including how the ISDA determination committee would rule and how the auction process would work.</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D8.4 · Credit Default Swaps (CDS)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Credit Default Swap and how does it work?</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CDS is an OTC derivative contract providing credit protection. Structure: (1) Protection buyer pays a periodic premium (CDS spread) expressed as basis points per annum on the notional to the protection seller. (2) In return, if a specified credit event occurs on the reference entity (a company or sovereign), the protection seller pays the protection buyer a sum equal to (1 − Recovery Rate) × Notional. (3) After the credit event payment, the CDS terminates. Example: ₹50 crore CDS at 200 bps on Company X. Annual premium = ₹1 crore (50 crore × 2%). If Company X defaults with a 40% recovery rate, protection seller pays ₹30 crore (50 × 60%). Economically, the CDS transforms the credit risk of holding Company X bonds from the buyer to the seller — functioning like bond insurance.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ISDA credit events and which apply in India?</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ISDA defines six credit events in the 2003 Credit Derivatives Definitions: (1) Bankruptcy: filing for bankruptcy, insolvency proceedings, or appointment of a liquidator. In India: IBC filing — most commonly triggered event. (2) Failure to Pay: missed scheduled interest or principal payment after a grace period. In India: key trigger for corporate bonds. (3) Restructuring: modification of payment terms (rate cut, maturity extension, principal reduction) that is adverse to creditors. In India: controversial — IBC resolution plans may restructure bonds. (4) Obligation Acceleration: debt becomes due and payable before its scheduled maturity due to a default event. (5) Obligation Default: failure to perform a non-payment obligation. (6) Repudiation/Moratorium: government repudiates external debt — relevant for sovereign CDS. For Indian corporates: Bankruptcy, Failure to Pay, and potentially Restructuring are the relevant events. India's CDS framework under RBI requires that credit events be specified clearly in the trade confirmation.</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D8.5</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Equity Swaps and Total Return Swaps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5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D8.5 · Equity Swaps and Total Return Swaps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Total Return Swap (TRS) transfers the total economic return of an asset (price appreciation + income) from the TRS seller (asset owner) to the TRS buyer — who pays a floating rate (e.g., MIBOR + spread) in return.</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TRS buyer gains synthetic exposure to the reference asset without owning it — useful for leverage, regulatory arbitrage, or gaining exposure without market impact.</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Equity swaps exchange the return of an equity index (e.g., Nifty 50) for a fixed or floating rate. They provide synthetic index exposure and are used by FPIs to gain Indian equity exposure efficiently.</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After the Archegos Capital collapse (2021), SEBI increased reporting requirements for equity swaps — requiring disclosure of beneficial ownership when TRS positions exceed specified thresholds.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D8.5 · Equity Swaps and Total Return Swaps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hedge fund based in Singapore wants ₹500 crore of synthetic Nifty 50 exposure without directly holding Indian equities. It enters a 1-year equity swap with an Indian bank: the fund receives Nifty 50 total return; the bank receives MIBOR + 85 bps on ₹500 crore notional.</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If Nifty 50 returns 14% over the year (dividends included) and MIBOR averages 7.20%, what is the net cash flow? Who receives it? What risks does the bank face by entering this swap, and how would it hedge? Is this subject to SEBI beneficial ownership disclosure?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D8.5 · Equity Swaps and Total Return Swaps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Total Return Swap: Synthetic Asset Ownership</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 TRS allows the TRS receiver to gain the full economic benefit of owning an asset without actual ownership. The TRS payer (usually a bank) holds the asset on its balance sheet, financing it through the TRS. The TRS receiver effectively finances the asset purchase through the floating rate payment — an implicit leveraged position. From the payer's perspective: the bank earns the spread between the TRS financing rate and its own cost of funds, with the credit risk of the receiver. Key applications: leveraged fund exposure, cross-border equity access, regulatory capital arbitrage, structured products.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TRS Receiver</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Receives total return (price change + dividends). Pays floating rate. No actual ownership.</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TRS Payer (Bank)</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Holds asset. Receives floating rate. Economically flat but earns spread + credit risk.</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Leverage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Receiver achieves leveraged exposure — gains/losses on full notional for small margin outlay.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Archegos Lesson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Concentrated TRS positions can create hidden systemic risk — now subject to disclosure rules.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D8.5 · Equity Swaps and Total Return Swaps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Archegos Capital: TRS as Hidden Leverage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 March 2021, Archegos Capital (a family office) had $20 billion+ in concentrated equity TRS positions across multiple banks — each bank didn't know about the others' exposure. When Archegos couldn't meet margin calls, banks liquidated simultaneously, causing $30 billion in losses. The TRS structure allowed Archegos to build massive positions without triggering stock exchange ownership disclosure thresholds (since it didn't 'own' the shares). Post-Archegos: global regulators (and SEBI for Indian markets) tightened TRS disclosure and position reporting requirements.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FPI Equity Swaps: India Access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Foreign Portfolio Investors (FPIs) use equity swaps and participatory notes (P-Notes) to gain Indian equity exposure. P-Notes are issued by SEBI-registered FPIs to offshore investors who don't want to register directly in India. SEBI has progressively tightened P-Note regulations — requiring KYC, beneficial ownership disclosure, and restricting their use for speculative positions. P-Notes outstanding have fallen from ~$80 billion (2007) to under $10 billion (2024) following these restrictions.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Equity Swap vs Direct Holding: Tax Efficiency</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TRS structures are sometimes motivated by tax efficiency. By not holding the underlying shares directly, the TRS receiver may avoid dividend withholding tax in the asset's home country (dividend is embedded in the total return received). This has attracted regulatory scrutiny globally — tax authorities in multiple jurisdictions have challenged the characterisation of TRS payments as non-dividend income. India's GAAR (General Anti-Avoidance Rules) can re-characterise transactions that lack genuine commercial substance.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Operations Challenge: TRS Resets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Equity TRS in India typically have monthly or quarterly reset periods. At each reset: (1) The equity return (price change + accrued dividends since last reset) is calculated. (2) The floating interest payment is calculated (MIBOR × days/365). (3) Net cash flow is exchanged. Operations must ensure: accurate equity price sourcing (NSE closing prices), correct dividend treatment (ex-date vs record date), and timely payment processing on settlement date. Errors in dividend inclusion are common — a missed dividend creates P&amp;L disputes.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D8.5 · Equity Swaps and Total Return Swaps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Archegos collapse demonstrated that TRS structures can allow entities to build concentrated, leveraged equity positions that remain invisible to regulators because no actual share ownership is disclosed. If you were advising SEBI on regulatory reforms post-Archegos, what specific reporting and disclosure requirements would you propose? Balance the need for transparency with the practical need for prime brokerage and structured finance to function efficiently.</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Indian insurance company wants to gain exposure to the Nifty 50 index for 2 years. It is considering either (a) buying Nifty ETF units directly, or (b) entering an equity swap to receive Nifty 50 total return. Compare these two approaches across five dimensions: regulatory treatment, counterparty risk, operational complexity, tax implications, and flexibility. Which would you recommend and why?</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D8.5 · Equity Swaps and Total Return Swaps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Total Return Swap and how does it differ from actually owning the asset?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Total Return Swap (TRS) is a derivative where the TRS receiver gets the total economic return of a reference asset (all price appreciation/depreciation plus income like dividends) in exchange for paying a periodic floating rate (e.g., MIBOR + spread) to the TRS payer. Differences from direct ownership: (1) Legal title: the TRS payer (usually a bank) holds the actual asset. The receiver never takes legal ownership. (2) Balance sheet: the asset appears on the payer's balance sheet, not the receiver's. This can reduce the receiver's regulatory capital requirement. (3) Voting rights: since the receiver doesn't hold shares, it typically has no voting rights (though some structured arrangements pass votes through contractually). (4) Disclosure: historically, TRS receivers could build large economic positions without triggering public ownership disclosure thresholds — the loophole exploited by Archegos. Post-Archegos, regulators have required economic exposure disclosure through TRS. (5) Leverage: TRS receivers gain exposure to the full notional for a small margin — creating implicit leverage not visible in their balance sheet.</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participatory note (P-Note) and why has SEBI tightened its regulation?</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 Participatory Note (P-Note or PN) is an instrument issued by a SEBI-registered FPI to offshore investors who want Indian equity exposure without direct SEBI registration. The FPI holds Indian securities; the P-Note replicates those returns to the offshore investor. Why SEBI tightened regulation: (1) Anonymity risk: P-Note investors don't need to register with SEBI — creating a blind spot for money laundering and round-tripping of Indian black money. (2) Regulatory arbitrage: P-Note holders bypassed KYC and beneficial ownership disclosure requirements that direct FPIs must comply with. (3) Market manipulation: concentrated P-Note positions by unknown entities created surveillance challenges. SEBI actions: mandatory KYC for P-Note issuers on their clients, prohibition on derivative P-Notes (only cash equity underlying permitted), mandatory reporting of end-beneficial owners, and periodic issuance fees. Result: P-Note outstanding fell from ~35% of FPI AUC in 2007 to under 2% by 2024.</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D8.6</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OIS and MIBOR</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6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D8.6 · OIS and MIBOR</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An Overnight Index Swap (OIS) is a fixed-for-floating interest rate swap where the floating leg is referenced to a compounded overnight rate — in India, the FBIL MIBOR overnight rate.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OIS floating leg = geometric compounding of daily MIBOR overnight fixings over the swap period. At maturity, a single net settlement occurs — no intermediate payments.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OIS is used to hedge overnight rate exposure, trade monetary policy expectations, and as a benchmark for short-term risk-free rates. OIS spreads are a key indicator of liquidity stress.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LIBOR-OIS spread (OIS rate vs LIBOR) spiked during the 2008 financial crisis from ~10 bps to 350 bps — signalling severe bank funding stress. FBIL publishes Indian OIS benchmarks.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D8.6 · OIS and MIBOR</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bank enters a 3-month OIS: pays fixed 6.85% and receives compounded MIBOR on ₹100 crore notional. Over the 91-day period, daily MIBOR fixings average 7.10% when compounded geometrically. Day count: Actual/365.</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fixed leg payment. Calculate the floating leg payment (use arithmetic approximation: 7.10% × 91/365 for simplicity). What is the net cash flow? Who pays whom? What does this trade signal about the bank's view on RBI policy rates?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D8.6 · OIS and MIBOR</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OIS: The Monetary Policy Signal</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OIS rates are the market's forward-looking expectation of the RBI's overnight rate path. When the market expects RBI to cut rates, OIS rates fall below the current repo rate. When hikes are expected, OIS rises above repo. The OIS curve (3-month, 6-month, 1-year, 2-year maturities) is the primary tool for trading RBI policy expectations in India. Unlike IRS which depends on credit-risky MIBOR term rates, OIS is based on the near risk-free overnight MIBOR — making it a near risk-free rate benchmark. This is why OIS has become increasingly important in India's IBOR transition.</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Floating Leg</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Compounded daily MIBOR over swap tenor. Single settlement at maturity.</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Fixed Rate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Market's consensus expectation of average MIBOR over the swap period.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OIS Spread</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OIS rate minus repo rate: signals expected rate hike/cut trajectory.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LIBOR-OIS Spread</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Key systemic risk indicator. Widens during liquidity crises — signals bank funding stress.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D8.6 · OIS and MIBOR</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OIS Has Only One Settlement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Unlike IRS which has quarterly or semi-annual cash flows, OIS typically settles in a single net payment at maturity. The floating payment is calculated by geometric compounding (not simple averaging) of all daily overnight fixings: Floating = Notional × [(1 + r1/365) × (1 + r2/365) × ... × (1 + rn/365) − 1]. This means there is no reset risk (the rate is locked in daily) and operations process only a single cash flow — simpler than IRS.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FBIL MIBOR: The OIS Benchmark</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FBIL (Financial Benchmarks India) publishes the MIBOR overnight rate at 9:45 AM daily based on actual overnight call money market transactions from CCIL's NDS-CALL platform. This transaction-based methodology replaced the poll-based NSE MIBOR in 2015 — addressing benchmark manipulation concerns post-LIBOR scandal. FBIL also publishes MIFOR (MIBOR + swap points), SOFR-equivalent benchmarks for USD legs, and Government Securities benchmarks.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RBI Monetary Policy and OIS Trading</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Indian banks, primary dealers, and asset managers actively trade OIS to position around RBI Monetary Policy Committee (MPC) meetings (held 6 times per year). If the MPC is expected to cut repo rate by 25 bps, OIS fixed rates will already reflect this expectation. Traders express views by entering OIS as fixed payer (expecting rates to stay high/rise) or fixed receiver (expecting rate cuts). Post-meeting, OIS rates reset based on actual decisions versus expectations.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OIS as Risk-Free Rate</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Post-LIBOR transition, OIS rates (SOFR in USD, SONIA in GBP, TONAR in JPY, FBIL MIBOR in INR) have become the benchmark 'risk-free rates' for derivative pricing. OIS discounting replaced LIBOR discounting for swap valuation globally after 2012 — driven by the recognition that overnight rates are more robust and manipulation-resistant than survey-based term rates. Indian banks transitioned IRS discounting to FBIL MIBOR OIS curves from 2015 onwards.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D8.6 · OIS and MIBOR</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3-month MIBOR-OIS spread (the difference between 3-month MIBOR and 3-month OIS rates) is a key indicator of bank credit risk in India. In March 2020 (COVID shock), this spread widened from approximately 20 bps to over 100 bps within days. What does this spread represent economically? Why did it widen? If you were running a bank's treasury, what action would you take when you see this spread widening rapidly?</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FBIL publishes MIBOR at 9:45 AM each day. An OIS trade done at 9:30 AM references the MIBOR fixing that will be published 15 minutes later. What confirmation and operational challenges does this create? How should operations handle the situation where the MIBOR fixing is materially different from the traded rate's assumption embedded in the deal ticket?</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D8.6 · OIS and MIBOR</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an OIS and how is the floating payment calculated?</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An OIS (Overnight Index Swap) is a fixed-for-floating swap where the floating leg is the geometric compounding of daily overnight rate fixings (FBIL MIBOR in India) over the swap period. Floating leg calculation: (1) Each business day, the MIBOR overnight fixing is applied: factor = (1 + MIBOR_i / 365). (2) All daily factors are multiplied together: Compounded factor = (1 + r1/365) × (1 + r2/365) × ... × (1 + rn/365). (3) Floating payment = Notional × (Compounded factor − 1). Unlike IRS with multiple interim payments, OIS has a SINGLE net settlement at maturity. Why OIS is important: (1) No credit risk in the floating rate (overnight central bank rate vs term bank credit in MIBOR). (2) Single settlement = simpler operations. (3) Used to trade RBI policy expectations. (4) OIS rates are the near-risk-free rate benchmark for derivative discounting.</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does the MIBOR-OIS spread tell you about the market?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MIBOR-OIS spread is the difference between the 3-month MIBOR (a term interbank rate with bank credit risk) and the 3-month OIS rate (based on near-risk-free overnight rates). What it measures: It isolates bank credit risk and liquidity premium from the pure rate expectation component. A widening spread means: (1) Banks are perceived as riskier — counterparties demand a higher premium to lend for 3 months vs overnight. (2) Liquidity is tighter — banks are hoarding overnight cash rather than committing to term lending. In normal conditions: MIBOR-OIS spread is 10–30 bps. During stress: COVID 2020: spread widened to 100+ bps. IL&amp;FS 2018: spread widened as NBFC contagion fears spread. Key insight: when this spread widens, risk assets (bonds, equities) typically sell off as it signals the banking system is under stress — analogous to the LIBOR-OIS spread in global markets during 2008.</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D8.7</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ISDA Master Agreement</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7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D8.7 · ISDA Master Agreement</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ISDA Master Agreement is the global standard legal framework for OTC derivative transactions — providing netting, default, and close-out provisions that apply across all trades between two counterparties.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Structure: (1) Master Agreement (standard boilerplate), (2) Schedule (negotiated bilateral amendments), (3) Credit Support Annex / CSA (collateral terms), (4) Trade Confirmations (individual deal economics).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Close-out netting: upon a default event, all outstanding trades between counterparties are terminated and netted to a single net payable/receivable — drastically reducing credit exposure vs trade-by-trade settlement.</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 India, the enforceability of ISDA close-out netting was uncertain under the Indian Contract Act — SEBI/RBI reforms and IBC amendments have progressively strengthened netting enforceability.</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D8.7 · ISDA Master Agreement</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Reliance Industries and Citibank have 15 outstanding IRS and currency swap trades under an ISDA Master Agreement. Citibank is declared insolvent. The 15 trades have individual MTM values ranging from −₹120 crore to +₹85 crore. Without netting: exposure is the sum of all positive MTMs. With netting: all trades are collapsed to one net figure.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If gross positive MTM exposures total ₹320 crore and gross negative MTM total −₹180 crore, what is the net exposure under ISDA netting? How much credit risk capital does netting save? What happens to this netting if Indian IBC provisions do not recognise it?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D8.7 · ISDA Master Agreement</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ISDA Netting: The Cornerstone of Risk Reduction</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Without ISDA netting: if a counterparty defaults, the non-defaulting party must pay all trades where it owes money, but can only file a claim (not immediate collection) for trades where it is owed money. The claim may recover cents on the dollar in bankruptcy — creating a 'cherry picking' problem. With ISDA close-out netting: all trades are immediately terminated and valued at market; all amounts are netted to produce a single net payable or receivable. This single-net framework dramatically reduces counterparty credit risk — allowing banks to hold far less capital against swap exposures. BIS estimates netting reduces gross credit exposure by 75–85% globally.</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ISDA Master</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Governs all trades between two parties. Boilerplate terms rarely amended.</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Schedule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Bilateral amendments — threshold amounts, MTA, eligible collateral, governing law choices.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CSA</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Credit Support Annex: collateral posting rules, haircuts, dispute resolution for MTM differences.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Confirmation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Individual trade economics: notional, rate, dates, payment terms for each specific swap.</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D8.7 · ISDA Master Agreement</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Close-Out Netting vs Bilateral Netting vs Payment Netting</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Payment netting: on the same settlement date, two payments in the same currency between the same parties are netted into one payment — purely operational simplification. Bilateral netting: netting all payments across all trade types on a given date. Close-out netting: triggered ONLY on default — all trades across all maturities are valued and netted immediately into a single claim or payment. Close-out netting is the most legally significant — it requires clear statutory recognition to be enforceable in bankruptcy, which has been a challenge in several jurisdictions including India historically.</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CSA: Collateral to Manage MTM Risk</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Credit Support Annex (CSA) governs the exchange of collateral between counterparties as MTM values change. Key parameters: (1) Threshold: the amount of MTM exposure that can be uncollateralised — higher threshold = more credit risk tolerance. (2) MTA (Minimum Transfer Amount): minimum collateral movement to avoid operational friction. (3) Eligible collateral: cash, government securities, AAA bonds — each with defined haircuts. (4) Frequency: daily or weekly collateral calls. Indian banks' CSAs typically designate government securities (T-Bills, G-Secs) as eligible collateral alongside cash.</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 Netting in India: Legal Evolution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Insolvency and Bankruptcy Code (IBC) initially did not explicitly recognise the enforceability of ISDA close-out netting. This created legal uncertainty: in the event of an Indian entity's insolvency, the insolvency administrator might not honour ISDA netting — treating each trade separately (the 'cherry picking' problem). 2020 IBC amendments and SEBI/RBI circulars progressively strengthened netting enforceability for financial contracts, aligning India with global standards and allowing Indian banks to claim netting benefits for capital calculation purposes.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 2020 Fallback Protocol and India</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ISDA 2020 IBOR Fallback Protocol amended ISDA Master Agreements globally to include fallback rates for contracts referencing LIBOR, EURIBOR, and other IBORs being discontinued. Indian banks adhering to this protocol updated their ISDA Schedules to include SOFR fallbacks for USD-referenced contracts and FBIL MIBOR for INR contracts. Operations teams had to identify all affected trades, confirm adherence with counterparties, and update systems to process the new rate calculations.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D8.7 · ISDA Master Agreement</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Indian bank's ISDA team is negotiating a Schedule with a US hedge fund for the first time. The hedge fund proposes a zero threshold under the CSA (meaning collateral must be posted for any positive MTM exposure from day one), daily collateral calls, and New York law as governing law. The Indian bank prefers a ₹10 crore threshold, weekly calls, and Indian law. Walk through the risk and operational implications of each party's position. What is the likely middle ground, and what factors would determine it?</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ISDA close-out netting reduces capital requirements significantly for banks with large derivative portfolios. Critics argue this regulatory benefit encourages excessive growth of the OTC derivatives market — since capital savings from netting offset the risk. Using the Basel III SA-CCR methodology's treatment of netting sets, explain how netting benefits are calculated and argue whether ISDA netting on balance encourages or discourages excessive risk-taking.</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D8.7 · ISDA Master Agreement</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four components of an ISDA documentation set?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ISDA documentation framework for a bilateral swap relationship has four levels: (1) ISDA Master Agreement: the standard legal framework published by ISDA (1992 or 2002 version). Contains definitions of default events, termination events, close-out netting mechanics, and representation/warranty provisions. Rarely amended — both parties sign the same standard boilerplate. (2) Schedule: the bilateral negotiated amendments to the Master Agreement. Each counterparty pair has a unique Schedule covering: applicable law (English or New York), threshold amounts, MTA, which ISDA definitions are incorporated, and any specific carve-outs. (3) Credit Support Annex (CSA): governs collateral. Specifies eligible collateral types and haircuts, collateral call frequency (daily/weekly), independent amounts, threshold amounts, and dispute resolution. Not all ISDA relationships have a CSA. (4) Trade Confirmation: for each individual transaction, a confirmation is exchanged specifying the economic terms — notional, fixed rate, floating index, payment dates, maturity, day count convention, business day convention. Together, the Master Agreement + Schedule + CSA form the 'master' framework; each Confirmation references this master and adds only the trade-specific economics.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close-out netting and why is it important?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Close-out netting is a contractual provision that, upon a defined termination event (typically a counterparty's insolvency), all outstanding trades under the ISDA Master Agreement are: (1) Immediately terminated at market value (early termination). (2) All individual MTM amounts — both positive and negative — are netted into a single net payable or receivable. (3) The non-defaulting party either pays or receives this single net amount from the insolvent counterparty's estate. Why it matters: (1) Eliminates cherry-picking: without netting, an insolvency administrator could selectively enforce profitable trades (claiming money owed to the insolvent party) while not paying trades where the insolvent party owes money. Netting prevents this. (2) Capital efficiency: Basel III allows banks to net positions for CCR capital calculation — potentially reducing capital requirements by 75–85%. (3) Systemic stability: netting dramatically reduces the gross settlement amounts during a default event, reducing cascade failures. In India: IBC amendments have progressively strengthened close-out netting enforceability, though some legal uncertainties remain — which is why many Indian banks document cross-border swaps under English or New York law.</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D8.8</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Swap Clearing through CCIL</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8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D8.8 · Swap Clearing through CCIL</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CCIL (Clearing Corporation of India Limited) is the central counterparty (CCP) for Indian financial markets — clearing government securities, forex, money market, and derivative transactions.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RBI mandated CCIL clearing for all INR interest rate swaps (vanilla IRS and OIS) from 2014. Upon novation, CCIL becomes the counterparty to both sides — replacing bilateral credit risk.</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CCIL's default waterfall: (1) Defaulter's own margin/collateral, (2) CCIL's Stress Loss Reserve, (3) Non-defaulting members' Settlement Guarantee Fund (SGF) contributions, (4) CCIL's own capital.</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CCIL also operates the trade repository (TR) for all OTC derivative transactions in India — providing regulatory visibility to RBI on positions, volumes, and risk concentration.</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D8.8 · Swap Clearing through CCIL</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Axis Bank enters a 5-year IRS (pay fixed 7.30% / receive MIBOR) with ICICI Bank for ₹200 crore notional. Post-novation at CCIL, Axis Bank becomes the fixed payer to CCIL; ICICI Bank becomes the floating payer to CCIL. CCIL collects initial margin from both parties.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Why does novation eliminate bilateral credit risk between Axis Bank and ICICI Bank? If Axis Bank defaults mid-swap, walk through CCIL's default management steps. What is the Cover-2 standard and how does CCIL's SGF relate to it?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D8.8 · Swap Clearing through CCIL</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CCIL Novation: CCP as Counterparty</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Novation is the process by which the original bilateral trade between two parties is replaced by two new trades: each original party now faces CCIL as counterparty. The original bilateral credit exposure disappears. CCIL's role: it manages the aggregated risk of all cleared swaps using two tools. (1) Initial Margin (IM): collected upfront based on potential future exposure (PFE) using CCIL's risk models. (2) Variation Margin (VM): daily MTM P&amp;L flows — losing parties pay VM to CCIL; winning parties receive it. If a member defaults, CCIL uses the defaulter's IM and VM to cover losses before touching SGF resources. CCIL is designed to survive the default of its two largest clearing members simultaneously — the Cover-2 standard endorsed by IOSCO.</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Novation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Original trade replaced by two CCIL-facing trades. Bilateral credit risk eliminated.</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Initial Margin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Upfront margin covering PFE at CCIL's prescribed confidence interval (99% VaR).</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Variation Margin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Daily MTM settlement. Losing party pays; winning party receives. Prevents margin build-up.</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Cover-2 Standard</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CCIL must withstand default of 2 largest members simultaneously — IOSCO PFMI requirement.</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D8.8 · Swap Clearing through CCIL</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CCIL's Default Waterfall in Detail</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If a clearing member defaults: (1) CCIL uses the defaulter's initial margin first. (2) If insufficient: CCIL uses the defaulter's SGF contribution. (3) If still insufficient: CCIL draws on its own Stress Loss Reserve (SLR). (4) If still insufficient: CCIL draws on non-defaulting members' SGF contributions (mutualization). (5) If still insufficient: CCIL uses its own capital. This 'survivor pays' model means clearing members are exposed to other members' losses — creating incentive to monitor each other's risk and limit the size of the CCP.</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TR Reporting: CCIL as Data Aggregator</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CCIL's Trade Repository (TR) captures all OTC derivative transactions in India — IRS, CDS, FX derivatives, and more. All Category A and Category B entities must report trades to TR within 30 minutes of execution (near real-time). RBI uses TR data for systemic risk monitoring — identifying concentration, interconnectedness, and potential contagion paths. Operations teams must ensure TR reporting systems are integrated with their OMS/trade capture platforms and reports go out within the prescribed window.</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CCIL Membership: Eligibility and Obligations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CCIL clearing membership is restricted to scheduled commercial banks, primary dealers, and insurance companies in India. Membership requires: (1) Minimum net worth requirements. (2) SGF contribution (proportional to cleared volume). (3) Margin posting infrastructure (RTGS connectivity, government securities custody). (4) Business continuity and technology requirements. Smaller banks and NBFCs that cannot qualify as direct members access CCIL clearing through a higher-tier 'custodial participant' arrangement.</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Interoperability and Global CCPs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CCIL operates as an independent domestic CCP. For cross-border swaps (e.g., USD/INR currency swaps with foreign banks), one leg may clear through CCIL while the other leg clears through a global CCP (LCH, CME). This creates 'split clearing' — each CCP recognises only its own cleared leg for netting purposes. IOSCO and RBI have been working on CCP recognition frameworks to allow mutual recognition of clearing between CCPs, which would enable full trade netting across jurisdictions.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D8.8 · Swap Clearing through CCIL</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CCIL's Cover-2 default waterfall mutualises losses across non-defaulting clearing members if a member defaults catastrophically. This means that prudent clearing members subsidise reckless ones in a tail risk scenario. Critics argue this creates a moral hazard — members take on more swap risk knowing that CCIL stands behind them. Proponents argue it makes the entire financial system more stable. Evaluate both arguments using examples from the 2008 financial crisis and India's own IL&amp;FS crisis (2018).</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RBI requires near-real-time (30-minute) reporting of all OTC derivative trades to CCIL's Trade Repository. A bank's operations team has a 45-minute break in their trade capture system due to a software upgrade — missing the reporting window for 12 IRS trades totalling ₹1,500 crore notional. What are the regulatory consequences? What internal escalation and remediation steps should operations take? How should the bank communicate with RBI?</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D8.8 · Swap Clearing through CCIL</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novation and how does it reduce credit risk in swap clearing?</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Novation is the legal process by which a bilateral trade between two parties is replaced by two separate trades, each with the central counterparty (CCIL) in the middle. How it works: Step 1: Bank A and Bank B agree on a swap trade (IRS, for example). Step 2: Both parties submit the trade to CCIL for clearing. Step 3: CCIL novates: the original A-B trade is replaced by (i) A–CCIL trade (A pays fixed to CCIL, CCIL pays floating to A) and (ii) CCIL–B trade (CCIL pays fixed to B, B pays floating to CCIL). Result: A and B no longer face each other's credit risk. They only face CCIL's credit risk — and CCIL is backed by the SGF, stress loss reserve, and member default waterfall. Credit risk reduction: instead of N × (N-1)/2 bilateral exposures for N market participants, there are only N exposures (each to CCIL). CCIL also continuously nets all cleared positions: if Bank A has 100 pay-fixed IRS and 60 receive-fixed IRS cleared through CCIL, it nets to a 40 pay-fixed net position — reducing margin requirement significantly.</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Cover-2 standard for a CCP like CCIL?</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Cover-2 is a resilience standard established by IOSCO's Principles for Financial Market Infrastructures (PFMIs) which states that a systemically important CCP must have sufficient financial resources to withstand the simultaneous default of its two largest clearing members under extreme but plausible market conditions. For CCIL: (1) CCIL runs stress tests daily using hypothetical scenarios — extreme rate moves, large member defaults. (2) It must ensure its total pre-funded resources (defaulter's margin + SGF + CCIL capital + SLR) exceed the stressed losses from the two largest members defaulting simultaneously. (3) RBI reviews CCIL's compliance with Cover-2 as part of its oversight of systemically important financial market infrastructure. Why Cover-2 matters operationally: it determines SGF contribution sizes (and hence clearing costs for members). It also sets the boundary condition for clearing risk — the system is designed to survive, not just likely shocks, but the two worst plausible simultaneous failures. Beyond Cover-2 failures are treated as systemic crises requiring central bank backstops.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D8.9</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Swap Valuation, MTM and Hedge Accounting</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9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D8.9 · Swap Valuation, MTM and Hedge Accounting</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An IRS is valued by discounting all future expected cash flows: fixed leg payments (known) and floating leg payments (derived from the forward rate curve) are each discounted using the OIS discount curve.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After trade date, market rates change, making the swap's MTM non-zero. A pay-fixed swap gains value when rates rise (floating receipts increase in present value); it loses value when rates fall.</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Hedge accounting under Ind AS 109 allows companies to defer MTM volatility on qualifying hedging instruments into OCI — preventing artificial P&amp;L swings from hedges that are economically effective.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Daily P&amp;L attribution decomposes swap MTM changes into: carry (time decay), parallel shift (rate level), twist (curve steepening/flattening), and volatility components.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D8.9 · Swap Valuation, MTM and Hedge Accounting</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corporate entered a 3-year pay-fixed IRS at 7.50% on ₹500 crore exactly 1 year ago. Today, 3-month MIBOR is 6.80% and the 2-year IRS market rate is 6.95%. The swap is now out-of-the-money for the fixed payer (market rates are below the contracted fixed rate).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has happened to the MTM of this swap from the corporate's perspective? If the swap was designated as a cash flow hedge of a floating-rate liability under Ind AS 109, where does this MTM loss appear in the financial statements — P&amp;L or OCI? What would happen to the OCI balance when the underlying interest payments are made?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D8.9 · Swap Valuation, MTM and Hedge Accounting</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IRS Mark-to-Market: The Rate Movement Effect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An IRS's MTM equals the net present value of all remaining cash flows, discounted at current market rates. At inception: MTM = 0 (fair value pricing ensures this). When rates rise: the floating leg's expected future payments increase — the fixed payer now receives more than contracted. Fixed payer MTM becomes positive (asset). When rates fall: the floating leg's expected future payments decrease — the fixed payer receives less than contracted. Fixed payer MTM becomes negative (liability). This MTM sensitivity creates P&amp;L volatility for companies using swaps — mitigated by hedge accounting elections under Ind AS 109.</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Rates Rise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Fixed payer's MTM becomes positive (asset). Receives more than contracted on floating leg.</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Rates Fall</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Fixed payer's MTM becomes negative (liability). Receives less — swap is a burden vs market.</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Cash Flow Hedge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MTM deferred in OCI. Released to P&amp;L when hedged interest payments occur.</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Fair Value Hedge</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Both swap MTM and hedged item revaluation flow through P&amp;L — netting to near zero.</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D8.9 · Swap Valuation, MTM and Hedge Accounting</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OIS Discounting vs LIBOR Discounting</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Pre-2012, swap valuations used LIBOR-based discount curves — the floating index was also the discount rate. Post-crisis, the industry recognised this double-counting of bank credit risk was incorrect. CCIL and global CCPs shifted to OIS discounting (SOFR for USD, FBIL MIBOR overnight for INR): future swap cash flows are discounted using the near-risk-free overnight index rate. This change ('big bang' in 2012 for LCH, 2015 for India) caused one-time MTM adjustments across all cleared swap books — a significant operational event for Indian banks.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Hedge Effectiveness Testing</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 AS 109 requires that a hedging relationship be 'highly effective' for hedge accounting to continue. Effectiveness means: changes in the fair value of the hedging instrument (swap) must offset changes in the fair value or cash flows of the hedged item within 80–125% of each other. Testing methods: regression analysis (statistical), dollar-offset method (ratio of MTM changes), or sensitivity analysis. If effectiveness falls outside the 80–125% range, hedge accounting must be discontinued — and accumulated OCI balance is immediately released to P&amp;L (a 'dedesignation' event that creates a one-time P&amp;L hit).</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Greeks for Swaps: DV01</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DV01 (Dollar Value of 01 — the change in swap value for a 1 basis point parallel shift in interest rates) is the primary risk measure for swaps. A 5-year pay-fixed IRS on ₹100 crore has a DV01 of approximately ₹4–5 lakh (depending on the rate level). Risk managers aggregate DV01 across all swaps on their books to get total rate sensitivity — the 'DV01 risk ladder' shows sensitivity by tenor bucket. Large DV01 in a specific tenor signals concentrated risk in that part of the curve.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Daily MTM Workflow at Banks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Each business day, the bank's risk/finance team runs the following MTM workflow: (1) Extract end-of-day market data: yield curve, MIBOR fixing, FX rates. (2) Reprice all swap positions using the current discount curve. (3) Calculate daily P&amp;L = Today's MTM − Yesterday's MTM. (4) Attribute P&amp;L to risk factors (carry, rate shifts, curve changes). (5) Generate MTM report for trading, risk, and finance. (6) Calculate VM calls for CCIL-cleared swaps and process payment instructions. (7) Report significant MTM moves to senior management. This workflow must complete before market open next day — typically running through overnight batch processes.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D8.9 · Swap Valuation, MTM and Hedge Accounting</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Under Ind AS 109, a company that hedges a floating-rate loan with an IRS (cash flow hedge) defers MTM gains and losses in OCI. Critics argue this 'hides' economic reality — the swap has real value that should flow through P&amp;L. Supporters argue it correctly matches the income statement treatment of the hedge with the hedged item's cash flows. Which accounting treatment better serves investors' understanding of a company's financial position? Should hedge accounting be optional or mandatory for qualifying hedges?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DV01 (the sensitivity of a swap's value to a 1 bp rate change) is the primary risk metric for interest rate swap portfolios. A bank's IRS book shows ₹25 crore DV01 in the 10-year bucket and −₹18 crore DV01 in the 5-year bucket. Interpret this risk profile. What does it imply about the bank's view on the yield curve shape? How would the bank hedge this risk, and what would be the operational steps to execute the hedge?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D8.9 · Swap Valuation, MTM and Hedge Accounting</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rising interest rates affect the MTM of a pay-fixed interest rate swap?</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pay-fixed IRS has a positive MTM (becomes an asset to the fixed payer) when interest rates rise. Here is the economic logic: The fixed payer is locked in paying, say, 7.50% fixed every quarter while receiving the MIBOR floating rate. When MIBOR rises from 7.50% to 8.50%: (1) The fixed payer now receives 8.50% floating but still pays only 7.50% fixed — generating net quarterly receipts of 1% × notional. (2) All future expected floating receipts have increased in present value. (3) The fixed payments remain unchanged. (4) Net PV of the swap = PV(higher floating receipts) − PV(same fixed payments) = positive. Conversely, when rates fall (say to 6.50%): the fixed payer now pays more than it receives — the swap's MTM becomes negative (a liability). DV01 quantifies this sensitivity: a 1 bp rate rise increases the pay-fixed swap's value by DV01 amount. For a 5-year IRS on ₹100 crore, DV01 is approximately ₹4 lakh — so a 25 bp rate rise gives approximately ₹1 crore MTM gain.</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hedge effectiveness testing and when does hedge accounting break down?</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Hedge effectiveness testing verifies that a designated hedging instrument (e.g., an IRS) is achieving its intended purpose of offsetting the risk of the hedged item (e.g., a floating-rate loan). Under Ind AS 109: (1) At hedge inception: formal documentation required — identify the hedged item, hedging instrument, risk being hedged, and expected hedge effectiveness. (2) Ongoing: the ratio of changes in the hedging instrument's fair value to changes in the hedged item's fair value must be within 80–125%. Methods: regression analysis is the most robust (R-squared and slope coefficient tests). Dollar-offset method is simpler but more sensitive to small P&amp;L noise. Hedge accounting breaks down when: (a) Effectiveness ratio falls outside 80–125% — economic relationship has weakened. (b) Hedged item no longer exists (e.g., loan prepaid early). (c) Hedging instrument is sold or terminated. (d) Hedge designation is voluntarily discontinued. On breakdown: all accumulated OCI from the hedging relationship is immediately released to P&amp;L — creating a potentially large one-time charge. Operations and finance must monitor effectiveness monthly, flag deteriorating hedges to treasury before they breach the threshold, and manage the accounting impact of any dedesignation.</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D8.10</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RBI/SEBI Regulations and IBOR Transition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10 of 10  |  Derivatives: Swaps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D8.10 · RBI/SEBI Regulations and IBOR Transition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RBI's Master Direction on Risk Management and Inter-Bank Dealings (2023) is the primary regulatory framework for Indian derivative markets — classifying users into Category A, B, and C with differentiated permissions.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Category A (banks and primary dealers): unrestricted access to all derivatives, can act as market makers. Category B/C (eligible non-bank entities): restricted to hedging only, with underlying exposure documentation required.</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LIBOR (London Interbank Offered Rate) was officially discontinued on 30 June 2023. USD contracts transitioned to SOFR (Secured Overnight Financing Rate). INR contracts transitioned from NSE MIBOR to FBIL MIBOR in 2015.</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ISDA 2020 IBOR Fallback Protocol provides contractual fallback provisions — all ISDA Master Agreements globally were updated to include SOFR/SONIA/TONAR as replacement rates with defined fallback spreads.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D8.10 · RBI/SEBI Regulations and IBOR Transition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Larsen &amp; Toubro (Category B entity) wants to enter a 3-year IRS with a bank. Its treasury team proposes both a plain-vanilla IRS (to hedge its floating-rate rupee debt) and a speculative OIS trade to take a view on RBI rate cuts. Under RBI's Master Direction, the compliance team must review both proposals.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Which trade is permissible for L&amp;T under Category B rules and why? What documentation must L&amp;T provide for the hedging trade? If L&amp;T's existing IRS was referencing 3-month MIBOR (pre-transition), what steps were required during the IBOR transition to update the contract's floating rate reference?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D8.10 · RBI/SEBI Regulations and IBOR Transition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RBI Category Framework: Who Can Trade What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RBI's tiered user category system for derivatives ensures the market is used primarily for hedging, with speculation confined to sophisticated, well-capitalised entities. Category A (banks and primary dealers): can trade all derivatives freely, act as market makers, and take proprietary positions. Category B (corporates, PSUs, insurance companies, mutual funds meeting eligibility): can use derivatives only to hedge underlying exposures. Must provide documentary evidence of the underlying. Can't take net speculative positions. Category C (retail, non-eligible): very limited access, hedging of personal foreign currency only. FEMA compliance: cross-currency derivative transactions by Indian entities are governed by FEMA (Foreign Exchange Management Act), adding another layer of regulatory oversight.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Category A</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Banks + PDs. Full access. Can deal freely. Market-making permitted.</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Category B</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Eligible non-banks. Hedging only. Underlying documentation mandatory.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FEMA</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FEMA governs FX transactions. Cross-currency swaps require RBI/AD bank approval.</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IBOR Fallback</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ISDA Protocol + bilateral confirmation amendments. New rate = RFR + fixed spread.</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D8.10 · RBI/SEBI Regulations and IBOR Transition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LIBOR's Fall: The Scandal and Transition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LIBOR was discovered to have been systematically manipulated by major global banks from 2003–2012 — traders colluded to submit false rates to benefit their derivatives positions. Post-2012: FCA announced discontinuation. The transition to RFRs (Risk-Free Rates) was the largest market-wide repricing in financial history — affecting an estimated $300 trillion of financial contracts. SOFR (Secured Overnight Financing Rate) replaced USD LIBOR; SONIA replaced GBP LIBOR; TONAR replaced JPY LIBOR; €STR replaced EURIBOR for short tenors.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India's IBOR Transition: FBIL MIBOR</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 pre-empted the global LIBOR transition by moving from NSE MIBOR (poll-based) to FBIL MIBOR (transaction-based) in 2015 — well before the LIBOR scandal's full impact was felt. FBIL MIBOR is computed from actual overnight call money market transactions on CCIL's NDS-CALL platform — far more manipulation-resistant than poll-based benchmarks. For USD-linked contracts in India (cross-currency swaps, MIFOR-based trades), SOFR replaced LIBOR from June 2023 — requiring contract amendments and system updates across Indian banks with USD swap books.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FEMA Compliance for Derivative Operations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Indian entities entering foreign currency derivatives must comply with FEMA regulations administered by RBI through Authorised Dealer (AD) banks. Requirements: (1) User must have an underlying foreign currency exposure (revenue, debt, investment). (2) Derivative must be appropriate to hedge that exposure — maturity, currency, and notional must correspond. (3) Hedging documentation: invoice, ECB agreement, export contract — provided to the AD bank. (4) Reporting: all cross-border derivative transactions reported to RBI through the AD bank's NDS-OM reporting. Operations teams at AD banks maintain a compliance file for each client's derivative hedges, updated whenever the underlying exposure changes.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Ops Lifecycle of a Swap: End-to-End</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 swap's complete operations lifecycle: (1) Trade capture: dealer inputs trade into OMS/FO system. (2) Trade confirmation: counterparty confirmation exchanged (electronic via SWIFT/DTCC or manual). (3) CCIL reporting: trade reported to CCIL TR within 30 minutes; vanilla IRS/OIS submitted for clearing/novation. (4) Margin management: initial margin collected by CCIL; daily variation margin processed. (5) Payment processing: fixed and floating payment calculation on each settlement date; payment via RTGS. (6) MTM reporting: daily revaluation, P&amp;L attribution, risk reports. (7) Hedge accounting documentation: quarterly effectiveness testing if designated as a hedge. (8) Maturity/termination: final settlement, confirmation of net final payment, trade booking closure.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D8.10 · RBI/SEBI Regulations and IBOR Transition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RBI Category B framework restricts non-bank entities to hedging-only derivatives usage. Critics argue this is overly paternalistic — sophisticated corporate treasuries at large Indian companies (Reliance, TCS, Infosys) should be allowed to take proprietary derivative positions like their global counterparts. Supporters argue the restriction prevents financial stability risks. Evaluate both perspectives. Should RBI create a 'Category B Enhanced' category for the most sophisticated corporates, with expanded derivative permissions subject to additional disclosures?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transition from LIBOR to SOFR was the most operationally intensive project in financial market history — requiring amendments to hundreds of millions of contracts globally. What were the three main operational challenges for an Indian bank's operations team managing a portfolio of USD/INR cross-currency swaps referencing LIBOR? Walk through the specific steps the bank's ops team would have taken between 2020 and June 2023 to transition these contracts, covering legal, systems, and counterparty dimensions.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D8.10 · RBI/SEBI Regulations and IBOR Transition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RBI Category A and Category B users for derivatives?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RBI's Master Direction on Risk Management creates a tiered user framework for derivatives: Category A users — scheduled commercial banks and primary dealers (PDs). They can: deal freely in all permitted derivatives, take proprietary positions, act as market makers for both vanilla and exotic derivatives, deal with any counterparty (domestic or foreign). No restriction on purpose — can hedge, speculate, or arbitrage. Category B users — eligible entities including large corporates (meeting turnover/net worth thresholds), insurance companies, mutual funds, NBFCs, housing finance companies, and certain FPIs. They can ONLY: hedge underlying exposures (interest rate risk, FX risk, commodity price risk). Must document the underlying exposure at trade initiation. Cannot take net speculative positions. Cannot act as market makers. Practical implication for operations: for every derivative trade with a Category B customer, the bank must: (i) obtain and verify underlying exposure documentation (loan agreement, export contract, etc.), (ii) ensure the derivative's notional and maturity do not exceed the underlying exposure, (iii) maintain a compliance file. If the underlying exposure disappears (e.g., loan repaid), the derivative must be unwound or the bank faces regulatory violation.</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was the LIBOR transition and how did it affect Indian swap markets?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LIBOR (London Interbank Offered Rate) was the global benchmark for short-term interbank lending rates — published daily for 5 currencies and 7 tenors. It underpinned approximately $300 trillion of financial contracts globally. Why it ended: LIBOR was discovered to have been systematically manipulated (2003–2012) by trader collusion at major banks. After a period of declining interbank transaction volumes making LIBOR increasingly unrepresentative, the FCA announced its discontinuation. June 2023: all LIBOR settings officially ceased. Replacement rates: USD → SOFR (Secured Overnight Financing Rate, based on US Treasury repo transactions). GBP → SONIA (Sterling Overnight Index Average). Impact on Indian markets: (1) All USD/INR cross-currency swaps referencing USD LIBOR required amendment to USD SOFR — legal documentation changes under ISDA Fallback Protocol. (2) MIFOR (MIBOR + LIBOR swap points) was replaced by MITOR (MIBOR + SOFR swap points) — affecting INR FX swaps and some IRS. (3) Operations teams updated all affected trade confirmations, system configurations, and risk models. (4) India had already transitioned INR-only benchmarks: NSE MIBOR → FBIL MIBOR in 2015. Indian banks with large USD swap books ran multi-year IBOR transition programmes (2020–2023) covering legal, technology, risk, and client communication workstreams.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Swaps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CIBOP Derivatives: Swaps — Learning Deck</dc:title>
  <dc:subject>PptxGenJS Presentation</dc:subject>
  <dc:creator>Imarticus Learning</dc:creator>
  <cp:lastModifiedBy>Imarticus Learning</cp:lastModifiedBy>
  <cp:revision>1</cp:revision>
  <dcterms:created xsi:type="dcterms:W3CDTF">2026-05-06T07:51:57Z</dcterms:created>
  <dcterms:modified xsi:type="dcterms:W3CDTF">2026-05-06T07:51:57Z</dcterms:modified>
</cp:coreProperties>
</file>