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4023360"/>
            <a:ext cx="9144000" cy="1120140"/>
          </a:xfrm>
          <a:prstGeom prst="rect">
            <a:avLst/>
          </a:prstGeom>
          <a:solidFill>
            <a:srgbClr val="007A87"/>
          </a:solidFill>
          <a:ln w="12700">
            <a:solidFill>
              <a:srgbClr val="007A87"/>
            </a:solidFill>
            <a:prstDash val="solid"/>
          </a:ln>
        </p:spPr>
      </p:sp>
      <p:sp>
        <p:nvSpPr>
          <p:cNvPr id="4" name="Shape 2"/>
          <p:cNvSpPr/>
          <p:nvPr/>
        </p:nvSpPr>
        <p:spPr>
          <a:xfrm>
            <a:off x="365760" y="1280160"/>
            <a:ext cx="73152" cy="2011680"/>
          </a:xfrm>
          <a:prstGeom prst="rect">
            <a:avLst/>
          </a:prstGeom>
          <a:solidFill>
            <a:srgbClr val="F0A800"/>
          </a:solidFill>
          <a:ln w="12700">
            <a:solidFill>
              <a:srgbClr val="F0A800"/>
            </a:solidFill>
            <a:prstDash val="solid"/>
          </a:ln>
        </p:spPr>
      </p:sp>
      <p:sp>
        <p:nvSpPr>
          <p:cNvPr id="5" name="Text 3"/>
          <p:cNvSpPr/>
          <p:nvPr/>
        </p:nvSpPr>
        <p:spPr>
          <a:xfrm>
            <a:off x="548640" y="1188720"/>
            <a:ext cx="8046720" cy="640080"/>
          </a:xfrm>
          <a:prstGeom prst="rect">
            <a:avLst/>
          </a:prstGeom>
          <a:noFill/>
          <a:ln/>
        </p:spPr>
        <p:txBody>
          <a:bodyPr wrap="square" lIns="0" tIns="0" rIns="0" bIns="0" rtlCol="0" anchor="ctr"/>
          <a:lstStyle/>
          <a:p>
            <a:pPr indent="0" marL="0">
              <a:buNone/>
            </a:pPr>
            <a:r>
              <a:rPr lang="en-US" sz="3200" b="1" dirty="0">
                <a:solidFill>
                  <a:srgbClr val="F0A800"/>
                </a:solidFill>
              </a:rPr>
              <a:t>Exchange</a:t>
            </a:r>
            <a:endParaRPr lang="en-US" sz="3200" dirty="0"/>
          </a:p>
        </p:txBody>
      </p:sp>
      <p:sp>
        <p:nvSpPr>
          <p:cNvPr id="6" name="Text 4"/>
          <p:cNvSpPr/>
          <p:nvPr/>
        </p:nvSpPr>
        <p:spPr>
          <a:xfrm>
            <a:off x="548640" y="1783080"/>
            <a:ext cx="8046720" cy="502920"/>
          </a:xfrm>
          <a:prstGeom prst="rect">
            <a:avLst/>
          </a:prstGeom>
          <a:noFill/>
          <a:ln/>
        </p:spPr>
        <p:txBody>
          <a:bodyPr wrap="square" lIns="0" tIns="0" rIns="0" bIns="0" rtlCol="0" anchor="ctr"/>
          <a:lstStyle/>
          <a:p>
            <a:pPr indent="0" marL="0">
              <a:buNone/>
            </a:pPr>
            <a:r>
              <a:rPr lang="en-US" sz="2600" dirty="0">
                <a:solidFill>
                  <a:srgbClr val="FFFFFF"/>
                </a:solidFill>
              </a:rPr>
              <a:t>Trade Life Cycle</a:t>
            </a:r>
            <a:endParaRPr lang="en-US" sz="2600" dirty="0"/>
          </a:p>
        </p:txBody>
      </p:sp>
      <p:sp>
        <p:nvSpPr>
          <p:cNvPr id="7" name="Text 5"/>
          <p:cNvSpPr/>
          <p:nvPr/>
        </p:nvSpPr>
        <p:spPr>
          <a:xfrm>
            <a:off x="548640" y="2331720"/>
            <a:ext cx="7863840" cy="365760"/>
          </a:xfrm>
          <a:prstGeom prst="rect">
            <a:avLst/>
          </a:prstGeom>
          <a:noFill/>
          <a:ln/>
        </p:spPr>
        <p:txBody>
          <a:bodyPr wrap="square" lIns="0" tIns="0" rIns="0" bIns="0" rtlCol="0" anchor="ctr"/>
          <a:lstStyle/>
          <a:p>
            <a:pPr indent="0" marL="0">
              <a:buNone/>
            </a:pPr>
            <a:r>
              <a:rPr lang="en-US" sz="1300" i="1" dirty="0">
                <a:solidFill>
                  <a:srgbClr val="C8D8E8"/>
                </a:solidFill>
              </a:rPr>
              <a:t>Certificate in Investment Banking Operations Programme</a:t>
            </a:r>
            <a:endParaRPr lang="en-US" sz="1300" dirty="0"/>
          </a:p>
        </p:txBody>
      </p:sp>
      <p:sp>
        <p:nvSpPr>
          <p:cNvPr id="8" name="Text 6"/>
          <p:cNvSpPr/>
          <p:nvPr/>
        </p:nvSpPr>
        <p:spPr>
          <a:xfrm>
            <a:off x="365760" y="4160520"/>
            <a:ext cx="8412480" cy="320040"/>
          </a:xfrm>
          <a:prstGeom prst="rect">
            <a:avLst/>
          </a:prstGeom>
          <a:noFill/>
          <a:ln/>
        </p:spPr>
        <p:txBody>
          <a:bodyPr wrap="square" lIns="0" tIns="0" rIns="0" bIns="0" rtlCol="0" anchor="ctr"/>
          <a:lstStyle/>
          <a:p>
            <a:pPr indent="0" marL="0">
              <a:buNone/>
            </a:pPr>
            <a:r>
              <a:rPr lang="en-US" sz="1000" dirty="0">
                <a:solidFill>
                  <a:srgbClr val="FFFFFF"/>
                </a:solidFill>
              </a:rPr>
              <a:t>Imarticus Learning  |  Module E9: Exchange TLC  |  UORs: E9.1 – E9.10</a:t>
            </a:r>
            <a:endParaRPr lang="en-US" sz="1000" dirty="0"/>
          </a:p>
        </p:txBody>
      </p:sp>
      <p:sp>
        <p:nvSpPr>
          <p:cNvPr id="9" name="Text 7"/>
          <p:cNvSpPr/>
          <p:nvPr/>
        </p:nvSpPr>
        <p:spPr>
          <a:xfrm>
            <a:off x="365760" y="4507992"/>
            <a:ext cx="8412480" cy="256032"/>
          </a:xfrm>
          <a:prstGeom prst="rect">
            <a:avLst/>
          </a:prstGeom>
          <a:noFill/>
          <a:ln/>
        </p:spPr>
        <p:txBody>
          <a:bodyPr wrap="square" lIns="0" tIns="0" rIns="0" bIns="0" rtlCol="0" anchor="ctr"/>
          <a:lstStyle/>
          <a:p>
            <a:pPr indent="0" marL="0">
              <a:buNone/>
            </a:pPr>
            <a:r>
              <a:rPr lang="en-US" sz="950" i="1" dirty="0">
                <a:solidFill>
                  <a:srgbClr val="F0A800"/>
                </a:solidFill>
              </a:rPr>
              <a:t>10 Topics · 30 Videos · 40 Assessment Questions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E9.1</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Exchange TLC Overview</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 of 10  |  Exchange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E9.1 · Exchange TLC Overview</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 Exchange TLC has 11 sequential stages: Initiation → Execution → Trade Reporting → Capture → Enrichment → Validation → Verification → Confirmation → Transaction Reporting → Settlement → Reconciliation.</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Front Office owns stages 1–2 (Initiation and Execution). Middle Office owns stages 3–8. Back Office owns stages 9–11 (Txn Reporting, Settlement, Reconciliation).</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STP (Straight-Through Processing) automates the flow from execution report to settlement instruction without manual re-keying. Industry benchmark STP rate: 97–99%.</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India settles on T+1 — the business day after execution. The US historically settled on T+2 but moved to T+1 in May 2024. The entire pre-settlement chain must complete within this window.</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E9.1 · Exchange TLC Overview</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large Indian broker's STP rate has dropped from 97.8% to 94.1% over the past month. Settlement fails have increased from 0.2% to 0.9%. Operations management wants to identify the root cause — whether it's a reference data issue, a system configuration problem, or a staffing gap — before the SEBI inspection next week.</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As Head of Operations, which metrics would you pull first to diagnose the STP break surge? Which TLC stages are most likely the failure points? What evidence would you present to SEBI to demonstrate that the issue is being managed?</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E9.1 · Exchange TLC Overview</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11-Stage Exchange Trade Life Cycle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Exchange TLC is the operational backbone of capital markets — a defined sequence of stages that converts an investment decision into a settled trade. Each stage has an owner, a deadline, and a control objective. FO generates value; MO controls it; BO delivers it. STP is the technology engine that connects all three. The key principle: every stage must complete before the next can begin, and T+1 settlement means the entire chain — from capture to confirmation — must complete in a single trading day. Delays cascade: a missed enrichment SLA pushes validation late, which pushes confirmation late, which risks a settlement fail.</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FO: Stages 1–2</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Initiation (investment decision, OMS order) and Execution (exchange match). Revenue generation.</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MO: Stages 3–8</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Reporting, Capture, Enrichment, Validation, Verification, Confirmation. The control tier.</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BO: Stages 9–11</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Transaction Reporting, Settlement, Reconciliation. Completing and verifying the trade.</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STP</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Automated data flow connecting FO, MO, and BO systems. Target: 97%+ trades without manual intervention.</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E9.1 · Exchange TLC Overview</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Why T+1 Matters for Operations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India's T+1 settlement compresses the entire pre-settlement pipeline into one business day. Operations teams must enrich, validate, verify, and confirm trades between 3:30 PM (market close) and the custodian's settlement instruction cut-off (typically 5–7 PM). Any STP break in this window requires immediate manual resolution. T+1 also requires FPIs to pre-fund their INR accounts before trading — eliminating the T+0 buffer that T+2 allowed.</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SEBI's T+1 Implementation Journey</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implemented T+1 in phases starting February 2022 with the bottom 100 stocks by market cap. By January 2023, all NSE and BSE-listed equities moved to T+1. India became the first major market globally to implement T+1 settlement at scale. SEBI cited benefits: reduced counterparty risk, lower margin requirements, and improved capital efficiency for investors.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STP Break Classification</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STP breaks are classified by cause: (1) Reference data breaks — security or counterparty not in system, (2) Enrichment breaks — SSI missing or incorrect, (3) Validation breaks — trade fails a business rule, (4) System breaks — technical failure in the STP pipeline. Each type has a different resolution path. Trending break types over time reveal systemic data quality or system configuration issues.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The FO-BO Information Flow</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Post-trade information flows in two directions: downstream (FO → MO → BO, carrying trade data for settlement) and upstream (BO → MO → FO, carrying reconciled positions for next-day trading decisions). Portfolio managers need accurate end-of-day positions to plan next-day orders. Reconciliation failures that propagate upstream as incorrect positions can cause FO trading errors — demonstrating that BO quality directly affects FO performance.</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E9.1 · Exchange TLC Overview</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move to T+1 settlement was phased over 12 months to allow market participants to adjust their operations. FPIs initially opposed T+1 because their fund accounting and FX conversion processes were designed for T+2. From an operations perspective, what changes would an FPI's operations team need to make to successfully operate under T+1? Consider: trade capture, FX conversion, settlement instruction generation, and custodian communication.</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STP rate is presented as a simple efficiency metric, but it has significant limitations as a measure of operations quality. A firm could achieve 100% STP by switching off validation rules — technically processing everything automatically, but at the cost of accuracy. How should a Head of Operations design a balanced operations KPI framework that measures both efficiency (STP rate) and quality (error rate, settlement fail rate, aged break rate)?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E9.1 · Exchange TLC Overview</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Walk me through the 11 stages of the Exchange Trade Life Cycle.</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Exchange TLC has 11 stages, divided across three office tiers. Front Office — Stage 1 (Initiation): the portfolio manager makes an investment decision and enters an order into the OMS. Pre-trade compliance checks run. Stage 2 (Execution): the order is routed to NSE or BSE and matched by the exchange's matching engine. The exchange generates a FIX execution report for both brokers. Middle Office — Stage 3 (Trade Reporting): the execution report is received and logged. Stage 4 (Trade Capture): the trade is captured in the trade management system — creating a full trade ticket with all identifying fields. Stage 5 (Enrichment): cash figuration (calculating settlement amounts including charges) and SSI defaulting (populating settlement account details). Stage 6 (Validation): automated checks — completeness, business rules, risk limits, sanctions screening. Stage 7 (Verification): bilateral matching with the counterparty — both sides must agree on all trade terms. Stage 8 (Confirmation): formal agreement that the trade occurred on specific terms — automatic for exchange trades. Back Office — Stage 9 (Transaction Reporting): reporting the trade to SEBI/CCIL TR for OTC trades. Stage 10 (Settlement): securities delivered vs payment received under DVP mechanics at T+1. Stage 11 (Reconciliation): comparing all internal records against external statements to identify and resolve breaks.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STP and why does it matter for operations?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STP — Straight-Through Processing — is the automated, uninterrupted flow of trade data from execution through to settlement without manual re-entry or intervention at any stage. How it works: when a trade executes, the FIX execution report flows automatically from the exchange to the broker's trade capture system. Reference data enriches the trade with settlement details. Validation rules run automatically. If all checks pass, the trade flows to the custodian's settlement system — all within minutes, with no human touching a keyboard. Why it matters: (1) Speed — STP reduces capture time from 90 minutes (manual) to under 30 seconds, giving operations more buffer before settlement deadlines. (2) Accuracy — manual re-keying introduces errors. STP eliminates transcription mistakes. (3) Cost — STP reduces the number of operations analysts needed per trade processed. (4) Settlement risk reduction — faster capture and enrichment means settlement instructions reach custodians earlier, reducing the risk of a late-instruction fail. Industry benchmark: 97–99% STP rate. A drop in STP rate is an early warning signal of data quality or system problems that, if unaddressed, manifest as settlement failures and regulatory issues.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E9.2</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Trade Initiation — From Decision to Order</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2 of 10  |  Exchange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E9.2 · Trade Initiation — From Decision to Order</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Trade initiation begins with an investment decision — by a portfolio manager (buy-side), proprietary trader (sell-side), or retail investor. The decision must pass pre-trade compliance checks before becoming an order.</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Orders have mandatory fields: ISIN, direction (buy/sell), quantity, order type, validity, exchange, and account. All fields must be present before the order is released to the exchange.</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 OMS (Order Management System) is the central platform for order entry, pre-trade compliance, routing, and fill tracking. Common platforms: Charles River IMS, Fidessa, Bloomberg AIM.</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DMA (Direct Market Access) routes institutional orders directly to the exchange in milliseconds — bypassing the dealer desk. SEBI permits DMA only for institutional clients under registered arrangements.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E9.2 · Trade Initiation — From Decision to Order</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fund manager at a large AMC wants to buy ₹500 crore of HDFC Bank shares (NSE: HDFCBANK) before a key RBI policy announcement at 2:00 PM. HDFCBANK's average daily volume is ₹800 crore. The fund's compliance rules say daily purchases cannot exceed 10% of ADV. The DMA connection to NSE is currently showing a latency warning of 150ms (normal is under 10ms).</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is the maximum permissible daily purchase under the compliance rule? With the DMA latency issue, what execution risk does the fund face? What alternative execution channel should the dealer use? What order type would you recommend to manage execution risk around the RBI announcement?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E9.2 · Trade Initiation — From Decision to Order</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Order Flow: From Investment Decision to Exchange Routing</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journey from investment decision to exchange order involves three distinct steps: the decision, the compliance check, and the order entry. Each step has operational significance. The decision determines what to trade; the compliance check determines whether it can be traded; the OMS determines how it will be traded. DMA and algorithmic execution have transformed the 'how' — replacing phone-based execution with automated, millisecond-speed routing. The result: faster execution, lower market impact, better audit trails, and more consistent adherence to execution benchmarks like VWAP. Pre-trade compliance — checking mandates, limits, and SEBI restrictions before the order is placed — is the first control gate in the entire TLC.</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OMS Function</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Order entry, pre-trade compliance, routing to exchange, fill tracking, allocation.</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DMA</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Institutional direct exchange access via broker infrastructure. Sub-10ms latency. SEBI-regulated.</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VWAP Algo</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Slices large orders proportionally to historical volume to minimise market impact.</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Pre-Trade Checks</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Fund mandate, concentration limits, SEBI short-sale rules, liquidity checks — all automated.</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E9.2 · Trade Initiation — From Decision to Order</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SEBI's DMA Regulations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Circular CIR/MRD/DP/20/2012 permits DMA for institutional investors. Conditions: sponsoring broker must implement pre-trade risk controls (order size limits, price bands, exposure limits), a kill switch to instantly cancel all DMA orders, and real-time risk monitoring. The broker remains fully responsible for all DMA trades. SEBI fines brokers for DMA-related risk control failures — not the institutional client.</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Algorithm Registration Requirements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requires all algorithmic strategies to be registered with the exchange before deployment. Registration includes: strategy code, risk parameters, maximum order frequency, maximum order value, and kill switch details. Any modification to a registered algo requires re-registration. High-frequency trading algos with sub-second order rates face additional surveillance requirements under SEBI's HFT framework.</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Order Management at Scale</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Large asset managers run thousands of orders daily across hundreds of client portfolios. The OMS must handle: parent order splitting (one mandate split across many portfolios), child order routing (multiple partial orders to the exchange), fill aggregation (reassembling fills back to parent orders), and pro-rata allocation (distributing fills across portfolios fairly). A system failure at this point — OMS downtime during peak trading hours — can create significant operational and reputational risk.</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Implementation Shortfall vs VWAP</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VWAP benchmarks against the day's volume-weighted average — rewarding algorithms that track volume well. Implementation Shortfall (IS) benchmarks against the price at the moment the investment decision was made — rewarding algorithms that minimise the cost of delay between decision and execution. IS is increasingly preferred by institutional investors because it better captures the true cost of trading, including opportunity cost of not trading quickly.</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E9.2 · Trade Initiation — From Decision to Order</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retail investor claims that DMA-enabled high-frequency trading creates an unfair advantage by allowing institutions to jump the queue with faster orders, effectively front-running retail orders. SEBI's co-location facility at NSE charges fees that only large institutions can afford. From the perspectives of (a) market microstructure theory, (b) retail investor protection, and (c) market liquidity provision, evaluate whether DMA and co-location should be more tightly regulated.</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asset manager is choosing between three OMS platforms: Charles River IMS (market leader, expensive), a boutique Indian OMS provider (cheaper, local support), and building in-house. The AMC trades ₹5,000 crore daily across 200 client portfolios. Walk through the key operational, regulatory, and risk considerations that should drive the decision.</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E9.2 · Trade Initiation — From Decision to Order</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how an institutional order travels from the portfolio manager's decision to execution on NSE.</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journey from investment decision to execution has five steps: Step 1 — Investment Decision: the portfolio manager reviews research and decides to buy, for example, 50,000 shares of Infosys at best available price. She enters a parent order in the OMS. Step 2 — Pre-Trade Compliance: the OMS automatically checks: does this comply with the fund's mandate (sector limits, single-stock concentration)? Are there any SEBI restrictions on Infosys (e.g., insider trading blackout)? Does the fund have sufficient uninvested cash to fund the purchase? If all checks pass, the order is released. Step 3 — OMS Routing: the dealer (or an algorithm) slices the parent order into smaller child orders. For 50,000 shares, perhaps five child orders of 10,000 each, sent over two hours to reduce market impact. Step 4 — FIX Protocol Transmission: each child order is sent from the OMS to the broker's exchange gateway using a FIX NewOrderSingle message. If using DMA, it goes directly to NSE; if using the broker's desk, it is relayed through the dealer. Step 5 — Exchange Matching: NSE's matching engine applies price-time priority and matches the buy order against the best available sell orders. A FIX ExecutionReport (MsgType 8) is returned to the OMS confirming each fill. The OMS aggregates fills back to the parent order, and the portfolio manager sees her position updated in real time.</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VWAP and TWAP algorithms?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VWAP — Volume-Weighted Average Price: the algorithm schedules order execution in proportion to the historical volume patterns of the security throughout the day. If 20% of TCS's daily volume typically trades between 9:15–10:00 AM, the VWAP algorithm sends 20% of your order in that window. The benchmark is the day's actual VWAP — if your average fill price equals the VWAP, the algorithm performed perfectly. Used when: the order is too large to execute quickly without moving the market, and the trader wants to blend in with the market's natural flow. TWAP — Time-Weighted Average Price: the algorithm divides the order into equal-sized slices and executes them at regular time intervals — for example, 1,000 shares every 15 minutes over a 2-hour window. The execution rate is constant regardless of market volume. Used when: the trader wants simple, predictable execution without volume-adaptive complexity — often for less liquid securities where volume patterns are unreliable. Key difference: VWAP is volume-adaptive (executes more when the market is more active); TWAP is time-rigid (executes at a constant rate). For highly liquid large-cap stocks, VWAP typically achieves lower market impact. For illiquid mid-caps, TWAP may be more appropriate.</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E9.3</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Order Types and Market Participants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3 of 10  |  Exchange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E9.3 · Order Types and Market Participants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Six main order types: Market (immediate fill at any price), Limit (price-controlled, may not fill), Stop-Loss (automated loss protection), IOC (fill what you can, cancel rest), GTC (wait until filled or cancelled), AMO (next-day open).</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Key market participants: Broker-Dealers (execute trades), CCP/NSCC (guarantee settlement, eliminate bilateral credit risk), Depositories NSDL/CDSL (hold securities electronically), Custodians (safekeep assets, process settlement).</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NSE uses price-time priority matching: best price first; within the same price, first order in wins. The call auction (9:00–9:15 AM) determines the opening price.</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Circuit breakers halt trading at 10% (45 min), 15% (2 hrs), and 20% (full day) index drops. Individual stock circuit breakers cap daily moves at typically ±20%.</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E9.3 · Order Types and Market Participants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During a volatile session, NSE's index drops 12% in 45 minutes. A portfolio manager has open orders: a limit sell order for 10,000 Nifty-50 ETF units at ₹195 (market is at ₹189), a market buy order for 5,000 HDFC Bank shares, and a GTC stop-loss on Wipro triggered at ₹430. NSE has just announced a Level 2 circuit breaker (15% drop reached).</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Which orders are affected by the circuit breaker halt? What happens to the market buy order for HDFC Bank that was being executed when trading halted mid-fill? What does the portfolio manager need to do when trading resumes? How does the circuit breaker protect the broader market from panic-selling cascade?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E9.3 · Order Types and Market Participants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Order Types: Price Control vs Execution Certainty</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Every order type represents a trade-off between execution certainty and price certainty — you cannot guarantee both simultaneously. A market order guarantees you will trade but not at what price. A limit order guarantees your price but not that you will trade. Stop-loss, IOC, and GTC add time and conditional dimensions to this trade-off. Understanding which order type to use — and why — is fundamental to both trading and operations. An operations analyst who understands order types can diagnose execution issues, resolve confirmation discrepancies, and explain settlement failures that trace back to how an order was originally placed.</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Market Order</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Guaranteed immediate fill. Price uncertain — especially in illiquid markets or volatile moments.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Limit Order</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Fixed price or better. May not fill if market never reaches your price. GTC extends indefinitely.</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Stop-Loss</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Triggers when market reaches your stop price → converts to market order. Automated downside protection.</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IOC</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Fill immediately; cancel any unfilled portion. Used for large orders where partial fills are acceptable.</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E9.3 · Order Types and Market Participants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NSE Circuit Breaker Details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NSE's market-wide circuit breakers are based on the Nifty 50 index. Level 1: 10% drop → 45-minute halt (if before 1:00 PM); no halt if after 2:30 PM. Level 2: 15% drop → 2-hour halt (if before 1:00 PM); 1-hour halt (1:00–2:00 PM); halt for the day if after 2:00 PM. Level 3: 20% drop → market closed for the remainder of the day. Individual stocks have dynamic price bands (DPBs) — typically ±20% for large-caps but ±5% for specific categories.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Price Discovery in the Call Auction</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NSE's pre-open session (9:00–9:08 AM order entry, 9:08–9:12 AM matching, 9:12–9:15 AM buffer) runs a call auction. All orders are collected, and a single equilibrium price — maximising matched volume — is determined. This is the opening price published by NSE. The call auction prevents artificial opening price moves by spreading overnight news impact across all orders simultaneously rather than allowing the first order to set a large opening move.</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CCP Margin Requirements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NSCC collects initial margin from all clearing members daily — calibrated to cover a 99% VaR (Value at Risk) over a 1-day horizon. During volatile markets, NSCC issues intraday margin calls. Members must fund these calls within 2 hours. If a member fails to meet a margin call, NSCC can restrict their trading access. Margin requirements are a key liquidity constraint for brokers — managing margin efficiently is a core treasury and operations function.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Why Two Depositories in India?</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 has two depositories — NSDL (1996, NSE-promoted) and CDSL (1999, BSE-promoted) — creating competitive redundancy. Most institutional investors use NSDL. CDSL has a larger retail client base. Interoperability: securities held at NSDL can be delivered to CDSL accounts through a DvP settlement bridge. This dual-depository model differs from the US (single DTC) and is gradually seen as a model for operational resilience — a single depository outage would halt all settlement.</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E9.3 · Order Types and Market Participants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Stop-loss orders are widely recommended as a risk management tool for retail investors. However, critics argue that a large number of stop-loss orders clustered at the same price level can trigger cascade falls — a stop-loss order triggering a sell, pushing the price to the next cluster of stops, triggering more selling, and so on. This phenomenon was evident in several Flash Crash events globally. Should SEBI consider restricting the disclosure of stop-loss order concentration data, or is transparency always preferable in the order book?</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NSDL and CDSL are both regulated depositories but have different client bases and technology infrastructure. A proposal is made to merge them into a single national depository for efficiency. Evaluate the operational risk, competitive dynamics, and regulatory considerations of such a merger. Would a single depository be better or worse for the Indian capital market ecosystem?</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E9.3 · Order Types and Market Participants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role of a Central Counterparty (CCP) and why is it important for settlement?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Central Counterparty (CCP) interposes itself between the buyer and seller in every trade, becoming the buyer to every seller and the seller to every buyer. In India, NSCC is the CCP for NSE equity and derivative trades. How it works: when Broker A buys 1,000 Reliance shares from Broker B, the original trade is novated — replaced by two new trades: (1) NSCC sells 1,000 Reliance to Broker A, and (2) Broker B sells 1,000 Reliance to NSCC. Now A and B no longer have any obligation to each other — both face only NSCC. Why CCPs are critical: (1) Counterparty risk elimination: if Broker B defaults, NSCC still delivers to Broker A — protecting the innocent party. NSCC's Settlement Guarantee Fund (SGF) covers the cost of the defaulting member's obligations. (2) Multilateral netting: NSCC nets all of Broker A's buy and sell obligations in each security — dramatically reducing the number and value of securities that actually need to move. Instead of settling 1,000 individual trades, Broker A settles one net position per security. (3) Operational efficiency: all members deal with one counterparty (NSCC) rather than hundreds of bilateral counterparties, reducing operational complexity. Without a CCP, each trade would require bilateral credit assessment, bilateral margining, and bilateral settlement — impractical at market scale.</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the difference between NSDL and CDSL and their role in the TLC.</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NSDL (National Securities Depository Limited) and CDSL (Central Depository Services Limited) are India's two central securities depositories — they hold securities in electronic (dematerialised) form on behalf of investors. NSDL: established in 1996, promoted by NSE, UTI, and leading financial institutions. Custodians and FPIs predominantly use NSDL. Holds approximately 70% of India's dematerialised securities by value. CDSL: established in 1999, promoted by BSE. Larger retail investor base. Has grown significantly with the rise of discount broking (Zerodha, Upstox use CDSL). Both depositories: maintain demat accounts for all investors (held through Depository Participants — your broker or bank). Process settlement instructions: when a trade settles on T+1, NSDL/CDSL debits the seller's DP account and credits the buyer's DP account electronically. Provide statements and transaction history for reconciliation. Role in TLC: at Settlement stage (Stage 10), the custodian submits delivery/receipt instructions to NSDL or CDSL via their DP. NSDL/CDSL processes the transfer, generating a confirmation that allows the operations team to mark the trade as settled and update the portfolio position.</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E9.4</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Trade Execution — Quality, Reporting, and Capture</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4 of 10  |  Exchange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E9.4 · Trade Execution — Quality, Reporting, and Capture</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 FIX ExecutionReport (MsgType 8) is generated by the exchange the moment a trade executes — containing ExecID, fill price (LastPx), cumulative quantity (CumQty), average fill price (AvgPx), and exchange timestamp (TransactTime).</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Execution quality is measured by slippage (fill price vs decision price), fill rate, time to fill, and VWAP benchmark comparison. SEBI requires brokers to demonstrate best execution.</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 trade ticket captures: Trade ID, ISIN, counterparty, quantity, price, gross value, accrued interest (bonds), commissions, net settlement amount, settlement date, custodian, and account.</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Every field in the trade ticket serves a downstream purpose: ISIN for settlement, settlement date for custodian timing, counterparty LEI for regulatory reporting, accrued interest for bond dirty price calculation.</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E9.4 · Trade Execution — Quality, Reporting, and Capture</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At 14:23 today, a block trade for 500,000 shares of TCS was executed across 12 partial fills over 2 hours, averaging ₹3,647.28. By 15:45, the operations team notices that the trade capture system only shows 487,000 shares captured — 13,000 shares of partial fills are missing. The counterparty's operations team is asking for a confirmed allocation by 16:30 for their T+1 settlement instruction.</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has likely caused the 13,000 share discrepancy? What is the risk if the counterparty doesn't receive the confirmed allocation by 16:30? Walk through the steps the operations team must take in the next 45 minutes. What field in the FIX execution report chain should be audited first to identify the missing fills?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E9.4 · Trade Execution — Quality, Reporting, and Capture</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Trade Ticket: Every Field Has a Purpose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trade ticket is the formal record of a trade within the operations system — it is created by combining the execution report (from the exchange) with reference data (from the security master and SSI database). Every field is required by at least one downstream process: settlement, reconciliation, regulatory reporting, or P&amp;L accounting. Missing or incorrect fields cause downstream failures that can be expensive and time-consuming to reverse. The trade ticket is also the primary document in any trade dispute — if your trade ticket disagrees with the counterparty's, the exchange-generated execution report is the authoritative reference. Knowing what each field means and where it comes from is an essential operations competency.</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ExecID / Trade ID</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Unique identifiers — Exchange ID, broker ID, allocation ID. Linked for end-to-end audit trail.</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AvgPx vs LastPx</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AvgPx = cumulative average fill. LastPx = most recent partial fill price. Both are captured.</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Settlement Amount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Net settlement amount = (Qty × Price) + Charges. Exact figure for cash movement.</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Accrued Interest</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Bond trades only: Clean price + Accrued = Dirty price. Buyer pays seller for elapsed coupon.</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E9.4 · Trade Execution — Quality, Reporting, and Capture</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Transaction Cost Analysis (TCA)</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TCA measures execution quality by comparing actual fill prices against benchmarks: Arrival Price (price when the order was placed), VWAP (day's volume-weighted average), Close Price, and Previous Close. SEBI's best execution framework requires institutional brokers to provide TCA reports to clients. A fund that consistently experiences slippage above 0.3% on large orders may be generating significantly worse returns — even with good stock selection.</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FIX Protocol in Depth</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FIX messages are the lifeblood of electronic trading. Critical message types: D (NewOrderSingle) — order placement. G (OrderCancelReplaceRequest) — modify an order. F (OrderCancelRequest) — cancel an order. 8 (ExecutionReport) — exchange confirmation of execution or rejection. The ExecType field in the ExecutionReport tells you what happened: 0=New (acknowledged), 1=Partial Fill, 2=Fill, 4=Cancelled, 8=Rejected. Operations analysts must understand these message types to debug STP breaks.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T+1 Allocation Deadlines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requires institutional trades to be allocated to client accounts on the same day as execution (T+0). The allocation message must be submitted to the broker before the exchange's allocation cut-off (typically 4:30–5:00 PM for NSE). Late or missing allocations cause SEBI regulatory violations and create uncertainty about which portfolio holds the trade — creating reconciliation breaks that persist until resolved.</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Partial Fill Management</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Large institutional orders routinely fill in multiple partial executions — sometimes over 50+ fills for a very large block. The OMS must: track each partial fill with its ExecID, timestamp, quantity, and price; aggregate fills to the parent order's CumQty and AvgPx; generate a single allocation instruction based on the average fill price; submit a single confirmation to the counterparty. Managing partial fills cleanly is a core OMS capability — systems that handle partials poorly create operations breaks.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E9.4 · Trade Execution — Quality, Reporting, and Capture</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SEBI's best execution framework requires brokers to prove they executed client orders at the best available terms. However, 'best execution' is multidimensional — price, speed, likelihood of execution, and total transaction cost can all conflict. A client with a large order might get a better average price from a VWAP algorithm that takes 4 hours, but a worse outcome if the market moves sharply against them during execution. How should brokers operationalise best execution obligations in a way that is both legally defensible and genuinely in clients' interests?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move to electronic DMA execution has dramatically reduced the role of the human broker-dealer in execution. However, for complex or large block trades, experienced human dealers still add value — managing market impact, accessing dark pools, and negotiating off-exchange block crosses. As AI-powered execution algorithms become more sophisticated, what is the future role of the human dealer in securities operations? Should regulators treat AI execution the same as human dealers for best execution purposes?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E9.4 · Trade Execution — Quality, Reporting, and Capture</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FIX ExecutionReport and what information does it contain?</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FIX ExecutionReport (message type 8) is the electronic confirmation sent by the exchange to both brokers the instant a trade executes. It is the primary legal record that a trade occurred. Key fields: ExecID — a unique identifier for this specific execution report. OrderID — the exchange's reference for the original order. ClOrdID — the broker's own order reference (from the NewOrderSingle). ExecType — the most important field: 2 = Full Fill (order completely filled), 1 = Partial Fill, 4 = Cancelled, 8 = Rejected. LastPx — the price of the current fill (the most recent partial fill price). LastQty — the quantity filled in this specific report. CumQty — total quantity filled so far on this order (sum of all partials to date). LeavesQty — quantity still open and unfilled. AvgPx — the average fill price across all partials to date. TransactTime — the exact exchange timestamp of execution (to microseconds) — critical for regulatory reporting and audit. Symbol — the security identifier. Side — 1=Buy, 2=Sell. The ExecutionReport is what the trade capture system uses to build the trade ticket — it is the source of truth for all execution details.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Why does a bond trade settle at the 'dirty price' rather than the quoted 'clean price'?</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Bonds pay coupons at fixed intervals — for example, every 6 months. Between coupon payment dates, interest accrues daily. When a bond is sold between coupon dates, the seller has earned a portion of the next coupon (proportional to the days elapsed since the last coupon) but will not receive it — because the buyer will receive the full next coupon payment. To compensate the seller for the accrued interest they have earned but won't receive, the buyer pays the accrued interest in addition to the quoted price. Clean price: the quoted market price of the bond — excludes accrued interest. This is the price you see on Bloomberg or on the NSE bond trading screen. Dirty price (also called full price or invoice price): the actual settlement amount — clean price plus accrued interest. Formula: Accrued Interest = (Annual Coupon Rate × Face Value × Days Since Last Coupon) ÷ 365. Example: ₹1 crore face value of a 7.26% GS bond, 73 days since last coupon. Accrued Interest = (7.26% × 1,00,00,000 × 73) ÷ 365 = ₹1,45,200. If clean price = 98.50, dirty settlement = ₹98,50,000 + ₹1,45,200 = ₹99,95,200. Operations must ensure bond trade tickets always use the dirty price for the settlement amount — using the clean price would result in the seller being underpaid by the accrued interest amount.</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E9.5</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Trade Enrichment — Cash Figuration and SSI Defaults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5 of 10  |  Exchange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E9.5 · Trade Enrichment — Cash Figuration and SSI Defaults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Trade enrichment adds two critical layers to the captured trade ticket: cash figuration (calculating all monetary values including charges) and SSI defaulting (populating the exact settlement account details).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Cash figuration for equity trades: Gross Value = Qty × Price. Add STT (0.1% sell), SEBI fee (0.0001%), NSE charges (0.00335%), Stamp Duty (0.015% buy), GST (18% on brokerage + exchange charges). Result: exact net settlement amount.</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For bond trades, the settlement amount = Dirty Price = Clean Price + Accrued Interest (annual coupon × face value × elapsed days ÷ 365).</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SSI database: pre-agreed settlement instructions per counterparty per security type. Incorrect SSIs cause settlement failures — the most common operational cause of settlement fails.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E9.5 · Trade Enrichment — Cash Figuration and SSI Defaults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The operations team at a mid-sized broker receives 47 equity buy trades from the morning session. 44 flow through enrichment automatically (STP). 3 fail: Trade A has a missing SSI (new counterparty added yesterday but SSI not set up yet), Trade B has a cash figuration mismatch (new security with wrong lot size in reference data), Trade C is for a bond where the day count convention was entered as 30/360 instead of Actual/365.</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is the downstream risk if each of these three breaks is not resolved before the enrichment SLA of 12:00 PM? For Trade C, what is the financial impact of the wrong day count on a ₹50 crore face value bond with 45 days of accrued interest at 7.5% coupon? What systemic fix should the reference data team implement for each break type?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E9.5 · Trade Enrichment — Cash Figuration and SSI Defaults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Cash Figuration and SSI: The Two Pillars of Enrichment</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Enrichment is the bridge between trade execution and settlement instruction. Without it, the custodian has no way of knowing how much money to move or where to move it. Cash figuration calculates the exact rupee amounts — transforming a simple price and quantity into the precise settlement figure that will actually be paid or received. SSI defaulting tells settlement systems exactly which accounts to use — ensuring that ₹3.65 crore goes to HDFC Bank's NSDL DP account, not to an unrelated account at another bank. Both processes are automated for standard trades but require expert manual intervention when reference data is incomplete or incorrect. The quality of enrichment directly determines the quality of settlement.</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Gross Value</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Qty × Price. The base before charges. All other amounts derive from this.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Net Settlement</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Gross ± all charges and taxes (STT, SEBI fee, NSE charges, stamp duty, GST on brokerage).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SSI Components</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Counterparty LEI, security type, DP ID, demat account, custodian BIC, cash account.</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Bond Accrued Int.</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(Coupon × Face × Days since last coupon) ÷ 365. Added to clean price → dirty price.</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E9.5 · Trade Enrichment — Cash Figuration and SSI Defaults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Indian Equity Trade Charges in Full</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For a delivery equity trade in India (buy side): (1) Brokerage: negotiated, typically 0.01–0.05% for institutional. (2) Exchange transaction charges: NSE 0.00335% each side. (3) SEBI turnover fee: 0.0001%. (4) Stamp duty: 0.015% on buy side (Finance Act 2020). (5) GST: 18% on brokerage + exchange charges. (6) STT: 0.1% on sell side for delivery. Note: STT applies on sell side only for delivery trades. For intraday, STT = 0.025% each side. SEBI adjusts these rates periodically — reference data teams must monitor regulatory updates.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SSI Database Management</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A large Indian institutional broker may maintain 2,000–5,000 active SSI records across 500+ counterparties. SSIs are grouped by: counterparty, security type (equities, G-Secs, corporate bonds, FX), and settlement currency. New counterparty onboarding requires: legal documentation (ISDA agreement or SEBI-registered broker agreement), KYC, and SSI setup — typically a 5–10 business day process. SSI changes (counterparty changes custodian) must be processed immediately — with a defined cut-off for same-day vs next-day application.</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Day Count Conventions in Indian Markets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Day count conventions determine how accrued interest is calculated. Indian G-Secs use Actual/365: actual days elapsed ÷ 365. Corporate bonds typically use 30/360: assumes 30 days per month and 360 days per year. MIBOR-linked floating rate bonds use Actual/365 for the floating leg calculation. Using the wrong convention creates a systematic cash figuration error — overpaying or underpaying accrued interest on every bond trade. Operations must maintain the day count convention in the security master for every bond.</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Enrichment SLA and T+1 Impact</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Under T+1 settlement, the enrichment SLA is typically 12:00 PM (4.5 hours after market close). This gives downstream processes (validation, verification, confirmation, settlement instruction generation) the remaining afternoon window. Missing the enrichment SLA cascades: if enrichment completes at 2:00 PM instead of 12:00 PM, validation runs at 2:30 PM, confirmation by 4:30 PM — leaving only 30 minutes before the custodian's settlement instruction cut-off. High-value trades that miss the cut-off face a settlement fail on T+1.</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E9.5 · Trade Enrichment — Cash Figuration and SSI Defaults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Indian institutional broker processes 500 bond trades per day. The current reference data system requires manual entry of accrued interest calculations by an analyst — who cross-checks against Bloomberg. The error rate is 0.4% (2 errors per day). Each error costs on average ₹50,000 to resolve (penalty, rework, counterparty communication). A fully automated cash figuration system would cost ₹2 crore to implement and ₹50 lakh annually to maintain. Build the business case for automation, including break-even analysis and risk-adjusted return.</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SEBI's 2020 Finance Act introduction of stamp duty on equity buy-side delivery trades created significant operational challenges: brokers had to update charge schedules, train staff, and retool client billing systems — all within 30 days of the notification. Analyse the operational change management process a broker would need to implement when SEBI announces a new transaction charge. What governance process should exist to ensure all affected systems and staff are updated before the effective date?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E9.5 · Trade Enrichment — Cash Figuration and SSI Defaults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cash figuration and why is it important in trade enrichment?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Cash figuration is the process of calculating the precise monetary amounts that will be exchanged when a trade settles — transforming the execution's price and quantity into the exact net settlement amount including all fees, taxes, and accrued interest. Why it's important: (1) Settlement precision: the custodian's cash settlement instruction must contain the exact INR amount. An error of even ₹1,000 on a large trade can cause a settlement mismatch — the counterparty's books show a different settlement amount, and the trade cannot match. (2) Client billing accuracy: brokerage, STT, and other charges must be calculated correctly for client account statements and tax reporting. (3) P&amp;L attribution: the cost of acquiring a position must include all charges — using the gross price instead of the net-of-charges price understates the true cost of the trade. For an equity buy trade, cash figuration calculates: Gross Value = Qty × Price. Then adds: Brokerage (0.01–0.05%), Exchange transaction charges (NSE: 0.00335%), SEBI turnover fee (0.0001%), Stamp Duty (0.015% buy-side), and GST at 18% on brokerage and exchange charges. Result = Net Settlement Amount — the exact cash the buyer must pay on T+1. For a bond trade, cash figuration adds: Accrued Interest = (Annual Coupon × Face Value × Days Since Last Coupon) ÷ 365. The buyer pays Dirty Price = Clean Price + Accrued Interest.</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an SSI and what happens when an incorrect SSI is applied to a trade?</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An SSI — Standard Settlement Instruction — is a pre-agreed set of account details specifying exactly where securities should be delivered and where cash should be paid, for a specific counterparty and instrument type. An SSI record contains: Counterparty name and LEI, Security type (equities, G-Secs, corporate bonds), Settlement location (NSDL or CDSL for equities; CCIL for G-Secs), DP ID (Depository Participant ID), Beneficiary demat account number (for securities delivery), Custodian BIC code (for SWIFT-based international settlement), Cash account number (RTGS account for INR payment). What happens with an incorrect SSI: (1) Securities are delivered to the wrong demat account. The counterparty's custodian reports non-receipt. (2) The trade is marked as a settlement failure by NSCC. (3) SEBI penalty: 0.07% of fail value per day (e.g., ₹7,000/day on a ₹1 crore trade). (4) Recall process: the delivering party must contact the wrong recipient to return the securities — this can take 3–10 business days if the recipient is uncooperative. (5) Potential buy-in: if the failure persists, NSCC runs a buy-in auction — the defaulting party pays the auction price minus the original price, plus all auction costs. Prevention: SSI database must be current, with new counterparties fully set up before any trading begins. SSI changes (custodian bank changes) must be applied immediately with a defined effective date.</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E9.6</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Trade Validation and Verification</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6 of 10  |  Exchange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E9.6 · Trade Validation and Verification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Validation runs automated checks on enriched trades: completeness (all mandatory fields present), business rules (valid settlement dates, amounts, ISINs), risk limits (position and concentration limits), and sanctions screening.</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Verification is bilateral — both sides of the trade must confirm they have captured the same terms. Exchange trades verify via NSE/BSE end-of-day files. Institutional block trades verify via Omgeo CTM or SWIFT.</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Common mismatches: price (gross vs net-of-commission), quantity (partial fill miscounting), settlement date (holiday roll applied differently), ISIN (multi-listed security confusion).</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Four-eyes review: high-value trades (typically above ₹1 crore) require a second analyst to approve the settlement instruction before release. Full audit trail is mandatory — user ID, timestamp, and action type logged for every step.</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E9.6 · Trade Validation and Verification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It is 3:45 PM. The operations team has 14 trades remaining in the exception queue: 6 from validation (2 × sanctions check flags, 3 × concentration limit warnings, 1 × invalid settlement date), and 8 from verification (5 × price mismatches, 2 × quantity mismatches, 1 × counterparty claiming it has no record of the trade). The custodian's settlement instruction cut-off is 5:00 PM.</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With 1 hour 15 minutes remaining, prioritise the exception queue. Which exceptions are most urgent and why? What is the likely resolution path for the 1 counterparty claiming no knowledge of the trade? What happens to any trade not resolved by 5:00 PM? How should you report this situation to senior management?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E9.6 · Trade Validation and Verification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Validation and Verification: The TLC's Quality Gates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Validation and verification are the two quality gates that stand between an enriched trade and a settlement instruction. Validation is internal — checking your own trade record against your own rules. Verification is external — checking your trade record against the counterparty's record. Both must pass before a settlement instruction can be generated. The key insight: these controls exist because errors are inevitable. A properly designed validation and verification process catches errors before they become settlement failures — when the cost of fixing them is a phone call, not a buy-in auction and regulatory penalty. An operations team that measures its validation miss rate and verification mismatch rate can continuously improve its pre-settlement quality.</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Completeness Check</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Are all mandatory fields populated? Missing SSI → back to enrichment.</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Business Rule Check</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Valid settlement date? ISIN active on correct exchange? Amount within tolerance?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Bilateral Verification</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Both sides capture same ISIN, quantity, price, settlement date. Mismatch → resolve same day.</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Four-Eyes Control</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Trades above value threshold: second analyst approves before release. Audit trail mandatory.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E9.6 · Trade Validation and Verification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 Sanctions Screening Requirements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requires all SEBI-regulated entities to screen counterparties against UN Security Council Resolutions and the Prevention of Money Laundering Act (PMLA) lists before settlement. Sanctions screening triggers (name similarity, country of incorporation, ultimate beneficial owner) must be resolved by compliance before the trade can proceed. A 'false positive' — a legitimate counterparty with a name similar to a blocked entity — must be documented and cleared by the compliance team with a formal sign-off.</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Omgeo CTM for Institutional Verification</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Omgeo Central Trade Manager (CTM) is the industry platform for real-time institutional trade matching. How it works: after execution, both the executing broker and the custodian submit their trade details to CTM. CTM matches the records automatically. A matched trade generates an 'agreed' status — both parties can now proceed with settlement instructions. An unmatched trade generates an exception for bilateral resolution. CTM is used by most large FPIs and institutional asset managers trading Indian equities through domestic and foreign brokers.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The Cost of Unmatched Trades at Settlement</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An unmatched trade at T+1 settlement creates two risks: (1) Settlement fail — if settlement proceeds without both parties' verified details, one party's instruction may not align with the other's, causing a failed delivery. (2) Disputed trade — if settlement does not occur, both parties may claim the other owes them compensation, creating a legal dispute. Unmatched trades at end-of-day are the most urgent operational escalation — they require a dedicated team to resolve overnight before T+1 settlement opens.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Value Threshold Calibration</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Setting four-eyes review thresholds too low creates bottlenecks — analysts spend all day reviewing trades that have zero errors. Setting thresholds too high exposes the firm to unchecked large-value errors. Best practice: analyse historical error data by trade value. Find the value above which error rates are higher (often due to manual complex trades). Set the threshold there. Review thresholds annually. Adjust for market condition changes — ₹1 crore was a high-value threshold 10 years ago; today it's routine for many institutional trades.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E9.6 · Trade Validation and Verification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Automated validation using rules engines catches well-defined errors. But novel errors — caused by new market structures, new instruments, or unusual market conditions — often fall outside the existing rule set. For example, when India introduced T+1 settlement, some validation rules still checked for T+2 settlement dates and erroneously failed legitimate trades. How should an operations team design a validation system that is both rigorous and adaptive to changes in market structure?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four-eyes principle is a fundamental operational risk control, but it creates friction in high-speed operations. In some firms, the 'second eyes' reviewer approves hundreds of trades per hour — making meaningful review impossible in practice. What does genuine four-eyes review look like? How can firms implement it in a way that provides real control value (not just checkbox compliance) without creating unacceptable bottlenecks?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E9.6 · Trade Validation and Verification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trade validation and trade verification?</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Trade validation and trade verification are two distinct quality controls in the TLC, often confused but serving very different purposes. Trade Validation: an internal, unilateral process. Your systems check your own trade record against your own rules. What validation checks: (1) Completeness — are all mandatory fields populated? (2) Business rules — is the settlement date a valid business day? Is the ISIN active on the correct exchange? Is the cash amount within expected tolerance? (3) Risk limits — does this trade breach a position limit, concentration limit, or counterparty exposure limit? (4) Sanctions — is the counterparty on any blocked entity list? If validation fails, the trade goes to an exception queue for the operations team to investigate and correct. Trade Verification: a bilateral, external process. Your trade record is compared against the counterparty's trade record to confirm both parties captured the same trade. How verification works for exchange trades: NSE publishes an authoritative end-of-day trade file — both brokers reconcile against this file. Any difference from the exchange's authoritative record is a verification break. For institutional block trades: platforms like Omgeo CTM match both parties' records in real time. Key distinction: Validation can pass even when your trade record is wrong (wrong price captured but within tolerance). Verification catches this because the counterparty's system shows a different price. Both controls are necessary — they catch different categories of errors.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most common causes of verification mismatches and how are they resolved?</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five most common verification mismatch types, in order of frequency: (1) Price mismatch: the most common. Usually caused by one party recording the gross trade price and the other recording the net-of-commission price. Resolution: always use gross price for verification matching — commissions are a bilateral arrangement, not part of the executed trade price. One party amends their record. (2) Quantity mismatch: often caused by a partial fill from a second account not being consolidated. One party shows 1,000 shares, the other shows 900. Resolution: check allocation records — was there a second partial fill to a different account? Consolidate and resubmit. (3) Settlement date mismatch: one party rolled a holiday differently. Resolution: check the authoritative holiday calendar (NSE's published calendar) — both parties apply the same roll. (4) ISIN mismatch: rare — usually with multi-listed securities or when two share classes exist. For example, TCS shares (regular) vs TCS ADR — different ISINs. Resolution: verify the exchange and market on which the trade was executed. (5) Trade not found: the counterparty claims they have no record of the trade. Resolution: this is the most serious mismatch — it can indicate a booking error by one party, or in rare cases, a fraudulent trade. First step: compare exchange execution reports — the exchange's authoritative record shows whether the trade exists. If the exchange shows the trade, the counterparty must locate their record. Timeline: verification mismatches must be resolved the same day as trade date. Unresolved mismatches at T+0 end-of-day create settlement risk for T+1.</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E9.7</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Trade Confirmation and Transaction Reporting</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7 of 10  |  Exchange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E9.7 · Trade Confirmation and Transaction Reporting</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Trade confirmation is the formal bilateral agreement that a trade occurred on specific terms. Exchange trades confirm automatically (exchange is the matching party). OTC trades require active confirmation via SWIFT (MT300/MT518), Omgeo CTM, or ISDA long-form letters.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SEBI requires same-day confirmation for exchange trades and timely confirmation for OTC derivatives (T+1 for plain vanilla IRS). Unconfirmed trades are an operational risk indicator — aged confirms are reported to SEBI.</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Transaction reporting: SEBI requires OTC derivative trades to be reported to CCIL's Trade Repository within 30 minutes. Key fields: UTI (Unique Trade Identifier), LEI codes, product details, notional, cleared/uncleared status.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Cross-border reporting: EMIR (EU) requires both counterparties to report. Dodd-Frank (US) requires reporting of any trade with US nexus. The UTI must be identical across all jurisdiction reports.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E9.7 · Trade Confirmation and Transaction Reporting</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An Indian bank (HDFC Bank) enters into a ₹500 crore 3-year IRS (pay fixed 7.40%, receive 3M MIBOR) with Deutsche Bank at 10:23 AM. By 10:55 AM, the operations team discovers the CCIL TR submission failed — the Deutsche Bank LEI on file has expired (LEI last renewed 14 months ago, expires annually). It is now 10:56 AM — 3 minutes past the 30-minute reporting deadline.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is the SEBI regulatory consequence of a late TR report? What must the operations team do immediately to obtain Deutsche Bank's current LEI? Who is responsible for maintaining the LEI renewal calendar — HDFC Bank or Deutsche Bank? What systemic control should be implemented to prevent LEI expiry from causing future TR failures?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E9.7 · Trade Confirmation and Transaction Reporting</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Confirmation and Transaction Reporting: The Regulatory Layer</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Confirmation and transaction reporting are the two stages that extend the TLC beyond bilateral operations into regulatory oversight. Confirmation gives both counterparties legal certainty — transforming an oral or electronic agreement into a documented contract. Transaction reporting gives regulators visibility — enabling SEBI, ESMA, and CFTC to monitor market activity, detect manipulation, and measure systemic risk. Both are mandatory and subject to strict timelines and data quality standards. The UTI — Unique Trade Identifier — is the global link that connects all regulatory reports for the same trade across different jurisdictions. Getting the UTI right is a cross-border coordination requirement between both counterparties' operations teams.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SWIFT MT Confirms</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MT300 (FX), MT518 (equities), MT320 (deposits). Electronic confirmation for financial instruments.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SEBI TR Deadline</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30 minutes from execution for OTC derivatives. Fully automated STP required — manual is too slow.</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UTI</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Unique Trade Identifier — globally unique per trade. Must match across all jurisdiction TR reports.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LEI</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Legal Entity Identifier — 20 characters. Renewed annually. Expired LEI → TR report rejected.</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E9.7 · Trade Confirmation and Transaction Reporting</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ISDA Long-Form vs Short-Form Confirmation</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For plain vanilla IRS between frequent trading partners, short-form confirmations are used — a simple document confirming the key terms (parties, notional, rate, dates) and incorporating by reference the ISDA Master Agreement. For complex structured products — exotic options, bespoke credit derivatives — a long-form confirmation details every custom term explicitly. Long-form confirmations can run to 30+ pages and may take 10–20 business days to negotiate and sign. SEBI's confirmation guidelines require firms to have a process for confirming complex products, even if not in standard electronic format.</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CPMI-IOSCO Data Standards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global standards for transaction reporting fields are set by CPMI (Committee on Payments and Market Infrastructures) and IOSCO. India's SEBI has adopted these standards for CCIL TR reporting. Key standards: UTI generation rules (who creates the UTI — defined by ISDA's UTI generation hierarchy based on the role of each counterparty), LEI format (20 characters, ISO 17442 standard), product identifiers (ISIN for listed, CFI code for OTC). Firms with international trading must align their reporting infrastructure with these global standards.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Delegated Reporting under EMIR</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EMIR's dual-sided reporting requirement can be delegated: a European bank can report on behalf of its Indian counterparty (delegated reporting arrangement). The Indian counterparty is still legally responsible for the accuracy of the report, even if the EU bank files it. Delegation arrangements must be formally documented. In practice, many Indian banks with frequent EU counterparties have EMIR delegated reporting arrangements — reducing the burden on their own operations teams.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Monitoring Unconfirmed Trade Ageing</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Operations teams track confirmation ageing as a key risk metric. Trades 0–1 days unconfirmed: normal. Trades 2–3 days: follow-up chase. Trades 4–5 days: senior analyst engagement. Trades 6+ days: management escalation and counterparty relationship manager involvement. SEBI's SREP (Supervisory Review and Evaluation Process) inspectors specifically ask for confirmation ageing data during reviews — firms with high aged-confirm volumes face increased supervisory scrutiny.</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E9.7 · Trade Confirmation and Transaction Reporting</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Global trade repositories were established after the 2008 financial crisis to give regulators visibility into the OTC derivatives market — the opaque bilateral market that contributed to the crisis's severity. A decade later, regulators report that TR data quality is poor — UTI mismatches between counterparties' reports mean the same trade appears as two separate trades, making it impossible to aggregate net risk. Who is responsible for the quality of TR data — the regulator who designed the rules, the firms who submit the reports, or the IT vendors who build the reporting systems? What structural changes would meaningfully improve TR data quality?</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30-minute SEBI reporting deadline for OTC derivatives is achievable for standard plain vanilla trades with automated STP. But for complex structured OTC products — where terms are negotiated bilaterally for 30 minutes and system capture itself takes 15 minutes — the 30-minute window is nearly impossible to meet. Should SEBI differentiate reporting timelines by product complexity? Or does a uniform 30-minute rule create the right incentive to automate and standardise even complex trade capture?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E9.7 · Trade Confirmation and Transaction Reporting</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UTI and why does it need to match across different regulatory reports?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UTI — Unique Trade Identifier — is a globally unique reference code that identifies a specific OTC derivative trade in regulatory transaction reports. It is required in all jurisdiction TR reports for the same trade — SEBI/CCIL, EMIR, Dodd-Frank — so regulators can identify that different reports refer to the same underlying transaction. Format: the UTI follows ISDA's UTI generation standards: it is typically 32–52 characters, comprising a namespace prefix (identifying the generating entity) and a unique trade reference. Who generates it: ISDA's UTI hierarchy specifies who creates the UTI based on the role of each counterparty in the trade. For example, the CCP generates the UTI for centrally cleared trades. For bilateral trades, the dealer (typically the fixed-rate payer for IRS) generates and communicates it to the other counterparty before both report. Why matching matters: if counterparty A and counterparty B each report the same trade with different UTIs, the trade regulator's system shows as two separate trades rather than one — making it impossible to net positions or identify risk concentrations. DTCC's reconciliation studies have found UTI mismatches in 10–15% of cross-border OTC reports — a significant data quality problem that regulators are actively trying to address through CPMI-IOSCO harmonisation standards.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EMIR and how does it differ from SEBI's transaction reporting requirements?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EMIR — European Market Infrastructure Regulation — is the EU regulation that governs clearing, risk mitigation, and reporting of OTC derivatives in the European Union. It was introduced in 2012 in response to the 2008 financial crisis. Key differences from SEBI TR: Scope: SEBI requires Indian entities to report OTC derivatives with Indian counterparties to CCIL TR. EMIR requires any OTC derivative trade to which an EU entity is a party to be reported — regardless of where the counterparty is. So an Indian bank trading an interest rate swap with a German bank must be reported to an EU Trade Repository under EMIR, even if India is the primary booking jurisdiction. Dual-sided: SEBI's domestic OTC reporting is primarily one-sided (the Indian reporting entity). EMIR is dual-sided — both the EU entity AND the non-EU counterparty must report (or the EU entity can report on behalf of both via delegation). Trade Repositories: SEBI reports go to CCIL TR. EMIR reports go to ESMA-registered TRs: DTCC, ICE TR, Regis-TR, Bloomberg TR. Timeline: SEBI requires 30-minute reporting. EMIR requires T+1 reporting for most instruments. Reporting fields: both use CPMI-IOSCO data standards for core fields (UTI, LEI, product type, notional) but have additional jurisdiction-specific fields. For an Indian bank with European counterparties: it must maintain dual reporting — CCIL TR (SEBI) AND an EU TR (EMIR). The UTI must be identical in both reports for the same trade.</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E9.8</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Trade Settlement — DVP, T+1, and Settlement Mechanics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8 of 10  |  Exchange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E9.8 · Trade Settlement — DVP, T+1, and Settlement Mechanics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DVP (Delivery versus Payment) eliminates principal risk by linking securities and cash — both move simultaneously or neither moves. India uses BIS DVP Model 3: multilateral net settlement.</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India's T+1 timeline: trading closes 3:30 PM → settlement instructions to custodian by 7:00 PM → T+1 securities transfer at NSDL/CDSL by 11:00 AM → cash settlement via RBI/RTGS by 2:00 PM.</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Settlement chain: Broker → Custodian (SWIFT MT540/542) → NSCC (nets obligations) → NSDL/CDSL (securities) + RBI/Fedwire (cash). Post-settlement, NSCC releases margin held against settled positions.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Settlement failures: SEBI penalty 0.07% per day. If fail persists 3+ business days, NSCC triggers a buy-in auction — defaulting party pays auction price minus original price plus all costs.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E9.8 · Trade Settlement — DVP, T+1, and Settlement Mechanics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At 2:30 PM on T+1, NSCC notifies XYZ Broker that a ₹15 crore equity delivery to ABC Custodian has failed — the securities were not in XYZ's NSDL account at the time of processing. Investigation reveals that XYZ's trader sold ₹15 crore of Infosys shares they didn't own (a short sale). No securities lending arrangement is in place. The NSCC auction for the failed delivery will be triggered tomorrow morning if the fail is not cured by 5:00 PM today.</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are XYZ Broker's options in the next 2.5 hours to cure the settlement fail? What is the financial exposure if the NSCC auction is triggered and Infosys shares trade 1% higher at auction? What SEBI regulation did the short sale likely violate? What operational control should XYZ implement to prevent uncovered short sales in future?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E9.8 · Trade Settlement — DVP, T+1, and Settlement Mechanics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DVP Settlement: How Trades Finally Complete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Settlement is the moment of finality — when a trade transitions from a contractual obligation to an actual exchange of assets. DVP's guarantee: if the seller doesn't deliver the securities, the buyer doesn't have to pay. If the buyer doesn't pay, the seller doesn't have to deliver. This bilateral guarantee, enforced through NSCC and the depositories, is the foundation of market confidence. DVP Model 3 (multilateral netting) goes further: instead of settling each trade individually, all buy and sell obligations in the same security are netted — Broker A's net delivery or receipt for the day is a single instruction, dramatically reducing the volume and risk of settlement. Understanding DVP mechanics — and what goes wrong when they fail — is central to an operations career.</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DVP Definition</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Securities delivered if and only if payment is made simultaneously. Eliminates principal risk.</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Model 3 Netting</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All trades in same security netted to one net obligation. Reduces settlement volumes dramatically.</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Settlement Chain</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Custodian → NSCC (net) → NSDL/CDSL (securities) + RBI RTGS (cash). All DVP.</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Buy-In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NSCC purchases securities at market for defaulting seller. Defaulter pays difference + costs.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E9.8 · Trade Settlement — DVP, T+1, and Settlement Mechanics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India's T+1 Journey — Global First</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 moved to T+1 for equities in phases: February 2022 (bottom 100 market-cap stocks), then progressively expanding until January 2023 (all stocks). India was the world's first major market to implement T+1. Benefits: 50% reduction in daily settlement risk exposure (counterparty default risk between trade and settlement). Lower margin requirements from NSCC (less time to cover potential defaults). Faster capital recycling for investors. Challenges: FPIs needed to pre-fund INR accounts and restructure FX hedging workflows originally designed for T+2.</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Securities Lending as a Settlement Tool</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Securities lending bridges gaps between trade date and settlement date. If an investor buys Reliance on Monday (T+1 settlement Tuesday) and sells Tuesday (T+1 settlement Wednesday), their Wednesday delivery depends on receiving Monday's purchase first. If Monday's delivery fails, Tuesday's delivery also fails — a cascade. Securities lending allows the selling firm to borrow Reliance shares for one day, deliver on time, and return the borrowed shares when the original purchase settles. SEBI regulates securities lending through SLB (Securities Lending and Borrowing) platform on NSE.</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NSCC Settlement Guarantee Fund</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NSCC maintains a Settlement Guarantee Fund (SGF) funded by member contributions and NSCC's own capital. The SGF covers settlement obligations of defaulting members — ensuring non-defaulting counterparties are not affected. Member contributions to the SGF are calculated based on their trading volumes and positions. The SGF is a key reason why exchange settlement is considered virtually risk-free for non-defaulting members — even in a major broker default, NSCC's SGF ensures settlement completes.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SWIFT MT Messages for Settlement</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Settlement instructions are transmitted via SWIFT. Key message types: MT540 — Receive Free (receive securities, no simultaneous cash payment — used for margin deliveries). MT541 — Receive Against Payment (receive securities vs cash — standard DVP buy instruction). MT542 — Deliver Free (deliver securities, no simultaneous cash). MT543 — Deliver Against Payment (deliver securities vs cash — standard DVP sell instruction). MT545/547 — confirmation receipts from custodian confirming settlement completion. Operations teams must know these message types to interpret custodian status reports.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E9.8 · Trade Settlement — DVP, T+1, and Settlement Mechanics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move to T+1 was praised for reducing risk and improving capital efficiency. However, some Foreign Portfolio Investors (FPIs) argue that T+1 creates operational difficulties — they need to pre-fund their INR accounts before knowing whether their orders will be filled, which is a significant cash drag. The Global Custodian Association argued for an optional T+1/T+2 regime where FPIs could choose their settlement cycle. SEBI rejected this. Evaluate the trade-offs: from a systemic risk perspective, is a mandatory uniform T+1 cycle better than an optional system? What are the operational implications of mixed settlement cycles for brokers and custodians?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Settlement failures are often framed as 'operational failures' — errors by operations teams. But in many cases, settlement fails originate in Front Office trading decisions: naked short selling, over-trading against available securities, or accepting orders from clients who don't have the securities to deliver. Should settlement fail penalties be applied only to operations teams (who execute the settlement), or should the trading desk that created the unsettleable position bear more of the cost? Design a penalty allocation framework that creates the right behavioural incentives across the firm.</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E9.8 · Trade Settlement — DVP, T+1, and Settlement Mechanics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Delivery versus Payment (DVP) and why is it the foundation of exchange settlement?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Delivery versus Payment (DVP) is the settlement mechanism that links the delivery of securities to the receipt of payment — ensuring both legs of a trade complete simultaneously, or neither completes. How it works: under DVP, the depository (NSDL/CDSL) and the payment system (RBI RTGS/NSCC settlement) are coordinated so that: (1) Securities are only debited from the seller's demat account at the same moment cash is debited from the buyer's bank account, and (2) Securities are only credited to the buyer's demat account at the same moment cash is credited to the seller's bank account. Why DVP eliminates principal risk: without DVP, a seller could deliver shares first and then wait for payment — if the buyer defaults before paying, the seller has lost the securities and received nothing (principal loss). Conversely, a buyer could pay first and then wait for delivery — if the seller defaults, the buyer has paid cash but received no shares. DVP makes this impossible. The BIS (Bank for International Settlements) defines three DVP models: Model 1 — gross (trade-by-trade) settlement of both securities and cash simultaneously. Model 2 — gross securities settlement, net cash settlement. Model 3 — net settlement of both securities and cash. India uses DVP Model 3 — NSCC nets all trades in each security across all members for the day. This multilateral netting dramatically reduces the volume and value of securities that must actually be physically transferred — often by 80–90% versus gross settlement.</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Walk me through India's T+1 equity settlement process step by step.</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India's T+1 equity settlement process: Trade Day (T+0): Trading occurs on NSE between 9:15 AM and 3:30 PM. All trades execute and generate FIX execution reports. By 5:00–7:00 PM: operations teams complete enrichment, validation, verification, and confirmation. Settlement instructions (SWIFT MT541/543) are sent to custodian banks. NSCC calculates net obligations for all clearing members — if Broker A bought 5,000 TCS and sold 2,000 TCS today, their net settlement obligation is to receive 3,000 TCS. Settlement Day (T+1): From 9:00 AM: NSDL and CDSL begin processing demat account transfers. Securities are debited from sellers' DP accounts and credited to buyers' DP accounts electronically. By 11:00 AM: Securities transfers complete. By 2:00 PM: Cash settlement. NSCC notifies each member's designated settlement bank of their net cash obligation. Settlement banks debit/credit accounts via the RBI-administered settlement system. NSCC confirms that DVP settlement is complete — securities and cash have moved simultaneously. Post-settlement: NSCC releases initial margin held against now-settled positions back to clearing members. Custodians send SWIFT MT545/547 confirmations back to brokers. Operations teams mark trades as settled in their systems. Portfolio managers see updated positions for next-day trading. If settlement fails: 0.07% SEBI penalty per day. After 3 business days of failing: NSCC triggers auction process. Settlement is final and irrevocable once completed — there is no reversal mechanism.</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E9.9</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Trade Reconciliation — Types, Process, and Break Resolution</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9 of 10  |  Exchange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E9.9 · Trade Reconciliation — Types, Process, and Break Resolution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Four reconciliation types: Trade (exchange file vs internal capture), Position (internal holding vs custodian demat statement), Cash (internal ledger vs bank statement), Nostro/Depot (settlement accounts at NSDL/CDSL and correspondent banks).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Daily workflow: download external data → auto-match → identify breaks → classify (timing vs genuine vs system error) → assign to analysts → resolve before cut-off.</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Break ageing determines escalation: same-day (timing — green), 1–3 days (genuine — amber), 4+ days (escalated to management and compliance — red).</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SEBI requires 5-year retention of all trade, settlement, and reconciliation records. Reconciliation KPIs (break rate, aged break value, resolution time) feed the operational risk framework.</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E9.9 · Trade Reconciliation — Types, Process, and Break Resolution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During morning reconciliation, the operations team finds a position break: internal books show 75,000 shares of Bajaj Finance, but NSDL custodian statement shows 74,200 shares. The 800-share shortfall has now been open for 4 business days. Prior investigation noted 'checking with custodian' but no resolution. It is now flagged as a red break. A SEBI inspection starts in 2 days.</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is the operational and regulatory risk of a 4-day-old position break going into a SEBI inspection? What specific investigation steps should have been completed in the first 3 days? What documentation must the operations team prepare to show SEBI inspectors that the break is being managed? What could explain an 800-share shortfall that has persisted for 4 days?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E9.9 · Trade Reconciliation — Types, Process, and Break Resolution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Reconciliation: The TLC's Final Control</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Reconciliation is the last line of defence in the TLC — the process that catches every error that survived all preceding controls. It answers the fundamental question: 'Do our records accurately reflect reality?' If internal position records don't match custodian records, one is wrong. If internal cash records don't match bank statements, money is either missing or miscounted. Reconciliation breaks are not just operational inconveniences — they are signals. A break that persists for 4 days without resolution is a serious warning sign: it could be a system error, an unsettled trade, a failed corporate action, or — in extreme cases — fraud. The quality of reconciliation controls is a direct measure of the operational integrity of the firm.</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Trade Recon</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Exchange end-of-day file vs internal capture. Runs T+0 evening. Identifies missing or extra trades.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Position Recon</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Internal holding vs NSDL/CDSL custodian statement. Runs T+1 morning. Identifies holding breaks.</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Cash Recon</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Internal cash ledger vs bank statement. Daily. Identifies cash discrepancies, missing credits.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Break Ageing</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Green (same-day), Amber (1–3 days), Red (4+ days). Red breaks trigger management escalation.</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E9.9 · Trade Reconciliation — Types, Process, and Break Resolution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SmartStream TLM: Industry-Leading Recon Platform</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SmartStream Transaction Lifecycle Management (TLM) is used by major Indian custodians and brokers for automated reconciliation. Key capabilities: multi-asset, multi-custodian reconciliation with configurable matching rules; AI-assisted break classification (learns from historical resolution patterns); automated exception routing (assigns breaks to the right analyst team based on break type); audit trail and regulatory reporting exports for SEBI. SmartStream processes millions of reconciliation items daily across global financial institutions — used by NSDL itself for its own internal reconciliation.</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The Relationship Between Reconciliation and Fraud Detection</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Reconciliation is the primary operational control for detecting unauthorised trading and fraud. The Barings Bank case (1995): the fraud was ultimately exposed not by risk controls but by reconciliation — a subsidiary in Singapore had position records that didn't match the London books. Today, SEBI requires daily reconciliation specifically as a fraud prevention control. Real-time reconciliation (vs end-of-day) is the next frontier — some firms now reconcile positions every 30 minutes, dramatically reducing the window for undetected fraud.</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Corporate Actions and Reconciliation Breaks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Corporate actions (bonus shares, rights issues, dividends, splits) are the most common source of persistent reconciliation breaks. A 2-for-1 bonus share doubles every holding overnight. If the reference data team updates the position database the day after the record date, but the custodian credits the bonus shares the same day, a 1-day break equal to the entire bonus entitlement appears. Operations teams must maintain a corporate action calendar and pre-configure reconciliation systems to expect these changes on the correct date.</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Nostro vs Depot Reconciliation</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Nostro account: a bank's cash account held at a correspondent bank in a foreign currency (e.g., HDFC Bank's USD account at Citibank New York). Depot account: the securities account held at a depository on behalf of clients (e.g., XYZ Custodian's NSDL account). Nostro reconciliation compares the bank's internal ledger for its nostro account against the statement received from the correspondent bank. Depot reconciliation compares the custodian's internal position records against NSDL/CDSL statements. Both run daily. Unreconciled nostro breaks can indicate fraudulent wire transfers; unreconciled depot breaks can indicate missing securities or failed deliveries.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E9.9 · Trade Reconciliation — Types, Process, and Break Resolution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End-of-day reconciliation has been the industry standard for decades — the operations team downloads custodian statements overnight and reconciles positions the next morning. With T+1 settlement, this means position breaks might not be discovered until 18 hours after a trade was executed. Some leading firms are now implementing intraday reconciliation — reconciling positions every hour during the trading day. What are the operational, technological, and cost implications of moving to intraday reconciliation? Would the benefits justify the investment for a mid-sized Indian broker processing 2,000 trades daily?</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Head of Operations is reviewing the department's KPIs. The STP rate is 97.8% (above target), the same-day reconciliation break resolution rate is 94% (above target), but the settlement fail rate has increased from 0.15% to 0.45% over the past quarter. The Head notes that the KPIs look good but something is clearly wrong operationally. What could explain this disconnect between looking metrics (STP and recon break resolution) and outcome metric (settlement fail rate)? What additional metrics should be tracked to diagnose the root cause?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E9.9 · Trade Reconciliation — Types, Process, and Break Resolution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four main types of reconciliation in securities operations and why is each necessary?</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four main reconciliation types: (1) Trade Reconciliation: compares the internal trade management system's record of today's trades against the exchange's end-of-day trade file. What it catches: trades that were executed on the exchange but not captured internally (STP breaks). Trades that appear in internal records but don't exist on the exchange (data entry errors, fictitious trades). Why necessary: without trade recon, STP breaks go undetected and trades are never enriched, confirmed, or settled. (2) Position Reconciliation: compares internal position records (how many shares/bonds does each portfolio hold, according to our books) against the custodian's NSDL or CDSL statement. What it catches: unsettled trades not yet reflected in custodian records (timing breaks). Failed settlements that weren't resolved (genuine breaks). Reference data errors affecting position calculations. Why necessary: portfolio managers make next-day trading decisions based on their positions. Inaccurate positions lead to incorrect trading. (3) Cash Reconciliation: compares internal cash ledger against the bank statement (current account or RTGS settlement account). What it catches: missing incoming payments (counterparty paid but bank statement doesn't show it). Duplicate cash movements. Unrecorded charges or fees. Why necessary: cash is the most liquid asset — cash discrepancies can indicate fraud or banking errors. (4) Nostro/Depot Reconciliation: reconciles settlement accounts. Depot account (NSDL/CDSL participant account) vs depository statement. Nostro account (correspondent bank cash account) vs correspondent bank statement. What it catches: settlement failures not reflected in settlement accounts, counterparty payment failures, unauthorised withdrawals. Why necessary: settlement accounts are the actual asset pools — discrepancies here represent real missing assets, not just record errors.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reconciliation detect and prevent fraud in securities operations?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Reconciliation is the primary operational control for fraud detection — it makes it impossible to hide trading activity indefinitely by exposing gaps between what systems show and what actually happened in markets. How reconciliation detects fraud: (1) Unauthorised trading: if a trader executes trades through a broker that bypasses the official OMS, those trades appear in the exchange's trade file but not in the internal system. Trade reconciliation catches this gap — the exchange shows a trade that internal records don't have. (2) Fictitious trades: a trader books a trade in the internal system that never actually happened on the exchange. Trade reconciliation exposes this — the internal system shows a trade that the exchange's file doesn't confirm. (3) Hidden losses: a trader moves a losing position to a fictitious account or off-books. Position reconciliation exposes this — the custodian's NSDL statement shows a holding that doesn't appear in internal books (or vice versa). This was the key control that Barings Bank's Singapore subsidiary bypassed — they had fictitious positions in account 88888 that were never reconciled against external statements. (4) Cash theft: an employee initiates an unauthorised bank transfer. Cash reconciliation exposes the debit in the bank statement that has no corresponding internal ledger entry. How to make reconciliation fraud-resistant: (1) Segregation of duties — the person executing trades should not perform reconciliation. (2) Independent access — reconciliation team must pull external data directly (custodian/exchange statements) rather than receiving it through an intermediary who could manipulate it. (3) Real-time or same-day — the longer the reconciliation cycle, the longer fraud can persist undetected. (4) Escalation discipline — breaks that persist beyond defined thresholds must genuinely escalate, not just be marked as 'in progress' indefinitely.</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E9.10</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US Market TLC — NYSE, NASDAQ, NSCC, and DTCC</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10 of 10  |  Exchange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E9.10 · US Market TLC — NYSE, NASDAQ, NSCC, and DTCC</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US market structure: NYSE (largest by market cap, hybrid floor/electronic), NASDAQ (fully electronic, market-maker model), both feeding into NSCC (US) / DTCC for clearing and DTC for custody.</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DTCC group: NSCC (equity clearing, CCP), DTC (central securities depository — equivalent to India's NSDL/CDSL), FICC (fixed income clearing). DTC holds $70 trillion+ in securities.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US institutional settlement: DTC Institutional Delivery (ID) system for allocation and affirmation. Affirmation deadline: 9:00 PM Eastern on trade day (for T+1 settlement). Cash settled via Fedwire.</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Cross-border settlement: FPIs buying Indian equities use a global custodian (e.g., BNY Mellon) → sub-custodian in India (e.g., Deutsche Bank India) → SEBI-registered custodian → NSDL demat account. FEMA compliance required for FPI inflows.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E9.10 · US Market TLC — NYSE, NASDAQ, NSCC, and DTCC</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US pension fund (Morgan Stanley Investment Management) wants to invest $200 million in Indian equities. They have a custodial arrangement with BNY Mellon (global custodian, New York). BNY Mellon appoints Deutsche Bank India (sub-custodian). The fund needs to buy ₹1,650 crore of shares across 15 NSE-listed stocks over 3 trading days. It is now T-5 (5 business days before the first trade).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operational setup must Deutsche Bank India complete before the first trade can be executed and settled? What FX arrangement must the pension fund make to convert $200M to INR? What FEMA reporting obligations arise from this FPI investment? On what day will the first trades settle, and what is the cut-off for sending settlement instructions to Deutsche Bank India?</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E9.10 · US Market TLC — NYSE, NASDAQ, NSCC, and DTCC</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US and Indian TLC: Same Architecture, Different Participants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Comparing the US and Indian exchange TLC reveals that the fundamental architecture is universal — both markets use the same structural logic: exchange matching → CCP clearing → depository settlement → custodian chain. The participants, technology platforms, and regulatory frameworks differ, but the TLC logic is identical. This universality is why operations professionals who master one market can transition to the other — the conceptual framework transfers. What changes are the specific SLAs (T+1 vs T+2), the number of depositories (India's two vs the US's one), and the regulatory reporting obligations. Understanding these similarities and differences is essential for any operations professional working in a firm with cross-border flows.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India vs US: Exchange</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NSE/BSE (India) — NYSE/NASDAQ (US). Both fully electronic matching. NSE uses NEAT/Millennium.</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India vs US: CCP</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NSCC India (NSE subsidiary) — NSCC US (DTCC subsidiary). Both use DVP Model 3 netting.</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India vs US: Depository</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NSDL + CDSL (two depositories, India) — DTC (single depository, US). All electronic demat.</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India vs US: Settlement</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T+1 (India, from 2023) — T+1 (US, from May 2024). Both Fedwire/RTGS for cash settlement.</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E9.10 · US Market TLC — NYSE, NASDAQ, NSCC, and DTCC</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DTCC's Role in the 2008 Financial Crisis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During the 2008 crisis, DTCC's role became critical: Lehman Brothers' default created massive settlement uncertainty. Because NSCC was the CCP for all Lehman's equity trades, NSCC's SGF absorbed the settlement risk for Lehman's open positions — preventing a cascade of settlement failures that could have frozen the equity market. DTCC processed $500 trillion in securities transactions in 2008 without a single settlement failure attributable to the crisis — a testament to the resilience of the CCP model. This episode is used by regulators globally to justify mandatory CCP clearing for systemically important products.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US Move to T+1: What Changed Operationally</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SEC mandated T+1 settlement for US equities from May 28, 2024. Operational changes required: (1) Affirmation deadline moved from 11:30 AM T+1 to 9:00 PM T+0 — allocation and affirmation must complete same-day. (2) FX settlement for foreign investors: US brokers give FX desks until T+0 evening to convert foreign currency to USD for cash settlement. (3) Securities lending: T+1 settlement requires same-day return of borrowed securities — lending arrangements had to be restructured. India helped the US by demonstrating T+1 is operationally achievable — SEBI shared operational learnings with the SEC during the US implementation planning process.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FPI Operational Setup in India</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A new FPI entering the Indian market requires: SEBI FPI registration (Category I, II, or III based on fund type). A SEBI-registered custodian in India (e.g., Deutsche Bank India, Citibank India, HSBC India). An NSDL demat account (opened through the custodian as DP). A designated bank account for INR settlement (opened at the custodian's banking entity). A SEBI-compliant FX arrangement — INR must be funded before equity purchases (no credit extended for FPI equity trades). FEMA reporting: all FPI inflows must be reported to RBI within 24 hours using the NSDL FPI registration module. Setup time: 15–30 business days for a new FPI, assuming all documentation is in order.</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Global Custodian vs Sub-Custodian Structure</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Large global asset managers use a global custodian (e.g., BNY Mellon, State Street, Northern Trust) to manage their assets in all markets through a single relationship. The global custodian appoints local sub-custodians in each market — financial institutions with local market expertise, regulatory licenses, and exchange membership. The sub-custodian: executes local settlement instructions, manages local regulatory compliance (FEMA, SEBI), provides local market intelligence. Communication: global custodian instructs sub-custodian via SWIFT. Sub-custodian executes and confirms settlement. All wrapped in a single custody statement to the global asset manager. This structure means a US pension fund managing ₹50,000 crore in India deals primarily with BNY Mellon in New York — the complexity of local Indian settlement is handled by the sub-custodian in Mumbai.</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E9.10 · US Market TLC — NYSE, NASDAQ, NSCC, and DTCC</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DTCC (US) and its Indian equivalents (NSCC, NSDL, CDSL) are examples of 'financial market infrastructure' — systemically important institutions that must not fail. They are subject to special regulatory oversight (designated as Systemically Important Financial Market Utilities in the US; SEBI and RBI oversight in India). If DTCC experienced a catastrophic cyber attack that disabled its processing for 24 hours, what would be the global impact? How do DTCC and its Indian counterparts protect against such events? What role should government play in the resilience of financial market infrastructure?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 and the US have separately moved to T+1 settlement, with India going first. The EU and UK are currently evaluating whether to move from T+2 to T+1. EU securities firms argue T+1 would create cross-border settlement complications — an EU investor buying US stocks would need to fund the trade the same day in USD, despite European business hours not overlapping with US T+0 settlement cut-offs. As a settlement operations consultant, assess the feasibility of global T+1 convergence. What technical, operational, and regulatory changes would be required to implement universal T+1 settlement across all major markets?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E9.10 · US Market TLC — NYSE, NASDAQ, NSCC, and DTCC</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Compare the exchange trade life cycle in India (NSE) with the US (NYSE/NASDAQ). What are the key similarities and differences?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Exchange TLC follows the same fundamental architecture in India and the US — both use the sequence: Exchange Matching → CCP Clearing → Depository Settlement → Custodian Chain. Structural similarities: (1) Both use fully electronic order matching with price-time priority. (2) Both have a CCP that novates trades and provides a settlement guarantee: NSCC India (for NSE) and NSCC US (a DTCC subsidiary, for NYSE/NASDAQ). (3) Both use DVP Model 3 — multilateral netting to settle net obligations rather than gross trade-by-trade. (4) Both hold securities in electronic dematerialised form — NSDL/CDSL (India) and DTC (US). (5) Both use FIX protocol for order routing. Key differences: (1) Settlement cycle: India T+1 (since 2023). US T+1 (since May 2024). Both are now aligned. EU/UK are still T+2. (2) Number of depositories: India has two (NSDL and CDSL). US has one (DTC). India's dual-depository creates competition and resilience; the US's single DTC means no fallback. (3) Cash settlement: India uses RTGS via RBI-administered NSCC settlement. US uses Fedwire Funds via the Federal Reserve for final cash settlement. (4) Institutional affirmation: India uses Omgeo CTM / NSE trade files for verification. US uses DTC's Institutional Delivery (ID) system with a 9:00 PM T+0 affirmation deadline for T+1. (5) SEBI vs SEC regulation: SEBI-registered custodians and FEMA compliance for India. SEC-registered custodians and Regulation T for the US. (6) US has NYSE's hybrid market-maker (DMM) model alongside NASDAQ's fully electronic market-maker competition — India uses a single order-driven market structure on NSE.</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a foreign portfolio investor (FPI) settle equity trades on NSE, and what is the role of the global custodian?</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An FPI investing in Indian equities has a settlement structure involving at least three institutions: their global custodian (abroad), a sub-custodian in India, and the NSE clearing infrastructure. The settlement process: Step 1 — Trade Execution: the FPI's portfolio manager places orders through an NSE-registered broker. Orders route to NSE via FIX (often through DMA for institutional FPIs). Execution reports return to the FPI's OMS. Step 2 — Allocation: the FPI sends allocation instructions to the sub-custodian in India (e.g., Deutsche Bank India) via the global custodian (e.g., BNY Mellon in New York). BNY Mellon relays via SWIFT to Deutsche Bank Mumbai. Step 3 — Verification: Deutsche Bank India affirms the trades in the NSE clearing system or via Omgeo CTM, confirming that the FPI's sub-custodian agrees on all trade terms. Step 4 — Settlement Instruction: Deutsche Bank India submits settlement instructions to NSDL for securities receipt (SWIFT MT541) and coordinates INR payment with NSCC. Cut-off: typically 5:00–7:00 PM on trade date for T+1 settlement. Step 5 — Settlement (T+1): NSDL credits the FPI's demat account (held by Deutsche Bank India as DP) with the purchased shares. INR is debited from the FPI's designated bank account (also at Deutsche Bank India) via the NSCC settlement. Step 6 — Confirmation: Deutsche Bank India sends a SWIFT confirmation to BNY Mellon. BNY Mellon updates the FPI's global custody statement. FEMA compliance: all FPI equity purchases must be reported to RBI via the NSDL FPI reporting module within 24 hours. FX: the FPI must convert USD to INR before the trade date — there is no credit or deferred FX for FPI equity purchases in India (unlike T+2 where FPIs had an extra day to fund).</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Exchange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CIBOP Exchange Trade Life Cycle</dc:subject>
  <dc:creator>Imarticus Learning</dc:creator>
  <cp:lastModifiedBy>Imarticus Learning</cp:lastModifiedBy>
  <cp:revision>1</cp:revision>
  <dcterms:created xsi:type="dcterms:W3CDTF">2026-05-06T11:07:52Z</dcterms:created>
  <dcterms:modified xsi:type="dcterms:W3CDTF">2026-05-06T11:07:52Z</dcterms:modified>
</cp:coreProperties>
</file>