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4023360"/>
            <a:ext cx="9144000" cy="1120140"/>
          </a:xfrm>
          <a:prstGeom prst="rect">
            <a:avLst/>
          </a:prstGeom>
          <a:solidFill>
            <a:srgbClr val="007A87"/>
          </a:solidFill>
          <a:ln w="12700">
            <a:solidFill>
              <a:srgbClr val="007A87"/>
            </a:solidFill>
            <a:prstDash val="solid"/>
          </a:ln>
        </p:spPr>
      </p:sp>
      <p:sp>
        <p:nvSpPr>
          <p:cNvPr id="4" name="Shape 2"/>
          <p:cNvSpPr/>
          <p:nvPr/>
        </p:nvSpPr>
        <p:spPr>
          <a:xfrm>
            <a:off x="365760" y="1280160"/>
            <a:ext cx="73152" cy="2011680"/>
          </a:xfrm>
          <a:prstGeom prst="rect">
            <a:avLst/>
          </a:prstGeom>
          <a:solidFill>
            <a:srgbClr val="F0A800"/>
          </a:solidFill>
          <a:ln w="12700">
            <a:solidFill>
              <a:srgbClr val="F0A800"/>
            </a:solidFill>
            <a:prstDash val="solid"/>
          </a:ln>
        </p:spPr>
      </p:sp>
      <p:sp>
        <p:nvSpPr>
          <p:cNvPr id="5" name="Text 3"/>
          <p:cNvSpPr/>
          <p:nvPr/>
        </p:nvSpPr>
        <p:spPr>
          <a:xfrm>
            <a:off x="548640" y="1188720"/>
            <a:ext cx="8046720" cy="640080"/>
          </a:xfrm>
          <a:prstGeom prst="rect">
            <a:avLst/>
          </a:prstGeom>
          <a:noFill/>
          <a:ln/>
        </p:spPr>
        <p:txBody>
          <a:bodyPr wrap="square" lIns="0" tIns="0" rIns="0" bIns="0" rtlCol="0" anchor="ctr"/>
          <a:lstStyle/>
          <a:p>
            <a:pPr indent="0" marL="0">
              <a:buNone/>
            </a:pPr>
            <a:r>
              <a:rPr lang="en-US" sz="3200" b="1" dirty="0">
                <a:solidFill>
                  <a:srgbClr val="F0A800"/>
                </a:solidFill>
              </a:rPr>
              <a:t>ISDA &amp; OTC</a:t>
            </a:r>
            <a:endParaRPr lang="en-US" sz="3200" dirty="0"/>
          </a:p>
        </p:txBody>
      </p:sp>
      <p:sp>
        <p:nvSpPr>
          <p:cNvPr id="6" name="Text 4"/>
          <p:cNvSpPr/>
          <p:nvPr/>
        </p:nvSpPr>
        <p:spPr>
          <a:xfrm>
            <a:off x="548640" y="1783080"/>
            <a:ext cx="8046720" cy="502920"/>
          </a:xfrm>
          <a:prstGeom prst="rect">
            <a:avLst/>
          </a:prstGeom>
          <a:noFill/>
          <a:ln/>
        </p:spPr>
        <p:txBody>
          <a:bodyPr wrap="square" lIns="0" tIns="0" rIns="0" bIns="0" rtlCol="0" anchor="ctr"/>
          <a:lstStyle/>
          <a:p>
            <a:pPr indent="0" marL="0">
              <a:buNone/>
            </a:pPr>
            <a:r>
              <a:rPr lang="en-US" sz="2600" dirty="0">
                <a:solidFill>
                  <a:srgbClr val="FFFFFF"/>
                </a:solidFill>
              </a:rPr>
              <a:t>Trade Life Cycle</a:t>
            </a:r>
            <a:endParaRPr lang="en-US" sz="2600" dirty="0"/>
          </a:p>
        </p:txBody>
      </p:sp>
      <p:sp>
        <p:nvSpPr>
          <p:cNvPr id="7" name="Text 5"/>
          <p:cNvSpPr/>
          <p:nvPr/>
        </p:nvSpPr>
        <p:spPr>
          <a:xfrm>
            <a:off x="548640" y="2331720"/>
            <a:ext cx="7863840" cy="365760"/>
          </a:xfrm>
          <a:prstGeom prst="rect">
            <a:avLst/>
          </a:prstGeom>
          <a:noFill/>
          <a:ln/>
        </p:spPr>
        <p:txBody>
          <a:bodyPr wrap="square" lIns="0" tIns="0" rIns="0" bIns="0" rtlCol="0" anchor="ctr"/>
          <a:lstStyle/>
          <a:p>
            <a:pPr indent="0" marL="0">
              <a:buNone/>
            </a:pPr>
            <a:r>
              <a:rPr lang="en-US" sz="1300" i="1" dirty="0">
                <a:solidFill>
                  <a:srgbClr val="C8D8E8"/>
                </a:solidFill>
              </a:rPr>
              <a:t>Certificate in Investment Banking Operations Programme</a:t>
            </a:r>
            <a:endParaRPr lang="en-US" sz="1300" dirty="0"/>
          </a:p>
        </p:txBody>
      </p:sp>
      <p:sp>
        <p:nvSpPr>
          <p:cNvPr id="8" name="Text 6"/>
          <p:cNvSpPr/>
          <p:nvPr/>
        </p:nvSpPr>
        <p:spPr>
          <a:xfrm>
            <a:off x="365760" y="4160520"/>
            <a:ext cx="8412480" cy="320040"/>
          </a:xfrm>
          <a:prstGeom prst="rect">
            <a:avLst/>
          </a:prstGeom>
          <a:noFill/>
          <a:ln/>
        </p:spPr>
        <p:txBody>
          <a:bodyPr wrap="square" lIns="0" tIns="0" rIns="0" bIns="0" rtlCol="0" anchor="ctr"/>
          <a:lstStyle/>
          <a:p>
            <a:pPr indent="0" marL="0">
              <a:buNone/>
            </a:pPr>
            <a:r>
              <a:rPr lang="en-US" sz="1000" dirty="0">
                <a:solidFill>
                  <a:srgbClr val="FFFFFF"/>
                </a:solidFill>
              </a:rPr>
              <a:t>Imarticus Learning  |  Module F10: ISDA &amp; OTC TLC  |  UORs: F10.1 – F10.10</a:t>
            </a:r>
            <a:endParaRPr lang="en-US" sz="1000" dirty="0"/>
          </a:p>
        </p:txBody>
      </p:sp>
      <p:sp>
        <p:nvSpPr>
          <p:cNvPr id="9" name="Text 7"/>
          <p:cNvSpPr/>
          <p:nvPr/>
        </p:nvSpPr>
        <p:spPr>
          <a:xfrm>
            <a:off x="365760" y="4507992"/>
            <a:ext cx="8412480" cy="256032"/>
          </a:xfrm>
          <a:prstGeom prst="rect">
            <a:avLst/>
          </a:prstGeom>
          <a:noFill/>
          <a:ln/>
        </p:spPr>
        <p:txBody>
          <a:bodyPr wrap="square" lIns="0" tIns="0" rIns="0" bIns="0" rtlCol="0" anchor="ctr"/>
          <a:lstStyle/>
          <a:p>
            <a:pPr indent="0" marL="0">
              <a:buNone/>
            </a:pPr>
            <a:r>
              <a:rPr lang="en-US" sz="950" i="1" dirty="0">
                <a:solidFill>
                  <a:srgbClr val="F0A800"/>
                </a:solidFill>
              </a:rPr>
              <a:t>10 Topics · 30 Videos · 40 Assessment Questions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F10.1</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2800" b="1" dirty="0">
                <a:solidFill>
                  <a:srgbClr val="FFFFFF"/>
                </a:solidFill>
              </a:rPr>
              <a:t>Introduction to ISDA and the OTC Market</a:t>
            </a:r>
            <a:endParaRPr lang="en-US" sz="28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 of 10  |  ISDA &amp; OTC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F10.1 · Introduction to ISDA and the OTC Market</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150" dirty="0">
                <a:solidFill>
                  <a:srgbClr val="404040"/>
                </a:solidFill>
              </a:rPr>
              <a:t>OTC (Over-the-Counter) derivatives are privately negotiated bilateral contracts — not exchange-traded. They offer customisable terms but carry bilateral counterparty risk.</a:t>
            </a:r>
            <a:endParaRPr lang="en-US" sz="115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150" dirty="0">
                <a:solidFill>
                  <a:srgbClr val="404040"/>
                </a:solidFill>
              </a:rPr>
              <a:t>ISDA — International Swaps and Derivatives Association — provides the legal framework, master documentation, and industry standards for OTC derivatives globally since 1985.</a:t>
            </a:r>
            <a:endParaRPr lang="en-US" sz="115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150" dirty="0">
                <a:solidFill>
                  <a:srgbClr val="404040"/>
                </a:solidFill>
              </a:rPr>
              <a:t>The OTC derivatives market exceeds $600 trillion in notional outstanding — dwarfing the exchange-traded derivatives market. Key products: IRS, CDS, FX options, equity swaps, commodity derivatives.</a:t>
            </a:r>
            <a:endParaRPr lang="en-US" sz="115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150" dirty="0">
                <a:solidFill>
                  <a:srgbClr val="404040"/>
                </a:solidFill>
              </a:rPr>
              <a:t>The ISDA framework has four layers: Master Agreement (general terms), Schedule (party elections), CSA (collateral), and Definitions (vocabulary) — all incorporated into individual Confirmations.</a:t>
            </a:r>
            <a:endParaRPr lang="en-US" sz="11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F10.1 · Introduction to ISDA and the OTC Market</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corporate treasurer at a large Indian IT company wants to hedge USD 50 million of quarterly USD revenues into INR for the next 3 years using a USD/INR cross-currency swap. She approaches HDFC Bank. The bank's legal team says they need an ISDA Master Agreement and Schedule in place before the trade can proceed.</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Why can't the trade proceed without an ISDA MA? What four documents will ultimately govern this cross-currency swap? How does the OTC structure allow Techsol to get exactly the hedge they need, compared to using exchange-traded FX futures?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F10.1 · Introduction to ISDA and the OTC Market</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Why ISDA Exists — OTC Market Architecture</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OTC derivatives offer unmatched flexibility: any notional, any tenor, any payoff structure. But flexibility creates legal complexity — without a standard framework, every bilateral relationship would require bespoke legal documentation. ISDA solved this by creating a pre-agreed, legally tested master framework adopted globally. The Single Agreement concept means all trades between two counterparties are one legal relationship — enabling close-out netting. Without ISDA, OTC trading at scale would be impossible. ISDA doesn't set prices or rates — it provides the legal plumbing that allows markets to function efficiently and safely.</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Master Agreement</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General terms governing all trades — payment netting, events of default, representations.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Schedule</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Party-specific elections that modify the master — thresholds, AET, cross-default, currency.</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CSA</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Credit Support Annex — governs collateral (VM and IM) exchange between counterparties.</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Definitions + Confirmation</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Definitions provide vocabulary; Confirmation records individual trade terms.</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F10.1 · Introduction to ISDA and the OTC Market</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OTC vs Exchange-Traded: Practical Tradeoffs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Exchange-traded derivatives offer standardised contracts, CCP guarantee, and daily mark-to-market settlement. OTC offers bespoke terms, any tenor, non-standard notional, and cash flow customisation. An IRS matching a company's exact liability schedule — quarterly resets, ACT/365 day count, non-standard notional amortisation — can only be an OTC derivative. The tradeoff: OTC requires ISDA documentation, credit relationship, and collateral management. For large corporates and institutions, OTC's flexibility justifies the operational complexity.</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ISDA's Role Beyond Documentation</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ISDA publishes model netting opinions confirming legal enforceability of close-out netting in 60+ jurisdictions. It operates the Determinations Committee for CDS Credit Events. It manages the ISDA SIMM model for IM calculation. It publishes IBOR fallback protocols. ISDA also engages regulators on derivatives market structure — Dodd-Frank, EMIR, Basel III. For operations professionals, ISDA's published protocols (like the 2020 IBOR Fallbacks Protocol) are legally binding once adhered to — making ISDA publications as important as regulatory circulars.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India's OTC Derivatives Market</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RBI regulates OTC interest rate and FX derivatives for banks. SEBI regulates equity derivatives (exchange-traded). IRS, OIS, G-Sec repos, and FX forwards/swaps are the primary Indian OTC instruments. CCIL acts as CCP for INR IRS and G-Sec repos. FIMMDA publishes benchmark rates and market conventions (MIFOR, MIBOR). Corporates can trade FX forwards with banks under RBI's Liberalised Remittance Scheme framework. Indian OTC documentation follows ISDA closely, with local law modifications in the Schedule.</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Scale of the OTC Market</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BIS triennial survey (2022): global OTC derivatives notional = $632 trillion. IRS: $469T (74%). FX derivatives: $104T (16%). Credit: $9T (1.4%). Equity: $7T (1%). Commodities: $3T (0.5%). The concentration: top 10 global dealers account for 75%+ of IRS volume. Post-2008 central clearing has moved ~80% of vanilla IRS notional to CCP clearing. Despite size, net credit exposure is far smaller — bilateral netting reduces $632T to ~$15T net current replacement cost, illustrating the power of the netting framework.</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F10.1 · Introduction to ISDA and the OTC Market</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A small corporate client with INR 50 crore FX exposure asks its relationship banker whether it should hedge via an OTC USD/INR forward with the bank or via exchange-traded USD/INR futures on NSE. From the bank's perspective, the OTC route is more profitable. From the client's perspective, what are the genuine operational, legal, and cost differences? Under what circumstances is each structure preferable? Is there a conflict of interest the banker should disclose?</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ISDA Master Agreements are negotiated between banks and clients — large corporates often take months to finalise a Schedule. A start-up fintech wants to execute an FX option with a bank but doesn't have an ISDA in place. The bank's legal team says it will take 3 months to negotiate. What alternatives exist? Should there be a faster-track ISDA process for smaller, simpler counterparties? How do industry initiatives like the ISDA AMEND platform address this?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F10.1 · Introduction to ISDA and the OTC Market</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ISDA Master Agreement and why is it important for OTC derivatives?</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ISDA Master Agreement is the standard legal contract that governs all OTC derivative transactions between two parties. It is important for three reasons: First, efficiency — without it, every OTC trade would require bespoke legal documentation, making high-volume trading impractical. The MA provides pre-agreed, legally tested terms covering payment netting, representations, and default provisions. Second, the Single Agreement concept — all trades between two counterparties are legally one relationship, not separate contracts. This enables close-out netting, where all trades are terminated and netted into a single payment on default. Third, legal enforceability — ISDA publishes netting opinions confirming that close-out netting is legally binding in 60+ jurisdictions. Without this confirmation, regulators wouldn't recognise netting for capital purposes, massively increasing banks' credit risk capital charges. The MA is supported by the Schedule (party-specific elections), CSA (collateral), ISDA Definitions (vocabulary), and individual Confirmations (trade-specific terms). Together they form the complete OTC documentation architecture.</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OTC and exchange-traded derivatives?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key differences are: Structure — OTC derivatives are privately negotiated bilateral contracts with customisable terms (any notional, tenor, cash flow profile). Exchange-traded derivatives (ETDs) are standardised contracts with fixed sizes, expiry dates, and terms set by the exchange. Counterparty risk — OTC involves direct bilateral counterparty risk, managed through ISDA documentation and CSA collateral. ETDs use a Central Counterparty (CCP) which eliminates bilateral risk — the CCP stands between buyer and seller. Transparency — OTC prices are negotiated bilaterally and historically opaque; ETDs have publicly visible prices on the exchange. Settlement — OTC terms are customised; ETDs settle via the exchange clearing house with daily mark-to-market variation margin. Regulation — OTC derivatives are regulated under Dodd-Frank/EMIR with mandatory clearing, reporting, and margin rules. ETDs were already regulated through exchange rules. Practical example: an INR interest rate swap matching a corporate's exact liability schedule must be OTC — exchange-traded IRS futures don't offer sufficient flexibility. But an institutional investor speculating on Nifty direction would use exchange-traded Nifty futures — simpler, lower cost, no ISDA required.</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F10.2</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2800" b="1" dirty="0">
                <a:solidFill>
                  <a:srgbClr val="FFFFFF"/>
                </a:solidFill>
              </a:rPr>
              <a:t>ISDA Master Agreement Structure</a:t>
            </a:r>
            <a:endParaRPr lang="en-US" sz="28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2 of 10  |  ISDA &amp; OTC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F10.2 · ISDA Master Agreement Structure</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150" dirty="0">
                <a:solidFill>
                  <a:srgbClr val="404040"/>
                </a:solidFill>
              </a:rPr>
              <a:t>The ISDA MA has 5 sections: (1) Interpretation, (2) Obligations (payment netting, tax gross-up), (3) Representations, (4) Agreements (maintain authorisations, notify of material change), (5) Events of Default and Termination Events.</a:t>
            </a:r>
            <a:endParaRPr lang="en-US" sz="115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150" dirty="0">
                <a:solidFill>
                  <a:srgbClr val="404040"/>
                </a:solidFill>
              </a:rPr>
              <a:t>The 1992 MA offered Market Quotation and Loss close-out methods. The 2002 MA replaced both with Close-out Amount — a single, more flexible methodology giving the non-defaulting party greater discretion.</a:t>
            </a:r>
            <a:endParaRPr lang="en-US" sz="115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150" dirty="0">
                <a:solidFill>
                  <a:srgbClr val="404040"/>
                </a:solidFill>
              </a:rPr>
              <a:t>Payment netting under Section 2(c): payments on the same date in the same currency between the same parties are netted to a single payment. This dramatically reduces settlement volume and intraday liquidity needs.</a:t>
            </a:r>
            <a:endParaRPr lang="en-US" sz="115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150" dirty="0">
                <a:solidFill>
                  <a:srgbClr val="404040"/>
                </a:solidFill>
              </a:rPr>
              <a:t>The Single Agreement concept: all transactions are part of one indivisible contract. This is the legal foundation for close-out netting — without it, a liquidator could cherry-pick profitable trades.</a:t>
            </a:r>
            <a:endParaRPr lang="en-US" sz="11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F10.2 · ISDA Master Agreement Structure</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Deutsche Bank has an ISDA 2002 MA with Sigma Capital, a hedge fund. Sigma Capital files for insolvency on a Tuesday. At the time of filing, Deutsche Bank has 50 IRS trades with Sigma: 30 in Deutsche's favour (net MTM +$45M) and 20 in Sigma's favour (net MTM -$12M). Deutsche Bank's legal team wants to close out all positions immediately.</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Under the ISDA Single Agreement concept, what is Deutsche Bank's net position? What is the Close-out Amount Deutsche Bank should receive? What steps must Deutsche Bank's operations team take in the next 24 hours to protect its legal rights under the ISDA MA?</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F10.2 · ISDA Master Agreement Structure</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ISDA MA: Five Sections and the Single Agreement</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ISDA Master Agreement is deceptively simple — 28 pages govern all OTC trades between two parties indefinitely. Its power comes from two key mechanisms: the Single Agreement concept and close-out netting. Single Agreement: all transactions under the MA are legally one contract. Consequence: on default, all transactions terminate simultaneously — the liquidator cannot selectively keep profitable trades and reject unprofitable ones (cherry-picking). Close-out netting: all MTM values are netted to a single payment. If Party A owes $40M on 20 trades but is owed $55M on 30 trades, the net is $15M payable to Party A. Capital impact: regulators recognise this net exposure — reducing capital requirements from $95M gross to $15M net.</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Section 2: Obligations</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Payment netting (same-date, same-currency flows net to one payment). Tax gross-up.</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Section 3: Representations</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Authority, no litigation, compliance with law, no material adverse change.</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Section 5: Default/Termination</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8 Events of Default. 5 Termination Events. Close-out Amount methodology.</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Single Agreement</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Legal foundation for netting. Prevents cherry-picking by liquidators on default.</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F10.2 · ISDA Master Agreement Structure</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1992 vs 2002 ISDA MA: Key Differences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2002 MA addressed shortcomings exposed by Enron, LTCM, and other defaults. Key changes: Close-out Amount replaced Market Quotation and Loss — giving non-defaulting party flexibility to use its own reasonable determination. Force Majeure Termination Event added — addressing market disruptions. Set-off rights strengthened. Interest rate for unpaid amounts aligned to overnight rates rather than Federal Funds rate. Most new trades use 2002 MA; legacy books may mix 1992 and 2002 versions — operations must know which version governs each counterparty relationship.</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The Netting Opinion Ecosystem</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For close-out netting to be legally effective, it must be enforceable in the jurisdiction where each counterparty is incorporated. ISDA commissions annual netting opinions from leading law firms in 60+ jurisdictions, confirming enforceability under local insolvency law. Regulators (Basel III/CRR) allow banks to recognise netting for capital calculations only if a valid netting opinion exists for the counterparty's jurisdiction. If India were added as a new netting opinion jurisdiction, Indian banks could reduce their capital requirements for bilateral IRS books — a significant regulatory capital benefit.</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Payment Netting vs Close-out Netting</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Payment netting (Section 2c) operates during the life of the trade: two payments due on the same date in the same currency between the same parties are netted to one. Example: Bank A owes Bank B $5M on Trade 1, Bank B owes Bank A $3M on Trade 2 — both due today in USD. Net: Bank A pays Bank B $2M. Close-out netting operates on default: all trades are terminated, MTM values are calculated, and a single net termination payment is made. Payment netting reduces settlement costs. Close-out netting reduces credit exposure. Both depend on the Single Agreement framework.</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Tax Gross-Up Obligation</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Section 2(d) requires the payer to gross up if a withholding tax is imposed on a payment. If Bank A owes $10M and the counterparty's jurisdiction imposes 15% withholding, Bank A must pay $11.76M so that after 15% withholding the counterparty receives $10M. This protects counterparties from tax-driven cash flow shortfalls. The flip side: Tax Events (Section 5(b)) allow termination if a gross-up obligation arises from a law change — so neither party is trapped in an uneconomic obligation.</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F10.2 · ISDA Master Agreement Structure</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'cherry-picking' problem is central to why the Single Agreement concept was created. In the absence of the Single Agreement concept, explain how a liquidator could exploit individual trade-by-trade documentation to maximise recovery for creditors — and how this would harm the solvent counterparty. Then explain why regulators in some jurisdictions still challenge netting enforceability, and what the systemic risk consequences would be if netting were not recognised in a major market like China or India.</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Close-out Amount methodology under the 2002 MA gives the non-defaulting party significant discretion in calculating the replacement cost of terminated trades. This flexibility has been criticised as potentially allowing the non-defaulting party to exploit the distressed situation — over-valuing in-the-money positions or under-valuing out-of-the-money positions. How should operations and risk management teams document the Close-out Amount calculation to withstand legal challenge? What market data, models, and governance steps should be applied?</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F10.2 · ISDA Master Agreement Structure</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Explain the Single Agreement concept under the ISDA Master Agreement.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Single Agreement concept is the foundational legal principle of the ISDA Master Agreement. It means that all transactions entered into between two parties under the MA — regardless of how many trades, products, or how long the relationship has existed — are legally part of one single, indivisible contract. The significance is profound. First, cherry-pick prevention: on default, the liquidator or administrator of the defaulting party cannot selectively keep trades that are profitable for the estate and reject trades that are unprofitable. Under a Single Agreement, all trades must be treated as one — they all terminate simultaneously. This protects the solvent counterparty from being left with only the losing trades. Second, close-out netting: because all trades are one contract, they can be netted at close-out. All MTM values — positive and negative — are aggregated to a single net payment. This dramatically reduces credit exposure: from potentially hundreds of millions in gross trades to a single net amount. Third, capital efficiency: regulators (Basel III, RBI guidelines) allow banks to recognise bilateral netting for capital calculation only where the Single Agreement concept is legally enforceable. ISDA netting opinions confirm enforceability jurisdiction by jurisdiction. Without the Single Agreement, capital requirements would be based on gross trade values — multiplying capital needs many times over.</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changed between the 1992 and 2002 ISDA Master Agreement?</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2002 ISDA Master Agreement made three major improvements over the 1992 version. First, the close-out methodology: the 1992 MA offered two methods — Market Quotation (using third-party dealer quotes to value terminated trades) and Loss (the non-defaulting party's own calculation of replacement cost). These created uncertainty and were subject to manipulation. The 2002 MA replaced both with a single Close-out Amount — defined as the non-defaulting party's reasonable determination of the replacement cost, using commercially reasonable procedures. This gives flexibility while requiring good faith and reasonableness. Second, the Force Majeure Termination Event: the 2002 MA added Force Majeure as a new Termination Event — covering situations where performance is prevented by an event beyond the party's control (like a market-wide payment system failure). The 1992 MA had no equivalent, leaving parties in legal limbo during market disruptions. Third, strengthened set-off: the 2002 MA gave the non-defaulting party explicit set-off rights — netting the termination payment against any other amounts owed between the parties under other agreements. This maximises recovery in a default scenario.</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F10.3</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2800" b="1" dirty="0">
                <a:solidFill>
                  <a:srgbClr val="FFFFFF"/>
                </a:solidFill>
              </a:rPr>
              <a:t>Events of Default and Termination Events</a:t>
            </a:r>
            <a:endParaRPr lang="en-US" sz="28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3 of 10  |  ISDA &amp; OTC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F10.3 · Events of Default and Termination Events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150" dirty="0">
                <a:solidFill>
                  <a:srgbClr val="404040"/>
                </a:solidFill>
              </a:rPr>
              <a:t>8 Events of Default (Section 5a): Failure to Pay/Deliver, Breach of Agreement, Credit Support Default, Misrepresentation, Default under Specified Transaction, Cross-Default, Bankruptcy, Merger Without Assumption.</a:t>
            </a:r>
            <a:endParaRPr lang="en-US" sz="115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150" dirty="0">
                <a:solidFill>
                  <a:srgbClr val="404040"/>
                </a:solidFill>
              </a:rPr>
              <a:t>5 Termination Events (Section 5b): Illegality, Force Majeure (2002 MA only), Tax Event, Tax Event Upon Merger, Credit Event Upon Merger.</a:t>
            </a:r>
            <a:endParaRPr lang="en-US" sz="115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150" dirty="0">
                <a:solidFill>
                  <a:srgbClr val="404040"/>
                </a:solidFill>
              </a:rPr>
              <a:t>On an EOD, the non-defaulting party designates an Early Termination Date and calculates Close-out Amount. On a TE, either party may terminate (bilateral right in most cases).</a:t>
            </a:r>
            <a:endParaRPr lang="en-US" sz="115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150" dirty="0">
                <a:solidFill>
                  <a:srgbClr val="404040"/>
                </a:solidFill>
              </a:rPr>
              <a:t>Close-out netting: all terminated trade MTM values are summed to a net termination payment. The non-defaulting party receives payment if net positive; pays if net negative. Calculated in the Termination Currency.</a:t>
            </a:r>
            <a:endParaRPr lang="en-US" sz="11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F10.3 · Events of Default and Termination Events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Bank A has a Cross-Default provision in its ISDA Schedule with Gamma Corp. The provision specifies a Threshold of $10 million on 'Specified Indebtedness.' Gamma Corp has missed a $15 million payment on a 5-year bond (not an ISDA trade) and has entered a 30-day grace period. Bank A has 20 IRS trades with Gamma Corp with a net MTM in Bank A's favour of +$22 million.</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Does the missed bond payment trigger the Cross-Default EOD under the ISDA MA? (Consider the threshold and grace period.) If the EOD is triggered, what is Bank A's maximum economic benefit from close-out netting vs continuing to hold the positions? What operations steps must Bank A take before the grace period expires?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F10.3 · Events of Default and Termination Events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Close-Out Process: EOD to Net Termination Payment</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Events of Default and Termination Events trigger the close-out process — the controlled unwinding of all bilateral trades. The critical distinction: EODs are fault-based (one party has defaulted) and give the non-defaulting party the unilateral right to designate Early Termination. TEs are no-fault (circumstances have changed — illegality, tax, credit event) and typically give both parties a right to terminate. The close-out process: Step 1 — designate Early Termination Date (written notice). Step 2 — calculate Close-out Amount for each terminated trade. Step 3 — net all Close-out Amounts. Step 4 — determine net termination payment direction. This process must be executed carefully to preserve legal enforceability of netting.</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Cross-Default EOD</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Default on OTHER financial obligations above threshold triggers ISDA EOD. Monitors contagion risk.</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Bankruptcy EOD</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Insolvency proceedings, winding-up, administrative receiver — most severe EOD. Immediate effect.</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Illegality TE</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Law change makes performance illegal — no-fault TE. Either party may terminate affected transactions.</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Close-out Amount</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Non-defaulting party's reasonable replacement cost for each terminated transaction.</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F10.3 · Events of Default and Termination Events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Cross-Default Monitoring in Operations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Cross-Default provision requires ongoing monitoring of counterparties' financial obligations. Operations teams maintain a Specified Indebtedness watch list. When a counterparty misses a payment on a bond or loan, the operations team must: verify the amount against the Threshold, check the grace period, notify legal and credit, and assess whether to designate Early Termination Date. The grace period creates a window for commercial resolution — often counterparties will cure the payment default to avoid ISDA close-out. Operations must act quickly: delay can waive the right to terminate.</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Automatic Early Termination (AET)</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ISDA Schedule includes an Automatic Early Termination election. If AET = Applicable, all trades automatically terminate the moment a Bankruptcy EOD occurs — without any designation notice. This protects against a scenario where the non-defaulting party fails to send a notice in time. However, AET is risky in common law jurisdictions where insolvency administrators can challenge automatic terminations. AET is typically elected 'Not Applicable' for UK/US counterparties and 'Applicable' for counterparties in civil law jurisdictions (France, Germany) where automatic termination is better protected under local insolvency law.</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The Close-out Netting Calculation</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Step-by-step: (1) List all terminated transactions. (2) Calculate replacement cost for each (Close-out Amount). Mark-to-market positive trades (in-the-money for non-defaulter) as positive values. Mark out-of-the-money trades as negative values. (3) Sum all values: if net is +$22M, non-defaulting party is owed $22M. (4) Apply any unpaid amounts (accrued but unpaid coupon payments). (5) Add default interest on overdue amounts. (6) Convert to Termination Currency. (7) Non-defaulting party makes demand for the net amount. The calculation must be documented thoroughly — it will be challenged by the defaulting party's administrator.</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Termination Events vs Events of Default: Legal Consequences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legal consequences differ importantly. On an EOD: the non-defaulting party has full unilateral right to close out — at a time of its choosing. The defaulting party cannot terminate. On a TE: either (or both) parties have a right to terminate the affected transactions — it is not exclusively the 'innocent' party's right. This matters because in an Illegality TE (e.g., new sanctions law), both parties may want to terminate — and the process is bilateral. In a Credit Event Upon Merger TE, only the non-affected party can terminate. Understanding who has termination rights under each type of TE is critical for legal teams and operations.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F10.3 · Events of Default and Termination Events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Cross-Default provisions are designed to give early warning of counterparty financial stress — if a party defaults on any of its significant financial obligations, it's a signal of broader trouble. However, Cross-Default provisions can also accelerate a crisis: if a company misses one payment, all its ISDA counterparties simultaneously receive EOD triggers, potentially racing to close out and creating a self-fulfilling insolvency. This was observed with Bear Stearns and Lehman Brothers. Should regulators require a mandatory standstill period on ISDA cross-default triggers during systemic stress events? What are the arguments for and against?</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When a sovereign nation defaults on its bonds (as Greece did in 2012), Cross-Default provisions in ISDA agreements with Greek government counterparties may trigger. But sovereigns cannot 'go bankrupt' in the traditional sense — there is no insolvency court for countries. How should the ISDA Master Agreement be modified to address sovereign counterparty defaults? Consider: what constitutes an EOD for a sovereign, how Close-out Amount should be calculated in illiquid sovereign markets, and the practical challenges of enforcing a net termination payment against a sovereign government.</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F10.3 · Events of Default and Termination Events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difference between an Event of Default and a Termination Event under the ISDA Master Agreement?</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An Event of Default (EOD) is a fault-based trigger — it arises because the defaulting party has done something wrong or has become insolvent. There are 8 EODs: Failure to Pay or Deliver, Breach of Agreement, Credit Support Default, Misrepresentation, Default under Specified Transaction, Cross-Default, Bankruptcy, and Merger Without Assumption. On an EOD, the NON-defaulting party has the unilateral right to designate an Early Termination Date and close out all transactions. The defaulting party has no right to terminate. A Termination Event (TE) is a no-fault trigger — it arises from external circumstances that prevent performance, not because either party has behaved improperly. There are 5 TEs: Illegality, Force Majeure (2002 MA), Tax Event, Tax Event Upon Merger, and Credit Event Upon Merger. On a TE, EITHER party (or both) may have the right to terminate affected transactions — depending on which TE has occurred. Practical significance: if a law change makes an IRS illegal to perform for one party (Illegality TE), both parties can terminate the affected trades — it's not an adversarial process. But if a bank misses a payment under the IRS (Failure to Pay EOD), the counterparty alone decides whether and when to terminate.</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Walk me through the close-out netting calculation on a default.</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Close-out netting on default has six steps. Step 1 — Designation: the non-defaulting party sends a written notice designating an Early Termination Date. Under the 2002 ISDA MA, this can be effective immediately or on a future date. Step 2 — Trade identification: all transactions under the ISDA MA are identified as terminated as of the Early Termination Date. No new payments are made. Step 3 — Close-out Amount calculation: for each terminated transaction, the non-defaulting party calculates the Close-out Amount — its commercially reasonable determination of the cost to replace that transaction in the market. Trades in-the-money for the non-defaulting party have a positive Close-out Amount. Trades out-of-the-money have a negative Close-out Amount. Step 4 — Netting: sum all Close-out Amounts (positive and negative) to get the net termination amount. Step 5 — Unpaid amounts: add any payments that were due but unpaid before the termination date, plus default interest. Step 6 — Net payment: if the sum is positive for the non-defaulting party, the defaulting party owes that amount. If negative, the non-defaulting party pays the defaulting party. The calculation must be conducted using commercially reasonable procedures, documented thoroughly, and is subject to challenge — so governance and audit trail are critical.</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F10.4</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2800" b="1" dirty="0">
                <a:solidFill>
                  <a:srgbClr val="FFFFFF"/>
                </a:solidFill>
              </a:rPr>
              <a:t>ISDA Schedule</a:t>
            </a:r>
            <a:endParaRPr lang="en-US" sz="28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4 of 10  |  ISDA &amp; OTC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F10.4 · ISDA Schedule</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150" dirty="0">
                <a:solidFill>
                  <a:srgbClr val="404040"/>
                </a:solidFill>
              </a:rPr>
              <a:t>The ISDA Schedule modifies the Master Agreement's default provisions through party-specific elections. It is negotiated bilaterally and is unique to each counterparty pair.</a:t>
            </a:r>
            <a:endParaRPr lang="en-US" sz="115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150" dirty="0">
                <a:solidFill>
                  <a:srgbClr val="404040"/>
                </a:solidFill>
              </a:rPr>
              <a:t>Key elections: Automatic Early Termination (Applicable / Not Applicable), Threshold Amount (collateral-free zone), Cross-Default provisions (Specified Indebtedness threshold), Termination Currency, Specified Entities.</a:t>
            </a:r>
            <a:endParaRPr lang="en-US" sz="115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150" dirty="0">
                <a:solidFill>
                  <a:srgbClr val="404040"/>
                </a:solidFill>
              </a:rPr>
              <a:t>Cross-Default elections must specify: (a) Specified Indebtedness definition, (b) threshold amount (e.g., $10M), (c) Specified Entities (which affiliates are included). Poorly drafted cross-default provisions create ambiguity on enforcement.</a:t>
            </a:r>
            <a:endParaRPr lang="en-US" sz="115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150" dirty="0">
                <a:solidFill>
                  <a:srgbClr val="404040"/>
                </a:solidFill>
              </a:rPr>
              <a:t>India-specific Schedule provisions: English law governs most international ISDA trades. For domestic INR trades, Indian law may be elected. FEMA compliance language, RBI approvals for INR derivatives, and CCIL clearing elections are typical Indian Schedule additions.</a:t>
            </a:r>
            <a:endParaRPr lang="en-US" sz="11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F10.4 · ISDA Schedule</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Alpha Bank and Zeta Fund are negotiating an ISDA Schedule. Zeta Fund proposes: Threshold Amount of $50 million for Alpha Bank and $0 for Zeta Fund. Cross-Default threshold of $5 million. AET elected Applicable for both parties. The deal team at Alpha Bank objects to the asymmetric Threshold Amount and to AET being Applicable for an English-law counterparty.</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Why is an asymmetric Threshold Amount commercially problematic for Alpha Bank? Why is AET=Applicable risky for an English-law counterparty like Alpha Bank? What counter-proposals should Alpha Bank's negotiating team make? What does the Threshold asymmetry reveal about the relative credit quality negotiating dynamic?</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F10.4 · ISDA Schedule</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ISDA Schedule: Tailoring the Legal Framework</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ISDA Master Agreement's default provisions are intentionally broad — designed to work for any two counterparties globally. The Schedule is where each bilateral relationship is customised. Think of the MA as a standard contract template and the Schedule as all the blanks filled in plus modifications. A well-negotiated Schedule protects both parties: it sets appropriate collateral thresholds, ensures cross-default coverage matches the credit relationship, and elects governing law clearly. Poorly negotiated Schedules create ambiguity that only becomes visible on default — exactly when clarity matters most. Operations teams must understand Schedule elections because they directly determine margin management, default monitoring, and close-out procedures.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AET Election</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Not Applicable for common law (UK/US). Applicable for civil law (France/Germany). Affects default mechanics.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Threshold Amount</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MTM below which no VM is posted. Higher threshold = more unsecured credit exposure tolerated.</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Cross-Default Threshold</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Minimum size of third-party default needed to trigger ISDA Cross-Default EOD.</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Termination Currency</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Currency for net close-out payment. Typically USD or the non-defaulting party's home currency.</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F10.4 · ISDA Schedule</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Schedule Negotiation Timeline</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ISDA Schedule negotiation between a bank and a new institutional client typically takes 4–12 weeks. Steps: (1) Bank sends proposed Schedule. (2) Client's legal team marks up. (3) Multiple rounds of negotiation on key elections (AET, threshold, cross-default). (4) Credit approval for threshold levels. (5) Final execution by authorised signatories. Operations can't onboard the counterparty until Schedule is signed. The ISDA AMEND platform (now ISDA Create) digitises this process — reducing cycle time and providing version control. For high-priority clients, banks sometimes execute trades under a 'deemed ISDA' arrangement pending full documentation.</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Specified Entities in Cross-Default</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Cross-Default provisions can be extended to include 'Specified Entities' — typically affiliates of the main counterparty. If Zeta Fund's parent company Zeta Holdings defaults on a $20M bond and Zeta Holdings is listed as a Specified Entity, this triggers the Cross-Default EOD for Zeta Fund's ISDA trades. This is powerful — it catches holding company defaults that might not directly affect the trading entity. However, over-broad Specified Entity definitions can create false triggers. Operations monitors Specified Entity news alongside main counterparty news.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India-Specific ISDA Schedule Provisions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Indian banks executing ISDA trades must include RBI-specific provisions. FEMA compliance: a representation that the transaction complies with FEMA and applicable RBI regulations. CCIL clearing election: for INR IRS above ₹10 crore, mandatory clearing through CCIL. Close-out language: Indian law doesn't have equivalent netting legislation to the UK's CASS rules — ISDA's India netting opinion is carefully worded. Governing law: English law for cross-border trades; Indian law for purely domestic rupee trades. Operations teams at Indian banks must ensure Schedule provisions match current RBI guidelines — outdated provisions create regulatory risk.</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Multiple ISDA Agreements with One Counterparty</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A bank may have multiple ISDA Master Agreements with the same counterparty — for example, separate ISDAs for the bank's London branch (rates) and Singapore branch (FX). This creates a complication: cross-default in the London ISDA would not automatically trigger the Singapore ISDA unless the Schedules cross-reference each other. Some firms use a single ISDA for all products; others use product-specific ISDAs. Operations must maintain an accurate counterparty ISDA register — knowing which trades sit under which MA is critical for correct close-out calculations on default.</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F10.4 · ISDA Schedule</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ISDA Schedules are negotiated bilaterally — and the negotiating power asymmetry between a G16 dealer bank and a mid-sized corporate client is significant. The bank's legal team is experienced with ISDA Schedules; the corporate's treasurer may never have negotiated one before. Corporates often end up with unfavourable terms (high threshold for bank, zero threshold for corporate; AET applicable only for corporate; broad cross-default). Should there be regulatory intervention to standardise ISDA Schedule terms for corporate clients, similar to how retail financial products are standardised? What would be the tradeoffs?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ISDA AMEND / ISDA Create platform digitises Schedule negotiation — reducing legal costs and cycle times. However, digitisation also means less bilateral negotiation on individual terms, potentially leading to more standardised Schedules that may not perfectly fit each counterparty relationship. From an operations perspective, is the efficiency gain from ISDA Create worth the potential loss of bespoke legal protection? In what scenarios would a firm still want fully bespoke, manually negotiated ISDA documentation rather than using ISDA Create?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F10.4 · ISDA Schedule</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ISDA Schedule and what are its most important elections?</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ISDA Schedule is a bilateral agreement that modifies and supplements the ISDA Master Agreement's default provisions. It is unique to each counterparty pair and is negotiated to reflect the specific credit relationship and business requirements between the two parties. The most important Schedule elections are: (1) Automatic Early Termination — whether trades automatically terminate on a Bankruptcy EOD without active designation. Typically Not Applicable for UK/US counterparties (common law), Applicable for civil law jurisdictions. (2) Threshold Amount — the MTM level below which no collateral (variation margin) needs to be posted. A higher threshold means more unsecured credit is extended. This is a credit quality election — higher-rated entities get higher thresholds. (3) Cross-Default provisions — specifying the Specified Indebtedness threshold (e.g., $10M) and which Specified Entities are covered. This monitors the counterparty's broader financial obligations. (4) Termination Currency — the currency in which the net close-out payment is calculated and settled on default. Usually USD. (5) Minimum Transfer Amount — the smallest collateral transfer that will be made, avoiding operationally burdensome micro-transfers. The Schedule directly determines how collateral is managed (Threshold and MTA), how default is monitored (Cross-Default), and how close-out is conducted (Termination Currency, AET).</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Why is Automatic Early Termination typically elected 'Not Applicable' for UK-incorporated counterparties?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Automatic Early Termination (AET) means that all ISDA trades automatically terminate the moment a Bankruptcy Event of Default occurs — without any notice or designation by the non-defaulting party. For common law jurisdictions like the UK and US, AET is typically elected Not Applicable because: (1) UK insolvency law gives administrators powers to challenge automatic contractual terminations. An automatic termination triggered by the commencement of administration proceedings might be challenged as a 'ipso facto' clause — a clause that automatically terminates on insolvency — which courts in some common law jurisdictions may void as contrary to the purpose of insolvency proceedings. (2) If AET is challenged and voided, the non-defaulting party loses the certainty of close-out and may be exposed to market risk on continuing trades. (3) Active designation gives the non-defaulting party control over timing — it can choose the optimal moment to designate Early Termination Date, after assessing market conditions for the Close-out Amount calculation. For civil law jurisdictions like France and Germany, AET is typically elected Applicable because local insolvency law specifically protects automatic termination provisions in financial contracts — so the legal risk of challenge is lower.</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F10.5</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2800" b="1" dirty="0">
                <a:solidFill>
                  <a:srgbClr val="FFFFFF"/>
                </a:solidFill>
              </a:rPr>
              <a:t>Credit Support Annex (CSA)</a:t>
            </a:r>
            <a:endParaRPr lang="en-US" sz="28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5 of 10  |  ISDA &amp; OTC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F10.5 · Credit Support Annex (CSA)</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150" dirty="0">
                <a:solidFill>
                  <a:srgbClr val="404040"/>
                </a:solidFill>
              </a:rPr>
              <a:t>The CSA governs collateral exchange between ISDA counterparties. Two types: Variation Margin (VM) — daily MTM-based exchange; Initial Margin (IM) — pre-default buffer against PFE.</a:t>
            </a:r>
            <a:endParaRPr lang="en-US" sz="115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150" dirty="0">
                <a:solidFill>
                  <a:srgbClr val="404040"/>
                </a:solidFill>
              </a:rPr>
              <a:t>VM formula: Credit Support Amount = max(Exposure − Threshold, 0). Delivery Amount = max(Credit Support Amount − Existing Collateral − MTA, 0). VM must be exchanged within one business day (T+1) under BCBS/IOSCO rules.</a:t>
            </a:r>
            <a:endParaRPr lang="en-US" sz="115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150" dirty="0">
                <a:solidFill>
                  <a:srgbClr val="404040"/>
                </a:solidFill>
              </a:rPr>
              <a:t>ISDA SIMM (Standard Initial Margin Model): sensitivity-based IM model using delta, vega, and curvature Greeks across 6 asset classes. Alternative: Schedule/Grid approach (simpler, higher IM).</a:t>
            </a:r>
            <a:endParaRPr lang="en-US" sz="115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150" dirty="0">
                <a:solidFill>
                  <a:srgbClr val="404040"/>
                </a:solidFill>
              </a:rPr>
              <a:t>UMR (Uncleared Margin Rules): Phase 6 (Sept 2022) captures firms with AANA &gt; €8B. IM must be posted to a third-party segregated custodian — cannot be re-hypothecated by the receiving party.</a:t>
            </a:r>
            <a:endParaRPr lang="en-US" sz="11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F10.5 · Credit Support Annex (CSA)</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On 15 November 2026, Bank A calculates its MTM exposure to Counterparty B under their CSA as $18 million. The agreed Threshold is $5 million. Existing collateral held from B is $11 million. The Minimum Transfer Amount is $500,000.</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Calculate the Credit Support Amount. Calculate the Delivery Amount (the additional collateral B must post). If B disputes the MTM valuation and believes the true exposure is $14 million, is a margin dispute triggered? What is the standard dispute resolution procedure under the CSA?</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F10.5 · Credit Support Annex (CSA)</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CSA Mechanics: VM, IM, and the UMR Framework</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Credit Support Annex is the operational heart of OTC risk management — it ensures that credit exposure between counterparties is continuously collateralised, reducing the risk of a large uncollateralised loss on default. VM is backward-looking: it settles today's MTM change, keeping net exposure close to zero daily. IM is forward-looking: it provides a buffer against the potential future exposure during the close-out period (typically 10 days). Together, VM and IM mean that even if a counterparty defaults tomorrow, the economic loss is capped near zero. The 2008 crisis — where AIG had massive uncollateralised CDS exposure — led directly to the mandatory VM and IM rules under BCBS/IOSCO UMR.</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VM Formula</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Credit Support Amount = Exposure − Threshold. Delivery = CSA − Existing Collateral − MTA (if &gt; 0).</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IM: SIMM</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Sensitivity-based model: delta + vega + curvature Greeks × risk weights × correlations across 6 classes.</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IM: Segregation</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IM posted to third-party custodian (BNY Mellon, State Street). Cannot be re-used by receiving party.</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UMR Phases</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Phased 2016–2022. Phase 6 (Sept 2022): AANA &gt; €8B. Captures ~1,000 additional firms globally.</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F10.5 · Credit Support Annex (CSA)</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VM Margin Call Operations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Daily VM workflow: (1) Risk system calculates MTM of all CSA-covered trades at close of business. (2) System applies Threshold and MTA to calculate Delivery or Return Amount. (3) Margin call is issued to counterparty operations team — typically by 10 AM next business day. (4) Counterparty confirms amount or disputes within agreed timeframe. (5) Securities or cash transferred via SWIFT by 5 PM. Operations teams manage hundreds of margin calls simultaneously. Automation is essential — manual margin management creates errors that become disputed breaks. A 1 basis point error on a $1B IRS is a $10,000 daily margin difference.</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ISDA SIMM Explained</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SIMM calculates IM using a 10-day, 99% VaR model with risk sensitivities as inputs rather than raw position data — preserving confidentiality. For an IRS: delta = DV01 (dollar value of 1 basis point); vega = exposure to rate volatility. These sensitivities are fed into the SIMM calculation engine. Risk weights and correlations are calibrated annually by ISDA based on historical stress periods. SIMM is model-validated by regulators. Both counterparties must agree on sensitivities — SIMM disputes arise when Greeks differ between firms' pricing models. Operations manages the SIMM sensitivity exchange daily via AcadiaSoft or similar platforms.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Custodian Segregation Mechanics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UMR IM must be held in a triparty segregated account — party A's IM is held by a custodian like BNY Mellon in an account that neither party A nor party B can access unilaterally. The custodian releases IM only on specific trigger events (close-out). This protects IM in a default: even if the non-defaulting party defaults, the IM remains available to cover the defaulting party's losses. Operations must establish custodian agreements, account structures, and daily reconciliation processes for IM accounts — adding significant operational complexity compared to bilateral VM.</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Margin Disputes and Resolution</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When counterparties disagree on MTM valuation (and therefore on the Delivery Amount), a margin dispute arises. Standard CSA procedure: (1) Upon receipt of a disputed call, the disputing party must transfer the undisputed amount immediately. (2) Both parties agree to obtain market quotations from 3–5 reference dealers. (3) The average of dealer quotes determines the correct MTM. (4) The difference is settled. Persistent margin disputes indicate pricing model differences — operations must escalate to risk management to resolve underlying model discrepancies. Unresolved disputes compound — creating stale breaks that distort portfolio risk metrics.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F10.5 · Credit Support Annex (CSA)</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BCBS/IOSCO Uncleared Margin Rules phased in over 2016–2022 are arguably the most operationally transformative derivatives regulation since Dodd-Frank. Phase 6 brought in hundreds of mid-sized firms that had never managed ISDA IM before. For a regional Indian bank with AANA just above €8 billion, implementing UMR compliance requires new custodian relationships, SIMM calculation infrastructure, sensitivity exchange processes, and legal documentation (IM-related ISDA documentation like the ISDA 2018 CSA for IM). From a cost-benefit perspective, should smaller firms be exempted from UMR? What systemic risk exists if they are?</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Variation margin transforms OTC derivatives from 'accumulate risk until default' to 'settle MTM daily.' This is conceptually identical to exchange-style daily settlement. But unlike exchange clearing, bilateral VM under a CSA still has operational risk — disputed valuations, failed margin calls, incorrect SSIs. Compare the operational risk of bilateral VM management under a CSA vs the operational risk of CCP margin management. Under what conditions is bilateral CSA margining superior to CCP clearing from an operations perspective?</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F10.5 · Credit Support Annex (CSA)</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Explain the Variation Margin calculation under a standard ISDA CSA.</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Variation Margin under a CSA is calculated daily to reflect the current MTM exposure between counterparties. The formula has three steps. Step 1 — Credit Support Amount: this is max(Exposure minus Threshold, 0). Exposure is the current MTM of all trades under the CSA — how much Party B owes Party A if all trades were terminated today. Threshold is the MTM level below which no collateral is required. If Exposure is $18M and Threshold is $5M, Credit Support Amount = $13M. Step 2 — Delivery Amount: this is max(Credit Support Amount minus Existing Collateral minus MTA, 0). Existing Collateral is the collateral already held. MTA is the Minimum Transfer Amount — the operational minimum below which no transfer is made. If $11M is already held and MTA is $0.5M: Delivery Amount = max($13M minus $11M minus $0.5M, 0) = $1.5M. Party B must deliver an additional $1.5M of collateral to Party A. Step 3 — Settlement: collateral is transferred within one business day (T+1) under BCBS/IOSCO rules. Eligible collateral is specified in the CSA — cash (zero haircut), government bonds (small haircut), high-grade corporate bonds (higher haircut). Operations teams run this calculation daily for each CSA counterparty and manage the resulting margin calls.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ISDA SIMM and how is it used for Initial Margin under UMR?</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ISDA SIMM — Standard Initial Margin Model — is the industry-standard model for calculating Initial Margin on non-cleared OTC derivatives under the BCBS/IOSCO Uncleared Margin Rules. How it works: instead of sharing raw position data (which would reveal trading strategies), counterparties exchange risk sensitivities — specifically delta, vega, and curvature Greeks for each trade across six asset classes: Interest Rates, Credit, Equity, FX, Commodity, and Inflation. SIMM applies risk weights and correlation parameters (calibrated annually by ISDA to historical stress periods) to these sensitivities to calculate a 10-day 99% VaR-equivalent IM amount. Both parties calculate SIMM independently using agreed sensitivities — ideally arriving at the same IM number. If they differ, it indicates a model or input discrepancy that must be resolved. Operationally: counterparties exchange sensitivities daily, typically via AcadiaSoft's platform. AcadiaSoft calculates SIMM for both parties and identifies discrepancies. The resulting IM must be posted to a third-party segregated custodian — not held bilaterally. SIMM requires significant infrastructure: sensitivity calculation engines in the risk system, AcadiaSoft connectivity, custodian agreements, and daily reconciliation. This is why UMR Phase 6 was the most operationally intensive recent regulatory change for mid-sized market participants.</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F10.6</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2800" b="1" dirty="0">
                <a:solidFill>
                  <a:srgbClr val="FFFFFF"/>
                </a:solidFill>
              </a:rPr>
              <a:t>ISDA Definitions</a:t>
            </a:r>
            <a:endParaRPr lang="en-US" sz="28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6 of 10  |  ISDA &amp; OTC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F10.6 · ISDA Definitions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150" dirty="0">
                <a:solidFill>
                  <a:srgbClr val="404040"/>
                </a:solidFill>
              </a:rPr>
              <a:t>ISDA Definitions booklets provide standardised vocabulary for OTC derivatives, incorporated by reference into confirmations. Key booklets: 2006 ISDA Definitions (rates/currency swaps), 1998 FX Definitions (FX options/NDFs), 2014 Credit Derivatives Definitions (CDS), 2002 Equity Definitions (equity swaps/options).</a:t>
            </a:r>
            <a:endParaRPr lang="en-US" sz="115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150" dirty="0">
                <a:solidFill>
                  <a:srgbClr val="404040"/>
                </a:solidFill>
              </a:rPr>
              <a:t>The 2006 ISDA Definitions contain 400+ floating rate options, day count conventions (ACT/360, ACT/365, ACT/ACT), and business day conventions (Modified Following, Preceding).</a:t>
            </a:r>
            <a:endParaRPr lang="en-US" sz="115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150" dirty="0">
                <a:solidFill>
                  <a:srgbClr val="404040"/>
                </a:solidFill>
              </a:rPr>
              <a:t>The 2014 Credit Derivatives Definitions introduced the Determinations Committee (DC) — 15 members voting on Credit Events — and auction-based settlement replacing bilateral cash settlement.</a:t>
            </a:r>
            <a:endParaRPr lang="en-US" sz="115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150" dirty="0">
                <a:solidFill>
                  <a:srgbClr val="404040"/>
                </a:solidFill>
              </a:rPr>
              <a:t>CDS Credit Events: Bankruptcy, Failure to Pay, Obligation Acceleration, Obligation Default, Repudiation/Moratorium, Restructuring (4 variants: Full, Modified, Modified Modified, No Restructuring).</a:t>
            </a:r>
            <a:endParaRPr lang="en-US" sz="11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F10.6 · ISDA Definitions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credit analyst at a hedge fund holds $10M notional CDS protection on Sovereign X. On 15 March 2027, Sovereign X announces it is extending the maturity of all outstanding bonds by 3 years — a debt restructuring. The analyst believes this constitutes a Restructuring Credit Event under the 2014 ISDA Credit Derivatives Definitions. The CDS protection was sold by a dealer with a Modified Restructuring election in the confirmation.</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Under Modified Restructuring, is this maturity extension a Restructuring Credit Event? If the DC confirms a Credit Event, what is the settlement process? If the auction recovery price is 45 cents on the dollar, what is the contingent payment per $10M notional? Why does the Modified Restructuring election matter for the eligible deliverable obligations?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F10.6 · ISDA Definitions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ISDA Definitions: The Vocabulary Layer of OTC Documentation</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ISDA Definitions solve a fundamental problem: two parties need to agree on hundreds of precise technical terms for every trade — what exactly is '3-month EURIBOR'? Which holiday calendar applies? What is the day count convention? Rather than defining these in every confirmation (impractical), the parties incorporate the relevant Definitions booklet by reference. One sentence — 'The 2006 ISDA Definitions are incorporated herein' — brings 400+ defined terms into the confirmation. The result: brevity, standardisation, and legal certainty. Operations staff benefit because electronic confirmation platforms can validate against definitions, enabling straight-through processing of confirmations with no human review required.</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2006 Definitions</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IRS, cross-currency swaps. Floating rate options (EURIBOR, SOFR, MIBOR), day count, BDC.</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2014 Credit Definitions</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CDS. 6 Credit Events, DC process, auction settlement, 4 Restructuring variants.</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2002 Equity Definitions</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Equity swaps, options. Extraordinary Events (merger, nationalisation), dividend treatment.</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1998 FX Definitions</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FX options, NDFs. Price Source Disruption, Settlement Disruption, fixing sources.</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F10.6 · ISDA Definitions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The Determinations Committee Process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ISDA Determinations Committee (DC) is a 15-member body (10 dealers including JPMorgan, Goldman, Barclays; 5 buy-side including PIMCO and BlackRock) that determines whether a Credit Event has occurred for a given reference entity. Process: a DC Question is submitted (any market participant can submit). DC votes within 10 business days. Supermajority (80%) required to resolve. If DC confirms Credit Event, an auction date is set. The auction is administered by Markit/ISDA. Final Price (recovery rate) is published. All cash-settled CDS on that reference entity settle at (1 − recovery). Operations teams track DC votes for reference entities they have CDS exposure on.</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IBOR Transition and the 2021 ISDA Definitions</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LIBOR's discontinuation (end 2021 for most currencies) required a major update to the 2006 ISDA Definitions. ISDA published the 2021 ISDA Interest Rate Derivatives Definitions, incorporating risk-free rates (SOFR for USD, SONIA for GBP, €STR for EUR) with their compound-in-arrears calculation conventions. Legacy trades referencing LIBOR use the ISDA 2020 IBOR Fallbacks Supplement — a published amendment that adds fallback provisions to legacy 2006 Definitions references. For operations, the transition required: updating floating rate option codes in trade systems, amending CSAs referencing LIBOR-linked thresholds, and confirming with counterparties which version governs each trade.</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NDF Fixing Sources Under 1998 FX Definitions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Non-deliverable forwards settle in USD based on the difference between contracted NDF rate and a fixing rate. The 1998 FX Definitions specify the fixing source for each currency. For INR: FBIL-INR01 (FBIL's INR/USD spot fixing, published at 1:30 PM IST). For CNY: PRC State Administration of Foreign Exchange (SAFE) rate. For BRL: PTAX rate published by Banco Central do Brasil. Operations must confirm that the confirmation references the current market-standard fixing source — FBIL replaced the earlier FEDAI/RBI reference rate as the standard INR NDF fixing source. Using a superseded source in a confirmation creates dispute risk.</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Extraordinary Events in Equity Definitions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2002 Equity Definitions govern corporate action events that affect equity derivative trades. Merger Event: the reference share ceases to exist due to merger. Three treatments: Options Exchange (replace with acquirer shares), Cancellation and Payment (terminate at fair value), Partial Continuation. Tender Offer: a substantial portion of shares are acquired. Nationalisation: government acquires shares — typically Cancellation and Payment. Insolvency: Cancellation and Payment at zero. Index cancellation: replacement index or Cancellation and Payment. Operations teams at equity derivatives desks must monitor corporate actions daily and apply the elected Extraordinary Event treatment to each affected trade — triggering system amendments and counterparty notifications.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F10.6 · ISDA Definitions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2014 ISDA Credit Derivatives Definitions replaced the 2003 version following the 2008 crisis and the Greek sovereign debt restructuring of 2012. The 2003 Definitions were found to be inadequate for: (1) bail-in scenarios where bondholders receive equity rather than cash, (2) sovereign restructurings, (3) the ambiguity around what constitutes a 'Restructuring' Credit Event. Evaluate the 2014 Definitions' solutions to each of these three problems — Asset Package Delivery for bail-ins, DC process for sovereign Credit Events, and four Restructuring variants. Are there remaining gaps that regulators or ISDA should address?</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ISDA Definitions booklets are updated periodically — 2003 to 2014 for Credit, 1991/2000/2006 for rates. When a new version is published, legacy trades continue to reference the old version, creating a two-tier market. For example, a CDS referencing 2003 Credit Definitions will be governed by different Credit Event definitions than a CDS referencing 2014 Definitions on the same reference entity. This creates basis risk — the same underlying credit deterioration may trigger a Credit Event under one version but not the other. How should operations teams manage documentation version risk in their CDS portfolios?</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F10.6 · ISDA Definitions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Explain the role of ISDA Definitions booklets in OTC derivative documentation.</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ISDA Definitions booklets provide a standardised, pre-agreed vocabulary that is incorporated by reference into OTC derivative confirmations. Without them, every confirmation would need to define hundreds of technical terms — what floating rate index applies, which business day calendar, which day count convention, what triggers a Credit Event. Definitions booklets solve this by allowing a single reference to bring hundreds of defined terms into a confirmation. For example, a confirmation that states 'The 2006 ISDA Definitions are incorporated herein by reference' automatically brings in 400+ defined terms including all floating rate options, day count conventions, and business day conventions. The main booklets by product: (1) 2006 ISDA Definitions — interest rate and cross-currency swaps. Defines 400+ floating rate options like EURIBOR-Reuters, SOFR-COMPOUND, MIBOR-FBIL. Defines day count conventions (ACT/360, ACT/365, 30/360) and business day conventions (Modified Following, Preceding, Following). (2) 2014 ISDA Credit Derivatives Definitions — CDS. Defines 6 Credit Events, the Determinations Committee process, auction settlement mechanics. (3) 2002 ISDA Equity Derivatives Definitions — equity swaps and options. Defines Extraordinary Events (mergers, nationalisations), dividend treatment, and valuation methodology. (4) 1998 ISDA FX and Currency Option Definitions — FX options and NDFs. Defines fixing sources, disruption events, and settlement mechanics. For operations, this standardisation is what enables electronic confirmation matching — platforms like MarkitWire can validate confirmations against Definitions automatically.</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are the six Credit Events under the 2014 ISDA Credit Derivatives Definitions?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2014 ISDA Credit Derivatives Definitions recognise six Credit Events: (1) Bankruptcy — the reference entity becomes insolvent, files for bankruptcy, or has an administrator appointed. The clearest and most unambiguous Credit Event. (2) Failure to Pay — the reference entity fails to make a payment on a bond or loan above a minimum threshold (typically $1 million) after expiry of any applicable grace period. (3) Obligation Acceleration — obligations of the reference entity have become due and payable before their scheduled maturity due to a default. (4) Obligation Default — an obligation of the reference entity is in default (short of acceleration) — less commonly used. (5) Repudiation/Moratorium — the reference entity or a government authority rejects, challenges, or imposes a moratorium on obligations. Particularly relevant for sovereign CDS. (6) Restructuring — obligations of the reference entity have been restructured (maturity extension, coupon reduction, currency change) in a manner adverse to holders. This is the most controversial Credit Event. The 2014 Definitions offer four variants: Full Restructuring (FR), Modified Restructuring (MR — US market standard), Modified Modified Restructuring (MMR — European standard), and No Restructuring (NR — removes Restructuring entirely). The variant elected in the confirmation affects both the triggering threshold and the eligible deliverable obligations in a physical settlement scenario.</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F10.7</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2800" b="1" dirty="0">
                <a:solidFill>
                  <a:srgbClr val="FFFFFF"/>
                </a:solidFill>
              </a:rPr>
              <a:t>OTC Market Participants and Execution</a:t>
            </a:r>
            <a:endParaRPr lang="en-US" sz="28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7 of 10  |  ISDA &amp; OTC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F10.7 · OTC Market Participants and Execution</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150" dirty="0">
                <a:solidFill>
                  <a:srgbClr val="404040"/>
                </a:solidFill>
              </a:rPr>
              <a:t>OTC market participants: Dealers (G16 banks — market-makers), Buy-side (asset managers, hedge funds, corporates — end users), Inter-Dealer Brokers (intermediaries between dealers), Infrastructure (CCPs, Trade Repositories, Custodians).</a:t>
            </a:r>
            <a:endParaRPr lang="en-US" sz="115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150" dirty="0">
                <a:solidFill>
                  <a:srgbClr val="404040"/>
                </a:solidFill>
              </a:rPr>
              <a:t>Execution channels: Voice (bespoke/illiquid), SDP — Single Dealer Platform (one bank's proprietary portal), MDP — Multi-Dealer Platform (Tradeweb, Bloomberg TSOX — competitive quotes), SEF — Swap Execution Facility (Dodd-Frank mandated for US standardised OTC).</a:t>
            </a:r>
            <a:endParaRPr lang="en-US" sz="115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150" dirty="0">
                <a:solidFill>
                  <a:srgbClr val="404040"/>
                </a:solidFill>
              </a:rPr>
              <a:t>Dodd-Frank (US) mandates SEF execution for standardised IRS and CDS index for US persons. EMIR (EU) mandates OTF execution. India: RBI mandates CCIL for INR IRS above ₹10 crore.</a:t>
            </a:r>
            <a:endParaRPr lang="en-US" sz="115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150" dirty="0">
                <a:solidFill>
                  <a:srgbClr val="404040"/>
                </a:solidFill>
              </a:rPr>
              <a:t>In India: CCIL is both CCP and TR. FEDAI sets FX market conventions. FIMMDA publishes interest rate benchmarks. RBI-regulated banks are primary OTC dealers.</a:t>
            </a:r>
            <a:endParaRPr lang="en-US" sz="11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F10.7 · OTC Market Participants and Execution</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Swiss asset manager (not a US person) wants to execute a 10-year EUR/USD cross-currency basis swap with notional EUR 200 million. They request quotes from 5 dealers via Tradeweb (MDP). The best quote comes from a US bank's London branch. The trade involves a US person (the bank's parent guarantees the London branch), so Dodd-Frank may apply.</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Is this trade subject to Dodd-Frank SEF execution requirements? What is the relevant jurisdictional analysis? If the trade must be executed on a SEF, what platforms are eligible? What execution records must be maintained under both EU (EMIR) and US (CFTC) rules?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F10.7 · OTC Market Participants and Execution</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OTC Execution: From Voice to Mandatory Electronic Trading</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OTC execution has transformed from purely voice-based negotiation to a spectrum of electronic channels, capped by regulatory mandates for the most standardised products. The driver: post-2008 reforms prioritised transparency and auditability. SEFs and OTFs create a public audit trail — time-stamped, electronically verified trade records that regulators can access. For operations, execution channel matters because it determines: the audit trail available for dispute resolution, regulatory reporting obligations, clearing eligibility (SEF-executed trades go directly to CCP), and STP potential (electronic execution enables straight-through processing to booking systems). Voice-negotiated trades require manual booking and are the primary source of capture errors.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Voice Execution</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Bespoke, illiquid, or structured products. Negotiated by phone/chat. Requires manual booking.</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MDP / SEF</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Competitive multi-dealer quotes. Electronic. Mandatory for standardised US-person OTC trades.</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CCIL (India)</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Mandatory CCP clearing for INR IRS &gt; ₹10 crore. Also TR for IRS and FX forward reporting.</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RFQ Process</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Client sends specs to 5 dealers → dealers respond → client accepts best → STP to booking.</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F10.7 · OTC Market Participants and Execution</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SEF vs OTF: US vs EU Approach</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US Dodd-Frank created SEFs (Swap Execution Facilities) — CFTC-regulated platforms offering CLOB or RFQ with ≥3 dealers. Mandatory for 'made available to trade' (MAT) determinations by CFTC — currently vanilla IRS (USD, EUR, GBP, JPY) and CDS indices. EU MiFID II created OTFs (Organised Trading Facilities) — for non-equity derivatives not eligible for MTF. OTF operators have discretion in matching (unlike CLOB SEFs). Key difference: SEFs are strictly rules-based (CLOB or RFQ). OTFs allow operator judgment. Both require pre- and post-trade transparency reporting. Cross-border: a trade between a US SEF participant and an EU OTF participant must satisfy both jurisdictions' requirements — creating 'dual-compliance' challenges.</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Inter-Dealer Brokers: Function and Regulation</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IDBs like BGC, ICAP/TP ICAP, and Tradition broker dealer-to-dealer OTC trades. They operate voice desks (traders call in with axe — size and direction of interest) and electronic platforms (hybrid voice/electronic). IDBs are anonymous intermediaries: they don't reveal which dealer is offering/bidding, protecting dealers from market-impact information leakage. Regulated as brokers — not dealers — they don't take principal risk. Post-Dodd-Frank, many IDB platforms registered as SEFs to capture the electronification mandate. IDB revenue has declined as standardised products moved to MDP/SEF platforms — IDB volume is increasingly concentrated in exotic, illiquid, or bespoke products.</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Best Execution in OTC Markets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MiFID II requires buy-side firms to achieve best execution for client trades — executing at the best available price accounting for cost, speed, and execution quality. For OTC derivatives, this creates an obligation to use MDPs or SEFs where competitive pricing is available. Buy-side firms must maintain Best Execution policies and demonstrate annual review. Operations teams at asset managers must: record execution venue for each trade, compare executed prices to market benchmarks, report execution quality statistics. The shift to MDP/SEF execution is partly regulatory compliance for best execution — multiple dealer quotes create a demonstrable competitive process.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CCIL's Dual Role in India</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CCIL (Clearing Corporation of India Limited) occupies a unique position: it is both a CCP and a Trade Repository, regulated by RBI. As CCP: novates into all INR IRS and G-Sec repo trades, collecting initial and variation margin from clearing members. As TR: all RBI-regulated OTC derivatives (IRS, OIS, FX forwards/swaps) must be reported to CCIL TR. CCIL provides data to RBI for market surveillance. CCIL's annual trade volume exceeds $1 trillion notional in IRS alone. For Indian banks, CCIL connectivity (both clearing and TR reporting) is a core operations infrastructure requirement — managed by the operations and technology teams.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F10.7 · OTC Market Participants and Execution</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mandatory SEF execution requirement under Dodd-Frank was intended to increase price transparency in OTC derivatives markets by requiring competitive multi-dealer quoting. Critics argue that SEFs have simply moved bilateral voice execution to electronic platforms while preserving dealer oligopoly — the same 5 dealers still win most SEF RFQs. Has mandatory SEF execution achieved its transparency and competition objectives? What additional regulatory interventions (e.g., mandatory pre-trade price transparency, anonymous CLOB for all standardised IRS) might further democratise OTC pricing?</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CCIL's role as both CCP and TR for Indian OTC derivatives is unique globally — most markets separate these functions. The combined role gives CCIL (and by extension RBI) comprehensive real-time visibility into India's OTC derivatives market. From a financial stability perspective, this is powerful. From a competition perspective, CCIL's monopoly in Indian OTC clearing and reporting raises questions about pricing, innovation, and conflict of interest. Compare India's model to the multi-CCP, multi-TR model in the US and EU. What are the systemic risk, operational, and competitive implications of each approach?</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F10.7 · OTC Market Participants and Execution</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are the main execution channels for OTC derivatives and when would each be used?</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OTC derivatives can be executed through four main channels, each suited to different product types and regulatory requirements. (1) Voice execution: the trader or salesperson negotiates the trade by phone or electronic chat. Suitable for complex, bespoke, or illiquid products — cross-currency swaps with exotic features, long-dated CDS on illiquid reference entities, structured equity swaps. Voice execution requires manual booking and is the primary source of trade capture errors. (2) Single Dealer Platform (SDP): the client accesses one dealer's proprietary electronic portal — Goldman's GSessions, JP Morgan's JPMM. Suitable for vanilla products where the client has a preferred dealer relationship. Generates STP to booking. One price only — no competition. (3) Multi-Dealer Platform (MDP): the client sends an RFQ to multiple dealers simultaneously via Tradeweb, Bloomberg TSOX, or FXAll. Dealers respond competitively. Client selects best price. Generates STP. Satisfies best execution obligations. Standard for vanilla IRS, CDS indices, FX options. (4) Swap Execution Facility (SEF): a CFTC-regulated platform offering CLOB or RFQ with ≥3 dealers. Mandatory under Dodd-Frank for standardised IRS and CDS indices traded between US persons. Provides full pre- and post-trade transparency. Trades automatically reported to SDR and routed to CCP for clearing. Operations implications: voice = highest manual workload, highest error risk. SDP/MDP = STP, low error risk. SEF = automated reporting and clearing workflow.</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role of CCIL in India's OTC derivatives market?</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CCIL — the Clearing Corporation of India Limited — serves two critical functions in India's OTC derivatives market: (1) Central Counterparty (CCP): CCIL acts as the central counterparty for INR interest rate derivatives and government securities repos. When two banks execute an IRS, CCIL novates into the trade — becoming the buyer to every seller and seller to every buyer. This eliminates bilateral counterparty risk between the two original parties. RBI mandated CCIL clearing for INR IRS above ₹10 crore notional. CCIL collects initial and variation margin from clearing members daily. In the event of a member default, CCIL uses the margin and its default waterfall fund to cover losses — preventing contagion to other clearing members. (2) Trade Repository (TR): CCIL also operates India's OTC derivatives trade repository under RBI authorisation. All RBI-regulated OTC derivatives — IRS, OIS, FX forwards, FX swaps, and G-Sec repos — must be reported to CCIL TR. Reports include economic terms, UTIs, and LEIs of both counterparties. CCIL aggregates this data for RBI's market surveillance — providing visibility into systemic risk concentrations. For Indian bank operations teams, CCIL connectivity is a core infrastructure requirement: both the clearing workflow (submitting trades for novation, managing margin calls) and the TR reporting workflow (submitting trade reports within regulatory deadlines) are managed daily.</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F10.8</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2800" b="1" dirty="0">
                <a:solidFill>
                  <a:srgbClr val="FFFFFF"/>
                </a:solidFill>
              </a:rPr>
              <a:t>OTC TLC Stages 1–6: Initiation to Validation</a:t>
            </a:r>
            <a:endParaRPr lang="en-US" sz="28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8 of 10  |  ISDA &amp; OTC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F10.8 · OTC TLC Stages 1–6: Initiation to Validation</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150" dirty="0">
                <a:solidFill>
                  <a:srgbClr val="404040"/>
                </a:solidFill>
              </a:rPr>
              <a:t>OTC TLC has 11 stages: Initiation (1) → Execution (2) → Reporting (3) → Capture (4) → Enrichment (5) → Validation (6) → Verification (7) → Confirmation (8) → Transaction Reporting (9) → Settlement (10) → Reconciliation (11).</a:t>
            </a:r>
            <a:endParaRPr lang="en-US" sz="115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150" dirty="0">
                <a:solidFill>
                  <a:srgbClr val="404040"/>
                </a:solidFill>
              </a:rPr>
              <a:t>Stage 3 (Reporting): trade must be reported to TR (CCIL, DTCC, etc.) with UTI and LEI within regulatory deadline — same day for CCIL, T+1 for DTCC/EMIR.</a:t>
            </a:r>
            <a:endParaRPr lang="en-US" sz="115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150" dirty="0">
                <a:solidFill>
                  <a:srgbClr val="404040"/>
                </a:solidFill>
              </a:rPr>
              <a:t>Stage 4–5 (Capture &amp; Enrichment): raw deal ticket is booked in Murex/Calypso; enrichment adds payment schedules, holiday calendars, SSIs, and index definitions from reference data.</a:t>
            </a:r>
            <a:endParaRPr lang="en-US" sz="115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150" dirty="0">
                <a:solidFill>
                  <a:srgbClr val="404040"/>
                </a:solidFill>
              </a:rPr>
              <a:t>Stage 6 (Validation): four-layer check — Economic (rates within market range), Static Data (LEI active, SSI on file), Regulatory (clearing eligibility, TR status), Documentation (ISDA in place, product covered).</a:t>
            </a:r>
            <a:endParaRPr lang="en-US" sz="11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F10.8 · OTC TLC Stages 1–6: Initiation to Validation</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On 8 May 2026, Axis Bank executes an INR 200 crore 5-year IRS with a corporate client (pays fixed 6.85%, receives MIBOR-OIS). The trade is executed via voice at 11:47 AM. The client's ISDA MA covers 'interest rate derivatives' but was signed in 2015 using MIFOR as the floating index reference. MIBOR-OIS is not explicitly mentioned.</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At Stage 3, what must Axis Bank report to CCIL TR and by when? At Stage 5, what enrichment challenges arise given the transition from MIFOR to MIBOR-OIS? At Stage 6, what documentation validation issue does the 2015 ISDA Schedule create? How should operations resolve this before confirmation can proceed?</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F10.8 · OTC TLC Stages 1–6: Initiation to Validation</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OTC Middle Office: The Six-Stage Control Layer</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six stages from Initiation to Validation form the OTC middle office's quality control layer. Each stage adds precision to the raw trade: Initiation creates the business requirement, Execution agrees the price, Reporting creates the regulatory record, Capture books the trade, Enrichment populates it with operational data, Validation checks everything is correct. The middle office is not just administrative — it is the control function that separates revenue generation from settlement risk. STP is the automation engine: a trade that passes all enrichment and validation checks automatically flows to confirmation. A trade that fails creates an exception — requiring skilled operations professionals to diagnose and resolve. This exception management is where operational expertise delivers real value.</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Stage 3: TR Reporting</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UTI generation, LEI confirmation, CCIL/DTCC report filed within deadline. Non-compliance = regulatory breach.</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Stage 4: Capture</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Murex/Calypso booking — economic terms exact match to deal ticket. Zero tolerance for booking errors.</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Stage 5: Enrichment</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Payment schedules, holiday calendars, SSIs, index definitions added from reference data repositories.</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Stage 6: Validation</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4 layers: Economic, Static Data, Regulatory, Documentation. All must pass before confirmation.</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F10.8 · OTC TLC Stages 1–6: Initiation to Validation</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UTI (Unique Transaction Identifier) Management</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The UTI is a 52-character alphanumeric code that uniquely identifies each OTC derivative globally. Under Dodd-Frank, the executing SEF or platform generates the UTI. Under EMIR, the UTI is generated by the reporting counterparty. Under CCIL rules, UTI follows the ISO 23897 standard. Operations must ensure: UTI is correctly generated at execution, UTI is matched between both counterparties' trade reports (unmatched UTIs create TR breaks), and UTI is carried through all lifecycle event reports. UTI database maintenance — ensuring all trades have valid UTIs — is a daily operations task. Duplicate UTIs (a booking error) cause TR reporting failures that must be resolved with the UTI issuing platform.</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Reference Data Quality: The Foundation of STP</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Enrichment is only as good as the reference data it draws from. Poor reference data is the #1 cause of STP failures in OTC operations. Critical reference data elements: (1) Holiday calendars — incorrect calendars generate wrong payment dates. (2) SSIs (Standard Settlement Instructions) — incorrect SSIs mean payments go to wrong accounts. (3) Counterparty LEIs — expired or incorrect LEIs cause TR report rejections. (4) Floating rate index definitions — incorrect index code causes wrong fixing source. Operations teams must maintain rigorous reference data governance: daily reconciliation of holiday calendars against exchange publications, SSI updates within 24 hours of counterparty notification, LEI renewal monitoring. A mature operations function has a dedicated reference data management team.</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The Four-Layer Validation Framework</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Stage 6 Validation checks four dimensions. Economic validation: is the fixed rate within a reasonable market range? Is the notional within the counterparty's credit limit? If the fixed rate is 20% on an INR IRS when the market is 6.85%, it's a booking error — not a real trade. Static data validation: is the counterparty's LEI active? Are SSIs on file? Is the product code correct? Regulatory validation: does the trade fall within CCIL's clearing mandate? Has the TR report been submitted? Is this trade subject to UMR? Documentation validation: is there an ISDA MA covering this product? Is the floating rate index covered in the Schedule? A single failure in any layer creates an exception that must be resolved before Stage 7 (Verification).</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MIFOR to MIBOR-OIS Transition in India</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MIFOR (Mumbai Inter-Bank Forward Offer Rate) was India's primary IRS floating rate index — based on USD LIBOR + forward premium. When USD LIBOR was discontinued in 2021, MIFOR became non-representative. FIMMDA and RBI guided the transition to MIBOR-OIS (Mumbai Inter-Bank Offer Rate Overnight Indexed Swap). Operationally: thousands of legacy IRS trades referenced MIFOR. These needed: (1) confirmation amendments changing floating rate option from MIFOR to MIBOR-OIS with a spread adjustment. (2) ISDA Schedule/CSA updates. (3) System reference data updates (new floating rate option codes). (4) Counterparty consent and communication. The MIFOR transition was India's equivalent of the global LIBOR transition — a 2-3 year operational programme managed by Indian bank operations teams.</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F10.8 · OTC TLC Stages 1–6: Initiation to Validation</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OTC TLC's middle office control stages (3–8) add significant cost and time to trade processing compared to exchange-traded derivatives — where capture and confirmation happen within milliseconds of execution. OTC operations teams argue these controls are necessary given bespoke product complexity and bilateral risk. But as OTC products become more standardised (vanilla IRS, plain CDS indices) and electronic execution becomes standard, should the OTC TLC middle office be radically simplified — perhaps collapsing Stages 4–8 into a single automated flow? What controls would need to be preserved, and which are legacy processes from the voice/paper era?</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India's MIFOR-to-MIBOR transition is similar in many ways to the global LIBOR transition — a mandatory shift from a benchmark rate that no longer represents actual market transactions to a risk-free overnight rate. Both required mass remediation of legacy contracts. But MIFOR's discontinuation was less disruptive than LIBOR because MIFOR was primarily used in domestic INR IRS, not in trillions of international contracts. What lessons from the MIFOR transition should Indian banks apply to future potential benchmark transitions? What operational infrastructure improvements would make future transitions less painful?</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F10.8 · OTC TLC Stages 1–6: Initiation to Validation</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Walk me through the Trade Capture and Enrichment stages of the OTC Trade Life Cycle.</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Trade Capture (Stage 4) is the process of booking the executed trade into the bank's trade management system — Murex, Calypso, or Finastra Fusion. The deal ticket from the trading desk is the source document. Key fields that must be captured exactly: counterparty (with LEI), trade date, effective date, maturity date, product type, notional amount, currency, fixed rate (for IRS), floating rate index and tenor (e.g., MIBOR-OIS 3-month), payment frequency, day count convention, business day convention, governing documentation (ISDA MA reference). Any discrepancy between the deal ticket and what's booked is a trade capture break — an exception requiring immediate resolution. STP means this capture happens automatically from the electronic execution confirmation. For voice trades, the trader or salesperson manually enters the deal ticket — the primary source of errors. Enrichment (Stage 5) is the process of adding reference data to the captured economic terms to create a fully operational trade record. What gets added: payment schedule generation — all individual payment dates for fixed and floating legs, adjusted for business day conventions and holiday calendars. Standard Settlement Instructions — the bank account details for payment routing, loaded from the SSI database for this counterparty. Floating rate fixing dates — when MIBOR-OIS will be observed for each period. Netting instructions — whether payments on the same date will be netted. Product code and internal reference. Enrichment transforms a 10-field deal ticket into a 200-field operational trade record. The quality of enrichment depends entirely on the quality of reference data — holiday calendars, SSI database, index definitions.</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a UTI and why is it important in OTC trade reporting?</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A UTI — Unique Transaction Identifier — is a globally unique code assigned to each OTC derivative trade, used to identify the trade across all regulatory reporting systems. It is important for three reasons. First, regulatory reporting linkage: all trade reports submitted to trade repositories (CCIL, DTCC, ESMA-registered TRs) reference the UTI. When both counterparties report the same trade to their respective TRs, regulators can match the reports using the UTI — confirming both sides of the trade are reporting consistently. A UTI mismatch means the two reports don't reconcile, creating a regulatory break. Second, lifecycle event tracking: every time the trade changes — amendment, partial termination, novation, rate reset — the lifecycle event report references the original UTI. This creates a complete audit trail of the trade's history. Without consistent UTI management, regulatory reports become disconnected and the trade's lifecycle is invisible to regulators. Third, double-counting prevention: regulators use UTI matching to ensure the same trade isn't counted twice in systemic risk analytics. Operationally, UTI management involves: ensuring UTI is generated at execution (by the SEF, MDP, or the reporting counterparty), reconciling UTIs with counterparties to confirm both sides are using the same UTI, and maintaining a UTI database linking each internal trade ID to its regulatory UTI. UTI mismatch rates are a key TR reporting quality metric.</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F10.9</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2800" b="1" dirty="0">
                <a:solidFill>
                  <a:srgbClr val="FFFFFF"/>
                </a:solidFill>
              </a:rPr>
              <a:t>OTC TLC Stages 7–11: Confirmation to Reconciliation</a:t>
            </a:r>
            <a:endParaRPr lang="en-US" sz="28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9 of 10  |  ISDA &amp; OTC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F10.9 · OTC TLC Stages 7–11: Confirmation to Reconciliation</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150" dirty="0">
                <a:solidFill>
                  <a:srgbClr val="404040"/>
                </a:solidFill>
              </a:rPr>
              <a:t>Stage 8 (Confirmation): ISDA target 1 business day for vanilla IRS. Electronic platforms: MarkitWire (rates), DTCC Deriv/SERV (CDS). Confirmation = legally binding document incorporating ISDA MA, Definitions, and trade terms.</a:t>
            </a:r>
            <a:endParaRPr lang="en-US" sz="115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150" dirty="0">
                <a:solidFill>
                  <a:srgbClr val="404040"/>
                </a:solidFill>
              </a:rPr>
              <a:t>Stage 9 (Transaction Reporting): all lifecycle events — rate reset, novation, amendment, partial termination — must be reported to TR within T+1. UTI links all reports for the trade's life.</a:t>
            </a:r>
            <a:endParaRPr lang="en-US" sz="115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150" dirty="0">
                <a:solidFill>
                  <a:srgbClr val="404040"/>
                </a:solidFill>
              </a:rPr>
              <a:t>Stage 10 (Settlement): IRS settlement = floating fixing × notional × day fraction. Cleared through CCIL (RTGS multilateral net). Non-cleared via SWIFT MT202 to correspondent bank.</a:t>
            </a:r>
            <a:endParaRPr lang="en-US" sz="115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150" dirty="0">
                <a:solidFill>
                  <a:srgbClr val="404040"/>
                </a:solidFill>
              </a:rPr>
              <a:t>Stage 11 (Reconciliation): EMIR mandates daily recon for &gt;500 OTC trades. Four break types: Trade Population, Economic Terms, Valuation (MTM), Cash Settlement. Compression (TriOptima) reduces portfolio size 40–60%.</a:t>
            </a:r>
            <a:endParaRPr lang="en-US" sz="11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F10.9 · OTC TLC Stages 7–11: Confirmation to Reconciliation</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On 12 November 2026, HDFC Bank's OTC operations team receives the quarterly floating rate payment from Citi for their 5-year IRS (notional ₹500 crore, MIBOR-OIS quarterly). The MIBOR-OIS fixed on 10 November 2026 at 6.42%. The payment is for the period 12 August to 12 November 2026 (92 days). HDFC Bank expected ₹8.09 crore but received only ₹8.04 crore.</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Verify the expected floating payment using the formula: Notional × Rate × Days/365. What is the discrepancy in rupees? What are the three most likely causes of this cash settlement break? What is the escalation procedure if Citi does not resolve the discrepancy by end of day?</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F10.9 · OTC TLC Stages 7–11: Confirmation to Reconciliation</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Settlement to Reconciliation: Closing the Loop</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The final five stages of the OTC TLC transform a confirmed trade into a settled, reconciled financial record. Settlement is where value actually changes hands — not at execution, but at specific cash flow events throughout the trade's life. Reconciliation is the financial control process that confirms every settlement was correct and complete. Together these stages form the back office's daily operating rhythm for an OTC derivatives desk. The complexity: a single 5-year IRS generates 20 quarterly floating payments, 10 semi-annual fixed payments, 60 monthly CSA margin exchanges, and 60 monthly reconciliation cycles. Multiplied across thousands of trades, this is an enormous operational undertaking requiring robust automation, exception management, and skilled professionals.</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Confirmation (Stage 8)</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Legal bilateral agreement. MarkitWire/DTCC for electronic confirmation. 1-day target for vanilla IRS.</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Settlement (Stage 10)</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Floating rate fixing → calculate payment → MT202 SWIFT instruction → RTGS/CCIL settlement.</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Reconciliation (Stage 11)</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Four break types. EMIR frequency requirements. TriOptima compression reduces portfolio size.</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Maturity Processing</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Final cashflow, collateral release, TR end-of-life report, trade closure in all systems.</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F10.9 · OTC TLC Stages 7–11: Confirmation to Reconciliation</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Electronic Confirmation Platforms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MarkitWire (IHS Markit) is the leading platform for rates derivative confirmation matching. Both parties upload their trade details; MarkitWire compares field by field and either confirms (match) or flags exceptions (mismatch). For CDS, DTCC Deriv/SERV is the standard. For equity derivatives, various bilateral platforms. Electronic confirmation has transformed confirmation backlogs: what took weeks of fax-based confirmation now completes in hours. ISDA tracks confirmation timeliness annually — vanilla IRS confirmation rates same-day or T+1 now exceed 95% for electronically-executed trades. Regulators (CFTC, ESMA) monitor confirmation backlog as a systemic risk indicator.</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SWIFT MT202 in OTC Settlement</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MT202 is the SWIFT message type for bank-to-bank payment instructions — used to settle OTC derivative cash flows. The message specifies: ordering bank, beneficiary bank, amount and currency, value date, and payment purpose. For cross-border OTC settlements (e.g., USD payment on an IRS), the MT202 routes through correspondent banks. CCIL's INR settlement uses RTGS directly rather than SWIFT for domestic INR flows. Operations teams must ensure MT202s are sent with correct value dates, correct beneficiary SSIs, and by the RTGS/SWIFT cut-off time. Failed or late MT202s cause settlement fails — tracked daily in the fails register.</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Portfolio Reconciliation Under EMIR</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EMIR Article 13 mandates portfolio reconciliation between financial counterparties. Frequency: daily for &gt;500 OTC trade portfolios, weekly for 51–499, quarterly for ≤50. The reconciliation compares: (1) trade population — do both parties have the same trades? (2) Economic terms — same notional, rate, dates? (3) MTM valuations — within agreed tolerance? (4) Collateral amounts held. Platforms: TriOptima TriRecon, DTCC, and bilateral data exchange. Each reconciliation break must be investigated and resolved within the EMIR-required timeframe. Annual reconciliation break rates and resolution speeds are KPIs for ops management — and are reviewed by regulators.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Trade Compression with TriOptima</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TriOptima's TriReduce service identifies offsetting or redundant OTC trades across a dealer's bilateral and multilateral portfolio and terminates them in a coordinated compression cycle. Process: (1) Dealers submit their portfolios to TriOptima. (2) TriOptima identifies sets of trades that can be terminated without changing net risk. (3) All relevant dealers consent to the termination set. (4) Trades are simultaneously novated/terminated. (5) Portfolio shrinks by 40–60% in trade count without changing net exposure. Benefits: fewer confirmations, settlements, and reconciliations. Reduced gross notional for capital reporting. Reduced operational complexity. ISDA WGMR studies show compression saves $100B+ in capital requirements for the industry annually.</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F10.9 · OTC TLC Stages 7–11: Confirmation to Reconciliation</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Settlement fails in OTC derivatives are significantly more costly and complex than exchange settlement fails. For exchange trades, T+1 settlement with CCP guarantee means fails are resolved through a well-defined CCP buy-in process. For non-cleared OTC derivatives, a settlement fail requires bilateral resolution — potentially involving SWIFT recall messages, correspondent bank involvement, and negotiation with the counterparty operations team. For cleared OTC through CCIL or LCH, the CCP manages the fail. Design an end-to-end settlement fail management framework for a large Indian bank's OTC derivatives operations team, specifying: fail identification, counterparty communication, escalation triggers, regulatory reporting, and fail resolution. What technology and process investments would reduce fail rates most effectively?</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Portfolio reconciliation is mandatory under EMIR but the frequency thresholds (daily for &gt;500 trades, weekly for 51–499) create a cliff effect — a firm with 501 trades must reconcile 365 times a year while a firm with 499 trades reconciles only 52 times. This creates an incentive to manage portfolio size below thresholds, which may conflict with efficient risk management. Should regulators adopt a more granular, risk-based approach to reconciliation frequency — where frequency is determined by portfolio risk (total MTM exposure or PFE) rather than trade count? What are the operational challenges of implementing risk-based reconciliation frequency?</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F10.9 · OTC TLC Stages 7–11: Confirmation to Reconciliation</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How is a floating rate payment calculated and settled for an interest rate swap?</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floating rate payment calculation has four steps. Step 1 — Fixing: on the floating rate reset date (typically 2 business days before the start of the calculation period), the floating rate index is observed from the designated source. For an INR OIS, this is MIBOR from FBIL, published at 9:40 AM IST. For USD SOFR, it is the NY Fed's SOFR publication. The fixing rate is the rate that applies for the entire calculation period. Step 2 — Calculate the floating amount: Floating Payment = Notional × Fixing Rate × Day Count Fraction. Day Count Fraction = Actual Days in Period / 365 (for ACT/365) or / 360 (for ACT/360). Example: notional ₹500 crore, MIBOR-OIS 6.42%, 92 days period, ACT/365: 500,00,00,000 × 6.42% × 92/365 = ₹8.09 crore. Step 3 — Netting: if fixed and floating payments are due on the same date (payment netting under ISDA MA Section 2c), the two amounts are netted — only one payment is made. Step 4 — Settlement: the paying party's operations team prepares a payment instruction — MT202 SWIFT message for cross-border, RTGS instruction for INR. The instruction is sent to the correspondent bank by the agreed cut-off time (typically 2:30 PM for INR RTGS). The receiving operations team confirms receipt by end of day. If payment is not received, a settlement fail is raised immediately.</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portfolio reconciliation and why is it important under EMIR?</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Portfolio reconciliation is the process of comparing OTC derivative trade records between two counterparties to ensure that both parties agree on all active trades, their economic terms, and their current valuations. It is important under EMIR (European Market Infrastructure Regulation) because EMIR Article 13 mandates that financial counterparties reconcile their OTC derivative portfolios at specified frequencies: daily for portfolios with more than 500 trades, weekly for 51–499 trades, quarterly for 50 or fewer. Why it matters: (1) Identifies undocumented trades — a trade that appears in one party's records but not the other's indicates a documentation, novation, or booking error that must be resolved. (2) Confirms economic terms agreement — a discrepancy in notional or rate reveals an amendment that wasn't processed on both sides, creating legal and financial risk. (3) Validates MTM valuations — while valuation differences due to different pricing models are expected within a tolerance range, large discrepancies indicate a systemic model difference that may affect margin calls. (4) Regulatory compliance — firms with high reconciliation break rates or slow break resolution attract supervisory attention. ESMA publishes guidance on acceptable break rates. Operationally, reconciliation is performed using platforms like TriOptima TriRecon or DTCC's portfolio reconciliation service. Each break must be investigated, escalated to the appropriate team (legal for documentation breaks, risk for valuation breaks, settlements for cash breaks), and resolved within the regulatory timeframe.</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01C4F"/>
          </a:solidFill>
          <a:ln w="12700">
            <a:solidFill>
              <a:srgbClr val="101C4F"/>
            </a:solidFill>
            <a:prstDash val="solid"/>
          </a:ln>
        </p:spPr>
      </p:sp>
      <p:sp>
        <p:nvSpPr>
          <p:cNvPr id="3" name="Shape 1"/>
          <p:cNvSpPr/>
          <p:nvPr/>
        </p:nvSpPr>
        <p:spPr>
          <a:xfrm>
            <a:off x="0" y="3474720"/>
            <a:ext cx="9144000" cy="1668780"/>
          </a:xfrm>
          <a:prstGeom prst="rect">
            <a:avLst/>
          </a:prstGeom>
          <a:solidFill>
            <a:srgbClr val="007A87"/>
          </a:solidFill>
          <a:ln w="12700">
            <a:solidFill>
              <a:srgbClr val="007A87"/>
            </a:solidFill>
            <a:prstDash val="solid"/>
          </a:ln>
        </p:spPr>
      </p:sp>
      <p:sp>
        <p:nvSpPr>
          <p:cNvPr id="4" name="Shape 2"/>
          <p:cNvSpPr/>
          <p:nvPr/>
        </p:nvSpPr>
        <p:spPr>
          <a:xfrm>
            <a:off x="457200" y="822960"/>
            <a:ext cx="91440" cy="2286000"/>
          </a:xfrm>
          <a:prstGeom prst="rect">
            <a:avLst/>
          </a:prstGeom>
          <a:solidFill>
            <a:srgbClr val="F0A800"/>
          </a:solidFill>
          <a:ln w="12700">
            <a:solidFill>
              <a:srgbClr val="F0A800"/>
            </a:solidFill>
            <a:prstDash val="solid"/>
          </a:ln>
        </p:spPr>
      </p:sp>
      <p:sp>
        <p:nvSpPr>
          <p:cNvPr id="5" name="Text 3"/>
          <p:cNvSpPr/>
          <p:nvPr/>
        </p:nvSpPr>
        <p:spPr>
          <a:xfrm>
            <a:off x="685800" y="822960"/>
            <a:ext cx="4572000" cy="457200"/>
          </a:xfrm>
          <a:prstGeom prst="rect">
            <a:avLst/>
          </a:prstGeom>
          <a:noFill/>
          <a:ln/>
        </p:spPr>
        <p:txBody>
          <a:bodyPr wrap="square" lIns="0" tIns="0" rIns="0" bIns="0" rtlCol="0" anchor="ctr"/>
          <a:lstStyle/>
          <a:p>
            <a:pPr indent="0" marL="0">
              <a:buNone/>
            </a:pPr>
            <a:r>
              <a:rPr lang="en-US" sz="1300" b="1" dirty="0">
                <a:solidFill>
                  <a:srgbClr val="F0A800"/>
                </a:solidFill>
              </a:rPr>
              <a:t>F10.10</a:t>
            </a:r>
            <a:endParaRPr lang="en-US" sz="1300" dirty="0"/>
          </a:p>
        </p:txBody>
      </p:sp>
      <p:sp>
        <p:nvSpPr>
          <p:cNvPr id="6" name="Text 4"/>
          <p:cNvSpPr/>
          <p:nvPr/>
        </p:nvSpPr>
        <p:spPr>
          <a:xfrm>
            <a:off x="685800" y="1234440"/>
            <a:ext cx="8046720" cy="1280160"/>
          </a:xfrm>
          <a:prstGeom prst="rect">
            <a:avLst/>
          </a:prstGeom>
          <a:noFill/>
          <a:ln/>
        </p:spPr>
        <p:txBody>
          <a:bodyPr wrap="square" lIns="0" tIns="0" rIns="0" bIns="0" rtlCol="0" anchor="ctr"/>
          <a:lstStyle/>
          <a:p>
            <a:pPr indent="0" marL="0">
              <a:buNone/>
            </a:pPr>
            <a:r>
              <a:rPr lang="en-US" sz="2800" b="1" dirty="0">
                <a:solidFill>
                  <a:srgbClr val="FFFFFF"/>
                </a:solidFill>
              </a:rPr>
              <a:t>End-to-End Case Study and Post-2008 OTC Reforms</a:t>
            </a:r>
            <a:endParaRPr lang="en-US" sz="2800" dirty="0"/>
          </a:p>
        </p:txBody>
      </p:sp>
      <p:sp>
        <p:nvSpPr>
          <p:cNvPr id="7" name="Text 5"/>
          <p:cNvSpPr/>
          <p:nvPr/>
        </p:nvSpPr>
        <p:spPr>
          <a:xfrm>
            <a:off x="685800" y="3611880"/>
            <a:ext cx="7772400" cy="347472"/>
          </a:xfrm>
          <a:prstGeom prst="rect">
            <a:avLst/>
          </a:prstGeom>
          <a:noFill/>
          <a:ln/>
        </p:spPr>
        <p:txBody>
          <a:bodyPr wrap="square" lIns="0" tIns="0" rIns="0" bIns="0" rtlCol="0" anchor="ctr"/>
          <a:lstStyle/>
          <a:p>
            <a:pPr indent="0" marL="0">
              <a:buNone/>
            </a:pPr>
            <a:r>
              <a:rPr lang="en-US" sz="1100" dirty="0">
                <a:solidFill>
                  <a:srgbClr val="FFFFFF"/>
                </a:solidFill>
              </a:rPr>
              <a:t>Unit 10 of 10  |  ISDA &amp; OTC Trade Life Cycle</a:t>
            </a:r>
            <a:endParaRPr lang="en-US" sz="1100" dirty="0"/>
          </a:p>
        </p:txBody>
      </p:sp>
      <p:sp>
        <p:nvSpPr>
          <p:cNvPr id="8" name="Text 6"/>
          <p:cNvSpPr/>
          <p:nvPr/>
        </p:nvSpPr>
        <p:spPr>
          <a:xfrm>
            <a:off x="685800" y="3977640"/>
            <a:ext cx="7772400" cy="274320"/>
          </a:xfrm>
          <a:prstGeom prst="rect">
            <a:avLst/>
          </a:prstGeom>
          <a:noFill/>
          <a:ln/>
        </p:spPr>
        <p:txBody>
          <a:bodyPr wrap="square" lIns="0" tIns="0" rIns="0" bIns="0" rtlCol="0" anchor="ctr"/>
          <a:lstStyle/>
          <a:p>
            <a:pPr indent="0" marL="0">
              <a:buNone/>
            </a:pPr>
            <a:r>
              <a:rPr lang="en-US" sz="950" i="1" dirty="0">
                <a:solidFill>
                  <a:srgbClr val="F0A800"/>
                </a:solidFill>
              </a:rPr>
              <a:t>Learning objectives  ·  Key concepts  ·  Interview questions</a:t>
            </a:r>
            <a:endParaRPr lang="en-US" sz="950" dirty="0"/>
          </a:p>
        </p:txBody>
      </p:sp>
      <p:sp>
        <p:nvSpPr>
          <p:cNvPr id="9" name="Text 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Quick Recap / Learning Objectives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F10.10 · End-to-End Case Study and Post-2008 OTC Reforms</a:t>
            </a:r>
            <a:endParaRPr lang="en-US" sz="900" dirty="0"/>
          </a:p>
        </p:txBody>
      </p:sp>
      <p:sp>
        <p:nvSpPr>
          <p:cNvPr id="5" name="Shape 3"/>
          <p:cNvSpPr/>
          <p:nvPr/>
        </p:nvSpPr>
        <p:spPr>
          <a:xfrm>
            <a:off x="274320" y="868680"/>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68680"/>
            <a:ext cx="64008" cy="612648"/>
          </a:xfrm>
          <a:prstGeom prst="rect">
            <a:avLst/>
          </a:prstGeom>
          <a:solidFill>
            <a:srgbClr val="007A87"/>
          </a:solidFill>
          <a:ln w="12700">
            <a:solidFill>
              <a:srgbClr val="007A87"/>
            </a:solidFill>
            <a:prstDash val="solid"/>
          </a:ln>
        </p:spPr>
      </p:sp>
      <p:sp>
        <p:nvSpPr>
          <p:cNvPr id="7" name="Text 5"/>
          <p:cNvSpPr/>
          <p:nvPr/>
        </p:nvSpPr>
        <p:spPr>
          <a:xfrm>
            <a:off x="475488" y="905256"/>
            <a:ext cx="8138160" cy="539496"/>
          </a:xfrm>
          <a:prstGeom prst="rect">
            <a:avLst/>
          </a:prstGeom>
          <a:noFill/>
          <a:ln/>
        </p:spPr>
        <p:txBody>
          <a:bodyPr wrap="square" lIns="0" tIns="0" rIns="0" bIns="0" rtlCol="0" anchor="ctr"/>
          <a:lstStyle/>
          <a:p>
            <a:pPr indent="0" marL="0">
              <a:buNone/>
            </a:pPr>
            <a:r>
              <a:rPr lang="en-US" sz="1150" dirty="0">
                <a:solidFill>
                  <a:srgbClr val="404040"/>
                </a:solidFill>
              </a:rPr>
              <a:t>Post-2008 G20 Pittsburgh commitments: (1) Mandatory clearing through CCPs, (2) Mandatory TR reporting with UTI/LEI, (3) Mandatory electronic execution on SEFs (US) / OTFs (EU).</a:t>
            </a:r>
            <a:endParaRPr lang="en-US" sz="1150" dirty="0"/>
          </a:p>
        </p:txBody>
      </p:sp>
      <p:sp>
        <p:nvSpPr>
          <p:cNvPr id="8" name="Shape 6"/>
          <p:cNvSpPr/>
          <p:nvPr/>
        </p:nvSpPr>
        <p:spPr>
          <a:xfrm>
            <a:off x="274320" y="1618488"/>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9" name="Shape 7"/>
          <p:cNvSpPr/>
          <p:nvPr/>
        </p:nvSpPr>
        <p:spPr>
          <a:xfrm>
            <a:off x="274320" y="1618488"/>
            <a:ext cx="64008" cy="612648"/>
          </a:xfrm>
          <a:prstGeom prst="rect">
            <a:avLst/>
          </a:prstGeom>
          <a:solidFill>
            <a:srgbClr val="007A87"/>
          </a:solidFill>
          <a:ln w="12700">
            <a:solidFill>
              <a:srgbClr val="007A87"/>
            </a:solidFill>
            <a:prstDash val="solid"/>
          </a:ln>
        </p:spPr>
      </p:sp>
      <p:sp>
        <p:nvSpPr>
          <p:cNvPr id="10" name="Text 8"/>
          <p:cNvSpPr/>
          <p:nvPr/>
        </p:nvSpPr>
        <p:spPr>
          <a:xfrm>
            <a:off x="475488" y="1655064"/>
            <a:ext cx="8138160" cy="539496"/>
          </a:xfrm>
          <a:prstGeom prst="rect">
            <a:avLst/>
          </a:prstGeom>
          <a:noFill/>
          <a:ln/>
        </p:spPr>
        <p:txBody>
          <a:bodyPr wrap="square" lIns="0" tIns="0" rIns="0" bIns="0" rtlCol="0" anchor="ctr"/>
          <a:lstStyle/>
          <a:p>
            <a:pPr indent="0" marL="0">
              <a:buNone/>
            </a:pPr>
            <a:r>
              <a:rPr lang="en-US" sz="1150" dirty="0">
                <a:solidFill>
                  <a:srgbClr val="404040"/>
                </a:solidFill>
              </a:rPr>
              <a:t>BCBS/IOSCO UMR: phased 2016–2022. Phase 6 (Sept 2022) captures AANA &gt; €8B. Bilateral IM under SIMM, segregated with third-party custodian. VM mandatory since 2017.</a:t>
            </a:r>
            <a:endParaRPr lang="en-US" sz="1150" dirty="0"/>
          </a:p>
        </p:txBody>
      </p:sp>
      <p:sp>
        <p:nvSpPr>
          <p:cNvPr id="11" name="Shape 9"/>
          <p:cNvSpPr/>
          <p:nvPr/>
        </p:nvSpPr>
        <p:spPr>
          <a:xfrm>
            <a:off x="274320" y="2368296"/>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368296"/>
            <a:ext cx="64008" cy="612648"/>
          </a:xfrm>
          <a:prstGeom prst="rect">
            <a:avLst/>
          </a:prstGeom>
          <a:solidFill>
            <a:srgbClr val="007A87"/>
          </a:solidFill>
          <a:ln w="12700">
            <a:solidFill>
              <a:srgbClr val="007A87"/>
            </a:solidFill>
            <a:prstDash val="solid"/>
          </a:ln>
        </p:spPr>
      </p:sp>
      <p:sp>
        <p:nvSpPr>
          <p:cNvPr id="13" name="Text 11"/>
          <p:cNvSpPr/>
          <p:nvPr/>
        </p:nvSpPr>
        <p:spPr>
          <a:xfrm>
            <a:off x="475488" y="2404872"/>
            <a:ext cx="8138160" cy="539496"/>
          </a:xfrm>
          <a:prstGeom prst="rect">
            <a:avLst/>
          </a:prstGeom>
          <a:noFill/>
          <a:ln/>
        </p:spPr>
        <p:txBody>
          <a:bodyPr wrap="square" lIns="0" tIns="0" rIns="0" bIns="0" rtlCol="0" anchor="ctr"/>
          <a:lstStyle/>
          <a:p>
            <a:pPr indent="0" marL="0">
              <a:buNone/>
            </a:pPr>
            <a:r>
              <a:rPr lang="en-US" sz="1150" dirty="0">
                <a:solidFill>
                  <a:srgbClr val="404040"/>
                </a:solidFill>
              </a:rPr>
              <a:t>IBOR Transition: LIBOR discontinued end-2021. USD → SOFR, GBP → SONIA, EUR → €STR, INR → MIBOR/MIBOR-OIS. ISDA 2020 IBOR Fallbacks Protocol = standard mechanism for legacy trade transition.</a:t>
            </a:r>
            <a:endParaRPr lang="en-US" sz="1150" dirty="0"/>
          </a:p>
        </p:txBody>
      </p:sp>
      <p:sp>
        <p:nvSpPr>
          <p:cNvPr id="14" name="Shape 12"/>
          <p:cNvSpPr/>
          <p:nvPr/>
        </p:nvSpPr>
        <p:spPr>
          <a:xfrm>
            <a:off x="274320" y="3118104"/>
            <a:ext cx="8595360" cy="612648"/>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5" name="Shape 13"/>
          <p:cNvSpPr/>
          <p:nvPr/>
        </p:nvSpPr>
        <p:spPr>
          <a:xfrm>
            <a:off x="274320" y="3118104"/>
            <a:ext cx="64008" cy="612648"/>
          </a:xfrm>
          <a:prstGeom prst="rect">
            <a:avLst/>
          </a:prstGeom>
          <a:solidFill>
            <a:srgbClr val="007A87"/>
          </a:solidFill>
          <a:ln w="12700">
            <a:solidFill>
              <a:srgbClr val="007A87"/>
            </a:solidFill>
            <a:prstDash val="solid"/>
          </a:ln>
        </p:spPr>
      </p:sp>
      <p:sp>
        <p:nvSpPr>
          <p:cNvPr id="16" name="Text 14"/>
          <p:cNvSpPr/>
          <p:nvPr/>
        </p:nvSpPr>
        <p:spPr>
          <a:xfrm>
            <a:off x="475488" y="3154680"/>
            <a:ext cx="8138160" cy="539496"/>
          </a:xfrm>
          <a:prstGeom prst="rect">
            <a:avLst/>
          </a:prstGeom>
          <a:noFill/>
          <a:ln/>
        </p:spPr>
        <p:txBody>
          <a:bodyPr wrap="square" lIns="0" tIns="0" rIns="0" bIns="0" rtlCol="0" anchor="ctr"/>
          <a:lstStyle/>
          <a:p>
            <a:pPr indent="0" marL="0">
              <a:buNone/>
            </a:pPr>
            <a:r>
              <a:rPr lang="en-US" sz="1150" dirty="0">
                <a:solidFill>
                  <a:srgbClr val="404040"/>
                </a:solidFill>
              </a:rPr>
              <a:t>Operations career paths: ISDA Documentation, OTC Middle Office (validation/confirmation), OTC Settlements, Margin Management, Product Control, Compliance (reporting). Module F10 provides foundation for all.</a:t>
            </a:r>
            <a:endParaRPr lang="en-US" sz="11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7315200" cy="658368"/>
          </a:xfrm>
          <a:prstGeom prst="rect">
            <a:avLst/>
          </a:prstGeom>
          <a:noFill/>
          <a:ln/>
        </p:spPr>
        <p:txBody>
          <a:bodyPr wrap="square" lIns="0" tIns="0" rIns="0" bIns="0" rtlCol="0" anchor="ctr"/>
          <a:lstStyle/>
          <a:p>
            <a:pPr indent="0" marL="0">
              <a:buNone/>
            </a:pPr>
            <a:r>
              <a:rPr lang="en-US" sz="1500" b="1" dirty="0">
                <a:solidFill>
                  <a:srgbClr val="FFFFFF"/>
                </a:solidFill>
              </a:rPr>
              <a:t>Real-World Scenario</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F10.10 · End-to-End Case Study and Post-2008 OTC Reforms</a:t>
            </a:r>
            <a:endParaRPr lang="en-US" sz="900" dirty="0"/>
          </a:p>
        </p:txBody>
      </p:sp>
      <p:sp>
        <p:nvSpPr>
          <p:cNvPr id="5" name="Shape 3"/>
          <p:cNvSpPr/>
          <p:nvPr/>
        </p:nvSpPr>
        <p:spPr>
          <a:xfrm>
            <a:off x="274320" y="804672"/>
            <a:ext cx="8595360" cy="228600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286000"/>
          </a:xfrm>
          <a:prstGeom prst="rect">
            <a:avLst/>
          </a:prstGeom>
          <a:solidFill>
            <a:srgbClr val="101C4F"/>
          </a:solidFill>
          <a:ln w="12700">
            <a:solidFill>
              <a:srgbClr val="101C4F"/>
            </a:solidFill>
            <a:prstDash val="solid"/>
          </a:ln>
        </p:spPr>
      </p:sp>
      <p:sp>
        <p:nvSpPr>
          <p:cNvPr id="7" name="Text 5"/>
          <p:cNvSpPr/>
          <p:nvPr/>
        </p:nvSpPr>
        <p:spPr>
          <a:xfrm>
            <a:off x="475488" y="850392"/>
            <a:ext cx="8138160" cy="292608"/>
          </a:xfrm>
          <a:prstGeom prst="rect">
            <a:avLst/>
          </a:prstGeom>
          <a:noFill/>
          <a:ln/>
        </p:spPr>
        <p:txBody>
          <a:bodyPr wrap="square" lIns="0" tIns="0" rIns="0" bIns="0" rtlCol="0" anchor="ctr"/>
          <a:lstStyle/>
          <a:p>
            <a:pPr indent="0" marL="0">
              <a:buNone/>
            </a:pPr>
            <a:r>
              <a:rPr lang="en-US" sz="1100" b="1" dirty="0">
                <a:solidFill>
                  <a:srgbClr val="101C4F"/>
                </a:solidFill>
              </a:rPr>
              <a:t>Scenario</a:t>
            </a:r>
            <a:endParaRPr lang="en-US" sz="1100" dirty="0"/>
          </a:p>
        </p:txBody>
      </p:sp>
      <p:sp>
        <p:nvSpPr>
          <p:cNvPr id="8" name="Text 6"/>
          <p:cNvSpPr/>
          <p:nvPr/>
        </p:nvSpPr>
        <p:spPr>
          <a:xfrm>
            <a:off x="475488" y="1152144"/>
            <a:ext cx="8138160" cy="1828800"/>
          </a:xfrm>
          <a:prstGeom prst="rect">
            <a:avLst/>
          </a:prstGeom>
          <a:noFill/>
          <a:ln/>
        </p:spPr>
        <p:txBody>
          <a:bodyPr wrap="square" lIns="0" tIns="0" rIns="0" bIns="0" rtlCol="0" anchor="ctr"/>
          <a:lstStyle/>
          <a:p>
            <a:pPr indent="0" marL="0">
              <a:buNone/>
            </a:pPr>
            <a:r>
              <a:rPr lang="en-US" sz="1150" dirty="0">
                <a:solidFill>
                  <a:srgbClr val="404040"/>
                </a:solidFill>
              </a:rPr>
              <a:t>A global investment bank's OTC operations head is reviewing the end-to-end life of a USD 100M 7-year USD IRS executed on 12 May 2026. Fixed: pay 4.35% semi-annual ACT/360; Float: receive SOFR compound-in-arrears quarterly. The trade is cleared through LCH SwapClear.</a:t>
            </a:r>
            <a:endParaRPr lang="en-US" sz="1150" dirty="0"/>
          </a:p>
        </p:txBody>
      </p:sp>
      <p:sp>
        <p:nvSpPr>
          <p:cNvPr id="9" name="Shape 7"/>
          <p:cNvSpPr/>
          <p:nvPr/>
        </p:nvSpPr>
        <p:spPr>
          <a:xfrm>
            <a:off x="274320" y="3218688"/>
            <a:ext cx="8595360" cy="914400"/>
          </a:xfrm>
          <a:prstGeom prst="rect">
            <a:avLst/>
          </a:prstGeom>
          <a:solidFill>
            <a:srgbClr val="101C4F"/>
          </a:solidFill>
          <a:ln w="12700">
            <a:solidFill>
              <a:srgbClr val="101C4F"/>
            </a:solidFill>
            <a:prstDash val="solid"/>
          </a:ln>
          <a:effectLst>
            <a:outerShdw sx="100000" sy="100000" kx="0" ky="0" algn="bl" rotWithShape="0" blurRad="76200" dist="25400" dir="8100000">
              <a:srgbClr val="000000">
                <a:alpha val="15000"/>
              </a:srgbClr>
            </a:outerShdw>
          </a:effectLst>
        </p:spPr>
      </p:sp>
      <p:sp>
        <p:nvSpPr>
          <p:cNvPr id="10" name="Text 8"/>
          <p:cNvSpPr/>
          <p:nvPr/>
        </p:nvSpPr>
        <p:spPr>
          <a:xfrm>
            <a:off x="475488" y="3273552"/>
            <a:ext cx="8138160" cy="274320"/>
          </a:xfrm>
          <a:prstGeom prst="rect">
            <a:avLst/>
          </a:prstGeom>
          <a:noFill/>
          <a:ln/>
        </p:spPr>
        <p:txBody>
          <a:bodyPr wrap="square" lIns="0" tIns="0" rIns="0" bIns="0" rtlCol="0" anchor="ctr"/>
          <a:lstStyle/>
          <a:p>
            <a:pPr indent="0" marL="0">
              <a:buNone/>
            </a:pPr>
            <a:r>
              <a:rPr lang="en-US" sz="1100" b="1" dirty="0">
                <a:solidFill>
                  <a:srgbClr val="F0A800"/>
                </a:solidFill>
              </a:rPr>
              <a:t>Think About This:</a:t>
            </a:r>
            <a:endParaRPr lang="en-US" sz="1100" dirty="0"/>
          </a:p>
        </p:txBody>
      </p:sp>
      <p:sp>
        <p:nvSpPr>
          <p:cNvPr id="11" name="Text 9"/>
          <p:cNvSpPr/>
          <p:nvPr/>
        </p:nvSpPr>
        <p:spPr>
          <a:xfrm>
            <a:off x="475488" y="3566160"/>
            <a:ext cx="8138160" cy="530352"/>
          </a:xfrm>
          <a:prstGeom prst="rect">
            <a:avLst/>
          </a:prstGeom>
          <a:noFill/>
          <a:ln/>
        </p:spPr>
        <p:txBody>
          <a:bodyPr wrap="square" lIns="0" tIns="0" rIns="0" bIns="0" rtlCol="0" anchor="ctr"/>
          <a:lstStyle/>
          <a:p>
            <a:pPr indent="0" marL="0">
              <a:buNone/>
            </a:pPr>
            <a:r>
              <a:rPr lang="en-US" sz="1100" dirty="0">
                <a:solidFill>
                  <a:srgbClr val="FFFFFF"/>
                </a:solidFill>
              </a:rPr>
              <a:t>Name all 11 TLC stages and identify at least one operations task at each stage for this cleared IRS. At Settlement (Stage 10), calculate the first SOFR floating payment (assume average SOFR of 5.12% over the 92-day period). What post-2008 regulatory framework applies — clearing mandate, margin rules, and reporting obligations?</a:t>
            </a:r>
            <a:endParaRPr lang="en-US" sz="1100" dirty="0"/>
          </a:p>
        </p:txBody>
      </p:sp>
      <p:sp>
        <p:nvSpPr>
          <p:cNvPr id="12" name="Shape 10"/>
          <p:cNvSpPr/>
          <p:nvPr/>
        </p:nvSpPr>
        <p:spPr>
          <a:xfrm>
            <a:off x="0" y="4864608"/>
            <a:ext cx="9144000" cy="278892"/>
          </a:xfrm>
          <a:prstGeom prst="rect">
            <a:avLst/>
          </a:prstGeom>
          <a:solidFill>
            <a:srgbClr val="101C4F"/>
          </a:solidFill>
          <a:ln w="12700">
            <a:solidFill>
              <a:srgbClr val="101C4F"/>
            </a:solidFill>
            <a:prstDash val="solid"/>
          </a:ln>
        </p:spPr>
      </p:sp>
      <p:sp>
        <p:nvSpPr>
          <p:cNvPr id="13" name="Text 11"/>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4" name="Text 12"/>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3657600" cy="658368"/>
          </a:xfrm>
          <a:prstGeom prst="rect">
            <a:avLst/>
          </a:prstGeom>
          <a:noFill/>
          <a:ln/>
        </p:spPr>
        <p:txBody>
          <a:bodyPr wrap="square" lIns="0" tIns="0" rIns="0" bIns="0" rtlCol="0" anchor="ctr"/>
          <a:lstStyle/>
          <a:p>
            <a:pPr indent="0" marL="0">
              <a:buNone/>
            </a:pPr>
            <a:r>
              <a:rPr lang="en-US" sz="1500" b="1" dirty="0">
                <a:solidFill>
                  <a:srgbClr val="101C4F"/>
                </a:solidFill>
              </a:rPr>
              <a:t>Key Concept</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F10.10 · End-to-End Case Study and Post-2008 OTC Reforms</a:t>
            </a:r>
            <a:endParaRPr lang="en-US" sz="900" dirty="0"/>
          </a:p>
        </p:txBody>
      </p:sp>
      <p:sp>
        <p:nvSpPr>
          <p:cNvPr id="5" name="Text 3"/>
          <p:cNvSpPr/>
          <p:nvPr/>
        </p:nvSpPr>
        <p:spPr>
          <a:xfrm>
            <a:off x="320040" y="749808"/>
            <a:ext cx="8503920" cy="502920"/>
          </a:xfrm>
          <a:prstGeom prst="rect">
            <a:avLst/>
          </a:prstGeom>
          <a:noFill/>
          <a:ln/>
        </p:spPr>
        <p:txBody>
          <a:bodyPr wrap="square" lIns="0" tIns="0" rIns="0" bIns="0" rtlCol="0" anchor="ctr"/>
          <a:lstStyle/>
          <a:p>
            <a:pPr indent="0" marL="0">
              <a:buNone/>
            </a:pPr>
            <a:r>
              <a:rPr lang="en-US" sz="1800" b="1" dirty="0">
                <a:solidFill>
                  <a:srgbClr val="101C4F"/>
                </a:solidFill>
              </a:rPr>
              <a:t>The OTC TLC: Integrating ISDA, Clearing, and Reporting</a:t>
            </a:r>
            <a:endParaRPr lang="en-US" sz="1800" dirty="0"/>
          </a:p>
        </p:txBody>
      </p:sp>
      <p:sp>
        <p:nvSpPr>
          <p:cNvPr id="6" name="Shape 4"/>
          <p:cNvSpPr/>
          <p:nvPr/>
        </p:nvSpPr>
        <p:spPr>
          <a:xfrm>
            <a:off x="274320" y="1371600"/>
            <a:ext cx="8595360" cy="192024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7" name="Text 5"/>
          <p:cNvSpPr/>
          <p:nvPr/>
        </p:nvSpPr>
        <p:spPr>
          <a:xfrm>
            <a:off x="457200" y="1444752"/>
            <a:ext cx="8229600" cy="1783080"/>
          </a:xfrm>
          <a:prstGeom prst="rect">
            <a:avLst/>
          </a:prstGeom>
          <a:noFill/>
          <a:ln/>
        </p:spPr>
        <p:txBody>
          <a:bodyPr wrap="square" lIns="0" tIns="0" rIns="0" bIns="0" rtlCol="0" anchor="ctr"/>
          <a:lstStyle/>
          <a:p>
            <a:pPr indent="0" marL="0">
              <a:buNone/>
            </a:pPr>
            <a:r>
              <a:rPr lang="en-US" sz="1150" dirty="0">
                <a:solidFill>
                  <a:srgbClr val="404040"/>
                </a:solidFill>
              </a:rPr>
              <a:t>Module F10 integrates three areas: ISDA documentation (the legal foundation), OTC market structure (participants and execution), and the 11-stage TLC (operational workflow). The post-2008 reforms — mandatory clearing, margin, and reporting — transformed each stage of the TLC. Clearing changed Settlement (Stage 10) from bilateral to CCP-multilateral. Mandatory TR reporting created Stage 3 and ongoing TR reporting at Stage 9. UMR added margin management as an ongoing operational requirement throughout the trade's life. The IBOR transition forced mass remediation of documentation and trade systems. Understanding how these reforms interact with the TLC is the hallmark of a senior OTC operations professional — it demonstrates systemic thinking, not just process knowledge.</a:t>
            </a:r>
            <a:endParaRPr lang="en-US" sz="1150" dirty="0"/>
          </a:p>
        </p:txBody>
      </p:sp>
      <p:sp>
        <p:nvSpPr>
          <p:cNvPr id="8" name="Shape 6"/>
          <p:cNvSpPr/>
          <p:nvPr/>
        </p:nvSpPr>
        <p:spPr>
          <a:xfrm>
            <a:off x="274320" y="3429000"/>
            <a:ext cx="1920240" cy="304038"/>
          </a:xfrm>
          <a:prstGeom prst="rect">
            <a:avLst/>
          </a:prstGeom>
          <a:solidFill>
            <a:srgbClr val="007A87"/>
          </a:solidFill>
          <a:ln w="12700">
            <a:solidFill>
              <a:srgbClr val="007A87"/>
            </a:solidFill>
            <a:prstDash val="solid"/>
          </a:ln>
        </p:spPr>
      </p:sp>
      <p:sp>
        <p:nvSpPr>
          <p:cNvPr id="9" name="Shape 7"/>
          <p:cNvSpPr/>
          <p:nvPr/>
        </p:nvSpPr>
        <p:spPr>
          <a:xfrm>
            <a:off x="2240280" y="3429000"/>
            <a:ext cx="6629400" cy="304038"/>
          </a:xfrm>
          <a:prstGeom prst="rect">
            <a:avLst/>
          </a:prstGeom>
          <a:solidFill>
            <a:srgbClr val="FFFFFF"/>
          </a:solidFill>
          <a:ln w="12700">
            <a:solidFill>
              <a:srgbClr val="E0E4EF"/>
            </a:solidFill>
            <a:prstDash val="solid"/>
          </a:ln>
        </p:spPr>
      </p:sp>
      <p:sp>
        <p:nvSpPr>
          <p:cNvPr id="10" name="Text 8"/>
          <p:cNvSpPr/>
          <p:nvPr/>
        </p:nvSpPr>
        <p:spPr>
          <a:xfrm>
            <a:off x="320040" y="3447288"/>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Clearing Impact</a:t>
            </a:r>
            <a:endParaRPr lang="en-US" sz="1000" dirty="0"/>
          </a:p>
        </p:txBody>
      </p:sp>
      <p:sp>
        <p:nvSpPr>
          <p:cNvPr id="11" name="Text 9"/>
          <p:cNvSpPr/>
          <p:nvPr/>
        </p:nvSpPr>
        <p:spPr>
          <a:xfrm>
            <a:off x="2304288" y="3447288"/>
            <a:ext cx="6492240" cy="267462"/>
          </a:xfrm>
          <a:prstGeom prst="rect">
            <a:avLst/>
          </a:prstGeom>
          <a:noFill/>
          <a:ln/>
        </p:spPr>
        <p:txBody>
          <a:bodyPr wrap="square" lIns="0" tIns="0" rIns="0" bIns="0" rtlCol="0" anchor="ctr"/>
          <a:lstStyle/>
          <a:p>
            <a:pPr indent="0" marL="0">
              <a:buNone/>
            </a:pPr>
            <a:r>
              <a:rPr lang="en-US" sz="1050" dirty="0">
                <a:solidFill>
                  <a:srgbClr val="404040"/>
                </a:solidFill>
              </a:rPr>
              <a:t>Stage 10 settlement via CCP multilateral netting. No bilateral settlement risk. Daily IM management.</a:t>
            </a:r>
            <a:endParaRPr lang="en-US" sz="1050" dirty="0"/>
          </a:p>
        </p:txBody>
      </p:sp>
      <p:sp>
        <p:nvSpPr>
          <p:cNvPr id="12" name="Shape 10"/>
          <p:cNvSpPr/>
          <p:nvPr/>
        </p:nvSpPr>
        <p:spPr>
          <a:xfrm>
            <a:off x="274320" y="3787902"/>
            <a:ext cx="1920240" cy="304038"/>
          </a:xfrm>
          <a:prstGeom prst="rect">
            <a:avLst/>
          </a:prstGeom>
          <a:solidFill>
            <a:srgbClr val="007A87"/>
          </a:solidFill>
          <a:ln w="12700">
            <a:solidFill>
              <a:srgbClr val="007A87"/>
            </a:solidFill>
            <a:prstDash val="solid"/>
          </a:ln>
        </p:spPr>
      </p:sp>
      <p:sp>
        <p:nvSpPr>
          <p:cNvPr id="13" name="Shape 11"/>
          <p:cNvSpPr/>
          <p:nvPr/>
        </p:nvSpPr>
        <p:spPr>
          <a:xfrm>
            <a:off x="2240280" y="3787902"/>
            <a:ext cx="6629400" cy="304038"/>
          </a:xfrm>
          <a:prstGeom prst="rect">
            <a:avLst/>
          </a:prstGeom>
          <a:solidFill>
            <a:srgbClr val="FFFFFF"/>
          </a:solidFill>
          <a:ln w="12700">
            <a:solidFill>
              <a:srgbClr val="E0E4EF"/>
            </a:solidFill>
            <a:prstDash val="solid"/>
          </a:ln>
        </p:spPr>
      </p:sp>
      <p:sp>
        <p:nvSpPr>
          <p:cNvPr id="14" name="Text 12"/>
          <p:cNvSpPr/>
          <p:nvPr/>
        </p:nvSpPr>
        <p:spPr>
          <a:xfrm>
            <a:off x="320040" y="3806190"/>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TR Reporting Impact</a:t>
            </a:r>
            <a:endParaRPr lang="en-US" sz="1000" dirty="0"/>
          </a:p>
        </p:txBody>
      </p:sp>
      <p:sp>
        <p:nvSpPr>
          <p:cNvPr id="15" name="Text 13"/>
          <p:cNvSpPr/>
          <p:nvPr/>
        </p:nvSpPr>
        <p:spPr>
          <a:xfrm>
            <a:off x="2304288" y="3806190"/>
            <a:ext cx="6492240" cy="267462"/>
          </a:xfrm>
          <a:prstGeom prst="rect">
            <a:avLst/>
          </a:prstGeom>
          <a:noFill/>
          <a:ln/>
        </p:spPr>
        <p:txBody>
          <a:bodyPr wrap="square" lIns="0" tIns="0" rIns="0" bIns="0" rtlCol="0" anchor="ctr"/>
          <a:lstStyle/>
          <a:p>
            <a:pPr indent="0" marL="0">
              <a:buNone/>
            </a:pPr>
            <a:r>
              <a:rPr lang="en-US" sz="1050" dirty="0">
                <a:solidFill>
                  <a:srgbClr val="404040"/>
                </a:solidFill>
              </a:rPr>
              <a:t>Stage 3 (initial) + Stage 9 (lifecycle) TR reports. UTI/LEI mandatory. Non-compliance = regulatory fine.</a:t>
            </a:r>
            <a:endParaRPr lang="en-US" sz="1050" dirty="0"/>
          </a:p>
        </p:txBody>
      </p:sp>
      <p:sp>
        <p:nvSpPr>
          <p:cNvPr id="16" name="Shape 14"/>
          <p:cNvSpPr/>
          <p:nvPr/>
        </p:nvSpPr>
        <p:spPr>
          <a:xfrm>
            <a:off x="274320" y="4146804"/>
            <a:ext cx="1920240" cy="304038"/>
          </a:xfrm>
          <a:prstGeom prst="rect">
            <a:avLst/>
          </a:prstGeom>
          <a:solidFill>
            <a:srgbClr val="007A87"/>
          </a:solidFill>
          <a:ln w="12700">
            <a:solidFill>
              <a:srgbClr val="007A87"/>
            </a:solidFill>
            <a:prstDash val="solid"/>
          </a:ln>
        </p:spPr>
      </p:sp>
      <p:sp>
        <p:nvSpPr>
          <p:cNvPr id="17" name="Shape 15"/>
          <p:cNvSpPr/>
          <p:nvPr/>
        </p:nvSpPr>
        <p:spPr>
          <a:xfrm>
            <a:off x="2240280" y="4146804"/>
            <a:ext cx="6629400" cy="304038"/>
          </a:xfrm>
          <a:prstGeom prst="rect">
            <a:avLst/>
          </a:prstGeom>
          <a:solidFill>
            <a:srgbClr val="FFFFFF"/>
          </a:solidFill>
          <a:ln w="12700">
            <a:solidFill>
              <a:srgbClr val="E0E4EF"/>
            </a:solidFill>
            <a:prstDash val="solid"/>
          </a:ln>
        </p:spPr>
      </p:sp>
      <p:sp>
        <p:nvSpPr>
          <p:cNvPr id="18" name="Text 16"/>
          <p:cNvSpPr/>
          <p:nvPr/>
        </p:nvSpPr>
        <p:spPr>
          <a:xfrm>
            <a:off x="320040" y="4165092"/>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UMR Impact</a:t>
            </a:r>
            <a:endParaRPr lang="en-US" sz="1000" dirty="0"/>
          </a:p>
        </p:txBody>
      </p:sp>
      <p:sp>
        <p:nvSpPr>
          <p:cNvPr id="19" name="Text 17"/>
          <p:cNvSpPr/>
          <p:nvPr/>
        </p:nvSpPr>
        <p:spPr>
          <a:xfrm>
            <a:off x="2304288" y="4165092"/>
            <a:ext cx="6492240" cy="267462"/>
          </a:xfrm>
          <a:prstGeom prst="rect">
            <a:avLst/>
          </a:prstGeom>
          <a:noFill/>
          <a:ln/>
        </p:spPr>
        <p:txBody>
          <a:bodyPr wrap="square" lIns="0" tIns="0" rIns="0" bIns="0" rtlCol="0" anchor="ctr"/>
          <a:lstStyle/>
          <a:p>
            <a:pPr indent="0" marL="0">
              <a:buNone/>
            </a:pPr>
            <a:r>
              <a:rPr lang="en-US" sz="1050" dirty="0">
                <a:solidFill>
                  <a:srgbClr val="404040"/>
                </a:solidFill>
              </a:rPr>
              <a:t>Daily IM calculation (SIMM or Schedule), segregated custodian, AcadiaSoft exchange of sensitivities.</a:t>
            </a:r>
            <a:endParaRPr lang="en-US" sz="1050" dirty="0"/>
          </a:p>
        </p:txBody>
      </p:sp>
      <p:sp>
        <p:nvSpPr>
          <p:cNvPr id="20" name="Shape 18"/>
          <p:cNvSpPr/>
          <p:nvPr/>
        </p:nvSpPr>
        <p:spPr>
          <a:xfrm>
            <a:off x="274320" y="4505706"/>
            <a:ext cx="1920240" cy="304038"/>
          </a:xfrm>
          <a:prstGeom prst="rect">
            <a:avLst/>
          </a:prstGeom>
          <a:solidFill>
            <a:srgbClr val="007A87"/>
          </a:solidFill>
          <a:ln w="12700">
            <a:solidFill>
              <a:srgbClr val="007A87"/>
            </a:solidFill>
            <a:prstDash val="solid"/>
          </a:ln>
        </p:spPr>
      </p:sp>
      <p:sp>
        <p:nvSpPr>
          <p:cNvPr id="21" name="Shape 19"/>
          <p:cNvSpPr/>
          <p:nvPr/>
        </p:nvSpPr>
        <p:spPr>
          <a:xfrm>
            <a:off x="2240280" y="4505706"/>
            <a:ext cx="6629400" cy="304038"/>
          </a:xfrm>
          <a:prstGeom prst="rect">
            <a:avLst/>
          </a:prstGeom>
          <a:solidFill>
            <a:srgbClr val="FFFFFF"/>
          </a:solidFill>
          <a:ln w="12700">
            <a:solidFill>
              <a:srgbClr val="E0E4EF"/>
            </a:solidFill>
            <a:prstDash val="solid"/>
          </a:ln>
        </p:spPr>
      </p:sp>
      <p:sp>
        <p:nvSpPr>
          <p:cNvPr id="22" name="Text 20"/>
          <p:cNvSpPr/>
          <p:nvPr/>
        </p:nvSpPr>
        <p:spPr>
          <a:xfrm>
            <a:off x="320040" y="4523994"/>
            <a:ext cx="1828800" cy="267462"/>
          </a:xfrm>
          <a:prstGeom prst="rect">
            <a:avLst/>
          </a:prstGeom>
          <a:noFill/>
          <a:ln/>
        </p:spPr>
        <p:txBody>
          <a:bodyPr wrap="square" lIns="0" tIns="0" rIns="0" bIns="0" rtlCol="0" anchor="ctr"/>
          <a:lstStyle/>
          <a:p>
            <a:pPr indent="0" marL="0">
              <a:buNone/>
            </a:pPr>
            <a:r>
              <a:rPr lang="en-US" sz="1000" b="1" dirty="0">
                <a:solidFill>
                  <a:srgbClr val="FFFFFF"/>
                </a:solidFill>
              </a:rPr>
              <a:t>IBOR Transition Impact</a:t>
            </a:r>
            <a:endParaRPr lang="en-US" sz="1000" dirty="0"/>
          </a:p>
        </p:txBody>
      </p:sp>
      <p:sp>
        <p:nvSpPr>
          <p:cNvPr id="23" name="Text 21"/>
          <p:cNvSpPr/>
          <p:nvPr/>
        </p:nvSpPr>
        <p:spPr>
          <a:xfrm>
            <a:off x="2304288" y="4523994"/>
            <a:ext cx="6492240" cy="267462"/>
          </a:xfrm>
          <a:prstGeom prst="rect">
            <a:avLst/>
          </a:prstGeom>
          <a:noFill/>
          <a:ln/>
        </p:spPr>
        <p:txBody>
          <a:bodyPr wrap="square" lIns="0" tIns="0" rIns="0" bIns="0" rtlCol="0" anchor="ctr"/>
          <a:lstStyle/>
          <a:p>
            <a:pPr indent="0" marL="0">
              <a:buNone/>
            </a:pPr>
            <a:r>
              <a:rPr lang="en-US" sz="1050" dirty="0">
                <a:solidFill>
                  <a:srgbClr val="404040"/>
                </a:solidFill>
              </a:rPr>
              <a:t>SOFR replaces USD LIBOR. Compound-in-arrears calculation. Legacy book remediation completed.</a:t>
            </a:r>
            <a:endParaRPr lang="en-US" sz="1050" dirty="0"/>
          </a:p>
        </p:txBody>
      </p:sp>
      <p:sp>
        <p:nvSpPr>
          <p:cNvPr id="24" name="Shape 22"/>
          <p:cNvSpPr/>
          <p:nvPr/>
        </p:nvSpPr>
        <p:spPr>
          <a:xfrm>
            <a:off x="0" y="4864608"/>
            <a:ext cx="9144000" cy="278892"/>
          </a:xfrm>
          <a:prstGeom prst="rect">
            <a:avLst/>
          </a:prstGeom>
          <a:solidFill>
            <a:srgbClr val="101C4F"/>
          </a:solidFill>
          <a:ln w="12700">
            <a:solidFill>
              <a:srgbClr val="101C4F"/>
            </a:solidFill>
            <a:prstDash val="solid"/>
          </a:ln>
        </p:spPr>
      </p:sp>
      <p:sp>
        <p:nvSpPr>
          <p:cNvPr id="25" name="Text 23"/>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6" name="Text 24"/>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7A87"/>
          </a:solidFill>
          <a:ln w="12700">
            <a:solidFill>
              <a:srgbClr val="007A87"/>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FFFFF"/>
                </a:solidFill>
              </a:rPr>
              <a:t>Going Deeper</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0A800"/>
                </a:solidFill>
              </a:rPr>
              <a:t>F10.10 · End-to-End Case Study and Post-2008 OTC Reforms</a:t>
            </a:r>
            <a:endParaRPr lang="en-US" sz="900" dirty="0"/>
          </a:p>
        </p:txBody>
      </p:sp>
      <p:sp>
        <p:nvSpPr>
          <p:cNvPr id="5" name="Shape 3"/>
          <p:cNvSpPr/>
          <p:nvPr/>
        </p:nvSpPr>
        <p:spPr>
          <a:xfrm>
            <a:off x="27432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22960"/>
            <a:ext cx="4206240" cy="256032"/>
          </a:xfrm>
          <a:prstGeom prst="rect">
            <a:avLst/>
          </a:prstGeom>
          <a:solidFill>
            <a:srgbClr val="101C4F"/>
          </a:solidFill>
          <a:ln w="12700">
            <a:solidFill>
              <a:srgbClr val="101C4F"/>
            </a:solidFill>
            <a:prstDash val="solid"/>
          </a:ln>
        </p:spPr>
      </p:sp>
      <p:sp>
        <p:nvSpPr>
          <p:cNvPr id="7" name="Text 5"/>
          <p:cNvSpPr/>
          <p:nvPr/>
        </p:nvSpPr>
        <p:spPr>
          <a:xfrm>
            <a:off x="36576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LCH SwapClear: Clearing Mechanics</a:t>
            </a:r>
            <a:endParaRPr lang="en-US" sz="1000" dirty="0"/>
          </a:p>
        </p:txBody>
      </p:sp>
      <p:sp>
        <p:nvSpPr>
          <p:cNvPr id="8" name="Text 6"/>
          <p:cNvSpPr/>
          <p:nvPr/>
        </p:nvSpPr>
        <p:spPr>
          <a:xfrm>
            <a:off x="36576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LCH SwapClear clears &gt;$300 trillion notional of IRS annually — 70%+ of global market. How it works: trade is submitted by both clearing members for novation. LCH accepts and novates — becoming the buyer to each seller. LCH collects initial margin (SPAN-based model) and variation margin daily. Clearing members post IM to LCH (via FCM/CM margin accounts); LCH pools default fund contributions. On member default, LCH uses: (1) defaulter's IM, (2) default fund contribution, (3) LCH's own capital, (4) other members' default fund contributions — in that sequence. For Indian banks using LCH: they access through an LCH clearing member (typically a global bank), paying clearing fees and maintaining IM with the CM. CCIL handles domestic INR IRS clearing.</a:t>
            </a:r>
            <a:endParaRPr lang="en-US" sz="1050" dirty="0"/>
          </a:p>
        </p:txBody>
      </p:sp>
      <p:sp>
        <p:nvSpPr>
          <p:cNvPr id="9" name="Shape 7"/>
          <p:cNvSpPr/>
          <p:nvPr/>
        </p:nvSpPr>
        <p:spPr>
          <a:xfrm>
            <a:off x="27432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0" name="Shape 8"/>
          <p:cNvSpPr/>
          <p:nvPr/>
        </p:nvSpPr>
        <p:spPr>
          <a:xfrm>
            <a:off x="274320" y="1901952"/>
            <a:ext cx="4206240" cy="256032"/>
          </a:xfrm>
          <a:prstGeom prst="rect">
            <a:avLst/>
          </a:prstGeom>
          <a:solidFill>
            <a:srgbClr val="101C4F"/>
          </a:solidFill>
          <a:ln w="12700">
            <a:solidFill>
              <a:srgbClr val="101C4F"/>
            </a:solidFill>
            <a:prstDash val="solid"/>
          </a:ln>
        </p:spPr>
      </p:sp>
      <p:sp>
        <p:nvSpPr>
          <p:cNvPr id="11" name="Text 9"/>
          <p:cNvSpPr/>
          <p:nvPr/>
        </p:nvSpPr>
        <p:spPr>
          <a:xfrm>
            <a:off x="36576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SOFR Compound-in-Arrears: Operations Impact</a:t>
            </a:r>
            <a:endParaRPr lang="en-US" sz="1000" dirty="0"/>
          </a:p>
        </p:txBody>
      </p:sp>
      <p:sp>
        <p:nvSpPr>
          <p:cNvPr id="12" name="Text 10"/>
          <p:cNvSpPr/>
          <p:nvPr/>
        </p:nvSpPr>
        <p:spPr>
          <a:xfrm>
            <a:off x="36576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SOFR is an overnight rate — unlike LIBOR which was a term rate set in advance. SOFR compound-in-arrears means the floating payment for a period is calculated using the compound average of daily SOFR observations over that period, known only at the period end. Operations impact: (1) Rate can't be known until the last day of the period — no early payment preparation. (2) Calculation is more complex: daily compounding with ISDA's compounding formula. (3) Systems must be updated to handle daily SOFR observations and compounding. (4) Payment can be made 2 days after period end (T+2 observation shift variant) or with a lookback. Legacy LIBOR operations (advance-set rate, simple interest) is fundamentally different. SOFR transition required operations teams to rebuild payment calculation and confirmation workflows from scratch.</a:t>
            </a:r>
            <a:endParaRPr lang="en-US" sz="1050" dirty="0"/>
          </a:p>
        </p:txBody>
      </p:sp>
      <p:sp>
        <p:nvSpPr>
          <p:cNvPr id="13" name="Shape 11"/>
          <p:cNvSpPr/>
          <p:nvPr/>
        </p:nvSpPr>
        <p:spPr>
          <a:xfrm>
            <a:off x="4663440" y="822960"/>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4" name="Shape 12"/>
          <p:cNvSpPr/>
          <p:nvPr/>
        </p:nvSpPr>
        <p:spPr>
          <a:xfrm>
            <a:off x="4663440" y="822960"/>
            <a:ext cx="4206240" cy="256032"/>
          </a:xfrm>
          <a:prstGeom prst="rect">
            <a:avLst/>
          </a:prstGeom>
          <a:solidFill>
            <a:srgbClr val="101C4F"/>
          </a:solidFill>
          <a:ln w="12700">
            <a:solidFill>
              <a:srgbClr val="101C4F"/>
            </a:solidFill>
            <a:prstDash val="solid"/>
          </a:ln>
        </p:spPr>
      </p:sp>
      <p:sp>
        <p:nvSpPr>
          <p:cNvPr id="15" name="Text 13"/>
          <p:cNvSpPr/>
          <p:nvPr/>
        </p:nvSpPr>
        <p:spPr>
          <a:xfrm>
            <a:off x="4754880" y="822960"/>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Digital Assets and Future OTC Operations</a:t>
            </a:r>
            <a:endParaRPr lang="en-US" sz="1000" dirty="0"/>
          </a:p>
        </p:txBody>
      </p:sp>
      <p:sp>
        <p:nvSpPr>
          <p:cNvPr id="16" name="Text 14"/>
          <p:cNvSpPr/>
          <p:nvPr/>
        </p:nvSpPr>
        <p:spPr>
          <a:xfrm>
            <a:off x="4754880" y="1097280"/>
            <a:ext cx="4069080" cy="649224"/>
          </a:xfrm>
          <a:prstGeom prst="rect">
            <a:avLst/>
          </a:prstGeom>
          <a:noFill/>
          <a:ln/>
        </p:spPr>
        <p:txBody>
          <a:bodyPr wrap="square" lIns="0" tIns="0" rIns="0" bIns="0" rtlCol="0" anchor="t"/>
          <a:lstStyle/>
          <a:p>
            <a:pPr indent="0" marL="0">
              <a:buNone/>
            </a:pPr>
            <a:r>
              <a:rPr lang="en-US" sz="1050" dirty="0">
                <a:solidFill>
                  <a:srgbClr val="404040"/>
                </a:solidFill>
              </a:rPr>
              <a:t>OTC derivatives on digital assets are an emerging market — BTC and ETH options, crypto swaps, tokenised asset derivatives. Major banks and dedicated crypto prime brokers now offer institutional OTC crypto derivatives with ISDA-style documentation. Key operations challenges: 24/7/365 markets (no settlement holidays), new collateral types (stablecoins, tokenised treasury bills), blockchain-based settlement (reducing settlement risk but requiring new infrastructure), price source uncertainty (multiple crypto benchmarks competing). ISDA has published a digital asset derivatives annex. The 11-stage TLC logic applies — but each stage needs adaptation for the unique characteristics of digital asset markets.</a:t>
            </a:r>
            <a:endParaRPr lang="en-US" sz="1050" dirty="0"/>
          </a:p>
        </p:txBody>
      </p:sp>
      <p:sp>
        <p:nvSpPr>
          <p:cNvPr id="17" name="Shape 15"/>
          <p:cNvSpPr/>
          <p:nvPr/>
        </p:nvSpPr>
        <p:spPr>
          <a:xfrm>
            <a:off x="4663440" y="1901952"/>
            <a:ext cx="4206240" cy="96012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8" name="Shape 16"/>
          <p:cNvSpPr/>
          <p:nvPr/>
        </p:nvSpPr>
        <p:spPr>
          <a:xfrm>
            <a:off x="4663440" y="1901952"/>
            <a:ext cx="4206240" cy="256032"/>
          </a:xfrm>
          <a:prstGeom prst="rect">
            <a:avLst/>
          </a:prstGeom>
          <a:solidFill>
            <a:srgbClr val="101C4F"/>
          </a:solidFill>
          <a:ln w="12700">
            <a:solidFill>
              <a:srgbClr val="101C4F"/>
            </a:solidFill>
            <a:prstDash val="solid"/>
          </a:ln>
        </p:spPr>
      </p:sp>
      <p:sp>
        <p:nvSpPr>
          <p:cNvPr id="19" name="Text 17"/>
          <p:cNvSpPr/>
          <p:nvPr/>
        </p:nvSpPr>
        <p:spPr>
          <a:xfrm>
            <a:off x="4754880" y="1901952"/>
            <a:ext cx="4069080" cy="256032"/>
          </a:xfrm>
          <a:prstGeom prst="rect">
            <a:avLst/>
          </a:prstGeom>
          <a:noFill/>
          <a:ln/>
        </p:spPr>
        <p:txBody>
          <a:bodyPr wrap="square" lIns="0" tIns="0" rIns="0" bIns="0" rtlCol="0" anchor="ctr"/>
          <a:lstStyle/>
          <a:p>
            <a:pPr indent="0" marL="0">
              <a:buNone/>
            </a:pPr>
            <a:r>
              <a:rPr lang="en-US" sz="1000" b="1" dirty="0">
                <a:solidFill>
                  <a:srgbClr val="F0A800"/>
                </a:solidFill>
              </a:rPr>
              <a:t>Career Path: From Module F10 to Senior OTC Operations</a:t>
            </a:r>
            <a:endParaRPr lang="en-US" sz="1000" dirty="0"/>
          </a:p>
        </p:txBody>
      </p:sp>
      <p:sp>
        <p:nvSpPr>
          <p:cNvPr id="20" name="Text 18"/>
          <p:cNvSpPr/>
          <p:nvPr/>
        </p:nvSpPr>
        <p:spPr>
          <a:xfrm>
            <a:off x="4754880" y="2176272"/>
            <a:ext cx="4069080" cy="649224"/>
          </a:xfrm>
          <a:prstGeom prst="rect">
            <a:avLst/>
          </a:prstGeom>
          <a:noFill/>
          <a:ln/>
        </p:spPr>
        <p:txBody>
          <a:bodyPr wrap="square" lIns="0" tIns="0" rIns="0" bIns="0" rtlCol="0" anchor="t"/>
          <a:lstStyle/>
          <a:p>
            <a:pPr indent="0" marL="0">
              <a:buNone/>
            </a:pPr>
            <a:r>
              <a:rPr lang="en-US" sz="1050" dirty="0">
                <a:solidFill>
                  <a:srgbClr val="404040"/>
                </a:solidFill>
              </a:rPr>
              <a:t>Module F10 knowledge maps directly to career roles. Entry level: OTC Analyst — confirmation management (Stage 8), TR reporting (Stage 3 and 9), settlement processing (Stage 10). Mid level: OTC Operations Manager — exception management across TLC stages 4–9, margin management (VM and IM), ISDA documentation coordination. Senior level: VP/Director Operations — portfolio reconciliation governance, regulatory reporting oversight, IBOR transition programme management, regulatory engagement. Specialist paths: ISDA Documentation Negotiator (legal background + F10.2–F10.5 deep knowledge), Margin Specialist (F10.5 + SIMM expertise), Regulatory Reporting Manager (F10.7 + TR system expertise). The industry pays a premium for operations professionals who understand both the legal ISDA framework and the operational TLC workflow — most professionals know one but not both.</a:t>
            </a:r>
            <a:endParaRPr lang="en-US" sz="1050" dirty="0"/>
          </a:p>
        </p:txBody>
      </p:sp>
      <p:sp>
        <p:nvSpPr>
          <p:cNvPr id="21" name="Shape 19"/>
          <p:cNvSpPr/>
          <p:nvPr/>
        </p:nvSpPr>
        <p:spPr>
          <a:xfrm>
            <a:off x="0" y="4864608"/>
            <a:ext cx="9144000" cy="278892"/>
          </a:xfrm>
          <a:prstGeom prst="rect">
            <a:avLst/>
          </a:prstGeom>
          <a:solidFill>
            <a:srgbClr val="101C4F"/>
          </a:solidFill>
          <a:ln w="12700">
            <a:solidFill>
              <a:srgbClr val="101C4F"/>
            </a:solidFill>
            <a:prstDash val="solid"/>
          </a:ln>
        </p:spPr>
      </p:sp>
      <p:sp>
        <p:nvSpPr>
          <p:cNvPr id="22" name="Text 2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23" name="Text 2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01C4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800"/>
          </a:solidFill>
          <a:ln w="12700">
            <a:solidFill>
              <a:srgbClr val="F0A800"/>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101C4F"/>
                </a:solidFill>
              </a:rPr>
              <a:t>Think &amp; Discuss</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101C4F"/>
                </a:solidFill>
              </a:rPr>
              <a:t>F10.10 · End-to-End Case Study and Post-2008 OTC Reforms</a:t>
            </a:r>
            <a:endParaRPr lang="en-US" sz="900" dirty="0"/>
          </a:p>
        </p:txBody>
      </p:sp>
      <p:sp>
        <p:nvSpPr>
          <p:cNvPr id="5" name="Shape 3"/>
          <p:cNvSpPr/>
          <p:nvPr/>
        </p:nvSpPr>
        <p:spPr>
          <a:xfrm>
            <a:off x="274320" y="804672"/>
            <a:ext cx="8595360" cy="1828800"/>
          </a:xfrm>
          <a:prstGeom prst="rect">
            <a:avLst/>
          </a:prstGeom>
          <a:solidFill>
            <a:srgbClr val="182650"/>
          </a:solidFill>
          <a:ln w="12700">
            <a:solidFill>
              <a:srgbClr val="007A87"/>
            </a:solidFill>
            <a:prstDash val="solid"/>
          </a:ln>
        </p:spPr>
      </p:sp>
      <p:sp>
        <p:nvSpPr>
          <p:cNvPr id="6" name="Text 4"/>
          <p:cNvSpPr/>
          <p:nvPr/>
        </p:nvSpPr>
        <p:spPr>
          <a:xfrm>
            <a:off x="384048" y="89611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Q1</a:t>
            </a:r>
            <a:endParaRPr lang="en-US" sz="1400" dirty="0"/>
          </a:p>
        </p:txBody>
      </p:sp>
      <p:sp>
        <p:nvSpPr>
          <p:cNvPr id="7" name="Text 5"/>
          <p:cNvSpPr/>
          <p:nvPr/>
        </p:nvSpPr>
        <p:spPr>
          <a:xfrm>
            <a:off x="804672" y="877824"/>
            <a:ext cx="7909560" cy="1682496"/>
          </a:xfrm>
          <a:prstGeom prst="rect">
            <a:avLst/>
          </a:prstGeom>
          <a:noFill/>
          <a:ln/>
        </p:spPr>
        <p:txBody>
          <a:bodyPr wrap="square" lIns="0" tIns="0" rIns="0" bIns="0" rtlCol="0" anchor="t"/>
          <a:lstStyle/>
          <a:p>
            <a:pPr indent="0" marL="0">
              <a:buNone/>
            </a:pPr>
            <a:r>
              <a:rPr lang="en-US" sz="1150" dirty="0">
                <a:solidFill>
                  <a:srgbClr val="FFFFFF"/>
                </a:solidFill>
              </a:rPr>
              <a:t>The post-2008 OTC derivatives reforms — mandatory clearing, reporting, and margining — have achieved their primary goals: more systemic risk visibility, reduced bilateral counterparty risk, and better-collateralised exposures. But they have also created significant new operational complexity and cost. ISDA estimates the cumulative cost of OTC regulatory compliance since 2010 at over $2 trillion in industry-wide investment. Critics argue this has increased barriers to entry for smaller market participants, reduced market liquidity, and concentrated OTC volume in fewer, larger dealers. Is the systemic risk reduction worth the market structure costs? What further reforms would you recommend — or what existing reforms would you roll back?</a:t>
            </a:r>
            <a:endParaRPr lang="en-US" sz="1150" dirty="0"/>
          </a:p>
        </p:txBody>
      </p:sp>
      <p:sp>
        <p:nvSpPr>
          <p:cNvPr id="8" name="Shape 6"/>
          <p:cNvSpPr/>
          <p:nvPr/>
        </p:nvSpPr>
        <p:spPr>
          <a:xfrm>
            <a:off x="274320" y="2770632"/>
            <a:ext cx="8595360" cy="1828800"/>
          </a:xfrm>
          <a:prstGeom prst="rect">
            <a:avLst/>
          </a:prstGeom>
          <a:solidFill>
            <a:srgbClr val="182650"/>
          </a:solidFill>
          <a:ln w="12700">
            <a:solidFill>
              <a:srgbClr val="007A87"/>
            </a:solidFill>
            <a:prstDash val="solid"/>
          </a:ln>
        </p:spPr>
      </p:sp>
      <p:sp>
        <p:nvSpPr>
          <p:cNvPr id="9" name="Text 7"/>
          <p:cNvSpPr/>
          <p:nvPr/>
        </p:nvSpPr>
        <p:spPr>
          <a:xfrm>
            <a:off x="384048" y="2862072"/>
            <a:ext cx="365760" cy="365760"/>
          </a:xfrm>
          <a:prstGeom prst="rect">
            <a:avLst/>
          </a:prstGeom>
          <a:noFill/>
          <a:ln/>
        </p:spPr>
        <p:txBody>
          <a:bodyPr wrap="square" lIns="0" tIns="0" rIns="0" bIns="0" rtlCol="0" anchor="ctr"/>
          <a:lstStyle/>
          <a:p>
            <a:pPr indent="0" marL="0">
              <a:buNone/>
            </a:pPr>
            <a:r>
              <a:rPr lang="en-US" sz="1400" b="1" dirty="0">
                <a:solidFill>
                  <a:srgbClr val="F0A800"/>
                </a:solidFill>
              </a:rPr>
              <a:t>Q2</a:t>
            </a:r>
            <a:endParaRPr lang="en-US" sz="1400" dirty="0"/>
          </a:p>
        </p:txBody>
      </p:sp>
      <p:sp>
        <p:nvSpPr>
          <p:cNvPr id="10" name="Text 8"/>
          <p:cNvSpPr/>
          <p:nvPr/>
        </p:nvSpPr>
        <p:spPr>
          <a:xfrm>
            <a:off x="804672" y="2843784"/>
            <a:ext cx="7909560" cy="1682496"/>
          </a:xfrm>
          <a:prstGeom prst="rect">
            <a:avLst/>
          </a:prstGeom>
          <a:noFill/>
          <a:ln/>
        </p:spPr>
        <p:txBody>
          <a:bodyPr wrap="square" lIns="0" tIns="0" rIns="0" bIns="0" rtlCol="0" anchor="t"/>
          <a:lstStyle/>
          <a:p>
            <a:pPr indent="0" marL="0">
              <a:buNone/>
            </a:pPr>
            <a:r>
              <a:rPr lang="en-US" sz="1150" dirty="0">
                <a:solidFill>
                  <a:srgbClr val="FFFFFF"/>
                </a:solidFill>
              </a:rPr>
              <a:t>By 2030, distributed ledger technology (DLT) could fundamentally change OTC derivatives operations. Smart contracts on blockchain could automate all 11 TLC stages: execution on-chain, automatic TR reporting via blockchain API, CCP settlement via smart contract, daily margin calculation by on-chain oracle, and reconciliation eliminated because there's one shared ledger. Map the 11 OTC TLC stages against this DLT vision — for each stage, identify whether DLT could eliminate it, automate it, or replace it. What stages would remain human-dependent even in a fully automated DLT world?</a:t>
            </a:r>
            <a:endParaRPr lang="en-US" sz="1150" dirty="0"/>
          </a:p>
        </p:txBody>
      </p:sp>
      <p:sp>
        <p:nvSpPr>
          <p:cNvPr id="11" name="Shape 9"/>
          <p:cNvSpPr/>
          <p:nvPr/>
        </p:nvSpPr>
        <p:spPr>
          <a:xfrm>
            <a:off x="0" y="4864608"/>
            <a:ext cx="9144000" cy="278892"/>
          </a:xfrm>
          <a:prstGeom prst="rect">
            <a:avLst/>
          </a:prstGeom>
          <a:solidFill>
            <a:srgbClr val="101C4F"/>
          </a:solidFill>
          <a:ln w="12700">
            <a:solidFill>
              <a:srgbClr val="101C4F"/>
            </a:solidFill>
            <a:prstDash val="solid"/>
          </a:ln>
        </p:spPr>
      </p:sp>
      <p:sp>
        <p:nvSpPr>
          <p:cNvPr id="12" name="Text 10"/>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3" name="Text 11"/>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5F6F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01C4F"/>
          </a:solidFill>
          <a:ln w="12700">
            <a:solidFill>
              <a:srgbClr val="101C4F"/>
            </a:solidFill>
            <a:prstDash val="solid"/>
          </a:ln>
        </p:spPr>
      </p:sp>
      <p:sp>
        <p:nvSpPr>
          <p:cNvPr id="3" name="Text 1"/>
          <p:cNvSpPr/>
          <p:nvPr/>
        </p:nvSpPr>
        <p:spPr>
          <a:xfrm>
            <a:off x="320040" y="0"/>
            <a:ext cx="5486400" cy="658368"/>
          </a:xfrm>
          <a:prstGeom prst="rect">
            <a:avLst/>
          </a:prstGeom>
          <a:noFill/>
          <a:ln/>
        </p:spPr>
        <p:txBody>
          <a:bodyPr wrap="square" lIns="0" tIns="0" rIns="0" bIns="0" rtlCol="0" anchor="ctr"/>
          <a:lstStyle/>
          <a:p>
            <a:pPr indent="0" marL="0">
              <a:buNone/>
            </a:pPr>
            <a:r>
              <a:rPr lang="en-US" sz="1500" b="1" dirty="0">
                <a:solidFill>
                  <a:srgbClr val="F0A800"/>
                </a:solidFill>
              </a:rPr>
              <a:t>Interview Ready</a:t>
            </a:r>
            <a:endParaRPr lang="en-US" sz="1500" dirty="0"/>
          </a:p>
        </p:txBody>
      </p:sp>
      <p:sp>
        <p:nvSpPr>
          <p:cNvPr id="4" name="Text 2"/>
          <p:cNvSpPr/>
          <p:nvPr/>
        </p:nvSpPr>
        <p:spPr>
          <a:xfrm>
            <a:off x="320040" y="0"/>
            <a:ext cx="8503920" cy="658368"/>
          </a:xfrm>
          <a:prstGeom prst="rect">
            <a:avLst/>
          </a:prstGeom>
          <a:noFill/>
          <a:ln/>
        </p:spPr>
        <p:txBody>
          <a:bodyPr wrap="square" lIns="0" tIns="0" rIns="0" bIns="0" rtlCol="0" anchor="ctr"/>
          <a:lstStyle/>
          <a:p>
            <a:pPr algn="r" indent="0" marL="0">
              <a:buNone/>
            </a:pPr>
            <a:r>
              <a:rPr lang="en-US" sz="900" dirty="0">
                <a:solidFill>
                  <a:srgbClr val="FFFFFF"/>
                </a:solidFill>
              </a:rPr>
              <a:t>F10.10 · End-to-End Case Study and Post-2008 OTC Reforms</a:t>
            </a:r>
            <a:endParaRPr lang="en-US" sz="900" dirty="0"/>
          </a:p>
        </p:txBody>
      </p:sp>
      <p:sp>
        <p:nvSpPr>
          <p:cNvPr id="5" name="Shape 3"/>
          <p:cNvSpPr/>
          <p:nvPr/>
        </p:nvSpPr>
        <p:spPr>
          <a:xfrm>
            <a:off x="274320" y="804672"/>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6" name="Shape 4"/>
          <p:cNvSpPr/>
          <p:nvPr/>
        </p:nvSpPr>
        <p:spPr>
          <a:xfrm>
            <a:off x="274320" y="804672"/>
            <a:ext cx="73152" cy="2011680"/>
          </a:xfrm>
          <a:prstGeom prst="rect">
            <a:avLst/>
          </a:prstGeom>
          <a:solidFill>
            <a:srgbClr val="F0A800"/>
          </a:solidFill>
          <a:ln w="12700">
            <a:solidFill>
              <a:srgbClr val="F0A800"/>
            </a:solidFill>
            <a:prstDash val="solid"/>
          </a:ln>
        </p:spPr>
      </p:sp>
      <p:sp>
        <p:nvSpPr>
          <p:cNvPr id="7" name="Text 5"/>
          <p:cNvSpPr/>
          <p:nvPr/>
        </p:nvSpPr>
        <p:spPr>
          <a:xfrm>
            <a:off x="438912" y="859536"/>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8" name="Text 6"/>
          <p:cNvSpPr/>
          <p:nvPr/>
        </p:nvSpPr>
        <p:spPr>
          <a:xfrm>
            <a:off x="749808" y="850392"/>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were the three G20 Pittsburgh commitments for OTC derivatives reform, and how have they been implemented?</a:t>
            </a:r>
            <a:endParaRPr lang="en-US" sz="1100" dirty="0"/>
          </a:p>
        </p:txBody>
      </p:sp>
      <p:sp>
        <p:nvSpPr>
          <p:cNvPr id="9" name="Text 7"/>
          <p:cNvSpPr/>
          <p:nvPr/>
        </p:nvSpPr>
        <p:spPr>
          <a:xfrm>
            <a:off x="438912" y="1197864"/>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0" name="Text 8"/>
          <p:cNvSpPr/>
          <p:nvPr/>
        </p:nvSpPr>
        <p:spPr>
          <a:xfrm>
            <a:off x="749808" y="1188720"/>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G20 Pittsburgh Summit in September 2009 made three landmark commitments for OTC derivatives markets, all driven by the lessons of the 2008 financial crisis. (1) Mandatory central clearing: standardised OTC derivatives should be cleared through central counterparties. Implementation: Dodd-Frank Section 723 in the US mandated CCP clearing for 'made available to trade' derivatives — primarily vanilla IRS and CDS indices. EMIR Article 4 implemented the EU clearing obligation. In India, RBI mandated CCIL clearing for INR IRS above ₹10 crore. LCH SwapClear now clears 70%+ of global IRS. The rationale: CCPs replace the bilateral web of exposures with a star topology, eliminating chain contagion. (2) Trade reporting to trade repositories: all OTC trades should be reported to centralised TRs accessible to regulators. Implementation: Dodd-Frank required CFTC-registered Swap Data Repositories (DTCC, Bloomberg). EMIR required ESMA-approved TRs. India uses CCIL TR. Reports must include UTI, LEI, and all economic terms. G20 aim: give regulators a real-time picture of systemic risk concentrations — exactly what was lacking when Lehman collapsed. (3) Mandatory electronic trading on regulated venues: standardised, liquid OTC derivatives should trade on SEFs or OTFs. Implementation: CFTC's SEF rules (2013) mandated SEF execution for MAT-determined products. EMIR/MiFIR created OTFs for EU derivatives. In India: CCIL and Clearcorp provide electronic execution for INR derivatives. The three pillars work together — SEF execution feeds into CCP clearing and TR reporting, creating a fully transparent and risk-managed end-to-end workflow.</a:t>
            </a:r>
            <a:endParaRPr lang="en-US" sz="1050" dirty="0"/>
          </a:p>
        </p:txBody>
      </p:sp>
      <p:sp>
        <p:nvSpPr>
          <p:cNvPr id="11" name="Shape 9"/>
          <p:cNvSpPr/>
          <p:nvPr/>
        </p:nvSpPr>
        <p:spPr>
          <a:xfrm>
            <a:off x="274320" y="2944368"/>
            <a:ext cx="8595360" cy="2011680"/>
          </a:xfrm>
          <a:prstGeom prst="rect">
            <a:avLst/>
          </a:prstGeom>
          <a:solidFill>
            <a:srgbClr val="FFFFFF"/>
          </a:solidFill>
          <a:ln w="12700">
            <a:solidFill>
              <a:srgbClr val="E0E4EF"/>
            </a:solidFill>
            <a:prstDash val="solid"/>
          </a:ln>
          <a:effectLst>
            <a:outerShdw sx="100000" sy="100000" kx="0" ky="0" algn="bl" rotWithShape="0" blurRad="76200" dist="25400" dir="8100000">
              <a:srgbClr val="000000">
                <a:alpha val="15000"/>
              </a:srgbClr>
            </a:outerShdw>
          </a:effectLst>
        </p:spPr>
      </p:sp>
      <p:sp>
        <p:nvSpPr>
          <p:cNvPr id="12" name="Shape 10"/>
          <p:cNvSpPr/>
          <p:nvPr/>
        </p:nvSpPr>
        <p:spPr>
          <a:xfrm>
            <a:off x="274320" y="2944368"/>
            <a:ext cx="73152" cy="2011680"/>
          </a:xfrm>
          <a:prstGeom prst="rect">
            <a:avLst/>
          </a:prstGeom>
          <a:solidFill>
            <a:srgbClr val="F0A800"/>
          </a:solidFill>
          <a:ln w="12700">
            <a:solidFill>
              <a:srgbClr val="F0A800"/>
            </a:solidFill>
            <a:prstDash val="solid"/>
          </a:ln>
        </p:spPr>
      </p:sp>
      <p:sp>
        <p:nvSpPr>
          <p:cNvPr id="13" name="Text 11"/>
          <p:cNvSpPr/>
          <p:nvPr/>
        </p:nvSpPr>
        <p:spPr>
          <a:xfrm>
            <a:off x="438912" y="2999232"/>
            <a:ext cx="320040" cy="274320"/>
          </a:xfrm>
          <a:prstGeom prst="rect">
            <a:avLst/>
          </a:prstGeom>
          <a:noFill/>
          <a:ln/>
        </p:spPr>
        <p:txBody>
          <a:bodyPr wrap="square" lIns="0" tIns="0" rIns="0" bIns="0" rtlCol="0" anchor="ctr"/>
          <a:lstStyle/>
          <a:p>
            <a:pPr indent="0" marL="0">
              <a:buNone/>
            </a:pPr>
            <a:r>
              <a:rPr lang="en-US" sz="1000" b="1" dirty="0">
                <a:solidFill>
                  <a:srgbClr val="007A87"/>
                </a:solidFill>
              </a:rPr>
              <a:t>Q:</a:t>
            </a:r>
            <a:endParaRPr lang="en-US" sz="1000" dirty="0"/>
          </a:p>
        </p:txBody>
      </p:sp>
      <p:sp>
        <p:nvSpPr>
          <p:cNvPr id="14" name="Text 12"/>
          <p:cNvSpPr/>
          <p:nvPr/>
        </p:nvSpPr>
        <p:spPr>
          <a:xfrm>
            <a:off x="749808" y="2990088"/>
            <a:ext cx="7863840" cy="320040"/>
          </a:xfrm>
          <a:prstGeom prst="rect">
            <a:avLst/>
          </a:prstGeom>
          <a:noFill/>
          <a:ln/>
        </p:spPr>
        <p:txBody>
          <a:bodyPr wrap="square" lIns="0" tIns="0" rIns="0" bIns="0" rtlCol="0" anchor="ctr"/>
          <a:lstStyle/>
          <a:p>
            <a:pPr indent="0" marL="0">
              <a:buNone/>
            </a:pPr>
            <a:r>
              <a:rPr lang="en-US" sz="1100" b="1" dirty="0">
                <a:solidFill>
                  <a:srgbClr val="101C4F"/>
                </a:solidFill>
              </a:rPr>
              <a:t>What is the IBOR transition and how did it impact OTC derivatives operations?</a:t>
            </a:r>
            <a:endParaRPr lang="en-US" sz="1100" dirty="0"/>
          </a:p>
        </p:txBody>
      </p:sp>
      <p:sp>
        <p:nvSpPr>
          <p:cNvPr id="15" name="Text 13"/>
          <p:cNvSpPr/>
          <p:nvPr/>
        </p:nvSpPr>
        <p:spPr>
          <a:xfrm>
            <a:off x="438912" y="3337560"/>
            <a:ext cx="320040" cy="274320"/>
          </a:xfrm>
          <a:prstGeom prst="rect">
            <a:avLst/>
          </a:prstGeom>
          <a:noFill/>
          <a:ln/>
        </p:spPr>
        <p:txBody>
          <a:bodyPr wrap="square" lIns="0" tIns="0" rIns="0" bIns="0" rtlCol="0" anchor="ctr"/>
          <a:lstStyle/>
          <a:p>
            <a:pPr indent="0" marL="0">
              <a:buNone/>
            </a:pPr>
            <a:r>
              <a:rPr lang="en-US" sz="1000" b="1" dirty="0">
                <a:solidFill>
                  <a:srgbClr val="101C4F"/>
                </a:solidFill>
              </a:rPr>
              <a:t>A:</a:t>
            </a:r>
            <a:endParaRPr lang="en-US" sz="1000" dirty="0"/>
          </a:p>
        </p:txBody>
      </p:sp>
      <p:sp>
        <p:nvSpPr>
          <p:cNvPr id="16" name="Text 14"/>
          <p:cNvSpPr/>
          <p:nvPr/>
        </p:nvSpPr>
        <p:spPr>
          <a:xfrm>
            <a:off x="749808" y="3328416"/>
            <a:ext cx="7863840" cy="1554480"/>
          </a:xfrm>
          <a:prstGeom prst="rect">
            <a:avLst/>
          </a:prstGeom>
          <a:noFill/>
          <a:ln/>
        </p:spPr>
        <p:txBody>
          <a:bodyPr wrap="square" lIns="0" tIns="0" rIns="0" bIns="0" rtlCol="0" anchor="t"/>
          <a:lstStyle/>
          <a:p>
            <a:pPr indent="0" marL="0">
              <a:buNone/>
            </a:pPr>
            <a:r>
              <a:rPr lang="en-US" sz="1050" dirty="0">
                <a:solidFill>
                  <a:srgbClr val="404040"/>
                </a:solidFill>
              </a:rPr>
              <a:t>The IBOR — Inter-Bank Offered Rate — transition refers to the global shift away from LIBOR and other IBORs to alternative risk-free rates (RFRs) following the 2021 discontinuation of most LIBOR settings. LIBOR was found to be manipulated (the 2012 LIBOR scandal) and insufficiently underpinned by real transactions. Replacements: USD LIBOR → SOFR (Secured Overnight Financing Rate, NY Fed). GBP LIBOR → SONIA (Sterling Overnight Index Average, Bank of England). EUR EURIBOR/LIBOR → €STR (Euro Short-Term Rate, ECB). INR MIFOR → MIBOR-OIS (Mumbai Inter-Bank Offer Rate Overnight Indexed Swap). The operations impact was enormous across three dimensions. First, legacy book remediation: banks had hundreds of thousands of OTC trades referencing LIBOR — confirmations, CSAs, ISDAs all needed updating. The ISDA 2020 IBOR Fallbacks Protocol provided a legal mechanism: trades adhering to the Protocol automatically switched to RFR + spread adjustment on LIBOR cessation. Operations teams managed the adherence process and tracked which counterparties had adhered. Second, systems rebuild: floating rate calculation engines, day count conventions, and payment schedule generators all needed updating. SOFR compound-in-arrears has a fundamentally different calculation methodology than advance-set LIBOR — requiring new system functionality. Third, new workflow development: SOFR compound-in-arrears means the floating payment amount isn't known until the last day of the calculation period — requiring new payment timing processes and confirmation workflows. The IBOR transition required 3+ years of programme management — arguably the largest operations transformation in OTC derivatives history.</a:t>
            </a:r>
            <a:endParaRPr lang="en-US" sz="1050" dirty="0"/>
          </a:p>
        </p:txBody>
      </p:sp>
      <p:sp>
        <p:nvSpPr>
          <p:cNvPr id="17" name="Shape 15"/>
          <p:cNvSpPr/>
          <p:nvPr/>
        </p:nvSpPr>
        <p:spPr>
          <a:xfrm>
            <a:off x="0" y="4864608"/>
            <a:ext cx="9144000" cy="278892"/>
          </a:xfrm>
          <a:prstGeom prst="rect">
            <a:avLst/>
          </a:prstGeom>
          <a:solidFill>
            <a:srgbClr val="101C4F"/>
          </a:solidFill>
          <a:ln w="12700">
            <a:solidFill>
              <a:srgbClr val="101C4F"/>
            </a:solidFill>
            <a:prstDash val="solid"/>
          </a:ln>
        </p:spPr>
      </p:sp>
      <p:sp>
        <p:nvSpPr>
          <p:cNvPr id="18" name="Text 16"/>
          <p:cNvSpPr/>
          <p:nvPr/>
        </p:nvSpPr>
        <p:spPr>
          <a:xfrm>
            <a:off x="274320" y="4873752"/>
            <a:ext cx="8229600" cy="246888"/>
          </a:xfrm>
          <a:prstGeom prst="rect">
            <a:avLst/>
          </a:prstGeom>
          <a:noFill/>
          <a:ln/>
        </p:spPr>
        <p:txBody>
          <a:bodyPr wrap="square" rtlCol="0" anchor="ctr"/>
          <a:lstStyle/>
          <a:p>
            <a:pPr indent="0" marL="0">
              <a:buNone/>
            </a:pPr>
            <a:r>
              <a:rPr lang="en-US" sz="900" b="1" dirty="0">
                <a:solidFill>
                  <a:srgbClr val="F0A800"/>
                </a:solidFill>
              </a:rPr>
              <a:t>CIBOP  ·  ISDA &amp; OTC Trade Life Cycle</a:t>
            </a:r>
            <a:endParaRPr lang="en-US" sz="900" dirty="0"/>
          </a:p>
        </p:txBody>
      </p:sp>
      <p:sp>
        <p:nvSpPr>
          <p:cNvPr id="19" name="Text 17"/>
          <p:cNvSpPr/>
          <p:nvPr/>
        </p:nvSpPr>
        <p:spPr>
          <a:xfrm>
            <a:off x="8686800" y="4873752"/>
            <a:ext cx="411480" cy="246888"/>
          </a:xfrm>
          <a:prstGeom prst="rect">
            <a:avLst/>
          </a:prstGeom>
          <a:noFill/>
          <a:ln/>
        </p:spPr>
        <p:txBody>
          <a:bodyPr wrap="square" rtlCol="0" anchor="ctr"/>
          <a:lstStyle/>
          <a:p>
            <a:pPr algn="r" indent="0" marL="0">
              <a:buNone/>
            </a:pPr>
            <a:r>
              <a:rPr lang="en-US" sz="900" dirty="0">
                <a:solidFill>
                  <a:srgbClr val="F0A800"/>
                </a:solidFill>
              </a:rPr>
              <a:t>71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CIBOP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ISDA &amp; OTC Trade Life Cycle — Learning Deck</dc:title>
  <dc:subject>PptxGenJS Presentation</dc:subject>
  <dc:creator>Imarticus Learning</dc:creator>
  <cp:lastModifiedBy>Imarticus Learning</cp:lastModifiedBy>
  <cp:revision>1</cp:revision>
  <dcterms:created xsi:type="dcterms:W3CDTF">2026-05-06T12:42:29Z</dcterms:created>
  <dcterms:modified xsi:type="dcterms:W3CDTF">2026-05-06T12:42:29Z</dcterms:modified>
</cp:coreProperties>
</file>