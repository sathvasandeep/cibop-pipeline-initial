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Fixed Income Securities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Part 2</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Fixed Income – Part 2  |  UORs: D5.1 – D5.10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Primary Issuance of Bonds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 · Primary Issuance of Bonds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Primary issuance is when bonds are first sold by the issuer to raise fresh capital — government uses auctions; corporates use book-building or private placement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RBI conducts Government Securities auctions via NDS-OM: Uniform Price (all winners pay clearing yield) and Multiple Price (each pays own bid)</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Primary dealers (large banks/brokers) are obligated to bid at G-Sec auctions, ensuring full subscription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Corporate bonds are priced via book-building: investment banks collect bids across a yield range, then set the final coupon/issue price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 · Primary Issuance of Bonds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RBI announces a ₹15,000 crore G-Sec auction for the 10-year benchmark bond. ARIA's bank participates as a primary dealer. They receive bids from their clients at various yields. In the uniform price auction, the cut-off yield is set at 7.20%. Some clients bid at 7.10%, others at 7.25%.</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clients receive the bond allocation? At what yield do all successful bidders receive their bonds? What happens to bids above 7.20%?</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D5.1 · Primary Issuance of Bonds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How Governments and Corporates Raise Debt Capital</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Primary issuance is the mechanism by which bond markets channel savings to issuers. Governments use auctions (transparent, competitive) while corporates use book-building (relationship-based, flexible pricing). In India, non-competitive bids allow small investors to participate in G-Sec auctions without specifying a yield, receiving bonds at the weighted-average cut-off yield.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Uniform Price Auction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All successful bidders pay the clearing (cut-off) yield regardless of their own bid</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Discriminatory Auction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Each bidder pays their own submitted yield (pay-as-you-bid)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Book-Building</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IB collects demand across a yield range; final coupon set after subscription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Private Placement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Bonds sold to select institutional investors; faster but less transparent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 · Primary Issuance of Bonds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NDS-OM Platform</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Negotiated Dealing System – Order Matching. Anonymous, screen-based secondary trading for G-Secs. Also used for primary auction settlement. Operated by CCIL on behalf of RBI.</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Non-Competitive Bidding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Retail investors and small entities can apply without specifying yield. Capped at 5% of notified amount. They receive bonds at the weighted-average yield of competitive bids — democratising G-Sec access.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Green Bonds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launched its first Sovereign Green Bond in Jan 2023 (₹8,000 crore). Proceeds fund green infrastructure. Primary issuance mechanism is the same as standard G-Sec auctions.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Issuance Calendar</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publishes a half-yearly auction calendar. Predictability reduces market uncertainty and allows primary dealers to plan balance sheet usage.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D5.1 · Primary Issuance of Bonds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If RBI switches from uniform price to discriminatory price auction format for G-Secs, how would this affect bidding behaviour of primary dealers? Would it lead to lower or higher yields at cut-off?</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corporate treasurer wants to issue ₹500 crore of 5-year NCDs. Walk through the book-building process step by step — who are the participants and how is the final coupon determined?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D5.1 · Primary Issuance of Bonds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uniform price and a discriminatory price auction?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Uniform price: all successful bidders receive bonds at the single clearing yield (cut-off). Discriminatory price (pay-as-you-bid): each bidder pays their own submitted yield. Uniform auctions reduce incentive to shade bids; discriminatory auctions can lead to 'winner's curse' for aggressive bidders.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role of a primary dealer in government bond auctions?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Primary dealers (PDs) are RBI-authorised institutions obligated to bid at each G-Sec auction to ensure full subscription. They also provide secondary market liquidity. In India, PDs include SBI, HDFC Bank, Axis Bank, and major foreign banks.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Primary vs Secondary Bond Market</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D5.2 · Primary vs Secondary Bond Market</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Primary market: issuer sells newly created bonds to investors and receives the capital — happens at auction or book-build</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Secondary market: previously issued bonds trade between investors — issuer receives no proceeds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Most bond secondary-market trading happens OTC (over-the-counter) via dealer networks, not on exchanges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NDS-OM is an anonymous, screen-based secondary market platform for G-Secs; corporate bonds trade on BSE/NSE or bilaterally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D5.2 · Primary vs Secondary Bond Market</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Motion notices that a GOI 7.26% 2032 G-Sec is quoted at ₹103.50 on NDS-OM. A pension fund wants to buy ₹100 crore of this bond from another institutional investor. RBI is not involved in this trade. The settlement is handled by CCIL.</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Is this a primary or secondary market transaction? How do we know? What does the issuer (GOI) receive from this transaction?</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D5.2 · Primary vs Secondary Bond Market</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Primary Market Creates; Secondary Market Trades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primary market is where capital is raised — bonds are created and sold for the first time. The secondary market provides the exit route — investors can convert bonds to cash before maturity without waiting for the issuer. Without a liquid secondary market, investors would demand higher yields at primary issuance (liquidity premium), increasing the government's and corporates' cost of borrowing.</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Primary Market</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Issuer sells → receives capital; bonds are created here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Secondary Market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Investor sells to investor → issuer uninvolved; no new capital raised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OTC Market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Dealers quote bid-ask prices; most bonds trade here globally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NDS-OM</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India's anonymous screen-based G-Sec secondary market; settlement T+1 via CCIL</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D5.2 · Primary vs Secondary Bond Market</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Bid-Ask Spread</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difference between the dealer's buying price (bid) and selling price (ask). A tight spread (e.g., 1-2 paise on G-Secs) signals high liquidity. Wide spreads on illiquid corporate bonds mean higher transaction costs for investors.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Price Discovery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Secondary market trading continuously reflects new information (inflation data, RBI policy, credit news) in bond prices. This mark-to-market price is used for portfolio valuation and risk management.</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CCIL Role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Clearing Corporation of India Ltd. acts as central counterparty for all G-Sec trades on NDS-OM. It guarantees settlement, eliminating counterparty risk — critical for market confidence.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Corporate Bond Market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corporate bond secondary market is less liquid than G-Secs. SEBI has mandated Request-for-Quote (RFQ) platforms on BSE/NSE to improve price transparency for listed corporate bonds.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D5.2 · Primary vs Secondary Bond Market</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If India's secondary bond market suddenly became highly illiquid (no trading, wide spreads), how would this impact the RBI's ability to conduct primary G-Sec auctions at reasonable yields? Think about investor behaviour.</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fund manager says: 'I don't care about secondary market liquidity — I always hold bonds to maturity.' As an operations professional, explain why secondary market liquidity still matters for this fund manager.</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D5.2 · Primary vs Secondary Bond Market</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the primary and secondary bond market?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Primary: issuer creates and sells bonds, receives capital (e.g., RBI G-Sec auction). Secondary: existing bonds trade between investors, issuer receives no proceeds (e.g., NDS-OM G-Sec trade). Secondary market liquidity reduces the issuer's cost of borrowing by lowering the liquidity premium investors demand.</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CCIL reduce counterparty risk in G-Sec trades?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CCIL acts as a central counterparty (CCP) — it novates each trade, becoming buyer to every seller and seller to every buyer. If one party defaults, CCIL guarantees settlement using its guarantee fund. This eliminates bilateral counterparty risk and enables anonymous trading on NDS-OM.</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Role of the Secondary Bond Market</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D5.3 · Role of the Secondary Bond Market</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Three core roles of the secondary bond market: price discovery, liquidity provision, and risk transfer</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Price discovery: continuous trading reflects updated information — RBI policy, inflation, credit events — in bond prices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Liquidity provision: investors can convert bonds to cash before maturity, reducing the liquidity premium they demand at issuance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Risk transfer: investors with excess credit/duration risk can sell to those who want it — allocating risk efficiently across the economy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D5.3 · Role of the Secondary Bond Market</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manages a bond portfolio for an insurance company. She bought a 10-year GOI bond 3 years ago. Suddenly, the insurance company needs to pay a large claim and requires ₹500 crore immediately. They do not want to wait 7 more years until the bond matures.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How does the secondary bond market solve KAVI's problem? What would happen if there were no secondary market for this bond? How does this affect insurance companies' investment behaviour?</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D5.3 · Role of the Secondary Bond Market</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Secondary Market: The Engine of Capital Efficiency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Without a secondary market, bonds would function like bank fixed deposits — locked until maturity. The secondary market transforms bonds into liquid, tradeable instruments. This has a second-order effect: because investors know they can exit, they accept lower yields at primary issuance — reducing the government's and corporates' borrowing cost. The secondary market also creates the benchmark yield curve used to price everything from home loans to corporate debt.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Price Discovery</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Continuous trading creates mark-to-market valuations used for portfolio reporting</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Liquidity Provision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Investors can exit positions; reduces liquidity premium at primary issuance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Risk Transfer</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Credit risk moves from concentrated holders to willing buyers across the system</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Yield Curve</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Secondary market yields form the risk-free curve used to price all fixed-income instruments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D5.3 · Role of the Secondary Bond Market</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Liquidity Premium</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Illiquid bonds offer higher yields than liquid ones of the same credit quality. This 'liquidity premium' compensates for the difficulty of selling. Example: 10-year off-the-run G-Sec vs. current benchmark — typically 5-15 bps difference.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Market Making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Dealers continuously quote two-way prices (bid and ask) even without matching buyers/sellers. They absorb temporary imbalances using their own balance sheet. Market-making is essential for secondary market function.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G-Sec Yield Curve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RBI's secondary market G-Sec yields at various maturities form India's sovereign yield curve — from 91-day T-Bills to 40-year bonds. This curve is the benchmark for pricing corporate bonds, mortgages, and swap rates.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Regulations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SEBI's 2023 corporate bond market reforms: mandatory RFQ trading for institutional investors; enhanced reporting; liquidity window for retail investors. Goal: deepen secondary market beyond G-Secs.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D5.3 · Role of the Secondary Bond Market</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RBI wants to reduce government borrowing costs. A colleague suggests: 'Just issue more bonds at lower rates.' You counter that improving secondary market liquidity would also reduce borrowing costs. Explain your reasoning with the concept of liquidity premium.</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foreign institutional investor (FII) wants to invest ₹2,000 crore in Indian G-Secs but is concerned about being able to exit quickly. What secondary market features of India's G-Sec market would you highlight to reassure them?</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D5.3 · Role of the Secondary Bond Market</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three main functions of the secondary bond market?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1) Price discovery: continuous trading reflects real-time market information in bond prices. 2) Liquidity provision: investors can exit before maturity, reducing the liquidity premium they demand. 3) Risk transfer: bonds move from concentrated holders to those with appetite for that risk. Together, these functions reduce borrowing costs and improve capital allocation.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secondary market liquidity affect primary market issuance yields?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 liquid secondary market reduces the 'liquidity premium' investors demand. If investors know they can sell easily, they accept a lower yield at primary issuance. Conversely, illiquid bonds require higher yields to compensate for exit risk. This is why RBI actively promotes G-Sec secondary market development — it directly reduces the government's interest burden.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Clean Price and Dirty Price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D5.4 · Clean Price and Dirty Price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Clean Price = the quoted market price of a bond, excluding accrued interest — used for comparison and trading</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Dirty Price = Clean Price + Accrued Interest — this is the actual cash amount paid by the buyer at settlement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Accrued Interest = Face Value × (Coupon Rate / Frequency) × (Days since last coupon / Days in coupon period)</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G-Secs use Actual/Actual day-count convention; some corporate bonds use 30/360</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D5.4 · Clean Price and Dirty Price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RYO is processing a G-Sec settlement for a trade of ₹10 crore face value of the 7% GOI 2033 bond. The bond pays semi-annual coupons. The last coupon was paid 91 days ago; the coupon period is 182 days. The clean price is quoted at ₹101.25.</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accrued interest and dirty price for this trade. Why does the buyer pay the dirty price even though they have not held the bond for the past 91 days?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D5.4 · Clean Price and Dirty Price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Dirty Price = What You Actually Pay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Bond prices are quoted 'clean' to allow easy yield comparison regardless of where a bond sits in its coupon cycle. But the seller is owed compensation for the coupon they have earned during their holding period. The buyer pays the dirty price (clean + accrued interest), then receives the full coupon at the next payment date — effectively getting back the accrued interest portion. This mechanism is fair to both buyer and seller.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Clean Price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₹101.25 per ₹100 face value — the quoted market price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Accrued Interest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₹10,000,000 × (7%/2) × (91/182) = ₹1,75,000</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Dirty Price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₹10,125,000 (clean) + ₹1,75,000 (AI) = ₹1,03,00,000</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Day Count (India G-Secs)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Actual/Actual — uses actual calendar days for numerator and denominator</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D5.4 · Clean Price and Dirty Price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Quote Clean?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If markets quoted dirty prices, bonds would look cheaper just before a coupon date and more expensive just after (due to accrued interest accumulation). Clean prices remove this distortion, enabling fair yield comparison across the coupon cycle.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Day Count Conventions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Actual/Actual: both numerator (days since coupon) and denominator (days in period) are actual calendar days. 30/360: assumes 30-day months and 360-day year. Affects accrued interest calculation. India G-Secs: Actual/Actual. Some corporate bonds: 30/360.</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Settlement in India</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G-Secs settle T+1 via CCIL. The operations team calculates dirty price using the settlement date as the reference for accrued interest. Errors in day count lead to settlement fails or financial losses.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Ex-Coupon Period</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Some markets have an 'ex-coupon' period (e.g., UK gilts): if the bond is sold close to the coupon date, the seller retains the coupon. India G-Secs do not have ex-coupon periods.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D5.4 · Clean Price and Dirty Price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Operations teams sometimes make errors in accrued interest calculation, causing settlement discrepancies. What are the two most likely sources of error in an AI calculation, and how would you design a system control to catch them?</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client asks: 'I bought the bond at ₹1,03,00,000 but the bond was only quoted at ₹1,01,25,000 — why did I pay more?' As a client services analyst, how would you explain clean vs dirty price in plain language?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D5.4 · Clean Price and Dirty Price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clean price and dirty price?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Clean price is the quoted market price excluding accrued interest. Dirty price = clean price + accrued interest and is the actual settlement amount. The buyer pays dirty price, then receives the full next coupon — recovering the accrued interest they paid. G-Secs are quoted clean; corporate bonds may also be quoted clean or dirty depending on market convention.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calculate accrued interest for a semi-annual coupon G-Sec?</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AI = Face Value × (Annual Coupon Rate / 2) × (Days since last coupon / Days in coupon period). India G-Secs use Actual/Actual day count — real calendar days for both numerator and denominator. Example: ₹1,00,00,000 × (7%/2) × (91/182) = ₹1,75,000.</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Current Yield</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D5.5 · Current Yield</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Current Yield = Annual Coupon / Market Price — measures income return at current price, ignoring capital gain/loss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If a bond trades at a discount (Price &lt; Par), Current Yield &gt; Coupon Rate; at premium (Price &gt; Par), CY &lt; Coupon Rate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Current yield is a quick snapshot of income return; it does NOT capture total return (unlike YTM)</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For a bond at par: Current Yield = Coupon Rate (since Price = Face Value)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D5.5 · Current Yield</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ARIA is comparing two bonds for a client who wants current income. Bond A: ₹1,000 face value, 8% coupon, trading at ₹920. Bond B: ₹1,000 face value, 9% coupon, trading at ₹1,080. The client says: 'Bond B pays a higher coupon so it must give a better income yield.'</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current yield for each bond. Is the client's reasoning correct? Which bond provides the better current income yield at current market prices?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D5.5 · Current Yield</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Current Yield: Income Return at Today's Price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coupon rate is fixed at issuance and is always expressed as a percentage of face value. But what matters to a buyer today is the income return on the price they actually pay. Current yield answers this: if you pay ₹920 for a bond that pays ₹80/year, you earn 8.70% on your investment — not the stated 8% coupon rate. Bond A (CY 8.70%) beats Bond B (CY 8.33%) on current income, despite Bond B's higher coupon rate.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A CY</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₹80 / ₹920 = 8.70% — discount bond; CY &gt; coupon rate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B CY</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₹90 / ₹1,080 = 8.33% — premium bond; CY &lt; coupon rate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At Par</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CY = Coupon Rate (Price = Face Value, so AI = 0 and CY = coupon)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Limitation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CY ignores capital gain/loss at maturity — use YTM for complete picture</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D5.5 · Current Yield</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CY vs Coupon Rate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Coupon rate is fixed forever. CY moves every day with market price. A bond issued at par (CY = 8%) and trading at ₹850 now has CY = 8/850 × 100 = 9.41% — the income is higher relative to the lower price you paid.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Income Investors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Pension funds and insurance companies focus on current yield for asset-liability matching. They need predictable coupon cash flows to meet obligations. CY helps compare bonds on an income basis.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Running Yield</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Also called 'running yield' or 'flat yield' in UK markets. Same formula as current yield. Used for gilts and corporate bonds when a quick income snapshot is needed without full YTM calculation.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CY vs YTM Gap</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a deeply discounted bond (e.g., 15-year zero-coupon or low-coupon), CY understates total return significantly. The pull-to-par capital gain is large but CY ignores it. Always use YTM for investment decisions.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D5.5 · Current Yield</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Two bonds: Bond X (7% coupon, 3-year maturity, price ₹980) and Bond Y (7% coupon, 15-year maturity, price ₹980). Their current yields are identical. But which is the better investment if you expect interest rates to fall next year? What does current yield miss?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bond trader says: 'Current yield is useless — just use YTM.' A portfolio manager replies: 'CY is exactly what I need for short-term cash flow planning.' Who is right, and in what context does each metric make sense?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D5.5 · Current Yield</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calculate current yield and what does it tell you?</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Current Yield = Annual Coupon / Market Price. It tells you the income return relative to today's market price. If a ₹1,000 bond pays ₹80 coupon and trades at ₹920, CY = 80/920 = 8.70%. CY is useful for income comparison but ignores capital gains or losses at maturity — YTM is more complete for investment decisions.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If interest rates rise, what happens to a bond's current yield?</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Rising rates → bond prices fall → current yield rises (same coupon / lower price = higher %). This is the inverse price-yield relationship. Example: 8% coupon bond price falls from ₹1,000 to ₹950 → CY rises from 8% to 8.42%.</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Yield to Maturity (YTM)</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D5.6 · Yield to Maturity (YTM)</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YTM is the single discount rate that equates the present value of all future cash flows (coupons + par) to the current market price — the bond's IRR</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Approximate YTM formula: [Annual Coupon + (Face Value − Price) / Years] / [(Face Value + Price) / 2]</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YTM assumes all coupons are reinvested at the YTM rate — a key limitation; actual returns may differ</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Discount bond: YTM &gt; Coupon Rate; Premium bond: YTM &lt; Coupon Rate; Par bond: YTM = Coupon Rate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D5.6 · Yield to Maturity (YTM)</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KAVI is evaluating a 5-year corporate bond: Face Value ₹1,000, annual coupon ₹80, current market price ₹920. Her manager says: 'Don't just look at the 8% coupon — calculate the YTM to understand total return.' KAVI uses the approximate formula.</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approximate YTM for this bond. Why is YTM greater than the 8% coupon rate? What two sources of return does the YTM capture that the coupon rate ignores?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D5.6 · Yield to Maturity (YTM)</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YTM: The Complete Return Metric</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YTM is the most comprehensive yield measure because it captures three return components: (1) coupon income, (2) reinvestment income on reinvested coupons, and (3) capital gain/loss from the price difference relative to par at maturity. Using approximate formula: YTM = [80 + (1000−920)/5] / [(1000+920)/2] = [80+16]/960 = 96/960 = 10.00%. This 10% tells KAVI the total annualised return if she holds to maturity and reinvests all coupons at 10%.</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Approximate YTM</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 + (F−P)/n] / [(F+P)/2] — quick estimate; exact needs iteration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Components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Coupon income + Capital gain (discount) or loss (premium) + Reinvestment income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Reinvestment Risk</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YTM assumes coupons reinvested at YTM — if rates fall, actual return &lt; YTM</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Excel/Calculator</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=YIELD(settlement, maturity, rate, price, redemption, frequency) gives exact YTM</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D5.6 · Yield to Maturity (YTM)</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IRR Equivalence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YTM is exactly the Internal Rate of Return (IRR) of the bond's cash flow stream. It equates the PV of all future cash flows to today's price. This makes YTM directly comparable to returns on other asset classes.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Reinvestment Risk</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YTM's main limitation: it assumes all coupons are reinvested at YTM. In practice, rates change. If reinvestment rate &lt; YTM, actual return &lt; YTM. Zero-coupon bonds have no reinvestment risk since there are no intermediate coupons.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YTM vs Holding Period Return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YTM assumes hold-to-maturity. If you sell before maturity, actual return = Holding Period Return (HPR), which depends on the exit price. HPR can be much higher or lower than YTM.</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Callable Bonds &amp; YTW</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bonds with embedded call options, use Yield to Worst (YTW) — the lower of YTM and Yield to Call. Callable bonds are typically called when rates fall, leaving investors to reinvest at lower rates.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D5.6 · Yield to Maturity (YTM)</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bond has YTM of 9% but the investor expects inflation to average 7% over the next 5 years. Is this bond attractive? How would you frame the real return discussion, and what risk could cause actual returns to fall below 9%?</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Your operations team uses the approximate YTM formula for a quick check. A colleague argues: 'For short-maturity bonds, the approximate formula is fine; for 20-year bonds, use exact calculation.' Do you agree? Why does maturity matter for accuracy?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D5.6 · Yield to Maturity (YTM)</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Yield to Maturity and how is it calculated?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YTM is the discount rate that equates the PV of all future cash flows (coupons + par repayment) to the current market price. Approximately: YTM = [C + (F−P)/n] / [(F+P)/2]. For exact YTM, use iterative calculation or Excel YIELD function. YTM assumes hold-to-maturity and reinvestment of all coupons at YTM.</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A bond trades at a discount. Is its YTM higher or lower than its coupon rate? Why?</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Higher. A discount bond (Price &lt; Par) means the investor pays less than face value. At maturity they receive full par value — a capital gain. This gain adds to the coupon income, making YTM &gt; Coupon Rate. The approximate YTM formula captures this: the (F−P)/n term is positive for discount bonds, increasing the numerator.</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Yield Comparisons — Coupon, Current Yield, YTM</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D5.7 · Yield Comparisons — Coupon, Current Yield, YTM</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Three yield measures: Coupon Rate (fixed at issuance), Current Yield (income / price), YTM (total return to maturity)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Discount bond ordering: Coupon Rate &lt; Current Yield &lt; YTM — capital gain adds to total return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Premium bond ordering: YTM &lt; Current Yield &lt; Coupon Rate — capital loss reduces total return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YTM is the most comprehensive measure; Coupon Rate is contractually fixed; CY is a quick income snapshot</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D5.7 · Yield Comparisons — Coupon, Current Yield, YTM</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RYO's team is reviewing three bonds for a client presentation. Bond Alpha: CY 8.5%, YTM 9.2%. Bond Beta: CY 7.8%, YTM 7.4%. Bond Gamma: CY 8.0%, YTM 8.0%. A new analyst says: 'Bond Alpha has the highest YTM, so it must be the best deal.'</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From the yield relationships alone, identify whether each bond is at a discount, par, or premium. Is the analyst's conclusion correct? What else would you need to know to advise the client?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D5.7 · Yield Comparisons — Coupon, Current Yield, YTM</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Reading the Yield Relationship to Infer Pricing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ordering of the three yield measures is a direct signal about whether a bond trades at a discount, par, or premium — no price lookup needed. Discount: CR &lt; CY &lt; YTM (capital gain adds to return). Premium: YTM &lt; CY &lt; CR (capital loss reduces return). Par: all three equal. Bond Alpha (CY &lt; YTM) is at a discount. Bond Beta (YTM &lt; CY) is at a premium. Bond Gamma (CY = YTM) is at par. Higher YTM alone doesn't mean 'better' — credit risk, duration, and liquidity also matter.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Alpha (CR ? &lt; 8.5% &lt; 9.2%)</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Discount — coupon rate below CY; pull-to-par gain boosts YTM</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Beta (7.4% &lt; 7.8% &lt; CR ?)</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Premium — YTM lowest; investor pays above par, losing at maturity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Bond Gamma (CY = YTM = CR 8%)</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Par — all three equal; price = face value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Investment Decision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YTM alone insufficient — credit quality, duration, and liquidity matter</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D5.7 · Yield Comparisons — Coupon, Current Yield, YTM</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Yield Curve Context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 single bond's YTM must be evaluated relative to the yield curve. A 9.2% YTM is great if the benchmark G-Sec yields 7%, but less impressive if market rates are 10%. Always compare YTM to a relevant benchmark.</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Credit Spread</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Corporate bond YTM − G-Sec YTM = credit spread. Compensates for default risk. A 200 bps spread on a BBB-rated bond means investors demand 2% extra return vs. risk-free G-Sec.</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Duration Consideration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Two bonds with identical YTM but different maturities have different risk profiles. The longer-maturity bond has higher duration — more price volatility for the same yield change. YTM comparison must account for duration.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Callable Bond Complication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callable bonds, YTM is misleading if the bond is likely to be called early. Yield to Call (YTC) and Yield to Worst (YTW) are better measures. Operations teams must track call schedules.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D5.7 · Yield Comparisons — Coupon, Current Yield, YTM</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You are given two bonds with identical YTMs. Bond X is a 2-year government bond; Bond Y is a 15-year corporate bond. A junior analyst says: 'They have the same return, so invest in whichever you like.' What is wrong with this analysis?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G-Sec 10-year yield rises from 7% to 7.5% over one month. Explain what this means for (a) the price of existing 10-year G-Secs, (b) the current yield on those bonds, and (c) new G-Sec issuance in this environment.</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D5.7 · Yield Comparisons — Coupon, Current Yield, YTM</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If a bond's Current Yield is higher than its YTM, what does that tell you about the bond's price?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It means the bond is trading at a premium above par. At a premium, the investor incurs a capital loss when the bond matures at par. This capital loss reduces the total return (YTM) below the current income yield (CY). So: YTM &lt; CY implies premium bond, which implies Price &gt; Face Value.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Rank coupon rate, current yield, and YTM from lowest to highest for a discount bond, and explain why.</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Discount bond: Coupon Rate &lt; Current Yield &lt; YTM. Coupon rate is lowest — it's fixed at issuance based on par. CY is higher because you pay less than par (same coupon / lower price = higher ratio). YTM is highest because it adds the capital gain from buying below par to coupon income.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Interest Rate–Price Relationship</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D5.8 · Interest Rate–Price Relationship</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Bond prices and interest rates move inversely: rates rise → prices fall; rates fall → prices rise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Longer maturity bonds have higher duration — more sensitive to rate changes than short-maturity bonds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Modified Duration ≈ −%ΔPrice / %ΔYield; a duration of 5 means ~5% price fall for each 1% yield rise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DV01 (Dollar Value of 01) = price change per 1 basis point (0.01%) yield move = Duration × MV / 10,000</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D5.8 · Interest Rate–Price Relationship</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ARIA manages a portfolio with ₹100 crore in a 10-year G-Sec (Modified Duration 7.5) and ₹100 crore in a 2-year G-Sec (Modified Duration 1.8). RBI unexpectedly hikes rates by 50 basis points (0.5%). ARIA needs to estimate the portfolio loss immediately.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approximate price impact on each holding. What is the total estimated portfolio loss? Which bond suffers more? How could ARIA have hedged this risk?</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D5.8 · Interest Rate–Price Relationship</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Duration: Measuring Interest Rate Risk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inverse price-yield relationship is the most fundamental concept in bond markets. Duration quantifies this sensitivity. For ARIA: 10-year bond loss ≈ 7.5 × 0.5% × ₹100 crore = ₹3.75 crore. 2-year bond loss ≈ 1.8 × 0.5% × ₹100 crore = ₹0.90 crore. Total loss ≈ ₹4.65 crore on a ₹200 crore portfolio. ARIA could hedge using interest rate futures (IRFs) on NSE or enter into a pay-fixed interest rate swap.</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Inverse Relationship</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Rates rise → PV of future cash flows falls → bond price falls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Modified Duration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 price change ≈ −Duration × Δyield. High duration = high rate risk</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DV01</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Duration × Market Value / 10,000. Loss per 1 bp (0.01%) yield rise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Convexity</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Duration is linear approximation; convexity corrects for curvature in large moves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D5.8 · Interest Rate–Price Relationship</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Inverse Relationship?</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Bond cash flows are fixed. When discount rates (market yields) rise, the present value of those fixed cash flows falls. This is basic DCF arithmetic — not just a rule to memorise.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Duration Drivers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Longer maturity → higher duration. Lower coupon → higher duration (cash flows more back-loaded). Higher yield → slightly lower duration (cash flows discounted more heavily). Zero-coupon bond: duration = maturity.</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Convexity</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Duration understates price gains and overstates price losses for large yield moves. Convexity adjusts for this curvature. High convexity is desirable — you gain more than duration predicts when yields fall.</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Hedging Tools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has exchange-traded Interest Rate Futures (IRF) on NSE and BSE for 10-year and 2-year G-Secs. OTC interest rate swaps (IRS) are used by banks. Both allow duration reduction without selling the underlying bonds.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D5.8 · Interest Rate–Price Relationship</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RBI announces an unexpected 25 bps rate cut. Your portfolio holds a mix of 5-year and 15-year bonds. Without calculating exact numbers, explain which part of the portfolio benefits more and why. Then explain why the benefit is not perfectly linear (convexity).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manager asks: 'Why does my trading desk use DV01 instead of Modified Duration for hedging?' Explain the practical advantage of DV01 over Modified Duration for a ₹500 crore bond position.</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D5.8 · Interest Rate–Price Relationship</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inverse relationship between bond prices and interest rates.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Bond prices and yields move in opposite directions. When market interest rates rise, the discount rate applied to fixed future cash flows increases, reducing their present value — so bond prices fall. Conversely, when rates fall, PV of cash flows rises, pushing prices up. This is a direct consequence of discounted cash flow valuation.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Modified Duration and how is it used in practice?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Modified Duration ≈ −%ΔPrice / %ΔYield. It measures how much a bond's price changes for a 1% yield change. A bond with Modified Duration 6 loses approximately 6% in price if yields rise 1%. In practice, traders use it to calculate DV01 (price change per basis point) for hedging. DV01 = Modified Duration × Market Value / 10,000.</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Nominal vs Real Interest Rates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D5.9 · Nominal vs Real Interest Rates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Nominal rate = stated rate on the bond; Real rate = nominal rate − inflation (approximate Fisher equation)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Exact Fisher equation: (1 + Nominal) = (1 + Real) × (1 + Inflation); approximation works for low rates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When inflation rises, investors demand higher nominal yields to protect real purchasing power</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Inflation-Indexed Bonds (IIBs) link both principal and interest to the Consumer Price Index (CPI)</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D5.9 · Nominal vs Real Interest Rates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MOTION is advising a pension fund. The fund bought a 7% G-Sec 2 years ago when inflation was 3% (real return = 4%). Now inflation has risen to 6.5%. The fund manager asks: 'Our bond still pays 7% — so our real return is fine, right?'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Is the fund manager correct? Calculate the current real return. What happened to the purchasing power of the fund's coupon payments? How would an Inflation-Indexed Bond have protected the fund?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D5.9 · Nominal vs Real Interest Rates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Fisher Effect: Inflation Erodes Real Returns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real return = nominal yield − inflation. The fund bought a 7% bond expecting 4% real return (7% − 3%). Now inflation is 6.5%: real return = 7% − 6.5% = only 0.5%. Purchasing power of the fixed ₹70 coupon has been significantly eroded. An Inflation-Indexed Bond (IIB) would have adjusted the principal upward with CPI, so coupon payments (a % of adjusted principal) would have increased — protecting real purchasing power.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Nominal Rate (Bond)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7% fixed coupon — does not change regardless of inflation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Real Rate (Original)</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7% − 3% inflation = 4% — attractive when purchased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Real Rate (Current)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7% − 6.5% inflation = 0.5% — almost all purchasing power eroded</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IIB Protection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CPI-linked principal adjustment maintains real value of coupon + principal</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D5.9 · Nominal vs Real Interest Rates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Fisher Effect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Named after economist Irving Fisher. The nominal rate incorporates expected inflation: Nominal ≈ Real + Expected Inflation. When inflation expectations rise, bond markets demand higher nominal yields immediately — causing existing bond prices to fall.</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IIBs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launched Inflation-Indexed Bonds in 2013 (for institutions) and Inflation-Indexed National Savings Securities (IINSS) for retail. Both link principal to CPI. Coupon rate is low (e.g., 1.5%) but applied to inflation-adjusted principal.</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TIPS (US Context)</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US Treasury Inflation-Protected Securities are the global benchmark IIB. India's IIBs are modelled similarly. Useful context for CIBOP students who may work with global clients.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Negative Real Rates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If inflation exceeds nominal yield, real yield is negative. Investors' purchasing power shrinks even with positive nominal returns. Japan and some European countries experienced negative real rates for extended periods after QE programs.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D5.9 · Nominal vs Real Interest Rates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RBI is deciding whether to raise interest rates to combat 7% inflation. Currently, the 10-year G-Sec yields 7.5%. If RBI raises rates by 100 bps, what happens to (a) existing G-Sec prices, (b) real yields, and (c) new G-Sec issuance costs? Think through the trade-offs.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retail investor says: 'I don't care about IIBs — my FD rate always matches inflation anyway.' Is this typically true in India? When would IIBs be superior to fixed-rate instruments for a long-term investor?</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D5.9 · Nominal vs Real Interest Rates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Fisher equation and why does it matter for bond investors?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Fisher equation: (1 + Nominal) = (1 + Real) × (1 + Inflation). Approximately: Real Rate ≈ Nominal Rate − Inflation. It matters because bond investors earn nominal coupons but their real purchasing power depends on inflation. Rising inflation expectations push nominal bond yields up (prices down). Investors use the Fisher equation to assess whether bond yields adequately compensate for inflation risk.</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Inflation-Indexed Bonds (IIBs) and how do they work in India?</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IIBs link the principal amount to the CPI (Consumer Price Index). As inflation rises, the principal is adjusted upward, so the fixed coupon rate applies to a higher base — increasing rupee coupon payments. At maturity, the inflation-adjusted principal is repaid. This protects real purchasing power for long-term investors like pension funds and insurance companies.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D5.10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Securitisation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Fixed Income Part 2</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D5.10 · Securitisation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Securitisation converts illiquid loan pools (home loans, auto loans, etc.) into tradeable debt securities (ABS/MBS/PTCs)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Structure: Originator sells loans to an SPV (Special Purpose Vehicle) → SPV issues securities to investors → investors receive cash flows from underlying loans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Tranching divides the securities into Senior (lowest risk), Mezzanine (medium), and Equity (highest risk, first-loss) layers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 India, Pass-Through Certificates (PTCs) are the dominant securitisation instrument; regulated by RBI and SEBI</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D5.10 · Securitisation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large NBFC has originated ₹2,000 crore of home loans at 9% interest. The NBFC needs capital to grow its loan book further. An investment bank suggests securitisation: transfer the loans to an SPV, issue Senior PTCs (rated AAA, yield 7.5%) and Junior PTCs (unrated, equity tranche).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Why does the NBFC benefit from this transaction? Who bears the first-loss risk? What does the AAA rating on the Senior PTCs depend on? How does this differ from the NBFC simply issuing a bond?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D5.10 · Securitisation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Securitisation: Turning Loans into Tradeable Securities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Securitisation solves the liquidity problem of loans. Loans are illiquid (can't be easily sold). By pooling them in an SPV and issuing rated securities, the originator converts them into tradeable instruments. The NBFC benefits by: (1) removing assets from its balance sheet (freeing capital), (2) getting immediate cash to fund new loans, and (3) potentially lower funding cost for senior investors vs. NBFC's own bonds. The SPV is bankruptcy-remote — even if the NBFC fails, the loan pool and investor cash flows are protected.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Originator (NBFC)</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Creates loans; sells them to SPV; receives cash; removes from balance sheet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SPV</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Legally owns loan pool; issues PTCs; bankruptcy-remote from originator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Senior Tranche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AAA-rated; highest priority in cash flow waterfall; lowest yield</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Equity/Junior Tranche</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First-loss; often retained by originator; highest risk and return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D5.10 · Securitisation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Credit Enhancement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What makes Senior PTCs AAA? Credit enhancement mechanisms: (1) Overcollateralisation — pool value exceeds PTC value; (2) Subordination — junior tranche absorbs losses first; (3) Cash reserve account — buffer for payment shortfalls. Rating agencies assess these before assigning AAA.</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PTC Market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securitisation market is primarily PTCs (Pass-Through Certificates). RBI regulates bank participation; SEBI regulates listed PTCs. Originators include NBFCs (Bajaj Finance, Shriram), housing finance companies. Annual volume: ₹1.5–2 lakh crore.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MBS vs ABS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Mortgage-Backed Securities (MBS) are backed by home loans. Asset-Backed Securities (ABS) are backed by other assets (auto loans, credit card receivables, microfinance loans). India has both, with home loan PTCs dominant.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2008 Crisis Lesson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US subprime crisis arose from poor-quality mortgage securitisation: toxic loans were repackaged into AAA-rated CDOs. Key lesson: credit enhancement only works if underlying asset quality is sound. Rating agencies' failure to stress-test assumptions was a major failure.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D5.10 · Securitisation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After the 2008 global financial crisis, securitisation was blamed for spreading systemic risk. But securitisation also serves a genuine economic purpose. Argue both sides: when is securitisation beneficial, and when does it become dangerous?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NBFC wants to securitise its microfinance loan portfolio (₹500 crore, average loan ₹30,000, 18-month tenor). What are the key challenges in structuring this securitisation? What credit enhancements would you recommend to achieve an investment-grade rating on the senior tranche?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D5.10 · Securitisation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securitisation and how does it work?</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Securitisation is the process of pooling illiquid assets (e.g., home loans) and converting them into tradeable securities. Structure: Originator transfers loan pool to a bankruptcy-remote SPV → SPV issues asset-backed securities to investors → investors receive principal and interest from the underlying loan payments. Benefits: originator gets liquidity and balance sheet relief; investors get access to diversified loan exposure with structured credit enhancement.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tranching in securitisation, and what is its purpose?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Tranching divides the security pool into layers (tranches) with different priority in the cash flow waterfall. Senior tranches get paid first — lowest risk, lowest yield, highest rating (AAA). Equity/junior tranches absorb first losses — highest risk, highest potential return. Purpose: allows one pool to meet multiple investor risk appetites simultaneously, broadening the investor base and improving the overall funding cost for the originator.</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Fixed Income Part 2</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Fixed Income Part 2 — Learning Deck</dc:title>
  <dc:subject>PptxGenJS Presentation</dc:subject>
  <dc:creator>Imarticus Learning</dc:creator>
  <cp:lastModifiedBy>Imarticus Learning</cp:lastModifiedBy>
  <cp:revision>1</cp:revision>
  <dcterms:created xsi:type="dcterms:W3CDTF">2026-05-06T05:53:51Z</dcterms:created>
  <dcterms:modified xsi:type="dcterms:W3CDTF">2026-05-06T05:53:51Z</dcterms:modified>
</cp:coreProperties>
</file>