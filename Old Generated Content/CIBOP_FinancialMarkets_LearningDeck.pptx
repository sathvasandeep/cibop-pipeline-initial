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A87"/>
          </a:solidFill>
          <a:ln w="12700">
            <a:solidFill>
              <a:srgbClr val="007A87"/>
            </a:solidFill>
            <a:prstDash val="solid"/>
          </a:ln>
        </p:spPr>
      </p:sp>
      <p:sp>
        <p:nvSpPr>
          <p:cNvPr id="3" name="Shape 1"/>
          <p:cNvSpPr/>
          <p:nvPr/>
        </p:nvSpPr>
        <p:spPr>
          <a:xfrm>
            <a:off x="164592" y="4663440"/>
            <a:ext cx="8979408" cy="475488"/>
          </a:xfrm>
          <a:prstGeom prst="rect">
            <a:avLst/>
          </a:prstGeom>
          <a:solidFill>
            <a:srgbClr val="F0A800"/>
          </a:solidFill>
          <a:ln w="12700">
            <a:solidFill>
              <a:srgbClr val="F0A800"/>
            </a:solidFill>
            <a:prstDash val="solid"/>
          </a:ln>
        </p:spPr>
      </p:sp>
      <p:sp>
        <p:nvSpPr>
          <p:cNvPr id="4" name="Text 2"/>
          <p:cNvSpPr/>
          <p:nvPr/>
        </p:nvSpPr>
        <p:spPr>
          <a:xfrm>
            <a:off x="5943600" y="228600"/>
            <a:ext cx="3017520" cy="365760"/>
          </a:xfrm>
          <a:prstGeom prst="rect">
            <a:avLst/>
          </a:prstGeom>
          <a:noFill/>
          <a:ln/>
        </p:spPr>
        <p:txBody>
          <a:bodyPr wrap="square" lIns="0" tIns="0" rIns="0" bIns="0" rtlCol="0" anchor="ctr"/>
          <a:lstStyle/>
          <a:p>
            <a:pPr algn="r" indent="0" marL="0">
              <a:buNone/>
            </a:pPr>
            <a:r>
              <a:rPr lang="en-US" sz="900" b="1" spc="300" kern="0" dirty="0">
                <a:solidFill>
                  <a:srgbClr val="007A87"/>
                </a:solidFill>
              </a:rPr>
              <a:t>IMARTICUS LEARNING</a:t>
            </a:r>
            <a:endParaRPr lang="en-US" sz="900" dirty="0"/>
          </a:p>
        </p:txBody>
      </p:sp>
      <p:sp>
        <p:nvSpPr>
          <p:cNvPr id="5" name="Text 3"/>
          <p:cNvSpPr/>
          <p:nvPr/>
        </p:nvSpPr>
        <p:spPr>
          <a:xfrm>
            <a:off x="457200" y="914400"/>
            <a:ext cx="8229600" cy="502920"/>
          </a:xfrm>
          <a:prstGeom prst="rect">
            <a:avLst/>
          </a:prstGeom>
          <a:noFill/>
          <a:ln/>
        </p:spPr>
        <p:txBody>
          <a:bodyPr wrap="square" lIns="0" tIns="0" rIns="0" bIns="0" rtlCol="0" anchor="ctr"/>
          <a:lstStyle/>
          <a:p>
            <a:pPr algn="l" indent="0" marL="0">
              <a:buNone/>
            </a:pPr>
            <a:r>
              <a:rPr lang="en-US" sz="1300" b="1" dirty="0">
                <a:solidFill>
                  <a:srgbClr val="F0A800"/>
                </a:solidFill>
              </a:rPr>
              <a:t>CIBOP — Investment Banking Operations</a:t>
            </a:r>
            <a:endParaRPr lang="en-US" sz="1300" dirty="0"/>
          </a:p>
        </p:txBody>
      </p:sp>
      <p:sp>
        <p:nvSpPr>
          <p:cNvPr id="6" name="Text 4"/>
          <p:cNvSpPr/>
          <p:nvPr/>
        </p:nvSpPr>
        <p:spPr>
          <a:xfrm>
            <a:off x="457200" y="1600200"/>
            <a:ext cx="8229600" cy="502920"/>
          </a:xfrm>
          <a:prstGeom prst="rect">
            <a:avLst/>
          </a:prstGeom>
          <a:noFill/>
          <a:ln/>
        </p:spPr>
        <p:txBody>
          <a:bodyPr wrap="square" lIns="0" tIns="0" rIns="0" bIns="0" rtlCol="0" anchor="ctr"/>
          <a:lstStyle/>
          <a:p>
            <a:pPr algn="l" indent="0" marL="0">
              <a:buNone/>
            </a:pPr>
            <a:r>
              <a:rPr lang="en-US" sz="2000" dirty="0">
                <a:solidFill>
                  <a:srgbClr val="A0B4D0"/>
                </a:solidFill>
              </a:rPr>
              <a:t>Module 1:</a:t>
            </a:r>
            <a:endParaRPr lang="en-US" sz="2000" dirty="0"/>
          </a:p>
        </p:txBody>
      </p:sp>
      <p:sp>
        <p:nvSpPr>
          <p:cNvPr id="7" name="Text 5"/>
          <p:cNvSpPr/>
          <p:nvPr/>
        </p:nvSpPr>
        <p:spPr>
          <a:xfrm>
            <a:off x="457200" y="2057400"/>
            <a:ext cx="8229600" cy="1463040"/>
          </a:xfrm>
          <a:prstGeom prst="rect">
            <a:avLst/>
          </a:prstGeom>
          <a:noFill/>
          <a:ln/>
        </p:spPr>
        <p:txBody>
          <a:bodyPr wrap="square" lIns="0" tIns="0" rIns="0" bIns="0" rtlCol="0" anchor="ctr"/>
          <a:lstStyle/>
          <a:p>
            <a:pPr algn="l" indent="0" marL="0">
              <a:buNone/>
            </a:pPr>
            <a:r>
              <a:rPr lang="en-US" sz="4000" b="1" dirty="0">
                <a:solidFill>
                  <a:srgbClr val="FFFFFF"/>
                </a:solidFill>
              </a:rPr>
              <a:t>Introduction to</a:t>
            </a:r>
            <a:endParaRPr lang="en-US" sz="4000" dirty="0"/>
          </a:p>
          <a:p>
            <a:pPr algn="l" indent="0" marL="0">
              <a:buNone/>
            </a:pPr>
            <a:r>
              <a:rPr lang="en-US" sz="4000" b="1" dirty="0">
                <a:solidFill>
                  <a:srgbClr val="FFFFFF"/>
                </a:solidFill>
              </a:rPr>
              <a:t>Financial Markets</a:t>
            </a:r>
            <a:endParaRPr lang="en-US" sz="4000" dirty="0"/>
          </a:p>
        </p:txBody>
      </p:sp>
      <p:sp>
        <p:nvSpPr>
          <p:cNvPr id="8" name="Text 6"/>
          <p:cNvSpPr/>
          <p:nvPr/>
        </p:nvSpPr>
        <p:spPr>
          <a:xfrm>
            <a:off x="457200" y="4663440"/>
            <a:ext cx="7772400" cy="475488"/>
          </a:xfrm>
          <a:prstGeom prst="rect">
            <a:avLst/>
          </a:prstGeom>
          <a:noFill/>
          <a:ln/>
        </p:spPr>
        <p:txBody>
          <a:bodyPr wrap="square" lIns="0" tIns="0" rIns="0" bIns="0" rtlCol="0" anchor="ctr"/>
          <a:lstStyle/>
          <a:p>
            <a:pPr algn="l" indent="0" marL="0">
              <a:buNone/>
            </a:pPr>
            <a:r>
              <a:rPr lang="en-US" sz="950" b="1" dirty="0">
                <a:solidFill>
                  <a:srgbClr val="101C4F"/>
                </a:solidFill>
              </a:rPr>
              <a:t>D1.1 – D1.8  ·  Learning Deck  ·  Imarticus CIBOP Programme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A87"/>
          </a:solidFill>
          <a:ln w="12700">
            <a:solidFill>
              <a:srgbClr val="007A87"/>
            </a:solidFill>
            <a:prstDash val="solid"/>
          </a:ln>
        </p:spPr>
      </p:sp>
      <p:sp>
        <p:nvSpPr>
          <p:cNvPr id="3" name="Shape 1"/>
          <p:cNvSpPr/>
          <p:nvPr/>
        </p:nvSpPr>
        <p:spPr>
          <a:xfrm>
            <a:off x="384048" y="2212848"/>
            <a:ext cx="201168" cy="201168"/>
          </a:xfrm>
          <a:prstGeom prst="oval">
            <a:avLst/>
          </a:prstGeom>
          <a:solidFill>
            <a:srgbClr val="F0A800"/>
          </a:solidFill>
          <a:ln w="12700">
            <a:solidFill>
              <a:srgbClr val="F0A800"/>
            </a:solidFill>
            <a:prstDash val="solid"/>
          </a:ln>
        </p:spPr>
      </p:sp>
      <p:sp>
        <p:nvSpPr>
          <p:cNvPr id="4" name="Shape 2"/>
          <p:cNvSpPr/>
          <p:nvPr/>
        </p:nvSpPr>
        <p:spPr>
          <a:xfrm>
            <a:off x="457200" y="548640"/>
            <a:ext cx="1188720" cy="384048"/>
          </a:xfrm>
          <a:prstGeom prst="rect">
            <a:avLst/>
          </a:prstGeom>
          <a:solidFill>
            <a:srgbClr val="007A87"/>
          </a:solidFill>
          <a:ln w="12700">
            <a:solidFill>
              <a:srgbClr val="007A87"/>
            </a:solidFill>
            <a:prstDash val="solid"/>
          </a:ln>
        </p:spPr>
      </p:sp>
      <p:sp>
        <p:nvSpPr>
          <p:cNvPr id="5" name="Text 3"/>
          <p:cNvSpPr/>
          <p:nvPr/>
        </p:nvSpPr>
        <p:spPr>
          <a:xfrm>
            <a:off x="457200" y="548640"/>
            <a:ext cx="1188720" cy="384048"/>
          </a:xfrm>
          <a:prstGeom prst="rect">
            <a:avLst/>
          </a:prstGeom>
          <a:noFill/>
          <a:ln/>
        </p:spPr>
        <p:txBody>
          <a:bodyPr wrap="square" lIns="0" tIns="0" rIns="0" bIns="0" rtlCol="0" anchor="ctr"/>
          <a:lstStyle/>
          <a:p>
            <a:pPr algn="ctr" indent="0" marL="0">
              <a:buNone/>
            </a:pPr>
            <a:r>
              <a:rPr lang="en-US" sz="1200" b="1" dirty="0">
                <a:solidFill>
                  <a:srgbClr val="FFFFFF"/>
                </a:solidFill>
              </a:rPr>
              <a:t>D1.1</a:t>
            </a:r>
            <a:endParaRPr lang="en-US" sz="1200" dirty="0"/>
          </a:p>
        </p:txBody>
      </p:sp>
      <p:sp>
        <p:nvSpPr>
          <p:cNvPr id="6" name="Text 4"/>
          <p:cNvSpPr/>
          <p:nvPr/>
        </p:nvSpPr>
        <p:spPr>
          <a:xfrm>
            <a:off x="1828800" y="621792"/>
            <a:ext cx="2743200" cy="274320"/>
          </a:xfrm>
          <a:prstGeom prst="rect">
            <a:avLst/>
          </a:prstGeom>
          <a:noFill/>
          <a:ln/>
        </p:spPr>
        <p:txBody>
          <a:bodyPr wrap="square" lIns="0" tIns="0" rIns="0" bIns="0" rtlCol="0" anchor="ctr"/>
          <a:lstStyle/>
          <a:p>
            <a:pPr algn="l" indent="0" marL="0">
              <a:buNone/>
            </a:pPr>
            <a:r>
              <a:rPr lang="en-US" sz="900" dirty="0">
                <a:solidFill>
                  <a:srgbClr val="007A87"/>
                </a:solidFill>
              </a:rPr>
              <a:t>Unit 1 of 8</a:t>
            </a:r>
            <a:endParaRPr lang="en-US" sz="900" dirty="0"/>
          </a:p>
        </p:txBody>
      </p:sp>
      <p:sp>
        <p:nvSpPr>
          <p:cNvPr id="7" name="Text 5"/>
          <p:cNvSpPr/>
          <p:nvPr/>
        </p:nvSpPr>
        <p:spPr>
          <a:xfrm>
            <a:off x="457200" y="1143000"/>
            <a:ext cx="7772400" cy="1371600"/>
          </a:xfrm>
          <a:prstGeom prst="rect">
            <a:avLst/>
          </a:prstGeom>
          <a:noFill/>
          <a:ln/>
        </p:spPr>
        <p:txBody>
          <a:bodyPr wrap="square" lIns="0" tIns="0" rIns="0" bIns="0" rtlCol="0" anchor="ctr"/>
          <a:lstStyle/>
          <a:p>
            <a:pPr algn="l" indent="0" marL="0">
              <a:buNone/>
            </a:pPr>
            <a:r>
              <a:rPr lang="en-US" sz="3400" b="1" dirty="0">
                <a:solidFill>
                  <a:srgbClr val="FFFFFF"/>
                </a:solidFill>
              </a:rPr>
              <a:t>What is a Financial System?</a:t>
            </a:r>
            <a:endParaRPr lang="en-US" sz="3400" dirty="0"/>
          </a:p>
        </p:txBody>
      </p:sp>
      <p:sp>
        <p:nvSpPr>
          <p:cNvPr id="8" name="Shape 6"/>
          <p:cNvSpPr/>
          <p:nvPr/>
        </p:nvSpPr>
        <p:spPr>
          <a:xfrm>
            <a:off x="457200" y="2697480"/>
            <a:ext cx="8229600" cy="45720"/>
          </a:xfrm>
          <a:prstGeom prst="rect">
            <a:avLst/>
          </a:prstGeom>
          <a:solidFill>
            <a:srgbClr val="007A87"/>
          </a:solidFill>
          <a:ln w="12700">
            <a:solidFill>
              <a:srgbClr val="007A87"/>
            </a:solidFill>
            <a:prstDash val="solid"/>
          </a:ln>
        </p:spPr>
      </p:sp>
      <p:sp>
        <p:nvSpPr>
          <p:cNvPr id="9" name="Text 7"/>
          <p:cNvSpPr/>
          <p:nvPr/>
        </p:nvSpPr>
        <p:spPr>
          <a:xfrm>
            <a:off x="457200" y="2834640"/>
            <a:ext cx="1463040" cy="320040"/>
          </a:xfrm>
          <a:prstGeom prst="rect">
            <a:avLst/>
          </a:prstGeom>
          <a:noFill/>
          <a:ln/>
        </p:spPr>
        <p:txBody>
          <a:bodyPr wrap="square" lIns="0" tIns="0" rIns="0" bIns="0" rtlCol="0" anchor="ctr"/>
          <a:lstStyle/>
          <a:p>
            <a:pPr algn="l" indent="0" marL="0">
              <a:buNone/>
            </a:pPr>
            <a:r>
              <a:rPr lang="en-US" sz="900" b="1" dirty="0">
                <a:solidFill>
                  <a:srgbClr val="F0A800"/>
                </a:solidFill>
              </a:rPr>
              <a:t>COMPETENCY:</a:t>
            </a:r>
            <a:endParaRPr lang="en-US" sz="900" dirty="0"/>
          </a:p>
        </p:txBody>
      </p:sp>
      <p:sp>
        <p:nvSpPr>
          <p:cNvPr id="10" name="Text 8"/>
          <p:cNvSpPr/>
          <p:nvPr/>
        </p:nvSpPr>
        <p:spPr>
          <a:xfrm>
            <a:off x="1920240" y="2834640"/>
            <a:ext cx="6766560" cy="320040"/>
          </a:xfrm>
          <a:prstGeom prst="rect">
            <a:avLst/>
          </a:prstGeom>
          <a:noFill/>
          <a:ln/>
        </p:spPr>
        <p:txBody>
          <a:bodyPr wrap="square" lIns="0" tIns="0" rIns="0" bIns="0" rtlCol="0" anchor="ctr"/>
          <a:lstStyle/>
          <a:p>
            <a:pPr algn="l" indent="0" marL="0">
              <a:buNone/>
            </a:pPr>
            <a:r>
              <a:rPr lang="en-US" sz="900" dirty="0">
                <a:solidFill>
                  <a:srgbClr val="A0B4D0"/>
                </a:solidFill>
              </a:rPr>
              <a:t>Financial System Literacy</a:t>
            </a:r>
            <a:endParaRPr lang="en-US" sz="900" dirty="0"/>
          </a:p>
        </p:txBody>
      </p:sp>
      <p:sp>
        <p:nvSpPr>
          <p:cNvPr id="11" name="Shape 9"/>
          <p:cNvSpPr/>
          <p:nvPr/>
        </p:nvSpPr>
        <p:spPr>
          <a:xfrm>
            <a:off x="164592" y="4818888"/>
            <a:ext cx="8979408" cy="324612"/>
          </a:xfrm>
          <a:prstGeom prst="rect">
            <a:avLst/>
          </a:prstGeom>
          <a:solidFill>
            <a:srgbClr val="F0A800"/>
          </a:solidFill>
          <a:ln w="12700">
            <a:solidFill>
              <a:srgbClr val="F0A800"/>
            </a:solidFill>
            <a:prstDash val="solid"/>
          </a:ln>
        </p:spPr>
      </p:sp>
      <p:sp>
        <p:nvSpPr>
          <p:cNvPr id="12" name="Text 10"/>
          <p:cNvSpPr/>
          <p:nvPr/>
        </p:nvSpPr>
        <p:spPr>
          <a:xfrm>
            <a:off x="457200" y="4818888"/>
            <a:ext cx="8229600" cy="324612"/>
          </a:xfrm>
          <a:prstGeom prst="rect">
            <a:avLst/>
          </a:prstGeom>
          <a:noFill/>
          <a:ln/>
        </p:spPr>
        <p:txBody>
          <a:bodyPr wrap="square" lIns="0" tIns="0" rIns="0" bIns="0" rtlCol="0" anchor="ctr"/>
          <a:lstStyle/>
          <a:p>
            <a:pPr algn="ctr" indent="0" marL="0">
              <a:buNone/>
            </a:pPr>
            <a:r>
              <a:rPr lang="en-US" sz="800" b="1" dirty="0">
                <a:solidFill>
                  <a:srgbClr val="101C4F"/>
                </a:solidFill>
              </a:rPr>
              <a:t>IMARTICUS LEARNING  ·  CIBOP  ·  MODULE 1</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3657600" cy="658368"/>
          </a:xfrm>
          <a:prstGeom prst="rect">
            <a:avLst/>
          </a:prstGeom>
          <a:noFill/>
          <a:ln/>
        </p:spPr>
        <p:txBody>
          <a:bodyPr wrap="square" lIns="0" tIns="0" rIns="0" bIns="0" rtlCol="0" anchor="ctr"/>
          <a:lstStyle/>
          <a:p>
            <a:pPr indent="0" marL="0">
              <a:buNone/>
            </a:pPr>
            <a:r>
              <a:rPr lang="en-US" sz="1000" b="1" spc="200" kern="0" dirty="0">
                <a:solidFill>
                  <a:srgbClr val="007A87"/>
                </a:solidFill>
              </a:rPr>
              <a:t>⟵  QUICK RECAP</a:t>
            </a:r>
            <a:endParaRPr lang="en-US" sz="1000" dirty="0"/>
          </a:p>
        </p:txBody>
      </p:sp>
      <p:sp>
        <p:nvSpPr>
          <p:cNvPr id="4" name="Text 2"/>
          <p:cNvSpPr/>
          <p:nvPr/>
        </p:nvSpPr>
        <p:spPr>
          <a:xfrm>
            <a:off x="4114800" y="0"/>
            <a:ext cx="4663440" cy="658368"/>
          </a:xfrm>
          <a:prstGeom prst="rect">
            <a:avLst/>
          </a:prstGeom>
          <a:noFill/>
          <a:ln/>
        </p:spPr>
        <p:txBody>
          <a:bodyPr wrap="square" lIns="0" tIns="0" rIns="0" bIns="0" rtlCol="0" anchor="ctr"/>
          <a:lstStyle/>
          <a:p>
            <a:pPr algn="r" indent="0" marL="0">
              <a:buNone/>
            </a:pPr>
            <a:r>
              <a:rPr lang="en-US" sz="900" dirty="0">
                <a:solidFill>
                  <a:srgbClr val="A0B4D0"/>
                </a:solidFill>
              </a:rPr>
              <a:t>Module Introduction</a:t>
            </a:r>
            <a:endParaRPr lang="en-US" sz="900" dirty="0"/>
          </a:p>
        </p:txBody>
      </p:sp>
      <p:sp>
        <p:nvSpPr>
          <p:cNvPr id="5" name="Text 3"/>
          <p:cNvSpPr/>
          <p:nvPr/>
        </p:nvSpPr>
        <p:spPr>
          <a:xfrm>
            <a:off x="457200" y="822960"/>
            <a:ext cx="8229600" cy="457200"/>
          </a:xfrm>
          <a:prstGeom prst="rect">
            <a:avLst/>
          </a:prstGeom>
          <a:noFill/>
          <a:ln/>
        </p:spPr>
        <p:txBody>
          <a:bodyPr wrap="square" lIns="0" tIns="0" rIns="0" bIns="0" rtlCol="0" anchor="ctr"/>
          <a:lstStyle/>
          <a:p>
            <a:pPr algn="l" indent="0" marL="0">
              <a:buNone/>
            </a:pPr>
            <a:r>
              <a:rPr lang="en-US" sz="1400" b="1" dirty="0">
                <a:solidFill>
                  <a:srgbClr val="1A2340"/>
                </a:solidFill>
              </a:rPr>
              <a:t>Before we begin — let's make sure the foundation is solid.</a:t>
            </a:r>
            <a:endParaRPr lang="en-US" sz="1400" dirty="0"/>
          </a:p>
        </p:txBody>
      </p:sp>
      <p:sp>
        <p:nvSpPr>
          <p:cNvPr id="6" name="Shape 4"/>
          <p:cNvSpPr/>
          <p:nvPr/>
        </p:nvSpPr>
        <p:spPr>
          <a:xfrm>
            <a:off x="45720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457200" y="1463040"/>
            <a:ext cx="2468880" cy="64008"/>
          </a:xfrm>
          <a:prstGeom prst="rect">
            <a:avLst/>
          </a:prstGeom>
          <a:solidFill>
            <a:srgbClr val="007A87"/>
          </a:solidFill>
          <a:ln w="12700">
            <a:solidFill>
              <a:srgbClr val="007A87"/>
            </a:solidFill>
            <a:prstDash val="solid"/>
          </a:ln>
        </p:spPr>
      </p:sp>
      <p:sp>
        <p:nvSpPr>
          <p:cNvPr id="8" name="Text 6"/>
          <p:cNvSpPr/>
          <p:nvPr/>
        </p:nvSpPr>
        <p:spPr>
          <a:xfrm>
            <a:off x="56692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9" name="Text 7"/>
          <p:cNvSpPr/>
          <p:nvPr/>
        </p:nvSpPr>
        <p:spPr>
          <a:xfrm>
            <a:off x="56692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Money Needs to Move</a:t>
            </a:r>
            <a:endParaRPr lang="en-US" sz="1050" dirty="0"/>
          </a:p>
        </p:txBody>
      </p:sp>
      <p:sp>
        <p:nvSpPr>
          <p:cNvPr id="10" name="Text 8"/>
          <p:cNvSpPr/>
          <p:nvPr/>
        </p:nvSpPr>
        <p:spPr>
          <a:xfrm>
            <a:off x="56692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Idle savings gain nothing. Productive ideas need capital. A system is needed to connect them.</a:t>
            </a:r>
            <a:endParaRPr lang="en-US" sz="850" dirty="0"/>
          </a:p>
        </p:txBody>
      </p:sp>
      <p:sp>
        <p:nvSpPr>
          <p:cNvPr id="11" name="Shape 9"/>
          <p:cNvSpPr/>
          <p:nvPr/>
        </p:nvSpPr>
        <p:spPr>
          <a:xfrm>
            <a:off x="310896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3108960" y="1463040"/>
            <a:ext cx="2468880" cy="64008"/>
          </a:xfrm>
          <a:prstGeom prst="rect">
            <a:avLst/>
          </a:prstGeom>
          <a:solidFill>
            <a:srgbClr val="007A87"/>
          </a:solidFill>
          <a:ln w="12700">
            <a:solidFill>
              <a:srgbClr val="007A87"/>
            </a:solidFill>
            <a:prstDash val="solid"/>
          </a:ln>
        </p:spPr>
      </p:sp>
      <p:sp>
        <p:nvSpPr>
          <p:cNvPr id="13" name="Text 11"/>
          <p:cNvSpPr/>
          <p:nvPr/>
        </p:nvSpPr>
        <p:spPr>
          <a:xfrm>
            <a:off x="321868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4" name="Text 12"/>
          <p:cNvSpPr/>
          <p:nvPr/>
        </p:nvSpPr>
        <p:spPr>
          <a:xfrm>
            <a:off x="321868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Real Life: Your SBI FD</a:t>
            </a:r>
            <a:endParaRPr lang="en-US" sz="1050" dirty="0"/>
          </a:p>
        </p:txBody>
      </p:sp>
      <p:sp>
        <p:nvSpPr>
          <p:cNvPr id="15" name="Text 13"/>
          <p:cNvSpPr/>
          <p:nvPr/>
        </p:nvSpPr>
        <p:spPr>
          <a:xfrm>
            <a:off x="321868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When you deposit ₹10,000 in SBI, the bank lends it to a business. Your savings are working.</a:t>
            </a:r>
            <a:endParaRPr lang="en-US" sz="850" dirty="0"/>
          </a:p>
        </p:txBody>
      </p:sp>
      <p:sp>
        <p:nvSpPr>
          <p:cNvPr id="16" name="Shape 14"/>
          <p:cNvSpPr/>
          <p:nvPr/>
        </p:nvSpPr>
        <p:spPr>
          <a:xfrm>
            <a:off x="576072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5760720" y="1463040"/>
            <a:ext cx="2468880" cy="64008"/>
          </a:xfrm>
          <a:prstGeom prst="rect">
            <a:avLst/>
          </a:prstGeom>
          <a:solidFill>
            <a:srgbClr val="007A87"/>
          </a:solidFill>
          <a:ln w="12700">
            <a:solidFill>
              <a:srgbClr val="007A87"/>
            </a:solidFill>
            <a:prstDash val="solid"/>
          </a:ln>
        </p:spPr>
      </p:sp>
      <p:sp>
        <p:nvSpPr>
          <p:cNvPr id="18" name="Text 16"/>
          <p:cNvSpPr/>
          <p:nvPr/>
        </p:nvSpPr>
        <p:spPr>
          <a:xfrm>
            <a:off x="587044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9" name="Text 17"/>
          <p:cNvSpPr/>
          <p:nvPr/>
        </p:nvSpPr>
        <p:spPr>
          <a:xfrm>
            <a:off x="587044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Three Players</a:t>
            </a:r>
            <a:endParaRPr lang="en-US" sz="1050" dirty="0"/>
          </a:p>
        </p:txBody>
      </p:sp>
      <p:sp>
        <p:nvSpPr>
          <p:cNvPr id="20" name="Text 18"/>
          <p:cNvSpPr/>
          <p:nvPr/>
        </p:nvSpPr>
        <p:spPr>
          <a:xfrm>
            <a:off x="587044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Every financial transaction needs a surplus unit, a deficit unit, and a mechanism connecting them.</a:t>
            </a:r>
            <a:endParaRPr lang="en-US" sz="850" dirty="0"/>
          </a:p>
        </p:txBody>
      </p:sp>
      <p:sp>
        <p:nvSpPr>
          <p:cNvPr id="21" name="Shape 19"/>
          <p:cNvSpPr/>
          <p:nvPr/>
        </p:nvSpPr>
        <p:spPr>
          <a:xfrm>
            <a:off x="0" y="4818888"/>
            <a:ext cx="2011680" cy="324612"/>
          </a:xfrm>
          <a:prstGeom prst="rect">
            <a:avLst/>
          </a:prstGeom>
          <a:solidFill>
            <a:srgbClr val="101C4F"/>
          </a:solidFill>
          <a:ln w="12700">
            <a:solidFill>
              <a:srgbClr val="101C4F"/>
            </a:solidFill>
            <a:prstDash val="solid"/>
          </a:ln>
        </p:spPr>
      </p:sp>
      <p:sp>
        <p:nvSpPr>
          <p:cNvPr id="22" name="Text 2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D1.1</a:t>
            </a:r>
            <a:endParaRPr lang="en-US" sz="800" dirty="0"/>
          </a:p>
        </p:txBody>
      </p:sp>
      <p:sp>
        <p:nvSpPr>
          <p:cNvPr id="23" name="Text 2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SCENARIO</a:t>
            </a:r>
            <a:endParaRPr lang="en-US" sz="1000" dirty="0"/>
          </a:p>
        </p:txBody>
      </p:sp>
      <p:sp>
        <p:nvSpPr>
          <p:cNvPr id="4" name="Shape 2"/>
          <p:cNvSpPr/>
          <p:nvPr/>
        </p:nvSpPr>
        <p:spPr>
          <a:xfrm>
            <a:off x="365760" y="822960"/>
            <a:ext cx="8412480" cy="2011680"/>
          </a:xfrm>
          <a:prstGeom prst="rect">
            <a:avLst/>
          </a:prstGeom>
          <a:solidFill>
            <a:srgbClr val="FDF6E3"/>
          </a:solidFill>
          <a:ln w="12700">
            <a:solidFill>
              <a:srgbClr val="F0A800"/>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365760" y="822960"/>
            <a:ext cx="91440" cy="2011680"/>
          </a:xfrm>
          <a:prstGeom prst="rect">
            <a:avLst/>
          </a:prstGeom>
          <a:solidFill>
            <a:srgbClr val="F0A800"/>
          </a:solidFill>
          <a:ln w="12700">
            <a:solidFill>
              <a:srgbClr val="F0A800"/>
            </a:solidFill>
            <a:prstDash val="solid"/>
          </a:ln>
        </p:spPr>
      </p:sp>
      <p:sp>
        <p:nvSpPr>
          <p:cNvPr id="6" name="Text 4"/>
          <p:cNvSpPr/>
          <p:nvPr/>
        </p:nvSpPr>
        <p:spPr>
          <a:xfrm>
            <a:off x="594360" y="914400"/>
            <a:ext cx="8046720" cy="365760"/>
          </a:xfrm>
          <a:prstGeom prst="rect">
            <a:avLst/>
          </a:prstGeom>
          <a:noFill/>
          <a:ln/>
        </p:spPr>
        <p:txBody>
          <a:bodyPr wrap="square" lIns="0" tIns="0" rIns="0" bIns="0" rtlCol="0" anchor="ctr"/>
          <a:lstStyle/>
          <a:p>
            <a:pPr algn="l" indent="0" marL="0">
              <a:buNone/>
            </a:pPr>
            <a:r>
              <a:rPr lang="en-US" sz="1200" b="1" dirty="0">
                <a:solidFill>
                  <a:srgbClr val="1A2340"/>
                </a:solidFill>
              </a:rPr>
              <a:t>Kavi's father has ₹5 lakh sitting idle in a savings account.</a:t>
            </a:r>
            <a:endParaRPr lang="en-US" sz="1200" dirty="0"/>
          </a:p>
        </p:txBody>
      </p:sp>
      <p:sp>
        <p:nvSpPr>
          <p:cNvPr id="7" name="Text 5"/>
          <p:cNvSpPr/>
          <p:nvPr/>
        </p:nvSpPr>
        <p:spPr>
          <a:xfrm>
            <a:off x="594360" y="1325880"/>
            <a:ext cx="8046720" cy="1371600"/>
          </a:xfrm>
          <a:prstGeom prst="rect">
            <a:avLst/>
          </a:prstGeom>
          <a:noFill/>
          <a:ln/>
        </p:spPr>
        <p:txBody>
          <a:bodyPr wrap="square" lIns="0" tIns="0" rIns="0" bIns="0" rtlCol="0" anchor="ctr"/>
          <a:lstStyle/>
          <a:p>
            <a:pPr algn="l" indent="0" marL="0">
              <a:buNone/>
            </a:pPr>
            <a:r>
              <a:rPr lang="en-US" sz="1050" dirty="0">
                <a:solidFill>
                  <a:srgbClr val="1A2340"/>
                </a:solidFill>
              </a:rPr>
              <a:t>His neighbour Sunita wants to expand her saree business but needs ₹3 lakh. Kavi's father doesn't know Sunita. Without any system, this ₹3 lakh stays idle and Sunita's business doesn't grow. Both lose. Now imagine a bank steps in — it takes Kavi's father's deposit and lends it to Sunita. Suddenly: the money moves, both benefit, and value is created.</a:t>
            </a:r>
            <a:endParaRPr lang="en-US" sz="1050" dirty="0"/>
          </a:p>
        </p:txBody>
      </p:sp>
      <p:sp>
        <p:nvSpPr>
          <p:cNvPr id="8" name="Shape 6"/>
          <p:cNvSpPr/>
          <p:nvPr/>
        </p:nvSpPr>
        <p:spPr>
          <a:xfrm>
            <a:off x="365760" y="2971800"/>
            <a:ext cx="8412480" cy="1005840"/>
          </a:xfrm>
          <a:prstGeom prst="rect">
            <a:avLst/>
          </a:prstGeom>
          <a:solidFill>
            <a:srgbClr val="F2F4F8"/>
          </a:solidFill>
          <a:ln w="12700">
            <a:solidFill>
              <a:srgbClr val="E0E4EE"/>
            </a:solidFill>
            <a:prstDash val="solid"/>
          </a:ln>
        </p:spPr>
      </p:sp>
      <p:sp>
        <p:nvSpPr>
          <p:cNvPr id="9" name="Text 7"/>
          <p:cNvSpPr/>
          <p:nvPr/>
        </p:nvSpPr>
        <p:spPr>
          <a:xfrm>
            <a:off x="548640" y="3035808"/>
            <a:ext cx="1828800" cy="320040"/>
          </a:xfrm>
          <a:prstGeom prst="rect">
            <a:avLst/>
          </a:prstGeom>
          <a:noFill/>
          <a:ln/>
        </p:spPr>
        <p:txBody>
          <a:bodyPr wrap="square" lIns="0" tIns="0" rIns="0" bIns="0" rtlCol="0" anchor="ctr"/>
          <a:lstStyle/>
          <a:p>
            <a:pPr indent="0" marL="0">
              <a:buNone/>
            </a:pPr>
            <a:r>
              <a:rPr lang="en-US" sz="1000" b="1" dirty="0">
                <a:solidFill>
                  <a:srgbClr val="007A87"/>
                </a:solidFill>
              </a:rPr>
              <a:t>🤔  Think about it:</a:t>
            </a:r>
            <a:endParaRPr lang="en-US" sz="1000" dirty="0"/>
          </a:p>
        </p:txBody>
      </p:sp>
      <p:sp>
        <p:nvSpPr>
          <p:cNvPr id="10" name="Text 8"/>
          <p:cNvSpPr/>
          <p:nvPr/>
        </p:nvSpPr>
        <p:spPr>
          <a:xfrm>
            <a:off x="548640" y="3355848"/>
            <a:ext cx="7863840" cy="530352"/>
          </a:xfrm>
          <a:prstGeom prst="rect">
            <a:avLst/>
          </a:prstGeom>
          <a:noFill/>
          <a:ln/>
        </p:spPr>
        <p:txBody>
          <a:bodyPr wrap="square" lIns="0" tIns="0" rIns="0" bIns="0" rtlCol="0" anchor="ctr"/>
          <a:lstStyle/>
          <a:p>
            <a:pPr indent="0" marL="0">
              <a:buNone/>
            </a:pPr>
            <a:r>
              <a:rPr lang="en-US" sz="1050" i="1" dirty="0">
                <a:solidFill>
                  <a:srgbClr val="1A2340"/>
                </a:solidFill>
              </a:rPr>
              <a:t>Without a financial system, what happens to the ₹5 lakh? And what happens to Sunita's business expansion?</a:t>
            </a:r>
            <a:endParaRPr lang="en-US" sz="1050" dirty="0"/>
          </a:p>
        </p:txBody>
      </p:sp>
      <p:sp>
        <p:nvSpPr>
          <p:cNvPr id="11" name="Shape 9"/>
          <p:cNvSpPr/>
          <p:nvPr/>
        </p:nvSpPr>
        <p:spPr>
          <a:xfrm>
            <a:off x="0" y="4818888"/>
            <a:ext cx="2011680" cy="324612"/>
          </a:xfrm>
          <a:prstGeom prst="rect">
            <a:avLst/>
          </a:prstGeom>
          <a:solidFill>
            <a:srgbClr val="101C4F"/>
          </a:solidFill>
          <a:ln w="12700">
            <a:solidFill>
              <a:srgbClr val="101C4F"/>
            </a:solidFill>
            <a:prstDash val="solid"/>
          </a:ln>
        </p:spPr>
      </p:sp>
      <p:sp>
        <p:nvSpPr>
          <p:cNvPr id="12" name="Text 1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D1.1</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KEY CONCEPT</a:t>
            </a:r>
            <a:endParaRPr lang="en-US" sz="1000" dirty="0"/>
          </a:p>
        </p:txBody>
      </p:sp>
      <p:sp>
        <p:nvSpPr>
          <p:cNvPr id="4" name="Text 2"/>
          <p:cNvSpPr/>
          <p:nvPr/>
        </p:nvSpPr>
        <p:spPr>
          <a:xfrm>
            <a:off x="365760" y="777240"/>
            <a:ext cx="8412480" cy="548640"/>
          </a:xfrm>
          <a:prstGeom prst="rect">
            <a:avLst/>
          </a:prstGeom>
          <a:noFill/>
          <a:ln/>
        </p:spPr>
        <p:txBody>
          <a:bodyPr wrap="square" lIns="0" tIns="0" rIns="0" bIns="0" rtlCol="0" anchor="ctr"/>
          <a:lstStyle/>
          <a:p>
            <a:pPr algn="l" indent="0" marL="0">
              <a:buNone/>
            </a:pPr>
            <a:r>
              <a:rPr lang="en-US" sz="2200" b="1" dirty="0">
                <a:solidFill>
                  <a:srgbClr val="101C4F"/>
                </a:solidFill>
              </a:rPr>
              <a:t>The Financial System</a:t>
            </a:r>
            <a:endParaRPr lang="en-US" sz="2200" dirty="0"/>
          </a:p>
        </p:txBody>
      </p:sp>
      <p:sp>
        <p:nvSpPr>
          <p:cNvPr id="5" name="Shape 3"/>
          <p:cNvSpPr/>
          <p:nvPr/>
        </p:nvSpPr>
        <p:spPr>
          <a:xfrm>
            <a:off x="365760" y="1389888"/>
            <a:ext cx="8412480" cy="777240"/>
          </a:xfrm>
          <a:prstGeom prst="rect">
            <a:avLst/>
          </a:prstGeom>
          <a:solidFill>
            <a:srgbClr val="F2F4F8"/>
          </a:solidFill>
          <a:ln w="12700">
            <a:solidFill>
              <a:srgbClr val="E0E4EE"/>
            </a:solidFill>
            <a:prstDash val="solid"/>
          </a:ln>
        </p:spPr>
      </p:sp>
      <p:sp>
        <p:nvSpPr>
          <p:cNvPr id="6" name="Shape 4"/>
          <p:cNvSpPr/>
          <p:nvPr/>
        </p:nvSpPr>
        <p:spPr>
          <a:xfrm>
            <a:off x="365760" y="1389888"/>
            <a:ext cx="91440" cy="777240"/>
          </a:xfrm>
          <a:prstGeom prst="rect">
            <a:avLst/>
          </a:prstGeom>
          <a:solidFill>
            <a:srgbClr val="007A87"/>
          </a:solidFill>
          <a:ln w="12700">
            <a:solidFill>
              <a:srgbClr val="007A87"/>
            </a:solidFill>
            <a:prstDash val="solid"/>
          </a:ln>
        </p:spPr>
      </p:sp>
      <p:sp>
        <p:nvSpPr>
          <p:cNvPr id="7" name="Text 5"/>
          <p:cNvSpPr/>
          <p:nvPr/>
        </p:nvSpPr>
        <p:spPr>
          <a:xfrm>
            <a:off x="594360" y="1444752"/>
            <a:ext cx="8046720" cy="667512"/>
          </a:xfrm>
          <a:prstGeom prst="rect">
            <a:avLst/>
          </a:prstGeom>
          <a:noFill/>
          <a:ln/>
        </p:spPr>
        <p:txBody>
          <a:bodyPr wrap="square" lIns="0" tIns="0" rIns="0" bIns="0" rtlCol="0" anchor="ctr"/>
          <a:lstStyle/>
          <a:p>
            <a:pPr indent="0" marL="0">
              <a:buNone/>
            </a:pPr>
            <a:r>
              <a:rPr lang="en-US" sz="1050" i="1" dirty="0">
                <a:solidFill>
                  <a:srgbClr val="1A2340"/>
                </a:solidFill>
              </a:rPr>
              <a:t>A network of markets, institutions, and instruments that channels funds from surplus units (savers) to deficit units (borrowers/investors), facilitating investment, risk management, and economic growth.</a:t>
            </a:r>
            <a:endParaRPr lang="en-US" sz="1050" dirty="0"/>
          </a:p>
        </p:txBody>
      </p:sp>
      <p:sp>
        <p:nvSpPr>
          <p:cNvPr id="8" name="Shape 6"/>
          <p:cNvSpPr/>
          <p:nvPr/>
        </p:nvSpPr>
        <p:spPr>
          <a:xfrm>
            <a:off x="36576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365760" y="2331720"/>
            <a:ext cx="2000250" cy="64008"/>
          </a:xfrm>
          <a:prstGeom prst="rect">
            <a:avLst/>
          </a:prstGeom>
          <a:solidFill>
            <a:srgbClr val="101C4F"/>
          </a:solidFill>
          <a:ln w="12700">
            <a:solidFill>
              <a:srgbClr val="101C4F"/>
            </a:solidFill>
            <a:prstDash val="solid"/>
          </a:ln>
        </p:spPr>
      </p:sp>
      <p:sp>
        <p:nvSpPr>
          <p:cNvPr id="10" name="Text 8"/>
          <p:cNvSpPr/>
          <p:nvPr/>
        </p:nvSpPr>
        <p:spPr>
          <a:xfrm>
            <a:off x="45720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01</a:t>
            </a:r>
            <a:endParaRPr lang="en-US" sz="1800" dirty="0"/>
          </a:p>
        </p:txBody>
      </p:sp>
      <p:sp>
        <p:nvSpPr>
          <p:cNvPr id="11" name="Text 9"/>
          <p:cNvSpPr/>
          <p:nvPr/>
        </p:nvSpPr>
        <p:spPr>
          <a:xfrm>
            <a:off x="45720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Transfer Funds</a:t>
            </a:r>
            <a:endParaRPr lang="en-US" sz="1000" dirty="0"/>
          </a:p>
        </p:txBody>
      </p:sp>
      <p:sp>
        <p:nvSpPr>
          <p:cNvPr id="12" name="Text 10"/>
          <p:cNvSpPr/>
          <p:nvPr/>
        </p:nvSpPr>
        <p:spPr>
          <a:xfrm>
            <a:off x="45720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Moves savings from households → productive investments by businesses &amp; government.</a:t>
            </a:r>
            <a:endParaRPr lang="en-US" sz="850" dirty="0"/>
          </a:p>
        </p:txBody>
      </p:sp>
      <p:sp>
        <p:nvSpPr>
          <p:cNvPr id="13" name="Shape 11"/>
          <p:cNvSpPr/>
          <p:nvPr/>
        </p:nvSpPr>
        <p:spPr>
          <a:xfrm>
            <a:off x="250317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2503170" y="2331720"/>
            <a:ext cx="2000250" cy="64008"/>
          </a:xfrm>
          <a:prstGeom prst="rect">
            <a:avLst/>
          </a:prstGeom>
          <a:solidFill>
            <a:srgbClr val="101C4F"/>
          </a:solidFill>
          <a:ln w="12700">
            <a:solidFill>
              <a:srgbClr val="101C4F"/>
            </a:solidFill>
            <a:prstDash val="solid"/>
          </a:ln>
        </p:spPr>
      </p:sp>
      <p:sp>
        <p:nvSpPr>
          <p:cNvPr id="15" name="Text 13"/>
          <p:cNvSpPr/>
          <p:nvPr/>
        </p:nvSpPr>
        <p:spPr>
          <a:xfrm>
            <a:off x="259461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02</a:t>
            </a:r>
            <a:endParaRPr lang="en-US" sz="1800" dirty="0"/>
          </a:p>
        </p:txBody>
      </p:sp>
      <p:sp>
        <p:nvSpPr>
          <p:cNvPr id="16" name="Text 14"/>
          <p:cNvSpPr/>
          <p:nvPr/>
        </p:nvSpPr>
        <p:spPr>
          <a:xfrm>
            <a:off x="259461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Price Discovery</a:t>
            </a:r>
            <a:endParaRPr lang="en-US" sz="1000" dirty="0"/>
          </a:p>
        </p:txBody>
      </p:sp>
      <p:sp>
        <p:nvSpPr>
          <p:cNvPr id="17" name="Text 15"/>
          <p:cNvSpPr/>
          <p:nvPr/>
        </p:nvSpPr>
        <p:spPr>
          <a:xfrm>
            <a:off x="259461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Markets reveal fair prices for assets — what is Reliance worth today? NSE tells you.</a:t>
            </a:r>
            <a:endParaRPr lang="en-US" sz="850" dirty="0"/>
          </a:p>
        </p:txBody>
      </p:sp>
      <p:sp>
        <p:nvSpPr>
          <p:cNvPr id="18" name="Shape 16"/>
          <p:cNvSpPr/>
          <p:nvPr/>
        </p:nvSpPr>
        <p:spPr>
          <a:xfrm>
            <a:off x="464058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4640580" y="2331720"/>
            <a:ext cx="2000250" cy="64008"/>
          </a:xfrm>
          <a:prstGeom prst="rect">
            <a:avLst/>
          </a:prstGeom>
          <a:solidFill>
            <a:srgbClr val="101C4F"/>
          </a:solidFill>
          <a:ln w="12700">
            <a:solidFill>
              <a:srgbClr val="101C4F"/>
            </a:solidFill>
            <a:prstDash val="solid"/>
          </a:ln>
        </p:spPr>
      </p:sp>
      <p:sp>
        <p:nvSpPr>
          <p:cNvPr id="20" name="Text 18"/>
          <p:cNvSpPr/>
          <p:nvPr/>
        </p:nvSpPr>
        <p:spPr>
          <a:xfrm>
            <a:off x="473202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03</a:t>
            </a:r>
            <a:endParaRPr lang="en-US" sz="1800" dirty="0"/>
          </a:p>
        </p:txBody>
      </p:sp>
      <p:sp>
        <p:nvSpPr>
          <p:cNvPr id="21" name="Text 19"/>
          <p:cNvSpPr/>
          <p:nvPr/>
        </p:nvSpPr>
        <p:spPr>
          <a:xfrm>
            <a:off x="473202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Risk Management</a:t>
            </a:r>
            <a:endParaRPr lang="en-US" sz="1000" dirty="0"/>
          </a:p>
        </p:txBody>
      </p:sp>
      <p:sp>
        <p:nvSpPr>
          <p:cNvPr id="22" name="Text 20"/>
          <p:cNvSpPr/>
          <p:nvPr/>
        </p:nvSpPr>
        <p:spPr>
          <a:xfrm>
            <a:off x="473202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Instruments like insurance &amp; derivatives transfer risk to those who can bear it.</a:t>
            </a:r>
            <a:endParaRPr lang="en-US" sz="850" dirty="0"/>
          </a:p>
        </p:txBody>
      </p:sp>
      <p:sp>
        <p:nvSpPr>
          <p:cNvPr id="23" name="Shape 21"/>
          <p:cNvSpPr/>
          <p:nvPr/>
        </p:nvSpPr>
        <p:spPr>
          <a:xfrm>
            <a:off x="677799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24" name="Shape 22"/>
          <p:cNvSpPr/>
          <p:nvPr/>
        </p:nvSpPr>
        <p:spPr>
          <a:xfrm>
            <a:off x="6777990" y="2331720"/>
            <a:ext cx="2000250" cy="64008"/>
          </a:xfrm>
          <a:prstGeom prst="rect">
            <a:avLst/>
          </a:prstGeom>
          <a:solidFill>
            <a:srgbClr val="101C4F"/>
          </a:solidFill>
          <a:ln w="12700">
            <a:solidFill>
              <a:srgbClr val="101C4F"/>
            </a:solidFill>
            <a:prstDash val="solid"/>
          </a:ln>
        </p:spPr>
      </p:sp>
      <p:sp>
        <p:nvSpPr>
          <p:cNvPr id="25" name="Text 23"/>
          <p:cNvSpPr/>
          <p:nvPr/>
        </p:nvSpPr>
        <p:spPr>
          <a:xfrm>
            <a:off x="686943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04</a:t>
            </a:r>
            <a:endParaRPr lang="en-US" sz="1800" dirty="0"/>
          </a:p>
        </p:txBody>
      </p:sp>
      <p:sp>
        <p:nvSpPr>
          <p:cNvPr id="26" name="Text 24"/>
          <p:cNvSpPr/>
          <p:nvPr/>
        </p:nvSpPr>
        <p:spPr>
          <a:xfrm>
            <a:off x="686943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Payment System</a:t>
            </a:r>
            <a:endParaRPr lang="en-US" sz="1000" dirty="0"/>
          </a:p>
        </p:txBody>
      </p:sp>
      <p:sp>
        <p:nvSpPr>
          <p:cNvPr id="27" name="Text 25"/>
          <p:cNvSpPr/>
          <p:nvPr/>
        </p:nvSpPr>
        <p:spPr>
          <a:xfrm>
            <a:off x="686943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Enables all economic transactions — UPI, NEFT, RTGS settle millions daily.</a:t>
            </a:r>
            <a:endParaRPr lang="en-US" sz="850" dirty="0"/>
          </a:p>
        </p:txBody>
      </p:sp>
      <p:sp>
        <p:nvSpPr>
          <p:cNvPr id="28" name="Shape 26"/>
          <p:cNvSpPr/>
          <p:nvPr/>
        </p:nvSpPr>
        <p:spPr>
          <a:xfrm>
            <a:off x="0" y="4818888"/>
            <a:ext cx="2011680" cy="324612"/>
          </a:xfrm>
          <a:prstGeom prst="rect">
            <a:avLst/>
          </a:prstGeom>
          <a:solidFill>
            <a:srgbClr val="101C4F"/>
          </a:solidFill>
          <a:ln w="12700">
            <a:solidFill>
              <a:srgbClr val="101C4F"/>
            </a:solidFill>
            <a:prstDash val="solid"/>
          </a:ln>
        </p:spPr>
      </p:sp>
      <p:sp>
        <p:nvSpPr>
          <p:cNvPr id="29" name="Text 27"/>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D1.1</a:t>
            </a:r>
            <a:endParaRPr lang="en-US" sz="800" dirty="0"/>
          </a:p>
        </p:txBody>
      </p:sp>
      <p:sp>
        <p:nvSpPr>
          <p:cNvPr id="30" name="Text 28"/>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GOING DEEPER</a:t>
            </a:r>
            <a:endParaRPr lang="en-US" sz="1000" dirty="0"/>
          </a:p>
        </p:txBody>
      </p:sp>
      <p:sp>
        <p:nvSpPr>
          <p:cNvPr id="4" name="Text 2"/>
          <p:cNvSpPr/>
          <p:nvPr/>
        </p:nvSpPr>
        <p:spPr>
          <a:xfrm>
            <a:off x="365760" y="777240"/>
            <a:ext cx="8412480" cy="457200"/>
          </a:xfrm>
          <a:prstGeom prst="rect">
            <a:avLst/>
          </a:prstGeom>
          <a:noFill/>
          <a:ln/>
        </p:spPr>
        <p:txBody>
          <a:bodyPr wrap="square" lIns="0" tIns="0" rIns="0" bIns="0" rtlCol="0" anchor="ctr"/>
          <a:lstStyle/>
          <a:p>
            <a:pPr indent="0" marL="0">
              <a:buNone/>
            </a:pPr>
            <a:r>
              <a:rPr lang="en-US" sz="1800" b="1" dirty="0">
                <a:solidFill>
                  <a:srgbClr val="101C4F"/>
                </a:solidFill>
              </a:rPr>
              <a:t>Why India's Financial System Matters</a:t>
            </a:r>
            <a:endParaRPr lang="en-US" sz="1800" dirty="0"/>
          </a:p>
        </p:txBody>
      </p:sp>
      <p:sp>
        <p:nvSpPr>
          <p:cNvPr id="5" name="Shape 3"/>
          <p:cNvSpPr/>
          <p:nvPr/>
        </p:nvSpPr>
        <p:spPr>
          <a:xfrm>
            <a:off x="365760" y="1417320"/>
            <a:ext cx="4846320" cy="1005840"/>
          </a:xfrm>
          <a:prstGeom prst="rect">
            <a:avLst/>
          </a:prstGeom>
          <a:solidFill>
            <a:srgbClr val="F2F4F8"/>
          </a:solidFill>
          <a:ln w="12700">
            <a:solidFill>
              <a:srgbClr val="E0E4EE"/>
            </a:solidFill>
            <a:prstDash val="solid"/>
          </a:ln>
        </p:spPr>
      </p:sp>
      <p:sp>
        <p:nvSpPr>
          <p:cNvPr id="6" name="Shape 4"/>
          <p:cNvSpPr/>
          <p:nvPr/>
        </p:nvSpPr>
        <p:spPr>
          <a:xfrm>
            <a:off x="365760" y="1417320"/>
            <a:ext cx="73152" cy="1005840"/>
          </a:xfrm>
          <a:prstGeom prst="rect">
            <a:avLst/>
          </a:prstGeom>
          <a:solidFill>
            <a:srgbClr val="101C4F"/>
          </a:solidFill>
          <a:ln w="12700">
            <a:solidFill>
              <a:srgbClr val="101C4F"/>
            </a:solidFill>
            <a:prstDash val="solid"/>
          </a:ln>
        </p:spPr>
      </p:sp>
      <p:sp>
        <p:nvSpPr>
          <p:cNvPr id="7" name="Text 5"/>
          <p:cNvSpPr/>
          <p:nvPr/>
        </p:nvSpPr>
        <p:spPr>
          <a:xfrm>
            <a:off x="548640" y="1472184"/>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SURPLUS UNITS</a:t>
            </a:r>
            <a:endParaRPr lang="en-US" sz="1000" dirty="0"/>
          </a:p>
        </p:txBody>
      </p:sp>
      <p:sp>
        <p:nvSpPr>
          <p:cNvPr id="8" name="Text 6"/>
          <p:cNvSpPr/>
          <p:nvPr/>
        </p:nvSpPr>
        <p:spPr>
          <a:xfrm>
            <a:off x="548640" y="1764792"/>
            <a:ext cx="4480560" cy="566928"/>
          </a:xfrm>
          <a:prstGeom prst="rect">
            <a:avLst/>
          </a:prstGeom>
          <a:noFill/>
          <a:ln/>
        </p:spPr>
        <p:txBody>
          <a:bodyPr wrap="square" lIns="0" tIns="0" rIns="0" bIns="0" rtlCol="0" anchor="ctr"/>
          <a:lstStyle/>
          <a:p>
            <a:pPr indent="0" marL="0">
              <a:buNone/>
            </a:pPr>
            <a:r>
              <a:rPr lang="en-US" sz="900" dirty="0">
                <a:solidFill>
                  <a:srgbClr val="1A2340"/>
                </a:solidFill>
              </a:rPr>
              <a:t>Indian households save ~30% of income — one of the highest globally. FDs, PPF, mutual funds absorb this surplus.</a:t>
            </a:r>
            <a:endParaRPr lang="en-US" sz="900" dirty="0"/>
          </a:p>
        </p:txBody>
      </p:sp>
      <p:sp>
        <p:nvSpPr>
          <p:cNvPr id="9" name="Shape 7"/>
          <p:cNvSpPr/>
          <p:nvPr/>
        </p:nvSpPr>
        <p:spPr>
          <a:xfrm>
            <a:off x="365760" y="2532888"/>
            <a:ext cx="4846320" cy="1005840"/>
          </a:xfrm>
          <a:prstGeom prst="rect">
            <a:avLst/>
          </a:prstGeom>
          <a:solidFill>
            <a:srgbClr val="F2F4F8"/>
          </a:solidFill>
          <a:ln w="12700">
            <a:solidFill>
              <a:srgbClr val="E0E4EE"/>
            </a:solidFill>
            <a:prstDash val="solid"/>
          </a:ln>
        </p:spPr>
      </p:sp>
      <p:sp>
        <p:nvSpPr>
          <p:cNvPr id="10" name="Shape 8"/>
          <p:cNvSpPr/>
          <p:nvPr/>
        </p:nvSpPr>
        <p:spPr>
          <a:xfrm>
            <a:off x="365760" y="2532888"/>
            <a:ext cx="73152" cy="1005840"/>
          </a:xfrm>
          <a:prstGeom prst="rect">
            <a:avLst/>
          </a:prstGeom>
          <a:solidFill>
            <a:srgbClr val="101C4F"/>
          </a:solidFill>
          <a:ln w="12700">
            <a:solidFill>
              <a:srgbClr val="101C4F"/>
            </a:solidFill>
            <a:prstDash val="solid"/>
          </a:ln>
        </p:spPr>
      </p:sp>
      <p:sp>
        <p:nvSpPr>
          <p:cNvPr id="11" name="Text 9"/>
          <p:cNvSpPr/>
          <p:nvPr/>
        </p:nvSpPr>
        <p:spPr>
          <a:xfrm>
            <a:off x="548640" y="2587752"/>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DEFICIT UNITS</a:t>
            </a:r>
            <a:endParaRPr lang="en-US" sz="1000" dirty="0"/>
          </a:p>
        </p:txBody>
      </p:sp>
      <p:sp>
        <p:nvSpPr>
          <p:cNvPr id="12" name="Text 10"/>
          <p:cNvSpPr/>
          <p:nvPr/>
        </p:nvSpPr>
        <p:spPr>
          <a:xfrm>
            <a:off x="548640" y="2880360"/>
            <a:ext cx="4480560" cy="566928"/>
          </a:xfrm>
          <a:prstGeom prst="rect">
            <a:avLst/>
          </a:prstGeom>
          <a:noFill/>
          <a:ln/>
        </p:spPr>
        <p:txBody>
          <a:bodyPr wrap="square" lIns="0" tIns="0" rIns="0" bIns="0" rtlCol="0" anchor="ctr"/>
          <a:lstStyle/>
          <a:p>
            <a:pPr indent="0" marL="0">
              <a:buNone/>
            </a:pPr>
            <a:r>
              <a:rPr lang="en-US" sz="900" dirty="0">
                <a:solidFill>
                  <a:srgbClr val="1A2340"/>
                </a:solidFill>
              </a:rPr>
              <a:t>Indian companies and government always need capital — for factories, infrastructure, working capital.</a:t>
            </a:r>
            <a:endParaRPr lang="en-US" sz="900" dirty="0"/>
          </a:p>
        </p:txBody>
      </p:sp>
      <p:sp>
        <p:nvSpPr>
          <p:cNvPr id="13" name="Shape 11"/>
          <p:cNvSpPr/>
          <p:nvPr/>
        </p:nvSpPr>
        <p:spPr>
          <a:xfrm>
            <a:off x="365760" y="3648456"/>
            <a:ext cx="4846320" cy="1005840"/>
          </a:xfrm>
          <a:prstGeom prst="rect">
            <a:avLst/>
          </a:prstGeom>
          <a:solidFill>
            <a:srgbClr val="F2F4F8"/>
          </a:solidFill>
          <a:ln w="12700">
            <a:solidFill>
              <a:srgbClr val="E0E4EE"/>
            </a:solidFill>
            <a:prstDash val="solid"/>
          </a:ln>
        </p:spPr>
      </p:sp>
      <p:sp>
        <p:nvSpPr>
          <p:cNvPr id="14" name="Shape 12"/>
          <p:cNvSpPr/>
          <p:nvPr/>
        </p:nvSpPr>
        <p:spPr>
          <a:xfrm>
            <a:off x="365760" y="3648456"/>
            <a:ext cx="73152" cy="1005840"/>
          </a:xfrm>
          <a:prstGeom prst="rect">
            <a:avLst/>
          </a:prstGeom>
          <a:solidFill>
            <a:srgbClr val="101C4F"/>
          </a:solidFill>
          <a:ln w="12700">
            <a:solidFill>
              <a:srgbClr val="101C4F"/>
            </a:solidFill>
            <a:prstDash val="solid"/>
          </a:ln>
        </p:spPr>
      </p:sp>
      <p:sp>
        <p:nvSpPr>
          <p:cNvPr id="15" name="Text 13"/>
          <p:cNvSpPr/>
          <p:nvPr/>
        </p:nvSpPr>
        <p:spPr>
          <a:xfrm>
            <a:off x="548640" y="3703320"/>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THE BRIDGE</a:t>
            </a:r>
            <a:endParaRPr lang="en-US" sz="1000" dirty="0"/>
          </a:p>
        </p:txBody>
      </p:sp>
      <p:sp>
        <p:nvSpPr>
          <p:cNvPr id="16" name="Text 14"/>
          <p:cNvSpPr/>
          <p:nvPr/>
        </p:nvSpPr>
        <p:spPr>
          <a:xfrm>
            <a:off x="548640" y="3995928"/>
            <a:ext cx="4480560" cy="566928"/>
          </a:xfrm>
          <a:prstGeom prst="rect">
            <a:avLst/>
          </a:prstGeom>
          <a:noFill/>
          <a:ln/>
        </p:spPr>
        <p:txBody>
          <a:bodyPr wrap="square" lIns="0" tIns="0" rIns="0" bIns="0" rtlCol="0" anchor="ctr"/>
          <a:lstStyle/>
          <a:p>
            <a:pPr indent="0" marL="0">
              <a:buNone/>
            </a:pPr>
            <a:r>
              <a:rPr lang="en-US" sz="900" dirty="0">
                <a:solidFill>
                  <a:srgbClr val="1A2340"/>
                </a:solidFill>
              </a:rPr>
              <a:t>Banks, markets, and NBFCs bridge the gap — without them, ₹89 lakh crore in household savings would sit idle.</a:t>
            </a:r>
            <a:endParaRPr lang="en-US" sz="900" dirty="0"/>
          </a:p>
        </p:txBody>
      </p:sp>
      <p:sp>
        <p:nvSpPr>
          <p:cNvPr id="17" name="Shape 15"/>
          <p:cNvSpPr/>
          <p:nvPr/>
        </p:nvSpPr>
        <p:spPr>
          <a:xfrm>
            <a:off x="5394960" y="1417320"/>
            <a:ext cx="3383280" cy="2532888"/>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2000"/>
              </a:srgbClr>
            </a:outerShdw>
          </a:effectLst>
        </p:spPr>
      </p:sp>
      <p:sp>
        <p:nvSpPr>
          <p:cNvPr id="18" name="Text 16"/>
          <p:cNvSpPr/>
          <p:nvPr/>
        </p:nvSpPr>
        <p:spPr>
          <a:xfrm>
            <a:off x="5532120" y="1554480"/>
            <a:ext cx="3108960" cy="347472"/>
          </a:xfrm>
          <a:prstGeom prst="rect">
            <a:avLst/>
          </a:prstGeom>
          <a:noFill/>
          <a:ln/>
        </p:spPr>
        <p:txBody>
          <a:bodyPr wrap="square" lIns="0" tIns="0" rIns="0" bIns="0" rtlCol="0" anchor="ctr"/>
          <a:lstStyle/>
          <a:p>
            <a:pPr indent="0" marL="0">
              <a:buNone/>
            </a:pPr>
            <a:r>
              <a:rPr lang="en-US" sz="1000" b="1" spc="100" kern="0" dirty="0">
                <a:solidFill>
                  <a:srgbClr val="F0A800"/>
                </a:solidFill>
              </a:rPr>
              <a:t>KEY STAT</a:t>
            </a:r>
            <a:endParaRPr lang="en-US" sz="1000" dirty="0"/>
          </a:p>
        </p:txBody>
      </p:sp>
      <p:sp>
        <p:nvSpPr>
          <p:cNvPr id="19" name="Text 17"/>
          <p:cNvSpPr/>
          <p:nvPr/>
        </p:nvSpPr>
        <p:spPr>
          <a:xfrm>
            <a:off x="5532120" y="1938528"/>
            <a:ext cx="3108960" cy="1920240"/>
          </a:xfrm>
          <a:prstGeom prst="rect">
            <a:avLst/>
          </a:prstGeom>
          <a:noFill/>
          <a:ln/>
        </p:spPr>
        <p:txBody>
          <a:bodyPr wrap="square" lIns="0" tIns="0" rIns="0" bIns="0" rtlCol="0" anchor="ctr"/>
          <a:lstStyle/>
          <a:p>
            <a:pPr indent="0" marL="0">
              <a:buNone/>
            </a:pPr>
            <a:r>
              <a:rPr lang="en-US" sz="950" dirty="0">
                <a:solidFill>
                  <a:srgbClr val="FFFFFF"/>
                </a:solidFill>
              </a:rPr>
              <a:t>India's financial system channels ~₹89 lakh crore in household financial savings annually.</a:t>
            </a:r>
            <a:endParaRPr lang="en-US" sz="950" dirty="0"/>
          </a:p>
          <a:p>
            <a:pPr indent="0" marL="0">
              <a:buNone/>
            </a:pPr>
            <a:endParaRPr lang="en-US" sz="950" dirty="0"/>
          </a:p>
          <a:p>
            <a:pPr indent="0" marL="0">
              <a:buNone/>
            </a:pPr>
            <a:r>
              <a:rPr lang="en-US" sz="950" dirty="0">
                <a:solidFill>
                  <a:srgbClr val="FFFFFF"/>
                </a:solidFill>
              </a:rPr>
              <a:t>Without this mechanism:</a:t>
            </a:r>
            <a:endParaRPr lang="en-US" sz="950" dirty="0"/>
          </a:p>
          <a:p>
            <a:pPr indent="0" marL="0">
              <a:buNone/>
            </a:pPr>
            <a:r>
              <a:rPr lang="en-US" sz="950" dirty="0">
                <a:solidFill>
                  <a:srgbClr val="FFFFFF"/>
                </a:solidFill>
              </a:rPr>
              <a:t>• No corporate growth</a:t>
            </a:r>
            <a:endParaRPr lang="en-US" sz="950" dirty="0"/>
          </a:p>
          <a:p>
            <a:pPr indent="0" marL="0">
              <a:buNone/>
            </a:pPr>
            <a:r>
              <a:rPr lang="en-US" sz="950" dirty="0">
                <a:solidFill>
                  <a:srgbClr val="FFFFFF"/>
                </a:solidFill>
              </a:rPr>
              <a:t>• No infrastructure</a:t>
            </a:r>
            <a:endParaRPr lang="en-US" sz="950" dirty="0"/>
          </a:p>
          <a:p>
            <a:pPr indent="0" marL="0">
              <a:buNone/>
            </a:pPr>
            <a:r>
              <a:rPr lang="en-US" sz="950" dirty="0">
                <a:solidFill>
                  <a:srgbClr val="FFFFFF"/>
                </a:solidFill>
              </a:rPr>
              <a:t>• No mortgages</a:t>
            </a:r>
            <a:endParaRPr lang="en-US" sz="950" dirty="0"/>
          </a:p>
          <a:p>
            <a:pPr indent="0" marL="0">
              <a:buNone/>
            </a:pPr>
            <a:r>
              <a:rPr lang="en-US" sz="950" dirty="0">
                <a:solidFill>
                  <a:srgbClr val="FFFFFF"/>
                </a:solidFill>
              </a:rPr>
              <a:t>• Rupee loses function</a:t>
            </a:r>
            <a:endParaRPr lang="en-US" sz="950" dirty="0"/>
          </a:p>
          <a:p>
            <a:pPr indent="0" marL="0">
              <a:buNone/>
            </a:pPr>
            <a:endParaRPr lang="en-US" sz="950" dirty="0"/>
          </a:p>
          <a:p>
            <a:pPr indent="0" marL="0">
              <a:buNone/>
            </a:pPr>
            <a:r>
              <a:rPr lang="en-US" sz="950" dirty="0">
                <a:solidFill>
                  <a:srgbClr val="FFFFFF"/>
                </a:solidFill>
              </a:rPr>
              <a:t>'The financial system is the economy's circulatory system.'</a:t>
            </a:r>
            <a:endParaRPr lang="en-US" sz="950" dirty="0"/>
          </a:p>
        </p:txBody>
      </p:sp>
      <p:sp>
        <p:nvSpPr>
          <p:cNvPr id="20" name="Shape 18"/>
          <p:cNvSpPr/>
          <p:nvPr/>
        </p:nvSpPr>
        <p:spPr>
          <a:xfrm>
            <a:off x="0" y="4818888"/>
            <a:ext cx="2011680" cy="324612"/>
          </a:xfrm>
          <a:prstGeom prst="rect">
            <a:avLst/>
          </a:prstGeom>
          <a:solidFill>
            <a:srgbClr val="101C4F"/>
          </a:solidFill>
          <a:ln w="12700">
            <a:solidFill>
              <a:srgbClr val="101C4F"/>
            </a:solidFill>
            <a:prstDash val="solid"/>
          </a:ln>
        </p:spPr>
      </p:sp>
      <p:sp>
        <p:nvSpPr>
          <p:cNvPr id="21" name="Text 19"/>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D1.1</a:t>
            </a:r>
            <a:endParaRPr lang="en-US" sz="800" dirty="0"/>
          </a:p>
        </p:txBody>
      </p:sp>
      <p:sp>
        <p:nvSpPr>
          <p:cNvPr id="22" name="Text 20"/>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101C4F"/>
                </a:solidFill>
              </a:rPr>
              <a:t>💬  THINK &amp; DISCUSS</a:t>
            </a:r>
            <a:endParaRPr lang="en-US" sz="1000" dirty="0"/>
          </a:p>
        </p:txBody>
      </p:sp>
      <p:sp>
        <p:nvSpPr>
          <p:cNvPr id="4" name="Text 2"/>
          <p:cNvSpPr/>
          <p:nvPr/>
        </p:nvSpPr>
        <p:spPr>
          <a:xfrm>
            <a:off x="457200" y="822960"/>
            <a:ext cx="8229600" cy="777240"/>
          </a:xfrm>
          <a:prstGeom prst="rect">
            <a:avLst/>
          </a:prstGeom>
          <a:noFill/>
          <a:ln/>
        </p:spPr>
        <p:txBody>
          <a:bodyPr wrap="square" lIns="0" tIns="0" rIns="0" bIns="0" rtlCol="0" anchor="ctr"/>
          <a:lstStyle/>
          <a:p>
            <a:pPr algn="ctr" indent="0" marL="0">
              <a:buNone/>
            </a:pPr>
            <a:r>
              <a:rPr lang="en-US" sz="1500" b="1" dirty="0">
                <a:solidFill>
                  <a:srgbClr val="101C4F"/>
                </a:solidFill>
              </a:rPr>
              <a:t>Is a highly developed financial system good or risky for an economy?</a:t>
            </a:r>
            <a:endParaRPr lang="en-US" sz="1500" dirty="0"/>
          </a:p>
        </p:txBody>
      </p:sp>
      <p:sp>
        <p:nvSpPr>
          <p:cNvPr id="5" name="Shape 3"/>
          <p:cNvSpPr/>
          <p:nvPr/>
        </p:nvSpPr>
        <p:spPr>
          <a:xfrm>
            <a:off x="4572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457200" y="1737360"/>
            <a:ext cx="3977640" cy="73152"/>
          </a:xfrm>
          <a:prstGeom prst="rect">
            <a:avLst/>
          </a:prstGeom>
          <a:solidFill>
            <a:srgbClr val="007A87"/>
          </a:solidFill>
          <a:ln w="12700">
            <a:solidFill>
              <a:srgbClr val="007A87"/>
            </a:solidFill>
            <a:prstDash val="solid"/>
          </a:ln>
        </p:spPr>
      </p:sp>
      <p:sp>
        <p:nvSpPr>
          <p:cNvPr id="7" name="Text 5"/>
          <p:cNvSpPr/>
          <p:nvPr/>
        </p:nvSpPr>
        <p:spPr>
          <a:xfrm>
            <a:off x="594360" y="1828800"/>
            <a:ext cx="3657600" cy="320040"/>
          </a:xfrm>
          <a:prstGeom prst="rect">
            <a:avLst/>
          </a:prstGeom>
          <a:noFill/>
          <a:ln/>
        </p:spPr>
        <p:txBody>
          <a:bodyPr wrap="square" lIns="0" tIns="0" rIns="0" bIns="0" rtlCol="0" anchor="ctr"/>
          <a:lstStyle/>
          <a:p>
            <a:pPr indent="0" marL="0">
              <a:buNone/>
            </a:pPr>
            <a:r>
              <a:rPr lang="en-US" sz="1000" b="1" dirty="0">
                <a:solidFill>
                  <a:srgbClr val="007A87"/>
                </a:solidFill>
              </a:rPr>
              <a:t>🟢 MORE DEVELOPMENT = BETTER</a:t>
            </a:r>
            <a:endParaRPr lang="en-US" sz="1000" dirty="0"/>
          </a:p>
        </p:txBody>
      </p:sp>
      <p:sp>
        <p:nvSpPr>
          <p:cNvPr id="8" name="Text 6"/>
          <p:cNvSpPr/>
          <p:nvPr/>
        </p:nvSpPr>
        <p:spPr>
          <a:xfrm>
            <a:off x="5943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More capital flows to more productive uses. Innovation is funded. Growth accelerates. India's deep markets attract FIIs.</a:t>
            </a:r>
            <a:endParaRPr lang="en-US" sz="950" dirty="0"/>
          </a:p>
        </p:txBody>
      </p:sp>
      <p:sp>
        <p:nvSpPr>
          <p:cNvPr id="9" name="Shape 7"/>
          <p:cNvSpPr/>
          <p:nvPr/>
        </p:nvSpPr>
        <p:spPr>
          <a:xfrm>
            <a:off x="48006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4800600" y="1737360"/>
            <a:ext cx="3977640" cy="73152"/>
          </a:xfrm>
          <a:prstGeom prst="rect">
            <a:avLst/>
          </a:prstGeom>
          <a:solidFill>
            <a:srgbClr val="101C4F"/>
          </a:solidFill>
          <a:ln w="12700">
            <a:solidFill>
              <a:srgbClr val="101C4F"/>
            </a:solidFill>
            <a:prstDash val="solid"/>
          </a:ln>
        </p:spPr>
      </p:sp>
      <p:sp>
        <p:nvSpPr>
          <p:cNvPr id="11" name="Text 9"/>
          <p:cNvSpPr/>
          <p:nvPr/>
        </p:nvSpPr>
        <p:spPr>
          <a:xfrm>
            <a:off x="4937760" y="1828800"/>
            <a:ext cx="3657600" cy="320040"/>
          </a:xfrm>
          <a:prstGeom prst="rect">
            <a:avLst/>
          </a:prstGeom>
          <a:noFill/>
          <a:ln/>
        </p:spPr>
        <p:txBody>
          <a:bodyPr wrap="square" lIns="0" tIns="0" rIns="0" bIns="0" rtlCol="0" anchor="ctr"/>
          <a:lstStyle/>
          <a:p>
            <a:pPr indent="0" marL="0">
              <a:buNone/>
            </a:pPr>
            <a:r>
              <a:rPr lang="en-US" sz="1000" b="1" dirty="0">
                <a:solidFill>
                  <a:srgbClr val="101C4F"/>
                </a:solidFill>
              </a:rPr>
              <a:t>🔴 MORE COMPLEXITY = MORE RISK</a:t>
            </a:r>
            <a:endParaRPr lang="en-US" sz="1000" dirty="0"/>
          </a:p>
        </p:txBody>
      </p:sp>
      <p:sp>
        <p:nvSpPr>
          <p:cNvPr id="12" name="Text 10"/>
          <p:cNvSpPr/>
          <p:nvPr/>
        </p:nvSpPr>
        <p:spPr>
          <a:xfrm>
            <a:off x="49377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2008 crisis: complex financial instruments collapsed globally. India's 2013 IL&amp;FS crisis: NBFCs and systemic risk.</a:t>
            </a:r>
            <a:endParaRPr lang="en-US" sz="950" dirty="0"/>
          </a:p>
        </p:txBody>
      </p:sp>
      <p:sp>
        <p:nvSpPr>
          <p:cNvPr id="13" name="Shape 11"/>
          <p:cNvSpPr/>
          <p:nvPr/>
        </p:nvSpPr>
        <p:spPr>
          <a:xfrm>
            <a:off x="457200" y="3337560"/>
            <a:ext cx="8229600" cy="777240"/>
          </a:xfrm>
          <a:prstGeom prst="rect">
            <a:avLst/>
          </a:prstGeom>
          <a:solidFill>
            <a:srgbClr val="007A87"/>
          </a:solidFill>
          <a:ln w="12700">
            <a:solidFill>
              <a:srgbClr val="007A87"/>
            </a:solidFill>
            <a:prstDash val="solid"/>
          </a:ln>
        </p:spPr>
      </p:sp>
      <p:sp>
        <p:nvSpPr>
          <p:cNvPr id="14" name="Text 12"/>
          <p:cNvSpPr/>
          <p:nvPr/>
        </p:nvSpPr>
        <p:spPr>
          <a:xfrm>
            <a:off x="640080" y="3337560"/>
            <a:ext cx="7863840" cy="777240"/>
          </a:xfrm>
          <a:prstGeom prst="rect">
            <a:avLst/>
          </a:prstGeom>
          <a:noFill/>
          <a:ln/>
        </p:spPr>
        <p:txBody>
          <a:bodyPr wrap="square" lIns="0" tIns="0" rIns="0" bIns="0" rtlCol="0" anchor="ctr"/>
          <a:lstStyle/>
          <a:p>
            <a:pPr indent="0" marL="0">
              <a:buNone/>
            </a:pPr>
            <a:r>
              <a:rPr lang="en-US" sz="1000" dirty="0">
                <a:solidFill>
                  <a:srgbClr val="FFFFFF"/>
                </a:solidFill>
              </a:rPr>
              <a:t>💡 The answer is BOTH. Financial deepening drives growth — but requires strong regulation. SEBI, RBI, and IRDAI exist precisely to manage this tension.</a:t>
            </a:r>
            <a:endParaRPr lang="en-US" sz="1000" dirty="0"/>
          </a:p>
        </p:txBody>
      </p:sp>
      <p:sp>
        <p:nvSpPr>
          <p:cNvPr id="15" name="Shape 13"/>
          <p:cNvSpPr/>
          <p:nvPr/>
        </p:nvSpPr>
        <p:spPr>
          <a:xfrm>
            <a:off x="0" y="4818888"/>
            <a:ext cx="2011680" cy="324612"/>
          </a:xfrm>
          <a:prstGeom prst="rect">
            <a:avLst/>
          </a:prstGeom>
          <a:solidFill>
            <a:srgbClr val="101C4F"/>
          </a:solidFill>
          <a:ln w="12700">
            <a:solidFill>
              <a:srgbClr val="101C4F"/>
            </a:solidFill>
            <a:prstDash val="solid"/>
          </a:ln>
        </p:spPr>
      </p:sp>
      <p:sp>
        <p:nvSpPr>
          <p:cNvPr id="16" name="Text 14"/>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D1.1</a:t>
            </a:r>
            <a:endParaRPr lang="en-US" sz="800" dirty="0"/>
          </a:p>
        </p:txBody>
      </p:sp>
      <p:sp>
        <p:nvSpPr>
          <p:cNvPr id="17" name="Text 15"/>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INTERVIEW READY</a:t>
            </a:r>
            <a:endParaRPr lang="en-US" sz="1000" dirty="0"/>
          </a:p>
        </p:txBody>
      </p:sp>
      <p:sp>
        <p:nvSpPr>
          <p:cNvPr id="4" name="Text 2"/>
          <p:cNvSpPr/>
          <p:nvPr/>
        </p:nvSpPr>
        <p:spPr>
          <a:xfrm>
            <a:off x="365760" y="777240"/>
            <a:ext cx="8412480" cy="384048"/>
          </a:xfrm>
          <a:prstGeom prst="rect">
            <a:avLst/>
          </a:prstGeom>
          <a:noFill/>
          <a:ln/>
        </p:spPr>
        <p:txBody>
          <a:bodyPr wrap="square" lIns="0" tIns="0" rIns="0" bIns="0" rtlCol="0" anchor="ctr"/>
          <a:lstStyle/>
          <a:p>
            <a:pPr indent="0" marL="0">
              <a:buNone/>
            </a:pPr>
            <a:r>
              <a:rPr lang="en-US" sz="1200" i="1" dirty="0">
                <a:solidFill>
                  <a:srgbClr val="4A5568"/>
                </a:solidFill>
              </a:rPr>
              <a:t>Questions you WILL get asked — know these cold.</a:t>
            </a:r>
            <a:endParaRPr lang="en-US" sz="1200" dirty="0"/>
          </a:p>
        </p:txBody>
      </p:sp>
      <p:sp>
        <p:nvSpPr>
          <p:cNvPr id="5" name="Shape 3"/>
          <p:cNvSpPr/>
          <p:nvPr/>
        </p:nvSpPr>
        <p:spPr>
          <a:xfrm>
            <a:off x="365760" y="128016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65760" y="1280160"/>
            <a:ext cx="73152" cy="987552"/>
          </a:xfrm>
          <a:prstGeom prst="rect">
            <a:avLst/>
          </a:prstGeom>
          <a:solidFill>
            <a:srgbClr val="F0A800"/>
          </a:solidFill>
          <a:ln w="12700">
            <a:solidFill>
              <a:srgbClr val="F0A800"/>
            </a:solidFill>
            <a:prstDash val="solid"/>
          </a:ln>
        </p:spPr>
      </p:sp>
      <p:sp>
        <p:nvSpPr>
          <p:cNvPr id="7" name="Text 5"/>
          <p:cNvSpPr/>
          <p:nvPr/>
        </p:nvSpPr>
        <p:spPr>
          <a:xfrm>
            <a:off x="548640" y="133502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Q1: What is the primary function of a financial system?</a:t>
            </a:r>
            <a:endParaRPr lang="en-US" sz="1000" dirty="0"/>
          </a:p>
        </p:txBody>
      </p:sp>
      <p:sp>
        <p:nvSpPr>
          <p:cNvPr id="8" name="Text 6"/>
          <p:cNvSpPr/>
          <p:nvPr/>
        </p:nvSpPr>
        <p:spPr>
          <a:xfrm>
            <a:off x="548640" y="1682496"/>
            <a:ext cx="8046720" cy="530352"/>
          </a:xfrm>
          <a:prstGeom prst="rect">
            <a:avLst/>
          </a:prstGeom>
          <a:noFill/>
          <a:ln/>
        </p:spPr>
        <p:txBody>
          <a:bodyPr wrap="square" lIns="0" tIns="0" rIns="0" bIns="0" rtlCol="0" anchor="ctr"/>
          <a:lstStyle/>
          <a:p>
            <a:pPr indent="0" marL="0">
              <a:buNone/>
            </a:pPr>
            <a:r>
              <a:rPr lang="en-US" sz="950" dirty="0">
                <a:solidFill>
                  <a:srgbClr val="1A2340"/>
                </a:solidFill>
              </a:rPr>
              <a:t>→ To channel funds from surplus units (savers) to deficit units (borrowers/investors) efficiently — enabling investment, growth, risk management, and payments.</a:t>
            </a:r>
            <a:endParaRPr lang="en-US" sz="950" dirty="0"/>
          </a:p>
        </p:txBody>
      </p:sp>
      <p:sp>
        <p:nvSpPr>
          <p:cNvPr id="9" name="Shape 7"/>
          <p:cNvSpPr/>
          <p:nvPr/>
        </p:nvSpPr>
        <p:spPr>
          <a:xfrm>
            <a:off x="365760" y="237744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365760" y="2377440"/>
            <a:ext cx="73152" cy="987552"/>
          </a:xfrm>
          <a:prstGeom prst="rect">
            <a:avLst/>
          </a:prstGeom>
          <a:solidFill>
            <a:srgbClr val="F0A800"/>
          </a:solidFill>
          <a:ln w="12700">
            <a:solidFill>
              <a:srgbClr val="F0A800"/>
            </a:solidFill>
            <a:prstDash val="solid"/>
          </a:ln>
        </p:spPr>
      </p:sp>
      <p:sp>
        <p:nvSpPr>
          <p:cNvPr id="11" name="Text 9"/>
          <p:cNvSpPr/>
          <p:nvPr/>
        </p:nvSpPr>
        <p:spPr>
          <a:xfrm>
            <a:off x="548640" y="243230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Q2: How does a bank act as a financial intermediary?</a:t>
            </a:r>
            <a:endParaRPr lang="en-US" sz="1000" dirty="0"/>
          </a:p>
        </p:txBody>
      </p:sp>
      <p:sp>
        <p:nvSpPr>
          <p:cNvPr id="12" name="Text 10"/>
          <p:cNvSpPr/>
          <p:nvPr/>
        </p:nvSpPr>
        <p:spPr>
          <a:xfrm>
            <a:off x="548640" y="2779776"/>
            <a:ext cx="8046720" cy="530352"/>
          </a:xfrm>
          <a:prstGeom prst="rect">
            <a:avLst/>
          </a:prstGeom>
          <a:noFill/>
          <a:ln/>
        </p:spPr>
        <p:txBody>
          <a:bodyPr wrap="square" lIns="0" tIns="0" rIns="0" bIns="0" rtlCol="0" anchor="ctr"/>
          <a:lstStyle/>
          <a:p>
            <a:pPr indent="0" marL="0">
              <a:buNone/>
            </a:pPr>
            <a:r>
              <a:rPr lang="en-US" sz="950" dirty="0">
                <a:solidFill>
                  <a:srgbClr val="1A2340"/>
                </a:solidFill>
              </a:rPr>
              <a:t>→ It accepts deposits from savers (surplus units), pools them, and lends to borrowers (deficit units) — earning the interest rate spread. It absorbs and manages credit risk on behalf of depositors.</a:t>
            </a:r>
            <a:endParaRPr lang="en-US" sz="950" dirty="0"/>
          </a:p>
        </p:txBody>
      </p:sp>
      <p:sp>
        <p:nvSpPr>
          <p:cNvPr id="13" name="Shape 11"/>
          <p:cNvSpPr/>
          <p:nvPr/>
        </p:nvSpPr>
        <p:spPr>
          <a:xfrm>
            <a:off x="365760" y="347472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365760" y="3474720"/>
            <a:ext cx="73152" cy="987552"/>
          </a:xfrm>
          <a:prstGeom prst="rect">
            <a:avLst/>
          </a:prstGeom>
          <a:solidFill>
            <a:srgbClr val="F0A800"/>
          </a:solidFill>
          <a:ln w="12700">
            <a:solidFill>
              <a:srgbClr val="F0A800"/>
            </a:solidFill>
            <a:prstDash val="solid"/>
          </a:ln>
        </p:spPr>
      </p:sp>
      <p:sp>
        <p:nvSpPr>
          <p:cNvPr id="15" name="Text 13"/>
          <p:cNvSpPr/>
          <p:nvPr/>
        </p:nvSpPr>
        <p:spPr>
          <a:xfrm>
            <a:off x="548640" y="352958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Q3: Name three functions of a financial system.</a:t>
            </a:r>
            <a:endParaRPr lang="en-US" sz="1000" dirty="0"/>
          </a:p>
        </p:txBody>
      </p:sp>
      <p:sp>
        <p:nvSpPr>
          <p:cNvPr id="16" name="Text 14"/>
          <p:cNvSpPr/>
          <p:nvPr/>
        </p:nvSpPr>
        <p:spPr>
          <a:xfrm>
            <a:off x="548640" y="3877056"/>
            <a:ext cx="8046720" cy="530352"/>
          </a:xfrm>
          <a:prstGeom prst="rect">
            <a:avLst/>
          </a:prstGeom>
          <a:noFill/>
          <a:ln/>
        </p:spPr>
        <p:txBody>
          <a:bodyPr wrap="square" lIns="0" tIns="0" rIns="0" bIns="0" rtlCol="0" anchor="ctr"/>
          <a:lstStyle/>
          <a:p>
            <a:pPr indent="0" marL="0">
              <a:buNone/>
            </a:pPr>
            <a:r>
              <a:rPr lang="en-US" sz="950" dirty="0">
                <a:solidFill>
                  <a:srgbClr val="1A2340"/>
                </a:solidFill>
              </a:rPr>
              <a:t>→ 1) Funds transfer (savings → investment), 2) Price discovery (markets reveal asset values), 3) Risk management (insurance, derivatives redistribute risk), 4) Payment facilitation (NEFT, RTGS, UPI).</a:t>
            </a:r>
            <a:endParaRPr lang="en-US" sz="950" dirty="0"/>
          </a:p>
        </p:txBody>
      </p:sp>
      <p:sp>
        <p:nvSpPr>
          <p:cNvPr id="17" name="Shape 15"/>
          <p:cNvSpPr/>
          <p:nvPr/>
        </p:nvSpPr>
        <p:spPr>
          <a:xfrm>
            <a:off x="0" y="4818888"/>
            <a:ext cx="2011680" cy="324612"/>
          </a:xfrm>
          <a:prstGeom prst="rect">
            <a:avLst/>
          </a:prstGeom>
          <a:solidFill>
            <a:srgbClr val="101C4F"/>
          </a:solidFill>
          <a:ln w="12700">
            <a:solidFill>
              <a:srgbClr val="101C4F"/>
            </a:solidFill>
            <a:prstDash val="solid"/>
          </a:ln>
        </p:spPr>
      </p:sp>
      <p:sp>
        <p:nvSpPr>
          <p:cNvPr id="18" name="Text 16"/>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D1.1</a:t>
            </a:r>
            <a:endParaRPr lang="en-US" sz="800" dirty="0"/>
          </a:p>
        </p:txBody>
      </p:sp>
      <p:sp>
        <p:nvSpPr>
          <p:cNvPr id="19" name="Text 17"/>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A87"/>
          </a:solidFill>
          <a:ln w="12700">
            <a:solidFill>
              <a:srgbClr val="007A87"/>
            </a:solidFill>
            <a:prstDash val="solid"/>
          </a:ln>
        </p:spPr>
      </p:sp>
      <p:sp>
        <p:nvSpPr>
          <p:cNvPr id="3" name="Shape 1"/>
          <p:cNvSpPr/>
          <p:nvPr/>
        </p:nvSpPr>
        <p:spPr>
          <a:xfrm>
            <a:off x="384048" y="2212848"/>
            <a:ext cx="201168" cy="201168"/>
          </a:xfrm>
          <a:prstGeom prst="oval">
            <a:avLst/>
          </a:prstGeom>
          <a:solidFill>
            <a:srgbClr val="F0A800"/>
          </a:solidFill>
          <a:ln w="12700">
            <a:solidFill>
              <a:srgbClr val="F0A800"/>
            </a:solidFill>
            <a:prstDash val="solid"/>
          </a:ln>
        </p:spPr>
      </p:sp>
      <p:sp>
        <p:nvSpPr>
          <p:cNvPr id="4" name="Shape 2"/>
          <p:cNvSpPr/>
          <p:nvPr/>
        </p:nvSpPr>
        <p:spPr>
          <a:xfrm>
            <a:off x="457200" y="548640"/>
            <a:ext cx="1188720" cy="384048"/>
          </a:xfrm>
          <a:prstGeom prst="rect">
            <a:avLst/>
          </a:prstGeom>
          <a:solidFill>
            <a:srgbClr val="007A87"/>
          </a:solidFill>
          <a:ln w="12700">
            <a:solidFill>
              <a:srgbClr val="007A87"/>
            </a:solidFill>
            <a:prstDash val="solid"/>
          </a:ln>
        </p:spPr>
      </p:sp>
      <p:sp>
        <p:nvSpPr>
          <p:cNvPr id="5" name="Text 3"/>
          <p:cNvSpPr/>
          <p:nvPr/>
        </p:nvSpPr>
        <p:spPr>
          <a:xfrm>
            <a:off x="457200" y="548640"/>
            <a:ext cx="1188720" cy="384048"/>
          </a:xfrm>
          <a:prstGeom prst="rect">
            <a:avLst/>
          </a:prstGeom>
          <a:noFill/>
          <a:ln/>
        </p:spPr>
        <p:txBody>
          <a:bodyPr wrap="square" lIns="0" tIns="0" rIns="0" bIns="0" rtlCol="0" anchor="ctr"/>
          <a:lstStyle/>
          <a:p>
            <a:pPr algn="ctr" indent="0" marL="0">
              <a:buNone/>
            </a:pPr>
            <a:r>
              <a:rPr lang="en-US" sz="1200" b="1" dirty="0">
                <a:solidFill>
                  <a:srgbClr val="FFFFFF"/>
                </a:solidFill>
              </a:rPr>
              <a:t>D1.2</a:t>
            </a:r>
            <a:endParaRPr lang="en-US" sz="1200" dirty="0"/>
          </a:p>
        </p:txBody>
      </p:sp>
      <p:sp>
        <p:nvSpPr>
          <p:cNvPr id="6" name="Text 4"/>
          <p:cNvSpPr/>
          <p:nvPr/>
        </p:nvSpPr>
        <p:spPr>
          <a:xfrm>
            <a:off x="1828800" y="621792"/>
            <a:ext cx="2743200" cy="274320"/>
          </a:xfrm>
          <a:prstGeom prst="rect">
            <a:avLst/>
          </a:prstGeom>
          <a:noFill/>
          <a:ln/>
        </p:spPr>
        <p:txBody>
          <a:bodyPr wrap="square" lIns="0" tIns="0" rIns="0" bIns="0" rtlCol="0" anchor="ctr"/>
          <a:lstStyle/>
          <a:p>
            <a:pPr algn="l" indent="0" marL="0">
              <a:buNone/>
            </a:pPr>
            <a:r>
              <a:rPr lang="en-US" sz="900" dirty="0">
                <a:solidFill>
                  <a:srgbClr val="007A87"/>
                </a:solidFill>
              </a:rPr>
              <a:t>Unit 2 of 8</a:t>
            </a:r>
            <a:endParaRPr lang="en-US" sz="900" dirty="0"/>
          </a:p>
        </p:txBody>
      </p:sp>
      <p:sp>
        <p:nvSpPr>
          <p:cNvPr id="7" name="Text 5"/>
          <p:cNvSpPr/>
          <p:nvPr/>
        </p:nvSpPr>
        <p:spPr>
          <a:xfrm>
            <a:off x="457200" y="1143000"/>
            <a:ext cx="7772400" cy="1371600"/>
          </a:xfrm>
          <a:prstGeom prst="rect">
            <a:avLst/>
          </a:prstGeom>
          <a:noFill/>
          <a:ln/>
        </p:spPr>
        <p:txBody>
          <a:bodyPr wrap="square" lIns="0" tIns="0" rIns="0" bIns="0" rtlCol="0" anchor="ctr"/>
          <a:lstStyle/>
          <a:p>
            <a:pPr algn="l" indent="0" marL="0">
              <a:buNone/>
            </a:pPr>
            <a:r>
              <a:rPr lang="en-US" sz="3400" b="1" dirty="0">
                <a:solidFill>
                  <a:srgbClr val="FFFFFF"/>
                </a:solidFill>
              </a:rPr>
              <a:t>Structure of the Financial System</a:t>
            </a:r>
            <a:endParaRPr lang="en-US" sz="3400" dirty="0"/>
          </a:p>
        </p:txBody>
      </p:sp>
      <p:sp>
        <p:nvSpPr>
          <p:cNvPr id="8" name="Shape 6"/>
          <p:cNvSpPr/>
          <p:nvPr/>
        </p:nvSpPr>
        <p:spPr>
          <a:xfrm>
            <a:off x="457200" y="2697480"/>
            <a:ext cx="8229600" cy="45720"/>
          </a:xfrm>
          <a:prstGeom prst="rect">
            <a:avLst/>
          </a:prstGeom>
          <a:solidFill>
            <a:srgbClr val="007A87"/>
          </a:solidFill>
          <a:ln w="12700">
            <a:solidFill>
              <a:srgbClr val="007A87"/>
            </a:solidFill>
            <a:prstDash val="solid"/>
          </a:ln>
        </p:spPr>
      </p:sp>
      <p:sp>
        <p:nvSpPr>
          <p:cNvPr id="9" name="Text 7"/>
          <p:cNvSpPr/>
          <p:nvPr/>
        </p:nvSpPr>
        <p:spPr>
          <a:xfrm>
            <a:off x="457200" y="2834640"/>
            <a:ext cx="1463040" cy="320040"/>
          </a:xfrm>
          <a:prstGeom prst="rect">
            <a:avLst/>
          </a:prstGeom>
          <a:noFill/>
          <a:ln/>
        </p:spPr>
        <p:txBody>
          <a:bodyPr wrap="square" lIns="0" tIns="0" rIns="0" bIns="0" rtlCol="0" anchor="ctr"/>
          <a:lstStyle/>
          <a:p>
            <a:pPr algn="l" indent="0" marL="0">
              <a:buNone/>
            </a:pPr>
            <a:r>
              <a:rPr lang="en-US" sz="900" b="1" dirty="0">
                <a:solidFill>
                  <a:srgbClr val="F0A800"/>
                </a:solidFill>
              </a:rPr>
              <a:t>COMPETENCY:</a:t>
            </a:r>
            <a:endParaRPr lang="en-US" sz="900" dirty="0"/>
          </a:p>
        </p:txBody>
      </p:sp>
      <p:sp>
        <p:nvSpPr>
          <p:cNvPr id="10" name="Text 8"/>
          <p:cNvSpPr/>
          <p:nvPr/>
        </p:nvSpPr>
        <p:spPr>
          <a:xfrm>
            <a:off x="1920240" y="2834640"/>
            <a:ext cx="6766560" cy="320040"/>
          </a:xfrm>
          <a:prstGeom prst="rect">
            <a:avLst/>
          </a:prstGeom>
          <a:noFill/>
          <a:ln/>
        </p:spPr>
        <p:txBody>
          <a:bodyPr wrap="square" lIns="0" tIns="0" rIns="0" bIns="0" rtlCol="0" anchor="ctr"/>
          <a:lstStyle/>
          <a:p>
            <a:pPr algn="l" indent="0" marL="0">
              <a:buNone/>
            </a:pPr>
            <a:r>
              <a:rPr lang="en-US" sz="900" dirty="0">
                <a:solidFill>
                  <a:srgbClr val="A0B4D0"/>
                </a:solidFill>
              </a:rPr>
              <a:t>Financial System Literacy</a:t>
            </a:r>
            <a:endParaRPr lang="en-US" sz="900" dirty="0"/>
          </a:p>
        </p:txBody>
      </p:sp>
      <p:sp>
        <p:nvSpPr>
          <p:cNvPr id="11" name="Shape 9"/>
          <p:cNvSpPr/>
          <p:nvPr/>
        </p:nvSpPr>
        <p:spPr>
          <a:xfrm>
            <a:off x="164592" y="4818888"/>
            <a:ext cx="8979408" cy="324612"/>
          </a:xfrm>
          <a:prstGeom prst="rect">
            <a:avLst/>
          </a:prstGeom>
          <a:solidFill>
            <a:srgbClr val="F0A800"/>
          </a:solidFill>
          <a:ln w="12700">
            <a:solidFill>
              <a:srgbClr val="F0A800"/>
            </a:solidFill>
            <a:prstDash val="solid"/>
          </a:ln>
        </p:spPr>
      </p:sp>
      <p:sp>
        <p:nvSpPr>
          <p:cNvPr id="12" name="Text 10"/>
          <p:cNvSpPr/>
          <p:nvPr/>
        </p:nvSpPr>
        <p:spPr>
          <a:xfrm>
            <a:off x="457200" y="4818888"/>
            <a:ext cx="8229600" cy="324612"/>
          </a:xfrm>
          <a:prstGeom prst="rect">
            <a:avLst/>
          </a:prstGeom>
          <a:noFill/>
          <a:ln/>
        </p:spPr>
        <p:txBody>
          <a:bodyPr wrap="square" lIns="0" tIns="0" rIns="0" bIns="0" rtlCol="0" anchor="ctr"/>
          <a:lstStyle/>
          <a:p>
            <a:pPr algn="ctr" indent="0" marL="0">
              <a:buNone/>
            </a:pPr>
            <a:r>
              <a:rPr lang="en-US" sz="800" b="1" dirty="0">
                <a:solidFill>
                  <a:srgbClr val="101C4F"/>
                </a:solidFill>
              </a:rPr>
              <a:t>IMARTICUS LEARNING  ·  CIBOP  ·  MODULE 1</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3657600" cy="658368"/>
          </a:xfrm>
          <a:prstGeom prst="rect">
            <a:avLst/>
          </a:prstGeom>
          <a:noFill/>
          <a:ln/>
        </p:spPr>
        <p:txBody>
          <a:bodyPr wrap="square" lIns="0" tIns="0" rIns="0" bIns="0" rtlCol="0" anchor="ctr"/>
          <a:lstStyle/>
          <a:p>
            <a:pPr indent="0" marL="0">
              <a:buNone/>
            </a:pPr>
            <a:r>
              <a:rPr lang="en-US" sz="1000" b="1" spc="200" kern="0" dirty="0">
                <a:solidFill>
                  <a:srgbClr val="007A87"/>
                </a:solidFill>
              </a:rPr>
              <a:t>⟵  QUICK RECAP</a:t>
            </a:r>
            <a:endParaRPr lang="en-US" sz="1000" dirty="0"/>
          </a:p>
        </p:txBody>
      </p:sp>
      <p:sp>
        <p:nvSpPr>
          <p:cNvPr id="4" name="Text 2"/>
          <p:cNvSpPr/>
          <p:nvPr/>
        </p:nvSpPr>
        <p:spPr>
          <a:xfrm>
            <a:off x="4114800" y="0"/>
            <a:ext cx="4663440" cy="658368"/>
          </a:xfrm>
          <a:prstGeom prst="rect">
            <a:avLst/>
          </a:prstGeom>
          <a:noFill/>
          <a:ln/>
        </p:spPr>
        <p:txBody>
          <a:bodyPr wrap="square" lIns="0" tIns="0" rIns="0" bIns="0" rtlCol="0" anchor="ctr"/>
          <a:lstStyle/>
          <a:p>
            <a:pPr algn="r" indent="0" marL="0">
              <a:buNone/>
            </a:pPr>
            <a:r>
              <a:rPr lang="en-US" sz="900" dirty="0">
                <a:solidFill>
                  <a:srgbClr val="A0B4D0"/>
                </a:solidFill>
              </a:rPr>
              <a:t>D1.1 — What is a Financial System?</a:t>
            </a:r>
            <a:endParaRPr lang="en-US" sz="900" dirty="0"/>
          </a:p>
        </p:txBody>
      </p:sp>
      <p:sp>
        <p:nvSpPr>
          <p:cNvPr id="5" name="Text 3"/>
          <p:cNvSpPr/>
          <p:nvPr/>
        </p:nvSpPr>
        <p:spPr>
          <a:xfrm>
            <a:off x="457200" y="822960"/>
            <a:ext cx="8229600" cy="457200"/>
          </a:xfrm>
          <a:prstGeom prst="rect">
            <a:avLst/>
          </a:prstGeom>
          <a:noFill/>
          <a:ln/>
        </p:spPr>
        <p:txBody>
          <a:bodyPr wrap="square" lIns="0" tIns="0" rIns="0" bIns="0" rtlCol="0" anchor="ctr"/>
          <a:lstStyle/>
          <a:p>
            <a:pPr algn="l" indent="0" marL="0">
              <a:buNone/>
            </a:pPr>
            <a:r>
              <a:rPr lang="en-US" sz="1400" b="1" dirty="0">
                <a:solidFill>
                  <a:srgbClr val="1A2340"/>
                </a:solidFill>
              </a:rPr>
              <a:t>Before we begin — let's make sure the foundation is solid.</a:t>
            </a:r>
            <a:endParaRPr lang="en-US" sz="1400" dirty="0"/>
          </a:p>
        </p:txBody>
      </p:sp>
      <p:sp>
        <p:nvSpPr>
          <p:cNvPr id="6" name="Shape 4"/>
          <p:cNvSpPr/>
          <p:nvPr/>
        </p:nvSpPr>
        <p:spPr>
          <a:xfrm>
            <a:off x="45720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457200" y="1463040"/>
            <a:ext cx="2468880" cy="64008"/>
          </a:xfrm>
          <a:prstGeom prst="rect">
            <a:avLst/>
          </a:prstGeom>
          <a:solidFill>
            <a:srgbClr val="007A87"/>
          </a:solidFill>
          <a:ln w="12700">
            <a:solidFill>
              <a:srgbClr val="007A87"/>
            </a:solidFill>
            <a:prstDash val="solid"/>
          </a:ln>
        </p:spPr>
      </p:sp>
      <p:sp>
        <p:nvSpPr>
          <p:cNvPr id="8" name="Text 6"/>
          <p:cNvSpPr/>
          <p:nvPr/>
        </p:nvSpPr>
        <p:spPr>
          <a:xfrm>
            <a:off x="56692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9" name="Text 7"/>
          <p:cNvSpPr/>
          <p:nvPr/>
        </p:nvSpPr>
        <p:spPr>
          <a:xfrm>
            <a:off x="56692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Three Pillars</a:t>
            </a:r>
            <a:endParaRPr lang="en-US" sz="1050" dirty="0"/>
          </a:p>
        </p:txBody>
      </p:sp>
      <p:sp>
        <p:nvSpPr>
          <p:cNvPr id="10" name="Text 8"/>
          <p:cNvSpPr/>
          <p:nvPr/>
        </p:nvSpPr>
        <p:spPr>
          <a:xfrm>
            <a:off x="56692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Financial Markets (where), Financial Institutions (who), Financial Instruments (what).</a:t>
            </a:r>
            <a:endParaRPr lang="en-US" sz="850" dirty="0"/>
          </a:p>
        </p:txBody>
      </p:sp>
      <p:sp>
        <p:nvSpPr>
          <p:cNvPr id="11" name="Shape 9"/>
          <p:cNvSpPr/>
          <p:nvPr/>
        </p:nvSpPr>
        <p:spPr>
          <a:xfrm>
            <a:off x="310896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3108960" y="1463040"/>
            <a:ext cx="2468880" cy="64008"/>
          </a:xfrm>
          <a:prstGeom prst="rect">
            <a:avLst/>
          </a:prstGeom>
          <a:solidFill>
            <a:srgbClr val="007A87"/>
          </a:solidFill>
          <a:ln w="12700">
            <a:solidFill>
              <a:srgbClr val="007A87"/>
            </a:solidFill>
            <a:prstDash val="solid"/>
          </a:ln>
        </p:spPr>
      </p:sp>
      <p:sp>
        <p:nvSpPr>
          <p:cNvPr id="13" name="Text 11"/>
          <p:cNvSpPr/>
          <p:nvPr/>
        </p:nvSpPr>
        <p:spPr>
          <a:xfrm>
            <a:off x="321868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4" name="Text 12"/>
          <p:cNvSpPr/>
          <p:nvPr/>
        </p:nvSpPr>
        <p:spPr>
          <a:xfrm>
            <a:off x="321868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India's Regulators</a:t>
            </a:r>
            <a:endParaRPr lang="en-US" sz="1050" dirty="0"/>
          </a:p>
        </p:txBody>
      </p:sp>
      <p:sp>
        <p:nvSpPr>
          <p:cNvPr id="15" name="Text 13"/>
          <p:cNvSpPr/>
          <p:nvPr/>
        </p:nvSpPr>
        <p:spPr>
          <a:xfrm>
            <a:off x="321868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RBI (banking), SEBI (securities), IRDAI (insurance), PFRDA (pensions) — each domain has a dedicated regulator.</a:t>
            </a:r>
            <a:endParaRPr lang="en-US" sz="850" dirty="0"/>
          </a:p>
        </p:txBody>
      </p:sp>
      <p:sp>
        <p:nvSpPr>
          <p:cNvPr id="16" name="Shape 14"/>
          <p:cNvSpPr/>
          <p:nvPr/>
        </p:nvSpPr>
        <p:spPr>
          <a:xfrm>
            <a:off x="576072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5760720" y="1463040"/>
            <a:ext cx="2468880" cy="64008"/>
          </a:xfrm>
          <a:prstGeom prst="rect">
            <a:avLst/>
          </a:prstGeom>
          <a:solidFill>
            <a:srgbClr val="007A87"/>
          </a:solidFill>
          <a:ln w="12700">
            <a:solidFill>
              <a:srgbClr val="007A87"/>
            </a:solidFill>
            <a:prstDash val="solid"/>
          </a:ln>
        </p:spPr>
      </p:sp>
      <p:sp>
        <p:nvSpPr>
          <p:cNvPr id="18" name="Text 16"/>
          <p:cNvSpPr/>
          <p:nvPr/>
        </p:nvSpPr>
        <p:spPr>
          <a:xfrm>
            <a:off x="587044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9" name="Text 17"/>
          <p:cNvSpPr/>
          <p:nvPr/>
        </p:nvSpPr>
        <p:spPr>
          <a:xfrm>
            <a:off x="587044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Instruments</a:t>
            </a:r>
            <a:endParaRPr lang="en-US" sz="1050" dirty="0"/>
          </a:p>
        </p:txBody>
      </p:sp>
      <p:sp>
        <p:nvSpPr>
          <p:cNvPr id="20" name="Text 18"/>
          <p:cNvSpPr/>
          <p:nvPr/>
        </p:nvSpPr>
        <p:spPr>
          <a:xfrm>
            <a:off x="587044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Equity, bonds, derivatives, and mutual fund units — each serves a specific funding or risk management purpose.</a:t>
            </a:r>
            <a:endParaRPr lang="en-US" sz="850" dirty="0"/>
          </a:p>
        </p:txBody>
      </p:sp>
      <p:sp>
        <p:nvSpPr>
          <p:cNvPr id="21" name="Shape 19"/>
          <p:cNvSpPr/>
          <p:nvPr/>
        </p:nvSpPr>
        <p:spPr>
          <a:xfrm>
            <a:off x="0" y="4818888"/>
            <a:ext cx="2011680" cy="324612"/>
          </a:xfrm>
          <a:prstGeom prst="rect">
            <a:avLst/>
          </a:prstGeom>
          <a:solidFill>
            <a:srgbClr val="101C4F"/>
          </a:solidFill>
          <a:ln w="12700">
            <a:solidFill>
              <a:srgbClr val="101C4F"/>
            </a:solidFill>
            <a:prstDash val="solid"/>
          </a:ln>
        </p:spPr>
      </p:sp>
      <p:sp>
        <p:nvSpPr>
          <p:cNvPr id="22" name="Text 2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D1.2</a:t>
            </a:r>
            <a:endParaRPr lang="en-US" sz="800" dirty="0"/>
          </a:p>
        </p:txBody>
      </p:sp>
      <p:sp>
        <p:nvSpPr>
          <p:cNvPr id="23" name="Text 2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SCENARIO</a:t>
            </a:r>
            <a:endParaRPr lang="en-US" sz="1000" dirty="0"/>
          </a:p>
        </p:txBody>
      </p:sp>
      <p:sp>
        <p:nvSpPr>
          <p:cNvPr id="4" name="Shape 2"/>
          <p:cNvSpPr/>
          <p:nvPr/>
        </p:nvSpPr>
        <p:spPr>
          <a:xfrm>
            <a:off x="365760" y="822960"/>
            <a:ext cx="8412480" cy="2011680"/>
          </a:xfrm>
          <a:prstGeom prst="rect">
            <a:avLst/>
          </a:prstGeom>
          <a:solidFill>
            <a:srgbClr val="FDF6E3"/>
          </a:solidFill>
          <a:ln w="12700">
            <a:solidFill>
              <a:srgbClr val="F0A800"/>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365760" y="822960"/>
            <a:ext cx="91440" cy="2011680"/>
          </a:xfrm>
          <a:prstGeom prst="rect">
            <a:avLst/>
          </a:prstGeom>
          <a:solidFill>
            <a:srgbClr val="F0A800"/>
          </a:solidFill>
          <a:ln w="12700">
            <a:solidFill>
              <a:srgbClr val="F0A800"/>
            </a:solidFill>
            <a:prstDash val="solid"/>
          </a:ln>
        </p:spPr>
      </p:sp>
      <p:sp>
        <p:nvSpPr>
          <p:cNvPr id="6" name="Text 4"/>
          <p:cNvSpPr/>
          <p:nvPr/>
        </p:nvSpPr>
        <p:spPr>
          <a:xfrm>
            <a:off x="594360" y="914400"/>
            <a:ext cx="8046720" cy="365760"/>
          </a:xfrm>
          <a:prstGeom prst="rect">
            <a:avLst/>
          </a:prstGeom>
          <a:noFill/>
          <a:ln/>
        </p:spPr>
        <p:txBody>
          <a:bodyPr wrap="square" lIns="0" tIns="0" rIns="0" bIns="0" rtlCol="0" anchor="ctr"/>
          <a:lstStyle/>
          <a:p>
            <a:pPr algn="l" indent="0" marL="0">
              <a:buNone/>
            </a:pPr>
            <a:r>
              <a:rPr lang="en-US" sz="1200" b="1" dirty="0">
                <a:solidFill>
                  <a:srgbClr val="1A2340"/>
                </a:solidFill>
              </a:rPr>
              <a:t>Kavi opens Zerodha and sees: equity, bonds, ETFs, futures.</a:t>
            </a:r>
            <a:endParaRPr lang="en-US" sz="1200" dirty="0"/>
          </a:p>
        </p:txBody>
      </p:sp>
      <p:sp>
        <p:nvSpPr>
          <p:cNvPr id="7" name="Text 5"/>
          <p:cNvSpPr/>
          <p:nvPr/>
        </p:nvSpPr>
        <p:spPr>
          <a:xfrm>
            <a:off x="594360" y="1325880"/>
            <a:ext cx="8046720" cy="1371600"/>
          </a:xfrm>
          <a:prstGeom prst="rect">
            <a:avLst/>
          </a:prstGeom>
          <a:noFill/>
          <a:ln/>
        </p:spPr>
        <p:txBody>
          <a:bodyPr wrap="square" lIns="0" tIns="0" rIns="0" bIns="0" rtlCol="0" anchor="ctr"/>
          <a:lstStyle/>
          <a:p>
            <a:pPr algn="l" indent="0" marL="0">
              <a:buNone/>
            </a:pPr>
            <a:r>
              <a:rPr lang="en-US" sz="1050" dirty="0">
                <a:solidFill>
                  <a:srgbClr val="1A2340"/>
                </a:solidFill>
              </a:rPr>
              <a:t>Kavi is overwhelmed. Zerodha shows him equity shares, government bonds, corporate debentures, ETFs, and futures contracts — all tradeable. His bank offers FDs and mutual funds. His insurance agent sells life policies. His EPF invests in bonds. All are 'financial products' — but from completely different parts of the financial system, regulated by different bodies.</a:t>
            </a:r>
            <a:endParaRPr lang="en-US" sz="1050" dirty="0"/>
          </a:p>
        </p:txBody>
      </p:sp>
      <p:sp>
        <p:nvSpPr>
          <p:cNvPr id="8" name="Shape 6"/>
          <p:cNvSpPr/>
          <p:nvPr/>
        </p:nvSpPr>
        <p:spPr>
          <a:xfrm>
            <a:off x="365760" y="2971800"/>
            <a:ext cx="8412480" cy="1005840"/>
          </a:xfrm>
          <a:prstGeom prst="rect">
            <a:avLst/>
          </a:prstGeom>
          <a:solidFill>
            <a:srgbClr val="F2F4F8"/>
          </a:solidFill>
          <a:ln w="12700">
            <a:solidFill>
              <a:srgbClr val="E0E4EE"/>
            </a:solidFill>
            <a:prstDash val="solid"/>
          </a:ln>
        </p:spPr>
      </p:sp>
      <p:sp>
        <p:nvSpPr>
          <p:cNvPr id="9" name="Text 7"/>
          <p:cNvSpPr/>
          <p:nvPr/>
        </p:nvSpPr>
        <p:spPr>
          <a:xfrm>
            <a:off x="548640" y="3035808"/>
            <a:ext cx="1828800" cy="320040"/>
          </a:xfrm>
          <a:prstGeom prst="rect">
            <a:avLst/>
          </a:prstGeom>
          <a:noFill/>
          <a:ln/>
        </p:spPr>
        <p:txBody>
          <a:bodyPr wrap="square" lIns="0" tIns="0" rIns="0" bIns="0" rtlCol="0" anchor="ctr"/>
          <a:lstStyle/>
          <a:p>
            <a:pPr indent="0" marL="0">
              <a:buNone/>
            </a:pPr>
            <a:r>
              <a:rPr lang="en-US" sz="1000" b="1" dirty="0">
                <a:solidFill>
                  <a:srgbClr val="007A87"/>
                </a:solidFill>
              </a:rPr>
              <a:t>🤔  Think about it:</a:t>
            </a:r>
            <a:endParaRPr lang="en-US" sz="1000" dirty="0"/>
          </a:p>
        </p:txBody>
      </p:sp>
      <p:sp>
        <p:nvSpPr>
          <p:cNvPr id="10" name="Text 8"/>
          <p:cNvSpPr/>
          <p:nvPr/>
        </p:nvSpPr>
        <p:spPr>
          <a:xfrm>
            <a:off x="548640" y="3355848"/>
            <a:ext cx="7863840" cy="530352"/>
          </a:xfrm>
          <a:prstGeom prst="rect">
            <a:avLst/>
          </a:prstGeom>
          <a:noFill/>
          <a:ln/>
        </p:spPr>
        <p:txBody>
          <a:bodyPr wrap="square" lIns="0" tIns="0" rIns="0" bIns="0" rtlCol="0" anchor="ctr"/>
          <a:lstStyle/>
          <a:p>
            <a:pPr indent="0" marL="0">
              <a:buNone/>
            </a:pPr>
            <a:r>
              <a:rPr lang="en-US" sz="1050" i="1" dirty="0">
                <a:solidFill>
                  <a:srgbClr val="1A2340"/>
                </a:solidFill>
              </a:rPr>
              <a:t>If Kavi buys Reliance shares on NSE, Kavi buys SBI FD, and Kavi buys a LIC policy — which regulator governs each transaction?</a:t>
            </a:r>
            <a:endParaRPr lang="en-US" sz="1050" dirty="0"/>
          </a:p>
        </p:txBody>
      </p:sp>
      <p:sp>
        <p:nvSpPr>
          <p:cNvPr id="11" name="Shape 9"/>
          <p:cNvSpPr/>
          <p:nvPr/>
        </p:nvSpPr>
        <p:spPr>
          <a:xfrm>
            <a:off x="0" y="4818888"/>
            <a:ext cx="2011680" cy="324612"/>
          </a:xfrm>
          <a:prstGeom prst="rect">
            <a:avLst/>
          </a:prstGeom>
          <a:solidFill>
            <a:srgbClr val="101C4F"/>
          </a:solidFill>
          <a:ln w="12700">
            <a:solidFill>
              <a:srgbClr val="101C4F"/>
            </a:solidFill>
            <a:prstDash val="solid"/>
          </a:ln>
        </p:spPr>
      </p:sp>
      <p:sp>
        <p:nvSpPr>
          <p:cNvPr id="12" name="Text 1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D1.2</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KEY CONCEPT</a:t>
            </a:r>
            <a:endParaRPr lang="en-US" sz="1000" dirty="0"/>
          </a:p>
        </p:txBody>
      </p:sp>
      <p:sp>
        <p:nvSpPr>
          <p:cNvPr id="4" name="Text 2"/>
          <p:cNvSpPr/>
          <p:nvPr/>
        </p:nvSpPr>
        <p:spPr>
          <a:xfrm>
            <a:off x="365760" y="777240"/>
            <a:ext cx="8412480" cy="548640"/>
          </a:xfrm>
          <a:prstGeom prst="rect">
            <a:avLst/>
          </a:prstGeom>
          <a:noFill/>
          <a:ln/>
        </p:spPr>
        <p:txBody>
          <a:bodyPr wrap="square" lIns="0" tIns="0" rIns="0" bIns="0" rtlCol="0" anchor="ctr"/>
          <a:lstStyle/>
          <a:p>
            <a:pPr algn="l" indent="0" marL="0">
              <a:buNone/>
            </a:pPr>
            <a:r>
              <a:rPr lang="en-US" sz="2200" b="1" dirty="0">
                <a:solidFill>
                  <a:srgbClr val="101C4F"/>
                </a:solidFill>
              </a:rPr>
              <a:t>Three Pillars of the Financial System</a:t>
            </a:r>
            <a:endParaRPr lang="en-US" sz="2200" dirty="0"/>
          </a:p>
        </p:txBody>
      </p:sp>
      <p:sp>
        <p:nvSpPr>
          <p:cNvPr id="5" name="Shape 3"/>
          <p:cNvSpPr/>
          <p:nvPr/>
        </p:nvSpPr>
        <p:spPr>
          <a:xfrm>
            <a:off x="365760" y="1389888"/>
            <a:ext cx="8412480" cy="777240"/>
          </a:xfrm>
          <a:prstGeom prst="rect">
            <a:avLst/>
          </a:prstGeom>
          <a:solidFill>
            <a:srgbClr val="F2F4F8"/>
          </a:solidFill>
          <a:ln w="12700">
            <a:solidFill>
              <a:srgbClr val="E0E4EE"/>
            </a:solidFill>
            <a:prstDash val="solid"/>
          </a:ln>
        </p:spPr>
      </p:sp>
      <p:sp>
        <p:nvSpPr>
          <p:cNvPr id="6" name="Shape 4"/>
          <p:cNvSpPr/>
          <p:nvPr/>
        </p:nvSpPr>
        <p:spPr>
          <a:xfrm>
            <a:off x="365760" y="1389888"/>
            <a:ext cx="91440" cy="777240"/>
          </a:xfrm>
          <a:prstGeom prst="rect">
            <a:avLst/>
          </a:prstGeom>
          <a:solidFill>
            <a:srgbClr val="007A87"/>
          </a:solidFill>
          <a:ln w="12700">
            <a:solidFill>
              <a:srgbClr val="007A87"/>
            </a:solidFill>
            <a:prstDash val="solid"/>
          </a:ln>
        </p:spPr>
      </p:sp>
      <p:sp>
        <p:nvSpPr>
          <p:cNvPr id="7" name="Text 5"/>
          <p:cNvSpPr/>
          <p:nvPr/>
        </p:nvSpPr>
        <p:spPr>
          <a:xfrm>
            <a:off x="594360" y="1444752"/>
            <a:ext cx="8046720" cy="667512"/>
          </a:xfrm>
          <a:prstGeom prst="rect">
            <a:avLst/>
          </a:prstGeom>
          <a:noFill/>
          <a:ln/>
        </p:spPr>
        <p:txBody>
          <a:bodyPr wrap="square" lIns="0" tIns="0" rIns="0" bIns="0" rtlCol="0" anchor="ctr"/>
          <a:lstStyle/>
          <a:p>
            <a:pPr indent="0" marL="0">
              <a:buNone/>
            </a:pPr>
            <a:r>
              <a:rPr lang="en-US" sz="1050" i="1" dirty="0">
                <a:solidFill>
                  <a:srgbClr val="1A2340"/>
                </a:solidFill>
              </a:rPr>
              <a:t>Every financial system — whether India's or any other — rests on three structural pillars: markets (the venues), institutions (the players), and instruments (the tools). Each is essential; none works without the others.</a:t>
            </a:r>
            <a:endParaRPr lang="en-US" sz="1050" dirty="0"/>
          </a:p>
        </p:txBody>
      </p:sp>
      <p:sp>
        <p:nvSpPr>
          <p:cNvPr id="8" name="Shape 6"/>
          <p:cNvSpPr/>
          <p:nvPr/>
        </p:nvSpPr>
        <p:spPr>
          <a:xfrm>
            <a:off x="365760" y="2331720"/>
            <a:ext cx="271272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365760" y="2331720"/>
            <a:ext cx="2712720" cy="64008"/>
          </a:xfrm>
          <a:prstGeom prst="rect">
            <a:avLst/>
          </a:prstGeom>
          <a:solidFill>
            <a:srgbClr val="101C4F"/>
          </a:solidFill>
          <a:ln w="12700">
            <a:solidFill>
              <a:srgbClr val="101C4F"/>
            </a:solidFill>
            <a:prstDash val="solid"/>
          </a:ln>
        </p:spPr>
      </p:sp>
      <p:sp>
        <p:nvSpPr>
          <p:cNvPr id="10" name="Text 8"/>
          <p:cNvSpPr/>
          <p:nvPr/>
        </p:nvSpPr>
        <p:spPr>
          <a:xfrm>
            <a:off x="45720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01</a:t>
            </a:r>
            <a:endParaRPr lang="en-US" sz="1800" dirty="0"/>
          </a:p>
        </p:txBody>
      </p:sp>
      <p:sp>
        <p:nvSpPr>
          <p:cNvPr id="11" name="Text 9"/>
          <p:cNvSpPr/>
          <p:nvPr/>
        </p:nvSpPr>
        <p:spPr>
          <a:xfrm>
            <a:off x="457200" y="2834640"/>
            <a:ext cx="2529840" cy="347472"/>
          </a:xfrm>
          <a:prstGeom prst="rect">
            <a:avLst/>
          </a:prstGeom>
          <a:noFill/>
          <a:ln/>
        </p:spPr>
        <p:txBody>
          <a:bodyPr wrap="square" lIns="0" tIns="0" rIns="0" bIns="0" rtlCol="0" anchor="ctr"/>
          <a:lstStyle/>
          <a:p>
            <a:pPr indent="0" marL="0">
              <a:buNone/>
            </a:pPr>
            <a:r>
              <a:rPr lang="en-US" sz="1000" b="1" dirty="0">
                <a:solidFill>
                  <a:srgbClr val="101C4F"/>
                </a:solidFill>
              </a:rPr>
              <a:t>Financial Markets</a:t>
            </a:r>
            <a:endParaRPr lang="en-US" sz="1000" dirty="0"/>
          </a:p>
        </p:txBody>
      </p:sp>
      <p:sp>
        <p:nvSpPr>
          <p:cNvPr id="12" name="Text 10"/>
          <p:cNvSpPr/>
          <p:nvPr/>
        </p:nvSpPr>
        <p:spPr>
          <a:xfrm>
            <a:off x="457200" y="3182112"/>
            <a:ext cx="2529840" cy="731520"/>
          </a:xfrm>
          <a:prstGeom prst="rect">
            <a:avLst/>
          </a:prstGeom>
          <a:noFill/>
          <a:ln/>
        </p:spPr>
        <p:txBody>
          <a:bodyPr wrap="square" lIns="0" tIns="0" rIns="0" bIns="0" rtlCol="0" anchor="ctr"/>
          <a:lstStyle/>
          <a:p>
            <a:pPr indent="0" marL="0">
              <a:buNone/>
            </a:pPr>
            <a:r>
              <a:rPr lang="en-US" sz="850" dirty="0">
                <a:solidFill>
                  <a:srgbClr val="4A5568"/>
                </a:solidFill>
              </a:rPr>
              <a:t>Venues where buyers and sellers trade financial assets — NSE, BSE, forex market, money market.</a:t>
            </a:r>
            <a:endParaRPr lang="en-US" sz="850" dirty="0"/>
          </a:p>
        </p:txBody>
      </p:sp>
      <p:sp>
        <p:nvSpPr>
          <p:cNvPr id="13" name="Shape 11"/>
          <p:cNvSpPr/>
          <p:nvPr/>
        </p:nvSpPr>
        <p:spPr>
          <a:xfrm>
            <a:off x="3215640" y="2331720"/>
            <a:ext cx="271272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3215640" y="2331720"/>
            <a:ext cx="2712720" cy="64008"/>
          </a:xfrm>
          <a:prstGeom prst="rect">
            <a:avLst/>
          </a:prstGeom>
          <a:solidFill>
            <a:srgbClr val="101C4F"/>
          </a:solidFill>
          <a:ln w="12700">
            <a:solidFill>
              <a:srgbClr val="101C4F"/>
            </a:solidFill>
            <a:prstDash val="solid"/>
          </a:ln>
        </p:spPr>
      </p:sp>
      <p:sp>
        <p:nvSpPr>
          <p:cNvPr id="15" name="Text 13"/>
          <p:cNvSpPr/>
          <p:nvPr/>
        </p:nvSpPr>
        <p:spPr>
          <a:xfrm>
            <a:off x="330708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02</a:t>
            </a:r>
            <a:endParaRPr lang="en-US" sz="1800" dirty="0"/>
          </a:p>
        </p:txBody>
      </p:sp>
      <p:sp>
        <p:nvSpPr>
          <p:cNvPr id="16" name="Text 14"/>
          <p:cNvSpPr/>
          <p:nvPr/>
        </p:nvSpPr>
        <p:spPr>
          <a:xfrm>
            <a:off x="3307080" y="2834640"/>
            <a:ext cx="2529840" cy="347472"/>
          </a:xfrm>
          <a:prstGeom prst="rect">
            <a:avLst/>
          </a:prstGeom>
          <a:noFill/>
          <a:ln/>
        </p:spPr>
        <p:txBody>
          <a:bodyPr wrap="square" lIns="0" tIns="0" rIns="0" bIns="0" rtlCol="0" anchor="ctr"/>
          <a:lstStyle/>
          <a:p>
            <a:pPr indent="0" marL="0">
              <a:buNone/>
            </a:pPr>
            <a:r>
              <a:rPr lang="en-US" sz="1000" b="1" dirty="0">
                <a:solidFill>
                  <a:srgbClr val="101C4F"/>
                </a:solidFill>
              </a:rPr>
              <a:t>Financial Institutions</a:t>
            </a:r>
            <a:endParaRPr lang="en-US" sz="1000" dirty="0"/>
          </a:p>
        </p:txBody>
      </p:sp>
      <p:sp>
        <p:nvSpPr>
          <p:cNvPr id="17" name="Text 15"/>
          <p:cNvSpPr/>
          <p:nvPr/>
        </p:nvSpPr>
        <p:spPr>
          <a:xfrm>
            <a:off x="3307080" y="3182112"/>
            <a:ext cx="2529840" cy="731520"/>
          </a:xfrm>
          <a:prstGeom prst="rect">
            <a:avLst/>
          </a:prstGeom>
          <a:noFill/>
          <a:ln/>
        </p:spPr>
        <p:txBody>
          <a:bodyPr wrap="square" lIns="0" tIns="0" rIns="0" bIns="0" rtlCol="0" anchor="ctr"/>
          <a:lstStyle/>
          <a:p>
            <a:pPr indent="0" marL="0">
              <a:buNone/>
            </a:pPr>
            <a:r>
              <a:rPr lang="en-US" sz="850" dirty="0">
                <a:solidFill>
                  <a:srgbClr val="4A5568"/>
                </a:solidFill>
              </a:rPr>
              <a:t>Entities that create, trade, or manage financial assets — banks, NBFCs, insurance companies, mutual funds, pension funds.</a:t>
            </a:r>
            <a:endParaRPr lang="en-US" sz="850" dirty="0"/>
          </a:p>
        </p:txBody>
      </p:sp>
      <p:sp>
        <p:nvSpPr>
          <p:cNvPr id="18" name="Shape 16"/>
          <p:cNvSpPr/>
          <p:nvPr/>
        </p:nvSpPr>
        <p:spPr>
          <a:xfrm>
            <a:off x="6065520" y="2331720"/>
            <a:ext cx="271272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6065520" y="2331720"/>
            <a:ext cx="2712720" cy="64008"/>
          </a:xfrm>
          <a:prstGeom prst="rect">
            <a:avLst/>
          </a:prstGeom>
          <a:solidFill>
            <a:srgbClr val="101C4F"/>
          </a:solidFill>
          <a:ln w="12700">
            <a:solidFill>
              <a:srgbClr val="101C4F"/>
            </a:solidFill>
            <a:prstDash val="solid"/>
          </a:ln>
        </p:spPr>
      </p:sp>
      <p:sp>
        <p:nvSpPr>
          <p:cNvPr id="20" name="Text 18"/>
          <p:cNvSpPr/>
          <p:nvPr/>
        </p:nvSpPr>
        <p:spPr>
          <a:xfrm>
            <a:off x="615696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03</a:t>
            </a:r>
            <a:endParaRPr lang="en-US" sz="1800" dirty="0"/>
          </a:p>
        </p:txBody>
      </p:sp>
      <p:sp>
        <p:nvSpPr>
          <p:cNvPr id="21" name="Text 19"/>
          <p:cNvSpPr/>
          <p:nvPr/>
        </p:nvSpPr>
        <p:spPr>
          <a:xfrm>
            <a:off x="6156960" y="2834640"/>
            <a:ext cx="2529840" cy="347472"/>
          </a:xfrm>
          <a:prstGeom prst="rect">
            <a:avLst/>
          </a:prstGeom>
          <a:noFill/>
          <a:ln/>
        </p:spPr>
        <p:txBody>
          <a:bodyPr wrap="square" lIns="0" tIns="0" rIns="0" bIns="0" rtlCol="0" anchor="ctr"/>
          <a:lstStyle/>
          <a:p>
            <a:pPr indent="0" marL="0">
              <a:buNone/>
            </a:pPr>
            <a:r>
              <a:rPr lang="en-US" sz="1000" b="1" dirty="0">
                <a:solidFill>
                  <a:srgbClr val="101C4F"/>
                </a:solidFill>
              </a:rPr>
              <a:t>Financial Instruments</a:t>
            </a:r>
            <a:endParaRPr lang="en-US" sz="1000" dirty="0"/>
          </a:p>
        </p:txBody>
      </p:sp>
      <p:sp>
        <p:nvSpPr>
          <p:cNvPr id="22" name="Text 20"/>
          <p:cNvSpPr/>
          <p:nvPr/>
        </p:nvSpPr>
        <p:spPr>
          <a:xfrm>
            <a:off x="6156960" y="3182112"/>
            <a:ext cx="2529840" cy="731520"/>
          </a:xfrm>
          <a:prstGeom prst="rect">
            <a:avLst/>
          </a:prstGeom>
          <a:noFill/>
          <a:ln/>
        </p:spPr>
        <p:txBody>
          <a:bodyPr wrap="square" lIns="0" tIns="0" rIns="0" bIns="0" rtlCol="0" anchor="ctr"/>
          <a:lstStyle/>
          <a:p>
            <a:pPr indent="0" marL="0">
              <a:buNone/>
            </a:pPr>
            <a:r>
              <a:rPr lang="en-US" sz="850" dirty="0">
                <a:solidFill>
                  <a:srgbClr val="4A5568"/>
                </a:solidFill>
              </a:rPr>
              <a:t>Contracts/securities representing claims — equity (ownership), debt (lending), derivatives (risk management).</a:t>
            </a:r>
            <a:endParaRPr lang="en-US" sz="850" dirty="0"/>
          </a:p>
        </p:txBody>
      </p:sp>
      <p:sp>
        <p:nvSpPr>
          <p:cNvPr id="23" name="Shape 21"/>
          <p:cNvSpPr/>
          <p:nvPr/>
        </p:nvSpPr>
        <p:spPr>
          <a:xfrm>
            <a:off x="0" y="4818888"/>
            <a:ext cx="2011680" cy="324612"/>
          </a:xfrm>
          <a:prstGeom prst="rect">
            <a:avLst/>
          </a:prstGeom>
          <a:solidFill>
            <a:srgbClr val="101C4F"/>
          </a:solidFill>
          <a:ln w="12700">
            <a:solidFill>
              <a:srgbClr val="101C4F"/>
            </a:solidFill>
            <a:prstDash val="solid"/>
          </a:ln>
        </p:spPr>
      </p:sp>
      <p:sp>
        <p:nvSpPr>
          <p:cNvPr id="24" name="Text 22"/>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D1.2</a:t>
            </a:r>
            <a:endParaRPr lang="en-US" sz="800" dirty="0"/>
          </a:p>
        </p:txBody>
      </p:sp>
      <p:sp>
        <p:nvSpPr>
          <p:cNvPr id="25" name="Text 23"/>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GOING DEEPER</a:t>
            </a:r>
            <a:endParaRPr lang="en-US" sz="1000" dirty="0"/>
          </a:p>
        </p:txBody>
      </p:sp>
      <p:sp>
        <p:nvSpPr>
          <p:cNvPr id="4" name="Text 2"/>
          <p:cNvSpPr/>
          <p:nvPr/>
        </p:nvSpPr>
        <p:spPr>
          <a:xfrm>
            <a:off x="365760" y="777240"/>
            <a:ext cx="8412480" cy="457200"/>
          </a:xfrm>
          <a:prstGeom prst="rect">
            <a:avLst/>
          </a:prstGeom>
          <a:noFill/>
          <a:ln/>
        </p:spPr>
        <p:txBody>
          <a:bodyPr wrap="square" lIns="0" tIns="0" rIns="0" bIns="0" rtlCol="0" anchor="ctr"/>
          <a:lstStyle/>
          <a:p>
            <a:pPr indent="0" marL="0">
              <a:buNone/>
            </a:pPr>
            <a:r>
              <a:rPr lang="en-US" sz="1800" b="1" dirty="0">
                <a:solidFill>
                  <a:srgbClr val="101C4F"/>
                </a:solidFill>
              </a:rPr>
              <a:t>India's Regulatory Architecture</a:t>
            </a:r>
            <a:endParaRPr lang="en-US" sz="1800" dirty="0"/>
          </a:p>
        </p:txBody>
      </p:sp>
      <p:sp>
        <p:nvSpPr>
          <p:cNvPr id="5" name="Shape 3"/>
          <p:cNvSpPr/>
          <p:nvPr/>
        </p:nvSpPr>
        <p:spPr>
          <a:xfrm>
            <a:off x="365760" y="1417320"/>
            <a:ext cx="4846320" cy="1005840"/>
          </a:xfrm>
          <a:prstGeom prst="rect">
            <a:avLst/>
          </a:prstGeom>
          <a:solidFill>
            <a:srgbClr val="F2F4F8"/>
          </a:solidFill>
          <a:ln w="12700">
            <a:solidFill>
              <a:srgbClr val="E0E4EE"/>
            </a:solidFill>
            <a:prstDash val="solid"/>
          </a:ln>
        </p:spPr>
      </p:sp>
      <p:sp>
        <p:nvSpPr>
          <p:cNvPr id="6" name="Shape 4"/>
          <p:cNvSpPr/>
          <p:nvPr/>
        </p:nvSpPr>
        <p:spPr>
          <a:xfrm>
            <a:off x="365760" y="1417320"/>
            <a:ext cx="73152" cy="1005840"/>
          </a:xfrm>
          <a:prstGeom prst="rect">
            <a:avLst/>
          </a:prstGeom>
          <a:solidFill>
            <a:srgbClr val="101C4F"/>
          </a:solidFill>
          <a:ln w="12700">
            <a:solidFill>
              <a:srgbClr val="101C4F"/>
            </a:solidFill>
            <a:prstDash val="solid"/>
          </a:ln>
        </p:spPr>
      </p:sp>
      <p:sp>
        <p:nvSpPr>
          <p:cNvPr id="7" name="Text 5"/>
          <p:cNvSpPr/>
          <p:nvPr/>
        </p:nvSpPr>
        <p:spPr>
          <a:xfrm>
            <a:off x="548640" y="1472184"/>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RBI — RESERVE BANK OF INDIA</a:t>
            </a:r>
            <a:endParaRPr lang="en-US" sz="1000" dirty="0"/>
          </a:p>
        </p:txBody>
      </p:sp>
      <p:sp>
        <p:nvSpPr>
          <p:cNvPr id="8" name="Text 6"/>
          <p:cNvSpPr/>
          <p:nvPr/>
        </p:nvSpPr>
        <p:spPr>
          <a:xfrm>
            <a:off x="548640" y="1764792"/>
            <a:ext cx="4480560" cy="566928"/>
          </a:xfrm>
          <a:prstGeom prst="rect">
            <a:avLst/>
          </a:prstGeom>
          <a:noFill/>
          <a:ln/>
        </p:spPr>
        <p:txBody>
          <a:bodyPr wrap="square" lIns="0" tIns="0" rIns="0" bIns="0" rtlCol="0" anchor="ctr"/>
          <a:lstStyle/>
          <a:p>
            <a:pPr indent="0" marL="0">
              <a:buNone/>
            </a:pPr>
            <a:r>
              <a:rPr lang="en-US" sz="900" dirty="0">
                <a:solidFill>
                  <a:srgbClr val="1A2340"/>
                </a:solidFill>
              </a:rPr>
              <a:t>Central bank. Controls monetary policy (repo rate), regulates commercial banks and NBFCs, manages forex reserves and currency.</a:t>
            </a:r>
            <a:endParaRPr lang="en-US" sz="900" dirty="0"/>
          </a:p>
        </p:txBody>
      </p:sp>
      <p:sp>
        <p:nvSpPr>
          <p:cNvPr id="9" name="Shape 7"/>
          <p:cNvSpPr/>
          <p:nvPr/>
        </p:nvSpPr>
        <p:spPr>
          <a:xfrm>
            <a:off x="365760" y="2532888"/>
            <a:ext cx="4846320" cy="1005840"/>
          </a:xfrm>
          <a:prstGeom prst="rect">
            <a:avLst/>
          </a:prstGeom>
          <a:solidFill>
            <a:srgbClr val="F2F4F8"/>
          </a:solidFill>
          <a:ln w="12700">
            <a:solidFill>
              <a:srgbClr val="E0E4EE"/>
            </a:solidFill>
            <a:prstDash val="solid"/>
          </a:ln>
        </p:spPr>
      </p:sp>
      <p:sp>
        <p:nvSpPr>
          <p:cNvPr id="10" name="Shape 8"/>
          <p:cNvSpPr/>
          <p:nvPr/>
        </p:nvSpPr>
        <p:spPr>
          <a:xfrm>
            <a:off x="365760" y="2532888"/>
            <a:ext cx="73152" cy="1005840"/>
          </a:xfrm>
          <a:prstGeom prst="rect">
            <a:avLst/>
          </a:prstGeom>
          <a:solidFill>
            <a:srgbClr val="101C4F"/>
          </a:solidFill>
          <a:ln w="12700">
            <a:solidFill>
              <a:srgbClr val="101C4F"/>
            </a:solidFill>
            <a:prstDash val="solid"/>
          </a:ln>
        </p:spPr>
      </p:sp>
      <p:sp>
        <p:nvSpPr>
          <p:cNvPr id="11" name="Text 9"/>
          <p:cNvSpPr/>
          <p:nvPr/>
        </p:nvSpPr>
        <p:spPr>
          <a:xfrm>
            <a:off x="548640" y="2587752"/>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SEBI — SECURITIES &amp; EXCHANGE BOARD</a:t>
            </a:r>
            <a:endParaRPr lang="en-US" sz="1000" dirty="0"/>
          </a:p>
        </p:txBody>
      </p:sp>
      <p:sp>
        <p:nvSpPr>
          <p:cNvPr id="12" name="Text 10"/>
          <p:cNvSpPr/>
          <p:nvPr/>
        </p:nvSpPr>
        <p:spPr>
          <a:xfrm>
            <a:off x="548640" y="2880360"/>
            <a:ext cx="4480560" cy="566928"/>
          </a:xfrm>
          <a:prstGeom prst="rect">
            <a:avLst/>
          </a:prstGeom>
          <a:noFill/>
          <a:ln/>
        </p:spPr>
        <p:txBody>
          <a:bodyPr wrap="square" lIns="0" tIns="0" rIns="0" bIns="0" rtlCol="0" anchor="ctr"/>
          <a:lstStyle/>
          <a:p>
            <a:pPr indent="0" marL="0">
              <a:buNone/>
            </a:pPr>
            <a:r>
              <a:rPr lang="en-US" sz="900" dirty="0">
                <a:solidFill>
                  <a:srgbClr val="1A2340"/>
                </a:solidFill>
              </a:rPr>
              <a:t>Regulates capital markets: stock exchanges (NSE/BSE), mutual funds, IPOs, brokers, FIIs, and all listed securities.</a:t>
            </a:r>
            <a:endParaRPr lang="en-US" sz="900" dirty="0"/>
          </a:p>
        </p:txBody>
      </p:sp>
      <p:sp>
        <p:nvSpPr>
          <p:cNvPr id="13" name="Shape 11"/>
          <p:cNvSpPr/>
          <p:nvPr/>
        </p:nvSpPr>
        <p:spPr>
          <a:xfrm>
            <a:off x="365760" y="3648456"/>
            <a:ext cx="4846320" cy="1005840"/>
          </a:xfrm>
          <a:prstGeom prst="rect">
            <a:avLst/>
          </a:prstGeom>
          <a:solidFill>
            <a:srgbClr val="F2F4F8"/>
          </a:solidFill>
          <a:ln w="12700">
            <a:solidFill>
              <a:srgbClr val="E0E4EE"/>
            </a:solidFill>
            <a:prstDash val="solid"/>
          </a:ln>
        </p:spPr>
      </p:sp>
      <p:sp>
        <p:nvSpPr>
          <p:cNvPr id="14" name="Shape 12"/>
          <p:cNvSpPr/>
          <p:nvPr/>
        </p:nvSpPr>
        <p:spPr>
          <a:xfrm>
            <a:off x="365760" y="3648456"/>
            <a:ext cx="73152" cy="1005840"/>
          </a:xfrm>
          <a:prstGeom prst="rect">
            <a:avLst/>
          </a:prstGeom>
          <a:solidFill>
            <a:srgbClr val="101C4F"/>
          </a:solidFill>
          <a:ln w="12700">
            <a:solidFill>
              <a:srgbClr val="101C4F"/>
            </a:solidFill>
            <a:prstDash val="solid"/>
          </a:ln>
        </p:spPr>
      </p:sp>
      <p:sp>
        <p:nvSpPr>
          <p:cNvPr id="15" name="Text 13"/>
          <p:cNvSpPr/>
          <p:nvPr/>
        </p:nvSpPr>
        <p:spPr>
          <a:xfrm>
            <a:off x="548640" y="3703320"/>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IRDAI &amp; PFRDA</a:t>
            </a:r>
            <a:endParaRPr lang="en-US" sz="1000" dirty="0"/>
          </a:p>
        </p:txBody>
      </p:sp>
      <p:sp>
        <p:nvSpPr>
          <p:cNvPr id="16" name="Text 14"/>
          <p:cNvSpPr/>
          <p:nvPr/>
        </p:nvSpPr>
        <p:spPr>
          <a:xfrm>
            <a:off x="548640" y="3995928"/>
            <a:ext cx="4480560" cy="566928"/>
          </a:xfrm>
          <a:prstGeom prst="rect">
            <a:avLst/>
          </a:prstGeom>
          <a:noFill/>
          <a:ln/>
        </p:spPr>
        <p:txBody>
          <a:bodyPr wrap="square" lIns="0" tIns="0" rIns="0" bIns="0" rtlCol="0" anchor="ctr"/>
          <a:lstStyle/>
          <a:p>
            <a:pPr indent="0" marL="0">
              <a:buNone/>
            </a:pPr>
            <a:r>
              <a:rPr lang="en-US" sz="900" dirty="0">
                <a:solidFill>
                  <a:srgbClr val="1A2340"/>
                </a:solidFill>
              </a:rPr>
              <a:t>IRDAI regulates insurance sector (LIC, GIC). PFRDA regulates pension sector (NPS, EPF). Each pillar has dedicated oversight.</a:t>
            </a:r>
            <a:endParaRPr lang="en-US" sz="900" dirty="0"/>
          </a:p>
        </p:txBody>
      </p:sp>
      <p:sp>
        <p:nvSpPr>
          <p:cNvPr id="17" name="Shape 15"/>
          <p:cNvSpPr/>
          <p:nvPr/>
        </p:nvSpPr>
        <p:spPr>
          <a:xfrm>
            <a:off x="5394960" y="1417320"/>
            <a:ext cx="3383280" cy="2532888"/>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2000"/>
              </a:srgbClr>
            </a:outerShdw>
          </a:effectLst>
        </p:spPr>
      </p:sp>
      <p:sp>
        <p:nvSpPr>
          <p:cNvPr id="18" name="Text 16"/>
          <p:cNvSpPr/>
          <p:nvPr/>
        </p:nvSpPr>
        <p:spPr>
          <a:xfrm>
            <a:off x="5532120" y="1554480"/>
            <a:ext cx="3108960" cy="347472"/>
          </a:xfrm>
          <a:prstGeom prst="rect">
            <a:avLst/>
          </a:prstGeom>
          <a:noFill/>
          <a:ln/>
        </p:spPr>
        <p:txBody>
          <a:bodyPr wrap="square" lIns="0" tIns="0" rIns="0" bIns="0" rtlCol="0" anchor="ctr"/>
          <a:lstStyle/>
          <a:p>
            <a:pPr indent="0" marL="0">
              <a:buNone/>
            </a:pPr>
            <a:r>
              <a:rPr lang="en-US" sz="1000" b="1" spc="100" kern="0" dirty="0">
                <a:solidFill>
                  <a:srgbClr val="F0A800"/>
                </a:solidFill>
              </a:rPr>
              <a:t>QUICK REFERENCE</a:t>
            </a:r>
            <a:endParaRPr lang="en-US" sz="1000" dirty="0"/>
          </a:p>
        </p:txBody>
      </p:sp>
      <p:sp>
        <p:nvSpPr>
          <p:cNvPr id="19" name="Text 17"/>
          <p:cNvSpPr/>
          <p:nvPr/>
        </p:nvSpPr>
        <p:spPr>
          <a:xfrm>
            <a:off x="5532120" y="1938528"/>
            <a:ext cx="3108960" cy="1920240"/>
          </a:xfrm>
          <a:prstGeom prst="rect">
            <a:avLst/>
          </a:prstGeom>
          <a:noFill/>
          <a:ln/>
        </p:spPr>
        <p:txBody>
          <a:bodyPr wrap="square" lIns="0" tIns="0" rIns="0" bIns="0" rtlCol="0" anchor="ctr"/>
          <a:lstStyle/>
          <a:p>
            <a:pPr indent="0" marL="0">
              <a:buNone/>
            </a:pPr>
            <a:r>
              <a:rPr lang="en-US" sz="950" dirty="0">
                <a:solidFill>
                  <a:srgbClr val="FFFFFF"/>
                </a:solidFill>
              </a:rPr>
              <a:t>Reliance shares on NSE → SEBI</a:t>
            </a:r>
            <a:endParaRPr lang="en-US" sz="950" dirty="0"/>
          </a:p>
          <a:p>
            <a:pPr indent="0" marL="0">
              <a:buNone/>
            </a:pPr>
            <a:r>
              <a:rPr lang="en-US" sz="950" dirty="0">
                <a:solidFill>
                  <a:srgbClr val="FFFFFF"/>
                </a:solidFill>
              </a:rPr>
              <a:t>SBI Fixed Deposit → RBI</a:t>
            </a:r>
            <a:endParaRPr lang="en-US" sz="950" dirty="0"/>
          </a:p>
          <a:p>
            <a:pPr indent="0" marL="0">
              <a:buNone/>
            </a:pPr>
            <a:r>
              <a:rPr lang="en-US" sz="950" dirty="0">
                <a:solidFill>
                  <a:srgbClr val="FFFFFF"/>
                </a:solidFill>
              </a:rPr>
              <a:t>LIC Life Policy → IRDAI</a:t>
            </a:r>
            <a:endParaRPr lang="en-US" sz="950" dirty="0"/>
          </a:p>
          <a:p>
            <a:pPr indent="0" marL="0">
              <a:buNone/>
            </a:pPr>
            <a:r>
              <a:rPr lang="en-US" sz="950" dirty="0">
                <a:solidFill>
                  <a:srgbClr val="FFFFFF"/>
                </a:solidFill>
              </a:rPr>
              <a:t>NPS Pension Account → PFRDA</a:t>
            </a:r>
            <a:endParaRPr lang="en-US" sz="950" dirty="0"/>
          </a:p>
          <a:p>
            <a:pPr indent="0" marL="0">
              <a:buNone/>
            </a:pPr>
            <a:r>
              <a:rPr lang="en-US" sz="950" dirty="0">
                <a:solidFill>
                  <a:srgbClr val="FFFFFF"/>
                </a:solidFill>
              </a:rPr>
              <a:t>Zerodha broker → SEBI</a:t>
            </a:r>
            <a:endParaRPr lang="en-US" sz="950" dirty="0"/>
          </a:p>
          <a:p>
            <a:pPr indent="0" marL="0">
              <a:buNone/>
            </a:pPr>
            <a:endParaRPr lang="en-US" sz="950" dirty="0"/>
          </a:p>
          <a:p>
            <a:pPr indent="0" marL="0">
              <a:buNone/>
            </a:pPr>
            <a:r>
              <a:rPr lang="en-US" sz="950" dirty="0">
                <a:solidFill>
                  <a:srgbClr val="FFFFFF"/>
                </a:solidFill>
              </a:rPr>
              <a:t>NBFC like Bajaj Finance → RBI</a:t>
            </a:r>
            <a:endParaRPr lang="en-US" sz="950" dirty="0"/>
          </a:p>
          <a:p>
            <a:pPr indent="0" marL="0">
              <a:buNone/>
            </a:pPr>
            <a:endParaRPr lang="en-US" sz="950" dirty="0"/>
          </a:p>
          <a:p>
            <a:pPr indent="0" marL="0">
              <a:buNone/>
            </a:pPr>
            <a:r>
              <a:rPr lang="en-US" sz="950" dirty="0">
                <a:solidFill>
                  <a:srgbClr val="FFFFFF"/>
                </a:solidFill>
              </a:rPr>
              <a:t>Key: No regulator oversees everything — India uses a 'sectoral' model, unlike UK's single FCA.</a:t>
            </a:r>
            <a:endParaRPr lang="en-US" sz="950" dirty="0"/>
          </a:p>
        </p:txBody>
      </p:sp>
      <p:sp>
        <p:nvSpPr>
          <p:cNvPr id="20" name="Shape 18"/>
          <p:cNvSpPr/>
          <p:nvPr/>
        </p:nvSpPr>
        <p:spPr>
          <a:xfrm>
            <a:off x="0" y="4818888"/>
            <a:ext cx="2011680" cy="324612"/>
          </a:xfrm>
          <a:prstGeom prst="rect">
            <a:avLst/>
          </a:prstGeom>
          <a:solidFill>
            <a:srgbClr val="101C4F"/>
          </a:solidFill>
          <a:ln w="12700">
            <a:solidFill>
              <a:srgbClr val="101C4F"/>
            </a:solidFill>
            <a:prstDash val="solid"/>
          </a:ln>
        </p:spPr>
      </p:sp>
      <p:sp>
        <p:nvSpPr>
          <p:cNvPr id="21" name="Text 19"/>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D1.2</a:t>
            </a:r>
            <a:endParaRPr lang="en-US" sz="800" dirty="0"/>
          </a:p>
        </p:txBody>
      </p:sp>
      <p:sp>
        <p:nvSpPr>
          <p:cNvPr id="22" name="Text 20"/>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101C4F"/>
                </a:solidFill>
              </a:rPr>
              <a:t>💬  THINK &amp; DISCUSS</a:t>
            </a:r>
            <a:endParaRPr lang="en-US" sz="1000" dirty="0"/>
          </a:p>
        </p:txBody>
      </p:sp>
      <p:sp>
        <p:nvSpPr>
          <p:cNvPr id="4" name="Text 2"/>
          <p:cNvSpPr/>
          <p:nvPr/>
        </p:nvSpPr>
        <p:spPr>
          <a:xfrm>
            <a:off x="457200" y="822960"/>
            <a:ext cx="8229600" cy="777240"/>
          </a:xfrm>
          <a:prstGeom prst="rect">
            <a:avLst/>
          </a:prstGeom>
          <a:noFill/>
          <a:ln/>
        </p:spPr>
        <p:txBody>
          <a:bodyPr wrap="square" lIns="0" tIns="0" rIns="0" bIns="0" rtlCol="0" anchor="ctr"/>
          <a:lstStyle/>
          <a:p>
            <a:pPr algn="ctr" indent="0" marL="0">
              <a:buNone/>
            </a:pPr>
            <a:r>
              <a:rPr lang="en-US" sz="1500" b="1" dirty="0">
                <a:solidFill>
                  <a:srgbClr val="101C4F"/>
                </a:solidFill>
              </a:rPr>
              <a:t>Should India move to a single 'super-regulator' for all financial products — like the UK's FCA?</a:t>
            </a:r>
            <a:endParaRPr lang="en-US" sz="1500" dirty="0"/>
          </a:p>
        </p:txBody>
      </p:sp>
      <p:sp>
        <p:nvSpPr>
          <p:cNvPr id="5" name="Shape 3"/>
          <p:cNvSpPr/>
          <p:nvPr/>
        </p:nvSpPr>
        <p:spPr>
          <a:xfrm>
            <a:off x="4572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457200" y="1737360"/>
            <a:ext cx="3977640" cy="73152"/>
          </a:xfrm>
          <a:prstGeom prst="rect">
            <a:avLst/>
          </a:prstGeom>
          <a:solidFill>
            <a:srgbClr val="007A87"/>
          </a:solidFill>
          <a:ln w="12700">
            <a:solidFill>
              <a:srgbClr val="007A87"/>
            </a:solidFill>
            <a:prstDash val="solid"/>
          </a:ln>
        </p:spPr>
      </p:sp>
      <p:sp>
        <p:nvSpPr>
          <p:cNvPr id="7" name="Text 5"/>
          <p:cNvSpPr/>
          <p:nvPr/>
        </p:nvSpPr>
        <p:spPr>
          <a:xfrm>
            <a:off x="594360" y="1828800"/>
            <a:ext cx="3657600" cy="320040"/>
          </a:xfrm>
          <a:prstGeom prst="rect">
            <a:avLst/>
          </a:prstGeom>
          <a:noFill/>
          <a:ln/>
        </p:spPr>
        <p:txBody>
          <a:bodyPr wrap="square" lIns="0" tIns="0" rIns="0" bIns="0" rtlCol="0" anchor="ctr"/>
          <a:lstStyle/>
          <a:p>
            <a:pPr indent="0" marL="0">
              <a:buNone/>
            </a:pPr>
            <a:r>
              <a:rPr lang="en-US" sz="1000" b="1" dirty="0">
                <a:solidFill>
                  <a:srgbClr val="007A87"/>
                </a:solidFill>
              </a:rPr>
              <a:t>🟢 YES — ONE REGULATOR</a:t>
            </a:r>
            <a:endParaRPr lang="en-US" sz="1000" dirty="0"/>
          </a:p>
        </p:txBody>
      </p:sp>
      <p:sp>
        <p:nvSpPr>
          <p:cNvPr id="8" name="Text 6"/>
          <p:cNvSpPr/>
          <p:nvPr/>
        </p:nvSpPr>
        <p:spPr>
          <a:xfrm>
            <a:off x="5943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Eliminates gaps. No more 'regulatory arbitrage' — firms can't shift products to lighter-touch sectors. Simpler for consumers.</a:t>
            </a:r>
            <a:endParaRPr lang="en-US" sz="950" dirty="0"/>
          </a:p>
        </p:txBody>
      </p:sp>
      <p:sp>
        <p:nvSpPr>
          <p:cNvPr id="9" name="Shape 7"/>
          <p:cNvSpPr/>
          <p:nvPr/>
        </p:nvSpPr>
        <p:spPr>
          <a:xfrm>
            <a:off x="48006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4800600" y="1737360"/>
            <a:ext cx="3977640" cy="73152"/>
          </a:xfrm>
          <a:prstGeom prst="rect">
            <a:avLst/>
          </a:prstGeom>
          <a:solidFill>
            <a:srgbClr val="101C4F"/>
          </a:solidFill>
          <a:ln w="12700">
            <a:solidFill>
              <a:srgbClr val="101C4F"/>
            </a:solidFill>
            <a:prstDash val="solid"/>
          </a:ln>
        </p:spPr>
      </p:sp>
      <p:sp>
        <p:nvSpPr>
          <p:cNvPr id="11" name="Text 9"/>
          <p:cNvSpPr/>
          <p:nvPr/>
        </p:nvSpPr>
        <p:spPr>
          <a:xfrm>
            <a:off x="4937760" y="1828800"/>
            <a:ext cx="3657600" cy="320040"/>
          </a:xfrm>
          <a:prstGeom prst="rect">
            <a:avLst/>
          </a:prstGeom>
          <a:noFill/>
          <a:ln/>
        </p:spPr>
        <p:txBody>
          <a:bodyPr wrap="square" lIns="0" tIns="0" rIns="0" bIns="0" rtlCol="0" anchor="ctr"/>
          <a:lstStyle/>
          <a:p>
            <a:pPr indent="0" marL="0">
              <a:buNone/>
            </a:pPr>
            <a:r>
              <a:rPr lang="en-US" sz="1000" b="1" dirty="0">
                <a:solidFill>
                  <a:srgbClr val="101C4F"/>
                </a:solidFill>
              </a:rPr>
              <a:t>🔴 NO — KEEP SECTORAL</a:t>
            </a:r>
            <a:endParaRPr lang="en-US" sz="1000" dirty="0"/>
          </a:p>
        </p:txBody>
      </p:sp>
      <p:sp>
        <p:nvSpPr>
          <p:cNvPr id="12" name="Text 10"/>
          <p:cNvSpPr/>
          <p:nvPr/>
        </p:nvSpPr>
        <p:spPr>
          <a:xfrm>
            <a:off x="49377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Banking is different from insurance is different from securities. Specialised knowledge needed. India's size demands depth over breadth.</a:t>
            </a:r>
            <a:endParaRPr lang="en-US" sz="950" dirty="0"/>
          </a:p>
        </p:txBody>
      </p:sp>
      <p:sp>
        <p:nvSpPr>
          <p:cNvPr id="13" name="Shape 11"/>
          <p:cNvSpPr/>
          <p:nvPr/>
        </p:nvSpPr>
        <p:spPr>
          <a:xfrm>
            <a:off x="457200" y="3337560"/>
            <a:ext cx="8229600" cy="777240"/>
          </a:xfrm>
          <a:prstGeom prst="rect">
            <a:avLst/>
          </a:prstGeom>
          <a:solidFill>
            <a:srgbClr val="007A87"/>
          </a:solidFill>
          <a:ln w="12700">
            <a:solidFill>
              <a:srgbClr val="007A87"/>
            </a:solidFill>
            <a:prstDash val="solid"/>
          </a:ln>
        </p:spPr>
      </p:sp>
      <p:sp>
        <p:nvSpPr>
          <p:cNvPr id="14" name="Text 12"/>
          <p:cNvSpPr/>
          <p:nvPr/>
        </p:nvSpPr>
        <p:spPr>
          <a:xfrm>
            <a:off x="640080" y="3337560"/>
            <a:ext cx="7863840" cy="777240"/>
          </a:xfrm>
          <a:prstGeom prst="rect">
            <a:avLst/>
          </a:prstGeom>
          <a:noFill/>
          <a:ln/>
        </p:spPr>
        <p:txBody>
          <a:bodyPr wrap="square" lIns="0" tIns="0" rIns="0" bIns="0" rtlCol="0" anchor="ctr"/>
          <a:lstStyle/>
          <a:p>
            <a:pPr indent="0" marL="0">
              <a:buNone/>
            </a:pPr>
            <a:r>
              <a:rPr lang="en-US" sz="1000" dirty="0">
                <a:solidFill>
                  <a:srgbClr val="FFFFFF"/>
                </a:solidFill>
              </a:rPr>
              <a:t>💡 India is moving toward a Financial Stability and Development Council (FSDC) for coordination — but retains separate regulators. This is the realistic middle path.</a:t>
            </a:r>
            <a:endParaRPr lang="en-US" sz="1000" dirty="0"/>
          </a:p>
        </p:txBody>
      </p:sp>
      <p:sp>
        <p:nvSpPr>
          <p:cNvPr id="15" name="Shape 13"/>
          <p:cNvSpPr/>
          <p:nvPr/>
        </p:nvSpPr>
        <p:spPr>
          <a:xfrm>
            <a:off x="0" y="4818888"/>
            <a:ext cx="2011680" cy="324612"/>
          </a:xfrm>
          <a:prstGeom prst="rect">
            <a:avLst/>
          </a:prstGeom>
          <a:solidFill>
            <a:srgbClr val="101C4F"/>
          </a:solidFill>
          <a:ln w="12700">
            <a:solidFill>
              <a:srgbClr val="101C4F"/>
            </a:solidFill>
            <a:prstDash val="solid"/>
          </a:ln>
        </p:spPr>
      </p:sp>
      <p:sp>
        <p:nvSpPr>
          <p:cNvPr id="16" name="Text 14"/>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D1.2</a:t>
            </a:r>
            <a:endParaRPr lang="en-US" sz="800" dirty="0"/>
          </a:p>
        </p:txBody>
      </p:sp>
      <p:sp>
        <p:nvSpPr>
          <p:cNvPr id="17" name="Text 15"/>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INTERVIEW READY</a:t>
            </a:r>
            <a:endParaRPr lang="en-US" sz="1000" dirty="0"/>
          </a:p>
        </p:txBody>
      </p:sp>
      <p:sp>
        <p:nvSpPr>
          <p:cNvPr id="4" name="Text 2"/>
          <p:cNvSpPr/>
          <p:nvPr/>
        </p:nvSpPr>
        <p:spPr>
          <a:xfrm>
            <a:off x="365760" y="777240"/>
            <a:ext cx="8412480" cy="384048"/>
          </a:xfrm>
          <a:prstGeom prst="rect">
            <a:avLst/>
          </a:prstGeom>
          <a:noFill/>
          <a:ln/>
        </p:spPr>
        <p:txBody>
          <a:bodyPr wrap="square" lIns="0" tIns="0" rIns="0" bIns="0" rtlCol="0" anchor="ctr"/>
          <a:lstStyle/>
          <a:p>
            <a:pPr indent="0" marL="0">
              <a:buNone/>
            </a:pPr>
            <a:r>
              <a:rPr lang="en-US" sz="1200" i="1" dirty="0">
                <a:solidFill>
                  <a:srgbClr val="4A5568"/>
                </a:solidFill>
              </a:rPr>
              <a:t>Questions you WILL get asked — know these cold.</a:t>
            </a:r>
            <a:endParaRPr lang="en-US" sz="1200" dirty="0"/>
          </a:p>
        </p:txBody>
      </p:sp>
      <p:sp>
        <p:nvSpPr>
          <p:cNvPr id="5" name="Shape 3"/>
          <p:cNvSpPr/>
          <p:nvPr/>
        </p:nvSpPr>
        <p:spPr>
          <a:xfrm>
            <a:off x="365760" y="128016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65760" y="1280160"/>
            <a:ext cx="73152" cy="987552"/>
          </a:xfrm>
          <a:prstGeom prst="rect">
            <a:avLst/>
          </a:prstGeom>
          <a:solidFill>
            <a:srgbClr val="F0A800"/>
          </a:solidFill>
          <a:ln w="12700">
            <a:solidFill>
              <a:srgbClr val="F0A800"/>
            </a:solidFill>
            <a:prstDash val="solid"/>
          </a:ln>
        </p:spPr>
      </p:sp>
      <p:sp>
        <p:nvSpPr>
          <p:cNvPr id="7" name="Text 5"/>
          <p:cNvSpPr/>
          <p:nvPr/>
        </p:nvSpPr>
        <p:spPr>
          <a:xfrm>
            <a:off x="548640" y="133502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Q1: What are the three pillars of a financial system?</a:t>
            </a:r>
            <a:endParaRPr lang="en-US" sz="1000" dirty="0"/>
          </a:p>
        </p:txBody>
      </p:sp>
      <p:sp>
        <p:nvSpPr>
          <p:cNvPr id="8" name="Text 6"/>
          <p:cNvSpPr/>
          <p:nvPr/>
        </p:nvSpPr>
        <p:spPr>
          <a:xfrm>
            <a:off x="548640" y="1682496"/>
            <a:ext cx="8046720" cy="530352"/>
          </a:xfrm>
          <a:prstGeom prst="rect">
            <a:avLst/>
          </a:prstGeom>
          <a:noFill/>
          <a:ln/>
        </p:spPr>
        <p:txBody>
          <a:bodyPr wrap="square" lIns="0" tIns="0" rIns="0" bIns="0" rtlCol="0" anchor="ctr"/>
          <a:lstStyle/>
          <a:p>
            <a:pPr indent="0" marL="0">
              <a:buNone/>
            </a:pPr>
            <a:r>
              <a:rPr lang="en-US" sz="950" dirty="0">
                <a:solidFill>
                  <a:srgbClr val="1A2340"/>
                </a:solidFill>
              </a:rPr>
              <a:t>→ Financial Markets (where trading happens), Financial Institutions (the players — banks, NBFCs, mutual funds), and Financial Instruments (the tools — equity, bonds, derivatives).</a:t>
            </a:r>
            <a:endParaRPr lang="en-US" sz="950" dirty="0"/>
          </a:p>
        </p:txBody>
      </p:sp>
      <p:sp>
        <p:nvSpPr>
          <p:cNvPr id="9" name="Shape 7"/>
          <p:cNvSpPr/>
          <p:nvPr/>
        </p:nvSpPr>
        <p:spPr>
          <a:xfrm>
            <a:off x="365760" y="237744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365760" y="2377440"/>
            <a:ext cx="73152" cy="987552"/>
          </a:xfrm>
          <a:prstGeom prst="rect">
            <a:avLst/>
          </a:prstGeom>
          <a:solidFill>
            <a:srgbClr val="F0A800"/>
          </a:solidFill>
          <a:ln w="12700">
            <a:solidFill>
              <a:srgbClr val="F0A800"/>
            </a:solidFill>
            <a:prstDash val="solid"/>
          </a:ln>
        </p:spPr>
      </p:sp>
      <p:sp>
        <p:nvSpPr>
          <p:cNvPr id="11" name="Text 9"/>
          <p:cNvSpPr/>
          <p:nvPr/>
        </p:nvSpPr>
        <p:spPr>
          <a:xfrm>
            <a:off x="548640" y="243230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Q2: What does SEBI regulate? What does RBI regulate?</a:t>
            </a:r>
            <a:endParaRPr lang="en-US" sz="1000" dirty="0"/>
          </a:p>
        </p:txBody>
      </p:sp>
      <p:sp>
        <p:nvSpPr>
          <p:cNvPr id="12" name="Text 10"/>
          <p:cNvSpPr/>
          <p:nvPr/>
        </p:nvSpPr>
        <p:spPr>
          <a:xfrm>
            <a:off x="548640" y="2779776"/>
            <a:ext cx="8046720" cy="530352"/>
          </a:xfrm>
          <a:prstGeom prst="rect">
            <a:avLst/>
          </a:prstGeom>
          <a:noFill/>
          <a:ln/>
        </p:spPr>
        <p:txBody>
          <a:bodyPr wrap="square" lIns="0" tIns="0" rIns="0" bIns="0" rtlCol="0" anchor="ctr"/>
          <a:lstStyle/>
          <a:p>
            <a:pPr indent="0" marL="0">
              <a:buNone/>
            </a:pPr>
            <a:r>
              <a:rPr lang="en-US" sz="950" dirty="0">
                <a:solidFill>
                  <a:srgbClr val="1A2340"/>
                </a:solidFill>
              </a:rPr>
              <a:t>→ SEBI regulates capital markets: stock exchanges, brokers, mutual funds, IPOs, FIIs. RBI regulates monetary policy, commercial banks, NBFCs, forex, and payment systems.</a:t>
            </a:r>
            <a:endParaRPr lang="en-US" sz="950" dirty="0"/>
          </a:p>
        </p:txBody>
      </p:sp>
      <p:sp>
        <p:nvSpPr>
          <p:cNvPr id="13" name="Shape 11"/>
          <p:cNvSpPr/>
          <p:nvPr/>
        </p:nvSpPr>
        <p:spPr>
          <a:xfrm>
            <a:off x="365760" y="347472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365760" y="3474720"/>
            <a:ext cx="73152" cy="987552"/>
          </a:xfrm>
          <a:prstGeom prst="rect">
            <a:avLst/>
          </a:prstGeom>
          <a:solidFill>
            <a:srgbClr val="F0A800"/>
          </a:solidFill>
          <a:ln w="12700">
            <a:solidFill>
              <a:srgbClr val="F0A800"/>
            </a:solidFill>
            <a:prstDash val="solid"/>
          </a:ln>
        </p:spPr>
      </p:sp>
      <p:sp>
        <p:nvSpPr>
          <p:cNvPr id="15" name="Text 13"/>
          <p:cNvSpPr/>
          <p:nvPr/>
        </p:nvSpPr>
        <p:spPr>
          <a:xfrm>
            <a:off x="548640" y="352958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Q3: What is an NBFC and how does it differ from a bank?</a:t>
            </a:r>
            <a:endParaRPr lang="en-US" sz="1000" dirty="0"/>
          </a:p>
        </p:txBody>
      </p:sp>
      <p:sp>
        <p:nvSpPr>
          <p:cNvPr id="16" name="Text 14"/>
          <p:cNvSpPr/>
          <p:nvPr/>
        </p:nvSpPr>
        <p:spPr>
          <a:xfrm>
            <a:off x="548640" y="3877056"/>
            <a:ext cx="8046720" cy="530352"/>
          </a:xfrm>
          <a:prstGeom prst="rect">
            <a:avLst/>
          </a:prstGeom>
          <a:noFill/>
          <a:ln/>
        </p:spPr>
        <p:txBody>
          <a:bodyPr wrap="square" lIns="0" tIns="0" rIns="0" bIns="0" rtlCol="0" anchor="ctr"/>
          <a:lstStyle/>
          <a:p>
            <a:pPr indent="0" marL="0">
              <a:buNone/>
            </a:pPr>
            <a:r>
              <a:rPr lang="en-US" sz="950" dirty="0">
                <a:solidFill>
                  <a:srgbClr val="1A2340"/>
                </a:solidFill>
              </a:rPr>
              <a:t>→ NBFC (Non-Banking Financial Company) provides financial services like lending but cannot accept demand deposits (current/savings accounts). Banks can. Examples: Bajaj Finance, Muthoot Finance.</a:t>
            </a:r>
            <a:endParaRPr lang="en-US" sz="950" dirty="0"/>
          </a:p>
        </p:txBody>
      </p:sp>
      <p:sp>
        <p:nvSpPr>
          <p:cNvPr id="17" name="Shape 15"/>
          <p:cNvSpPr/>
          <p:nvPr/>
        </p:nvSpPr>
        <p:spPr>
          <a:xfrm>
            <a:off x="0" y="4818888"/>
            <a:ext cx="2011680" cy="324612"/>
          </a:xfrm>
          <a:prstGeom prst="rect">
            <a:avLst/>
          </a:prstGeom>
          <a:solidFill>
            <a:srgbClr val="101C4F"/>
          </a:solidFill>
          <a:ln w="12700">
            <a:solidFill>
              <a:srgbClr val="101C4F"/>
            </a:solidFill>
            <a:prstDash val="solid"/>
          </a:ln>
        </p:spPr>
      </p:sp>
      <p:sp>
        <p:nvSpPr>
          <p:cNvPr id="18" name="Text 16"/>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D1.2</a:t>
            </a:r>
            <a:endParaRPr lang="en-US" sz="800" dirty="0"/>
          </a:p>
        </p:txBody>
      </p:sp>
      <p:sp>
        <p:nvSpPr>
          <p:cNvPr id="19" name="Text 17"/>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A87"/>
          </a:solidFill>
          <a:ln w="12700">
            <a:solidFill>
              <a:srgbClr val="007A87"/>
            </a:solidFill>
            <a:prstDash val="solid"/>
          </a:ln>
        </p:spPr>
      </p:sp>
      <p:sp>
        <p:nvSpPr>
          <p:cNvPr id="3" name="Shape 1"/>
          <p:cNvSpPr/>
          <p:nvPr/>
        </p:nvSpPr>
        <p:spPr>
          <a:xfrm>
            <a:off x="384048" y="2212848"/>
            <a:ext cx="201168" cy="201168"/>
          </a:xfrm>
          <a:prstGeom prst="oval">
            <a:avLst/>
          </a:prstGeom>
          <a:solidFill>
            <a:srgbClr val="F0A800"/>
          </a:solidFill>
          <a:ln w="12700">
            <a:solidFill>
              <a:srgbClr val="F0A800"/>
            </a:solidFill>
            <a:prstDash val="solid"/>
          </a:ln>
        </p:spPr>
      </p:sp>
      <p:sp>
        <p:nvSpPr>
          <p:cNvPr id="4" name="Shape 2"/>
          <p:cNvSpPr/>
          <p:nvPr/>
        </p:nvSpPr>
        <p:spPr>
          <a:xfrm>
            <a:off x="457200" y="548640"/>
            <a:ext cx="1188720" cy="384048"/>
          </a:xfrm>
          <a:prstGeom prst="rect">
            <a:avLst/>
          </a:prstGeom>
          <a:solidFill>
            <a:srgbClr val="007A87"/>
          </a:solidFill>
          <a:ln w="12700">
            <a:solidFill>
              <a:srgbClr val="007A87"/>
            </a:solidFill>
            <a:prstDash val="solid"/>
          </a:ln>
        </p:spPr>
      </p:sp>
      <p:sp>
        <p:nvSpPr>
          <p:cNvPr id="5" name="Text 3"/>
          <p:cNvSpPr/>
          <p:nvPr/>
        </p:nvSpPr>
        <p:spPr>
          <a:xfrm>
            <a:off x="457200" y="548640"/>
            <a:ext cx="1188720" cy="384048"/>
          </a:xfrm>
          <a:prstGeom prst="rect">
            <a:avLst/>
          </a:prstGeom>
          <a:noFill/>
          <a:ln/>
        </p:spPr>
        <p:txBody>
          <a:bodyPr wrap="square" lIns="0" tIns="0" rIns="0" bIns="0" rtlCol="0" anchor="ctr"/>
          <a:lstStyle/>
          <a:p>
            <a:pPr algn="ctr" indent="0" marL="0">
              <a:buNone/>
            </a:pPr>
            <a:r>
              <a:rPr lang="en-US" sz="1200" b="1" dirty="0">
                <a:solidFill>
                  <a:srgbClr val="FFFFFF"/>
                </a:solidFill>
              </a:rPr>
              <a:t>D1.3</a:t>
            </a:r>
            <a:endParaRPr lang="en-US" sz="1200" dirty="0"/>
          </a:p>
        </p:txBody>
      </p:sp>
      <p:sp>
        <p:nvSpPr>
          <p:cNvPr id="6" name="Text 4"/>
          <p:cNvSpPr/>
          <p:nvPr/>
        </p:nvSpPr>
        <p:spPr>
          <a:xfrm>
            <a:off x="1828800" y="621792"/>
            <a:ext cx="2743200" cy="274320"/>
          </a:xfrm>
          <a:prstGeom prst="rect">
            <a:avLst/>
          </a:prstGeom>
          <a:noFill/>
          <a:ln/>
        </p:spPr>
        <p:txBody>
          <a:bodyPr wrap="square" lIns="0" tIns="0" rIns="0" bIns="0" rtlCol="0" anchor="ctr"/>
          <a:lstStyle/>
          <a:p>
            <a:pPr algn="l" indent="0" marL="0">
              <a:buNone/>
            </a:pPr>
            <a:r>
              <a:rPr lang="en-US" sz="900" dirty="0">
                <a:solidFill>
                  <a:srgbClr val="007A87"/>
                </a:solidFill>
              </a:rPr>
              <a:t>Unit 3 of 8</a:t>
            </a:r>
            <a:endParaRPr lang="en-US" sz="900" dirty="0"/>
          </a:p>
        </p:txBody>
      </p:sp>
      <p:sp>
        <p:nvSpPr>
          <p:cNvPr id="7" name="Text 5"/>
          <p:cNvSpPr/>
          <p:nvPr/>
        </p:nvSpPr>
        <p:spPr>
          <a:xfrm>
            <a:off x="457200" y="1143000"/>
            <a:ext cx="7772400" cy="1371600"/>
          </a:xfrm>
          <a:prstGeom prst="rect">
            <a:avLst/>
          </a:prstGeom>
          <a:noFill/>
          <a:ln/>
        </p:spPr>
        <p:txBody>
          <a:bodyPr wrap="square" lIns="0" tIns="0" rIns="0" bIns="0" rtlCol="0" anchor="ctr"/>
          <a:lstStyle/>
          <a:p>
            <a:pPr algn="l" indent="0" marL="0">
              <a:buNone/>
            </a:pPr>
            <a:r>
              <a:rPr lang="en-US" sz="3400" b="1" dirty="0">
                <a:solidFill>
                  <a:srgbClr val="FFFFFF"/>
                </a:solidFill>
              </a:rPr>
              <a:t>Financial Markets: Primary vs Secondary</a:t>
            </a:r>
            <a:endParaRPr lang="en-US" sz="3400" dirty="0"/>
          </a:p>
        </p:txBody>
      </p:sp>
      <p:sp>
        <p:nvSpPr>
          <p:cNvPr id="8" name="Shape 6"/>
          <p:cNvSpPr/>
          <p:nvPr/>
        </p:nvSpPr>
        <p:spPr>
          <a:xfrm>
            <a:off x="457200" y="2697480"/>
            <a:ext cx="8229600" cy="45720"/>
          </a:xfrm>
          <a:prstGeom prst="rect">
            <a:avLst/>
          </a:prstGeom>
          <a:solidFill>
            <a:srgbClr val="007A87"/>
          </a:solidFill>
          <a:ln w="12700">
            <a:solidFill>
              <a:srgbClr val="007A87"/>
            </a:solidFill>
            <a:prstDash val="solid"/>
          </a:ln>
        </p:spPr>
      </p:sp>
      <p:sp>
        <p:nvSpPr>
          <p:cNvPr id="9" name="Text 7"/>
          <p:cNvSpPr/>
          <p:nvPr/>
        </p:nvSpPr>
        <p:spPr>
          <a:xfrm>
            <a:off x="457200" y="2834640"/>
            <a:ext cx="1463040" cy="320040"/>
          </a:xfrm>
          <a:prstGeom prst="rect">
            <a:avLst/>
          </a:prstGeom>
          <a:noFill/>
          <a:ln/>
        </p:spPr>
        <p:txBody>
          <a:bodyPr wrap="square" lIns="0" tIns="0" rIns="0" bIns="0" rtlCol="0" anchor="ctr"/>
          <a:lstStyle/>
          <a:p>
            <a:pPr algn="l" indent="0" marL="0">
              <a:buNone/>
            </a:pPr>
            <a:r>
              <a:rPr lang="en-US" sz="900" b="1" dirty="0">
                <a:solidFill>
                  <a:srgbClr val="F0A800"/>
                </a:solidFill>
              </a:rPr>
              <a:t>COMPETENCY:</a:t>
            </a:r>
            <a:endParaRPr lang="en-US" sz="900" dirty="0"/>
          </a:p>
        </p:txBody>
      </p:sp>
      <p:sp>
        <p:nvSpPr>
          <p:cNvPr id="10" name="Text 8"/>
          <p:cNvSpPr/>
          <p:nvPr/>
        </p:nvSpPr>
        <p:spPr>
          <a:xfrm>
            <a:off x="1920240" y="2834640"/>
            <a:ext cx="6766560" cy="320040"/>
          </a:xfrm>
          <a:prstGeom prst="rect">
            <a:avLst/>
          </a:prstGeom>
          <a:noFill/>
          <a:ln/>
        </p:spPr>
        <p:txBody>
          <a:bodyPr wrap="square" lIns="0" tIns="0" rIns="0" bIns="0" rtlCol="0" anchor="ctr"/>
          <a:lstStyle/>
          <a:p>
            <a:pPr algn="l" indent="0" marL="0">
              <a:buNone/>
            </a:pPr>
            <a:r>
              <a:rPr lang="en-US" sz="900" dirty="0">
                <a:solidFill>
                  <a:srgbClr val="A0B4D0"/>
                </a:solidFill>
              </a:rPr>
              <a:t>Capital Markets Literacy</a:t>
            </a:r>
            <a:endParaRPr lang="en-US" sz="900" dirty="0"/>
          </a:p>
        </p:txBody>
      </p:sp>
      <p:sp>
        <p:nvSpPr>
          <p:cNvPr id="11" name="Shape 9"/>
          <p:cNvSpPr/>
          <p:nvPr/>
        </p:nvSpPr>
        <p:spPr>
          <a:xfrm>
            <a:off x="164592" y="4818888"/>
            <a:ext cx="8979408" cy="324612"/>
          </a:xfrm>
          <a:prstGeom prst="rect">
            <a:avLst/>
          </a:prstGeom>
          <a:solidFill>
            <a:srgbClr val="F0A800"/>
          </a:solidFill>
          <a:ln w="12700">
            <a:solidFill>
              <a:srgbClr val="F0A800"/>
            </a:solidFill>
            <a:prstDash val="solid"/>
          </a:ln>
        </p:spPr>
      </p:sp>
      <p:sp>
        <p:nvSpPr>
          <p:cNvPr id="12" name="Text 10"/>
          <p:cNvSpPr/>
          <p:nvPr/>
        </p:nvSpPr>
        <p:spPr>
          <a:xfrm>
            <a:off x="457200" y="4818888"/>
            <a:ext cx="8229600" cy="324612"/>
          </a:xfrm>
          <a:prstGeom prst="rect">
            <a:avLst/>
          </a:prstGeom>
          <a:noFill/>
          <a:ln/>
        </p:spPr>
        <p:txBody>
          <a:bodyPr wrap="square" lIns="0" tIns="0" rIns="0" bIns="0" rtlCol="0" anchor="ctr"/>
          <a:lstStyle/>
          <a:p>
            <a:pPr algn="ctr" indent="0" marL="0">
              <a:buNone/>
            </a:pPr>
            <a:r>
              <a:rPr lang="en-US" sz="800" b="1" dirty="0">
                <a:solidFill>
                  <a:srgbClr val="101C4F"/>
                </a:solidFill>
              </a:rPr>
              <a:t>IMARTICUS LEARNING  ·  CIBOP  ·  MODULE 1</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3657600" cy="658368"/>
          </a:xfrm>
          <a:prstGeom prst="rect">
            <a:avLst/>
          </a:prstGeom>
          <a:noFill/>
          <a:ln/>
        </p:spPr>
        <p:txBody>
          <a:bodyPr wrap="square" lIns="0" tIns="0" rIns="0" bIns="0" rtlCol="0" anchor="ctr"/>
          <a:lstStyle/>
          <a:p>
            <a:pPr indent="0" marL="0">
              <a:buNone/>
            </a:pPr>
            <a:r>
              <a:rPr lang="en-US" sz="1000" b="1" spc="200" kern="0" dirty="0">
                <a:solidFill>
                  <a:srgbClr val="007A87"/>
                </a:solidFill>
              </a:rPr>
              <a:t>⟵  QUICK RECAP</a:t>
            </a:r>
            <a:endParaRPr lang="en-US" sz="1000" dirty="0"/>
          </a:p>
        </p:txBody>
      </p:sp>
      <p:sp>
        <p:nvSpPr>
          <p:cNvPr id="4" name="Text 2"/>
          <p:cNvSpPr/>
          <p:nvPr/>
        </p:nvSpPr>
        <p:spPr>
          <a:xfrm>
            <a:off x="4114800" y="0"/>
            <a:ext cx="4663440" cy="658368"/>
          </a:xfrm>
          <a:prstGeom prst="rect">
            <a:avLst/>
          </a:prstGeom>
          <a:noFill/>
          <a:ln/>
        </p:spPr>
        <p:txBody>
          <a:bodyPr wrap="square" lIns="0" tIns="0" rIns="0" bIns="0" rtlCol="0" anchor="ctr"/>
          <a:lstStyle/>
          <a:p>
            <a:pPr algn="r" indent="0" marL="0">
              <a:buNone/>
            </a:pPr>
            <a:r>
              <a:rPr lang="en-US" sz="900" dirty="0">
                <a:solidFill>
                  <a:srgbClr val="A0B4D0"/>
                </a:solidFill>
              </a:rPr>
              <a:t>D1.2 — Structure of the Financial System</a:t>
            </a:r>
            <a:endParaRPr lang="en-US" sz="900" dirty="0"/>
          </a:p>
        </p:txBody>
      </p:sp>
      <p:sp>
        <p:nvSpPr>
          <p:cNvPr id="5" name="Text 3"/>
          <p:cNvSpPr/>
          <p:nvPr/>
        </p:nvSpPr>
        <p:spPr>
          <a:xfrm>
            <a:off x="457200" y="822960"/>
            <a:ext cx="8229600" cy="457200"/>
          </a:xfrm>
          <a:prstGeom prst="rect">
            <a:avLst/>
          </a:prstGeom>
          <a:noFill/>
          <a:ln/>
        </p:spPr>
        <p:txBody>
          <a:bodyPr wrap="square" lIns="0" tIns="0" rIns="0" bIns="0" rtlCol="0" anchor="ctr"/>
          <a:lstStyle/>
          <a:p>
            <a:pPr algn="l" indent="0" marL="0">
              <a:buNone/>
            </a:pPr>
            <a:r>
              <a:rPr lang="en-US" sz="1400" b="1" dirty="0">
                <a:solidFill>
                  <a:srgbClr val="1A2340"/>
                </a:solidFill>
              </a:rPr>
              <a:t>Before we begin — let's make sure the foundation is solid.</a:t>
            </a:r>
            <a:endParaRPr lang="en-US" sz="1400" dirty="0"/>
          </a:p>
        </p:txBody>
      </p:sp>
      <p:sp>
        <p:nvSpPr>
          <p:cNvPr id="6" name="Shape 4"/>
          <p:cNvSpPr/>
          <p:nvPr/>
        </p:nvSpPr>
        <p:spPr>
          <a:xfrm>
            <a:off x="45720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457200" y="1463040"/>
            <a:ext cx="2468880" cy="64008"/>
          </a:xfrm>
          <a:prstGeom prst="rect">
            <a:avLst/>
          </a:prstGeom>
          <a:solidFill>
            <a:srgbClr val="007A87"/>
          </a:solidFill>
          <a:ln w="12700">
            <a:solidFill>
              <a:srgbClr val="007A87"/>
            </a:solidFill>
            <a:prstDash val="solid"/>
          </a:ln>
        </p:spPr>
      </p:sp>
      <p:sp>
        <p:nvSpPr>
          <p:cNvPr id="8" name="Text 6"/>
          <p:cNvSpPr/>
          <p:nvPr/>
        </p:nvSpPr>
        <p:spPr>
          <a:xfrm>
            <a:off x="56692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9" name="Text 7"/>
          <p:cNvSpPr/>
          <p:nvPr/>
        </p:nvSpPr>
        <p:spPr>
          <a:xfrm>
            <a:off x="56692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Primary = New Issuance</a:t>
            </a:r>
            <a:endParaRPr lang="en-US" sz="1050" dirty="0"/>
          </a:p>
        </p:txBody>
      </p:sp>
      <p:sp>
        <p:nvSpPr>
          <p:cNvPr id="10" name="Text 8"/>
          <p:cNvSpPr/>
          <p:nvPr/>
        </p:nvSpPr>
        <p:spPr>
          <a:xfrm>
            <a:off x="56692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Company issues new securities → raises fresh capital. Money flows TO the issuer. IPO, FPO, bond issuance.</a:t>
            </a:r>
            <a:endParaRPr lang="en-US" sz="850" dirty="0"/>
          </a:p>
        </p:txBody>
      </p:sp>
      <p:sp>
        <p:nvSpPr>
          <p:cNvPr id="11" name="Shape 9"/>
          <p:cNvSpPr/>
          <p:nvPr/>
        </p:nvSpPr>
        <p:spPr>
          <a:xfrm>
            <a:off x="310896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3108960" y="1463040"/>
            <a:ext cx="2468880" cy="64008"/>
          </a:xfrm>
          <a:prstGeom prst="rect">
            <a:avLst/>
          </a:prstGeom>
          <a:solidFill>
            <a:srgbClr val="007A87"/>
          </a:solidFill>
          <a:ln w="12700">
            <a:solidFill>
              <a:srgbClr val="007A87"/>
            </a:solidFill>
            <a:prstDash val="solid"/>
          </a:ln>
        </p:spPr>
      </p:sp>
      <p:sp>
        <p:nvSpPr>
          <p:cNvPr id="13" name="Text 11"/>
          <p:cNvSpPr/>
          <p:nvPr/>
        </p:nvSpPr>
        <p:spPr>
          <a:xfrm>
            <a:off x="321868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4" name="Text 12"/>
          <p:cNvSpPr/>
          <p:nvPr/>
        </p:nvSpPr>
        <p:spPr>
          <a:xfrm>
            <a:off x="321868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Secondary = Trading Existing</a:t>
            </a:r>
            <a:endParaRPr lang="en-US" sz="1050" dirty="0"/>
          </a:p>
        </p:txBody>
      </p:sp>
      <p:sp>
        <p:nvSpPr>
          <p:cNvPr id="15" name="Text 13"/>
          <p:cNvSpPr/>
          <p:nvPr/>
        </p:nvSpPr>
        <p:spPr>
          <a:xfrm>
            <a:off x="321868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Investors trade already-issued securities among themselves. Money flows BETWEEN investors. NSE, BSE daily trading.</a:t>
            </a:r>
            <a:endParaRPr lang="en-US" sz="850" dirty="0"/>
          </a:p>
        </p:txBody>
      </p:sp>
      <p:sp>
        <p:nvSpPr>
          <p:cNvPr id="16" name="Shape 14"/>
          <p:cNvSpPr/>
          <p:nvPr/>
        </p:nvSpPr>
        <p:spPr>
          <a:xfrm>
            <a:off x="576072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5760720" y="1463040"/>
            <a:ext cx="2468880" cy="64008"/>
          </a:xfrm>
          <a:prstGeom prst="rect">
            <a:avLst/>
          </a:prstGeom>
          <a:solidFill>
            <a:srgbClr val="007A87"/>
          </a:solidFill>
          <a:ln w="12700">
            <a:solidFill>
              <a:srgbClr val="007A87"/>
            </a:solidFill>
            <a:prstDash val="solid"/>
          </a:ln>
        </p:spPr>
      </p:sp>
      <p:sp>
        <p:nvSpPr>
          <p:cNvPr id="18" name="Text 16"/>
          <p:cNvSpPr/>
          <p:nvPr/>
        </p:nvSpPr>
        <p:spPr>
          <a:xfrm>
            <a:off x="587044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9" name="Text 17"/>
          <p:cNvSpPr/>
          <p:nvPr/>
        </p:nvSpPr>
        <p:spPr>
          <a:xfrm>
            <a:off x="587044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Why Both Matter</a:t>
            </a:r>
            <a:endParaRPr lang="en-US" sz="1050" dirty="0"/>
          </a:p>
        </p:txBody>
      </p:sp>
      <p:sp>
        <p:nvSpPr>
          <p:cNvPr id="20" name="Text 18"/>
          <p:cNvSpPr/>
          <p:nvPr/>
        </p:nvSpPr>
        <p:spPr>
          <a:xfrm>
            <a:off x="587044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Primary market raises capital. Secondary market provides liquidity — making primary investment attractive in the first place.</a:t>
            </a:r>
            <a:endParaRPr lang="en-US" sz="850" dirty="0"/>
          </a:p>
        </p:txBody>
      </p:sp>
      <p:sp>
        <p:nvSpPr>
          <p:cNvPr id="21" name="Shape 19"/>
          <p:cNvSpPr/>
          <p:nvPr/>
        </p:nvSpPr>
        <p:spPr>
          <a:xfrm>
            <a:off x="0" y="4818888"/>
            <a:ext cx="2011680" cy="324612"/>
          </a:xfrm>
          <a:prstGeom prst="rect">
            <a:avLst/>
          </a:prstGeom>
          <a:solidFill>
            <a:srgbClr val="101C4F"/>
          </a:solidFill>
          <a:ln w="12700">
            <a:solidFill>
              <a:srgbClr val="101C4F"/>
            </a:solidFill>
            <a:prstDash val="solid"/>
          </a:ln>
        </p:spPr>
      </p:sp>
      <p:sp>
        <p:nvSpPr>
          <p:cNvPr id="22" name="Text 2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D1.3</a:t>
            </a:r>
            <a:endParaRPr lang="en-US" sz="800" dirty="0"/>
          </a:p>
        </p:txBody>
      </p:sp>
      <p:sp>
        <p:nvSpPr>
          <p:cNvPr id="23" name="Text 2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SCENARIO</a:t>
            </a:r>
            <a:endParaRPr lang="en-US" sz="1000" dirty="0"/>
          </a:p>
        </p:txBody>
      </p:sp>
      <p:sp>
        <p:nvSpPr>
          <p:cNvPr id="4" name="Shape 2"/>
          <p:cNvSpPr/>
          <p:nvPr/>
        </p:nvSpPr>
        <p:spPr>
          <a:xfrm>
            <a:off x="365760" y="822960"/>
            <a:ext cx="8412480" cy="2011680"/>
          </a:xfrm>
          <a:prstGeom prst="rect">
            <a:avLst/>
          </a:prstGeom>
          <a:solidFill>
            <a:srgbClr val="FDF6E3"/>
          </a:solidFill>
          <a:ln w="12700">
            <a:solidFill>
              <a:srgbClr val="F0A800"/>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365760" y="822960"/>
            <a:ext cx="91440" cy="2011680"/>
          </a:xfrm>
          <a:prstGeom prst="rect">
            <a:avLst/>
          </a:prstGeom>
          <a:solidFill>
            <a:srgbClr val="F0A800"/>
          </a:solidFill>
          <a:ln w="12700">
            <a:solidFill>
              <a:srgbClr val="F0A800"/>
            </a:solidFill>
            <a:prstDash val="solid"/>
          </a:ln>
        </p:spPr>
      </p:sp>
      <p:sp>
        <p:nvSpPr>
          <p:cNvPr id="6" name="Text 4"/>
          <p:cNvSpPr/>
          <p:nvPr/>
        </p:nvSpPr>
        <p:spPr>
          <a:xfrm>
            <a:off x="594360" y="914400"/>
            <a:ext cx="8046720" cy="365760"/>
          </a:xfrm>
          <a:prstGeom prst="rect">
            <a:avLst/>
          </a:prstGeom>
          <a:noFill/>
          <a:ln/>
        </p:spPr>
        <p:txBody>
          <a:bodyPr wrap="square" lIns="0" tIns="0" rIns="0" bIns="0" rtlCol="0" anchor="ctr"/>
          <a:lstStyle/>
          <a:p>
            <a:pPr algn="l" indent="0" marL="0">
              <a:buNone/>
            </a:pPr>
            <a:r>
              <a:rPr lang="en-US" sz="1200" b="1" dirty="0">
                <a:solidFill>
                  <a:srgbClr val="1A2340"/>
                </a:solidFill>
              </a:rPr>
              <a:t>Zomato's ₹9,375 crore IPO — July 2021.</a:t>
            </a:r>
            <a:endParaRPr lang="en-US" sz="1200" dirty="0"/>
          </a:p>
        </p:txBody>
      </p:sp>
      <p:sp>
        <p:nvSpPr>
          <p:cNvPr id="7" name="Text 5"/>
          <p:cNvSpPr/>
          <p:nvPr/>
        </p:nvSpPr>
        <p:spPr>
          <a:xfrm>
            <a:off x="594360" y="1325880"/>
            <a:ext cx="8046720" cy="1371600"/>
          </a:xfrm>
          <a:prstGeom prst="rect">
            <a:avLst/>
          </a:prstGeom>
          <a:noFill/>
          <a:ln/>
        </p:spPr>
        <p:txBody>
          <a:bodyPr wrap="square" lIns="0" tIns="0" rIns="0" bIns="0" rtlCol="0" anchor="ctr"/>
          <a:lstStyle/>
          <a:p>
            <a:pPr algn="l" indent="0" marL="0">
              <a:buNone/>
            </a:pPr>
            <a:r>
              <a:rPr lang="en-US" sz="1050" dirty="0">
                <a:solidFill>
                  <a:srgbClr val="1A2340"/>
                </a:solidFill>
              </a:rPr>
              <a:t>Zomato needed capital to fund expansion. It filed a DRHP with SEBI, conducted a roadshow, set a price band of ₹72-76 per share, and opened subscription. 38 lakh retail investors applied. The IPO was subscribed 38x. On listing day, July 23, Zomato opened at ₹116 — a 53% listing gain. Kavi bought 195 shares in the IPO at ₹76. He sold 100 of them on NSE at ₹130 a week later.</a:t>
            </a:r>
            <a:endParaRPr lang="en-US" sz="1050" dirty="0"/>
          </a:p>
        </p:txBody>
      </p:sp>
      <p:sp>
        <p:nvSpPr>
          <p:cNvPr id="8" name="Shape 6"/>
          <p:cNvSpPr/>
          <p:nvPr/>
        </p:nvSpPr>
        <p:spPr>
          <a:xfrm>
            <a:off x="365760" y="2971800"/>
            <a:ext cx="8412480" cy="1005840"/>
          </a:xfrm>
          <a:prstGeom prst="rect">
            <a:avLst/>
          </a:prstGeom>
          <a:solidFill>
            <a:srgbClr val="F2F4F8"/>
          </a:solidFill>
          <a:ln w="12700">
            <a:solidFill>
              <a:srgbClr val="E0E4EE"/>
            </a:solidFill>
            <a:prstDash val="solid"/>
          </a:ln>
        </p:spPr>
      </p:sp>
      <p:sp>
        <p:nvSpPr>
          <p:cNvPr id="9" name="Text 7"/>
          <p:cNvSpPr/>
          <p:nvPr/>
        </p:nvSpPr>
        <p:spPr>
          <a:xfrm>
            <a:off x="548640" y="3035808"/>
            <a:ext cx="1828800" cy="320040"/>
          </a:xfrm>
          <a:prstGeom prst="rect">
            <a:avLst/>
          </a:prstGeom>
          <a:noFill/>
          <a:ln/>
        </p:spPr>
        <p:txBody>
          <a:bodyPr wrap="square" lIns="0" tIns="0" rIns="0" bIns="0" rtlCol="0" anchor="ctr"/>
          <a:lstStyle/>
          <a:p>
            <a:pPr indent="0" marL="0">
              <a:buNone/>
            </a:pPr>
            <a:r>
              <a:rPr lang="en-US" sz="1000" b="1" dirty="0">
                <a:solidFill>
                  <a:srgbClr val="007A87"/>
                </a:solidFill>
              </a:rPr>
              <a:t>🤔  Think about it:</a:t>
            </a:r>
            <a:endParaRPr lang="en-US" sz="1000" dirty="0"/>
          </a:p>
        </p:txBody>
      </p:sp>
      <p:sp>
        <p:nvSpPr>
          <p:cNvPr id="10" name="Text 8"/>
          <p:cNvSpPr/>
          <p:nvPr/>
        </p:nvSpPr>
        <p:spPr>
          <a:xfrm>
            <a:off x="548640" y="3355848"/>
            <a:ext cx="7863840" cy="530352"/>
          </a:xfrm>
          <a:prstGeom prst="rect">
            <a:avLst/>
          </a:prstGeom>
          <a:noFill/>
          <a:ln/>
        </p:spPr>
        <p:txBody>
          <a:bodyPr wrap="square" lIns="0" tIns="0" rIns="0" bIns="0" rtlCol="0" anchor="ctr"/>
          <a:lstStyle/>
          <a:p>
            <a:pPr indent="0" marL="0">
              <a:buNone/>
            </a:pPr>
            <a:r>
              <a:rPr lang="en-US" sz="1050" i="1" dirty="0">
                <a:solidFill>
                  <a:srgbClr val="1A2340"/>
                </a:solidFill>
              </a:rPr>
              <a:t>When Zomato received the IPO money — was that primary or secondary market? When Kavi sold his shares on NSE — primary or secondary? Where did the ₹13,000 Kavi received go?</a:t>
            </a:r>
            <a:endParaRPr lang="en-US" sz="1050" dirty="0"/>
          </a:p>
        </p:txBody>
      </p:sp>
      <p:sp>
        <p:nvSpPr>
          <p:cNvPr id="11" name="Shape 9"/>
          <p:cNvSpPr/>
          <p:nvPr/>
        </p:nvSpPr>
        <p:spPr>
          <a:xfrm>
            <a:off x="0" y="4818888"/>
            <a:ext cx="2011680" cy="324612"/>
          </a:xfrm>
          <a:prstGeom prst="rect">
            <a:avLst/>
          </a:prstGeom>
          <a:solidFill>
            <a:srgbClr val="101C4F"/>
          </a:solidFill>
          <a:ln w="12700">
            <a:solidFill>
              <a:srgbClr val="101C4F"/>
            </a:solidFill>
            <a:prstDash val="solid"/>
          </a:ln>
        </p:spPr>
      </p:sp>
      <p:sp>
        <p:nvSpPr>
          <p:cNvPr id="12" name="Text 1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D1.3</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KEY CONCEPT</a:t>
            </a:r>
            <a:endParaRPr lang="en-US" sz="1000" dirty="0"/>
          </a:p>
        </p:txBody>
      </p:sp>
      <p:sp>
        <p:nvSpPr>
          <p:cNvPr id="4" name="Text 2"/>
          <p:cNvSpPr/>
          <p:nvPr/>
        </p:nvSpPr>
        <p:spPr>
          <a:xfrm>
            <a:off x="365760" y="777240"/>
            <a:ext cx="8412480" cy="548640"/>
          </a:xfrm>
          <a:prstGeom prst="rect">
            <a:avLst/>
          </a:prstGeom>
          <a:noFill/>
          <a:ln/>
        </p:spPr>
        <p:txBody>
          <a:bodyPr wrap="square" lIns="0" tIns="0" rIns="0" bIns="0" rtlCol="0" anchor="ctr"/>
          <a:lstStyle/>
          <a:p>
            <a:pPr algn="l" indent="0" marL="0">
              <a:buNone/>
            </a:pPr>
            <a:r>
              <a:rPr lang="en-US" sz="2200" b="1" dirty="0">
                <a:solidFill>
                  <a:srgbClr val="101C4F"/>
                </a:solidFill>
              </a:rPr>
              <a:t>Primary vs Secondary Markets</a:t>
            </a:r>
            <a:endParaRPr lang="en-US" sz="2200" dirty="0"/>
          </a:p>
        </p:txBody>
      </p:sp>
      <p:sp>
        <p:nvSpPr>
          <p:cNvPr id="5" name="Shape 3"/>
          <p:cNvSpPr/>
          <p:nvPr/>
        </p:nvSpPr>
        <p:spPr>
          <a:xfrm>
            <a:off x="365760" y="1389888"/>
            <a:ext cx="8412480" cy="777240"/>
          </a:xfrm>
          <a:prstGeom prst="rect">
            <a:avLst/>
          </a:prstGeom>
          <a:solidFill>
            <a:srgbClr val="F2F4F8"/>
          </a:solidFill>
          <a:ln w="12700">
            <a:solidFill>
              <a:srgbClr val="E0E4EE"/>
            </a:solidFill>
            <a:prstDash val="solid"/>
          </a:ln>
        </p:spPr>
      </p:sp>
      <p:sp>
        <p:nvSpPr>
          <p:cNvPr id="6" name="Shape 4"/>
          <p:cNvSpPr/>
          <p:nvPr/>
        </p:nvSpPr>
        <p:spPr>
          <a:xfrm>
            <a:off x="365760" y="1389888"/>
            <a:ext cx="91440" cy="777240"/>
          </a:xfrm>
          <a:prstGeom prst="rect">
            <a:avLst/>
          </a:prstGeom>
          <a:solidFill>
            <a:srgbClr val="007A87"/>
          </a:solidFill>
          <a:ln w="12700">
            <a:solidFill>
              <a:srgbClr val="007A87"/>
            </a:solidFill>
            <a:prstDash val="solid"/>
          </a:ln>
        </p:spPr>
      </p:sp>
      <p:sp>
        <p:nvSpPr>
          <p:cNvPr id="7" name="Text 5"/>
          <p:cNvSpPr/>
          <p:nvPr/>
        </p:nvSpPr>
        <p:spPr>
          <a:xfrm>
            <a:off x="594360" y="1444752"/>
            <a:ext cx="8046720" cy="667512"/>
          </a:xfrm>
          <a:prstGeom prst="rect">
            <a:avLst/>
          </a:prstGeom>
          <a:noFill/>
          <a:ln/>
        </p:spPr>
        <p:txBody>
          <a:bodyPr wrap="square" lIns="0" tIns="0" rIns="0" bIns="0" rtlCol="0" anchor="ctr"/>
          <a:lstStyle/>
          <a:p>
            <a:pPr indent="0" marL="0">
              <a:buNone/>
            </a:pPr>
            <a:r>
              <a:rPr lang="en-US" sz="1050" i="1" dirty="0">
                <a:solidFill>
                  <a:srgbClr val="1A2340"/>
                </a:solidFill>
              </a:rPr>
              <a:t>Primary markets enable capital formation — companies raise fresh money by issuing new securities. Secondary markets enable liquidity — investors trade existing securities among themselves. Both are essential: secondary liquidity makes primary investment attractive.</a:t>
            </a:r>
            <a:endParaRPr lang="en-US" sz="1050" dirty="0"/>
          </a:p>
        </p:txBody>
      </p:sp>
      <p:sp>
        <p:nvSpPr>
          <p:cNvPr id="8" name="Shape 6"/>
          <p:cNvSpPr/>
          <p:nvPr/>
        </p:nvSpPr>
        <p:spPr>
          <a:xfrm>
            <a:off x="36576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365760" y="2331720"/>
            <a:ext cx="2000250" cy="64008"/>
          </a:xfrm>
          <a:prstGeom prst="rect">
            <a:avLst/>
          </a:prstGeom>
          <a:solidFill>
            <a:srgbClr val="101C4F"/>
          </a:solidFill>
          <a:ln w="12700">
            <a:solidFill>
              <a:srgbClr val="101C4F"/>
            </a:solidFill>
            <a:prstDash val="solid"/>
          </a:ln>
        </p:spPr>
      </p:sp>
      <p:sp>
        <p:nvSpPr>
          <p:cNvPr id="10" name="Text 8"/>
          <p:cNvSpPr/>
          <p:nvPr/>
        </p:nvSpPr>
        <p:spPr>
          <a:xfrm>
            <a:off x="45720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01</a:t>
            </a:r>
            <a:endParaRPr lang="en-US" sz="1800" dirty="0"/>
          </a:p>
        </p:txBody>
      </p:sp>
      <p:sp>
        <p:nvSpPr>
          <p:cNvPr id="11" name="Text 9"/>
          <p:cNvSpPr/>
          <p:nvPr/>
        </p:nvSpPr>
        <p:spPr>
          <a:xfrm>
            <a:off x="45720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Primary Market</a:t>
            </a:r>
            <a:endParaRPr lang="en-US" sz="1000" dirty="0"/>
          </a:p>
        </p:txBody>
      </p:sp>
      <p:sp>
        <p:nvSpPr>
          <p:cNvPr id="12" name="Text 10"/>
          <p:cNvSpPr/>
          <p:nvPr/>
        </p:nvSpPr>
        <p:spPr>
          <a:xfrm>
            <a:off x="45720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New securities issued. Capital flows to the issuer. IPO, FPO, rights issue, bond auction.</a:t>
            </a:r>
            <a:endParaRPr lang="en-US" sz="850" dirty="0"/>
          </a:p>
        </p:txBody>
      </p:sp>
      <p:sp>
        <p:nvSpPr>
          <p:cNvPr id="13" name="Shape 11"/>
          <p:cNvSpPr/>
          <p:nvPr/>
        </p:nvSpPr>
        <p:spPr>
          <a:xfrm>
            <a:off x="250317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2503170" y="2331720"/>
            <a:ext cx="2000250" cy="64008"/>
          </a:xfrm>
          <a:prstGeom prst="rect">
            <a:avLst/>
          </a:prstGeom>
          <a:solidFill>
            <a:srgbClr val="101C4F"/>
          </a:solidFill>
          <a:ln w="12700">
            <a:solidFill>
              <a:srgbClr val="101C4F"/>
            </a:solidFill>
            <a:prstDash val="solid"/>
          </a:ln>
        </p:spPr>
      </p:sp>
      <p:sp>
        <p:nvSpPr>
          <p:cNvPr id="15" name="Text 13"/>
          <p:cNvSpPr/>
          <p:nvPr/>
        </p:nvSpPr>
        <p:spPr>
          <a:xfrm>
            <a:off x="259461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02</a:t>
            </a:r>
            <a:endParaRPr lang="en-US" sz="1800" dirty="0"/>
          </a:p>
        </p:txBody>
      </p:sp>
      <p:sp>
        <p:nvSpPr>
          <p:cNvPr id="16" name="Text 14"/>
          <p:cNvSpPr/>
          <p:nvPr/>
        </p:nvSpPr>
        <p:spPr>
          <a:xfrm>
            <a:off x="259461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Secondary Market</a:t>
            </a:r>
            <a:endParaRPr lang="en-US" sz="1000" dirty="0"/>
          </a:p>
        </p:txBody>
      </p:sp>
      <p:sp>
        <p:nvSpPr>
          <p:cNvPr id="17" name="Text 15"/>
          <p:cNvSpPr/>
          <p:nvPr/>
        </p:nvSpPr>
        <p:spPr>
          <a:xfrm>
            <a:off x="259461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Existing securities traded between investors. NSE/BSE daily trading. No new capital to company.</a:t>
            </a:r>
            <a:endParaRPr lang="en-US" sz="850" dirty="0"/>
          </a:p>
        </p:txBody>
      </p:sp>
      <p:sp>
        <p:nvSpPr>
          <p:cNvPr id="18" name="Shape 16"/>
          <p:cNvSpPr/>
          <p:nvPr/>
        </p:nvSpPr>
        <p:spPr>
          <a:xfrm>
            <a:off x="464058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4640580" y="2331720"/>
            <a:ext cx="2000250" cy="64008"/>
          </a:xfrm>
          <a:prstGeom prst="rect">
            <a:avLst/>
          </a:prstGeom>
          <a:solidFill>
            <a:srgbClr val="101C4F"/>
          </a:solidFill>
          <a:ln w="12700">
            <a:solidFill>
              <a:srgbClr val="101C4F"/>
            </a:solidFill>
            <a:prstDash val="solid"/>
          </a:ln>
        </p:spPr>
      </p:sp>
      <p:sp>
        <p:nvSpPr>
          <p:cNvPr id="20" name="Text 18"/>
          <p:cNvSpPr/>
          <p:nvPr/>
        </p:nvSpPr>
        <p:spPr>
          <a:xfrm>
            <a:off x="473202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03</a:t>
            </a:r>
            <a:endParaRPr lang="en-US" sz="1800" dirty="0"/>
          </a:p>
        </p:txBody>
      </p:sp>
      <p:sp>
        <p:nvSpPr>
          <p:cNvPr id="21" name="Text 19"/>
          <p:cNvSpPr/>
          <p:nvPr/>
        </p:nvSpPr>
        <p:spPr>
          <a:xfrm>
            <a:off x="473202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Price Discovery</a:t>
            </a:r>
            <a:endParaRPr lang="en-US" sz="1000" dirty="0"/>
          </a:p>
        </p:txBody>
      </p:sp>
      <p:sp>
        <p:nvSpPr>
          <p:cNvPr id="22" name="Text 20"/>
          <p:cNvSpPr/>
          <p:nvPr/>
        </p:nvSpPr>
        <p:spPr>
          <a:xfrm>
            <a:off x="473202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Secondary markets continuously reveal fair value through trading — reflecting all public information.</a:t>
            </a:r>
            <a:endParaRPr lang="en-US" sz="850" dirty="0"/>
          </a:p>
        </p:txBody>
      </p:sp>
      <p:sp>
        <p:nvSpPr>
          <p:cNvPr id="23" name="Shape 21"/>
          <p:cNvSpPr/>
          <p:nvPr/>
        </p:nvSpPr>
        <p:spPr>
          <a:xfrm>
            <a:off x="677799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24" name="Shape 22"/>
          <p:cNvSpPr/>
          <p:nvPr/>
        </p:nvSpPr>
        <p:spPr>
          <a:xfrm>
            <a:off x="6777990" y="2331720"/>
            <a:ext cx="2000250" cy="64008"/>
          </a:xfrm>
          <a:prstGeom prst="rect">
            <a:avLst/>
          </a:prstGeom>
          <a:solidFill>
            <a:srgbClr val="101C4F"/>
          </a:solidFill>
          <a:ln w="12700">
            <a:solidFill>
              <a:srgbClr val="101C4F"/>
            </a:solidFill>
            <a:prstDash val="solid"/>
          </a:ln>
        </p:spPr>
      </p:sp>
      <p:sp>
        <p:nvSpPr>
          <p:cNvPr id="25" name="Text 23"/>
          <p:cNvSpPr/>
          <p:nvPr/>
        </p:nvSpPr>
        <p:spPr>
          <a:xfrm>
            <a:off x="686943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04</a:t>
            </a:r>
            <a:endParaRPr lang="en-US" sz="1800" dirty="0"/>
          </a:p>
        </p:txBody>
      </p:sp>
      <p:sp>
        <p:nvSpPr>
          <p:cNvPr id="26" name="Text 24"/>
          <p:cNvSpPr/>
          <p:nvPr/>
        </p:nvSpPr>
        <p:spPr>
          <a:xfrm>
            <a:off x="686943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Liquidity Benefit</a:t>
            </a:r>
            <a:endParaRPr lang="en-US" sz="1000" dirty="0"/>
          </a:p>
        </p:txBody>
      </p:sp>
      <p:sp>
        <p:nvSpPr>
          <p:cNvPr id="27" name="Text 25"/>
          <p:cNvSpPr/>
          <p:nvPr/>
        </p:nvSpPr>
        <p:spPr>
          <a:xfrm>
            <a:off x="686943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Without secondary markets, investors would be locked in. This would kill primary market demand.</a:t>
            </a:r>
            <a:endParaRPr lang="en-US" sz="850" dirty="0"/>
          </a:p>
        </p:txBody>
      </p:sp>
      <p:sp>
        <p:nvSpPr>
          <p:cNvPr id="28" name="Shape 26"/>
          <p:cNvSpPr/>
          <p:nvPr/>
        </p:nvSpPr>
        <p:spPr>
          <a:xfrm>
            <a:off x="0" y="4818888"/>
            <a:ext cx="2011680" cy="324612"/>
          </a:xfrm>
          <a:prstGeom prst="rect">
            <a:avLst/>
          </a:prstGeom>
          <a:solidFill>
            <a:srgbClr val="101C4F"/>
          </a:solidFill>
          <a:ln w="12700">
            <a:solidFill>
              <a:srgbClr val="101C4F"/>
            </a:solidFill>
            <a:prstDash val="solid"/>
          </a:ln>
        </p:spPr>
      </p:sp>
      <p:sp>
        <p:nvSpPr>
          <p:cNvPr id="29" name="Text 27"/>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D1.3</a:t>
            </a:r>
            <a:endParaRPr lang="en-US" sz="800" dirty="0"/>
          </a:p>
        </p:txBody>
      </p:sp>
      <p:sp>
        <p:nvSpPr>
          <p:cNvPr id="30" name="Text 28"/>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GOING DEEPER</a:t>
            </a:r>
            <a:endParaRPr lang="en-US" sz="1000" dirty="0"/>
          </a:p>
        </p:txBody>
      </p:sp>
      <p:sp>
        <p:nvSpPr>
          <p:cNvPr id="4" name="Text 2"/>
          <p:cNvSpPr/>
          <p:nvPr/>
        </p:nvSpPr>
        <p:spPr>
          <a:xfrm>
            <a:off x="365760" y="777240"/>
            <a:ext cx="8412480" cy="457200"/>
          </a:xfrm>
          <a:prstGeom prst="rect">
            <a:avLst/>
          </a:prstGeom>
          <a:noFill/>
          <a:ln/>
        </p:spPr>
        <p:txBody>
          <a:bodyPr wrap="square" lIns="0" tIns="0" rIns="0" bIns="0" rtlCol="0" anchor="ctr"/>
          <a:lstStyle/>
          <a:p>
            <a:pPr indent="0" marL="0">
              <a:buNone/>
            </a:pPr>
            <a:r>
              <a:rPr lang="en-US" sz="1800" b="1" dirty="0">
                <a:solidFill>
                  <a:srgbClr val="101C4F"/>
                </a:solidFill>
              </a:rPr>
              <a:t>Why Secondary Markets Enable Primary Markets</a:t>
            </a:r>
            <a:endParaRPr lang="en-US" sz="1800" dirty="0"/>
          </a:p>
        </p:txBody>
      </p:sp>
      <p:sp>
        <p:nvSpPr>
          <p:cNvPr id="5" name="Shape 3"/>
          <p:cNvSpPr/>
          <p:nvPr/>
        </p:nvSpPr>
        <p:spPr>
          <a:xfrm>
            <a:off x="365760" y="1417320"/>
            <a:ext cx="4846320" cy="1005840"/>
          </a:xfrm>
          <a:prstGeom prst="rect">
            <a:avLst/>
          </a:prstGeom>
          <a:solidFill>
            <a:srgbClr val="F2F4F8"/>
          </a:solidFill>
          <a:ln w="12700">
            <a:solidFill>
              <a:srgbClr val="E0E4EE"/>
            </a:solidFill>
            <a:prstDash val="solid"/>
          </a:ln>
        </p:spPr>
      </p:sp>
      <p:sp>
        <p:nvSpPr>
          <p:cNvPr id="6" name="Shape 4"/>
          <p:cNvSpPr/>
          <p:nvPr/>
        </p:nvSpPr>
        <p:spPr>
          <a:xfrm>
            <a:off x="365760" y="1417320"/>
            <a:ext cx="73152" cy="1005840"/>
          </a:xfrm>
          <a:prstGeom prst="rect">
            <a:avLst/>
          </a:prstGeom>
          <a:solidFill>
            <a:srgbClr val="101C4F"/>
          </a:solidFill>
          <a:ln w="12700">
            <a:solidFill>
              <a:srgbClr val="101C4F"/>
            </a:solidFill>
            <a:prstDash val="solid"/>
          </a:ln>
        </p:spPr>
      </p:sp>
      <p:sp>
        <p:nvSpPr>
          <p:cNvPr id="7" name="Text 5"/>
          <p:cNvSpPr/>
          <p:nvPr/>
        </p:nvSpPr>
        <p:spPr>
          <a:xfrm>
            <a:off x="548640" y="1472184"/>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THE CHICKEN-AND-EGG PROBLEM</a:t>
            </a:r>
            <a:endParaRPr lang="en-US" sz="1000" dirty="0"/>
          </a:p>
        </p:txBody>
      </p:sp>
      <p:sp>
        <p:nvSpPr>
          <p:cNvPr id="8" name="Text 6"/>
          <p:cNvSpPr/>
          <p:nvPr/>
        </p:nvSpPr>
        <p:spPr>
          <a:xfrm>
            <a:off x="548640" y="1764792"/>
            <a:ext cx="4480560" cy="566928"/>
          </a:xfrm>
          <a:prstGeom prst="rect">
            <a:avLst/>
          </a:prstGeom>
          <a:noFill/>
          <a:ln/>
        </p:spPr>
        <p:txBody>
          <a:bodyPr wrap="square" lIns="0" tIns="0" rIns="0" bIns="0" rtlCol="0" anchor="ctr"/>
          <a:lstStyle/>
          <a:p>
            <a:pPr indent="0" marL="0">
              <a:buNone/>
            </a:pPr>
            <a:r>
              <a:rPr lang="en-US" sz="900" dirty="0">
                <a:solidFill>
                  <a:srgbClr val="1A2340"/>
                </a:solidFill>
              </a:rPr>
              <a:t>Would you invest in an IPO if you could never sell? No. Secondary market liquidity makes primary investment rational.</a:t>
            </a:r>
            <a:endParaRPr lang="en-US" sz="900" dirty="0"/>
          </a:p>
        </p:txBody>
      </p:sp>
      <p:sp>
        <p:nvSpPr>
          <p:cNvPr id="9" name="Shape 7"/>
          <p:cNvSpPr/>
          <p:nvPr/>
        </p:nvSpPr>
        <p:spPr>
          <a:xfrm>
            <a:off x="365760" y="2532888"/>
            <a:ext cx="4846320" cy="1005840"/>
          </a:xfrm>
          <a:prstGeom prst="rect">
            <a:avLst/>
          </a:prstGeom>
          <a:solidFill>
            <a:srgbClr val="F2F4F8"/>
          </a:solidFill>
          <a:ln w="12700">
            <a:solidFill>
              <a:srgbClr val="E0E4EE"/>
            </a:solidFill>
            <a:prstDash val="solid"/>
          </a:ln>
        </p:spPr>
      </p:sp>
      <p:sp>
        <p:nvSpPr>
          <p:cNvPr id="10" name="Shape 8"/>
          <p:cNvSpPr/>
          <p:nvPr/>
        </p:nvSpPr>
        <p:spPr>
          <a:xfrm>
            <a:off x="365760" y="2532888"/>
            <a:ext cx="73152" cy="1005840"/>
          </a:xfrm>
          <a:prstGeom prst="rect">
            <a:avLst/>
          </a:prstGeom>
          <a:solidFill>
            <a:srgbClr val="101C4F"/>
          </a:solidFill>
          <a:ln w="12700">
            <a:solidFill>
              <a:srgbClr val="101C4F"/>
            </a:solidFill>
            <a:prstDash val="solid"/>
          </a:ln>
        </p:spPr>
      </p:sp>
      <p:sp>
        <p:nvSpPr>
          <p:cNvPr id="11" name="Text 9"/>
          <p:cNvSpPr/>
          <p:nvPr/>
        </p:nvSpPr>
        <p:spPr>
          <a:xfrm>
            <a:off x="548640" y="2587752"/>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PRICE SIGNAL</a:t>
            </a:r>
            <a:endParaRPr lang="en-US" sz="1000" dirty="0"/>
          </a:p>
        </p:txBody>
      </p:sp>
      <p:sp>
        <p:nvSpPr>
          <p:cNvPr id="12" name="Text 10"/>
          <p:cNvSpPr/>
          <p:nvPr/>
        </p:nvSpPr>
        <p:spPr>
          <a:xfrm>
            <a:off x="548640" y="2880360"/>
            <a:ext cx="4480560" cy="566928"/>
          </a:xfrm>
          <a:prstGeom prst="rect">
            <a:avLst/>
          </a:prstGeom>
          <a:noFill/>
          <a:ln/>
        </p:spPr>
        <p:txBody>
          <a:bodyPr wrap="square" lIns="0" tIns="0" rIns="0" bIns="0" rtlCol="0" anchor="ctr"/>
          <a:lstStyle/>
          <a:p>
            <a:pPr indent="0" marL="0">
              <a:buNone/>
            </a:pPr>
            <a:r>
              <a:rPr lang="en-US" sz="900" dirty="0">
                <a:solidFill>
                  <a:srgbClr val="1A2340"/>
                </a:solidFill>
              </a:rPr>
              <a:t>Secondary market prices guide primary issuance. If Zomato's secondary price stays strong, future IPOs can price confidently.</a:t>
            </a:r>
            <a:endParaRPr lang="en-US" sz="900" dirty="0"/>
          </a:p>
        </p:txBody>
      </p:sp>
      <p:sp>
        <p:nvSpPr>
          <p:cNvPr id="13" name="Shape 11"/>
          <p:cNvSpPr/>
          <p:nvPr/>
        </p:nvSpPr>
        <p:spPr>
          <a:xfrm>
            <a:off x="365760" y="3648456"/>
            <a:ext cx="4846320" cy="1005840"/>
          </a:xfrm>
          <a:prstGeom prst="rect">
            <a:avLst/>
          </a:prstGeom>
          <a:solidFill>
            <a:srgbClr val="F2F4F8"/>
          </a:solidFill>
          <a:ln w="12700">
            <a:solidFill>
              <a:srgbClr val="E0E4EE"/>
            </a:solidFill>
            <a:prstDash val="solid"/>
          </a:ln>
        </p:spPr>
      </p:sp>
      <p:sp>
        <p:nvSpPr>
          <p:cNvPr id="14" name="Shape 12"/>
          <p:cNvSpPr/>
          <p:nvPr/>
        </p:nvSpPr>
        <p:spPr>
          <a:xfrm>
            <a:off x="365760" y="3648456"/>
            <a:ext cx="73152" cy="1005840"/>
          </a:xfrm>
          <a:prstGeom prst="rect">
            <a:avLst/>
          </a:prstGeom>
          <a:solidFill>
            <a:srgbClr val="101C4F"/>
          </a:solidFill>
          <a:ln w="12700">
            <a:solidFill>
              <a:srgbClr val="101C4F"/>
            </a:solidFill>
            <a:prstDash val="solid"/>
          </a:ln>
        </p:spPr>
      </p:sp>
      <p:sp>
        <p:nvSpPr>
          <p:cNvPr id="15" name="Text 13"/>
          <p:cNvSpPr/>
          <p:nvPr/>
        </p:nvSpPr>
        <p:spPr>
          <a:xfrm>
            <a:off x="548640" y="3703320"/>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INDIA IN NUMBERS</a:t>
            </a:r>
            <a:endParaRPr lang="en-US" sz="1000" dirty="0"/>
          </a:p>
        </p:txBody>
      </p:sp>
      <p:sp>
        <p:nvSpPr>
          <p:cNvPr id="16" name="Text 14"/>
          <p:cNvSpPr/>
          <p:nvPr/>
        </p:nvSpPr>
        <p:spPr>
          <a:xfrm>
            <a:off x="548640" y="3995928"/>
            <a:ext cx="4480560" cy="566928"/>
          </a:xfrm>
          <a:prstGeom prst="rect">
            <a:avLst/>
          </a:prstGeom>
          <a:noFill/>
          <a:ln/>
        </p:spPr>
        <p:txBody>
          <a:bodyPr wrap="square" lIns="0" tIns="0" rIns="0" bIns="0" rtlCol="0" anchor="ctr"/>
          <a:lstStyle/>
          <a:p>
            <a:pPr indent="0" marL="0">
              <a:buNone/>
            </a:pPr>
            <a:r>
              <a:rPr lang="en-US" sz="900" dirty="0">
                <a:solidFill>
                  <a:srgbClr val="1A2340"/>
                </a:solidFill>
              </a:rPr>
              <a:t>NSE daily turnover: ~₹1-2 lakh crore. Annual IPO fundraising: ₹50,000-1,00,000 crore. Secondary &gt;&gt; Primary in volume, but primary creates the assets.</a:t>
            </a:r>
            <a:endParaRPr lang="en-US" sz="900" dirty="0"/>
          </a:p>
        </p:txBody>
      </p:sp>
      <p:sp>
        <p:nvSpPr>
          <p:cNvPr id="17" name="Shape 15"/>
          <p:cNvSpPr/>
          <p:nvPr/>
        </p:nvSpPr>
        <p:spPr>
          <a:xfrm>
            <a:off x="5394960" y="1417320"/>
            <a:ext cx="3383280" cy="2532888"/>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2000"/>
              </a:srgbClr>
            </a:outerShdw>
          </a:effectLst>
        </p:spPr>
      </p:sp>
      <p:sp>
        <p:nvSpPr>
          <p:cNvPr id="18" name="Text 16"/>
          <p:cNvSpPr/>
          <p:nvPr/>
        </p:nvSpPr>
        <p:spPr>
          <a:xfrm>
            <a:off x="5532120" y="1554480"/>
            <a:ext cx="3108960" cy="347472"/>
          </a:xfrm>
          <a:prstGeom prst="rect">
            <a:avLst/>
          </a:prstGeom>
          <a:noFill/>
          <a:ln/>
        </p:spPr>
        <p:txBody>
          <a:bodyPr wrap="square" lIns="0" tIns="0" rIns="0" bIns="0" rtlCol="0" anchor="ctr"/>
          <a:lstStyle/>
          <a:p>
            <a:pPr indent="0" marL="0">
              <a:buNone/>
            </a:pPr>
            <a:r>
              <a:rPr lang="en-US" sz="1000" b="1" spc="100" kern="0" dirty="0">
                <a:solidFill>
                  <a:srgbClr val="F0A800"/>
                </a:solidFill>
              </a:rPr>
              <a:t>KEY DISTINCTION</a:t>
            </a:r>
            <a:endParaRPr lang="en-US" sz="1000" dirty="0"/>
          </a:p>
        </p:txBody>
      </p:sp>
      <p:sp>
        <p:nvSpPr>
          <p:cNvPr id="19" name="Text 17"/>
          <p:cNvSpPr/>
          <p:nvPr/>
        </p:nvSpPr>
        <p:spPr>
          <a:xfrm>
            <a:off x="5532120" y="1938528"/>
            <a:ext cx="3108960" cy="1920240"/>
          </a:xfrm>
          <a:prstGeom prst="rect">
            <a:avLst/>
          </a:prstGeom>
          <a:noFill/>
          <a:ln/>
        </p:spPr>
        <p:txBody>
          <a:bodyPr wrap="square" lIns="0" tIns="0" rIns="0" bIns="0" rtlCol="0" anchor="ctr"/>
          <a:lstStyle/>
          <a:p>
            <a:pPr indent="0" marL="0">
              <a:buNone/>
            </a:pPr>
            <a:r>
              <a:rPr lang="en-US" sz="950" dirty="0">
                <a:solidFill>
                  <a:srgbClr val="FFFFFF"/>
                </a:solidFill>
              </a:rPr>
              <a:t>PRIMARY MARKET:</a:t>
            </a:r>
            <a:endParaRPr lang="en-US" sz="950" dirty="0"/>
          </a:p>
          <a:p>
            <a:pPr indent="0" marL="0">
              <a:buNone/>
            </a:pPr>
            <a:r>
              <a:rPr lang="en-US" sz="950" dirty="0">
                <a:solidFill>
                  <a:srgbClr val="FFFFFF"/>
                </a:solidFill>
              </a:rPr>
              <a:t>• Zomato raises ₹9,375 cr</a:t>
            </a:r>
            <a:endParaRPr lang="en-US" sz="950" dirty="0"/>
          </a:p>
          <a:p>
            <a:pPr indent="0" marL="0">
              <a:buNone/>
            </a:pPr>
            <a:r>
              <a:rPr lang="en-US" sz="950" dirty="0">
                <a:solidFill>
                  <a:srgbClr val="FFFFFF"/>
                </a:solidFill>
              </a:rPr>
              <a:t>• Money → Zomato</a:t>
            </a:r>
            <a:endParaRPr lang="en-US" sz="950" dirty="0"/>
          </a:p>
          <a:p>
            <a:pPr indent="0" marL="0">
              <a:buNone/>
            </a:pPr>
            <a:r>
              <a:rPr lang="en-US" sz="950" dirty="0">
                <a:solidFill>
                  <a:srgbClr val="FFFFFF"/>
                </a:solidFill>
              </a:rPr>
              <a:t>• New shares created</a:t>
            </a:r>
            <a:endParaRPr lang="en-US" sz="950" dirty="0"/>
          </a:p>
          <a:p>
            <a:pPr indent="0" marL="0">
              <a:buNone/>
            </a:pPr>
            <a:r>
              <a:rPr lang="en-US" sz="950" dirty="0">
                <a:solidFill>
                  <a:srgbClr val="FFFFFF"/>
                </a:solidFill>
              </a:rPr>
              <a:t>• SEBI DRHP process</a:t>
            </a:r>
            <a:endParaRPr lang="en-US" sz="950" dirty="0"/>
          </a:p>
          <a:p>
            <a:pPr indent="0" marL="0">
              <a:buNone/>
            </a:pPr>
            <a:endParaRPr lang="en-US" sz="950" dirty="0"/>
          </a:p>
          <a:p>
            <a:pPr indent="0" marL="0">
              <a:buNone/>
            </a:pPr>
            <a:r>
              <a:rPr lang="en-US" sz="950" dirty="0">
                <a:solidFill>
                  <a:srgbClr val="FFFFFF"/>
                </a:solidFill>
              </a:rPr>
              <a:t>SECONDARY MARKET:</a:t>
            </a:r>
            <a:endParaRPr lang="en-US" sz="950" dirty="0"/>
          </a:p>
          <a:p>
            <a:pPr indent="0" marL="0">
              <a:buNone/>
            </a:pPr>
            <a:r>
              <a:rPr lang="en-US" sz="950" dirty="0">
                <a:solidFill>
                  <a:srgbClr val="FFFFFF"/>
                </a:solidFill>
              </a:rPr>
              <a:t>• Kavi buys Zomato on NSE</a:t>
            </a:r>
            <a:endParaRPr lang="en-US" sz="950" dirty="0"/>
          </a:p>
          <a:p>
            <a:pPr indent="0" marL="0">
              <a:buNone/>
            </a:pPr>
            <a:r>
              <a:rPr lang="en-US" sz="950" dirty="0">
                <a:solidFill>
                  <a:srgbClr val="FFFFFF"/>
                </a:solidFill>
              </a:rPr>
              <a:t>• Money → selling investor</a:t>
            </a:r>
            <a:endParaRPr lang="en-US" sz="950" dirty="0"/>
          </a:p>
          <a:p>
            <a:pPr indent="0" marL="0">
              <a:buNone/>
            </a:pPr>
            <a:r>
              <a:rPr lang="en-US" sz="950" dirty="0">
                <a:solidFill>
                  <a:srgbClr val="FFFFFF"/>
                </a:solidFill>
              </a:rPr>
              <a:t>• No new shares</a:t>
            </a:r>
            <a:endParaRPr lang="en-US" sz="950" dirty="0"/>
          </a:p>
          <a:p>
            <a:pPr indent="0" marL="0">
              <a:buNone/>
            </a:pPr>
            <a:r>
              <a:rPr lang="en-US" sz="950" dirty="0">
                <a:solidFill>
                  <a:srgbClr val="FFFFFF"/>
                </a:solidFill>
              </a:rPr>
              <a:t>• Exchange order book</a:t>
            </a:r>
            <a:endParaRPr lang="en-US" sz="950" dirty="0"/>
          </a:p>
          <a:p>
            <a:pPr indent="0" marL="0">
              <a:buNone/>
            </a:pPr>
            <a:endParaRPr lang="en-US" sz="950" dirty="0"/>
          </a:p>
          <a:p>
            <a:pPr indent="0" marL="0">
              <a:buNone/>
            </a:pPr>
            <a:r>
              <a:rPr lang="en-US" sz="950" dirty="0">
                <a:solidFill>
                  <a:srgbClr val="FFFFFF"/>
                </a:solidFill>
              </a:rPr>
              <a:t>'Primary creates. Secondary circulates.'</a:t>
            </a:r>
            <a:endParaRPr lang="en-US" sz="950" dirty="0"/>
          </a:p>
        </p:txBody>
      </p:sp>
      <p:sp>
        <p:nvSpPr>
          <p:cNvPr id="20" name="Shape 18"/>
          <p:cNvSpPr/>
          <p:nvPr/>
        </p:nvSpPr>
        <p:spPr>
          <a:xfrm>
            <a:off x="0" y="4818888"/>
            <a:ext cx="2011680" cy="324612"/>
          </a:xfrm>
          <a:prstGeom prst="rect">
            <a:avLst/>
          </a:prstGeom>
          <a:solidFill>
            <a:srgbClr val="101C4F"/>
          </a:solidFill>
          <a:ln w="12700">
            <a:solidFill>
              <a:srgbClr val="101C4F"/>
            </a:solidFill>
            <a:prstDash val="solid"/>
          </a:ln>
        </p:spPr>
      </p:sp>
      <p:sp>
        <p:nvSpPr>
          <p:cNvPr id="21" name="Text 19"/>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D1.3</a:t>
            </a:r>
            <a:endParaRPr lang="en-US" sz="800" dirty="0"/>
          </a:p>
        </p:txBody>
      </p:sp>
      <p:sp>
        <p:nvSpPr>
          <p:cNvPr id="22" name="Text 20"/>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101C4F"/>
                </a:solidFill>
              </a:rPr>
              <a:t>💬  THINK &amp; DISCUSS</a:t>
            </a:r>
            <a:endParaRPr lang="en-US" sz="1000" dirty="0"/>
          </a:p>
        </p:txBody>
      </p:sp>
      <p:sp>
        <p:nvSpPr>
          <p:cNvPr id="4" name="Text 2"/>
          <p:cNvSpPr/>
          <p:nvPr/>
        </p:nvSpPr>
        <p:spPr>
          <a:xfrm>
            <a:off x="457200" y="822960"/>
            <a:ext cx="8229600" cy="777240"/>
          </a:xfrm>
          <a:prstGeom prst="rect">
            <a:avLst/>
          </a:prstGeom>
          <a:noFill/>
          <a:ln/>
        </p:spPr>
        <p:txBody>
          <a:bodyPr wrap="square" lIns="0" tIns="0" rIns="0" bIns="0" rtlCol="0" anchor="ctr"/>
          <a:lstStyle/>
          <a:p>
            <a:pPr algn="ctr" indent="0" marL="0">
              <a:buNone/>
            </a:pPr>
            <a:r>
              <a:rPr lang="en-US" sz="1500" b="1" dirty="0">
                <a:solidFill>
                  <a:srgbClr val="101C4F"/>
                </a:solidFill>
              </a:rPr>
              <a:t>A company's share price crashes 50% in the secondary market. Should the company be worried?</a:t>
            </a:r>
            <a:endParaRPr lang="en-US" sz="1500" dirty="0"/>
          </a:p>
        </p:txBody>
      </p:sp>
      <p:sp>
        <p:nvSpPr>
          <p:cNvPr id="5" name="Shape 3"/>
          <p:cNvSpPr/>
          <p:nvPr/>
        </p:nvSpPr>
        <p:spPr>
          <a:xfrm>
            <a:off x="4572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457200" y="1737360"/>
            <a:ext cx="3977640" cy="73152"/>
          </a:xfrm>
          <a:prstGeom prst="rect">
            <a:avLst/>
          </a:prstGeom>
          <a:solidFill>
            <a:srgbClr val="007A87"/>
          </a:solidFill>
          <a:ln w="12700">
            <a:solidFill>
              <a:srgbClr val="007A87"/>
            </a:solidFill>
            <a:prstDash val="solid"/>
          </a:ln>
        </p:spPr>
      </p:sp>
      <p:sp>
        <p:nvSpPr>
          <p:cNvPr id="7" name="Text 5"/>
          <p:cNvSpPr/>
          <p:nvPr/>
        </p:nvSpPr>
        <p:spPr>
          <a:xfrm>
            <a:off x="594360" y="1828800"/>
            <a:ext cx="3657600" cy="320040"/>
          </a:xfrm>
          <a:prstGeom prst="rect">
            <a:avLst/>
          </a:prstGeom>
          <a:noFill/>
          <a:ln/>
        </p:spPr>
        <p:txBody>
          <a:bodyPr wrap="square" lIns="0" tIns="0" rIns="0" bIns="0" rtlCol="0" anchor="ctr"/>
          <a:lstStyle/>
          <a:p>
            <a:pPr indent="0" marL="0">
              <a:buNone/>
            </a:pPr>
            <a:r>
              <a:rPr lang="en-US" sz="1000" b="1" dirty="0">
                <a:solidFill>
                  <a:srgbClr val="007A87"/>
                </a:solidFill>
              </a:rPr>
              <a:t>🟢 NOT DIRECTLY WORRIED</a:t>
            </a:r>
            <a:endParaRPr lang="en-US" sz="1000" dirty="0"/>
          </a:p>
        </p:txBody>
      </p:sp>
      <p:sp>
        <p:nvSpPr>
          <p:cNvPr id="8" name="Text 6"/>
          <p:cNvSpPr/>
          <p:nvPr/>
        </p:nvSpPr>
        <p:spPr>
          <a:xfrm>
            <a:off x="5943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The company already raised money in the IPO. Secondary market prices don't directly give or take money from the company.</a:t>
            </a:r>
            <a:endParaRPr lang="en-US" sz="950" dirty="0"/>
          </a:p>
        </p:txBody>
      </p:sp>
      <p:sp>
        <p:nvSpPr>
          <p:cNvPr id="9" name="Shape 7"/>
          <p:cNvSpPr/>
          <p:nvPr/>
        </p:nvSpPr>
        <p:spPr>
          <a:xfrm>
            <a:off x="48006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4800600" y="1737360"/>
            <a:ext cx="3977640" cy="73152"/>
          </a:xfrm>
          <a:prstGeom prst="rect">
            <a:avLst/>
          </a:prstGeom>
          <a:solidFill>
            <a:srgbClr val="101C4F"/>
          </a:solidFill>
          <a:ln w="12700">
            <a:solidFill>
              <a:srgbClr val="101C4F"/>
            </a:solidFill>
            <a:prstDash val="solid"/>
          </a:ln>
        </p:spPr>
      </p:sp>
      <p:sp>
        <p:nvSpPr>
          <p:cNvPr id="11" name="Text 9"/>
          <p:cNvSpPr/>
          <p:nvPr/>
        </p:nvSpPr>
        <p:spPr>
          <a:xfrm>
            <a:off x="4937760" y="1828800"/>
            <a:ext cx="3657600" cy="320040"/>
          </a:xfrm>
          <a:prstGeom prst="rect">
            <a:avLst/>
          </a:prstGeom>
          <a:noFill/>
          <a:ln/>
        </p:spPr>
        <p:txBody>
          <a:bodyPr wrap="square" lIns="0" tIns="0" rIns="0" bIns="0" rtlCol="0" anchor="ctr"/>
          <a:lstStyle/>
          <a:p>
            <a:pPr indent="0" marL="0">
              <a:buNone/>
            </a:pPr>
            <a:r>
              <a:rPr lang="en-US" sz="1000" b="1" dirty="0">
                <a:solidFill>
                  <a:srgbClr val="101C4F"/>
                </a:solidFill>
              </a:rPr>
              <a:t>🔴 VERY WORRIED, ACTUALLY</a:t>
            </a:r>
            <a:endParaRPr lang="en-US" sz="1000" dirty="0"/>
          </a:p>
        </p:txBody>
      </p:sp>
      <p:sp>
        <p:nvSpPr>
          <p:cNvPr id="12" name="Text 10"/>
          <p:cNvSpPr/>
          <p:nvPr/>
        </p:nvSpPr>
        <p:spPr>
          <a:xfrm>
            <a:off x="49377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Low share price → expensive future equity issuance. Management credibility hit. Employee ESOP value destroyed. M&amp;A becomes harder.</a:t>
            </a:r>
            <a:endParaRPr lang="en-US" sz="950" dirty="0"/>
          </a:p>
        </p:txBody>
      </p:sp>
      <p:sp>
        <p:nvSpPr>
          <p:cNvPr id="13" name="Shape 11"/>
          <p:cNvSpPr/>
          <p:nvPr/>
        </p:nvSpPr>
        <p:spPr>
          <a:xfrm>
            <a:off x="457200" y="3337560"/>
            <a:ext cx="8229600" cy="777240"/>
          </a:xfrm>
          <a:prstGeom prst="rect">
            <a:avLst/>
          </a:prstGeom>
          <a:solidFill>
            <a:srgbClr val="007A87"/>
          </a:solidFill>
          <a:ln w="12700">
            <a:solidFill>
              <a:srgbClr val="007A87"/>
            </a:solidFill>
            <a:prstDash val="solid"/>
          </a:ln>
        </p:spPr>
      </p:sp>
      <p:sp>
        <p:nvSpPr>
          <p:cNvPr id="14" name="Text 12"/>
          <p:cNvSpPr/>
          <p:nvPr/>
        </p:nvSpPr>
        <p:spPr>
          <a:xfrm>
            <a:off x="640080" y="3337560"/>
            <a:ext cx="7863840" cy="777240"/>
          </a:xfrm>
          <a:prstGeom prst="rect">
            <a:avLst/>
          </a:prstGeom>
          <a:noFill/>
          <a:ln/>
        </p:spPr>
        <p:txBody>
          <a:bodyPr wrap="square" lIns="0" tIns="0" rIns="0" bIns="0" rtlCol="0" anchor="ctr"/>
          <a:lstStyle/>
          <a:p>
            <a:pPr indent="0" marL="0">
              <a:buNone/>
            </a:pPr>
            <a:r>
              <a:rPr lang="en-US" sz="1000" dirty="0">
                <a:solidFill>
                  <a:srgbClr val="FFFFFF"/>
                </a:solidFill>
              </a:rPr>
              <a:t>💡 Both are right. The company doesn't lose primary capital — but a crashed secondary price affects future fundraising, management, employees, and market perception. It indirectly matters enormously.</a:t>
            </a:r>
            <a:endParaRPr lang="en-US" sz="1000" dirty="0"/>
          </a:p>
        </p:txBody>
      </p:sp>
      <p:sp>
        <p:nvSpPr>
          <p:cNvPr id="15" name="Shape 13"/>
          <p:cNvSpPr/>
          <p:nvPr/>
        </p:nvSpPr>
        <p:spPr>
          <a:xfrm>
            <a:off x="0" y="4818888"/>
            <a:ext cx="2011680" cy="324612"/>
          </a:xfrm>
          <a:prstGeom prst="rect">
            <a:avLst/>
          </a:prstGeom>
          <a:solidFill>
            <a:srgbClr val="101C4F"/>
          </a:solidFill>
          <a:ln w="12700">
            <a:solidFill>
              <a:srgbClr val="101C4F"/>
            </a:solidFill>
            <a:prstDash val="solid"/>
          </a:ln>
        </p:spPr>
      </p:sp>
      <p:sp>
        <p:nvSpPr>
          <p:cNvPr id="16" name="Text 14"/>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D1.3</a:t>
            </a:r>
            <a:endParaRPr lang="en-US" sz="800" dirty="0"/>
          </a:p>
        </p:txBody>
      </p:sp>
      <p:sp>
        <p:nvSpPr>
          <p:cNvPr id="17" name="Text 15"/>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INTERVIEW READY</a:t>
            </a:r>
            <a:endParaRPr lang="en-US" sz="1000" dirty="0"/>
          </a:p>
        </p:txBody>
      </p:sp>
      <p:sp>
        <p:nvSpPr>
          <p:cNvPr id="4" name="Text 2"/>
          <p:cNvSpPr/>
          <p:nvPr/>
        </p:nvSpPr>
        <p:spPr>
          <a:xfrm>
            <a:off x="365760" y="777240"/>
            <a:ext cx="8412480" cy="384048"/>
          </a:xfrm>
          <a:prstGeom prst="rect">
            <a:avLst/>
          </a:prstGeom>
          <a:noFill/>
          <a:ln/>
        </p:spPr>
        <p:txBody>
          <a:bodyPr wrap="square" lIns="0" tIns="0" rIns="0" bIns="0" rtlCol="0" anchor="ctr"/>
          <a:lstStyle/>
          <a:p>
            <a:pPr indent="0" marL="0">
              <a:buNone/>
            </a:pPr>
            <a:r>
              <a:rPr lang="en-US" sz="1200" i="1" dirty="0">
                <a:solidFill>
                  <a:srgbClr val="4A5568"/>
                </a:solidFill>
              </a:rPr>
              <a:t>Questions you WILL get asked — know these cold.</a:t>
            </a:r>
            <a:endParaRPr lang="en-US" sz="1200" dirty="0"/>
          </a:p>
        </p:txBody>
      </p:sp>
      <p:sp>
        <p:nvSpPr>
          <p:cNvPr id="5" name="Shape 3"/>
          <p:cNvSpPr/>
          <p:nvPr/>
        </p:nvSpPr>
        <p:spPr>
          <a:xfrm>
            <a:off x="365760" y="128016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65760" y="1280160"/>
            <a:ext cx="73152" cy="987552"/>
          </a:xfrm>
          <a:prstGeom prst="rect">
            <a:avLst/>
          </a:prstGeom>
          <a:solidFill>
            <a:srgbClr val="F0A800"/>
          </a:solidFill>
          <a:ln w="12700">
            <a:solidFill>
              <a:srgbClr val="F0A800"/>
            </a:solidFill>
            <a:prstDash val="solid"/>
          </a:ln>
        </p:spPr>
      </p:sp>
      <p:sp>
        <p:nvSpPr>
          <p:cNvPr id="7" name="Text 5"/>
          <p:cNvSpPr/>
          <p:nvPr/>
        </p:nvSpPr>
        <p:spPr>
          <a:xfrm>
            <a:off x="548640" y="133502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Q1: What is the difference between primary and secondary markets?</a:t>
            </a:r>
            <a:endParaRPr lang="en-US" sz="1000" dirty="0"/>
          </a:p>
        </p:txBody>
      </p:sp>
      <p:sp>
        <p:nvSpPr>
          <p:cNvPr id="8" name="Text 6"/>
          <p:cNvSpPr/>
          <p:nvPr/>
        </p:nvSpPr>
        <p:spPr>
          <a:xfrm>
            <a:off x="548640" y="1682496"/>
            <a:ext cx="8046720" cy="530352"/>
          </a:xfrm>
          <a:prstGeom prst="rect">
            <a:avLst/>
          </a:prstGeom>
          <a:noFill/>
          <a:ln/>
        </p:spPr>
        <p:txBody>
          <a:bodyPr wrap="square" lIns="0" tIns="0" rIns="0" bIns="0" rtlCol="0" anchor="ctr"/>
          <a:lstStyle/>
          <a:p>
            <a:pPr indent="0" marL="0">
              <a:buNone/>
            </a:pPr>
            <a:r>
              <a:rPr lang="en-US" sz="950" dirty="0">
                <a:solidFill>
                  <a:srgbClr val="1A2340"/>
                </a:solidFill>
              </a:rPr>
              <a:t>→ Primary: new securities issued, capital flows to issuer (IPO, FPO). Secondary: existing securities traded between investors (NSE/BSE trading), no new capital to company.</a:t>
            </a:r>
            <a:endParaRPr lang="en-US" sz="950" dirty="0"/>
          </a:p>
        </p:txBody>
      </p:sp>
      <p:sp>
        <p:nvSpPr>
          <p:cNvPr id="9" name="Shape 7"/>
          <p:cNvSpPr/>
          <p:nvPr/>
        </p:nvSpPr>
        <p:spPr>
          <a:xfrm>
            <a:off x="365760" y="237744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365760" y="2377440"/>
            <a:ext cx="73152" cy="987552"/>
          </a:xfrm>
          <a:prstGeom prst="rect">
            <a:avLst/>
          </a:prstGeom>
          <a:solidFill>
            <a:srgbClr val="F0A800"/>
          </a:solidFill>
          <a:ln w="12700">
            <a:solidFill>
              <a:srgbClr val="F0A800"/>
            </a:solidFill>
            <a:prstDash val="solid"/>
          </a:ln>
        </p:spPr>
      </p:sp>
      <p:sp>
        <p:nvSpPr>
          <p:cNvPr id="11" name="Text 9"/>
          <p:cNvSpPr/>
          <p:nvPr/>
        </p:nvSpPr>
        <p:spPr>
          <a:xfrm>
            <a:off x="548640" y="243230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Q2: When Kavi buys Reliance shares on NSE, does Reliance receive any money?</a:t>
            </a:r>
            <a:endParaRPr lang="en-US" sz="1000" dirty="0"/>
          </a:p>
        </p:txBody>
      </p:sp>
      <p:sp>
        <p:nvSpPr>
          <p:cNvPr id="12" name="Text 10"/>
          <p:cNvSpPr/>
          <p:nvPr/>
        </p:nvSpPr>
        <p:spPr>
          <a:xfrm>
            <a:off x="548640" y="2779776"/>
            <a:ext cx="8046720" cy="530352"/>
          </a:xfrm>
          <a:prstGeom prst="rect">
            <a:avLst/>
          </a:prstGeom>
          <a:noFill/>
          <a:ln/>
        </p:spPr>
        <p:txBody>
          <a:bodyPr wrap="square" lIns="0" tIns="0" rIns="0" bIns="0" rtlCol="0" anchor="ctr"/>
          <a:lstStyle/>
          <a:p>
            <a:pPr indent="0" marL="0">
              <a:buNone/>
            </a:pPr>
            <a:r>
              <a:rPr lang="en-US" sz="950" dirty="0">
                <a:solidFill>
                  <a:srgbClr val="1A2340"/>
                </a:solidFill>
              </a:rPr>
              <a:t>→ No. He is buying from another investor in the secondary market. Reliance only received money when it originally issued shares — in the primary market.</a:t>
            </a:r>
            <a:endParaRPr lang="en-US" sz="950" dirty="0"/>
          </a:p>
        </p:txBody>
      </p:sp>
      <p:sp>
        <p:nvSpPr>
          <p:cNvPr id="13" name="Shape 11"/>
          <p:cNvSpPr/>
          <p:nvPr/>
        </p:nvSpPr>
        <p:spPr>
          <a:xfrm>
            <a:off x="365760" y="347472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365760" y="3474720"/>
            <a:ext cx="73152" cy="987552"/>
          </a:xfrm>
          <a:prstGeom prst="rect">
            <a:avLst/>
          </a:prstGeom>
          <a:solidFill>
            <a:srgbClr val="F0A800"/>
          </a:solidFill>
          <a:ln w="12700">
            <a:solidFill>
              <a:srgbClr val="F0A800"/>
            </a:solidFill>
            <a:prstDash val="solid"/>
          </a:ln>
        </p:spPr>
      </p:sp>
      <p:sp>
        <p:nvSpPr>
          <p:cNvPr id="15" name="Text 13"/>
          <p:cNvSpPr/>
          <p:nvPr/>
        </p:nvSpPr>
        <p:spPr>
          <a:xfrm>
            <a:off x="548640" y="352958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Q3: Why do secondary markets exist? What problem do they solve?</a:t>
            </a:r>
            <a:endParaRPr lang="en-US" sz="1000" dirty="0"/>
          </a:p>
        </p:txBody>
      </p:sp>
      <p:sp>
        <p:nvSpPr>
          <p:cNvPr id="16" name="Text 14"/>
          <p:cNvSpPr/>
          <p:nvPr/>
        </p:nvSpPr>
        <p:spPr>
          <a:xfrm>
            <a:off x="548640" y="3877056"/>
            <a:ext cx="8046720" cy="530352"/>
          </a:xfrm>
          <a:prstGeom prst="rect">
            <a:avLst/>
          </a:prstGeom>
          <a:noFill/>
          <a:ln/>
        </p:spPr>
        <p:txBody>
          <a:bodyPr wrap="square" lIns="0" tIns="0" rIns="0" bIns="0" rtlCol="0" anchor="ctr"/>
          <a:lstStyle/>
          <a:p>
            <a:pPr indent="0" marL="0">
              <a:buNone/>
            </a:pPr>
            <a:r>
              <a:rPr lang="en-US" sz="950" dirty="0">
                <a:solidFill>
                  <a:srgbClr val="1A2340"/>
                </a:solidFill>
              </a:rPr>
              <a:t>→ Liquidity. Without secondary markets, investors couldn't exit. If you can't sell, you won't buy in the first place — killing primary market capital formation.</a:t>
            </a:r>
            <a:endParaRPr lang="en-US" sz="950" dirty="0"/>
          </a:p>
        </p:txBody>
      </p:sp>
      <p:sp>
        <p:nvSpPr>
          <p:cNvPr id="17" name="Shape 15"/>
          <p:cNvSpPr/>
          <p:nvPr/>
        </p:nvSpPr>
        <p:spPr>
          <a:xfrm>
            <a:off x="0" y="4818888"/>
            <a:ext cx="2011680" cy="324612"/>
          </a:xfrm>
          <a:prstGeom prst="rect">
            <a:avLst/>
          </a:prstGeom>
          <a:solidFill>
            <a:srgbClr val="101C4F"/>
          </a:solidFill>
          <a:ln w="12700">
            <a:solidFill>
              <a:srgbClr val="101C4F"/>
            </a:solidFill>
            <a:prstDash val="solid"/>
          </a:ln>
        </p:spPr>
      </p:sp>
      <p:sp>
        <p:nvSpPr>
          <p:cNvPr id="18" name="Text 16"/>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D1.3</a:t>
            </a:r>
            <a:endParaRPr lang="en-US" sz="800" dirty="0"/>
          </a:p>
        </p:txBody>
      </p:sp>
      <p:sp>
        <p:nvSpPr>
          <p:cNvPr id="19" name="Text 17"/>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A87"/>
          </a:solidFill>
          <a:ln w="12700">
            <a:solidFill>
              <a:srgbClr val="007A87"/>
            </a:solidFill>
            <a:prstDash val="solid"/>
          </a:ln>
        </p:spPr>
      </p:sp>
      <p:sp>
        <p:nvSpPr>
          <p:cNvPr id="3" name="Shape 1"/>
          <p:cNvSpPr/>
          <p:nvPr/>
        </p:nvSpPr>
        <p:spPr>
          <a:xfrm>
            <a:off x="384048" y="2212848"/>
            <a:ext cx="201168" cy="201168"/>
          </a:xfrm>
          <a:prstGeom prst="oval">
            <a:avLst/>
          </a:prstGeom>
          <a:solidFill>
            <a:srgbClr val="F0A800"/>
          </a:solidFill>
          <a:ln w="12700">
            <a:solidFill>
              <a:srgbClr val="F0A800"/>
            </a:solidFill>
            <a:prstDash val="solid"/>
          </a:ln>
        </p:spPr>
      </p:sp>
      <p:sp>
        <p:nvSpPr>
          <p:cNvPr id="4" name="Shape 2"/>
          <p:cNvSpPr/>
          <p:nvPr/>
        </p:nvSpPr>
        <p:spPr>
          <a:xfrm>
            <a:off x="457200" y="548640"/>
            <a:ext cx="1188720" cy="384048"/>
          </a:xfrm>
          <a:prstGeom prst="rect">
            <a:avLst/>
          </a:prstGeom>
          <a:solidFill>
            <a:srgbClr val="007A87"/>
          </a:solidFill>
          <a:ln w="12700">
            <a:solidFill>
              <a:srgbClr val="007A87"/>
            </a:solidFill>
            <a:prstDash val="solid"/>
          </a:ln>
        </p:spPr>
      </p:sp>
      <p:sp>
        <p:nvSpPr>
          <p:cNvPr id="5" name="Text 3"/>
          <p:cNvSpPr/>
          <p:nvPr/>
        </p:nvSpPr>
        <p:spPr>
          <a:xfrm>
            <a:off x="457200" y="548640"/>
            <a:ext cx="1188720" cy="384048"/>
          </a:xfrm>
          <a:prstGeom prst="rect">
            <a:avLst/>
          </a:prstGeom>
          <a:noFill/>
          <a:ln/>
        </p:spPr>
        <p:txBody>
          <a:bodyPr wrap="square" lIns="0" tIns="0" rIns="0" bIns="0" rtlCol="0" anchor="ctr"/>
          <a:lstStyle/>
          <a:p>
            <a:pPr algn="ctr" indent="0" marL="0">
              <a:buNone/>
            </a:pPr>
            <a:r>
              <a:rPr lang="en-US" sz="1200" b="1" dirty="0">
                <a:solidFill>
                  <a:srgbClr val="FFFFFF"/>
                </a:solidFill>
              </a:rPr>
              <a:t>D1.4</a:t>
            </a:r>
            <a:endParaRPr lang="en-US" sz="1200" dirty="0"/>
          </a:p>
        </p:txBody>
      </p:sp>
      <p:sp>
        <p:nvSpPr>
          <p:cNvPr id="6" name="Text 4"/>
          <p:cNvSpPr/>
          <p:nvPr/>
        </p:nvSpPr>
        <p:spPr>
          <a:xfrm>
            <a:off x="1828800" y="621792"/>
            <a:ext cx="2743200" cy="274320"/>
          </a:xfrm>
          <a:prstGeom prst="rect">
            <a:avLst/>
          </a:prstGeom>
          <a:noFill/>
          <a:ln/>
        </p:spPr>
        <p:txBody>
          <a:bodyPr wrap="square" lIns="0" tIns="0" rIns="0" bIns="0" rtlCol="0" anchor="ctr"/>
          <a:lstStyle/>
          <a:p>
            <a:pPr algn="l" indent="0" marL="0">
              <a:buNone/>
            </a:pPr>
            <a:r>
              <a:rPr lang="en-US" sz="900" dirty="0">
                <a:solidFill>
                  <a:srgbClr val="007A87"/>
                </a:solidFill>
              </a:rPr>
              <a:t>Unit 4 of 8</a:t>
            </a:r>
            <a:endParaRPr lang="en-US" sz="900" dirty="0"/>
          </a:p>
        </p:txBody>
      </p:sp>
      <p:sp>
        <p:nvSpPr>
          <p:cNvPr id="7" name="Text 5"/>
          <p:cNvSpPr/>
          <p:nvPr/>
        </p:nvSpPr>
        <p:spPr>
          <a:xfrm>
            <a:off x="457200" y="1143000"/>
            <a:ext cx="7772400" cy="1371600"/>
          </a:xfrm>
          <a:prstGeom prst="rect">
            <a:avLst/>
          </a:prstGeom>
          <a:noFill/>
          <a:ln/>
        </p:spPr>
        <p:txBody>
          <a:bodyPr wrap="square" lIns="0" tIns="0" rIns="0" bIns="0" rtlCol="0" anchor="ctr"/>
          <a:lstStyle/>
          <a:p>
            <a:pPr algn="l" indent="0" marL="0">
              <a:buNone/>
            </a:pPr>
            <a:r>
              <a:rPr lang="en-US" sz="3400" b="1" dirty="0">
                <a:solidFill>
                  <a:srgbClr val="FFFFFF"/>
                </a:solidFill>
              </a:rPr>
              <a:t>Market Participants</a:t>
            </a:r>
            <a:endParaRPr lang="en-US" sz="3400" dirty="0"/>
          </a:p>
        </p:txBody>
      </p:sp>
      <p:sp>
        <p:nvSpPr>
          <p:cNvPr id="8" name="Shape 6"/>
          <p:cNvSpPr/>
          <p:nvPr/>
        </p:nvSpPr>
        <p:spPr>
          <a:xfrm>
            <a:off x="457200" y="2697480"/>
            <a:ext cx="8229600" cy="45720"/>
          </a:xfrm>
          <a:prstGeom prst="rect">
            <a:avLst/>
          </a:prstGeom>
          <a:solidFill>
            <a:srgbClr val="007A87"/>
          </a:solidFill>
          <a:ln w="12700">
            <a:solidFill>
              <a:srgbClr val="007A87"/>
            </a:solidFill>
            <a:prstDash val="solid"/>
          </a:ln>
        </p:spPr>
      </p:sp>
      <p:sp>
        <p:nvSpPr>
          <p:cNvPr id="9" name="Text 7"/>
          <p:cNvSpPr/>
          <p:nvPr/>
        </p:nvSpPr>
        <p:spPr>
          <a:xfrm>
            <a:off x="457200" y="2834640"/>
            <a:ext cx="1463040" cy="320040"/>
          </a:xfrm>
          <a:prstGeom prst="rect">
            <a:avLst/>
          </a:prstGeom>
          <a:noFill/>
          <a:ln/>
        </p:spPr>
        <p:txBody>
          <a:bodyPr wrap="square" lIns="0" tIns="0" rIns="0" bIns="0" rtlCol="0" anchor="ctr"/>
          <a:lstStyle/>
          <a:p>
            <a:pPr algn="l" indent="0" marL="0">
              <a:buNone/>
            </a:pPr>
            <a:r>
              <a:rPr lang="en-US" sz="900" b="1" dirty="0">
                <a:solidFill>
                  <a:srgbClr val="F0A800"/>
                </a:solidFill>
              </a:rPr>
              <a:t>COMPETENCY:</a:t>
            </a:r>
            <a:endParaRPr lang="en-US" sz="900" dirty="0"/>
          </a:p>
        </p:txBody>
      </p:sp>
      <p:sp>
        <p:nvSpPr>
          <p:cNvPr id="10" name="Text 8"/>
          <p:cNvSpPr/>
          <p:nvPr/>
        </p:nvSpPr>
        <p:spPr>
          <a:xfrm>
            <a:off x="1920240" y="2834640"/>
            <a:ext cx="6766560" cy="320040"/>
          </a:xfrm>
          <a:prstGeom prst="rect">
            <a:avLst/>
          </a:prstGeom>
          <a:noFill/>
          <a:ln/>
        </p:spPr>
        <p:txBody>
          <a:bodyPr wrap="square" lIns="0" tIns="0" rIns="0" bIns="0" rtlCol="0" anchor="ctr"/>
          <a:lstStyle/>
          <a:p>
            <a:pPr algn="l" indent="0" marL="0">
              <a:buNone/>
            </a:pPr>
            <a:r>
              <a:rPr lang="en-US" sz="900" dirty="0">
                <a:solidFill>
                  <a:srgbClr val="A0B4D0"/>
                </a:solidFill>
              </a:rPr>
              <a:t>Capital Markets Literacy</a:t>
            </a:r>
            <a:endParaRPr lang="en-US" sz="900" dirty="0"/>
          </a:p>
        </p:txBody>
      </p:sp>
      <p:sp>
        <p:nvSpPr>
          <p:cNvPr id="11" name="Shape 9"/>
          <p:cNvSpPr/>
          <p:nvPr/>
        </p:nvSpPr>
        <p:spPr>
          <a:xfrm>
            <a:off x="164592" y="4818888"/>
            <a:ext cx="8979408" cy="324612"/>
          </a:xfrm>
          <a:prstGeom prst="rect">
            <a:avLst/>
          </a:prstGeom>
          <a:solidFill>
            <a:srgbClr val="F0A800"/>
          </a:solidFill>
          <a:ln w="12700">
            <a:solidFill>
              <a:srgbClr val="F0A800"/>
            </a:solidFill>
            <a:prstDash val="solid"/>
          </a:ln>
        </p:spPr>
      </p:sp>
      <p:sp>
        <p:nvSpPr>
          <p:cNvPr id="12" name="Text 10"/>
          <p:cNvSpPr/>
          <p:nvPr/>
        </p:nvSpPr>
        <p:spPr>
          <a:xfrm>
            <a:off x="457200" y="4818888"/>
            <a:ext cx="8229600" cy="324612"/>
          </a:xfrm>
          <a:prstGeom prst="rect">
            <a:avLst/>
          </a:prstGeom>
          <a:noFill/>
          <a:ln/>
        </p:spPr>
        <p:txBody>
          <a:bodyPr wrap="square" lIns="0" tIns="0" rIns="0" bIns="0" rtlCol="0" anchor="ctr"/>
          <a:lstStyle/>
          <a:p>
            <a:pPr algn="ctr" indent="0" marL="0">
              <a:buNone/>
            </a:pPr>
            <a:r>
              <a:rPr lang="en-US" sz="800" b="1" dirty="0">
                <a:solidFill>
                  <a:srgbClr val="101C4F"/>
                </a:solidFill>
              </a:rPr>
              <a:t>IMARTICUS LEARNING  ·  CIBOP  ·  MODULE 1</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3657600" cy="658368"/>
          </a:xfrm>
          <a:prstGeom prst="rect">
            <a:avLst/>
          </a:prstGeom>
          <a:noFill/>
          <a:ln/>
        </p:spPr>
        <p:txBody>
          <a:bodyPr wrap="square" lIns="0" tIns="0" rIns="0" bIns="0" rtlCol="0" anchor="ctr"/>
          <a:lstStyle/>
          <a:p>
            <a:pPr indent="0" marL="0">
              <a:buNone/>
            </a:pPr>
            <a:r>
              <a:rPr lang="en-US" sz="1000" b="1" spc="200" kern="0" dirty="0">
                <a:solidFill>
                  <a:srgbClr val="007A87"/>
                </a:solidFill>
              </a:rPr>
              <a:t>⟵  QUICK RECAP</a:t>
            </a:r>
            <a:endParaRPr lang="en-US" sz="1000" dirty="0"/>
          </a:p>
        </p:txBody>
      </p:sp>
      <p:sp>
        <p:nvSpPr>
          <p:cNvPr id="4" name="Text 2"/>
          <p:cNvSpPr/>
          <p:nvPr/>
        </p:nvSpPr>
        <p:spPr>
          <a:xfrm>
            <a:off x="4114800" y="0"/>
            <a:ext cx="4663440" cy="658368"/>
          </a:xfrm>
          <a:prstGeom prst="rect">
            <a:avLst/>
          </a:prstGeom>
          <a:noFill/>
          <a:ln/>
        </p:spPr>
        <p:txBody>
          <a:bodyPr wrap="square" lIns="0" tIns="0" rIns="0" bIns="0" rtlCol="0" anchor="ctr"/>
          <a:lstStyle/>
          <a:p>
            <a:pPr algn="r" indent="0" marL="0">
              <a:buNone/>
            </a:pPr>
            <a:r>
              <a:rPr lang="en-US" sz="900" dirty="0">
                <a:solidFill>
                  <a:srgbClr val="A0B4D0"/>
                </a:solidFill>
              </a:rPr>
              <a:t>D1.3 — Primary vs Secondary Markets</a:t>
            </a:r>
            <a:endParaRPr lang="en-US" sz="900" dirty="0"/>
          </a:p>
        </p:txBody>
      </p:sp>
      <p:sp>
        <p:nvSpPr>
          <p:cNvPr id="5" name="Text 3"/>
          <p:cNvSpPr/>
          <p:nvPr/>
        </p:nvSpPr>
        <p:spPr>
          <a:xfrm>
            <a:off x="457200" y="822960"/>
            <a:ext cx="8229600" cy="457200"/>
          </a:xfrm>
          <a:prstGeom prst="rect">
            <a:avLst/>
          </a:prstGeom>
          <a:noFill/>
          <a:ln/>
        </p:spPr>
        <p:txBody>
          <a:bodyPr wrap="square" lIns="0" tIns="0" rIns="0" bIns="0" rtlCol="0" anchor="ctr"/>
          <a:lstStyle/>
          <a:p>
            <a:pPr algn="l" indent="0" marL="0">
              <a:buNone/>
            </a:pPr>
            <a:r>
              <a:rPr lang="en-US" sz="1400" b="1" dirty="0">
                <a:solidFill>
                  <a:srgbClr val="1A2340"/>
                </a:solidFill>
              </a:rPr>
              <a:t>Before we begin — let's make sure the foundation is solid.</a:t>
            </a:r>
            <a:endParaRPr lang="en-US" sz="1400" dirty="0"/>
          </a:p>
        </p:txBody>
      </p:sp>
      <p:sp>
        <p:nvSpPr>
          <p:cNvPr id="6" name="Shape 4"/>
          <p:cNvSpPr/>
          <p:nvPr/>
        </p:nvSpPr>
        <p:spPr>
          <a:xfrm>
            <a:off x="45720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457200" y="1463040"/>
            <a:ext cx="2468880" cy="64008"/>
          </a:xfrm>
          <a:prstGeom prst="rect">
            <a:avLst/>
          </a:prstGeom>
          <a:solidFill>
            <a:srgbClr val="007A87"/>
          </a:solidFill>
          <a:ln w="12700">
            <a:solidFill>
              <a:srgbClr val="007A87"/>
            </a:solidFill>
            <a:prstDash val="solid"/>
          </a:ln>
        </p:spPr>
      </p:sp>
      <p:sp>
        <p:nvSpPr>
          <p:cNvPr id="8" name="Text 6"/>
          <p:cNvSpPr/>
          <p:nvPr/>
        </p:nvSpPr>
        <p:spPr>
          <a:xfrm>
            <a:off x="56692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9" name="Text 7"/>
          <p:cNvSpPr/>
          <p:nvPr/>
        </p:nvSpPr>
        <p:spPr>
          <a:xfrm>
            <a:off x="56692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Five Categories</a:t>
            </a:r>
            <a:endParaRPr lang="en-US" sz="1050" dirty="0"/>
          </a:p>
        </p:txBody>
      </p:sp>
      <p:sp>
        <p:nvSpPr>
          <p:cNvPr id="10" name="Text 8"/>
          <p:cNvSpPr/>
          <p:nvPr/>
        </p:nvSpPr>
        <p:spPr>
          <a:xfrm>
            <a:off x="56692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Issuers, Investors, Intermediaries, Regulators, Infrastructure Providers — each has a distinct role.</a:t>
            </a:r>
            <a:endParaRPr lang="en-US" sz="850" dirty="0"/>
          </a:p>
        </p:txBody>
      </p:sp>
      <p:sp>
        <p:nvSpPr>
          <p:cNvPr id="11" name="Shape 9"/>
          <p:cNvSpPr/>
          <p:nvPr/>
        </p:nvSpPr>
        <p:spPr>
          <a:xfrm>
            <a:off x="310896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3108960" y="1463040"/>
            <a:ext cx="2468880" cy="64008"/>
          </a:xfrm>
          <a:prstGeom prst="rect">
            <a:avLst/>
          </a:prstGeom>
          <a:solidFill>
            <a:srgbClr val="007A87"/>
          </a:solidFill>
          <a:ln w="12700">
            <a:solidFill>
              <a:srgbClr val="007A87"/>
            </a:solidFill>
            <a:prstDash val="solid"/>
          </a:ln>
        </p:spPr>
      </p:sp>
      <p:sp>
        <p:nvSpPr>
          <p:cNvPr id="13" name="Text 11"/>
          <p:cNvSpPr/>
          <p:nvPr/>
        </p:nvSpPr>
        <p:spPr>
          <a:xfrm>
            <a:off x="321868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4" name="Text 12"/>
          <p:cNvSpPr/>
          <p:nvPr/>
        </p:nvSpPr>
        <p:spPr>
          <a:xfrm>
            <a:off x="321868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FIIs vs DIIs</a:t>
            </a:r>
            <a:endParaRPr lang="en-US" sz="1050" dirty="0"/>
          </a:p>
        </p:txBody>
      </p:sp>
      <p:sp>
        <p:nvSpPr>
          <p:cNvPr id="15" name="Text 13"/>
          <p:cNvSpPr/>
          <p:nvPr/>
        </p:nvSpPr>
        <p:spPr>
          <a:xfrm>
            <a:off x="321868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FII flows can swing Nifty by 2-3% in a day. DIIs often provide counterbalancing buying when FIIs sell.</a:t>
            </a:r>
            <a:endParaRPr lang="en-US" sz="850" dirty="0"/>
          </a:p>
        </p:txBody>
      </p:sp>
      <p:sp>
        <p:nvSpPr>
          <p:cNvPr id="16" name="Shape 14"/>
          <p:cNvSpPr/>
          <p:nvPr/>
        </p:nvSpPr>
        <p:spPr>
          <a:xfrm>
            <a:off x="576072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5760720" y="1463040"/>
            <a:ext cx="2468880" cy="64008"/>
          </a:xfrm>
          <a:prstGeom prst="rect">
            <a:avLst/>
          </a:prstGeom>
          <a:solidFill>
            <a:srgbClr val="007A87"/>
          </a:solidFill>
          <a:ln w="12700">
            <a:solidFill>
              <a:srgbClr val="007A87"/>
            </a:solidFill>
            <a:prstDash val="solid"/>
          </a:ln>
        </p:spPr>
      </p:sp>
      <p:sp>
        <p:nvSpPr>
          <p:cNvPr id="18" name="Text 16"/>
          <p:cNvSpPr/>
          <p:nvPr/>
        </p:nvSpPr>
        <p:spPr>
          <a:xfrm>
            <a:off x="587044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9" name="Text 17"/>
          <p:cNvSpPr/>
          <p:nvPr/>
        </p:nvSpPr>
        <p:spPr>
          <a:xfrm>
            <a:off x="587044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The Plumbing</a:t>
            </a:r>
            <a:endParaRPr lang="en-US" sz="1050" dirty="0"/>
          </a:p>
        </p:txBody>
      </p:sp>
      <p:sp>
        <p:nvSpPr>
          <p:cNvPr id="20" name="Text 18"/>
          <p:cNvSpPr/>
          <p:nvPr/>
        </p:nvSpPr>
        <p:spPr>
          <a:xfrm>
            <a:off x="587044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Brokers, clearing houses, depositories — they're the invisible infrastructure that makes every trade actually work.</a:t>
            </a:r>
            <a:endParaRPr lang="en-US" sz="850" dirty="0"/>
          </a:p>
        </p:txBody>
      </p:sp>
      <p:sp>
        <p:nvSpPr>
          <p:cNvPr id="21" name="Shape 19"/>
          <p:cNvSpPr/>
          <p:nvPr/>
        </p:nvSpPr>
        <p:spPr>
          <a:xfrm>
            <a:off x="0" y="4818888"/>
            <a:ext cx="2011680" cy="324612"/>
          </a:xfrm>
          <a:prstGeom prst="rect">
            <a:avLst/>
          </a:prstGeom>
          <a:solidFill>
            <a:srgbClr val="101C4F"/>
          </a:solidFill>
          <a:ln w="12700">
            <a:solidFill>
              <a:srgbClr val="101C4F"/>
            </a:solidFill>
            <a:prstDash val="solid"/>
          </a:ln>
        </p:spPr>
      </p:sp>
      <p:sp>
        <p:nvSpPr>
          <p:cNvPr id="22" name="Text 2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D1.4</a:t>
            </a:r>
            <a:endParaRPr lang="en-US" sz="800" dirty="0"/>
          </a:p>
        </p:txBody>
      </p:sp>
      <p:sp>
        <p:nvSpPr>
          <p:cNvPr id="23" name="Text 2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SCENARIO</a:t>
            </a:r>
            <a:endParaRPr lang="en-US" sz="1000" dirty="0"/>
          </a:p>
        </p:txBody>
      </p:sp>
      <p:sp>
        <p:nvSpPr>
          <p:cNvPr id="4" name="Shape 2"/>
          <p:cNvSpPr/>
          <p:nvPr/>
        </p:nvSpPr>
        <p:spPr>
          <a:xfrm>
            <a:off x="365760" y="822960"/>
            <a:ext cx="8412480" cy="2011680"/>
          </a:xfrm>
          <a:prstGeom prst="rect">
            <a:avLst/>
          </a:prstGeom>
          <a:solidFill>
            <a:srgbClr val="FDF6E3"/>
          </a:solidFill>
          <a:ln w="12700">
            <a:solidFill>
              <a:srgbClr val="F0A800"/>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365760" y="822960"/>
            <a:ext cx="91440" cy="2011680"/>
          </a:xfrm>
          <a:prstGeom prst="rect">
            <a:avLst/>
          </a:prstGeom>
          <a:solidFill>
            <a:srgbClr val="F0A800"/>
          </a:solidFill>
          <a:ln w="12700">
            <a:solidFill>
              <a:srgbClr val="F0A800"/>
            </a:solidFill>
            <a:prstDash val="solid"/>
          </a:ln>
        </p:spPr>
      </p:sp>
      <p:sp>
        <p:nvSpPr>
          <p:cNvPr id="6" name="Text 4"/>
          <p:cNvSpPr/>
          <p:nvPr/>
        </p:nvSpPr>
        <p:spPr>
          <a:xfrm>
            <a:off x="594360" y="914400"/>
            <a:ext cx="8046720" cy="365760"/>
          </a:xfrm>
          <a:prstGeom prst="rect">
            <a:avLst/>
          </a:prstGeom>
          <a:noFill/>
          <a:ln/>
        </p:spPr>
        <p:txBody>
          <a:bodyPr wrap="square" lIns="0" tIns="0" rIns="0" bIns="0" rtlCol="0" anchor="ctr"/>
          <a:lstStyle/>
          <a:p>
            <a:pPr algn="l" indent="0" marL="0">
              <a:buNone/>
            </a:pPr>
            <a:r>
              <a:rPr lang="en-US" sz="1200" b="1" dirty="0">
                <a:solidFill>
                  <a:srgbClr val="1A2340"/>
                </a:solidFill>
              </a:rPr>
              <a:t>One trade on NSE — eight participants involved.</a:t>
            </a:r>
            <a:endParaRPr lang="en-US" sz="1200" dirty="0"/>
          </a:p>
        </p:txBody>
      </p:sp>
      <p:sp>
        <p:nvSpPr>
          <p:cNvPr id="7" name="Text 5"/>
          <p:cNvSpPr/>
          <p:nvPr/>
        </p:nvSpPr>
        <p:spPr>
          <a:xfrm>
            <a:off x="594360" y="1325880"/>
            <a:ext cx="8046720" cy="1371600"/>
          </a:xfrm>
          <a:prstGeom prst="rect">
            <a:avLst/>
          </a:prstGeom>
          <a:noFill/>
          <a:ln/>
        </p:spPr>
        <p:txBody>
          <a:bodyPr wrap="square" lIns="0" tIns="0" rIns="0" bIns="0" rtlCol="0" anchor="ctr"/>
          <a:lstStyle/>
          <a:p>
            <a:pPr algn="l" indent="0" marL="0">
              <a:buNone/>
            </a:pPr>
            <a:r>
              <a:rPr lang="en-US" sz="1050" dirty="0">
                <a:solidFill>
                  <a:srgbClr val="1A2340"/>
                </a:solidFill>
              </a:rPr>
              <a:t>Kavi (retail investor, surplus unit) buys 100 Infosys shares. He places a limit order at ₹1,455 via Zerodha (broker, intermediary). The order hits NSE's order book (exchange, infrastructure). It matches with a sell order from an FII fund (institutional investor, deficit via selling). NSCCL (clearing corporation) guarantees settlement. NSDL (depository) updates demat accounts. SEBI sets the rules. Infosys issued the shares (original issuer). Eight entities, one trade.</a:t>
            </a:r>
            <a:endParaRPr lang="en-US" sz="1050" dirty="0"/>
          </a:p>
        </p:txBody>
      </p:sp>
      <p:sp>
        <p:nvSpPr>
          <p:cNvPr id="8" name="Shape 6"/>
          <p:cNvSpPr/>
          <p:nvPr/>
        </p:nvSpPr>
        <p:spPr>
          <a:xfrm>
            <a:off x="365760" y="2971800"/>
            <a:ext cx="8412480" cy="1005840"/>
          </a:xfrm>
          <a:prstGeom prst="rect">
            <a:avLst/>
          </a:prstGeom>
          <a:solidFill>
            <a:srgbClr val="F2F4F8"/>
          </a:solidFill>
          <a:ln w="12700">
            <a:solidFill>
              <a:srgbClr val="E0E4EE"/>
            </a:solidFill>
            <a:prstDash val="solid"/>
          </a:ln>
        </p:spPr>
      </p:sp>
      <p:sp>
        <p:nvSpPr>
          <p:cNvPr id="9" name="Text 7"/>
          <p:cNvSpPr/>
          <p:nvPr/>
        </p:nvSpPr>
        <p:spPr>
          <a:xfrm>
            <a:off x="548640" y="3035808"/>
            <a:ext cx="1828800" cy="320040"/>
          </a:xfrm>
          <a:prstGeom prst="rect">
            <a:avLst/>
          </a:prstGeom>
          <a:noFill/>
          <a:ln/>
        </p:spPr>
        <p:txBody>
          <a:bodyPr wrap="square" lIns="0" tIns="0" rIns="0" bIns="0" rtlCol="0" anchor="ctr"/>
          <a:lstStyle/>
          <a:p>
            <a:pPr indent="0" marL="0">
              <a:buNone/>
            </a:pPr>
            <a:r>
              <a:rPr lang="en-US" sz="1000" b="1" dirty="0">
                <a:solidFill>
                  <a:srgbClr val="007A87"/>
                </a:solidFill>
              </a:rPr>
              <a:t>🤔  Think about it:</a:t>
            </a:r>
            <a:endParaRPr lang="en-US" sz="1000" dirty="0"/>
          </a:p>
        </p:txBody>
      </p:sp>
      <p:sp>
        <p:nvSpPr>
          <p:cNvPr id="10" name="Text 8"/>
          <p:cNvSpPr/>
          <p:nvPr/>
        </p:nvSpPr>
        <p:spPr>
          <a:xfrm>
            <a:off x="548640" y="3355848"/>
            <a:ext cx="7863840" cy="530352"/>
          </a:xfrm>
          <a:prstGeom prst="rect">
            <a:avLst/>
          </a:prstGeom>
          <a:noFill/>
          <a:ln/>
        </p:spPr>
        <p:txBody>
          <a:bodyPr wrap="square" lIns="0" tIns="0" rIns="0" bIns="0" rtlCol="0" anchor="ctr"/>
          <a:lstStyle/>
          <a:p>
            <a:pPr indent="0" marL="0">
              <a:buNone/>
            </a:pPr>
            <a:r>
              <a:rPr lang="en-US" sz="1050" i="1" dirty="0">
                <a:solidFill>
                  <a:srgbClr val="1A2340"/>
                </a:solidFill>
              </a:rPr>
              <a:t>In this single transaction, identify: who is the issuer, who is the regulator, who is the clearing house, and who are the two investors?</a:t>
            </a:r>
            <a:endParaRPr lang="en-US" sz="1050" dirty="0"/>
          </a:p>
        </p:txBody>
      </p:sp>
      <p:sp>
        <p:nvSpPr>
          <p:cNvPr id="11" name="Shape 9"/>
          <p:cNvSpPr/>
          <p:nvPr/>
        </p:nvSpPr>
        <p:spPr>
          <a:xfrm>
            <a:off x="0" y="4818888"/>
            <a:ext cx="2011680" cy="324612"/>
          </a:xfrm>
          <a:prstGeom prst="rect">
            <a:avLst/>
          </a:prstGeom>
          <a:solidFill>
            <a:srgbClr val="101C4F"/>
          </a:solidFill>
          <a:ln w="12700">
            <a:solidFill>
              <a:srgbClr val="101C4F"/>
            </a:solidFill>
            <a:prstDash val="solid"/>
          </a:ln>
        </p:spPr>
      </p:sp>
      <p:sp>
        <p:nvSpPr>
          <p:cNvPr id="12" name="Text 1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D1.4</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KEY CONCEPT</a:t>
            </a:r>
            <a:endParaRPr lang="en-US" sz="1000" dirty="0"/>
          </a:p>
        </p:txBody>
      </p:sp>
      <p:sp>
        <p:nvSpPr>
          <p:cNvPr id="4" name="Text 2"/>
          <p:cNvSpPr/>
          <p:nvPr/>
        </p:nvSpPr>
        <p:spPr>
          <a:xfrm>
            <a:off x="365760" y="777240"/>
            <a:ext cx="8412480" cy="548640"/>
          </a:xfrm>
          <a:prstGeom prst="rect">
            <a:avLst/>
          </a:prstGeom>
          <a:noFill/>
          <a:ln/>
        </p:spPr>
        <p:txBody>
          <a:bodyPr wrap="square" lIns="0" tIns="0" rIns="0" bIns="0" rtlCol="0" anchor="ctr"/>
          <a:lstStyle/>
          <a:p>
            <a:pPr algn="l" indent="0" marL="0">
              <a:buNone/>
            </a:pPr>
            <a:r>
              <a:rPr lang="en-US" sz="2200" b="1" dirty="0">
                <a:solidFill>
                  <a:srgbClr val="101C4F"/>
                </a:solidFill>
              </a:rPr>
              <a:t>Five Categories of Market Participants</a:t>
            </a:r>
            <a:endParaRPr lang="en-US" sz="2200" dirty="0"/>
          </a:p>
        </p:txBody>
      </p:sp>
      <p:sp>
        <p:nvSpPr>
          <p:cNvPr id="5" name="Shape 3"/>
          <p:cNvSpPr/>
          <p:nvPr/>
        </p:nvSpPr>
        <p:spPr>
          <a:xfrm>
            <a:off x="365760" y="1389888"/>
            <a:ext cx="8412480" cy="777240"/>
          </a:xfrm>
          <a:prstGeom prst="rect">
            <a:avLst/>
          </a:prstGeom>
          <a:solidFill>
            <a:srgbClr val="F2F4F8"/>
          </a:solidFill>
          <a:ln w="12700">
            <a:solidFill>
              <a:srgbClr val="E0E4EE"/>
            </a:solidFill>
            <a:prstDash val="solid"/>
          </a:ln>
        </p:spPr>
      </p:sp>
      <p:sp>
        <p:nvSpPr>
          <p:cNvPr id="6" name="Shape 4"/>
          <p:cNvSpPr/>
          <p:nvPr/>
        </p:nvSpPr>
        <p:spPr>
          <a:xfrm>
            <a:off x="365760" y="1389888"/>
            <a:ext cx="91440" cy="777240"/>
          </a:xfrm>
          <a:prstGeom prst="rect">
            <a:avLst/>
          </a:prstGeom>
          <a:solidFill>
            <a:srgbClr val="007A87"/>
          </a:solidFill>
          <a:ln w="12700">
            <a:solidFill>
              <a:srgbClr val="007A87"/>
            </a:solidFill>
            <a:prstDash val="solid"/>
          </a:ln>
        </p:spPr>
      </p:sp>
      <p:sp>
        <p:nvSpPr>
          <p:cNvPr id="7" name="Text 5"/>
          <p:cNvSpPr/>
          <p:nvPr/>
        </p:nvSpPr>
        <p:spPr>
          <a:xfrm>
            <a:off x="594360" y="1444752"/>
            <a:ext cx="8046720" cy="667512"/>
          </a:xfrm>
          <a:prstGeom prst="rect">
            <a:avLst/>
          </a:prstGeom>
          <a:noFill/>
          <a:ln/>
        </p:spPr>
        <p:txBody>
          <a:bodyPr wrap="square" lIns="0" tIns="0" rIns="0" bIns="0" rtlCol="0" anchor="ctr"/>
          <a:lstStyle/>
          <a:p>
            <a:pPr indent="0" marL="0">
              <a:buNone/>
            </a:pPr>
            <a:r>
              <a:rPr lang="en-US" sz="1050" i="1" dirty="0">
                <a:solidFill>
                  <a:srgbClr val="1A2340"/>
                </a:solidFill>
              </a:rPr>
              <a:t>Every financial market transaction involves a structured cast: those who issue securities, those who buy them, those who intermediate, those who regulate, and those who provide the infrastructure to make it all work.</a:t>
            </a:r>
            <a:endParaRPr lang="en-US" sz="1050" dirty="0"/>
          </a:p>
        </p:txBody>
      </p:sp>
      <p:sp>
        <p:nvSpPr>
          <p:cNvPr id="8" name="Shape 6"/>
          <p:cNvSpPr/>
          <p:nvPr/>
        </p:nvSpPr>
        <p:spPr>
          <a:xfrm>
            <a:off x="36576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365760" y="2331720"/>
            <a:ext cx="2000250" cy="64008"/>
          </a:xfrm>
          <a:prstGeom prst="rect">
            <a:avLst/>
          </a:prstGeom>
          <a:solidFill>
            <a:srgbClr val="101C4F"/>
          </a:solidFill>
          <a:ln w="12700">
            <a:solidFill>
              <a:srgbClr val="101C4F"/>
            </a:solidFill>
            <a:prstDash val="solid"/>
          </a:ln>
        </p:spPr>
      </p:sp>
      <p:sp>
        <p:nvSpPr>
          <p:cNvPr id="10" name="Text 8"/>
          <p:cNvSpPr/>
          <p:nvPr/>
        </p:nvSpPr>
        <p:spPr>
          <a:xfrm>
            <a:off x="45720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01</a:t>
            </a:r>
            <a:endParaRPr lang="en-US" sz="1800" dirty="0"/>
          </a:p>
        </p:txBody>
      </p:sp>
      <p:sp>
        <p:nvSpPr>
          <p:cNvPr id="11" name="Text 9"/>
          <p:cNvSpPr/>
          <p:nvPr/>
        </p:nvSpPr>
        <p:spPr>
          <a:xfrm>
            <a:off x="45720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Issuers</a:t>
            </a:r>
            <a:endParaRPr lang="en-US" sz="1000" dirty="0"/>
          </a:p>
        </p:txBody>
      </p:sp>
      <p:sp>
        <p:nvSpPr>
          <p:cNvPr id="12" name="Text 10"/>
          <p:cNvSpPr/>
          <p:nvPr/>
        </p:nvSpPr>
        <p:spPr>
          <a:xfrm>
            <a:off x="45720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Raise capital by creating and selling securities. Companies (equity/bonds), Government (G-Secs), RBI (T-bills).</a:t>
            </a:r>
            <a:endParaRPr lang="en-US" sz="850" dirty="0"/>
          </a:p>
        </p:txBody>
      </p:sp>
      <p:sp>
        <p:nvSpPr>
          <p:cNvPr id="13" name="Shape 11"/>
          <p:cNvSpPr/>
          <p:nvPr/>
        </p:nvSpPr>
        <p:spPr>
          <a:xfrm>
            <a:off x="250317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2503170" y="2331720"/>
            <a:ext cx="2000250" cy="64008"/>
          </a:xfrm>
          <a:prstGeom prst="rect">
            <a:avLst/>
          </a:prstGeom>
          <a:solidFill>
            <a:srgbClr val="101C4F"/>
          </a:solidFill>
          <a:ln w="12700">
            <a:solidFill>
              <a:srgbClr val="101C4F"/>
            </a:solidFill>
            <a:prstDash val="solid"/>
          </a:ln>
        </p:spPr>
      </p:sp>
      <p:sp>
        <p:nvSpPr>
          <p:cNvPr id="15" name="Text 13"/>
          <p:cNvSpPr/>
          <p:nvPr/>
        </p:nvSpPr>
        <p:spPr>
          <a:xfrm>
            <a:off x="259461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02</a:t>
            </a:r>
            <a:endParaRPr lang="en-US" sz="1800" dirty="0"/>
          </a:p>
        </p:txBody>
      </p:sp>
      <p:sp>
        <p:nvSpPr>
          <p:cNvPr id="16" name="Text 14"/>
          <p:cNvSpPr/>
          <p:nvPr/>
        </p:nvSpPr>
        <p:spPr>
          <a:xfrm>
            <a:off x="259461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Investors</a:t>
            </a:r>
            <a:endParaRPr lang="en-US" sz="1000" dirty="0"/>
          </a:p>
        </p:txBody>
      </p:sp>
      <p:sp>
        <p:nvSpPr>
          <p:cNvPr id="17" name="Text 15"/>
          <p:cNvSpPr/>
          <p:nvPr/>
        </p:nvSpPr>
        <p:spPr>
          <a:xfrm>
            <a:off x="259461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Supply capital by purchasing securities. Retail (Kavi), HNI (₹2L+), FII (foreign institutional), DII (LIC, SBI MF).</a:t>
            </a:r>
            <a:endParaRPr lang="en-US" sz="850" dirty="0"/>
          </a:p>
        </p:txBody>
      </p:sp>
      <p:sp>
        <p:nvSpPr>
          <p:cNvPr id="18" name="Shape 16"/>
          <p:cNvSpPr/>
          <p:nvPr/>
        </p:nvSpPr>
        <p:spPr>
          <a:xfrm>
            <a:off x="464058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4640580" y="2331720"/>
            <a:ext cx="2000250" cy="64008"/>
          </a:xfrm>
          <a:prstGeom prst="rect">
            <a:avLst/>
          </a:prstGeom>
          <a:solidFill>
            <a:srgbClr val="101C4F"/>
          </a:solidFill>
          <a:ln w="12700">
            <a:solidFill>
              <a:srgbClr val="101C4F"/>
            </a:solidFill>
            <a:prstDash val="solid"/>
          </a:ln>
        </p:spPr>
      </p:sp>
      <p:sp>
        <p:nvSpPr>
          <p:cNvPr id="20" name="Text 18"/>
          <p:cNvSpPr/>
          <p:nvPr/>
        </p:nvSpPr>
        <p:spPr>
          <a:xfrm>
            <a:off x="473202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03</a:t>
            </a:r>
            <a:endParaRPr lang="en-US" sz="1800" dirty="0"/>
          </a:p>
        </p:txBody>
      </p:sp>
      <p:sp>
        <p:nvSpPr>
          <p:cNvPr id="21" name="Text 19"/>
          <p:cNvSpPr/>
          <p:nvPr/>
        </p:nvSpPr>
        <p:spPr>
          <a:xfrm>
            <a:off x="473202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Intermediaries</a:t>
            </a:r>
            <a:endParaRPr lang="en-US" sz="1000" dirty="0"/>
          </a:p>
        </p:txBody>
      </p:sp>
      <p:sp>
        <p:nvSpPr>
          <p:cNvPr id="22" name="Text 20"/>
          <p:cNvSpPr/>
          <p:nvPr/>
        </p:nvSpPr>
        <p:spPr>
          <a:xfrm>
            <a:off x="473202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Connect issuers and investors. Brokers, investment banks, merchant bankers, custodians, clearing houses.</a:t>
            </a:r>
            <a:endParaRPr lang="en-US" sz="850" dirty="0"/>
          </a:p>
        </p:txBody>
      </p:sp>
      <p:sp>
        <p:nvSpPr>
          <p:cNvPr id="23" name="Shape 21"/>
          <p:cNvSpPr/>
          <p:nvPr/>
        </p:nvSpPr>
        <p:spPr>
          <a:xfrm>
            <a:off x="677799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24" name="Shape 22"/>
          <p:cNvSpPr/>
          <p:nvPr/>
        </p:nvSpPr>
        <p:spPr>
          <a:xfrm>
            <a:off x="6777990" y="2331720"/>
            <a:ext cx="2000250" cy="64008"/>
          </a:xfrm>
          <a:prstGeom prst="rect">
            <a:avLst/>
          </a:prstGeom>
          <a:solidFill>
            <a:srgbClr val="101C4F"/>
          </a:solidFill>
          <a:ln w="12700">
            <a:solidFill>
              <a:srgbClr val="101C4F"/>
            </a:solidFill>
            <a:prstDash val="solid"/>
          </a:ln>
        </p:spPr>
      </p:sp>
      <p:sp>
        <p:nvSpPr>
          <p:cNvPr id="25" name="Text 23"/>
          <p:cNvSpPr/>
          <p:nvPr/>
        </p:nvSpPr>
        <p:spPr>
          <a:xfrm>
            <a:off x="686943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04</a:t>
            </a:r>
            <a:endParaRPr lang="en-US" sz="1800" dirty="0"/>
          </a:p>
        </p:txBody>
      </p:sp>
      <p:sp>
        <p:nvSpPr>
          <p:cNvPr id="26" name="Text 24"/>
          <p:cNvSpPr/>
          <p:nvPr/>
        </p:nvSpPr>
        <p:spPr>
          <a:xfrm>
            <a:off x="686943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Regulators + Infrastructure</a:t>
            </a:r>
            <a:endParaRPr lang="en-US" sz="1000" dirty="0"/>
          </a:p>
        </p:txBody>
      </p:sp>
      <p:sp>
        <p:nvSpPr>
          <p:cNvPr id="27" name="Text 25"/>
          <p:cNvSpPr/>
          <p:nvPr/>
        </p:nvSpPr>
        <p:spPr>
          <a:xfrm>
            <a:off x="686943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SEBI/RBI set rules; NSE/BSE/NSDL/CDSL/NSCCL provide the plumbing.</a:t>
            </a:r>
            <a:endParaRPr lang="en-US" sz="850" dirty="0"/>
          </a:p>
        </p:txBody>
      </p:sp>
      <p:sp>
        <p:nvSpPr>
          <p:cNvPr id="28" name="Shape 26"/>
          <p:cNvSpPr/>
          <p:nvPr/>
        </p:nvSpPr>
        <p:spPr>
          <a:xfrm>
            <a:off x="0" y="4818888"/>
            <a:ext cx="2011680" cy="324612"/>
          </a:xfrm>
          <a:prstGeom prst="rect">
            <a:avLst/>
          </a:prstGeom>
          <a:solidFill>
            <a:srgbClr val="101C4F"/>
          </a:solidFill>
          <a:ln w="12700">
            <a:solidFill>
              <a:srgbClr val="101C4F"/>
            </a:solidFill>
            <a:prstDash val="solid"/>
          </a:ln>
        </p:spPr>
      </p:sp>
      <p:sp>
        <p:nvSpPr>
          <p:cNvPr id="29" name="Text 27"/>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D1.4</a:t>
            </a:r>
            <a:endParaRPr lang="en-US" sz="800" dirty="0"/>
          </a:p>
        </p:txBody>
      </p:sp>
      <p:sp>
        <p:nvSpPr>
          <p:cNvPr id="30" name="Text 28"/>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GOING DEEPER</a:t>
            </a:r>
            <a:endParaRPr lang="en-US" sz="1000" dirty="0"/>
          </a:p>
        </p:txBody>
      </p:sp>
      <p:sp>
        <p:nvSpPr>
          <p:cNvPr id="4" name="Text 2"/>
          <p:cNvSpPr/>
          <p:nvPr/>
        </p:nvSpPr>
        <p:spPr>
          <a:xfrm>
            <a:off x="365760" y="777240"/>
            <a:ext cx="8412480" cy="457200"/>
          </a:xfrm>
          <a:prstGeom prst="rect">
            <a:avLst/>
          </a:prstGeom>
          <a:noFill/>
          <a:ln/>
        </p:spPr>
        <p:txBody>
          <a:bodyPr wrap="square" lIns="0" tIns="0" rIns="0" bIns="0" rtlCol="0" anchor="ctr"/>
          <a:lstStyle/>
          <a:p>
            <a:pPr indent="0" marL="0">
              <a:buNone/>
            </a:pPr>
            <a:r>
              <a:rPr lang="en-US" sz="1800" b="1" dirty="0">
                <a:solidFill>
                  <a:srgbClr val="101C4F"/>
                </a:solidFill>
              </a:rPr>
              <a:t>FIIs vs DIIs — Why It Matters for IB Ops</a:t>
            </a:r>
            <a:endParaRPr lang="en-US" sz="1800" dirty="0"/>
          </a:p>
        </p:txBody>
      </p:sp>
      <p:sp>
        <p:nvSpPr>
          <p:cNvPr id="5" name="Shape 3"/>
          <p:cNvSpPr/>
          <p:nvPr/>
        </p:nvSpPr>
        <p:spPr>
          <a:xfrm>
            <a:off x="365760" y="1417320"/>
            <a:ext cx="4846320" cy="1005840"/>
          </a:xfrm>
          <a:prstGeom prst="rect">
            <a:avLst/>
          </a:prstGeom>
          <a:solidFill>
            <a:srgbClr val="F2F4F8"/>
          </a:solidFill>
          <a:ln w="12700">
            <a:solidFill>
              <a:srgbClr val="E0E4EE"/>
            </a:solidFill>
            <a:prstDash val="solid"/>
          </a:ln>
        </p:spPr>
      </p:sp>
      <p:sp>
        <p:nvSpPr>
          <p:cNvPr id="6" name="Shape 4"/>
          <p:cNvSpPr/>
          <p:nvPr/>
        </p:nvSpPr>
        <p:spPr>
          <a:xfrm>
            <a:off x="365760" y="1417320"/>
            <a:ext cx="73152" cy="1005840"/>
          </a:xfrm>
          <a:prstGeom prst="rect">
            <a:avLst/>
          </a:prstGeom>
          <a:solidFill>
            <a:srgbClr val="101C4F"/>
          </a:solidFill>
          <a:ln w="12700">
            <a:solidFill>
              <a:srgbClr val="101C4F"/>
            </a:solidFill>
            <a:prstDash val="solid"/>
          </a:ln>
        </p:spPr>
      </p:sp>
      <p:sp>
        <p:nvSpPr>
          <p:cNvPr id="7" name="Text 5"/>
          <p:cNvSpPr/>
          <p:nvPr/>
        </p:nvSpPr>
        <p:spPr>
          <a:xfrm>
            <a:off x="548640" y="1472184"/>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FIIs (FOREIGN INSTITUTIONAL INVESTORS)</a:t>
            </a:r>
            <a:endParaRPr lang="en-US" sz="1000" dirty="0"/>
          </a:p>
        </p:txBody>
      </p:sp>
      <p:sp>
        <p:nvSpPr>
          <p:cNvPr id="8" name="Text 6"/>
          <p:cNvSpPr/>
          <p:nvPr/>
        </p:nvSpPr>
        <p:spPr>
          <a:xfrm>
            <a:off x="548640" y="1764792"/>
            <a:ext cx="4480560" cy="566928"/>
          </a:xfrm>
          <a:prstGeom prst="rect">
            <a:avLst/>
          </a:prstGeom>
          <a:noFill/>
          <a:ln/>
        </p:spPr>
        <p:txBody>
          <a:bodyPr wrap="square" lIns="0" tIns="0" rIns="0" bIns="0" rtlCol="0" anchor="ctr"/>
          <a:lstStyle/>
          <a:p>
            <a:pPr indent="0" marL="0">
              <a:buNone/>
            </a:pPr>
            <a:r>
              <a:rPr lang="en-US" sz="900" dirty="0">
                <a:solidFill>
                  <a:srgbClr val="1A2340"/>
                </a:solidFill>
              </a:rPr>
              <a:t>Global funds (like BlackRock, Fidelity) investing in Indian markets. Must register with SEBI. Flows heavily influenced by global risk appetite and INR/USD.</a:t>
            </a:r>
            <a:endParaRPr lang="en-US" sz="900" dirty="0"/>
          </a:p>
        </p:txBody>
      </p:sp>
      <p:sp>
        <p:nvSpPr>
          <p:cNvPr id="9" name="Shape 7"/>
          <p:cNvSpPr/>
          <p:nvPr/>
        </p:nvSpPr>
        <p:spPr>
          <a:xfrm>
            <a:off x="365760" y="2532888"/>
            <a:ext cx="4846320" cy="1005840"/>
          </a:xfrm>
          <a:prstGeom prst="rect">
            <a:avLst/>
          </a:prstGeom>
          <a:solidFill>
            <a:srgbClr val="F2F4F8"/>
          </a:solidFill>
          <a:ln w="12700">
            <a:solidFill>
              <a:srgbClr val="E0E4EE"/>
            </a:solidFill>
            <a:prstDash val="solid"/>
          </a:ln>
        </p:spPr>
      </p:sp>
      <p:sp>
        <p:nvSpPr>
          <p:cNvPr id="10" name="Shape 8"/>
          <p:cNvSpPr/>
          <p:nvPr/>
        </p:nvSpPr>
        <p:spPr>
          <a:xfrm>
            <a:off x="365760" y="2532888"/>
            <a:ext cx="73152" cy="1005840"/>
          </a:xfrm>
          <a:prstGeom prst="rect">
            <a:avLst/>
          </a:prstGeom>
          <a:solidFill>
            <a:srgbClr val="101C4F"/>
          </a:solidFill>
          <a:ln w="12700">
            <a:solidFill>
              <a:srgbClr val="101C4F"/>
            </a:solidFill>
            <a:prstDash val="solid"/>
          </a:ln>
        </p:spPr>
      </p:sp>
      <p:sp>
        <p:nvSpPr>
          <p:cNvPr id="11" name="Text 9"/>
          <p:cNvSpPr/>
          <p:nvPr/>
        </p:nvSpPr>
        <p:spPr>
          <a:xfrm>
            <a:off x="548640" y="2587752"/>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DIIs (DOMESTIC INSTITUTIONAL INVESTORS)</a:t>
            </a:r>
            <a:endParaRPr lang="en-US" sz="1000" dirty="0"/>
          </a:p>
        </p:txBody>
      </p:sp>
      <p:sp>
        <p:nvSpPr>
          <p:cNvPr id="12" name="Text 10"/>
          <p:cNvSpPr/>
          <p:nvPr/>
        </p:nvSpPr>
        <p:spPr>
          <a:xfrm>
            <a:off x="548640" y="2880360"/>
            <a:ext cx="4480560" cy="566928"/>
          </a:xfrm>
          <a:prstGeom prst="rect">
            <a:avLst/>
          </a:prstGeom>
          <a:noFill/>
          <a:ln/>
        </p:spPr>
        <p:txBody>
          <a:bodyPr wrap="square" lIns="0" tIns="0" rIns="0" bIns="0" rtlCol="0" anchor="ctr"/>
          <a:lstStyle/>
          <a:p>
            <a:pPr indent="0" marL="0">
              <a:buNone/>
            </a:pPr>
            <a:r>
              <a:rPr lang="en-US" sz="900" dirty="0">
                <a:solidFill>
                  <a:srgbClr val="1A2340"/>
                </a:solidFill>
              </a:rPr>
              <a:t>LIC, SBI MF, HDFC MF, EPFO — they collectively hold ₹30+ lakh crore in Indian equities. Counter-buy when FIIs sell.</a:t>
            </a:r>
            <a:endParaRPr lang="en-US" sz="900" dirty="0"/>
          </a:p>
        </p:txBody>
      </p:sp>
      <p:sp>
        <p:nvSpPr>
          <p:cNvPr id="13" name="Shape 11"/>
          <p:cNvSpPr/>
          <p:nvPr/>
        </p:nvSpPr>
        <p:spPr>
          <a:xfrm>
            <a:off x="365760" y="3648456"/>
            <a:ext cx="4846320" cy="1005840"/>
          </a:xfrm>
          <a:prstGeom prst="rect">
            <a:avLst/>
          </a:prstGeom>
          <a:solidFill>
            <a:srgbClr val="F2F4F8"/>
          </a:solidFill>
          <a:ln w="12700">
            <a:solidFill>
              <a:srgbClr val="E0E4EE"/>
            </a:solidFill>
            <a:prstDash val="solid"/>
          </a:ln>
        </p:spPr>
      </p:sp>
      <p:sp>
        <p:nvSpPr>
          <p:cNvPr id="14" name="Shape 12"/>
          <p:cNvSpPr/>
          <p:nvPr/>
        </p:nvSpPr>
        <p:spPr>
          <a:xfrm>
            <a:off x="365760" y="3648456"/>
            <a:ext cx="73152" cy="1005840"/>
          </a:xfrm>
          <a:prstGeom prst="rect">
            <a:avLst/>
          </a:prstGeom>
          <a:solidFill>
            <a:srgbClr val="101C4F"/>
          </a:solidFill>
          <a:ln w="12700">
            <a:solidFill>
              <a:srgbClr val="101C4F"/>
            </a:solidFill>
            <a:prstDash val="solid"/>
          </a:ln>
        </p:spPr>
      </p:sp>
      <p:sp>
        <p:nvSpPr>
          <p:cNvPr id="15" name="Text 13"/>
          <p:cNvSpPr/>
          <p:nvPr/>
        </p:nvSpPr>
        <p:spPr>
          <a:xfrm>
            <a:off x="548640" y="3703320"/>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IB OPS RELEVANCE</a:t>
            </a:r>
            <a:endParaRPr lang="en-US" sz="1000" dirty="0"/>
          </a:p>
        </p:txBody>
      </p:sp>
      <p:sp>
        <p:nvSpPr>
          <p:cNvPr id="16" name="Text 14"/>
          <p:cNvSpPr/>
          <p:nvPr/>
        </p:nvSpPr>
        <p:spPr>
          <a:xfrm>
            <a:off x="548640" y="3995928"/>
            <a:ext cx="4480560" cy="566928"/>
          </a:xfrm>
          <a:prstGeom prst="rect">
            <a:avLst/>
          </a:prstGeom>
          <a:noFill/>
          <a:ln/>
        </p:spPr>
        <p:txBody>
          <a:bodyPr wrap="square" lIns="0" tIns="0" rIns="0" bIns="0" rtlCol="0" anchor="ctr"/>
          <a:lstStyle/>
          <a:p>
            <a:pPr indent="0" marL="0">
              <a:buNone/>
            </a:pPr>
            <a:r>
              <a:rPr lang="en-US" sz="900" dirty="0">
                <a:solidFill>
                  <a:srgbClr val="1A2340"/>
                </a:solidFill>
              </a:rPr>
              <a:t>High FII/DII volumes = high settlement volumes. Ops teams process hundreds of institutional trade confirmations daily, each with bilateral agreement and CCP reporting.</a:t>
            </a:r>
            <a:endParaRPr lang="en-US" sz="900" dirty="0"/>
          </a:p>
        </p:txBody>
      </p:sp>
      <p:sp>
        <p:nvSpPr>
          <p:cNvPr id="17" name="Shape 15"/>
          <p:cNvSpPr/>
          <p:nvPr/>
        </p:nvSpPr>
        <p:spPr>
          <a:xfrm>
            <a:off x="5394960" y="1417320"/>
            <a:ext cx="3383280" cy="2532888"/>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2000"/>
              </a:srgbClr>
            </a:outerShdw>
          </a:effectLst>
        </p:spPr>
      </p:sp>
      <p:sp>
        <p:nvSpPr>
          <p:cNvPr id="18" name="Text 16"/>
          <p:cNvSpPr/>
          <p:nvPr/>
        </p:nvSpPr>
        <p:spPr>
          <a:xfrm>
            <a:off x="5532120" y="1554480"/>
            <a:ext cx="3108960" cy="347472"/>
          </a:xfrm>
          <a:prstGeom prst="rect">
            <a:avLst/>
          </a:prstGeom>
          <a:noFill/>
          <a:ln/>
        </p:spPr>
        <p:txBody>
          <a:bodyPr wrap="square" lIns="0" tIns="0" rIns="0" bIns="0" rtlCol="0" anchor="ctr"/>
          <a:lstStyle/>
          <a:p>
            <a:pPr indent="0" marL="0">
              <a:buNone/>
            </a:pPr>
            <a:r>
              <a:rPr lang="en-US" sz="1000" b="1" spc="100" kern="0" dirty="0">
                <a:solidFill>
                  <a:srgbClr val="F0A800"/>
                </a:solidFill>
              </a:rPr>
              <a:t>KAVI'S REALISATION</a:t>
            </a:r>
            <a:endParaRPr lang="en-US" sz="1000" dirty="0"/>
          </a:p>
        </p:txBody>
      </p:sp>
      <p:sp>
        <p:nvSpPr>
          <p:cNvPr id="19" name="Text 17"/>
          <p:cNvSpPr/>
          <p:nvPr/>
        </p:nvSpPr>
        <p:spPr>
          <a:xfrm>
            <a:off x="5532120" y="1938528"/>
            <a:ext cx="3108960" cy="1920240"/>
          </a:xfrm>
          <a:prstGeom prst="rect">
            <a:avLst/>
          </a:prstGeom>
          <a:noFill/>
          <a:ln/>
        </p:spPr>
        <p:txBody>
          <a:bodyPr wrap="square" lIns="0" tIns="0" rIns="0" bIns="0" rtlCol="0" anchor="ctr"/>
          <a:lstStyle/>
          <a:p>
            <a:pPr indent="0" marL="0">
              <a:buNone/>
            </a:pPr>
            <a:r>
              <a:rPr lang="en-US" sz="950" dirty="0">
                <a:solidFill>
                  <a:srgbClr val="FFFFFF"/>
                </a:solidFill>
              </a:rPr>
              <a:t>In one NSE session:</a:t>
            </a:r>
            <a:endParaRPr lang="en-US" sz="950" dirty="0"/>
          </a:p>
          <a:p>
            <a:pPr indent="0" marL="0">
              <a:buNone/>
            </a:pPr>
            <a:endParaRPr lang="en-US" sz="950" dirty="0"/>
          </a:p>
          <a:p>
            <a:pPr indent="0" marL="0">
              <a:buNone/>
            </a:pPr>
            <a:r>
              <a:rPr lang="en-US" sz="950" dirty="0">
                <a:solidFill>
                  <a:srgbClr val="FFFFFF"/>
                </a:solidFill>
              </a:rPr>
              <a:t>FII net SELL: -₹3,200 crore</a:t>
            </a:r>
            <a:endParaRPr lang="en-US" sz="950" dirty="0"/>
          </a:p>
          <a:p>
            <a:pPr indent="0" marL="0">
              <a:buNone/>
            </a:pPr>
            <a:r>
              <a:rPr lang="en-US" sz="950" dirty="0">
                <a:solidFill>
                  <a:srgbClr val="FFFFFF"/>
                </a:solidFill>
              </a:rPr>
              <a:t>DII net BUY: +₹2,800 crore</a:t>
            </a:r>
            <a:endParaRPr lang="en-US" sz="950" dirty="0"/>
          </a:p>
          <a:p>
            <a:pPr indent="0" marL="0">
              <a:buNone/>
            </a:pPr>
            <a:r>
              <a:rPr lang="en-US" sz="950" dirty="0">
                <a:solidFill>
                  <a:srgbClr val="FFFFFF"/>
                </a:solidFill>
              </a:rPr>
              <a:t>Nifty moves: -0.8%</a:t>
            </a:r>
            <a:endParaRPr lang="en-US" sz="950" dirty="0"/>
          </a:p>
          <a:p>
            <a:pPr indent="0" marL="0">
              <a:buNone/>
            </a:pPr>
            <a:endParaRPr lang="en-US" sz="950" dirty="0"/>
          </a:p>
          <a:p>
            <a:pPr indent="0" marL="0">
              <a:buNone/>
            </a:pPr>
            <a:r>
              <a:rPr lang="en-US" sz="950" dirty="0">
                <a:solidFill>
                  <a:srgbClr val="FFFFFF"/>
                </a:solidFill>
              </a:rPr>
              <a:t>Ops teams at 5 banks simultaneously process thousands of:</a:t>
            </a:r>
            <a:endParaRPr lang="en-US" sz="950" dirty="0"/>
          </a:p>
          <a:p>
            <a:pPr indent="0" marL="0">
              <a:buNone/>
            </a:pPr>
            <a:r>
              <a:rPr lang="en-US" sz="950" dirty="0">
                <a:solidFill>
                  <a:srgbClr val="FFFFFF"/>
                </a:solidFill>
              </a:rPr>
              <a:t>• Trade confirmations</a:t>
            </a:r>
            <a:endParaRPr lang="en-US" sz="950" dirty="0"/>
          </a:p>
          <a:p>
            <a:pPr indent="0" marL="0">
              <a:buNone/>
            </a:pPr>
            <a:r>
              <a:rPr lang="en-US" sz="950" dirty="0">
                <a:solidFill>
                  <a:srgbClr val="FFFFFF"/>
                </a:solidFill>
              </a:rPr>
              <a:t>• Settlement instructions</a:t>
            </a:r>
            <a:endParaRPr lang="en-US" sz="950" dirty="0"/>
          </a:p>
          <a:p>
            <a:pPr indent="0" marL="0">
              <a:buNone/>
            </a:pPr>
            <a:r>
              <a:rPr lang="en-US" sz="950" dirty="0">
                <a:solidFill>
                  <a:srgbClr val="FFFFFF"/>
                </a:solidFill>
              </a:rPr>
              <a:t>• Demat credit/debit advices</a:t>
            </a:r>
            <a:endParaRPr lang="en-US" sz="950" dirty="0"/>
          </a:p>
          <a:p>
            <a:pPr indent="0" marL="0">
              <a:buNone/>
            </a:pPr>
            <a:r>
              <a:rPr lang="en-US" sz="950" dirty="0">
                <a:solidFill>
                  <a:srgbClr val="FFFFFF"/>
                </a:solidFill>
              </a:rPr>
              <a:t>• Corporate action adjustments</a:t>
            </a:r>
            <a:endParaRPr lang="en-US" sz="950" dirty="0"/>
          </a:p>
          <a:p>
            <a:pPr indent="0" marL="0">
              <a:buNone/>
            </a:pPr>
            <a:endParaRPr lang="en-US" sz="950" dirty="0"/>
          </a:p>
          <a:p>
            <a:pPr indent="0" marL="0">
              <a:buNone/>
            </a:pPr>
            <a:r>
              <a:rPr lang="en-US" sz="950" dirty="0">
                <a:solidFill>
                  <a:srgbClr val="FFFFFF"/>
                </a:solidFill>
              </a:rPr>
              <a:t>'Every trade is someone's ops problem.'</a:t>
            </a:r>
            <a:endParaRPr lang="en-US" sz="950" dirty="0"/>
          </a:p>
        </p:txBody>
      </p:sp>
      <p:sp>
        <p:nvSpPr>
          <p:cNvPr id="20" name="Shape 18"/>
          <p:cNvSpPr/>
          <p:nvPr/>
        </p:nvSpPr>
        <p:spPr>
          <a:xfrm>
            <a:off x="0" y="4818888"/>
            <a:ext cx="2011680" cy="324612"/>
          </a:xfrm>
          <a:prstGeom prst="rect">
            <a:avLst/>
          </a:prstGeom>
          <a:solidFill>
            <a:srgbClr val="101C4F"/>
          </a:solidFill>
          <a:ln w="12700">
            <a:solidFill>
              <a:srgbClr val="101C4F"/>
            </a:solidFill>
            <a:prstDash val="solid"/>
          </a:ln>
        </p:spPr>
      </p:sp>
      <p:sp>
        <p:nvSpPr>
          <p:cNvPr id="21" name="Text 19"/>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D1.4</a:t>
            </a:r>
            <a:endParaRPr lang="en-US" sz="800" dirty="0"/>
          </a:p>
        </p:txBody>
      </p:sp>
      <p:sp>
        <p:nvSpPr>
          <p:cNvPr id="22" name="Text 20"/>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101C4F"/>
                </a:solidFill>
              </a:rPr>
              <a:t>💬  THINK &amp; DISCUSS</a:t>
            </a:r>
            <a:endParaRPr lang="en-US" sz="1000" dirty="0"/>
          </a:p>
        </p:txBody>
      </p:sp>
      <p:sp>
        <p:nvSpPr>
          <p:cNvPr id="4" name="Text 2"/>
          <p:cNvSpPr/>
          <p:nvPr/>
        </p:nvSpPr>
        <p:spPr>
          <a:xfrm>
            <a:off x="457200" y="822960"/>
            <a:ext cx="8229600" cy="777240"/>
          </a:xfrm>
          <a:prstGeom prst="rect">
            <a:avLst/>
          </a:prstGeom>
          <a:noFill/>
          <a:ln/>
        </p:spPr>
        <p:txBody>
          <a:bodyPr wrap="square" lIns="0" tIns="0" rIns="0" bIns="0" rtlCol="0" anchor="ctr"/>
          <a:lstStyle/>
          <a:p>
            <a:pPr algn="ctr" indent="0" marL="0">
              <a:buNone/>
            </a:pPr>
            <a:r>
              <a:rPr lang="en-US" sz="1500" b="1" dirty="0">
                <a:solidFill>
                  <a:srgbClr val="101C4F"/>
                </a:solidFill>
              </a:rPr>
              <a:t>Is it healthy for Indian markets to be heavily influenced by FII flows?</a:t>
            </a:r>
            <a:endParaRPr lang="en-US" sz="1500" dirty="0"/>
          </a:p>
        </p:txBody>
      </p:sp>
      <p:sp>
        <p:nvSpPr>
          <p:cNvPr id="5" name="Shape 3"/>
          <p:cNvSpPr/>
          <p:nvPr/>
        </p:nvSpPr>
        <p:spPr>
          <a:xfrm>
            <a:off x="4572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457200" y="1737360"/>
            <a:ext cx="3977640" cy="73152"/>
          </a:xfrm>
          <a:prstGeom prst="rect">
            <a:avLst/>
          </a:prstGeom>
          <a:solidFill>
            <a:srgbClr val="007A87"/>
          </a:solidFill>
          <a:ln w="12700">
            <a:solidFill>
              <a:srgbClr val="007A87"/>
            </a:solidFill>
            <a:prstDash val="solid"/>
          </a:ln>
        </p:spPr>
      </p:sp>
      <p:sp>
        <p:nvSpPr>
          <p:cNvPr id="7" name="Text 5"/>
          <p:cNvSpPr/>
          <p:nvPr/>
        </p:nvSpPr>
        <p:spPr>
          <a:xfrm>
            <a:off x="594360" y="1828800"/>
            <a:ext cx="3657600" cy="320040"/>
          </a:xfrm>
          <a:prstGeom prst="rect">
            <a:avLst/>
          </a:prstGeom>
          <a:noFill/>
          <a:ln/>
        </p:spPr>
        <p:txBody>
          <a:bodyPr wrap="square" lIns="0" tIns="0" rIns="0" bIns="0" rtlCol="0" anchor="ctr"/>
          <a:lstStyle/>
          <a:p>
            <a:pPr indent="0" marL="0">
              <a:buNone/>
            </a:pPr>
            <a:r>
              <a:rPr lang="en-US" sz="1000" b="1" dirty="0">
                <a:solidFill>
                  <a:srgbClr val="007A87"/>
                </a:solidFill>
              </a:rPr>
              <a:t>🟢 FII FLOWS BRING DEPTH</a:t>
            </a:r>
            <a:endParaRPr lang="en-US" sz="1000" dirty="0"/>
          </a:p>
        </p:txBody>
      </p:sp>
      <p:sp>
        <p:nvSpPr>
          <p:cNvPr id="8" name="Text 6"/>
          <p:cNvSpPr/>
          <p:nvPr/>
        </p:nvSpPr>
        <p:spPr>
          <a:xfrm>
            <a:off x="5943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Foreign capital increases market liquidity, improves price discovery, and signals global confidence in India's growth story.</a:t>
            </a:r>
            <a:endParaRPr lang="en-US" sz="950" dirty="0"/>
          </a:p>
        </p:txBody>
      </p:sp>
      <p:sp>
        <p:nvSpPr>
          <p:cNvPr id="9" name="Shape 7"/>
          <p:cNvSpPr/>
          <p:nvPr/>
        </p:nvSpPr>
        <p:spPr>
          <a:xfrm>
            <a:off x="48006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4800600" y="1737360"/>
            <a:ext cx="3977640" cy="73152"/>
          </a:xfrm>
          <a:prstGeom prst="rect">
            <a:avLst/>
          </a:prstGeom>
          <a:solidFill>
            <a:srgbClr val="101C4F"/>
          </a:solidFill>
          <a:ln w="12700">
            <a:solidFill>
              <a:srgbClr val="101C4F"/>
            </a:solidFill>
            <a:prstDash val="solid"/>
          </a:ln>
        </p:spPr>
      </p:sp>
      <p:sp>
        <p:nvSpPr>
          <p:cNvPr id="11" name="Text 9"/>
          <p:cNvSpPr/>
          <p:nvPr/>
        </p:nvSpPr>
        <p:spPr>
          <a:xfrm>
            <a:off x="4937760" y="1828800"/>
            <a:ext cx="3657600" cy="320040"/>
          </a:xfrm>
          <a:prstGeom prst="rect">
            <a:avLst/>
          </a:prstGeom>
          <a:noFill/>
          <a:ln/>
        </p:spPr>
        <p:txBody>
          <a:bodyPr wrap="square" lIns="0" tIns="0" rIns="0" bIns="0" rtlCol="0" anchor="ctr"/>
          <a:lstStyle/>
          <a:p>
            <a:pPr indent="0" marL="0">
              <a:buNone/>
            </a:pPr>
            <a:r>
              <a:rPr lang="en-US" sz="1000" b="1" dirty="0">
                <a:solidFill>
                  <a:srgbClr val="101C4F"/>
                </a:solidFill>
              </a:rPr>
              <a:t>🔴 FII DEPENDENCE IS RISKY</a:t>
            </a:r>
            <a:endParaRPr lang="en-US" sz="1000" dirty="0"/>
          </a:p>
        </p:txBody>
      </p:sp>
      <p:sp>
        <p:nvSpPr>
          <p:cNvPr id="12" name="Text 10"/>
          <p:cNvSpPr/>
          <p:nvPr/>
        </p:nvSpPr>
        <p:spPr>
          <a:xfrm>
            <a:off x="49377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When US Fed hikes rates, FIIs pull out globally. India takes collateral damage — Rupee falls, market crashes. External shock, domestic pain.</a:t>
            </a:r>
            <a:endParaRPr lang="en-US" sz="950" dirty="0"/>
          </a:p>
        </p:txBody>
      </p:sp>
      <p:sp>
        <p:nvSpPr>
          <p:cNvPr id="13" name="Shape 11"/>
          <p:cNvSpPr/>
          <p:nvPr/>
        </p:nvSpPr>
        <p:spPr>
          <a:xfrm>
            <a:off x="457200" y="3337560"/>
            <a:ext cx="8229600" cy="777240"/>
          </a:xfrm>
          <a:prstGeom prst="rect">
            <a:avLst/>
          </a:prstGeom>
          <a:solidFill>
            <a:srgbClr val="007A87"/>
          </a:solidFill>
          <a:ln w="12700">
            <a:solidFill>
              <a:srgbClr val="007A87"/>
            </a:solidFill>
            <a:prstDash val="solid"/>
          </a:ln>
        </p:spPr>
      </p:sp>
      <p:sp>
        <p:nvSpPr>
          <p:cNvPr id="14" name="Text 12"/>
          <p:cNvSpPr/>
          <p:nvPr/>
        </p:nvSpPr>
        <p:spPr>
          <a:xfrm>
            <a:off x="640080" y="3337560"/>
            <a:ext cx="7863840" cy="777240"/>
          </a:xfrm>
          <a:prstGeom prst="rect">
            <a:avLst/>
          </a:prstGeom>
          <a:noFill/>
          <a:ln/>
        </p:spPr>
        <p:txBody>
          <a:bodyPr wrap="square" lIns="0" tIns="0" rIns="0" bIns="0" rtlCol="0" anchor="ctr"/>
          <a:lstStyle/>
          <a:p>
            <a:pPr indent="0" marL="0">
              <a:buNone/>
            </a:pPr>
            <a:r>
              <a:rPr lang="en-US" sz="1000" dirty="0">
                <a:solidFill>
                  <a:srgbClr val="FFFFFF"/>
                </a:solidFill>
              </a:rPr>
              <a:t>💡 SEBI has consciously built DII capacity (MF SIPs, EPFO equity exposure) to create a domestic counterweight to FII volatility. 2020 COVID crash: FIIs sold ₹1.1 lakh crore, DIIs absorbed ₹90,000 crore.</a:t>
            </a:r>
            <a:endParaRPr lang="en-US" sz="1000" dirty="0"/>
          </a:p>
        </p:txBody>
      </p:sp>
      <p:sp>
        <p:nvSpPr>
          <p:cNvPr id="15" name="Shape 13"/>
          <p:cNvSpPr/>
          <p:nvPr/>
        </p:nvSpPr>
        <p:spPr>
          <a:xfrm>
            <a:off x="0" y="4818888"/>
            <a:ext cx="2011680" cy="324612"/>
          </a:xfrm>
          <a:prstGeom prst="rect">
            <a:avLst/>
          </a:prstGeom>
          <a:solidFill>
            <a:srgbClr val="101C4F"/>
          </a:solidFill>
          <a:ln w="12700">
            <a:solidFill>
              <a:srgbClr val="101C4F"/>
            </a:solidFill>
            <a:prstDash val="solid"/>
          </a:ln>
        </p:spPr>
      </p:sp>
      <p:sp>
        <p:nvSpPr>
          <p:cNvPr id="16" name="Text 14"/>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D1.4</a:t>
            </a:r>
            <a:endParaRPr lang="en-US" sz="800" dirty="0"/>
          </a:p>
        </p:txBody>
      </p:sp>
      <p:sp>
        <p:nvSpPr>
          <p:cNvPr id="17" name="Text 15"/>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INTERVIEW READY</a:t>
            </a:r>
            <a:endParaRPr lang="en-US" sz="1000" dirty="0"/>
          </a:p>
        </p:txBody>
      </p:sp>
      <p:sp>
        <p:nvSpPr>
          <p:cNvPr id="4" name="Text 2"/>
          <p:cNvSpPr/>
          <p:nvPr/>
        </p:nvSpPr>
        <p:spPr>
          <a:xfrm>
            <a:off x="365760" y="777240"/>
            <a:ext cx="8412480" cy="384048"/>
          </a:xfrm>
          <a:prstGeom prst="rect">
            <a:avLst/>
          </a:prstGeom>
          <a:noFill/>
          <a:ln/>
        </p:spPr>
        <p:txBody>
          <a:bodyPr wrap="square" lIns="0" tIns="0" rIns="0" bIns="0" rtlCol="0" anchor="ctr"/>
          <a:lstStyle/>
          <a:p>
            <a:pPr indent="0" marL="0">
              <a:buNone/>
            </a:pPr>
            <a:r>
              <a:rPr lang="en-US" sz="1200" i="1" dirty="0">
                <a:solidFill>
                  <a:srgbClr val="4A5568"/>
                </a:solidFill>
              </a:rPr>
              <a:t>Questions you WILL get asked — know these cold.</a:t>
            </a:r>
            <a:endParaRPr lang="en-US" sz="1200" dirty="0"/>
          </a:p>
        </p:txBody>
      </p:sp>
      <p:sp>
        <p:nvSpPr>
          <p:cNvPr id="5" name="Shape 3"/>
          <p:cNvSpPr/>
          <p:nvPr/>
        </p:nvSpPr>
        <p:spPr>
          <a:xfrm>
            <a:off x="365760" y="128016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65760" y="1280160"/>
            <a:ext cx="73152" cy="987552"/>
          </a:xfrm>
          <a:prstGeom prst="rect">
            <a:avLst/>
          </a:prstGeom>
          <a:solidFill>
            <a:srgbClr val="F0A800"/>
          </a:solidFill>
          <a:ln w="12700">
            <a:solidFill>
              <a:srgbClr val="F0A800"/>
            </a:solidFill>
            <a:prstDash val="solid"/>
          </a:ln>
        </p:spPr>
      </p:sp>
      <p:sp>
        <p:nvSpPr>
          <p:cNvPr id="7" name="Text 5"/>
          <p:cNvSpPr/>
          <p:nvPr/>
        </p:nvSpPr>
        <p:spPr>
          <a:xfrm>
            <a:off x="548640" y="133502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Q1: What is the difference between a FII and a DII?</a:t>
            </a:r>
            <a:endParaRPr lang="en-US" sz="1000" dirty="0"/>
          </a:p>
        </p:txBody>
      </p:sp>
      <p:sp>
        <p:nvSpPr>
          <p:cNvPr id="8" name="Text 6"/>
          <p:cNvSpPr/>
          <p:nvPr/>
        </p:nvSpPr>
        <p:spPr>
          <a:xfrm>
            <a:off x="548640" y="1682496"/>
            <a:ext cx="8046720" cy="530352"/>
          </a:xfrm>
          <a:prstGeom prst="rect">
            <a:avLst/>
          </a:prstGeom>
          <a:noFill/>
          <a:ln/>
        </p:spPr>
        <p:txBody>
          <a:bodyPr wrap="square" lIns="0" tIns="0" rIns="0" bIns="0" rtlCol="0" anchor="ctr"/>
          <a:lstStyle/>
          <a:p>
            <a:pPr indent="0" marL="0">
              <a:buNone/>
            </a:pPr>
            <a:r>
              <a:rPr lang="en-US" sz="950" dirty="0">
                <a:solidFill>
                  <a:srgbClr val="1A2340"/>
                </a:solidFill>
              </a:rPr>
              <a:t>→ FII is a foreign institutional investor registered with SEBI — like BlackRock or Fidelity investing in India. DII is a domestic institution — like LIC, SBI MF, or EPFO — investing in Indian markets from within India.</a:t>
            </a:r>
            <a:endParaRPr lang="en-US" sz="950" dirty="0"/>
          </a:p>
        </p:txBody>
      </p:sp>
      <p:sp>
        <p:nvSpPr>
          <p:cNvPr id="9" name="Shape 7"/>
          <p:cNvSpPr/>
          <p:nvPr/>
        </p:nvSpPr>
        <p:spPr>
          <a:xfrm>
            <a:off x="365760" y="237744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365760" y="2377440"/>
            <a:ext cx="73152" cy="987552"/>
          </a:xfrm>
          <a:prstGeom prst="rect">
            <a:avLst/>
          </a:prstGeom>
          <a:solidFill>
            <a:srgbClr val="F0A800"/>
          </a:solidFill>
          <a:ln w="12700">
            <a:solidFill>
              <a:srgbClr val="F0A800"/>
            </a:solidFill>
            <a:prstDash val="solid"/>
          </a:ln>
        </p:spPr>
      </p:sp>
      <p:sp>
        <p:nvSpPr>
          <p:cNvPr id="11" name="Text 9"/>
          <p:cNvSpPr/>
          <p:nvPr/>
        </p:nvSpPr>
        <p:spPr>
          <a:xfrm>
            <a:off x="548640" y="243230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Q2: What does a clearing house do?</a:t>
            </a:r>
            <a:endParaRPr lang="en-US" sz="1000" dirty="0"/>
          </a:p>
        </p:txBody>
      </p:sp>
      <p:sp>
        <p:nvSpPr>
          <p:cNvPr id="12" name="Text 10"/>
          <p:cNvSpPr/>
          <p:nvPr/>
        </p:nvSpPr>
        <p:spPr>
          <a:xfrm>
            <a:off x="548640" y="2779776"/>
            <a:ext cx="8046720" cy="530352"/>
          </a:xfrm>
          <a:prstGeom prst="rect">
            <a:avLst/>
          </a:prstGeom>
          <a:noFill/>
          <a:ln/>
        </p:spPr>
        <p:txBody>
          <a:bodyPr wrap="square" lIns="0" tIns="0" rIns="0" bIns="0" rtlCol="0" anchor="ctr"/>
          <a:lstStyle/>
          <a:p>
            <a:pPr indent="0" marL="0">
              <a:buNone/>
            </a:pPr>
            <a:r>
              <a:rPr lang="en-US" sz="950" dirty="0">
                <a:solidFill>
                  <a:srgbClr val="1A2340"/>
                </a:solidFill>
              </a:rPr>
              <a:t>→ A clearing house (like NSCCL) acts as central counterparty — it interposes itself between buyer and seller, guaranteeing settlement even if one party defaults. It eliminates bilateral counterparty risk.</a:t>
            </a:r>
            <a:endParaRPr lang="en-US" sz="950" dirty="0"/>
          </a:p>
        </p:txBody>
      </p:sp>
      <p:sp>
        <p:nvSpPr>
          <p:cNvPr id="13" name="Shape 11"/>
          <p:cNvSpPr/>
          <p:nvPr/>
        </p:nvSpPr>
        <p:spPr>
          <a:xfrm>
            <a:off x="365760" y="347472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365760" y="3474720"/>
            <a:ext cx="73152" cy="987552"/>
          </a:xfrm>
          <a:prstGeom prst="rect">
            <a:avLst/>
          </a:prstGeom>
          <a:solidFill>
            <a:srgbClr val="F0A800"/>
          </a:solidFill>
          <a:ln w="12700">
            <a:solidFill>
              <a:srgbClr val="F0A800"/>
            </a:solidFill>
            <a:prstDash val="solid"/>
          </a:ln>
        </p:spPr>
      </p:sp>
      <p:sp>
        <p:nvSpPr>
          <p:cNvPr id="15" name="Text 13"/>
          <p:cNvSpPr/>
          <p:nvPr/>
        </p:nvSpPr>
        <p:spPr>
          <a:xfrm>
            <a:off x="548640" y="352958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Q3: What is a demat account and why is it needed?</a:t>
            </a:r>
            <a:endParaRPr lang="en-US" sz="1000" dirty="0"/>
          </a:p>
        </p:txBody>
      </p:sp>
      <p:sp>
        <p:nvSpPr>
          <p:cNvPr id="16" name="Text 14"/>
          <p:cNvSpPr/>
          <p:nvPr/>
        </p:nvSpPr>
        <p:spPr>
          <a:xfrm>
            <a:off x="548640" y="3877056"/>
            <a:ext cx="8046720" cy="530352"/>
          </a:xfrm>
          <a:prstGeom prst="rect">
            <a:avLst/>
          </a:prstGeom>
          <a:noFill/>
          <a:ln/>
        </p:spPr>
        <p:txBody>
          <a:bodyPr wrap="square" lIns="0" tIns="0" rIns="0" bIns="0" rtlCol="0" anchor="ctr"/>
          <a:lstStyle/>
          <a:p>
            <a:pPr indent="0" marL="0">
              <a:buNone/>
            </a:pPr>
            <a:r>
              <a:rPr lang="en-US" sz="950" dirty="0">
                <a:solidFill>
                  <a:srgbClr val="1A2340"/>
                </a:solidFill>
              </a:rPr>
              <a:t>→ Demat (dematerialised) account holds securities in electronic form instead of paper certificates. NSDL and CDSL are India's two depositories. It eliminates theft/loss risk and enables T+1 settlement.</a:t>
            </a:r>
            <a:endParaRPr lang="en-US" sz="950" dirty="0"/>
          </a:p>
        </p:txBody>
      </p:sp>
      <p:sp>
        <p:nvSpPr>
          <p:cNvPr id="17" name="Shape 15"/>
          <p:cNvSpPr/>
          <p:nvPr/>
        </p:nvSpPr>
        <p:spPr>
          <a:xfrm>
            <a:off x="0" y="4818888"/>
            <a:ext cx="2011680" cy="324612"/>
          </a:xfrm>
          <a:prstGeom prst="rect">
            <a:avLst/>
          </a:prstGeom>
          <a:solidFill>
            <a:srgbClr val="101C4F"/>
          </a:solidFill>
          <a:ln w="12700">
            <a:solidFill>
              <a:srgbClr val="101C4F"/>
            </a:solidFill>
            <a:prstDash val="solid"/>
          </a:ln>
        </p:spPr>
      </p:sp>
      <p:sp>
        <p:nvSpPr>
          <p:cNvPr id="18" name="Text 16"/>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D1.4</a:t>
            </a:r>
            <a:endParaRPr lang="en-US" sz="800" dirty="0"/>
          </a:p>
        </p:txBody>
      </p:sp>
      <p:sp>
        <p:nvSpPr>
          <p:cNvPr id="19" name="Text 17"/>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A87"/>
          </a:solidFill>
          <a:ln w="12700">
            <a:solidFill>
              <a:srgbClr val="007A87"/>
            </a:solidFill>
            <a:prstDash val="solid"/>
          </a:ln>
        </p:spPr>
      </p:sp>
      <p:sp>
        <p:nvSpPr>
          <p:cNvPr id="3" name="Shape 1"/>
          <p:cNvSpPr/>
          <p:nvPr/>
        </p:nvSpPr>
        <p:spPr>
          <a:xfrm>
            <a:off x="384048" y="2212848"/>
            <a:ext cx="201168" cy="201168"/>
          </a:xfrm>
          <a:prstGeom prst="oval">
            <a:avLst/>
          </a:prstGeom>
          <a:solidFill>
            <a:srgbClr val="F0A800"/>
          </a:solidFill>
          <a:ln w="12700">
            <a:solidFill>
              <a:srgbClr val="F0A800"/>
            </a:solidFill>
            <a:prstDash val="solid"/>
          </a:ln>
        </p:spPr>
      </p:sp>
      <p:sp>
        <p:nvSpPr>
          <p:cNvPr id="4" name="Shape 2"/>
          <p:cNvSpPr/>
          <p:nvPr/>
        </p:nvSpPr>
        <p:spPr>
          <a:xfrm>
            <a:off x="457200" y="548640"/>
            <a:ext cx="1188720" cy="384048"/>
          </a:xfrm>
          <a:prstGeom prst="rect">
            <a:avLst/>
          </a:prstGeom>
          <a:solidFill>
            <a:srgbClr val="007A87"/>
          </a:solidFill>
          <a:ln w="12700">
            <a:solidFill>
              <a:srgbClr val="007A87"/>
            </a:solidFill>
            <a:prstDash val="solid"/>
          </a:ln>
        </p:spPr>
      </p:sp>
      <p:sp>
        <p:nvSpPr>
          <p:cNvPr id="5" name="Text 3"/>
          <p:cNvSpPr/>
          <p:nvPr/>
        </p:nvSpPr>
        <p:spPr>
          <a:xfrm>
            <a:off x="457200" y="548640"/>
            <a:ext cx="1188720" cy="384048"/>
          </a:xfrm>
          <a:prstGeom prst="rect">
            <a:avLst/>
          </a:prstGeom>
          <a:noFill/>
          <a:ln/>
        </p:spPr>
        <p:txBody>
          <a:bodyPr wrap="square" lIns="0" tIns="0" rIns="0" bIns="0" rtlCol="0" anchor="ctr"/>
          <a:lstStyle/>
          <a:p>
            <a:pPr algn="ctr" indent="0" marL="0">
              <a:buNone/>
            </a:pPr>
            <a:r>
              <a:rPr lang="en-US" sz="1200" b="1" dirty="0">
                <a:solidFill>
                  <a:srgbClr val="FFFFFF"/>
                </a:solidFill>
              </a:rPr>
              <a:t>D1.5</a:t>
            </a:r>
            <a:endParaRPr lang="en-US" sz="1200" dirty="0"/>
          </a:p>
        </p:txBody>
      </p:sp>
      <p:sp>
        <p:nvSpPr>
          <p:cNvPr id="6" name="Text 4"/>
          <p:cNvSpPr/>
          <p:nvPr/>
        </p:nvSpPr>
        <p:spPr>
          <a:xfrm>
            <a:off x="1828800" y="621792"/>
            <a:ext cx="2743200" cy="274320"/>
          </a:xfrm>
          <a:prstGeom prst="rect">
            <a:avLst/>
          </a:prstGeom>
          <a:noFill/>
          <a:ln/>
        </p:spPr>
        <p:txBody>
          <a:bodyPr wrap="square" lIns="0" tIns="0" rIns="0" bIns="0" rtlCol="0" anchor="ctr"/>
          <a:lstStyle/>
          <a:p>
            <a:pPr algn="l" indent="0" marL="0">
              <a:buNone/>
            </a:pPr>
            <a:r>
              <a:rPr lang="en-US" sz="900" dirty="0">
                <a:solidFill>
                  <a:srgbClr val="007A87"/>
                </a:solidFill>
              </a:rPr>
              <a:t>Unit 5 of 8</a:t>
            </a:r>
            <a:endParaRPr lang="en-US" sz="900" dirty="0"/>
          </a:p>
        </p:txBody>
      </p:sp>
      <p:sp>
        <p:nvSpPr>
          <p:cNvPr id="7" name="Text 5"/>
          <p:cNvSpPr/>
          <p:nvPr/>
        </p:nvSpPr>
        <p:spPr>
          <a:xfrm>
            <a:off x="457200" y="1143000"/>
            <a:ext cx="7772400" cy="1371600"/>
          </a:xfrm>
          <a:prstGeom prst="rect">
            <a:avLst/>
          </a:prstGeom>
          <a:noFill/>
          <a:ln/>
        </p:spPr>
        <p:txBody>
          <a:bodyPr wrap="square" lIns="0" tIns="0" rIns="0" bIns="0" rtlCol="0" anchor="ctr"/>
          <a:lstStyle/>
          <a:p>
            <a:pPr algn="l" indent="0" marL="0">
              <a:buNone/>
            </a:pPr>
            <a:r>
              <a:rPr lang="en-US" sz="3400" b="1" dirty="0">
                <a:solidFill>
                  <a:srgbClr val="FFFFFF"/>
                </a:solidFill>
              </a:rPr>
              <a:t>Investment Banks and Their Functions</a:t>
            </a:r>
            <a:endParaRPr lang="en-US" sz="3400" dirty="0"/>
          </a:p>
        </p:txBody>
      </p:sp>
      <p:sp>
        <p:nvSpPr>
          <p:cNvPr id="8" name="Shape 6"/>
          <p:cNvSpPr/>
          <p:nvPr/>
        </p:nvSpPr>
        <p:spPr>
          <a:xfrm>
            <a:off x="457200" y="2697480"/>
            <a:ext cx="8229600" cy="45720"/>
          </a:xfrm>
          <a:prstGeom prst="rect">
            <a:avLst/>
          </a:prstGeom>
          <a:solidFill>
            <a:srgbClr val="007A87"/>
          </a:solidFill>
          <a:ln w="12700">
            <a:solidFill>
              <a:srgbClr val="007A87"/>
            </a:solidFill>
            <a:prstDash val="solid"/>
          </a:ln>
        </p:spPr>
      </p:sp>
      <p:sp>
        <p:nvSpPr>
          <p:cNvPr id="9" name="Text 7"/>
          <p:cNvSpPr/>
          <p:nvPr/>
        </p:nvSpPr>
        <p:spPr>
          <a:xfrm>
            <a:off x="457200" y="2834640"/>
            <a:ext cx="1463040" cy="320040"/>
          </a:xfrm>
          <a:prstGeom prst="rect">
            <a:avLst/>
          </a:prstGeom>
          <a:noFill/>
          <a:ln/>
        </p:spPr>
        <p:txBody>
          <a:bodyPr wrap="square" lIns="0" tIns="0" rIns="0" bIns="0" rtlCol="0" anchor="ctr"/>
          <a:lstStyle/>
          <a:p>
            <a:pPr algn="l" indent="0" marL="0">
              <a:buNone/>
            </a:pPr>
            <a:r>
              <a:rPr lang="en-US" sz="900" b="1" dirty="0">
                <a:solidFill>
                  <a:srgbClr val="F0A800"/>
                </a:solidFill>
              </a:rPr>
              <a:t>COMPETENCY:</a:t>
            </a:r>
            <a:endParaRPr lang="en-US" sz="900" dirty="0"/>
          </a:p>
        </p:txBody>
      </p:sp>
      <p:sp>
        <p:nvSpPr>
          <p:cNvPr id="10" name="Text 8"/>
          <p:cNvSpPr/>
          <p:nvPr/>
        </p:nvSpPr>
        <p:spPr>
          <a:xfrm>
            <a:off x="1920240" y="2834640"/>
            <a:ext cx="6766560" cy="320040"/>
          </a:xfrm>
          <a:prstGeom prst="rect">
            <a:avLst/>
          </a:prstGeom>
          <a:noFill/>
          <a:ln/>
        </p:spPr>
        <p:txBody>
          <a:bodyPr wrap="square" lIns="0" tIns="0" rIns="0" bIns="0" rtlCol="0" anchor="ctr"/>
          <a:lstStyle/>
          <a:p>
            <a:pPr algn="l" indent="0" marL="0">
              <a:buNone/>
            </a:pPr>
            <a:r>
              <a:rPr lang="en-US" sz="900" dirty="0">
                <a:solidFill>
                  <a:srgbClr val="A0B4D0"/>
                </a:solidFill>
              </a:rPr>
              <a:t>Investment Banking Literacy</a:t>
            </a:r>
            <a:endParaRPr lang="en-US" sz="900" dirty="0"/>
          </a:p>
        </p:txBody>
      </p:sp>
      <p:sp>
        <p:nvSpPr>
          <p:cNvPr id="11" name="Shape 9"/>
          <p:cNvSpPr/>
          <p:nvPr/>
        </p:nvSpPr>
        <p:spPr>
          <a:xfrm>
            <a:off x="164592" y="4818888"/>
            <a:ext cx="8979408" cy="324612"/>
          </a:xfrm>
          <a:prstGeom prst="rect">
            <a:avLst/>
          </a:prstGeom>
          <a:solidFill>
            <a:srgbClr val="F0A800"/>
          </a:solidFill>
          <a:ln w="12700">
            <a:solidFill>
              <a:srgbClr val="F0A800"/>
            </a:solidFill>
            <a:prstDash val="solid"/>
          </a:ln>
        </p:spPr>
      </p:sp>
      <p:sp>
        <p:nvSpPr>
          <p:cNvPr id="12" name="Text 10"/>
          <p:cNvSpPr/>
          <p:nvPr/>
        </p:nvSpPr>
        <p:spPr>
          <a:xfrm>
            <a:off x="457200" y="4818888"/>
            <a:ext cx="8229600" cy="324612"/>
          </a:xfrm>
          <a:prstGeom prst="rect">
            <a:avLst/>
          </a:prstGeom>
          <a:noFill/>
          <a:ln/>
        </p:spPr>
        <p:txBody>
          <a:bodyPr wrap="square" lIns="0" tIns="0" rIns="0" bIns="0" rtlCol="0" anchor="ctr"/>
          <a:lstStyle/>
          <a:p>
            <a:pPr algn="ctr" indent="0" marL="0">
              <a:buNone/>
            </a:pPr>
            <a:r>
              <a:rPr lang="en-US" sz="800" b="1" dirty="0">
                <a:solidFill>
                  <a:srgbClr val="101C4F"/>
                </a:solidFill>
              </a:rPr>
              <a:t>IMARTICUS LEARNING  ·  CIBOP  ·  MODULE 1</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30</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3657600" cy="658368"/>
          </a:xfrm>
          <a:prstGeom prst="rect">
            <a:avLst/>
          </a:prstGeom>
          <a:noFill/>
          <a:ln/>
        </p:spPr>
        <p:txBody>
          <a:bodyPr wrap="square" lIns="0" tIns="0" rIns="0" bIns="0" rtlCol="0" anchor="ctr"/>
          <a:lstStyle/>
          <a:p>
            <a:pPr indent="0" marL="0">
              <a:buNone/>
            </a:pPr>
            <a:r>
              <a:rPr lang="en-US" sz="1000" b="1" spc="200" kern="0" dirty="0">
                <a:solidFill>
                  <a:srgbClr val="007A87"/>
                </a:solidFill>
              </a:rPr>
              <a:t>⟵  QUICK RECAP</a:t>
            </a:r>
            <a:endParaRPr lang="en-US" sz="1000" dirty="0"/>
          </a:p>
        </p:txBody>
      </p:sp>
      <p:sp>
        <p:nvSpPr>
          <p:cNvPr id="4" name="Text 2"/>
          <p:cNvSpPr/>
          <p:nvPr/>
        </p:nvSpPr>
        <p:spPr>
          <a:xfrm>
            <a:off x="4114800" y="0"/>
            <a:ext cx="4663440" cy="658368"/>
          </a:xfrm>
          <a:prstGeom prst="rect">
            <a:avLst/>
          </a:prstGeom>
          <a:noFill/>
          <a:ln/>
        </p:spPr>
        <p:txBody>
          <a:bodyPr wrap="square" lIns="0" tIns="0" rIns="0" bIns="0" rtlCol="0" anchor="ctr"/>
          <a:lstStyle/>
          <a:p>
            <a:pPr algn="r" indent="0" marL="0">
              <a:buNone/>
            </a:pPr>
            <a:r>
              <a:rPr lang="en-US" sz="900" dirty="0">
                <a:solidFill>
                  <a:srgbClr val="A0B4D0"/>
                </a:solidFill>
              </a:rPr>
              <a:t>D1.4 — Market Participants</a:t>
            </a:r>
            <a:endParaRPr lang="en-US" sz="900" dirty="0"/>
          </a:p>
        </p:txBody>
      </p:sp>
      <p:sp>
        <p:nvSpPr>
          <p:cNvPr id="5" name="Text 3"/>
          <p:cNvSpPr/>
          <p:nvPr/>
        </p:nvSpPr>
        <p:spPr>
          <a:xfrm>
            <a:off x="457200" y="822960"/>
            <a:ext cx="8229600" cy="457200"/>
          </a:xfrm>
          <a:prstGeom prst="rect">
            <a:avLst/>
          </a:prstGeom>
          <a:noFill/>
          <a:ln/>
        </p:spPr>
        <p:txBody>
          <a:bodyPr wrap="square" lIns="0" tIns="0" rIns="0" bIns="0" rtlCol="0" anchor="ctr"/>
          <a:lstStyle/>
          <a:p>
            <a:pPr algn="l" indent="0" marL="0">
              <a:buNone/>
            </a:pPr>
            <a:r>
              <a:rPr lang="en-US" sz="1400" b="1" dirty="0">
                <a:solidFill>
                  <a:srgbClr val="1A2340"/>
                </a:solidFill>
              </a:rPr>
              <a:t>Before we begin — let's make sure the foundation is solid.</a:t>
            </a:r>
            <a:endParaRPr lang="en-US" sz="1400" dirty="0"/>
          </a:p>
        </p:txBody>
      </p:sp>
      <p:sp>
        <p:nvSpPr>
          <p:cNvPr id="6" name="Shape 4"/>
          <p:cNvSpPr/>
          <p:nvPr/>
        </p:nvSpPr>
        <p:spPr>
          <a:xfrm>
            <a:off x="45720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457200" y="1463040"/>
            <a:ext cx="2468880" cy="64008"/>
          </a:xfrm>
          <a:prstGeom prst="rect">
            <a:avLst/>
          </a:prstGeom>
          <a:solidFill>
            <a:srgbClr val="007A87"/>
          </a:solidFill>
          <a:ln w="12700">
            <a:solidFill>
              <a:srgbClr val="007A87"/>
            </a:solidFill>
            <a:prstDash val="solid"/>
          </a:ln>
        </p:spPr>
      </p:sp>
      <p:sp>
        <p:nvSpPr>
          <p:cNvPr id="8" name="Text 6"/>
          <p:cNvSpPr/>
          <p:nvPr/>
        </p:nvSpPr>
        <p:spPr>
          <a:xfrm>
            <a:off x="56692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9" name="Text 7"/>
          <p:cNvSpPr/>
          <p:nvPr/>
        </p:nvSpPr>
        <p:spPr>
          <a:xfrm>
            <a:off x="56692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What IBs Do</a:t>
            </a:r>
            <a:endParaRPr lang="en-US" sz="1050" dirty="0"/>
          </a:p>
        </p:txBody>
      </p:sp>
      <p:sp>
        <p:nvSpPr>
          <p:cNvPr id="10" name="Text 8"/>
          <p:cNvSpPr/>
          <p:nvPr/>
        </p:nvSpPr>
        <p:spPr>
          <a:xfrm>
            <a:off x="56692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Capital raising (ECM/DCM), M&amp;A advisory, sales &amp; trading, research — NOT deposit-taking (that's commercial banking).</a:t>
            </a:r>
            <a:endParaRPr lang="en-US" sz="850" dirty="0"/>
          </a:p>
        </p:txBody>
      </p:sp>
      <p:sp>
        <p:nvSpPr>
          <p:cNvPr id="11" name="Shape 9"/>
          <p:cNvSpPr/>
          <p:nvPr/>
        </p:nvSpPr>
        <p:spPr>
          <a:xfrm>
            <a:off x="310896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3108960" y="1463040"/>
            <a:ext cx="2468880" cy="64008"/>
          </a:xfrm>
          <a:prstGeom prst="rect">
            <a:avLst/>
          </a:prstGeom>
          <a:solidFill>
            <a:srgbClr val="007A87"/>
          </a:solidFill>
          <a:ln w="12700">
            <a:solidFill>
              <a:srgbClr val="007A87"/>
            </a:solidFill>
            <a:prstDash val="solid"/>
          </a:ln>
        </p:spPr>
      </p:sp>
      <p:sp>
        <p:nvSpPr>
          <p:cNvPr id="13" name="Text 11"/>
          <p:cNvSpPr/>
          <p:nvPr/>
        </p:nvSpPr>
        <p:spPr>
          <a:xfrm>
            <a:off x="321868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4" name="Text 12"/>
          <p:cNvSpPr/>
          <p:nvPr/>
        </p:nvSpPr>
        <p:spPr>
          <a:xfrm>
            <a:off x="321868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India's IBs</a:t>
            </a:r>
            <a:endParaRPr lang="en-US" sz="1050" dirty="0"/>
          </a:p>
        </p:txBody>
      </p:sp>
      <p:sp>
        <p:nvSpPr>
          <p:cNvPr id="15" name="Text 13"/>
          <p:cNvSpPr/>
          <p:nvPr/>
        </p:nvSpPr>
        <p:spPr>
          <a:xfrm>
            <a:off x="321868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Kotak Investment Banking, JM Financial, Axis Capital (domestic). Goldman, JPMorgan, Morgan Stanley, Citi (foreign).</a:t>
            </a:r>
            <a:endParaRPr lang="en-US" sz="850" dirty="0"/>
          </a:p>
        </p:txBody>
      </p:sp>
      <p:sp>
        <p:nvSpPr>
          <p:cNvPr id="16" name="Shape 14"/>
          <p:cNvSpPr/>
          <p:nvPr/>
        </p:nvSpPr>
        <p:spPr>
          <a:xfrm>
            <a:off x="576072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5760720" y="1463040"/>
            <a:ext cx="2468880" cy="64008"/>
          </a:xfrm>
          <a:prstGeom prst="rect">
            <a:avLst/>
          </a:prstGeom>
          <a:solidFill>
            <a:srgbClr val="007A87"/>
          </a:solidFill>
          <a:ln w="12700">
            <a:solidFill>
              <a:srgbClr val="007A87"/>
            </a:solidFill>
            <a:prstDash val="solid"/>
          </a:ln>
        </p:spPr>
      </p:sp>
      <p:sp>
        <p:nvSpPr>
          <p:cNvPr id="18" name="Text 16"/>
          <p:cNvSpPr/>
          <p:nvPr/>
        </p:nvSpPr>
        <p:spPr>
          <a:xfrm>
            <a:off x="587044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9" name="Text 17"/>
          <p:cNvSpPr/>
          <p:nvPr/>
        </p:nvSpPr>
        <p:spPr>
          <a:xfrm>
            <a:off x="587044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IB Ops = Your Role</a:t>
            </a:r>
            <a:endParaRPr lang="en-US" sz="1050" dirty="0"/>
          </a:p>
        </p:txBody>
      </p:sp>
      <p:sp>
        <p:nvSpPr>
          <p:cNvPr id="20" name="Text 18"/>
          <p:cNvSpPr/>
          <p:nvPr/>
        </p:nvSpPr>
        <p:spPr>
          <a:xfrm>
            <a:off x="587044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Operations processes every trade, confirms every deal, settles every transaction the front office originates.</a:t>
            </a:r>
            <a:endParaRPr lang="en-US" sz="850" dirty="0"/>
          </a:p>
        </p:txBody>
      </p:sp>
      <p:sp>
        <p:nvSpPr>
          <p:cNvPr id="21" name="Shape 19"/>
          <p:cNvSpPr/>
          <p:nvPr/>
        </p:nvSpPr>
        <p:spPr>
          <a:xfrm>
            <a:off x="0" y="4818888"/>
            <a:ext cx="2011680" cy="324612"/>
          </a:xfrm>
          <a:prstGeom prst="rect">
            <a:avLst/>
          </a:prstGeom>
          <a:solidFill>
            <a:srgbClr val="101C4F"/>
          </a:solidFill>
          <a:ln w="12700">
            <a:solidFill>
              <a:srgbClr val="101C4F"/>
            </a:solidFill>
            <a:prstDash val="solid"/>
          </a:ln>
        </p:spPr>
      </p:sp>
      <p:sp>
        <p:nvSpPr>
          <p:cNvPr id="22" name="Text 2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D1.5</a:t>
            </a:r>
            <a:endParaRPr lang="en-US" sz="800" dirty="0"/>
          </a:p>
        </p:txBody>
      </p:sp>
      <p:sp>
        <p:nvSpPr>
          <p:cNvPr id="23" name="Text 2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31</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SCENARIO</a:t>
            </a:r>
            <a:endParaRPr lang="en-US" sz="1000" dirty="0"/>
          </a:p>
        </p:txBody>
      </p:sp>
      <p:sp>
        <p:nvSpPr>
          <p:cNvPr id="4" name="Shape 2"/>
          <p:cNvSpPr/>
          <p:nvPr/>
        </p:nvSpPr>
        <p:spPr>
          <a:xfrm>
            <a:off x="365760" y="822960"/>
            <a:ext cx="8412480" cy="2011680"/>
          </a:xfrm>
          <a:prstGeom prst="rect">
            <a:avLst/>
          </a:prstGeom>
          <a:solidFill>
            <a:srgbClr val="FDF6E3"/>
          </a:solidFill>
          <a:ln w="12700">
            <a:solidFill>
              <a:srgbClr val="F0A800"/>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365760" y="822960"/>
            <a:ext cx="91440" cy="2011680"/>
          </a:xfrm>
          <a:prstGeom prst="rect">
            <a:avLst/>
          </a:prstGeom>
          <a:solidFill>
            <a:srgbClr val="F0A800"/>
          </a:solidFill>
          <a:ln w="12700">
            <a:solidFill>
              <a:srgbClr val="F0A800"/>
            </a:solidFill>
            <a:prstDash val="solid"/>
          </a:ln>
        </p:spPr>
      </p:sp>
      <p:sp>
        <p:nvSpPr>
          <p:cNvPr id="6" name="Text 4"/>
          <p:cNvSpPr/>
          <p:nvPr/>
        </p:nvSpPr>
        <p:spPr>
          <a:xfrm>
            <a:off x="594360" y="914400"/>
            <a:ext cx="8046720" cy="365760"/>
          </a:xfrm>
          <a:prstGeom prst="rect">
            <a:avLst/>
          </a:prstGeom>
          <a:noFill/>
          <a:ln/>
        </p:spPr>
        <p:txBody>
          <a:bodyPr wrap="square" lIns="0" tIns="0" rIns="0" bIns="0" rtlCol="0" anchor="ctr"/>
          <a:lstStyle/>
          <a:p>
            <a:pPr algn="l" indent="0" marL="0">
              <a:buNone/>
            </a:pPr>
            <a:r>
              <a:rPr lang="en-US" sz="1200" b="1" dirty="0">
                <a:solidFill>
                  <a:srgbClr val="1A2340"/>
                </a:solidFill>
              </a:rPr>
              <a:t>Swiggy's ₹11,327 crore IPO — November 2024.</a:t>
            </a:r>
            <a:endParaRPr lang="en-US" sz="1200" dirty="0"/>
          </a:p>
        </p:txBody>
      </p:sp>
      <p:sp>
        <p:nvSpPr>
          <p:cNvPr id="7" name="Text 5"/>
          <p:cNvSpPr/>
          <p:nvPr/>
        </p:nvSpPr>
        <p:spPr>
          <a:xfrm>
            <a:off x="594360" y="1325880"/>
            <a:ext cx="8046720" cy="1371600"/>
          </a:xfrm>
          <a:prstGeom prst="rect">
            <a:avLst/>
          </a:prstGeom>
          <a:noFill/>
          <a:ln/>
        </p:spPr>
        <p:txBody>
          <a:bodyPr wrap="square" lIns="0" tIns="0" rIns="0" bIns="0" rtlCol="0" anchor="ctr"/>
          <a:lstStyle/>
          <a:p>
            <a:pPr algn="l" indent="0" marL="0">
              <a:buNone/>
            </a:pPr>
            <a:r>
              <a:rPr lang="en-US" sz="1050" dirty="0">
                <a:solidFill>
                  <a:srgbClr val="1A2340"/>
                </a:solidFill>
              </a:rPr>
              <a:t>Swiggy decided to go public. It needed an investment bank (Kotak, BofA Securities, Jefferies) to: value the company, write the DRHP, market the shares to institutional investors in 2 weeks of roadshows across Mumbai, Delhi, Singapore, London, and New York, set the final price at ₹390, build the subscription book (31x subscribed!), allocate shares to QIBs/HNIs/retail, and manage the listing on NSE/BSE. All this — while their operations team processed thousands of trade confirmations.</a:t>
            </a:r>
            <a:endParaRPr lang="en-US" sz="1050" dirty="0"/>
          </a:p>
        </p:txBody>
      </p:sp>
      <p:sp>
        <p:nvSpPr>
          <p:cNvPr id="8" name="Shape 6"/>
          <p:cNvSpPr/>
          <p:nvPr/>
        </p:nvSpPr>
        <p:spPr>
          <a:xfrm>
            <a:off x="365760" y="2971800"/>
            <a:ext cx="8412480" cy="1005840"/>
          </a:xfrm>
          <a:prstGeom prst="rect">
            <a:avLst/>
          </a:prstGeom>
          <a:solidFill>
            <a:srgbClr val="F2F4F8"/>
          </a:solidFill>
          <a:ln w="12700">
            <a:solidFill>
              <a:srgbClr val="E0E4EE"/>
            </a:solidFill>
            <a:prstDash val="solid"/>
          </a:ln>
        </p:spPr>
      </p:sp>
      <p:sp>
        <p:nvSpPr>
          <p:cNvPr id="9" name="Text 7"/>
          <p:cNvSpPr/>
          <p:nvPr/>
        </p:nvSpPr>
        <p:spPr>
          <a:xfrm>
            <a:off x="548640" y="3035808"/>
            <a:ext cx="1828800" cy="320040"/>
          </a:xfrm>
          <a:prstGeom prst="rect">
            <a:avLst/>
          </a:prstGeom>
          <a:noFill/>
          <a:ln/>
        </p:spPr>
        <p:txBody>
          <a:bodyPr wrap="square" lIns="0" tIns="0" rIns="0" bIns="0" rtlCol="0" anchor="ctr"/>
          <a:lstStyle/>
          <a:p>
            <a:pPr indent="0" marL="0">
              <a:buNone/>
            </a:pPr>
            <a:r>
              <a:rPr lang="en-US" sz="1000" b="1" dirty="0">
                <a:solidFill>
                  <a:srgbClr val="007A87"/>
                </a:solidFill>
              </a:rPr>
              <a:t>🤔  Think about it:</a:t>
            </a:r>
            <a:endParaRPr lang="en-US" sz="1000" dirty="0"/>
          </a:p>
        </p:txBody>
      </p:sp>
      <p:sp>
        <p:nvSpPr>
          <p:cNvPr id="10" name="Text 8"/>
          <p:cNvSpPr/>
          <p:nvPr/>
        </p:nvSpPr>
        <p:spPr>
          <a:xfrm>
            <a:off x="548640" y="3355848"/>
            <a:ext cx="7863840" cy="530352"/>
          </a:xfrm>
          <a:prstGeom prst="rect">
            <a:avLst/>
          </a:prstGeom>
          <a:noFill/>
          <a:ln/>
        </p:spPr>
        <p:txBody>
          <a:bodyPr wrap="square" lIns="0" tIns="0" rIns="0" bIns="0" rtlCol="0" anchor="ctr"/>
          <a:lstStyle/>
          <a:p>
            <a:pPr indent="0" marL="0">
              <a:buNone/>
            </a:pPr>
            <a:r>
              <a:rPr lang="en-US" sz="1050" i="1" dirty="0">
                <a:solidFill>
                  <a:srgbClr val="1A2340"/>
                </a:solidFill>
              </a:rPr>
              <a:t>In the Swiggy IPO, which IB division led the capital raising? Which division marketed to FIIs? Which division settled the trades post-allotment?</a:t>
            </a:r>
            <a:endParaRPr lang="en-US" sz="1050" dirty="0"/>
          </a:p>
        </p:txBody>
      </p:sp>
      <p:sp>
        <p:nvSpPr>
          <p:cNvPr id="11" name="Shape 9"/>
          <p:cNvSpPr/>
          <p:nvPr/>
        </p:nvSpPr>
        <p:spPr>
          <a:xfrm>
            <a:off x="0" y="4818888"/>
            <a:ext cx="2011680" cy="324612"/>
          </a:xfrm>
          <a:prstGeom prst="rect">
            <a:avLst/>
          </a:prstGeom>
          <a:solidFill>
            <a:srgbClr val="101C4F"/>
          </a:solidFill>
          <a:ln w="12700">
            <a:solidFill>
              <a:srgbClr val="101C4F"/>
            </a:solidFill>
            <a:prstDash val="solid"/>
          </a:ln>
        </p:spPr>
      </p:sp>
      <p:sp>
        <p:nvSpPr>
          <p:cNvPr id="12" name="Text 1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D1.5</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32</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KEY CONCEPT</a:t>
            </a:r>
            <a:endParaRPr lang="en-US" sz="1000" dirty="0"/>
          </a:p>
        </p:txBody>
      </p:sp>
      <p:sp>
        <p:nvSpPr>
          <p:cNvPr id="4" name="Text 2"/>
          <p:cNvSpPr/>
          <p:nvPr/>
        </p:nvSpPr>
        <p:spPr>
          <a:xfrm>
            <a:off x="365760" y="777240"/>
            <a:ext cx="8412480" cy="548640"/>
          </a:xfrm>
          <a:prstGeom prst="rect">
            <a:avLst/>
          </a:prstGeom>
          <a:noFill/>
          <a:ln/>
        </p:spPr>
        <p:txBody>
          <a:bodyPr wrap="square" lIns="0" tIns="0" rIns="0" bIns="0" rtlCol="0" anchor="ctr"/>
          <a:lstStyle/>
          <a:p>
            <a:pPr algn="l" indent="0" marL="0">
              <a:buNone/>
            </a:pPr>
            <a:r>
              <a:rPr lang="en-US" sz="2200" b="1" dirty="0">
                <a:solidFill>
                  <a:srgbClr val="101C4F"/>
                </a:solidFill>
              </a:rPr>
              <a:t>Investment Bank Divisions</a:t>
            </a:r>
            <a:endParaRPr lang="en-US" sz="2200" dirty="0"/>
          </a:p>
        </p:txBody>
      </p:sp>
      <p:sp>
        <p:nvSpPr>
          <p:cNvPr id="5" name="Shape 3"/>
          <p:cNvSpPr/>
          <p:nvPr/>
        </p:nvSpPr>
        <p:spPr>
          <a:xfrm>
            <a:off x="365760" y="1389888"/>
            <a:ext cx="8412480" cy="777240"/>
          </a:xfrm>
          <a:prstGeom prst="rect">
            <a:avLst/>
          </a:prstGeom>
          <a:solidFill>
            <a:srgbClr val="F2F4F8"/>
          </a:solidFill>
          <a:ln w="12700">
            <a:solidFill>
              <a:srgbClr val="E0E4EE"/>
            </a:solidFill>
            <a:prstDash val="solid"/>
          </a:ln>
        </p:spPr>
      </p:sp>
      <p:sp>
        <p:nvSpPr>
          <p:cNvPr id="6" name="Shape 4"/>
          <p:cNvSpPr/>
          <p:nvPr/>
        </p:nvSpPr>
        <p:spPr>
          <a:xfrm>
            <a:off x="365760" y="1389888"/>
            <a:ext cx="91440" cy="777240"/>
          </a:xfrm>
          <a:prstGeom prst="rect">
            <a:avLst/>
          </a:prstGeom>
          <a:solidFill>
            <a:srgbClr val="007A87"/>
          </a:solidFill>
          <a:ln w="12700">
            <a:solidFill>
              <a:srgbClr val="007A87"/>
            </a:solidFill>
            <a:prstDash val="solid"/>
          </a:ln>
        </p:spPr>
      </p:sp>
      <p:sp>
        <p:nvSpPr>
          <p:cNvPr id="7" name="Text 5"/>
          <p:cNvSpPr/>
          <p:nvPr/>
        </p:nvSpPr>
        <p:spPr>
          <a:xfrm>
            <a:off x="594360" y="1444752"/>
            <a:ext cx="8046720" cy="667512"/>
          </a:xfrm>
          <a:prstGeom prst="rect">
            <a:avLst/>
          </a:prstGeom>
          <a:noFill/>
          <a:ln/>
        </p:spPr>
        <p:txBody>
          <a:bodyPr wrap="square" lIns="0" tIns="0" rIns="0" bIns="0" rtlCol="0" anchor="ctr"/>
          <a:lstStyle/>
          <a:p>
            <a:pPr indent="0" marL="0">
              <a:buNone/>
            </a:pPr>
            <a:r>
              <a:rPr lang="en-US" sz="1050" i="1" dirty="0">
                <a:solidFill>
                  <a:srgbClr val="1A2340"/>
                </a:solidFill>
              </a:rPr>
              <a:t>An investment bank is NOT a retail bank. It has no branches, no savings accounts, no home loans. Its business is capital markets: raising capital for companies, advising on deals, trading securities, and managing assets — all for institutional and large clients.</a:t>
            </a:r>
            <a:endParaRPr lang="en-US" sz="1050" dirty="0"/>
          </a:p>
        </p:txBody>
      </p:sp>
      <p:sp>
        <p:nvSpPr>
          <p:cNvPr id="8" name="Shape 6"/>
          <p:cNvSpPr/>
          <p:nvPr/>
        </p:nvSpPr>
        <p:spPr>
          <a:xfrm>
            <a:off x="36576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365760" y="2331720"/>
            <a:ext cx="2000250" cy="64008"/>
          </a:xfrm>
          <a:prstGeom prst="rect">
            <a:avLst/>
          </a:prstGeom>
          <a:solidFill>
            <a:srgbClr val="101C4F"/>
          </a:solidFill>
          <a:ln w="12700">
            <a:solidFill>
              <a:srgbClr val="101C4F"/>
            </a:solidFill>
            <a:prstDash val="solid"/>
          </a:ln>
        </p:spPr>
      </p:sp>
      <p:sp>
        <p:nvSpPr>
          <p:cNvPr id="10" name="Text 8"/>
          <p:cNvSpPr/>
          <p:nvPr/>
        </p:nvSpPr>
        <p:spPr>
          <a:xfrm>
            <a:off x="45720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01</a:t>
            </a:r>
            <a:endParaRPr lang="en-US" sz="1800" dirty="0"/>
          </a:p>
        </p:txBody>
      </p:sp>
      <p:sp>
        <p:nvSpPr>
          <p:cNvPr id="11" name="Text 9"/>
          <p:cNvSpPr/>
          <p:nvPr/>
        </p:nvSpPr>
        <p:spPr>
          <a:xfrm>
            <a:off x="45720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IBD (Inv. Banking Div.)</a:t>
            </a:r>
            <a:endParaRPr lang="en-US" sz="1000" dirty="0"/>
          </a:p>
        </p:txBody>
      </p:sp>
      <p:sp>
        <p:nvSpPr>
          <p:cNvPr id="12" name="Text 10"/>
          <p:cNvSpPr/>
          <p:nvPr/>
        </p:nvSpPr>
        <p:spPr>
          <a:xfrm>
            <a:off x="45720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Capital raising (ECM: equity, DCM: debt) and M&amp;A advisory. Earns fees. Client-facing.</a:t>
            </a:r>
            <a:endParaRPr lang="en-US" sz="850" dirty="0"/>
          </a:p>
        </p:txBody>
      </p:sp>
      <p:sp>
        <p:nvSpPr>
          <p:cNvPr id="13" name="Shape 11"/>
          <p:cNvSpPr/>
          <p:nvPr/>
        </p:nvSpPr>
        <p:spPr>
          <a:xfrm>
            <a:off x="250317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2503170" y="2331720"/>
            <a:ext cx="2000250" cy="64008"/>
          </a:xfrm>
          <a:prstGeom prst="rect">
            <a:avLst/>
          </a:prstGeom>
          <a:solidFill>
            <a:srgbClr val="101C4F"/>
          </a:solidFill>
          <a:ln w="12700">
            <a:solidFill>
              <a:srgbClr val="101C4F"/>
            </a:solidFill>
            <a:prstDash val="solid"/>
          </a:ln>
        </p:spPr>
      </p:sp>
      <p:sp>
        <p:nvSpPr>
          <p:cNvPr id="15" name="Text 13"/>
          <p:cNvSpPr/>
          <p:nvPr/>
        </p:nvSpPr>
        <p:spPr>
          <a:xfrm>
            <a:off x="259461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02</a:t>
            </a:r>
            <a:endParaRPr lang="en-US" sz="1800" dirty="0"/>
          </a:p>
        </p:txBody>
      </p:sp>
      <p:sp>
        <p:nvSpPr>
          <p:cNvPr id="16" name="Text 14"/>
          <p:cNvSpPr/>
          <p:nvPr/>
        </p:nvSpPr>
        <p:spPr>
          <a:xfrm>
            <a:off x="259461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Sales &amp; Trading</a:t>
            </a:r>
            <a:endParaRPr lang="en-US" sz="1000" dirty="0"/>
          </a:p>
        </p:txBody>
      </p:sp>
      <p:sp>
        <p:nvSpPr>
          <p:cNvPr id="17" name="Text 15"/>
          <p:cNvSpPr/>
          <p:nvPr/>
        </p:nvSpPr>
        <p:spPr>
          <a:xfrm>
            <a:off x="259461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Markets securities to institutional investors, executes trades, makes markets. Earns bid-ask spreads.</a:t>
            </a:r>
            <a:endParaRPr lang="en-US" sz="850" dirty="0"/>
          </a:p>
        </p:txBody>
      </p:sp>
      <p:sp>
        <p:nvSpPr>
          <p:cNvPr id="18" name="Shape 16"/>
          <p:cNvSpPr/>
          <p:nvPr/>
        </p:nvSpPr>
        <p:spPr>
          <a:xfrm>
            <a:off x="464058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4640580" y="2331720"/>
            <a:ext cx="2000250" cy="64008"/>
          </a:xfrm>
          <a:prstGeom prst="rect">
            <a:avLst/>
          </a:prstGeom>
          <a:solidFill>
            <a:srgbClr val="101C4F"/>
          </a:solidFill>
          <a:ln w="12700">
            <a:solidFill>
              <a:srgbClr val="101C4F"/>
            </a:solidFill>
            <a:prstDash val="solid"/>
          </a:ln>
        </p:spPr>
      </p:sp>
      <p:sp>
        <p:nvSpPr>
          <p:cNvPr id="20" name="Text 18"/>
          <p:cNvSpPr/>
          <p:nvPr/>
        </p:nvSpPr>
        <p:spPr>
          <a:xfrm>
            <a:off x="473202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03</a:t>
            </a:r>
            <a:endParaRPr lang="en-US" sz="1800" dirty="0"/>
          </a:p>
        </p:txBody>
      </p:sp>
      <p:sp>
        <p:nvSpPr>
          <p:cNvPr id="21" name="Text 19"/>
          <p:cNvSpPr/>
          <p:nvPr/>
        </p:nvSpPr>
        <p:spPr>
          <a:xfrm>
            <a:off x="473202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Research</a:t>
            </a:r>
            <a:endParaRPr lang="en-US" sz="1000" dirty="0"/>
          </a:p>
        </p:txBody>
      </p:sp>
      <p:sp>
        <p:nvSpPr>
          <p:cNvPr id="22" name="Text 20"/>
          <p:cNvSpPr/>
          <p:nvPr/>
        </p:nvSpPr>
        <p:spPr>
          <a:xfrm>
            <a:off x="473202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Produces equity and credit research. 'Buy Reliance, TP ₹3,200.' Used by institutional investors.</a:t>
            </a:r>
            <a:endParaRPr lang="en-US" sz="850" dirty="0"/>
          </a:p>
        </p:txBody>
      </p:sp>
      <p:sp>
        <p:nvSpPr>
          <p:cNvPr id="23" name="Shape 21"/>
          <p:cNvSpPr/>
          <p:nvPr/>
        </p:nvSpPr>
        <p:spPr>
          <a:xfrm>
            <a:off x="677799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24" name="Shape 22"/>
          <p:cNvSpPr/>
          <p:nvPr/>
        </p:nvSpPr>
        <p:spPr>
          <a:xfrm>
            <a:off x="6777990" y="2331720"/>
            <a:ext cx="2000250" cy="64008"/>
          </a:xfrm>
          <a:prstGeom prst="rect">
            <a:avLst/>
          </a:prstGeom>
          <a:solidFill>
            <a:srgbClr val="101C4F"/>
          </a:solidFill>
          <a:ln w="12700">
            <a:solidFill>
              <a:srgbClr val="101C4F"/>
            </a:solidFill>
            <a:prstDash val="solid"/>
          </a:ln>
        </p:spPr>
      </p:sp>
      <p:sp>
        <p:nvSpPr>
          <p:cNvPr id="25" name="Text 23"/>
          <p:cNvSpPr/>
          <p:nvPr/>
        </p:nvSpPr>
        <p:spPr>
          <a:xfrm>
            <a:off x="686943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04</a:t>
            </a:r>
            <a:endParaRPr lang="en-US" sz="1800" dirty="0"/>
          </a:p>
        </p:txBody>
      </p:sp>
      <p:sp>
        <p:nvSpPr>
          <p:cNvPr id="26" name="Text 24"/>
          <p:cNvSpPr/>
          <p:nvPr/>
        </p:nvSpPr>
        <p:spPr>
          <a:xfrm>
            <a:off x="686943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Operations</a:t>
            </a:r>
            <a:endParaRPr lang="en-US" sz="1000" dirty="0"/>
          </a:p>
        </p:txBody>
      </p:sp>
      <p:sp>
        <p:nvSpPr>
          <p:cNvPr id="27" name="Text 25"/>
          <p:cNvSpPr/>
          <p:nvPr/>
        </p:nvSpPr>
        <p:spPr>
          <a:xfrm>
            <a:off x="686943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Processes and settles every trade. Reconciles positions. Manages risk. YOUR entry point.</a:t>
            </a:r>
            <a:endParaRPr lang="en-US" sz="850" dirty="0"/>
          </a:p>
        </p:txBody>
      </p:sp>
      <p:sp>
        <p:nvSpPr>
          <p:cNvPr id="28" name="Shape 26"/>
          <p:cNvSpPr/>
          <p:nvPr/>
        </p:nvSpPr>
        <p:spPr>
          <a:xfrm>
            <a:off x="0" y="4818888"/>
            <a:ext cx="2011680" cy="324612"/>
          </a:xfrm>
          <a:prstGeom prst="rect">
            <a:avLst/>
          </a:prstGeom>
          <a:solidFill>
            <a:srgbClr val="101C4F"/>
          </a:solidFill>
          <a:ln w="12700">
            <a:solidFill>
              <a:srgbClr val="101C4F"/>
            </a:solidFill>
            <a:prstDash val="solid"/>
          </a:ln>
        </p:spPr>
      </p:sp>
      <p:sp>
        <p:nvSpPr>
          <p:cNvPr id="29" name="Text 27"/>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D1.5</a:t>
            </a:r>
            <a:endParaRPr lang="en-US" sz="800" dirty="0"/>
          </a:p>
        </p:txBody>
      </p:sp>
      <p:sp>
        <p:nvSpPr>
          <p:cNvPr id="30" name="Text 28"/>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33</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GOING DEEPER</a:t>
            </a:r>
            <a:endParaRPr lang="en-US" sz="1000" dirty="0"/>
          </a:p>
        </p:txBody>
      </p:sp>
      <p:sp>
        <p:nvSpPr>
          <p:cNvPr id="4" name="Text 2"/>
          <p:cNvSpPr/>
          <p:nvPr/>
        </p:nvSpPr>
        <p:spPr>
          <a:xfrm>
            <a:off x="365760" y="777240"/>
            <a:ext cx="8412480" cy="457200"/>
          </a:xfrm>
          <a:prstGeom prst="rect">
            <a:avLst/>
          </a:prstGeom>
          <a:noFill/>
          <a:ln/>
        </p:spPr>
        <p:txBody>
          <a:bodyPr wrap="square" lIns="0" tIns="0" rIns="0" bIns="0" rtlCol="0" anchor="ctr"/>
          <a:lstStyle/>
          <a:p>
            <a:pPr indent="0" marL="0">
              <a:buNone/>
            </a:pPr>
            <a:r>
              <a:rPr lang="en-US" sz="1800" b="1" dirty="0">
                <a:solidFill>
                  <a:srgbClr val="101C4F"/>
                </a:solidFill>
              </a:rPr>
              <a:t>Front Office, Middle Office, Back Office</a:t>
            </a:r>
            <a:endParaRPr lang="en-US" sz="1800" dirty="0"/>
          </a:p>
        </p:txBody>
      </p:sp>
      <p:sp>
        <p:nvSpPr>
          <p:cNvPr id="5" name="Shape 3"/>
          <p:cNvSpPr/>
          <p:nvPr/>
        </p:nvSpPr>
        <p:spPr>
          <a:xfrm>
            <a:off x="365760" y="1417320"/>
            <a:ext cx="4846320" cy="1005840"/>
          </a:xfrm>
          <a:prstGeom prst="rect">
            <a:avLst/>
          </a:prstGeom>
          <a:solidFill>
            <a:srgbClr val="F2F4F8"/>
          </a:solidFill>
          <a:ln w="12700">
            <a:solidFill>
              <a:srgbClr val="E0E4EE"/>
            </a:solidFill>
            <a:prstDash val="solid"/>
          </a:ln>
        </p:spPr>
      </p:sp>
      <p:sp>
        <p:nvSpPr>
          <p:cNvPr id="6" name="Shape 4"/>
          <p:cNvSpPr/>
          <p:nvPr/>
        </p:nvSpPr>
        <p:spPr>
          <a:xfrm>
            <a:off x="365760" y="1417320"/>
            <a:ext cx="73152" cy="1005840"/>
          </a:xfrm>
          <a:prstGeom prst="rect">
            <a:avLst/>
          </a:prstGeom>
          <a:solidFill>
            <a:srgbClr val="101C4F"/>
          </a:solidFill>
          <a:ln w="12700">
            <a:solidFill>
              <a:srgbClr val="101C4F"/>
            </a:solidFill>
            <a:prstDash val="solid"/>
          </a:ln>
        </p:spPr>
      </p:sp>
      <p:sp>
        <p:nvSpPr>
          <p:cNvPr id="7" name="Text 5"/>
          <p:cNvSpPr/>
          <p:nvPr/>
        </p:nvSpPr>
        <p:spPr>
          <a:xfrm>
            <a:off x="548640" y="1472184"/>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FRONT OFFICE (Revenue-Generating)</a:t>
            </a:r>
            <a:endParaRPr lang="en-US" sz="1000" dirty="0"/>
          </a:p>
        </p:txBody>
      </p:sp>
      <p:sp>
        <p:nvSpPr>
          <p:cNvPr id="8" name="Text 6"/>
          <p:cNvSpPr/>
          <p:nvPr/>
        </p:nvSpPr>
        <p:spPr>
          <a:xfrm>
            <a:off x="548640" y="1764792"/>
            <a:ext cx="4480560" cy="566928"/>
          </a:xfrm>
          <a:prstGeom prst="rect">
            <a:avLst/>
          </a:prstGeom>
          <a:noFill/>
          <a:ln/>
        </p:spPr>
        <p:txBody>
          <a:bodyPr wrap="square" lIns="0" tIns="0" rIns="0" bIns="0" rtlCol="0" anchor="ctr"/>
          <a:lstStyle/>
          <a:p>
            <a:pPr indent="0" marL="0">
              <a:buNone/>
            </a:pPr>
            <a:r>
              <a:rPr lang="en-US" sz="900" dirty="0">
                <a:solidFill>
                  <a:srgbClr val="1A2340"/>
                </a:solidFill>
              </a:rPr>
              <a:t>IBD, S&amp;T, Research, Asset Management. Client-facing. Originates deals and trades. High visibility, high pay, high pressure.</a:t>
            </a:r>
            <a:endParaRPr lang="en-US" sz="900" dirty="0"/>
          </a:p>
        </p:txBody>
      </p:sp>
      <p:sp>
        <p:nvSpPr>
          <p:cNvPr id="9" name="Shape 7"/>
          <p:cNvSpPr/>
          <p:nvPr/>
        </p:nvSpPr>
        <p:spPr>
          <a:xfrm>
            <a:off x="365760" y="2532888"/>
            <a:ext cx="4846320" cy="1005840"/>
          </a:xfrm>
          <a:prstGeom prst="rect">
            <a:avLst/>
          </a:prstGeom>
          <a:solidFill>
            <a:srgbClr val="F2F4F8"/>
          </a:solidFill>
          <a:ln w="12700">
            <a:solidFill>
              <a:srgbClr val="E0E4EE"/>
            </a:solidFill>
            <a:prstDash val="solid"/>
          </a:ln>
        </p:spPr>
      </p:sp>
      <p:sp>
        <p:nvSpPr>
          <p:cNvPr id="10" name="Shape 8"/>
          <p:cNvSpPr/>
          <p:nvPr/>
        </p:nvSpPr>
        <p:spPr>
          <a:xfrm>
            <a:off x="365760" y="2532888"/>
            <a:ext cx="73152" cy="1005840"/>
          </a:xfrm>
          <a:prstGeom prst="rect">
            <a:avLst/>
          </a:prstGeom>
          <a:solidFill>
            <a:srgbClr val="101C4F"/>
          </a:solidFill>
          <a:ln w="12700">
            <a:solidFill>
              <a:srgbClr val="101C4F"/>
            </a:solidFill>
            <a:prstDash val="solid"/>
          </a:ln>
        </p:spPr>
      </p:sp>
      <p:sp>
        <p:nvSpPr>
          <p:cNvPr id="11" name="Text 9"/>
          <p:cNvSpPr/>
          <p:nvPr/>
        </p:nvSpPr>
        <p:spPr>
          <a:xfrm>
            <a:off x="548640" y="2587752"/>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MIDDLE OFFICE (Risk &amp; Compliance)</a:t>
            </a:r>
            <a:endParaRPr lang="en-US" sz="1000" dirty="0"/>
          </a:p>
        </p:txBody>
      </p:sp>
      <p:sp>
        <p:nvSpPr>
          <p:cNvPr id="12" name="Text 10"/>
          <p:cNvSpPr/>
          <p:nvPr/>
        </p:nvSpPr>
        <p:spPr>
          <a:xfrm>
            <a:off x="548640" y="2880360"/>
            <a:ext cx="4480560" cy="566928"/>
          </a:xfrm>
          <a:prstGeom prst="rect">
            <a:avLst/>
          </a:prstGeom>
          <a:noFill/>
          <a:ln/>
        </p:spPr>
        <p:txBody>
          <a:bodyPr wrap="square" lIns="0" tIns="0" rIns="0" bIns="0" rtlCol="0" anchor="ctr"/>
          <a:lstStyle/>
          <a:p>
            <a:pPr indent="0" marL="0">
              <a:buNone/>
            </a:pPr>
            <a:r>
              <a:rPr lang="en-US" sz="900" dirty="0">
                <a:solidFill>
                  <a:srgbClr val="1A2340"/>
                </a:solidFill>
              </a:rPr>
              <a:t>Risk Management, Compliance, Finance. Controls the front office. Ensures risks are within limits. Post-2008 power has grown enormously.</a:t>
            </a:r>
            <a:endParaRPr lang="en-US" sz="900" dirty="0"/>
          </a:p>
        </p:txBody>
      </p:sp>
      <p:sp>
        <p:nvSpPr>
          <p:cNvPr id="13" name="Shape 11"/>
          <p:cNvSpPr/>
          <p:nvPr/>
        </p:nvSpPr>
        <p:spPr>
          <a:xfrm>
            <a:off x="365760" y="3648456"/>
            <a:ext cx="4846320" cy="1005840"/>
          </a:xfrm>
          <a:prstGeom prst="rect">
            <a:avLst/>
          </a:prstGeom>
          <a:solidFill>
            <a:srgbClr val="F2F4F8"/>
          </a:solidFill>
          <a:ln w="12700">
            <a:solidFill>
              <a:srgbClr val="E0E4EE"/>
            </a:solidFill>
            <a:prstDash val="solid"/>
          </a:ln>
        </p:spPr>
      </p:sp>
      <p:sp>
        <p:nvSpPr>
          <p:cNvPr id="14" name="Shape 12"/>
          <p:cNvSpPr/>
          <p:nvPr/>
        </p:nvSpPr>
        <p:spPr>
          <a:xfrm>
            <a:off x="365760" y="3648456"/>
            <a:ext cx="73152" cy="1005840"/>
          </a:xfrm>
          <a:prstGeom prst="rect">
            <a:avLst/>
          </a:prstGeom>
          <a:solidFill>
            <a:srgbClr val="101C4F"/>
          </a:solidFill>
          <a:ln w="12700">
            <a:solidFill>
              <a:srgbClr val="101C4F"/>
            </a:solidFill>
            <a:prstDash val="solid"/>
          </a:ln>
        </p:spPr>
      </p:sp>
      <p:sp>
        <p:nvSpPr>
          <p:cNvPr id="15" name="Text 13"/>
          <p:cNvSpPr/>
          <p:nvPr/>
        </p:nvSpPr>
        <p:spPr>
          <a:xfrm>
            <a:off x="548640" y="3703320"/>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BACK OFFICE / OPERATIONS</a:t>
            </a:r>
            <a:endParaRPr lang="en-US" sz="1000" dirty="0"/>
          </a:p>
        </p:txBody>
      </p:sp>
      <p:sp>
        <p:nvSpPr>
          <p:cNvPr id="16" name="Text 14"/>
          <p:cNvSpPr/>
          <p:nvPr/>
        </p:nvSpPr>
        <p:spPr>
          <a:xfrm>
            <a:off x="548640" y="3995928"/>
            <a:ext cx="4480560" cy="566928"/>
          </a:xfrm>
          <a:prstGeom prst="rect">
            <a:avLst/>
          </a:prstGeom>
          <a:noFill/>
          <a:ln/>
        </p:spPr>
        <p:txBody>
          <a:bodyPr wrap="square" lIns="0" tIns="0" rIns="0" bIns="0" rtlCol="0" anchor="ctr"/>
          <a:lstStyle/>
          <a:p>
            <a:pPr indent="0" marL="0">
              <a:buNone/>
            </a:pPr>
            <a:r>
              <a:rPr lang="en-US" sz="900" dirty="0">
                <a:solidFill>
                  <a:srgbClr val="1A2340"/>
                </a:solidFill>
              </a:rPr>
              <a:t>Trade processing, settlement, reconciliation, corporate actions, regulatory reporting. The engine. Without ops, no trade ever completes.</a:t>
            </a:r>
            <a:endParaRPr lang="en-US" sz="900" dirty="0"/>
          </a:p>
        </p:txBody>
      </p:sp>
      <p:sp>
        <p:nvSpPr>
          <p:cNvPr id="17" name="Shape 15"/>
          <p:cNvSpPr/>
          <p:nvPr/>
        </p:nvSpPr>
        <p:spPr>
          <a:xfrm>
            <a:off x="5394960" y="1417320"/>
            <a:ext cx="3383280" cy="2532888"/>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2000"/>
              </a:srgbClr>
            </a:outerShdw>
          </a:effectLst>
        </p:spPr>
      </p:sp>
      <p:sp>
        <p:nvSpPr>
          <p:cNvPr id="18" name="Text 16"/>
          <p:cNvSpPr/>
          <p:nvPr/>
        </p:nvSpPr>
        <p:spPr>
          <a:xfrm>
            <a:off x="5532120" y="1554480"/>
            <a:ext cx="3108960" cy="347472"/>
          </a:xfrm>
          <a:prstGeom prst="rect">
            <a:avLst/>
          </a:prstGeom>
          <a:noFill/>
          <a:ln/>
        </p:spPr>
        <p:txBody>
          <a:bodyPr wrap="square" lIns="0" tIns="0" rIns="0" bIns="0" rtlCol="0" anchor="ctr"/>
          <a:lstStyle/>
          <a:p>
            <a:pPr indent="0" marL="0">
              <a:buNone/>
            </a:pPr>
            <a:r>
              <a:rPr lang="en-US" sz="1000" b="1" spc="100" kern="0" dirty="0">
                <a:solidFill>
                  <a:srgbClr val="F0A800"/>
                </a:solidFill>
              </a:rPr>
              <a:t>WHY OPS IS CRITICAL</a:t>
            </a:r>
            <a:endParaRPr lang="en-US" sz="1000" dirty="0"/>
          </a:p>
        </p:txBody>
      </p:sp>
      <p:sp>
        <p:nvSpPr>
          <p:cNvPr id="19" name="Text 17"/>
          <p:cNvSpPr/>
          <p:nvPr/>
        </p:nvSpPr>
        <p:spPr>
          <a:xfrm>
            <a:off x="5532120" y="1938528"/>
            <a:ext cx="3108960" cy="1920240"/>
          </a:xfrm>
          <a:prstGeom prst="rect">
            <a:avLst/>
          </a:prstGeom>
          <a:noFill/>
          <a:ln/>
        </p:spPr>
        <p:txBody>
          <a:bodyPr wrap="square" lIns="0" tIns="0" rIns="0" bIns="0" rtlCol="0" anchor="ctr"/>
          <a:lstStyle/>
          <a:p>
            <a:pPr indent="0" marL="0">
              <a:buNone/>
            </a:pPr>
            <a:r>
              <a:rPr lang="en-US" sz="950" dirty="0">
                <a:solidFill>
                  <a:srgbClr val="FFFFFF"/>
                </a:solidFill>
              </a:rPr>
              <a:t>JPMorgan's London Whale loss: ₹7 lakh crore ($9B)</a:t>
            </a:r>
            <a:endParaRPr lang="en-US" sz="950" dirty="0"/>
          </a:p>
          <a:p>
            <a:pPr indent="0" marL="0">
              <a:buNone/>
            </a:pPr>
            <a:r>
              <a:rPr lang="en-US" sz="950" dirty="0">
                <a:solidFill>
                  <a:srgbClr val="FFFFFF"/>
                </a:solidFill>
              </a:rPr>
              <a:t>→ Failed risk controls</a:t>
            </a:r>
            <a:endParaRPr lang="en-US" sz="950" dirty="0"/>
          </a:p>
          <a:p>
            <a:pPr indent="0" marL="0">
              <a:buNone/>
            </a:pPr>
            <a:endParaRPr lang="en-US" sz="950" dirty="0"/>
          </a:p>
          <a:p>
            <a:pPr indent="0" marL="0">
              <a:buNone/>
            </a:pPr>
            <a:r>
              <a:rPr lang="en-US" sz="950" dirty="0">
                <a:solidFill>
                  <a:srgbClr val="FFFFFF"/>
                </a:solidFill>
              </a:rPr>
              <a:t>Barings Bank collapse:</a:t>
            </a:r>
            <a:endParaRPr lang="en-US" sz="950" dirty="0"/>
          </a:p>
          <a:p>
            <a:pPr indent="0" marL="0">
              <a:buNone/>
            </a:pPr>
            <a:r>
              <a:rPr lang="en-US" sz="950" dirty="0">
                <a:solidFill>
                  <a:srgbClr val="FFFFFF"/>
                </a:solidFill>
              </a:rPr>
              <a:t>→ Nick Leeson: front + back office access. No segregation.</a:t>
            </a:r>
            <a:endParaRPr lang="en-US" sz="950" dirty="0"/>
          </a:p>
          <a:p>
            <a:pPr indent="0" marL="0">
              <a:buNone/>
            </a:pPr>
            <a:endParaRPr lang="en-US" sz="950" dirty="0"/>
          </a:p>
          <a:p>
            <a:pPr indent="0" marL="0">
              <a:buNone/>
            </a:pPr>
            <a:r>
              <a:rPr lang="en-US" sz="950" dirty="0">
                <a:solidFill>
                  <a:srgbClr val="FFFFFF"/>
                </a:solidFill>
              </a:rPr>
              <a:t>Lesson: Operations and middle office exist to PREVENT these. Segregation of duties = ops controls front office.</a:t>
            </a:r>
            <a:endParaRPr lang="en-US" sz="950" dirty="0"/>
          </a:p>
          <a:p>
            <a:pPr indent="0" marL="0">
              <a:buNone/>
            </a:pPr>
            <a:endParaRPr lang="en-US" sz="950" dirty="0"/>
          </a:p>
          <a:p>
            <a:pPr indent="0" marL="0">
              <a:buNone/>
            </a:pPr>
            <a:r>
              <a:rPr lang="en-US" sz="950" dirty="0">
                <a:solidFill>
                  <a:srgbClr val="FFFFFF"/>
                </a:solidFill>
              </a:rPr>
              <a:t>'Operations is the immune system of a bank.'</a:t>
            </a:r>
            <a:endParaRPr lang="en-US" sz="950" dirty="0"/>
          </a:p>
        </p:txBody>
      </p:sp>
      <p:sp>
        <p:nvSpPr>
          <p:cNvPr id="20" name="Shape 18"/>
          <p:cNvSpPr/>
          <p:nvPr/>
        </p:nvSpPr>
        <p:spPr>
          <a:xfrm>
            <a:off x="0" y="4818888"/>
            <a:ext cx="2011680" cy="324612"/>
          </a:xfrm>
          <a:prstGeom prst="rect">
            <a:avLst/>
          </a:prstGeom>
          <a:solidFill>
            <a:srgbClr val="101C4F"/>
          </a:solidFill>
          <a:ln w="12700">
            <a:solidFill>
              <a:srgbClr val="101C4F"/>
            </a:solidFill>
            <a:prstDash val="solid"/>
          </a:ln>
        </p:spPr>
      </p:sp>
      <p:sp>
        <p:nvSpPr>
          <p:cNvPr id="21" name="Text 19"/>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D1.5</a:t>
            </a:r>
            <a:endParaRPr lang="en-US" sz="800" dirty="0"/>
          </a:p>
        </p:txBody>
      </p:sp>
      <p:sp>
        <p:nvSpPr>
          <p:cNvPr id="22" name="Text 20"/>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34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101C4F"/>
                </a:solidFill>
              </a:rPr>
              <a:t>💬  THINK &amp; DISCUSS</a:t>
            </a:r>
            <a:endParaRPr lang="en-US" sz="1000" dirty="0"/>
          </a:p>
        </p:txBody>
      </p:sp>
      <p:sp>
        <p:nvSpPr>
          <p:cNvPr id="4" name="Text 2"/>
          <p:cNvSpPr/>
          <p:nvPr/>
        </p:nvSpPr>
        <p:spPr>
          <a:xfrm>
            <a:off x="457200" y="822960"/>
            <a:ext cx="8229600" cy="777240"/>
          </a:xfrm>
          <a:prstGeom prst="rect">
            <a:avLst/>
          </a:prstGeom>
          <a:noFill/>
          <a:ln/>
        </p:spPr>
        <p:txBody>
          <a:bodyPr wrap="square" lIns="0" tIns="0" rIns="0" bIns="0" rtlCol="0" anchor="ctr"/>
          <a:lstStyle/>
          <a:p>
            <a:pPr algn="ctr" indent="0" marL="0">
              <a:buNone/>
            </a:pPr>
            <a:r>
              <a:rPr lang="en-US" sz="1500" b="1" dirty="0">
                <a:solidFill>
                  <a:srgbClr val="101C4F"/>
                </a:solidFill>
              </a:rPr>
              <a:t>Would you rather start in IB Operations or IB Front Office (IBD/S&amp;T)?</a:t>
            </a:r>
            <a:endParaRPr lang="en-US" sz="1500" dirty="0"/>
          </a:p>
        </p:txBody>
      </p:sp>
      <p:sp>
        <p:nvSpPr>
          <p:cNvPr id="5" name="Shape 3"/>
          <p:cNvSpPr/>
          <p:nvPr/>
        </p:nvSpPr>
        <p:spPr>
          <a:xfrm>
            <a:off x="4572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457200" y="1737360"/>
            <a:ext cx="3977640" cy="73152"/>
          </a:xfrm>
          <a:prstGeom prst="rect">
            <a:avLst/>
          </a:prstGeom>
          <a:solidFill>
            <a:srgbClr val="007A87"/>
          </a:solidFill>
          <a:ln w="12700">
            <a:solidFill>
              <a:srgbClr val="007A87"/>
            </a:solidFill>
            <a:prstDash val="solid"/>
          </a:ln>
        </p:spPr>
      </p:sp>
      <p:sp>
        <p:nvSpPr>
          <p:cNvPr id="7" name="Text 5"/>
          <p:cNvSpPr/>
          <p:nvPr/>
        </p:nvSpPr>
        <p:spPr>
          <a:xfrm>
            <a:off x="594360" y="1828800"/>
            <a:ext cx="3657600" cy="320040"/>
          </a:xfrm>
          <a:prstGeom prst="rect">
            <a:avLst/>
          </a:prstGeom>
          <a:noFill/>
          <a:ln/>
        </p:spPr>
        <p:txBody>
          <a:bodyPr wrap="square" lIns="0" tIns="0" rIns="0" bIns="0" rtlCol="0" anchor="ctr"/>
          <a:lstStyle/>
          <a:p>
            <a:pPr indent="0" marL="0">
              <a:buNone/>
            </a:pPr>
            <a:r>
              <a:rPr lang="en-US" sz="1000" b="1" dirty="0">
                <a:solidFill>
                  <a:srgbClr val="007A87"/>
                </a:solidFill>
              </a:rPr>
              <a:t>🟢 OPERATIONS FIRST</a:t>
            </a:r>
            <a:endParaRPr lang="en-US" sz="1000" dirty="0"/>
          </a:p>
        </p:txBody>
      </p:sp>
      <p:sp>
        <p:nvSpPr>
          <p:cNvPr id="8" name="Text 6"/>
          <p:cNvSpPr/>
          <p:nvPr/>
        </p:nvSpPr>
        <p:spPr>
          <a:xfrm>
            <a:off x="5943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See every product, every market, every deal from the inside. Build technical depth. Clear career to risk, compliance, or product control. Stable demand.</a:t>
            </a:r>
            <a:endParaRPr lang="en-US" sz="950" dirty="0"/>
          </a:p>
        </p:txBody>
      </p:sp>
      <p:sp>
        <p:nvSpPr>
          <p:cNvPr id="9" name="Shape 7"/>
          <p:cNvSpPr/>
          <p:nvPr/>
        </p:nvSpPr>
        <p:spPr>
          <a:xfrm>
            <a:off x="48006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4800600" y="1737360"/>
            <a:ext cx="3977640" cy="73152"/>
          </a:xfrm>
          <a:prstGeom prst="rect">
            <a:avLst/>
          </a:prstGeom>
          <a:solidFill>
            <a:srgbClr val="101C4F"/>
          </a:solidFill>
          <a:ln w="12700">
            <a:solidFill>
              <a:srgbClr val="101C4F"/>
            </a:solidFill>
            <a:prstDash val="solid"/>
          </a:ln>
        </p:spPr>
      </p:sp>
      <p:sp>
        <p:nvSpPr>
          <p:cNvPr id="11" name="Text 9"/>
          <p:cNvSpPr/>
          <p:nvPr/>
        </p:nvSpPr>
        <p:spPr>
          <a:xfrm>
            <a:off x="4937760" y="1828800"/>
            <a:ext cx="3657600" cy="320040"/>
          </a:xfrm>
          <a:prstGeom prst="rect">
            <a:avLst/>
          </a:prstGeom>
          <a:noFill/>
          <a:ln/>
        </p:spPr>
        <p:txBody>
          <a:bodyPr wrap="square" lIns="0" tIns="0" rIns="0" bIns="0" rtlCol="0" anchor="ctr"/>
          <a:lstStyle/>
          <a:p>
            <a:pPr indent="0" marL="0">
              <a:buNone/>
            </a:pPr>
            <a:r>
              <a:rPr lang="en-US" sz="1000" b="1" dirty="0">
                <a:solidFill>
                  <a:srgbClr val="101C4F"/>
                </a:solidFill>
              </a:rPr>
              <a:t>🔴 FRONT OFFICE DIRECTLY</a:t>
            </a:r>
            <a:endParaRPr lang="en-US" sz="1000" dirty="0"/>
          </a:p>
        </p:txBody>
      </p:sp>
      <p:sp>
        <p:nvSpPr>
          <p:cNvPr id="12" name="Text 10"/>
          <p:cNvSpPr/>
          <p:nvPr/>
        </p:nvSpPr>
        <p:spPr>
          <a:xfrm>
            <a:off x="49377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Higher earnings potential, client contact, deal origination. But extremely competitive to break in — most start via summer internships at top-tier banks.</a:t>
            </a:r>
            <a:endParaRPr lang="en-US" sz="950" dirty="0"/>
          </a:p>
        </p:txBody>
      </p:sp>
      <p:sp>
        <p:nvSpPr>
          <p:cNvPr id="13" name="Shape 11"/>
          <p:cNvSpPr/>
          <p:nvPr/>
        </p:nvSpPr>
        <p:spPr>
          <a:xfrm>
            <a:off x="457200" y="3337560"/>
            <a:ext cx="8229600" cy="777240"/>
          </a:xfrm>
          <a:prstGeom prst="rect">
            <a:avLst/>
          </a:prstGeom>
          <a:solidFill>
            <a:srgbClr val="007A87"/>
          </a:solidFill>
          <a:ln w="12700">
            <a:solidFill>
              <a:srgbClr val="007A87"/>
            </a:solidFill>
            <a:prstDash val="solid"/>
          </a:ln>
        </p:spPr>
      </p:sp>
      <p:sp>
        <p:nvSpPr>
          <p:cNvPr id="14" name="Text 12"/>
          <p:cNvSpPr/>
          <p:nvPr/>
        </p:nvSpPr>
        <p:spPr>
          <a:xfrm>
            <a:off x="640080" y="3337560"/>
            <a:ext cx="7863840" cy="777240"/>
          </a:xfrm>
          <a:prstGeom prst="rect">
            <a:avLst/>
          </a:prstGeom>
          <a:noFill/>
          <a:ln/>
        </p:spPr>
        <p:txBody>
          <a:bodyPr wrap="square" lIns="0" tIns="0" rIns="0" bIns="0" rtlCol="0" anchor="ctr"/>
          <a:lstStyle/>
          <a:p>
            <a:pPr indent="0" marL="0">
              <a:buNone/>
            </a:pPr>
            <a:r>
              <a:rPr lang="en-US" sz="1000" dirty="0">
                <a:solidFill>
                  <a:srgbClr val="FFFFFF"/>
                </a:solidFill>
              </a:rPr>
              <a:t>💡 Many MD-level Investment Bankers started in Operations. Understanding the full trade lifecycle from settlement to risk makes you a better banker — and a better ops head. The CIBOP programme is your structured entry.</a:t>
            </a:r>
            <a:endParaRPr lang="en-US" sz="1000" dirty="0"/>
          </a:p>
        </p:txBody>
      </p:sp>
      <p:sp>
        <p:nvSpPr>
          <p:cNvPr id="15" name="Shape 13"/>
          <p:cNvSpPr/>
          <p:nvPr/>
        </p:nvSpPr>
        <p:spPr>
          <a:xfrm>
            <a:off x="0" y="4818888"/>
            <a:ext cx="2011680" cy="324612"/>
          </a:xfrm>
          <a:prstGeom prst="rect">
            <a:avLst/>
          </a:prstGeom>
          <a:solidFill>
            <a:srgbClr val="101C4F"/>
          </a:solidFill>
          <a:ln w="12700">
            <a:solidFill>
              <a:srgbClr val="101C4F"/>
            </a:solidFill>
            <a:prstDash val="solid"/>
          </a:ln>
        </p:spPr>
      </p:sp>
      <p:sp>
        <p:nvSpPr>
          <p:cNvPr id="16" name="Text 14"/>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D1.5</a:t>
            </a:r>
            <a:endParaRPr lang="en-US" sz="800" dirty="0"/>
          </a:p>
        </p:txBody>
      </p:sp>
      <p:sp>
        <p:nvSpPr>
          <p:cNvPr id="17" name="Text 15"/>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35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INTERVIEW READY</a:t>
            </a:r>
            <a:endParaRPr lang="en-US" sz="1000" dirty="0"/>
          </a:p>
        </p:txBody>
      </p:sp>
      <p:sp>
        <p:nvSpPr>
          <p:cNvPr id="4" name="Text 2"/>
          <p:cNvSpPr/>
          <p:nvPr/>
        </p:nvSpPr>
        <p:spPr>
          <a:xfrm>
            <a:off x="365760" y="777240"/>
            <a:ext cx="8412480" cy="384048"/>
          </a:xfrm>
          <a:prstGeom prst="rect">
            <a:avLst/>
          </a:prstGeom>
          <a:noFill/>
          <a:ln/>
        </p:spPr>
        <p:txBody>
          <a:bodyPr wrap="square" lIns="0" tIns="0" rIns="0" bIns="0" rtlCol="0" anchor="ctr"/>
          <a:lstStyle/>
          <a:p>
            <a:pPr indent="0" marL="0">
              <a:buNone/>
            </a:pPr>
            <a:r>
              <a:rPr lang="en-US" sz="1200" i="1" dirty="0">
                <a:solidFill>
                  <a:srgbClr val="4A5568"/>
                </a:solidFill>
              </a:rPr>
              <a:t>Questions you WILL get asked — know these cold.</a:t>
            </a:r>
            <a:endParaRPr lang="en-US" sz="1200" dirty="0"/>
          </a:p>
        </p:txBody>
      </p:sp>
      <p:sp>
        <p:nvSpPr>
          <p:cNvPr id="5" name="Shape 3"/>
          <p:cNvSpPr/>
          <p:nvPr/>
        </p:nvSpPr>
        <p:spPr>
          <a:xfrm>
            <a:off x="365760" y="128016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65760" y="1280160"/>
            <a:ext cx="73152" cy="987552"/>
          </a:xfrm>
          <a:prstGeom prst="rect">
            <a:avLst/>
          </a:prstGeom>
          <a:solidFill>
            <a:srgbClr val="F0A800"/>
          </a:solidFill>
          <a:ln w="12700">
            <a:solidFill>
              <a:srgbClr val="F0A800"/>
            </a:solidFill>
            <a:prstDash val="solid"/>
          </a:ln>
        </p:spPr>
      </p:sp>
      <p:sp>
        <p:nvSpPr>
          <p:cNvPr id="7" name="Text 5"/>
          <p:cNvSpPr/>
          <p:nvPr/>
        </p:nvSpPr>
        <p:spPr>
          <a:xfrm>
            <a:off x="548640" y="133502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Q1: What is the difference between an investment bank and a commercial bank?</a:t>
            </a:r>
            <a:endParaRPr lang="en-US" sz="1000" dirty="0"/>
          </a:p>
        </p:txBody>
      </p:sp>
      <p:sp>
        <p:nvSpPr>
          <p:cNvPr id="8" name="Text 6"/>
          <p:cNvSpPr/>
          <p:nvPr/>
        </p:nvSpPr>
        <p:spPr>
          <a:xfrm>
            <a:off x="548640" y="1682496"/>
            <a:ext cx="8046720" cy="530352"/>
          </a:xfrm>
          <a:prstGeom prst="rect">
            <a:avLst/>
          </a:prstGeom>
          <a:noFill/>
          <a:ln/>
        </p:spPr>
        <p:txBody>
          <a:bodyPr wrap="square" lIns="0" tIns="0" rIns="0" bIns="0" rtlCol="0" anchor="ctr"/>
          <a:lstStyle/>
          <a:p>
            <a:pPr indent="0" marL="0">
              <a:buNone/>
            </a:pPr>
            <a:r>
              <a:rPr lang="en-US" sz="950" dirty="0">
                <a:solidFill>
                  <a:srgbClr val="1A2340"/>
                </a:solidFill>
              </a:rPr>
              <a:t>→ Commercial banks take retail deposits and give loans (SBI, HDFC Bank). Investment banks raise capital for companies (IPOs, bonds), advise on M&amp;A, trade securities, and manage institutional assets — they do NOT take retail deposits.</a:t>
            </a:r>
            <a:endParaRPr lang="en-US" sz="950" dirty="0"/>
          </a:p>
        </p:txBody>
      </p:sp>
      <p:sp>
        <p:nvSpPr>
          <p:cNvPr id="9" name="Shape 7"/>
          <p:cNvSpPr/>
          <p:nvPr/>
        </p:nvSpPr>
        <p:spPr>
          <a:xfrm>
            <a:off x="365760" y="237744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365760" y="2377440"/>
            <a:ext cx="73152" cy="987552"/>
          </a:xfrm>
          <a:prstGeom prst="rect">
            <a:avLst/>
          </a:prstGeom>
          <a:solidFill>
            <a:srgbClr val="F0A800"/>
          </a:solidFill>
          <a:ln w="12700">
            <a:solidFill>
              <a:srgbClr val="F0A800"/>
            </a:solidFill>
            <a:prstDash val="solid"/>
          </a:ln>
        </p:spPr>
      </p:sp>
      <p:sp>
        <p:nvSpPr>
          <p:cNvPr id="11" name="Text 9"/>
          <p:cNvSpPr/>
          <p:nvPr/>
        </p:nvSpPr>
        <p:spPr>
          <a:xfrm>
            <a:off x="548640" y="243230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Q2: What does ECM stand for and what does it do?</a:t>
            </a:r>
            <a:endParaRPr lang="en-US" sz="1000" dirty="0"/>
          </a:p>
        </p:txBody>
      </p:sp>
      <p:sp>
        <p:nvSpPr>
          <p:cNvPr id="12" name="Text 10"/>
          <p:cNvSpPr/>
          <p:nvPr/>
        </p:nvSpPr>
        <p:spPr>
          <a:xfrm>
            <a:off x="548640" y="2779776"/>
            <a:ext cx="8046720" cy="530352"/>
          </a:xfrm>
          <a:prstGeom prst="rect">
            <a:avLst/>
          </a:prstGeom>
          <a:noFill/>
          <a:ln/>
        </p:spPr>
        <p:txBody>
          <a:bodyPr wrap="square" lIns="0" tIns="0" rIns="0" bIns="0" rtlCol="0" anchor="ctr"/>
          <a:lstStyle/>
          <a:p>
            <a:pPr indent="0" marL="0">
              <a:buNone/>
            </a:pPr>
            <a:r>
              <a:rPr lang="en-US" sz="950" dirty="0">
                <a:solidFill>
                  <a:srgbClr val="1A2340"/>
                </a:solidFill>
              </a:rPr>
              <a:t>→ Equity Capital Markets — part of IBD. Manages equity issuances: IPOs, FPOs, rights issues, QIPs. Connects companies raising equity capital with institutional investors.</a:t>
            </a:r>
            <a:endParaRPr lang="en-US" sz="950" dirty="0"/>
          </a:p>
        </p:txBody>
      </p:sp>
      <p:sp>
        <p:nvSpPr>
          <p:cNvPr id="13" name="Shape 11"/>
          <p:cNvSpPr/>
          <p:nvPr/>
        </p:nvSpPr>
        <p:spPr>
          <a:xfrm>
            <a:off x="365760" y="347472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365760" y="3474720"/>
            <a:ext cx="73152" cy="987552"/>
          </a:xfrm>
          <a:prstGeom prst="rect">
            <a:avLst/>
          </a:prstGeom>
          <a:solidFill>
            <a:srgbClr val="F0A800"/>
          </a:solidFill>
          <a:ln w="12700">
            <a:solidFill>
              <a:srgbClr val="F0A800"/>
            </a:solidFill>
            <a:prstDash val="solid"/>
          </a:ln>
        </p:spPr>
      </p:sp>
      <p:sp>
        <p:nvSpPr>
          <p:cNvPr id="15" name="Text 13"/>
          <p:cNvSpPr/>
          <p:nvPr/>
        </p:nvSpPr>
        <p:spPr>
          <a:xfrm>
            <a:off x="548640" y="352958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Q3: Why is Operations considered the backbone of an investment bank?</a:t>
            </a:r>
            <a:endParaRPr lang="en-US" sz="1000" dirty="0"/>
          </a:p>
        </p:txBody>
      </p:sp>
      <p:sp>
        <p:nvSpPr>
          <p:cNvPr id="16" name="Text 14"/>
          <p:cNvSpPr/>
          <p:nvPr/>
        </p:nvSpPr>
        <p:spPr>
          <a:xfrm>
            <a:off x="548640" y="3877056"/>
            <a:ext cx="8046720" cy="530352"/>
          </a:xfrm>
          <a:prstGeom prst="rect">
            <a:avLst/>
          </a:prstGeom>
          <a:noFill/>
          <a:ln/>
        </p:spPr>
        <p:txBody>
          <a:bodyPr wrap="square" lIns="0" tIns="0" rIns="0" bIns="0" rtlCol="0" anchor="ctr"/>
          <a:lstStyle/>
          <a:p>
            <a:pPr indent="0" marL="0">
              <a:buNone/>
            </a:pPr>
            <a:r>
              <a:rPr lang="en-US" sz="950" dirty="0">
                <a:solidFill>
                  <a:srgbClr val="1A2340"/>
                </a:solidFill>
              </a:rPr>
              <a:t>→ Operations settles every single trade — without settlement, a trade is legally incomplete. Ops manages counterparty risk, regulatory reporting, reconciliation, and ensures no financial loss from processing errors.</a:t>
            </a:r>
            <a:endParaRPr lang="en-US" sz="950" dirty="0"/>
          </a:p>
        </p:txBody>
      </p:sp>
      <p:sp>
        <p:nvSpPr>
          <p:cNvPr id="17" name="Shape 15"/>
          <p:cNvSpPr/>
          <p:nvPr/>
        </p:nvSpPr>
        <p:spPr>
          <a:xfrm>
            <a:off x="0" y="4818888"/>
            <a:ext cx="2011680" cy="324612"/>
          </a:xfrm>
          <a:prstGeom prst="rect">
            <a:avLst/>
          </a:prstGeom>
          <a:solidFill>
            <a:srgbClr val="101C4F"/>
          </a:solidFill>
          <a:ln w="12700">
            <a:solidFill>
              <a:srgbClr val="101C4F"/>
            </a:solidFill>
            <a:prstDash val="solid"/>
          </a:ln>
        </p:spPr>
      </p:sp>
      <p:sp>
        <p:nvSpPr>
          <p:cNvPr id="18" name="Text 16"/>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D1.5</a:t>
            </a:r>
            <a:endParaRPr lang="en-US" sz="800" dirty="0"/>
          </a:p>
        </p:txBody>
      </p:sp>
      <p:sp>
        <p:nvSpPr>
          <p:cNvPr id="19" name="Text 17"/>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36</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A87"/>
          </a:solidFill>
          <a:ln w="12700">
            <a:solidFill>
              <a:srgbClr val="007A87"/>
            </a:solidFill>
            <a:prstDash val="solid"/>
          </a:ln>
        </p:spPr>
      </p:sp>
      <p:sp>
        <p:nvSpPr>
          <p:cNvPr id="3" name="Shape 1"/>
          <p:cNvSpPr/>
          <p:nvPr/>
        </p:nvSpPr>
        <p:spPr>
          <a:xfrm>
            <a:off x="384048" y="2212848"/>
            <a:ext cx="201168" cy="201168"/>
          </a:xfrm>
          <a:prstGeom prst="oval">
            <a:avLst/>
          </a:prstGeom>
          <a:solidFill>
            <a:srgbClr val="F0A800"/>
          </a:solidFill>
          <a:ln w="12700">
            <a:solidFill>
              <a:srgbClr val="F0A800"/>
            </a:solidFill>
            <a:prstDash val="solid"/>
          </a:ln>
        </p:spPr>
      </p:sp>
      <p:sp>
        <p:nvSpPr>
          <p:cNvPr id="4" name="Shape 2"/>
          <p:cNvSpPr/>
          <p:nvPr/>
        </p:nvSpPr>
        <p:spPr>
          <a:xfrm>
            <a:off x="457200" y="548640"/>
            <a:ext cx="1188720" cy="384048"/>
          </a:xfrm>
          <a:prstGeom prst="rect">
            <a:avLst/>
          </a:prstGeom>
          <a:solidFill>
            <a:srgbClr val="007A87"/>
          </a:solidFill>
          <a:ln w="12700">
            <a:solidFill>
              <a:srgbClr val="007A87"/>
            </a:solidFill>
            <a:prstDash val="solid"/>
          </a:ln>
        </p:spPr>
      </p:sp>
      <p:sp>
        <p:nvSpPr>
          <p:cNvPr id="5" name="Text 3"/>
          <p:cNvSpPr/>
          <p:nvPr/>
        </p:nvSpPr>
        <p:spPr>
          <a:xfrm>
            <a:off x="457200" y="548640"/>
            <a:ext cx="1188720" cy="384048"/>
          </a:xfrm>
          <a:prstGeom prst="rect">
            <a:avLst/>
          </a:prstGeom>
          <a:noFill/>
          <a:ln/>
        </p:spPr>
        <p:txBody>
          <a:bodyPr wrap="square" lIns="0" tIns="0" rIns="0" bIns="0" rtlCol="0" anchor="ctr"/>
          <a:lstStyle/>
          <a:p>
            <a:pPr algn="ctr" indent="0" marL="0">
              <a:buNone/>
            </a:pPr>
            <a:r>
              <a:rPr lang="en-US" sz="1200" b="1" dirty="0">
                <a:solidFill>
                  <a:srgbClr val="FFFFFF"/>
                </a:solidFill>
              </a:rPr>
              <a:t>D1.6</a:t>
            </a:r>
            <a:endParaRPr lang="en-US" sz="1200" dirty="0"/>
          </a:p>
        </p:txBody>
      </p:sp>
      <p:sp>
        <p:nvSpPr>
          <p:cNvPr id="6" name="Text 4"/>
          <p:cNvSpPr/>
          <p:nvPr/>
        </p:nvSpPr>
        <p:spPr>
          <a:xfrm>
            <a:off x="1828800" y="621792"/>
            <a:ext cx="2743200" cy="274320"/>
          </a:xfrm>
          <a:prstGeom prst="rect">
            <a:avLst/>
          </a:prstGeom>
          <a:noFill/>
          <a:ln/>
        </p:spPr>
        <p:txBody>
          <a:bodyPr wrap="square" lIns="0" tIns="0" rIns="0" bIns="0" rtlCol="0" anchor="ctr"/>
          <a:lstStyle/>
          <a:p>
            <a:pPr algn="l" indent="0" marL="0">
              <a:buNone/>
            </a:pPr>
            <a:r>
              <a:rPr lang="en-US" sz="900" dirty="0">
                <a:solidFill>
                  <a:srgbClr val="007A87"/>
                </a:solidFill>
              </a:rPr>
              <a:t>Unit 6 of 8</a:t>
            </a:r>
            <a:endParaRPr lang="en-US" sz="900" dirty="0"/>
          </a:p>
        </p:txBody>
      </p:sp>
      <p:sp>
        <p:nvSpPr>
          <p:cNvPr id="7" name="Text 5"/>
          <p:cNvSpPr/>
          <p:nvPr/>
        </p:nvSpPr>
        <p:spPr>
          <a:xfrm>
            <a:off x="457200" y="1143000"/>
            <a:ext cx="7772400" cy="1371600"/>
          </a:xfrm>
          <a:prstGeom prst="rect">
            <a:avLst/>
          </a:prstGeom>
          <a:noFill/>
          <a:ln/>
        </p:spPr>
        <p:txBody>
          <a:bodyPr wrap="square" lIns="0" tIns="0" rIns="0" bIns="0" rtlCol="0" anchor="ctr"/>
          <a:lstStyle/>
          <a:p>
            <a:pPr algn="l" indent="0" marL="0">
              <a:buNone/>
            </a:pPr>
            <a:r>
              <a:rPr lang="en-US" sz="3400" b="1" dirty="0">
                <a:solidFill>
                  <a:srgbClr val="FFFFFF"/>
                </a:solidFill>
              </a:rPr>
              <a:t>Primary Market Activities</a:t>
            </a:r>
            <a:endParaRPr lang="en-US" sz="3400" dirty="0"/>
          </a:p>
        </p:txBody>
      </p:sp>
      <p:sp>
        <p:nvSpPr>
          <p:cNvPr id="8" name="Shape 6"/>
          <p:cNvSpPr/>
          <p:nvPr/>
        </p:nvSpPr>
        <p:spPr>
          <a:xfrm>
            <a:off x="457200" y="2697480"/>
            <a:ext cx="8229600" cy="45720"/>
          </a:xfrm>
          <a:prstGeom prst="rect">
            <a:avLst/>
          </a:prstGeom>
          <a:solidFill>
            <a:srgbClr val="007A87"/>
          </a:solidFill>
          <a:ln w="12700">
            <a:solidFill>
              <a:srgbClr val="007A87"/>
            </a:solidFill>
            <a:prstDash val="solid"/>
          </a:ln>
        </p:spPr>
      </p:sp>
      <p:sp>
        <p:nvSpPr>
          <p:cNvPr id="9" name="Text 7"/>
          <p:cNvSpPr/>
          <p:nvPr/>
        </p:nvSpPr>
        <p:spPr>
          <a:xfrm>
            <a:off x="457200" y="2834640"/>
            <a:ext cx="1463040" cy="320040"/>
          </a:xfrm>
          <a:prstGeom prst="rect">
            <a:avLst/>
          </a:prstGeom>
          <a:noFill/>
          <a:ln/>
        </p:spPr>
        <p:txBody>
          <a:bodyPr wrap="square" lIns="0" tIns="0" rIns="0" bIns="0" rtlCol="0" anchor="ctr"/>
          <a:lstStyle/>
          <a:p>
            <a:pPr algn="l" indent="0" marL="0">
              <a:buNone/>
            </a:pPr>
            <a:r>
              <a:rPr lang="en-US" sz="900" b="1" dirty="0">
                <a:solidFill>
                  <a:srgbClr val="F0A800"/>
                </a:solidFill>
              </a:rPr>
              <a:t>COMPETENCY:</a:t>
            </a:r>
            <a:endParaRPr lang="en-US" sz="900" dirty="0"/>
          </a:p>
        </p:txBody>
      </p:sp>
      <p:sp>
        <p:nvSpPr>
          <p:cNvPr id="10" name="Text 8"/>
          <p:cNvSpPr/>
          <p:nvPr/>
        </p:nvSpPr>
        <p:spPr>
          <a:xfrm>
            <a:off x="1920240" y="2834640"/>
            <a:ext cx="6766560" cy="320040"/>
          </a:xfrm>
          <a:prstGeom prst="rect">
            <a:avLst/>
          </a:prstGeom>
          <a:noFill/>
          <a:ln/>
        </p:spPr>
        <p:txBody>
          <a:bodyPr wrap="square" lIns="0" tIns="0" rIns="0" bIns="0" rtlCol="0" anchor="ctr"/>
          <a:lstStyle/>
          <a:p>
            <a:pPr algn="l" indent="0" marL="0">
              <a:buNone/>
            </a:pPr>
            <a:r>
              <a:rPr lang="en-US" sz="900" dirty="0">
                <a:solidFill>
                  <a:srgbClr val="A0B4D0"/>
                </a:solidFill>
              </a:rPr>
              <a:t>Capital Markets Literacy</a:t>
            </a:r>
            <a:endParaRPr lang="en-US" sz="900" dirty="0"/>
          </a:p>
        </p:txBody>
      </p:sp>
      <p:sp>
        <p:nvSpPr>
          <p:cNvPr id="11" name="Shape 9"/>
          <p:cNvSpPr/>
          <p:nvPr/>
        </p:nvSpPr>
        <p:spPr>
          <a:xfrm>
            <a:off x="164592" y="4818888"/>
            <a:ext cx="8979408" cy="324612"/>
          </a:xfrm>
          <a:prstGeom prst="rect">
            <a:avLst/>
          </a:prstGeom>
          <a:solidFill>
            <a:srgbClr val="F0A800"/>
          </a:solidFill>
          <a:ln w="12700">
            <a:solidFill>
              <a:srgbClr val="F0A800"/>
            </a:solidFill>
            <a:prstDash val="solid"/>
          </a:ln>
        </p:spPr>
      </p:sp>
      <p:sp>
        <p:nvSpPr>
          <p:cNvPr id="12" name="Text 10"/>
          <p:cNvSpPr/>
          <p:nvPr/>
        </p:nvSpPr>
        <p:spPr>
          <a:xfrm>
            <a:off x="457200" y="4818888"/>
            <a:ext cx="8229600" cy="324612"/>
          </a:xfrm>
          <a:prstGeom prst="rect">
            <a:avLst/>
          </a:prstGeom>
          <a:noFill/>
          <a:ln/>
        </p:spPr>
        <p:txBody>
          <a:bodyPr wrap="square" lIns="0" tIns="0" rIns="0" bIns="0" rtlCol="0" anchor="ctr"/>
          <a:lstStyle/>
          <a:p>
            <a:pPr algn="ctr" indent="0" marL="0">
              <a:buNone/>
            </a:pPr>
            <a:r>
              <a:rPr lang="en-US" sz="800" b="1" dirty="0">
                <a:solidFill>
                  <a:srgbClr val="101C4F"/>
                </a:solidFill>
              </a:rPr>
              <a:t>IMARTICUS LEARNING  ·  CIBOP  ·  MODULE 1</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37</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3657600" cy="658368"/>
          </a:xfrm>
          <a:prstGeom prst="rect">
            <a:avLst/>
          </a:prstGeom>
          <a:noFill/>
          <a:ln/>
        </p:spPr>
        <p:txBody>
          <a:bodyPr wrap="square" lIns="0" tIns="0" rIns="0" bIns="0" rtlCol="0" anchor="ctr"/>
          <a:lstStyle/>
          <a:p>
            <a:pPr indent="0" marL="0">
              <a:buNone/>
            </a:pPr>
            <a:r>
              <a:rPr lang="en-US" sz="1000" b="1" spc="200" kern="0" dirty="0">
                <a:solidFill>
                  <a:srgbClr val="007A87"/>
                </a:solidFill>
              </a:rPr>
              <a:t>⟵  QUICK RECAP</a:t>
            </a:r>
            <a:endParaRPr lang="en-US" sz="1000" dirty="0"/>
          </a:p>
        </p:txBody>
      </p:sp>
      <p:sp>
        <p:nvSpPr>
          <p:cNvPr id="4" name="Text 2"/>
          <p:cNvSpPr/>
          <p:nvPr/>
        </p:nvSpPr>
        <p:spPr>
          <a:xfrm>
            <a:off x="4114800" y="0"/>
            <a:ext cx="4663440" cy="658368"/>
          </a:xfrm>
          <a:prstGeom prst="rect">
            <a:avLst/>
          </a:prstGeom>
          <a:noFill/>
          <a:ln/>
        </p:spPr>
        <p:txBody>
          <a:bodyPr wrap="square" lIns="0" tIns="0" rIns="0" bIns="0" rtlCol="0" anchor="ctr"/>
          <a:lstStyle/>
          <a:p>
            <a:pPr algn="r" indent="0" marL="0">
              <a:buNone/>
            </a:pPr>
            <a:r>
              <a:rPr lang="en-US" sz="900" dirty="0">
                <a:solidFill>
                  <a:srgbClr val="A0B4D0"/>
                </a:solidFill>
              </a:rPr>
              <a:t>D1.5 — Investment Banks and Their Functions</a:t>
            </a:r>
            <a:endParaRPr lang="en-US" sz="900" dirty="0"/>
          </a:p>
        </p:txBody>
      </p:sp>
      <p:sp>
        <p:nvSpPr>
          <p:cNvPr id="5" name="Text 3"/>
          <p:cNvSpPr/>
          <p:nvPr/>
        </p:nvSpPr>
        <p:spPr>
          <a:xfrm>
            <a:off x="457200" y="822960"/>
            <a:ext cx="8229600" cy="457200"/>
          </a:xfrm>
          <a:prstGeom prst="rect">
            <a:avLst/>
          </a:prstGeom>
          <a:noFill/>
          <a:ln/>
        </p:spPr>
        <p:txBody>
          <a:bodyPr wrap="square" lIns="0" tIns="0" rIns="0" bIns="0" rtlCol="0" anchor="ctr"/>
          <a:lstStyle/>
          <a:p>
            <a:pPr algn="l" indent="0" marL="0">
              <a:buNone/>
            </a:pPr>
            <a:r>
              <a:rPr lang="en-US" sz="1400" b="1" dirty="0">
                <a:solidFill>
                  <a:srgbClr val="1A2340"/>
                </a:solidFill>
              </a:rPr>
              <a:t>Before we begin — let's make sure the foundation is solid.</a:t>
            </a:r>
            <a:endParaRPr lang="en-US" sz="1400" dirty="0"/>
          </a:p>
        </p:txBody>
      </p:sp>
      <p:sp>
        <p:nvSpPr>
          <p:cNvPr id="6" name="Shape 4"/>
          <p:cNvSpPr/>
          <p:nvPr/>
        </p:nvSpPr>
        <p:spPr>
          <a:xfrm>
            <a:off x="45720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457200" y="1463040"/>
            <a:ext cx="2468880" cy="64008"/>
          </a:xfrm>
          <a:prstGeom prst="rect">
            <a:avLst/>
          </a:prstGeom>
          <a:solidFill>
            <a:srgbClr val="007A87"/>
          </a:solidFill>
          <a:ln w="12700">
            <a:solidFill>
              <a:srgbClr val="007A87"/>
            </a:solidFill>
            <a:prstDash val="solid"/>
          </a:ln>
        </p:spPr>
      </p:sp>
      <p:sp>
        <p:nvSpPr>
          <p:cNvPr id="8" name="Text 6"/>
          <p:cNvSpPr/>
          <p:nvPr/>
        </p:nvSpPr>
        <p:spPr>
          <a:xfrm>
            <a:off x="56692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9" name="Text 7"/>
          <p:cNvSpPr/>
          <p:nvPr/>
        </p:nvSpPr>
        <p:spPr>
          <a:xfrm>
            <a:off x="56692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DRHP → SEBI → IPO</a:t>
            </a:r>
            <a:endParaRPr lang="en-US" sz="1050" dirty="0"/>
          </a:p>
        </p:txBody>
      </p:sp>
      <p:sp>
        <p:nvSpPr>
          <p:cNvPr id="10" name="Text 8"/>
          <p:cNvSpPr/>
          <p:nvPr/>
        </p:nvSpPr>
        <p:spPr>
          <a:xfrm>
            <a:off x="56692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Before any IPO: Draft Red Herring Prospectus filed with SEBI. SEBI reviews, queries, approves. Then public subscription opens.</a:t>
            </a:r>
            <a:endParaRPr lang="en-US" sz="850" dirty="0"/>
          </a:p>
        </p:txBody>
      </p:sp>
      <p:sp>
        <p:nvSpPr>
          <p:cNvPr id="11" name="Shape 9"/>
          <p:cNvSpPr/>
          <p:nvPr/>
        </p:nvSpPr>
        <p:spPr>
          <a:xfrm>
            <a:off x="310896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3108960" y="1463040"/>
            <a:ext cx="2468880" cy="64008"/>
          </a:xfrm>
          <a:prstGeom prst="rect">
            <a:avLst/>
          </a:prstGeom>
          <a:solidFill>
            <a:srgbClr val="007A87"/>
          </a:solidFill>
          <a:ln w="12700">
            <a:solidFill>
              <a:srgbClr val="007A87"/>
            </a:solidFill>
            <a:prstDash val="solid"/>
          </a:ln>
        </p:spPr>
      </p:sp>
      <p:sp>
        <p:nvSpPr>
          <p:cNvPr id="13" name="Text 11"/>
          <p:cNvSpPr/>
          <p:nvPr/>
        </p:nvSpPr>
        <p:spPr>
          <a:xfrm>
            <a:off x="321868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4" name="Text 12"/>
          <p:cNvSpPr/>
          <p:nvPr/>
        </p:nvSpPr>
        <p:spPr>
          <a:xfrm>
            <a:off x="321868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Book Building</a:t>
            </a:r>
            <a:endParaRPr lang="en-US" sz="1050" dirty="0"/>
          </a:p>
        </p:txBody>
      </p:sp>
      <p:sp>
        <p:nvSpPr>
          <p:cNvPr id="15" name="Text 13"/>
          <p:cNvSpPr/>
          <p:nvPr/>
        </p:nvSpPr>
        <p:spPr>
          <a:xfrm>
            <a:off x="321868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Investors bid within a price band (e.g. ₹300-320). Demand aggregated. Price discovered. Not fixed in advance.</a:t>
            </a:r>
            <a:endParaRPr lang="en-US" sz="850" dirty="0"/>
          </a:p>
        </p:txBody>
      </p:sp>
      <p:sp>
        <p:nvSpPr>
          <p:cNvPr id="16" name="Shape 14"/>
          <p:cNvSpPr/>
          <p:nvPr/>
        </p:nvSpPr>
        <p:spPr>
          <a:xfrm>
            <a:off x="576072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5760720" y="1463040"/>
            <a:ext cx="2468880" cy="64008"/>
          </a:xfrm>
          <a:prstGeom prst="rect">
            <a:avLst/>
          </a:prstGeom>
          <a:solidFill>
            <a:srgbClr val="007A87"/>
          </a:solidFill>
          <a:ln w="12700">
            <a:solidFill>
              <a:srgbClr val="007A87"/>
            </a:solidFill>
            <a:prstDash val="solid"/>
          </a:ln>
        </p:spPr>
      </p:sp>
      <p:sp>
        <p:nvSpPr>
          <p:cNvPr id="18" name="Text 16"/>
          <p:cNvSpPr/>
          <p:nvPr/>
        </p:nvSpPr>
        <p:spPr>
          <a:xfrm>
            <a:off x="587044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9" name="Text 17"/>
          <p:cNvSpPr/>
          <p:nvPr/>
        </p:nvSpPr>
        <p:spPr>
          <a:xfrm>
            <a:off x="587044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OFS vs Fresh Issue</a:t>
            </a:r>
            <a:endParaRPr lang="en-US" sz="1050" dirty="0"/>
          </a:p>
        </p:txBody>
      </p:sp>
      <p:sp>
        <p:nvSpPr>
          <p:cNvPr id="20" name="Text 18"/>
          <p:cNvSpPr/>
          <p:nvPr/>
        </p:nvSpPr>
        <p:spPr>
          <a:xfrm>
            <a:off x="587044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Fresh issue: new shares, money to company. OFS (Offer for Sale): existing shareholders sell, money to them. Critical distinction!</a:t>
            </a:r>
            <a:endParaRPr lang="en-US" sz="850" dirty="0"/>
          </a:p>
        </p:txBody>
      </p:sp>
      <p:sp>
        <p:nvSpPr>
          <p:cNvPr id="21" name="Shape 19"/>
          <p:cNvSpPr/>
          <p:nvPr/>
        </p:nvSpPr>
        <p:spPr>
          <a:xfrm>
            <a:off x="0" y="4818888"/>
            <a:ext cx="2011680" cy="324612"/>
          </a:xfrm>
          <a:prstGeom prst="rect">
            <a:avLst/>
          </a:prstGeom>
          <a:solidFill>
            <a:srgbClr val="101C4F"/>
          </a:solidFill>
          <a:ln w="12700">
            <a:solidFill>
              <a:srgbClr val="101C4F"/>
            </a:solidFill>
            <a:prstDash val="solid"/>
          </a:ln>
        </p:spPr>
      </p:sp>
      <p:sp>
        <p:nvSpPr>
          <p:cNvPr id="22" name="Text 2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D1.6</a:t>
            </a:r>
            <a:endParaRPr lang="en-US" sz="800" dirty="0"/>
          </a:p>
        </p:txBody>
      </p:sp>
      <p:sp>
        <p:nvSpPr>
          <p:cNvPr id="23" name="Text 2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38</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SCENARIO</a:t>
            </a:r>
            <a:endParaRPr lang="en-US" sz="1000" dirty="0"/>
          </a:p>
        </p:txBody>
      </p:sp>
      <p:sp>
        <p:nvSpPr>
          <p:cNvPr id="4" name="Shape 2"/>
          <p:cNvSpPr/>
          <p:nvPr/>
        </p:nvSpPr>
        <p:spPr>
          <a:xfrm>
            <a:off x="365760" y="822960"/>
            <a:ext cx="8412480" cy="2011680"/>
          </a:xfrm>
          <a:prstGeom prst="rect">
            <a:avLst/>
          </a:prstGeom>
          <a:solidFill>
            <a:srgbClr val="FDF6E3"/>
          </a:solidFill>
          <a:ln w="12700">
            <a:solidFill>
              <a:srgbClr val="F0A800"/>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365760" y="822960"/>
            <a:ext cx="91440" cy="2011680"/>
          </a:xfrm>
          <a:prstGeom prst="rect">
            <a:avLst/>
          </a:prstGeom>
          <a:solidFill>
            <a:srgbClr val="F0A800"/>
          </a:solidFill>
          <a:ln w="12700">
            <a:solidFill>
              <a:srgbClr val="F0A800"/>
            </a:solidFill>
            <a:prstDash val="solid"/>
          </a:ln>
        </p:spPr>
      </p:sp>
      <p:sp>
        <p:nvSpPr>
          <p:cNvPr id="6" name="Text 4"/>
          <p:cNvSpPr/>
          <p:nvPr/>
        </p:nvSpPr>
        <p:spPr>
          <a:xfrm>
            <a:off x="594360" y="914400"/>
            <a:ext cx="8046720" cy="365760"/>
          </a:xfrm>
          <a:prstGeom prst="rect">
            <a:avLst/>
          </a:prstGeom>
          <a:noFill/>
          <a:ln/>
        </p:spPr>
        <p:txBody>
          <a:bodyPr wrap="square" lIns="0" tIns="0" rIns="0" bIns="0" rtlCol="0" anchor="ctr"/>
          <a:lstStyle/>
          <a:p>
            <a:pPr algn="l" indent="0" marL="0">
              <a:buNone/>
            </a:pPr>
            <a:r>
              <a:rPr lang="en-US" sz="1200" b="1" dirty="0">
                <a:solidFill>
                  <a:srgbClr val="1A2340"/>
                </a:solidFill>
              </a:rPr>
              <a:t>The LIC IPO — May 2022. India's largest IPO ever.</a:t>
            </a:r>
            <a:endParaRPr lang="en-US" sz="1200" dirty="0"/>
          </a:p>
        </p:txBody>
      </p:sp>
      <p:sp>
        <p:nvSpPr>
          <p:cNvPr id="7" name="Text 5"/>
          <p:cNvSpPr/>
          <p:nvPr/>
        </p:nvSpPr>
        <p:spPr>
          <a:xfrm>
            <a:off x="594360" y="1325880"/>
            <a:ext cx="8046720" cy="1371600"/>
          </a:xfrm>
          <a:prstGeom prst="rect">
            <a:avLst/>
          </a:prstGeom>
          <a:noFill/>
          <a:ln/>
        </p:spPr>
        <p:txBody>
          <a:bodyPr wrap="square" lIns="0" tIns="0" rIns="0" bIns="0" rtlCol="0" anchor="ctr"/>
          <a:lstStyle/>
          <a:p>
            <a:pPr algn="l" indent="0" marL="0">
              <a:buNone/>
            </a:pPr>
            <a:r>
              <a:rPr lang="en-US" sz="1050" dirty="0">
                <a:solidFill>
                  <a:srgbClr val="1A2340"/>
                </a:solidFill>
              </a:rPr>
              <a:t>LIC (Life Insurance Corporation) IPO raised ₹20,557 crore. It was ENTIRELY an OFS — the Government of India (seller of 3.5% stake) received all proceeds. LIC got ₹0. Price band: ₹902-949. Retail investors got a ₹45 discount. Policyholders got ₹60 discount. The IPO was subscribed 2.95x overall but 6.12x for policyholders. Kavi (as a policyholder) applied for 21 shares at ₹889. He got allotted 21 shares. On listing: LIC opened at ₹872 — below issue price.</a:t>
            </a:r>
            <a:endParaRPr lang="en-US" sz="1050" dirty="0"/>
          </a:p>
        </p:txBody>
      </p:sp>
      <p:sp>
        <p:nvSpPr>
          <p:cNvPr id="8" name="Shape 6"/>
          <p:cNvSpPr/>
          <p:nvPr/>
        </p:nvSpPr>
        <p:spPr>
          <a:xfrm>
            <a:off x="365760" y="2971800"/>
            <a:ext cx="8412480" cy="1005840"/>
          </a:xfrm>
          <a:prstGeom prst="rect">
            <a:avLst/>
          </a:prstGeom>
          <a:solidFill>
            <a:srgbClr val="F2F4F8"/>
          </a:solidFill>
          <a:ln w="12700">
            <a:solidFill>
              <a:srgbClr val="E0E4EE"/>
            </a:solidFill>
            <a:prstDash val="solid"/>
          </a:ln>
        </p:spPr>
      </p:sp>
      <p:sp>
        <p:nvSpPr>
          <p:cNvPr id="9" name="Text 7"/>
          <p:cNvSpPr/>
          <p:nvPr/>
        </p:nvSpPr>
        <p:spPr>
          <a:xfrm>
            <a:off x="548640" y="3035808"/>
            <a:ext cx="1828800" cy="320040"/>
          </a:xfrm>
          <a:prstGeom prst="rect">
            <a:avLst/>
          </a:prstGeom>
          <a:noFill/>
          <a:ln/>
        </p:spPr>
        <p:txBody>
          <a:bodyPr wrap="square" lIns="0" tIns="0" rIns="0" bIns="0" rtlCol="0" anchor="ctr"/>
          <a:lstStyle/>
          <a:p>
            <a:pPr indent="0" marL="0">
              <a:buNone/>
            </a:pPr>
            <a:r>
              <a:rPr lang="en-US" sz="1000" b="1" dirty="0">
                <a:solidFill>
                  <a:srgbClr val="007A87"/>
                </a:solidFill>
              </a:rPr>
              <a:t>🤔  Think about it:</a:t>
            </a:r>
            <a:endParaRPr lang="en-US" sz="1000" dirty="0"/>
          </a:p>
        </p:txBody>
      </p:sp>
      <p:sp>
        <p:nvSpPr>
          <p:cNvPr id="10" name="Text 8"/>
          <p:cNvSpPr/>
          <p:nvPr/>
        </p:nvSpPr>
        <p:spPr>
          <a:xfrm>
            <a:off x="548640" y="3355848"/>
            <a:ext cx="7863840" cy="530352"/>
          </a:xfrm>
          <a:prstGeom prst="rect">
            <a:avLst/>
          </a:prstGeom>
          <a:noFill/>
          <a:ln/>
        </p:spPr>
        <p:txBody>
          <a:bodyPr wrap="square" lIns="0" tIns="0" rIns="0" bIns="0" rtlCol="0" anchor="ctr"/>
          <a:lstStyle/>
          <a:p>
            <a:pPr indent="0" marL="0">
              <a:buNone/>
            </a:pPr>
            <a:r>
              <a:rPr lang="en-US" sz="1050" i="1" dirty="0">
                <a:solidFill>
                  <a:srgbClr val="1A2340"/>
                </a:solidFill>
              </a:rPr>
              <a:t>LIC raised ₹20,557 crore. Did LIC's balance sheet change? Who benefited financially? Was the listing a success by conventional IPO standards?</a:t>
            </a:r>
            <a:endParaRPr lang="en-US" sz="1050" dirty="0"/>
          </a:p>
        </p:txBody>
      </p:sp>
      <p:sp>
        <p:nvSpPr>
          <p:cNvPr id="11" name="Shape 9"/>
          <p:cNvSpPr/>
          <p:nvPr/>
        </p:nvSpPr>
        <p:spPr>
          <a:xfrm>
            <a:off x="0" y="4818888"/>
            <a:ext cx="2011680" cy="324612"/>
          </a:xfrm>
          <a:prstGeom prst="rect">
            <a:avLst/>
          </a:prstGeom>
          <a:solidFill>
            <a:srgbClr val="101C4F"/>
          </a:solidFill>
          <a:ln w="12700">
            <a:solidFill>
              <a:srgbClr val="101C4F"/>
            </a:solidFill>
            <a:prstDash val="solid"/>
          </a:ln>
        </p:spPr>
      </p:sp>
      <p:sp>
        <p:nvSpPr>
          <p:cNvPr id="12" name="Text 1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D1.6</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39</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KEY CONCEPT</a:t>
            </a:r>
            <a:endParaRPr lang="en-US" sz="1000" dirty="0"/>
          </a:p>
        </p:txBody>
      </p:sp>
      <p:sp>
        <p:nvSpPr>
          <p:cNvPr id="4" name="Text 2"/>
          <p:cNvSpPr/>
          <p:nvPr/>
        </p:nvSpPr>
        <p:spPr>
          <a:xfrm>
            <a:off x="365760" y="777240"/>
            <a:ext cx="8412480" cy="548640"/>
          </a:xfrm>
          <a:prstGeom prst="rect">
            <a:avLst/>
          </a:prstGeom>
          <a:noFill/>
          <a:ln/>
        </p:spPr>
        <p:txBody>
          <a:bodyPr wrap="square" lIns="0" tIns="0" rIns="0" bIns="0" rtlCol="0" anchor="ctr"/>
          <a:lstStyle/>
          <a:p>
            <a:pPr algn="l" indent="0" marL="0">
              <a:buNone/>
            </a:pPr>
            <a:r>
              <a:rPr lang="en-US" sz="2200" b="1" dirty="0">
                <a:solidFill>
                  <a:srgbClr val="101C4F"/>
                </a:solidFill>
              </a:rPr>
              <a:t>Types of Primary Market Issuances</a:t>
            </a:r>
            <a:endParaRPr lang="en-US" sz="2200" dirty="0"/>
          </a:p>
        </p:txBody>
      </p:sp>
      <p:sp>
        <p:nvSpPr>
          <p:cNvPr id="5" name="Shape 3"/>
          <p:cNvSpPr/>
          <p:nvPr/>
        </p:nvSpPr>
        <p:spPr>
          <a:xfrm>
            <a:off x="365760" y="1389888"/>
            <a:ext cx="8412480" cy="777240"/>
          </a:xfrm>
          <a:prstGeom prst="rect">
            <a:avLst/>
          </a:prstGeom>
          <a:solidFill>
            <a:srgbClr val="F2F4F8"/>
          </a:solidFill>
          <a:ln w="12700">
            <a:solidFill>
              <a:srgbClr val="E0E4EE"/>
            </a:solidFill>
            <a:prstDash val="solid"/>
          </a:ln>
        </p:spPr>
      </p:sp>
      <p:sp>
        <p:nvSpPr>
          <p:cNvPr id="6" name="Shape 4"/>
          <p:cNvSpPr/>
          <p:nvPr/>
        </p:nvSpPr>
        <p:spPr>
          <a:xfrm>
            <a:off x="365760" y="1389888"/>
            <a:ext cx="91440" cy="777240"/>
          </a:xfrm>
          <a:prstGeom prst="rect">
            <a:avLst/>
          </a:prstGeom>
          <a:solidFill>
            <a:srgbClr val="007A87"/>
          </a:solidFill>
          <a:ln w="12700">
            <a:solidFill>
              <a:srgbClr val="007A87"/>
            </a:solidFill>
            <a:prstDash val="solid"/>
          </a:ln>
        </p:spPr>
      </p:sp>
      <p:sp>
        <p:nvSpPr>
          <p:cNvPr id="7" name="Text 5"/>
          <p:cNvSpPr/>
          <p:nvPr/>
        </p:nvSpPr>
        <p:spPr>
          <a:xfrm>
            <a:off x="594360" y="1444752"/>
            <a:ext cx="8046720" cy="667512"/>
          </a:xfrm>
          <a:prstGeom prst="rect">
            <a:avLst/>
          </a:prstGeom>
          <a:noFill/>
          <a:ln/>
        </p:spPr>
        <p:txBody>
          <a:bodyPr wrap="square" lIns="0" tIns="0" rIns="0" bIns="0" rtlCol="0" anchor="ctr"/>
          <a:lstStyle/>
          <a:p>
            <a:pPr indent="0" marL="0">
              <a:buNone/>
            </a:pPr>
            <a:r>
              <a:rPr lang="en-US" sz="1050" i="1" dirty="0">
                <a:solidFill>
                  <a:srgbClr val="1A2340"/>
                </a:solidFill>
              </a:rPr>
              <a:t>Companies raise capital through different mechanisms depending on whether they are listing for the first time, raising additional equity, offering existing shares, or approaching institutional investors. Each serves a specific purpose and has different SEBI requirements.</a:t>
            </a:r>
            <a:endParaRPr lang="en-US" sz="1050" dirty="0"/>
          </a:p>
        </p:txBody>
      </p:sp>
      <p:sp>
        <p:nvSpPr>
          <p:cNvPr id="8" name="Shape 6"/>
          <p:cNvSpPr/>
          <p:nvPr/>
        </p:nvSpPr>
        <p:spPr>
          <a:xfrm>
            <a:off x="36576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365760" y="2331720"/>
            <a:ext cx="2000250" cy="64008"/>
          </a:xfrm>
          <a:prstGeom prst="rect">
            <a:avLst/>
          </a:prstGeom>
          <a:solidFill>
            <a:srgbClr val="101C4F"/>
          </a:solidFill>
          <a:ln w="12700">
            <a:solidFill>
              <a:srgbClr val="101C4F"/>
            </a:solidFill>
            <a:prstDash val="solid"/>
          </a:ln>
        </p:spPr>
      </p:sp>
      <p:sp>
        <p:nvSpPr>
          <p:cNvPr id="10" name="Text 8"/>
          <p:cNvSpPr/>
          <p:nvPr/>
        </p:nvSpPr>
        <p:spPr>
          <a:xfrm>
            <a:off x="45720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01</a:t>
            </a:r>
            <a:endParaRPr lang="en-US" sz="1800" dirty="0"/>
          </a:p>
        </p:txBody>
      </p:sp>
      <p:sp>
        <p:nvSpPr>
          <p:cNvPr id="11" name="Text 9"/>
          <p:cNvSpPr/>
          <p:nvPr/>
        </p:nvSpPr>
        <p:spPr>
          <a:xfrm>
            <a:off x="45720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IPO</a:t>
            </a:r>
            <a:endParaRPr lang="en-US" sz="1000" dirty="0"/>
          </a:p>
        </p:txBody>
      </p:sp>
      <p:sp>
        <p:nvSpPr>
          <p:cNvPr id="12" name="Text 10"/>
          <p:cNvSpPr/>
          <p:nvPr/>
        </p:nvSpPr>
        <p:spPr>
          <a:xfrm>
            <a:off x="45720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First listing. Private company goes public. Can be fresh issue + OFS. Requires DRHP, SEBI approval, book building.</a:t>
            </a:r>
            <a:endParaRPr lang="en-US" sz="850" dirty="0"/>
          </a:p>
        </p:txBody>
      </p:sp>
      <p:sp>
        <p:nvSpPr>
          <p:cNvPr id="13" name="Shape 11"/>
          <p:cNvSpPr/>
          <p:nvPr/>
        </p:nvSpPr>
        <p:spPr>
          <a:xfrm>
            <a:off x="250317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2503170" y="2331720"/>
            <a:ext cx="2000250" cy="64008"/>
          </a:xfrm>
          <a:prstGeom prst="rect">
            <a:avLst/>
          </a:prstGeom>
          <a:solidFill>
            <a:srgbClr val="101C4F"/>
          </a:solidFill>
          <a:ln w="12700">
            <a:solidFill>
              <a:srgbClr val="101C4F"/>
            </a:solidFill>
            <a:prstDash val="solid"/>
          </a:ln>
        </p:spPr>
      </p:sp>
      <p:sp>
        <p:nvSpPr>
          <p:cNvPr id="15" name="Text 13"/>
          <p:cNvSpPr/>
          <p:nvPr/>
        </p:nvSpPr>
        <p:spPr>
          <a:xfrm>
            <a:off x="259461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02</a:t>
            </a:r>
            <a:endParaRPr lang="en-US" sz="1800" dirty="0"/>
          </a:p>
        </p:txBody>
      </p:sp>
      <p:sp>
        <p:nvSpPr>
          <p:cNvPr id="16" name="Text 14"/>
          <p:cNvSpPr/>
          <p:nvPr/>
        </p:nvSpPr>
        <p:spPr>
          <a:xfrm>
            <a:off x="259461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FPO / Rights Issue</a:t>
            </a:r>
            <a:endParaRPr lang="en-US" sz="1000" dirty="0"/>
          </a:p>
        </p:txBody>
      </p:sp>
      <p:sp>
        <p:nvSpPr>
          <p:cNvPr id="17" name="Text 15"/>
          <p:cNvSpPr/>
          <p:nvPr/>
        </p:nvSpPr>
        <p:spPr>
          <a:xfrm>
            <a:off x="259461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FPO: listed company issues more shares publicly. Rights: existing holders get right to buy more at discount.</a:t>
            </a:r>
            <a:endParaRPr lang="en-US" sz="850" dirty="0"/>
          </a:p>
        </p:txBody>
      </p:sp>
      <p:sp>
        <p:nvSpPr>
          <p:cNvPr id="18" name="Shape 16"/>
          <p:cNvSpPr/>
          <p:nvPr/>
        </p:nvSpPr>
        <p:spPr>
          <a:xfrm>
            <a:off x="464058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4640580" y="2331720"/>
            <a:ext cx="2000250" cy="64008"/>
          </a:xfrm>
          <a:prstGeom prst="rect">
            <a:avLst/>
          </a:prstGeom>
          <a:solidFill>
            <a:srgbClr val="101C4F"/>
          </a:solidFill>
          <a:ln w="12700">
            <a:solidFill>
              <a:srgbClr val="101C4F"/>
            </a:solidFill>
            <a:prstDash val="solid"/>
          </a:ln>
        </p:spPr>
      </p:sp>
      <p:sp>
        <p:nvSpPr>
          <p:cNvPr id="20" name="Text 18"/>
          <p:cNvSpPr/>
          <p:nvPr/>
        </p:nvSpPr>
        <p:spPr>
          <a:xfrm>
            <a:off x="473202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03</a:t>
            </a:r>
            <a:endParaRPr lang="en-US" sz="1800" dirty="0"/>
          </a:p>
        </p:txBody>
      </p:sp>
      <p:sp>
        <p:nvSpPr>
          <p:cNvPr id="21" name="Text 19"/>
          <p:cNvSpPr/>
          <p:nvPr/>
        </p:nvSpPr>
        <p:spPr>
          <a:xfrm>
            <a:off x="473202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QIP / Private Placement</a:t>
            </a:r>
            <a:endParaRPr lang="en-US" sz="1000" dirty="0"/>
          </a:p>
        </p:txBody>
      </p:sp>
      <p:sp>
        <p:nvSpPr>
          <p:cNvPr id="22" name="Text 20"/>
          <p:cNvSpPr/>
          <p:nvPr/>
        </p:nvSpPr>
        <p:spPr>
          <a:xfrm>
            <a:off x="473202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Qualified Institutional Placement: fast capital raise for listed companies — only to QIBs, no SEBI DRHP needed.</a:t>
            </a:r>
            <a:endParaRPr lang="en-US" sz="850" dirty="0"/>
          </a:p>
        </p:txBody>
      </p:sp>
      <p:sp>
        <p:nvSpPr>
          <p:cNvPr id="23" name="Shape 21"/>
          <p:cNvSpPr/>
          <p:nvPr/>
        </p:nvSpPr>
        <p:spPr>
          <a:xfrm>
            <a:off x="677799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24" name="Shape 22"/>
          <p:cNvSpPr/>
          <p:nvPr/>
        </p:nvSpPr>
        <p:spPr>
          <a:xfrm>
            <a:off x="6777990" y="2331720"/>
            <a:ext cx="2000250" cy="64008"/>
          </a:xfrm>
          <a:prstGeom prst="rect">
            <a:avLst/>
          </a:prstGeom>
          <a:solidFill>
            <a:srgbClr val="101C4F"/>
          </a:solidFill>
          <a:ln w="12700">
            <a:solidFill>
              <a:srgbClr val="101C4F"/>
            </a:solidFill>
            <a:prstDash val="solid"/>
          </a:ln>
        </p:spPr>
      </p:sp>
      <p:sp>
        <p:nvSpPr>
          <p:cNvPr id="25" name="Text 23"/>
          <p:cNvSpPr/>
          <p:nvPr/>
        </p:nvSpPr>
        <p:spPr>
          <a:xfrm>
            <a:off x="686943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04</a:t>
            </a:r>
            <a:endParaRPr lang="en-US" sz="1800" dirty="0"/>
          </a:p>
        </p:txBody>
      </p:sp>
      <p:sp>
        <p:nvSpPr>
          <p:cNvPr id="26" name="Text 24"/>
          <p:cNvSpPr/>
          <p:nvPr/>
        </p:nvSpPr>
        <p:spPr>
          <a:xfrm>
            <a:off x="686943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OFS</a:t>
            </a:r>
            <a:endParaRPr lang="en-US" sz="1000" dirty="0"/>
          </a:p>
        </p:txBody>
      </p:sp>
      <p:sp>
        <p:nvSpPr>
          <p:cNvPr id="27" name="Text 25"/>
          <p:cNvSpPr/>
          <p:nvPr/>
        </p:nvSpPr>
        <p:spPr>
          <a:xfrm>
            <a:off x="686943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Offer for Sale: existing holders sell their own shares. Zero fresh capital to company. Common in PSU divestments.</a:t>
            </a:r>
            <a:endParaRPr lang="en-US" sz="850" dirty="0"/>
          </a:p>
        </p:txBody>
      </p:sp>
      <p:sp>
        <p:nvSpPr>
          <p:cNvPr id="28" name="Shape 26"/>
          <p:cNvSpPr/>
          <p:nvPr/>
        </p:nvSpPr>
        <p:spPr>
          <a:xfrm>
            <a:off x="0" y="4818888"/>
            <a:ext cx="2011680" cy="324612"/>
          </a:xfrm>
          <a:prstGeom prst="rect">
            <a:avLst/>
          </a:prstGeom>
          <a:solidFill>
            <a:srgbClr val="101C4F"/>
          </a:solidFill>
          <a:ln w="12700">
            <a:solidFill>
              <a:srgbClr val="101C4F"/>
            </a:solidFill>
            <a:prstDash val="solid"/>
          </a:ln>
        </p:spPr>
      </p:sp>
      <p:sp>
        <p:nvSpPr>
          <p:cNvPr id="29" name="Text 27"/>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D1.6</a:t>
            </a:r>
            <a:endParaRPr lang="en-US" sz="800" dirty="0"/>
          </a:p>
        </p:txBody>
      </p:sp>
      <p:sp>
        <p:nvSpPr>
          <p:cNvPr id="30" name="Text 28"/>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40</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GOING DEEPER</a:t>
            </a:r>
            <a:endParaRPr lang="en-US" sz="1000" dirty="0"/>
          </a:p>
        </p:txBody>
      </p:sp>
      <p:sp>
        <p:nvSpPr>
          <p:cNvPr id="4" name="Text 2"/>
          <p:cNvSpPr/>
          <p:nvPr/>
        </p:nvSpPr>
        <p:spPr>
          <a:xfrm>
            <a:off x="365760" y="777240"/>
            <a:ext cx="8412480" cy="457200"/>
          </a:xfrm>
          <a:prstGeom prst="rect">
            <a:avLst/>
          </a:prstGeom>
          <a:noFill/>
          <a:ln/>
        </p:spPr>
        <p:txBody>
          <a:bodyPr wrap="square" lIns="0" tIns="0" rIns="0" bIns="0" rtlCol="0" anchor="ctr"/>
          <a:lstStyle/>
          <a:p>
            <a:pPr indent="0" marL="0">
              <a:buNone/>
            </a:pPr>
            <a:r>
              <a:rPr lang="en-US" sz="1800" b="1" dirty="0">
                <a:solidFill>
                  <a:srgbClr val="101C4F"/>
                </a:solidFill>
              </a:rPr>
              <a:t>The IPO Process in India — Step by Step</a:t>
            </a:r>
            <a:endParaRPr lang="en-US" sz="1800" dirty="0"/>
          </a:p>
        </p:txBody>
      </p:sp>
      <p:sp>
        <p:nvSpPr>
          <p:cNvPr id="5" name="Shape 3"/>
          <p:cNvSpPr/>
          <p:nvPr/>
        </p:nvSpPr>
        <p:spPr>
          <a:xfrm>
            <a:off x="365760" y="1417320"/>
            <a:ext cx="4846320" cy="1005840"/>
          </a:xfrm>
          <a:prstGeom prst="rect">
            <a:avLst/>
          </a:prstGeom>
          <a:solidFill>
            <a:srgbClr val="F2F4F8"/>
          </a:solidFill>
          <a:ln w="12700">
            <a:solidFill>
              <a:srgbClr val="E0E4EE"/>
            </a:solidFill>
            <a:prstDash val="solid"/>
          </a:ln>
        </p:spPr>
      </p:sp>
      <p:sp>
        <p:nvSpPr>
          <p:cNvPr id="6" name="Shape 4"/>
          <p:cNvSpPr/>
          <p:nvPr/>
        </p:nvSpPr>
        <p:spPr>
          <a:xfrm>
            <a:off x="365760" y="1417320"/>
            <a:ext cx="73152" cy="1005840"/>
          </a:xfrm>
          <a:prstGeom prst="rect">
            <a:avLst/>
          </a:prstGeom>
          <a:solidFill>
            <a:srgbClr val="101C4F"/>
          </a:solidFill>
          <a:ln w="12700">
            <a:solidFill>
              <a:srgbClr val="101C4F"/>
            </a:solidFill>
            <a:prstDash val="solid"/>
          </a:ln>
        </p:spPr>
      </p:sp>
      <p:sp>
        <p:nvSpPr>
          <p:cNvPr id="7" name="Text 5"/>
          <p:cNvSpPr/>
          <p:nvPr/>
        </p:nvSpPr>
        <p:spPr>
          <a:xfrm>
            <a:off x="548640" y="1472184"/>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STEP 1-3: PREPARATION</a:t>
            </a:r>
            <a:endParaRPr lang="en-US" sz="1000" dirty="0"/>
          </a:p>
        </p:txBody>
      </p:sp>
      <p:sp>
        <p:nvSpPr>
          <p:cNvPr id="8" name="Text 6"/>
          <p:cNvSpPr/>
          <p:nvPr/>
        </p:nvSpPr>
        <p:spPr>
          <a:xfrm>
            <a:off x="548640" y="1764792"/>
            <a:ext cx="4480560" cy="566928"/>
          </a:xfrm>
          <a:prstGeom prst="rect">
            <a:avLst/>
          </a:prstGeom>
          <a:noFill/>
          <a:ln/>
        </p:spPr>
        <p:txBody>
          <a:bodyPr wrap="square" lIns="0" tIns="0" rIns="0" bIns="0" rtlCol="0" anchor="ctr"/>
          <a:lstStyle/>
          <a:p>
            <a:pPr indent="0" marL="0">
              <a:buNone/>
            </a:pPr>
            <a:r>
              <a:rPr lang="en-US" sz="900" dirty="0">
                <a:solidFill>
                  <a:srgbClr val="1A2340"/>
                </a:solidFill>
              </a:rPr>
              <a:t>Company hires investment banks (Book Running Lead Managers). DRHP filed with SEBI. SEBI review: typically 30-75 days, queries, revisions.</a:t>
            </a:r>
            <a:endParaRPr lang="en-US" sz="900" dirty="0"/>
          </a:p>
        </p:txBody>
      </p:sp>
      <p:sp>
        <p:nvSpPr>
          <p:cNvPr id="9" name="Shape 7"/>
          <p:cNvSpPr/>
          <p:nvPr/>
        </p:nvSpPr>
        <p:spPr>
          <a:xfrm>
            <a:off x="365760" y="2532888"/>
            <a:ext cx="4846320" cy="1005840"/>
          </a:xfrm>
          <a:prstGeom prst="rect">
            <a:avLst/>
          </a:prstGeom>
          <a:solidFill>
            <a:srgbClr val="F2F4F8"/>
          </a:solidFill>
          <a:ln w="12700">
            <a:solidFill>
              <a:srgbClr val="E0E4EE"/>
            </a:solidFill>
            <a:prstDash val="solid"/>
          </a:ln>
        </p:spPr>
      </p:sp>
      <p:sp>
        <p:nvSpPr>
          <p:cNvPr id="10" name="Shape 8"/>
          <p:cNvSpPr/>
          <p:nvPr/>
        </p:nvSpPr>
        <p:spPr>
          <a:xfrm>
            <a:off x="365760" y="2532888"/>
            <a:ext cx="73152" cy="1005840"/>
          </a:xfrm>
          <a:prstGeom prst="rect">
            <a:avLst/>
          </a:prstGeom>
          <a:solidFill>
            <a:srgbClr val="101C4F"/>
          </a:solidFill>
          <a:ln w="12700">
            <a:solidFill>
              <a:srgbClr val="101C4F"/>
            </a:solidFill>
            <a:prstDash val="solid"/>
          </a:ln>
        </p:spPr>
      </p:sp>
      <p:sp>
        <p:nvSpPr>
          <p:cNvPr id="11" name="Text 9"/>
          <p:cNvSpPr/>
          <p:nvPr/>
        </p:nvSpPr>
        <p:spPr>
          <a:xfrm>
            <a:off x="548640" y="2587752"/>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STEP 4-6: MARKETING</a:t>
            </a:r>
            <a:endParaRPr lang="en-US" sz="1000" dirty="0"/>
          </a:p>
        </p:txBody>
      </p:sp>
      <p:sp>
        <p:nvSpPr>
          <p:cNvPr id="12" name="Text 10"/>
          <p:cNvSpPr/>
          <p:nvPr/>
        </p:nvSpPr>
        <p:spPr>
          <a:xfrm>
            <a:off x="548640" y="2880360"/>
            <a:ext cx="4480560" cy="566928"/>
          </a:xfrm>
          <a:prstGeom prst="rect">
            <a:avLst/>
          </a:prstGeom>
          <a:noFill/>
          <a:ln/>
        </p:spPr>
        <p:txBody>
          <a:bodyPr wrap="square" lIns="0" tIns="0" rIns="0" bIns="0" rtlCol="0" anchor="ctr"/>
          <a:lstStyle/>
          <a:p>
            <a:pPr indent="0" marL="0">
              <a:buNone/>
            </a:pPr>
            <a:r>
              <a:rPr lang="en-US" sz="900" dirty="0">
                <a:solidFill>
                  <a:srgbClr val="1A2340"/>
                </a:solidFill>
              </a:rPr>
              <a:t>Roadshow: management meets FIIs in Mumbai, Singapore, London, NY. Anchor investors (QIBs) allocated 30% before retail opens — sets market sentiment.</a:t>
            </a:r>
            <a:endParaRPr lang="en-US" sz="900" dirty="0"/>
          </a:p>
        </p:txBody>
      </p:sp>
      <p:sp>
        <p:nvSpPr>
          <p:cNvPr id="13" name="Shape 11"/>
          <p:cNvSpPr/>
          <p:nvPr/>
        </p:nvSpPr>
        <p:spPr>
          <a:xfrm>
            <a:off x="365760" y="3648456"/>
            <a:ext cx="4846320" cy="1005840"/>
          </a:xfrm>
          <a:prstGeom prst="rect">
            <a:avLst/>
          </a:prstGeom>
          <a:solidFill>
            <a:srgbClr val="F2F4F8"/>
          </a:solidFill>
          <a:ln w="12700">
            <a:solidFill>
              <a:srgbClr val="E0E4EE"/>
            </a:solidFill>
            <a:prstDash val="solid"/>
          </a:ln>
        </p:spPr>
      </p:sp>
      <p:sp>
        <p:nvSpPr>
          <p:cNvPr id="14" name="Shape 12"/>
          <p:cNvSpPr/>
          <p:nvPr/>
        </p:nvSpPr>
        <p:spPr>
          <a:xfrm>
            <a:off x="365760" y="3648456"/>
            <a:ext cx="73152" cy="1005840"/>
          </a:xfrm>
          <a:prstGeom prst="rect">
            <a:avLst/>
          </a:prstGeom>
          <a:solidFill>
            <a:srgbClr val="101C4F"/>
          </a:solidFill>
          <a:ln w="12700">
            <a:solidFill>
              <a:srgbClr val="101C4F"/>
            </a:solidFill>
            <a:prstDash val="solid"/>
          </a:ln>
        </p:spPr>
      </p:sp>
      <p:sp>
        <p:nvSpPr>
          <p:cNvPr id="15" name="Text 13"/>
          <p:cNvSpPr/>
          <p:nvPr/>
        </p:nvSpPr>
        <p:spPr>
          <a:xfrm>
            <a:off x="548640" y="3703320"/>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STEP 7-10: SUBSCRIPTION &amp; LISTING</a:t>
            </a:r>
            <a:endParaRPr lang="en-US" sz="1000" dirty="0"/>
          </a:p>
        </p:txBody>
      </p:sp>
      <p:sp>
        <p:nvSpPr>
          <p:cNvPr id="16" name="Text 14"/>
          <p:cNvSpPr/>
          <p:nvPr/>
        </p:nvSpPr>
        <p:spPr>
          <a:xfrm>
            <a:off x="548640" y="3995928"/>
            <a:ext cx="4480560" cy="566928"/>
          </a:xfrm>
          <a:prstGeom prst="rect">
            <a:avLst/>
          </a:prstGeom>
          <a:noFill/>
          <a:ln/>
        </p:spPr>
        <p:txBody>
          <a:bodyPr wrap="square" lIns="0" tIns="0" rIns="0" bIns="0" rtlCol="0" anchor="ctr"/>
          <a:lstStyle/>
          <a:p>
            <a:pPr indent="0" marL="0">
              <a:buNone/>
            </a:pPr>
            <a:r>
              <a:rPr lang="en-US" sz="900" dirty="0">
                <a:solidFill>
                  <a:srgbClr val="1A2340"/>
                </a:solidFill>
              </a:rPr>
              <a:t>3-day subscription window. ASBA: retail funds blocked, not debited. Allotment within 6 days. Refunds. Listing on T+6 from close.</a:t>
            </a:r>
            <a:endParaRPr lang="en-US" sz="900" dirty="0"/>
          </a:p>
        </p:txBody>
      </p:sp>
      <p:sp>
        <p:nvSpPr>
          <p:cNvPr id="17" name="Shape 15"/>
          <p:cNvSpPr/>
          <p:nvPr/>
        </p:nvSpPr>
        <p:spPr>
          <a:xfrm>
            <a:off x="5394960" y="1417320"/>
            <a:ext cx="3383280" cy="2532888"/>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2000"/>
              </a:srgbClr>
            </a:outerShdw>
          </a:effectLst>
        </p:spPr>
      </p:sp>
      <p:sp>
        <p:nvSpPr>
          <p:cNvPr id="18" name="Text 16"/>
          <p:cNvSpPr/>
          <p:nvPr/>
        </p:nvSpPr>
        <p:spPr>
          <a:xfrm>
            <a:off x="5532120" y="1554480"/>
            <a:ext cx="3108960" cy="347472"/>
          </a:xfrm>
          <a:prstGeom prst="rect">
            <a:avLst/>
          </a:prstGeom>
          <a:noFill/>
          <a:ln/>
        </p:spPr>
        <p:txBody>
          <a:bodyPr wrap="square" lIns="0" tIns="0" rIns="0" bIns="0" rtlCol="0" anchor="ctr"/>
          <a:lstStyle/>
          <a:p>
            <a:pPr indent="0" marL="0">
              <a:buNone/>
            </a:pPr>
            <a:r>
              <a:rPr lang="en-US" sz="1000" b="1" spc="100" kern="0" dirty="0">
                <a:solidFill>
                  <a:srgbClr val="F0A800"/>
                </a:solidFill>
              </a:rPr>
              <a:t>ASBA — KEY MECHANISM</a:t>
            </a:r>
            <a:endParaRPr lang="en-US" sz="1000" dirty="0"/>
          </a:p>
        </p:txBody>
      </p:sp>
      <p:sp>
        <p:nvSpPr>
          <p:cNvPr id="19" name="Text 17"/>
          <p:cNvSpPr/>
          <p:nvPr/>
        </p:nvSpPr>
        <p:spPr>
          <a:xfrm>
            <a:off x="5532120" y="1938528"/>
            <a:ext cx="3108960" cy="1920240"/>
          </a:xfrm>
          <a:prstGeom prst="rect">
            <a:avLst/>
          </a:prstGeom>
          <a:noFill/>
          <a:ln/>
        </p:spPr>
        <p:txBody>
          <a:bodyPr wrap="square" lIns="0" tIns="0" rIns="0" bIns="0" rtlCol="0" anchor="ctr"/>
          <a:lstStyle/>
          <a:p>
            <a:pPr indent="0" marL="0">
              <a:buNone/>
            </a:pPr>
            <a:r>
              <a:rPr lang="en-US" sz="950" dirty="0">
                <a:solidFill>
                  <a:srgbClr val="FFFFFF"/>
                </a:solidFill>
              </a:rPr>
              <a:t>Application Supported by Blocked Amount:</a:t>
            </a:r>
            <a:endParaRPr lang="en-US" sz="950" dirty="0"/>
          </a:p>
          <a:p>
            <a:pPr indent="0" marL="0">
              <a:buNone/>
            </a:pPr>
            <a:endParaRPr lang="en-US" sz="950" dirty="0"/>
          </a:p>
          <a:p>
            <a:pPr indent="0" marL="0">
              <a:buNone/>
            </a:pPr>
            <a:r>
              <a:rPr lang="en-US" sz="950" dirty="0">
                <a:solidFill>
                  <a:srgbClr val="FFFFFF"/>
                </a:solidFill>
              </a:rPr>
              <a:t>Kavi applies for ₹14,000 LIC shares.</a:t>
            </a:r>
            <a:endParaRPr lang="en-US" sz="950" dirty="0"/>
          </a:p>
          <a:p>
            <a:pPr indent="0" marL="0">
              <a:buNone/>
            </a:pPr>
            <a:r>
              <a:rPr lang="en-US" sz="950" dirty="0">
                <a:solidFill>
                  <a:srgbClr val="FFFFFF"/>
                </a:solidFill>
              </a:rPr>
              <a:t>Bank blocks ₹14,000 in his SB A/c.</a:t>
            </a:r>
            <a:endParaRPr lang="en-US" sz="950" dirty="0"/>
          </a:p>
          <a:p>
            <a:pPr indent="0" marL="0">
              <a:buNone/>
            </a:pPr>
            <a:r>
              <a:rPr lang="en-US" sz="950" dirty="0">
                <a:solidFill>
                  <a:srgbClr val="FFFFFF"/>
                </a:solidFill>
              </a:rPr>
              <a:t>Kavi still earns interest.</a:t>
            </a:r>
            <a:endParaRPr lang="en-US" sz="950" dirty="0"/>
          </a:p>
          <a:p>
            <a:pPr indent="0" marL="0">
              <a:buNone/>
            </a:pPr>
            <a:r>
              <a:rPr lang="en-US" sz="950" dirty="0">
                <a:solidFill>
                  <a:srgbClr val="FFFFFF"/>
                </a:solidFill>
              </a:rPr>
              <a:t>If allotted: ₹14,000 debited.</a:t>
            </a:r>
            <a:endParaRPr lang="en-US" sz="950" dirty="0"/>
          </a:p>
          <a:p>
            <a:pPr indent="0" marL="0">
              <a:buNone/>
            </a:pPr>
            <a:r>
              <a:rPr lang="en-US" sz="950" dirty="0">
                <a:solidFill>
                  <a:srgbClr val="FFFFFF"/>
                </a:solidFill>
              </a:rPr>
              <a:t>If not allotted: block released.</a:t>
            </a:r>
            <a:endParaRPr lang="en-US" sz="950" dirty="0"/>
          </a:p>
          <a:p>
            <a:pPr indent="0" marL="0">
              <a:buNone/>
            </a:pPr>
            <a:endParaRPr lang="en-US" sz="950" dirty="0"/>
          </a:p>
          <a:p>
            <a:pPr indent="0" marL="0">
              <a:buNone/>
            </a:pPr>
            <a:r>
              <a:rPr lang="en-US" sz="950" dirty="0">
                <a:solidFill>
                  <a:srgbClr val="FFFFFF"/>
                </a:solidFill>
              </a:rPr>
              <a:t>No lock-up of capital!</a:t>
            </a:r>
            <a:endParaRPr lang="en-US" sz="950" dirty="0"/>
          </a:p>
          <a:p>
            <a:pPr indent="0" marL="0">
              <a:buNone/>
            </a:pPr>
            <a:endParaRPr lang="en-US" sz="950" dirty="0"/>
          </a:p>
          <a:p>
            <a:pPr indent="0" marL="0">
              <a:buNone/>
            </a:pPr>
            <a:r>
              <a:rPr lang="en-US" sz="950" dirty="0">
                <a:solidFill>
                  <a:srgbClr val="FFFFFF"/>
                </a:solidFill>
              </a:rPr>
              <a:t>'SEBI made ASBA mandatory in 2016 — protecting retail investors who used to lose interest on their application money for days.'</a:t>
            </a:r>
            <a:endParaRPr lang="en-US" sz="950" dirty="0"/>
          </a:p>
        </p:txBody>
      </p:sp>
      <p:sp>
        <p:nvSpPr>
          <p:cNvPr id="20" name="Shape 18"/>
          <p:cNvSpPr/>
          <p:nvPr/>
        </p:nvSpPr>
        <p:spPr>
          <a:xfrm>
            <a:off x="0" y="4818888"/>
            <a:ext cx="2011680" cy="324612"/>
          </a:xfrm>
          <a:prstGeom prst="rect">
            <a:avLst/>
          </a:prstGeom>
          <a:solidFill>
            <a:srgbClr val="101C4F"/>
          </a:solidFill>
          <a:ln w="12700">
            <a:solidFill>
              <a:srgbClr val="101C4F"/>
            </a:solidFill>
            <a:prstDash val="solid"/>
          </a:ln>
        </p:spPr>
      </p:sp>
      <p:sp>
        <p:nvSpPr>
          <p:cNvPr id="21" name="Text 19"/>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D1.6</a:t>
            </a:r>
            <a:endParaRPr lang="en-US" sz="800" dirty="0"/>
          </a:p>
        </p:txBody>
      </p:sp>
      <p:sp>
        <p:nvSpPr>
          <p:cNvPr id="22" name="Text 20"/>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41</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101C4F"/>
                </a:solidFill>
              </a:rPr>
              <a:t>💬  THINK &amp; DISCUSS</a:t>
            </a:r>
            <a:endParaRPr lang="en-US" sz="1000" dirty="0"/>
          </a:p>
        </p:txBody>
      </p:sp>
      <p:sp>
        <p:nvSpPr>
          <p:cNvPr id="4" name="Text 2"/>
          <p:cNvSpPr/>
          <p:nvPr/>
        </p:nvSpPr>
        <p:spPr>
          <a:xfrm>
            <a:off x="457200" y="822960"/>
            <a:ext cx="8229600" cy="777240"/>
          </a:xfrm>
          <a:prstGeom prst="rect">
            <a:avLst/>
          </a:prstGeom>
          <a:noFill/>
          <a:ln/>
        </p:spPr>
        <p:txBody>
          <a:bodyPr wrap="square" lIns="0" tIns="0" rIns="0" bIns="0" rtlCol="0" anchor="ctr"/>
          <a:lstStyle/>
          <a:p>
            <a:pPr algn="ctr" indent="0" marL="0">
              <a:buNone/>
            </a:pPr>
            <a:r>
              <a:rPr lang="en-US" sz="1500" b="1" dirty="0">
                <a:solidFill>
                  <a:srgbClr val="101C4F"/>
                </a:solidFill>
              </a:rPr>
              <a:t>Should the Government use IPOs/OFS to fund its fiscal deficit?</a:t>
            </a:r>
            <a:endParaRPr lang="en-US" sz="1500" dirty="0"/>
          </a:p>
        </p:txBody>
      </p:sp>
      <p:sp>
        <p:nvSpPr>
          <p:cNvPr id="5" name="Shape 3"/>
          <p:cNvSpPr/>
          <p:nvPr/>
        </p:nvSpPr>
        <p:spPr>
          <a:xfrm>
            <a:off x="4572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457200" y="1737360"/>
            <a:ext cx="3977640" cy="73152"/>
          </a:xfrm>
          <a:prstGeom prst="rect">
            <a:avLst/>
          </a:prstGeom>
          <a:solidFill>
            <a:srgbClr val="007A87"/>
          </a:solidFill>
          <a:ln w="12700">
            <a:solidFill>
              <a:srgbClr val="007A87"/>
            </a:solidFill>
            <a:prstDash val="solid"/>
          </a:ln>
        </p:spPr>
      </p:sp>
      <p:sp>
        <p:nvSpPr>
          <p:cNvPr id="7" name="Text 5"/>
          <p:cNvSpPr/>
          <p:nvPr/>
        </p:nvSpPr>
        <p:spPr>
          <a:xfrm>
            <a:off x="594360" y="1828800"/>
            <a:ext cx="3657600" cy="320040"/>
          </a:xfrm>
          <a:prstGeom prst="rect">
            <a:avLst/>
          </a:prstGeom>
          <a:noFill/>
          <a:ln/>
        </p:spPr>
        <p:txBody>
          <a:bodyPr wrap="square" lIns="0" tIns="0" rIns="0" bIns="0" rtlCol="0" anchor="ctr"/>
          <a:lstStyle/>
          <a:p>
            <a:pPr indent="0" marL="0">
              <a:buNone/>
            </a:pPr>
            <a:r>
              <a:rPr lang="en-US" sz="1000" b="1" dirty="0">
                <a:solidFill>
                  <a:srgbClr val="007A87"/>
                </a:solidFill>
              </a:rPr>
              <a:t>🟢 YES — DIVESTMENT IS SMART</a:t>
            </a:r>
            <a:endParaRPr lang="en-US" sz="1000" dirty="0"/>
          </a:p>
        </p:txBody>
      </p:sp>
      <p:sp>
        <p:nvSpPr>
          <p:cNvPr id="8" name="Text 6"/>
          <p:cNvSpPr/>
          <p:nvPr/>
        </p:nvSpPr>
        <p:spPr>
          <a:xfrm>
            <a:off x="5943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Monetises unproductive government assets. Improves corporate governance (public scrutiny). Develops capital markets. Reduces fiscal deficit without increasing debt.</a:t>
            </a:r>
            <a:endParaRPr lang="en-US" sz="950" dirty="0"/>
          </a:p>
        </p:txBody>
      </p:sp>
      <p:sp>
        <p:nvSpPr>
          <p:cNvPr id="9" name="Shape 7"/>
          <p:cNvSpPr/>
          <p:nvPr/>
        </p:nvSpPr>
        <p:spPr>
          <a:xfrm>
            <a:off x="48006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4800600" y="1737360"/>
            <a:ext cx="3977640" cy="73152"/>
          </a:xfrm>
          <a:prstGeom prst="rect">
            <a:avLst/>
          </a:prstGeom>
          <a:solidFill>
            <a:srgbClr val="101C4F"/>
          </a:solidFill>
          <a:ln w="12700">
            <a:solidFill>
              <a:srgbClr val="101C4F"/>
            </a:solidFill>
            <a:prstDash val="solid"/>
          </a:ln>
        </p:spPr>
      </p:sp>
      <p:sp>
        <p:nvSpPr>
          <p:cNvPr id="11" name="Text 9"/>
          <p:cNvSpPr/>
          <p:nvPr/>
        </p:nvSpPr>
        <p:spPr>
          <a:xfrm>
            <a:off x="4937760" y="1828800"/>
            <a:ext cx="3657600" cy="320040"/>
          </a:xfrm>
          <a:prstGeom prst="rect">
            <a:avLst/>
          </a:prstGeom>
          <a:noFill/>
          <a:ln/>
        </p:spPr>
        <p:txBody>
          <a:bodyPr wrap="square" lIns="0" tIns="0" rIns="0" bIns="0" rtlCol="0" anchor="ctr"/>
          <a:lstStyle/>
          <a:p>
            <a:pPr indent="0" marL="0">
              <a:buNone/>
            </a:pPr>
            <a:r>
              <a:rPr lang="en-US" sz="1000" b="1" dirty="0">
                <a:solidFill>
                  <a:srgbClr val="101C4F"/>
                </a:solidFill>
              </a:rPr>
              <a:t>🔴 NO — STRATEGIC ASSETS</a:t>
            </a:r>
            <a:endParaRPr lang="en-US" sz="1000" dirty="0"/>
          </a:p>
        </p:txBody>
      </p:sp>
      <p:sp>
        <p:nvSpPr>
          <p:cNvPr id="12" name="Text 10"/>
          <p:cNvSpPr/>
          <p:nvPr/>
        </p:nvSpPr>
        <p:spPr>
          <a:xfrm>
            <a:off x="49377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LIC, BPCL, Coal India — these are national assets. Selling stakes means permanent revenue loss. Strategic sectors shouldn't be market-dependent.</a:t>
            </a:r>
            <a:endParaRPr lang="en-US" sz="950" dirty="0"/>
          </a:p>
        </p:txBody>
      </p:sp>
      <p:sp>
        <p:nvSpPr>
          <p:cNvPr id="13" name="Shape 11"/>
          <p:cNvSpPr/>
          <p:nvPr/>
        </p:nvSpPr>
        <p:spPr>
          <a:xfrm>
            <a:off x="457200" y="3337560"/>
            <a:ext cx="8229600" cy="777240"/>
          </a:xfrm>
          <a:prstGeom prst="rect">
            <a:avLst/>
          </a:prstGeom>
          <a:solidFill>
            <a:srgbClr val="007A87"/>
          </a:solidFill>
          <a:ln w="12700">
            <a:solidFill>
              <a:srgbClr val="007A87"/>
            </a:solidFill>
            <a:prstDash val="solid"/>
          </a:ln>
        </p:spPr>
      </p:sp>
      <p:sp>
        <p:nvSpPr>
          <p:cNvPr id="14" name="Text 12"/>
          <p:cNvSpPr/>
          <p:nvPr/>
        </p:nvSpPr>
        <p:spPr>
          <a:xfrm>
            <a:off x="640080" y="3337560"/>
            <a:ext cx="7863840" cy="777240"/>
          </a:xfrm>
          <a:prstGeom prst="rect">
            <a:avLst/>
          </a:prstGeom>
          <a:noFill/>
          <a:ln/>
        </p:spPr>
        <p:txBody>
          <a:bodyPr wrap="square" lIns="0" tIns="0" rIns="0" bIns="0" rtlCol="0" anchor="ctr"/>
          <a:lstStyle/>
          <a:p>
            <a:pPr indent="0" marL="0">
              <a:buNone/>
            </a:pPr>
            <a:r>
              <a:rPr lang="en-US" sz="1000" dirty="0">
                <a:solidFill>
                  <a:srgbClr val="FFFFFF"/>
                </a:solidFill>
              </a:rPr>
              <a:t>💡 India's divestment programme has raised ₹4+ lakh crore since 1991. FY24 target was ₹51,000 crore, achieved ₹16,507 crore. Execution is hard — market timing, political sensitivity, and valuation disputes slow the process.</a:t>
            </a:r>
            <a:endParaRPr lang="en-US" sz="1000" dirty="0"/>
          </a:p>
        </p:txBody>
      </p:sp>
      <p:sp>
        <p:nvSpPr>
          <p:cNvPr id="15" name="Shape 13"/>
          <p:cNvSpPr/>
          <p:nvPr/>
        </p:nvSpPr>
        <p:spPr>
          <a:xfrm>
            <a:off x="0" y="4818888"/>
            <a:ext cx="2011680" cy="324612"/>
          </a:xfrm>
          <a:prstGeom prst="rect">
            <a:avLst/>
          </a:prstGeom>
          <a:solidFill>
            <a:srgbClr val="101C4F"/>
          </a:solidFill>
          <a:ln w="12700">
            <a:solidFill>
              <a:srgbClr val="101C4F"/>
            </a:solidFill>
            <a:prstDash val="solid"/>
          </a:ln>
        </p:spPr>
      </p:sp>
      <p:sp>
        <p:nvSpPr>
          <p:cNvPr id="16" name="Text 14"/>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D1.6</a:t>
            </a:r>
            <a:endParaRPr lang="en-US" sz="800" dirty="0"/>
          </a:p>
        </p:txBody>
      </p:sp>
      <p:sp>
        <p:nvSpPr>
          <p:cNvPr id="17" name="Text 15"/>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42</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INTERVIEW READY</a:t>
            </a:r>
            <a:endParaRPr lang="en-US" sz="1000" dirty="0"/>
          </a:p>
        </p:txBody>
      </p:sp>
      <p:sp>
        <p:nvSpPr>
          <p:cNvPr id="4" name="Text 2"/>
          <p:cNvSpPr/>
          <p:nvPr/>
        </p:nvSpPr>
        <p:spPr>
          <a:xfrm>
            <a:off x="365760" y="777240"/>
            <a:ext cx="8412480" cy="384048"/>
          </a:xfrm>
          <a:prstGeom prst="rect">
            <a:avLst/>
          </a:prstGeom>
          <a:noFill/>
          <a:ln/>
        </p:spPr>
        <p:txBody>
          <a:bodyPr wrap="square" lIns="0" tIns="0" rIns="0" bIns="0" rtlCol="0" anchor="ctr"/>
          <a:lstStyle/>
          <a:p>
            <a:pPr indent="0" marL="0">
              <a:buNone/>
            </a:pPr>
            <a:r>
              <a:rPr lang="en-US" sz="1200" i="1" dirty="0">
                <a:solidFill>
                  <a:srgbClr val="4A5568"/>
                </a:solidFill>
              </a:rPr>
              <a:t>Questions you WILL get asked — know these cold.</a:t>
            </a:r>
            <a:endParaRPr lang="en-US" sz="1200" dirty="0"/>
          </a:p>
        </p:txBody>
      </p:sp>
      <p:sp>
        <p:nvSpPr>
          <p:cNvPr id="5" name="Shape 3"/>
          <p:cNvSpPr/>
          <p:nvPr/>
        </p:nvSpPr>
        <p:spPr>
          <a:xfrm>
            <a:off x="365760" y="128016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65760" y="1280160"/>
            <a:ext cx="73152" cy="987552"/>
          </a:xfrm>
          <a:prstGeom prst="rect">
            <a:avLst/>
          </a:prstGeom>
          <a:solidFill>
            <a:srgbClr val="F0A800"/>
          </a:solidFill>
          <a:ln w="12700">
            <a:solidFill>
              <a:srgbClr val="F0A800"/>
            </a:solidFill>
            <a:prstDash val="solid"/>
          </a:ln>
        </p:spPr>
      </p:sp>
      <p:sp>
        <p:nvSpPr>
          <p:cNvPr id="7" name="Text 5"/>
          <p:cNvSpPr/>
          <p:nvPr/>
        </p:nvSpPr>
        <p:spPr>
          <a:xfrm>
            <a:off x="548640" y="133502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Q1: What is the difference between an IPO fresh issue and an OFS?</a:t>
            </a:r>
            <a:endParaRPr lang="en-US" sz="1000" dirty="0"/>
          </a:p>
        </p:txBody>
      </p:sp>
      <p:sp>
        <p:nvSpPr>
          <p:cNvPr id="8" name="Text 6"/>
          <p:cNvSpPr/>
          <p:nvPr/>
        </p:nvSpPr>
        <p:spPr>
          <a:xfrm>
            <a:off x="548640" y="1682496"/>
            <a:ext cx="8046720" cy="530352"/>
          </a:xfrm>
          <a:prstGeom prst="rect">
            <a:avLst/>
          </a:prstGeom>
          <a:noFill/>
          <a:ln/>
        </p:spPr>
        <p:txBody>
          <a:bodyPr wrap="square" lIns="0" tIns="0" rIns="0" bIns="0" rtlCol="0" anchor="ctr"/>
          <a:lstStyle/>
          <a:p>
            <a:pPr indent="0" marL="0">
              <a:buNone/>
            </a:pPr>
            <a:r>
              <a:rPr lang="en-US" sz="950" dirty="0">
                <a:solidFill>
                  <a:srgbClr val="1A2340"/>
                </a:solidFill>
              </a:rPr>
              <a:t>→ Fresh issue: company creates new shares and sells them — proceeds go to the company for expansion, debt repayment etc. OFS: existing shareholders sell their own shares — proceeds go to the sellers, company receives nothing.</a:t>
            </a:r>
            <a:endParaRPr lang="en-US" sz="950" dirty="0"/>
          </a:p>
        </p:txBody>
      </p:sp>
      <p:sp>
        <p:nvSpPr>
          <p:cNvPr id="9" name="Shape 7"/>
          <p:cNvSpPr/>
          <p:nvPr/>
        </p:nvSpPr>
        <p:spPr>
          <a:xfrm>
            <a:off x="365760" y="237744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365760" y="2377440"/>
            <a:ext cx="73152" cy="987552"/>
          </a:xfrm>
          <a:prstGeom prst="rect">
            <a:avLst/>
          </a:prstGeom>
          <a:solidFill>
            <a:srgbClr val="F0A800"/>
          </a:solidFill>
          <a:ln w="12700">
            <a:solidFill>
              <a:srgbClr val="F0A800"/>
            </a:solidFill>
            <a:prstDash val="solid"/>
          </a:ln>
        </p:spPr>
      </p:sp>
      <p:sp>
        <p:nvSpPr>
          <p:cNvPr id="11" name="Text 9"/>
          <p:cNvSpPr/>
          <p:nvPr/>
        </p:nvSpPr>
        <p:spPr>
          <a:xfrm>
            <a:off x="548640" y="243230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Q2: What is ASBA and why was it introduced?</a:t>
            </a:r>
            <a:endParaRPr lang="en-US" sz="1000" dirty="0"/>
          </a:p>
        </p:txBody>
      </p:sp>
      <p:sp>
        <p:nvSpPr>
          <p:cNvPr id="12" name="Text 10"/>
          <p:cNvSpPr/>
          <p:nvPr/>
        </p:nvSpPr>
        <p:spPr>
          <a:xfrm>
            <a:off x="548640" y="2779776"/>
            <a:ext cx="8046720" cy="530352"/>
          </a:xfrm>
          <a:prstGeom prst="rect">
            <a:avLst/>
          </a:prstGeom>
          <a:noFill/>
          <a:ln/>
        </p:spPr>
        <p:txBody>
          <a:bodyPr wrap="square" lIns="0" tIns="0" rIns="0" bIns="0" rtlCol="0" anchor="ctr"/>
          <a:lstStyle/>
          <a:p>
            <a:pPr indent="0" marL="0">
              <a:buNone/>
            </a:pPr>
            <a:r>
              <a:rPr lang="en-US" sz="950" dirty="0">
                <a:solidFill>
                  <a:srgbClr val="1A2340"/>
                </a:solidFill>
              </a:rPr>
              <a:t>→ Application Supported by Blocked Amount — SEBI mechanism where IPO application funds are blocked (not debited) in the investor's bank account until allotment. Protects investor from losing interest on application money. Made mandatory in 2016.</a:t>
            </a:r>
            <a:endParaRPr lang="en-US" sz="950" dirty="0"/>
          </a:p>
        </p:txBody>
      </p:sp>
      <p:sp>
        <p:nvSpPr>
          <p:cNvPr id="13" name="Shape 11"/>
          <p:cNvSpPr/>
          <p:nvPr/>
        </p:nvSpPr>
        <p:spPr>
          <a:xfrm>
            <a:off x="365760" y="347472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365760" y="3474720"/>
            <a:ext cx="73152" cy="987552"/>
          </a:xfrm>
          <a:prstGeom prst="rect">
            <a:avLst/>
          </a:prstGeom>
          <a:solidFill>
            <a:srgbClr val="F0A800"/>
          </a:solidFill>
          <a:ln w="12700">
            <a:solidFill>
              <a:srgbClr val="F0A800"/>
            </a:solidFill>
            <a:prstDash val="solid"/>
          </a:ln>
        </p:spPr>
      </p:sp>
      <p:sp>
        <p:nvSpPr>
          <p:cNvPr id="15" name="Text 13"/>
          <p:cNvSpPr/>
          <p:nvPr/>
        </p:nvSpPr>
        <p:spPr>
          <a:xfrm>
            <a:off x="548640" y="352958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Q3: What is book building in an IPO?</a:t>
            </a:r>
            <a:endParaRPr lang="en-US" sz="1000" dirty="0"/>
          </a:p>
        </p:txBody>
      </p:sp>
      <p:sp>
        <p:nvSpPr>
          <p:cNvPr id="16" name="Text 14"/>
          <p:cNvSpPr/>
          <p:nvPr/>
        </p:nvSpPr>
        <p:spPr>
          <a:xfrm>
            <a:off x="548640" y="3877056"/>
            <a:ext cx="8046720" cy="530352"/>
          </a:xfrm>
          <a:prstGeom prst="rect">
            <a:avLst/>
          </a:prstGeom>
          <a:noFill/>
          <a:ln/>
        </p:spPr>
        <p:txBody>
          <a:bodyPr wrap="square" lIns="0" tIns="0" rIns="0" bIns="0" rtlCol="0" anchor="ctr"/>
          <a:lstStyle/>
          <a:p>
            <a:pPr indent="0" marL="0">
              <a:buNone/>
            </a:pPr>
            <a:r>
              <a:rPr lang="en-US" sz="950" dirty="0">
                <a:solidFill>
                  <a:srgbClr val="1A2340"/>
                </a:solidFill>
              </a:rPr>
              <a:t>→ Price discovery mechanism where investors bid within a price band (e.g. ₹300-320 per share). The demand at different price points is aggregated. The final issue price is set based on where sufficient demand exists — typically the cut-off price.</a:t>
            </a:r>
            <a:endParaRPr lang="en-US" sz="950" dirty="0"/>
          </a:p>
        </p:txBody>
      </p:sp>
      <p:sp>
        <p:nvSpPr>
          <p:cNvPr id="17" name="Shape 15"/>
          <p:cNvSpPr/>
          <p:nvPr/>
        </p:nvSpPr>
        <p:spPr>
          <a:xfrm>
            <a:off x="0" y="4818888"/>
            <a:ext cx="2011680" cy="324612"/>
          </a:xfrm>
          <a:prstGeom prst="rect">
            <a:avLst/>
          </a:prstGeom>
          <a:solidFill>
            <a:srgbClr val="101C4F"/>
          </a:solidFill>
          <a:ln w="12700">
            <a:solidFill>
              <a:srgbClr val="101C4F"/>
            </a:solidFill>
            <a:prstDash val="solid"/>
          </a:ln>
        </p:spPr>
      </p:sp>
      <p:sp>
        <p:nvSpPr>
          <p:cNvPr id="18" name="Text 16"/>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D1.6</a:t>
            </a:r>
            <a:endParaRPr lang="en-US" sz="800" dirty="0"/>
          </a:p>
        </p:txBody>
      </p:sp>
      <p:sp>
        <p:nvSpPr>
          <p:cNvPr id="19" name="Text 17"/>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43</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A87"/>
          </a:solidFill>
          <a:ln w="12700">
            <a:solidFill>
              <a:srgbClr val="007A87"/>
            </a:solidFill>
            <a:prstDash val="solid"/>
          </a:ln>
        </p:spPr>
      </p:sp>
      <p:sp>
        <p:nvSpPr>
          <p:cNvPr id="3" name="Shape 1"/>
          <p:cNvSpPr/>
          <p:nvPr/>
        </p:nvSpPr>
        <p:spPr>
          <a:xfrm>
            <a:off x="384048" y="2212848"/>
            <a:ext cx="201168" cy="201168"/>
          </a:xfrm>
          <a:prstGeom prst="oval">
            <a:avLst/>
          </a:prstGeom>
          <a:solidFill>
            <a:srgbClr val="F0A800"/>
          </a:solidFill>
          <a:ln w="12700">
            <a:solidFill>
              <a:srgbClr val="F0A800"/>
            </a:solidFill>
            <a:prstDash val="solid"/>
          </a:ln>
        </p:spPr>
      </p:sp>
      <p:sp>
        <p:nvSpPr>
          <p:cNvPr id="4" name="Shape 2"/>
          <p:cNvSpPr/>
          <p:nvPr/>
        </p:nvSpPr>
        <p:spPr>
          <a:xfrm>
            <a:off x="457200" y="548640"/>
            <a:ext cx="1188720" cy="384048"/>
          </a:xfrm>
          <a:prstGeom prst="rect">
            <a:avLst/>
          </a:prstGeom>
          <a:solidFill>
            <a:srgbClr val="007A87"/>
          </a:solidFill>
          <a:ln w="12700">
            <a:solidFill>
              <a:srgbClr val="007A87"/>
            </a:solidFill>
            <a:prstDash val="solid"/>
          </a:ln>
        </p:spPr>
      </p:sp>
      <p:sp>
        <p:nvSpPr>
          <p:cNvPr id="5" name="Text 3"/>
          <p:cNvSpPr/>
          <p:nvPr/>
        </p:nvSpPr>
        <p:spPr>
          <a:xfrm>
            <a:off x="457200" y="548640"/>
            <a:ext cx="1188720" cy="384048"/>
          </a:xfrm>
          <a:prstGeom prst="rect">
            <a:avLst/>
          </a:prstGeom>
          <a:noFill/>
          <a:ln/>
        </p:spPr>
        <p:txBody>
          <a:bodyPr wrap="square" lIns="0" tIns="0" rIns="0" bIns="0" rtlCol="0" anchor="ctr"/>
          <a:lstStyle/>
          <a:p>
            <a:pPr algn="ctr" indent="0" marL="0">
              <a:buNone/>
            </a:pPr>
            <a:r>
              <a:rPr lang="en-US" sz="1200" b="1" dirty="0">
                <a:solidFill>
                  <a:srgbClr val="FFFFFF"/>
                </a:solidFill>
              </a:rPr>
              <a:t>D1.7</a:t>
            </a:r>
            <a:endParaRPr lang="en-US" sz="1200" dirty="0"/>
          </a:p>
        </p:txBody>
      </p:sp>
      <p:sp>
        <p:nvSpPr>
          <p:cNvPr id="6" name="Text 4"/>
          <p:cNvSpPr/>
          <p:nvPr/>
        </p:nvSpPr>
        <p:spPr>
          <a:xfrm>
            <a:off x="1828800" y="621792"/>
            <a:ext cx="2743200" cy="274320"/>
          </a:xfrm>
          <a:prstGeom prst="rect">
            <a:avLst/>
          </a:prstGeom>
          <a:noFill/>
          <a:ln/>
        </p:spPr>
        <p:txBody>
          <a:bodyPr wrap="square" lIns="0" tIns="0" rIns="0" bIns="0" rtlCol="0" anchor="ctr"/>
          <a:lstStyle/>
          <a:p>
            <a:pPr algn="l" indent="0" marL="0">
              <a:buNone/>
            </a:pPr>
            <a:r>
              <a:rPr lang="en-US" sz="900" dirty="0">
                <a:solidFill>
                  <a:srgbClr val="007A87"/>
                </a:solidFill>
              </a:rPr>
              <a:t>Unit 7 of 8</a:t>
            </a:r>
            <a:endParaRPr lang="en-US" sz="900" dirty="0"/>
          </a:p>
        </p:txBody>
      </p:sp>
      <p:sp>
        <p:nvSpPr>
          <p:cNvPr id="7" name="Text 5"/>
          <p:cNvSpPr/>
          <p:nvPr/>
        </p:nvSpPr>
        <p:spPr>
          <a:xfrm>
            <a:off x="457200" y="1143000"/>
            <a:ext cx="7772400" cy="1371600"/>
          </a:xfrm>
          <a:prstGeom prst="rect">
            <a:avLst/>
          </a:prstGeom>
          <a:noFill/>
          <a:ln/>
        </p:spPr>
        <p:txBody>
          <a:bodyPr wrap="square" lIns="0" tIns="0" rIns="0" bIns="0" rtlCol="0" anchor="ctr"/>
          <a:lstStyle/>
          <a:p>
            <a:pPr algn="l" indent="0" marL="0">
              <a:buNone/>
            </a:pPr>
            <a:r>
              <a:rPr lang="en-US" sz="3400" b="1" dirty="0">
                <a:solidFill>
                  <a:srgbClr val="FFFFFF"/>
                </a:solidFill>
              </a:rPr>
              <a:t>Secondary Market Activities and Price Discovery</a:t>
            </a:r>
            <a:endParaRPr lang="en-US" sz="3400" dirty="0"/>
          </a:p>
        </p:txBody>
      </p:sp>
      <p:sp>
        <p:nvSpPr>
          <p:cNvPr id="8" name="Shape 6"/>
          <p:cNvSpPr/>
          <p:nvPr/>
        </p:nvSpPr>
        <p:spPr>
          <a:xfrm>
            <a:off x="457200" y="2697480"/>
            <a:ext cx="8229600" cy="45720"/>
          </a:xfrm>
          <a:prstGeom prst="rect">
            <a:avLst/>
          </a:prstGeom>
          <a:solidFill>
            <a:srgbClr val="007A87"/>
          </a:solidFill>
          <a:ln w="12700">
            <a:solidFill>
              <a:srgbClr val="007A87"/>
            </a:solidFill>
            <a:prstDash val="solid"/>
          </a:ln>
        </p:spPr>
      </p:sp>
      <p:sp>
        <p:nvSpPr>
          <p:cNvPr id="9" name="Text 7"/>
          <p:cNvSpPr/>
          <p:nvPr/>
        </p:nvSpPr>
        <p:spPr>
          <a:xfrm>
            <a:off x="457200" y="2834640"/>
            <a:ext cx="1463040" cy="320040"/>
          </a:xfrm>
          <a:prstGeom prst="rect">
            <a:avLst/>
          </a:prstGeom>
          <a:noFill/>
          <a:ln/>
        </p:spPr>
        <p:txBody>
          <a:bodyPr wrap="square" lIns="0" tIns="0" rIns="0" bIns="0" rtlCol="0" anchor="ctr"/>
          <a:lstStyle/>
          <a:p>
            <a:pPr algn="l" indent="0" marL="0">
              <a:buNone/>
            </a:pPr>
            <a:r>
              <a:rPr lang="en-US" sz="900" b="1" dirty="0">
                <a:solidFill>
                  <a:srgbClr val="F0A800"/>
                </a:solidFill>
              </a:rPr>
              <a:t>COMPETENCY:</a:t>
            </a:r>
            <a:endParaRPr lang="en-US" sz="900" dirty="0"/>
          </a:p>
        </p:txBody>
      </p:sp>
      <p:sp>
        <p:nvSpPr>
          <p:cNvPr id="10" name="Text 8"/>
          <p:cNvSpPr/>
          <p:nvPr/>
        </p:nvSpPr>
        <p:spPr>
          <a:xfrm>
            <a:off x="1920240" y="2834640"/>
            <a:ext cx="6766560" cy="320040"/>
          </a:xfrm>
          <a:prstGeom prst="rect">
            <a:avLst/>
          </a:prstGeom>
          <a:noFill/>
          <a:ln/>
        </p:spPr>
        <p:txBody>
          <a:bodyPr wrap="square" lIns="0" tIns="0" rIns="0" bIns="0" rtlCol="0" anchor="ctr"/>
          <a:lstStyle/>
          <a:p>
            <a:pPr algn="l" indent="0" marL="0">
              <a:buNone/>
            </a:pPr>
            <a:r>
              <a:rPr lang="en-US" sz="900" dirty="0">
                <a:solidFill>
                  <a:srgbClr val="A0B4D0"/>
                </a:solidFill>
              </a:rPr>
              <a:t>Capital Markets Literacy</a:t>
            </a:r>
            <a:endParaRPr lang="en-US" sz="900" dirty="0"/>
          </a:p>
        </p:txBody>
      </p:sp>
      <p:sp>
        <p:nvSpPr>
          <p:cNvPr id="11" name="Shape 9"/>
          <p:cNvSpPr/>
          <p:nvPr/>
        </p:nvSpPr>
        <p:spPr>
          <a:xfrm>
            <a:off x="164592" y="4818888"/>
            <a:ext cx="8979408" cy="324612"/>
          </a:xfrm>
          <a:prstGeom prst="rect">
            <a:avLst/>
          </a:prstGeom>
          <a:solidFill>
            <a:srgbClr val="F0A800"/>
          </a:solidFill>
          <a:ln w="12700">
            <a:solidFill>
              <a:srgbClr val="F0A800"/>
            </a:solidFill>
            <a:prstDash val="solid"/>
          </a:ln>
        </p:spPr>
      </p:sp>
      <p:sp>
        <p:nvSpPr>
          <p:cNvPr id="12" name="Text 10"/>
          <p:cNvSpPr/>
          <p:nvPr/>
        </p:nvSpPr>
        <p:spPr>
          <a:xfrm>
            <a:off x="457200" y="4818888"/>
            <a:ext cx="8229600" cy="324612"/>
          </a:xfrm>
          <a:prstGeom prst="rect">
            <a:avLst/>
          </a:prstGeom>
          <a:noFill/>
          <a:ln/>
        </p:spPr>
        <p:txBody>
          <a:bodyPr wrap="square" lIns="0" tIns="0" rIns="0" bIns="0" rtlCol="0" anchor="ctr"/>
          <a:lstStyle/>
          <a:p>
            <a:pPr algn="ctr" indent="0" marL="0">
              <a:buNone/>
            </a:pPr>
            <a:r>
              <a:rPr lang="en-US" sz="800" b="1" dirty="0">
                <a:solidFill>
                  <a:srgbClr val="101C4F"/>
                </a:solidFill>
              </a:rPr>
              <a:t>IMARTICUS LEARNING  ·  CIBOP  ·  MODULE 1</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44</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3657600" cy="658368"/>
          </a:xfrm>
          <a:prstGeom prst="rect">
            <a:avLst/>
          </a:prstGeom>
          <a:noFill/>
          <a:ln/>
        </p:spPr>
        <p:txBody>
          <a:bodyPr wrap="square" lIns="0" tIns="0" rIns="0" bIns="0" rtlCol="0" anchor="ctr"/>
          <a:lstStyle/>
          <a:p>
            <a:pPr indent="0" marL="0">
              <a:buNone/>
            </a:pPr>
            <a:r>
              <a:rPr lang="en-US" sz="1000" b="1" spc="200" kern="0" dirty="0">
                <a:solidFill>
                  <a:srgbClr val="007A87"/>
                </a:solidFill>
              </a:rPr>
              <a:t>⟵  QUICK RECAP</a:t>
            </a:r>
            <a:endParaRPr lang="en-US" sz="1000" dirty="0"/>
          </a:p>
        </p:txBody>
      </p:sp>
      <p:sp>
        <p:nvSpPr>
          <p:cNvPr id="4" name="Text 2"/>
          <p:cNvSpPr/>
          <p:nvPr/>
        </p:nvSpPr>
        <p:spPr>
          <a:xfrm>
            <a:off x="4114800" y="0"/>
            <a:ext cx="4663440" cy="658368"/>
          </a:xfrm>
          <a:prstGeom prst="rect">
            <a:avLst/>
          </a:prstGeom>
          <a:noFill/>
          <a:ln/>
        </p:spPr>
        <p:txBody>
          <a:bodyPr wrap="square" lIns="0" tIns="0" rIns="0" bIns="0" rtlCol="0" anchor="ctr"/>
          <a:lstStyle/>
          <a:p>
            <a:pPr algn="r" indent="0" marL="0">
              <a:buNone/>
            </a:pPr>
            <a:r>
              <a:rPr lang="en-US" sz="900" dirty="0">
                <a:solidFill>
                  <a:srgbClr val="A0B4D0"/>
                </a:solidFill>
              </a:rPr>
              <a:t>D1.6 — Primary Market Activities</a:t>
            </a:r>
            <a:endParaRPr lang="en-US" sz="900" dirty="0"/>
          </a:p>
        </p:txBody>
      </p:sp>
      <p:sp>
        <p:nvSpPr>
          <p:cNvPr id="5" name="Text 3"/>
          <p:cNvSpPr/>
          <p:nvPr/>
        </p:nvSpPr>
        <p:spPr>
          <a:xfrm>
            <a:off x="457200" y="822960"/>
            <a:ext cx="8229600" cy="457200"/>
          </a:xfrm>
          <a:prstGeom prst="rect">
            <a:avLst/>
          </a:prstGeom>
          <a:noFill/>
          <a:ln/>
        </p:spPr>
        <p:txBody>
          <a:bodyPr wrap="square" lIns="0" tIns="0" rIns="0" bIns="0" rtlCol="0" anchor="ctr"/>
          <a:lstStyle/>
          <a:p>
            <a:pPr algn="l" indent="0" marL="0">
              <a:buNone/>
            </a:pPr>
            <a:r>
              <a:rPr lang="en-US" sz="1400" b="1" dirty="0">
                <a:solidFill>
                  <a:srgbClr val="1A2340"/>
                </a:solidFill>
              </a:rPr>
              <a:t>Before we begin — let's make sure the foundation is solid.</a:t>
            </a:r>
            <a:endParaRPr lang="en-US" sz="1400" dirty="0"/>
          </a:p>
        </p:txBody>
      </p:sp>
      <p:sp>
        <p:nvSpPr>
          <p:cNvPr id="6" name="Shape 4"/>
          <p:cNvSpPr/>
          <p:nvPr/>
        </p:nvSpPr>
        <p:spPr>
          <a:xfrm>
            <a:off x="45720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457200" y="1463040"/>
            <a:ext cx="2468880" cy="64008"/>
          </a:xfrm>
          <a:prstGeom prst="rect">
            <a:avLst/>
          </a:prstGeom>
          <a:solidFill>
            <a:srgbClr val="007A87"/>
          </a:solidFill>
          <a:ln w="12700">
            <a:solidFill>
              <a:srgbClr val="007A87"/>
            </a:solidFill>
            <a:prstDash val="solid"/>
          </a:ln>
        </p:spPr>
      </p:sp>
      <p:sp>
        <p:nvSpPr>
          <p:cNvPr id="8" name="Text 6"/>
          <p:cNvSpPr/>
          <p:nvPr/>
        </p:nvSpPr>
        <p:spPr>
          <a:xfrm>
            <a:off x="56692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9" name="Text 7"/>
          <p:cNvSpPr/>
          <p:nvPr/>
        </p:nvSpPr>
        <p:spPr>
          <a:xfrm>
            <a:off x="56692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Price Discovery</a:t>
            </a:r>
            <a:endParaRPr lang="en-US" sz="1050" dirty="0"/>
          </a:p>
        </p:txBody>
      </p:sp>
      <p:sp>
        <p:nvSpPr>
          <p:cNvPr id="10" name="Text 8"/>
          <p:cNvSpPr/>
          <p:nvPr/>
        </p:nvSpPr>
        <p:spPr>
          <a:xfrm>
            <a:off x="56692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Every trade on NSE reveals information. Collectively, millions of trades determine fair value — better than any single analyst.</a:t>
            </a:r>
            <a:endParaRPr lang="en-US" sz="850" dirty="0"/>
          </a:p>
        </p:txBody>
      </p:sp>
      <p:sp>
        <p:nvSpPr>
          <p:cNvPr id="11" name="Shape 9"/>
          <p:cNvSpPr/>
          <p:nvPr/>
        </p:nvSpPr>
        <p:spPr>
          <a:xfrm>
            <a:off x="310896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3108960" y="1463040"/>
            <a:ext cx="2468880" cy="64008"/>
          </a:xfrm>
          <a:prstGeom prst="rect">
            <a:avLst/>
          </a:prstGeom>
          <a:solidFill>
            <a:srgbClr val="007A87"/>
          </a:solidFill>
          <a:ln w="12700">
            <a:solidFill>
              <a:srgbClr val="007A87"/>
            </a:solidFill>
            <a:prstDash val="solid"/>
          </a:ln>
        </p:spPr>
      </p:sp>
      <p:sp>
        <p:nvSpPr>
          <p:cNvPr id="13" name="Text 11"/>
          <p:cNvSpPr/>
          <p:nvPr/>
        </p:nvSpPr>
        <p:spPr>
          <a:xfrm>
            <a:off x="321868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4" name="Text 12"/>
          <p:cNvSpPr/>
          <p:nvPr/>
        </p:nvSpPr>
        <p:spPr>
          <a:xfrm>
            <a:off x="321868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T+1 Settlement</a:t>
            </a:r>
            <a:endParaRPr lang="en-US" sz="1050" dirty="0"/>
          </a:p>
        </p:txBody>
      </p:sp>
      <p:sp>
        <p:nvSpPr>
          <p:cNvPr id="15" name="Text 13"/>
          <p:cNvSpPr/>
          <p:nvPr/>
        </p:nvSpPr>
        <p:spPr>
          <a:xfrm>
            <a:off x="321868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India moved to T+1 in 2023. Trade today, settle tomorrow. Among the fastest globally (most markets still T+2).</a:t>
            </a:r>
            <a:endParaRPr lang="en-US" sz="850" dirty="0"/>
          </a:p>
        </p:txBody>
      </p:sp>
      <p:sp>
        <p:nvSpPr>
          <p:cNvPr id="16" name="Shape 14"/>
          <p:cNvSpPr/>
          <p:nvPr/>
        </p:nvSpPr>
        <p:spPr>
          <a:xfrm>
            <a:off x="576072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5760720" y="1463040"/>
            <a:ext cx="2468880" cy="64008"/>
          </a:xfrm>
          <a:prstGeom prst="rect">
            <a:avLst/>
          </a:prstGeom>
          <a:solidFill>
            <a:srgbClr val="007A87"/>
          </a:solidFill>
          <a:ln w="12700">
            <a:solidFill>
              <a:srgbClr val="007A87"/>
            </a:solidFill>
            <a:prstDash val="solid"/>
          </a:ln>
        </p:spPr>
      </p:sp>
      <p:sp>
        <p:nvSpPr>
          <p:cNvPr id="18" name="Text 16"/>
          <p:cNvSpPr/>
          <p:nvPr/>
        </p:nvSpPr>
        <p:spPr>
          <a:xfrm>
            <a:off x="587044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9" name="Text 17"/>
          <p:cNvSpPr/>
          <p:nvPr/>
        </p:nvSpPr>
        <p:spPr>
          <a:xfrm>
            <a:off x="587044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Order Types</a:t>
            </a:r>
            <a:endParaRPr lang="en-US" sz="1050" dirty="0"/>
          </a:p>
        </p:txBody>
      </p:sp>
      <p:sp>
        <p:nvSpPr>
          <p:cNvPr id="20" name="Text 18"/>
          <p:cNvSpPr/>
          <p:nvPr/>
        </p:nvSpPr>
        <p:spPr>
          <a:xfrm>
            <a:off x="587044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Limit order: specify price, may not execute. Market order: execute now at best available price. Know the trade-off.</a:t>
            </a:r>
            <a:endParaRPr lang="en-US" sz="850" dirty="0"/>
          </a:p>
        </p:txBody>
      </p:sp>
      <p:sp>
        <p:nvSpPr>
          <p:cNvPr id="21" name="Shape 19"/>
          <p:cNvSpPr/>
          <p:nvPr/>
        </p:nvSpPr>
        <p:spPr>
          <a:xfrm>
            <a:off x="0" y="4818888"/>
            <a:ext cx="2011680" cy="324612"/>
          </a:xfrm>
          <a:prstGeom prst="rect">
            <a:avLst/>
          </a:prstGeom>
          <a:solidFill>
            <a:srgbClr val="101C4F"/>
          </a:solidFill>
          <a:ln w="12700">
            <a:solidFill>
              <a:srgbClr val="101C4F"/>
            </a:solidFill>
            <a:prstDash val="solid"/>
          </a:ln>
        </p:spPr>
      </p:sp>
      <p:sp>
        <p:nvSpPr>
          <p:cNvPr id="22" name="Text 2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D1.7</a:t>
            </a:r>
            <a:endParaRPr lang="en-US" sz="800" dirty="0"/>
          </a:p>
        </p:txBody>
      </p:sp>
      <p:sp>
        <p:nvSpPr>
          <p:cNvPr id="23" name="Text 2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45</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SCENARIO</a:t>
            </a:r>
            <a:endParaRPr lang="en-US" sz="1000" dirty="0"/>
          </a:p>
        </p:txBody>
      </p:sp>
      <p:sp>
        <p:nvSpPr>
          <p:cNvPr id="4" name="Shape 2"/>
          <p:cNvSpPr/>
          <p:nvPr/>
        </p:nvSpPr>
        <p:spPr>
          <a:xfrm>
            <a:off x="365760" y="822960"/>
            <a:ext cx="8412480" cy="2011680"/>
          </a:xfrm>
          <a:prstGeom prst="rect">
            <a:avLst/>
          </a:prstGeom>
          <a:solidFill>
            <a:srgbClr val="FDF6E3"/>
          </a:solidFill>
          <a:ln w="12700">
            <a:solidFill>
              <a:srgbClr val="F0A800"/>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365760" y="822960"/>
            <a:ext cx="91440" cy="2011680"/>
          </a:xfrm>
          <a:prstGeom prst="rect">
            <a:avLst/>
          </a:prstGeom>
          <a:solidFill>
            <a:srgbClr val="F0A800"/>
          </a:solidFill>
          <a:ln w="12700">
            <a:solidFill>
              <a:srgbClr val="F0A800"/>
            </a:solidFill>
            <a:prstDash val="solid"/>
          </a:ln>
        </p:spPr>
      </p:sp>
      <p:sp>
        <p:nvSpPr>
          <p:cNvPr id="6" name="Text 4"/>
          <p:cNvSpPr/>
          <p:nvPr/>
        </p:nvSpPr>
        <p:spPr>
          <a:xfrm>
            <a:off x="594360" y="914400"/>
            <a:ext cx="8046720" cy="365760"/>
          </a:xfrm>
          <a:prstGeom prst="rect">
            <a:avLst/>
          </a:prstGeom>
          <a:noFill/>
          <a:ln/>
        </p:spPr>
        <p:txBody>
          <a:bodyPr wrap="square" lIns="0" tIns="0" rIns="0" bIns="0" rtlCol="0" anchor="ctr"/>
          <a:lstStyle/>
          <a:p>
            <a:pPr algn="l" indent="0" marL="0">
              <a:buNone/>
            </a:pPr>
            <a:r>
              <a:rPr lang="en-US" sz="1200" b="1" dirty="0">
                <a:solidFill>
                  <a:srgbClr val="1A2340"/>
                </a:solidFill>
              </a:rPr>
              <a:t>Infosys Q3 results: ₹6,806 crore profit, beats estimates.</a:t>
            </a:r>
            <a:endParaRPr lang="en-US" sz="1200" dirty="0"/>
          </a:p>
        </p:txBody>
      </p:sp>
      <p:sp>
        <p:nvSpPr>
          <p:cNvPr id="7" name="Text 5"/>
          <p:cNvSpPr/>
          <p:nvPr/>
        </p:nvSpPr>
        <p:spPr>
          <a:xfrm>
            <a:off x="594360" y="1325880"/>
            <a:ext cx="8046720" cy="1371600"/>
          </a:xfrm>
          <a:prstGeom prst="rect">
            <a:avLst/>
          </a:prstGeom>
          <a:noFill/>
          <a:ln/>
        </p:spPr>
        <p:txBody>
          <a:bodyPr wrap="square" lIns="0" tIns="0" rIns="0" bIns="0" rtlCol="0" anchor="ctr"/>
          <a:lstStyle/>
          <a:p>
            <a:pPr algn="l" indent="0" marL="0">
              <a:buNone/>
            </a:pPr>
            <a:r>
              <a:rPr lang="en-US" sz="1050" dirty="0">
                <a:solidFill>
                  <a:srgbClr val="1A2340"/>
                </a:solidFill>
              </a:rPr>
              <a:t>Infosys announces Q3 results at 6pm (after market hours). Analysts had estimated ₹6,500 crore profit. The actual result beats by 5%. Guidance for FY25 is raised. By 9:15am next morning when NSE opens, Infosys opens at ₹1,712 — up 4.2% from yesterday's close of ₹1,642. The gap-up reflects all the information processed overnight. By 10am it is trading at ₹1,695 — the initial euphoria moderated by profit-booking. Price discovery is continuous, real-time, and ruthless.</a:t>
            </a:r>
            <a:endParaRPr lang="en-US" sz="1050" dirty="0"/>
          </a:p>
        </p:txBody>
      </p:sp>
      <p:sp>
        <p:nvSpPr>
          <p:cNvPr id="8" name="Shape 6"/>
          <p:cNvSpPr/>
          <p:nvPr/>
        </p:nvSpPr>
        <p:spPr>
          <a:xfrm>
            <a:off x="365760" y="2971800"/>
            <a:ext cx="8412480" cy="1005840"/>
          </a:xfrm>
          <a:prstGeom prst="rect">
            <a:avLst/>
          </a:prstGeom>
          <a:solidFill>
            <a:srgbClr val="F2F4F8"/>
          </a:solidFill>
          <a:ln w="12700">
            <a:solidFill>
              <a:srgbClr val="E0E4EE"/>
            </a:solidFill>
            <a:prstDash val="solid"/>
          </a:ln>
        </p:spPr>
      </p:sp>
      <p:sp>
        <p:nvSpPr>
          <p:cNvPr id="9" name="Text 7"/>
          <p:cNvSpPr/>
          <p:nvPr/>
        </p:nvSpPr>
        <p:spPr>
          <a:xfrm>
            <a:off x="548640" y="3035808"/>
            <a:ext cx="1828800" cy="320040"/>
          </a:xfrm>
          <a:prstGeom prst="rect">
            <a:avLst/>
          </a:prstGeom>
          <a:noFill/>
          <a:ln/>
        </p:spPr>
        <p:txBody>
          <a:bodyPr wrap="square" lIns="0" tIns="0" rIns="0" bIns="0" rtlCol="0" anchor="ctr"/>
          <a:lstStyle/>
          <a:p>
            <a:pPr indent="0" marL="0">
              <a:buNone/>
            </a:pPr>
            <a:r>
              <a:rPr lang="en-US" sz="1000" b="1" dirty="0">
                <a:solidFill>
                  <a:srgbClr val="007A87"/>
                </a:solidFill>
              </a:rPr>
              <a:t>🤔  Think about it:</a:t>
            </a:r>
            <a:endParaRPr lang="en-US" sz="1000" dirty="0"/>
          </a:p>
        </p:txBody>
      </p:sp>
      <p:sp>
        <p:nvSpPr>
          <p:cNvPr id="10" name="Text 8"/>
          <p:cNvSpPr/>
          <p:nvPr/>
        </p:nvSpPr>
        <p:spPr>
          <a:xfrm>
            <a:off x="548640" y="3355848"/>
            <a:ext cx="7863840" cy="530352"/>
          </a:xfrm>
          <a:prstGeom prst="rect">
            <a:avLst/>
          </a:prstGeom>
          <a:noFill/>
          <a:ln/>
        </p:spPr>
        <p:txBody>
          <a:bodyPr wrap="square" lIns="0" tIns="0" rIns="0" bIns="0" rtlCol="0" anchor="ctr"/>
          <a:lstStyle/>
          <a:p>
            <a:pPr indent="0" marL="0">
              <a:buNone/>
            </a:pPr>
            <a:r>
              <a:rPr lang="en-US" sz="1050" i="1" dirty="0">
                <a:solidFill>
                  <a:srgbClr val="1A2340"/>
                </a:solidFill>
              </a:rPr>
              <a:t>What information drove Infosys's opening gap-up? By 10am, why had the price already come down from ₹1,712 to ₹1,695? What does this tell us about how secondary markets work?</a:t>
            </a:r>
            <a:endParaRPr lang="en-US" sz="1050" dirty="0"/>
          </a:p>
        </p:txBody>
      </p:sp>
      <p:sp>
        <p:nvSpPr>
          <p:cNvPr id="11" name="Shape 9"/>
          <p:cNvSpPr/>
          <p:nvPr/>
        </p:nvSpPr>
        <p:spPr>
          <a:xfrm>
            <a:off x="0" y="4818888"/>
            <a:ext cx="2011680" cy="324612"/>
          </a:xfrm>
          <a:prstGeom prst="rect">
            <a:avLst/>
          </a:prstGeom>
          <a:solidFill>
            <a:srgbClr val="101C4F"/>
          </a:solidFill>
          <a:ln w="12700">
            <a:solidFill>
              <a:srgbClr val="101C4F"/>
            </a:solidFill>
            <a:prstDash val="solid"/>
          </a:ln>
        </p:spPr>
      </p:sp>
      <p:sp>
        <p:nvSpPr>
          <p:cNvPr id="12" name="Text 1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D1.7</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46</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KEY CONCEPT</a:t>
            </a:r>
            <a:endParaRPr lang="en-US" sz="1000" dirty="0"/>
          </a:p>
        </p:txBody>
      </p:sp>
      <p:sp>
        <p:nvSpPr>
          <p:cNvPr id="4" name="Text 2"/>
          <p:cNvSpPr/>
          <p:nvPr/>
        </p:nvSpPr>
        <p:spPr>
          <a:xfrm>
            <a:off x="365760" y="777240"/>
            <a:ext cx="8412480" cy="548640"/>
          </a:xfrm>
          <a:prstGeom prst="rect">
            <a:avLst/>
          </a:prstGeom>
          <a:noFill/>
          <a:ln/>
        </p:spPr>
        <p:txBody>
          <a:bodyPr wrap="square" lIns="0" tIns="0" rIns="0" bIns="0" rtlCol="0" anchor="ctr"/>
          <a:lstStyle/>
          <a:p>
            <a:pPr algn="l" indent="0" marL="0">
              <a:buNone/>
            </a:pPr>
            <a:r>
              <a:rPr lang="en-US" sz="2200" b="1" dirty="0">
                <a:solidFill>
                  <a:srgbClr val="101C4F"/>
                </a:solidFill>
              </a:rPr>
              <a:t>Price Discovery in Secondary Markets</a:t>
            </a:r>
            <a:endParaRPr lang="en-US" sz="2200" dirty="0"/>
          </a:p>
        </p:txBody>
      </p:sp>
      <p:sp>
        <p:nvSpPr>
          <p:cNvPr id="5" name="Shape 3"/>
          <p:cNvSpPr/>
          <p:nvPr/>
        </p:nvSpPr>
        <p:spPr>
          <a:xfrm>
            <a:off x="365760" y="1389888"/>
            <a:ext cx="8412480" cy="777240"/>
          </a:xfrm>
          <a:prstGeom prst="rect">
            <a:avLst/>
          </a:prstGeom>
          <a:solidFill>
            <a:srgbClr val="F2F4F8"/>
          </a:solidFill>
          <a:ln w="12700">
            <a:solidFill>
              <a:srgbClr val="E0E4EE"/>
            </a:solidFill>
            <a:prstDash val="solid"/>
          </a:ln>
        </p:spPr>
      </p:sp>
      <p:sp>
        <p:nvSpPr>
          <p:cNvPr id="6" name="Shape 4"/>
          <p:cNvSpPr/>
          <p:nvPr/>
        </p:nvSpPr>
        <p:spPr>
          <a:xfrm>
            <a:off x="365760" y="1389888"/>
            <a:ext cx="91440" cy="777240"/>
          </a:xfrm>
          <a:prstGeom prst="rect">
            <a:avLst/>
          </a:prstGeom>
          <a:solidFill>
            <a:srgbClr val="007A87"/>
          </a:solidFill>
          <a:ln w="12700">
            <a:solidFill>
              <a:srgbClr val="007A87"/>
            </a:solidFill>
            <a:prstDash val="solid"/>
          </a:ln>
        </p:spPr>
      </p:sp>
      <p:sp>
        <p:nvSpPr>
          <p:cNvPr id="7" name="Text 5"/>
          <p:cNvSpPr/>
          <p:nvPr/>
        </p:nvSpPr>
        <p:spPr>
          <a:xfrm>
            <a:off x="594360" y="1444752"/>
            <a:ext cx="8046720" cy="667512"/>
          </a:xfrm>
          <a:prstGeom prst="rect">
            <a:avLst/>
          </a:prstGeom>
          <a:noFill/>
          <a:ln/>
        </p:spPr>
        <p:txBody>
          <a:bodyPr wrap="square" lIns="0" tIns="0" rIns="0" bIns="0" rtlCol="0" anchor="ctr"/>
          <a:lstStyle/>
          <a:p>
            <a:pPr indent="0" marL="0">
              <a:buNone/>
            </a:pPr>
            <a:r>
              <a:rPr lang="en-US" sz="1050" i="1" dirty="0">
                <a:solidFill>
                  <a:srgbClr val="1A2340"/>
                </a:solidFill>
              </a:rPr>
              <a:t>Price discovery is the process by which secondary markets continuously aggregate all available information — earnings, macro data, global cues, sentiment, order flow — into a single observable price. It is the most democratic form of valuation.</a:t>
            </a:r>
            <a:endParaRPr lang="en-US" sz="1050" dirty="0"/>
          </a:p>
        </p:txBody>
      </p:sp>
      <p:sp>
        <p:nvSpPr>
          <p:cNvPr id="8" name="Shape 6"/>
          <p:cNvSpPr/>
          <p:nvPr/>
        </p:nvSpPr>
        <p:spPr>
          <a:xfrm>
            <a:off x="36576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365760" y="2331720"/>
            <a:ext cx="2000250" cy="64008"/>
          </a:xfrm>
          <a:prstGeom prst="rect">
            <a:avLst/>
          </a:prstGeom>
          <a:solidFill>
            <a:srgbClr val="101C4F"/>
          </a:solidFill>
          <a:ln w="12700">
            <a:solidFill>
              <a:srgbClr val="101C4F"/>
            </a:solidFill>
            <a:prstDash val="solid"/>
          </a:ln>
        </p:spPr>
      </p:sp>
      <p:sp>
        <p:nvSpPr>
          <p:cNvPr id="10" name="Text 8"/>
          <p:cNvSpPr/>
          <p:nvPr/>
        </p:nvSpPr>
        <p:spPr>
          <a:xfrm>
            <a:off x="45720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01</a:t>
            </a:r>
            <a:endParaRPr lang="en-US" sz="1800" dirty="0"/>
          </a:p>
        </p:txBody>
      </p:sp>
      <p:sp>
        <p:nvSpPr>
          <p:cNvPr id="11" name="Text 9"/>
          <p:cNvSpPr/>
          <p:nvPr/>
        </p:nvSpPr>
        <p:spPr>
          <a:xfrm>
            <a:off x="45720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Continuous Trading</a:t>
            </a:r>
            <a:endParaRPr lang="en-US" sz="1000" dirty="0"/>
          </a:p>
        </p:txBody>
      </p:sp>
      <p:sp>
        <p:nvSpPr>
          <p:cNvPr id="12" name="Text 10"/>
          <p:cNvSpPr/>
          <p:nvPr/>
        </p:nvSpPr>
        <p:spPr>
          <a:xfrm>
            <a:off x="45720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NSE operates 9:15am–3:30pm. Every bid and offer reveals private information. Price moves reflect new information.</a:t>
            </a:r>
            <a:endParaRPr lang="en-US" sz="850" dirty="0"/>
          </a:p>
        </p:txBody>
      </p:sp>
      <p:sp>
        <p:nvSpPr>
          <p:cNvPr id="13" name="Shape 11"/>
          <p:cNvSpPr/>
          <p:nvPr/>
        </p:nvSpPr>
        <p:spPr>
          <a:xfrm>
            <a:off x="250317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2503170" y="2331720"/>
            <a:ext cx="2000250" cy="64008"/>
          </a:xfrm>
          <a:prstGeom prst="rect">
            <a:avLst/>
          </a:prstGeom>
          <a:solidFill>
            <a:srgbClr val="101C4F"/>
          </a:solidFill>
          <a:ln w="12700">
            <a:solidFill>
              <a:srgbClr val="101C4F"/>
            </a:solidFill>
            <a:prstDash val="solid"/>
          </a:ln>
        </p:spPr>
      </p:sp>
      <p:sp>
        <p:nvSpPr>
          <p:cNvPr id="15" name="Text 13"/>
          <p:cNvSpPr/>
          <p:nvPr/>
        </p:nvSpPr>
        <p:spPr>
          <a:xfrm>
            <a:off x="259461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02</a:t>
            </a:r>
            <a:endParaRPr lang="en-US" sz="1800" dirty="0"/>
          </a:p>
        </p:txBody>
      </p:sp>
      <p:sp>
        <p:nvSpPr>
          <p:cNvPr id="16" name="Text 14"/>
          <p:cNvSpPr/>
          <p:nvPr/>
        </p:nvSpPr>
        <p:spPr>
          <a:xfrm>
            <a:off x="259461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Bid-Ask Spread</a:t>
            </a:r>
            <a:endParaRPr lang="en-US" sz="1000" dirty="0"/>
          </a:p>
        </p:txBody>
      </p:sp>
      <p:sp>
        <p:nvSpPr>
          <p:cNvPr id="17" name="Text 15"/>
          <p:cNvSpPr/>
          <p:nvPr/>
        </p:nvSpPr>
        <p:spPr>
          <a:xfrm>
            <a:off x="259461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Bid = highest buy price. Ask = lowest sell price. Spread = liquidity cost. Tight spread = liquid stock (Reliance). Wide = illiquid (small cap).</a:t>
            </a:r>
            <a:endParaRPr lang="en-US" sz="850" dirty="0"/>
          </a:p>
        </p:txBody>
      </p:sp>
      <p:sp>
        <p:nvSpPr>
          <p:cNvPr id="18" name="Shape 16"/>
          <p:cNvSpPr/>
          <p:nvPr/>
        </p:nvSpPr>
        <p:spPr>
          <a:xfrm>
            <a:off x="464058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4640580" y="2331720"/>
            <a:ext cx="2000250" cy="64008"/>
          </a:xfrm>
          <a:prstGeom prst="rect">
            <a:avLst/>
          </a:prstGeom>
          <a:solidFill>
            <a:srgbClr val="101C4F"/>
          </a:solidFill>
          <a:ln w="12700">
            <a:solidFill>
              <a:srgbClr val="101C4F"/>
            </a:solidFill>
            <a:prstDash val="solid"/>
          </a:ln>
        </p:spPr>
      </p:sp>
      <p:sp>
        <p:nvSpPr>
          <p:cNvPr id="20" name="Text 18"/>
          <p:cNvSpPr/>
          <p:nvPr/>
        </p:nvSpPr>
        <p:spPr>
          <a:xfrm>
            <a:off x="473202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03</a:t>
            </a:r>
            <a:endParaRPr lang="en-US" sz="1800" dirty="0"/>
          </a:p>
        </p:txBody>
      </p:sp>
      <p:sp>
        <p:nvSpPr>
          <p:cNvPr id="21" name="Text 19"/>
          <p:cNvSpPr/>
          <p:nvPr/>
        </p:nvSpPr>
        <p:spPr>
          <a:xfrm>
            <a:off x="473202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Order Types</a:t>
            </a:r>
            <a:endParaRPr lang="en-US" sz="1000" dirty="0"/>
          </a:p>
        </p:txBody>
      </p:sp>
      <p:sp>
        <p:nvSpPr>
          <p:cNvPr id="22" name="Text 20"/>
          <p:cNvSpPr/>
          <p:nvPr/>
        </p:nvSpPr>
        <p:spPr>
          <a:xfrm>
            <a:off x="473202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Market order: execute now, no price guarantee. Limit order: execute at price, no timing guarantee. Choose wisely.</a:t>
            </a:r>
            <a:endParaRPr lang="en-US" sz="850" dirty="0"/>
          </a:p>
        </p:txBody>
      </p:sp>
      <p:sp>
        <p:nvSpPr>
          <p:cNvPr id="23" name="Shape 21"/>
          <p:cNvSpPr/>
          <p:nvPr/>
        </p:nvSpPr>
        <p:spPr>
          <a:xfrm>
            <a:off x="677799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24" name="Shape 22"/>
          <p:cNvSpPr/>
          <p:nvPr/>
        </p:nvSpPr>
        <p:spPr>
          <a:xfrm>
            <a:off x="6777990" y="2331720"/>
            <a:ext cx="2000250" cy="64008"/>
          </a:xfrm>
          <a:prstGeom prst="rect">
            <a:avLst/>
          </a:prstGeom>
          <a:solidFill>
            <a:srgbClr val="101C4F"/>
          </a:solidFill>
          <a:ln w="12700">
            <a:solidFill>
              <a:srgbClr val="101C4F"/>
            </a:solidFill>
            <a:prstDash val="solid"/>
          </a:ln>
        </p:spPr>
      </p:sp>
      <p:sp>
        <p:nvSpPr>
          <p:cNvPr id="25" name="Text 23"/>
          <p:cNvSpPr/>
          <p:nvPr/>
        </p:nvSpPr>
        <p:spPr>
          <a:xfrm>
            <a:off x="686943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04</a:t>
            </a:r>
            <a:endParaRPr lang="en-US" sz="1800" dirty="0"/>
          </a:p>
        </p:txBody>
      </p:sp>
      <p:sp>
        <p:nvSpPr>
          <p:cNvPr id="26" name="Text 24"/>
          <p:cNvSpPr/>
          <p:nvPr/>
        </p:nvSpPr>
        <p:spPr>
          <a:xfrm>
            <a:off x="686943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T+1 Settlement</a:t>
            </a:r>
            <a:endParaRPr lang="en-US" sz="1000" dirty="0"/>
          </a:p>
        </p:txBody>
      </p:sp>
      <p:sp>
        <p:nvSpPr>
          <p:cNvPr id="27" name="Text 25"/>
          <p:cNvSpPr/>
          <p:nvPr/>
        </p:nvSpPr>
        <p:spPr>
          <a:xfrm>
            <a:off x="686943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India: T+1 since 2023. Trade today, demat credit tomorrow. NSCCL guarantees settlement. Among global best.</a:t>
            </a:r>
            <a:endParaRPr lang="en-US" sz="850" dirty="0"/>
          </a:p>
        </p:txBody>
      </p:sp>
      <p:sp>
        <p:nvSpPr>
          <p:cNvPr id="28" name="Shape 26"/>
          <p:cNvSpPr/>
          <p:nvPr/>
        </p:nvSpPr>
        <p:spPr>
          <a:xfrm>
            <a:off x="0" y="4818888"/>
            <a:ext cx="2011680" cy="324612"/>
          </a:xfrm>
          <a:prstGeom prst="rect">
            <a:avLst/>
          </a:prstGeom>
          <a:solidFill>
            <a:srgbClr val="101C4F"/>
          </a:solidFill>
          <a:ln w="12700">
            <a:solidFill>
              <a:srgbClr val="101C4F"/>
            </a:solidFill>
            <a:prstDash val="solid"/>
          </a:ln>
        </p:spPr>
      </p:sp>
      <p:sp>
        <p:nvSpPr>
          <p:cNvPr id="29" name="Text 27"/>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D1.7</a:t>
            </a:r>
            <a:endParaRPr lang="en-US" sz="800" dirty="0"/>
          </a:p>
        </p:txBody>
      </p:sp>
      <p:sp>
        <p:nvSpPr>
          <p:cNvPr id="30" name="Text 28"/>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47</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GOING DEEPER</a:t>
            </a:r>
            <a:endParaRPr lang="en-US" sz="1000" dirty="0"/>
          </a:p>
        </p:txBody>
      </p:sp>
      <p:sp>
        <p:nvSpPr>
          <p:cNvPr id="4" name="Text 2"/>
          <p:cNvSpPr/>
          <p:nvPr/>
        </p:nvSpPr>
        <p:spPr>
          <a:xfrm>
            <a:off x="365760" y="777240"/>
            <a:ext cx="8412480" cy="457200"/>
          </a:xfrm>
          <a:prstGeom prst="rect">
            <a:avLst/>
          </a:prstGeom>
          <a:noFill/>
          <a:ln/>
        </p:spPr>
        <p:txBody>
          <a:bodyPr wrap="square" lIns="0" tIns="0" rIns="0" bIns="0" rtlCol="0" anchor="ctr"/>
          <a:lstStyle/>
          <a:p>
            <a:pPr indent="0" marL="0">
              <a:buNone/>
            </a:pPr>
            <a:r>
              <a:rPr lang="en-US" sz="1800" b="1" dirty="0">
                <a:solidFill>
                  <a:srgbClr val="101C4F"/>
                </a:solidFill>
              </a:rPr>
              <a:t>Why Indian T+1 Settlement is a Global Achievement</a:t>
            </a:r>
            <a:endParaRPr lang="en-US" sz="1800" dirty="0"/>
          </a:p>
        </p:txBody>
      </p:sp>
      <p:sp>
        <p:nvSpPr>
          <p:cNvPr id="5" name="Shape 3"/>
          <p:cNvSpPr/>
          <p:nvPr/>
        </p:nvSpPr>
        <p:spPr>
          <a:xfrm>
            <a:off x="365760" y="1417320"/>
            <a:ext cx="4846320" cy="1005840"/>
          </a:xfrm>
          <a:prstGeom prst="rect">
            <a:avLst/>
          </a:prstGeom>
          <a:solidFill>
            <a:srgbClr val="F2F4F8"/>
          </a:solidFill>
          <a:ln w="12700">
            <a:solidFill>
              <a:srgbClr val="E0E4EE"/>
            </a:solidFill>
            <a:prstDash val="solid"/>
          </a:ln>
        </p:spPr>
      </p:sp>
      <p:sp>
        <p:nvSpPr>
          <p:cNvPr id="6" name="Shape 4"/>
          <p:cNvSpPr/>
          <p:nvPr/>
        </p:nvSpPr>
        <p:spPr>
          <a:xfrm>
            <a:off x="365760" y="1417320"/>
            <a:ext cx="73152" cy="1005840"/>
          </a:xfrm>
          <a:prstGeom prst="rect">
            <a:avLst/>
          </a:prstGeom>
          <a:solidFill>
            <a:srgbClr val="101C4F"/>
          </a:solidFill>
          <a:ln w="12700">
            <a:solidFill>
              <a:srgbClr val="101C4F"/>
            </a:solidFill>
            <a:prstDash val="solid"/>
          </a:ln>
        </p:spPr>
      </p:sp>
      <p:sp>
        <p:nvSpPr>
          <p:cNvPr id="7" name="Text 5"/>
          <p:cNvSpPr/>
          <p:nvPr/>
        </p:nvSpPr>
        <p:spPr>
          <a:xfrm>
            <a:off x="548640" y="1472184"/>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FROM T+5 TO T+1 — INDIA'S JOURNEY</a:t>
            </a:r>
            <a:endParaRPr lang="en-US" sz="1000" dirty="0"/>
          </a:p>
        </p:txBody>
      </p:sp>
      <p:sp>
        <p:nvSpPr>
          <p:cNvPr id="8" name="Text 6"/>
          <p:cNvSpPr/>
          <p:nvPr/>
        </p:nvSpPr>
        <p:spPr>
          <a:xfrm>
            <a:off x="548640" y="1764792"/>
            <a:ext cx="4480560" cy="566928"/>
          </a:xfrm>
          <a:prstGeom prst="rect">
            <a:avLst/>
          </a:prstGeom>
          <a:noFill/>
          <a:ln/>
        </p:spPr>
        <p:txBody>
          <a:bodyPr wrap="square" lIns="0" tIns="0" rIns="0" bIns="0" rtlCol="0" anchor="ctr"/>
          <a:lstStyle/>
          <a:p>
            <a:pPr indent="0" marL="0">
              <a:buNone/>
            </a:pPr>
            <a:r>
              <a:rPr lang="en-US" sz="900" dirty="0">
                <a:solidFill>
                  <a:srgbClr val="1A2340"/>
                </a:solidFill>
              </a:rPr>
              <a:t>1990s: T+5 (5 days!). 2001: T+3. 2003: T+2. 2023: T+1 for top stocks. Each step reduced settlement risk enormously.</a:t>
            </a:r>
            <a:endParaRPr lang="en-US" sz="900" dirty="0"/>
          </a:p>
        </p:txBody>
      </p:sp>
      <p:sp>
        <p:nvSpPr>
          <p:cNvPr id="9" name="Shape 7"/>
          <p:cNvSpPr/>
          <p:nvPr/>
        </p:nvSpPr>
        <p:spPr>
          <a:xfrm>
            <a:off x="365760" y="2532888"/>
            <a:ext cx="4846320" cy="1005840"/>
          </a:xfrm>
          <a:prstGeom prst="rect">
            <a:avLst/>
          </a:prstGeom>
          <a:solidFill>
            <a:srgbClr val="F2F4F8"/>
          </a:solidFill>
          <a:ln w="12700">
            <a:solidFill>
              <a:srgbClr val="E0E4EE"/>
            </a:solidFill>
            <a:prstDash val="solid"/>
          </a:ln>
        </p:spPr>
      </p:sp>
      <p:sp>
        <p:nvSpPr>
          <p:cNvPr id="10" name="Shape 8"/>
          <p:cNvSpPr/>
          <p:nvPr/>
        </p:nvSpPr>
        <p:spPr>
          <a:xfrm>
            <a:off x="365760" y="2532888"/>
            <a:ext cx="73152" cy="1005840"/>
          </a:xfrm>
          <a:prstGeom prst="rect">
            <a:avLst/>
          </a:prstGeom>
          <a:solidFill>
            <a:srgbClr val="101C4F"/>
          </a:solidFill>
          <a:ln w="12700">
            <a:solidFill>
              <a:srgbClr val="101C4F"/>
            </a:solidFill>
            <a:prstDash val="solid"/>
          </a:ln>
        </p:spPr>
      </p:sp>
      <p:sp>
        <p:nvSpPr>
          <p:cNvPr id="11" name="Text 9"/>
          <p:cNvSpPr/>
          <p:nvPr/>
        </p:nvSpPr>
        <p:spPr>
          <a:xfrm>
            <a:off x="548640" y="2587752"/>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WHAT SETTLEMENT RISK MEANS</a:t>
            </a:r>
            <a:endParaRPr lang="en-US" sz="1000" dirty="0"/>
          </a:p>
        </p:txBody>
      </p:sp>
      <p:sp>
        <p:nvSpPr>
          <p:cNvPr id="12" name="Text 10"/>
          <p:cNvSpPr/>
          <p:nvPr/>
        </p:nvSpPr>
        <p:spPr>
          <a:xfrm>
            <a:off x="548640" y="2880360"/>
            <a:ext cx="4480560" cy="566928"/>
          </a:xfrm>
          <a:prstGeom prst="rect">
            <a:avLst/>
          </a:prstGeom>
          <a:noFill/>
          <a:ln/>
        </p:spPr>
        <p:txBody>
          <a:bodyPr wrap="square" lIns="0" tIns="0" rIns="0" bIns="0" rtlCol="0" anchor="ctr"/>
          <a:lstStyle/>
          <a:p>
            <a:pPr indent="0" marL="0">
              <a:buNone/>
            </a:pPr>
            <a:r>
              <a:rPr lang="en-US" sz="900" dirty="0">
                <a:solidFill>
                  <a:srgbClr val="1A2340"/>
                </a:solidFill>
              </a:rPr>
              <a:t>In 5 days, counterparty can default. Price can move dramatically. In T+1, exposure is just 1 day — much safer for systemic risk.</a:t>
            </a:r>
            <a:endParaRPr lang="en-US" sz="900" dirty="0"/>
          </a:p>
        </p:txBody>
      </p:sp>
      <p:sp>
        <p:nvSpPr>
          <p:cNvPr id="13" name="Shape 11"/>
          <p:cNvSpPr/>
          <p:nvPr/>
        </p:nvSpPr>
        <p:spPr>
          <a:xfrm>
            <a:off x="365760" y="3648456"/>
            <a:ext cx="4846320" cy="1005840"/>
          </a:xfrm>
          <a:prstGeom prst="rect">
            <a:avLst/>
          </a:prstGeom>
          <a:solidFill>
            <a:srgbClr val="F2F4F8"/>
          </a:solidFill>
          <a:ln w="12700">
            <a:solidFill>
              <a:srgbClr val="E0E4EE"/>
            </a:solidFill>
            <a:prstDash val="solid"/>
          </a:ln>
        </p:spPr>
      </p:sp>
      <p:sp>
        <p:nvSpPr>
          <p:cNvPr id="14" name="Shape 12"/>
          <p:cNvSpPr/>
          <p:nvPr/>
        </p:nvSpPr>
        <p:spPr>
          <a:xfrm>
            <a:off x="365760" y="3648456"/>
            <a:ext cx="73152" cy="1005840"/>
          </a:xfrm>
          <a:prstGeom prst="rect">
            <a:avLst/>
          </a:prstGeom>
          <a:solidFill>
            <a:srgbClr val="101C4F"/>
          </a:solidFill>
          <a:ln w="12700">
            <a:solidFill>
              <a:srgbClr val="101C4F"/>
            </a:solidFill>
            <a:prstDash val="solid"/>
          </a:ln>
        </p:spPr>
      </p:sp>
      <p:sp>
        <p:nvSpPr>
          <p:cNvPr id="15" name="Text 13"/>
          <p:cNvSpPr/>
          <p:nvPr/>
        </p:nvSpPr>
        <p:spPr>
          <a:xfrm>
            <a:off x="548640" y="3703320"/>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OPS IMPLICATIONS</a:t>
            </a:r>
            <a:endParaRPr lang="en-US" sz="1000" dirty="0"/>
          </a:p>
        </p:txBody>
      </p:sp>
      <p:sp>
        <p:nvSpPr>
          <p:cNvPr id="16" name="Text 14"/>
          <p:cNvSpPr/>
          <p:nvPr/>
        </p:nvSpPr>
        <p:spPr>
          <a:xfrm>
            <a:off x="548640" y="3995928"/>
            <a:ext cx="4480560" cy="566928"/>
          </a:xfrm>
          <a:prstGeom prst="rect">
            <a:avLst/>
          </a:prstGeom>
          <a:noFill/>
          <a:ln/>
        </p:spPr>
        <p:txBody>
          <a:bodyPr wrap="square" lIns="0" tIns="0" rIns="0" bIns="0" rtlCol="0" anchor="ctr"/>
          <a:lstStyle/>
          <a:p>
            <a:pPr indent="0" marL="0">
              <a:buNone/>
            </a:pPr>
            <a:r>
              <a:rPr lang="en-US" sz="900" dirty="0">
                <a:solidFill>
                  <a:srgbClr val="1A2340"/>
                </a:solidFill>
              </a:rPr>
              <a:t>T+1 compresses the settlement window. Ops teams must process and confirm trades same day. Mistakes = failed settlement. Failed settlement = penalties, capital charges, reputation damage.</a:t>
            </a:r>
            <a:endParaRPr lang="en-US" sz="900" dirty="0"/>
          </a:p>
        </p:txBody>
      </p:sp>
      <p:sp>
        <p:nvSpPr>
          <p:cNvPr id="17" name="Shape 15"/>
          <p:cNvSpPr/>
          <p:nvPr/>
        </p:nvSpPr>
        <p:spPr>
          <a:xfrm>
            <a:off x="5394960" y="1417320"/>
            <a:ext cx="3383280" cy="2532888"/>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2000"/>
              </a:srgbClr>
            </a:outerShdw>
          </a:effectLst>
        </p:spPr>
      </p:sp>
      <p:sp>
        <p:nvSpPr>
          <p:cNvPr id="18" name="Text 16"/>
          <p:cNvSpPr/>
          <p:nvPr/>
        </p:nvSpPr>
        <p:spPr>
          <a:xfrm>
            <a:off x="5532120" y="1554480"/>
            <a:ext cx="3108960" cy="347472"/>
          </a:xfrm>
          <a:prstGeom prst="rect">
            <a:avLst/>
          </a:prstGeom>
          <a:noFill/>
          <a:ln/>
        </p:spPr>
        <p:txBody>
          <a:bodyPr wrap="square" lIns="0" tIns="0" rIns="0" bIns="0" rtlCol="0" anchor="ctr"/>
          <a:lstStyle/>
          <a:p>
            <a:pPr indent="0" marL="0">
              <a:buNone/>
            </a:pPr>
            <a:r>
              <a:rPr lang="en-US" sz="1000" b="1" spc="100" kern="0" dirty="0">
                <a:solidFill>
                  <a:srgbClr val="F0A800"/>
                </a:solidFill>
              </a:rPr>
              <a:t>GLOBAL COMPARISON</a:t>
            </a:r>
            <a:endParaRPr lang="en-US" sz="1000" dirty="0"/>
          </a:p>
        </p:txBody>
      </p:sp>
      <p:sp>
        <p:nvSpPr>
          <p:cNvPr id="19" name="Text 17"/>
          <p:cNvSpPr/>
          <p:nvPr/>
        </p:nvSpPr>
        <p:spPr>
          <a:xfrm>
            <a:off x="5532120" y="1938528"/>
            <a:ext cx="3108960" cy="1920240"/>
          </a:xfrm>
          <a:prstGeom prst="rect">
            <a:avLst/>
          </a:prstGeom>
          <a:noFill/>
          <a:ln/>
        </p:spPr>
        <p:txBody>
          <a:bodyPr wrap="square" lIns="0" tIns="0" rIns="0" bIns="0" rtlCol="0" anchor="ctr"/>
          <a:lstStyle/>
          <a:p>
            <a:pPr indent="0" marL="0">
              <a:buNone/>
            </a:pPr>
            <a:r>
              <a:rPr lang="en-US" sz="950" dirty="0">
                <a:solidFill>
                  <a:srgbClr val="FFFFFF"/>
                </a:solidFill>
              </a:rPr>
              <a:t>India: T+1 (2023) ✅</a:t>
            </a:r>
            <a:endParaRPr lang="en-US" sz="950" dirty="0"/>
          </a:p>
          <a:p>
            <a:pPr indent="0" marL="0">
              <a:buNone/>
            </a:pPr>
            <a:r>
              <a:rPr lang="en-US" sz="950" dirty="0">
                <a:solidFill>
                  <a:srgbClr val="FFFFFF"/>
                </a:solidFill>
              </a:rPr>
              <a:t>USA: Moving T+1 (2024)</a:t>
            </a:r>
            <a:endParaRPr lang="en-US" sz="950" dirty="0"/>
          </a:p>
          <a:p>
            <a:pPr indent="0" marL="0">
              <a:buNone/>
            </a:pPr>
            <a:r>
              <a:rPr lang="en-US" sz="950" dirty="0">
                <a:solidFill>
                  <a:srgbClr val="FFFFFF"/>
                </a:solidFill>
              </a:rPr>
              <a:t>Europe: T+2 still</a:t>
            </a:r>
            <a:endParaRPr lang="en-US" sz="950" dirty="0"/>
          </a:p>
          <a:p>
            <a:pPr indent="0" marL="0">
              <a:buNone/>
            </a:pPr>
            <a:r>
              <a:rPr lang="en-US" sz="950" dirty="0">
                <a:solidFill>
                  <a:srgbClr val="FFFFFF"/>
                </a:solidFill>
              </a:rPr>
              <a:t>Japan: T+2 still</a:t>
            </a:r>
            <a:endParaRPr lang="en-US" sz="950" dirty="0"/>
          </a:p>
          <a:p>
            <a:pPr indent="0" marL="0">
              <a:buNone/>
            </a:pPr>
            <a:r>
              <a:rPr lang="en-US" sz="950" dirty="0">
                <a:solidFill>
                  <a:srgbClr val="FFFFFF"/>
                </a:solidFill>
              </a:rPr>
              <a:t>China: T+1 ✅</a:t>
            </a:r>
            <a:endParaRPr lang="en-US" sz="950" dirty="0"/>
          </a:p>
          <a:p>
            <a:pPr indent="0" marL="0">
              <a:buNone/>
            </a:pPr>
            <a:endParaRPr lang="en-US" sz="950" dirty="0"/>
          </a:p>
          <a:p>
            <a:pPr indent="0" marL="0">
              <a:buNone/>
            </a:pPr>
            <a:r>
              <a:rPr lang="en-US" sz="950" dirty="0">
                <a:solidFill>
                  <a:srgbClr val="FFFFFF"/>
                </a:solidFill>
              </a:rPr>
              <a:t>India was FIRST among major markets to implement T+1 for equities.</a:t>
            </a:r>
            <a:endParaRPr lang="en-US" sz="950" dirty="0"/>
          </a:p>
          <a:p>
            <a:pPr indent="0" marL="0">
              <a:buNone/>
            </a:pPr>
            <a:endParaRPr lang="en-US" sz="950" dirty="0"/>
          </a:p>
          <a:p>
            <a:pPr indent="0" marL="0">
              <a:buNone/>
            </a:pPr>
            <a:r>
              <a:rPr lang="en-US" sz="950" dirty="0">
                <a:solidFill>
                  <a:srgbClr val="FFFFFF"/>
                </a:solidFill>
              </a:rPr>
              <a:t>For IB Ops:</a:t>
            </a:r>
            <a:endParaRPr lang="en-US" sz="950" dirty="0"/>
          </a:p>
          <a:p>
            <a:pPr indent="0" marL="0">
              <a:buNone/>
            </a:pPr>
            <a:r>
              <a:rPr lang="en-US" sz="950" dirty="0">
                <a:solidFill>
                  <a:srgbClr val="FFFFFF"/>
                </a:solidFill>
              </a:rPr>
              <a:t>Less time = less room for error.</a:t>
            </a:r>
            <a:endParaRPr lang="en-US" sz="950" dirty="0"/>
          </a:p>
          <a:p>
            <a:pPr indent="0" marL="0">
              <a:buNone/>
            </a:pPr>
            <a:r>
              <a:rPr lang="en-US" sz="950" dirty="0">
                <a:solidFill>
                  <a:srgbClr val="FFFFFF"/>
                </a:solidFill>
              </a:rPr>
              <a:t>Straight-through processing (STP) is essential — manual steps get eliminated.</a:t>
            </a:r>
            <a:endParaRPr lang="en-US" sz="950" dirty="0"/>
          </a:p>
        </p:txBody>
      </p:sp>
      <p:sp>
        <p:nvSpPr>
          <p:cNvPr id="20" name="Shape 18"/>
          <p:cNvSpPr/>
          <p:nvPr/>
        </p:nvSpPr>
        <p:spPr>
          <a:xfrm>
            <a:off x="0" y="4818888"/>
            <a:ext cx="2011680" cy="324612"/>
          </a:xfrm>
          <a:prstGeom prst="rect">
            <a:avLst/>
          </a:prstGeom>
          <a:solidFill>
            <a:srgbClr val="101C4F"/>
          </a:solidFill>
          <a:ln w="12700">
            <a:solidFill>
              <a:srgbClr val="101C4F"/>
            </a:solidFill>
            <a:prstDash val="solid"/>
          </a:ln>
        </p:spPr>
      </p:sp>
      <p:sp>
        <p:nvSpPr>
          <p:cNvPr id="21" name="Text 19"/>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D1.7</a:t>
            </a:r>
            <a:endParaRPr lang="en-US" sz="800" dirty="0"/>
          </a:p>
        </p:txBody>
      </p:sp>
      <p:sp>
        <p:nvSpPr>
          <p:cNvPr id="22" name="Text 20"/>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48</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101C4F"/>
                </a:solidFill>
              </a:rPr>
              <a:t>💬  THINK &amp; DISCUSS</a:t>
            </a:r>
            <a:endParaRPr lang="en-US" sz="1000" dirty="0"/>
          </a:p>
        </p:txBody>
      </p:sp>
      <p:sp>
        <p:nvSpPr>
          <p:cNvPr id="4" name="Text 2"/>
          <p:cNvSpPr/>
          <p:nvPr/>
        </p:nvSpPr>
        <p:spPr>
          <a:xfrm>
            <a:off x="457200" y="822960"/>
            <a:ext cx="8229600" cy="777240"/>
          </a:xfrm>
          <a:prstGeom prst="rect">
            <a:avLst/>
          </a:prstGeom>
          <a:noFill/>
          <a:ln/>
        </p:spPr>
        <p:txBody>
          <a:bodyPr wrap="square" lIns="0" tIns="0" rIns="0" bIns="0" rtlCol="0" anchor="ctr"/>
          <a:lstStyle/>
          <a:p>
            <a:pPr algn="ctr" indent="0" marL="0">
              <a:buNone/>
            </a:pPr>
            <a:r>
              <a:rPr lang="en-US" sz="1500" b="1" dirty="0">
                <a:solidFill>
                  <a:srgbClr val="101C4F"/>
                </a:solidFill>
              </a:rPr>
              <a:t>Should India move to T+0 (same-day) settlement? SEBI has already started a pilot.</a:t>
            </a:r>
            <a:endParaRPr lang="en-US" sz="1500" dirty="0"/>
          </a:p>
        </p:txBody>
      </p:sp>
      <p:sp>
        <p:nvSpPr>
          <p:cNvPr id="5" name="Shape 3"/>
          <p:cNvSpPr/>
          <p:nvPr/>
        </p:nvSpPr>
        <p:spPr>
          <a:xfrm>
            <a:off x="4572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457200" y="1737360"/>
            <a:ext cx="3977640" cy="73152"/>
          </a:xfrm>
          <a:prstGeom prst="rect">
            <a:avLst/>
          </a:prstGeom>
          <a:solidFill>
            <a:srgbClr val="007A87"/>
          </a:solidFill>
          <a:ln w="12700">
            <a:solidFill>
              <a:srgbClr val="007A87"/>
            </a:solidFill>
            <a:prstDash val="solid"/>
          </a:ln>
        </p:spPr>
      </p:sp>
      <p:sp>
        <p:nvSpPr>
          <p:cNvPr id="7" name="Text 5"/>
          <p:cNvSpPr/>
          <p:nvPr/>
        </p:nvSpPr>
        <p:spPr>
          <a:xfrm>
            <a:off x="594360" y="1828800"/>
            <a:ext cx="3657600" cy="320040"/>
          </a:xfrm>
          <a:prstGeom prst="rect">
            <a:avLst/>
          </a:prstGeom>
          <a:noFill/>
          <a:ln/>
        </p:spPr>
        <p:txBody>
          <a:bodyPr wrap="square" lIns="0" tIns="0" rIns="0" bIns="0" rtlCol="0" anchor="ctr"/>
          <a:lstStyle/>
          <a:p>
            <a:pPr indent="0" marL="0">
              <a:buNone/>
            </a:pPr>
            <a:r>
              <a:rPr lang="en-US" sz="1000" b="1" dirty="0">
                <a:solidFill>
                  <a:srgbClr val="007A87"/>
                </a:solidFill>
              </a:rPr>
              <a:t>🟢 T+0 IS THE FUTURE</a:t>
            </a:r>
            <a:endParaRPr lang="en-US" sz="1000" dirty="0"/>
          </a:p>
        </p:txBody>
      </p:sp>
      <p:sp>
        <p:nvSpPr>
          <p:cNvPr id="8" name="Text 6"/>
          <p:cNvSpPr/>
          <p:nvPr/>
        </p:nvSpPr>
        <p:spPr>
          <a:xfrm>
            <a:off x="5943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Zero overnight risk. Instant finality. Increases capital efficiency — no funds locked for 24 hours. Crypto already does instant settlement.</a:t>
            </a:r>
            <a:endParaRPr lang="en-US" sz="950" dirty="0"/>
          </a:p>
        </p:txBody>
      </p:sp>
      <p:sp>
        <p:nvSpPr>
          <p:cNvPr id="9" name="Shape 7"/>
          <p:cNvSpPr/>
          <p:nvPr/>
        </p:nvSpPr>
        <p:spPr>
          <a:xfrm>
            <a:off x="48006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4800600" y="1737360"/>
            <a:ext cx="3977640" cy="73152"/>
          </a:xfrm>
          <a:prstGeom prst="rect">
            <a:avLst/>
          </a:prstGeom>
          <a:solidFill>
            <a:srgbClr val="101C4F"/>
          </a:solidFill>
          <a:ln w="12700">
            <a:solidFill>
              <a:srgbClr val="101C4F"/>
            </a:solidFill>
            <a:prstDash val="solid"/>
          </a:ln>
        </p:spPr>
      </p:sp>
      <p:sp>
        <p:nvSpPr>
          <p:cNvPr id="11" name="Text 9"/>
          <p:cNvSpPr/>
          <p:nvPr/>
        </p:nvSpPr>
        <p:spPr>
          <a:xfrm>
            <a:off x="4937760" y="1828800"/>
            <a:ext cx="3657600" cy="320040"/>
          </a:xfrm>
          <a:prstGeom prst="rect">
            <a:avLst/>
          </a:prstGeom>
          <a:noFill/>
          <a:ln/>
        </p:spPr>
        <p:txBody>
          <a:bodyPr wrap="square" lIns="0" tIns="0" rIns="0" bIns="0" rtlCol="0" anchor="ctr"/>
          <a:lstStyle/>
          <a:p>
            <a:pPr indent="0" marL="0">
              <a:buNone/>
            </a:pPr>
            <a:r>
              <a:rPr lang="en-US" sz="1000" b="1" dirty="0">
                <a:solidFill>
                  <a:srgbClr val="101C4F"/>
                </a:solidFill>
              </a:rPr>
              <a:t>🔴 T+0 HAS PROBLEMS</a:t>
            </a:r>
            <a:endParaRPr lang="en-US" sz="1000" dirty="0"/>
          </a:p>
        </p:txBody>
      </p:sp>
      <p:sp>
        <p:nvSpPr>
          <p:cNvPr id="12" name="Text 10"/>
          <p:cNvSpPr/>
          <p:nvPr/>
        </p:nvSpPr>
        <p:spPr>
          <a:xfrm>
            <a:off x="49377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Ops teams need time to process errors. Pre-funding required (you must have shares/cash BEFORE trading). Disadvantages retail vs institutional.</a:t>
            </a:r>
            <a:endParaRPr lang="en-US" sz="950" dirty="0"/>
          </a:p>
        </p:txBody>
      </p:sp>
      <p:sp>
        <p:nvSpPr>
          <p:cNvPr id="13" name="Shape 11"/>
          <p:cNvSpPr/>
          <p:nvPr/>
        </p:nvSpPr>
        <p:spPr>
          <a:xfrm>
            <a:off x="457200" y="3337560"/>
            <a:ext cx="8229600" cy="777240"/>
          </a:xfrm>
          <a:prstGeom prst="rect">
            <a:avLst/>
          </a:prstGeom>
          <a:solidFill>
            <a:srgbClr val="007A87"/>
          </a:solidFill>
          <a:ln w="12700">
            <a:solidFill>
              <a:srgbClr val="007A87"/>
            </a:solidFill>
            <a:prstDash val="solid"/>
          </a:ln>
        </p:spPr>
      </p:sp>
      <p:sp>
        <p:nvSpPr>
          <p:cNvPr id="14" name="Text 12"/>
          <p:cNvSpPr/>
          <p:nvPr/>
        </p:nvSpPr>
        <p:spPr>
          <a:xfrm>
            <a:off x="640080" y="3337560"/>
            <a:ext cx="7863840" cy="777240"/>
          </a:xfrm>
          <a:prstGeom prst="rect">
            <a:avLst/>
          </a:prstGeom>
          <a:noFill/>
          <a:ln/>
        </p:spPr>
        <p:txBody>
          <a:bodyPr wrap="square" lIns="0" tIns="0" rIns="0" bIns="0" rtlCol="0" anchor="ctr"/>
          <a:lstStyle/>
          <a:p>
            <a:pPr indent="0" marL="0">
              <a:buNone/>
            </a:pPr>
            <a:r>
              <a:rPr lang="en-US" sz="1000" dirty="0">
                <a:solidFill>
                  <a:srgbClr val="FFFFFF"/>
                </a:solidFill>
              </a:rPr>
              <a:t>💡 SEBI launched optional T+0 in March 2024 for 25 stocks. Institutional uptake is low — institutions need time to confirm trades with custodians and fund managers. T+1 with STP may be the practical optimum for India.</a:t>
            </a:r>
            <a:endParaRPr lang="en-US" sz="1000" dirty="0"/>
          </a:p>
        </p:txBody>
      </p:sp>
      <p:sp>
        <p:nvSpPr>
          <p:cNvPr id="15" name="Shape 13"/>
          <p:cNvSpPr/>
          <p:nvPr/>
        </p:nvSpPr>
        <p:spPr>
          <a:xfrm>
            <a:off x="0" y="4818888"/>
            <a:ext cx="2011680" cy="324612"/>
          </a:xfrm>
          <a:prstGeom prst="rect">
            <a:avLst/>
          </a:prstGeom>
          <a:solidFill>
            <a:srgbClr val="101C4F"/>
          </a:solidFill>
          <a:ln w="12700">
            <a:solidFill>
              <a:srgbClr val="101C4F"/>
            </a:solidFill>
            <a:prstDash val="solid"/>
          </a:ln>
        </p:spPr>
      </p:sp>
      <p:sp>
        <p:nvSpPr>
          <p:cNvPr id="16" name="Text 14"/>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D1.7</a:t>
            </a:r>
            <a:endParaRPr lang="en-US" sz="800" dirty="0"/>
          </a:p>
        </p:txBody>
      </p:sp>
      <p:sp>
        <p:nvSpPr>
          <p:cNvPr id="17" name="Text 15"/>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49</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INTERVIEW READY</a:t>
            </a:r>
            <a:endParaRPr lang="en-US" sz="1000" dirty="0"/>
          </a:p>
        </p:txBody>
      </p:sp>
      <p:sp>
        <p:nvSpPr>
          <p:cNvPr id="4" name="Text 2"/>
          <p:cNvSpPr/>
          <p:nvPr/>
        </p:nvSpPr>
        <p:spPr>
          <a:xfrm>
            <a:off x="365760" y="777240"/>
            <a:ext cx="8412480" cy="384048"/>
          </a:xfrm>
          <a:prstGeom prst="rect">
            <a:avLst/>
          </a:prstGeom>
          <a:noFill/>
          <a:ln/>
        </p:spPr>
        <p:txBody>
          <a:bodyPr wrap="square" lIns="0" tIns="0" rIns="0" bIns="0" rtlCol="0" anchor="ctr"/>
          <a:lstStyle/>
          <a:p>
            <a:pPr indent="0" marL="0">
              <a:buNone/>
            </a:pPr>
            <a:r>
              <a:rPr lang="en-US" sz="1200" i="1" dirty="0">
                <a:solidFill>
                  <a:srgbClr val="4A5568"/>
                </a:solidFill>
              </a:rPr>
              <a:t>Questions you WILL get asked — know these cold.</a:t>
            </a:r>
            <a:endParaRPr lang="en-US" sz="1200" dirty="0"/>
          </a:p>
        </p:txBody>
      </p:sp>
      <p:sp>
        <p:nvSpPr>
          <p:cNvPr id="5" name="Shape 3"/>
          <p:cNvSpPr/>
          <p:nvPr/>
        </p:nvSpPr>
        <p:spPr>
          <a:xfrm>
            <a:off x="365760" y="128016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65760" y="1280160"/>
            <a:ext cx="73152" cy="987552"/>
          </a:xfrm>
          <a:prstGeom prst="rect">
            <a:avLst/>
          </a:prstGeom>
          <a:solidFill>
            <a:srgbClr val="F0A800"/>
          </a:solidFill>
          <a:ln w="12700">
            <a:solidFill>
              <a:srgbClr val="F0A800"/>
            </a:solidFill>
            <a:prstDash val="solid"/>
          </a:ln>
        </p:spPr>
      </p:sp>
      <p:sp>
        <p:nvSpPr>
          <p:cNvPr id="7" name="Text 5"/>
          <p:cNvSpPr/>
          <p:nvPr/>
        </p:nvSpPr>
        <p:spPr>
          <a:xfrm>
            <a:off x="548640" y="133502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Q1: What is the difference between a market order and a limit order?</a:t>
            </a:r>
            <a:endParaRPr lang="en-US" sz="1000" dirty="0"/>
          </a:p>
        </p:txBody>
      </p:sp>
      <p:sp>
        <p:nvSpPr>
          <p:cNvPr id="8" name="Text 6"/>
          <p:cNvSpPr/>
          <p:nvPr/>
        </p:nvSpPr>
        <p:spPr>
          <a:xfrm>
            <a:off x="548640" y="1682496"/>
            <a:ext cx="8046720" cy="530352"/>
          </a:xfrm>
          <a:prstGeom prst="rect">
            <a:avLst/>
          </a:prstGeom>
          <a:noFill/>
          <a:ln/>
        </p:spPr>
        <p:txBody>
          <a:bodyPr wrap="square" lIns="0" tIns="0" rIns="0" bIns="0" rtlCol="0" anchor="ctr"/>
          <a:lstStyle/>
          <a:p>
            <a:pPr indent="0" marL="0">
              <a:buNone/>
            </a:pPr>
            <a:r>
              <a:rPr lang="en-US" sz="950" dirty="0">
                <a:solidFill>
                  <a:srgbClr val="1A2340"/>
                </a:solidFill>
              </a:rPr>
              <a:t>→ Market order: buy/sell immediately at the best available current price — guaranteed execution, no price guarantee. Limit order: buy/sell only at specified price or better — price guaranteed, execution not guaranteed.</a:t>
            </a:r>
            <a:endParaRPr lang="en-US" sz="950" dirty="0"/>
          </a:p>
        </p:txBody>
      </p:sp>
      <p:sp>
        <p:nvSpPr>
          <p:cNvPr id="9" name="Shape 7"/>
          <p:cNvSpPr/>
          <p:nvPr/>
        </p:nvSpPr>
        <p:spPr>
          <a:xfrm>
            <a:off x="365760" y="237744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365760" y="2377440"/>
            <a:ext cx="73152" cy="987552"/>
          </a:xfrm>
          <a:prstGeom prst="rect">
            <a:avLst/>
          </a:prstGeom>
          <a:solidFill>
            <a:srgbClr val="F0A800"/>
          </a:solidFill>
          <a:ln w="12700">
            <a:solidFill>
              <a:srgbClr val="F0A800"/>
            </a:solidFill>
            <a:prstDash val="solid"/>
          </a:ln>
        </p:spPr>
      </p:sp>
      <p:sp>
        <p:nvSpPr>
          <p:cNvPr id="11" name="Text 9"/>
          <p:cNvSpPr/>
          <p:nvPr/>
        </p:nvSpPr>
        <p:spPr>
          <a:xfrm>
            <a:off x="548640" y="243230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Q2: What is T+1 settlement and why did India adopt it?</a:t>
            </a:r>
            <a:endParaRPr lang="en-US" sz="1000" dirty="0"/>
          </a:p>
        </p:txBody>
      </p:sp>
      <p:sp>
        <p:nvSpPr>
          <p:cNvPr id="12" name="Text 10"/>
          <p:cNvSpPr/>
          <p:nvPr/>
        </p:nvSpPr>
        <p:spPr>
          <a:xfrm>
            <a:off x="548640" y="2779776"/>
            <a:ext cx="8046720" cy="530352"/>
          </a:xfrm>
          <a:prstGeom prst="rect">
            <a:avLst/>
          </a:prstGeom>
          <a:noFill/>
          <a:ln/>
        </p:spPr>
        <p:txBody>
          <a:bodyPr wrap="square" lIns="0" tIns="0" rIns="0" bIns="0" rtlCol="0" anchor="ctr"/>
          <a:lstStyle/>
          <a:p>
            <a:pPr indent="0" marL="0">
              <a:buNone/>
            </a:pPr>
            <a:r>
              <a:rPr lang="en-US" sz="950" dirty="0">
                <a:solidFill>
                  <a:srgbClr val="1A2340"/>
                </a:solidFill>
              </a:rPr>
              <a:t>→ T+1 means trades executed today are settled (shares credited, funds debited) by the next business day. India adopted it in 2023 to reduce settlement risk (less counterparty exposure), improve capital efficiency, and align with global best practices.</a:t>
            </a:r>
            <a:endParaRPr lang="en-US" sz="950" dirty="0"/>
          </a:p>
        </p:txBody>
      </p:sp>
      <p:sp>
        <p:nvSpPr>
          <p:cNvPr id="13" name="Shape 11"/>
          <p:cNvSpPr/>
          <p:nvPr/>
        </p:nvSpPr>
        <p:spPr>
          <a:xfrm>
            <a:off x="365760" y="347472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365760" y="3474720"/>
            <a:ext cx="73152" cy="987552"/>
          </a:xfrm>
          <a:prstGeom prst="rect">
            <a:avLst/>
          </a:prstGeom>
          <a:solidFill>
            <a:srgbClr val="F0A800"/>
          </a:solidFill>
          <a:ln w="12700">
            <a:solidFill>
              <a:srgbClr val="F0A800"/>
            </a:solidFill>
            <a:prstDash val="solid"/>
          </a:ln>
        </p:spPr>
      </p:sp>
      <p:sp>
        <p:nvSpPr>
          <p:cNvPr id="15" name="Text 13"/>
          <p:cNvSpPr/>
          <p:nvPr/>
        </p:nvSpPr>
        <p:spPr>
          <a:xfrm>
            <a:off x="548640" y="352958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Q3: What is the bid-ask spread and what does a wide spread indicate?</a:t>
            </a:r>
            <a:endParaRPr lang="en-US" sz="1000" dirty="0"/>
          </a:p>
        </p:txBody>
      </p:sp>
      <p:sp>
        <p:nvSpPr>
          <p:cNvPr id="16" name="Text 14"/>
          <p:cNvSpPr/>
          <p:nvPr/>
        </p:nvSpPr>
        <p:spPr>
          <a:xfrm>
            <a:off x="548640" y="3877056"/>
            <a:ext cx="8046720" cy="530352"/>
          </a:xfrm>
          <a:prstGeom prst="rect">
            <a:avLst/>
          </a:prstGeom>
          <a:noFill/>
          <a:ln/>
        </p:spPr>
        <p:txBody>
          <a:bodyPr wrap="square" lIns="0" tIns="0" rIns="0" bIns="0" rtlCol="0" anchor="ctr"/>
          <a:lstStyle/>
          <a:p>
            <a:pPr indent="0" marL="0">
              <a:buNone/>
            </a:pPr>
            <a:r>
              <a:rPr lang="en-US" sz="950" dirty="0">
                <a:solidFill>
                  <a:srgbClr val="1A2340"/>
                </a:solidFill>
              </a:rPr>
              <a:t>→ The spread is the difference between the highest buy price (bid) and lowest sell price (ask). Wide spread indicates low liquidity — few active buyers and sellers, making it expensive to trade. Narrow spread = high liquidity (e.g. Reliance, Infosys).</a:t>
            </a:r>
            <a:endParaRPr lang="en-US" sz="950" dirty="0"/>
          </a:p>
        </p:txBody>
      </p:sp>
      <p:sp>
        <p:nvSpPr>
          <p:cNvPr id="17" name="Shape 15"/>
          <p:cNvSpPr/>
          <p:nvPr/>
        </p:nvSpPr>
        <p:spPr>
          <a:xfrm>
            <a:off x="0" y="4818888"/>
            <a:ext cx="2011680" cy="324612"/>
          </a:xfrm>
          <a:prstGeom prst="rect">
            <a:avLst/>
          </a:prstGeom>
          <a:solidFill>
            <a:srgbClr val="101C4F"/>
          </a:solidFill>
          <a:ln w="12700">
            <a:solidFill>
              <a:srgbClr val="101C4F"/>
            </a:solidFill>
            <a:prstDash val="solid"/>
          </a:ln>
        </p:spPr>
      </p:sp>
      <p:sp>
        <p:nvSpPr>
          <p:cNvPr id="18" name="Text 16"/>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D1.7</a:t>
            </a:r>
            <a:endParaRPr lang="en-US" sz="800" dirty="0"/>
          </a:p>
        </p:txBody>
      </p:sp>
      <p:sp>
        <p:nvSpPr>
          <p:cNvPr id="19" name="Text 17"/>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50</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A87"/>
          </a:solidFill>
          <a:ln w="12700">
            <a:solidFill>
              <a:srgbClr val="007A87"/>
            </a:solidFill>
            <a:prstDash val="solid"/>
          </a:ln>
        </p:spPr>
      </p:sp>
      <p:sp>
        <p:nvSpPr>
          <p:cNvPr id="3" name="Shape 1"/>
          <p:cNvSpPr/>
          <p:nvPr/>
        </p:nvSpPr>
        <p:spPr>
          <a:xfrm>
            <a:off x="384048" y="2212848"/>
            <a:ext cx="201168" cy="201168"/>
          </a:xfrm>
          <a:prstGeom prst="oval">
            <a:avLst/>
          </a:prstGeom>
          <a:solidFill>
            <a:srgbClr val="F0A800"/>
          </a:solidFill>
          <a:ln w="12700">
            <a:solidFill>
              <a:srgbClr val="F0A800"/>
            </a:solidFill>
            <a:prstDash val="solid"/>
          </a:ln>
        </p:spPr>
      </p:sp>
      <p:sp>
        <p:nvSpPr>
          <p:cNvPr id="4" name="Shape 2"/>
          <p:cNvSpPr/>
          <p:nvPr/>
        </p:nvSpPr>
        <p:spPr>
          <a:xfrm>
            <a:off x="457200" y="548640"/>
            <a:ext cx="1188720" cy="384048"/>
          </a:xfrm>
          <a:prstGeom prst="rect">
            <a:avLst/>
          </a:prstGeom>
          <a:solidFill>
            <a:srgbClr val="007A87"/>
          </a:solidFill>
          <a:ln w="12700">
            <a:solidFill>
              <a:srgbClr val="007A87"/>
            </a:solidFill>
            <a:prstDash val="solid"/>
          </a:ln>
        </p:spPr>
      </p:sp>
      <p:sp>
        <p:nvSpPr>
          <p:cNvPr id="5" name="Text 3"/>
          <p:cNvSpPr/>
          <p:nvPr/>
        </p:nvSpPr>
        <p:spPr>
          <a:xfrm>
            <a:off x="457200" y="548640"/>
            <a:ext cx="1188720" cy="384048"/>
          </a:xfrm>
          <a:prstGeom prst="rect">
            <a:avLst/>
          </a:prstGeom>
          <a:noFill/>
          <a:ln/>
        </p:spPr>
        <p:txBody>
          <a:bodyPr wrap="square" lIns="0" tIns="0" rIns="0" bIns="0" rtlCol="0" anchor="ctr"/>
          <a:lstStyle/>
          <a:p>
            <a:pPr algn="ctr" indent="0" marL="0">
              <a:buNone/>
            </a:pPr>
            <a:r>
              <a:rPr lang="en-US" sz="1200" b="1" dirty="0">
                <a:solidFill>
                  <a:srgbClr val="FFFFFF"/>
                </a:solidFill>
              </a:rPr>
              <a:t>D1.8</a:t>
            </a:r>
            <a:endParaRPr lang="en-US" sz="1200" dirty="0"/>
          </a:p>
        </p:txBody>
      </p:sp>
      <p:sp>
        <p:nvSpPr>
          <p:cNvPr id="6" name="Text 4"/>
          <p:cNvSpPr/>
          <p:nvPr/>
        </p:nvSpPr>
        <p:spPr>
          <a:xfrm>
            <a:off x="1828800" y="621792"/>
            <a:ext cx="2743200" cy="274320"/>
          </a:xfrm>
          <a:prstGeom prst="rect">
            <a:avLst/>
          </a:prstGeom>
          <a:noFill/>
          <a:ln/>
        </p:spPr>
        <p:txBody>
          <a:bodyPr wrap="square" lIns="0" tIns="0" rIns="0" bIns="0" rtlCol="0" anchor="ctr"/>
          <a:lstStyle/>
          <a:p>
            <a:pPr algn="l" indent="0" marL="0">
              <a:buNone/>
            </a:pPr>
            <a:r>
              <a:rPr lang="en-US" sz="900" dirty="0">
                <a:solidFill>
                  <a:srgbClr val="007A87"/>
                </a:solidFill>
              </a:rPr>
              <a:t>Unit 8 of 8</a:t>
            </a:r>
            <a:endParaRPr lang="en-US" sz="900" dirty="0"/>
          </a:p>
        </p:txBody>
      </p:sp>
      <p:sp>
        <p:nvSpPr>
          <p:cNvPr id="7" name="Text 5"/>
          <p:cNvSpPr/>
          <p:nvPr/>
        </p:nvSpPr>
        <p:spPr>
          <a:xfrm>
            <a:off x="457200" y="1143000"/>
            <a:ext cx="7772400" cy="1371600"/>
          </a:xfrm>
          <a:prstGeom prst="rect">
            <a:avLst/>
          </a:prstGeom>
          <a:noFill/>
          <a:ln/>
        </p:spPr>
        <p:txBody>
          <a:bodyPr wrap="square" lIns="0" tIns="0" rIns="0" bIns="0" rtlCol="0" anchor="ctr"/>
          <a:lstStyle/>
          <a:p>
            <a:pPr algn="l" indent="0" marL="0">
              <a:buNone/>
            </a:pPr>
            <a:r>
              <a:rPr lang="en-US" sz="3400" b="1" dirty="0">
                <a:solidFill>
                  <a:srgbClr val="FFFFFF"/>
                </a:solidFill>
              </a:rPr>
              <a:t>Order-Driven vs Quote-Driven Markets</a:t>
            </a:r>
            <a:endParaRPr lang="en-US" sz="3400" dirty="0"/>
          </a:p>
        </p:txBody>
      </p:sp>
      <p:sp>
        <p:nvSpPr>
          <p:cNvPr id="8" name="Shape 6"/>
          <p:cNvSpPr/>
          <p:nvPr/>
        </p:nvSpPr>
        <p:spPr>
          <a:xfrm>
            <a:off x="457200" y="2697480"/>
            <a:ext cx="8229600" cy="45720"/>
          </a:xfrm>
          <a:prstGeom prst="rect">
            <a:avLst/>
          </a:prstGeom>
          <a:solidFill>
            <a:srgbClr val="007A87"/>
          </a:solidFill>
          <a:ln w="12700">
            <a:solidFill>
              <a:srgbClr val="007A87"/>
            </a:solidFill>
            <a:prstDash val="solid"/>
          </a:ln>
        </p:spPr>
      </p:sp>
      <p:sp>
        <p:nvSpPr>
          <p:cNvPr id="9" name="Text 7"/>
          <p:cNvSpPr/>
          <p:nvPr/>
        </p:nvSpPr>
        <p:spPr>
          <a:xfrm>
            <a:off x="457200" y="2834640"/>
            <a:ext cx="1463040" cy="320040"/>
          </a:xfrm>
          <a:prstGeom prst="rect">
            <a:avLst/>
          </a:prstGeom>
          <a:noFill/>
          <a:ln/>
        </p:spPr>
        <p:txBody>
          <a:bodyPr wrap="square" lIns="0" tIns="0" rIns="0" bIns="0" rtlCol="0" anchor="ctr"/>
          <a:lstStyle/>
          <a:p>
            <a:pPr algn="l" indent="0" marL="0">
              <a:buNone/>
            </a:pPr>
            <a:r>
              <a:rPr lang="en-US" sz="900" b="1" dirty="0">
                <a:solidFill>
                  <a:srgbClr val="F0A800"/>
                </a:solidFill>
              </a:rPr>
              <a:t>COMPETENCY:</a:t>
            </a:r>
            <a:endParaRPr lang="en-US" sz="900" dirty="0"/>
          </a:p>
        </p:txBody>
      </p:sp>
      <p:sp>
        <p:nvSpPr>
          <p:cNvPr id="10" name="Text 8"/>
          <p:cNvSpPr/>
          <p:nvPr/>
        </p:nvSpPr>
        <p:spPr>
          <a:xfrm>
            <a:off x="1920240" y="2834640"/>
            <a:ext cx="6766560" cy="320040"/>
          </a:xfrm>
          <a:prstGeom prst="rect">
            <a:avLst/>
          </a:prstGeom>
          <a:noFill/>
          <a:ln/>
        </p:spPr>
        <p:txBody>
          <a:bodyPr wrap="square" lIns="0" tIns="0" rIns="0" bIns="0" rtlCol="0" anchor="ctr"/>
          <a:lstStyle/>
          <a:p>
            <a:pPr algn="l" indent="0" marL="0">
              <a:buNone/>
            </a:pPr>
            <a:r>
              <a:rPr lang="en-US" sz="900" dirty="0">
                <a:solidFill>
                  <a:srgbClr val="A0B4D0"/>
                </a:solidFill>
              </a:rPr>
              <a:t>Market Microstructure Awareness</a:t>
            </a:r>
            <a:endParaRPr lang="en-US" sz="900" dirty="0"/>
          </a:p>
        </p:txBody>
      </p:sp>
      <p:sp>
        <p:nvSpPr>
          <p:cNvPr id="11" name="Shape 9"/>
          <p:cNvSpPr/>
          <p:nvPr/>
        </p:nvSpPr>
        <p:spPr>
          <a:xfrm>
            <a:off x="164592" y="4818888"/>
            <a:ext cx="8979408" cy="324612"/>
          </a:xfrm>
          <a:prstGeom prst="rect">
            <a:avLst/>
          </a:prstGeom>
          <a:solidFill>
            <a:srgbClr val="F0A800"/>
          </a:solidFill>
          <a:ln w="12700">
            <a:solidFill>
              <a:srgbClr val="F0A800"/>
            </a:solidFill>
            <a:prstDash val="solid"/>
          </a:ln>
        </p:spPr>
      </p:sp>
      <p:sp>
        <p:nvSpPr>
          <p:cNvPr id="12" name="Text 10"/>
          <p:cNvSpPr/>
          <p:nvPr/>
        </p:nvSpPr>
        <p:spPr>
          <a:xfrm>
            <a:off x="457200" y="4818888"/>
            <a:ext cx="8229600" cy="324612"/>
          </a:xfrm>
          <a:prstGeom prst="rect">
            <a:avLst/>
          </a:prstGeom>
          <a:noFill/>
          <a:ln/>
        </p:spPr>
        <p:txBody>
          <a:bodyPr wrap="square" lIns="0" tIns="0" rIns="0" bIns="0" rtlCol="0" anchor="ctr"/>
          <a:lstStyle/>
          <a:p>
            <a:pPr algn="ctr" indent="0" marL="0">
              <a:buNone/>
            </a:pPr>
            <a:r>
              <a:rPr lang="en-US" sz="800" b="1" dirty="0">
                <a:solidFill>
                  <a:srgbClr val="101C4F"/>
                </a:solidFill>
              </a:rPr>
              <a:t>IMARTICUS LEARNING  ·  CIBOP  ·  MODULE 1</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51</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3657600" cy="658368"/>
          </a:xfrm>
          <a:prstGeom prst="rect">
            <a:avLst/>
          </a:prstGeom>
          <a:noFill/>
          <a:ln/>
        </p:spPr>
        <p:txBody>
          <a:bodyPr wrap="square" lIns="0" tIns="0" rIns="0" bIns="0" rtlCol="0" anchor="ctr"/>
          <a:lstStyle/>
          <a:p>
            <a:pPr indent="0" marL="0">
              <a:buNone/>
            </a:pPr>
            <a:r>
              <a:rPr lang="en-US" sz="1000" b="1" spc="200" kern="0" dirty="0">
                <a:solidFill>
                  <a:srgbClr val="007A87"/>
                </a:solidFill>
              </a:rPr>
              <a:t>⟵  QUICK RECAP</a:t>
            </a:r>
            <a:endParaRPr lang="en-US" sz="1000" dirty="0"/>
          </a:p>
        </p:txBody>
      </p:sp>
      <p:sp>
        <p:nvSpPr>
          <p:cNvPr id="4" name="Text 2"/>
          <p:cNvSpPr/>
          <p:nvPr/>
        </p:nvSpPr>
        <p:spPr>
          <a:xfrm>
            <a:off x="4114800" y="0"/>
            <a:ext cx="4663440" cy="658368"/>
          </a:xfrm>
          <a:prstGeom prst="rect">
            <a:avLst/>
          </a:prstGeom>
          <a:noFill/>
          <a:ln/>
        </p:spPr>
        <p:txBody>
          <a:bodyPr wrap="square" lIns="0" tIns="0" rIns="0" bIns="0" rtlCol="0" anchor="ctr"/>
          <a:lstStyle/>
          <a:p>
            <a:pPr algn="r" indent="0" marL="0">
              <a:buNone/>
            </a:pPr>
            <a:r>
              <a:rPr lang="en-US" sz="900" dirty="0">
                <a:solidFill>
                  <a:srgbClr val="A0B4D0"/>
                </a:solidFill>
              </a:rPr>
              <a:t>D1.7 — Secondary Market Activities</a:t>
            </a:r>
            <a:endParaRPr lang="en-US" sz="900" dirty="0"/>
          </a:p>
        </p:txBody>
      </p:sp>
      <p:sp>
        <p:nvSpPr>
          <p:cNvPr id="5" name="Text 3"/>
          <p:cNvSpPr/>
          <p:nvPr/>
        </p:nvSpPr>
        <p:spPr>
          <a:xfrm>
            <a:off x="457200" y="822960"/>
            <a:ext cx="8229600" cy="457200"/>
          </a:xfrm>
          <a:prstGeom prst="rect">
            <a:avLst/>
          </a:prstGeom>
          <a:noFill/>
          <a:ln/>
        </p:spPr>
        <p:txBody>
          <a:bodyPr wrap="square" lIns="0" tIns="0" rIns="0" bIns="0" rtlCol="0" anchor="ctr"/>
          <a:lstStyle/>
          <a:p>
            <a:pPr algn="l" indent="0" marL="0">
              <a:buNone/>
            </a:pPr>
            <a:r>
              <a:rPr lang="en-US" sz="1400" b="1" dirty="0">
                <a:solidFill>
                  <a:srgbClr val="1A2340"/>
                </a:solidFill>
              </a:rPr>
              <a:t>Before we begin — let's make sure the foundation is solid.</a:t>
            </a:r>
            <a:endParaRPr lang="en-US" sz="1400" dirty="0"/>
          </a:p>
        </p:txBody>
      </p:sp>
      <p:sp>
        <p:nvSpPr>
          <p:cNvPr id="6" name="Shape 4"/>
          <p:cNvSpPr/>
          <p:nvPr/>
        </p:nvSpPr>
        <p:spPr>
          <a:xfrm>
            <a:off x="45720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457200" y="1463040"/>
            <a:ext cx="2468880" cy="64008"/>
          </a:xfrm>
          <a:prstGeom prst="rect">
            <a:avLst/>
          </a:prstGeom>
          <a:solidFill>
            <a:srgbClr val="007A87"/>
          </a:solidFill>
          <a:ln w="12700">
            <a:solidFill>
              <a:srgbClr val="007A87"/>
            </a:solidFill>
            <a:prstDash val="solid"/>
          </a:ln>
        </p:spPr>
      </p:sp>
      <p:sp>
        <p:nvSpPr>
          <p:cNvPr id="8" name="Text 6"/>
          <p:cNvSpPr/>
          <p:nvPr/>
        </p:nvSpPr>
        <p:spPr>
          <a:xfrm>
            <a:off x="56692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9" name="Text 7"/>
          <p:cNvSpPr/>
          <p:nvPr/>
        </p:nvSpPr>
        <p:spPr>
          <a:xfrm>
            <a:off x="56692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Order-Driven = Book</a:t>
            </a:r>
            <a:endParaRPr lang="en-US" sz="1050" dirty="0"/>
          </a:p>
        </p:txBody>
      </p:sp>
      <p:sp>
        <p:nvSpPr>
          <p:cNvPr id="10" name="Text 8"/>
          <p:cNvSpPr/>
          <p:nvPr/>
        </p:nvSpPr>
        <p:spPr>
          <a:xfrm>
            <a:off x="56692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All orders enter a central book. System auto-matches best buy with best sell. NSE, BSE. Democratic and transparent.</a:t>
            </a:r>
            <a:endParaRPr lang="en-US" sz="850" dirty="0"/>
          </a:p>
        </p:txBody>
      </p:sp>
      <p:sp>
        <p:nvSpPr>
          <p:cNvPr id="11" name="Shape 9"/>
          <p:cNvSpPr/>
          <p:nvPr/>
        </p:nvSpPr>
        <p:spPr>
          <a:xfrm>
            <a:off x="310896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3108960" y="1463040"/>
            <a:ext cx="2468880" cy="64008"/>
          </a:xfrm>
          <a:prstGeom prst="rect">
            <a:avLst/>
          </a:prstGeom>
          <a:solidFill>
            <a:srgbClr val="007A87"/>
          </a:solidFill>
          <a:ln w="12700">
            <a:solidFill>
              <a:srgbClr val="007A87"/>
            </a:solidFill>
            <a:prstDash val="solid"/>
          </a:ln>
        </p:spPr>
      </p:sp>
      <p:sp>
        <p:nvSpPr>
          <p:cNvPr id="13" name="Text 11"/>
          <p:cNvSpPr/>
          <p:nvPr/>
        </p:nvSpPr>
        <p:spPr>
          <a:xfrm>
            <a:off x="321868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4" name="Text 12"/>
          <p:cNvSpPr/>
          <p:nvPr/>
        </p:nvSpPr>
        <p:spPr>
          <a:xfrm>
            <a:off x="321868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Quote-Driven = Dealer</a:t>
            </a:r>
            <a:endParaRPr lang="en-US" sz="1050" dirty="0"/>
          </a:p>
        </p:txBody>
      </p:sp>
      <p:sp>
        <p:nvSpPr>
          <p:cNvPr id="15" name="Text 13"/>
          <p:cNvSpPr/>
          <p:nvPr/>
        </p:nvSpPr>
        <p:spPr>
          <a:xfrm>
            <a:off x="321868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Market maker posts bid/ask. You transact with the dealer, not another investor. FX market, OTC bonds, OTC derivatives.</a:t>
            </a:r>
            <a:endParaRPr lang="en-US" sz="850" dirty="0"/>
          </a:p>
        </p:txBody>
      </p:sp>
      <p:sp>
        <p:nvSpPr>
          <p:cNvPr id="16" name="Shape 14"/>
          <p:cNvSpPr/>
          <p:nvPr/>
        </p:nvSpPr>
        <p:spPr>
          <a:xfrm>
            <a:off x="5760720" y="1463040"/>
            <a:ext cx="2468880" cy="146304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5760720" y="1463040"/>
            <a:ext cx="2468880" cy="64008"/>
          </a:xfrm>
          <a:prstGeom prst="rect">
            <a:avLst/>
          </a:prstGeom>
          <a:solidFill>
            <a:srgbClr val="007A87"/>
          </a:solidFill>
          <a:ln w="12700">
            <a:solidFill>
              <a:srgbClr val="007A87"/>
            </a:solidFill>
            <a:prstDash val="solid"/>
          </a:ln>
        </p:spPr>
      </p:sp>
      <p:sp>
        <p:nvSpPr>
          <p:cNvPr id="18" name="Text 16"/>
          <p:cNvSpPr/>
          <p:nvPr/>
        </p:nvSpPr>
        <p:spPr>
          <a:xfrm>
            <a:off x="5870448" y="1600200"/>
            <a:ext cx="457200" cy="41148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9" name="Text 17"/>
          <p:cNvSpPr/>
          <p:nvPr/>
        </p:nvSpPr>
        <p:spPr>
          <a:xfrm>
            <a:off x="5870448" y="2011680"/>
            <a:ext cx="2249424" cy="320040"/>
          </a:xfrm>
          <a:prstGeom prst="rect">
            <a:avLst/>
          </a:prstGeom>
          <a:noFill/>
          <a:ln/>
        </p:spPr>
        <p:txBody>
          <a:bodyPr wrap="square" lIns="0" tIns="0" rIns="0" bIns="0" rtlCol="0" anchor="ctr"/>
          <a:lstStyle/>
          <a:p>
            <a:pPr algn="l" indent="0" marL="0">
              <a:buNone/>
            </a:pPr>
            <a:r>
              <a:rPr lang="en-US" sz="1050" b="1" dirty="0">
                <a:solidFill>
                  <a:srgbClr val="101C4F"/>
                </a:solidFill>
              </a:rPr>
              <a:t>Key Trade-Off</a:t>
            </a:r>
            <a:endParaRPr lang="en-US" sz="1050" dirty="0"/>
          </a:p>
        </p:txBody>
      </p:sp>
      <p:sp>
        <p:nvSpPr>
          <p:cNvPr id="20" name="Text 18"/>
          <p:cNvSpPr/>
          <p:nvPr/>
        </p:nvSpPr>
        <p:spPr>
          <a:xfrm>
            <a:off x="5870448" y="2331720"/>
            <a:ext cx="2249424" cy="502920"/>
          </a:xfrm>
          <a:prstGeom prst="rect">
            <a:avLst/>
          </a:prstGeom>
          <a:noFill/>
          <a:ln/>
        </p:spPr>
        <p:txBody>
          <a:bodyPr wrap="square" lIns="0" tIns="0" rIns="0" bIns="0" rtlCol="0" anchor="ctr"/>
          <a:lstStyle/>
          <a:p>
            <a:pPr algn="l" indent="0" marL="0">
              <a:buNone/>
            </a:pPr>
            <a:r>
              <a:rPr lang="en-US" sz="850" dirty="0">
                <a:solidFill>
                  <a:srgbClr val="4A5568"/>
                </a:solidFill>
              </a:rPr>
              <a:t>Order-driven: high transparency, liquidity depends on participants. Quote-driven: guaranteed liquidity (at cost of spread).</a:t>
            </a:r>
            <a:endParaRPr lang="en-US" sz="850" dirty="0"/>
          </a:p>
        </p:txBody>
      </p:sp>
      <p:sp>
        <p:nvSpPr>
          <p:cNvPr id="21" name="Shape 19"/>
          <p:cNvSpPr/>
          <p:nvPr/>
        </p:nvSpPr>
        <p:spPr>
          <a:xfrm>
            <a:off x="0" y="4818888"/>
            <a:ext cx="2011680" cy="324612"/>
          </a:xfrm>
          <a:prstGeom prst="rect">
            <a:avLst/>
          </a:prstGeom>
          <a:solidFill>
            <a:srgbClr val="101C4F"/>
          </a:solidFill>
          <a:ln w="12700">
            <a:solidFill>
              <a:srgbClr val="101C4F"/>
            </a:solidFill>
            <a:prstDash val="solid"/>
          </a:ln>
        </p:spPr>
      </p:sp>
      <p:sp>
        <p:nvSpPr>
          <p:cNvPr id="22" name="Text 2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D1.8</a:t>
            </a:r>
            <a:endParaRPr lang="en-US" sz="800" dirty="0"/>
          </a:p>
        </p:txBody>
      </p:sp>
      <p:sp>
        <p:nvSpPr>
          <p:cNvPr id="23" name="Text 2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52</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SCENARIO</a:t>
            </a:r>
            <a:endParaRPr lang="en-US" sz="1000" dirty="0"/>
          </a:p>
        </p:txBody>
      </p:sp>
      <p:sp>
        <p:nvSpPr>
          <p:cNvPr id="4" name="Shape 2"/>
          <p:cNvSpPr/>
          <p:nvPr/>
        </p:nvSpPr>
        <p:spPr>
          <a:xfrm>
            <a:off x="365760" y="822960"/>
            <a:ext cx="8412480" cy="2011680"/>
          </a:xfrm>
          <a:prstGeom prst="rect">
            <a:avLst/>
          </a:prstGeom>
          <a:solidFill>
            <a:srgbClr val="FDF6E3"/>
          </a:solidFill>
          <a:ln w="12700">
            <a:solidFill>
              <a:srgbClr val="F0A800"/>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365760" y="822960"/>
            <a:ext cx="91440" cy="2011680"/>
          </a:xfrm>
          <a:prstGeom prst="rect">
            <a:avLst/>
          </a:prstGeom>
          <a:solidFill>
            <a:srgbClr val="F0A800"/>
          </a:solidFill>
          <a:ln w="12700">
            <a:solidFill>
              <a:srgbClr val="F0A800"/>
            </a:solidFill>
            <a:prstDash val="solid"/>
          </a:ln>
        </p:spPr>
      </p:sp>
      <p:sp>
        <p:nvSpPr>
          <p:cNvPr id="6" name="Text 4"/>
          <p:cNvSpPr/>
          <p:nvPr/>
        </p:nvSpPr>
        <p:spPr>
          <a:xfrm>
            <a:off x="594360" y="914400"/>
            <a:ext cx="8046720" cy="365760"/>
          </a:xfrm>
          <a:prstGeom prst="rect">
            <a:avLst/>
          </a:prstGeom>
          <a:noFill/>
          <a:ln/>
        </p:spPr>
        <p:txBody>
          <a:bodyPr wrap="square" lIns="0" tIns="0" rIns="0" bIns="0" rtlCol="0" anchor="ctr"/>
          <a:lstStyle/>
          <a:p>
            <a:pPr algn="l" indent="0" marL="0">
              <a:buNone/>
            </a:pPr>
            <a:r>
              <a:rPr lang="en-US" sz="1200" b="1" dirty="0">
                <a:solidFill>
                  <a:srgbClr val="1A2340"/>
                </a:solidFill>
              </a:rPr>
              <a:t>Kavi buys Infosys shares (NSE) and his company buys USD (HDFC Bank).</a:t>
            </a:r>
            <a:endParaRPr lang="en-US" sz="1200" dirty="0"/>
          </a:p>
        </p:txBody>
      </p:sp>
      <p:sp>
        <p:nvSpPr>
          <p:cNvPr id="7" name="Text 5"/>
          <p:cNvSpPr/>
          <p:nvPr/>
        </p:nvSpPr>
        <p:spPr>
          <a:xfrm>
            <a:off x="594360" y="1325880"/>
            <a:ext cx="8046720" cy="1371600"/>
          </a:xfrm>
          <a:prstGeom prst="rect">
            <a:avLst/>
          </a:prstGeom>
          <a:noFill/>
          <a:ln/>
        </p:spPr>
        <p:txBody>
          <a:bodyPr wrap="square" lIns="0" tIns="0" rIns="0" bIns="0" rtlCol="0" anchor="ctr"/>
          <a:lstStyle/>
          <a:p>
            <a:pPr algn="l" indent="0" marL="0">
              <a:buNone/>
            </a:pPr>
            <a:r>
              <a:rPr lang="en-US" sz="1050" dirty="0">
                <a:solidFill>
                  <a:srgbClr val="1A2340"/>
                </a:solidFill>
              </a:rPr>
              <a:t>Kavi places a limit order at ₹1,455 on NSE. The order book shows 23,457 buy orders and 19,832 sell orders stacked at various prices. The matching engine finds a counterparty at ₹1,455. No human involved. Meanwhile, Kavi's employer needs to pay a US vendor $50,000. The CFO calls HDFC Bank's treasury. HDFC trader says: 'We'll give you USD/INR at 83.42.' There's no 'order book' for this — HDFC is making a market. The spread (83.40 bid, 83.45 ask) is HDFC's fee.</a:t>
            </a:r>
            <a:endParaRPr lang="en-US" sz="1050" dirty="0"/>
          </a:p>
        </p:txBody>
      </p:sp>
      <p:sp>
        <p:nvSpPr>
          <p:cNvPr id="8" name="Shape 6"/>
          <p:cNvSpPr/>
          <p:nvPr/>
        </p:nvSpPr>
        <p:spPr>
          <a:xfrm>
            <a:off x="365760" y="2971800"/>
            <a:ext cx="8412480" cy="1005840"/>
          </a:xfrm>
          <a:prstGeom prst="rect">
            <a:avLst/>
          </a:prstGeom>
          <a:solidFill>
            <a:srgbClr val="F2F4F8"/>
          </a:solidFill>
          <a:ln w="12700">
            <a:solidFill>
              <a:srgbClr val="E0E4EE"/>
            </a:solidFill>
            <a:prstDash val="solid"/>
          </a:ln>
        </p:spPr>
      </p:sp>
      <p:sp>
        <p:nvSpPr>
          <p:cNvPr id="9" name="Text 7"/>
          <p:cNvSpPr/>
          <p:nvPr/>
        </p:nvSpPr>
        <p:spPr>
          <a:xfrm>
            <a:off x="548640" y="3035808"/>
            <a:ext cx="1828800" cy="320040"/>
          </a:xfrm>
          <a:prstGeom prst="rect">
            <a:avLst/>
          </a:prstGeom>
          <a:noFill/>
          <a:ln/>
        </p:spPr>
        <p:txBody>
          <a:bodyPr wrap="square" lIns="0" tIns="0" rIns="0" bIns="0" rtlCol="0" anchor="ctr"/>
          <a:lstStyle/>
          <a:p>
            <a:pPr indent="0" marL="0">
              <a:buNone/>
            </a:pPr>
            <a:r>
              <a:rPr lang="en-US" sz="1000" b="1" dirty="0">
                <a:solidFill>
                  <a:srgbClr val="007A87"/>
                </a:solidFill>
              </a:rPr>
              <a:t>🤔  Think about it:</a:t>
            </a:r>
            <a:endParaRPr lang="en-US" sz="1000" dirty="0"/>
          </a:p>
        </p:txBody>
      </p:sp>
      <p:sp>
        <p:nvSpPr>
          <p:cNvPr id="10" name="Text 8"/>
          <p:cNvSpPr/>
          <p:nvPr/>
        </p:nvSpPr>
        <p:spPr>
          <a:xfrm>
            <a:off x="548640" y="3355848"/>
            <a:ext cx="7863840" cy="530352"/>
          </a:xfrm>
          <a:prstGeom prst="rect">
            <a:avLst/>
          </a:prstGeom>
          <a:noFill/>
          <a:ln/>
        </p:spPr>
        <p:txBody>
          <a:bodyPr wrap="square" lIns="0" tIns="0" rIns="0" bIns="0" rtlCol="0" anchor="ctr"/>
          <a:lstStyle/>
          <a:p>
            <a:pPr indent="0" marL="0">
              <a:buNone/>
            </a:pPr>
            <a:r>
              <a:rPr lang="en-US" sz="1050" i="1" dirty="0">
                <a:solidFill>
                  <a:srgbClr val="1A2340"/>
                </a:solidFill>
              </a:rPr>
              <a:t>In the NSE trade, who determined ₹1,455 as the right price? In the FX trade, who determined 83.42 as the rate? What does this difference tell us about market structure?</a:t>
            </a:r>
            <a:endParaRPr lang="en-US" sz="1050" dirty="0"/>
          </a:p>
        </p:txBody>
      </p:sp>
      <p:sp>
        <p:nvSpPr>
          <p:cNvPr id="11" name="Shape 9"/>
          <p:cNvSpPr/>
          <p:nvPr/>
        </p:nvSpPr>
        <p:spPr>
          <a:xfrm>
            <a:off x="0" y="4818888"/>
            <a:ext cx="2011680" cy="324612"/>
          </a:xfrm>
          <a:prstGeom prst="rect">
            <a:avLst/>
          </a:prstGeom>
          <a:solidFill>
            <a:srgbClr val="101C4F"/>
          </a:solidFill>
          <a:ln w="12700">
            <a:solidFill>
              <a:srgbClr val="101C4F"/>
            </a:solidFill>
            <a:prstDash val="solid"/>
          </a:ln>
        </p:spPr>
      </p:sp>
      <p:sp>
        <p:nvSpPr>
          <p:cNvPr id="12" name="Text 10"/>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D1.8</a:t>
            </a:r>
            <a:endParaRPr lang="en-US" sz="800" dirty="0"/>
          </a:p>
        </p:txBody>
      </p:sp>
      <p:sp>
        <p:nvSpPr>
          <p:cNvPr id="13" name="Text 11"/>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53</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KEY CONCEPT</a:t>
            </a:r>
            <a:endParaRPr lang="en-US" sz="1000" dirty="0"/>
          </a:p>
        </p:txBody>
      </p:sp>
      <p:sp>
        <p:nvSpPr>
          <p:cNvPr id="4" name="Text 2"/>
          <p:cNvSpPr/>
          <p:nvPr/>
        </p:nvSpPr>
        <p:spPr>
          <a:xfrm>
            <a:off x="365760" y="777240"/>
            <a:ext cx="8412480" cy="548640"/>
          </a:xfrm>
          <a:prstGeom prst="rect">
            <a:avLst/>
          </a:prstGeom>
          <a:noFill/>
          <a:ln/>
        </p:spPr>
        <p:txBody>
          <a:bodyPr wrap="square" lIns="0" tIns="0" rIns="0" bIns="0" rtlCol="0" anchor="ctr"/>
          <a:lstStyle/>
          <a:p>
            <a:pPr algn="l" indent="0" marL="0">
              <a:buNone/>
            </a:pPr>
            <a:r>
              <a:rPr lang="en-US" sz="2200" b="1" dirty="0">
                <a:solidFill>
                  <a:srgbClr val="101C4F"/>
                </a:solidFill>
              </a:rPr>
              <a:t>Order-Driven vs Quote-Driven Markets</a:t>
            </a:r>
            <a:endParaRPr lang="en-US" sz="2200" dirty="0"/>
          </a:p>
        </p:txBody>
      </p:sp>
      <p:sp>
        <p:nvSpPr>
          <p:cNvPr id="5" name="Shape 3"/>
          <p:cNvSpPr/>
          <p:nvPr/>
        </p:nvSpPr>
        <p:spPr>
          <a:xfrm>
            <a:off x="365760" y="1389888"/>
            <a:ext cx="8412480" cy="777240"/>
          </a:xfrm>
          <a:prstGeom prst="rect">
            <a:avLst/>
          </a:prstGeom>
          <a:solidFill>
            <a:srgbClr val="F2F4F8"/>
          </a:solidFill>
          <a:ln w="12700">
            <a:solidFill>
              <a:srgbClr val="E0E4EE"/>
            </a:solidFill>
            <a:prstDash val="solid"/>
          </a:ln>
        </p:spPr>
      </p:sp>
      <p:sp>
        <p:nvSpPr>
          <p:cNvPr id="6" name="Shape 4"/>
          <p:cNvSpPr/>
          <p:nvPr/>
        </p:nvSpPr>
        <p:spPr>
          <a:xfrm>
            <a:off x="365760" y="1389888"/>
            <a:ext cx="91440" cy="777240"/>
          </a:xfrm>
          <a:prstGeom prst="rect">
            <a:avLst/>
          </a:prstGeom>
          <a:solidFill>
            <a:srgbClr val="007A87"/>
          </a:solidFill>
          <a:ln w="12700">
            <a:solidFill>
              <a:srgbClr val="007A87"/>
            </a:solidFill>
            <a:prstDash val="solid"/>
          </a:ln>
        </p:spPr>
      </p:sp>
      <p:sp>
        <p:nvSpPr>
          <p:cNvPr id="7" name="Text 5"/>
          <p:cNvSpPr/>
          <p:nvPr/>
        </p:nvSpPr>
        <p:spPr>
          <a:xfrm>
            <a:off x="594360" y="1444752"/>
            <a:ext cx="8046720" cy="667512"/>
          </a:xfrm>
          <a:prstGeom prst="rect">
            <a:avLst/>
          </a:prstGeom>
          <a:noFill/>
          <a:ln/>
        </p:spPr>
        <p:txBody>
          <a:bodyPr wrap="square" lIns="0" tIns="0" rIns="0" bIns="0" rtlCol="0" anchor="ctr"/>
          <a:lstStyle/>
          <a:p>
            <a:pPr indent="0" marL="0">
              <a:buNone/>
            </a:pPr>
            <a:r>
              <a:rPr lang="en-US" sz="1050" i="1" dirty="0">
                <a:solidFill>
                  <a:srgbClr val="1A2340"/>
                </a:solidFill>
              </a:rPr>
              <a:t>Two fundamentally different mechanisms for facilitating trades: order-driven markets rely on aggregating orders from all participants; quote-driven markets rely on dealers who commit to trading at posted prices. Most modern markets blend both.</a:t>
            </a:r>
            <a:endParaRPr lang="en-US" sz="1050" dirty="0"/>
          </a:p>
        </p:txBody>
      </p:sp>
      <p:sp>
        <p:nvSpPr>
          <p:cNvPr id="8" name="Shape 6"/>
          <p:cNvSpPr/>
          <p:nvPr/>
        </p:nvSpPr>
        <p:spPr>
          <a:xfrm>
            <a:off x="36576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365760" y="2331720"/>
            <a:ext cx="2000250" cy="64008"/>
          </a:xfrm>
          <a:prstGeom prst="rect">
            <a:avLst/>
          </a:prstGeom>
          <a:solidFill>
            <a:srgbClr val="101C4F"/>
          </a:solidFill>
          <a:ln w="12700">
            <a:solidFill>
              <a:srgbClr val="101C4F"/>
            </a:solidFill>
            <a:prstDash val="solid"/>
          </a:ln>
        </p:spPr>
      </p:sp>
      <p:sp>
        <p:nvSpPr>
          <p:cNvPr id="10" name="Text 8"/>
          <p:cNvSpPr/>
          <p:nvPr/>
        </p:nvSpPr>
        <p:spPr>
          <a:xfrm>
            <a:off x="45720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01</a:t>
            </a:r>
            <a:endParaRPr lang="en-US" sz="1800" dirty="0"/>
          </a:p>
        </p:txBody>
      </p:sp>
      <p:sp>
        <p:nvSpPr>
          <p:cNvPr id="11" name="Text 9"/>
          <p:cNvSpPr/>
          <p:nvPr/>
        </p:nvSpPr>
        <p:spPr>
          <a:xfrm>
            <a:off x="45720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Order-Driven</a:t>
            </a:r>
            <a:endParaRPr lang="en-US" sz="1000" dirty="0"/>
          </a:p>
        </p:txBody>
      </p:sp>
      <p:sp>
        <p:nvSpPr>
          <p:cNvPr id="12" name="Text 10"/>
          <p:cNvSpPr/>
          <p:nvPr/>
        </p:nvSpPr>
        <p:spPr>
          <a:xfrm>
            <a:off x="45720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Central order book. All buy/sell orders visible. System auto-matches best buy with best sell. NSE, BSE, NSE F&amp;O.</a:t>
            </a:r>
            <a:endParaRPr lang="en-US" sz="850" dirty="0"/>
          </a:p>
        </p:txBody>
      </p:sp>
      <p:sp>
        <p:nvSpPr>
          <p:cNvPr id="13" name="Shape 11"/>
          <p:cNvSpPr/>
          <p:nvPr/>
        </p:nvSpPr>
        <p:spPr>
          <a:xfrm>
            <a:off x="250317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2503170" y="2331720"/>
            <a:ext cx="2000250" cy="64008"/>
          </a:xfrm>
          <a:prstGeom prst="rect">
            <a:avLst/>
          </a:prstGeom>
          <a:solidFill>
            <a:srgbClr val="101C4F"/>
          </a:solidFill>
          <a:ln w="12700">
            <a:solidFill>
              <a:srgbClr val="101C4F"/>
            </a:solidFill>
            <a:prstDash val="solid"/>
          </a:ln>
        </p:spPr>
      </p:sp>
      <p:sp>
        <p:nvSpPr>
          <p:cNvPr id="15" name="Text 13"/>
          <p:cNvSpPr/>
          <p:nvPr/>
        </p:nvSpPr>
        <p:spPr>
          <a:xfrm>
            <a:off x="259461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02</a:t>
            </a:r>
            <a:endParaRPr lang="en-US" sz="1800" dirty="0"/>
          </a:p>
        </p:txBody>
      </p:sp>
      <p:sp>
        <p:nvSpPr>
          <p:cNvPr id="16" name="Text 14"/>
          <p:cNvSpPr/>
          <p:nvPr/>
        </p:nvSpPr>
        <p:spPr>
          <a:xfrm>
            <a:off x="259461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Quote-Driven</a:t>
            </a:r>
            <a:endParaRPr lang="en-US" sz="1000" dirty="0"/>
          </a:p>
        </p:txBody>
      </p:sp>
      <p:sp>
        <p:nvSpPr>
          <p:cNvPr id="17" name="Text 15"/>
          <p:cNvSpPr/>
          <p:nvPr/>
        </p:nvSpPr>
        <p:spPr>
          <a:xfrm>
            <a:off x="259461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Dealers post continuous bid/ask. Clients trade with dealer, not each other. Global FX, OTC bonds, OTC derivatives.</a:t>
            </a:r>
            <a:endParaRPr lang="en-US" sz="850" dirty="0"/>
          </a:p>
        </p:txBody>
      </p:sp>
      <p:sp>
        <p:nvSpPr>
          <p:cNvPr id="18" name="Shape 16"/>
          <p:cNvSpPr/>
          <p:nvPr/>
        </p:nvSpPr>
        <p:spPr>
          <a:xfrm>
            <a:off x="464058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4640580" y="2331720"/>
            <a:ext cx="2000250" cy="64008"/>
          </a:xfrm>
          <a:prstGeom prst="rect">
            <a:avLst/>
          </a:prstGeom>
          <a:solidFill>
            <a:srgbClr val="101C4F"/>
          </a:solidFill>
          <a:ln w="12700">
            <a:solidFill>
              <a:srgbClr val="101C4F"/>
            </a:solidFill>
            <a:prstDash val="solid"/>
          </a:ln>
        </p:spPr>
      </p:sp>
      <p:sp>
        <p:nvSpPr>
          <p:cNvPr id="20" name="Text 18"/>
          <p:cNvSpPr/>
          <p:nvPr/>
        </p:nvSpPr>
        <p:spPr>
          <a:xfrm>
            <a:off x="473202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03</a:t>
            </a:r>
            <a:endParaRPr lang="en-US" sz="1800" dirty="0"/>
          </a:p>
        </p:txBody>
      </p:sp>
      <p:sp>
        <p:nvSpPr>
          <p:cNvPr id="21" name="Text 19"/>
          <p:cNvSpPr/>
          <p:nvPr/>
        </p:nvSpPr>
        <p:spPr>
          <a:xfrm>
            <a:off x="473202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Transparency</a:t>
            </a:r>
            <a:endParaRPr lang="en-US" sz="1000" dirty="0"/>
          </a:p>
        </p:txBody>
      </p:sp>
      <p:sp>
        <p:nvSpPr>
          <p:cNvPr id="22" name="Text 20"/>
          <p:cNvSpPr/>
          <p:nvPr/>
        </p:nvSpPr>
        <p:spPr>
          <a:xfrm>
            <a:off x="473202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Order-driven: full order book public. Quote-driven: only dealer quote visible, underlying flow is private to dealer.</a:t>
            </a:r>
            <a:endParaRPr lang="en-US" sz="850" dirty="0"/>
          </a:p>
        </p:txBody>
      </p:sp>
      <p:sp>
        <p:nvSpPr>
          <p:cNvPr id="23" name="Shape 21"/>
          <p:cNvSpPr/>
          <p:nvPr/>
        </p:nvSpPr>
        <p:spPr>
          <a:xfrm>
            <a:off x="6777990" y="2331720"/>
            <a:ext cx="2000250" cy="16459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24" name="Shape 22"/>
          <p:cNvSpPr/>
          <p:nvPr/>
        </p:nvSpPr>
        <p:spPr>
          <a:xfrm>
            <a:off x="6777990" y="2331720"/>
            <a:ext cx="2000250" cy="64008"/>
          </a:xfrm>
          <a:prstGeom prst="rect">
            <a:avLst/>
          </a:prstGeom>
          <a:solidFill>
            <a:srgbClr val="101C4F"/>
          </a:solidFill>
          <a:ln w="12700">
            <a:solidFill>
              <a:srgbClr val="101C4F"/>
            </a:solidFill>
            <a:prstDash val="solid"/>
          </a:ln>
        </p:spPr>
      </p:sp>
      <p:sp>
        <p:nvSpPr>
          <p:cNvPr id="25" name="Text 23"/>
          <p:cNvSpPr/>
          <p:nvPr/>
        </p:nvSpPr>
        <p:spPr>
          <a:xfrm>
            <a:off x="6869430" y="2423160"/>
            <a:ext cx="411480" cy="411480"/>
          </a:xfrm>
          <a:prstGeom prst="rect">
            <a:avLst/>
          </a:prstGeom>
          <a:noFill/>
          <a:ln/>
        </p:spPr>
        <p:txBody>
          <a:bodyPr wrap="square" lIns="0" tIns="0" rIns="0" bIns="0" rtlCol="0" anchor="ctr"/>
          <a:lstStyle/>
          <a:p>
            <a:pPr indent="0" marL="0">
              <a:buNone/>
            </a:pPr>
            <a:r>
              <a:rPr lang="en-US" sz="1800" b="1" dirty="0">
                <a:solidFill>
                  <a:srgbClr val="F0A800"/>
                </a:solidFill>
              </a:rPr>
              <a:t>04</a:t>
            </a:r>
            <a:endParaRPr lang="en-US" sz="1800" dirty="0"/>
          </a:p>
        </p:txBody>
      </p:sp>
      <p:sp>
        <p:nvSpPr>
          <p:cNvPr id="26" name="Text 24"/>
          <p:cNvSpPr/>
          <p:nvPr/>
        </p:nvSpPr>
        <p:spPr>
          <a:xfrm>
            <a:off x="6869430" y="2834640"/>
            <a:ext cx="1817370" cy="347472"/>
          </a:xfrm>
          <a:prstGeom prst="rect">
            <a:avLst/>
          </a:prstGeom>
          <a:noFill/>
          <a:ln/>
        </p:spPr>
        <p:txBody>
          <a:bodyPr wrap="square" lIns="0" tIns="0" rIns="0" bIns="0" rtlCol="0" anchor="ctr"/>
          <a:lstStyle/>
          <a:p>
            <a:pPr indent="0" marL="0">
              <a:buNone/>
            </a:pPr>
            <a:r>
              <a:rPr lang="en-US" sz="1000" b="1" dirty="0">
                <a:solidFill>
                  <a:srgbClr val="101C4F"/>
                </a:solidFill>
              </a:rPr>
              <a:t>Liquidity Model</a:t>
            </a:r>
            <a:endParaRPr lang="en-US" sz="1000" dirty="0"/>
          </a:p>
        </p:txBody>
      </p:sp>
      <p:sp>
        <p:nvSpPr>
          <p:cNvPr id="27" name="Text 25"/>
          <p:cNvSpPr/>
          <p:nvPr/>
        </p:nvSpPr>
        <p:spPr>
          <a:xfrm>
            <a:off x="6869430" y="3182112"/>
            <a:ext cx="1817370" cy="731520"/>
          </a:xfrm>
          <a:prstGeom prst="rect">
            <a:avLst/>
          </a:prstGeom>
          <a:noFill/>
          <a:ln/>
        </p:spPr>
        <p:txBody>
          <a:bodyPr wrap="square" lIns="0" tIns="0" rIns="0" bIns="0" rtlCol="0" anchor="ctr"/>
          <a:lstStyle/>
          <a:p>
            <a:pPr indent="0" marL="0">
              <a:buNone/>
            </a:pPr>
            <a:r>
              <a:rPr lang="en-US" sz="850" dirty="0">
                <a:solidFill>
                  <a:srgbClr val="4A5568"/>
                </a:solidFill>
              </a:rPr>
              <a:t>Order-driven: market participants provide liquidity. Quote-driven: dealer guarantees it — at a cost (the spread).</a:t>
            </a:r>
            <a:endParaRPr lang="en-US" sz="850" dirty="0"/>
          </a:p>
        </p:txBody>
      </p:sp>
      <p:sp>
        <p:nvSpPr>
          <p:cNvPr id="28" name="Shape 26"/>
          <p:cNvSpPr/>
          <p:nvPr/>
        </p:nvSpPr>
        <p:spPr>
          <a:xfrm>
            <a:off x="0" y="4818888"/>
            <a:ext cx="2011680" cy="324612"/>
          </a:xfrm>
          <a:prstGeom prst="rect">
            <a:avLst/>
          </a:prstGeom>
          <a:solidFill>
            <a:srgbClr val="101C4F"/>
          </a:solidFill>
          <a:ln w="12700">
            <a:solidFill>
              <a:srgbClr val="101C4F"/>
            </a:solidFill>
            <a:prstDash val="solid"/>
          </a:ln>
        </p:spPr>
      </p:sp>
      <p:sp>
        <p:nvSpPr>
          <p:cNvPr id="29" name="Text 27"/>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D1.8</a:t>
            </a:r>
            <a:endParaRPr lang="en-US" sz="800" dirty="0"/>
          </a:p>
        </p:txBody>
      </p:sp>
      <p:sp>
        <p:nvSpPr>
          <p:cNvPr id="30" name="Text 28"/>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54</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FFFFF"/>
                </a:solidFill>
              </a:rPr>
              <a:t>🔍  GOING DEEPER</a:t>
            </a:r>
            <a:endParaRPr lang="en-US" sz="1000" dirty="0"/>
          </a:p>
        </p:txBody>
      </p:sp>
      <p:sp>
        <p:nvSpPr>
          <p:cNvPr id="4" name="Text 2"/>
          <p:cNvSpPr/>
          <p:nvPr/>
        </p:nvSpPr>
        <p:spPr>
          <a:xfrm>
            <a:off x="365760" y="777240"/>
            <a:ext cx="8412480" cy="457200"/>
          </a:xfrm>
          <a:prstGeom prst="rect">
            <a:avLst/>
          </a:prstGeom>
          <a:noFill/>
          <a:ln/>
        </p:spPr>
        <p:txBody>
          <a:bodyPr wrap="square" lIns="0" tIns="0" rIns="0" bIns="0" rtlCol="0" anchor="ctr"/>
          <a:lstStyle/>
          <a:p>
            <a:pPr indent="0" marL="0">
              <a:buNone/>
            </a:pPr>
            <a:r>
              <a:rPr lang="en-US" sz="1800" b="1" dirty="0">
                <a:solidFill>
                  <a:srgbClr val="101C4F"/>
                </a:solidFill>
              </a:rPr>
              <a:t>Market Structure and IB Operations</a:t>
            </a:r>
            <a:endParaRPr lang="en-US" sz="1800" dirty="0"/>
          </a:p>
        </p:txBody>
      </p:sp>
      <p:sp>
        <p:nvSpPr>
          <p:cNvPr id="5" name="Shape 3"/>
          <p:cNvSpPr/>
          <p:nvPr/>
        </p:nvSpPr>
        <p:spPr>
          <a:xfrm>
            <a:off x="365760" y="1417320"/>
            <a:ext cx="4846320" cy="1005840"/>
          </a:xfrm>
          <a:prstGeom prst="rect">
            <a:avLst/>
          </a:prstGeom>
          <a:solidFill>
            <a:srgbClr val="F2F4F8"/>
          </a:solidFill>
          <a:ln w="12700">
            <a:solidFill>
              <a:srgbClr val="E0E4EE"/>
            </a:solidFill>
            <a:prstDash val="solid"/>
          </a:ln>
        </p:spPr>
      </p:sp>
      <p:sp>
        <p:nvSpPr>
          <p:cNvPr id="6" name="Shape 4"/>
          <p:cNvSpPr/>
          <p:nvPr/>
        </p:nvSpPr>
        <p:spPr>
          <a:xfrm>
            <a:off x="365760" y="1417320"/>
            <a:ext cx="73152" cy="1005840"/>
          </a:xfrm>
          <a:prstGeom prst="rect">
            <a:avLst/>
          </a:prstGeom>
          <a:solidFill>
            <a:srgbClr val="101C4F"/>
          </a:solidFill>
          <a:ln w="12700">
            <a:solidFill>
              <a:srgbClr val="101C4F"/>
            </a:solidFill>
            <a:prstDash val="solid"/>
          </a:ln>
        </p:spPr>
      </p:sp>
      <p:sp>
        <p:nvSpPr>
          <p:cNvPr id="7" name="Text 5"/>
          <p:cNvSpPr/>
          <p:nvPr/>
        </p:nvSpPr>
        <p:spPr>
          <a:xfrm>
            <a:off x="548640" y="1472184"/>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EXCHANGE-TRADED (ORDER-DRIVEN)</a:t>
            </a:r>
            <a:endParaRPr lang="en-US" sz="1000" dirty="0"/>
          </a:p>
        </p:txBody>
      </p:sp>
      <p:sp>
        <p:nvSpPr>
          <p:cNvPr id="8" name="Text 6"/>
          <p:cNvSpPr/>
          <p:nvPr/>
        </p:nvSpPr>
        <p:spPr>
          <a:xfrm>
            <a:off x="548640" y="1764792"/>
            <a:ext cx="4480560" cy="566928"/>
          </a:xfrm>
          <a:prstGeom prst="rect">
            <a:avLst/>
          </a:prstGeom>
          <a:noFill/>
          <a:ln/>
        </p:spPr>
        <p:txBody>
          <a:bodyPr wrap="square" lIns="0" tIns="0" rIns="0" bIns="0" rtlCol="0" anchor="ctr"/>
          <a:lstStyle/>
          <a:p>
            <a:pPr indent="0" marL="0">
              <a:buNone/>
            </a:pPr>
            <a:r>
              <a:rPr lang="en-US" sz="900" dirty="0">
                <a:solidFill>
                  <a:srgbClr val="1A2340"/>
                </a:solidFill>
              </a:rPr>
              <a:t>NSCCL is CCP. T+1 settlement. SEBI reports all trades. Automated STP from execution to settlement. Lower ops overhead.</a:t>
            </a:r>
            <a:endParaRPr lang="en-US" sz="900" dirty="0"/>
          </a:p>
        </p:txBody>
      </p:sp>
      <p:sp>
        <p:nvSpPr>
          <p:cNvPr id="9" name="Shape 7"/>
          <p:cNvSpPr/>
          <p:nvPr/>
        </p:nvSpPr>
        <p:spPr>
          <a:xfrm>
            <a:off x="365760" y="2532888"/>
            <a:ext cx="4846320" cy="1005840"/>
          </a:xfrm>
          <a:prstGeom prst="rect">
            <a:avLst/>
          </a:prstGeom>
          <a:solidFill>
            <a:srgbClr val="F2F4F8"/>
          </a:solidFill>
          <a:ln w="12700">
            <a:solidFill>
              <a:srgbClr val="E0E4EE"/>
            </a:solidFill>
            <a:prstDash val="solid"/>
          </a:ln>
        </p:spPr>
      </p:sp>
      <p:sp>
        <p:nvSpPr>
          <p:cNvPr id="10" name="Shape 8"/>
          <p:cNvSpPr/>
          <p:nvPr/>
        </p:nvSpPr>
        <p:spPr>
          <a:xfrm>
            <a:off x="365760" y="2532888"/>
            <a:ext cx="73152" cy="1005840"/>
          </a:xfrm>
          <a:prstGeom prst="rect">
            <a:avLst/>
          </a:prstGeom>
          <a:solidFill>
            <a:srgbClr val="101C4F"/>
          </a:solidFill>
          <a:ln w="12700">
            <a:solidFill>
              <a:srgbClr val="101C4F"/>
            </a:solidFill>
            <a:prstDash val="solid"/>
          </a:ln>
        </p:spPr>
      </p:sp>
      <p:sp>
        <p:nvSpPr>
          <p:cNvPr id="11" name="Text 9"/>
          <p:cNvSpPr/>
          <p:nvPr/>
        </p:nvSpPr>
        <p:spPr>
          <a:xfrm>
            <a:off x="548640" y="2587752"/>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OTC (QUOTE-DRIVEN)</a:t>
            </a:r>
            <a:endParaRPr lang="en-US" sz="1000" dirty="0"/>
          </a:p>
        </p:txBody>
      </p:sp>
      <p:sp>
        <p:nvSpPr>
          <p:cNvPr id="12" name="Text 10"/>
          <p:cNvSpPr/>
          <p:nvPr/>
        </p:nvSpPr>
        <p:spPr>
          <a:xfrm>
            <a:off x="548640" y="2880360"/>
            <a:ext cx="4480560" cy="566928"/>
          </a:xfrm>
          <a:prstGeom prst="rect">
            <a:avLst/>
          </a:prstGeom>
          <a:noFill/>
          <a:ln/>
        </p:spPr>
        <p:txBody>
          <a:bodyPr wrap="square" lIns="0" tIns="0" rIns="0" bIns="0" rtlCol="0" anchor="ctr"/>
          <a:lstStyle/>
          <a:p>
            <a:pPr indent="0" marL="0">
              <a:buNone/>
            </a:pPr>
            <a:r>
              <a:rPr lang="en-US" sz="900" dirty="0">
                <a:solidFill>
                  <a:srgbClr val="1A2340"/>
                </a:solidFill>
              </a:rPr>
              <a:t>No CCP by default. Bilateral confirmation (ISDA master agreement). Custom settlement terms. More manual reconciliation. Higher ops cost.</a:t>
            </a:r>
            <a:endParaRPr lang="en-US" sz="900" dirty="0"/>
          </a:p>
        </p:txBody>
      </p:sp>
      <p:sp>
        <p:nvSpPr>
          <p:cNvPr id="13" name="Shape 11"/>
          <p:cNvSpPr/>
          <p:nvPr/>
        </p:nvSpPr>
        <p:spPr>
          <a:xfrm>
            <a:off x="365760" y="3648456"/>
            <a:ext cx="4846320" cy="1005840"/>
          </a:xfrm>
          <a:prstGeom prst="rect">
            <a:avLst/>
          </a:prstGeom>
          <a:solidFill>
            <a:srgbClr val="F2F4F8"/>
          </a:solidFill>
          <a:ln w="12700">
            <a:solidFill>
              <a:srgbClr val="E0E4EE"/>
            </a:solidFill>
            <a:prstDash val="solid"/>
          </a:ln>
        </p:spPr>
      </p:sp>
      <p:sp>
        <p:nvSpPr>
          <p:cNvPr id="14" name="Shape 12"/>
          <p:cNvSpPr/>
          <p:nvPr/>
        </p:nvSpPr>
        <p:spPr>
          <a:xfrm>
            <a:off x="365760" y="3648456"/>
            <a:ext cx="73152" cy="1005840"/>
          </a:xfrm>
          <a:prstGeom prst="rect">
            <a:avLst/>
          </a:prstGeom>
          <a:solidFill>
            <a:srgbClr val="101C4F"/>
          </a:solidFill>
          <a:ln w="12700">
            <a:solidFill>
              <a:srgbClr val="101C4F"/>
            </a:solidFill>
            <a:prstDash val="solid"/>
          </a:ln>
        </p:spPr>
      </p:sp>
      <p:sp>
        <p:nvSpPr>
          <p:cNvPr id="15" name="Text 13"/>
          <p:cNvSpPr/>
          <p:nvPr/>
        </p:nvSpPr>
        <p:spPr>
          <a:xfrm>
            <a:off x="548640" y="3703320"/>
            <a:ext cx="4480560" cy="274320"/>
          </a:xfrm>
          <a:prstGeom prst="rect">
            <a:avLst/>
          </a:prstGeom>
          <a:noFill/>
          <a:ln/>
        </p:spPr>
        <p:txBody>
          <a:bodyPr wrap="square" lIns="0" tIns="0" rIns="0" bIns="0" rtlCol="0" anchor="ctr"/>
          <a:lstStyle/>
          <a:p>
            <a:pPr indent="0" marL="0">
              <a:buNone/>
            </a:pPr>
            <a:r>
              <a:rPr lang="en-US" sz="1000" b="1" dirty="0">
                <a:solidFill>
                  <a:srgbClr val="007A87"/>
                </a:solidFill>
              </a:rPr>
              <a:t>POST-2008 REGULATORY PUSH</a:t>
            </a:r>
            <a:endParaRPr lang="en-US" sz="1000" dirty="0"/>
          </a:p>
        </p:txBody>
      </p:sp>
      <p:sp>
        <p:nvSpPr>
          <p:cNvPr id="16" name="Text 14"/>
          <p:cNvSpPr/>
          <p:nvPr/>
        </p:nvSpPr>
        <p:spPr>
          <a:xfrm>
            <a:off x="548640" y="3995928"/>
            <a:ext cx="4480560" cy="566928"/>
          </a:xfrm>
          <a:prstGeom prst="rect">
            <a:avLst/>
          </a:prstGeom>
          <a:noFill/>
          <a:ln/>
        </p:spPr>
        <p:txBody>
          <a:bodyPr wrap="square" lIns="0" tIns="0" rIns="0" bIns="0" rtlCol="0" anchor="ctr"/>
          <a:lstStyle/>
          <a:p>
            <a:pPr indent="0" marL="0">
              <a:buNone/>
            </a:pPr>
            <a:r>
              <a:rPr lang="en-US" sz="900" dirty="0">
                <a:solidFill>
                  <a:srgbClr val="1A2340"/>
                </a:solidFill>
              </a:rPr>
              <a:t>Global regulators (Dodd-Frank US, EMIR EU) pushed OTC derivatives to central clearing. Created massive ops transformation — trillions of OTC swaps now go through CCPs like LCH, CME.</a:t>
            </a:r>
            <a:endParaRPr lang="en-US" sz="900" dirty="0"/>
          </a:p>
        </p:txBody>
      </p:sp>
      <p:sp>
        <p:nvSpPr>
          <p:cNvPr id="17" name="Shape 15"/>
          <p:cNvSpPr/>
          <p:nvPr/>
        </p:nvSpPr>
        <p:spPr>
          <a:xfrm>
            <a:off x="5394960" y="1417320"/>
            <a:ext cx="3383280" cy="2532888"/>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2000"/>
              </a:srgbClr>
            </a:outerShdw>
          </a:effectLst>
        </p:spPr>
      </p:sp>
      <p:sp>
        <p:nvSpPr>
          <p:cNvPr id="18" name="Text 16"/>
          <p:cNvSpPr/>
          <p:nvPr/>
        </p:nvSpPr>
        <p:spPr>
          <a:xfrm>
            <a:off x="5532120" y="1554480"/>
            <a:ext cx="3108960" cy="347472"/>
          </a:xfrm>
          <a:prstGeom prst="rect">
            <a:avLst/>
          </a:prstGeom>
          <a:noFill/>
          <a:ln/>
        </p:spPr>
        <p:txBody>
          <a:bodyPr wrap="square" lIns="0" tIns="0" rIns="0" bIns="0" rtlCol="0" anchor="ctr"/>
          <a:lstStyle/>
          <a:p>
            <a:pPr indent="0" marL="0">
              <a:buNone/>
            </a:pPr>
            <a:r>
              <a:rPr lang="en-US" sz="1000" b="1" spc="100" kern="0" dirty="0">
                <a:solidFill>
                  <a:srgbClr val="F0A800"/>
                </a:solidFill>
              </a:rPr>
              <a:t>MODULE 1 SYNTHESIS</a:t>
            </a:r>
            <a:endParaRPr lang="en-US" sz="1000" dirty="0"/>
          </a:p>
        </p:txBody>
      </p:sp>
      <p:sp>
        <p:nvSpPr>
          <p:cNvPr id="19" name="Text 17"/>
          <p:cNvSpPr/>
          <p:nvPr/>
        </p:nvSpPr>
        <p:spPr>
          <a:xfrm>
            <a:off x="5532120" y="1938528"/>
            <a:ext cx="3108960" cy="1920240"/>
          </a:xfrm>
          <a:prstGeom prst="rect">
            <a:avLst/>
          </a:prstGeom>
          <a:noFill/>
          <a:ln/>
        </p:spPr>
        <p:txBody>
          <a:bodyPr wrap="square" lIns="0" tIns="0" rIns="0" bIns="0" rtlCol="0" anchor="ctr"/>
          <a:lstStyle/>
          <a:p>
            <a:pPr indent="0" marL="0">
              <a:buNone/>
            </a:pPr>
            <a:r>
              <a:rPr lang="en-US" sz="950" dirty="0">
                <a:solidFill>
                  <a:srgbClr val="FFFFFF"/>
                </a:solidFill>
              </a:rPr>
              <a:t>Financial System →</a:t>
            </a:r>
            <a:endParaRPr lang="en-US" sz="950" dirty="0"/>
          </a:p>
          <a:p>
            <a:pPr indent="0" marL="0">
              <a:buNone/>
            </a:pPr>
            <a:r>
              <a:rPr lang="en-US" sz="950" dirty="0">
                <a:solidFill>
                  <a:srgbClr val="FFFFFF"/>
                </a:solidFill>
              </a:rPr>
              <a:t>channels surplus to deficit</a:t>
            </a:r>
            <a:endParaRPr lang="en-US" sz="950" dirty="0"/>
          </a:p>
          <a:p>
            <a:pPr indent="0" marL="0">
              <a:buNone/>
            </a:pPr>
            <a:endParaRPr lang="en-US" sz="950" dirty="0"/>
          </a:p>
          <a:p>
            <a:pPr indent="0" marL="0">
              <a:buNone/>
            </a:pPr>
            <a:r>
              <a:rPr lang="en-US" sz="950" dirty="0">
                <a:solidFill>
                  <a:srgbClr val="FFFFFF"/>
                </a:solidFill>
              </a:rPr>
              <a:t>Markets →</a:t>
            </a:r>
            <a:endParaRPr lang="en-US" sz="950" dirty="0"/>
          </a:p>
          <a:p>
            <a:pPr indent="0" marL="0">
              <a:buNone/>
            </a:pPr>
            <a:r>
              <a:rPr lang="en-US" sz="950" dirty="0">
                <a:solidFill>
                  <a:srgbClr val="FFFFFF"/>
                </a:solidFill>
              </a:rPr>
              <a:t>primary raises, secondary circulates</a:t>
            </a:r>
            <a:endParaRPr lang="en-US" sz="950" dirty="0"/>
          </a:p>
          <a:p>
            <a:pPr indent="0" marL="0">
              <a:buNone/>
            </a:pPr>
            <a:endParaRPr lang="en-US" sz="950" dirty="0"/>
          </a:p>
          <a:p>
            <a:pPr indent="0" marL="0">
              <a:buNone/>
            </a:pPr>
            <a:r>
              <a:rPr lang="en-US" sz="950" dirty="0">
                <a:solidFill>
                  <a:srgbClr val="FFFFFF"/>
                </a:solidFill>
              </a:rPr>
              <a:t>Participants →</a:t>
            </a:r>
            <a:endParaRPr lang="en-US" sz="950" dirty="0"/>
          </a:p>
          <a:p>
            <a:pPr indent="0" marL="0">
              <a:buNone/>
            </a:pPr>
            <a:r>
              <a:rPr lang="en-US" sz="950" dirty="0">
                <a:solidFill>
                  <a:srgbClr val="FFFFFF"/>
                </a:solidFill>
              </a:rPr>
              <a:t>issuers, investors, intermediaries, regulators</a:t>
            </a:r>
            <a:endParaRPr lang="en-US" sz="950" dirty="0"/>
          </a:p>
          <a:p>
            <a:pPr indent="0" marL="0">
              <a:buNone/>
            </a:pPr>
            <a:endParaRPr lang="en-US" sz="950" dirty="0"/>
          </a:p>
          <a:p>
            <a:pPr indent="0" marL="0">
              <a:buNone/>
            </a:pPr>
            <a:r>
              <a:rPr lang="en-US" sz="950" dirty="0">
                <a:solidFill>
                  <a:srgbClr val="FFFFFF"/>
                </a:solidFill>
              </a:rPr>
              <a:t>Microstructure →</a:t>
            </a:r>
            <a:endParaRPr lang="en-US" sz="950" dirty="0"/>
          </a:p>
          <a:p>
            <a:pPr indent="0" marL="0">
              <a:buNone/>
            </a:pPr>
            <a:r>
              <a:rPr lang="en-US" sz="950" dirty="0">
                <a:solidFill>
                  <a:srgbClr val="FFFFFF"/>
                </a:solidFill>
              </a:rPr>
              <a:t>order-driven (exchange) vs quote-driven (OTC)</a:t>
            </a:r>
            <a:endParaRPr lang="en-US" sz="950" dirty="0"/>
          </a:p>
          <a:p>
            <a:pPr indent="0" marL="0">
              <a:buNone/>
            </a:pPr>
            <a:endParaRPr lang="en-US" sz="950" dirty="0"/>
          </a:p>
          <a:p>
            <a:pPr indent="0" marL="0">
              <a:buNone/>
            </a:pPr>
            <a:r>
              <a:rPr lang="en-US" sz="950" dirty="0">
                <a:solidFill>
                  <a:srgbClr val="FFFFFF"/>
                </a:solidFill>
              </a:rPr>
              <a:t>Operations →</a:t>
            </a:r>
            <a:endParaRPr lang="en-US" sz="950" dirty="0"/>
          </a:p>
          <a:p>
            <a:pPr indent="0" marL="0">
              <a:buNone/>
            </a:pPr>
            <a:r>
              <a:rPr lang="en-US" sz="950" dirty="0">
                <a:solidFill>
                  <a:srgbClr val="FFFFFF"/>
                </a:solidFill>
              </a:rPr>
              <a:t>processes it all, makes it real</a:t>
            </a:r>
            <a:endParaRPr lang="en-US" sz="950" dirty="0"/>
          </a:p>
          <a:p>
            <a:pPr indent="0" marL="0">
              <a:buNone/>
            </a:pPr>
            <a:endParaRPr lang="en-US" sz="950" dirty="0"/>
          </a:p>
          <a:p>
            <a:pPr indent="0" marL="0">
              <a:buNone/>
            </a:pPr>
            <a:r>
              <a:rPr lang="en-US" sz="950" dirty="0">
                <a:solidFill>
                  <a:srgbClr val="FFFFFF"/>
                </a:solidFill>
              </a:rPr>
              <a:t>→ MODULE 2: The Trade Lifecycle begins here.</a:t>
            </a:r>
            <a:endParaRPr lang="en-US" sz="950" dirty="0"/>
          </a:p>
        </p:txBody>
      </p:sp>
      <p:sp>
        <p:nvSpPr>
          <p:cNvPr id="20" name="Shape 18"/>
          <p:cNvSpPr/>
          <p:nvPr/>
        </p:nvSpPr>
        <p:spPr>
          <a:xfrm>
            <a:off x="0" y="4818888"/>
            <a:ext cx="2011680" cy="324612"/>
          </a:xfrm>
          <a:prstGeom prst="rect">
            <a:avLst/>
          </a:prstGeom>
          <a:solidFill>
            <a:srgbClr val="101C4F"/>
          </a:solidFill>
          <a:ln w="12700">
            <a:solidFill>
              <a:srgbClr val="101C4F"/>
            </a:solidFill>
            <a:prstDash val="solid"/>
          </a:ln>
        </p:spPr>
      </p:sp>
      <p:sp>
        <p:nvSpPr>
          <p:cNvPr id="21" name="Text 19"/>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D1.8</a:t>
            </a:r>
            <a:endParaRPr lang="en-US" sz="800" dirty="0"/>
          </a:p>
        </p:txBody>
      </p:sp>
      <p:sp>
        <p:nvSpPr>
          <p:cNvPr id="22" name="Text 20"/>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55</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101C4F"/>
                </a:solidFill>
              </a:rPr>
              <a:t>💬  THINK &amp; DISCUSS</a:t>
            </a:r>
            <a:endParaRPr lang="en-US" sz="1000" dirty="0"/>
          </a:p>
        </p:txBody>
      </p:sp>
      <p:sp>
        <p:nvSpPr>
          <p:cNvPr id="4" name="Text 2"/>
          <p:cNvSpPr/>
          <p:nvPr/>
        </p:nvSpPr>
        <p:spPr>
          <a:xfrm>
            <a:off x="457200" y="822960"/>
            <a:ext cx="8229600" cy="777240"/>
          </a:xfrm>
          <a:prstGeom prst="rect">
            <a:avLst/>
          </a:prstGeom>
          <a:noFill/>
          <a:ln/>
        </p:spPr>
        <p:txBody>
          <a:bodyPr wrap="square" lIns="0" tIns="0" rIns="0" bIns="0" rtlCol="0" anchor="ctr"/>
          <a:lstStyle/>
          <a:p>
            <a:pPr algn="ctr" indent="0" marL="0">
              <a:buNone/>
            </a:pPr>
            <a:r>
              <a:rPr lang="en-US" sz="1500" b="1" dirty="0">
                <a:solidFill>
                  <a:srgbClr val="101C4F"/>
                </a:solidFill>
              </a:rPr>
              <a:t>Should India mandate that all OTC derivatives be traded on exchanges (order-driven)?</a:t>
            </a:r>
            <a:endParaRPr lang="en-US" sz="1500" dirty="0"/>
          </a:p>
        </p:txBody>
      </p:sp>
      <p:sp>
        <p:nvSpPr>
          <p:cNvPr id="5" name="Shape 3"/>
          <p:cNvSpPr/>
          <p:nvPr/>
        </p:nvSpPr>
        <p:spPr>
          <a:xfrm>
            <a:off x="4572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457200" y="1737360"/>
            <a:ext cx="3977640" cy="73152"/>
          </a:xfrm>
          <a:prstGeom prst="rect">
            <a:avLst/>
          </a:prstGeom>
          <a:solidFill>
            <a:srgbClr val="007A87"/>
          </a:solidFill>
          <a:ln w="12700">
            <a:solidFill>
              <a:srgbClr val="007A87"/>
            </a:solidFill>
            <a:prstDash val="solid"/>
          </a:ln>
        </p:spPr>
      </p:sp>
      <p:sp>
        <p:nvSpPr>
          <p:cNvPr id="7" name="Text 5"/>
          <p:cNvSpPr/>
          <p:nvPr/>
        </p:nvSpPr>
        <p:spPr>
          <a:xfrm>
            <a:off x="594360" y="1828800"/>
            <a:ext cx="3657600" cy="320040"/>
          </a:xfrm>
          <a:prstGeom prst="rect">
            <a:avLst/>
          </a:prstGeom>
          <a:noFill/>
          <a:ln/>
        </p:spPr>
        <p:txBody>
          <a:bodyPr wrap="square" lIns="0" tIns="0" rIns="0" bIns="0" rtlCol="0" anchor="ctr"/>
          <a:lstStyle/>
          <a:p>
            <a:pPr indent="0" marL="0">
              <a:buNone/>
            </a:pPr>
            <a:r>
              <a:rPr lang="en-US" sz="1000" b="1" dirty="0">
                <a:solidFill>
                  <a:srgbClr val="007A87"/>
                </a:solidFill>
              </a:rPr>
              <a:t>🟢 FORCE ONTO EXCHANGES</a:t>
            </a:r>
            <a:endParaRPr lang="en-US" sz="1000" dirty="0"/>
          </a:p>
        </p:txBody>
      </p:sp>
      <p:sp>
        <p:nvSpPr>
          <p:cNvPr id="8" name="Text 6"/>
          <p:cNvSpPr/>
          <p:nvPr/>
        </p:nvSpPr>
        <p:spPr>
          <a:xfrm>
            <a:off x="5943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More transparency. Easier to regulate. Central clearing reduces systemic risk. Post-2008 lesson: bilateral OTC = hidden risk.</a:t>
            </a:r>
            <a:endParaRPr lang="en-US" sz="950" dirty="0"/>
          </a:p>
        </p:txBody>
      </p:sp>
      <p:sp>
        <p:nvSpPr>
          <p:cNvPr id="9" name="Shape 7"/>
          <p:cNvSpPr/>
          <p:nvPr/>
        </p:nvSpPr>
        <p:spPr>
          <a:xfrm>
            <a:off x="4800600" y="1737360"/>
            <a:ext cx="3977640" cy="1417320"/>
          </a:xfrm>
          <a:prstGeom prst="rect">
            <a:avLst/>
          </a:prstGeom>
          <a:solidFill>
            <a:srgbClr val="FFFFFF"/>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4800600" y="1737360"/>
            <a:ext cx="3977640" cy="73152"/>
          </a:xfrm>
          <a:prstGeom prst="rect">
            <a:avLst/>
          </a:prstGeom>
          <a:solidFill>
            <a:srgbClr val="101C4F"/>
          </a:solidFill>
          <a:ln w="12700">
            <a:solidFill>
              <a:srgbClr val="101C4F"/>
            </a:solidFill>
            <a:prstDash val="solid"/>
          </a:ln>
        </p:spPr>
      </p:sp>
      <p:sp>
        <p:nvSpPr>
          <p:cNvPr id="11" name="Text 9"/>
          <p:cNvSpPr/>
          <p:nvPr/>
        </p:nvSpPr>
        <p:spPr>
          <a:xfrm>
            <a:off x="4937760" y="1828800"/>
            <a:ext cx="3657600" cy="320040"/>
          </a:xfrm>
          <a:prstGeom prst="rect">
            <a:avLst/>
          </a:prstGeom>
          <a:noFill/>
          <a:ln/>
        </p:spPr>
        <p:txBody>
          <a:bodyPr wrap="square" lIns="0" tIns="0" rIns="0" bIns="0" rtlCol="0" anchor="ctr"/>
          <a:lstStyle/>
          <a:p>
            <a:pPr indent="0" marL="0">
              <a:buNone/>
            </a:pPr>
            <a:r>
              <a:rPr lang="en-US" sz="1000" b="1" dirty="0">
                <a:solidFill>
                  <a:srgbClr val="101C4F"/>
                </a:solidFill>
              </a:rPr>
              <a:t>🔴 OTC SERVES A PURPOSE</a:t>
            </a:r>
            <a:endParaRPr lang="en-US" sz="1000" dirty="0"/>
          </a:p>
        </p:txBody>
      </p:sp>
      <p:sp>
        <p:nvSpPr>
          <p:cNvPr id="12" name="Text 10"/>
          <p:cNvSpPr/>
          <p:nvPr/>
        </p:nvSpPr>
        <p:spPr>
          <a:xfrm>
            <a:off x="4937760" y="2176272"/>
            <a:ext cx="3657600" cy="914400"/>
          </a:xfrm>
          <a:prstGeom prst="rect">
            <a:avLst/>
          </a:prstGeom>
          <a:noFill/>
          <a:ln/>
        </p:spPr>
        <p:txBody>
          <a:bodyPr wrap="square" lIns="0" tIns="0" rIns="0" bIns="0" rtlCol="0" anchor="ctr"/>
          <a:lstStyle/>
          <a:p>
            <a:pPr indent="0" marL="0">
              <a:buNone/>
            </a:pPr>
            <a:r>
              <a:rPr lang="en-US" sz="950" dirty="0">
                <a:solidFill>
                  <a:srgbClr val="1A2340"/>
                </a:solidFill>
              </a:rPr>
              <a:t>Custom derivatives can't be standardised for exchange listing. Corporate hedges need bespoke terms. Forcing onto exchange reduces risk-management utility.</a:t>
            </a:r>
            <a:endParaRPr lang="en-US" sz="950" dirty="0"/>
          </a:p>
        </p:txBody>
      </p:sp>
      <p:sp>
        <p:nvSpPr>
          <p:cNvPr id="13" name="Shape 11"/>
          <p:cNvSpPr/>
          <p:nvPr/>
        </p:nvSpPr>
        <p:spPr>
          <a:xfrm>
            <a:off x="457200" y="3337560"/>
            <a:ext cx="8229600" cy="777240"/>
          </a:xfrm>
          <a:prstGeom prst="rect">
            <a:avLst/>
          </a:prstGeom>
          <a:solidFill>
            <a:srgbClr val="007A87"/>
          </a:solidFill>
          <a:ln w="12700">
            <a:solidFill>
              <a:srgbClr val="007A87"/>
            </a:solidFill>
            <a:prstDash val="solid"/>
          </a:ln>
        </p:spPr>
      </p:sp>
      <p:sp>
        <p:nvSpPr>
          <p:cNvPr id="14" name="Text 12"/>
          <p:cNvSpPr/>
          <p:nvPr/>
        </p:nvSpPr>
        <p:spPr>
          <a:xfrm>
            <a:off x="640080" y="3337560"/>
            <a:ext cx="7863840" cy="777240"/>
          </a:xfrm>
          <a:prstGeom prst="rect">
            <a:avLst/>
          </a:prstGeom>
          <a:noFill/>
          <a:ln/>
        </p:spPr>
        <p:txBody>
          <a:bodyPr wrap="square" lIns="0" tIns="0" rIns="0" bIns="0" rtlCol="0" anchor="ctr"/>
          <a:lstStyle/>
          <a:p>
            <a:pPr indent="0" marL="0">
              <a:buNone/>
            </a:pPr>
            <a:r>
              <a:rPr lang="en-US" sz="1000" dirty="0">
                <a:solidFill>
                  <a:srgbClr val="FFFFFF"/>
                </a:solidFill>
              </a:rPr>
              <a:t>💡 SEBI and RBI have expanded India's trade repository reporting requirements for OTC. CCP clearing is mandatory for some categories (IRS). But fully bespoke derivatives will remain OTC — transparency is achieved through reporting, not exchange-trading.</a:t>
            </a:r>
            <a:endParaRPr lang="en-US" sz="1000" dirty="0"/>
          </a:p>
        </p:txBody>
      </p:sp>
      <p:sp>
        <p:nvSpPr>
          <p:cNvPr id="15" name="Shape 13"/>
          <p:cNvSpPr/>
          <p:nvPr/>
        </p:nvSpPr>
        <p:spPr>
          <a:xfrm>
            <a:off x="0" y="4818888"/>
            <a:ext cx="2011680" cy="324612"/>
          </a:xfrm>
          <a:prstGeom prst="rect">
            <a:avLst/>
          </a:prstGeom>
          <a:solidFill>
            <a:srgbClr val="101C4F"/>
          </a:solidFill>
          <a:ln w="12700">
            <a:solidFill>
              <a:srgbClr val="101C4F"/>
            </a:solidFill>
            <a:prstDash val="solid"/>
          </a:ln>
        </p:spPr>
      </p:sp>
      <p:sp>
        <p:nvSpPr>
          <p:cNvPr id="16" name="Text 14"/>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D1.8</a:t>
            </a:r>
            <a:endParaRPr lang="en-US" sz="800" dirty="0"/>
          </a:p>
        </p:txBody>
      </p:sp>
      <p:sp>
        <p:nvSpPr>
          <p:cNvPr id="17" name="Text 15"/>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56</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000" b="1" spc="200" kern="0" dirty="0">
                <a:solidFill>
                  <a:srgbClr val="F0A800"/>
                </a:solidFill>
              </a:rPr>
              <a:t>🎯  INTERVIEW READY</a:t>
            </a:r>
            <a:endParaRPr lang="en-US" sz="1000" dirty="0"/>
          </a:p>
        </p:txBody>
      </p:sp>
      <p:sp>
        <p:nvSpPr>
          <p:cNvPr id="4" name="Text 2"/>
          <p:cNvSpPr/>
          <p:nvPr/>
        </p:nvSpPr>
        <p:spPr>
          <a:xfrm>
            <a:off x="365760" y="777240"/>
            <a:ext cx="8412480" cy="384048"/>
          </a:xfrm>
          <a:prstGeom prst="rect">
            <a:avLst/>
          </a:prstGeom>
          <a:noFill/>
          <a:ln/>
        </p:spPr>
        <p:txBody>
          <a:bodyPr wrap="square" lIns="0" tIns="0" rIns="0" bIns="0" rtlCol="0" anchor="ctr"/>
          <a:lstStyle/>
          <a:p>
            <a:pPr indent="0" marL="0">
              <a:buNone/>
            </a:pPr>
            <a:r>
              <a:rPr lang="en-US" sz="1200" i="1" dirty="0">
                <a:solidFill>
                  <a:srgbClr val="4A5568"/>
                </a:solidFill>
              </a:rPr>
              <a:t>Questions you WILL get asked — know these cold.</a:t>
            </a:r>
            <a:endParaRPr lang="en-US" sz="1200" dirty="0"/>
          </a:p>
        </p:txBody>
      </p:sp>
      <p:sp>
        <p:nvSpPr>
          <p:cNvPr id="5" name="Shape 3"/>
          <p:cNvSpPr/>
          <p:nvPr/>
        </p:nvSpPr>
        <p:spPr>
          <a:xfrm>
            <a:off x="365760" y="128016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65760" y="1280160"/>
            <a:ext cx="73152" cy="987552"/>
          </a:xfrm>
          <a:prstGeom prst="rect">
            <a:avLst/>
          </a:prstGeom>
          <a:solidFill>
            <a:srgbClr val="F0A800"/>
          </a:solidFill>
          <a:ln w="12700">
            <a:solidFill>
              <a:srgbClr val="F0A800"/>
            </a:solidFill>
            <a:prstDash val="solid"/>
          </a:ln>
        </p:spPr>
      </p:sp>
      <p:sp>
        <p:nvSpPr>
          <p:cNvPr id="7" name="Text 5"/>
          <p:cNvSpPr/>
          <p:nvPr/>
        </p:nvSpPr>
        <p:spPr>
          <a:xfrm>
            <a:off x="548640" y="133502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Q1: What is the difference between an order-driven and a quote-driven market?</a:t>
            </a:r>
            <a:endParaRPr lang="en-US" sz="1000" dirty="0"/>
          </a:p>
        </p:txBody>
      </p:sp>
      <p:sp>
        <p:nvSpPr>
          <p:cNvPr id="8" name="Text 6"/>
          <p:cNvSpPr/>
          <p:nvPr/>
        </p:nvSpPr>
        <p:spPr>
          <a:xfrm>
            <a:off x="548640" y="1682496"/>
            <a:ext cx="8046720" cy="530352"/>
          </a:xfrm>
          <a:prstGeom prst="rect">
            <a:avLst/>
          </a:prstGeom>
          <a:noFill/>
          <a:ln/>
        </p:spPr>
        <p:txBody>
          <a:bodyPr wrap="square" lIns="0" tIns="0" rIns="0" bIns="0" rtlCol="0" anchor="ctr"/>
          <a:lstStyle/>
          <a:p>
            <a:pPr indent="0" marL="0">
              <a:buNone/>
            </a:pPr>
            <a:r>
              <a:rPr lang="en-US" sz="950" dirty="0">
                <a:solidFill>
                  <a:srgbClr val="1A2340"/>
                </a:solidFill>
              </a:rPr>
              <a:t>→ Order-driven: all buyers/sellers enter orders into a central book; system auto-matches best buy/sell — NSE, BSE. Quote-driven: dealers post bid/ask prices; clients trade with the dealer — global FX, OTC bonds, OTC derivatives.</a:t>
            </a:r>
            <a:endParaRPr lang="en-US" sz="950" dirty="0"/>
          </a:p>
        </p:txBody>
      </p:sp>
      <p:sp>
        <p:nvSpPr>
          <p:cNvPr id="9" name="Shape 7"/>
          <p:cNvSpPr/>
          <p:nvPr/>
        </p:nvSpPr>
        <p:spPr>
          <a:xfrm>
            <a:off x="365760" y="237744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365760" y="2377440"/>
            <a:ext cx="73152" cy="987552"/>
          </a:xfrm>
          <a:prstGeom prst="rect">
            <a:avLst/>
          </a:prstGeom>
          <a:solidFill>
            <a:srgbClr val="F0A800"/>
          </a:solidFill>
          <a:ln w="12700">
            <a:solidFill>
              <a:srgbClr val="F0A800"/>
            </a:solidFill>
            <a:prstDash val="solid"/>
          </a:ln>
        </p:spPr>
      </p:sp>
      <p:sp>
        <p:nvSpPr>
          <p:cNvPr id="11" name="Text 9"/>
          <p:cNvSpPr/>
          <p:nvPr/>
        </p:nvSpPr>
        <p:spPr>
          <a:xfrm>
            <a:off x="548640" y="243230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Q2: Why is the FX market quote-driven rather than order-driven?</a:t>
            </a:r>
            <a:endParaRPr lang="en-US" sz="1000" dirty="0"/>
          </a:p>
        </p:txBody>
      </p:sp>
      <p:sp>
        <p:nvSpPr>
          <p:cNvPr id="12" name="Text 10"/>
          <p:cNvSpPr/>
          <p:nvPr/>
        </p:nvSpPr>
        <p:spPr>
          <a:xfrm>
            <a:off x="548640" y="2779776"/>
            <a:ext cx="8046720" cy="530352"/>
          </a:xfrm>
          <a:prstGeom prst="rect">
            <a:avLst/>
          </a:prstGeom>
          <a:noFill/>
          <a:ln/>
        </p:spPr>
        <p:txBody>
          <a:bodyPr wrap="square" lIns="0" tIns="0" rIns="0" bIns="0" rtlCol="0" anchor="ctr"/>
          <a:lstStyle/>
          <a:p>
            <a:pPr indent="0" marL="0">
              <a:buNone/>
            </a:pPr>
            <a:r>
              <a:rPr lang="en-US" sz="950" dirty="0">
                <a:solidFill>
                  <a:srgbClr val="1A2340"/>
                </a:solidFill>
              </a:rPr>
              <a:t>→ FX trades 24 hours globally, OTC, between thousands of counterparties with different sizes and custom needs. There is no single global exchange. Dealers provide continuous liquidity across all trading hours and amounts.</a:t>
            </a:r>
            <a:endParaRPr lang="en-US" sz="950" dirty="0"/>
          </a:p>
        </p:txBody>
      </p:sp>
      <p:sp>
        <p:nvSpPr>
          <p:cNvPr id="13" name="Shape 11"/>
          <p:cNvSpPr/>
          <p:nvPr/>
        </p:nvSpPr>
        <p:spPr>
          <a:xfrm>
            <a:off x="365760" y="3474720"/>
            <a:ext cx="8412480" cy="987552"/>
          </a:xfrm>
          <a:prstGeom prst="rect">
            <a:avLst/>
          </a:prstGeom>
          <a:solidFill>
            <a:srgbClr val="F2F4F8"/>
          </a:solidFill>
          <a:ln w="12700">
            <a:solidFill>
              <a:srgbClr val="E0E4EE"/>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365760" y="3474720"/>
            <a:ext cx="73152" cy="987552"/>
          </a:xfrm>
          <a:prstGeom prst="rect">
            <a:avLst/>
          </a:prstGeom>
          <a:solidFill>
            <a:srgbClr val="F0A800"/>
          </a:solidFill>
          <a:ln w="12700">
            <a:solidFill>
              <a:srgbClr val="F0A800"/>
            </a:solidFill>
            <a:prstDash val="solid"/>
          </a:ln>
        </p:spPr>
      </p:sp>
      <p:sp>
        <p:nvSpPr>
          <p:cNvPr id="15" name="Text 13"/>
          <p:cNvSpPr/>
          <p:nvPr/>
        </p:nvSpPr>
        <p:spPr>
          <a:xfrm>
            <a:off x="548640" y="3529584"/>
            <a:ext cx="8046720" cy="320040"/>
          </a:xfrm>
          <a:prstGeom prst="rect">
            <a:avLst/>
          </a:prstGeom>
          <a:noFill/>
          <a:ln/>
        </p:spPr>
        <p:txBody>
          <a:bodyPr wrap="square" lIns="0" tIns="0" rIns="0" bIns="0" rtlCol="0" anchor="ctr"/>
          <a:lstStyle/>
          <a:p>
            <a:pPr indent="0" marL="0">
              <a:buNone/>
            </a:pPr>
            <a:r>
              <a:rPr lang="en-US" sz="1000" b="1" dirty="0">
                <a:solidFill>
                  <a:srgbClr val="101C4F"/>
                </a:solidFill>
              </a:rPr>
              <a:t>Q3: How does market structure affect investment bank operations?</a:t>
            </a:r>
            <a:endParaRPr lang="en-US" sz="1000" dirty="0"/>
          </a:p>
        </p:txBody>
      </p:sp>
      <p:sp>
        <p:nvSpPr>
          <p:cNvPr id="16" name="Text 14"/>
          <p:cNvSpPr/>
          <p:nvPr/>
        </p:nvSpPr>
        <p:spPr>
          <a:xfrm>
            <a:off x="548640" y="3877056"/>
            <a:ext cx="8046720" cy="530352"/>
          </a:xfrm>
          <a:prstGeom prst="rect">
            <a:avLst/>
          </a:prstGeom>
          <a:noFill/>
          <a:ln/>
        </p:spPr>
        <p:txBody>
          <a:bodyPr wrap="square" lIns="0" tIns="0" rIns="0" bIns="0" rtlCol="0" anchor="ctr"/>
          <a:lstStyle/>
          <a:p>
            <a:pPr indent="0" marL="0">
              <a:buNone/>
            </a:pPr>
            <a:r>
              <a:rPr lang="en-US" sz="950" dirty="0">
                <a:solidFill>
                  <a:srgbClr val="1A2340"/>
                </a:solidFill>
              </a:rPr>
              <a:t>→ Exchange trades: automated settlement via CCP (NSCCL), T+1, SEBI-reported, less manual. OTC trades: bilateral confirmations, custom settlement, ISDA documentation, more manual reconciliation — higher ops cost and complexity.</a:t>
            </a:r>
            <a:endParaRPr lang="en-US" sz="950" dirty="0"/>
          </a:p>
        </p:txBody>
      </p:sp>
      <p:sp>
        <p:nvSpPr>
          <p:cNvPr id="17" name="Shape 15"/>
          <p:cNvSpPr/>
          <p:nvPr/>
        </p:nvSpPr>
        <p:spPr>
          <a:xfrm>
            <a:off x="0" y="4818888"/>
            <a:ext cx="2011680" cy="324612"/>
          </a:xfrm>
          <a:prstGeom prst="rect">
            <a:avLst/>
          </a:prstGeom>
          <a:solidFill>
            <a:srgbClr val="101C4F"/>
          </a:solidFill>
          <a:ln w="12700">
            <a:solidFill>
              <a:srgbClr val="101C4F"/>
            </a:solidFill>
            <a:prstDash val="solid"/>
          </a:ln>
        </p:spPr>
      </p:sp>
      <p:sp>
        <p:nvSpPr>
          <p:cNvPr id="18" name="Text 16"/>
          <p:cNvSpPr/>
          <p:nvPr/>
        </p:nvSpPr>
        <p:spPr>
          <a:xfrm>
            <a:off x="0" y="4818888"/>
            <a:ext cx="2011680" cy="32461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MODULE 1 · D1.8</a:t>
            </a:r>
            <a:endParaRPr lang="en-US" sz="800" dirty="0"/>
          </a:p>
        </p:txBody>
      </p:sp>
      <p:sp>
        <p:nvSpPr>
          <p:cNvPr id="19" name="Text 17"/>
          <p:cNvSpPr/>
          <p:nvPr/>
        </p:nvSpPr>
        <p:spPr>
          <a:xfrm>
            <a:off x="8686800" y="4846320"/>
            <a:ext cx="365760" cy="274320"/>
          </a:xfrm>
          <a:prstGeom prst="rect">
            <a:avLst/>
          </a:prstGeom>
          <a:noFill/>
          <a:ln/>
        </p:spPr>
        <p:txBody>
          <a:bodyPr wrap="square" lIns="0" tIns="0" rIns="0" bIns="0" rtlCol="0" anchor="ctr"/>
          <a:lstStyle/>
          <a:p>
            <a:pPr algn="r" indent="0" marL="0">
              <a:buNone/>
            </a:pPr>
            <a:r>
              <a:rPr lang="en-US" sz="800" dirty="0">
                <a:solidFill>
                  <a:srgbClr val="9AA0B0"/>
                </a:solidFill>
              </a:rPr>
              <a:t>57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CIBOP Module 1 — Introduction to Financial Markets</dc:title>
  <dc:subject>PptxGenJS Presentation</dc:subject>
  <dc:creator>Imarticus Learning</dc:creator>
  <cp:lastModifiedBy>Imarticus Learning</cp:lastModifiedBy>
  <cp:revision>1</cp:revision>
  <dcterms:created xsi:type="dcterms:W3CDTF">2026-05-05T11:28:57Z</dcterms:created>
  <dcterms:modified xsi:type="dcterms:W3CDTF">2026-05-05T11:28:57Z</dcterms:modified>
</cp:coreProperties>
</file>