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CERTIFICATE IN INVESTMENT BANKING OPERATIONS PROGRAMME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417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800"/>
                </a:solidFill>
              </a:rPr>
              <a:t>MODULE G11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Reconciliations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&amp; Custody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FA8"/>
                </a:solidFill>
              </a:rPr>
              <a:t>Learning Deck  ·  71 Slides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G11.1 Intro to Reconciliation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G11.2 Types of Reconciliation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G11.3 Break Management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G11.4 Custody Fundamentals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G11.5 Settlement &amp; Custody Ops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G11.6 Corporate Actions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G11.7 Proxy Voting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G11.8 Securities Lending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G11.9 Prime Brokerage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G11.10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Module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188720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Introduction to Reconciliation in Financial Services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45336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45336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45336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545336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Types of Reconciliation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01952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01952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1901952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The Reconciliation Process and Break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58568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58568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2258568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Custody: Safekeeping and Administration of Securities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15184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15184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15184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2615184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Settlement and Custody Operations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71800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71800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2971800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Corporate Actions Processing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28416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28416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328416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17320" y="3328416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Proxy Voting and Shareholder Services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685032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685032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85032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17320" y="3685032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Securities Lending and Borrowing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041648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041648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041648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417320" y="4041648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Prime Brokerage and Custody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398264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398264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398264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G11.10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417320" y="4398264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Technology and Automation in Reconciliation &amp; Custody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Reconciliation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 Financial Services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What is Reconciliation?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Reconciliation is the process of comparing two independent sets of records to verify they agree and to identify any discrepancies (breaks)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Common record pairs compared: internal ledger vs. counterparty statement, internal vs. custodian, internal vs. CCP/CSD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Performed across cash (nostro), securities (depot/position), P&amp;L, and collateral balances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 'break' is any unresolved difference – its root cause must be investigated and the break resolved or escalated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Reconciliation is a fundamental control: it protects clients, reduces operational risk, and supports regulatory compliance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Why Reconciliation Matters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Prevents errors going undetected: mismatches in cash or positions can mask fraud, operational failures, or system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Protects client assets: confirms segregated client funds/securities are intact and correctly held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Regulatory obligation: MiFID II, CASS, Dodd-Frank, EMIR all mandate regular reconciliation of positions and exposures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Reduces financial loss: undetected breaks can result in incorrect payments, failed settlements, or inaccurate P&amp;L reporting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Supports audit and reporting: clean reconciliation records provide evidence of robust control for internal and external auditors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Regulatory Drivers for Reconciliation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Regulation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Reconciliation Requirement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CASS (FCA)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Daily client asset reconciliation; segregated account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MiFID II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Position and cash reconciliation for client assets; reporting obligations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EMIR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Daily mark-to-market and collateral reconciliation for OTC derivatives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Dodd-Frank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Portfolio reconciliation requirements for swap dealers and major swap participants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CSDR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Settlement discipline: daily fail reporting; buy-in regime for persistent fails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SOX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Internal controls over financial reporting; reconciliation evidence required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98848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4498848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9884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Basel III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449884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Accurate risk data aggregation; reconciled positions underpin regulatory capital calculations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Internal vs. External Reconciliation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Internal Reconciliation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Front-office vs. back-office position comparison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P&amp;L produced by traders vs. independently computed risk P&amp;L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Sub-ledger vs. general ledger cash balances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Booking system vs. settlement system trade counts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External Reconciliation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Internal ledger vs. custodian/depository statement (positions)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Internal cash ledger vs. nostro bank statement (cash)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Internal margin vs. CCP margin call notice (collateral)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Portfolio data vs. counterparty CSA collateral statement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Reconciliation in Numbers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Daily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CASS Requirement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Client asset reconciliation must be performed at least daily under FCA CASS rules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T+2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 Settlement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Most equity trades settle T+2; fails beyond this trigger break investigation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≤5%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Typical Break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Industry target: fewer than 5% of matched items result in breaks on a given day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24hr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6294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Break SLA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Many banks target resolution of breaks within 24–48 hrs; aged breaks trigger escalation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Types of Reconciliation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Overview of Reconciliation Types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Cash (Nostro) Reconciliation: compares internal cash ledger against correspondent bank statement for each currency account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Position (Depot) Reconciliation: compares internal securities holdings against custodian or CSD/depository statement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P&amp;L Reconciliation: verifies front-office reported P&amp;L against independently calculated risk or finance P&amp;L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Collateral Reconciliation: validates both counterparties' exposure calculations and posted margin under a CSA or CCP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Trade Reconciliation: confirms trade details (quantity, price, settlement date) agree between counterparties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Inter-company Reconciliation: ensures intragroup transactions cancel out when consolidated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Cash (Nostro) Reconciliation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Dimension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Definition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Match internal record of cash movements against actual statement from the correspondent (nostro) bank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Frequency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Daily – each business day in real time or end-of-day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Key Challenge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Timing differences: payments in transit, value-date mismatches, unconfirmed inflows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Common Break Causes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FX settlement delays, SWIFT routing errors, incorrect IBAN/account details, corporate action proceeds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Regulatory Link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CASS requires nostro reconciliation to confirm client cash is correctly held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Tools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SWIFT statements (MT940/MT950), Murex, TLM Corona, Intellimatch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Position (Depot) Reconciliation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Dimension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Definition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Compare internal book-of-record securities positions against custodian or CSD holdings statement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Frequency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Daily – as custodian statements arrive (end-of-day or intraday)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Key Challenge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Settlement fails causing position differences, corporate action timing, ISIN/security mapping errors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Common Break Causes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Failed DVP settlements, pending allocations, incorrect lot sizes, security restructuring events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Regulatory Link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MiFID II CASS: firms must reconcile client positions at least daily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Tools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DTCC/Euroclear/Clearstream statements, Eagle STAR, Linedata, proprietary OMS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P&amp;L and Collateral Reconciliation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P&amp;L Reconciliation (IPV)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Compares trader-reported MTM vs. independently verified prices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Identifies pricing model differences and stale/illiquid prices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Required by market risk frameworks (FRTB, MRM policies)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Output feeds into daily P&amp;L sign-off process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Collateral Reconciliation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Compares each party's independently computed exposure under the CSA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Identifies disputes: differing MTM valuations, netting set membership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Requires daily under EMIR for bilateral OTC derivatives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Dispute must be resolved before margin is transferred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Types of Reconciliation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Nostro Account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 bank's account held at a foreign correspondent bank, used for FX and international payments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Depot Statement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Custodian's record of securities held on behalf of the client at a CSD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IPV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Independent Price Verification – the independent validation of trader-reported valuations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CSA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Credit Support Annex – defines collateral obligations under an ISDA master agreement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HQLA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High-Quality Liquid Assets – eligible collateral under Basel III liquidity rules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Portfolio Recon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EMIR-mandated comparison of OTC trade portfolios between counterparties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Reconciliation Process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and Break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The Reconciliation Process – 6 Steps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Ingest internal records and external statements into the recon platform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40992" y="2743200"/>
            <a:ext cx="109728" cy="0"/>
          </a:xfrm>
          <a:prstGeom prst="line">
            <a:avLst/>
          </a:prstGeom>
          <a:noFill/>
          <a:ln w="19050">
            <a:solidFill>
              <a:srgbClr val="F0A8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072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072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5072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Standardise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9644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Normalise formats, security identifiers (ISIN/CUSIP) and currencies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1632" y="2743200"/>
            <a:ext cx="109728" cy="0"/>
          </a:xfrm>
          <a:prstGeom prst="line">
            <a:avLst/>
          </a:prstGeom>
          <a:noFill/>
          <a:ln w="19050">
            <a:solidFill>
              <a:srgbClr val="F0A8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136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136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6136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0708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Apply matching rules (exact, tolerance, FIFO) to pair items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62272" y="2743200"/>
            <a:ext cx="109728" cy="0"/>
          </a:xfrm>
          <a:prstGeom prst="line">
            <a:avLst/>
          </a:prstGeom>
          <a:noFill/>
          <a:ln w="19050">
            <a:solidFill>
              <a:srgbClr val="F0A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Identify Breaks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Flag unmatched or partially matched items as breaks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72912" y="2743200"/>
            <a:ext cx="109728" cy="0"/>
          </a:xfrm>
          <a:prstGeom prst="line">
            <a:avLst/>
          </a:prstGeom>
          <a:noFill/>
          <a:ln w="19050">
            <a:solidFill>
              <a:srgbClr val="F0A8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264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8264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8264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Investigate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2836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Determine root cause: timing, error, system issue, counterparty dispute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83552" y="2743200"/>
            <a:ext cx="109728" cy="0"/>
          </a:xfrm>
          <a:prstGeom prst="line">
            <a:avLst/>
          </a:prstGeom>
          <a:noFill/>
          <a:ln w="19050">
            <a:solidFill>
              <a:srgbClr val="F0A8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9328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9328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9328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Resolve / Escalate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3900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Correct error, agree with counterparty, or escalate aged break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Common Root Causes of Breaks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Timing differences: one party records the transaction on a different date (e.g., value date vs. trade date)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Static data errors: incorrect ISIN, CUSIP, SEDOL, or account number mappings in the booking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Settlement failures: a DVP trade settled on one side only, leaving a position or cash difference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Corporate action differences: issuer event processed at different times or with different entitlement calculations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Pricing/valuation differences: MTM prices from different sources cause collateral or P&amp;L discrepancies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System errors: interface failures, data truncation, duplicate postings, missing feeds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Break Classification Framework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Category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 &amp; 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Timing (T+1/T+2)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Expected to self-clear when settlement completes; monitor daily, no immediate action required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Pending Corporate 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Related to unprocessed event; keep open until entitlement is booked and agreed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System / Interface 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Escalate to technology team; re-feed or manually post correction after root cause confirmed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Counterparty Dispute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Contact counterparty operations; agree resolution; document outcome and timeline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Aged Break (&gt; SLA)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Mandatory escalation to team lead / risk; formal dispute resolution or P&amp;L write-off process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Regulatory / CASS Break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Immediate escalation; potential client money protection event; compliance notification required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Break Ageing and Escalation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Ageing Thresholds (typical)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Day 1–2: auto-matched or self-clearing timing items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Day 3–5: active investigation required; daily update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Day 5–10: escalate to manager; formal root-cause analysis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Day 10+: senior management, compliance, P&amp;L provision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CASS breaks: immediate escalation regardless of 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Escalation Outputs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Daily break report sent to operations management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Aged break register reviewed weekly by COO/Risk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CASS reconciliation breach reported to FCA within 24hrs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Year-end audit: all open breaks must be formally evidenced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KRI dashboard: break count and break value by category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Break Management KPIs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STP%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Straight-Through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% of items matched automatically without manual intervention; industry target &gt;95%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MTTR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 Time to Resolve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Average time to close a break from creation to resolution; drives SLA compliance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Aging%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Aged Break Ratio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% of open breaks older than the defined SLA threshold; key risk indicator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BpT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6294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Breaks per Trade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Number of reconciliation breaks per 1,000 trades; measures operational quality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Preventing Breaks – Best Practices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Clean static data: maintain accurate security master, counterparty, and account data to avoid systematic mismatches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Standardise settlement instructions: use SSI databases (SWIFT Accord, Bloomberg SSEOMS) to reduce instruction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Same-day affirmation: confirm trade details with counterparties on trade date to catch errors before settlement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Automated exception management: use AI/ML tools to auto-classify breaks and suggest resolutions based on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Root cause trending: track break causes over time to identify systemic issues for process improvement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Pre-settlement matching: use DTCC CTM or SWIFT Accord to match instructions before settlement deadline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Custody: Safekeeping and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Administration of Securities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What is Custody?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Custody is the safekeeping and administration of financial assets (securities and cash) on behalf of clients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custodian acts as the registered holder of dematerialised securities, holding them in book-entry form at CSDs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Core duties: asset safekeeping, settlement, income collection, corporate action processing, reporting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Key clients: pension funds, mutual funds, insurance companies, sovereign wealth funds, hedge funds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Global custody AuC (Assets under Custody): dominated by BNY Mellon, State Street, JP Morgan, Citi, HSBC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Types of Custody Service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Direct Custody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Custodian holds assets directly in local market CSD accounts; suitable for domestic investors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Global Custody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Single custodian provides multi-market coverage via network of sub-custodians; consolidated reporting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Sub-Custody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Local bank appointed by global custodian to hold assets in a specific market or jurisdiction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Prime Brokerage Custody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Specialist custody within prime brokerage; may include financing, rehypothecation, and margin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Tri-Party Custody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Neutral third-party custodian manages collateral between two counterparties (repo, securities lending)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Self-Custody (DLT)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Emerging model: asset holders maintain their own digital asset custody using distributed ledger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Core Custodian Services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Safekeeping &amp; Reporting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Book-entry holding of securities at CSD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Daily position and valuation statements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Consolidated multi-asset, multi-currency reporting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Tax withholding, reclaim filing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Fund accounting support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Transaction &amp; Event 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Trade settlement instructions (DVP/FOP)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Corporate action notifications and processing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Proxy voting facilitation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FX transaction processing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Cash management and nostro services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Segregation of Client Assets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Custodians must hold client assets separately from their own proprietary assets in ring-fenced accounts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Segregation protects clients in the event of custodian insolvency – client assets cannot be claimed by the custodian's creditors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Regulatory frameworks: FCA CASS 6 (securities), CASS 7 (client money), MiFID II Article 16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Omnibus accounts: multiple clients pooled at CSD level – efficient but less visible to each individual client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Individually segregated accounts: each client has a separate account at the CSD – more transparent, higher cost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Sub-custody chain: each link in the chain must have equivalent segregation; due diligence required on sub-custodians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Custodian Due Diligence Requirements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Criteria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Financial Strength &amp; Credit Rating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Custodian insolvency risk; minimum credit rating requirements typically A- or above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Regulatory Licencing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Must be authorised as a credit institution or investment firm in relevant jurisdictions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Sub-Custody Network Quality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Quality of local custodian relationships determines settlement efficiency in each market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Technology &amp; Reporting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Ability to provide real-time/T+1 position data, API connectivity, and SWIFT messaging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Operational Track Record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Break rates, settlement efficiency, corporate action accuracy in historical performance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ISAE 3402 / SOC 1 Report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Independent assurance report on the custodian's internal controls over custody operations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Custody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AuC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Assets under Custody – total value of assets held in safekeeping by a custodian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Book-Entry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Electronic record of ownership without physical certificates; held at a CSD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Omnibus Account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 single account at a CSD holding assets for multiple underlying beneficial owners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Segregated Account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Separate CSD account for each client, providing individual identification of holdings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Client Asset Sourcebook – FCA rules governing safekeeping of client assets and money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Beneficial Owner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The actual owner of the economic interest in securities held by a custodian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Settlement and Custody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Trade Settlement Fundamentals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Settlement is the completion of a securities trade: the simultaneous exchange of securities and cash between buyer and seller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Settlement date is typically T+1 (US equities from May 2024) or T+2 (European equities, most bonds)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custodian delivers or receives securities on behalf of the client, funded by or crediting cash accordingly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Instructions sent via SWIFT MT54x messages or proprietary CSD interfaces (DTC, Euroclear, Clearstream)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Settlement efficiency = % of trades settling on intended settlement date; industry target &gt;98%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Settlement Models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DVP – Delivery Versus Payment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Securities and cash transferred simultaneously; eliminates principal risk (most common)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FOP – Free of Payment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Securities transferred without a simultaneous cash leg; used for internal transfers, pledges, gifts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DWP – Delivery With Payment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Securities and cash transferred but not guaranteed to be simultaneous; less common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RVP – Receive Versus Payment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Buyer's instruction to receive securities only when cash is paid; mirror of DVP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Gross Settlement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Each trade settled individually; no netting; higher liquidity requirement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Net Settlement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Multiple trades across a counterparty or CSD netted to a single obligation; reduces settlement volume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SWIFT Settlement Instructions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Key MT54x Messages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MT540: Receive Free of Payment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MT541: Receive Against Payment (RVP)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MT542: Deliver Free of Payment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MT543: Deliver Against Payment (DVP)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MT544–547: Confirmation messages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MT548: Settlement Status (pending/settled/failed)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ISO 20022 Equivalents (sese)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sese.023: SecuritiesSettlementTransactionInstruction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sese.024: SecuritiesSettlementTransactionStatusAdvice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sese.025: SecuritiesSettlementTransactionConfirmation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Richer structured data reduces formatting mismatches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SWIFT migration to ISO 20022 underway globally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Failed Settlements and CSDR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 settlement fail occurs when the delivering party cannot deliver securities (or cash) by the intended settlement 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Common causes: short selling without a borrow in place, back-to-back chain failures, static data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CSDR (EU Central Securities Depositories Regulation) introduced a mandatory buy-in regime and cash penalties for fails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Cash penalties: daily fine on the failed value (based on the security type); accrues from settlement date until actual settlement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Buy-in: after a set period of failure (4–7 business days), the receiving party may trigger a buy-in – buying securities in the market at the failing party's cost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Settlement discipline has improved since CSDR: CSD reporting; increased focus on pre-settlement matching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Central Securities Depositories (CSDs)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CSD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/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DTC (DTCC)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US equities, ETFs; holds approx. $70+ trillion in securities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Euroclear Bank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International CSD (ICSD); Eurobonds, multi-currency; Belgium-based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Clearstream (LuxCSD)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International CSD; bonds and international equities; Luxembourg-based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Euroclear UK &amp; International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UK equities (CREST system); settlement in sterling and other currencies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SIX 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Swiss domestic CSD; Swiss equities and bonds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Austraclear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Australian fixed income CSD; government and corporate bonds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Settlement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DVP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Delivery Versus Payment – simultaneous exchange of securities and cash eliminating principal risk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FOP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Free of Payment – securities transfer without a simultaneous cash payment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Settlement Fail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Failure to deliver securities or cash on the intended settlement 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CSDR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Central Securities Depositories Regulation – EU rules on CSD operations and settlement discipline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Buy-In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Mandatory purchase of securities in the market at the failing party's cost after persistent fail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DTCC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Depository Trust &amp; Clearing Corporation – parent of DTC, NSCC, and FICC in the 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Corporate Actions Processing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What is a Corporate Action?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 corporate action is any event initiated by a company that affects its issued securities (equity or debt) and their holders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Events can change the structure of securities, distribution of cash, or the rights of shareholders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custodian is responsible for: receiving event notifications, communicating to clients, collecting elections, processing entitlements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Timely and accurate processing is critical: missing a deadline can mean losing a dividend, a right, or a beneficial conversion opportunity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Sources of corporate action data: DTCC CA Web, Swift COCO, Bloomberg, Refinitiv, issuer announcements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Types of Corporate Actions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 &amp; Examples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Mandatory (No Election)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Applies automatically to all holders: cash dividend, stock split, reverse split, mandatory redemption, merger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Mandatory with Choice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Applies to all holders but allows elections: scrip dividend (cash or shares), enhanced scrip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Voluntary (Election Required)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Holder must elect to participate: rights issue, tender offer, exchange offer, conversion, buyback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Reorganisation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Change of security structure: ISIN change, demerger, spin-off, bankruptcy reorganisation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Information Events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No action or entitlement: AGM notice, name change, rating change, annual report distribution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Corporate Action Dates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Event Timeline Dates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Announcement Date: issuer/exchange publishes the event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Ex-Date: first day security trades without the entitlement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Record Date: holder of record as of close receives entitlement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Election/Response Deadline: last date to submit holder election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Pay / Effective Date: entitlement distributed or change effective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Custodian Responsibilities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Notify clients of upcoming events and deadlines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Collect and transmit client elections to the registrar/issuer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Receive entitlements from the issuer and credit to client accounts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Reconcile expected vs. actual entitlement received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Handle failed elections and over/under-entitlement corrections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Rights Issues – Deep Dive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 rights issue (rights offering) allows existing shareholders to buy new shares at a discount to market price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Rights are typically tradeable on the exchange – holders can exercise, sell, or let them lapse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subscription ratio defines how many new shares per existing share the holder can buy (e.g., 1-for-3: one new share for every 3 held)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Nil Paid Rights: the value of the right itself before exercise – trades separately during the subscription period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Custodian duties: notify holders, collect subscriptions, transmit to registrar, credit new shares to accounts post-allotment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Failure to act: unexercised rights lapse – custodians must follow client standing instructions or get explicit elections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Cash Dividend Processing Workflow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Step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1. Notification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Custodian receives dividend announcement from CSD/SWIFT COCO; validates ex-date and record 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2. Eligibility Check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Identify all eligible client positions held at close of business on record 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3. Entitlement Calc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Calculate gross dividend (shares × dividend per share); apply withholding tax rate by domicile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4. Net Entitlement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Net dividend = gross − withholding tax; credit to client cash account on pay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5. Failed Positions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For unsettled trades across ex-date: 'manufactured dividend' may be payable by seller to buyer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6. Reconciliation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Reconcile expected cash receipt from issuer/agent against actual CSD credit; investigate differences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Corporate Actions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Ex-Date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First day a security trades without the upcoming entitlement; buyer on ex-date does not receive the benefit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Record 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Cut-off date to determine eligible holders; close of business positions on this date determine entitlement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Rights Issue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Offer of new shares to existing shareholders at a discount; rights may be traded or allowed to lapse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Scrip Dividend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Option to receive new shares instead of cash dividend; dilutes existing shareholders but preserves company cash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Withholding Tax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Tax deducted at source by the paying agent from dividends/interest; rate depends on investor domicile and tax treaties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Manufactured Dividend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Equivalent payment made by a borrower of securities (or short seller) to replicate the dividend the lender/buyer would have received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Proxy Voting and Shareholder Services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Proxy Voting Fundamentals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Shareholders have the right to vote on key company decisions at General Meetings (AGMs and EGMs)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Institutional investors hold shares across thousands of companies – they appoint a proxy to vote on their behalf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Custodians facilitate proxy voting: receive meeting notices, distribute ballot materials, collect and transmit votes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Voting options: For, Against, Abstain, Withhold – each resolution must be addressed by the client or their advisor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Electronic voting platforms (Broadridge ProxyEdge, ISS ProxyExchange) enable bulk processing across large portfolios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Types of Shareholder Meeting Resolutions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Resolution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Routine/Ordinary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Approval of annual accounts and report; declaration of final dividend; re-election of directors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Remuneration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Approval of directors' remuneration report (advisory or binding); share-based incentive plan approval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Capital Structure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Authorise issuance of new shares; authorise buyback of shares; approval of rights issue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Extraordinary / Special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Approve merger or acquisition; change of company name; articles of association amendments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Shareholder Proposals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Resolutions submitted by activist shareholders: ESG-related, governance reforms, strategy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Regulatory Framework: SRD II &amp; Stewardship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SRD II Requirements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EU Shareholder Rights Directive II (2020)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Institutional investors must publish engagement and voting policies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Annual disclosure of voting records by fund managers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Proxy advisors subject to code of conduct and transparency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Aimed at promoting long-term shareholder engagement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Stewardship Codes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UK Stewardship Code (FRC 2020): highest standard globally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Requires institutional investors to actively engage with investee companies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Signatories must report annually on stewardship activities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Includes ESG integration in engagement and voting policies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Promotes long-term value creation over short-term returns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Proxy Advisors and Governance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Proxy advisors (ISS, Glass Lewis) research AGM agendas and provide independent voting recommendations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Institutional clients use proxy advisor services to manage governance responsibilities at scale across global portfolios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Controversy: critics argue proxy advisors have outsized influence on votes; risk of homogenised voting outcomes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Conflicts of interest concerns: proxy advisors may also provide consultancy services to the companies they rate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IOSCO principles for proxy advisors require transparency around methodologies and conflict management policies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Empty Voting and Stock Lending Conflict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Concept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Explanation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Empty Voting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Holding voting rights without corresponding economic interest, e.g., via equity derivatives or stock loans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Stock Lending &amp; Votes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Securities on loan transfer legal title to the borrower, who then holds voting rights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Recall Practice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Lenders can recall securities before the record date to reclaim voting rights; operational cost involved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Regulatory Response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 and EU regulators require disclosure of empty voting positions above thresholds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Market Practice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Large asset managers (BlackRock, Vanguard) have policies to recall lent shares before key votes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Impact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Unchecked empty voting can distort AGM outcomes and undermine shareholder democracy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Proxy Voting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Proxy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An authorised representative who votes on a shareholder's behalf at a general meeting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AGM / EGM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Annual General Meeting / Extraordinary General Meeting – forums for shareholder voting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Record Date (Voting)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Date on which share ownership is determined for eligibility to vote at a general meeting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SRD II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Shareholder Rights Directive II – EU regulation requiring engagement and voting disclosure by institutional investors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Proxy Advisor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Third-party firm (e.g., ISS, Glass Lewis) providing independent voting research and recommendations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Empty Voting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Holding voting rights disproportionate to economic interest; can distort governance outcomes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Securities Lending and Borrowing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Securities Lending 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Securities lending is a temporary transfer of legal title to securities from a lender to a borrower, for a fee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Legal title transfers to the borrower; the lender retains economic ownership and receives manufactured payments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borrower provides collateral (cash or HQLA) worth 100–105% of the lent securities' market value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Primary demand: short sellers (hedge funds, proprietary traders) need to borrow to facilitate short positions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Also used for: settlement coverage, arbitrage strategies, tax-driven structuring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Securities lending generates incremental income for long-only investors (pension funds, sovereign wealth funds)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Securities Lending Transaction Mechanics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Element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Legal Basis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Global Master Securities Lending Agreement (GMSLA) governs bilateral trades; OSLA for Europe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Transfer of Title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Legal title transfers to the borrower; lender has contractual right to equivalent securities 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Collateral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Cash, government bonds, or other HQLA; pledged or transferred to lender; typically 102–105% initial margin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Lending Fee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Borrower pays lending fee (in bps per annum) to lender; fee reflects demand for the specific security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Mark-to-Market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Collateral valued daily; margin calls issued to maintain collateral ratio above agreed threshold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Term vs. Open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Fixed-term loans have a set return date; open loans can be recalled by lender or returned by borrower daily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Participants and Their Motivations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Lenders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Pension funds, mutual funds, sovereign wealth funds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Motivation: earn incremental fee income on long positions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Custodian or specialist agent lender acts on their behalf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Must weigh fee income vs. counterparty and reinvestment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Subject to investment mandate / board policy on lending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Borrowers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Hedge funds, prime brokers, market makers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Motivation: enable short selling or cover settlement fails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Pay lending fee plus collateral management costs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Strategies: long-short equity, merger arbitrage, dividend trading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Prime broker may intermediate between lender and end borrower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Risks in Securities Lending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Counterparty risk: borrower defaults without returning securities; mitigated by collateral and GMSLA close-out netting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Collateral reinvestment risk: cash collateral reinvested in short-term instruments; reinvestment losses possible (as seen in 2008)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Operational risk: incorrect margining, failed collateral substitutions, missed manufactured dividend payments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Market risk: rapid price movement means collateral can fall below threshold before margin call is responded 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Voting/governance risk: lender loses voting rights during the loan period (addressed by recall policies)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Regulatory risk: SFTR (Securities Financing Transactions Regulation) requires reporting of all lending trades to trade repositories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Securities Lending vs. Repo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Dimension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Securities Lending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Primary Purpose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Enable short selling; earn fee income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Regulatory Classification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Securities transaction (GMSLA)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Collateral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Cash, bonds, equities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Income to Collateral Giver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Lending fee on the loaned security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Corporate Actions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Manufactured payment due to lender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SFTR Reporting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Yes – both legs reportable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55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Securities Lending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GMSLA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Global Master Securities Lending Agreement – standard legal framework governing securities lending transactions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Manufactured Dividend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Equivalent cash payment from borrower to lender replicating income the lender would have received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Recall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Lender's right to demand the return of lent securities, typically with 1–3 business days' notice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Mark-to-Market Margin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Daily revaluation of collateral vs. lent securities; margin calls top up shortfalls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SFTR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Securities Financing Transactions Regulation – EU/UK rules requiring trade repository reporting of all SFTs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Agent Lender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 bank or custodian that manages securities lending on behalf of beneficial owners for a share of the fee income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56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Prime Brokerage and Custody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Prime Brokerage 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Prime brokerage is a bundled service offered by major banks to professional clients (primarily hedge funds)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Core services: custody, securities lending (enabling short selling), margin financing, and multi-broker clearing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Additional services: capital introduction, risk analytics, reporting, OTC execution, FX prime brokerage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Major prime brokers: Goldman Sachs, Morgan Stanley, JPMorgan, UBS, Deutsche Bank, BNP Paribas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Post-financial crisis: Lehman Brothers' collapse reshaped prime brokerage with greater focus on segregated custody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58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Prime Brokerage Services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Custody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Safekeeping of hedge fund assets; may be segregated or in the prime broker's own name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Margin Financing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PB lends cash to fund leveraged long positions; interest charged on debit balances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Stock Borrow / Securities Lending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PB sources borrows for client's short positions; manages lending book and collateral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Multi-Broker Clearing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Hedge fund executes with multiple executing brokers; PB provides central clearing and settlement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Capital Introduction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PB connects hedge fund with potential investors (family offices, funds of funds)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Risk &amp; Reporting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Real-time risk dashboards, exposure reports, P&amp;L attribution; regulatory reporting support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59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Rehypothecation: Risk and Controls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What is Rehypothecation?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PB's right to reuse client collateral as its own collateral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Allowed under ISDA/PBA agreements up to agreed limits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Reduces PB funding costs; client receives lower interest rate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If PB defaults, rehypothecated assets may be trapped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Lehman 2008: $40bn+ of client assets caught in rehy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Post-Crisis Controls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CASS rules limit UK PBs' rehypothecation to 100% of client debit balance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Clients demand segregated custody ('self-clearing')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Tri-party arrangements with third-party custodian (BNY Mellon, State Street)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MiFID II: clients must give explicit consent for collateral reuse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Regular stress testing of collateral exposure under insolvency scenarios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Tri-Party Arrangements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 a tri-party repo or securities lending, a neutral third-party agent (BNY Mellon, Euroclear, Clearstream) manages all collateral operations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tri-party agent handles: collateral selection, eligibility checking, margin calculation, substitutions, and daily valuation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Both counterparties instruct the agent; the agent maintains a single pool of collateral held in dedicated tri-party accounts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Benefits: operational efficiency, reduced bilateral management burden, standardised eligibility schedules, intraday liquidity optimisation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Used extensively in the repo market (GC repo, evergreen structures) and for margin management in securities lending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Tri-party volume: Euroclear and Clearstream together manage trillions in tri-party collateral daily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61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PB Custody vs. Custodian Bank Compared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Dimension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Prime Broker Custody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Primary Client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Hedge funds, leveraged accounts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Financing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Margin lending, securities borrow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Asset Rehypothecation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Permitted (with limits and consent)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Segregation Level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Often omnibus; segregated on request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Reporting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Real-time risk/portfolio analytics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Risk Focus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Counterparty &amp; concentration risk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62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Prime Brokerage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Prime Broker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Major bank providing bundled custody, financing, stock borrow, and clearing services to hedge funds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Rehypothecation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Prime broker's right to reuse client collateral for its own funding purposes under the prime brokerage agreement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Tri-Party 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Neutral custodian that manages collateral between two parties in repo or securities lending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Margin Financing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Lending cash to clients to fund leveraged long positions; clients pay a financing rate on debit balances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Capital Introduction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Service where the prime broker connects hedge funds with potential investors in its network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Self-Clearing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Hedge fund segregates assets with an independent custodian, separate from the prime broker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63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G11.10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and Automation in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Reconciliation &amp; Custody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Reconciliations &amp; Custody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Technology Landscape in Operations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Modern reconciliation and custody operations rely on integrated technology stacks: OMS, settlement, recon, custody, and reporting platforms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Key vendors: FIS (Sievert/TLM), SmartStream (TLM Corona), Broadridge, SS&amp;C Technologies, Linedata, Eagle Investment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SWIFT remains the dominant messaging standard; ISO 20022 migration improves data richness and reduces formatting-related breaks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APIs and cloud connectivity enable real-time data exchange between custodians, CSDs, prime brokers, and asset managers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Regulatory technology (RegTech) solutions automate compliance reporting (SFTR, EMIR, MiFID II transaction reporting)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65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Automation in Reconciliation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Capability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Rule-Based Auto-Matching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Exact and tolerance matching applied automatically; STP rate &gt;95% for standard items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AI / ML Break Classification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Machine learning classifies new breaks based on historical patterns; suggests likely root cause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Natural Language Processing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NLP reads unstructured counterparty messages and emails to extract break resolution information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Robotic Process Automation (RPA)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Bots perform repetitive tasks: downloading statements, loading data, sending follow-up emails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Predictive Analytics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Identify trades/counterparties statistically likely to fail based on historical behaviour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Workflow &amp; Case Management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Automated task routing to correct team member based on break type, age, and risk category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66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DLT and Future of Settlement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DLT Benefits for Post-Trade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Shared, immutable ledger: all parties see the same record – reduces reconciliation burden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Smart contracts: automate DVP settlement, coupon payments, corporate actions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Near-real-time (T+0) settlement: eliminates counterparty exposure during settlement period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Tokenised securities: fractional ownership, 24/7 trading cycles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Reduces intermediary chains: fewer custodians, CSDs, and correspondent banks required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DLT Challenges &amp; Reality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Interoperability: multiple DLT platforms; lack of common standard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Legal uncertainty: legal framework for DLT settlement not yet universal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Regulatory: regulators cautious; pilot programmes underway (ECB DLT pilot, Project Guardian)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Scale: legacy systems still dominate; DLT handles small volumes vs. billions of trades per day at DTCC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Custody still needed: digital asset custody requires specialised key management infrastructure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67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ISO 20022 Migration and Its Impact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ISO 20022 is a rich, structured XML-based messaging standard replacing older proprietary formats (MT SWIFT messages)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For payments: SWIFT gpi and CHAPS/SEPA TARGET2 migrated to ISO 20022 by 2025; richer remittance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For securities: sese messages replace MT54x instructions; camt messages replace MT9xx cash statements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Benefits: more structured data fields (fewer free-text), better interoperability, richer straight-through processing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impact: reduces mismatched fields causing breaks; improves auto-matching rates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Transition challenge: firms must upgrade systems to handle ISO 20022 formats and maintain backward compatibility during transition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68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Emerging Technologies in Custody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Technology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 in Custody &amp; Reconciliation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Cloud Computing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Elastic processing capacity for end-of-month recon spikes; lower infrastructure cost; SaaS recon platforms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AI / 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Break prediction, auto-classification, smart escalation routing, corporate action anomaly detection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DLT / Blockchain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Tokenised securities, real-time settlement, smart contract corporate actions, digital asset custody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APIs &amp; Open Banking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Real-time position feeds, custodian data direct to asset manager systems without batch files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RPA (Robotic Process Automation)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Automate statement downloads, data reconciliation loading, client reporting generation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Digital Asset Custody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Cold/hot wallet infrastructure, multi-signature key management for crypto/tokenised assets; regulated custodians (Fidelity Digital, Anchorage)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69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Technology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STP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Straight-Through Processing – automated processing of transactions from entry to settlement without manual intervention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ISO 20022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International financial messaging standard using structured XML; replacing legacy SWIFT MT messages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DLT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Distributed Ledger Technology – shared, decentralised record of transactions; blockchain is one implementation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Smart Contract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Self-executing code on a DLT that automatically enforces contract terms (e.g., DVP settlement, coupon payment)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Golden Record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The single authoritative master data record for an entity (security, position) used across all systems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RegTech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Technology solutions automating regulatory reporting, compliance monitoring, and risk calculation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G11  ·  Reconciliations &amp; Custody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70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MODULE G11  ·  RECONCILIATIONS &amp; CUSTODY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800"/>
                </a:solidFill>
              </a:rPr>
              <a:t>Key Takeaways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G11.1–3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Reconciliation controls operational risk – breaks must be identified, root-caused, and resolved within SLA; aged breaks require escalation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36776"/>
            <a:ext cx="8595360" cy="457200"/>
          </a:xfrm>
          <a:prstGeom prst="rect">
            <a:avLst/>
          </a:prstGeom>
          <a:solidFill>
            <a:srgbClr val="162247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36776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367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G11.4–5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655064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Custodians safeguard client assets via segregated accounts at CSDs; DVP settlement eliminates principal risk; CSDR enforces discipline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859536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30552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305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148840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Corporate actions are mandatory or voluntary events – custodians must process entitlements accurately and within strict deadlines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24328"/>
            <a:ext cx="8595360" cy="457200"/>
          </a:xfrm>
          <a:prstGeom prst="rect">
            <a:avLst/>
          </a:prstGeom>
          <a:solidFill>
            <a:srgbClr val="162247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24328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24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642616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Proxy voting is a governance right – SRD II mandates engagement disclosure; proxy advisors provide scale but raise conflicts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118104"/>
            <a:ext cx="859536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118104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1181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136392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Securities lending generates fee income but transfers legal title; collateral management and SFTR reporting are key controls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8595360" cy="457200"/>
          </a:xfrm>
          <a:prstGeom prst="rect">
            <a:avLst/>
          </a:prstGeom>
          <a:solidFill>
            <a:srgbClr val="162247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611880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118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3630168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Prime brokers add financing and borrowing to custody; rehypothecation risk prompted post-Lehman move to segregated custody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105656"/>
            <a:ext cx="859536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05656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056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G11.10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4123944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AI/ML, DLT, and ISO 20022 are transforming reconciliation and custody; STP rates and golden records are the benchmarks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Imarticus Learning  ·  CIBOP  ·  www.imarticus.org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71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CIBOP G11 Reconciliations &amp; Custody</dc:title>
  <dc:subject>PptxGenJS Presentation</dc:subject>
  <dc:creator>Imarticus Learning – CIBOP</dc:creator>
  <cp:lastModifiedBy>Imarticus Learning – CIBOP</cp:lastModifiedBy>
  <cp:revision>1</cp:revision>
  <dcterms:created xsi:type="dcterms:W3CDTF">2026-05-07T04:50:12Z</dcterms:created>
  <dcterms:modified xsi:type="dcterms:W3CDTF">2026-05-07T04:50:12Z</dcterms:modified>
</cp:coreProperties>
</file>