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Derivatives</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Options</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D7: Derivatives — Options  |  UORs: D7.1 – D7.10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Call and Put Options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D7.1 · Call and Put Options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call option gives the buyer the right — not obligation — to BUY the underlying at the strike price. The seller must deliver if exercised.</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put option gives the buyer the right — not obligation — to SELL the underlying at the strike price. The seller must buy if exercised.</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option buyer pays a premium upfront. Maximum loss for the buyer = premium paid. Maximum gain = theoretically unlimited (calls) or strike − premium (puts).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 India, NSE options on indices (Nifty, Bank Nifty) are European-style — exercise only at expiry. Stock options are also European-style since 2019.</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D7.1 · Call and Put Options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Nifty options trader buys 2 lots of the Nifty 22,000 CE at ₹320 per unit (lot size 25). Nifty expires at 22,800. The seller of the call is a proprietary trading desk.</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buyer's profit per lot. What is the maximum loss the buyer could have incurred? What was the seller's P&amp;L on this trade?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D7.1 · Call and Put Options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Four Basic Option Positions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Options create four distinct positions: Long Call (bullish, limited loss, unlimited gain), Short Call (collect premium, unlimited risk), Long Put (bearish, limited loss, large gain potential), Short Put (collect premium, risk of large loss). The asymmetry — buyers pay for rights, sellers receive premium but bear obligations — is the fundamental feature distinguishing options from all other derivatives.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Call</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Right to buy. Pay premium. Max loss = premium. Max gain = unlimited.</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Short Call</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Obligation to sell. Collect premium. Max gain = premium. Max loss = unlimited.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Put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Right to sell. Pay premium. Max loss = premium. Max gain = strike − premium.</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Short Put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Obligation to buy. Collect premium. Max gain = premium. Max loss = strike − premium.</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D7.1 · Call and Put Options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India is No. 1 in Options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is the world's largest exchange-traded options market by contract volume. Weekly Nifty options expire every Thursday, creating enormous short-dated activity. SEBI data shows over 1 crore retail F&amp;O accounts — though 90%+ lose money annually.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Options vs Futures: Key Difference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Futures create symmetric obligations — both buyer and seller can gain or lose without limit. Options create asymmetry: the buyer's downside is capped at premium, the seller's upside is capped at premium. This makes options uniquely useful as insurance instruments.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American vs European Style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American options can be exercised any time before expiry. European options only at expiry. NSE uses European-style for both index and stock options — simplifying settlement and reducing early exercise management. Most global index options are also European.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OTC vs Exchange-Traded Options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NSE lists standardised options (fixed strikes, expiries, lot sizes). Banks offer OTC customised options to corporates (any strike, any expiry, any size). OTC options carry counterparty risk; exchange-traded options are guaranteed by NSCCL via novation.</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D7.1 · Call and Put Options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retail options volumes have exploded — with millions of traders buying weekly near-expiry OTM calls and puts. SEBI studies show 90%+ of retail F&amp;O traders lose money. Should SEBI restrict access to weekly short-dated options? Argue from both investor protection and market efficiency perspectives.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operations analyst receives a trade ticket: 'Client bought 100 lots Nifty 22,500 CE at ₹150.' The current Nifty is 21,800 and the option's theoretical value is ₹85. What could explain the ₹65 discrepancy? List at least 3 possible reasons and how you would investigate each.</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D7.1 · Call and Put Options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 call option buyer and a futures buyer?</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Three key differences: (1) Obligation: futures buyer must buy at expiry (obligation). Call option buyer has the right but NOT the obligation — can let it expire worthless. (2) Premium: call buyer pays a non-refundable premium upfront. Futures buyer pays only a refundable SPAN margin deposit. (3) Risk profile: futures buyer faces unlimited loss if price falls. Call buyer's maximum loss is capped at the premium paid. This makes options suitable as insurance — defined downside regardless of market moves.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are NSE options European-style and what does that mean operationally?</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European-style means exercise is only possible at expiry — not before. Operationally: (1) No early exercise monitoring required — simpler than American-style. (2) Settlement is clean — all ITM options are auto-exercised at the expiry fixing price. (3) No early assignment risk for sellers. (4) Index options settle in cash at the expiry VWAP (3:00–3:30 PM). Stock options settle via physical delivery since SEBI's 2019 mandate. Operations must track the expiry date and ensure correct settlement type for each contract.</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Option Premium and Payoffs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D7.2 · Option Premium and Payoffs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Option premium = the price paid by the buyer to acquire the right. It is non-refundable and paid upfront to the seller on trade date.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Call option payoff at expiry: max(Spot − Strike, 0) − Premium. Put option payoff: max(Strike − Spot, 0) − Premium.</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Breakeven for long call = Strike + Premium. Breakeven for long put = Strike − Premium.</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Sellers collect premium as maximum profit. Sellers of naked calls face unlimited loss; sellers of naked puts face large loss if underlying crashes.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D7.2 · Option Premium and Payoffs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trader buys 4 lots of Nifty 22,000 CE at ₹350 premium (lot size 25). At expiry, Nifty closes at 22,650. Premium collected by the seller on trade date: ₹35,000 (4 × 25 × 350).</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buyer's total profit. Calculate the seller's net P&amp;L. At what Nifty level does the buyer break even? What is the buyer's maximum possible loss?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D7.2 · Option Premium and Payoffs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Option Payoff Diagrams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Payoff diagrams visually represent risk-reward. Long call: horizontal (loss = premium) below strike, rising line above. Long put: horizontal above strike, rising line below. Short call/put mirror these. The 'kink' always occurs at the strike price — the point where the option transitions from worthless to valuable. Understanding payoff diagrams is essential for assessing whether a trade makes sense and for communicating risk to clients.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Call BEP</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Strike + Premium paid. Above BEP = profit. Below strike = max loss (premium).</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Put BEP</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Strike − Premium paid. Below BEP = profit. Above strike = max loss (premium).</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Short Call Max Profit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Premium collected. No cap on loss above breakeven.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Short Put Max Loss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Strike − Premium (if underlying falls to zero). Substantial but not unlimited.</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D7.2 · Option Premium and Payoffs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Premium Decomposition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Premium = Intrinsic Value + Time Value. Intrinsic value = immediate exercise value (max 0, S-K for calls). Time value = speculative premium above intrinsic — related to volatility, time, and interest rates. Understanding this split helps traders know what they are paying for.</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Lot Sizes on NSE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NSE standardises option lot sizes. Nifty 50: 25 units per lot. Bank Nifty: 15 units per lot. Stock options vary by stock (from 100 to 5,000 shares per lot). SEBI periodically revises lot sizes based on contract value targets (approx ₹5–10 lakh per lot). Operations must use the correct lot size in all calculations.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Premium Settlement</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On trade date, the option premium is debited from the buyer's account and credited to the seller's account by NSCCL — same day. This is unlike futures where only margin is exchanged. Daily MTM applies to futures, but for options, the premium is the full upfront cost.</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Maximum Loss Discipline</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defined maximum loss of option buyers (premium only) is one reason options are often preferred over futures for directional bets. If Nifty falls 10% overnight due to a global crisis, a futures long loses ₹X lakh. An options long call loses only the premium — a fraction of the notional. This asymmetric risk is why institutions use options for tail-risk hedging.</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D7.2 · Option Premium and Payoffs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institutional client sold 500 lots of Nifty naked calls (no underlying hedge) at ₹200 each. Nifty gaps up 8% overnight due to surprise election results. Calculate the approximate loss on this position. What risk management failures allowed this trade to occur, and what controls should have been in place?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Options sellers in India are often institutional players (banks, FIIs, prop desks) and buyers tend to be retail participants. Why is this the typical pattern? Does this mean the market is unfair to retail participants, or does it reflect rational risk preferences? Discuss.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D7.2 · Option Premium and Payoffs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is an option premium settled on NSE?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On trade date (T+0): the option premium is fully debited from the buyer's account and credited to the seller's account by NSCCL — the clearing corporation. This differs from futures, where only the SPAN margin is collected (not the full notional value). For options: (1) Buyer: premium debited on T+0, held as credit by clearing system. (2) Seller: premium credited on T+0, held as performance bond. (3) At expiry: ITM options are cash/physically settled; OTM options expire worthless. The premium settlement is final and non-refundable — unlike the refundable margin on futures.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breakeven of a Nifty 22,000 PE bought at ₹280?</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Breakeven = Strike − Premium = 22,000 − 280 = 21,720. At Nifty 21,720 at expiry, the put's intrinsic value exactly offsets the premium paid — P&amp;L is zero. Below 21,720: profit = (21,720 − expiry level) × 25 × lots. Above 22,000: option expires worthless, max loss = ₹280 × 25 × lots = ₹7,000 per lot. This is a classic bearish directional trade — limited loss (₹7,000/lot), meaningful profit if Nifty falls significantly.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Intrinsic Value and Time Value</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D7.3 · Intrinsic Value and Time Value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Option Premium = Intrinsic Value + Time Value. These two components have completely different drivers and behaviours.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Intrinsic Value = the immediate exercise value: max(S−K, 0) for calls; max(K−S, 0) for puts. An OTM option's intrinsic value is always zero.</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Time Value = Premium − Intrinsic Value. It reflects the possibility the option could become profitable before expiry. It decays to zero at expiry (Theta effect).</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ATM options have the highest time value. Deep ITM options have mostly intrinsic value. Deep OTM options have only time value — which may be near zero.</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D7.3 · Intrinsic Value and Time Value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Nifty trades at 22,300. Three options are observed: Nifty 22,000 CE at ₹450 premium. Nifty 22,300 CE at ₹280 premium. Nifty 22,800 CE at ₹95 premium. 21 days to expiry.</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For each option, calculate the intrinsic value and time value. Which option has the highest time value? Why does the ATM option have maximum time value?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D7.3 · Intrinsic Value and Time Value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Why Time Value Is Highest at ATM</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ATM options have the maximum uncertainty about exercise outcome — the underlying could expire either just above or just below the strike. This uncertainty (optionality) is most valuable when the outcome is most uncertain — at-the-money. Deep ITM options will almost certainly be exercised, so there is little additional optionality value. Deep OTM options have very low probability of exercise, so time value is also low. Time value decays exponentially as expiry approaches (Theta acceleration) — most rapid in the last week, especially for weekly Nifty options.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Deep ITM Call</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High intrinsic value. Low time value. Behaves like futures. Delta ≈ 1.</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ATM Option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Zero intrinsic value. Maximum time value. Highest uncertainty. Delta ≈ 0.5.</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Deep OTM Option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Zero intrinsic value. Low time value. High probability of expiring worthless.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Near Expiry ATM</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Time value collapses rapidly. Theta (daily decay) accelerates. Risk of IV crush.</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D7.3 · Intrinsic Value and Time Value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Theta Acceleration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Time value decay is not linear — it is convex. An ATM option with 30 days to expiry loses time value slowly. In the final week, daily decay (Theta) accelerates sharply. NSE's weekly expiries amplify this: traders buying Monday options often lose most time value by Thursday expiry even without any market move.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Interest Rate Effect on Time Value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Higher risk-free rates increase call option time value (cost of carry effect) and decrease put time value. This is captured in the Black-Scholes formula through the e^(−rT) discount factor. In India, with the 91-day T-bill around 6.5%, the interest rate effect is meaningful for longer-dated options (monthly and quarterly contracts).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Time Value vs Implied Volatility</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Time value is driven by implied volatility — the market's expectation of future price movement. A 30-day ATM option with IV of 15% will have lower time value than the same option with IV of 25%. This is why time value spikes before events (VIX/IV rises) and collapses after (IV crush). Time value and IV move together.</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Practical Implication for Operations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Operations teams process exercise instructions at expiry. Only ITM options have intrinsic value and will be exercised. OTM options (even those with small time value) expire worthless — no action needed. For physical settlement stock options, identifying ITM positions before 3:30 PM Thursday is a critical daily operations task.</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D7.3 · Intrinsic Value and Time Value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student argues: 'I should always buy deep OTM options because they are cheap and if the market moves a lot, I can make 10× my investment.' Critically evaluate this reasoning. What are the statistical and financial arguments for and against buying cheap OTM options?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Options sellers are said to benefit from 'Theta decay' — earning income as time passes. But sellers also face 'Gamma risk' — larger and larger losses as the option moves toward being ITM near expiry. Explain how these two forces (Theta income vs Gamma risk) interact for a seller of ATM Nifty options in the final week before expiry.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D7.3 · Intrinsic Value and Time Value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intrinsic value and time value of an option?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Intrinsic value = immediate exercise value: max(S−K,0) for calls, max(K−S,0) for puts. An option always has non-negative intrinsic value. Time value = total premium minus intrinsic value — the extra amount paid above exercise value for the chance the option improves further before expiry. Three key facts: (1) Only ITM options have non-zero intrinsic value. (2) ATM options have maximum time value because exercise outcome is most uncertain. (3) Time value decays to zero at expiry (Theta effect) — the most important feature for options sellers. In India, weekly Nifty options lose their time value very rapidly in the last 2 days — this is why short straddle sellers often close positions by Wednesday to lock in Theta gains.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do deep ITM options have very little time value?</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Deep ITM options are almost certain to be exercised — they already have substantial intrinsic value and the probability of them expiring worthless is very low. There is little additional optionality remaining. As a result, the option behaves almost like the underlying itself (delta ≈ 1 for deep ITM calls) with minimal time premium. Conversely, ATM options have maximum uncertainty (50/50 chance of exercise) — this uncertainty is what creates time value. Deep OTM options also have low time value because probability of exercise is very low. Time value peaks at ATM and falls on both sides — forming an inverted U-shape across strikes.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Moneyness: ITM, ATM, OTM</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D7.4 · Moneyness: ITM, ATM, OTM</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Moneyness describes the relationship between the underlying price and the strike price. Three states: In-the-Money (ITM), At-the-Money (ATM), Out-of-the-Money (OTM).</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Call ITM: Spot &gt; Strike. Call OTM: Spot &lt; Strike. Put ITM: Spot &lt; Strike. Put OTM: Spot &gt; Strike.</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ITM options have intrinsic value and are exercise-optimal. ATM options have maximum time value and uncertainty. OTM options have zero intrinsic value.</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Moneyness affects Delta (ITM calls: delta near 1), Gamma (peaks at ATM), Theta (highest absolute value for ATM), and Vega (highest for ATM options).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D7.4 · Moneyness: ITM, ATM, OTM</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Nifty is at 22,150. The options chain shows: 21,500 CE at ₹720, 22,000 CE at ₹360, 22,500 CE at ₹130, 22,000 PE at ₹210, 21,500 PE at ₹82, 22,500 PE at ₹580.</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Classify each option as ITM, ATM, or OTM. Which call and which put are most ATM? How would you quickly estimate the intrinsic value for the deep ITM options?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D7.4 · Moneyness: ITM, ATM, OTM</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How Moneyness Drives Greeks and Strategy Selection</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Moneyness is not just a label — it determines which Greek dominates the option's behaviour. Deep ITM options behave like the underlying (Delta ≈ 1, low Gamma). ATM options have the highest Gamma and Vega — most sensitive to market moves and volatility changes. OTM options have low Delta but high leverage — small premium cost, large percentage gain if the underlying moves significantly. Strategy selection is moneyness-driven: ATM options for straddles/strangles, OTM options for cheap directional bets, ITM options for high-delta positions resembling stock ownership.</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Deep ITM Call</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Delta ≈ 0.9–1. High intrinsic value. Acts like stock. Low Gamma. Low Vega.</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ATM Option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Delta ≈ 0.5. Zero intrinsic. Max Gamma, Vega, Theta. Most sensitive to vol.</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OTM Option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Delta &lt; 0.3. All time value. High leverage. Can expire worthless. Low cost.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Deep OTM Option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Delta ≈ 0.05. Lottery ticket. Very cheap. Very high probability of zero.</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D7.4 · Moneyness: ITM, ATM, OTM</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Delta and Moneyness Connection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Delta is numerically related to the probability of expiring ITM. An ATM option has delta ≈ 0.5 (50% probability ITM). An OTM call with delta 0.15 implies approximately 15% probability of expiring ITM. Traders use delta as both a hedge ratio and a moneyness proxy for strategy selection.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Options Chain Reading</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An NSE options chain lists all strikes and their call/put premiums, IVs, OI (open interest), and volume. The ATM strike is where call and put premiums are most similar. Moving left (lower strikes) on calls means increasingly OTM. Moving right (higher strikes) on puts means increasingly OTM. Operations teams read options chains to validate trade prices and moneyness classification.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Moneyness at Expiry</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At expiry, only ITM options have value. The final settlement price determines which options expire ITM. For Nifty: the final settlement price = 3:00–3:30 PM VWAP on expiry Thursday. Options that are ITM by even 0.05 points are auto-exercised by NSCCL. Options exactly at the money can create settlement uncertainty.</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Strike Selection in Strategy</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OTM options are used for cheap speculation and spread construction (selling OTM options collects premium with high probability of expiry). ATM options for straddles/butterflies (maximum optionality). ITM options for deep hedges or stock-replacement strategies. Professional traders always justify their strike selection based on delta, cost, and probability of profit.</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D7.4 · Moneyness: ITM, ATM, OTM</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Retail traders in India predominantly buy OTM weekly Nifty options (delta 0.10–0.20). These options expire worthless over 85% of the time, according to NSE data. Yet trading volumes remain enormous. Explain from both behavioral finance and rational choice perspectives why retail traders continue to buy OTM options despite the statistics.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operations team member notices a client's trade confirmation: 'Buy 500 lots Nifty 24,000 CE (Nifty spot 22,150) at ₹5 per unit.' The current BSE expiry is 6 days away. What questions should the operations team ask before confirming this trade? What risks does this position carry?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D7.4 · Moneyness: ITM, ATM, OTM</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terms ITM, ATM, and OTM for both calls and puts.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For calls: ITM = spot &gt; strike (has immediate exercise value). ATM = spot ≈ strike (exercise indifferent). OTM = spot &lt; strike (no exercise value). For puts: ITM = spot &lt; strike (put holder would profitably sell). ATM = spot ≈ strike. OTM = spot &gt; strike (put has no exercise value — holder wouldn't sell below market). Example: Nifty at 22,000. 21,500 CE = ITM (spot 22,000 &gt; strike 21,500). 22,000 CE = ATM. 22,500 CE = OTM. 22,500 PE = ITM (spot 22,000 &lt; strike 22,500). 22,000 PE = ATM. 21,500 PE = OTM. Operations uses moneyness to assess exercise obligations and settlement type.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moneyness affect Gamma?</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Gamma is highest for ATM options and declines for both ITM and OTM options. Near expiry, the Gamma of an ATM option spikes dramatically — the delta can flip from near 0 to near 1 with a very small underlying move if the option is right at the strike on expiry day. This creates 'pin risk' — the largest operational risk near expiry. For deep ITM options, Gamma approaches zero because delta is already near 1 (little room to change). For deep OTM options, Gamma is also near zero because delta is near 0 and probability of exercise is tiny. Gamma risk management is most critical for ATM positions, especially in the last day before expiry.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The Options Greeks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D7.5 · The Options Greeks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Delta: measures option price change for a 1-point change in the underlying. Call delta: 0 to +1. Put delta: 0 to −1. ATM delta ≈ 0.5 for calls, −0.5 for puts.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Gamma: rate of change of delta. Measures how quickly the delta itself changes. Highest for ATM options. Creates 'convexity' — useful to buyers, dangerous to sellers.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Theta: daily time decay. Always negative for option buyers (they lose time value each day). Positive for sellers. Accelerates near expiry, especially for ATM weekly options.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Vega: sensitivity to 1% change in implied volatility. Long options (buyers) have positive Vega. Short options (sellers) have negative Vega. ATM options have the highest Vega.</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D7.5 · The Options Greeks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market maker holds: Short 200 lots Nifty 22,000 CE (delta −0.52 each, lot 25). Short 150 lots Nifty 22,000 PE (delta +0.48 each, lot 25). Net Theta = +₹4.5 lakh/day. Net Vega = −₹35 lakh per 1% vol change.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net portfolio Delta. What does a positive Theta mean for the market maker? If India VIX rises by 3 points (3%), what is the estimated P&amp;L impact from Vega?</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D7.5 · The Options Greeks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Greeks: A Risk Management Framework</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Greeks transform options from opaque instruments into measurable risk exposures. Professional options desks aggregate all four Greeks across their entire book. Delta gives directional risk — hedged with futures. Gamma gives acceleration risk — requires frequent rebalancing. Theta gives daily income/cost — option sellers earn it, buyers pay it. Vega gives volatility risk — the most unpredictable Greek, particularly around events. Managing all four simultaneously — the Theta/Vega conflict, the Gamma/Theta trade-off — is the full-time job of an options risk manager.</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Delta</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Price sensitivity. Hedge ratio. 1-point underlying move → delta × premium change.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Gamma</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Delta acceleration. Highest at ATM. Risk to sellers in fast-moving markets.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Theta</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Daily time decay. Negative for buyers. Positive for sellers. Accelerates near expiry.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Vega</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Volatility sensitivity. Positive for buyers. VIX moves drive large Vega P&amp;L.</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D7.5 · The Options Greeks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Delta Hedging in Practice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Market makers delta-hedge constantly — buying/selling the underlying futures to neutralise delta. A short ATM call (delta −0.5 per unit) is hedged by buying 0.5 units of Nifty futures per option. As Nifty moves, delta changes (Gamma effect) and the hedge must be rebalanced. This continuous rebalancing is called dynamic hedging — the basis of the Black-Scholes model.</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Theta-Vega Conflict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Options sellers face a fundamental conflict: selling ATM options generates high Theta income but also creates maximum Vega exposure. A surprise VIX spike can eliminate weeks of Theta income in a single session. This is the core risk management challenge for short-vol strategies — balancing daily Theta income against the tail risk of sudden volatility expansion.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Gamma Scalping</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Sophisticated traders can profit from Gamma by delta-hedging continuously. Long Gamma (long options) and delta hedge: as the market moves up, buy more futures; as it moves down, sell. The cumulative P&amp;L from this rebalancing can exceed the Theta cost — a positive gamma scalp. This strategy only works in high-volatility, trending markets.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Greeks in Operations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Operations teams use Greeks for: (1) Trade validation — delta within expected range for stated moneyness. (2) Margin checks — SPAN uses Greeks to compute scenario P&amp;L. (3) Risk limit monitoring — net desk Vega, Gamma within approved limits. (4) Regulatory reporting — large traders report delta-equivalent positions to SEBI. (5) P&amp;L attribution — daily P&amp;L split by Delta, Gamma, Theta, and Vega components.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D7.5 · The Options Greeks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options seller generates ₹8 lakh per day in Theta income from a short straddle book on Nifty. His net Vega is −₹60 lakh per 1% vol change. India VIX is at 14. On Budget day, VIX spikes from 14 to 22 (intraday). Calculate the approximate Vega loss and compare it to the number of days of Theta income it represents. What does this tell you about the risk-reward of short-vol strategies around events?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Operations receives an alert: 'Desk net Gamma = −₹5 lakh per 1-point Nifty move per unit.' Nifty is at 22,000. What does negative Gamma mean for the desk's risk? What happens to the desk's P&amp;L if Nifty moves 300 points in either direction? How should operations escalate this?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D7.5 · The Options Greeks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does Delta mean for an options position and how is it used in operations?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Delta measures how much an option's price changes for a 1-point change in the underlying. For a call with delta 0.6: if Nifty rises 100 points, the call premium rises approximately 60 points per unit. Operations uses delta in four ways: (1) Trade validation — checking that the submitted delta matches expected value for the strike/expiry combination. (2) Delta-equivalent position reporting — SEBI requires large traders to report their delta-weighted open interest. (3) Margin computation — SPAN uses delta (plus other Greeks) to estimate worst-case loss. (4) P&amp;L attribution — the delta component of daily P&amp;L = net delta × underlying price change. Understanding delta is the first and most important Greek for operations professionals.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is Vega risk particularly dangerous around Indian market events?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Vega measures how much an option position's value changes per 1% change in implied volatility. Before events (Budget, RBI policy, elections), IV rises — increasing option premiums. After the event, IV collapses (IV crush). For a short-Vega position (selling options): IV rising by 5 points (5% increase) on a book with net Vega of −₹50 lakh per 1% = ₹250 lakh loss — from volatility alone, without any underlying price move. In India, VIX can move 8–12 points on a single event day. Operations must monitor Vega exposure against approved risk limits daily, and escalate immediately if Vega limits are approached during rising-VIX environments.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Black-Scholes Option Pricing Model</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D7.6 · Black-Scholes Option Pricing Model</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Black-Scholes (1973): C = S·N(d1) − K·e^(−rT)·N(d2). Five inputs: S (spot), K (strike), T (time to expiry in years), r (risk-free rate), σ (volatility).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N(d1) = call option Delta. N(d2) ≈ risk-neutral probability that option expires ITM. Put price via put-call parity: P = C − S + K·e^(−rT).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Implied Volatility (IV) = reverse-engineering σ from observed market price. Requires numerical methods. Each strike has its own IV — creating the volatility smile/skew.</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Black-Scholes assumptions: European exercise, constant volatility, log-normal returns, no dividends, no transaction costs. These simplifications limit accuracy in practice.</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D7.6 · Black-Scholes Option Pricing Model</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Nifty ATM 22,000 CE with 21 days to expiry. BS theoretical price (σ=15%) = ₹285. Market price = ₹320. Risk-free rate r = 6.5%. BS gives: Delta = 0.53, Gamma = 0.0003, Theta = −14, Vega = 52.</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is the implied volatility signalled by the ₹320 market price (higher or lower than 15%)? What does an IV above the BS input mean? How would operations use these BS outputs for trade validation?</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D7.6 · Black-Scholes Option Pricing Model</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Black-Scholes: Engine of Modern Options Markets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Black-Scholes transformed options trading from art to science. Before 1973, options were priced by intuition. After BS, traders had a mathematical benchmark — even if imperfect. Today, BS is used as: (1) Theoretical price benchmark (is this trade at fair value?). (2) Greek computation engine — N(d1) = delta, formula derivatives give Gamma/Theta/Vega. (3) Implied volatility extraction — running BS backward from market prices. (4) SPAN margin foundation — repricing positions under stress scenarios. BS is not perfect, but it is the universal reference model for the global options market.</a:t>
            </a:r>
            <a:endParaRPr lang="en-US" sz="1150" dirty="0"/>
          </a:p>
        </p:txBody>
      </p:sp>
      <p:sp>
        <p:nvSpPr>
          <p:cNvPr id="8" name="Shape 6"/>
          <p:cNvSpPr/>
          <p:nvPr/>
        </p:nvSpPr>
        <p:spPr>
          <a:xfrm>
            <a:off x="274320" y="3429000"/>
            <a:ext cx="1920240" cy="23225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232258"/>
          </a:xfrm>
          <a:prstGeom prst="rect">
            <a:avLst/>
          </a:prstGeom>
          <a:solidFill>
            <a:srgbClr val="FFFFFF"/>
          </a:solidFill>
          <a:ln w="12700">
            <a:solidFill>
              <a:srgbClr val="E0E4EF"/>
            </a:solidFill>
            <a:prstDash val="solid"/>
          </a:ln>
        </p:spPr>
      </p:sp>
      <p:sp>
        <p:nvSpPr>
          <p:cNvPr id="10" name="Text 8"/>
          <p:cNvSpPr/>
          <p:nvPr/>
        </p:nvSpPr>
        <p:spPr>
          <a:xfrm>
            <a:off x="320040" y="3447288"/>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S (Spot)</a:t>
            </a:r>
            <a:endParaRPr lang="en-US" sz="1000" dirty="0"/>
          </a:p>
        </p:txBody>
      </p:sp>
      <p:sp>
        <p:nvSpPr>
          <p:cNvPr id="11" name="Text 9"/>
          <p:cNvSpPr/>
          <p:nvPr/>
        </p:nvSpPr>
        <p:spPr>
          <a:xfrm>
            <a:off x="2304288" y="3447288"/>
            <a:ext cx="6492240" cy="195682"/>
          </a:xfrm>
          <a:prstGeom prst="rect">
            <a:avLst/>
          </a:prstGeom>
          <a:noFill/>
          <a:ln/>
        </p:spPr>
        <p:txBody>
          <a:bodyPr wrap="square" lIns="0" tIns="0" rIns="0" bIns="0" rtlCol="0" anchor="ctr"/>
          <a:lstStyle/>
          <a:p>
            <a:pPr indent="0" marL="0">
              <a:buNone/>
            </a:pPr>
            <a:r>
              <a:rPr lang="en-US" sz="1050" dirty="0">
                <a:solidFill>
                  <a:srgbClr val="404040"/>
                </a:solidFill>
              </a:rPr>
              <a:t>Current underlying price. Direct market observable.</a:t>
            </a:r>
            <a:endParaRPr lang="en-US" sz="1050" dirty="0"/>
          </a:p>
        </p:txBody>
      </p:sp>
      <p:sp>
        <p:nvSpPr>
          <p:cNvPr id="12" name="Shape 10"/>
          <p:cNvSpPr/>
          <p:nvPr/>
        </p:nvSpPr>
        <p:spPr>
          <a:xfrm>
            <a:off x="274320" y="3716122"/>
            <a:ext cx="1920240" cy="232258"/>
          </a:xfrm>
          <a:prstGeom prst="rect">
            <a:avLst/>
          </a:prstGeom>
          <a:solidFill>
            <a:srgbClr val="007A87"/>
          </a:solidFill>
          <a:ln w="12700">
            <a:solidFill>
              <a:srgbClr val="007A87"/>
            </a:solidFill>
            <a:prstDash val="solid"/>
          </a:ln>
        </p:spPr>
      </p:sp>
      <p:sp>
        <p:nvSpPr>
          <p:cNvPr id="13" name="Shape 11"/>
          <p:cNvSpPr/>
          <p:nvPr/>
        </p:nvSpPr>
        <p:spPr>
          <a:xfrm>
            <a:off x="2240280" y="3716122"/>
            <a:ext cx="6629400" cy="232258"/>
          </a:xfrm>
          <a:prstGeom prst="rect">
            <a:avLst/>
          </a:prstGeom>
          <a:solidFill>
            <a:srgbClr val="FFFFFF"/>
          </a:solidFill>
          <a:ln w="12700">
            <a:solidFill>
              <a:srgbClr val="E0E4EF"/>
            </a:solidFill>
            <a:prstDash val="solid"/>
          </a:ln>
        </p:spPr>
      </p:sp>
      <p:sp>
        <p:nvSpPr>
          <p:cNvPr id="14" name="Text 12"/>
          <p:cNvSpPr/>
          <p:nvPr/>
        </p:nvSpPr>
        <p:spPr>
          <a:xfrm>
            <a:off x="320040" y="3734410"/>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K (Strike)</a:t>
            </a:r>
            <a:endParaRPr lang="en-US" sz="1000" dirty="0"/>
          </a:p>
        </p:txBody>
      </p:sp>
      <p:sp>
        <p:nvSpPr>
          <p:cNvPr id="15" name="Text 13"/>
          <p:cNvSpPr/>
          <p:nvPr/>
        </p:nvSpPr>
        <p:spPr>
          <a:xfrm>
            <a:off x="2304288" y="3734410"/>
            <a:ext cx="6492240" cy="195682"/>
          </a:xfrm>
          <a:prstGeom prst="rect">
            <a:avLst/>
          </a:prstGeom>
          <a:noFill/>
          <a:ln/>
        </p:spPr>
        <p:txBody>
          <a:bodyPr wrap="square" lIns="0" tIns="0" rIns="0" bIns="0" rtlCol="0" anchor="ctr"/>
          <a:lstStyle/>
          <a:p>
            <a:pPr indent="0" marL="0">
              <a:buNone/>
            </a:pPr>
            <a:r>
              <a:rPr lang="en-US" sz="1050" dirty="0">
                <a:solidFill>
                  <a:srgbClr val="404040"/>
                </a:solidFill>
              </a:rPr>
              <a:t>Fixed in the contract. Determines moneyness.</a:t>
            </a:r>
            <a:endParaRPr lang="en-US" sz="1050" dirty="0"/>
          </a:p>
        </p:txBody>
      </p:sp>
      <p:sp>
        <p:nvSpPr>
          <p:cNvPr id="16" name="Shape 14"/>
          <p:cNvSpPr/>
          <p:nvPr/>
        </p:nvSpPr>
        <p:spPr>
          <a:xfrm>
            <a:off x="274320" y="4003243"/>
            <a:ext cx="1920240" cy="232258"/>
          </a:xfrm>
          <a:prstGeom prst="rect">
            <a:avLst/>
          </a:prstGeom>
          <a:solidFill>
            <a:srgbClr val="007A87"/>
          </a:solidFill>
          <a:ln w="12700">
            <a:solidFill>
              <a:srgbClr val="007A87"/>
            </a:solidFill>
            <a:prstDash val="solid"/>
          </a:ln>
        </p:spPr>
      </p:sp>
      <p:sp>
        <p:nvSpPr>
          <p:cNvPr id="17" name="Shape 15"/>
          <p:cNvSpPr/>
          <p:nvPr/>
        </p:nvSpPr>
        <p:spPr>
          <a:xfrm>
            <a:off x="2240280" y="4003243"/>
            <a:ext cx="6629400" cy="232258"/>
          </a:xfrm>
          <a:prstGeom prst="rect">
            <a:avLst/>
          </a:prstGeom>
          <a:solidFill>
            <a:srgbClr val="FFFFFF"/>
          </a:solidFill>
          <a:ln w="12700">
            <a:solidFill>
              <a:srgbClr val="E0E4EF"/>
            </a:solidFill>
            <a:prstDash val="solid"/>
          </a:ln>
        </p:spPr>
      </p:sp>
      <p:sp>
        <p:nvSpPr>
          <p:cNvPr id="18" name="Text 16"/>
          <p:cNvSpPr/>
          <p:nvPr/>
        </p:nvSpPr>
        <p:spPr>
          <a:xfrm>
            <a:off x="320040" y="4021531"/>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T (Time)</a:t>
            </a:r>
            <a:endParaRPr lang="en-US" sz="1000" dirty="0"/>
          </a:p>
        </p:txBody>
      </p:sp>
      <p:sp>
        <p:nvSpPr>
          <p:cNvPr id="19" name="Text 17"/>
          <p:cNvSpPr/>
          <p:nvPr/>
        </p:nvSpPr>
        <p:spPr>
          <a:xfrm>
            <a:off x="2304288" y="4021531"/>
            <a:ext cx="6492240" cy="195682"/>
          </a:xfrm>
          <a:prstGeom prst="rect">
            <a:avLst/>
          </a:prstGeom>
          <a:noFill/>
          <a:ln/>
        </p:spPr>
        <p:txBody>
          <a:bodyPr wrap="square" lIns="0" tIns="0" rIns="0" bIns="0" rtlCol="0" anchor="ctr"/>
          <a:lstStyle/>
          <a:p>
            <a:pPr indent="0" marL="0">
              <a:buNone/>
            </a:pPr>
            <a:r>
              <a:rPr lang="en-US" sz="1050" dirty="0">
                <a:solidFill>
                  <a:srgbClr val="404040"/>
                </a:solidFill>
              </a:rPr>
              <a:t>Days to expiry / 365. Decreases every day → Theta decay.</a:t>
            </a:r>
            <a:endParaRPr lang="en-US" sz="1050" dirty="0"/>
          </a:p>
        </p:txBody>
      </p:sp>
      <p:sp>
        <p:nvSpPr>
          <p:cNvPr id="20" name="Shape 18"/>
          <p:cNvSpPr/>
          <p:nvPr/>
        </p:nvSpPr>
        <p:spPr>
          <a:xfrm>
            <a:off x="274320" y="4290365"/>
            <a:ext cx="1920240" cy="232258"/>
          </a:xfrm>
          <a:prstGeom prst="rect">
            <a:avLst/>
          </a:prstGeom>
          <a:solidFill>
            <a:srgbClr val="007A87"/>
          </a:solidFill>
          <a:ln w="12700">
            <a:solidFill>
              <a:srgbClr val="007A87"/>
            </a:solidFill>
            <a:prstDash val="solid"/>
          </a:ln>
        </p:spPr>
      </p:sp>
      <p:sp>
        <p:nvSpPr>
          <p:cNvPr id="21" name="Shape 19"/>
          <p:cNvSpPr/>
          <p:nvPr/>
        </p:nvSpPr>
        <p:spPr>
          <a:xfrm>
            <a:off x="2240280" y="4290365"/>
            <a:ext cx="6629400" cy="232258"/>
          </a:xfrm>
          <a:prstGeom prst="rect">
            <a:avLst/>
          </a:prstGeom>
          <a:solidFill>
            <a:srgbClr val="FFFFFF"/>
          </a:solidFill>
          <a:ln w="12700">
            <a:solidFill>
              <a:srgbClr val="E0E4EF"/>
            </a:solidFill>
            <a:prstDash val="solid"/>
          </a:ln>
        </p:spPr>
      </p:sp>
      <p:sp>
        <p:nvSpPr>
          <p:cNvPr id="22" name="Text 20"/>
          <p:cNvSpPr/>
          <p:nvPr/>
        </p:nvSpPr>
        <p:spPr>
          <a:xfrm>
            <a:off x="320040" y="4308653"/>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r (Rate)</a:t>
            </a:r>
            <a:endParaRPr lang="en-US" sz="1000" dirty="0"/>
          </a:p>
        </p:txBody>
      </p:sp>
      <p:sp>
        <p:nvSpPr>
          <p:cNvPr id="23" name="Text 21"/>
          <p:cNvSpPr/>
          <p:nvPr/>
        </p:nvSpPr>
        <p:spPr>
          <a:xfrm>
            <a:off x="2304288" y="4308653"/>
            <a:ext cx="6492240" cy="195682"/>
          </a:xfrm>
          <a:prstGeom prst="rect">
            <a:avLst/>
          </a:prstGeom>
          <a:noFill/>
          <a:ln/>
        </p:spPr>
        <p:txBody>
          <a:bodyPr wrap="square" lIns="0" tIns="0" rIns="0" bIns="0" rtlCol="0" anchor="ctr"/>
          <a:lstStyle/>
          <a:p>
            <a:pPr indent="0" marL="0">
              <a:buNone/>
            </a:pPr>
            <a:r>
              <a:rPr lang="en-US" sz="1050" dirty="0">
                <a:solidFill>
                  <a:srgbClr val="404040"/>
                </a:solidFill>
              </a:rPr>
              <a:t>91-day T-bill yield in India (~6.5%). Affects carry component.</a:t>
            </a:r>
            <a:endParaRPr lang="en-US" sz="1050" dirty="0"/>
          </a:p>
        </p:txBody>
      </p:sp>
      <p:sp>
        <p:nvSpPr>
          <p:cNvPr id="24" name="Shape 22"/>
          <p:cNvSpPr/>
          <p:nvPr/>
        </p:nvSpPr>
        <p:spPr>
          <a:xfrm>
            <a:off x="274320" y="4577486"/>
            <a:ext cx="1920240" cy="232258"/>
          </a:xfrm>
          <a:prstGeom prst="rect">
            <a:avLst/>
          </a:prstGeom>
          <a:solidFill>
            <a:srgbClr val="007A87"/>
          </a:solidFill>
          <a:ln w="12700">
            <a:solidFill>
              <a:srgbClr val="007A87"/>
            </a:solidFill>
            <a:prstDash val="solid"/>
          </a:ln>
        </p:spPr>
      </p:sp>
      <p:sp>
        <p:nvSpPr>
          <p:cNvPr id="25" name="Shape 23"/>
          <p:cNvSpPr/>
          <p:nvPr/>
        </p:nvSpPr>
        <p:spPr>
          <a:xfrm>
            <a:off x="2240280" y="4577486"/>
            <a:ext cx="6629400" cy="232258"/>
          </a:xfrm>
          <a:prstGeom prst="rect">
            <a:avLst/>
          </a:prstGeom>
          <a:solidFill>
            <a:srgbClr val="FFFFFF"/>
          </a:solidFill>
          <a:ln w="12700">
            <a:solidFill>
              <a:srgbClr val="E0E4EF"/>
            </a:solidFill>
            <a:prstDash val="solid"/>
          </a:ln>
        </p:spPr>
      </p:sp>
      <p:sp>
        <p:nvSpPr>
          <p:cNvPr id="26" name="Text 24"/>
          <p:cNvSpPr/>
          <p:nvPr/>
        </p:nvSpPr>
        <p:spPr>
          <a:xfrm>
            <a:off x="320040" y="4595774"/>
            <a:ext cx="1828800" cy="195682"/>
          </a:xfrm>
          <a:prstGeom prst="rect">
            <a:avLst/>
          </a:prstGeom>
          <a:noFill/>
          <a:ln/>
        </p:spPr>
        <p:txBody>
          <a:bodyPr wrap="square" lIns="0" tIns="0" rIns="0" bIns="0" rtlCol="0" anchor="ctr"/>
          <a:lstStyle/>
          <a:p>
            <a:pPr indent="0" marL="0">
              <a:buNone/>
            </a:pPr>
            <a:r>
              <a:rPr lang="en-US" sz="1000" b="1" dirty="0">
                <a:solidFill>
                  <a:srgbClr val="FFFFFF"/>
                </a:solidFill>
              </a:rPr>
              <a:t>σ (Vol)</a:t>
            </a:r>
            <a:endParaRPr lang="en-US" sz="1000" dirty="0"/>
          </a:p>
        </p:txBody>
      </p:sp>
      <p:sp>
        <p:nvSpPr>
          <p:cNvPr id="27" name="Text 25"/>
          <p:cNvSpPr/>
          <p:nvPr/>
        </p:nvSpPr>
        <p:spPr>
          <a:xfrm>
            <a:off x="2304288" y="4595774"/>
            <a:ext cx="6492240" cy="195682"/>
          </a:xfrm>
          <a:prstGeom prst="rect">
            <a:avLst/>
          </a:prstGeom>
          <a:noFill/>
          <a:ln/>
        </p:spPr>
        <p:txBody>
          <a:bodyPr wrap="square" lIns="0" tIns="0" rIns="0" bIns="0" rtlCol="0" anchor="ctr"/>
          <a:lstStyle/>
          <a:p>
            <a:pPr indent="0" marL="0">
              <a:buNone/>
            </a:pPr>
            <a:r>
              <a:rPr lang="en-US" sz="1050" dirty="0">
                <a:solidFill>
                  <a:srgbClr val="404040"/>
                </a:solidFill>
              </a:rPr>
              <a:t>Volatility input — most uncertain. IV extracted from market prices.</a:t>
            </a:r>
            <a:endParaRPr lang="en-US" sz="1050" dirty="0"/>
          </a:p>
        </p:txBody>
      </p:sp>
      <p:sp>
        <p:nvSpPr>
          <p:cNvPr id="28" name="Shape 26"/>
          <p:cNvSpPr/>
          <p:nvPr/>
        </p:nvSpPr>
        <p:spPr>
          <a:xfrm>
            <a:off x="0" y="4864608"/>
            <a:ext cx="9144000" cy="278892"/>
          </a:xfrm>
          <a:prstGeom prst="rect">
            <a:avLst/>
          </a:prstGeom>
          <a:solidFill>
            <a:srgbClr val="101C4F"/>
          </a:solidFill>
          <a:ln w="12700">
            <a:solidFill>
              <a:srgbClr val="101C4F"/>
            </a:solidFill>
            <a:prstDash val="solid"/>
          </a:ln>
        </p:spPr>
      </p:sp>
      <p:sp>
        <p:nvSpPr>
          <p:cNvPr id="29" name="Text 27"/>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30" name="Text 28"/>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D7.6 · Black-Scholes Option Pricing Model</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Volatility Smile and Skew</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BS assumes constant volatility across strikes. In reality, implied volatility varies. For Nifty: OTM puts have higher IV than ATM (left skew). This reflects investor demand for downside protection. Traders use volatility surfaces (IV by strike and expiry) rather than flat BS volatility — a significant practical extension.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Put-Call Parity</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P = C − S + K·e^(−rT) is a no-arbitrage relationship. If put price or call price deviates, arbitrageurs trade to restore parity. For NSE options, any significant deviation is immediately arbitraged away by algorithmic traders. Operations must check that trade prices respect put-call parity — significant deviations signal data errors or stale prices.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BS in Risk Systems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Every risk management system at a bank, broker, or fund manager runs BS continuously. Trade blotters compute theoretical prices in real time. Margin systems use BS scenarios. P&amp;L attribution uses Greeks. Regulatory reports use delta-equivalent positions. BS is not just for pricing — it is the infrastructure of risk management.</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Extensions Beyond BS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Practitioners extend BS for its limitations: Heston model (stochastic volatility). Jump-diffusion models (fat tails). Local volatility models (volatility surface). Bachelier model (for near-zero rates). For CIBOP-level knowledge, understanding BS and its limitations is sufficient — advanced models build on the same conceptual foundation.</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D7.6 · Black-Scholes Option Pricing Model</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colleague says: 'Black-Scholes is outdated and wrong — it assumes constant volatility which we know is false. We should stop teaching it.' Evaluate this statement. In what ways is BS still useful despite its known limitations? In what trading situations might it significantly mis-price options?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operations analyst finds that the Nifty 22,000 CE is trading at IV of 17% while the 21,500 PE (same expiry) trades at IV of 22%. Both are for the same underlying and expiry. What does this 5% IV differential mean? What market dynamic drives the Nifty volatility skew? How would a sophisticated options trader exploit or manage this skew?</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D7.6 · Black-Scholes Option Pricing Model</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implied volatility and how is it used in practice?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Implied volatility (IV) is the σ that, when plugged into Black-Scholes, produces the observed market option price. It is extracted numerically (Newton-Raphson iteration) since BS cannot be algebraically inverted for σ. IV is used in practice for: (1) Comparing option expensiveness across strikes and expiries — the IV surface. (2) Trading signals: IV historically mean-reverts; when IV is above historical average, selling options has statistical edge. (3) India VIX is the weighted average IV of Nifty OTM options — the market's 30-day volatility expectation. (4) Operations validation: incoming trade premiums imply an IV — if IV is outside normal bounds (e.g., 5% or 300%), it flags a potential error. IV is the most important single output of the BS model for market practitioners.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role does Black-Scholes play in the SPAN margin system?</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SPAN (Standard Portfolio Analysis of Risk) uses Black-Scholes to reprice options positions under 16 stress scenarios. Each scenario specifies: (1) Underlying price change (typically ±1 to ±3 standard deviations). (2) Implied volatility change (typically ±5 to ±10%). BS reprices the option under each scenario, generating a P&amp;L for that position. The worst-case loss across all 16 scenarios becomes the initial margin required. NSCCL computes SPAN margins in real time during trading. When VIX rises, the volatility scenarios in SPAN become more extreme — increasing margins. Operations must understand BS is the engine behind every margin call related to options positions.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Basic Options Strategies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D7.7 · Basic Options Strategies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Covered Call: Own stock + sell a call option. Income strategy. Enhances return in flat markets. Caps upside above the short strike.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Protective Put: Own stock + buy a put option. Defensive strategy. Defines maximum loss. Costs premium but prevents catastrophic drawdown.</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Long Straddle: Buy ATM call + buy ATM put (same strike, same expiry). Profit from large moves in either direction. Maximum loss = total premium if market stays flat.</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Long Strangle: Buy OTM call + buy OTM put. Cheaper than straddle. Needs bigger move. Both positions profit from volatility expansion and IV spikes before events.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D7.7 · Basic Options Strategies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Pre-Union Budget: India VIX = 18. Nifty = 22,000. Trader buys a long straddle: ATM 22,000 CE at ₹400 and ATM 22,000 PE at ₹380. Total cost = ₹780 per unit. Lot size 25. 3 days to Budget announcement.</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breakeven levels. Post-Budget, Nifty gaps up 800 points to 22,800. VIX collapses from 18 to 12 (IV crush of 6 points). Estimate the straddle P&amp;L — considering both the price move gain and the IV crush loss. Which effect is likely to dominate?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D7.7 · Basic Options Strategies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Strategy Selection Based on Market Outlook</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Each options strategy is designed for a specific combination of market direction view and volatility view. Covered calls: neutral/mild bullish + low volatility expected. Protective puts: bullish but worried about tail risk. Long straddle/strangle: directionally agnostic, expecting volatility expansion. Short straddle/strangle: range-bound market, volatility contraction expected (collect premium). Professional traders always define: (1) Directional view, (2) Volatility view, (3) Time horizon, (4) Maximum acceptable loss — before selecting a strategy.</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Covered Call</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Own stock + sell call. Income in flat markets. Cap upside. Reduce breakeven.</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Protective Put</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Own stock + buy put. Insurance. Define max loss. Retain upside.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Straddle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ATM call + put. Max loss = premium. Profit from large move or IV spike.</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Long Strangle</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OTM call + put. Cheaper. Bigger move needed. IV expansion play.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D7.7 · Basic Options Strategies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Short Straddle: The Income Machine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Selling both ATM call and ATM put collects maximum premium. In India, short straddle sellers on Nifty weekly expiries collect high Theta in the final days. Risk: large moves or VIX spike can destroy the premium income instantly. Short straddles after events (post-IV crush) are more favourable — volatility has already receded.</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IV Crush After Events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Every major Indian market event (Budget, RBI policy, election results) is followed by an IV crush. VIX falls 5–10 points in the same session as the announcement. Long straddle buyers must overcome this IV crush to profit — requiring a larger underlying move than just the premium paid. Short straddle sellers profit from this IV collapse.</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Covered Call in Practice</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fund managers with equity portfolios use systematic covered call writing to generate income. They sell monthly OTM calls on their holdings — collecting 0.5–1.5% premium per month. Over a year, this can add 6–12% additional return. The trade-off: in a strong bull market, the upside is capped. This strategy is also called a 'buy-write'.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Protective Put as Portfolio Insurance</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Large FIIs and domestic mutual funds buy Nifty put options as portfolio hedges. A ₹10,000 crore equity portfolio that is 1% correlated with Nifty buys Nifty puts with equivalent notional. Put premium = cost of insurance. When markets crash (COVID, GFC), the puts generate large gains offsetting equity losses. SEBI allows hedge accounting treatment for such positions.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D7.7 · Basic Options Strategies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retail trader buys a long straddle on Nifty before every quarterly earnings season for large-cap stocks. In theory, earnings announcements should cause large moves — benefiting the straddle. But in practice, the trader consistently loses money. Explain at least three reasons why this strategy might underperform despite earnings surprises.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conservative equity investor holding ₹50 lakh of blue-chip stocks asks: 'Should I write covered calls every month to earn extra income?' Prepare a clear recommendation including: potential monthly income estimate, the scenarios where this is beneficial, the scenarios where it is harmful, and one specific NSE implementation example.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D7.7 · Basic Options Strategies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a protective put and when an operations professional would see this trade.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protective put = owning stock + buying a put option on the same stock. Example: Fund manager holds 10,000 Reliance shares at ₹2,800. Buys 20 lots of Reliance 2,700 PE at ₹80. Cost = ₹80 × 500 × 20 / 500 per lot... simplified: ₹80 × 10,000 = ₹8 lakh premium. This caps maximum loss at: stock fall to 2,700 (₹100 loss on stock per share) + ₹80 premium = ₹180 per share max loss regardless of how far Reliance falls. Operations sees this trade as: (1) Stock holding confirmed in custody. (2) Put option trade booked against the same client account. (3) Linked in risk systems as a hedged position — affecting margin treatment and risk reporting. (4) At expiry: if Reliance below 2,700, the put is exercised — stock delivered at strike price, cash received.</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IV crush and how does it affect straddle buyers?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IV crush = sharp decline in implied volatility after a major event resolves. Before events (elections, Budget), IV (and hence option premiums) rise as uncertainty increases. After announcement, uncertainty resolves → IV collapses → option premiums fall sharply. For a straddle buyer: even if Nifty moves 500 points after Budget, the IV crush might reduce straddle value significantly. Example: pre-Budget straddle cost ₹780. Post-Budget: Nifty moves +300 points (call gains ₹300). IV drops 6 points: Vega impact = −₹52 × 6 = −₹312 per unit on straddle. Net: +₹300 (delta) −₹312 (Vega) = −₹12 loss despite the underlying moving. IV crush overwhelmed the directional gain. Straddle buyers need very large underlying moves to overcome IV crush after events.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Spread Strategies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D7.8 · Spread Strategies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Bull Call Spread: Buy lower strike call + sell higher strike call. Net debit. Moderately bullish. Max loss = net debit. Max profit = spread width − net debit.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Bear Put Spread: Buy higher strike put + sell lower strike put. Net debit. Moderately bearish. Max loss = net debit. Max profit = spread width − net debit.</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Calendar Spread: Same strike, different expiries. Sell near-term, buy far-term. Profits from time decay differential. Works best in low-volatility, sideways markets.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Butterfly Spread: Three strikes — buy outer wings, sell middle twice. Very cheap net debit. Maximum profit only at middle strike. Range-bound strategy.</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D7.8 · Spread Strategies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Bull call spread on Nifty: Buy 22,000 CE at ₹380 and sell 22,500 CE at ₹160. Net debit = ₹220 per unit. 50 lots (lot size 25). Nifty expires at 22,350.</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profit per unit and total P&amp;L for the 50-lot spread. What is the maximum possible profit and at which Nifty level is it achieved? What would NSCCL charge as SPAN margin — explain why it is lower than a naked short call?</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D7.8 · Spread Strategies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Defined-Risk Spread Strategies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Spread strategies simultaneously buy and sell options — creating a defined risk profile on both sides. The sale partially or fully finances the purchase. Key advantages: (1) Reduced net premium cost vs naked long option. (2) Defined maximum loss. (3) Reduced Vega exposure (long and short Vega partially offset). (4) Lower SPAN margin requirement from NSCCL vs naked shorts. The trade-off: capped maximum profit. Spread strategies are the professional standard for expressing directional views with controlled risk — widely used by FIIs, proprietary desks, and sophisticated retail traders.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Bull Call Spread</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low CE + sell high CE. Max loss = net debit. Max profit = width − debit.</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Bear Put Spread</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high PE + sell low PE. Same logic. Bearish with defined risk.</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Calendar Spread</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Sell near expiry + buy far expiry. Profits from Theta differential.</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Butterfly</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3 strikes, buy wings + sell body twice. Max profit at middle strike only.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D7.8 · Spread Strategies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NSCCL Spread Margin Benefit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NSCCL recognises defined-risk spread positions and charges reduced SPAN margin vs treating each leg independently. A bull call spread's max loss is capped — so NSCCL does not require full naked margin on the short call leg. This capital efficiency is significant at scale: a ₹50,000 naked margin per lot can become ₹8,000 for a recognised spread — freeing capital for other trades.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Pin Risk at Expiry</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Pin risk: when the underlying expires exactly at the sold option's strike. Example: short 22,500 CE in a bull call spread. If Nifty closes at 22,500.05 — the short call is ITM by 0.05 points and auto-exercised by NSE. If it closes at 22,499.95 — the short call expires worthless. Operations cannot know which way until final settlement price is confirmed at 3:30 PM. Squaring the spread before 3:30 PM eliminates pin risk entirely.</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Spread Booking in OMS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Multi-leg spread trades must be booked as a single strategy in the order management system (OMS). Operations teams verify: (1) Both legs executed. (2) Legs matched as a spread in NSCCL's system for margin benefit. (3) Correct leg linkage — transposing buy/sell legs creates a completely different risk profile. (4) Strategy-level risk limit compliance verified against the net exposure, not individual legs.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Butterfly and Range-Bound Markets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Butterfly spreads are profitable when the market stays within a tight range. Indian markets near important support/resistance levels, or after large event-driven moves have settled, often exhibit range-bound behaviour — ideal for butterfly strategies. The very low net debit (sometimes ₹10–30 for a Nifty butterfly) makes the maximum risk minimal, though max profit probability is low.</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D7.8 · Spread Strategies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trader implements a bull call spread vs a naked long call on Nifty with the same bullish view. Bull call spread: buy 22,000 CE at ₹380, sell 22,500 CE at ₹160. Net cost ₹220. Naked call: buy 22,000 CE at ₹380. For each of 3 scenarios (Nifty at 22,200, 22,500, 23,000 at expiry), calculate both strategies' P&amp;L. Under what market conditions is the spread superior? When is the naked call better?</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experienced trader tells a junior: 'Calendar spreads are free money — the near-term option decays faster, so you always profit.' Critically evaluate this statement. What scenarios would cause a calendar spread to lose money?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D7.8 · Spread Strategies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a bull call spread and its operational considerations.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Bull call spread: buy a lower strike call + sell a higher strike call, same expiry. Net debit = premium paid − premium received. Example: buy 22,000 CE at ₹380, sell 22,500 CE at ₹160. Net debit ₹220. Max loss = ₹220 (below 22,000). Max profit = ₹280 (above 22,500) = spread width ₹500 − net debit ₹220. Operational considerations: (1) Both legs must be booked simultaneously and linked as a spread strategy. (2) NSCCL spread margin recognition — lower margin than treating legs independently. (3) Expiry management — if Nifty is near the short strike (22,500) at expiry, pin risk must be managed by squaring off before 3:30 PM. (4) For stock option spreads: if both legs are ITM at expiry, physical delivery obligations arise for both — net position results in share receipt/delivery depending on direction.</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pin risk and how does operations manage it?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Pin risk = uncertainty when the underlying expires at or near the price of a sold (short) option strike. At exactly that level: the counterparty may or may not exercise the short option. If they do, the seller has an unexpected delivery obligation. If they don't, the seller profits from the unchallenged premium. Operations cannot know until NSCCL confirms final exercises after 3:30 PM. Management: (1) Close the sold option position before market close (3:20–3:25 PM) to eliminate the risk entirely. (2) Monitor positions intraday with alerts when underlying approaches sold strikes within ₹10 of expiry. (3) For physical settlement stock options, ensure delivery shares are available if the short call might be exercised. (4) Post-3:30 PM: reconcile confirmed exercise notices against expected positions immediately.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Volatility and India VIX</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D7.9 · Volatility and India VIX</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Historical Volatility (HV): Standard deviation of past log returns × √252. Backward-looking measure of actual price movement.</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Implied Volatility (IV): σ extracted from option market prices using Black-Scholes. Forward-looking consensus expectation of future volatility.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 VIX: NSE's official volatility index. Weighted average IV of OTM Nifty options, interpolated to 30-day constant maturity. Unit = annualised standard deviation %.</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VIX-Nifty relationship: strongly inverse (−0.80 correlation). VIX spikes when Nifty falls. VIX falls when Nifty is in a calm uptrend. VIX &gt; 25 = high fear; &lt; 15 = low fear.</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D7.9 · Volatility and India VIX</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India VIX on Monday = 14.5. Tuesday: surprise RBI rate cut announcement. Nifty rallies 300 points (+1.4%). VIX drops to 11.8. An options trader holds: short straddle (sold 50 lots ATM straddle at total premium ₹700/unit). Net Vega = −₹45 lakh per 1% vol change.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Vega P&amp;L from the 2.7-point VIX drop. What is the approximate direction of the net Delta P&amp;L from the 300-point Nifty rally (consider the straddle's near-zero delta). Which effect — delta move or Vega/IV collapse — generated more P&amp;L?</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D7.9 · Volatility and India VIX</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India VIX: The Fear Gauge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India VIX was launched by NSE in 2008, based on the CBOE VIX methodology. It uses a model-free approach — deriving expected volatility from a wide range of OTM Nifty option prices rather than a single ATM strike. VIX 15 means the market expects Nifty to move ±15%/√12 ≈ ±4.3% in the next month (1 standard deviation). Historical VIX range: COVID peak (March 2020) = 85. Post-COVID low = 10. Normal range = 12–18. Election-year spikes = 22–28. Every options strategy decision — buyer or seller — should start with a VIX analysis.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VIX &lt; 15</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Low fear. Options cheap. Buyers' opportunity. Near historical lows.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VIX 15–20</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Normal range. Balanced market. Standard strategy conditions.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VIX 20–25</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Elevated concern. Hedging demand rises. Premium sellers earn more but take more risk.</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VIX &gt; 25</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High fear. Major event or crisis. Options very expensive. Short-vol risky.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D7.9 · Volatility and India VIX</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Pre-Event VIX Trading</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 VIX reliably spikes before Budget (Feb 1), RBI policy meetings, General Election results (May-June). Traders buy straddles 2–3 weeks before events as VIX rises — then sell the straddles as VIX peaks just before the announcement. Profit from IV expansion without needing the market to move. This strategy requires careful timing.</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VIX and SPAN Margin Linkage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NSCCL's SPAN margin computation uses volatility scanning ranges that scale with VIX. When VIX rises, the SPAN scenarios include larger price and volatility swings — increasing initial margin for options positions. A 50% jump in VIX can increase SPAN margins by 40–60%. Operations teams must proactively notify clients before VIX spikes trigger sudden margin calls.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Historical vs Implied Vol Relationship</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When IV &gt; HV: options are 'expensive' relative to actual moves — historically, selling options has a positive expected edge. When IV &lt; HV: options are 'cheap'. The VIX premium (IV − HV spread) over India's history has been positive on average, meaning options sellers have earned a volatility risk premium over time — the statistical basis for short-vol strategies.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VIX-Based Risk Management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Systematic risk management using VIX thresholds: VIX below 12 → low risk environment → can hold full position size. VIX 15–18 → normal → standard risk. VIX above 20 → elevated → reduce short options positions by 25%. VIX above 25 → high risk → cut short vol by 50%, buy protective puts on equity portfolio. This rules-based approach removes emotional decision-making.</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D7.9 · Volatility and India VIX</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 VIX reached 85 during the COVID-19 crash in March 2020. Options sellers who sold straddles at 'cheap' prices of VIX 14 in January 2020 faced catastrophic losses 6 weeks later. What risk management framework should professional options sellers use to survive black swan volatility events? Is there a way to systematically sell volatility while protecting against tail risk?</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SEBI is considering requiring all FIIs to report their net Vega exposure to the regulator weekly, alongside their delta-equivalent position disclosures. Argue for and against this regulatory proposal. Would it improve market stability, or would it create new risks?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D7.9 · Volatility and India VIX</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India VIX and how is it constructed?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India VIX is NSE's volatility index, measuring expected Nifty 50 volatility over the next 30 days. Construction (CBOE VIX methodology): (1) Select OTM Nifty call and put options for the two nearest expiries. (2) Compute a weighted average of their implied volatilities across a range of strikes (not just ATM). (3) Interpolate between the two expiries to create a constant 30-day maturity measure. (4) Express as annualised standard deviation %. VIX 18 = market expects Nifty to move ±18% annualised over next 30 days = ±18/√12 ≈ ±5.2% over the next month. India VIX uses weekly Nifty options since their introduction — making the near-expiry leg often days away, increasing sensitivity to short-term uncertainty. NSE publishes VIX in real time during trading hours.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a VIX spike affect daily operations at a broker?</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 sudden VIX spike — say from 15 to 22 overnight — creates multiple operational tasks simultaneously: (1) SPAN margin increases: NSCCL raises initial margin requirements for all options positions. Operations must calculate new margin requirements for every client with options exposure. (2) Margin calls: clients whose accounts fall below required margins receive immediate notice — email, call, SMS. (3) Force close preparation: if clients don't fund within the specified window (typically 2 hours intraday, or T+1 for end-of-day shortfalls), operations begins the position close-out process as per SEBI regulations. (4) Risk limit monitoring: desk risk alerts trigger if Vega approaches approved limits. Operations escalates to risk management. (5) Client communication: proactive outreach to large options clients explaining the VIX move and its margin implications — preventing panic and providing context.</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D7.10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SEBI Regulations, Settlement and Exotic Options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Derivatives: Options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D7.10 · SEBI Regulations, Settlement and Exotic Options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SEBI stock eligibility: options available only on stocks meeting liquidity/market-cap criteria (top ~200 stocks). Reviewed quarterly. Position limits: FII MWPL = 20% of free-float market cap.</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Physical settlement (2019 SEBI mandate): all stock F&amp;O settled via actual share delivery. Index options (Nifty, Bank Nifty) remain cash-settled at 3:00–3:30 PM VWAP on expiry day.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Auto-exercise: NSE auto-exercises all ITM options at expiry. Holders not wanting delivery must square off before 3:30 PM Thursday. Failure triggers compulsory physical delivery.</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Exotic options (OTC): Barrier (knock-in/knock-out), Asian (average price), Binary (fixed payout), Lookback (optimal historical price). Used by Indian banks and corporates for customised hedging.</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D7.10 · SEBI Regulations, Settlement and Exotic Options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fund manager holds 50 lots of Infosys 1,800 CE (stock option). Expiry is Thursday. Today is Wednesday afternoon. Infosys spot = ₹1,870. The call is ITM by ₹70. The fund manager does NOT want physical delivery of Infosys shares — they just wanted a directional trade.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must operations do by 3:30 PM Thursday? If the position is NOT closed and expiry occurs with Infosys at ₹1,870, what settlement obligation arises? What operational steps are needed to process a physical delivery for the long call position?</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D7.10 · SEBI Regulations, Settlement and Exotic Options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Physical Settlement: Operational Transformation Since 2019</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SEBI's 2019 mandate moving stock F&amp;O from cash to physical settlement fundamentally changed operations at every broker and fund manager in India. Pre-2019: all stock F&amp;O settled in cash — simple P&amp;L credit/debit. Post-2019: ITM stock options trigger actual share delivery through the depository system. Call buyers must fund the full strike × lot × shares. Put buyers must have shares in demat. Sellers face mirror obligations. Operations must coordinate between trading, custody/demat, and clearing teams to ensure settlement. Failure is penalised via auction — typically 2–5% of contract value as penalty from NSCCL.</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ITM Call Buyer</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Pays strike × lot size. Receives shares in demat. Must fund before expiry.</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ITM Call Seller</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Receives strike × lot size. Must deliver shares from demat account.</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ITM Put Buyer</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Delivers shares. Receives strike × lot size in cash.</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ITM Put Seller</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Receives shares (must have cash to fund). Pays strike × lot size.</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D7.10 · SEBI Regulations, Settlement and Exotic Options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Early Delivery Margin (EDM)</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From T−4 days before expiry, NSCCL begins charging Early Delivery Margin (EDM) on ITM stock option positions. EDM escalates each day as expiry approaches. This margin reflects the physical delivery obligation and ensures the market is not disrupted by last-minute failures. Operations must factor EDM into client margin monitoring.</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Exotic Options in Indian Banks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banks and corporates use OTC exotic options extensively for hedging. USD/INR barrier options (knock-out at specific exchange rate levels) are common for exporters. Asian options on commodity prices help manufacturing companies hedge average input costs over a quarter. Operations in bank treasury teams process these trades through ISDA documentation, trade confirmation systems, and CCIL OTC reporting.</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F&amp;O Position Limit Framework</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SEBI's position limit system has multiple layers: (1) Market-Wide Position Limit (MWPL) — total open interest across all participants for a stock. (2) Client-level limit — 1% of MWPL. (3) FII limit — 20% of MWPL or ₹500 crore for indices. NSE enforces these through real-time surveillance. When MWPL for a stock reaches 95%, fresh positions are banned until OI falls. Operations monitors these alerts daily.</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2024 F&amp;O Reforms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has periodically reviewed F&amp;O regulations to address retail losses. Key recent changes: rationalisation of weekly expiries (reducing from multiple index expiries to fewer), increased lot sizes to raise the minimum contract value, enhanced upfront premium collection, and mandatory intrinsic value margin collection for sellers. Operations must implement regulatory changes rapidly — often with 30–60 days' notice.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D7.10 · SEBI Regulations, Settlement and Exotic Options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SEBI's 2019 physical settlement mandate was designed to improve market integrity by reducing speculation in stock derivatives near expiry. However, many fund managers argue it has increased operational complexity and cost without clear benefit. Evaluate both perspectives. Has physical settlement improved or complicated the Indian derivatives market?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corporate treasurer at an Indian exporter tells you: 'We need to hedge ₹500 crore of USD receivables over the next 6 months, but we don't want the hedge to be triggered if USD/INR stays in a narrow range of 82–86.' Which exotic option structure would you recommend? Explain the knock-in/knock-out barrier mechanics and the operational considerations for monitoring and settling such an instrument.</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D7.10 · SEBI Regulations, Settlement and Exotic Options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physical settlement and how does it affect operations for stock options?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Physical settlement means ITM stock options at expiry result in actual delivery of underlying shares — not a cash P&amp;L credit. Since SEBI's 2019 mandate: for ITM call options: the buyer pays strike price × shares and receives shares in demat. The seller delivers shares and receives cash. For ITM put options: the buyer delivers shares and receives cash. The seller receives shares and pays cash. Operational impact: (1) Operations must check whether clients have sufficient cash (call buyers) or shares (put buyers/call sellers) before expiry. (2) Early Delivery Margin is charged from T−4 days on ITM positions. (3) Operations coordinates with custody/demat teams for NSDL/CDSL share transfer. (4) If delivery fails — client doesn't have shares or cash — NSCCL auctions the position on T+2, imposing 2–5% penalty on the defaulting party. (5) Index options (Nifty, Bank Nifty) are exempt — cash-settled at the VWAP fixing price.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barrier options and where are they used in Indian markets?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Barrier options are options that either activate (knock-in) or terminate (knock-out) when the underlying crosses a specified barrier price. Knock-out call: buyer gets a call option that cancels if the underlying falls below a barrier. This is cheaper than a vanilla call — but loses protection if the barrier is hit. Knock-in put: a put that only activates if the underlying falls below a barrier — provides protection only in severe downturns. In India, barrier options are widely used by: (1) Exporters using USD/INR knock-out call options to hedge dollar receivables at lower premium. (2) Importers using knock-in puts for downside protection only in extreme scenarios. (3) Structured product desks embedding barriers in principal-protected notes. Operations in bank treasury processes these as OTC trades: trade confirmation under ISDA, real-time barrier monitoring (must process knock-in/out events instantly when barrier is touched during trading hours), settlement at maturity or on knock event.</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Derivatives: Options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CIBOP Derivatives: Options — Learning Deck</dc:title>
  <dc:subject>PptxGenJS Presentation</dc:subject>
  <dc:creator>Imarticus Learning</dc:creator>
  <cp:lastModifiedBy>Imarticus Learning</cp:lastModifiedBy>
  <cp:revision>1</cp:revision>
  <dcterms:created xsi:type="dcterms:W3CDTF">2026-05-06T07:21:58Z</dcterms:created>
  <dcterms:modified xsi:type="dcterms:W3CDTF">2026-05-06T07:21:58Z</dcterms:modified>
</cp:coreProperties>
</file>