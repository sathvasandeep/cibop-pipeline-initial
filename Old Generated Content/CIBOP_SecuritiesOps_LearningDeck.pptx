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Securities</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Operations</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D2: Securities Operations  |  UORs: D2.1 – D2.10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Securities Trading Organization (STO)</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D2.1 · Securities Trading Organization (STO)</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The STO (Securities Trading Organization) is the organisational structure within a financial institution that manages trading — divided into Front Office (FO), Middle Office (MO), and Back Office (BO).</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Front Office: client-facing revenue generation — Sales, Trading, Research, Structuring. They execute trades and manage client relationships.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Middle Office: risk management, trade control, compliance, and P&amp;L calculation. They validate trades and monitor limits — the control tier between FO and BO.</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Back Office: settlement, reconciliation, corporate actions, regulatory reporting. They complete the trade lifecycle — the final leg of the relay race.</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D2.1 · Securities Trading Organization (STO)</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proprietary trading desk at a large Indian bank executed a ₹200 crore equity block trade. The trade was booked against the wrong ISIN, the settlement instruction was sent to the wrong custodian, and the risk team wasn't notified. By T+1, the trade had failed to settle. The operations head is trying to identify which team failed at each stage.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Map the failure to the responsible tier: (1) Wrong ISIN booking — which team? (2) Wrong settlement instruction — which team? (3) Risk team not notified — which control failed? What SEBI requirement was breached by the failure to segregate trading and settlement?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D2.1 · Securities Trading Organization (STO)</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Three-Tier STO Structure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STO's three-tier structure exists to enforce segregation of duties — preventing the same person from initiating, authorising, and settling a trade. Front Office generates the trade. Middle Office controls and validates it. Back Office settles and reconciles it. SEBI's broker regulations mandate this separation. The failure point in most trading scandals (Barings Bank, Société Générale) was the collapse of this separation — a trader who also controlled his own back office records could hide losses indefinitely.</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Front Office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Sales, Trading, Research, Structuring. Revenue generation. Client-facing.</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Middle Office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Risk, Compliance, Trade Control, Product Control (P&amp;L). The control tier.</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Back Office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Settlement, Reconciliation, Custody, Corporate Actions, Regulatory Reporting.</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Segregation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SEBI requires FO/BO separation. Prevents fraud, error concealment, and conflicts of interest.</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D2.1 · Securities Trading Organization (STO)</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Barings Bank Lesson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 1995, Nick Leeson was both a trader AND head of back office at Barings Singapore — a catastrophic breach of segregation of duties. He hid £800 million in losses in a fictitious account (88888) for years. The collapse of Barings Bank is the canonical case study for why FO/BO separation is non-negotiable.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SEBI's Broker Networth Rules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mandates that registered brokers maintain separate client and proprietary positions, with daily reconciliation. SEBI inspection teams specifically verify FO/BO segregation during annual audits. Brokers found to have commingled functions face licence suspension.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STO in Asset Management vs Investment Banks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At an asset management company, the 'STO' equivalent has: Portfolio Management (FO), Risk &amp; Compliance (MO), Fund Administration &amp; Settlement (BO). At an investment bank: Sales &amp; Trading (FO), Risk &amp; Product Control (MO), Operations &amp; Settlements (BO). The tier labels change but the segregation principle is universal.</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Technology in the STO</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Each tier uses specialised systems: FO — Bloomberg terminals, Order Management Systems (OMS like Charles River), execution management. MO — risk engines, compliance monitoring, P&amp;L attribution. BO — settlement platforms, SWIFT messaging, reconciliation systems (Intellimatch, TLM). Integration between these systems — straight-through processing — is the goal.</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D2.1 · Securities Trading Organization (STO)</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fintech broker startup wants to reduce costs by having its traders also handle their own trade confirmations and settlement instructions — arguing that modern technology makes segregation of duties unnecessary. As a risk consultant, how would you advise them? Reference SEBI requirements, operational risk principles, and the Barings case.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'four-eyes principle' (maker-checker) requires two people to verify any significant transaction. In an era of AI-powered automation, some argue this human check is redundant and slows down operations. Others argue it is the last line of defence against system errors and fraud. Evaluate both sides.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D2.1 · Securities Trading Organization (STO)</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three-tier STO structure and why is segregation of duties important?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An STO is divided into three tiers: Front Office (FO): revenue generation — Sales, Trading, Research. These are the client-facing functions that execute trades and manage relationships. Middle Office (MO): control and risk — Trade Control, Risk Management, Compliance, Product Control (P&amp;L). MO validates that FO's trades are within limits and correctly booked. Back Office (BO): settlement and operations — Settlement, Reconciliation, Corporate Actions, Regulatory Reporting. BO completes the trade lifecycle, ensuring trades settle correctly. Why segregation matters: (1) Fraud prevention — if a trader controls their own settlement records, they can hide losses (Barings Bank, 1995). (2) Error detection — independent BO teams catch FO booking errors before they reach settlement. (3) Regulatory compliance — SEBI mandates FO/BO segregation for all registered brokers in India.</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Middle Office and Back Office functions?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Middle Office and Back Office are both 'post-trade' but serve very different purposes. Middle Office focuses on control and risk during the trading day: (1) Trade Validation — checking that executed trades are correctly booked, within limits, and comply with mandates. (2) Risk Management — monitoring market risk, credit risk, and operational risk in real time. (3) Product Control / P&amp;L — calculating daily mark-to-market P&amp;L and attributing it to trades and strategies. (4) Compliance — ensuring all trading activity meets SEBI, RBI, and firm-level rules. Back Office focuses on completing the trade after the trading day: (1) Settlement — generating and sending settlement instructions to custodians and depositories. (2) Reconciliation — comparing internal records against external statements. (3) Corporate Actions — processing dividends, rights issues, bonus shares. (4) Regulatory Reporting — submitting data to SEBI, RBI, CCIL TR. Key difference: MO works during the trading day; BO works to finalise trades after execution. MO looks forward (is this trade acceptable?); BO looks backward (did this trade settle correctly?).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Reference Data Management (RDM)</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D2.2 · Reference Data Management (RDM)</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Reference data is the foundational data describing financial instruments, counterparties, and transactions — as opposed to price or trade data. Without it, no trade can be processed.</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Two types: Static data (stable — ISIN, counterparty legal name, lot size) and Dynamic/Market data (changes continuously — prices, MIBOR fixings, corporate action dates).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Key sources: Bloomberg (instrument and corporate action data), NSE/BSE (Indian market data, holiday calendars), SWIFT (BIC codes for counterparty routing).</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ISIN is the 12-character global standard identifier for settlement. Incorrect or stale reference data causes settlement failures, P&amp;L errors, and regulatory reporting violations.</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D2.2 · Reference Data Management (RDM)</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An RDM team at a Mumbai-based asset manager forgot to update Infosys's reference data master after a 2:1 bonus share issue. The next day, the trading system continued booking Infosys trades at the pre-bonus price of ₹1,800. The NAV of three equity funds was calculated incorrectly. Client statements sent overnight showed wrong portfolio values.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type of data failure was this (static or dynamic)? What fields in the security master should have been updated? What are the downstream consequences: (1) for P&amp;L, (2) for client reporting, (3) for regulatory compliance? What controls should have prevented this?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D2.2 · Reference Data Management (RDM)</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Reference Data: The Foundation of Every Trade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Reference data management (RDM) is the process of sourcing, validating, enriching, distributing, and maintaining the data that every system in the STO depends on. A single incorrect field — a wrong ISIN, a stale coupon rate, a missing ex-dividend date — can cascade into settlement failures, wrong P&amp;L, and regulatory violations. The RDM team's work is invisible when correct and catastrophic when wrong. Best practice: four-eyes for new security setup, daily data quality checks, automated vendor comparison (Bloomberg vs NSE), and same-day corporate action updates.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Static Data</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ISIN, counterparty BIC, lot size, settlement type. Set once; updated for corporate events.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Dynamic Data</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Live prices, MIBOR fixings, FX rates, corporate action dates. Changes continuously.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Bloomberg</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Instrument data, corporate actions, yield data, analyst ratings, FX rates.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NSE/SWIFT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NSE: Indian security master, holiday calendar. SWIFT: BIC directory for settlement routing.</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D2.2 · Reference Data Management (RDM)</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ISIN vs NSE Symbol: Why It Matters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Using NSE trading symbols (e.g., RELIANCE) instead of ISINs (INE002A01018) for settlement can cause errors when a company has multiple share classes or when codes change post-merger. NSDL and CDSL process settlement by ISIN only. Operations must ensure all settlement instructions use ISINs — not exchange trading symbols.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Corporate Action Data Quality</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Corporate action data (ex-dates, record dates, ratios, payable amounts) is the most error-prone reference data category. Sources: NSE, BSE, company registrar. Cross-reference is essential. A wrong ex-date can result in trades entitled to a dividend being settled after the record date — causing entitlement disputes that take months to resolve.</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Data Governance Frameworks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Large institutions implement formal data governance: a Data Management team owns data quality rules, a Data Stewardship Council governs exceptions, and automated data quality dashboards flag anomalies daily. SEBI's risk-based supervision framework increasingly examines data governance maturity as an indicator of operational risk culture.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FIGI: The New Global Identifier</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Financial Instrument Global Identifier (FIGI) is an open-standard identifier promoted by the Object Management Group and Bloomberg. Unlike ISIN (which requires country codes and has some ambiguities for multi-listed securities), FIGI provides a unique identifier for every specific tradeable instrument on every exchange globally. Indian regulators have not yet mandated FIGI, but global custodians increasingly use it alongside ISIN.</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D2.2 · Reference Data Management (RDM)</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Bloomberg is the dominant reference data provider for most financial institutions in India and globally. An over-reliance on a single vendor creates a concentration risk: if Bloomberg has an outage or a data error, it affects every client simultaneously. What alternative data sourcing strategies should an STO implement to mitigate single-vendor dependency for reference data?</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junior operations analyst discovers that 15 security master records in the system have incorrect corporate action ex-dates — apparently due to a data entry error three months ago. Many trades during this period may have been booked with incorrect entitlements. How should the analyst escalate and manage this discovery? Walk through the investigation, remediation, and client communication steps.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D2.2 · Reference Data Management (RDM)</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static and dynamic reference data? Give examples of each.</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Static reference data: information that is established when a financial instrument or counterparty is set up in the system and changes infrequently. Examples: ISIN (the 12-character identifier for Infosys shares: INE009A01021), counterparty legal entity name, settlement account number (SSI), security lot size on NSE, governing law in an ISDA Master Agreement. Changes when: a corporate restructuring changes the ISIN; a counterparty changes its legal name or banking details. Dynamic reference data: information that changes continuously with market conditions. Examples: MIBOR overnight fixing (published by FBIL daily at 9:45 AM), live equity price of TCS (changes every millisecond during trading), NSE holiday calendar (changes annually when new holidays are declared), corporate action announcement (Infosys bonus share ratio — announced on a specific date). Operational importance: static data must be set up correctly before trading begins (wrong ISIN = wrong settlement). Dynamic data must be updated continuously (stale price = wrong P&amp;L and NAV calculation).</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is ISIN the preferred identifier for settlement, and what happens if the wrong identifier is used?</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ISIN (International Securities Identification Number) is the globally standardised 12-character code uniquely identifying each security. Format: 2-letter country code + 9-character alphanumeric code + check digit. For Indian securities, NSDL and CDSL process ALL settlement instructions by ISIN only — they do not recognise exchange trading symbols or Bloomberg tickers. If a settlement instruction uses an incorrect ISIN: (1) The depository cannot match the instruction to a valid security — the settlement fails immediately. (2) The failing party must recall and re-submit with the correct ISIN — potentially missing the settlement deadline. (3) NSCCL invokes the auction process — the failing party bears the auction shortfall and 2% penalty. (4) In the worst case, if the wrong ISIN belongs to a different company, shares could be delivered to the wrong account — creating a complex unwind and potential client dispute. Best practice: always source ISIN from a validated reference data master that is cross-checked against both Bloomberg and NSE data.</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Exchange Trade Lifecycle: Initiation and Execution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D2.3 · Exchange Trade Lifecycle: Initiation and Execution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trade is a legally binding agreement between two parties to buy or sell a financial instrument at a specified price and quantity. Exchange trades occur on NSE or BSE through registered brokers.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Key participants: Investor → Broker/Trading Member → Exchange (NSE/BSE) → Clearing Corporation (NSCCL) → Custodian/Depository (NSDL/CDSL). Each plays a distinct role.</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Order types: Market order (guaranteed execution, price uncertainty), Limit order (price certainty, no execution guarantee), Stop-loss order (automated loss-limitation trigger).</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NSE uses price-time priority for order matching. Execution channels: Voice, OMS (FIX protocol), DMA (direct exchange access), Algorithmic trading (VWAP, TWAP).</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D2.3 · Exchange Trade Lifecycle: Initiation and Execution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large Indian mutual fund (SBI Mutual Fund) decides to build a ₹2,500 crore position in Tata Consultancy Services (TCS) over the next 5 trading days. TCS's average daily volume is ₹1,800 crore. The fund's compliance team says single-day purchases cannot exceed 5% of the daily volume.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Which execution strategy should operations recommend and why? Can the fund use DMA directly? What order type should be specified to control execution cost while allowing flexibility? How should the OMS be configured to enforce the daily participation rate limit?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D2.3 · Exchange Trade Lifecycle: Initiation and Execution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Order Flow: From Investment Decision to Exchange Match</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Every exchange trade follows the same path: Investment decision → OMS entry → Exchange routing → Order matching → Execution confirmation. The OMS (Order Management System) is the central platform that captures, validates, routes, and tracks orders. It enforces pre-trade compliance rules — checking that the order complies with the fund's investment mandate before it leaves the building. The exchange's matching engine then applies price-time priority to match buyers and sellers. Speed: modern exchange matching engines process orders in microseconds — making execution quality and latency directly relevant to trading cost.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Market Order</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Immediate execution at best available price. Guarantees fill; price risk in volatile markets.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Limit Order</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Buy ≤ price X or Sell ≥ price Y. Price certainty; no execution guarantee.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Stop-Loss</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Activates sell (or buy) when price crosses trigger level. Automated loss protection.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DMA / Algo</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DMA: institutional direct exchange access. Algo: automated order slicing (VWAP, TWAP).</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D2.3 · Exchange Trade Lifecycle: Initiation and Execution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SEBI's Algo Trading Framework</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requires all algorithmic trading strategies used by Indian brokers to be registered and tested. Brokers must implement kill switches (to halt algos immediately), risk parameters (maximum order size, maximum order rate), and surveillance alerts. SEBI has fined brokers for running unregistered algos and for algos that caused excessive volatility.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FIX Protocol: The Language of Trading</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Financial Information eXchange (FIX) protocol is the global standard messaging format for pre-trade and trade communication. An OMS sends a FIX message to the broker's exchange gateway: it includes security ISIN, quantity, direction, order type, and time constraints. The exchange returns a FIX execution report confirming the fill. Understanding FIX message types (New Order Single, Order Cancel Request, Execution Report) is a core technical skill for exchange operations.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Market Microstructure in India</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NSE's trading system (called NEAT — National Exchange for Automated Trading, now Millennium IT platform) processes orders with sub-millisecond latency. The order book for large-cap stocks shows thousands of bids and offers at multiple price levels. Understanding order book depth helps operations analysts identify when a large order may have unusual market impact and why partial fills occur.</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Buy-Side vs Sell-Side Operations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Buy-side operations (mutual fund, pension, insurance): focus on fund accounting, NAV calculation, and compliance with investment mandates. Sell-side operations (broker, investment bank): focus on trade execution, settlement, and regulatory reporting for hundreds of client accounts simultaneously. Operations analysts must understand which side they're on — the tools, metrics, and regulatory frameworks differ significantly.</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D2.3 · Exchange Trade Lifecycle: Initiation and Execution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SEBI's F&amp;O framework requires all algorithmic trading to be tested and registered. However, high-frequency trading (HFT) firms argue that their strategies provide liquidity and improve price discovery. Retail investor groups argue HFT creates an unfair playing field. Evaluate both arguments and recommend a regulatory framework that balances market efficiency with fairness.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T+1 settlement cycle means institutional investors have very little time between trade execution and settlement. For an FPI buying Indian equities using DMA, what are the exact steps the operations team must complete between 3:30 PM (market close) and the T+1 pay-in deadline? What are the risks in this compressed window?</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D2.3 · Exchange Trade Lifecycle: Initiation and Execution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difference between a market order and a limit order. When would you use each?</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Market order: an instruction to buy or sell immediately at the best currently available price in the market. Guaranteed execution — the order will fill. No price guarantee — in a volatile market, the fill price can be significantly worse than expected. Best used when speed of execution is critical and price slippage is acceptable — for example, closing a risk position quickly during market stress. Limit order: an instruction to buy at no more than price X, or sell at no less than price Y. Price is guaranteed to be at or better than the limit. No execution guarantee — if the market never reaches the limit price, the order remains unfilled. Best used when price is the priority over speed — for example, building a long-term position at a specific valuation level. Operational implications: Market orders always fill on the same trading session. Limit orders may be 'good-till-cancelled' (GTC) — remaining in the order book until filled or cancelled. Operations must track GTC orders to ensure they don't execute unexpectedly when a position has changed.</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Direct Market Access (DMA) and what regulatory requirements apply in India?</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Direct Market Access (DMA) allows institutional investors to access the NSE or BSE order book directly through a sponsored broker connection — without a human broker intermediating each order. How it works: the institution's OMS sends orders directly to the exchange gateway using the broker's member credentials. The exchange processes the order as if it came from the broker. Orders execute at exchange-determined prices with exchange-level speed (microseconds). Regulatory requirements in India: (1) SEBI permits DMA only for institutional clients (FPIs, mutual funds, insurance companies, etc.) — not for retail investors. (2) The sponsoring broker must implement: pre-trade risk checks (maximum order size, maximum exposure, price bands), kill switches to immediately cancel all DMA orders in an emergency, audit trails for all DMA orders. (3) Brokers must register their DMA arrangements with SEBI. (4) Real-time risk monitoring is mandatory — the broker remains responsible for all DMA orders placed under their membership. Why institutions use DMA: faster execution, lower market impact, better price discovery, and reduced dependency on broker intermediation for time-sensitive strategies.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Post-Trade Processing: Capture, Enrichment &amp; Confirmation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D2.4 · Post-Trade Processing: Capture, Enrichment &amp; Confirmation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Post-trade processing begins the moment a trade executes. The sequence: Trade Capture → Enrichment → Validation → Verification → Confirmation → Settlement instruction generation.</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Trade enrichment adds settlement-critical information to the raw trade ticket: settlement date (T+1), settlement amount (qty × price), and Standard Settlement Instructions (SSIs) for cash and securities delivery.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Validation performs automated checks — security validity, fund eligibility, position limits, compliance rules. Trades failing validation are quarantined in an exception queue for manual resolution.</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Trade confirmation is the formal agreement between buyer and seller. Exchange trades confirm automatically; institutional trades require SWIFT custodian matching — unmatched trades cannot settle.</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D2.4 · Post-Trade Processing: Capture, Enrichment &amp; Confirmation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At 10:15 AM, an operations analyst notices that 8 equity trades executed yesterday are sitting in the exception queue — they failed the security eligibility validation check for a pension fund. The pension fund's compliance mandate prohibits holdings in tobacco and alcohol stocks. Three of the 8 trades are in ITC Limited. Settlement deadline for these trades is today at 11:30 AM.</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Why did the ITC trades fail validation? What must operations do before the 11:30 AM deadline? If the deadline is missed, what is the financial consequence? What systemic fix should the compliance team implement to prevent this from recurring?</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D2.4 · Post-Trade Processing: Capture, Enrichment &amp; Confirmation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Trade Enrichment and Straight-Through Processing (STP)</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Trade enrichment transforms a raw execution record into a complete settlement instruction — adding all the information that was not part of the original market transaction. The key enrichment fields: settlement date, settlement amount, SSI (standard settlement instructions identifying the exact custodian account for delivery). High STP rates (90%+) mean most trades enrich automatically without manual intervention — a direct measure of operational efficiency. Low STP creates manual breaks, delay risk, and settlement failures. STP requires: accurate, complete reference data (ISIN, SSI, counterparty details), well-configured systems, and consistent data formats between FO and BO systems.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Trade Capture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Record raw execution: ISIN, direction, quantity, price, timestamp, client code.</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Enrichment</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Add: settlement date (T+1), settlement amount, SSI (where to deliver), counterparty details.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Validation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Auto-checks: ISIN valid? Client eligible? Within limits? Compliance rules met?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Confirmation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Custodian matching: both buyer and seller instructions must agree before settlement proceeds.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D2.4 · Post-Trade Processing: Capture, Enrichment &amp; Confirmation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STP Rate as KPI</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Operations teams measure STP rate daily — the percentage of trades that flow from capture to settlement instruction with zero manual intervention. Top-tier operations achieve 95%+ STP. Low STP (below 85%) indicates: poor reference data quality, mismatched system configurations, or frequent trade booking errors from FO. STP improvement is a major driver of operations efficiency projects.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SSI Databases: The Settlement Plumbing</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Standard Settlement Instructions (SSI) databases store the pre-agreed account details for every counterparty. For each counterparty, the SSI specifies: which custodian to use (e.g., HDFC Bank India for INR equity), the demat account number at NSDL, and the cash account for payment. Maintaining accurate SSIs is critical — the most common cause of settlement failures globally is outdated or incorrect SSI data.</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SWIFT in Post-Trade Operations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SWIFT (Society for Worldwide Interbank Financial Telecommunication) is the global standard for financial messaging. In post-trade operations: MT540/541 (Receive/Deliver Free of Payment), MT542/543 (Receive/Deliver Against Payment) — settlement instructions. MT515/518 — trade confirmation. MT940 — bank statement for nostro reconciliation. ISO 20022 is the next-generation standard (replacing MT messages) — Indian banks are progressively adopting it.</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Trade Matching at NSCCL</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exchange-traded equities in India, NSCCL matches settlement instructions from all clearing members electronically. Matching criteria: ISIN, quantity, settlement date. Since NSE provides authoritative trade data to all clearing members, matching rates for exchange trades are near 100%. Mismatches occur mainly due to: broker-to-institution allocation errors (where the broker and fund manager disagree on which fund gets which shares from a large block trade).</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D2.4 · Post-Trade Processing: Capture, Enrichment &amp; Confirmation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Pre-trade compliance validation in an OMS prevents fund managers from executing trades that breach investment mandates (e.g., prohibited securities, concentration limits). However, overly strict pre-trade checks can cause orders to be blocked even when the fund manager has a legitimate reason to override them. Design a framework for pre-trade compliance that balances control with operational flexibility — including when and how overrides should be permitted and documented.</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broker's operations team reports that their STP rate has fallen from 92% to 76% over the past month — meaning 24% of trades require manual intervention. As head of operations, what are the three most likely root causes you would investigate first? For each, describe the investigation methodology and the fix if the root cause is confirmed.</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D2.4 · Post-Trade Processing: Capture, Enrichment &amp; Confirmation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trade enrichment and why is it critical for settlement?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Trade enrichment is the process of adding settlement-necessary information to the raw trade ticket after execution. A raw trade ticket contains only: security identifier, buy/sell direction, quantity, executed price, and timestamp. This is insufficient for settlement. Enrichment adds: Settlement date — calculated from trade date using the applicable settlement cycle (T+1 for Indian equities). Settlement amount — quantity × price, plus any accrued interest for bond trades, ± stamp duty/brokerage. Standard Settlement Instructions (SSI) — the pre-agreed account details specifying exactly where securities are to be delivered (which NSDL demat account) and where cash is to be received (which bank account). Counterparty legal entity identifier — ensuring the instruction is routed to the correct legal entity. Why critical: without complete enrichment, the settlement instruction is incomplete and cannot be processed by the custodian or depository. If SSIs are wrong, the trade settles to the wrong account — creating a settlement failure that can take days to unwind, with financial penalties for both parties.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trade validation and trade verification?</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Trade validation: an automated process where the trade capture system runs a series of pre-configured checks against the trade data immediately after capture. Examples of validation checks: (1) Security exists in the reference data master with valid ISIN. (2) The client/fund is authorised to hold this security (compliance mandate check). (3) The trade does not breach the fund's concentration or exposure limits. (4) The counterparty is an approved trading counterparty. (5) The security is not on the restricted list. If any check fails, the trade is rejected and placed in an exception queue — it does NOT proceed to settlement. Trade verification: a manual four-eyes process where a second, independent operations analyst checks the enriched trade ticket against the original execution record. Applied selectively to: high-value trades above a defined threshold. Complex or unusual trades (new security type, new counterparty). Trades where the automated system flagged potential issues but did not reject. Key difference: Validation = automated system check on data quality and rules compliance. Verification = human check on accuracy and completeness for specific trades. Both are required — validation catches rule breaches; verification catches judgment errors and edge cases.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Trade Settlement</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D2.5 · Trade Settlement</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Settlement is the actual transfer of securities from seller to buyer and cash from buyer to seller — making the trade legally complete. Until settlement, the trade is only a promise.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DVP (Delivery vs Payment) ensures both legs settle simultaneously — eliminating principal risk. NSCCL guarantees both legs as central counterparty.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India moved to T+1 settlement for exchange-traded equities in January 2023 — one of the world's fastest cycles. Settlement via NSDL/CDSL for securities and RTGS/clearing bank for cash.</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Settlement failure triggers the NSCCL auction: undelivered securities are bought from the market; the failing seller pays the price shortfall plus up to 2% penalty.</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D2.5 · Trade Settlement</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large FPI (a US hedge fund) sold 5 lakh shares of HDFC Bank on NSE on a Friday. The fund's Indian sub-custodian (Deutsche Bank India) was supposed to deliver the shares from the fund's NSDL demat account by Monday morning (T+1). Due to a system error at Deutsche Bank, the delivery instruction was never sent to NSDL. Monday morning: NSCCL marks the trade as a short delivery.</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What happens next? Walk through: (1) the NSCCL auction timeline, (2) who bears the financial cost of the auction, (3) the regulatory consequence for Deutsche Bank India, and (4) what the fund manager should do immediately when notified of the failure.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D2.5 · Trade Settlement</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India's T+1 Settlement: How It Works</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India's T+1 equity settlement is among the world's fastest. Trade date (T, e.g., Monday): trade executes on NSE. NSCCL calculates multilateral net positions — offsetting all buys and sells in each security. T+1 (Tuesday): pay-in by morning — all clearing members deliver net short securities and cash to NSCCL. NSCCL pay-out — distributes securities and cash to net long clearing members. Securities credited to buyers' demat accounts at NSDL/CDSL. The entire process is electronic, automated, and irreversible once pay-out occurs. Operational implication: any settlement issue must be resolved before the T+1 pay-in deadline — a tight window that requires operations teams to work efficiently from market close to the next morning.</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 (Trade Date)</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Trade executes on NSE. NSCCL calculates multilateral net obligations.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T+1 Pay-In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Clearing members deliver net short securities and cash to NSCCL by morning deadline.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T+1 Pay-Out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NSCCL distributes securities (via NSDL/CDSL) and cash to net long clearing members.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Auction (T+2)</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Short delivery triggers NSCCL auction. Failing seller pays auction shortfall + 2% penalty.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D2.5 · Trade Settlement</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Why T+1 Was a Global First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When India announced T+1 for equities (phased rollout 2022-2023), global markets were at T+2 (US, EU) or T+3 (some emerging markets). India became the first major market to implement T+1 at scale. The achievement required: NSE and NSCCL system upgrades, depository (NSDL/CDSL) process changes, broker and custodian system upgrades, and special FPI settlement arrangements with RBI for FX hedging.</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FPI T+1 Challenge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FPIs (Foreign Portfolio Investors) raised concerns about T+1: they need time to hedge their INR currency exposure from equity purchases — typically using the FX forward market. Under T+2, they had one extra day. RBI responded by creating a special FPI settlement window allowing FPIs to settle in a later cycle while still getting T+1 pricing. This compromise preserved T+1's risk benefits while accommodating cross-border investment flows.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Settlement Failure Rates in India</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 publishes quarterly data on settlement failure rates by broker. The Indian market maintains very low failure rates (typically &lt; 0.1% of trades by value) due to NSCCL's guarantee mechanism and the availability of securities borrowing/lending for short sellers. Brokers with high failure rates attract SEBI surveillance and risk sanctions.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Securities Lending and Borrowing (SLB)</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NSE operates a Securities Lending and Borrowing (SLB) mechanism — allowing sellers who are short on delivery to borrow the required securities from holders who aren't planning to trade. SLB reduces settlement failures by providing a safety valve. Short-sellers can use SLB to borrow shares before selling; holders earn a fee on lent securities. SEBI regulates SLB to prevent manipulation.</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D2.5 · Trade Settlement</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move to T+1 settlement has been celebrated as a market infrastructure achievement. However, critics argue that for sophisticated instruments like block trades, equity derivatives, and cross-border transactions, T+1 creates excessive operational pressure, leading to more errors. Using real data from SEBI's settlement statistics, evaluate whether T+1 has increased or decreased settlement failure rates — and argue for or against a potential move to T+0 (same-day settlement).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An Indian broker's operations head discovers at 9:00 AM on T+1 that 25 trades (totalling ₹150 crore) are at risk of settlement failure — the client funded their account late and cash isn't available yet. The pay-in deadline is 11:00 AM. Walk through every option available to the operations head in the next 2 hours to avoid a settlement failure.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D2.5 · Trade Settlement</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does DVP work and why is it important?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DVP (Delivery versus Payment) is the settlement mechanism that ensures securities are delivered only if and only if cash is simultaneously received. How it works in India: (1) On T+1 pay-in, NSCCL receives both the securities (from selling clearing members via NSDL) and the cash (from buying clearing members via the clearing bank) simultaneously. (2) NSCCL acts as the central counterparty — it holds both legs until it can confirm that both are available. (3) Only when NSCCL has both legs confirmed does it release them: securities to the buyer via NSDL pay-out; cash to the seller via the clearing bank. (4) If either leg is missing — seller doesn't deliver shares or buyer doesn't deliver cash — NSCCL invokes the auction/default mechanism. Why DVP is critical: it eliminates 'principal risk' — the risk that one party delivers but the counterparty defaults before paying. Without DVP, a buyer could receive shares without paying (credit risk to the seller) or a seller could receive cash without delivering shares (credit risk to the buyer). NSCCL's DVP guarantee means neither party faces the other's credit risk directly.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auction mechanism for settlement failure in India?</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When a clearing member fails to deliver securities on T+1 pay-in, NSCCL invokes the close-out auction: T+1: Short delivery identified. NSCCL marks the delivery as failed and excludes it from the normal pay-out. T+2 (Auction Day): NSCCL conducts a special auction session to buy the undelivered securities from market participants willing to sell. The auction price is typically at a premium to the previous close (to incentivise sellers). T+3: NSCCL delivers the auctioned securities to the original buyer. They receive shares slightly later than expected but at the original T+1 trade price. Financial consequences for the failing seller: Price shortfall: If the auction price is higher than the original trade price, the failing seller pays the difference (e.g., original trade at ₹100; auction price ₹105 — failing seller pays ₹5 per share shortfall). Close-out penalty: NSCCL charges an additional penalty of up to 2% of the contract value. Regulatory scrutiny: high failure rates attract SEBI attention; systematic failures can result in trading membership suspension. This mechanism protects buyers — they always receive their shares — while placing the full cost of failure on the defaulting seller.</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OTC Markets and ISDA Framework</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D2.6 · OTC Markets and ISDA Framework</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OTC (Over-The-Counter) markets involve bilateral trading between two parties — no exchange, no central order book. Products: IRS, FX forwards, CDS, currency swaps, structured products.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Key OTC participants: dealer banks (market makers — SBI, HDFC, Citi, Deutsche) and end users (corporates hedging exposure, FPIs, insurance, pension funds).</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ISDA Master Agreement: the four-component legal framework — (1) Master Agreement, (2) Schedule, (3) Credit Support Annex (CSA), (4) Trade Confirmation — governs all bilateral OTC derivative trades.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Close-out netting: upon default, all trades are terminated and netted to one figure — reducing credit exposure by 75-85% and eliminating the 'cherry-picking' risk in insolvency.</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D2.6 · OTC Markets and ISDA Framework</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ICICI Bank and a large Indian corporate (Mahindra &amp; Mahindra) have 18 outstanding OTC derivative trades: IRS, currency forwards, and commodity swaps. The overall MTM of the 18 trades: 10 trades positive for ICICI (total +₹85 crore), 8 trades negative for ICICI (total −₹40 crore). Mahindra enters IBC insolvency proceedings.</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Without ISDA close-out netting, what is ICICI Bank's claim against the insolvency estate? What risk does ICICI face? With ISDA close-out netting, what is ICICI Bank's net position? How has India's IBC legislation supported the enforceability of this netting in recent years?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D2.6 · OTC Markets and ISDA Framework</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ISDA Close-Out Netting: The Greatest Risk Reducer</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Close-out netting is the contractual provision that, upon a counterparty's insolvency, all outstanding trades are: (1) immediately terminated at current market value, (2) all individual MTM values netted to a single payable/receivable. Without netting: the non-defaulting party must pay all negative-MTM trades into the insolvent estate, but can only file a claim for positive-MTM trades — receiving cents on the dollar, years later. With netting: only the single net position matters. If net positive for the surviving party — it files one claim. If net negative — it makes one payment. BIS data shows netting reduces gross OTC credit exposure by 75-85% globally. This is why ISDA documentation and netting enforceability are regulatory priorities — the capital savings from netting allow banks to support much larger OTC markets.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Without Netting</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Pay all negative MTM into estate. File claim for all positive MTM (uncertain recovery).</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With Netting</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Single net figure. Net positive = one claim. Net negative = one payment. Counterparty risk slashed.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CSA Collateral</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Daily MTM-based collateral calls reduce exposure between netting events further.</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India IBC</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2020 amendments protect CCIL-cleared trades and strengthened bilateral netting enforceability.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D2.6 · OTC Markets and ISDA Framework</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ISDA's 2002 Master vs 1992 Master</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2002 ISDA Master Agreement replaced the 1992 version as the current standard. Key improvements: more robust close-out valuation methodology (replacing the flawed 'Market Quotation' method with a 'Close-Out Amount' methodology), clearer force majeure provisions, and updated cross-border payment provisions. Indian banks dealing internationally should use the 2002 Master; older 1992 Masters may still be in place for long-standing bilateral relationships.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Confirmation Backlogs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 persistent operational risk in OTC markets is confirmation backlogs — trades that have been executed but not yet formally confirmed. Post-2008 crisis, regulators (SEC, ESMA) mandated confirmation timelines: IRS must confirm within 2 business days; FX options within 1 day. SEBI has similar expectations. Unconfirmed trades create legal uncertainty: if the counterparty disputes terms, there's no signed agreement to fall back on.</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RBI Category Framework for OTC</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RBI's Master Direction on derivatives categorises users: Category A (banks and primary dealers) can deal freely. Category B/C (corporates, FPIs) can only hedge underlying exposures. This tiered framework means Indian corporates cannot speculate in OTC derivatives — they must document an underlying exposure. Operations at banks must verify client category before booking OTC trades.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2020 IBOR Fallback Protocol</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ISDA IBOR Fallback Protocol amended all ISDA Master Agreements globally to include fallback rates when LIBOR was discontinued in June 2023. Indian banks with USD-linked OTC trades had to: (1) adhere to the Protocol on ISDA's website, (2) confirm adherence with all ISDA counterparties, (3) update systems to calculate SOFR-based cash flows for post-cessation periods. This was the largest simultaneous legal amendment in financial market history.</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D2.6 · OTC Markets and ISDA Framework</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ISDA close-out netting dramatically reduces credit exposure but requires clear statutory recognition to be enforceable in bankruptcy. India's IBC has progressively strengthened netting enforceability, but some legal uncertainties remain for bilateral (uncleared) OTC trades. As a legal risk manager at an Indian bank, what residual legal risks do you face when a domestic counterparty enters IBC proceedings — and what mitigants (contractual and structural) would you recommend?</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ISDA Master Agreement's 'Events of Default' section lists Bankruptcy, Failure to Pay, Breach of Agreement, and other triggers that allow the non-defaulting party to terminate all trades immediately. In practice, banks often hesitate to invoke Events of Default against a troubled counterparty because doing so can accelerate its collapse (as happened with Lehman Brothers in 2008). Discuss the tension between a bank's contractual right to terminate and its commercial and systemic risk incentives to delay.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D2.6 · OTC Markets and ISDA Framework</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four components of ISDA documentation?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ISDA documentation framework for a bilateral OTC derivative relationship has four layers: (1) ISDA Master Agreement (2002): the standard boilerplate governing all trades between the two parties. Contains: Events of Default (bankruptcy, failure to pay, breach), Termination Events, close-out netting provisions. Same standard text for all counterparty pairs — rarely amended. (2) Schedule: the bilaterally negotiated amendments to the Master. Unique for each counterparty pair. Contains: governing law (English or New York for most Indian bank international trades), threshold amounts, cross-default provisions, credit support elections. (3) Credit Support Annex (CSA): governs collateral posting. Specifies: eligible collateral types (cash, government securities), haircuts, threshold amounts (uncollateralised exposure permitted), minimum transfer amount (MTA), frequency of collateral calls (daily or weekly). (4) Trade Confirmation: for each individual transaction. Specifies: notional amount, rate or strike, payment dates, maturity, day count convention, floating index, settlement method. References the Master Agreement and Schedule for governing terms. Together, these four documents provide: legal certainty (what happens on default), credit protection (collateral), and trade economics (confirmation). Without all four components for complex products, legal risk is unacceptably high.</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close-out netting and how does it reduce credit risk?</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Close-out netting is the ISDA Master Agreement provision that, upon an Event of Default (typically insolvency), all outstanding trades between the two parties are: (1) Immediately terminated — no waiting for scheduled maturities. (2) Valued at current market prices (using the Close-Out Amount methodology). (3) All individual MTM values netted to produce a single net payable or receivable. How it reduces credit risk: Without netting ('walk-away' scenario): the non-defaulting party must pay all negative-MTM trades into the defaulting party's insolvency estate, but can only file an unsecured creditor claim for positive-MTM trades — which may recover 20-50 cents on the dollar over years. This asymmetry is called 'cherry-picking' — the insolvent estate keeps the valuable trades while the surviving party bears the losses. With netting: only the net position matters. If net positive (₹45 crore owed to you): file one unsecured claim for ₹45 crore. If net negative (₹20 crore owed by you): make one payment of ₹20 crore to the estate. Quantitative impact: BIS estimates close-out netting reduces gross OTC credit exposure globally by approximately 75-85%. This allows banks to maintain much larger OTC portfolios within their credit limits, and is a major driver of capital efficiency.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OTC Trade Lifecycle</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D2.7 · OTC Trade Lifecycle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OTC TLC Phase 1: Trade agreed bilaterally (Bloomberg/phone) → Captured in both parties' OMS → Term sheet issued → For vanilla IRS: submitted to CCIL within 30 minutes → Novated (CCIL becomes counterparty to both).</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Ongoing lifecycle: CCIL calls daily variation margin (based on daily MTM). Quarterly net payments calculated (Fixed rate × Notional × Days/365 vs MIBOR × Notional × Days/365).</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All OTC derivative trades reported to CCIL's Trade Repository within 30 minutes of execution — mandatory under RBI's Master Direction. Operations must have automated TR reporting.</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At maturity: final payment, CCIL releases initial margin, trade archived. Early termination: MTM calculated on termination date; single payment closes the trade. Default: ISDA/CCIL close-out netting invoked.</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D2.7 · OTC Trade Lifecycle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Kotak Mahindra Bank entered a 2-year pay-fixed IRS (7.25% fixed / receive MIBOR) with a corporate client on notional ₹300 crore, cleared through CCIL. 18 months later, with 6 months remaining, the corporate wants to exit the trade early. Current 6-month IRS rate in the market is 6.90%. The MTM of the trade is negative for the corporate (it has been paying 7.25% while MIBOR has been averaging 6.80%).</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Is the swap's MTM positive or negative for Kotak (as the fixed receiver)? Calculate the approximate MTM direction for each party. What single payment occurs on early termination? What documentation must be exchanged? Which CCIL process handles the close-out?</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D2.7 · OTC Trade Lifecycle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OTC Trade Lifecycle: From Execution to Termination</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An OTC derivative trade passes through three phases: Phase 1 (Initiation): bilateral negotiation, capture, CCIL submission, novation. Phase 2 (Ongoing): daily margin management, periodic payment processing, TR reporting, MTM revaluation, hedge accounting compliance. Phase 3 (Termination): scheduled maturity (final payment, margin release, archiving) or early termination (MTM calculation, single payment, CCIL close-out). Each phase has strict operational deadlines. The 30-minute TR reporting window is the most time-sensitive — it applies from the moment of trade agreement, not from system capture. Delays in any phase create regulatory violations, financial penalties, or client disputes.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Phase 1: Initiation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Bilateral execution → OMS capture → CCIL submission (within 30 min) → Novation + IM.</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Phase 2: Ongoing</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Daily VM calls, quarterly net payments, TR reporting, daily MTM, hedge accounting.</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Phase 3: Maturity</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Final payment calculated, initial margin released, trade archived (7-year record retention).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Early Termination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MTM on termination date → single payment closes trade → CCIL processes close-out.</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D2.7 · OTC Trade Lifecycle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CCIL's Trade Repository: Data Architecture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CCIL's Trade Repository (TR) stores all Indian OTC derivative trade data — providing RBI with a real-time view of the market. Data captured: trade identifier, counterparty LEI, product type, notional, rate, tenor, cleared/uncleared, MTM. RBI uses TR data for: systemic risk monitoring, concentration analysis, identifying potential contagion chains. Operations teams must ensure automated, accurate, timely TR submissions — CCIL publishes daily TR statistics and flags late reporters.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Variation Margin: Operational Flow</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Daily VM calls from CCIL follow a strict schedule: CCIL calculates MTM at end-of-day. VM call sent to clearing members by early morning. Members must pay VM by the intraday deadline (via RTGS). Late VM payment triggers a grace period; persistent late payment can lead to suspension of clearing membership. Operations must integrate CCIL VM call processing into the morning workflow — checking the call, approving payment, and processing via RTGS within the window.</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OTC Derivative Accounting: Ind AS 109</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Under Indian Accounting Standards (Ind AS 109), all derivatives are recognised on the balance sheet at fair value (MTM). If the derivative is designated as a qualifying hedge (fair value hedge or cash flow hedge), special hedge accounting treatment applies — deferring MTM volatility into OCI (Other Comprehensive Income) for cash flow hedges. Operations must provide the accounting team with daily MTM valuations for all derivative positions. The finance team applies the appropriate Ind AS 109 treatment.</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OTC Trade Compression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Portfolio compression is a process where multiple OTC trades with offsetting risk profiles (e.g., a pay-fixed and a receive-fixed IRS with similar terms) are replaced by a smaller number of trades with the same net risk. CCIL and TriOptima facilitate compression for cleared IRS. Benefits: reduces gross notional outstanding (lower capital charge), reduces operational complexity (fewer trades to manage), and reduces CCIL initial margin requirements.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D2.7 · OTC Trade Lifecycle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30-minute trade reporting deadline to CCIL's Trade Repository is one of the most operationally demanding regulatory requirements for Indian OTC derivative desks. A bank's trading desk executes 50 IRS trades during a busy morning session. Describe the end-to-end TR reporting workflow — from trade agreement to confirmed TR receipt — and identify the three most likely failure points that could cause a reporting breach.</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CCIL's mandatory clearing for vanilla IRS has been in place since 2014. In 2025, RBI is considering extending mandatory clearing to non-vanilla IRS (step-up/step-down notional, forward-starting) and cross-currency swaps. As a market participant, what are the operational implications of this extension? What infrastructure investments would your operations team need to make to support expanded CCIL clearing?</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D2.7 · OTC Trade Lifecycle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happens when an OTC IRS trade is novated at CCIL?</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Novation is the legal process by which a bilateral OTC trade is replaced by two new trades, each between one of the original parties and CCIL. Step-by-step: (1) SBI and Axis Bank agree an IRS trade bilaterally (SBI pay fixed, Axis pay floating). (2) Both parties submit the same trade details to CCIL electronically within 30 minutes. (3) CCIL validates the submissions — do both parties' details match? (4) If matched, CCIL accepts the trade for novation: the original SBI-Axis bilateral trade is legally extinguished and replaced by two new trades: SBI–CCIL (SBI pays fixed to CCIL; CCIL pays floating to SBI). CCIL–Axis (CCIL pays fixed to Axis; Axis pays floating to CCIL). (5) CCIL calls for initial margin from both SBI and Axis based on the potential future exposure (PFE) of each party's position. Result: (1) SBI no longer has credit exposure to Axis. (2) Axis no longer has credit exposure to SBI. (3) Both parties face CCIL's credit risk only — which is backed by the SGF default waterfall. (4) CCIL can net SBI's and Axis's positions across all their cleared trades — reducing initial margin requirements significantly.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three key ongoing operational processes for a CCIL-cleared IRS?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(1) Daily Variation Margin Management: CCIL revalues all cleared IRS positions at end-of-day using the current MIBOR/OIS curve. For any clearing member whose position has moved against them (lost MTM value), CCIL issues a variation margin call — payable the next morning via RTGS. For positions that have moved in favour, CCIL returns variation margin. Operations must: receive the VM call, get treasury approval, process RTGS payment within CCIL's intraday deadline. (2) Quarterly Net Payment Processing: On each payment date (quarterly for most Indian IRS), operations calculates: Fixed leg = Fixed Rate × Notional × (Actual Days / 365). Floating leg = MIBOR fixing (set at the start of the period) × Notional × (Actual Days / 365). Net = Fixed − Floating. Operations confirms the calculation with CCIL, processes the net payment via RTGS, and issues payment confirmations to both the trading desk and finance/accounting. (3) Trade Repository Reporting: All IRS trades must be reported to CCIL's TR within 30 minutes of execution. Ongoing MTM updates are reported daily. Operations maintains automated TR reporting systems — any failure creates a regulatory breach. The TR also captures lifecycle events: partial novations, compression, early terminations.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Custodian Banks and Custody Services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D2.8 · Custodian Banks and Custody Services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custodian bank safekeeps and administers financial assets on behalf of clients — asset managers, FPIs, pension funds. Custodians are separate from brokers: they hold assets, brokers execute trades.</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Core services: asset safekeeping at NSDL/CDSL, settlement processing, corporate actions (dividends, rights, bonus), cash management, regulatory reporting, fund administration.</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Global custodian: single platform across 100+ markets. Sub-custodian: local market expertise and settlement connectivity (e.g., HDFC Bank India for NSDL/CDSL access).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Nostro accounts: cash at foreign correspondent banks (USD nostro at JPMorgan New York). Depot accounts: securities at NSDL/CDSL. Both maintained with internal mirror ledgers for reconciliation.</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D2.8 · Custodian Banks and Custody Services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Vanguard (a US asset manager with $8 trillion AUM) wants to invest ₹5,000 crore in Indian equities. It has appointed State Street as its global custodian. State Street has selected Kotak Mahindra Bank as its Indian sub-custodian. Vanguard executes trades through three Indian brokers on NSE.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Trace the custody chain from Vanguard's buy decision to final share holding at NSDL. At which entity are the shares actually held in the NSDL system? What account structure does Kotak use? What SEBI registration is required? Why can Vanguard not hold the shares directly in its own name at NSDL?</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D2.8 · Custodian Banks and Custody Services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Global Custodian Network</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Global custodians like BNY Mellon, State Street, and JPMorgan provide institutional investors with a single window to hold assets across 100+ markets. They achieve this through networks of local sub-custodians — local banks with regulatory approval and depository connections in each market. In India: sub-custodians maintain omnibus demat accounts at NSDL/CDSL. Client allocations are tracked internally. The global custodian aggregates all local sub-custodian data into a unified reporting platform for the end investor. This network model allows a single fund manager to manage a global portfolio without maintaining local accounts in each jurisdiction — a fundamental enabler of cross-border investment.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Global Custodian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Single platform across markets. Aggregates local sub-custodian data. Client-facing reports.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Sub-Custodian</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Local market expert. NSDL/CDSL demat access. SEBI registered. Local settlement processing.</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Omnibus Account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One demat account at NSDL for multiple client funds. Internal allocation tracking by custodian.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SEBI Requirement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FPIs must appoint a SEBI-registered custodian. Custodian holds assets; broker executes only.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D2.8 · Custodian Banks and Custody Services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SEBI Custodian Regulation</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SEBI's Custodian of Securities Regulations (1996, amended) requires custodians to: maintain segregated client accounts, reconcile daily, report to SEBI periodically, maintain minimum net worth. SEBI-registered custodians include both domestic banks (HDFC, Kotak, SBI) and foreign bank subsidiaries (Deutsche, HSBC, Standard Chartered). SEBI's 2021 circular further strengthened requirements for custodian cyber security and business continuity.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Corporate Actions: The Operational Challenge</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Corporate actions (dividends, rights issues, bonus shares, mergers) require custodians to: identify all affected positions, calculate entitlements, communicate to clients for elections (e.g., rights issue: take up or sell?), process and credit proceeds to client accounts. A missed corporate action entitlement can result in client losses and claims. Custodians maintain dedicated corporate actions teams — errors here can be the most costly operational failures in custody.</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T+1 Impact on Custody Operations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India's T+1 settlement cycle compressed the time available for custodians to receive, validate, and process settlement instructions from global custodian clients. Previously (T+2), custodians had an extra day. Under T+1, settlement instructions must be received from global custodians and submitted to NSDL/CDSL on the same day as the trade — requiring 24/7 operational teams for FPI settlement windows.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Securities Lending through Custodians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Custodians often provide securities lending programs — lending client securities to borrowers (typically short-sellers) for a fee. The lending client earns additional income without selling their shares. The custodian acts as agent, manages collateral (100%+ of loan value), and recalls lent securities when needed for corporate actions or the client wants to sell. In India, NSE's SLB platform and SEBI regulations govern custodian-facilitated securities lending.</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D2.8 · Custodian Banks and Custody Services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FPI investment framework requires all foreign portfolio investors to appoint a SEBI-registered custodian. Some FPIs argue this is an unnecessary cost burden and that they should be allowed to manage their own demat accounts directly. What is the regulatory rationale for mandatory custodian appointments? What investor protection objectives does this serve? Would allowing direct FPI demat accounts increase or decrease operational risk in the Indian market?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Global custodians maintain 'omnibus' demat accounts at NSDL — one account for many client funds. This is operationally efficient but creates a record-keeping challenge: if the custodian's internal allocation records are wrong, clients receive incorrect statements and potentially incorrect asset values. What controls should a custodian have to prevent allocation errors? What should happen when an allocation error is discovered?</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D2.8 · Custodian Banks and Custody Services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 global custodian and a sub-custodian?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 global custodian provides custody services across multiple markets from a single platform and client relationship. A fund manager investing globally appoints one global custodian to hold assets in all markets — equities in India, bonds in the US, shares in Japan. The global custodian provides: a unified reporting platform, consolidated statements across all markets, single point of contact for the fund manager. The global custodian achieves global market coverage through sub-custodians — local banks in each market with regulatory approvals and depository connections. Sub-custodian's role in India: maintains NSDL/CDSL demat accounts for the global custodian's clients. Processes NSE/BSE settlement instructions locally. Handles SEBI and RBI compliance. Provides local market expertise (corporate actions, depositories, settlement cycles). Relationship: the fund manager sees only the global custodian. The global custodian sees the sub-custodian. The sub-custodian interfaces with NSDL, NSCCL, and local clearing systems. Operational implication: when a settlement fails in India, the global custodian escalates to the sub-custodian, who investigates locally. The fund manager may not know who the sub-custodian is — they just see the impact in their global custodian report.</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 nostro account and a depot account?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Nostro account: a cash account held by an institution at a foreign correspondent bank, denominated in the foreign currency. The word 'nostro' means 'ours' in Italian. Examples: HDFC Bank holds a USD nostro account at JPMorgan New York (USD balance), a EUR nostro at Deutsche Bank Frankfurt (EUR balance), a GBP nostro at Barclays London (GBP balance). Purpose: to hold and manage cash in foreign currencies for settlement of cross-currency transactions. Operations implication: every currency requires a separate nostro account in the corresponding country. HDFC Bank's operations team must reconcile each nostro account daily — comparing their internal nostro mirror ledger against the correspondent bank's MT940 statement. Depot account (also called a custody account or securities account): holds securities at a central depository — NSDL or CDSL for Indian assets. Examples: HDFC Bank maintains an omnibus depot account at NSDL, holding Indian equity shares for multiple FPI clients. Operations implication: NSDL sends daily statements of all securities held in HDFC Bank's depot account. Operations reconciles these against internal client-by-client position records. Any discrepancy (a security showing at NSDL but not in internal records) is a depot break requiring investigation.</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Reconciliation</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D2.9 · Reconciliation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Reconciliation is the control process that compares two or more sets of data and identifies discrepancies. Types: Internal (intra-company, inter-company) and External (vs custodian, depository, exchange, OTC counterparty).</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Nostro recon: internal mirror ledger vs correspondent bank's MT940 statement. Depot recon: internal position records vs NSDL/CDSL statement. Both run daily.</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Break types: timing differences (expected, self-resolve), genuine errors (immediate investigation), duplicates, and phantom transactions.</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Unresolved breaks create P&amp;L errors, regulatory violations, and client reporting inaccuracies. SEBI requires daily client asset reconciliation with annual certification.</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D2.9 · Reconciliation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An operations analyst at a custodian bank runs the Monday morning nostro reconciliation. The USD nostro mirror ledger shows a balance of $10.5 million. The JPMorgan bank statement shows $10.2 million — a $300,000 discrepancy. Investigation reveals: $280,000 is a payment made Friday afternoon (value date Monday — timing difference). $20,000 is a payment where the wrong amount was credited by JPMorgan.</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Classify each break. What action is required for each? For the timing difference: when will it resolve? For the genuine error: what is the operations team's next step within the next hour? What regulatory obligation does the custodian have if genuine errors of this size are recurring?</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D2.9 · Reconciliation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Reconciliation Workflow: From MT940 to Resolution</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nostro reconciliation workflow: (1) Receive SWIFT MT940 statement from correspondent bank (typically delivered overnight). (2) Load the internal nostro mirror ledger from the accounting system. (3) Automated matching system (e.g., Intellimatch, AutoRek) matches each external entry against an internal ledger entry using reference number, amount, and value date. (4) Matched items are cleared automatically. (5) Unmatched items = breaks — classified by type (timing, genuine, duplicate, phantom). (6) Operations team investigates and resolves each break. Target: all breaks identified same day, all genuine errors escalated immediately, all breaks resolved within 2 business days. The same workflow applies to depot reconciliation (vs NSDL/CDSL) and exchange reconciliation (vs NSE trade file).</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Timing Break</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Transaction processed by one party but not yet reflected by the other due to value date. Self-resolves.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Genuine Error</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Wrong amount, duplicate, or phantom transaction. Requires immediate investigation and rectification.</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SEBI Obligation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Daily client asset recon required. Annual certificate confirming correct segregation and reconciliation.</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Best Practice</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Same-day identification, 48-hour resolution, 5-day escalation, weekly aged break review.</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D2.9 · Reconciliation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Reconciliation Systems: Intellimatch, AutoRek, TLM</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Modern operations teams use automated reconciliation platforms that ingest data from multiple sources, apply matching rules, and flag exceptions for human review. These systems handle millions of transactions daily with 95%+ automatic match rates. The operations team works only the exceptions — reducing headcount while improving speed and accuracy. Key vendors in India: Intellimatch (now Gresham), TLM (SmartStream), AutoRek, and Oracle Financial Services.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OTC MTM Recon: Dispute Management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bilateral OTC derivatives, both parties independently value their trades daily. Small differences (due to model assumptions, curve construction) are normal. Under ISDA CSA: if the net MTM difference exceeds the MTA (Minimum Transfer Amount), the out-of-the-money party must pay the difference as collateral. When parties dispute the MTM valuation, ISDA provides a formal dispute resolution process: obtain market valuations from 3 reference dealers, take the mid-point, resolve within 3–5 business days.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Regulatory Reconciliation Requirements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SEBI's broker networth regulations require: daily end-of-day client fund and security reconciliation. Annual third-party audit of reconciliation processes. Certificate from the CEO/CFO confirming client asset segregation. Custodians under SEBI's Custodian Regulations have similar obligations. SEBI inspection teams examine reconciliation records as a primary indicator of operational risk maturity — firms with chronic aged breaks face enhanced supervision.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Root Cause Analysis in Reconciliation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When the same break type recurs, best-practice operations teams conduct root cause analysis (RCA): Why did this break occur? (Technical: system issue, data mapping error. Process: manual entry error, wrong SSI. People: training gap.) What systemic change prevents recurrence? RCA documentation is reviewed in internal audit and presented to the Head of Operations in weekly reviews. SEBI inspection teams look for evidence of RCA and process improvement — not just break resolution.</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D2.9 · Reconciliation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large asset management company (₹2 lakh crore AUM) discovers that its depot reconciliation process has been running with a systematic error for 6 months — due to a coding mistake in the automated system, 0.02% of transactions were not being matched correctly. Over 6 months, this has resulted in 2,400 undetected breaks totalling ₹45 crore of position discrepancies across client funds. Describe the complete remediation process: investigation scope, client notification, regulatory reporting, financial impact assessment, and system correction.</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Operations teams spend significant time and cost on manual reconciliation of OTC derivative MTM values between counterparties — especially for large bilateral swap books. Technology vendors now offer automated OTC reconciliation platforms (e.g., Traiana, MarkitSERV) that match positions and flag disputes automatically. Evaluate the cost-benefit of implementing such a platform for a bank with 5,000 active bilateral OTC trades.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D2.9 · Reconciliation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nostro reconciliation and how is a break resolved?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Nostro reconciliation is the daily process of comparing an institution's internal nostro mirror ledger — the internal record of what is believed to be in the nostro account — against the external bank statement received from the correspondent bank (e.g., JPMorgan New York for a USD nostro). How it works: (1) Receive the SWIFT MT940 statement from the correspondent bank (usually overnight delivery). (2) Load the internal nostro mirror ledger from the accounting system. (3) Run the automated matching system: each external debit/credit is compared against internal entries by amount, value date, and reference number. (4) Matched items are cleared. Unmatched items = breaks. Break resolution by type: Timing difference (e.g., payment sent on Friday but correspondent bank value date is Monday): note the break, flag for expected resolution on Monday, no immediate action required. Genuine error (e.g., wrong amount credited by JPMorgan): immediately contact JPMorgan's reconciliation team, request investigation, obtain swift recall/credit memo if necessary, escalate to Head of Operations if amount is material. Duplicate entry: identify whether the duplicate is in internal or external records, trace to the root cause, reverse one entry. Target resolution: 48 hours for all genuine breaks. Aged breaks (&gt;5 days): escalate to senior management and potentially regulators for material amounts.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internal and external reconciliation?</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Internal reconciliation: compares data between two systems or departments within the same organisation. Purpose: ensuring that different internal systems agree with each other. Examples: (1) Intra-company: Front Office OMS position vs Back Office accounting system position — do they agree on how many shares of Infosys the proprietary book holds? (2) Inter-company: a trade between two subsidiaries of the same group — does Subsidiary A's record of the trade match Subsidiary B's record? Internal recon catches: system integration failures, booking errors, timing differences between systems. External reconciliation: compares internal records against records held by a third-party external institution. Purpose: ensuring that the institution's records agree with independent external sources. Examples: (1) Nostro recon: internal USD ledger vs JPMorgan's bank statement. (2) Depot recon: internal position records vs NSDL/CDSL depository statement. (3) Exchange recon: internal trade bookings vs NSE's official trade confirmation file. (4) OTC MTM recon: HDFC Bank's valuation of an IRS vs Citi's valuation under the ISDA CSA. External recon is more important for detecting fraud and counterparty errors — the external party is independent of the firm's internal systems.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D2.10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3000" b="1" dirty="0">
                <a:solidFill>
                  <a:srgbClr val="FFFFFF"/>
                </a:solidFill>
              </a:rPr>
              <a:t>Loan Syndication and Lending Operations</a:t>
            </a:r>
            <a:endParaRPr lang="en-US" sz="30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Securities Operations</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D2.10 · Loan Syndication and Lending Operations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200" dirty="0">
                <a:solidFill>
                  <a:srgbClr val="404040"/>
                </a:solidFill>
              </a:rPr>
              <a:t>A syndicated loan is a large loan provided by a group of lenders (the syndicate) to a single borrower. Key roles: Mandated Lead Arranger (MLA) structures and sells the deal; Agent Bank administers cash flows throughout the loan's life.</a:t>
            </a:r>
            <a:endParaRPr lang="en-US" sz="120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200" dirty="0">
                <a:solidFill>
                  <a:srgbClr val="404040"/>
                </a:solidFill>
              </a:rPr>
              <a:t>Process: Pre-mandate → Credit approval → Term sheet + Information Memorandum → Syndication (lender commitments) → Documentation → Closing → Drawdown.</a:t>
            </a:r>
            <a:endParaRPr lang="en-US" sz="120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200" dirty="0">
                <a:solidFill>
                  <a:srgbClr val="404040"/>
                </a:solidFill>
              </a:rPr>
              <a:t>Ongoing servicing: Agent Bank calculates and distributes interest and principal payments, monitors financial covenants (DSCR, leverage), processes prepayments, and maintains the syndicate register.</a:t>
            </a:r>
            <a:endParaRPr lang="en-US" sz="120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200" dirty="0">
                <a:solidFill>
                  <a:srgbClr val="404040"/>
                </a:solidFill>
              </a:rPr>
              <a:t>ClearPar is the technology platform used for syndicated loan settlement — particularly for secondary market participation transfers. Reconciliation between Agent Bank records and each lender's records is critical.</a:t>
            </a:r>
            <a:endParaRPr lang="en-US" sz="120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D2.10 · Loan Syndication and Lending Operations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SBI Capital Markets is acting as MLA for a ₹12,000 crore syndicated term loan for NTPC (National Thermal Power Corporation) to finance a 2 GW solar project. The loan has 10 syndicate banks, 8-year tenor, with quarterly interest at MCLR + 75 bps. After 2 years, Bank of Baroda (holding ₹800 crore participation) wants to exit and sell its participation to HDFC Bank.</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Walk through the secondary market loan transfer process: (1) What documentation is required? (2) How is the transfer price determined? (3) Which platform processes the settlement? (4) How does the Agent Bank (SBI Cap) update its records? (5) What happens to Bank of Baroda's accrued interest up to the transfer date?</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D2.10 · Loan Syndication and Lending Operations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Syndicated Loan: Structure and Lifecycle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A syndicated loan is one of the most operationally complex instruments in banking: it involves multiple lenders, a long tenor, periodic cash flow distributions, covenant monitoring, and potential amendments. The Agent Bank is the operational hub — it maintains the definitive syndicate register (who holds what participation), processes all cash flows, receives borrower notices, monitors covenants, and coordinates amendments requiring lender consent. Unlike bonds (which trade on exchanges with standardised documentation), syndicated loans have bespoke terms and trade in the over-the-counter secondary market — requiring detailed legal due diligence for each participation transfer. ClearPar and similar platforms provide standardisation for the settlement of these transfers.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MLA</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Wins mandate, structures terms, prepares IM, manages syndication. Role ends at closing.</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Agent Bank</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Administers loan for entire life: cash flows, covenant monitoring, drawdowns, register.</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Loan Agreement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200-300 page legal document: terms, covenants, events of default, amendment mechanics.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ClearPar</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Platform for secondary loan participation transfers. Standardises settlement documentation.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D2.10 · Loan Syndication and Lending Operations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ECB Syndications: India's Cross-Border Loans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companies borrow internationally through External Commercial Borrowings (ECBs) — syndicated loans from international banks denominated in USD, EUR, or JPY. RBI's ECB framework governs: eligible borrowers, permitted end-uses, all-in cost ceiling (SOFR + maximum spread), maturity requirements, hedging obligations. Operations teams at Indian companies must comply with RBI's hedging requirements (mandatory for ECBs up to 5 years) and report to RBI through their Authorised Dealer bank.</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Leveraged Loans and TLB</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Term Loan B (TLB) is a form of syndicated loan primarily held by institutional investors (CLOs, hedge funds, credit funds) rather than banks. TLBs typically have: bullet repayment (no amortization until maturity), floating rate (SOFR + spread), less restrictive covenants. They trade actively in secondary markets, with ClearPar being the standard settlement platform. Indian corporates have increasingly accessed TLB markets for offshore acquisitions.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Loan Covenant Types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Financial covenants in syndicated loans include: leverage ratio (Debt / EBITDA ≤ 4x), interest coverage ratio (EBIT / Interest ≥ 3x), debt service coverage ratio (DSCR ≥ 1.2x), minimum liquidity (cash ≥ ₹X crore). Non-financial covenants: restrictions on additional debt, dividends, asset sales, M&amp;A. The Agent Bank must verify compliance at each test date — usually quarterly. Breach triggers waiver negotiations or potentially acceleration of the loan.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Project Finance Syndications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large infrastructure projects (highways, ports, power plants), syndicated loans are often structured as project finance — secured by the project's assets and future cash flows, with no recourse to the sponsor's balance sheet. Indian infrastructure project finance involves SEBI-registered debenture trustees as security trustees, complex intercreditor agreements, and independent engineer reports. Operations for project finance loans is more complex than corporate loans — requiring monitoring of construction milestones, drawdown conditions, and project completion tests.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D2.10 · Loan Syndication and Lending Operations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Agent Bank in a syndicated loan occupies a critical but controversial role: it acts as administrative agent for all lenders while often also being a lender itself. This creates a potential conflict of interest — especially when the borrower is in financial distress and the Agent Bank must balance its own lending interests against its fiduciary duties to the syndicate. How should syndicated loan agreements structure the Agent Bank's role to mitigate this conflict? What protections should minority lenders require?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syndicated loan market is underdeveloped compared to its bond market and banking credit market. Key barriers include: lack of standardised documentation, limited secondary market liquidity, and complex RBI regulatory requirements. Using the LSTA (Loan Syndications and Trading Association) framework from the US market as a reference, propose three specific reforms that RBI and market participants could implement to deepen India's syndicated loan market.</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D2.10 · Loan Syndication and Lending Operations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role of the Agent Bank in a syndicated loan?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Agent Bank (also called Facility Agent or Administrative Agent) is the administrative hub of a syndicated loan throughout its entire life — from closing to final repayment. Key responsibilities: (1) Cash flow management: receives interest and principal payments from the borrower, calculates each lender's pro-rata share, distributes payments to syndicate lenders' accounts within the contractually specified time frame. (2) Rate setting: for floating-rate loans, determines the applicable interest rate at each reset date (MCLR or SOFR + spread), notifies the borrower of the interest due. (3) Drawdown processing: receives drawdown notices from the borrower, calls the funding from syndicate banks, disburses to the borrower. (4) Covenant monitoring: receives the borrower's quarterly/semi-annual compliance certificates, verifies financial covenant compliance (DSCR, leverage ratio), notifies lenders if a breach occurs, coordinates waiver requests. (5) Register maintenance: maintains the definitive record of which bank holds which participation amount — updated whenever secondary market transfers occur. (6) Lender communication: distributes all borrower notices, financial information, and covenant certificates to all lenders. Note: the Agent Bank's role is administrative, not advisory — it executes lender instructions rather than making independent decisions. For decisions requiring lender consent (amendments, waivers), the Agent Bank coordinates the voting process under the loan agreement's consent thresholds.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ClearPar and how is it used in lending operations?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ClearPar is a technology platform widely used for the settlement of syndicated loan participation transfers in the secondary market. When a syndicate lender wants to sell its loan participation to another institution, ClearPar facilitates: (1) Trade entry: both the seller and buyer enter the trade details into ClearPar — specifying the loan facility, participation amount, purchase price, settlement date, and accrued interest calculation. (2) Documentation management: ClearPar stores the transfer documentation (assignment and acceptance agreement), making it accessible to all parties. (3) Settlement coordination: ClearPar tracks the settlement process — confirming that all legal conditions are met, agent bank consent is obtained (if required by the loan agreement), and cash and participation are exchanged simultaneously. (4) Agent bank update: the Agent Bank uses ClearPar to update the syndicate register — reflecting the new lender in place of the transferring bank. Why ClearPar matters: syndicated loan transfers are complex — each requires legal due diligence, loan agreement review, agent bank consent, and precise accrued interest calculation. ClearPar standardises this process, reducing the average settlement time from weeks to days. In India: major international banks with USD syndicated loan books use ClearPar for cross-border participation transfers; domestic rupee syndicated loans are typically settled bilaterally using Indian law documentation, though ClearPar adoption is growing for ECB-related transfers.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Securities Operations</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CIBOP Securities Operations — Learning Deck</dc:title>
  <dc:subject>PptxGenJS Presentation</dc:subject>
  <dc:creator>Imarticus Learning</dc:creator>
  <cp:lastModifiedBy>Imarticus Learning</cp:lastModifiedBy>
  <cp:revision>1</cp:revision>
  <dcterms:created xsi:type="dcterms:W3CDTF">2026-05-06T09:05:20Z</dcterms:created>
  <dcterms:modified xsi:type="dcterms:W3CDTF">2026-05-06T09:05:20Z</dcterms:modified>
</cp:coreProperties>
</file>