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Derivatives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Derivatives</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Fixed Income – Derivatives  |  UORs: D6.1 – D6.10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What is a Derivative?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 · What is a Derivative?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derivative is a contract whose value is derived from an underlying asset — stock, bond, commodity, currency, or interest rate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Four main types: Forwards (OTC, customised), Futures (exchange-traded, standardised), Options (right not obligation), Swaps (cash flow exchange)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 India, NSE dominates equity/currency derivatives; MCX leads in commodity futures; all regulated by SEBI (exchange-traded) and RBI (OTC)</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Economic purposes: risk transfer (hedgers), price discovery (all participants), and speculation (directional bets) — all essential for efficient markets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 · What is a Derivative?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Kavi's uncle runs a spice export business. He is worried that USD/INR will move unfavourably before he receives USD 5 lakh in 3 months. His bank offers him a USD/INR forward contract. Kavi asks: 'Uncle, you already have the dollars coming — why would you buy another contract?'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Explain to Kavi why her uncle's forward contract is a derivative and why it doesn't mean he is 'buying more dollars.' What underlying asset determines the forward's value?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D6.1 · What is a Derivative?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Derivatives: Contracts That Derive Value From Something Else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 derivative has no intrinsic value of its own — it gets its value entirely from the behaviour of the underlying asset. When USD/INR moves from ₹84 to ₹87, an existing forward contract at ₹84 becomes very valuable to the holder. The contract didn't change — only the underlying exchange rate did. This is the defining feature: derivative value = f(underlying price).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Forward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OTC bilateral; customised; counterparty risk; no exchange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Futures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Exchange-traded; standardised lot/expiry; NSCCL clearing; daily MTM</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Options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Buyer has right, not obligation; premium paid upfront; limited downside for buyer</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Swaps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Exchange cash flows periodically; fixed-for-floating; ISDA governed; OTC</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 · What is a Derivative?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Derivatives Exist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Without derivatives, risk cannot be separated from ownership. A farmer who owns wheat is forced to bear price risk. Derivatives allow the farmer to transfer that risk to a speculator — both benefit. Capital flows more efficiently.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Leverage Effect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Futures require only margin (e.g., 5-10% of contract value). This leverage means small moves in underlying create large returns on capital — but also large losses. SEBI limits leverage through margin requirements.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India's Derivative Volume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NSE's equity derivatives segment processes over ₹1.5 lakh crore daily — one of the world's highest. Nifty 50 and Bank Nifty options are the most traded single-name derivatives globally by contract count.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Systemic Risk</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2008 crisis showed OTC derivatives (especially CDOs) can create systemic risk if unregulated. India avoided contagion because exchange-traded derivatives were centrally cleared and OTC derivatives were tightly regulated by RBI.</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D6.1 · What is a Derivative?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friend says: 'Derivatives are just gambling with extra steps — they create no real value.' Using the example of an Indian wheat farmer, make the strongest possible case that derivatives serve a genuine economic purpose.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 wants to introduce a new futures contract on India's Consumer Price Index (CPI inflation). What economic purpose would this serve? Who would be the likely hedgers and speculators?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D6.1 · What is a Derivative?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derivative and what are its four main types?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derivative is a financial contract whose value depends on the price of an underlying asset (stock, bond, commodity, currency, or index). Four types: (1) Forwards — OTC bilateral agreements to buy/sell at a future date at an agreed price. (2) Futures — standardised, exchange-traded forwards with daily MTM. (3) Options — right (not obligation) to buy (call) or sell (put) at a strike price. (4) Swaps — periodic exchange of cash flows between parties (e.g., fixed-for-floating interest rate swap).</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India's regulatory framework for derivatives work?</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Two-regulator system. SEBI regulates exchange-traded derivatives: approves contracts, sets SPAN margins, monitors position limits, oversees NSE/BSE/MCX/NCDEX. RBI regulates OTC derivatives: currency forwards (under FEMA), interest rate swaps, cross-currency swaps used by banks and large corporates. Both require trade reporting to ensure full transparency.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Forward Contract Basics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D6.2 · Forward Contract Basics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forward is a bilateral OTC agreement: two parties agree to exchange an asset at a future date at a price agreed today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terms: underlying asset, forward price, notional amount, settlement date, long party (buyer), short party (seller)</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Long position profits when the underlying price rises above the forward price; short position profits when it falls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can be physical (actual delivery) or cash (P&amp;L difference only); counterparty risk exists as no exchange guarantees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D6.2 · Forward Contract Basics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Indian Oil Corporation (IOC) must pay USD 50 million for crude oil in 90 days. USD/INR spot is ₹84.00. IOC's bank quotes a 90-day forward at ₹84.80. IOC's treasury manager says: 'If we don't hedge and INR depreciates to ₹87, that's ₹15 crore of extra cost.' The CFO asks: 'But what if INR strengthens to ₹82?'</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Should IOC enter the forward? Calculate the hedged cost if INR goes to ₹87 and if INR goes to ₹82. What is the trade-off IOC accepts by hedging?</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D6.2 · Forward Contract Basics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Forward Mechanics: Lock In the Rate, Accept the Trade-off</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IOC enters a long USD forward at ₹84.80 (agree to buy USD at ₹84.80). If INR depreciates to ₹87: without hedge IOC pays ₹87 × 5 crore USD = ₹435 crore. With hedge: IOC effectively pays ₹84.80 — saving ₹11 crore. If INR strengthens to ₹82: with hedge IOC still pays ₹84.80 — missing a ₹14 crore saving. The forward eliminates uncertainty completely — both upside and downside. That's the explicit trade-off of hedging.</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Forward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Agree to BUY at forward price; profit if spot &gt; forward at maturity</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Short Forward</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Agree to SELL at forward price; profit if spot &lt; forward at maturity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Cash Settlement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Pay/receive only the difference: (spot − forward) × notional</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Counterparty Risk</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 CCP; if bank defaults, IOC loses the gain on favourable moves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D6.2 · Forward Contract Basics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RBI Documentation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requires documented underlying exposure for all currency forwards by Indian corporates. IOC must show import LC or purchase contract. Without documentation, the forward is deemed speculative and not permitted under FEMA.</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NDF Market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Non-Deliverable Forwards (NDFs) are used for INR in offshore markets (Singapore, London). Since INR is not fully convertible, offshore investors use NDFs to gain USD/INR exposure. Cash-settled in USD, not INR.</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Forward vs Futures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IOC's ₹4,200 crore hedge doesn't fit a standard USD/INR futures contract (USD 1,000 per lot). Forwards allow exact notional matching. But the counterparty is HDFC Bank — not NSCCL — so credit risk exists.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Mark-to-Market of Forward</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Banks calculate MTM on all forward positions daily. If IOC's forward has positive MTM (rupee depreciated), the bank has a credit exposure to IOC — the value of the forward if IOC defaults. This is managed via CSA/credit limits.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D6.2 · Forward Contract Basics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IOC's CFO argues: 'We should not hedge — if INR strengthens we save money, and historically INR has sometimes strengthened.' The Treasurer counters: 'Our core business is refining oil, not speculating on currencies.' Whose view is more appropriate for a large state-owned enterprise?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exporter uses a 3-month USD/INR forward. 45 days in, USD/INR has moved sharply in their favour. They want to close the forward early and take the profit. How does an early termination work, and what cost/gain do they realise?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D6.2 · Forward Contract Basics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how an Indian exporter uses a currency forward to hedge FX risk.</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exporter expecting USD receipts in 3 months sells (goes short) USD forward — agreeing to deliver USD at today's locked-in rate (e.g., ₹84.50). If INR appreciates to ₹82 by settlement, they still receive ₹84.50 per USD. The forward gain on the FX contract offsets the lower spot rate received on the actual USD. Net realisation = ₹84.50 regardless of market movement. RBI requires documented export invoice as underlying.</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counterparty risk in forward contracts and how do banks manage it?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Counterparty risk: if the forward counterparty defaults, the non-defaulting party loses the positive MTM value of the forward. Banks manage it via: ISDA Master Agreements (netting), CSA (Credit Support Annex — require collateral when MTM exceeds threshold), credit limits (cap total exposure per client), and daily MTM monitoring. For large corporate forwards, banks may require pledge of assets or bank guarantees if creditworthiness is low.</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Forward Pricing and Valuation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D6.3 · Forward Pricing and Valuation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Fair Forward Price = Spot Price × (1 + r)^T — the no-arbitrage price based on cost-of-carry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Adjustments: subtract PV of dividends (stocks), apply Interest Rate Parity (currencies), add storage minus convenience yield (commodities)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If actual forward price &gt; fair value → overpriced → sell forward + buy spot (cash-and-carry arbitrage)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MTM value of an open forward = (Current Forward Rate − Agreed Forward Rate) × Notional, discounted to today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D6.3 · Forward Pricing and Valuation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Aria is pricing a 3-month USD/INR forward for a corporate client. USD/INR spot is ₹84.00. Indian 3-month interest rate: 6.5% p.a. US 3-month rate: 5.0% p.a. Using Interest Rate Parity, she calculates the fair forward rate. The market is quoting ₹84.50 for the same tenor.</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fair 3-month forward rate using IRP. Is the market quote of ₹84.50 overpriced or underpriced? What arbitrage is available if you can exploit this?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D6.3 · Forward Pricing and Valuation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No-Arbitrage Forward Pricing: Cost-of-Carry and IRP</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Interest Rate Parity: F = S × (1 + r_INR)^T / (1 + r_USD)^T = 84 × (1.065)^0.25 / (1.050)^0.25 = 84 × 1.01597 / 1.01227 = 84 × 1.00366 = ₹84.31. Market quote ₹84.50 is above fair value. Arbitrage: borrow INR, buy USD spot at ₹84, invest in USD deposits, sell USD forward at ₹84.50. At maturity: receive USD with interest, deliver at ₹84.50, repay INR loan. Risk-free profit = 19 paise per dollar.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Stock Forward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F = (S − PV(dividends)) × (1+r)^T — subtract PV of expected dividends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Currency Forward (IRP)</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F = S × (1 + r_domestic)^T / (1 + r_foreign)^T — interest differential</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Commodity Forward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 = S × e^(r + storage − convenience yield)×T — physical carrying costs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MTM Valuation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Value of Long = (F_current − F_agreed) × Notional / (1+r)^T_remaining</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D6.3 · Forward Pricing and Valuation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Covered vs Uncovered IRP</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Covered IRP uses forward contracts to lock in rates (no risk). Uncovered IRP is a prediction that exchange rates will adjust to offset interest differentials — not guaranteed. INR forward premium consistently reflects higher Indian rates vs USD.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Arbitrage Limits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Transaction costs, capital requirements, regulatory restrictions, and settlement delays mean pure arbitrage is rarely costless. Most 'arbitrage' is really risk arbitrage — there are residual risks. Professional arbitrageurs carefully calculate net-of-cost profitability.</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Contango vs Backwardation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Contango (F &gt; S): normal for financial assets and most commodities. Backwardation (F &lt; S): occurs in commodity markets when convenience yield is very high — physical scarcity makes holding the spot commodity very valuable.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Specific</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USD/INR is always in contango (forward &gt; spot) because Indian interest rates exceed US rates. The premium is predictable and used by importers/exporters to lock in rates. However, the forward premium can change as rate differentials change.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D6.3 · Forward Pricing and Valuation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student says: 'If Indian interest rates are always higher than USD rates, why don't we just borrow USD cheaply and invest in India to make risk-free profit?' Walk through the covered interest parity argument that explains why this 'carry trade' is not truly risk-free.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Gold spot price on MCX is ₹60,000 per 10g. The 6-month MCX gold forward is ₹61,800. Risk-free rate is 7% p.a. Storage costs are 0.5% p.a. Is this forward fairly priced? Show your calculation and identify any arbitrage.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D6.3 · Forward Pricing and Valuation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cost-of-carry model for forward pricing?</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cost-of-carry model states: F = S × (1+r)^T, where S is spot price, r is the risk-free rate, and T is time to maturity. It represents the no-arbitrage price — the cost of buying spot and carrying the asset to the forward date. Adjustments: subtract PV of income (dividends, convenience yield); add costs (storage, insurance). Any deviation from fair value creates an arbitrage opportunity that drives prices back to equilibrium.</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value an existing forward contract mid-life?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MTM value of a long forward = (Current Forward Rate − Agreed Forward Rate) × Notional / (1+r)^remaining time. Example: agreed at ₹84.50, current 3-month forward ₹86.00, ₹10 crore notional, 60 days remaining. MTM value = (86.00 − 84.50) × 10 crore, discounted 60 days = approximately ₹1.48 crore. Positive MTM = asset for the long party, liability for the short party — and a credit exposure to be monitored.</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Futures Contracts vs Forward Contracts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D6.4 · Futures Contracts vs Forward Contracts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Futures: exchange-traded, standardised lot sizes and expiry, NSCCL/ICCL clearing eliminates counterparty risk</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Forwards: OTC, customised (any notional, any date), bilateral counterparty risk, no daily MTM</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Daily mark-to-market in futures settles gains and losses every day — no silent loss accumulation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Choice: use futures for liquid, standardised exposures; use forwards when customisation or non-standard tenor/notional is needed</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D6.4 · Futures Contracts vs Forward Contracts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Motion works at the treasury of a large airline. The airline needs to hedge 2.9 million barrels of jet fuel for delivery in 6 months — a very specific quantity on a non-standard date. A broker suggests either crude oil futures on MCX or a jet fuel-linked OTC forward with a bank. The CFO asks: 'Which is better?'</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Analyse the trade-offs for the airline. What are the pros and cons of MCX crude futures vs an OTC forward? What is basis risk in this context?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D6.4 · Futures Contracts vs Forward Contracts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Standardisation vs Flexibility: Choosing the Right Instrument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MCX Crude futures: standardised 100 barrels per lot = 29,000 lots (manageable). Advantages: no counterparty risk (NSCCL clearing), liquid exit, transparent pricing. Disadvantages: basis risk (crude oil vs jet fuel price spread), daily margin calls disrupt cash flow, non-standard settlement date. OTC forward with bank: exact notional (2.9 million barrels), exact settlement date, jet fuel-linked reference price. Disadvantages: counterparty risk on the bank, no easy exit if conditions change. Many airlines use both — futures for the liquid portion, forwards for the precision portion.</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Counterparty Risk</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Futures: zero (CCP clears). Forwards: bilateral (bank/counterparty default risk)</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Customisation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Futures: standardised only. Forwards: any notional, any date, any underlying</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Daily Cash Flows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Futures: daily MTM debits/credits. Forwards: single settlement at maturity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Exit Flexibility</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Futures: close anytime at market price. Forwards: early termination requires bank agreement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D6.4 · Futures Contracts vs Forward Contracts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Basis Risk Detail</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Crude oil futures do not perfectly hedge jet fuel costs — jet fuel trades at a 'crack spread' above crude. This spread can widen or narrow unpredictably. Using crude futures for a jet fuel hedge creates basis risk equal to the variance of the crack spread.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Margin Cash Flow Management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Daily margin calls on large futures positions can be significant. An airline with 29,000 crude futures lots faces daily MTM cash flows of millions of rupees. This requires dedicated treasury management and credit facilities — an operational burden forward contracts avoid.</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Tailing the Hedge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Because futures profits/losses are received/paid daily (unlike forwards), the optimal futures hedge ratio is slightly less than the forward hedge ratio. This 'tail' correction adjusts for the time value of daily cash flows. For short maturities, the correction is small (&lt; 1%); for long maturities, it matters.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Regulatory View</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permits corporates to hedge on MCX and NSE futures with documented underlying exposure. For OTC derivatives, RBI's regulations apply — including documentation requirements and prudential limits for banks on OTC derivative exposures to corporates.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D6.4 · Futures Contracts vs Forward Contracts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Two corporates have identical USD hedging needs: ₹100 crore, 3 months. Corporate A uses NSE USD/INR futures (10,000 lots of USD 1,000). Corporate B uses an OTC forward with HDFC Bank. Three months later, HDFC Bank is in financial distress. Analyse the risk positions of both corporates.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head says: 'Every futures trade requires daily margin monitoring — it's operationally heavy. OTC forwards are simpler — one settlement at maturity.' Is this view correct? What operational risks exist specifically with OTC forwards that don't exist with futures?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D6.4 · Futures Contracts vs Forward Contracts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main differences between futures and forward contracts?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Five key differences: (1) Trading venue: Futures on exchanges (NSE, MCX), forwards OTC. (2) Standardisation: Futures standardised (lot size, expiry), forwards customised. (3) Counterparty risk: Futures cleared by CCP (zero risk), forwards bilateral (bank/counterparty risk). (4) Daily settlement: Futures marked to market daily (variation margin), forwards settle only at maturity. (5) Flexibility: Forwards better for non-standard amounts/dates; futures better for liquid, standard exposures.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When would you choose a forward over a futures contract for hedging?</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Use a forward when: (1) Exact notional doesn't match futures lot sizes. (2) Exact settlement date doesn't match futures expiry. (3) Underlying isn't available as a futures contract (e.g., specific commodity grade, specific currency pair). (4) Daily MTM cash flows are operationally burdensome. (5) Need physical delivery at a specific location. Example: jeweller hedging exactly 1,234 grams of gold — no MCX contract fits. Use an OTC gold forward with a bank for exact match.</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Futures Market Structure in India</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D6.5 · Futures Market Structure in India</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futures market: Exchanges (NSE, BSE, MCX, NCDEX) → Clearing Corporations (NSCCL, ICCL, MCX Clearing) → Regulators (SEBI, RBI)</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NSCCL (NSE Clearing Ltd) acts as CCP for all NSE trades — novation eliminates bilateral counterparty risk</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SPAN (Standard Portfolio Analysis of Risk): calculates margin as worst-case portfolio loss across 16 market scenarios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Three participant types: Hedgers (transfer risk), Speculators (provide liquidity), Arbitrageurs (enforce fair pricing)</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D6.5 · Futures Market Structure in India</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Ryo's operations team processes a large Nifty 50 futures trade on NSE: a fund buys 500 lots at 22,000 (lot 25 = ₹27.5 crore). The fund's margin account must be set up and monitored daily. Next day, Nifty closes at 21,800. The day after, Nifty falls to 21,400. Ryo must calculate margin requirements and check for a margin call.</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How much initial margin is needed (assume SEBI's 9% requirement)? Calculate the MTM loss on Day 1 and Day 2. After Day 2, is there a margin call? What is NSCCL's role throughout?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D6.5 · Futures Market Structure in India</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How NSCCL Guarantees Every Trade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Contract value: 500 × 25 × 22,000 = ₹27.5 crore. Initial margin at 9%: ₹2.475 crore. Day 1 MTM: (21,800 − 22,000) × 500 × 25 = −₹25 lakh. Balance: ₹2.475 crore − ₹0.25 crore = ₹2.225 crore. Day 2 MTM: (21,400 − 21,800) × 500 × 25 = −₹50 lakh. Balance: ₹2.225 crore − ₹0.50 crore = ₹1.725 crore. Still above 75% maintenance threshold (₹1.856 crore would be threshold at 7% of ₹26.5 crore). NSCCL's role: guarantees settlement regardless of fund's creditworthiness, collects/distributes all margin flows.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NSCCL Role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Novates trades (becomes buyer to every seller); guarantees settlement; manages SGF</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SPAN Margin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16 scenarios × 500 lots × sensitivity = worst-case daily loss = initial margin</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Settlement Guarantee Fund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Funded by all members; covers defaults after individual margin exhausted</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Circuit Breakers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NSE halts trading if Nifty falls 10%, 15%, or 20% in a day — prevents cascading crashes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D6.5 · Futures Market Structure in India</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Participant Roles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Hedger (e.g., mutual fund selling Nifty futures to protect portfolio) provides demand for risk transfer. Speculator (e.g., HNI buying Bank Nifty futures before RBI policy) provides the other side. Arbitrageur (algo firm) keeps prices fair. All three are needed for market function.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GIFT Nifty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GIFT Nifty at NSE-IX in GIFT City trades almost 24 hours. It allows global investors to act on news outside Indian hours. When US CPI data prints at 6:30 PM IST, GIFT Nifty immediately reprices — Indian investors monitor it to gauge next day's opening.</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Position Limits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sets client-level position limits (e.g., max 1% of open interest in index futures). FPI limits, broker limits, and overall market-wide limits prevent concentration and manipulation. Breaches trigger surveillance alerts and potential regulatory action.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Expiry Day Dynamics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Last Thursday of each month: high volume, high volatility as positions are rolled or closed. 'Max pain' — the strike price where option sellers' loss is minimised — attracts price towards it on expiry. Operations teams must be fully staffed on expiry Thursdays.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D6.5 · Futures Market Structure in India</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NSE processes over 1 crore derivative trades per day. Explain how NSCCL manages systemic risk — specifically, what happens operationally if one large broker fails to meet a ₹500 crore margin call on expiry day?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new regulation proposal suggests increasing initial margin on Nifty futures from 9% to 15%. Argue both sides: who benefits and who is harmed by higher margin requirements? What happens to market liquidity and trading volumes?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D6.5 · Futures Market Structure in India</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NSCCL eliminate counterparty risk in NSE futures trades?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NSCCL uses novation — it legally interposes itself between buyer and seller, becoming buyer to every seller and seller to every buyer. Once a trade is matched on NSE's platform, NSCCL is the counterparty to both legs. It guarantees settlement using: (1) the defaulting member's initial margin, (2) the Settlement Guarantee Fund (SGF) contributed by all members, (3) NSCCL's own capital. This three-tier waterfall means no individual default can cause a settlement failure.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SPAN and how does it calculate futures margin?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SPAN (Standard Portfolio Analysis of Risk) is the margin methodology used by NSCCL. It calculates 16 risk scenarios — combinations of underlying price moves (±1σ, ±2σ, ±3σ) and volatility changes. For each scenario, it calculates the portfolio loss. The margin = the worst-case single-day loss across all scenarios. For portfolios with offsetting positions (e.g., long Nifty futures + short Nifty call), SPAN recognises the offset and charges a lower combined margin — this is the cross-margining benefit.</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Margin and Mark-to-Market in Futures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D6.6 · Margin and Mark-to-Market in Futures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Initial margin = SPAN-calculated performance bond to open position (typically 5-11% of contract value)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Maintenance margin = minimum balance threshold; if breached, margin call requires restoration to initial margin level</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Daily MTM = settlement price today minus previous settlement price × contract size — credited or debited daily</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Daily settlement eliminates silent loss accumulation: every day's P&amp;L is settled, preventing systemic risk build-up</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D6.6 · Margin and Mark-to-Market in Futures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buys 5 lots of Nifty 50 futures at 22,000 (lot 25). Initial margin: ₹1,20,000 per lot = ₹6,00,000 total. Maintenance margin: ₹4,50,000. Day 1: Nifty closes 22,250. Day 2: Nifty closes 21,700. Day 3: Nifty closes 21,300. Kavi's broker calls — urgent.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Build Kavi's margin account table for all 3 days. After which day does the margin call trigger? How much must Kavi deposit and by when? What happens if she cannot pay?</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D6.6 · Margin and Mark-to-Market in Futures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MTM Engine: Daily P&amp;L Settlement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Day 1: MTM = (22,250−22,000) × 5 × 25 = +₹31,250. Balance: ₹6,31,250. Day 2: MTM = (21,700−22,250) × 5 × 25 = −₹68,750. Balance: ₹5,62,500. Day 3: MTM = (21,300−21,700) × 5 × 25 = −₹50,000. Balance: ₹5,12,500. Still above maintenance ₹4,50,000 — no margin call on Day 3. If Nifty falls another 500 points: Day 4 loss = ₹62,500. Balance: ₹4,50,000 — exactly at maintenance. Next rupee down triggers the call. Kavi must top up to ₹6,00,000 (initial) by end of day or broker force-closes.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Day 1</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22,250 close → +₹31,250 MTM → Balance ₹6,31,250 (gain)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Day 2</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21,700 close → −₹68,750 MTM → Balance ₹5,62,500 (loss, no call)</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Day 3</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21,300 close → −₹50,000 MTM → Balance ₹5,12,500 (still above ₹4,50,000)</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Margin Call</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If balance &lt; ₹4,50,000: top up to ₹6,00,000 (initial) by EOD or force close</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D6.6 · Margin and Mark-to-Market in Futures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Margin ≠ Cost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Initial margin is NOT lost when paying. It is deposited as collateral and returned when the position is closed (net of cumulative MTM losses). Unlike an option premium (paid and non-refundable), futures margin is refundable. This is one of the most misunderstood concepts in derivatives.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Acceptable Margin Forms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NSCCL accepts cash, bank FDs, government securities, bank guarantees. Non-cash collateral is haircut: a ₹1 lakh FD may count as ₹95,000 of margin (5% haircut). G-Secs get a lower haircut due to high liquidity. Equity shares are NOT accepted as futures margin.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Intraday vs EOD Margin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NSCCL calculates margins at end-of-day for overnight positions. Intraday, brokers apply real-time risk management and may square off positions if intraday losses are severe — this is called 'auto square-off' or 'risk-based square-off.'</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Operations Impact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Operations teams run EOD batch jobs to: (1) calculate MTM for all open positions, (2) update client margin accounts, (3) identify margin calls, (4) send margin call notices, (5) process top-up receipts, (6) initiate force liquidation for non-responsive clients. This batch must complete before pre-open next day.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D6.6 · Margin and Mark-to-Market in Futures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daily MTM mechanism means futures traders face unpredictable daily cash flows — unlike forwards where cash flow is only at maturity. A corporate hedging USD exposure argues: 'These daily margin calls disrupt our treasury management — we prefer OTC forwards.' Is this a valid operational concern? How do large corporates manage it?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During market crashes (like March 2020 COVID), daily MTM losses on futures positions were enormous — some retail traders received margin calls for amounts exceeding their initial deposit. Explain the mechanics of how this is possible and what risk management measures a retail trader should have in place.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D6.6 · Margin and Mark-to-Market in Futures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daily mark-to-market process for a futures position.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At end of each trading day, NSCCL calculates the settlement price (typically the closing price or VWAP). For each open position: MTM = (today's settlement − yesterday's settlement) × lot size × number of lots. Positive MTM is credited to the margin account; negative is debited. If margin balance falls below maintenance margin, a margin call is issued — the client must restore to initial margin by next morning. This daily cycle prevents loss accumulation and ensures the clearing corporation can always recover outstanding losses.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initial margin and variation margin?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Initial margin (also called SPAN margin): a deposit required to OPEN a futures position — a performance bond set at the worst-case daily loss. It is refundable. Variation margin (also called MTM or daily settlement): the daily debit or credit based on price movement — it reflects actual P&amp;L. So initial margin is the opening collateral that doesn't change unless SEBI revises requirements; variation margin changes every day based on price moves.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Hedging with Futures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D6.7 · Hedging with Futures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Short hedge: own asset, fear price fall → sell futures. Long hedge: need asset, fear price rise → buy futures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Number of contracts = (Portfolio Value × Beta) / (Index Price × Lot Size) for equity; or Exposure / Contract Size for commodities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Basis risk: residual risk when futures don't perfectly match underlying — caused by asset, time, or size mismatch</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Hedge effectiveness (HE) = 1 − (Variance hedged / Variance unhedged); HE of 0.95 means 95% of risk eliminated</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D6.7 · Hedging with Futures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Aria manages a ₹50 crore equity portfolio with a beta of 1.3 relative to Nifty. It's October — she fears a market correction before the budget in February. Nifty is at 22,000, lot size 25. She wants to reduce effective portfolio beta to 0.4 — a partial hedge to maintain some upside while limiting downside.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number of Nifty futures contracts Aria must sell. If Nifty falls 8% by February, what is the approximate net portfolio return with the partial hedge versus without?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D6.7 · Hedging with Futures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Beta-Adjusted Equity Portfolio Hedging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Contracts to sell = (Current Beta − Target Beta) × Portfolio Value / (Nifty × Lot Size) = (1.3 − 0.4) × 50,00,00,000 / (22,000 × 25) = 0.9 × 50 crore / 5.5 lakh = ₹45 crore / ₹5.5 lakh = 81.8 ≈ 82 contracts. Unhedged: Nifty falls 8% → portfolio falls 8% × 1.3 = 10.4% = −₹5.2 crore. Hedged (partial): Portfolio falls −₹5.2 crore, Futures gain = 82 × 25 × (22,000 × 8%) = 82 × 25 × 1,760 = ₹3.61 crore. Net loss: −₹5.2 + ₹3.61 = −₹1.59 crore (vs −₹5.2 crore unhedged). Effective beta ≈ 0.4 as intended.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Full Hedge (Beta → 0)</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Contracts = Portfolio × Current Beta / (Nifty × Lot Size) — eliminates all market risk</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Partial Hedge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Contracts = Portfolio × (Current − Target Beta) / (Nifty × Lot Size)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Hedge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futures = (Exposure / Contract Size) contracts to protect against price rise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Basis Risk</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Residual risk when futures correlation with actual exposure &lt; 1.0</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D6.7 · Hedging with Futures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Dynamic Hedging</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Portfolio beta changes as stocks are bought/sold and as market conditions evolve. A fund manager must periodically recalculate and adjust the futures hedge. High turnover portfolios may need daily hedge rebalancing.</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Cross Hedging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Hedging with a different but correlated instrument. Example: hedge a Nifty small-cap portfolio using Nifty 50 futures. Correlation is 0.85, not 1.0 — creating basis risk. Adjust number of contracts by correlation: Contracts × 0.85.</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Cost of Hedging</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Hedging is not free. Futures have bid-ask spread. Rolling costs arise when hedge must be maintained beyond one monthly expiry. Index futures trade at a premium to spot (cost of carry) — this premium is the implicit cost of hedging equity portfolios.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FPI Limits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Foreign Portfolio Investors can use Nifty futures to hedge Indian equity exposure. SEBI sets FPI position limits in individual stocks and index derivatives. Large hedges by FPIs can move the market — operations teams monitor FPI flows as a market signal.</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D6.7 · Hedging with Futures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fund manager fully hedges her ₹100 crore equity portfolio using Nifty futures in November. The market rallies 15% in December. Her clients complain: 'You missed the entire rally!' How would you explain the purpose and trade-off of the hedge to the clients? Should she have unhedged earlier?</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Airlines typically hedge 50-70% of their fuel needs, not 100%. Why might a company choose NOT to hedge all of its commodity exposure? Consider both financial and strategic reasons.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D6.7 · Hedging with Futures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calculate the number of Nifty futures contracts needed to fully hedge an equity portfolio?</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Number of contracts = (Portfolio Value × Portfolio Beta) / (Nifty Index Level × Lot Size). For a ₹10 crore portfolio with beta 1.2, Nifty at 22,000, lot size 25: Contracts = (10,00,00,000 × 1.2) / (22,000 × 25) = 12,00,00,000 / 5,50,000 = 21.8 ≈ 22 contracts SHORT. For partial hedge to target beta: replace Portfolio Beta with (Current Beta − Target Beta).</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basis risk and why does it matter in a futures hedge?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Basis = Spot price − Futures price. Basis risk is the uncertainty about what the basis will be when the hedge is closed. It arises from: (1) Asset mismatch — hedging jet fuel with crude oil futures; (2) Timing mismatch — closing hedge before expiry when basis ≠ 0; (3) Size mismatch — rounding contracts creates residual exposure. Hedge effectiveness = 1 − (Variance of hedged / Variance of unhedged). Perfect hedge (HE = 1) is impossible in practice — basis risk always remains.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Speculation and Arbitrage with Futures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D6.8 · Speculation and Arbitrage with Futures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Speculation: take directional view for profit; leverage magnifies gains and losses; stop-losses essential for risk management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Cash-futures arbitrage: if futures overpriced → sell futures + buy spot (cash-and-carry); if underpriced → buy futures + sell spot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Calendar spread: buy one monthly contract, sell another — bet on spread change, not market direction; low risk</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Transaction costs create a no-arbitrage band — deviations must exceed costs to be exploitable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D6.8 · Speculation and Arbitrage with Futures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Motion is running a proprietary trading desk. Nifty spot = 22,000. Current month futures = 22,350. Fair value = 22,125 (cost of carry). He calculates: overpriced by 225 points. He simultaneously sells 100 lots of current month Nifty futures at 22,350 and buys Nifty BeES ETF worth ₹5.5 crore at 22,000.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Motion's locked-in arbitrage profit (before transaction costs). If brokerage + STT + impact cost totals 0.15% per leg, is the trade profitable? At expiry (both converge to 22,200), show the P&amp;L breakdown.</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D6.8 · Speculation and Arbitrage with Futures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Cash-and-Carry Arbitrage: Risk-Free Profit from Mispricing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Locked-in profit before costs: (22,350 − 22,125) = 225 points × 100 lots × 25 = ₹5,62,500. Transaction costs: 0.15% per leg × 2 legs × ₹55,00,000 = ₹1,65,000. Net profit = ₹5,62,500 − ₹1,65,000 = ₹3,97,500. At expiry (22,200): ETF sold at 22,200 → gain (22,200−22,000) × 100 × 25 = ₹50,00,000. Futures closed at 22,200 → gain (22,350−22,200) × 100 × 25 = ₹37,50,000. Total gain = ₹87,50,000. Less interest cost on ETF purchase (7% × 30 days × ₹5.5 crore) ≈ ₹38,630 daily cost. ₹87.5 lakh − ₹3.8 lakh carry cost = ₹83.7 lakh. Minus transaction costs ₹1.65 lakh = ₹82 lakh net. Annualised return on ₹5.5 crore invested: significant risk-free return.</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Overpriced Futures</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Sell futures + buy spot (ETF/basket). Hold to convergence. Profit = overpricing − costs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Underpriced Futures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futures + sell spot (short sell ETF/basket). Profit = underpricing − costs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Calendar Spread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July Nifty + Sell August Nifty. Profit if Aug-Jul spread widens. Low directional risk</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Rollover</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Close current expiry + open next expiry to maintain position — done by most position holders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D6.8 · Speculation and Arbitrage with Futures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HFT and Arbitrage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High-Frequency Trading (HFT) firms dominate cash-futures arbitrage in India. Their speed and ultra-low transaction costs compress the no-arbitrage band to 5-10 basis points on Nifty. Manual arbitrage is only viable when gaps are large (during news events or technical disruptions).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NSE Expiry Statistics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On Nifty expiry day (last Thursday), futures volume typically surges 3-4x as positions are rolled or closed. Open Interest drops sharply at expiry. The 'rollover ratio' — how much OI moves to next month — is tracked as a market sentiment indicator.</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Speculative Strategies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Beyond directional, traders use: (1) Pair trades — long one index futures, short another. (2) Vol plays — take a view on market volatility by combining futures and options. (3) Event trading — hold positions around key events (budget, RBI policy, earnings).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Position Limits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To prevent manipulation, SEBI limits total speculative positions: for individual clients in Nifty futures, the limit is the higher of ₹500 crore or 15% of total market Open Interest. Algorithmic traders must register with the exchange and undergo system audits.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D6.8 · Speculation and Arbitrage with Futures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retail investor wants to speculate on Nifty rising by 5% before RBI's next policy meeting. Compare: (1) buying Nifty ETF directly, (2) buying Nifty futures, (3) buying an ATM Nifty call option. For each, calculate the P&amp;L if Nifty rises 5%, stays flat, or falls 5%. Which approach has the best risk-reward profile?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Cash-futures arbitrage keeps Nifty futures price close to fair value. But on March 23, 2020 (COVID crash), Nifty futures traded at a steep discount to spot — suggesting arbitrage was not working. Why might arbitrage break down in a market stress event? What structural factors prevent arbitrageurs from acting?</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D6.8 · Speculation and Arbitrage with Futures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cash-futures arbitrage and how does it work for Nifty?</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When Nifty futures trade above or below fair value (cost-of-carry price), an arbitrage opportunity exists. If futures are overpriced: sell futures + buy Nifty ETF or basket simultaneously. Hold until expiry when both converge. Profit = (Futures price − Fair value) × contracts × lot size, net of transaction costs (brokerage, STT, impact cost, financing). If underpriced: buy futures + short-sell ETF. The no-arbitrage band is typically 10-15 bps — deviations beyond this are exploitable, and HFT firms act within milliseconds.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calendar spread trading in Nifty futures.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 calendar spread involves simultaneously buying a near-month futures contract and selling a far-month (or vice versa). Example: buy July Nifty at 22,350, sell August Nifty at 22,500 (spread = 150 points). The position profits if the Aug-July spread widens. It is a bet on the carry cost/interest rate differential between months, NOT on Nifty direction. Calendar spreads have lower margin requirements than outright directional positions and are useful for expressing views on roll cost without directional market risk.</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Commodity vs Financial Futures in India</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D6.9 · Commodity vs Financial Futures in India</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Commodity futures (MCX, NCDEX): physical delivery possible, storage costs and convenience yield matter, seasonality effects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Financial futures (NSE): mostly cash-settled, no storage, driven by interest rates, dividends, and macro factors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India contracts: Nifty 50 futures (NSE, lot 25, global benchmark), USD/INR futures (NSE, lot USD 1,000), MCX Gold (1 kg), MCX Crude (100 bbl)</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GIFT Nifty enables 24-hour global access to Indian equity futures; MCX Gold provides jewellers and investors a hedging tool</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D6.9 · Commodity vs Financial Futures in India</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works at a large gold jewellery manufacturer. It is November. They plan to buy 50 kg of gold in March (for the marriage season). Current MCX Gold price is ₹60,000/10g. The CFO is worried about gold prices rising. Simultaneously, the company has USD payables of USD 5 lakh in February (for imported diamond settings). Current USD/INR is ₹84.</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Design a complete hedging strategy using Indian exchange-traded futures for both exposures. Specify: exchange, contract, number of lots, position (long/short), and the hedging logic for each.</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D6.9 · Commodity vs Financial Futures in India</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India's Futures Ecosystem: Gold and Currency in One Platform</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Gold hedge: buy MCX Gold futures. 50 kg = 5,000 grams = 500 × 10g units. MCX Gold lot = 1 kg = 100 × 10g. Lots needed: 50 lots. Buy 50 MCX Gold Mar futures at ₹60,000/10g. If gold rises to ₹65,000: physical purchase costs extra ₹25 lakh but futures gain = 500 × ₹5,000 = ₹25 lakh — offset. USD hedge: buy NSE USD/INR futures. USD 5 lakh = 500 lots (lot size USD 1,000). Buy 500 lots NSE USD/INR Feb futures at ₹84.00. If USD/INR rises to ₹87: extra cost ₹15 lakh, futures gain = 500 × 1,000 × ₹3 = ₹15 lakh — offset. Both hedges eliminate price uncertainty at low transaction cost.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MCX Gold Hedge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50 MCX Gold futures (1 kg each) at ₹60,000/10g — long hedge for buyer</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NSE USD/INR Hedge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500 NSE USD/INR futures (USD 1,000 each) — long hedge for importer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Commodity Pricing</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Gold futures: F = Spot × (1+r)^T + storage − lease rate (convenience yield)</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Currency Pricing</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USD/INR futures: F = Spot × (1 + r_INR)^T / (1 + r_USD)^T — Interest Rate Parity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D6.9 · Commodity vs Financial Futures in India</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Physical Delivery on MCX</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MCX Gold futures can be physically settled — the short delivers gold bars (995 purity, assay certified) to MMTC/designated vaults. The long takes delivery and pays. Operations teams must understand delivery notices, tender periods, and vault procedures if their clients take/make physical delivery.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Crack Spread</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price difference between crude oil and refined products (petrol, diesel, jet fuel) is the crack spread. Airlines and refiners often trade crack spread futures (crude + product) to hedge the refining margin, not just crude price. Not available on Indian exchanges yet — done in OTC or overseas.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Agri Futures Economics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NCDEX agri futures help price discovery for India's 600 million farmers. A soybean farmer in MP can monitor NCDEX Indore soybean futures price to decide planting decisions and forward selling at harvest. This reduces the information asymmetry exploited by middlemen.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Commodity STT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Securities Transaction Tax (STT) on commodity derivatives is different from equity derivatives. MCX Commodity Futures (non-agricultural): STT = 0.01% of sell-side turnover. This affects profitability calculations for commodity arbitrage and hedging strategies.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D6.9 · Commodity vs Financial Futures in India</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NCDEX and MCX have struggled to attract large institutional hedgers in agricultural commodities despite being designed for that purpose. What barriers might prevent a large food processing company (e.g., Nestle India) from using NCDEX wheat futures for raw material hedging? What would need to change?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GIFT Nifty (formerly SGX Nifty) moved from Singapore to GIFT City in 2023. Explain the strategic importance of this move for India's financial market ambitions. Who are the key users of GIFT Nifty and why do they prefer it over domestic NSE futures?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D6.9 · Commodity vs Financial Futures in India</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MCX Gold futures pricing work, and how would a jeweller use it to hedge?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MCX Gold pricing: F = Spot price × (1 + r)^T + storage costs − lease rate. Storage and insurance typically add 0.3-0.5% p.a. A jeweller needing 10 kg gold in 3 months: buy 10 MCX Gold lots (1 kg each) at current futures price. If gold rises, physical purchase costs more but futures gain offsets it. If gold falls, physical is cheaper but futures show a loss — net effect: cost locked in at today's futures rate. Close futures when physical purchase is made. Net realisation = locked futures price ± basis.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differences between NSE USD/INR futures and OTC currency forwards for hedging?</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NSE USD/INR futures: lot size USD 1,000 (very small, retail-accessible), exchange-traded, NSCCL clearing (no counterparty risk), daily MTM, SEBI-regulated, minimum transaction size very small, trading hours 9am-5pm. OTC currency forwards: any notional, customised date, bank counterparty risk, no daily MTM (single settlement), RBI-regulated, requires documented underlying (FEMA), available 24 hours. SME with USD 5 lakh exposure: better served by 500 lots of NSE USD/INR futures. Large corporate with USD 100 million custom-dated exposure: uses OTC forward from a major bank.</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D6.10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Options Intro and Derivatives Risk &amp; Regulation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Derivatives: Forward &amp; Futures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D6.10 · Options Intro and Derivatives Risk &amp; Regulation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Call option: right to BUY at strike price. Put option: right to SELL at strike price. Premium = cost of this right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Option premium = Intrinsic Value + Time Value. IV = max(S−K, 0) for calls. Time value decays to zero at expiry (theta decay)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SEBI's risk management: SPAN margins, daily MTM, position limits, circuit breakers. RBI: OTC derivatives under FEMA</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Operations obligations: verify client eligibility, monitor margins, enforce position limits, maintain audit trails, report to trade repositories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D6.10 · Options Intro and Derivatives Risk &amp; Regulation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Motion's fund holds a ₹100 crore Nifty portfolio. He buys put options as portfolio insurance: 200 lots of Nifty 22,000 put at ₹300 premium per unit (lot size 25). Total premium paid: 200 × 25 × ₹300 = ₹15 lakh. Three weeks later, Nifty falls to 21,000. The puts are now worth ₹1,050 per unit.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profit/loss on the put options. Net of premium paid, what is the effective protection value? Compare this to if Motion had used Nifty futures to hedge the same portfolio. What unique advantage do options provide that futures cannot?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D6.10 · Options Intro and Derivatives Risk &amp; Regulation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Options as Portfolio Insurance: Asymmetric Risk Management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Put option P&amp;L: (1,050 − 300) × 200 × 25 = ₹750 × 5,000 = ₹37.5 lakh profit. Net of premium already paid (₹15 lakh), total profit on options = ₹37.5 lakh. Portfolio loss on ₹100 crore with beta 1.0 and Nifty falling 4.5%: −₹4.5 crore. Options offset ₹37.5 lakh = 8.3% of loss recovery. Key advantage vs futures hedge: if Nifty had RISEN 5% instead, the futures hedge would have lost ₹5 crore (offsetting portfolio gains). But the put options would have expired worthless — costing only ₹15 lakh premium. Options provide downside protection while preserving full upside. This asymmetry is what makes options 'insurance' rather than a hedge.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Call ITM</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Spot &gt; Strike → IV &gt; 0. Call buyer profits. Exercise is optimal.</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Put OTM</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Spot &gt; Strike → Put IV = 0. Put expires worthless. Buyer loses premium only.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Theta Decay</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Time value decays daily, faster near expiry. ATM options decay fastest.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Operations Risk</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Wrong strike entry, missed expiry, uncollected premium = critical errors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D6.10 · Options Intro and Derivatives Risk &amp; Regulation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Greeks Introduction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Options have sensitivity measures (Greeks): Delta (price sensitivity to spot), Gamma (rate of change of Delta), Theta (time decay per day), Vega (sensitivity to volatility), Rho (sensitivity to interest rates). Full options module covers these in detail.</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Options Volume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is the world's largest market by options contract count. NSE's weekly options (Nifty, Bank Nifty, FinNifty) create enormous volumes of short-dated contracts. Daily options trading exceeds ₹50 lakh crore in notional value on peak days — vastly exceeding equity cash market.</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F&amp;O Circular</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SEBI's Master Circular on F&amp;O sets out all regulations: eligible underlying criteria, contract parameters, margin methodology, participant categories, reporting requirements. Operations teams must comply with every provision — non-compliance results in exchange penalties and regulatory action.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Derivatives Reporting</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Under RBI/SEBI mandate, all OTC derivatives trades must be reported to authorised trade repositories (CCIL for interest rate/currency OTC derivatives). This gives regulators full visibility of systemic exposure. Operations teams must ensure timely reporting — typically T+1.</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D6.10 · Options Intro and Derivatives Risk &amp; Regulation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retail options market has exploded in recent years — SEBI data shows over 1 crore retail F&amp;O accounts. SEBI studies show 90%+ of retail F&amp;O traders lose money. Should SEBI restrict retail access to options and futures? Argue both the investor protection and market development perspectives.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analyst notices that a client's Nifty options position was not reported to the exchange on time due to a system failure. The deadline was yesterday, and the position is large enough to require disclosure under SEBI's large position reporting rules. Walk through the exact steps the operations team must take to remediate this.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D6.10 · Options Intro and Derivatives Risk &amp; Regulation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an option and a futures contract?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Three key differences: (1) Obligation vs right: futures create an obligation to buy/sell for both parties; options give the buyer the right but not obligation. (2) Premium: options buyers pay a non-refundable premium upfront; futures require only a refundable margin deposit. (3) Risk profile: futures have symmetric risk (unlimited gain and loss). Option buyer: limited loss (premium), unlimited gain. Option seller: limited gain (premium), unlimited loss. In India, the most common use: fund managers buy index put options as portfolio insurance — preserving upside while capping downside.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key regulatory obligations for an operations professional in derivatives?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Six key obligations under SEBI/RBI framework: (1) Client eligibility: verify client is categorised correctly (retail vs institutional — different risk disclosures and limits). (2) Margin compliance: collect and maintain required margins; send margin call notices; force-close on non-payment. (3) Position limits: monitor client positions against SEBI limits daily; flag breaches. (4) Trade reporting: report all F&amp;O trades to exchange and OTC trades to trade repositories. (5) Documentation: maintain audit trail of all trades, instructions, and risk disclosures. (6) Surveillance: report suspicious activity patterns to compliance team; cooperate with exchange/SEBI queries.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Forward &amp; Futures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Derivatives: Forward &amp; Futures — Learning Deck</dc:title>
  <dc:subject>PptxGenJS Presentation</dc:subject>
  <dc:creator>Imarticus Learning</dc:creator>
  <cp:lastModifiedBy>Imarticus Learning</cp:lastModifiedBy>
  <cp:revision>1</cp:revision>
  <dcterms:created xsi:type="dcterms:W3CDTF">2026-05-06T06:31:48Z</dcterms:created>
  <dcterms:modified xsi:type="dcterms:W3CDTF">2026-05-06T06:31:48Z</dcterms:modified>
</cp:coreProperties>
</file>