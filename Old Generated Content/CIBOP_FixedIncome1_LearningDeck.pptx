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4023360"/>
            <a:ext cx="9144000" cy="1120140"/>
          </a:xfrm>
          <a:prstGeom prst="rect">
            <a:avLst/>
          </a:prstGeom>
          <a:solidFill>
            <a:srgbClr val="007A87"/>
          </a:solidFill>
          <a:ln w="12700">
            <a:solidFill>
              <a:srgbClr val="007A87"/>
            </a:solidFill>
            <a:prstDash val="solid"/>
          </a:ln>
        </p:spPr>
      </p:sp>
      <p:sp>
        <p:nvSpPr>
          <p:cNvPr id="4" name="Shape 2"/>
          <p:cNvSpPr/>
          <p:nvPr/>
        </p:nvSpPr>
        <p:spPr>
          <a:xfrm>
            <a:off x="365760" y="1280160"/>
            <a:ext cx="73152" cy="2011680"/>
          </a:xfrm>
          <a:prstGeom prst="rect">
            <a:avLst/>
          </a:prstGeom>
          <a:solidFill>
            <a:srgbClr val="F0A800"/>
          </a:solidFill>
          <a:ln w="12700">
            <a:solidFill>
              <a:srgbClr val="F0A800"/>
            </a:solidFill>
            <a:prstDash val="solid"/>
          </a:ln>
        </p:spPr>
      </p:sp>
      <p:sp>
        <p:nvSpPr>
          <p:cNvPr id="5" name="Text 3"/>
          <p:cNvSpPr/>
          <p:nvPr/>
        </p:nvSpPr>
        <p:spPr>
          <a:xfrm>
            <a:off x="548640" y="1188720"/>
            <a:ext cx="8046720" cy="640080"/>
          </a:xfrm>
          <a:prstGeom prst="rect">
            <a:avLst/>
          </a:prstGeom>
          <a:noFill/>
          <a:ln/>
        </p:spPr>
        <p:txBody>
          <a:bodyPr wrap="square" lIns="0" tIns="0" rIns="0" bIns="0" rtlCol="0" anchor="ctr"/>
          <a:lstStyle/>
          <a:p>
            <a:pPr indent="0" marL="0">
              <a:buNone/>
            </a:pPr>
            <a:r>
              <a:rPr lang="en-US" sz="3200" b="1" dirty="0">
                <a:solidFill>
                  <a:srgbClr val="F0A800"/>
                </a:solidFill>
              </a:rPr>
              <a:t>Fixed Income Securities</a:t>
            </a:r>
            <a:endParaRPr lang="en-US" sz="3200" dirty="0"/>
          </a:p>
        </p:txBody>
      </p:sp>
      <p:sp>
        <p:nvSpPr>
          <p:cNvPr id="6" name="Text 4"/>
          <p:cNvSpPr/>
          <p:nvPr/>
        </p:nvSpPr>
        <p:spPr>
          <a:xfrm>
            <a:off x="548640" y="1783080"/>
            <a:ext cx="8046720" cy="502920"/>
          </a:xfrm>
          <a:prstGeom prst="rect">
            <a:avLst/>
          </a:prstGeom>
          <a:noFill/>
          <a:ln/>
        </p:spPr>
        <p:txBody>
          <a:bodyPr wrap="square" lIns="0" tIns="0" rIns="0" bIns="0" rtlCol="0" anchor="ctr"/>
          <a:lstStyle/>
          <a:p>
            <a:pPr indent="0" marL="0">
              <a:buNone/>
            </a:pPr>
            <a:r>
              <a:rPr lang="en-US" sz="2600" dirty="0">
                <a:solidFill>
                  <a:srgbClr val="FFFFFF"/>
                </a:solidFill>
              </a:rPr>
              <a:t>Part 1</a:t>
            </a:r>
            <a:endParaRPr lang="en-US" sz="2600" dirty="0"/>
          </a:p>
        </p:txBody>
      </p:sp>
      <p:sp>
        <p:nvSpPr>
          <p:cNvPr id="7" name="Text 5"/>
          <p:cNvSpPr/>
          <p:nvPr/>
        </p:nvSpPr>
        <p:spPr>
          <a:xfrm>
            <a:off x="548640" y="2331720"/>
            <a:ext cx="7863840" cy="365760"/>
          </a:xfrm>
          <a:prstGeom prst="rect">
            <a:avLst/>
          </a:prstGeom>
          <a:noFill/>
          <a:ln/>
        </p:spPr>
        <p:txBody>
          <a:bodyPr wrap="square" lIns="0" tIns="0" rIns="0" bIns="0" rtlCol="0" anchor="ctr"/>
          <a:lstStyle/>
          <a:p>
            <a:pPr indent="0" marL="0">
              <a:buNone/>
            </a:pPr>
            <a:r>
              <a:rPr lang="en-US" sz="1300" i="1" dirty="0">
                <a:solidFill>
                  <a:srgbClr val="C8D8E8"/>
                </a:solidFill>
              </a:rPr>
              <a:t>Certificate in Investment Banking Operations Programme</a:t>
            </a:r>
            <a:endParaRPr lang="en-US" sz="1300" dirty="0"/>
          </a:p>
        </p:txBody>
      </p:sp>
      <p:sp>
        <p:nvSpPr>
          <p:cNvPr id="8" name="Text 6"/>
          <p:cNvSpPr/>
          <p:nvPr/>
        </p:nvSpPr>
        <p:spPr>
          <a:xfrm>
            <a:off x="365760" y="4160520"/>
            <a:ext cx="8412480" cy="320040"/>
          </a:xfrm>
          <a:prstGeom prst="rect">
            <a:avLst/>
          </a:prstGeom>
          <a:noFill/>
          <a:ln/>
        </p:spPr>
        <p:txBody>
          <a:bodyPr wrap="square" lIns="0" tIns="0" rIns="0" bIns="0" rtlCol="0" anchor="ctr"/>
          <a:lstStyle/>
          <a:p>
            <a:pPr indent="0" marL="0">
              <a:buNone/>
            </a:pPr>
            <a:r>
              <a:rPr lang="en-US" sz="1000" dirty="0">
                <a:solidFill>
                  <a:srgbClr val="FFFFFF"/>
                </a:solidFill>
              </a:rPr>
              <a:t>Imarticus Learning  |  Module: Fixed Income – Part 1  |  UORs: D4.FI.1 – D4.FI.10</a:t>
            </a:r>
            <a:endParaRPr lang="en-US" sz="1000" dirty="0"/>
          </a:p>
        </p:txBody>
      </p:sp>
      <p:sp>
        <p:nvSpPr>
          <p:cNvPr id="9" name="Text 7"/>
          <p:cNvSpPr/>
          <p:nvPr/>
        </p:nvSpPr>
        <p:spPr>
          <a:xfrm>
            <a:off x="365760" y="4507992"/>
            <a:ext cx="8412480" cy="256032"/>
          </a:xfrm>
          <a:prstGeom prst="rect">
            <a:avLst/>
          </a:prstGeom>
          <a:noFill/>
          <a:ln/>
        </p:spPr>
        <p:txBody>
          <a:bodyPr wrap="square" lIns="0" tIns="0" rIns="0" bIns="0" rtlCol="0" anchor="ctr"/>
          <a:lstStyle/>
          <a:p>
            <a:pPr indent="0" marL="0">
              <a:buNone/>
            </a:pPr>
            <a:r>
              <a:rPr lang="en-US" sz="950" i="1" dirty="0">
                <a:solidFill>
                  <a:srgbClr val="F0A800"/>
                </a:solidFill>
              </a:rPr>
              <a:t>10 Topics · 30 Videos · 40 Assessment Questions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D4.FI.1</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What is Fixed Income?</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1 of 10  |  Fixed Income Part 1</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D4.FI.1 · What is Fixed Income?</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Fixed income = lending money to an issuer (government or company) in exchange for periodic interest (coupon) and return of principal at maturity</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Unlike equity (ownership), fixed income investors are creditors — they have legal priority in the event of bankruptcy</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The Indian bond market exceeds Rs 200 lakh crore — dominated by Government Securities (G-Secs) managed by RBI</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Key examples: GOI 10-Yr G-Sec, HDFC NCD, RBI 91-Day T-Bill, SBI Fixed Deposit, Tata Motors CP</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D4.FI.1 · What is Fixed Income?</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Kavi has Rs 10,000 to invest. Her uncle suggests she buy a Reliance Industries NCD at 7% for 3 years instead of buying Reliance shares. Kavi asks: 'But what if Reliance does really well — shouldn't I own shares?' Her uncle replies: 'It depends on what you need the money for.'</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What are the key trade-offs between Kavi buying Reliance equity vs. the Reliance NCD? Consider income, risk, and what happens if Reliance goes bankrupt.</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D4.FI.1 · What is Fixed Income?</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Fixed Income = Lending, Not Owning</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Fixed income instruments represent a creditor relationship — you lend money and the borrower (issuer) is obligated to return it with interest. The government cannot 'go bankrupt' in rupee terms (it can print currency), making G-Secs the benchmark risk-free rate. Corporate bonds carry credit risk — the issuer may default.</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Equity</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Own a share of the company; variable returns; last in bankruptcy queue</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Fixed Income</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Lend money; fixed coupon; first claim on assets in bankruptcy</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G-Sec (India)</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Issued by GOI via RBI; zero credit risk; benchmark for all yields</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NCD</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Non-Convertible Debenture; corporate bond; carries credit risk</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D4.FI.1 · What is Fixed Income?</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Bond vs FD</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Both are lending instruments. Key difference: bonds are tradeable in the secondary market; FDs are not. Tradeability creates daily mark-to-market price changes.</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Coupon vs Yield</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Coupon rate is fixed at issuance. YTM (Yield to Maturity) reflects the current market price. They diverge when the bond trades above or below par.</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India Market Size</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India's bond market is ~$2.3 trillion. 70%+ is Government Securities. Corporate bonds are growing but still lag equity market in liquidity.</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Regulatory Framework</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RBI regulates G-Secs and money market. SEBI regulates corporate bonds. SEBI mandates credit ratings for all public issues above Rs 500 crore.</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D4.FI.1 · What is Fixed Income?</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friend says: 'Bond markets are boring — they just go up slowly.' As an IB operations professional, how would you explain the risks in bond investing using the 2022 rate hike cycle as your example?</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Reliance Industries has both equity shares and NCDs trading on NSE. A new investor asks you: 'Is buying a Reliance NCD the same as lending Reliance money?' What is the complete, accurate answer?</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D4.FI.1 · What is Fixed Income?</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difference between a bond and a share?</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A bond makes you a creditor — you lend money and receive fixed coupon plus principal. A share makes you an owner — you get dividends (if declared) and capital gains. Bondholders have legal priority over equity holders in bankruptcy.</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Why do Government Securities have zero credit risk?</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The Government of India borrows in Indian Rupees and can always instruct RBI to issue more currency to repay debt. This eliminates default risk on rupee-denominated G-Secs. However, market risk (price changes from interest rate movements) still exists.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D4.FI.2</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Bond Structure &amp; Terminology</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2 of 10  |  Fixed Income Part 1</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D4.FI.2 · Bond Structure &amp; Terminology</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Face value (par value) = the principal amount returned at maturity (e.g., Rs 1,000 for GOI bonds)</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Coupon rate = annual interest rate applied to face value. Rs 1,000 × 7% = Rs 70/year</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YTM (Yield to Maturity) = total return if bond is held to maturity — accounts for price, coupon, and face value</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Dirty price = clean price + accrued interest. Dirty price is what is actually paid at settlement</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D4.FI.2 · Bond Structure &amp; Terminology</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Ryo is processing settlement for a 7% GOI 2032 G-Sec trade. The bond has a face value of Rs 10 lakh. The trade was done mid-coupon period — 45 days since the last coupon date. The clean price is quoted at 102.50. The operations team needs to calculate the dirty price for settlement.</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How does Ryo calculate the dirty price? Why do buyers pay the dirty price even though the seller has not held the bond for the full coupon period?</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D4.FI.2 · Bond Structure &amp; Terminology</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Bond Pricing: Clean vs Dirty Price</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Clean price is the quoted market price (excludes accrued interest). Dirty price = clean price + accrued interest is the actual settlement amount. Accrued interest compensates the seller for the coupon earned during their holding period. In India, G-Secs use Actual/365 day count convention.</a:t>
            </a:r>
            <a:endParaRPr lang="en-US" sz="1150" dirty="0"/>
          </a:p>
        </p:txBody>
      </p:sp>
      <p:sp>
        <p:nvSpPr>
          <p:cNvPr id="8" name="Shape 6"/>
          <p:cNvSpPr/>
          <p:nvPr/>
        </p:nvSpPr>
        <p:spPr>
          <a:xfrm>
            <a:off x="274320" y="3429000"/>
            <a:ext cx="1920240" cy="23225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232258"/>
          </a:xfrm>
          <a:prstGeom prst="rect">
            <a:avLst/>
          </a:prstGeom>
          <a:solidFill>
            <a:srgbClr val="FFFFFF"/>
          </a:solidFill>
          <a:ln w="12700">
            <a:solidFill>
              <a:srgbClr val="E0E4EF"/>
            </a:solidFill>
            <a:prstDash val="solid"/>
          </a:ln>
        </p:spPr>
      </p:sp>
      <p:sp>
        <p:nvSpPr>
          <p:cNvPr id="10" name="Text 8"/>
          <p:cNvSpPr/>
          <p:nvPr/>
        </p:nvSpPr>
        <p:spPr>
          <a:xfrm>
            <a:off x="320040" y="3447288"/>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Face Value</a:t>
            </a:r>
            <a:endParaRPr lang="en-US" sz="1000" dirty="0"/>
          </a:p>
        </p:txBody>
      </p:sp>
      <p:sp>
        <p:nvSpPr>
          <p:cNvPr id="11" name="Text 9"/>
          <p:cNvSpPr/>
          <p:nvPr/>
        </p:nvSpPr>
        <p:spPr>
          <a:xfrm>
            <a:off x="2304288" y="3447288"/>
            <a:ext cx="6492240" cy="195682"/>
          </a:xfrm>
          <a:prstGeom prst="rect">
            <a:avLst/>
          </a:prstGeom>
          <a:noFill/>
          <a:ln/>
        </p:spPr>
        <p:txBody>
          <a:bodyPr wrap="square" lIns="0" tIns="0" rIns="0" bIns="0" rtlCol="0" anchor="ctr"/>
          <a:lstStyle/>
          <a:p>
            <a:pPr indent="0" marL="0">
              <a:buNone/>
            </a:pPr>
            <a:r>
              <a:rPr lang="en-US" sz="1050" dirty="0">
                <a:solidFill>
                  <a:srgbClr val="404040"/>
                </a:solidFill>
              </a:rPr>
              <a:t>Principal repaid at maturity (Rs 1,000 for standard GOI bond)</a:t>
            </a:r>
            <a:endParaRPr lang="en-US" sz="1050" dirty="0"/>
          </a:p>
        </p:txBody>
      </p:sp>
      <p:sp>
        <p:nvSpPr>
          <p:cNvPr id="12" name="Shape 10"/>
          <p:cNvSpPr/>
          <p:nvPr/>
        </p:nvSpPr>
        <p:spPr>
          <a:xfrm>
            <a:off x="274320" y="3716122"/>
            <a:ext cx="1920240" cy="232258"/>
          </a:xfrm>
          <a:prstGeom prst="rect">
            <a:avLst/>
          </a:prstGeom>
          <a:solidFill>
            <a:srgbClr val="007A87"/>
          </a:solidFill>
          <a:ln w="12700">
            <a:solidFill>
              <a:srgbClr val="007A87"/>
            </a:solidFill>
            <a:prstDash val="solid"/>
          </a:ln>
        </p:spPr>
      </p:sp>
      <p:sp>
        <p:nvSpPr>
          <p:cNvPr id="13" name="Shape 11"/>
          <p:cNvSpPr/>
          <p:nvPr/>
        </p:nvSpPr>
        <p:spPr>
          <a:xfrm>
            <a:off x="2240280" y="3716122"/>
            <a:ext cx="6629400" cy="232258"/>
          </a:xfrm>
          <a:prstGeom prst="rect">
            <a:avLst/>
          </a:prstGeom>
          <a:solidFill>
            <a:srgbClr val="FFFFFF"/>
          </a:solidFill>
          <a:ln w="12700">
            <a:solidFill>
              <a:srgbClr val="E0E4EF"/>
            </a:solidFill>
            <a:prstDash val="solid"/>
          </a:ln>
        </p:spPr>
      </p:sp>
      <p:sp>
        <p:nvSpPr>
          <p:cNvPr id="14" name="Text 12"/>
          <p:cNvSpPr/>
          <p:nvPr/>
        </p:nvSpPr>
        <p:spPr>
          <a:xfrm>
            <a:off x="320040" y="3734410"/>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Coupon</a:t>
            </a:r>
            <a:endParaRPr lang="en-US" sz="1000" dirty="0"/>
          </a:p>
        </p:txBody>
      </p:sp>
      <p:sp>
        <p:nvSpPr>
          <p:cNvPr id="15" name="Text 13"/>
          <p:cNvSpPr/>
          <p:nvPr/>
        </p:nvSpPr>
        <p:spPr>
          <a:xfrm>
            <a:off x="2304288" y="3734410"/>
            <a:ext cx="6492240" cy="195682"/>
          </a:xfrm>
          <a:prstGeom prst="rect">
            <a:avLst/>
          </a:prstGeom>
          <a:noFill/>
          <a:ln/>
        </p:spPr>
        <p:txBody>
          <a:bodyPr wrap="square" lIns="0" tIns="0" rIns="0" bIns="0" rtlCol="0" anchor="ctr"/>
          <a:lstStyle/>
          <a:p>
            <a:pPr indent="0" marL="0">
              <a:buNone/>
            </a:pPr>
            <a:r>
              <a:rPr lang="en-US" sz="1050" dirty="0">
                <a:solidFill>
                  <a:srgbClr val="404040"/>
                </a:solidFill>
              </a:rPr>
              <a:t>Annual interest = Face Value × Coupon Rate ÷ 2 (semi-annual)</a:t>
            </a:r>
            <a:endParaRPr lang="en-US" sz="1050" dirty="0"/>
          </a:p>
        </p:txBody>
      </p:sp>
      <p:sp>
        <p:nvSpPr>
          <p:cNvPr id="16" name="Shape 14"/>
          <p:cNvSpPr/>
          <p:nvPr/>
        </p:nvSpPr>
        <p:spPr>
          <a:xfrm>
            <a:off x="274320" y="4003243"/>
            <a:ext cx="1920240" cy="232258"/>
          </a:xfrm>
          <a:prstGeom prst="rect">
            <a:avLst/>
          </a:prstGeom>
          <a:solidFill>
            <a:srgbClr val="007A87"/>
          </a:solidFill>
          <a:ln w="12700">
            <a:solidFill>
              <a:srgbClr val="007A87"/>
            </a:solidFill>
            <a:prstDash val="solid"/>
          </a:ln>
        </p:spPr>
      </p:sp>
      <p:sp>
        <p:nvSpPr>
          <p:cNvPr id="17" name="Shape 15"/>
          <p:cNvSpPr/>
          <p:nvPr/>
        </p:nvSpPr>
        <p:spPr>
          <a:xfrm>
            <a:off x="2240280" y="4003243"/>
            <a:ext cx="6629400" cy="232258"/>
          </a:xfrm>
          <a:prstGeom prst="rect">
            <a:avLst/>
          </a:prstGeom>
          <a:solidFill>
            <a:srgbClr val="FFFFFF"/>
          </a:solidFill>
          <a:ln w="12700">
            <a:solidFill>
              <a:srgbClr val="E0E4EF"/>
            </a:solidFill>
            <a:prstDash val="solid"/>
          </a:ln>
        </p:spPr>
      </p:sp>
      <p:sp>
        <p:nvSpPr>
          <p:cNvPr id="18" name="Text 16"/>
          <p:cNvSpPr/>
          <p:nvPr/>
        </p:nvSpPr>
        <p:spPr>
          <a:xfrm>
            <a:off x="320040" y="4021531"/>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Clean Price</a:t>
            </a:r>
            <a:endParaRPr lang="en-US" sz="1000" dirty="0"/>
          </a:p>
        </p:txBody>
      </p:sp>
      <p:sp>
        <p:nvSpPr>
          <p:cNvPr id="19" name="Text 17"/>
          <p:cNvSpPr/>
          <p:nvPr/>
        </p:nvSpPr>
        <p:spPr>
          <a:xfrm>
            <a:off x="2304288" y="4021531"/>
            <a:ext cx="6492240" cy="195682"/>
          </a:xfrm>
          <a:prstGeom prst="rect">
            <a:avLst/>
          </a:prstGeom>
          <a:noFill/>
          <a:ln/>
        </p:spPr>
        <p:txBody>
          <a:bodyPr wrap="square" lIns="0" tIns="0" rIns="0" bIns="0" rtlCol="0" anchor="ctr"/>
          <a:lstStyle/>
          <a:p>
            <a:pPr indent="0" marL="0">
              <a:buNone/>
            </a:pPr>
            <a:r>
              <a:rPr lang="en-US" sz="1050" dirty="0">
                <a:solidFill>
                  <a:srgbClr val="404040"/>
                </a:solidFill>
              </a:rPr>
              <a:t>Market quote; excludes accrued interest; used for comparison</a:t>
            </a:r>
            <a:endParaRPr lang="en-US" sz="1050" dirty="0"/>
          </a:p>
        </p:txBody>
      </p:sp>
      <p:sp>
        <p:nvSpPr>
          <p:cNvPr id="20" name="Shape 18"/>
          <p:cNvSpPr/>
          <p:nvPr/>
        </p:nvSpPr>
        <p:spPr>
          <a:xfrm>
            <a:off x="274320" y="4290365"/>
            <a:ext cx="1920240" cy="232258"/>
          </a:xfrm>
          <a:prstGeom prst="rect">
            <a:avLst/>
          </a:prstGeom>
          <a:solidFill>
            <a:srgbClr val="007A87"/>
          </a:solidFill>
          <a:ln w="12700">
            <a:solidFill>
              <a:srgbClr val="007A87"/>
            </a:solidFill>
            <a:prstDash val="solid"/>
          </a:ln>
        </p:spPr>
      </p:sp>
      <p:sp>
        <p:nvSpPr>
          <p:cNvPr id="21" name="Shape 19"/>
          <p:cNvSpPr/>
          <p:nvPr/>
        </p:nvSpPr>
        <p:spPr>
          <a:xfrm>
            <a:off x="2240280" y="4290365"/>
            <a:ext cx="6629400" cy="232258"/>
          </a:xfrm>
          <a:prstGeom prst="rect">
            <a:avLst/>
          </a:prstGeom>
          <a:solidFill>
            <a:srgbClr val="FFFFFF"/>
          </a:solidFill>
          <a:ln w="12700">
            <a:solidFill>
              <a:srgbClr val="E0E4EF"/>
            </a:solidFill>
            <a:prstDash val="solid"/>
          </a:ln>
        </p:spPr>
      </p:sp>
      <p:sp>
        <p:nvSpPr>
          <p:cNvPr id="22" name="Text 20"/>
          <p:cNvSpPr/>
          <p:nvPr/>
        </p:nvSpPr>
        <p:spPr>
          <a:xfrm>
            <a:off x="320040" y="4308653"/>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Dirty Price</a:t>
            </a:r>
            <a:endParaRPr lang="en-US" sz="1000" dirty="0"/>
          </a:p>
        </p:txBody>
      </p:sp>
      <p:sp>
        <p:nvSpPr>
          <p:cNvPr id="23" name="Text 21"/>
          <p:cNvSpPr/>
          <p:nvPr/>
        </p:nvSpPr>
        <p:spPr>
          <a:xfrm>
            <a:off x="2304288" y="4308653"/>
            <a:ext cx="6492240" cy="195682"/>
          </a:xfrm>
          <a:prstGeom prst="rect">
            <a:avLst/>
          </a:prstGeom>
          <a:noFill/>
          <a:ln/>
        </p:spPr>
        <p:txBody>
          <a:bodyPr wrap="square" lIns="0" tIns="0" rIns="0" bIns="0" rtlCol="0" anchor="ctr"/>
          <a:lstStyle/>
          <a:p>
            <a:pPr indent="0" marL="0">
              <a:buNone/>
            </a:pPr>
            <a:r>
              <a:rPr lang="en-US" sz="1050" dirty="0">
                <a:solidFill>
                  <a:srgbClr val="404040"/>
                </a:solidFill>
              </a:rPr>
              <a:t>Clean Price + Accrued Interest; actual settlement consideration</a:t>
            </a:r>
            <a:endParaRPr lang="en-US" sz="1050" dirty="0"/>
          </a:p>
        </p:txBody>
      </p:sp>
      <p:sp>
        <p:nvSpPr>
          <p:cNvPr id="24" name="Shape 22"/>
          <p:cNvSpPr/>
          <p:nvPr/>
        </p:nvSpPr>
        <p:spPr>
          <a:xfrm>
            <a:off x="274320" y="4577486"/>
            <a:ext cx="1920240" cy="232258"/>
          </a:xfrm>
          <a:prstGeom prst="rect">
            <a:avLst/>
          </a:prstGeom>
          <a:solidFill>
            <a:srgbClr val="007A87"/>
          </a:solidFill>
          <a:ln w="12700">
            <a:solidFill>
              <a:srgbClr val="007A87"/>
            </a:solidFill>
            <a:prstDash val="solid"/>
          </a:ln>
        </p:spPr>
      </p:sp>
      <p:sp>
        <p:nvSpPr>
          <p:cNvPr id="25" name="Shape 23"/>
          <p:cNvSpPr/>
          <p:nvPr/>
        </p:nvSpPr>
        <p:spPr>
          <a:xfrm>
            <a:off x="2240280" y="4577486"/>
            <a:ext cx="6629400" cy="232258"/>
          </a:xfrm>
          <a:prstGeom prst="rect">
            <a:avLst/>
          </a:prstGeom>
          <a:solidFill>
            <a:srgbClr val="FFFFFF"/>
          </a:solidFill>
          <a:ln w="12700">
            <a:solidFill>
              <a:srgbClr val="E0E4EF"/>
            </a:solidFill>
            <a:prstDash val="solid"/>
          </a:ln>
        </p:spPr>
      </p:sp>
      <p:sp>
        <p:nvSpPr>
          <p:cNvPr id="26" name="Text 24"/>
          <p:cNvSpPr/>
          <p:nvPr/>
        </p:nvSpPr>
        <p:spPr>
          <a:xfrm>
            <a:off x="320040" y="4595774"/>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YTM</a:t>
            </a:r>
            <a:endParaRPr lang="en-US" sz="1000" dirty="0"/>
          </a:p>
        </p:txBody>
      </p:sp>
      <p:sp>
        <p:nvSpPr>
          <p:cNvPr id="27" name="Text 25"/>
          <p:cNvSpPr/>
          <p:nvPr/>
        </p:nvSpPr>
        <p:spPr>
          <a:xfrm>
            <a:off x="2304288" y="4595774"/>
            <a:ext cx="6492240" cy="195682"/>
          </a:xfrm>
          <a:prstGeom prst="rect">
            <a:avLst/>
          </a:prstGeom>
          <a:noFill/>
          <a:ln/>
        </p:spPr>
        <p:txBody>
          <a:bodyPr wrap="square" lIns="0" tIns="0" rIns="0" bIns="0" rtlCol="0" anchor="ctr"/>
          <a:lstStyle/>
          <a:p>
            <a:pPr indent="0" marL="0">
              <a:buNone/>
            </a:pPr>
            <a:r>
              <a:rPr lang="en-US" sz="1050" dirty="0">
                <a:solidFill>
                  <a:srgbClr val="404040"/>
                </a:solidFill>
              </a:rPr>
              <a:t>IRR of all cash flows: coupons + face value, given current price</a:t>
            </a:r>
            <a:endParaRPr lang="en-US" sz="1050" dirty="0"/>
          </a:p>
        </p:txBody>
      </p:sp>
      <p:sp>
        <p:nvSpPr>
          <p:cNvPr id="28" name="Shape 26"/>
          <p:cNvSpPr/>
          <p:nvPr/>
        </p:nvSpPr>
        <p:spPr>
          <a:xfrm>
            <a:off x="0" y="4864608"/>
            <a:ext cx="9144000" cy="278892"/>
          </a:xfrm>
          <a:prstGeom prst="rect">
            <a:avLst/>
          </a:prstGeom>
          <a:solidFill>
            <a:srgbClr val="101C4F"/>
          </a:solidFill>
          <a:ln w="12700">
            <a:solidFill>
              <a:srgbClr val="101C4F"/>
            </a:solidFill>
            <a:prstDash val="solid"/>
          </a:ln>
        </p:spPr>
      </p:sp>
      <p:sp>
        <p:nvSpPr>
          <p:cNvPr id="29" name="Text 27"/>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30" name="Text 28"/>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D4.FI.2 · Bond Structure &amp; Terminology</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Accrued Interest Formula</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Accrued Interest = Face Value × (Coupon Rate / 2) × (Days since last coupon / 182.5). India G-Secs: Actual/365 convention.</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Price-Yield Inverse</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When market yields rise, existing bond prices fall (to offer the same return). When yields fall, prices rise. Duration measures this sensitivity.</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Par, Premium, Discount</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At par: price = face value, yield = coupon. At discount: price &lt; face, yield &gt; coupon. At premium: price &gt; face, yield &lt; coupon.</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Settlement in India</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G-Secs settle T+1 via CCIL. Corporate bonds T+2 via NSCCL or bilaterally. Settlement uses dirty price.</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D4.FI.2 · Bond Structure &amp; Terminology</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G-Sec bond has a 6% coupon but is trading to yield 7% in the market. Is this bond trading at a premium or a discount? How would you explain the price-yield inverse relationship to a new operations analyst?</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Why do bond markets quote the CLEAN price even though investors actually PAY the dirty price? What operational problem would arise if markets quoted dirty prices instead?</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D4.FI.2 · Bond Structure &amp; Terminology</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difference between clean price and dirty price?</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Clean price is the quoted market price, excluding accrued interest. Dirty price = clean price + accrued interest. Dirty price is the actual settlement amount paid. Accrued interest compensates the seller for coupon earned during their holding period.</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How is YTM different from the coupon rate?</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Coupon rate is fixed at issuance and applied to face value. YTM is the actual return you earn if you buy at today's market price and hold to maturity — it incorporates the price paid, all coupon receipts, and face value repayment. They are equal only when the bond trades at par.</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D4.FI.3</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Who Issues Fixed Income Securities?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3 of 10  |  Fixed Income Part 1</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D4.FI.3 · Who Issues Fixed Income Securities?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Government of India issues G-Secs via RBI auctions — the primary market. These are the benchmark risk-free instruments</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State governments issue SDLs (State Development Loans) — typically 25-50 bps higher yield than central G-Secs</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PSUs (NHAI, NABARD, REC) issue bonds for infrastructure funding — backed by government but not guaranteed</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Private corporates issue NCDs; banks issue bonds and AT1 bonds; municipalities issue muni bonds</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D4.FI.3 · Who Issues Fixed Income Securities?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Priya is an analyst at an Indian mutual fund. She is reviewing four bonds for the portfolio: (1) 6.54% GOI 2032, (2) Maharashtra SDL 2029, (3) NHAI Bond 2028, (4) Tata Capital NCD 2027. Her manager asks her to rank them from lowest to highest credit risk.</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How should Priya rank these four bonds by credit risk? What yield premium would you expect each to carry over the others, and why?</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D4.FI.3 · Who Issues Fixed Income Securities?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The Indian Bond Issuer Hierarchy</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Credit risk increases as you move from sovereign to sub-sovereign to PSU to corporate. Each tier commands a higher yield spread. RBI manages GOI's debt. SEBI regulates corporate bond issuances. Understanding issuer type determines credit risk, settlement platform, and regulatory treatment.</a:t>
            </a:r>
            <a:endParaRPr lang="en-US" sz="1150" dirty="0"/>
          </a:p>
        </p:txBody>
      </p:sp>
      <p:sp>
        <p:nvSpPr>
          <p:cNvPr id="8" name="Shape 6"/>
          <p:cNvSpPr/>
          <p:nvPr/>
        </p:nvSpPr>
        <p:spPr>
          <a:xfrm>
            <a:off x="274320" y="3429000"/>
            <a:ext cx="1920240" cy="23225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232258"/>
          </a:xfrm>
          <a:prstGeom prst="rect">
            <a:avLst/>
          </a:prstGeom>
          <a:solidFill>
            <a:srgbClr val="FFFFFF"/>
          </a:solidFill>
          <a:ln w="12700">
            <a:solidFill>
              <a:srgbClr val="E0E4EF"/>
            </a:solidFill>
            <a:prstDash val="solid"/>
          </a:ln>
        </p:spPr>
      </p:sp>
      <p:sp>
        <p:nvSpPr>
          <p:cNvPr id="10" name="Text 8"/>
          <p:cNvSpPr/>
          <p:nvPr/>
        </p:nvSpPr>
        <p:spPr>
          <a:xfrm>
            <a:off x="320040" y="3447288"/>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GOI (Central Govt)</a:t>
            </a:r>
            <a:endParaRPr lang="en-US" sz="1000" dirty="0"/>
          </a:p>
        </p:txBody>
      </p:sp>
      <p:sp>
        <p:nvSpPr>
          <p:cNvPr id="11" name="Text 9"/>
          <p:cNvSpPr/>
          <p:nvPr/>
        </p:nvSpPr>
        <p:spPr>
          <a:xfrm>
            <a:off x="2304288" y="3447288"/>
            <a:ext cx="6492240" cy="195682"/>
          </a:xfrm>
          <a:prstGeom prst="rect">
            <a:avLst/>
          </a:prstGeom>
          <a:noFill/>
          <a:ln/>
        </p:spPr>
        <p:txBody>
          <a:bodyPr wrap="square" lIns="0" tIns="0" rIns="0" bIns="0" rtlCol="0" anchor="ctr"/>
          <a:lstStyle/>
          <a:p>
            <a:pPr indent="0" marL="0">
              <a:buNone/>
            </a:pPr>
            <a:r>
              <a:rPr lang="en-US" sz="1050" dirty="0">
                <a:solidFill>
                  <a:srgbClr val="404040"/>
                </a:solidFill>
              </a:rPr>
              <a:t>Zero credit risk; RBI conducts auctions; NDS-OM secondary market</a:t>
            </a:r>
            <a:endParaRPr lang="en-US" sz="1050" dirty="0"/>
          </a:p>
        </p:txBody>
      </p:sp>
      <p:sp>
        <p:nvSpPr>
          <p:cNvPr id="12" name="Shape 10"/>
          <p:cNvSpPr/>
          <p:nvPr/>
        </p:nvSpPr>
        <p:spPr>
          <a:xfrm>
            <a:off x="274320" y="3716122"/>
            <a:ext cx="1920240" cy="232258"/>
          </a:xfrm>
          <a:prstGeom prst="rect">
            <a:avLst/>
          </a:prstGeom>
          <a:solidFill>
            <a:srgbClr val="007A87"/>
          </a:solidFill>
          <a:ln w="12700">
            <a:solidFill>
              <a:srgbClr val="007A87"/>
            </a:solidFill>
            <a:prstDash val="solid"/>
          </a:ln>
        </p:spPr>
      </p:sp>
      <p:sp>
        <p:nvSpPr>
          <p:cNvPr id="13" name="Shape 11"/>
          <p:cNvSpPr/>
          <p:nvPr/>
        </p:nvSpPr>
        <p:spPr>
          <a:xfrm>
            <a:off x="2240280" y="3716122"/>
            <a:ext cx="6629400" cy="232258"/>
          </a:xfrm>
          <a:prstGeom prst="rect">
            <a:avLst/>
          </a:prstGeom>
          <a:solidFill>
            <a:srgbClr val="FFFFFF"/>
          </a:solidFill>
          <a:ln w="12700">
            <a:solidFill>
              <a:srgbClr val="E0E4EF"/>
            </a:solidFill>
            <a:prstDash val="solid"/>
          </a:ln>
        </p:spPr>
      </p:sp>
      <p:sp>
        <p:nvSpPr>
          <p:cNvPr id="14" name="Text 12"/>
          <p:cNvSpPr/>
          <p:nvPr/>
        </p:nvSpPr>
        <p:spPr>
          <a:xfrm>
            <a:off x="320040" y="3734410"/>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State Govts (SDLs)</a:t>
            </a:r>
            <a:endParaRPr lang="en-US" sz="1000" dirty="0"/>
          </a:p>
        </p:txBody>
      </p:sp>
      <p:sp>
        <p:nvSpPr>
          <p:cNvPr id="15" name="Text 13"/>
          <p:cNvSpPr/>
          <p:nvPr/>
        </p:nvSpPr>
        <p:spPr>
          <a:xfrm>
            <a:off x="2304288" y="3734410"/>
            <a:ext cx="6492240" cy="195682"/>
          </a:xfrm>
          <a:prstGeom prst="rect">
            <a:avLst/>
          </a:prstGeom>
          <a:noFill/>
          <a:ln/>
        </p:spPr>
        <p:txBody>
          <a:bodyPr wrap="square" lIns="0" tIns="0" rIns="0" bIns="0" rtlCol="0" anchor="ctr"/>
          <a:lstStyle/>
          <a:p>
            <a:pPr indent="0" marL="0">
              <a:buNone/>
            </a:pPr>
            <a:r>
              <a:rPr lang="en-US" sz="1050" dirty="0">
                <a:solidFill>
                  <a:srgbClr val="404040"/>
                </a:solidFill>
              </a:rPr>
              <a:t>+25-50 bps over G-Sec; state-specific credit; settled via CCIL</a:t>
            </a:r>
            <a:endParaRPr lang="en-US" sz="1050" dirty="0"/>
          </a:p>
        </p:txBody>
      </p:sp>
      <p:sp>
        <p:nvSpPr>
          <p:cNvPr id="16" name="Shape 14"/>
          <p:cNvSpPr/>
          <p:nvPr/>
        </p:nvSpPr>
        <p:spPr>
          <a:xfrm>
            <a:off x="274320" y="4003243"/>
            <a:ext cx="1920240" cy="232258"/>
          </a:xfrm>
          <a:prstGeom prst="rect">
            <a:avLst/>
          </a:prstGeom>
          <a:solidFill>
            <a:srgbClr val="007A87"/>
          </a:solidFill>
          <a:ln w="12700">
            <a:solidFill>
              <a:srgbClr val="007A87"/>
            </a:solidFill>
            <a:prstDash val="solid"/>
          </a:ln>
        </p:spPr>
      </p:sp>
      <p:sp>
        <p:nvSpPr>
          <p:cNvPr id="17" name="Shape 15"/>
          <p:cNvSpPr/>
          <p:nvPr/>
        </p:nvSpPr>
        <p:spPr>
          <a:xfrm>
            <a:off x="2240280" y="4003243"/>
            <a:ext cx="6629400" cy="232258"/>
          </a:xfrm>
          <a:prstGeom prst="rect">
            <a:avLst/>
          </a:prstGeom>
          <a:solidFill>
            <a:srgbClr val="FFFFFF"/>
          </a:solidFill>
          <a:ln w="12700">
            <a:solidFill>
              <a:srgbClr val="E0E4EF"/>
            </a:solidFill>
            <a:prstDash val="solid"/>
          </a:ln>
        </p:spPr>
      </p:sp>
      <p:sp>
        <p:nvSpPr>
          <p:cNvPr id="18" name="Text 16"/>
          <p:cNvSpPr/>
          <p:nvPr/>
        </p:nvSpPr>
        <p:spPr>
          <a:xfrm>
            <a:off x="320040" y="4021531"/>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PSUs (NHAI, REC)</a:t>
            </a:r>
            <a:endParaRPr lang="en-US" sz="1000" dirty="0"/>
          </a:p>
        </p:txBody>
      </p:sp>
      <p:sp>
        <p:nvSpPr>
          <p:cNvPr id="19" name="Text 17"/>
          <p:cNvSpPr/>
          <p:nvPr/>
        </p:nvSpPr>
        <p:spPr>
          <a:xfrm>
            <a:off x="2304288" y="4021531"/>
            <a:ext cx="6492240" cy="195682"/>
          </a:xfrm>
          <a:prstGeom prst="rect">
            <a:avLst/>
          </a:prstGeom>
          <a:noFill/>
          <a:ln/>
        </p:spPr>
        <p:txBody>
          <a:bodyPr wrap="square" lIns="0" tIns="0" rIns="0" bIns="0" rtlCol="0" anchor="ctr"/>
          <a:lstStyle/>
          <a:p>
            <a:pPr indent="0" marL="0">
              <a:buNone/>
            </a:pPr>
            <a:r>
              <a:rPr lang="en-US" sz="1050" dirty="0">
                <a:solidFill>
                  <a:srgbClr val="404040"/>
                </a:solidFill>
              </a:rPr>
              <a:t>+50-100 bps over G-Sec; implicitly backed; may carry explicit guarantee</a:t>
            </a:r>
            <a:endParaRPr lang="en-US" sz="1050" dirty="0"/>
          </a:p>
        </p:txBody>
      </p:sp>
      <p:sp>
        <p:nvSpPr>
          <p:cNvPr id="20" name="Shape 18"/>
          <p:cNvSpPr/>
          <p:nvPr/>
        </p:nvSpPr>
        <p:spPr>
          <a:xfrm>
            <a:off x="274320" y="4290365"/>
            <a:ext cx="1920240" cy="232258"/>
          </a:xfrm>
          <a:prstGeom prst="rect">
            <a:avLst/>
          </a:prstGeom>
          <a:solidFill>
            <a:srgbClr val="007A87"/>
          </a:solidFill>
          <a:ln w="12700">
            <a:solidFill>
              <a:srgbClr val="007A87"/>
            </a:solidFill>
            <a:prstDash val="solid"/>
          </a:ln>
        </p:spPr>
      </p:sp>
      <p:sp>
        <p:nvSpPr>
          <p:cNvPr id="21" name="Shape 19"/>
          <p:cNvSpPr/>
          <p:nvPr/>
        </p:nvSpPr>
        <p:spPr>
          <a:xfrm>
            <a:off x="2240280" y="4290365"/>
            <a:ext cx="6629400" cy="232258"/>
          </a:xfrm>
          <a:prstGeom prst="rect">
            <a:avLst/>
          </a:prstGeom>
          <a:solidFill>
            <a:srgbClr val="FFFFFF"/>
          </a:solidFill>
          <a:ln w="12700">
            <a:solidFill>
              <a:srgbClr val="E0E4EF"/>
            </a:solidFill>
            <a:prstDash val="solid"/>
          </a:ln>
        </p:spPr>
      </p:sp>
      <p:sp>
        <p:nvSpPr>
          <p:cNvPr id="22" name="Text 20"/>
          <p:cNvSpPr/>
          <p:nvPr/>
        </p:nvSpPr>
        <p:spPr>
          <a:xfrm>
            <a:off x="320040" y="4308653"/>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Corporates (NCDs)</a:t>
            </a:r>
            <a:endParaRPr lang="en-US" sz="1000" dirty="0"/>
          </a:p>
        </p:txBody>
      </p:sp>
      <p:sp>
        <p:nvSpPr>
          <p:cNvPr id="23" name="Text 21"/>
          <p:cNvSpPr/>
          <p:nvPr/>
        </p:nvSpPr>
        <p:spPr>
          <a:xfrm>
            <a:off x="2304288" y="4308653"/>
            <a:ext cx="6492240" cy="195682"/>
          </a:xfrm>
          <a:prstGeom prst="rect">
            <a:avLst/>
          </a:prstGeom>
          <a:noFill/>
          <a:ln/>
        </p:spPr>
        <p:txBody>
          <a:bodyPr wrap="square" lIns="0" tIns="0" rIns="0" bIns="0" rtlCol="0" anchor="ctr"/>
          <a:lstStyle/>
          <a:p>
            <a:pPr indent="0" marL="0">
              <a:buNone/>
            </a:pPr>
            <a:r>
              <a:rPr lang="en-US" sz="1050" dirty="0">
                <a:solidFill>
                  <a:srgbClr val="404040"/>
                </a:solidFill>
              </a:rPr>
              <a:t>+100-400+ bps; full credit risk; SEBI-regulated; rated by CRISIL/ICRA</a:t>
            </a:r>
            <a:endParaRPr lang="en-US" sz="1050" dirty="0"/>
          </a:p>
        </p:txBody>
      </p:sp>
      <p:sp>
        <p:nvSpPr>
          <p:cNvPr id="24" name="Shape 22"/>
          <p:cNvSpPr/>
          <p:nvPr/>
        </p:nvSpPr>
        <p:spPr>
          <a:xfrm>
            <a:off x="274320" y="4577486"/>
            <a:ext cx="1920240" cy="232258"/>
          </a:xfrm>
          <a:prstGeom prst="rect">
            <a:avLst/>
          </a:prstGeom>
          <a:solidFill>
            <a:srgbClr val="007A87"/>
          </a:solidFill>
          <a:ln w="12700">
            <a:solidFill>
              <a:srgbClr val="007A87"/>
            </a:solidFill>
            <a:prstDash val="solid"/>
          </a:ln>
        </p:spPr>
      </p:sp>
      <p:sp>
        <p:nvSpPr>
          <p:cNvPr id="25" name="Shape 23"/>
          <p:cNvSpPr/>
          <p:nvPr/>
        </p:nvSpPr>
        <p:spPr>
          <a:xfrm>
            <a:off x="2240280" y="4577486"/>
            <a:ext cx="6629400" cy="232258"/>
          </a:xfrm>
          <a:prstGeom prst="rect">
            <a:avLst/>
          </a:prstGeom>
          <a:solidFill>
            <a:srgbClr val="FFFFFF"/>
          </a:solidFill>
          <a:ln w="12700">
            <a:solidFill>
              <a:srgbClr val="E0E4EF"/>
            </a:solidFill>
            <a:prstDash val="solid"/>
          </a:ln>
        </p:spPr>
      </p:sp>
      <p:sp>
        <p:nvSpPr>
          <p:cNvPr id="26" name="Text 24"/>
          <p:cNvSpPr/>
          <p:nvPr/>
        </p:nvSpPr>
        <p:spPr>
          <a:xfrm>
            <a:off x="320040" y="4595774"/>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AT1 Bonds (Banks)</a:t>
            </a:r>
            <a:endParaRPr lang="en-US" sz="1000" dirty="0"/>
          </a:p>
        </p:txBody>
      </p:sp>
      <p:sp>
        <p:nvSpPr>
          <p:cNvPr id="27" name="Text 25"/>
          <p:cNvSpPr/>
          <p:nvPr/>
        </p:nvSpPr>
        <p:spPr>
          <a:xfrm>
            <a:off x="2304288" y="4595774"/>
            <a:ext cx="6492240" cy="195682"/>
          </a:xfrm>
          <a:prstGeom prst="rect">
            <a:avLst/>
          </a:prstGeom>
          <a:noFill/>
          <a:ln/>
        </p:spPr>
        <p:txBody>
          <a:bodyPr wrap="square" lIns="0" tIns="0" rIns="0" bIns="0" rtlCol="0" anchor="ctr"/>
          <a:lstStyle/>
          <a:p>
            <a:pPr indent="0" marL="0">
              <a:buNone/>
            </a:pPr>
            <a:r>
              <a:rPr lang="en-US" sz="1050" dirty="0">
                <a:solidFill>
                  <a:srgbClr val="404040"/>
                </a:solidFill>
              </a:rPr>
              <a:t>Perpetual; loss-absorption clause; highest yield premium in bank tier</a:t>
            </a:r>
            <a:endParaRPr lang="en-US" sz="1050" dirty="0"/>
          </a:p>
        </p:txBody>
      </p:sp>
      <p:sp>
        <p:nvSpPr>
          <p:cNvPr id="28" name="Shape 26"/>
          <p:cNvSpPr/>
          <p:nvPr/>
        </p:nvSpPr>
        <p:spPr>
          <a:xfrm>
            <a:off x="0" y="4864608"/>
            <a:ext cx="9144000" cy="278892"/>
          </a:xfrm>
          <a:prstGeom prst="rect">
            <a:avLst/>
          </a:prstGeom>
          <a:solidFill>
            <a:srgbClr val="101C4F"/>
          </a:solidFill>
          <a:ln w="12700">
            <a:solidFill>
              <a:srgbClr val="101C4F"/>
            </a:solidFill>
            <a:prstDash val="solid"/>
          </a:ln>
        </p:spPr>
      </p:sp>
      <p:sp>
        <p:nvSpPr>
          <p:cNvPr id="29" name="Text 27"/>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30" name="Text 28"/>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D4.FI.3 · Who Issues Fixed Income Securities?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Municipal Bonds</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India's muni bond market is nascent. Pune, Ahmedabad, Hyderabad have issued bonds. SEBI has streamlined the framework. Yields are higher than SDLs but market is illiquid.</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PSU Guarantee Distinction</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Some PSU bonds have explicit GOI guarantee (NHAI, REC) — these yield near G-Sec. Others are implicitly backed but not guaranteed — wider spread.</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Masala Bonds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Rupee-denominated bonds issued overseas by Indian entities (HDFC, NHAI). Currency risk is borne by the foreign investor — a key innovation for Indian issuers.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AT1 Bond Risk</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AT1 bonds can be written down to zero if the bank's CET1 capital falls below the regulatory trigger. Yes Bank's AT1 bonds were written to zero in 2020 — a landmark event.</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D4.FI.3 · Who Issues Fixed Income Securities?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After the Yes Bank AT1 bond write-off in 2020, retail investors who had bought these bonds lost their entire investment. Why did this happen? Were AT1 bonds appropriate for retail investors?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NHAI (National Highways Authority of India) issues bonds at slightly higher rates than GOI G-Secs. Are NHAI bonds risk-free? What does 'implicitly backed by the government' mean for credit analysis?</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D4.FI.3 · Who Issues Fixed Income Securities?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difference between a G-Sec and an SDL?</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Both are government bonds. G-Secs are issued by the Central Government (GOI) via RBI — zero credit risk, most liquid. SDLs are issued by state governments to fund state deficits — slightly higher credit risk and yield 25-50 bps more than G-Secs.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an AT1 bond and why is it risky?</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AT1 (Additional Tier 1) bonds are perpetual bonds issued by banks as regulatory capital. They carry a loss-absorption clause — if the bank's CET1 capital falls below the trigger, the principal can be written down or converted to equity. Yes Bank's AT1 bonds were written to zero in 2020, making them one of India's most high-profile fixed income losses.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D4.FI.4</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Advantages of Fixed Income Securities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4 of 10  |  Fixed Income Part 1</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D4.FI.4 · Advantages of Fixed Income Securities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Predictable income: coupons are contractual — unlike equity dividends, they cannot be skipped without triggering default</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Capital preservation: G-Secs have zero credit risk; corporate bonds significantly safer than equity in liquidation</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Portfolio diversification: bonds and equities are negatively correlated during market stress (flight to safety)</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ALM (Asset-Liability Management): institutional investors match bond cash flows to future obligations</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D4.FI.4 · Advantages of Fixed Income Securities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LIC (Life Insurance Corporation of India) manages Rs 43 lakh crore in assets — India's largest institutional investor. Over 60% of its portfolio is in government bonds. Critics ask: 'Why not invest more in equities for higher returns?' LIC's investment committee must defend the bond allocation.</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What is LIC's primary reason for holding 60%+ in bonds? What would happen to LIC's solvency if it held 100% equities and equity markets crashed 40%?</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D4.FI.4 · Advantages of Fixed Income Securities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Asset-Liability Management (ALM) — The Core Case for Bonds</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ALM is the primary driver of institutional bond demand. Insurance companies and pension funds have future obligations (claim payments, pension payouts) that are predictable in amount and timing. Bonds whose cash flows match these obligations eliminate reinvestment risk and ensure solvency regardless of market conditions.</a:t>
            </a:r>
            <a:endParaRPr lang="en-US" sz="1150" dirty="0"/>
          </a:p>
        </p:txBody>
      </p:sp>
      <p:sp>
        <p:nvSpPr>
          <p:cNvPr id="8" name="Shape 6"/>
          <p:cNvSpPr/>
          <p:nvPr/>
        </p:nvSpPr>
        <p:spPr>
          <a:xfrm>
            <a:off x="274320" y="3429000"/>
            <a:ext cx="1920240" cy="23225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232258"/>
          </a:xfrm>
          <a:prstGeom prst="rect">
            <a:avLst/>
          </a:prstGeom>
          <a:solidFill>
            <a:srgbClr val="FFFFFF"/>
          </a:solidFill>
          <a:ln w="12700">
            <a:solidFill>
              <a:srgbClr val="E0E4EF"/>
            </a:solidFill>
            <a:prstDash val="solid"/>
          </a:ln>
        </p:spPr>
      </p:sp>
      <p:sp>
        <p:nvSpPr>
          <p:cNvPr id="10" name="Text 8"/>
          <p:cNvSpPr/>
          <p:nvPr/>
        </p:nvSpPr>
        <p:spPr>
          <a:xfrm>
            <a:off x="320040" y="3447288"/>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Predictable Income</a:t>
            </a:r>
            <a:endParaRPr lang="en-US" sz="1000" dirty="0"/>
          </a:p>
        </p:txBody>
      </p:sp>
      <p:sp>
        <p:nvSpPr>
          <p:cNvPr id="11" name="Text 9"/>
          <p:cNvSpPr/>
          <p:nvPr/>
        </p:nvSpPr>
        <p:spPr>
          <a:xfrm>
            <a:off x="2304288" y="3447288"/>
            <a:ext cx="6492240" cy="195682"/>
          </a:xfrm>
          <a:prstGeom prst="rect">
            <a:avLst/>
          </a:prstGeom>
          <a:noFill/>
          <a:ln/>
        </p:spPr>
        <p:txBody>
          <a:bodyPr wrap="square" lIns="0" tIns="0" rIns="0" bIns="0" rtlCol="0" anchor="ctr"/>
          <a:lstStyle/>
          <a:p>
            <a:pPr indent="0" marL="0">
              <a:buNone/>
            </a:pPr>
            <a:r>
              <a:rPr lang="en-US" sz="1050" dirty="0">
                <a:solidFill>
                  <a:srgbClr val="404040"/>
                </a:solidFill>
              </a:rPr>
              <a:t>Fixed coupon contractually obligated; unlike equity dividends</a:t>
            </a:r>
            <a:endParaRPr lang="en-US" sz="1050" dirty="0"/>
          </a:p>
        </p:txBody>
      </p:sp>
      <p:sp>
        <p:nvSpPr>
          <p:cNvPr id="12" name="Shape 10"/>
          <p:cNvSpPr/>
          <p:nvPr/>
        </p:nvSpPr>
        <p:spPr>
          <a:xfrm>
            <a:off x="274320" y="3716122"/>
            <a:ext cx="1920240" cy="232258"/>
          </a:xfrm>
          <a:prstGeom prst="rect">
            <a:avLst/>
          </a:prstGeom>
          <a:solidFill>
            <a:srgbClr val="007A87"/>
          </a:solidFill>
          <a:ln w="12700">
            <a:solidFill>
              <a:srgbClr val="007A87"/>
            </a:solidFill>
            <a:prstDash val="solid"/>
          </a:ln>
        </p:spPr>
      </p:sp>
      <p:sp>
        <p:nvSpPr>
          <p:cNvPr id="13" name="Shape 11"/>
          <p:cNvSpPr/>
          <p:nvPr/>
        </p:nvSpPr>
        <p:spPr>
          <a:xfrm>
            <a:off x="2240280" y="3716122"/>
            <a:ext cx="6629400" cy="232258"/>
          </a:xfrm>
          <a:prstGeom prst="rect">
            <a:avLst/>
          </a:prstGeom>
          <a:solidFill>
            <a:srgbClr val="FFFFFF"/>
          </a:solidFill>
          <a:ln w="12700">
            <a:solidFill>
              <a:srgbClr val="E0E4EF"/>
            </a:solidFill>
            <a:prstDash val="solid"/>
          </a:ln>
        </p:spPr>
      </p:sp>
      <p:sp>
        <p:nvSpPr>
          <p:cNvPr id="14" name="Text 12"/>
          <p:cNvSpPr/>
          <p:nvPr/>
        </p:nvSpPr>
        <p:spPr>
          <a:xfrm>
            <a:off x="320040" y="3734410"/>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Capital Preservation</a:t>
            </a:r>
            <a:endParaRPr lang="en-US" sz="1000" dirty="0"/>
          </a:p>
        </p:txBody>
      </p:sp>
      <p:sp>
        <p:nvSpPr>
          <p:cNvPr id="15" name="Text 13"/>
          <p:cNvSpPr/>
          <p:nvPr/>
        </p:nvSpPr>
        <p:spPr>
          <a:xfrm>
            <a:off x="2304288" y="3734410"/>
            <a:ext cx="6492240" cy="195682"/>
          </a:xfrm>
          <a:prstGeom prst="rect">
            <a:avLst/>
          </a:prstGeom>
          <a:noFill/>
          <a:ln/>
        </p:spPr>
        <p:txBody>
          <a:bodyPr wrap="square" lIns="0" tIns="0" rIns="0" bIns="0" rtlCol="0" anchor="ctr"/>
          <a:lstStyle/>
          <a:p>
            <a:pPr indent="0" marL="0">
              <a:buNone/>
            </a:pPr>
            <a:r>
              <a:rPr lang="en-US" sz="1050" dirty="0">
                <a:solidFill>
                  <a:srgbClr val="404040"/>
                </a:solidFill>
              </a:rPr>
              <a:t>Par repayment guaranteed by issuer; credit risk managed by ratings</a:t>
            </a:r>
            <a:endParaRPr lang="en-US" sz="1050" dirty="0"/>
          </a:p>
        </p:txBody>
      </p:sp>
      <p:sp>
        <p:nvSpPr>
          <p:cNvPr id="16" name="Shape 14"/>
          <p:cNvSpPr/>
          <p:nvPr/>
        </p:nvSpPr>
        <p:spPr>
          <a:xfrm>
            <a:off x="274320" y="4003243"/>
            <a:ext cx="1920240" cy="232258"/>
          </a:xfrm>
          <a:prstGeom prst="rect">
            <a:avLst/>
          </a:prstGeom>
          <a:solidFill>
            <a:srgbClr val="007A87"/>
          </a:solidFill>
          <a:ln w="12700">
            <a:solidFill>
              <a:srgbClr val="007A87"/>
            </a:solidFill>
            <a:prstDash val="solid"/>
          </a:ln>
        </p:spPr>
      </p:sp>
      <p:sp>
        <p:nvSpPr>
          <p:cNvPr id="17" name="Shape 15"/>
          <p:cNvSpPr/>
          <p:nvPr/>
        </p:nvSpPr>
        <p:spPr>
          <a:xfrm>
            <a:off x="2240280" y="4003243"/>
            <a:ext cx="6629400" cy="232258"/>
          </a:xfrm>
          <a:prstGeom prst="rect">
            <a:avLst/>
          </a:prstGeom>
          <a:solidFill>
            <a:srgbClr val="FFFFFF"/>
          </a:solidFill>
          <a:ln w="12700">
            <a:solidFill>
              <a:srgbClr val="E0E4EF"/>
            </a:solidFill>
            <a:prstDash val="solid"/>
          </a:ln>
        </p:spPr>
      </p:sp>
      <p:sp>
        <p:nvSpPr>
          <p:cNvPr id="18" name="Text 16"/>
          <p:cNvSpPr/>
          <p:nvPr/>
        </p:nvSpPr>
        <p:spPr>
          <a:xfrm>
            <a:off x="320040" y="4021531"/>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Negative Correlation</a:t>
            </a:r>
            <a:endParaRPr lang="en-US" sz="1000" dirty="0"/>
          </a:p>
        </p:txBody>
      </p:sp>
      <p:sp>
        <p:nvSpPr>
          <p:cNvPr id="19" name="Text 17"/>
          <p:cNvSpPr/>
          <p:nvPr/>
        </p:nvSpPr>
        <p:spPr>
          <a:xfrm>
            <a:off x="2304288" y="4021531"/>
            <a:ext cx="6492240" cy="195682"/>
          </a:xfrm>
          <a:prstGeom prst="rect">
            <a:avLst/>
          </a:prstGeom>
          <a:noFill/>
          <a:ln/>
        </p:spPr>
        <p:txBody>
          <a:bodyPr wrap="square" lIns="0" tIns="0" rIns="0" bIns="0" rtlCol="0" anchor="ctr"/>
          <a:lstStyle/>
          <a:p>
            <a:pPr indent="0" marL="0">
              <a:buNone/>
            </a:pPr>
            <a:r>
              <a:rPr lang="en-US" sz="1050" dirty="0">
                <a:solidFill>
                  <a:srgbClr val="404040"/>
                </a:solidFill>
              </a:rPr>
              <a:t>G-Sec prices rise during equity crashes (flight to safety demand)</a:t>
            </a:r>
            <a:endParaRPr lang="en-US" sz="1050" dirty="0"/>
          </a:p>
        </p:txBody>
      </p:sp>
      <p:sp>
        <p:nvSpPr>
          <p:cNvPr id="20" name="Shape 18"/>
          <p:cNvSpPr/>
          <p:nvPr/>
        </p:nvSpPr>
        <p:spPr>
          <a:xfrm>
            <a:off x="274320" y="4290365"/>
            <a:ext cx="1920240" cy="232258"/>
          </a:xfrm>
          <a:prstGeom prst="rect">
            <a:avLst/>
          </a:prstGeom>
          <a:solidFill>
            <a:srgbClr val="007A87"/>
          </a:solidFill>
          <a:ln w="12700">
            <a:solidFill>
              <a:srgbClr val="007A87"/>
            </a:solidFill>
            <a:prstDash val="solid"/>
          </a:ln>
        </p:spPr>
      </p:sp>
      <p:sp>
        <p:nvSpPr>
          <p:cNvPr id="21" name="Shape 19"/>
          <p:cNvSpPr/>
          <p:nvPr/>
        </p:nvSpPr>
        <p:spPr>
          <a:xfrm>
            <a:off x="2240280" y="4290365"/>
            <a:ext cx="6629400" cy="232258"/>
          </a:xfrm>
          <a:prstGeom prst="rect">
            <a:avLst/>
          </a:prstGeom>
          <a:solidFill>
            <a:srgbClr val="FFFFFF"/>
          </a:solidFill>
          <a:ln w="12700">
            <a:solidFill>
              <a:srgbClr val="E0E4EF"/>
            </a:solidFill>
            <a:prstDash val="solid"/>
          </a:ln>
        </p:spPr>
      </p:sp>
      <p:sp>
        <p:nvSpPr>
          <p:cNvPr id="22" name="Text 20"/>
          <p:cNvSpPr/>
          <p:nvPr/>
        </p:nvSpPr>
        <p:spPr>
          <a:xfrm>
            <a:off x="320040" y="4308653"/>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ALM / Liability Match</a:t>
            </a:r>
            <a:endParaRPr lang="en-US" sz="1000" dirty="0"/>
          </a:p>
        </p:txBody>
      </p:sp>
      <p:sp>
        <p:nvSpPr>
          <p:cNvPr id="23" name="Text 21"/>
          <p:cNvSpPr/>
          <p:nvPr/>
        </p:nvSpPr>
        <p:spPr>
          <a:xfrm>
            <a:off x="2304288" y="4308653"/>
            <a:ext cx="6492240" cy="195682"/>
          </a:xfrm>
          <a:prstGeom prst="rect">
            <a:avLst/>
          </a:prstGeom>
          <a:noFill/>
          <a:ln/>
        </p:spPr>
        <p:txBody>
          <a:bodyPr wrap="square" lIns="0" tIns="0" rIns="0" bIns="0" rtlCol="0" anchor="ctr"/>
          <a:lstStyle/>
          <a:p>
            <a:pPr indent="0" marL="0">
              <a:buNone/>
            </a:pPr>
            <a:r>
              <a:rPr lang="en-US" sz="1050" dirty="0">
                <a:solidFill>
                  <a:srgbClr val="404040"/>
                </a:solidFill>
              </a:rPr>
              <a:t>Duration-matched bonds ensure future cash inflows match outflows</a:t>
            </a:r>
            <a:endParaRPr lang="en-US" sz="1050" dirty="0"/>
          </a:p>
        </p:txBody>
      </p:sp>
      <p:sp>
        <p:nvSpPr>
          <p:cNvPr id="24" name="Shape 22"/>
          <p:cNvSpPr/>
          <p:nvPr/>
        </p:nvSpPr>
        <p:spPr>
          <a:xfrm>
            <a:off x="274320" y="4577486"/>
            <a:ext cx="1920240" cy="232258"/>
          </a:xfrm>
          <a:prstGeom prst="rect">
            <a:avLst/>
          </a:prstGeom>
          <a:solidFill>
            <a:srgbClr val="007A87"/>
          </a:solidFill>
          <a:ln w="12700">
            <a:solidFill>
              <a:srgbClr val="007A87"/>
            </a:solidFill>
            <a:prstDash val="solid"/>
          </a:ln>
        </p:spPr>
      </p:sp>
      <p:sp>
        <p:nvSpPr>
          <p:cNvPr id="25" name="Shape 23"/>
          <p:cNvSpPr/>
          <p:nvPr/>
        </p:nvSpPr>
        <p:spPr>
          <a:xfrm>
            <a:off x="2240280" y="4577486"/>
            <a:ext cx="6629400" cy="232258"/>
          </a:xfrm>
          <a:prstGeom prst="rect">
            <a:avLst/>
          </a:prstGeom>
          <a:solidFill>
            <a:srgbClr val="FFFFFF"/>
          </a:solidFill>
          <a:ln w="12700">
            <a:solidFill>
              <a:srgbClr val="E0E4EF"/>
            </a:solidFill>
            <a:prstDash val="solid"/>
          </a:ln>
        </p:spPr>
      </p:sp>
      <p:sp>
        <p:nvSpPr>
          <p:cNvPr id="26" name="Text 24"/>
          <p:cNvSpPr/>
          <p:nvPr/>
        </p:nvSpPr>
        <p:spPr>
          <a:xfrm>
            <a:off x="320040" y="4595774"/>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Regulatory Capital</a:t>
            </a:r>
            <a:endParaRPr lang="en-US" sz="1000" dirty="0"/>
          </a:p>
        </p:txBody>
      </p:sp>
      <p:sp>
        <p:nvSpPr>
          <p:cNvPr id="27" name="Text 25"/>
          <p:cNvSpPr/>
          <p:nvPr/>
        </p:nvSpPr>
        <p:spPr>
          <a:xfrm>
            <a:off x="2304288" y="4595774"/>
            <a:ext cx="6492240" cy="195682"/>
          </a:xfrm>
          <a:prstGeom prst="rect">
            <a:avLst/>
          </a:prstGeom>
          <a:noFill/>
          <a:ln/>
        </p:spPr>
        <p:txBody>
          <a:bodyPr wrap="square" lIns="0" tIns="0" rIns="0" bIns="0" rtlCol="0" anchor="ctr"/>
          <a:lstStyle/>
          <a:p>
            <a:pPr indent="0" marL="0">
              <a:buNone/>
            </a:pPr>
            <a:r>
              <a:rPr lang="en-US" sz="1050" dirty="0">
                <a:solidFill>
                  <a:srgbClr val="404040"/>
                </a:solidFill>
              </a:rPr>
              <a:t>Bonds qualify for SLR (Statutory Liquidity Ratio) at Indian banks</a:t>
            </a:r>
            <a:endParaRPr lang="en-US" sz="1050" dirty="0"/>
          </a:p>
        </p:txBody>
      </p:sp>
      <p:sp>
        <p:nvSpPr>
          <p:cNvPr id="28" name="Shape 26"/>
          <p:cNvSpPr/>
          <p:nvPr/>
        </p:nvSpPr>
        <p:spPr>
          <a:xfrm>
            <a:off x="0" y="4864608"/>
            <a:ext cx="9144000" cy="278892"/>
          </a:xfrm>
          <a:prstGeom prst="rect">
            <a:avLst/>
          </a:prstGeom>
          <a:solidFill>
            <a:srgbClr val="101C4F"/>
          </a:solidFill>
          <a:ln w="12700">
            <a:solidFill>
              <a:srgbClr val="101C4F"/>
            </a:solidFill>
            <a:prstDash val="solid"/>
          </a:ln>
        </p:spPr>
      </p:sp>
      <p:sp>
        <p:nvSpPr>
          <p:cNvPr id="29" name="Text 27"/>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30" name="Text 28"/>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D4.FI.4 · Advantages of Fixed Income Securities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SLR Requirement</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Indian banks must hold 18% of NDTL (Net Demand &amp; Time Liabilities) in G-Secs, SDLs, or other approved securities. This creates mandatory institutional demand for G-Secs.</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EPFO Mandate</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EPFO (Employee Provident Fund Organisation) mandates 85%+ in fixed income instruments — mostly G-Secs and PSU bonds — to protect employees' retirement savings.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2020 COVID Evidence</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During COVID equity crash (Nifty -38%), G-Sec prices rose as institutions bought bonds. Total return on 10-yr G-Sec: +8.5% in 2020. Classic negative correlation in action.</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Duration &amp; ALM</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A pension fund with payouts in 15 years buys 15-year bonds — duration-matched. Interest rate changes affect both sides equally, immunising the portfolio.</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D4.FI.4 · Advantages of Fixed Income Securities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Why do insurance companies prefer long-duration bonds for their 'with-profit' policyholders? What happens to an insurance company's solvency if it holds only equity in its investment portfolio?</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India's Statutory Liquidity Ratio (SLR) requires banks to hold G-Secs. Is this good public policy, or does it crowd out private sector lending? What are the trade-offs?</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D4.FI.4 · Advantages of Fixed Income Securities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Asset-Liability Management (ALM) and why do insurance companies use bonds for it?</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ALM is the practice of matching the timing and amount of asset cash flows to liability cash flows. Insurance companies use bonds because bond cash flows (coupons + principal) are predictable and can be matched to expected future claim payments. If assets and liabilities are duration-matched, interest rate changes affect both sides equally — protecting solvency.</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Why do Government Securities prices rise when equity markets crash?</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During market stress, investors sell risky assets (equities) and buy safe assets (G-Secs) — 'flight to safety.' Higher demand for G-Secs pushes prices up and yields down. This negative correlation between bonds and equities is why a balanced portfolio benefits from bond allocation.</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D4.FI.5</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Risks of Fixed Income Securities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5 of 10  |  Fixed Income Part 1</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D4.FI.5 · Risks of Fixed Income Securities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Interest rate risk: when market rates rise, existing bond prices fall. Long-duration bonds are most sensitive</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Credit risk: the issuer may default on coupon or principal. Increases as you move from G-Sec to corporate bonds</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Inflation risk: if inflation &gt; coupon rate, real return is negative. Fixed income is vulnerable to high inflation</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Liquidity risk: many corporate bonds cannot be sold at fair prices in the secondary market</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D4.FI.5 · Risks of Fixed Income Securities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In 2022, RBI hiked the repo rate from 4% to 6.5% to control inflation. A bond fund manager who had a large allocation to 10-year G-Secs saw her fund's NAV fall significantly. Her clients are angry — they thought government bonds were 'safe'. She needs to explain what happened.</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What type of risk did the bond fund manager experience? Even though G-Secs have zero credit risk, why did the fund's NAV fall? How does duration amplify this risk?</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D4.FI.5 · Risks of Fixed Income Securities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The Four Key Fixed Income Risks</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'Safe' bonds still carry multiple risks. Credit risk is just one dimension. Interest rate risk is often the biggest risk for long-duration bonds — even G-Secs. Understanding risk helps operations professionals flag mark-to-market movements, margin calls, and collateral quality issues.</a:t>
            </a:r>
            <a:endParaRPr lang="en-US" sz="1150" dirty="0"/>
          </a:p>
        </p:txBody>
      </p:sp>
      <p:sp>
        <p:nvSpPr>
          <p:cNvPr id="8" name="Shape 6"/>
          <p:cNvSpPr/>
          <p:nvPr/>
        </p:nvSpPr>
        <p:spPr>
          <a:xfrm>
            <a:off x="274320" y="3429000"/>
            <a:ext cx="1920240" cy="23225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232258"/>
          </a:xfrm>
          <a:prstGeom prst="rect">
            <a:avLst/>
          </a:prstGeom>
          <a:solidFill>
            <a:srgbClr val="FFFFFF"/>
          </a:solidFill>
          <a:ln w="12700">
            <a:solidFill>
              <a:srgbClr val="E0E4EF"/>
            </a:solidFill>
            <a:prstDash val="solid"/>
          </a:ln>
        </p:spPr>
      </p:sp>
      <p:sp>
        <p:nvSpPr>
          <p:cNvPr id="10" name="Text 8"/>
          <p:cNvSpPr/>
          <p:nvPr/>
        </p:nvSpPr>
        <p:spPr>
          <a:xfrm>
            <a:off x="320040" y="3447288"/>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Interest Rate Risk</a:t>
            </a:r>
            <a:endParaRPr lang="en-US" sz="1000" dirty="0"/>
          </a:p>
        </p:txBody>
      </p:sp>
      <p:sp>
        <p:nvSpPr>
          <p:cNvPr id="11" name="Text 9"/>
          <p:cNvSpPr/>
          <p:nvPr/>
        </p:nvSpPr>
        <p:spPr>
          <a:xfrm>
            <a:off x="2304288" y="3447288"/>
            <a:ext cx="6492240" cy="195682"/>
          </a:xfrm>
          <a:prstGeom prst="rect">
            <a:avLst/>
          </a:prstGeom>
          <a:noFill/>
          <a:ln/>
        </p:spPr>
        <p:txBody>
          <a:bodyPr wrap="square" lIns="0" tIns="0" rIns="0" bIns="0" rtlCol="0" anchor="ctr"/>
          <a:lstStyle/>
          <a:p>
            <a:pPr indent="0" marL="0">
              <a:buNone/>
            </a:pPr>
            <a:r>
              <a:rPr lang="en-US" sz="1050" dirty="0">
                <a:solidFill>
                  <a:srgbClr val="404040"/>
                </a:solidFill>
              </a:rPr>
              <a:t>Prices fall when rates rise. Longer duration = higher sensitivity</a:t>
            </a:r>
            <a:endParaRPr lang="en-US" sz="1050" dirty="0"/>
          </a:p>
        </p:txBody>
      </p:sp>
      <p:sp>
        <p:nvSpPr>
          <p:cNvPr id="12" name="Shape 10"/>
          <p:cNvSpPr/>
          <p:nvPr/>
        </p:nvSpPr>
        <p:spPr>
          <a:xfrm>
            <a:off x="274320" y="3716122"/>
            <a:ext cx="1920240" cy="232258"/>
          </a:xfrm>
          <a:prstGeom prst="rect">
            <a:avLst/>
          </a:prstGeom>
          <a:solidFill>
            <a:srgbClr val="007A87"/>
          </a:solidFill>
          <a:ln w="12700">
            <a:solidFill>
              <a:srgbClr val="007A87"/>
            </a:solidFill>
            <a:prstDash val="solid"/>
          </a:ln>
        </p:spPr>
      </p:sp>
      <p:sp>
        <p:nvSpPr>
          <p:cNvPr id="13" name="Shape 11"/>
          <p:cNvSpPr/>
          <p:nvPr/>
        </p:nvSpPr>
        <p:spPr>
          <a:xfrm>
            <a:off x="2240280" y="3716122"/>
            <a:ext cx="6629400" cy="232258"/>
          </a:xfrm>
          <a:prstGeom prst="rect">
            <a:avLst/>
          </a:prstGeom>
          <a:solidFill>
            <a:srgbClr val="FFFFFF"/>
          </a:solidFill>
          <a:ln w="12700">
            <a:solidFill>
              <a:srgbClr val="E0E4EF"/>
            </a:solidFill>
            <a:prstDash val="solid"/>
          </a:ln>
        </p:spPr>
      </p:sp>
      <p:sp>
        <p:nvSpPr>
          <p:cNvPr id="14" name="Text 12"/>
          <p:cNvSpPr/>
          <p:nvPr/>
        </p:nvSpPr>
        <p:spPr>
          <a:xfrm>
            <a:off x="320040" y="3734410"/>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Credit Risk</a:t>
            </a:r>
            <a:endParaRPr lang="en-US" sz="1000" dirty="0"/>
          </a:p>
        </p:txBody>
      </p:sp>
      <p:sp>
        <p:nvSpPr>
          <p:cNvPr id="15" name="Text 13"/>
          <p:cNvSpPr/>
          <p:nvPr/>
        </p:nvSpPr>
        <p:spPr>
          <a:xfrm>
            <a:off x="2304288" y="3734410"/>
            <a:ext cx="6492240" cy="195682"/>
          </a:xfrm>
          <a:prstGeom prst="rect">
            <a:avLst/>
          </a:prstGeom>
          <a:noFill/>
          <a:ln/>
        </p:spPr>
        <p:txBody>
          <a:bodyPr wrap="square" lIns="0" tIns="0" rIns="0" bIns="0" rtlCol="0" anchor="ctr"/>
          <a:lstStyle/>
          <a:p>
            <a:pPr indent="0" marL="0">
              <a:buNone/>
            </a:pPr>
            <a:r>
              <a:rPr lang="en-US" sz="1050" dirty="0">
                <a:solidFill>
                  <a:srgbClr val="404040"/>
                </a:solidFill>
              </a:rPr>
              <a:t>Issuer defaults. G-Sec &lt; PSU &lt; Corporate &lt; AT1 on credit risk scale</a:t>
            </a:r>
            <a:endParaRPr lang="en-US" sz="1050" dirty="0"/>
          </a:p>
        </p:txBody>
      </p:sp>
      <p:sp>
        <p:nvSpPr>
          <p:cNvPr id="16" name="Shape 14"/>
          <p:cNvSpPr/>
          <p:nvPr/>
        </p:nvSpPr>
        <p:spPr>
          <a:xfrm>
            <a:off x="274320" y="4003243"/>
            <a:ext cx="1920240" cy="232258"/>
          </a:xfrm>
          <a:prstGeom prst="rect">
            <a:avLst/>
          </a:prstGeom>
          <a:solidFill>
            <a:srgbClr val="007A87"/>
          </a:solidFill>
          <a:ln w="12700">
            <a:solidFill>
              <a:srgbClr val="007A87"/>
            </a:solidFill>
            <a:prstDash val="solid"/>
          </a:ln>
        </p:spPr>
      </p:sp>
      <p:sp>
        <p:nvSpPr>
          <p:cNvPr id="17" name="Shape 15"/>
          <p:cNvSpPr/>
          <p:nvPr/>
        </p:nvSpPr>
        <p:spPr>
          <a:xfrm>
            <a:off x="2240280" y="4003243"/>
            <a:ext cx="6629400" cy="232258"/>
          </a:xfrm>
          <a:prstGeom prst="rect">
            <a:avLst/>
          </a:prstGeom>
          <a:solidFill>
            <a:srgbClr val="FFFFFF"/>
          </a:solidFill>
          <a:ln w="12700">
            <a:solidFill>
              <a:srgbClr val="E0E4EF"/>
            </a:solidFill>
            <a:prstDash val="solid"/>
          </a:ln>
        </p:spPr>
      </p:sp>
      <p:sp>
        <p:nvSpPr>
          <p:cNvPr id="18" name="Text 16"/>
          <p:cNvSpPr/>
          <p:nvPr/>
        </p:nvSpPr>
        <p:spPr>
          <a:xfrm>
            <a:off x="320040" y="4021531"/>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Inflation Risk</a:t>
            </a:r>
            <a:endParaRPr lang="en-US" sz="1000" dirty="0"/>
          </a:p>
        </p:txBody>
      </p:sp>
      <p:sp>
        <p:nvSpPr>
          <p:cNvPr id="19" name="Text 17"/>
          <p:cNvSpPr/>
          <p:nvPr/>
        </p:nvSpPr>
        <p:spPr>
          <a:xfrm>
            <a:off x="2304288" y="4021531"/>
            <a:ext cx="6492240" cy="195682"/>
          </a:xfrm>
          <a:prstGeom prst="rect">
            <a:avLst/>
          </a:prstGeom>
          <a:noFill/>
          <a:ln/>
        </p:spPr>
        <p:txBody>
          <a:bodyPr wrap="square" lIns="0" tIns="0" rIns="0" bIns="0" rtlCol="0" anchor="ctr"/>
          <a:lstStyle/>
          <a:p>
            <a:pPr indent="0" marL="0">
              <a:buNone/>
            </a:pPr>
            <a:r>
              <a:rPr lang="en-US" sz="1050" dirty="0">
                <a:solidFill>
                  <a:srgbClr val="404040"/>
                </a:solidFill>
              </a:rPr>
              <a:t>Real return = nominal yield minus inflation. If CPI &gt; coupon: negative real return</a:t>
            </a:r>
            <a:endParaRPr lang="en-US" sz="1050" dirty="0"/>
          </a:p>
        </p:txBody>
      </p:sp>
      <p:sp>
        <p:nvSpPr>
          <p:cNvPr id="20" name="Shape 18"/>
          <p:cNvSpPr/>
          <p:nvPr/>
        </p:nvSpPr>
        <p:spPr>
          <a:xfrm>
            <a:off x="274320" y="4290365"/>
            <a:ext cx="1920240" cy="232258"/>
          </a:xfrm>
          <a:prstGeom prst="rect">
            <a:avLst/>
          </a:prstGeom>
          <a:solidFill>
            <a:srgbClr val="007A87"/>
          </a:solidFill>
          <a:ln w="12700">
            <a:solidFill>
              <a:srgbClr val="007A87"/>
            </a:solidFill>
            <a:prstDash val="solid"/>
          </a:ln>
        </p:spPr>
      </p:sp>
      <p:sp>
        <p:nvSpPr>
          <p:cNvPr id="21" name="Shape 19"/>
          <p:cNvSpPr/>
          <p:nvPr/>
        </p:nvSpPr>
        <p:spPr>
          <a:xfrm>
            <a:off x="2240280" y="4290365"/>
            <a:ext cx="6629400" cy="232258"/>
          </a:xfrm>
          <a:prstGeom prst="rect">
            <a:avLst/>
          </a:prstGeom>
          <a:solidFill>
            <a:srgbClr val="FFFFFF"/>
          </a:solidFill>
          <a:ln w="12700">
            <a:solidFill>
              <a:srgbClr val="E0E4EF"/>
            </a:solidFill>
            <a:prstDash val="solid"/>
          </a:ln>
        </p:spPr>
      </p:sp>
      <p:sp>
        <p:nvSpPr>
          <p:cNvPr id="22" name="Text 20"/>
          <p:cNvSpPr/>
          <p:nvPr/>
        </p:nvSpPr>
        <p:spPr>
          <a:xfrm>
            <a:off x="320040" y="4308653"/>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Liquidity Risk</a:t>
            </a:r>
            <a:endParaRPr lang="en-US" sz="1000" dirty="0"/>
          </a:p>
        </p:txBody>
      </p:sp>
      <p:sp>
        <p:nvSpPr>
          <p:cNvPr id="23" name="Text 21"/>
          <p:cNvSpPr/>
          <p:nvPr/>
        </p:nvSpPr>
        <p:spPr>
          <a:xfrm>
            <a:off x="2304288" y="4308653"/>
            <a:ext cx="6492240" cy="195682"/>
          </a:xfrm>
          <a:prstGeom prst="rect">
            <a:avLst/>
          </a:prstGeom>
          <a:noFill/>
          <a:ln/>
        </p:spPr>
        <p:txBody>
          <a:bodyPr wrap="square" lIns="0" tIns="0" rIns="0" bIns="0" rtlCol="0" anchor="ctr"/>
          <a:lstStyle/>
          <a:p>
            <a:pPr indent="0" marL="0">
              <a:buNone/>
            </a:pPr>
            <a:r>
              <a:rPr lang="en-US" sz="1050" dirty="0">
                <a:solidFill>
                  <a:srgbClr val="404040"/>
                </a:solidFill>
              </a:rPr>
              <a:t>Cannot sell at fair market price. G-Secs liquid; corporate bonds often not</a:t>
            </a:r>
            <a:endParaRPr lang="en-US" sz="1050" dirty="0"/>
          </a:p>
        </p:txBody>
      </p:sp>
      <p:sp>
        <p:nvSpPr>
          <p:cNvPr id="24" name="Shape 22"/>
          <p:cNvSpPr/>
          <p:nvPr/>
        </p:nvSpPr>
        <p:spPr>
          <a:xfrm>
            <a:off x="274320" y="4577486"/>
            <a:ext cx="1920240" cy="232258"/>
          </a:xfrm>
          <a:prstGeom prst="rect">
            <a:avLst/>
          </a:prstGeom>
          <a:solidFill>
            <a:srgbClr val="007A87"/>
          </a:solidFill>
          <a:ln w="12700">
            <a:solidFill>
              <a:srgbClr val="007A87"/>
            </a:solidFill>
            <a:prstDash val="solid"/>
          </a:ln>
        </p:spPr>
      </p:sp>
      <p:sp>
        <p:nvSpPr>
          <p:cNvPr id="25" name="Shape 23"/>
          <p:cNvSpPr/>
          <p:nvPr/>
        </p:nvSpPr>
        <p:spPr>
          <a:xfrm>
            <a:off x="2240280" y="4577486"/>
            <a:ext cx="6629400" cy="232258"/>
          </a:xfrm>
          <a:prstGeom prst="rect">
            <a:avLst/>
          </a:prstGeom>
          <a:solidFill>
            <a:srgbClr val="FFFFFF"/>
          </a:solidFill>
          <a:ln w="12700">
            <a:solidFill>
              <a:srgbClr val="E0E4EF"/>
            </a:solidFill>
            <a:prstDash val="solid"/>
          </a:ln>
        </p:spPr>
      </p:sp>
      <p:sp>
        <p:nvSpPr>
          <p:cNvPr id="26" name="Text 24"/>
          <p:cNvSpPr/>
          <p:nvPr/>
        </p:nvSpPr>
        <p:spPr>
          <a:xfrm>
            <a:off x="320040" y="4595774"/>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Reinvestment Risk</a:t>
            </a:r>
            <a:endParaRPr lang="en-US" sz="1000" dirty="0"/>
          </a:p>
        </p:txBody>
      </p:sp>
      <p:sp>
        <p:nvSpPr>
          <p:cNvPr id="27" name="Text 25"/>
          <p:cNvSpPr/>
          <p:nvPr/>
        </p:nvSpPr>
        <p:spPr>
          <a:xfrm>
            <a:off x="2304288" y="4595774"/>
            <a:ext cx="6492240" cy="195682"/>
          </a:xfrm>
          <a:prstGeom prst="rect">
            <a:avLst/>
          </a:prstGeom>
          <a:noFill/>
          <a:ln/>
        </p:spPr>
        <p:txBody>
          <a:bodyPr wrap="square" lIns="0" tIns="0" rIns="0" bIns="0" rtlCol="0" anchor="ctr"/>
          <a:lstStyle/>
          <a:p>
            <a:pPr indent="0" marL="0">
              <a:buNone/>
            </a:pPr>
            <a:r>
              <a:rPr lang="en-US" sz="1050" dirty="0">
                <a:solidFill>
                  <a:srgbClr val="404040"/>
                </a:solidFill>
              </a:rPr>
              <a:t>Coupons reinvested at lower rates if rates fall at maturity</a:t>
            </a:r>
            <a:endParaRPr lang="en-US" sz="1050" dirty="0"/>
          </a:p>
        </p:txBody>
      </p:sp>
      <p:sp>
        <p:nvSpPr>
          <p:cNvPr id="28" name="Shape 26"/>
          <p:cNvSpPr/>
          <p:nvPr/>
        </p:nvSpPr>
        <p:spPr>
          <a:xfrm>
            <a:off x="0" y="4864608"/>
            <a:ext cx="9144000" cy="278892"/>
          </a:xfrm>
          <a:prstGeom prst="rect">
            <a:avLst/>
          </a:prstGeom>
          <a:solidFill>
            <a:srgbClr val="101C4F"/>
          </a:solidFill>
          <a:ln w="12700">
            <a:solidFill>
              <a:srgbClr val="101C4F"/>
            </a:solidFill>
            <a:prstDash val="solid"/>
          </a:ln>
        </p:spPr>
      </p:sp>
      <p:sp>
        <p:nvSpPr>
          <p:cNvPr id="29" name="Text 27"/>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30" name="Text 28"/>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D4.FI.5 · Risks of Fixed Income Securities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Duration &amp; Rate Sensitivity</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Modified Duration measures % price change per 1% yield change. A 10-year G-Sec with duration 7 falls ~7% when yields rise 1%. The 2022 rate hike of 250 bps caused ~17% price decline on long G-Secs.</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2022 India Bond Losses</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RBI raised rates 250 bps in 2022. Long G-Sec prices fell 10-15%. Bond funds with long duration posted negative returns for the year — despite holding 'risk-free' G-Secs.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Credit Risk Ladder</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G-Sec (sovereign) → SDL (state) → PSU AAA → Corporate AAA → Corporate AA → Corporate A → BB (speculative) → Default. Each step = higher yield premium.</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IIBs as Inflation Hedge</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Inflation-Indexed Bonds (IIBs) issued by GOI adjust principal with CPI — protecting real value. Demand increases in high-inflation environments.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D4.FI.5 · Risks of Fixed Income Securities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student says: 'I'll only buy G-Secs for my bond portfolio — they have zero risk.' As an IB operations analyst, how do you correct this misconception? What specific risks remain even in G-Secs?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corporate bond rated AA is downgraded to A- by CRISIL. What happens to the bond's price in the secondary market? What operational implications does a rating downgrade have for an asset manager's portfolio?</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D4.FI.5 · Risks of Fixed Income Securities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interest rate risk and how does duration measure it?</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Interest rate risk is the risk that rising market interest rates reduce the value of existing bonds (inverse price-yield relationship). Duration measures this sensitivity — a bond with modified duration of 6 loses approximately 6% in price for every 1% rise in yields. Longer maturity = higher duration = higher rate sensitivity.</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Why might a bond fund with only G-Secs show negative returns in a year?</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G-Secs have zero credit risk but carry interest rate risk. If RBI raises rates (as in 2022 by 250 bps), existing G-Sec prices fall significantly. A bond fund's NAV is marked to market daily — so rising rates cause NAV to fall, even in a pure G-Sec portfolio. The 2022 rate hike cycle caused -10 to -15% returns on long G-Sec funds.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D4.FI.6</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Money Market Instruments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6 of 10  |  Fixed Income Part 1</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D4.FI.6 · Money Market Instruments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Money market = short-term fixed income instruments with tenor up to 1 year</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T-Bills (91, 182, 364-day): GOI instruments issued at discount, redeemed at face value</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Commercial Paper (CP): unsecured corporate borrowing; requires high credit rating (A1+)</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Certificate of Deposit (CD): bank-issued, negotiable and tradeable unlike FDs</a:t>
            </a:r>
            <a:endParaRPr lang="en-US" sz="1200" dirty="0"/>
          </a:p>
        </p:txBody>
      </p:sp>
      <p:sp>
        <p:nvSpPr>
          <p:cNvPr id="17" name="Shape 15"/>
          <p:cNvSpPr/>
          <p:nvPr/>
        </p:nvSpPr>
        <p:spPr>
          <a:xfrm>
            <a:off x="274320" y="3867912"/>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274320" y="3867912"/>
            <a:ext cx="64008" cy="612648"/>
          </a:xfrm>
          <a:prstGeom prst="rect">
            <a:avLst/>
          </a:prstGeom>
          <a:solidFill>
            <a:srgbClr val="007A87"/>
          </a:solidFill>
          <a:ln w="12700">
            <a:solidFill>
              <a:srgbClr val="007A87"/>
            </a:solidFill>
            <a:prstDash val="solid"/>
          </a:ln>
        </p:spPr>
      </p:sp>
      <p:sp>
        <p:nvSpPr>
          <p:cNvPr id="19" name="Text 17"/>
          <p:cNvSpPr/>
          <p:nvPr/>
        </p:nvSpPr>
        <p:spPr>
          <a:xfrm>
            <a:off x="475488" y="3904488"/>
            <a:ext cx="8138160" cy="539496"/>
          </a:xfrm>
          <a:prstGeom prst="rect">
            <a:avLst/>
          </a:prstGeom>
          <a:noFill/>
          <a:ln/>
        </p:spPr>
        <p:txBody>
          <a:bodyPr wrap="square" lIns="0" tIns="0" rIns="0" bIns="0" rtlCol="0" anchor="ctr"/>
          <a:lstStyle/>
          <a:p>
            <a:pPr indent="0" marL="0">
              <a:buNone/>
            </a:pPr>
            <a:r>
              <a:rPr lang="en-US" sz="1200" dirty="0">
                <a:solidFill>
                  <a:srgbClr val="404040"/>
                </a:solidFill>
              </a:rPr>
              <a:t>REPO: collateralised short-term borrowing using G-Secs; key RBI monetary policy tool</a:t>
            </a:r>
            <a:endParaRPr lang="en-US" sz="1200" dirty="0"/>
          </a:p>
        </p:txBody>
      </p:sp>
      <p:sp>
        <p:nvSpPr>
          <p:cNvPr id="20" name="Shape 18"/>
          <p:cNvSpPr/>
          <p:nvPr/>
        </p:nvSpPr>
        <p:spPr>
          <a:xfrm>
            <a:off x="0" y="4864608"/>
            <a:ext cx="9144000" cy="278892"/>
          </a:xfrm>
          <a:prstGeom prst="rect">
            <a:avLst/>
          </a:prstGeom>
          <a:solidFill>
            <a:srgbClr val="101C4F"/>
          </a:solidFill>
          <a:ln w="12700">
            <a:solidFill>
              <a:srgbClr val="101C4F"/>
            </a:solidFill>
            <a:prstDash val="solid"/>
          </a:ln>
        </p:spPr>
      </p:sp>
      <p:sp>
        <p:nvSpPr>
          <p:cNvPr id="21" name="Text 19"/>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22" name="Text 20"/>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D4.FI.6 · Money Market Instruments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 large Indian NBFC needs to borrow Rs 500 crore for 90 days to manage working capital. It is considering two options: (1) Issue a Commercial Paper (CP) in the market, (2) Approach its bank for a 90-day term loan. The CFO asks the treasury team to compare the two options.</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What are the key differences between issuing a CP and taking a bank loan? What credit rating does the NBFC need to issue CP? Who are the typical buyers of NBFC commercial papers?</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D4.FI.6 · Money Market Instruments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The Money Market Instruments — Short-Term, High Liquidity</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Money market instruments are short-term (&lt; 1 year) fixed income securities. They serve two functions: (1) Corporate treasuries use them to park surplus funds; (2) Issuers use them to meet short-term funding needs. RBI uses REPOs as its primary monetary policy instrument to inject/withdraw liquidity from the banking system.</a:t>
            </a:r>
            <a:endParaRPr lang="en-US" sz="1150" dirty="0"/>
          </a:p>
        </p:txBody>
      </p:sp>
      <p:sp>
        <p:nvSpPr>
          <p:cNvPr id="8" name="Shape 6"/>
          <p:cNvSpPr/>
          <p:nvPr/>
        </p:nvSpPr>
        <p:spPr>
          <a:xfrm>
            <a:off x="274320" y="3429000"/>
            <a:ext cx="1920240" cy="23225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232258"/>
          </a:xfrm>
          <a:prstGeom prst="rect">
            <a:avLst/>
          </a:prstGeom>
          <a:solidFill>
            <a:srgbClr val="FFFFFF"/>
          </a:solidFill>
          <a:ln w="12700">
            <a:solidFill>
              <a:srgbClr val="E0E4EF"/>
            </a:solidFill>
            <a:prstDash val="solid"/>
          </a:ln>
        </p:spPr>
      </p:sp>
      <p:sp>
        <p:nvSpPr>
          <p:cNvPr id="10" name="Text 8"/>
          <p:cNvSpPr/>
          <p:nvPr/>
        </p:nvSpPr>
        <p:spPr>
          <a:xfrm>
            <a:off x="320040" y="3447288"/>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T-Bill</a:t>
            </a:r>
            <a:endParaRPr lang="en-US" sz="1000" dirty="0"/>
          </a:p>
        </p:txBody>
      </p:sp>
      <p:sp>
        <p:nvSpPr>
          <p:cNvPr id="11" name="Text 9"/>
          <p:cNvSpPr/>
          <p:nvPr/>
        </p:nvSpPr>
        <p:spPr>
          <a:xfrm>
            <a:off x="2304288" y="3447288"/>
            <a:ext cx="6492240" cy="195682"/>
          </a:xfrm>
          <a:prstGeom prst="rect">
            <a:avLst/>
          </a:prstGeom>
          <a:noFill/>
          <a:ln/>
        </p:spPr>
        <p:txBody>
          <a:bodyPr wrap="square" lIns="0" tIns="0" rIns="0" bIns="0" rtlCol="0" anchor="ctr"/>
          <a:lstStyle/>
          <a:p>
            <a:pPr indent="0" marL="0">
              <a:buNone/>
            </a:pPr>
            <a:r>
              <a:rPr lang="en-US" sz="1050" dirty="0">
                <a:solidFill>
                  <a:srgbClr val="404040"/>
                </a:solidFill>
              </a:rPr>
              <a:t>91/182/364-day GOI instrument; zero coupon; issued at discount by RBI</a:t>
            </a:r>
            <a:endParaRPr lang="en-US" sz="1050" dirty="0"/>
          </a:p>
        </p:txBody>
      </p:sp>
      <p:sp>
        <p:nvSpPr>
          <p:cNvPr id="12" name="Shape 10"/>
          <p:cNvSpPr/>
          <p:nvPr/>
        </p:nvSpPr>
        <p:spPr>
          <a:xfrm>
            <a:off x="274320" y="3716122"/>
            <a:ext cx="1920240" cy="232258"/>
          </a:xfrm>
          <a:prstGeom prst="rect">
            <a:avLst/>
          </a:prstGeom>
          <a:solidFill>
            <a:srgbClr val="007A87"/>
          </a:solidFill>
          <a:ln w="12700">
            <a:solidFill>
              <a:srgbClr val="007A87"/>
            </a:solidFill>
            <a:prstDash val="solid"/>
          </a:ln>
        </p:spPr>
      </p:sp>
      <p:sp>
        <p:nvSpPr>
          <p:cNvPr id="13" name="Shape 11"/>
          <p:cNvSpPr/>
          <p:nvPr/>
        </p:nvSpPr>
        <p:spPr>
          <a:xfrm>
            <a:off x="2240280" y="3716122"/>
            <a:ext cx="6629400" cy="232258"/>
          </a:xfrm>
          <a:prstGeom prst="rect">
            <a:avLst/>
          </a:prstGeom>
          <a:solidFill>
            <a:srgbClr val="FFFFFF"/>
          </a:solidFill>
          <a:ln w="12700">
            <a:solidFill>
              <a:srgbClr val="E0E4EF"/>
            </a:solidFill>
            <a:prstDash val="solid"/>
          </a:ln>
        </p:spPr>
      </p:sp>
      <p:sp>
        <p:nvSpPr>
          <p:cNvPr id="14" name="Text 12"/>
          <p:cNvSpPr/>
          <p:nvPr/>
        </p:nvSpPr>
        <p:spPr>
          <a:xfrm>
            <a:off x="320040" y="3734410"/>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Commercial Paper</a:t>
            </a:r>
            <a:endParaRPr lang="en-US" sz="1000" dirty="0"/>
          </a:p>
        </p:txBody>
      </p:sp>
      <p:sp>
        <p:nvSpPr>
          <p:cNvPr id="15" name="Text 13"/>
          <p:cNvSpPr/>
          <p:nvPr/>
        </p:nvSpPr>
        <p:spPr>
          <a:xfrm>
            <a:off x="2304288" y="3734410"/>
            <a:ext cx="6492240" cy="195682"/>
          </a:xfrm>
          <a:prstGeom prst="rect">
            <a:avLst/>
          </a:prstGeom>
          <a:noFill/>
          <a:ln/>
        </p:spPr>
        <p:txBody>
          <a:bodyPr wrap="square" lIns="0" tIns="0" rIns="0" bIns="0" rtlCol="0" anchor="ctr"/>
          <a:lstStyle/>
          <a:p>
            <a:pPr indent="0" marL="0">
              <a:buNone/>
            </a:pPr>
            <a:r>
              <a:rPr lang="en-US" sz="1050" dirty="0">
                <a:solidFill>
                  <a:srgbClr val="404040"/>
                </a:solidFill>
              </a:rPr>
              <a:t>Unsecured corporate borrowing; min Rs 5 lakh; requires A1+ rating; 7-365 days</a:t>
            </a:r>
            <a:endParaRPr lang="en-US" sz="1050" dirty="0"/>
          </a:p>
        </p:txBody>
      </p:sp>
      <p:sp>
        <p:nvSpPr>
          <p:cNvPr id="16" name="Shape 14"/>
          <p:cNvSpPr/>
          <p:nvPr/>
        </p:nvSpPr>
        <p:spPr>
          <a:xfrm>
            <a:off x="274320" y="4003243"/>
            <a:ext cx="1920240" cy="232258"/>
          </a:xfrm>
          <a:prstGeom prst="rect">
            <a:avLst/>
          </a:prstGeom>
          <a:solidFill>
            <a:srgbClr val="007A87"/>
          </a:solidFill>
          <a:ln w="12700">
            <a:solidFill>
              <a:srgbClr val="007A87"/>
            </a:solidFill>
            <a:prstDash val="solid"/>
          </a:ln>
        </p:spPr>
      </p:sp>
      <p:sp>
        <p:nvSpPr>
          <p:cNvPr id="17" name="Shape 15"/>
          <p:cNvSpPr/>
          <p:nvPr/>
        </p:nvSpPr>
        <p:spPr>
          <a:xfrm>
            <a:off x="2240280" y="4003243"/>
            <a:ext cx="6629400" cy="232258"/>
          </a:xfrm>
          <a:prstGeom prst="rect">
            <a:avLst/>
          </a:prstGeom>
          <a:solidFill>
            <a:srgbClr val="FFFFFF"/>
          </a:solidFill>
          <a:ln w="12700">
            <a:solidFill>
              <a:srgbClr val="E0E4EF"/>
            </a:solidFill>
            <a:prstDash val="solid"/>
          </a:ln>
        </p:spPr>
      </p:sp>
      <p:sp>
        <p:nvSpPr>
          <p:cNvPr id="18" name="Text 16"/>
          <p:cNvSpPr/>
          <p:nvPr/>
        </p:nvSpPr>
        <p:spPr>
          <a:xfrm>
            <a:off x="320040" y="4021531"/>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Certificate of Deposit</a:t>
            </a:r>
            <a:endParaRPr lang="en-US" sz="1000" dirty="0"/>
          </a:p>
        </p:txBody>
      </p:sp>
      <p:sp>
        <p:nvSpPr>
          <p:cNvPr id="19" name="Text 17"/>
          <p:cNvSpPr/>
          <p:nvPr/>
        </p:nvSpPr>
        <p:spPr>
          <a:xfrm>
            <a:off x="2304288" y="4021531"/>
            <a:ext cx="6492240" cy="195682"/>
          </a:xfrm>
          <a:prstGeom prst="rect">
            <a:avLst/>
          </a:prstGeom>
          <a:noFill/>
          <a:ln/>
        </p:spPr>
        <p:txBody>
          <a:bodyPr wrap="square" lIns="0" tIns="0" rIns="0" bIns="0" rtlCol="0" anchor="ctr"/>
          <a:lstStyle/>
          <a:p>
            <a:pPr indent="0" marL="0">
              <a:buNone/>
            </a:pPr>
            <a:r>
              <a:rPr lang="en-US" sz="1050" dirty="0">
                <a:solidFill>
                  <a:srgbClr val="404040"/>
                </a:solidFill>
              </a:rPr>
              <a:t>Bank-issued negotiable instrument; tradeable; 7 days to 1 year</a:t>
            </a:r>
            <a:endParaRPr lang="en-US" sz="1050" dirty="0"/>
          </a:p>
        </p:txBody>
      </p:sp>
      <p:sp>
        <p:nvSpPr>
          <p:cNvPr id="20" name="Shape 18"/>
          <p:cNvSpPr/>
          <p:nvPr/>
        </p:nvSpPr>
        <p:spPr>
          <a:xfrm>
            <a:off x="274320" y="4290365"/>
            <a:ext cx="1920240" cy="232258"/>
          </a:xfrm>
          <a:prstGeom prst="rect">
            <a:avLst/>
          </a:prstGeom>
          <a:solidFill>
            <a:srgbClr val="007A87"/>
          </a:solidFill>
          <a:ln w="12700">
            <a:solidFill>
              <a:srgbClr val="007A87"/>
            </a:solidFill>
            <a:prstDash val="solid"/>
          </a:ln>
        </p:spPr>
      </p:sp>
      <p:sp>
        <p:nvSpPr>
          <p:cNvPr id="21" name="Shape 19"/>
          <p:cNvSpPr/>
          <p:nvPr/>
        </p:nvSpPr>
        <p:spPr>
          <a:xfrm>
            <a:off x="2240280" y="4290365"/>
            <a:ext cx="6629400" cy="232258"/>
          </a:xfrm>
          <a:prstGeom prst="rect">
            <a:avLst/>
          </a:prstGeom>
          <a:solidFill>
            <a:srgbClr val="FFFFFF"/>
          </a:solidFill>
          <a:ln w="12700">
            <a:solidFill>
              <a:srgbClr val="E0E4EF"/>
            </a:solidFill>
            <a:prstDash val="solid"/>
          </a:ln>
        </p:spPr>
      </p:sp>
      <p:sp>
        <p:nvSpPr>
          <p:cNvPr id="22" name="Text 20"/>
          <p:cNvSpPr/>
          <p:nvPr/>
        </p:nvSpPr>
        <p:spPr>
          <a:xfrm>
            <a:off x="320040" y="4308653"/>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REPO</a:t>
            </a:r>
            <a:endParaRPr lang="en-US" sz="1000" dirty="0"/>
          </a:p>
        </p:txBody>
      </p:sp>
      <p:sp>
        <p:nvSpPr>
          <p:cNvPr id="23" name="Text 21"/>
          <p:cNvSpPr/>
          <p:nvPr/>
        </p:nvSpPr>
        <p:spPr>
          <a:xfrm>
            <a:off x="2304288" y="4308653"/>
            <a:ext cx="6492240" cy="195682"/>
          </a:xfrm>
          <a:prstGeom prst="rect">
            <a:avLst/>
          </a:prstGeom>
          <a:noFill/>
          <a:ln/>
        </p:spPr>
        <p:txBody>
          <a:bodyPr wrap="square" lIns="0" tIns="0" rIns="0" bIns="0" rtlCol="0" anchor="ctr"/>
          <a:lstStyle/>
          <a:p>
            <a:pPr indent="0" marL="0">
              <a:buNone/>
            </a:pPr>
            <a:r>
              <a:rPr lang="en-US" sz="1050" dirty="0">
                <a:solidFill>
                  <a:srgbClr val="404040"/>
                </a:solidFill>
              </a:rPr>
              <a:t>Collateralised borrowing: sell G-Sec now, buy back at fixed price+date</a:t>
            </a:r>
            <a:endParaRPr lang="en-US" sz="1050" dirty="0"/>
          </a:p>
        </p:txBody>
      </p:sp>
      <p:sp>
        <p:nvSpPr>
          <p:cNvPr id="24" name="Shape 22"/>
          <p:cNvSpPr/>
          <p:nvPr/>
        </p:nvSpPr>
        <p:spPr>
          <a:xfrm>
            <a:off x="274320" y="4577486"/>
            <a:ext cx="1920240" cy="232258"/>
          </a:xfrm>
          <a:prstGeom prst="rect">
            <a:avLst/>
          </a:prstGeom>
          <a:solidFill>
            <a:srgbClr val="007A87"/>
          </a:solidFill>
          <a:ln w="12700">
            <a:solidFill>
              <a:srgbClr val="007A87"/>
            </a:solidFill>
            <a:prstDash val="solid"/>
          </a:ln>
        </p:spPr>
      </p:sp>
      <p:sp>
        <p:nvSpPr>
          <p:cNvPr id="25" name="Shape 23"/>
          <p:cNvSpPr/>
          <p:nvPr/>
        </p:nvSpPr>
        <p:spPr>
          <a:xfrm>
            <a:off x="2240280" y="4577486"/>
            <a:ext cx="6629400" cy="232258"/>
          </a:xfrm>
          <a:prstGeom prst="rect">
            <a:avLst/>
          </a:prstGeom>
          <a:solidFill>
            <a:srgbClr val="FFFFFF"/>
          </a:solidFill>
          <a:ln w="12700">
            <a:solidFill>
              <a:srgbClr val="E0E4EF"/>
            </a:solidFill>
            <a:prstDash val="solid"/>
          </a:ln>
        </p:spPr>
      </p:sp>
      <p:sp>
        <p:nvSpPr>
          <p:cNvPr id="26" name="Text 24"/>
          <p:cNvSpPr/>
          <p:nvPr/>
        </p:nvSpPr>
        <p:spPr>
          <a:xfrm>
            <a:off x="320040" y="4595774"/>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CMB (Cash Mgmt Bills)</a:t>
            </a:r>
            <a:endParaRPr lang="en-US" sz="1000" dirty="0"/>
          </a:p>
        </p:txBody>
      </p:sp>
      <p:sp>
        <p:nvSpPr>
          <p:cNvPr id="27" name="Text 25"/>
          <p:cNvSpPr/>
          <p:nvPr/>
        </p:nvSpPr>
        <p:spPr>
          <a:xfrm>
            <a:off x="2304288" y="4595774"/>
            <a:ext cx="6492240" cy="195682"/>
          </a:xfrm>
          <a:prstGeom prst="rect">
            <a:avLst/>
          </a:prstGeom>
          <a:noFill/>
          <a:ln/>
        </p:spPr>
        <p:txBody>
          <a:bodyPr wrap="square" lIns="0" tIns="0" rIns="0" bIns="0" rtlCol="0" anchor="ctr"/>
          <a:lstStyle/>
          <a:p>
            <a:pPr indent="0" marL="0">
              <a:buNone/>
            </a:pPr>
            <a:r>
              <a:rPr lang="en-US" sz="1050" dirty="0">
                <a:solidFill>
                  <a:srgbClr val="404040"/>
                </a:solidFill>
              </a:rPr>
              <a:t>T-Bills with tenor &lt; 91 days; issued by RBI for govt cash management</a:t>
            </a:r>
            <a:endParaRPr lang="en-US" sz="1050" dirty="0"/>
          </a:p>
        </p:txBody>
      </p:sp>
      <p:sp>
        <p:nvSpPr>
          <p:cNvPr id="28" name="Shape 26"/>
          <p:cNvSpPr/>
          <p:nvPr/>
        </p:nvSpPr>
        <p:spPr>
          <a:xfrm>
            <a:off x="0" y="4864608"/>
            <a:ext cx="9144000" cy="278892"/>
          </a:xfrm>
          <a:prstGeom prst="rect">
            <a:avLst/>
          </a:prstGeom>
          <a:solidFill>
            <a:srgbClr val="101C4F"/>
          </a:solidFill>
          <a:ln w="12700">
            <a:solidFill>
              <a:srgbClr val="101C4F"/>
            </a:solidFill>
            <a:prstDash val="solid"/>
          </a:ln>
        </p:spPr>
      </p:sp>
      <p:sp>
        <p:nvSpPr>
          <p:cNvPr id="29" name="Text 27"/>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30" name="Text 28"/>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D4.FI.6 · Money Market Instruments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REPO Mechanics</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Seller (borrower) sells G-Secs and agrees to repurchase at a higher price. Difference = repo interest. RBI Repo Rate (currently ~6.5%) is the policy rate that anchors all short-term rates.</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T-Bill Yield Calculation</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T-Bill yield = [(Face - Issue Price) / Issue Price] × (365 / tenor). A 91-day T-Bill issued at Rs 98.20 for Rs 100 face: yield = (1.80/98.20) × (365/91) = 7.37%.</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CP vs CD</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CP = corporate issued (can default); CD = bank issued (stronger credit). Both are tradeable. CP requires credit rating; CD issued only by scheduled banks as per RBI norms.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Overnight Markets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CBLO, TREPS, and Call Money Market operate overnight. Banks with SLR surplus lend overnight; banks short of SLR borrow. Operations settle same day.</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D4.FI.6 · Money Market Instruments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RBI raises the Repo Rate from 6.5% to 7%. How does this affect (a) the yield on newly issued 91-day T-Bills, (b) the borrowing cost for a corporate issuing CP, and (c) bank CD rates?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company has Rs 200 crore surplus for exactly 45 days. Should it invest in a T-Bill, a bank FD, or a CD? What factors determine the best instrument for this specific situation?</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D4.FI.6 · Money Market Instruments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a Treasury Bill and how is it different from a government bond?</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T-Bills are short-term (up to 364 days) government instruments issued at a discount and redeemed at face value — zero coupon. Government bonds (G-Secs) have longer tenors (2-40 years) and pay semi-annual coupons. T-Bills are money market instruments; G-Secs are capital market instruments.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How does a REPO work mechanically?</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In a REPO, the borrower sells securities (usually G-Secs) to the lender and simultaneously agrees to repurchase them at a predetermined price on a future date. The price difference = repo interest. It is collateralised short-term borrowing. RBI uses REPOs to inject liquidity into the banking system at the policy repo rate.</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D4.FI.7</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Bonds vs Money Market Instruments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7 of 10  |  Fixed Income Part 1</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D4.FI.7 · Bonds vs Money Market Instruments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Bonds: tenor &gt; 1 year; pay periodic coupons; significant interest rate (duration) risk</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Money market: tenor &lt; 1 year; minimal interest rate risk; lower yield but high liquidity</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Rising rate environment: prefer money market (shorter duration) to avoid price losses</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Falling rate environment: prefer long-duration bonds (price appreciation as yields fall)</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D4.FI.7 · Bonds vs Money Market Instruments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It is March 2022. RBI has just signalled rate hikes ahead to control 7% CPI inflation. A bank's treasury team must decide: should they keep their Rs 2,000 crore bond portfolio in long-duration 10-year G-Secs, or rotate into 91-day T-Bills and CPs?</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What is the risk of staying in long 10-year G-Secs in a rising rate environment? What does 'rotating to short duration' mean in practice? What yield sacrifice does the treasury team accept?</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D4.FI.7 · Bonds vs Money Market Instruments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Duration Risk: The Key Differentiator Between Bonds and Money Market</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Duration is the measure of interest rate sensitivity. Money market instruments have near-zero duration (tenor &lt; 1 year) — they are almost immune to rate changes. Long bonds have high duration — they gain significantly when rates fall but lose heavily when rates rise. Treasury desks actively manage duration based on the interest rate cycle.</a:t>
            </a:r>
            <a:endParaRPr lang="en-US" sz="1150" dirty="0"/>
          </a:p>
        </p:txBody>
      </p:sp>
      <p:sp>
        <p:nvSpPr>
          <p:cNvPr id="8" name="Shape 6"/>
          <p:cNvSpPr/>
          <p:nvPr/>
        </p:nvSpPr>
        <p:spPr>
          <a:xfrm>
            <a:off x="274320" y="3429000"/>
            <a:ext cx="1920240" cy="23225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232258"/>
          </a:xfrm>
          <a:prstGeom prst="rect">
            <a:avLst/>
          </a:prstGeom>
          <a:solidFill>
            <a:srgbClr val="FFFFFF"/>
          </a:solidFill>
          <a:ln w="12700">
            <a:solidFill>
              <a:srgbClr val="E0E4EF"/>
            </a:solidFill>
            <a:prstDash val="solid"/>
          </a:ln>
        </p:spPr>
      </p:sp>
      <p:sp>
        <p:nvSpPr>
          <p:cNvPr id="10" name="Text 8"/>
          <p:cNvSpPr/>
          <p:nvPr/>
        </p:nvSpPr>
        <p:spPr>
          <a:xfrm>
            <a:off x="320040" y="3447288"/>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Tenor</a:t>
            </a:r>
            <a:endParaRPr lang="en-US" sz="1000" dirty="0"/>
          </a:p>
        </p:txBody>
      </p:sp>
      <p:sp>
        <p:nvSpPr>
          <p:cNvPr id="11" name="Text 9"/>
          <p:cNvSpPr/>
          <p:nvPr/>
        </p:nvSpPr>
        <p:spPr>
          <a:xfrm>
            <a:off x="2304288" y="3447288"/>
            <a:ext cx="6492240" cy="195682"/>
          </a:xfrm>
          <a:prstGeom prst="rect">
            <a:avLst/>
          </a:prstGeom>
          <a:noFill/>
          <a:ln/>
        </p:spPr>
        <p:txBody>
          <a:bodyPr wrap="square" lIns="0" tIns="0" rIns="0" bIns="0" rtlCol="0" anchor="ctr"/>
          <a:lstStyle/>
          <a:p>
            <a:pPr indent="0" marL="0">
              <a:buNone/>
            </a:pPr>
            <a:r>
              <a:rPr lang="en-US" sz="1050" dirty="0">
                <a:solidFill>
                  <a:srgbClr val="404040"/>
                </a:solidFill>
              </a:rPr>
              <a:t>Money Market: &lt; 1 year | Bonds: 1 to 40+ years</a:t>
            </a:r>
            <a:endParaRPr lang="en-US" sz="1050" dirty="0"/>
          </a:p>
        </p:txBody>
      </p:sp>
      <p:sp>
        <p:nvSpPr>
          <p:cNvPr id="12" name="Shape 10"/>
          <p:cNvSpPr/>
          <p:nvPr/>
        </p:nvSpPr>
        <p:spPr>
          <a:xfrm>
            <a:off x="274320" y="3716122"/>
            <a:ext cx="1920240" cy="232258"/>
          </a:xfrm>
          <a:prstGeom prst="rect">
            <a:avLst/>
          </a:prstGeom>
          <a:solidFill>
            <a:srgbClr val="007A87"/>
          </a:solidFill>
          <a:ln w="12700">
            <a:solidFill>
              <a:srgbClr val="007A87"/>
            </a:solidFill>
            <a:prstDash val="solid"/>
          </a:ln>
        </p:spPr>
      </p:sp>
      <p:sp>
        <p:nvSpPr>
          <p:cNvPr id="13" name="Shape 11"/>
          <p:cNvSpPr/>
          <p:nvPr/>
        </p:nvSpPr>
        <p:spPr>
          <a:xfrm>
            <a:off x="2240280" y="3716122"/>
            <a:ext cx="6629400" cy="232258"/>
          </a:xfrm>
          <a:prstGeom prst="rect">
            <a:avLst/>
          </a:prstGeom>
          <a:solidFill>
            <a:srgbClr val="FFFFFF"/>
          </a:solidFill>
          <a:ln w="12700">
            <a:solidFill>
              <a:srgbClr val="E0E4EF"/>
            </a:solidFill>
            <a:prstDash val="solid"/>
          </a:ln>
        </p:spPr>
      </p:sp>
      <p:sp>
        <p:nvSpPr>
          <p:cNvPr id="14" name="Text 12"/>
          <p:cNvSpPr/>
          <p:nvPr/>
        </p:nvSpPr>
        <p:spPr>
          <a:xfrm>
            <a:off x="320040" y="3734410"/>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Duration Risk</a:t>
            </a:r>
            <a:endParaRPr lang="en-US" sz="1000" dirty="0"/>
          </a:p>
        </p:txBody>
      </p:sp>
      <p:sp>
        <p:nvSpPr>
          <p:cNvPr id="15" name="Text 13"/>
          <p:cNvSpPr/>
          <p:nvPr/>
        </p:nvSpPr>
        <p:spPr>
          <a:xfrm>
            <a:off x="2304288" y="3734410"/>
            <a:ext cx="6492240" cy="195682"/>
          </a:xfrm>
          <a:prstGeom prst="rect">
            <a:avLst/>
          </a:prstGeom>
          <a:noFill/>
          <a:ln/>
        </p:spPr>
        <p:txBody>
          <a:bodyPr wrap="square" lIns="0" tIns="0" rIns="0" bIns="0" rtlCol="0" anchor="ctr"/>
          <a:lstStyle/>
          <a:p>
            <a:pPr indent="0" marL="0">
              <a:buNone/>
            </a:pPr>
            <a:r>
              <a:rPr lang="en-US" sz="1050" dirty="0">
                <a:solidFill>
                  <a:srgbClr val="404040"/>
                </a:solidFill>
              </a:rPr>
              <a:t>Money Market: near-zero | Bonds: 1 to 20+ years (high sensitivity)</a:t>
            </a:r>
            <a:endParaRPr lang="en-US" sz="1050" dirty="0"/>
          </a:p>
        </p:txBody>
      </p:sp>
      <p:sp>
        <p:nvSpPr>
          <p:cNvPr id="16" name="Shape 14"/>
          <p:cNvSpPr/>
          <p:nvPr/>
        </p:nvSpPr>
        <p:spPr>
          <a:xfrm>
            <a:off x="274320" y="4003243"/>
            <a:ext cx="1920240" cy="232258"/>
          </a:xfrm>
          <a:prstGeom prst="rect">
            <a:avLst/>
          </a:prstGeom>
          <a:solidFill>
            <a:srgbClr val="007A87"/>
          </a:solidFill>
          <a:ln w="12700">
            <a:solidFill>
              <a:srgbClr val="007A87"/>
            </a:solidFill>
            <a:prstDash val="solid"/>
          </a:ln>
        </p:spPr>
      </p:sp>
      <p:sp>
        <p:nvSpPr>
          <p:cNvPr id="17" name="Shape 15"/>
          <p:cNvSpPr/>
          <p:nvPr/>
        </p:nvSpPr>
        <p:spPr>
          <a:xfrm>
            <a:off x="2240280" y="4003243"/>
            <a:ext cx="6629400" cy="232258"/>
          </a:xfrm>
          <a:prstGeom prst="rect">
            <a:avLst/>
          </a:prstGeom>
          <a:solidFill>
            <a:srgbClr val="FFFFFF"/>
          </a:solidFill>
          <a:ln w="12700">
            <a:solidFill>
              <a:srgbClr val="E0E4EF"/>
            </a:solidFill>
            <a:prstDash val="solid"/>
          </a:ln>
        </p:spPr>
      </p:sp>
      <p:sp>
        <p:nvSpPr>
          <p:cNvPr id="18" name="Text 16"/>
          <p:cNvSpPr/>
          <p:nvPr/>
        </p:nvSpPr>
        <p:spPr>
          <a:xfrm>
            <a:off x="320040" y="4021531"/>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Rate Rising Cycle</a:t>
            </a:r>
            <a:endParaRPr lang="en-US" sz="1000" dirty="0"/>
          </a:p>
        </p:txBody>
      </p:sp>
      <p:sp>
        <p:nvSpPr>
          <p:cNvPr id="19" name="Text 17"/>
          <p:cNvSpPr/>
          <p:nvPr/>
        </p:nvSpPr>
        <p:spPr>
          <a:xfrm>
            <a:off x="2304288" y="4021531"/>
            <a:ext cx="6492240" cy="195682"/>
          </a:xfrm>
          <a:prstGeom prst="rect">
            <a:avLst/>
          </a:prstGeom>
          <a:noFill/>
          <a:ln/>
        </p:spPr>
        <p:txBody>
          <a:bodyPr wrap="square" lIns="0" tIns="0" rIns="0" bIns="0" rtlCol="0" anchor="ctr"/>
          <a:lstStyle/>
          <a:p>
            <a:pPr indent="0" marL="0">
              <a:buNone/>
            </a:pPr>
            <a:r>
              <a:rPr lang="en-US" sz="1050" dirty="0">
                <a:solidFill>
                  <a:srgbClr val="404040"/>
                </a:solidFill>
              </a:rPr>
              <a:t>Prefer money market — short duration, no mark-to-market loss</a:t>
            </a:r>
            <a:endParaRPr lang="en-US" sz="1050" dirty="0"/>
          </a:p>
        </p:txBody>
      </p:sp>
      <p:sp>
        <p:nvSpPr>
          <p:cNvPr id="20" name="Shape 18"/>
          <p:cNvSpPr/>
          <p:nvPr/>
        </p:nvSpPr>
        <p:spPr>
          <a:xfrm>
            <a:off x="274320" y="4290365"/>
            <a:ext cx="1920240" cy="232258"/>
          </a:xfrm>
          <a:prstGeom prst="rect">
            <a:avLst/>
          </a:prstGeom>
          <a:solidFill>
            <a:srgbClr val="007A87"/>
          </a:solidFill>
          <a:ln w="12700">
            <a:solidFill>
              <a:srgbClr val="007A87"/>
            </a:solidFill>
            <a:prstDash val="solid"/>
          </a:ln>
        </p:spPr>
      </p:sp>
      <p:sp>
        <p:nvSpPr>
          <p:cNvPr id="21" name="Shape 19"/>
          <p:cNvSpPr/>
          <p:nvPr/>
        </p:nvSpPr>
        <p:spPr>
          <a:xfrm>
            <a:off x="2240280" y="4290365"/>
            <a:ext cx="6629400" cy="232258"/>
          </a:xfrm>
          <a:prstGeom prst="rect">
            <a:avLst/>
          </a:prstGeom>
          <a:solidFill>
            <a:srgbClr val="FFFFFF"/>
          </a:solidFill>
          <a:ln w="12700">
            <a:solidFill>
              <a:srgbClr val="E0E4EF"/>
            </a:solidFill>
            <a:prstDash val="solid"/>
          </a:ln>
        </p:spPr>
      </p:sp>
      <p:sp>
        <p:nvSpPr>
          <p:cNvPr id="22" name="Text 20"/>
          <p:cNvSpPr/>
          <p:nvPr/>
        </p:nvSpPr>
        <p:spPr>
          <a:xfrm>
            <a:off x="320040" y="4308653"/>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Rate Falling Cycle</a:t>
            </a:r>
            <a:endParaRPr lang="en-US" sz="1000" dirty="0"/>
          </a:p>
        </p:txBody>
      </p:sp>
      <p:sp>
        <p:nvSpPr>
          <p:cNvPr id="23" name="Text 21"/>
          <p:cNvSpPr/>
          <p:nvPr/>
        </p:nvSpPr>
        <p:spPr>
          <a:xfrm>
            <a:off x="2304288" y="4308653"/>
            <a:ext cx="6492240" cy="195682"/>
          </a:xfrm>
          <a:prstGeom prst="rect">
            <a:avLst/>
          </a:prstGeom>
          <a:noFill/>
          <a:ln/>
        </p:spPr>
        <p:txBody>
          <a:bodyPr wrap="square" lIns="0" tIns="0" rIns="0" bIns="0" rtlCol="0" anchor="ctr"/>
          <a:lstStyle/>
          <a:p>
            <a:pPr indent="0" marL="0">
              <a:buNone/>
            </a:pPr>
            <a:r>
              <a:rPr lang="en-US" sz="1050" dirty="0">
                <a:solidFill>
                  <a:srgbClr val="404040"/>
                </a:solidFill>
              </a:rPr>
              <a:t>Prefer long bonds — price rises as yields fall (capital gain)</a:t>
            </a:r>
            <a:endParaRPr lang="en-US" sz="1050" dirty="0"/>
          </a:p>
        </p:txBody>
      </p:sp>
      <p:sp>
        <p:nvSpPr>
          <p:cNvPr id="24" name="Shape 22"/>
          <p:cNvSpPr/>
          <p:nvPr/>
        </p:nvSpPr>
        <p:spPr>
          <a:xfrm>
            <a:off x="274320" y="4577486"/>
            <a:ext cx="1920240" cy="232258"/>
          </a:xfrm>
          <a:prstGeom prst="rect">
            <a:avLst/>
          </a:prstGeom>
          <a:solidFill>
            <a:srgbClr val="007A87"/>
          </a:solidFill>
          <a:ln w="12700">
            <a:solidFill>
              <a:srgbClr val="007A87"/>
            </a:solidFill>
            <a:prstDash val="solid"/>
          </a:ln>
        </p:spPr>
      </p:sp>
      <p:sp>
        <p:nvSpPr>
          <p:cNvPr id="25" name="Shape 23"/>
          <p:cNvSpPr/>
          <p:nvPr/>
        </p:nvSpPr>
        <p:spPr>
          <a:xfrm>
            <a:off x="2240280" y="4577486"/>
            <a:ext cx="6629400" cy="232258"/>
          </a:xfrm>
          <a:prstGeom prst="rect">
            <a:avLst/>
          </a:prstGeom>
          <a:solidFill>
            <a:srgbClr val="FFFFFF"/>
          </a:solidFill>
          <a:ln w="12700">
            <a:solidFill>
              <a:srgbClr val="E0E4EF"/>
            </a:solidFill>
            <a:prstDash val="solid"/>
          </a:ln>
        </p:spPr>
      </p:sp>
      <p:sp>
        <p:nvSpPr>
          <p:cNvPr id="26" name="Text 24"/>
          <p:cNvSpPr/>
          <p:nvPr/>
        </p:nvSpPr>
        <p:spPr>
          <a:xfrm>
            <a:off x="320040" y="4595774"/>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Liquidity</a:t>
            </a:r>
            <a:endParaRPr lang="en-US" sz="1000" dirty="0"/>
          </a:p>
        </p:txBody>
      </p:sp>
      <p:sp>
        <p:nvSpPr>
          <p:cNvPr id="27" name="Text 25"/>
          <p:cNvSpPr/>
          <p:nvPr/>
        </p:nvSpPr>
        <p:spPr>
          <a:xfrm>
            <a:off x="2304288" y="4595774"/>
            <a:ext cx="6492240" cy="195682"/>
          </a:xfrm>
          <a:prstGeom prst="rect">
            <a:avLst/>
          </a:prstGeom>
          <a:noFill/>
          <a:ln/>
        </p:spPr>
        <p:txBody>
          <a:bodyPr wrap="square" lIns="0" tIns="0" rIns="0" bIns="0" rtlCol="0" anchor="ctr"/>
          <a:lstStyle/>
          <a:p>
            <a:pPr indent="0" marL="0">
              <a:buNone/>
            </a:pPr>
            <a:r>
              <a:rPr lang="en-US" sz="1050" dirty="0">
                <a:solidFill>
                  <a:srgbClr val="404040"/>
                </a:solidFill>
              </a:rPr>
              <a:t>T-Bills, CPs: very liquid | Long corporate bonds: often illiquid</a:t>
            </a:r>
            <a:endParaRPr lang="en-US" sz="1050" dirty="0"/>
          </a:p>
        </p:txBody>
      </p:sp>
      <p:sp>
        <p:nvSpPr>
          <p:cNvPr id="28" name="Shape 26"/>
          <p:cNvSpPr/>
          <p:nvPr/>
        </p:nvSpPr>
        <p:spPr>
          <a:xfrm>
            <a:off x="0" y="4864608"/>
            <a:ext cx="9144000" cy="278892"/>
          </a:xfrm>
          <a:prstGeom prst="rect">
            <a:avLst/>
          </a:prstGeom>
          <a:solidFill>
            <a:srgbClr val="101C4F"/>
          </a:solidFill>
          <a:ln w="12700">
            <a:solidFill>
              <a:srgbClr val="101C4F"/>
            </a:solidFill>
            <a:prstDash val="solid"/>
          </a:ln>
        </p:spPr>
      </p:sp>
      <p:sp>
        <p:nvSpPr>
          <p:cNvPr id="29" name="Text 27"/>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30" name="Text 28"/>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D4.FI.7 · Bonds vs Money Market Instruments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Duration Math</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Modified Duration ≈ (Bond Maturity) × (1/(1+y)). A 10-yr bond at 7% yield: duration ~7.3. Price drops ~7.3% for each 1% rate rise.</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2022 Rotation in India</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RBI raised rates 250 bps May-Dec 2022. Bond funds with long duration fell 10-15%. Treasury desks rotated to liquid funds and T-Bills — sacrificing yield for capital protection.</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Liquid Funds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Debt mutual funds investing only in instruments with residual maturity ≤ 91 days. Near-zero duration risk. Used by corporates to park surplus for &lt; 3 months.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NDS-OM vs BSE/NSE</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G-Secs trade on RBI's NDS-OM platform. Corporate bonds trade on BSE Bond Platform or bilaterally. T-Bills and CPs trade OTC through FIMMDA/NDS-Call platform.</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D4.FI.7 · Bonds vs Money Market Instruments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fund manager holds Rs 500 crore of 10-year G-Secs. RBI is expected to raise rates by 1.5% over the next 6 months. What is the approximate mark-to-market loss? Should she sell the bonds now?</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Explain the concept of 'yield curve' — why do different tenors of the same issuer offer different yields? What does an inverted yield curve (short rates &gt; long rates) signal about economic expectations?</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D4.FI.7 · Bonds vs Money Market Instruments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How do you decide between a bond and a money market instrument for a portfolio?</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The decision depends on (1) investment horizon — short horizon: money market to avoid duration risk; (2) interest rate outlook — rising rates: money market; falling rates: long bonds; (3) liquidity needs — money market for high liquidity requirements; (4) yield requirements — bonds offer higher yield for longer lock-up.</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happens to a bond fund's NAV when interest rates rise?</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Bond fund NAV falls when interest rates rise because existing bond prices fall (inverse price-yield relationship). The longer the fund's duration, the more the NAV falls. A fund with 7-year duration loses ~7% NAV for every 1% rate rise. This is why money market funds are preferred during rate hiking cycles.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D4.FI.8</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Types of Bonds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8 of 10  |  Fixed Income Part 1</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D4.FI.8 · Types of Bonds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Fixed Rate Bonds: constant coupon for entire tenor — most common; includes standard G-Secs and NCDs</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Floating Rate Notes (FRNs): coupon resets periodically to benchmark + spread (MIBOR, T-Bill yield)</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Zero Coupon Bonds: issued at deep discount; no periodic coupon; return = price appreciation</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AT1 Bonds: perpetual; bank capital instruments; can be written down at regulatory trigger</a:t>
            </a:r>
            <a:endParaRPr lang="en-US" sz="1200" dirty="0"/>
          </a:p>
        </p:txBody>
      </p:sp>
      <p:sp>
        <p:nvSpPr>
          <p:cNvPr id="17" name="Shape 15"/>
          <p:cNvSpPr/>
          <p:nvPr/>
        </p:nvSpPr>
        <p:spPr>
          <a:xfrm>
            <a:off x="274320" y="3867912"/>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274320" y="3867912"/>
            <a:ext cx="64008" cy="612648"/>
          </a:xfrm>
          <a:prstGeom prst="rect">
            <a:avLst/>
          </a:prstGeom>
          <a:solidFill>
            <a:srgbClr val="007A87"/>
          </a:solidFill>
          <a:ln w="12700">
            <a:solidFill>
              <a:srgbClr val="007A87"/>
            </a:solidFill>
            <a:prstDash val="solid"/>
          </a:ln>
        </p:spPr>
      </p:sp>
      <p:sp>
        <p:nvSpPr>
          <p:cNvPr id="19" name="Text 17"/>
          <p:cNvSpPr/>
          <p:nvPr/>
        </p:nvSpPr>
        <p:spPr>
          <a:xfrm>
            <a:off x="475488" y="3904488"/>
            <a:ext cx="8138160" cy="539496"/>
          </a:xfrm>
          <a:prstGeom prst="rect">
            <a:avLst/>
          </a:prstGeom>
          <a:noFill/>
          <a:ln/>
        </p:spPr>
        <p:txBody>
          <a:bodyPr wrap="square" lIns="0" tIns="0" rIns="0" bIns="0" rtlCol="0" anchor="ctr"/>
          <a:lstStyle/>
          <a:p>
            <a:pPr indent="0" marL="0">
              <a:buNone/>
            </a:pPr>
            <a:r>
              <a:rPr lang="en-US" sz="1200" dirty="0">
                <a:solidFill>
                  <a:srgbClr val="404040"/>
                </a:solidFill>
              </a:rPr>
              <a:t>Inflation-Indexed Bonds (IIBs): principal adjusted with CPI/WPI — protects real returns</a:t>
            </a:r>
            <a:endParaRPr lang="en-US" sz="1200" dirty="0"/>
          </a:p>
        </p:txBody>
      </p:sp>
      <p:sp>
        <p:nvSpPr>
          <p:cNvPr id="20" name="Shape 18"/>
          <p:cNvSpPr/>
          <p:nvPr/>
        </p:nvSpPr>
        <p:spPr>
          <a:xfrm>
            <a:off x="274320" y="461772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21" name="Shape 19"/>
          <p:cNvSpPr/>
          <p:nvPr/>
        </p:nvSpPr>
        <p:spPr>
          <a:xfrm>
            <a:off x="274320" y="4617720"/>
            <a:ext cx="64008" cy="612648"/>
          </a:xfrm>
          <a:prstGeom prst="rect">
            <a:avLst/>
          </a:prstGeom>
          <a:solidFill>
            <a:srgbClr val="007A87"/>
          </a:solidFill>
          <a:ln w="12700">
            <a:solidFill>
              <a:srgbClr val="007A87"/>
            </a:solidFill>
            <a:prstDash val="solid"/>
          </a:ln>
        </p:spPr>
      </p:sp>
      <p:sp>
        <p:nvSpPr>
          <p:cNvPr id="22" name="Text 20"/>
          <p:cNvSpPr/>
          <p:nvPr/>
        </p:nvSpPr>
        <p:spPr>
          <a:xfrm>
            <a:off x="475488" y="4654296"/>
            <a:ext cx="8138160" cy="539496"/>
          </a:xfrm>
          <a:prstGeom prst="rect">
            <a:avLst/>
          </a:prstGeom>
          <a:noFill/>
          <a:ln/>
        </p:spPr>
        <p:txBody>
          <a:bodyPr wrap="square" lIns="0" tIns="0" rIns="0" bIns="0" rtlCol="0" anchor="ctr"/>
          <a:lstStyle/>
          <a:p>
            <a:pPr indent="0" marL="0">
              <a:buNone/>
            </a:pPr>
            <a:r>
              <a:rPr lang="en-US" sz="1200" dirty="0">
                <a:solidFill>
                  <a:srgbClr val="404040"/>
                </a:solidFill>
              </a:rPr>
              <a:t>Masala Bonds: INR-denominated bonds issued overseas; currency risk borne by foreign investor</a:t>
            </a:r>
            <a:endParaRPr lang="en-US" sz="1200" dirty="0"/>
          </a:p>
        </p:txBody>
      </p:sp>
      <p:sp>
        <p:nvSpPr>
          <p:cNvPr id="23" name="Shape 21"/>
          <p:cNvSpPr/>
          <p:nvPr/>
        </p:nvSpPr>
        <p:spPr>
          <a:xfrm>
            <a:off x="0" y="4864608"/>
            <a:ext cx="9144000" cy="278892"/>
          </a:xfrm>
          <a:prstGeom prst="rect">
            <a:avLst/>
          </a:prstGeom>
          <a:solidFill>
            <a:srgbClr val="101C4F"/>
          </a:solidFill>
          <a:ln w="12700">
            <a:solidFill>
              <a:srgbClr val="101C4F"/>
            </a:solidFill>
            <a:prstDash val="solid"/>
          </a:ln>
        </p:spPr>
      </p:sp>
      <p:sp>
        <p:nvSpPr>
          <p:cNvPr id="24" name="Text 22"/>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25" name="Text 23"/>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D4.FI.8 · Types of Bonds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Aria is comparing four bonds for a client who is worried about inflation (currently 6.5%) and rising interest rates: (1) Fixed 7% NCD 10-year, (2) FRN linked to MIBOR + 2%, (3) GOI Inflation-Indexed Bond, (4) Zero Coupon Bond at 15% discount. Current MIBOR = 6.8%.</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Which bond type BEST protects the client from: (a) rising interest rates, (b) high inflation, (c) reinvestment risk? Rank all four for each risk type.</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D4.FI.8 · Types of Bonds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Bond Type Taxonomy — Each Solves a Different Problem</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Different bond structures address different investor needs. FRNs address interest rate risk. IIBs address inflation risk. Zero coupon bonds address reinvestment risk. AT1 bonds address regulatory capital needs for banks. Understanding the structure determines pricing, settlement, and risk management approach.</a:t>
            </a:r>
            <a:endParaRPr lang="en-US" sz="1150" dirty="0"/>
          </a:p>
        </p:txBody>
      </p:sp>
      <p:sp>
        <p:nvSpPr>
          <p:cNvPr id="8" name="Shape 6"/>
          <p:cNvSpPr/>
          <p:nvPr/>
        </p:nvSpPr>
        <p:spPr>
          <a:xfrm>
            <a:off x="274320" y="3429000"/>
            <a:ext cx="1920240" cy="184404"/>
          </a:xfrm>
          <a:prstGeom prst="rect">
            <a:avLst/>
          </a:prstGeom>
          <a:solidFill>
            <a:srgbClr val="007A87"/>
          </a:solidFill>
          <a:ln w="12700">
            <a:solidFill>
              <a:srgbClr val="007A87"/>
            </a:solidFill>
            <a:prstDash val="solid"/>
          </a:ln>
        </p:spPr>
      </p:sp>
      <p:sp>
        <p:nvSpPr>
          <p:cNvPr id="9" name="Shape 7"/>
          <p:cNvSpPr/>
          <p:nvPr/>
        </p:nvSpPr>
        <p:spPr>
          <a:xfrm>
            <a:off x="2240280" y="3429000"/>
            <a:ext cx="6629400" cy="184404"/>
          </a:xfrm>
          <a:prstGeom prst="rect">
            <a:avLst/>
          </a:prstGeom>
          <a:solidFill>
            <a:srgbClr val="FFFFFF"/>
          </a:solidFill>
          <a:ln w="12700">
            <a:solidFill>
              <a:srgbClr val="E0E4EF"/>
            </a:solidFill>
            <a:prstDash val="solid"/>
          </a:ln>
        </p:spPr>
      </p:sp>
      <p:sp>
        <p:nvSpPr>
          <p:cNvPr id="10" name="Text 8"/>
          <p:cNvSpPr/>
          <p:nvPr/>
        </p:nvSpPr>
        <p:spPr>
          <a:xfrm>
            <a:off x="320040" y="3447288"/>
            <a:ext cx="1828800" cy="147828"/>
          </a:xfrm>
          <a:prstGeom prst="rect">
            <a:avLst/>
          </a:prstGeom>
          <a:noFill/>
          <a:ln/>
        </p:spPr>
        <p:txBody>
          <a:bodyPr wrap="square" lIns="0" tIns="0" rIns="0" bIns="0" rtlCol="0" anchor="ctr"/>
          <a:lstStyle/>
          <a:p>
            <a:pPr indent="0" marL="0">
              <a:buNone/>
            </a:pPr>
            <a:r>
              <a:rPr lang="en-US" sz="1000" b="1" dirty="0">
                <a:solidFill>
                  <a:srgbClr val="FFFFFF"/>
                </a:solidFill>
              </a:rPr>
              <a:t>Fixed Rate Bond</a:t>
            </a:r>
            <a:endParaRPr lang="en-US" sz="1000" dirty="0"/>
          </a:p>
        </p:txBody>
      </p:sp>
      <p:sp>
        <p:nvSpPr>
          <p:cNvPr id="11" name="Text 9"/>
          <p:cNvSpPr/>
          <p:nvPr/>
        </p:nvSpPr>
        <p:spPr>
          <a:xfrm>
            <a:off x="2304288" y="3447288"/>
            <a:ext cx="6492240" cy="147828"/>
          </a:xfrm>
          <a:prstGeom prst="rect">
            <a:avLst/>
          </a:prstGeom>
          <a:noFill/>
          <a:ln/>
        </p:spPr>
        <p:txBody>
          <a:bodyPr wrap="square" lIns="0" tIns="0" rIns="0" bIns="0" rtlCol="0" anchor="ctr"/>
          <a:lstStyle/>
          <a:p>
            <a:pPr indent="0" marL="0">
              <a:buNone/>
            </a:pPr>
            <a:r>
              <a:rPr lang="en-US" sz="1050" dirty="0">
                <a:solidFill>
                  <a:srgbClr val="404040"/>
                </a:solidFill>
              </a:rPr>
              <a:t>Most common; known cash flows; exposed to interest rate and inflation risk</a:t>
            </a:r>
            <a:endParaRPr lang="en-US" sz="1050" dirty="0"/>
          </a:p>
        </p:txBody>
      </p:sp>
      <p:sp>
        <p:nvSpPr>
          <p:cNvPr id="12" name="Shape 10"/>
          <p:cNvSpPr/>
          <p:nvPr/>
        </p:nvSpPr>
        <p:spPr>
          <a:xfrm>
            <a:off x="274320" y="3668268"/>
            <a:ext cx="1920240" cy="184404"/>
          </a:xfrm>
          <a:prstGeom prst="rect">
            <a:avLst/>
          </a:prstGeom>
          <a:solidFill>
            <a:srgbClr val="007A87"/>
          </a:solidFill>
          <a:ln w="12700">
            <a:solidFill>
              <a:srgbClr val="007A87"/>
            </a:solidFill>
            <a:prstDash val="solid"/>
          </a:ln>
        </p:spPr>
      </p:sp>
      <p:sp>
        <p:nvSpPr>
          <p:cNvPr id="13" name="Shape 11"/>
          <p:cNvSpPr/>
          <p:nvPr/>
        </p:nvSpPr>
        <p:spPr>
          <a:xfrm>
            <a:off x="2240280" y="3668268"/>
            <a:ext cx="6629400" cy="184404"/>
          </a:xfrm>
          <a:prstGeom prst="rect">
            <a:avLst/>
          </a:prstGeom>
          <a:solidFill>
            <a:srgbClr val="FFFFFF"/>
          </a:solidFill>
          <a:ln w="12700">
            <a:solidFill>
              <a:srgbClr val="E0E4EF"/>
            </a:solidFill>
            <a:prstDash val="solid"/>
          </a:ln>
        </p:spPr>
      </p:sp>
      <p:sp>
        <p:nvSpPr>
          <p:cNvPr id="14" name="Text 12"/>
          <p:cNvSpPr/>
          <p:nvPr/>
        </p:nvSpPr>
        <p:spPr>
          <a:xfrm>
            <a:off x="320040" y="3686556"/>
            <a:ext cx="1828800" cy="147828"/>
          </a:xfrm>
          <a:prstGeom prst="rect">
            <a:avLst/>
          </a:prstGeom>
          <a:noFill/>
          <a:ln/>
        </p:spPr>
        <p:txBody>
          <a:bodyPr wrap="square" lIns="0" tIns="0" rIns="0" bIns="0" rtlCol="0" anchor="ctr"/>
          <a:lstStyle/>
          <a:p>
            <a:pPr indent="0" marL="0">
              <a:buNone/>
            </a:pPr>
            <a:r>
              <a:rPr lang="en-US" sz="1000" b="1" dirty="0">
                <a:solidFill>
                  <a:srgbClr val="FFFFFF"/>
                </a:solidFill>
              </a:rPr>
              <a:t>Floating Rate Note</a:t>
            </a:r>
            <a:endParaRPr lang="en-US" sz="1000" dirty="0"/>
          </a:p>
        </p:txBody>
      </p:sp>
      <p:sp>
        <p:nvSpPr>
          <p:cNvPr id="15" name="Text 13"/>
          <p:cNvSpPr/>
          <p:nvPr/>
        </p:nvSpPr>
        <p:spPr>
          <a:xfrm>
            <a:off x="2304288" y="3686556"/>
            <a:ext cx="6492240" cy="147828"/>
          </a:xfrm>
          <a:prstGeom prst="rect">
            <a:avLst/>
          </a:prstGeom>
          <a:noFill/>
          <a:ln/>
        </p:spPr>
        <p:txBody>
          <a:bodyPr wrap="square" lIns="0" tIns="0" rIns="0" bIns="0" rtlCol="0" anchor="ctr"/>
          <a:lstStyle/>
          <a:p>
            <a:pPr indent="0" marL="0">
              <a:buNone/>
            </a:pPr>
            <a:r>
              <a:rPr lang="en-US" sz="1050" dirty="0">
                <a:solidFill>
                  <a:srgbClr val="404040"/>
                </a:solidFill>
              </a:rPr>
              <a:t>Coupon resets to benchmark + spread; protects from rate rise; India: MIBOR-linked</a:t>
            </a:r>
            <a:endParaRPr lang="en-US" sz="1050" dirty="0"/>
          </a:p>
        </p:txBody>
      </p:sp>
      <p:sp>
        <p:nvSpPr>
          <p:cNvPr id="16" name="Shape 14"/>
          <p:cNvSpPr/>
          <p:nvPr/>
        </p:nvSpPr>
        <p:spPr>
          <a:xfrm>
            <a:off x="274320" y="3907536"/>
            <a:ext cx="1920240" cy="184404"/>
          </a:xfrm>
          <a:prstGeom prst="rect">
            <a:avLst/>
          </a:prstGeom>
          <a:solidFill>
            <a:srgbClr val="007A87"/>
          </a:solidFill>
          <a:ln w="12700">
            <a:solidFill>
              <a:srgbClr val="007A87"/>
            </a:solidFill>
            <a:prstDash val="solid"/>
          </a:ln>
        </p:spPr>
      </p:sp>
      <p:sp>
        <p:nvSpPr>
          <p:cNvPr id="17" name="Shape 15"/>
          <p:cNvSpPr/>
          <p:nvPr/>
        </p:nvSpPr>
        <p:spPr>
          <a:xfrm>
            <a:off x="2240280" y="3907536"/>
            <a:ext cx="6629400" cy="184404"/>
          </a:xfrm>
          <a:prstGeom prst="rect">
            <a:avLst/>
          </a:prstGeom>
          <a:solidFill>
            <a:srgbClr val="FFFFFF"/>
          </a:solidFill>
          <a:ln w="12700">
            <a:solidFill>
              <a:srgbClr val="E0E4EF"/>
            </a:solidFill>
            <a:prstDash val="solid"/>
          </a:ln>
        </p:spPr>
      </p:sp>
      <p:sp>
        <p:nvSpPr>
          <p:cNvPr id="18" name="Text 16"/>
          <p:cNvSpPr/>
          <p:nvPr/>
        </p:nvSpPr>
        <p:spPr>
          <a:xfrm>
            <a:off x="320040" y="3925824"/>
            <a:ext cx="1828800" cy="147828"/>
          </a:xfrm>
          <a:prstGeom prst="rect">
            <a:avLst/>
          </a:prstGeom>
          <a:noFill/>
          <a:ln/>
        </p:spPr>
        <p:txBody>
          <a:bodyPr wrap="square" lIns="0" tIns="0" rIns="0" bIns="0" rtlCol="0" anchor="ctr"/>
          <a:lstStyle/>
          <a:p>
            <a:pPr indent="0" marL="0">
              <a:buNone/>
            </a:pPr>
            <a:r>
              <a:rPr lang="en-US" sz="1000" b="1" dirty="0">
                <a:solidFill>
                  <a:srgbClr val="FFFFFF"/>
                </a:solidFill>
              </a:rPr>
              <a:t>Zero Coupon Bond</a:t>
            </a:r>
            <a:endParaRPr lang="en-US" sz="1000" dirty="0"/>
          </a:p>
        </p:txBody>
      </p:sp>
      <p:sp>
        <p:nvSpPr>
          <p:cNvPr id="19" name="Text 17"/>
          <p:cNvSpPr/>
          <p:nvPr/>
        </p:nvSpPr>
        <p:spPr>
          <a:xfrm>
            <a:off x="2304288" y="3925824"/>
            <a:ext cx="6492240" cy="147828"/>
          </a:xfrm>
          <a:prstGeom prst="rect">
            <a:avLst/>
          </a:prstGeom>
          <a:noFill/>
          <a:ln/>
        </p:spPr>
        <p:txBody>
          <a:bodyPr wrap="square" lIns="0" tIns="0" rIns="0" bIns="0" rtlCol="0" anchor="ctr"/>
          <a:lstStyle/>
          <a:p>
            <a:pPr indent="0" marL="0">
              <a:buNone/>
            </a:pPr>
            <a:r>
              <a:rPr lang="en-US" sz="1050" dirty="0">
                <a:solidFill>
                  <a:srgbClr val="404040"/>
                </a:solidFill>
              </a:rPr>
              <a:t>Deep discount; no reinvestment risk; sensitive to duration; STRIPS in India</a:t>
            </a:r>
            <a:endParaRPr lang="en-US" sz="1050" dirty="0"/>
          </a:p>
        </p:txBody>
      </p:sp>
      <p:sp>
        <p:nvSpPr>
          <p:cNvPr id="20" name="Shape 18"/>
          <p:cNvSpPr/>
          <p:nvPr/>
        </p:nvSpPr>
        <p:spPr>
          <a:xfrm>
            <a:off x="274320" y="4146804"/>
            <a:ext cx="1920240" cy="184404"/>
          </a:xfrm>
          <a:prstGeom prst="rect">
            <a:avLst/>
          </a:prstGeom>
          <a:solidFill>
            <a:srgbClr val="007A87"/>
          </a:solidFill>
          <a:ln w="12700">
            <a:solidFill>
              <a:srgbClr val="007A87"/>
            </a:solidFill>
            <a:prstDash val="solid"/>
          </a:ln>
        </p:spPr>
      </p:sp>
      <p:sp>
        <p:nvSpPr>
          <p:cNvPr id="21" name="Shape 19"/>
          <p:cNvSpPr/>
          <p:nvPr/>
        </p:nvSpPr>
        <p:spPr>
          <a:xfrm>
            <a:off x="2240280" y="4146804"/>
            <a:ext cx="6629400" cy="184404"/>
          </a:xfrm>
          <a:prstGeom prst="rect">
            <a:avLst/>
          </a:prstGeom>
          <a:solidFill>
            <a:srgbClr val="FFFFFF"/>
          </a:solidFill>
          <a:ln w="12700">
            <a:solidFill>
              <a:srgbClr val="E0E4EF"/>
            </a:solidFill>
            <a:prstDash val="solid"/>
          </a:ln>
        </p:spPr>
      </p:sp>
      <p:sp>
        <p:nvSpPr>
          <p:cNvPr id="22" name="Text 20"/>
          <p:cNvSpPr/>
          <p:nvPr/>
        </p:nvSpPr>
        <p:spPr>
          <a:xfrm>
            <a:off x="320040" y="4165092"/>
            <a:ext cx="1828800" cy="147828"/>
          </a:xfrm>
          <a:prstGeom prst="rect">
            <a:avLst/>
          </a:prstGeom>
          <a:noFill/>
          <a:ln/>
        </p:spPr>
        <p:txBody>
          <a:bodyPr wrap="square" lIns="0" tIns="0" rIns="0" bIns="0" rtlCol="0" anchor="ctr"/>
          <a:lstStyle/>
          <a:p>
            <a:pPr indent="0" marL="0">
              <a:buNone/>
            </a:pPr>
            <a:r>
              <a:rPr lang="en-US" sz="1000" b="1" dirty="0">
                <a:solidFill>
                  <a:srgbClr val="FFFFFF"/>
                </a:solidFill>
              </a:rPr>
              <a:t>AT1 Bond</a:t>
            </a:r>
            <a:endParaRPr lang="en-US" sz="1000" dirty="0"/>
          </a:p>
        </p:txBody>
      </p:sp>
      <p:sp>
        <p:nvSpPr>
          <p:cNvPr id="23" name="Text 21"/>
          <p:cNvSpPr/>
          <p:nvPr/>
        </p:nvSpPr>
        <p:spPr>
          <a:xfrm>
            <a:off x="2304288" y="4165092"/>
            <a:ext cx="6492240" cy="147828"/>
          </a:xfrm>
          <a:prstGeom prst="rect">
            <a:avLst/>
          </a:prstGeom>
          <a:noFill/>
          <a:ln/>
        </p:spPr>
        <p:txBody>
          <a:bodyPr wrap="square" lIns="0" tIns="0" rIns="0" bIns="0" rtlCol="0" anchor="ctr"/>
          <a:lstStyle/>
          <a:p>
            <a:pPr indent="0" marL="0">
              <a:buNone/>
            </a:pPr>
            <a:r>
              <a:rPr lang="en-US" sz="1050" dirty="0">
                <a:solidFill>
                  <a:srgbClr val="404040"/>
                </a:solidFill>
              </a:rPr>
              <a:t>Perpetual; regulatory capital; write-down clause; yields 200-400 bps over G-Sec</a:t>
            </a:r>
            <a:endParaRPr lang="en-US" sz="1050" dirty="0"/>
          </a:p>
        </p:txBody>
      </p:sp>
      <p:sp>
        <p:nvSpPr>
          <p:cNvPr id="24" name="Shape 22"/>
          <p:cNvSpPr/>
          <p:nvPr/>
        </p:nvSpPr>
        <p:spPr>
          <a:xfrm>
            <a:off x="274320" y="4386072"/>
            <a:ext cx="1920240" cy="184404"/>
          </a:xfrm>
          <a:prstGeom prst="rect">
            <a:avLst/>
          </a:prstGeom>
          <a:solidFill>
            <a:srgbClr val="007A87"/>
          </a:solidFill>
          <a:ln w="12700">
            <a:solidFill>
              <a:srgbClr val="007A87"/>
            </a:solidFill>
            <a:prstDash val="solid"/>
          </a:ln>
        </p:spPr>
      </p:sp>
      <p:sp>
        <p:nvSpPr>
          <p:cNvPr id="25" name="Shape 23"/>
          <p:cNvSpPr/>
          <p:nvPr/>
        </p:nvSpPr>
        <p:spPr>
          <a:xfrm>
            <a:off x="2240280" y="4386072"/>
            <a:ext cx="6629400" cy="184404"/>
          </a:xfrm>
          <a:prstGeom prst="rect">
            <a:avLst/>
          </a:prstGeom>
          <a:solidFill>
            <a:srgbClr val="FFFFFF"/>
          </a:solidFill>
          <a:ln w="12700">
            <a:solidFill>
              <a:srgbClr val="E0E4EF"/>
            </a:solidFill>
            <a:prstDash val="solid"/>
          </a:ln>
        </p:spPr>
      </p:sp>
      <p:sp>
        <p:nvSpPr>
          <p:cNvPr id="26" name="Text 24"/>
          <p:cNvSpPr/>
          <p:nvPr/>
        </p:nvSpPr>
        <p:spPr>
          <a:xfrm>
            <a:off x="320040" y="4404360"/>
            <a:ext cx="1828800" cy="147828"/>
          </a:xfrm>
          <a:prstGeom prst="rect">
            <a:avLst/>
          </a:prstGeom>
          <a:noFill/>
          <a:ln/>
        </p:spPr>
        <p:txBody>
          <a:bodyPr wrap="square" lIns="0" tIns="0" rIns="0" bIns="0" rtlCol="0" anchor="ctr"/>
          <a:lstStyle/>
          <a:p>
            <a:pPr indent="0" marL="0">
              <a:buNone/>
            </a:pPr>
            <a:r>
              <a:rPr lang="en-US" sz="1000" b="1" dirty="0">
                <a:solidFill>
                  <a:srgbClr val="FFFFFF"/>
                </a:solidFill>
              </a:rPr>
              <a:t>IIB</a:t>
            </a:r>
            <a:endParaRPr lang="en-US" sz="1000" dirty="0"/>
          </a:p>
        </p:txBody>
      </p:sp>
      <p:sp>
        <p:nvSpPr>
          <p:cNvPr id="27" name="Text 25"/>
          <p:cNvSpPr/>
          <p:nvPr/>
        </p:nvSpPr>
        <p:spPr>
          <a:xfrm>
            <a:off x="2304288" y="4404360"/>
            <a:ext cx="6492240" cy="147828"/>
          </a:xfrm>
          <a:prstGeom prst="rect">
            <a:avLst/>
          </a:prstGeom>
          <a:noFill/>
          <a:ln/>
        </p:spPr>
        <p:txBody>
          <a:bodyPr wrap="square" lIns="0" tIns="0" rIns="0" bIns="0" rtlCol="0" anchor="ctr"/>
          <a:lstStyle/>
          <a:p>
            <a:pPr indent="0" marL="0">
              <a:buNone/>
            </a:pPr>
            <a:r>
              <a:rPr lang="en-US" sz="1050" dirty="0">
                <a:solidFill>
                  <a:srgbClr val="404040"/>
                </a:solidFill>
              </a:rPr>
              <a:t>Principal adjusted with inflation index (CPI/WPI); real return protection</a:t>
            </a:r>
            <a:endParaRPr lang="en-US" sz="1050" dirty="0"/>
          </a:p>
        </p:txBody>
      </p:sp>
      <p:sp>
        <p:nvSpPr>
          <p:cNvPr id="28" name="Shape 26"/>
          <p:cNvSpPr/>
          <p:nvPr/>
        </p:nvSpPr>
        <p:spPr>
          <a:xfrm>
            <a:off x="274320" y="4625340"/>
            <a:ext cx="1920240" cy="184404"/>
          </a:xfrm>
          <a:prstGeom prst="rect">
            <a:avLst/>
          </a:prstGeom>
          <a:solidFill>
            <a:srgbClr val="007A87"/>
          </a:solidFill>
          <a:ln w="12700">
            <a:solidFill>
              <a:srgbClr val="007A87"/>
            </a:solidFill>
            <a:prstDash val="solid"/>
          </a:ln>
        </p:spPr>
      </p:sp>
      <p:sp>
        <p:nvSpPr>
          <p:cNvPr id="29" name="Shape 27"/>
          <p:cNvSpPr/>
          <p:nvPr/>
        </p:nvSpPr>
        <p:spPr>
          <a:xfrm>
            <a:off x="2240280" y="4625340"/>
            <a:ext cx="6629400" cy="184404"/>
          </a:xfrm>
          <a:prstGeom prst="rect">
            <a:avLst/>
          </a:prstGeom>
          <a:solidFill>
            <a:srgbClr val="FFFFFF"/>
          </a:solidFill>
          <a:ln w="12700">
            <a:solidFill>
              <a:srgbClr val="E0E4EF"/>
            </a:solidFill>
            <a:prstDash val="solid"/>
          </a:ln>
        </p:spPr>
      </p:sp>
      <p:sp>
        <p:nvSpPr>
          <p:cNvPr id="30" name="Text 28"/>
          <p:cNvSpPr/>
          <p:nvPr/>
        </p:nvSpPr>
        <p:spPr>
          <a:xfrm>
            <a:off x="320040" y="4643628"/>
            <a:ext cx="1828800" cy="147828"/>
          </a:xfrm>
          <a:prstGeom prst="rect">
            <a:avLst/>
          </a:prstGeom>
          <a:noFill/>
          <a:ln/>
        </p:spPr>
        <p:txBody>
          <a:bodyPr wrap="square" lIns="0" tIns="0" rIns="0" bIns="0" rtlCol="0" anchor="ctr"/>
          <a:lstStyle/>
          <a:p>
            <a:pPr indent="0" marL="0">
              <a:buNone/>
            </a:pPr>
            <a:r>
              <a:rPr lang="en-US" sz="1000" b="1" dirty="0">
                <a:solidFill>
                  <a:srgbClr val="FFFFFF"/>
                </a:solidFill>
              </a:rPr>
              <a:t>Masala Bond</a:t>
            </a:r>
            <a:endParaRPr lang="en-US" sz="1000" dirty="0"/>
          </a:p>
        </p:txBody>
      </p:sp>
      <p:sp>
        <p:nvSpPr>
          <p:cNvPr id="31" name="Text 29"/>
          <p:cNvSpPr/>
          <p:nvPr/>
        </p:nvSpPr>
        <p:spPr>
          <a:xfrm>
            <a:off x="2304288" y="4643628"/>
            <a:ext cx="6492240" cy="147828"/>
          </a:xfrm>
          <a:prstGeom prst="rect">
            <a:avLst/>
          </a:prstGeom>
          <a:noFill/>
          <a:ln/>
        </p:spPr>
        <p:txBody>
          <a:bodyPr wrap="square" lIns="0" tIns="0" rIns="0" bIns="0" rtlCol="0" anchor="ctr"/>
          <a:lstStyle/>
          <a:p>
            <a:pPr indent="0" marL="0">
              <a:buNone/>
            </a:pPr>
            <a:r>
              <a:rPr lang="en-US" sz="1050" dirty="0">
                <a:solidFill>
                  <a:srgbClr val="404040"/>
                </a:solidFill>
              </a:rPr>
              <a:t>INR bond sold overseas; issuer hedges FX; investor bears currency risk</a:t>
            </a:r>
            <a:endParaRPr lang="en-US" sz="1050" dirty="0"/>
          </a:p>
        </p:txBody>
      </p:sp>
      <p:sp>
        <p:nvSpPr>
          <p:cNvPr id="32" name="Shape 30"/>
          <p:cNvSpPr/>
          <p:nvPr/>
        </p:nvSpPr>
        <p:spPr>
          <a:xfrm>
            <a:off x="0" y="4864608"/>
            <a:ext cx="9144000" cy="278892"/>
          </a:xfrm>
          <a:prstGeom prst="rect">
            <a:avLst/>
          </a:prstGeom>
          <a:solidFill>
            <a:srgbClr val="101C4F"/>
          </a:solidFill>
          <a:ln w="12700">
            <a:solidFill>
              <a:srgbClr val="101C4F"/>
            </a:solidFill>
            <a:prstDash val="solid"/>
          </a:ln>
        </p:spPr>
      </p:sp>
      <p:sp>
        <p:nvSpPr>
          <p:cNvPr id="33" name="Text 3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34" name="Text 3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D4.FI.8 · Types of Bonds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STRIPS in India</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GOI introduced STRIPS (Separate Trading of Registered Interest and Principal) — each coupon and principal payment of a G-Sec becomes a separate zero-coupon bond. Used for pension ALM.</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Yes Bank AT1 Write-Off</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In 2020, Yes Bank's Rs 8,415 crore AT1 bonds were fully written down to zero as part of RBI's restructuring. This was a landmark event — many retail investors lost their entire investment.</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Masala Bond History</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HDFC Ltd, NHAI, and various state utilities have issued Masala Bonds. Advantages: no FX hedging cost for issuer, access to offshore rupee demand. Disadvantage: narrow investor base.</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IIB Mechanics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GOI IIBs: principal is adjusted daily with CPI-Combined index. Semi-annual coupon applied to inflation-adjusted principal. At maturity: higher of adjusted or original principal returned.</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D4.FI.8 · Types of Bonds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In 2022 when RBI raised rates aggressively, which type of bond would have performed BEST: (a) 10-year fixed rate G-Sec, (b) 10-year FRN linked to T-Bill yield, (c) 10-year IIB, (d) 90-day T-Bill? Explain your reasoning.</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AT1 bonds in India were historically marketed to retail investors as 'safe bank bonds offering 9% yield.' What information did retail investors NOT fully understand about AT1 risks? How should these be disclosed?</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D4.FI.8 · Types of Bonds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a Floating Rate Note and when would an investor prefer it over a fixed rate bond?</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A Floating Rate Note (FRN) has a coupon that resets periodically to a benchmark rate (e.g., MIBOR + 1.5%). When interest rates are rising, FRNs are preferable because the coupon adjusts upward, protecting the investor from the price losses that fixed rate bonds suffer. FRNs have near-zero duration risk.</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are Masala Bonds and what makes them unique?</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Masala Bonds are rupee-denominated bonds issued by Indian entities in offshore markets (London, Singapore). The unique feature is that the currency risk is borne by the foreign investor, not the Indian issuer. This means Indian companies can raise foreign capital without FX hedging costs. HDFC, NHAI have been notable issuers.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D4.FI.9</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Risk Spectrum — Credit Ratings &amp; Spreads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9 of 10  |  Fixed Income Part 1</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D4.FI.9 · Risk Spectrum — Credit Ratings &amp; Spreads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Credit ratings (CRISIL, ICRA, CARE) assess probability of default: AAA (safest) to D (default)</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Credit spread = Corporate Bond Yield minus benchmark G-Sec yield. Compensation for credit risk</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Investment grade: AAA to BBB-. Sub-investment grade (junk): BB and below</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Rating downgrade → spread widens → bond price falls. Rating upgrade → spread tightens → price rises</a:t>
            </a:r>
            <a:endParaRPr lang="en-US" sz="1200" dirty="0"/>
          </a:p>
        </p:txBody>
      </p:sp>
      <p:sp>
        <p:nvSpPr>
          <p:cNvPr id="17" name="Shape 15"/>
          <p:cNvSpPr/>
          <p:nvPr/>
        </p:nvSpPr>
        <p:spPr>
          <a:xfrm>
            <a:off x="274320" y="3867912"/>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274320" y="3867912"/>
            <a:ext cx="64008" cy="612648"/>
          </a:xfrm>
          <a:prstGeom prst="rect">
            <a:avLst/>
          </a:prstGeom>
          <a:solidFill>
            <a:srgbClr val="007A87"/>
          </a:solidFill>
          <a:ln w="12700">
            <a:solidFill>
              <a:srgbClr val="007A87"/>
            </a:solidFill>
            <a:prstDash val="solid"/>
          </a:ln>
        </p:spPr>
      </p:sp>
      <p:sp>
        <p:nvSpPr>
          <p:cNvPr id="19" name="Text 17"/>
          <p:cNvSpPr/>
          <p:nvPr/>
        </p:nvSpPr>
        <p:spPr>
          <a:xfrm>
            <a:off x="475488" y="3904488"/>
            <a:ext cx="8138160" cy="539496"/>
          </a:xfrm>
          <a:prstGeom prst="rect">
            <a:avLst/>
          </a:prstGeom>
          <a:noFill/>
          <a:ln/>
        </p:spPr>
        <p:txBody>
          <a:bodyPr wrap="square" lIns="0" tIns="0" rIns="0" bIns="0" rtlCol="0" anchor="ctr"/>
          <a:lstStyle/>
          <a:p>
            <a:pPr indent="0" marL="0">
              <a:buNone/>
            </a:pPr>
            <a:r>
              <a:rPr lang="en-US" sz="1200" dirty="0">
                <a:solidFill>
                  <a:srgbClr val="404040"/>
                </a:solidFill>
              </a:rPr>
              <a:t>DV01 (Dollar Value of 01): price impact of 1 basis point yield change — key risk measure</a:t>
            </a:r>
            <a:endParaRPr lang="en-US" sz="1200" dirty="0"/>
          </a:p>
        </p:txBody>
      </p:sp>
      <p:sp>
        <p:nvSpPr>
          <p:cNvPr id="20" name="Shape 18"/>
          <p:cNvSpPr/>
          <p:nvPr/>
        </p:nvSpPr>
        <p:spPr>
          <a:xfrm>
            <a:off x="0" y="4864608"/>
            <a:ext cx="9144000" cy="278892"/>
          </a:xfrm>
          <a:prstGeom prst="rect">
            <a:avLst/>
          </a:prstGeom>
          <a:solidFill>
            <a:srgbClr val="101C4F"/>
          </a:solidFill>
          <a:ln w="12700">
            <a:solidFill>
              <a:srgbClr val="101C4F"/>
            </a:solidFill>
            <a:prstDash val="solid"/>
          </a:ln>
        </p:spPr>
      </p:sp>
      <p:sp>
        <p:nvSpPr>
          <p:cNvPr id="21" name="Text 19"/>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22" name="Text 20"/>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D4.FI.9 · Risk Spectrum — Credit Ratings &amp; Spreads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CRISIL downgrades IL&amp;FS bonds from AA to BB (sub-investment grade) citing liquidity concerns. The bond was previously yielding G-Sec + 80 bps. After downgrade, market participants demand G-Sec + 450 bps. The bond's face value is Rs 10 lakh with 5 years remaining.</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How much does the bond price change after the downgrade? Why does the spread widen so dramatically from 80 bps to 450 bps? What operational actions does a fund manager holding IL&amp;FS bonds need to take?</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D4.FI.9 · Risk Spectrum — Credit Ratings &amp; Spreads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Credit Ratings &amp; Spread Analysis — Pricing Credit Risk</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Credit spread is the market's price for taking credit risk over the risk-free rate. Investment grade bonds (AAA-BBB) have tighter spreads; junk bonds (BB and below) have wide spreads. Operations teams use ratings for collateral eligibility, margin requirements, and regulatory capital calculations.</a:t>
            </a:r>
            <a:endParaRPr lang="en-US" sz="1150" dirty="0"/>
          </a:p>
        </p:txBody>
      </p:sp>
      <p:sp>
        <p:nvSpPr>
          <p:cNvPr id="8" name="Shape 6"/>
          <p:cNvSpPr/>
          <p:nvPr/>
        </p:nvSpPr>
        <p:spPr>
          <a:xfrm>
            <a:off x="274320" y="3429000"/>
            <a:ext cx="1920240" cy="184404"/>
          </a:xfrm>
          <a:prstGeom prst="rect">
            <a:avLst/>
          </a:prstGeom>
          <a:solidFill>
            <a:srgbClr val="007A87"/>
          </a:solidFill>
          <a:ln w="12700">
            <a:solidFill>
              <a:srgbClr val="007A87"/>
            </a:solidFill>
            <a:prstDash val="solid"/>
          </a:ln>
        </p:spPr>
      </p:sp>
      <p:sp>
        <p:nvSpPr>
          <p:cNvPr id="9" name="Shape 7"/>
          <p:cNvSpPr/>
          <p:nvPr/>
        </p:nvSpPr>
        <p:spPr>
          <a:xfrm>
            <a:off x="2240280" y="3429000"/>
            <a:ext cx="6629400" cy="184404"/>
          </a:xfrm>
          <a:prstGeom prst="rect">
            <a:avLst/>
          </a:prstGeom>
          <a:solidFill>
            <a:srgbClr val="FFFFFF"/>
          </a:solidFill>
          <a:ln w="12700">
            <a:solidFill>
              <a:srgbClr val="E0E4EF"/>
            </a:solidFill>
            <a:prstDash val="solid"/>
          </a:ln>
        </p:spPr>
      </p:sp>
      <p:sp>
        <p:nvSpPr>
          <p:cNvPr id="10" name="Text 8"/>
          <p:cNvSpPr/>
          <p:nvPr/>
        </p:nvSpPr>
        <p:spPr>
          <a:xfrm>
            <a:off x="320040" y="3447288"/>
            <a:ext cx="1828800" cy="147828"/>
          </a:xfrm>
          <a:prstGeom prst="rect">
            <a:avLst/>
          </a:prstGeom>
          <a:noFill/>
          <a:ln/>
        </p:spPr>
        <p:txBody>
          <a:bodyPr wrap="square" lIns="0" tIns="0" rIns="0" bIns="0" rtlCol="0" anchor="ctr"/>
          <a:lstStyle/>
          <a:p>
            <a:pPr indent="0" marL="0">
              <a:buNone/>
            </a:pPr>
            <a:r>
              <a:rPr lang="en-US" sz="1000" b="1" dirty="0">
                <a:solidFill>
                  <a:srgbClr val="FFFFFF"/>
                </a:solidFill>
              </a:rPr>
              <a:t>AAA (CRISIL)</a:t>
            </a:r>
            <a:endParaRPr lang="en-US" sz="1000" dirty="0"/>
          </a:p>
        </p:txBody>
      </p:sp>
      <p:sp>
        <p:nvSpPr>
          <p:cNvPr id="11" name="Text 9"/>
          <p:cNvSpPr/>
          <p:nvPr/>
        </p:nvSpPr>
        <p:spPr>
          <a:xfrm>
            <a:off x="2304288" y="3447288"/>
            <a:ext cx="6492240" cy="147828"/>
          </a:xfrm>
          <a:prstGeom prst="rect">
            <a:avLst/>
          </a:prstGeom>
          <a:noFill/>
          <a:ln/>
        </p:spPr>
        <p:txBody>
          <a:bodyPr wrap="square" lIns="0" tIns="0" rIns="0" bIns="0" rtlCol="0" anchor="ctr"/>
          <a:lstStyle/>
          <a:p>
            <a:pPr indent="0" marL="0">
              <a:buNone/>
            </a:pPr>
            <a:r>
              <a:rPr lang="en-US" sz="1050" dirty="0">
                <a:solidFill>
                  <a:srgbClr val="404040"/>
                </a:solidFill>
              </a:rPr>
              <a:t>Highest quality; &lt; 10 bps spread over G-Sec; examples: GOI, top PSUs</a:t>
            </a:r>
            <a:endParaRPr lang="en-US" sz="1050" dirty="0"/>
          </a:p>
        </p:txBody>
      </p:sp>
      <p:sp>
        <p:nvSpPr>
          <p:cNvPr id="12" name="Shape 10"/>
          <p:cNvSpPr/>
          <p:nvPr/>
        </p:nvSpPr>
        <p:spPr>
          <a:xfrm>
            <a:off x="274320" y="3668268"/>
            <a:ext cx="1920240" cy="184404"/>
          </a:xfrm>
          <a:prstGeom prst="rect">
            <a:avLst/>
          </a:prstGeom>
          <a:solidFill>
            <a:srgbClr val="007A87"/>
          </a:solidFill>
          <a:ln w="12700">
            <a:solidFill>
              <a:srgbClr val="007A87"/>
            </a:solidFill>
            <a:prstDash val="solid"/>
          </a:ln>
        </p:spPr>
      </p:sp>
      <p:sp>
        <p:nvSpPr>
          <p:cNvPr id="13" name="Shape 11"/>
          <p:cNvSpPr/>
          <p:nvPr/>
        </p:nvSpPr>
        <p:spPr>
          <a:xfrm>
            <a:off x="2240280" y="3668268"/>
            <a:ext cx="6629400" cy="184404"/>
          </a:xfrm>
          <a:prstGeom prst="rect">
            <a:avLst/>
          </a:prstGeom>
          <a:solidFill>
            <a:srgbClr val="FFFFFF"/>
          </a:solidFill>
          <a:ln w="12700">
            <a:solidFill>
              <a:srgbClr val="E0E4EF"/>
            </a:solidFill>
            <a:prstDash val="solid"/>
          </a:ln>
        </p:spPr>
      </p:sp>
      <p:sp>
        <p:nvSpPr>
          <p:cNvPr id="14" name="Text 12"/>
          <p:cNvSpPr/>
          <p:nvPr/>
        </p:nvSpPr>
        <p:spPr>
          <a:xfrm>
            <a:off x="320040" y="3686556"/>
            <a:ext cx="1828800" cy="147828"/>
          </a:xfrm>
          <a:prstGeom prst="rect">
            <a:avLst/>
          </a:prstGeom>
          <a:noFill/>
          <a:ln/>
        </p:spPr>
        <p:txBody>
          <a:bodyPr wrap="square" lIns="0" tIns="0" rIns="0" bIns="0" rtlCol="0" anchor="ctr"/>
          <a:lstStyle/>
          <a:p>
            <a:pPr indent="0" marL="0">
              <a:buNone/>
            </a:pPr>
            <a:r>
              <a:rPr lang="en-US" sz="1000" b="1" dirty="0">
                <a:solidFill>
                  <a:srgbClr val="FFFFFF"/>
                </a:solidFill>
              </a:rPr>
              <a:t>AA</a:t>
            </a:r>
            <a:endParaRPr lang="en-US" sz="1000" dirty="0"/>
          </a:p>
        </p:txBody>
      </p:sp>
      <p:sp>
        <p:nvSpPr>
          <p:cNvPr id="15" name="Text 13"/>
          <p:cNvSpPr/>
          <p:nvPr/>
        </p:nvSpPr>
        <p:spPr>
          <a:xfrm>
            <a:off x="2304288" y="3686556"/>
            <a:ext cx="6492240" cy="147828"/>
          </a:xfrm>
          <a:prstGeom prst="rect">
            <a:avLst/>
          </a:prstGeom>
          <a:noFill/>
          <a:ln/>
        </p:spPr>
        <p:txBody>
          <a:bodyPr wrap="square" lIns="0" tIns="0" rIns="0" bIns="0" rtlCol="0" anchor="ctr"/>
          <a:lstStyle/>
          <a:p>
            <a:pPr indent="0" marL="0">
              <a:buNone/>
            </a:pPr>
            <a:r>
              <a:rPr lang="en-US" sz="1050" dirty="0">
                <a:solidFill>
                  <a:srgbClr val="404040"/>
                </a:solidFill>
              </a:rPr>
              <a:t>High quality; 50-100 bps spread; large corporates (HDFC, L&amp;T)</a:t>
            </a:r>
            <a:endParaRPr lang="en-US" sz="1050" dirty="0"/>
          </a:p>
        </p:txBody>
      </p:sp>
      <p:sp>
        <p:nvSpPr>
          <p:cNvPr id="16" name="Shape 14"/>
          <p:cNvSpPr/>
          <p:nvPr/>
        </p:nvSpPr>
        <p:spPr>
          <a:xfrm>
            <a:off x="274320" y="3907536"/>
            <a:ext cx="1920240" cy="184404"/>
          </a:xfrm>
          <a:prstGeom prst="rect">
            <a:avLst/>
          </a:prstGeom>
          <a:solidFill>
            <a:srgbClr val="007A87"/>
          </a:solidFill>
          <a:ln w="12700">
            <a:solidFill>
              <a:srgbClr val="007A87"/>
            </a:solidFill>
            <a:prstDash val="solid"/>
          </a:ln>
        </p:spPr>
      </p:sp>
      <p:sp>
        <p:nvSpPr>
          <p:cNvPr id="17" name="Shape 15"/>
          <p:cNvSpPr/>
          <p:nvPr/>
        </p:nvSpPr>
        <p:spPr>
          <a:xfrm>
            <a:off x="2240280" y="3907536"/>
            <a:ext cx="6629400" cy="184404"/>
          </a:xfrm>
          <a:prstGeom prst="rect">
            <a:avLst/>
          </a:prstGeom>
          <a:solidFill>
            <a:srgbClr val="FFFFFF"/>
          </a:solidFill>
          <a:ln w="12700">
            <a:solidFill>
              <a:srgbClr val="E0E4EF"/>
            </a:solidFill>
            <a:prstDash val="solid"/>
          </a:ln>
        </p:spPr>
      </p:sp>
      <p:sp>
        <p:nvSpPr>
          <p:cNvPr id="18" name="Text 16"/>
          <p:cNvSpPr/>
          <p:nvPr/>
        </p:nvSpPr>
        <p:spPr>
          <a:xfrm>
            <a:off x="320040" y="3925824"/>
            <a:ext cx="1828800" cy="147828"/>
          </a:xfrm>
          <a:prstGeom prst="rect">
            <a:avLst/>
          </a:prstGeom>
          <a:noFill/>
          <a:ln/>
        </p:spPr>
        <p:txBody>
          <a:bodyPr wrap="square" lIns="0" tIns="0" rIns="0" bIns="0" rtlCol="0" anchor="ctr"/>
          <a:lstStyle/>
          <a:p>
            <a:pPr indent="0" marL="0">
              <a:buNone/>
            </a:pPr>
            <a:r>
              <a:rPr lang="en-US" sz="1000" b="1" dirty="0">
                <a:solidFill>
                  <a:srgbClr val="FFFFFF"/>
                </a:solidFill>
              </a:rPr>
              <a:t>A</a:t>
            </a:r>
            <a:endParaRPr lang="en-US" sz="1000" dirty="0"/>
          </a:p>
        </p:txBody>
      </p:sp>
      <p:sp>
        <p:nvSpPr>
          <p:cNvPr id="19" name="Text 17"/>
          <p:cNvSpPr/>
          <p:nvPr/>
        </p:nvSpPr>
        <p:spPr>
          <a:xfrm>
            <a:off x="2304288" y="3925824"/>
            <a:ext cx="6492240" cy="147828"/>
          </a:xfrm>
          <a:prstGeom prst="rect">
            <a:avLst/>
          </a:prstGeom>
          <a:noFill/>
          <a:ln/>
        </p:spPr>
        <p:txBody>
          <a:bodyPr wrap="square" lIns="0" tIns="0" rIns="0" bIns="0" rtlCol="0" anchor="ctr"/>
          <a:lstStyle/>
          <a:p>
            <a:pPr indent="0" marL="0">
              <a:buNone/>
            </a:pPr>
            <a:r>
              <a:rPr lang="en-US" sz="1050" dirty="0">
                <a:solidFill>
                  <a:srgbClr val="404040"/>
                </a:solidFill>
              </a:rPr>
              <a:t>Upper-medium; 100-200 bps; mid-market companies</a:t>
            </a:r>
            <a:endParaRPr lang="en-US" sz="1050" dirty="0"/>
          </a:p>
        </p:txBody>
      </p:sp>
      <p:sp>
        <p:nvSpPr>
          <p:cNvPr id="20" name="Shape 18"/>
          <p:cNvSpPr/>
          <p:nvPr/>
        </p:nvSpPr>
        <p:spPr>
          <a:xfrm>
            <a:off x="274320" y="4146804"/>
            <a:ext cx="1920240" cy="184404"/>
          </a:xfrm>
          <a:prstGeom prst="rect">
            <a:avLst/>
          </a:prstGeom>
          <a:solidFill>
            <a:srgbClr val="007A87"/>
          </a:solidFill>
          <a:ln w="12700">
            <a:solidFill>
              <a:srgbClr val="007A87"/>
            </a:solidFill>
            <a:prstDash val="solid"/>
          </a:ln>
        </p:spPr>
      </p:sp>
      <p:sp>
        <p:nvSpPr>
          <p:cNvPr id="21" name="Shape 19"/>
          <p:cNvSpPr/>
          <p:nvPr/>
        </p:nvSpPr>
        <p:spPr>
          <a:xfrm>
            <a:off x="2240280" y="4146804"/>
            <a:ext cx="6629400" cy="184404"/>
          </a:xfrm>
          <a:prstGeom prst="rect">
            <a:avLst/>
          </a:prstGeom>
          <a:solidFill>
            <a:srgbClr val="FFFFFF"/>
          </a:solidFill>
          <a:ln w="12700">
            <a:solidFill>
              <a:srgbClr val="E0E4EF"/>
            </a:solidFill>
            <a:prstDash val="solid"/>
          </a:ln>
        </p:spPr>
      </p:sp>
      <p:sp>
        <p:nvSpPr>
          <p:cNvPr id="22" name="Text 20"/>
          <p:cNvSpPr/>
          <p:nvPr/>
        </p:nvSpPr>
        <p:spPr>
          <a:xfrm>
            <a:off x="320040" y="4165092"/>
            <a:ext cx="1828800" cy="147828"/>
          </a:xfrm>
          <a:prstGeom prst="rect">
            <a:avLst/>
          </a:prstGeom>
          <a:noFill/>
          <a:ln/>
        </p:spPr>
        <p:txBody>
          <a:bodyPr wrap="square" lIns="0" tIns="0" rIns="0" bIns="0" rtlCol="0" anchor="ctr"/>
          <a:lstStyle/>
          <a:p>
            <a:pPr indent="0" marL="0">
              <a:buNone/>
            </a:pPr>
            <a:r>
              <a:rPr lang="en-US" sz="1000" b="1" dirty="0">
                <a:solidFill>
                  <a:srgbClr val="FFFFFF"/>
                </a:solidFill>
              </a:rPr>
              <a:t>BBB</a:t>
            </a:r>
            <a:endParaRPr lang="en-US" sz="1000" dirty="0"/>
          </a:p>
        </p:txBody>
      </p:sp>
      <p:sp>
        <p:nvSpPr>
          <p:cNvPr id="23" name="Text 21"/>
          <p:cNvSpPr/>
          <p:nvPr/>
        </p:nvSpPr>
        <p:spPr>
          <a:xfrm>
            <a:off x="2304288" y="4165092"/>
            <a:ext cx="6492240" cy="147828"/>
          </a:xfrm>
          <a:prstGeom prst="rect">
            <a:avLst/>
          </a:prstGeom>
          <a:noFill/>
          <a:ln/>
        </p:spPr>
        <p:txBody>
          <a:bodyPr wrap="square" lIns="0" tIns="0" rIns="0" bIns="0" rtlCol="0" anchor="ctr"/>
          <a:lstStyle/>
          <a:p>
            <a:pPr indent="0" marL="0">
              <a:buNone/>
            </a:pPr>
            <a:r>
              <a:rPr lang="en-US" sz="1050" dirty="0">
                <a:solidFill>
                  <a:srgbClr val="404040"/>
                </a:solidFill>
              </a:rPr>
              <a:t>Investment grade floor; 200-350 bps; increased monitoring required</a:t>
            </a:r>
            <a:endParaRPr lang="en-US" sz="1050" dirty="0"/>
          </a:p>
        </p:txBody>
      </p:sp>
      <p:sp>
        <p:nvSpPr>
          <p:cNvPr id="24" name="Shape 22"/>
          <p:cNvSpPr/>
          <p:nvPr/>
        </p:nvSpPr>
        <p:spPr>
          <a:xfrm>
            <a:off x="274320" y="4386072"/>
            <a:ext cx="1920240" cy="184404"/>
          </a:xfrm>
          <a:prstGeom prst="rect">
            <a:avLst/>
          </a:prstGeom>
          <a:solidFill>
            <a:srgbClr val="007A87"/>
          </a:solidFill>
          <a:ln w="12700">
            <a:solidFill>
              <a:srgbClr val="007A87"/>
            </a:solidFill>
            <a:prstDash val="solid"/>
          </a:ln>
        </p:spPr>
      </p:sp>
      <p:sp>
        <p:nvSpPr>
          <p:cNvPr id="25" name="Shape 23"/>
          <p:cNvSpPr/>
          <p:nvPr/>
        </p:nvSpPr>
        <p:spPr>
          <a:xfrm>
            <a:off x="2240280" y="4386072"/>
            <a:ext cx="6629400" cy="184404"/>
          </a:xfrm>
          <a:prstGeom prst="rect">
            <a:avLst/>
          </a:prstGeom>
          <a:solidFill>
            <a:srgbClr val="FFFFFF"/>
          </a:solidFill>
          <a:ln w="12700">
            <a:solidFill>
              <a:srgbClr val="E0E4EF"/>
            </a:solidFill>
            <a:prstDash val="solid"/>
          </a:ln>
        </p:spPr>
      </p:sp>
      <p:sp>
        <p:nvSpPr>
          <p:cNvPr id="26" name="Text 24"/>
          <p:cNvSpPr/>
          <p:nvPr/>
        </p:nvSpPr>
        <p:spPr>
          <a:xfrm>
            <a:off x="320040" y="4404360"/>
            <a:ext cx="1828800" cy="147828"/>
          </a:xfrm>
          <a:prstGeom prst="rect">
            <a:avLst/>
          </a:prstGeom>
          <a:noFill/>
          <a:ln/>
        </p:spPr>
        <p:txBody>
          <a:bodyPr wrap="square" lIns="0" tIns="0" rIns="0" bIns="0" rtlCol="0" anchor="ctr"/>
          <a:lstStyle/>
          <a:p>
            <a:pPr indent="0" marL="0">
              <a:buNone/>
            </a:pPr>
            <a:r>
              <a:rPr lang="en-US" sz="1000" b="1" dirty="0">
                <a:solidFill>
                  <a:srgbClr val="FFFFFF"/>
                </a:solidFill>
              </a:rPr>
              <a:t>BB and below</a:t>
            </a:r>
            <a:endParaRPr lang="en-US" sz="1000" dirty="0"/>
          </a:p>
        </p:txBody>
      </p:sp>
      <p:sp>
        <p:nvSpPr>
          <p:cNvPr id="27" name="Text 25"/>
          <p:cNvSpPr/>
          <p:nvPr/>
        </p:nvSpPr>
        <p:spPr>
          <a:xfrm>
            <a:off x="2304288" y="4404360"/>
            <a:ext cx="6492240" cy="147828"/>
          </a:xfrm>
          <a:prstGeom prst="rect">
            <a:avLst/>
          </a:prstGeom>
          <a:noFill/>
          <a:ln/>
        </p:spPr>
        <p:txBody>
          <a:bodyPr wrap="square" lIns="0" tIns="0" rIns="0" bIns="0" rtlCol="0" anchor="ctr"/>
          <a:lstStyle/>
          <a:p>
            <a:pPr indent="0" marL="0">
              <a:buNone/>
            </a:pPr>
            <a:r>
              <a:rPr lang="en-US" sz="1050" dirty="0">
                <a:solidFill>
                  <a:srgbClr val="404040"/>
                </a:solidFill>
              </a:rPr>
              <a:t>Speculative/junk; 350-1000+ bps; high default risk; restricted pools</a:t>
            </a:r>
            <a:endParaRPr lang="en-US" sz="1050" dirty="0"/>
          </a:p>
        </p:txBody>
      </p:sp>
      <p:sp>
        <p:nvSpPr>
          <p:cNvPr id="28" name="Shape 26"/>
          <p:cNvSpPr/>
          <p:nvPr/>
        </p:nvSpPr>
        <p:spPr>
          <a:xfrm>
            <a:off x="274320" y="4625340"/>
            <a:ext cx="1920240" cy="184404"/>
          </a:xfrm>
          <a:prstGeom prst="rect">
            <a:avLst/>
          </a:prstGeom>
          <a:solidFill>
            <a:srgbClr val="007A87"/>
          </a:solidFill>
          <a:ln w="12700">
            <a:solidFill>
              <a:srgbClr val="007A87"/>
            </a:solidFill>
            <a:prstDash val="solid"/>
          </a:ln>
        </p:spPr>
      </p:sp>
      <p:sp>
        <p:nvSpPr>
          <p:cNvPr id="29" name="Shape 27"/>
          <p:cNvSpPr/>
          <p:nvPr/>
        </p:nvSpPr>
        <p:spPr>
          <a:xfrm>
            <a:off x="2240280" y="4625340"/>
            <a:ext cx="6629400" cy="184404"/>
          </a:xfrm>
          <a:prstGeom prst="rect">
            <a:avLst/>
          </a:prstGeom>
          <a:solidFill>
            <a:srgbClr val="FFFFFF"/>
          </a:solidFill>
          <a:ln w="12700">
            <a:solidFill>
              <a:srgbClr val="E0E4EF"/>
            </a:solidFill>
            <a:prstDash val="solid"/>
          </a:ln>
        </p:spPr>
      </p:sp>
      <p:sp>
        <p:nvSpPr>
          <p:cNvPr id="30" name="Text 28"/>
          <p:cNvSpPr/>
          <p:nvPr/>
        </p:nvSpPr>
        <p:spPr>
          <a:xfrm>
            <a:off x="320040" y="4643628"/>
            <a:ext cx="1828800" cy="147828"/>
          </a:xfrm>
          <a:prstGeom prst="rect">
            <a:avLst/>
          </a:prstGeom>
          <a:noFill/>
          <a:ln/>
        </p:spPr>
        <p:txBody>
          <a:bodyPr wrap="square" lIns="0" tIns="0" rIns="0" bIns="0" rtlCol="0" anchor="ctr"/>
          <a:lstStyle/>
          <a:p>
            <a:pPr indent="0" marL="0">
              <a:buNone/>
            </a:pPr>
            <a:r>
              <a:rPr lang="en-US" sz="1000" b="1" dirty="0">
                <a:solidFill>
                  <a:srgbClr val="FFFFFF"/>
                </a:solidFill>
              </a:rPr>
              <a:t>D</a:t>
            </a:r>
            <a:endParaRPr lang="en-US" sz="1000" dirty="0"/>
          </a:p>
        </p:txBody>
      </p:sp>
      <p:sp>
        <p:nvSpPr>
          <p:cNvPr id="31" name="Text 29"/>
          <p:cNvSpPr/>
          <p:nvPr/>
        </p:nvSpPr>
        <p:spPr>
          <a:xfrm>
            <a:off x="2304288" y="4643628"/>
            <a:ext cx="6492240" cy="147828"/>
          </a:xfrm>
          <a:prstGeom prst="rect">
            <a:avLst/>
          </a:prstGeom>
          <a:noFill/>
          <a:ln/>
        </p:spPr>
        <p:txBody>
          <a:bodyPr wrap="square" lIns="0" tIns="0" rIns="0" bIns="0" rtlCol="0" anchor="ctr"/>
          <a:lstStyle/>
          <a:p>
            <a:pPr indent="0" marL="0">
              <a:buNone/>
            </a:pPr>
            <a:r>
              <a:rPr lang="en-US" sz="1050" dirty="0">
                <a:solidFill>
                  <a:srgbClr val="404040"/>
                </a:solidFill>
              </a:rPr>
              <a:t>Default; issuer has failed to pay; bond value near recovery amount only</a:t>
            </a:r>
            <a:endParaRPr lang="en-US" sz="1050" dirty="0"/>
          </a:p>
        </p:txBody>
      </p:sp>
      <p:sp>
        <p:nvSpPr>
          <p:cNvPr id="32" name="Shape 30"/>
          <p:cNvSpPr/>
          <p:nvPr/>
        </p:nvSpPr>
        <p:spPr>
          <a:xfrm>
            <a:off x="0" y="4864608"/>
            <a:ext cx="9144000" cy="278892"/>
          </a:xfrm>
          <a:prstGeom prst="rect">
            <a:avLst/>
          </a:prstGeom>
          <a:solidFill>
            <a:srgbClr val="101C4F"/>
          </a:solidFill>
          <a:ln w="12700">
            <a:solidFill>
              <a:srgbClr val="101C4F"/>
            </a:solidFill>
            <a:prstDash val="solid"/>
          </a:ln>
        </p:spPr>
      </p:sp>
      <p:sp>
        <p:nvSpPr>
          <p:cNvPr id="33" name="Text 3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34" name="Text 3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D4.FI.9 · Risk Spectrum — Credit Ratings &amp; Spreads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IL&amp;FS Crisis (2018)</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IL&amp;FS, previously AAA-rated, defaulted in 2018 shocking the market. Spreads on NBFC bonds widened 200-400 bps overnight. Funds holding IL&amp;FS bonds marked to zero. Major liquidity crisis in NBFC sector.</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DV01 (Dollar Value of 01)</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DV01 = bond's price sensitivity to 1 bp yield change. DV01 = Modified Duration × Market Value / 10,000. Used by traders to hedge interest rate exposure.</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Z-Spread</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Z-spread = constant spread over the entire zero-coupon yield curve that equates bond's PV to market price. More precise than simple G-Sec spread for structured bonds.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Rating Agency Mandates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SEBI mandates credit ratings for all public bond issues above Rs 500 crore. Mutual funds can only hold investment grade bonds in regulated schemes. SLR-eligible instruments must be government-issued or AAA PSU.</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D4.FI.9 · Risk Spectrum — Credit Ratings &amp; Spreads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IL&amp;FS default in 2018 and the Yes Bank AT1 write-off in 2020 both involved bonds that were investment-grade or high-grade before the event. What does this tell us about the limitations of credit ratings as a risk tool?</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bond fund holds Rs 100 crore of a corporate bond rated A+ with DV01 of Rs 70,000. The issuer is put on 'rating watch negative' by ICRA. What market actions are likely, and what does the fund manager need to do?</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D4.FI.9 · Risk Spectrum — Credit Ratings &amp; Spreads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a credit spread and what does it represent?</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A credit spread is the yield premium a corporate bond pays over a comparable benchmark G-Sec. It represents the market's compensation for credit risk — the risk that the issuer may default. A 200 bps spread means the corporate bond yields 2% more than the G-Sec. Wider spread = higher perceived risk.</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DV01 and how is it used in bond risk management?</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DV01 (Dollar Value of 01, also called PVBP) measures a bond's price change for a 1 basis point (0.01%) change in yield. It equals Modified Duration × Market Value / 10,000. Traders use DV01 to size hedges — if a bond position has DV01 of Rs 50,000, a 10 bps yield rise causes Rs 5,00,000 loss.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D4.FI.10</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Role of Fixed Income in a Portfolio</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10 of 10  |  Fixed Income Part 1</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D4.FI.10 · Role of Fixed Income in a Portfolio</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Fixed income provides stability, income, and diversification — the three pillars of portfolio construction</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Bond ladder: stagger maturities to provide regular liquidity and reduce reinvestment risk</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60/40 portfolio: 60% equities + 40% bonds — classic balanced framework; bonds cushion equity losses</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Duration immunisation: match portfolio duration to liability duration — used by pension funds and insurers</a:t>
            </a:r>
            <a:endParaRPr lang="en-US" sz="1200" dirty="0"/>
          </a:p>
        </p:txBody>
      </p:sp>
      <p:sp>
        <p:nvSpPr>
          <p:cNvPr id="17" name="Shape 15"/>
          <p:cNvSpPr/>
          <p:nvPr/>
        </p:nvSpPr>
        <p:spPr>
          <a:xfrm>
            <a:off x="274320" y="3867912"/>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274320" y="3867912"/>
            <a:ext cx="64008" cy="612648"/>
          </a:xfrm>
          <a:prstGeom prst="rect">
            <a:avLst/>
          </a:prstGeom>
          <a:solidFill>
            <a:srgbClr val="007A87"/>
          </a:solidFill>
          <a:ln w="12700">
            <a:solidFill>
              <a:srgbClr val="007A87"/>
            </a:solidFill>
            <a:prstDash val="solid"/>
          </a:ln>
        </p:spPr>
      </p:sp>
      <p:sp>
        <p:nvSpPr>
          <p:cNvPr id="19" name="Text 17"/>
          <p:cNvSpPr/>
          <p:nvPr/>
        </p:nvSpPr>
        <p:spPr>
          <a:xfrm>
            <a:off x="475488" y="3904488"/>
            <a:ext cx="8138160" cy="539496"/>
          </a:xfrm>
          <a:prstGeom prst="rect">
            <a:avLst/>
          </a:prstGeom>
          <a:noFill/>
          <a:ln/>
        </p:spPr>
        <p:txBody>
          <a:bodyPr wrap="square" lIns="0" tIns="0" rIns="0" bIns="0" rtlCol="0" anchor="ctr"/>
          <a:lstStyle/>
          <a:p>
            <a:pPr indent="0" marL="0">
              <a:buNone/>
            </a:pPr>
            <a:r>
              <a:rPr lang="en-US" sz="1200" dirty="0">
                <a:solidFill>
                  <a:srgbClr val="404040"/>
                </a:solidFill>
              </a:rPr>
              <a:t>Barbell strategy: concentrate in very short + very long bonds; avoid the mid-tenor range</a:t>
            </a:r>
            <a:endParaRPr lang="en-US" sz="1200" dirty="0"/>
          </a:p>
        </p:txBody>
      </p:sp>
      <p:sp>
        <p:nvSpPr>
          <p:cNvPr id="20" name="Shape 18"/>
          <p:cNvSpPr/>
          <p:nvPr/>
        </p:nvSpPr>
        <p:spPr>
          <a:xfrm>
            <a:off x="0" y="4864608"/>
            <a:ext cx="9144000" cy="278892"/>
          </a:xfrm>
          <a:prstGeom prst="rect">
            <a:avLst/>
          </a:prstGeom>
          <a:solidFill>
            <a:srgbClr val="101C4F"/>
          </a:solidFill>
          <a:ln w="12700">
            <a:solidFill>
              <a:srgbClr val="101C4F"/>
            </a:solidFill>
            <a:prstDash val="solid"/>
          </a:ln>
        </p:spPr>
      </p:sp>
      <p:sp>
        <p:nvSpPr>
          <p:cNvPr id="21" name="Text 19"/>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22" name="Text 20"/>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D4.FI.10 · Role of Fixed Income in a Portfolio</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Kavi is now working at an asset management company. She is helping construct three model portfolios: (1) A retiree aged 65 needing monthly income, (2) A 35-year-old with long-term wealth accumulation goals, (3) A corporate pension fund with payouts starting in 15 years. Her manager asks her to recommend fixed income allocation and instrument type for each.</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What fixed income allocation (as % of portfolio) and what specific instruments would Kavi recommend for each investor? How does the bond ladder work for the retiree's needs?</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D4.FI.10 · Role of Fixed Income in a Portfolio</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Fixed Income Portfolio Strategies</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Fixed income serves different functions in different portfolios. For retirees: income generation and capital preservation. For growth investors: diversification and volatility buffer. For institutional investors: ALM and liability matching. The choice of duration, credit quality, and strategy (ladder, barbell, bullet) determines outcomes.</a:t>
            </a:r>
            <a:endParaRPr lang="en-US" sz="1150" dirty="0"/>
          </a:p>
        </p:txBody>
      </p:sp>
      <p:sp>
        <p:nvSpPr>
          <p:cNvPr id="8" name="Shape 6"/>
          <p:cNvSpPr/>
          <p:nvPr/>
        </p:nvSpPr>
        <p:spPr>
          <a:xfrm>
            <a:off x="274320" y="3429000"/>
            <a:ext cx="1920240" cy="23225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232258"/>
          </a:xfrm>
          <a:prstGeom prst="rect">
            <a:avLst/>
          </a:prstGeom>
          <a:solidFill>
            <a:srgbClr val="FFFFFF"/>
          </a:solidFill>
          <a:ln w="12700">
            <a:solidFill>
              <a:srgbClr val="E0E4EF"/>
            </a:solidFill>
            <a:prstDash val="solid"/>
          </a:ln>
        </p:spPr>
      </p:sp>
      <p:sp>
        <p:nvSpPr>
          <p:cNvPr id="10" name="Text 8"/>
          <p:cNvSpPr/>
          <p:nvPr/>
        </p:nvSpPr>
        <p:spPr>
          <a:xfrm>
            <a:off x="320040" y="3447288"/>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Bond Ladder</a:t>
            </a:r>
            <a:endParaRPr lang="en-US" sz="1000" dirty="0"/>
          </a:p>
        </p:txBody>
      </p:sp>
      <p:sp>
        <p:nvSpPr>
          <p:cNvPr id="11" name="Text 9"/>
          <p:cNvSpPr/>
          <p:nvPr/>
        </p:nvSpPr>
        <p:spPr>
          <a:xfrm>
            <a:off x="2304288" y="3447288"/>
            <a:ext cx="6492240" cy="195682"/>
          </a:xfrm>
          <a:prstGeom prst="rect">
            <a:avLst/>
          </a:prstGeom>
          <a:noFill/>
          <a:ln/>
        </p:spPr>
        <p:txBody>
          <a:bodyPr wrap="square" lIns="0" tIns="0" rIns="0" bIns="0" rtlCol="0" anchor="ctr"/>
          <a:lstStyle/>
          <a:p>
            <a:pPr indent="0" marL="0">
              <a:buNone/>
            </a:pPr>
            <a:r>
              <a:rPr lang="en-US" sz="1050" dirty="0">
                <a:solidFill>
                  <a:srgbClr val="404040"/>
                </a:solidFill>
              </a:rPr>
              <a:t>Bonds maturing at intervals (1,2,3,5 yr): regular liquidity + smooth reinvestment</a:t>
            </a:r>
            <a:endParaRPr lang="en-US" sz="1050" dirty="0"/>
          </a:p>
        </p:txBody>
      </p:sp>
      <p:sp>
        <p:nvSpPr>
          <p:cNvPr id="12" name="Shape 10"/>
          <p:cNvSpPr/>
          <p:nvPr/>
        </p:nvSpPr>
        <p:spPr>
          <a:xfrm>
            <a:off x="274320" y="3716122"/>
            <a:ext cx="1920240" cy="232258"/>
          </a:xfrm>
          <a:prstGeom prst="rect">
            <a:avLst/>
          </a:prstGeom>
          <a:solidFill>
            <a:srgbClr val="007A87"/>
          </a:solidFill>
          <a:ln w="12700">
            <a:solidFill>
              <a:srgbClr val="007A87"/>
            </a:solidFill>
            <a:prstDash val="solid"/>
          </a:ln>
        </p:spPr>
      </p:sp>
      <p:sp>
        <p:nvSpPr>
          <p:cNvPr id="13" name="Shape 11"/>
          <p:cNvSpPr/>
          <p:nvPr/>
        </p:nvSpPr>
        <p:spPr>
          <a:xfrm>
            <a:off x="2240280" y="3716122"/>
            <a:ext cx="6629400" cy="232258"/>
          </a:xfrm>
          <a:prstGeom prst="rect">
            <a:avLst/>
          </a:prstGeom>
          <a:solidFill>
            <a:srgbClr val="FFFFFF"/>
          </a:solidFill>
          <a:ln w="12700">
            <a:solidFill>
              <a:srgbClr val="E0E4EF"/>
            </a:solidFill>
            <a:prstDash val="solid"/>
          </a:ln>
        </p:spPr>
      </p:sp>
      <p:sp>
        <p:nvSpPr>
          <p:cNvPr id="14" name="Text 12"/>
          <p:cNvSpPr/>
          <p:nvPr/>
        </p:nvSpPr>
        <p:spPr>
          <a:xfrm>
            <a:off x="320040" y="3734410"/>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Bullet Strategy</a:t>
            </a:r>
            <a:endParaRPr lang="en-US" sz="1000" dirty="0"/>
          </a:p>
        </p:txBody>
      </p:sp>
      <p:sp>
        <p:nvSpPr>
          <p:cNvPr id="15" name="Text 13"/>
          <p:cNvSpPr/>
          <p:nvPr/>
        </p:nvSpPr>
        <p:spPr>
          <a:xfrm>
            <a:off x="2304288" y="3734410"/>
            <a:ext cx="6492240" cy="195682"/>
          </a:xfrm>
          <a:prstGeom prst="rect">
            <a:avLst/>
          </a:prstGeom>
          <a:noFill/>
          <a:ln/>
        </p:spPr>
        <p:txBody>
          <a:bodyPr wrap="square" lIns="0" tIns="0" rIns="0" bIns="0" rtlCol="0" anchor="ctr"/>
          <a:lstStyle/>
          <a:p>
            <a:pPr indent="0" marL="0">
              <a:buNone/>
            </a:pPr>
            <a:r>
              <a:rPr lang="en-US" sz="1050" dirty="0">
                <a:solidFill>
                  <a:srgbClr val="404040"/>
                </a:solidFill>
              </a:rPr>
              <a:t>All bonds mature at one date: maximum ALM precision for known liability</a:t>
            </a:r>
            <a:endParaRPr lang="en-US" sz="1050" dirty="0"/>
          </a:p>
        </p:txBody>
      </p:sp>
      <p:sp>
        <p:nvSpPr>
          <p:cNvPr id="16" name="Shape 14"/>
          <p:cNvSpPr/>
          <p:nvPr/>
        </p:nvSpPr>
        <p:spPr>
          <a:xfrm>
            <a:off x="274320" y="4003243"/>
            <a:ext cx="1920240" cy="232258"/>
          </a:xfrm>
          <a:prstGeom prst="rect">
            <a:avLst/>
          </a:prstGeom>
          <a:solidFill>
            <a:srgbClr val="007A87"/>
          </a:solidFill>
          <a:ln w="12700">
            <a:solidFill>
              <a:srgbClr val="007A87"/>
            </a:solidFill>
            <a:prstDash val="solid"/>
          </a:ln>
        </p:spPr>
      </p:sp>
      <p:sp>
        <p:nvSpPr>
          <p:cNvPr id="17" name="Shape 15"/>
          <p:cNvSpPr/>
          <p:nvPr/>
        </p:nvSpPr>
        <p:spPr>
          <a:xfrm>
            <a:off x="2240280" y="4003243"/>
            <a:ext cx="6629400" cy="232258"/>
          </a:xfrm>
          <a:prstGeom prst="rect">
            <a:avLst/>
          </a:prstGeom>
          <a:solidFill>
            <a:srgbClr val="FFFFFF"/>
          </a:solidFill>
          <a:ln w="12700">
            <a:solidFill>
              <a:srgbClr val="E0E4EF"/>
            </a:solidFill>
            <a:prstDash val="solid"/>
          </a:ln>
        </p:spPr>
      </p:sp>
      <p:sp>
        <p:nvSpPr>
          <p:cNvPr id="18" name="Text 16"/>
          <p:cNvSpPr/>
          <p:nvPr/>
        </p:nvSpPr>
        <p:spPr>
          <a:xfrm>
            <a:off x="320040" y="4021531"/>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Barbell Strategy</a:t>
            </a:r>
            <a:endParaRPr lang="en-US" sz="1000" dirty="0"/>
          </a:p>
        </p:txBody>
      </p:sp>
      <p:sp>
        <p:nvSpPr>
          <p:cNvPr id="19" name="Text 17"/>
          <p:cNvSpPr/>
          <p:nvPr/>
        </p:nvSpPr>
        <p:spPr>
          <a:xfrm>
            <a:off x="2304288" y="4021531"/>
            <a:ext cx="6492240" cy="195682"/>
          </a:xfrm>
          <a:prstGeom prst="rect">
            <a:avLst/>
          </a:prstGeom>
          <a:noFill/>
          <a:ln/>
        </p:spPr>
        <p:txBody>
          <a:bodyPr wrap="square" lIns="0" tIns="0" rIns="0" bIns="0" rtlCol="0" anchor="ctr"/>
          <a:lstStyle/>
          <a:p>
            <a:pPr indent="0" marL="0">
              <a:buNone/>
            </a:pPr>
            <a:r>
              <a:rPr lang="en-US" sz="1050" dirty="0">
                <a:solidFill>
                  <a:srgbClr val="404040"/>
                </a:solidFill>
              </a:rPr>
              <a:t>Short + long bonds only: captures short liquidity + long yield premium</a:t>
            </a:r>
            <a:endParaRPr lang="en-US" sz="1050" dirty="0"/>
          </a:p>
        </p:txBody>
      </p:sp>
      <p:sp>
        <p:nvSpPr>
          <p:cNvPr id="20" name="Shape 18"/>
          <p:cNvSpPr/>
          <p:nvPr/>
        </p:nvSpPr>
        <p:spPr>
          <a:xfrm>
            <a:off x="274320" y="4290365"/>
            <a:ext cx="1920240" cy="232258"/>
          </a:xfrm>
          <a:prstGeom prst="rect">
            <a:avLst/>
          </a:prstGeom>
          <a:solidFill>
            <a:srgbClr val="007A87"/>
          </a:solidFill>
          <a:ln w="12700">
            <a:solidFill>
              <a:srgbClr val="007A87"/>
            </a:solidFill>
            <a:prstDash val="solid"/>
          </a:ln>
        </p:spPr>
      </p:sp>
      <p:sp>
        <p:nvSpPr>
          <p:cNvPr id="21" name="Shape 19"/>
          <p:cNvSpPr/>
          <p:nvPr/>
        </p:nvSpPr>
        <p:spPr>
          <a:xfrm>
            <a:off x="2240280" y="4290365"/>
            <a:ext cx="6629400" cy="232258"/>
          </a:xfrm>
          <a:prstGeom prst="rect">
            <a:avLst/>
          </a:prstGeom>
          <a:solidFill>
            <a:srgbClr val="FFFFFF"/>
          </a:solidFill>
          <a:ln w="12700">
            <a:solidFill>
              <a:srgbClr val="E0E4EF"/>
            </a:solidFill>
            <a:prstDash val="solid"/>
          </a:ln>
        </p:spPr>
      </p:sp>
      <p:sp>
        <p:nvSpPr>
          <p:cNvPr id="22" name="Text 20"/>
          <p:cNvSpPr/>
          <p:nvPr/>
        </p:nvSpPr>
        <p:spPr>
          <a:xfrm>
            <a:off x="320040" y="4308653"/>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Duration Immunisation</a:t>
            </a:r>
            <a:endParaRPr lang="en-US" sz="1000" dirty="0"/>
          </a:p>
        </p:txBody>
      </p:sp>
      <p:sp>
        <p:nvSpPr>
          <p:cNvPr id="23" name="Text 21"/>
          <p:cNvSpPr/>
          <p:nvPr/>
        </p:nvSpPr>
        <p:spPr>
          <a:xfrm>
            <a:off x="2304288" y="4308653"/>
            <a:ext cx="6492240" cy="195682"/>
          </a:xfrm>
          <a:prstGeom prst="rect">
            <a:avLst/>
          </a:prstGeom>
          <a:noFill/>
          <a:ln/>
        </p:spPr>
        <p:txBody>
          <a:bodyPr wrap="square" lIns="0" tIns="0" rIns="0" bIns="0" rtlCol="0" anchor="ctr"/>
          <a:lstStyle/>
          <a:p>
            <a:pPr indent="0" marL="0">
              <a:buNone/>
            </a:pPr>
            <a:r>
              <a:rPr lang="en-US" sz="1050" dirty="0">
                <a:solidFill>
                  <a:srgbClr val="404040"/>
                </a:solidFill>
              </a:rPr>
              <a:t>Match portfolio duration to liability: immune to parallel rate shifts</a:t>
            </a:r>
            <a:endParaRPr lang="en-US" sz="1050" dirty="0"/>
          </a:p>
        </p:txBody>
      </p:sp>
      <p:sp>
        <p:nvSpPr>
          <p:cNvPr id="24" name="Shape 22"/>
          <p:cNvSpPr/>
          <p:nvPr/>
        </p:nvSpPr>
        <p:spPr>
          <a:xfrm>
            <a:off x="274320" y="4577486"/>
            <a:ext cx="1920240" cy="232258"/>
          </a:xfrm>
          <a:prstGeom prst="rect">
            <a:avLst/>
          </a:prstGeom>
          <a:solidFill>
            <a:srgbClr val="007A87"/>
          </a:solidFill>
          <a:ln w="12700">
            <a:solidFill>
              <a:srgbClr val="007A87"/>
            </a:solidFill>
            <a:prstDash val="solid"/>
          </a:ln>
        </p:spPr>
      </p:sp>
      <p:sp>
        <p:nvSpPr>
          <p:cNvPr id="25" name="Shape 23"/>
          <p:cNvSpPr/>
          <p:nvPr/>
        </p:nvSpPr>
        <p:spPr>
          <a:xfrm>
            <a:off x="2240280" y="4577486"/>
            <a:ext cx="6629400" cy="232258"/>
          </a:xfrm>
          <a:prstGeom prst="rect">
            <a:avLst/>
          </a:prstGeom>
          <a:solidFill>
            <a:srgbClr val="FFFFFF"/>
          </a:solidFill>
          <a:ln w="12700">
            <a:solidFill>
              <a:srgbClr val="E0E4EF"/>
            </a:solidFill>
            <a:prstDash val="solid"/>
          </a:ln>
        </p:spPr>
      </p:sp>
      <p:sp>
        <p:nvSpPr>
          <p:cNvPr id="26" name="Text 24"/>
          <p:cNvSpPr/>
          <p:nvPr/>
        </p:nvSpPr>
        <p:spPr>
          <a:xfrm>
            <a:off x="320040" y="4595774"/>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60/40 Portfolio</a:t>
            </a:r>
            <a:endParaRPr lang="en-US" sz="1000" dirty="0"/>
          </a:p>
        </p:txBody>
      </p:sp>
      <p:sp>
        <p:nvSpPr>
          <p:cNvPr id="27" name="Text 25"/>
          <p:cNvSpPr/>
          <p:nvPr/>
        </p:nvSpPr>
        <p:spPr>
          <a:xfrm>
            <a:off x="2304288" y="4595774"/>
            <a:ext cx="6492240" cy="195682"/>
          </a:xfrm>
          <a:prstGeom prst="rect">
            <a:avLst/>
          </a:prstGeom>
          <a:noFill/>
          <a:ln/>
        </p:spPr>
        <p:txBody>
          <a:bodyPr wrap="square" lIns="0" tIns="0" rIns="0" bIns="0" rtlCol="0" anchor="ctr"/>
          <a:lstStyle/>
          <a:p>
            <a:pPr indent="0" marL="0">
              <a:buNone/>
            </a:pPr>
            <a:r>
              <a:rPr lang="en-US" sz="1050" dirty="0">
                <a:solidFill>
                  <a:srgbClr val="404040"/>
                </a:solidFill>
              </a:rPr>
              <a:t>Classic balanced: equity growth offset by bond stability</a:t>
            </a:r>
            <a:endParaRPr lang="en-US" sz="1050" dirty="0"/>
          </a:p>
        </p:txBody>
      </p:sp>
      <p:sp>
        <p:nvSpPr>
          <p:cNvPr id="28" name="Shape 26"/>
          <p:cNvSpPr/>
          <p:nvPr/>
        </p:nvSpPr>
        <p:spPr>
          <a:xfrm>
            <a:off x="0" y="4864608"/>
            <a:ext cx="9144000" cy="278892"/>
          </a:xfrm>
          <a:prstGeom prst="rect">
            <a:avLst/>
          </a:prstGeom>
          <a:solidFill>
            <a:srgbClr val="101C4F"/>
          </a:solidFill>
          <a:ln w="12700">
            <a:solidFill>
              <a:srgbClr val="101C4F"/>
            </a:solidFill>
            <a:prstDash val="solid"/>
          </a:ln>
        </p:spPr>
      </p:sp>
      <p:sp>
        <p:nvSpPr>
          <p:cNvPr id="29" name="Text 27"/>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30" name="Text 28"/>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D4.FI.10 · Role of Fixed Income in a Portfolio</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Bond Ladder Example</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Retiree with Rs 50 lakh builds ladder: Rs 10L each in 1,2,3,4,5 year G-Secs. Each year one matures → reinvested in new 5-year. Provides annual liquidity without selling before maturity.</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2020 COVID Evidence</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Nifty 50 fell 38% in COVID crash. Balanced fund (60/40) fell only 18% because the 40% G-Sec allocation rose 8-12% — classic negative correlation providing portfolio protection.</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EPFO Asset Allocation</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EPFO (India's largest retirement body) mandates 85%+ in debt instruments. This is a policy-driven duration immunisation — ensuring employee corpus is not at equity market risk.</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LIC vs Equity Fund</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LIC's bond-heavy portfolio delivers steady, predictable returns matching policyholder obligations. An equity mutual fund delivers volatile, higher returns suitable for long-term wealth building. Neither is 'better' — it depends on the liability profile.</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D4.FI.10 · Role of Fixed Income in a Portfolio</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Kavi's friend says: 'In 2021, my equity mutual fund returned 25%. My bond fund returned 4%. Bonds are a waste of money.' How do you explain the PURPOSE of bonds in a portfolio beyond just return comparison?</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pension fund manager says she uses 'duration immunisation' to protect her fund. Explain to a non-technical board member exactly what this means and why it matters for the pensioners' security.</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D4.FI.10 · Role of Fixed Income in a Portfolio</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a bond ladder and why do retirees use it?</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A bond ladder is a portfolio of bonds with staggered maturities (e.g., 1, 2, 3, 4, 5 years). As each bond matures, the principal is reinvested in a new longer-term bond. Benefits: regular liquidity from maturing bonds without selling, reduced reinvestment risk (not all money reinvested at one point), and smoothed interest rate cycle impact. Ideal for retirees needing regular cash flows.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Explain the 60/40 portfolio concept and when it works best.</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The 60/40 portfolio allocates 60% to equities and 40% to bonds. It works on the principle that equities and bonds are negatively correlated during market stress — when equities fall, bonds rise (flight to safety). During normal conditions, equities provide growth while bonds provide income. This balance reduces portfolio volatility. It works best when correlations are negative (equity stress + rate cuts). It fails when both fall simultaneously (2022: equity down + bonds down due to rate hikes).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1</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CIBOP Fixed Income Part 1 — Learning Deck</dc:title>
  <dc:subject>PptxGenJS Presentation</dc:subject>
  <dc:creator>Imarticus Learning</dc:creator>
  <cp:lastModifiedBy>Imarticus Learning</cp:lastModifiedBy>
  <cp:revision>1</cp:revision>
  <dcterms:created xsi:type="dcterms:W3CDTF">2026-05-06T05:01:12Z</dcterms:created>
  <dcterms:modified xsi:type="dcterms:W3CDTF">2026-05-06T05:01:12Z</dcterms:modified>
</cp:coreProperties>
</file>