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CERTIFICATE IN INVESTMENT BANKING OPERATIONS PROGRAMME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417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800"/>
                </a:solidFill>
              </a:rPr>
              <a:t>MODULE H12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Lending Operations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FA8"/>
                </a:solidFill>
              </a:rPr>
              <a:t>Learning Deck  ·  71 Slides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H12.1 Introduction to Lending Ops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H12.2 Types of Loans &amp; Facilities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H12.3 Origination &amp; Credit Assessment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H12.4 Loan Documentation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H12.5 Syndicated Lending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H12.6 Loan Administration &amp; Servicing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H12.7 Collateral Management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H12.8 Distressed Debt &amp; Workouts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H12.9 Regulatory Framework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FA8"/>
                </a:solidFill>
              </a:rPr>
              <a:t>H12.10 Technology in Lending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Module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8595360" cy="33832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H12.1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1188720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Introduction to Lending Operations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45336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45336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45336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H12.2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545336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Types of Loans and Credit Facilities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01952"/>
            <a:ext cx="8595360" cy="33832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01952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901952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H12.3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1901952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Loan Origination and Credit Assessment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58568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58568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58568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H12.4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2258568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Loan Documentation and Legal Framework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15184"/>
            <a:ext cx="8595360" cy="33832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15184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615184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H12.5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17320" y="2615184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Syndicated Lending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971800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71800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H12.6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2971800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Loan Administration and Servicing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328416"/>
            <a:ext cx="8595360" cy="33832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28416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328416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H12.7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17320" y="3328416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Collateral Management in Lending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685032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685032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685032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H12.8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17320" y="3685032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Distressed Debt and Loan Workouts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041648"/>
            <a:ext cx="8595360" cy="33832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041648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041648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H12.9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417320" y="4041648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Regulatory Framework for Lending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398264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398264"/>
            <a:ext cx="1051560" cy="338328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398264"/>
            <a:ext cx="1051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H12.10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417320" y="4398264"/>
            <a:ext cx="73152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Technology in Lending Operations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H12.1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Lending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Lending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The Role of Lending in Financial Markets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Lending is the fundamental intermediation function of banks: channelling surplus capital to those who need it to invest and grow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Banks raise funds via deposits, bonds, and equity — deploying them as loans to sovereigns, corporates, financial institutions, and consumers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Two primary markets: investment grade (lower risk, unsecured, relationship-driven) and leveraged (higher risk, secured, institutional distribution)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Lending generates multiple revenue streams: interest margin, arrangement fees, commitment fees, agency fees, and amendment fees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Operations teams are the backbone: they ensure every drawdown, payment, and covenant is processed accurately and on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Lending Market Participants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Participant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Relationship Manager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Client interface; identifies opportunities; champions deal internally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Credit Analyst / Underwriter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Assesses creditworthiness; prepares credit application; sets internal rating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Mandated Lead Arranger (MLA)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Structures and underwrites the loan; leads the syndication process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Facility 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Central administrator; processes all payments, notices, and amendments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Security Trustee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Holds security on behalf of all syndicate lenders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Syndicate Lenders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Provide funding in proportion to their commitment; receive principal and interest payments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498848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4498848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9884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Borrower / Obligor Group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31720" y="449884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Draws funds, services debt, and complies with covenants and reporting requirements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Investment Grade vs. Leveraged Lending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Investment Grade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BBB- / Baa3 rated borrower and above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Typically unsecured; relationship-driven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Covenant-lite or limited financial covenants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Tighter pricing (lower spreads over base rate)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Held primarily by relationship banks on balance sheet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Leveraged / Sub-IG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Below investment grade; higher credit risk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Secured with comprehensive security package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Financial maintenance covenants standard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Higher margins to compensate lenders for risk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Distributed to institutional investors (CLOs, hedge funds)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The Loan Lifecycle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Origination: relationship manager identifies opportunity; borrower submits mandate letter; bank prepares credit application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Underwriting: credit committee approves; term sheet agreed; MLA commits to providing the facility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Documentation: legal counsel drafts facility agreement, security documents, intercreditor; conditions precedent satisfied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Closing &amp; Funding: facility agreement signed; CPs satisfied; agent confirms funding; first drawdown disbursed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Administration: agent processes drawdowns, repayments, interest payments, covenant testing, amendments throughout loan life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Repayment: final repayment at maturity; security released; facility closed on the loan management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Lending in Numbers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$5T+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Global Syndicated Loans / yr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Annual new issue volume in global syndicated lending markets (US, EMEA, APAC combined)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T+10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Loan Settlement Standard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LMA standard secondary market settlement period; vs. T+2 for most securities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RAROC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Profitability Metric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Risk-Adjusted Return on Capital: ensures loans earn above the bank's hurdle rate after capital consumption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IFRS 9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6294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Provisioning Standard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Expected Credit Loss model requires Day 1 provisioning on all new loans from the moment of origination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H12.2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Types of Loans and Credit Facilities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Lending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Revolving Credit Facilities (RCF)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An RCF allows the borrower to draw, repay, and redraw up to the committed limit during the availability period — like a corporate credit card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Key economic terms: total commitment, margin on drawn amounts, commitment fee on undrawn balance, utilisation fee at high utilisation levels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Operationally: each drawing requires a utilisation request specifying amount, currency, and interest period (typically 3 business days' notice)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Rollovers: at the end of each interest period, the borrower can roll the drawing into a new period without physically repaying and redrawing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Investment grade RCFs are typically unsecured; leveraged RCFs are secured as part of a broader security package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Term Loan Structures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Characteristics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Term Loan A (TLA)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Regular amortisation; held by relationship banks; lower margin; full repayment by maturity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Term Loan B (TLB)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Minimal amortisation (1% p.a.); bullet maturity; targets institutional investors; higher margin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Term Loan C (TLC)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Similar to TLB; used in European leveraged markets; typically longer dated or different amortisation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Second Lien Term Loan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Secured by same assets as senior but second in enforcement priority; higher margin than first lien TLB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PIK Toggle Loan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Borrower can elect to pay interest in kind (adding to principal) rather than in cash; preserves liquidity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Amortising Term Loan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Reduces in equal instalments; common in project finance, real estate, and asset finance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Acquisition Finance and Bridge Loans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Acquisition Finance (LBO)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Leveraged buyout: PE sponsor uses debt + equity to acquire a company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Typical structure: Senior secured TLB + RCF (+ possibly 2nd lien / mezzanine)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Security: share pledge + debenture over acquired group's assets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Leverage: 4.0x–7.0x EBITDA depending on sector and market conditions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Repaid from operating cash flow or a future sale / refinancing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Bridge Loans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Short-term (6–18 months) to bridge gap before permanent financing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Common uses: pre-IPO, pre-bond issuance, acquisition pending disposal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Carries higher margin + mandatory prepayment from bridge take-out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If bridge is not taken out, 'roll-up' provisions increase margin further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Operations must track mandatory prepayment triggers carefully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Specialised Credit Products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Product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Asset-Based Lending (ABL)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Borrowing base linked to receivables and inventory; dynamic facility limit; weekly BBC monitoring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Letter of Credit / Guarantee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Contingent credit: bank promises to pay third party on borrower failure; consumes credit capacity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Mezzanine Debt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Subordinated to senior; higher coupon (cash + PIK); often with equity warrants; fills LBO gap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Unitranche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Single facility blending senior + mezzanine at a blended rate; common in mid-market buyouts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Revolving ABL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Combines ABL borrowing base with revolving mechanics; used by retailers and distributors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Sustainability-Linked Loan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Margin ratchet tied to borrower's ESG performance targets (KPIs); no restriction on use of proceeds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Loan Products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RCF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Revolving Credit Facility – borrower can draw, repay, and redraw within the committed limit during availability period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TLB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Term Loan B – institutional-focused term loan with minimal amortisation and bullet maturity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Commitment Fee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Fee on undrawn balance of an RCF; compensates lenders for maintaining standby funding obligation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LBO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Leveraged Buyout – acquisition financed predominantly with debt, structured around the target's cash flows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Borrowing 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In ABL: dynamic facility limit calculated from eligible receivables and inventory × advance rates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PIK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Payment in Kind – interest added to principal rather than paid in cash; compounding the debt balance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H12.3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Loan Origination and Credit Assessment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Lending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Loan Origination Process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007A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 Approach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RM identifies opportunity or client requests facility; pitch book prepared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5072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101C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072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5072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9644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Bank issues mandate letter; commits to arranging; fee terms agreed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136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007A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136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6136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Credit Application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0708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Credit memo prepared: financials, structure, pricing, risks, mitigants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101C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Credit Committee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Presentation to approval authority; conditions to approval may be set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8264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007A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8264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8264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Term Sheet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2836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Key commercial terms agreed with borrower before full documentation begins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9328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101C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328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9328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Operations Setup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3900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Ops receives deal package; sets up facility in LMS; CP checklist begins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The 5 Cs of Credit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Character: the borrower's willingness to repay — track record, management quality, governance, and market reputation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Capacity: ability to generate sufficient cash flow to service the debt — EBITDA, free cash flow, interest coverage, debt service coverage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Capital: financial strength and leverage — equity contributed, net worth, leverage ratios relative to sector peers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Collateral: assets pledged to secure repayment — quality, liquidity, and enforceability of security in a default scenario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Conditions: macro and industry environment — economic cycle, sector trends, regulatory changes, geopolitical risks affecting the borrower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Credit Metrics and Ratios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Metric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Definition and Typical Thresholds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Net Debt / EBITDA (Leverage)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Core leverage metric; investment grade typically ≤2.5x; leveraged typically 4.0x–7.0x at entry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EBITDA / Interest Expense (Cover)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Interest coverage; investment grade typically ≥5.0x; leveraged typically ≥2.0x covenant level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Free Cash Flow / Debt Service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DSCR; measures ability to repay principal + interest; project finance typically ≥1.25x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Loan-to-Value (LTV)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Real estate / asset lending: loan balance / asset value; residential mortgage typically ≤80%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Current Ratio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Current assets / current liabilities; measures short-term liquidity; typical minimum ≥1.0x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Revenue CAGR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Compound annual growth rate of revenue; indicates business momentum and repayment trajectory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RAROC and Loan Pricing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RAROC Framework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RAROC = (Revenue − Expected Loss − Costs) / Regulatory Capital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Revenue = interest margin + fees over loan life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Expected Loss = PD × LGD × EAD (IFRS 9 ECL)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Regulatory Capital = RWA × capital ratio (Basel III)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Hurdle rate typically 10–15% (bank's cost of equity)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Loan Pricing Components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Base rate: SOFR (USD), SONIA (GBP), €STR / EURIBOR (EUR)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Credit spread (margin): reflects borrower credit risk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Arrangement fee: upfront fee for structuring (100–200bps for leveraged)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Commitment fee: 35–50% of margin on undrawn RCF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Agency fee: annual fee paid to the facility agent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IBOR Transition: LIBOR to RFRs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LIBOR (London Interbank Offered Rate) was discontinued by the end of 2021 (USD LIBOR by June 2023 for legacy contracts)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LIBOR was a forward-looking term rate set daily for 1M, 3M, 6M periods — ideal for loan interest period mechanics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Replacement rates: SOFR (USD), SONIA (GBP), €STR/EURIBOR (EUR), SARON (CHF), TONAR (JPY) — all overnight risk-free rates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Operational challenge: overnight RFRs require daily compounding (compound in arrears methodology) instead of a simple LIBOR term rate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SOFR Term Rate (CME) provides a forward-looking term equivalent — adopted for many loan agreements to preserve familiar mechanics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LMS upgrades were required globally to support daily SOFR compounding, lookback periods, and lockout conventions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Origination &amp; Credit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Credit Application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Internal document presenting the credit case: borrower profile, financial analysis, structure, pricing, risks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EBITDA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Earnings Before Interest, Tax, Depreciation and Amortisation — proxy for operating cash generation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DSCR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Debt Service Coverage Ratio — cash available / total debt service (principal + interest); project finance metric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RAROC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Risk-Adjusted Return on Capital — measures profitability of a loan after expected losses and capital cost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SOFR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Secured Overnight Financing Rate — USD LIBOR replacement rate based on US Treasury repo transactions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Credit Spread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The margin above the base rate reflecting the borrower's credit risk; higher risk = wider spread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H12.4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Loan Documentation and Legal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Lending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The Facility Agreement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The facility agreement is the master contract governing the loan — it defines every right, obligation, and procedure for all parties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LMA (Loan Market Association) standard forms are used across European lending; LSTA in the US — reducing negotiation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Key sections: definitions, facility mechanics (drawdown, repayment), interest provisions, representations, covenants, events of default, agency provisions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Operations relies on the facility agreement as the rulebook: it defines notice periods, payment mechanics, consent thresholds, and calculation methods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Documentation suite: facility agreement + security documents + intercreditor agreement + ancillary facility letters + guarantee deeds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Parties to a Facility Agreement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Party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Role and Obligations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Borrower / Obligor Group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Draws funds; makes all principal, interest, and fee payments; complies with covenants; provides financial reporting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Mandated Lead Arranger (MLA)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Structures and underwrites; may provide underwriting commitment; earns arrangement fee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Facility Agent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Central administrator: processes drawdowns, payments, notices, amendments; maintains the register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Security Trustee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Holds security on trust for all lenders; enforces security on direction of majority lenders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Lenders / Participants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Fund their commitment share; receive principal, interest, and fees pro-rata to their participation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Legal Counsel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Drafts, negotiates, and opines on documentation; provides legal opinions at closing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Covenants – Types and Functions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Financial Covenants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Tested quarterly/semi-annually against financials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Net Leverage: Net Debt / EBITDA ≤ [x.xx]x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Interest Cover: EBITDA / Net Finance Charges ≥ [x.xx]x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Minimum EBITDA or liquidity tests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Breach triggers EoD right (unless waived)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Non-Financial Covenants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Negative: no disposals above threshold; no additional debt; no distributions above basket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Positive: maintain insurance; comply with laws; provide financial reports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Information: quarterly management accounts; annual audited financials; compliance certificate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Covenant-lite: replaces maintenance with incurrence tests (triggered only when borrower takes action)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Events of Default – Key Categories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EoD Category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Payment Default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Failure to pay any amount when due; typically with a short grace period (3–5 business days) for administrative delays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Financial Covenant Breach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Any financial ratio tested at a covenant test date falls outside the agreed threshold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Cross-Default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The borrower defaults on any other material debt instrument above a specified threshold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Misrepresentation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 representation or warranty made by the borrower proves to have been materially incorrect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Insolvency Event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The borrower enters administration, liquidation, receivership, or equivalent insolvency proceedings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Material Adverse Change (MAC)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 material adverse change in the borrower's business, financial condition, or ability to perform obligations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Conditions Precedent and Closing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CPs are the agent's pre-funding checklist — all items must be confirmed as satisfactory before the first drawdown is permitted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Legal CPs: constitutional documents, evidence of authority (board resolutions), executed facility and security documents, legal opinions from borrower's counsel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Compliance CPs: completed KYC / AML on all borrowers and guarantors; no outstanding sanctions issues; regulatory approvals obtained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Financial CPs: audited accounts (or most recent management accounts), financial model, borrowing base certificate (for ABL)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Practical CPs: insurance evidence, executed inter-company loan agreements, flow of funds agreement signed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Operations role: tracks the CP checklist; follows up with legal and compliance; confirms to the credit team when all CPs are satisfied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Documentation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LMA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Loan Market Association – trade body publishing standard documentation for European syndicated and bilateral loans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Conditions Precedent (CPs)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Requirements that must be satisfied before the agent permits the first drawdown under the facility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Intercreditor Agreement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Governs priority, enforcement rights, and standstill obligations between different creditor classes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Covenant-Lite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Loan with no financial maintenance covenants — only incurrence tests triggered by borrower actions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Event of Default (EoD)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A trigger that gives lenders the right to accelerate the loan — demand immediate repayment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MAC Clause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Material Adverse Change — an EoD triggered by a significant deterioration in the borrower's condition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H12.5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Syndicated Lending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Lending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Syndication – How It Works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 syndicated loan is provided by a group of banks and institutional investors under a single facility agreement with a single borrower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The MLA underwrites the deal (commits to provide the full amount) and then distributes commitments to a syndicate of co-lenders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Syndication types: underwritten (fully committed, risk on MLA until syndicated), best-efforts (no underwriting; commitment subject to syndication success)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Marketing: the MLA distributes an information memorandum (IM) to potential lenders who conduct their own credit analysis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Allocation: the MLA allocates commitments to interested lenders, potentially scaling back oversubscribed deals or increasing under-subscribed ones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Closing: all lenders execute the facility agreement; commitments confirmed; agent bank notified; facility opens for drawdown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Roles in a Syndicated Loan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Role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Responsibilities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Mandated Lead Arranger (MLA)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Structures deal; underwrites; leads syndication; earns arrangement fee (largest share)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Bookrunner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Manages the order book; allocates commitments; prices the deal based on demand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Underwriter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Commits to a portion of the deal (may be same entity as MLA); bears syndication risk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Facility 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Post-closing administrator; processes all payments, notices, amendments; maintains register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Security Trustee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Holds all security on behalf of the syndicate; enforces on lender direction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Participating Lender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Funds a portion; receives pro-rata payments; no administration responsibilities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498848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4498848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9884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Information Agent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31720" y="449884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Distributes financial information from borrower to lenders (sometimes combined with facility agent)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The Facility Agent's Core Duties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Payment Processing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Receive drawdown notices; verify terms; fund confirmations to lenders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Collect borrower payments (interest, principal, fees)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Distribute pro-rata to lenders on same-day or next-day basis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Apply default interest on overdue amounts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Calculate SOFR compounding and issue payment notices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Administrative Duties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Maintain the register of lenders and their commitment shares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Manage consent rounds (amendments, waivers)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Receive and distribute compliance certificates and financials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Process secondary market transfers (update register)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Liaise with security trustee on any security enforcement matters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Secondary Loan Market – Transfer Methods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Method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Assignment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Full legal and beneficial title transfers from seller to buyer; buyer steps into seller's shoes; requires borrower consent in many structures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Novation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Original contract extinguished; new contract created between buyer and borrower; most complete form of transfer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Sub-Participation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Seller remains lender of record; buyer takes economic interest via seller; no direct relationship with borrower or agent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LMA Transfer Certificate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Standard document executed by seller, buyer, and agent to record an assignment or novation in the register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LSTA Assignment Agreement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US equivalent of the LMA transfer certificate; governs secondary loan trades in the US market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Settlement Timeline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LMA standard T+10; LSTA target T+7; electronic platforms (Versana, IHS Markit) aim to compress further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CLOs and the Institutional Loan Market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CLOs (Collateralised Loan Obligations) are the dominant buyer of leveraged TLBs — typically purchasing 60–70% of new US TLB issuance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CLO structure: a special purpose vehicle pools 150–300 leveraged loans; issues tranched notes (AAA through equity) against the pool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CLO managers earn management fees by actively managing the loan portfolio — buying and selling loans to optimise returns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CLO demand drives TLB market: when CLO formation is strong, TLB spreads tighten; when CLOs retrench, spreads widen and issuance slows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Operations implication: agent banks must process transfers to CLO vehicles efficiently; the CLO's trustee maintains the certificate register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Loan ETFs and loan mutual funds provide retail access to the leveraged loan market, adding another institutional buyer segment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Syndicated Lending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MLA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Mandated Lead Arranger – structures and underwrites the syndicated loan; leads the syndication process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Syndication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The process of distributing portions of a loan to multiple lenders after initial underwriting by the arranger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Information Memorandum (IM)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Detailed document distributed to potential syndicate lenders during syndication; contains financial and credit information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CLO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Collateralised Loan Obligation – SPV that pools leveraged loans and issues tranched notes; dominant TLB buyer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Sub-Participation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Economic interest in a loan held via the selling lender; buyer has no direct relationship with borrower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Register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Agent's record of all current lenders, their commitments, and outstanding balances in the syndicate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H12.6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Loan Administration and Servicing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Lending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Setting Up a Loan Facility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At financial close, operations receives the deal package: executed facility agreement, security documents, and CP confirmation from legal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Loan management system set-up: capture all commercial terms — parties, commitments, tranches, margins, day count, amortisation schedule, key dates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KYC/AML completion must be confirmed before any funding: operations acts as the compliance gate at the moment of first drawdown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Funding confirmation: agent issues payment instruction to each lender specifying their pro-rata funding obligation for the first drawdown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Testing the set-up: run a shadow interest calculation to verify the LMS is producing the correct output before the first interest payment date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Interest Calculation Mechanics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Element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Detail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Base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SOFR (USD), SONIA (GBP), EURIBOR / €STR (EUR) — published daily by relevant administrator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Day Count Convention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Actual/360 (USD, EUR); Actual/365 (GBP); affects the annualised cost of the loan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Interest Period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Borrower elects at drawdown: 1M, 3M, or 6M; rolling on each maturity 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SOFR Compounding (in arrears)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Daily SOFR rate compounded over the interest period; final amount known only at end of period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Lookback Period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Applies the daily rate observed N days earlier (e.g., 5 business days) to allow advance notice to borrower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PIK Interest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Added to principal; compounds borrower's debt; LMS must track accumulated PIK separately from cash-pay principal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Drawdown Processing Workflow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007A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Utilisation Request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Borrower submits notice: amount, currency, interest period, value date (3 BD notice typically)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5072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101C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072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5072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9644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Agent verifies: within facility limit, correct notice, no outstanding EoD, CPs satisfied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136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007A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136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6136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Lender Notices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0708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Agent issues funding confirmations to each lender with their pro-rata share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101C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Funding Collection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Lenders remit funds to agent's nostro account by specified cut-off time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8264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007A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8264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8264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Disbursement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2836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Agent releases funds to borrower's designated account on value date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93280" y="1417320"/>
            <a:ext cx="1173480" cy="2651760"/>
          </a:xfrm>
          <a:prstGeom prst="roundRect">
            <a:avLst>
              <a:gd name="adj" fmla="val 4675"/>
            </a:avLst>
          </a:prstGeom>
          <a:solidFill>
            <a:srgbClr val="101C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3280" y="14630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00"/>
                </a:solidFill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93280" y="1920240"/>
            <a:ext cx="117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LMS Update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39000" y="2423160"/>
            <a:ext cx="108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F6FA"/>
                </a:solidFill>
              </a:rPr>
              <a:t>Agent updates drawn balance, interest accrual, and payment schedule in LMS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Amendment and Waiver Processing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When Needed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Covenant breach: lender waiver to avoid triggering EoD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Maturity extension: borrower needs more time to refinance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Additional debt or disposal consent above basket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Pricing reset: margin reduction as business improves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New lender joining: increase in facility commitment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Agent's Process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Receive borrower's amendment request with supporting rationale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Circulate to syndicate with response deadline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Collect lender responses; calculate whether consent threshold met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Notify borrower and lenders of outcome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Document via formal amendment letter or A&amp;R agreement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Collect and distribute amendment/consent fees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Loan Administration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Utilisation Request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Borrower's formal notice to the agent requesting a drawdown; specifies amount, currency, and interest period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Rollover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Continuation of an existing drawing into a new interest period without physical repayment and re-drawdown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Actual/360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Day count convention: actual days in period ÷ 360; slightly increases the effective annual cost vs. 365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Lookback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Mechanism applying the overnight RFR rate observed N business days before each accrual day, giving advance payment notice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Amendment &amp; Restatement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Full redocumentation of the facility agreement incorporating all agreed amendments into a consolidated document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Default Interest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Interest charged at a rate above the normal margin on overdue payments; accrues from the due date until cleared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Covenant Monitoring and Compliance Certificates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Financial covenants are tested quarterly or semi-annually; the borrower delivers a compliance certificate to the agent within the agreed deadline (e.g., 45 days after quarter end)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The compliance certificate contains the borrower's calculations of each financial ratio; the credit team reviews for accuracy and compliance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If a covenant is in breach, the agent notifies all lenders; the borrower typically has a cure period (e.g., 30 days) to request a waiver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Information covenants require delivery of management accounts, annual audited financials, budget, and other agreed reports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Operations tracks all covenant testing dates, delivery deadlines, and compliance status on a covenant monitoring calendar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Persistent failure to deliver compliance certificates or financial reports is itself an event of default under the information covenant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H12.7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Collateral Management in Lending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Lending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Types of Security in Lending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Fixed charge: attaches to specific identified assets (specific properties, specific intellectual property); highest-quality security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Floating charge: covers a class of assets that changes over time (e.g., all book debts, all inventory); crystallises into a fixed charge on enforcement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Pledge: transfer of possession (or legal title for financial assets) to the lender as security; common for shares and financial instruments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Legal mortgage: used for real property — full legal transfer with right of redemption; standard in real estate lending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Guarantee: third-party commitment to pay if the primary borrower fails; upstream, downstream, and cross-stream guarantees common in corporate groups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Assignment: borrower assigns contractual rights (insurance proceeds, project revenues) to lenders as security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Perfection Requirements by Security Type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Security 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Perfection Requirement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Fixed / Floating Charge (UK)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Register at Companies House within 21 days of creation; void against liquidator if unregistered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Land Mortgage (England &amp; Wales)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Register at HM Land Registry; unregistered legal mortgage gives only equitable rights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Share Pledge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Execute a stock transfer form; hold share certificates; file notice with company registrar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Financial Collateral (FCAD)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Take possession or control; financial collateral under FCAR 2003 exempt from usual insolvency restrictions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Assignment of Receivables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Notify debtors (legal assignment) or keep silent (equitable); legal assignment gives cleaner priority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Cross-Border Security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Each jurisdiction has separate rules; local law security documents and legal opinions required in each market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LTV Covenants and Collateral Valuation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Real Estate / Asset Lending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LTV covenant: e.g., loan balance ≤ 70% of RICS appraised property value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Independent valuations required: typically annually or on trigger events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LTV breach triggers: cure period, additional security, or mandatory repayment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Market downturns cause LTV breaches — 2008 property crisis example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Operations tracks LTV compliance; triggers valuation process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Financial Collateral (Shares / Bonds)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Daily mark-to-market valuation of pledged financial assets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If value falls below threshold (e.g., 110% of loan), margin call issued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Borrower must top up within defined cure period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Collateral management systems automate daily valuation and margin call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Operations manages substitution requests when borrower wants to swap collateral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Asset-Based Lending: Borrowing Base Management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The borrowing base certificate (BBC) is the core operational control in ABL — submitted by the borrower weekly or monthly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BBC contents: list of eligible receivables by debtor; aged receivables schedule; inventory by category and location; exclusions and ineligible amounts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Advance rates applied: typically 80–85% on eligible receivables; 50–65% on finished goods inventory; lower for WIP and raw materials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Field examinations: the bank's collateral auditors periodically visit the borrower's premises to verify the BBC accuracy — typically annually or on trigger events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Over-advance: if the drawn amount exceeds the calculated borrowing base, the borrower must immediately repay the shortfall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Operations processes each BBC, calculates the resulting availability, and updates the LMS with the current facility limit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47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Collateral Release and End-of-Loan Process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Event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Full Repayment at Maturity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Agent confirms receipt of final principal + interest; instructs security trustee to release all security; updates LMS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Permitted Asset Disposal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Borrower requests consent to sell secured asset; net proceeds applied in mandatory prepayment of matching loan amount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Refinancing Repayment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Agent coordinates repayment from new lenders' proceeds; parallel security release and new charge registration required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Security Substitution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Existing security released; replacement security registered and perfected; intercreditor updated if applicable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Lender Transfer (secondary)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Security trustee holds for all lenders; no re-registration needed on transfer — key advantage of trustee structure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Corporate Restructuring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Security may follow the new group structure; legal review required; new security documents or releases executed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Collateral Management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Fixed Charge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Security over specific identified assets; attaches immediately; cannot be disposed without lender consent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Floating Charge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Security over a class of changing assets; crystallises into a fixed charge on enforcement or insolvency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LTV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Loan-to-Value — ratio of outstanding loan to appraised value of secured asset; key metric in real estate lending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Borrowing Base Certificate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Document submitted by ABL borrower showing eligible assets and calculated maximum availability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Negative Pledge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Covenant preventing borrower from granting security to others without existing lenders' consent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Field Examination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On-site audit of ABL borrower's collateral by bank's examiners; verifies accuracy of borrowing base certificate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49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H12.8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Distressed Debt and Loan Workouts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Lending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Early Warning Indicators of Credit Stress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Financial signals: EBITDA below budget, leverage ratio approaching covenant threshold, working capital deterioration, delayed financial reporting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Market signals: rising CDS spreads, secondary loan price below par (especially sub-90), rating agency negative watch or downgrade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Operational signals: management team changes, auditor qualifications, loss of major customer or contract, capex programme suspended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Payment behaviour: requesting covenant waiver, late interest payment, drawing down RCF to maximum utilisation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Industry signals: sector-wide distress, commodity price collapse, regulatory headwinds affecting the borrower's market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Operations role: flag anomalies in payment timing, BBC deterioration, or compliance certificate delays to the credit team immediately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51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IFRS 9 Credit Staging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Stage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Classification Criteria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Stage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No significant increase in credit risk since origination; performing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Stage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Significant increase in credit risk (SICR) identified; still performing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Stage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Credit-impaired: 90+ days past due OR unlikely to pay without collateral enforcement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POCI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Purchased or originated credit-impaired (e.g., NPL portfolio bought at discount)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52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Restructuring Options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Out-of-Court Options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Amend and extend: reset covenants, extend maturity, increase margin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Debt-for-equity swap: cancel debt in exchange for equity ownership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Principal haircut: lenders agree to accept less than par on repayment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Standstill agreement: temporary enforcement moratorium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Sale of assets / business units to generate repayment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Court-Sanctioned Processes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UK Restructuring Plan (CIGA 2020): can cram down dissenting creditor classes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UK Scheme of Arrangement: binding if approved by required majority and court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US Chapter 11: debtor-in-possession restructuring; broad protection from creditors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EU Preventive Restructuring Framework: harmonised across member states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Administration: court-appointed administrator manages business; moratorium on enforcement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53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Intercreditor Dynamics in Distress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In a leveraged capital structure, multiple creditor classes compete for priority in a restructuring: senior secured → second lien → mezzanine → unsecured → equity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The intercreditor agreement defines the 'waterfall': senior lenders must be repaid in full before junior lenders receive anything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Standstill provisions: junior creditors agree not to enforce security or accelerate while senior lenders are negotiating a restructuring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Hold-out problem: individual lenders with small positions may hold out for better terms — addressed by cram-down mechanisms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Debt-for-equity swaps realign incentives: former debt holders become shareholders, accepting execution risk but gaining upside in recovery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Operations tracks all creditor positions, verifies pro-rata calculations, and provides accurate balance and accrued interest data to restructuring advisors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54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NPL Management Strategies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Strategy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 and Considerations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Hold and Work Out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Bank manages NPL internally through special situations team; maximises recovery but resource-intensive and capital-consuming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Portfolio Sale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Sell NPL portfolio to distressed debt fund at discount; crystallises loss, releases capital and RWA, simplifies balance sheet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Securitisation (NPL ABS)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Pool NPLs into an ABS structure; issue rated notes; retain equity tranche; achieves partial capital relief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Debt Management Company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Transfer NPLs to a specialised servicer / DMC that manages collections on a delegated basis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Public Guarantee Schemes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Government backstops (e.g., Italian GACS, Greek Hercules) support NPL securitisations with state guarantees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EU NPL Directive (2021)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Standardised enforcement and servicing rules across EU; minimum provisioning requirements for new NPLs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55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Distressed Debt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Stage 3 / NPL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Credit-impaired loan: 90+ days past due or unlikely to pay; triggers lifetime ECL provision under IFRS 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Standstill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Agreement for lenders to suspend enforcement while restructuring negotiations take place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Cram-Down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Court power to impose a restructuring plan on dissenting creditor classes (UK Restructuring Plan, US Chapter 11)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Debt-for-Equity Swap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Cancellation of debt in exchange for equity; lenders become shareholders; used in major restructurings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Workout Team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Specialist bank team managing deteriorated credit situations, restructurings, and enforcement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Recovery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% of outstanding debt recovered after default; senior secured typically 70–90%; unsecured 10–30%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56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H12.9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Regulatory Framework for Lending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Lending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Basel III Capital Requirements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Basel III requires banks to hold minimum capital calibrated to the risk of their loan portfolios — preventing undercapitalisation that contributed to the 2008 crisis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Capital hierarchy: Common Equity Tier 1 (CET1, highest quality) → Additional Tier 1 → Tier 2; total minimum = 8% of RWA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Risk-weighted assets (RWA) = loan exposure × risk weight; risk weight depends on credit quality and loan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Standardised approach: external ratings or regulatory buckets determine risk weights; simple but less sensitive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Internal Ratings-Based (IRB) approach: banks use own PD, LGD, EAD models; lower capital but higher model governance requirements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Leverage ratio (Tier 1 / Total Exposure ≥ 3%): non-risk-based backstop preventing excessive balance sheet growth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58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Basel III Risk Weights by Loan Type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Exposure 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Standardised Risk Weight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AAA–AA sovereign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0% (domestic) or 20% (foreign sovereign)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Investment grade corporate (BBB- and above)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75%–100% depending on rating and exposure size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Sub-investment grade corporate (below BB-)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150%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Residential mortgage (LTV ≤ 80%)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35%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Residential mortgage (LTV 80–90%)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75%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SME retail loan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75% (retail exposure bucket)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498848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4498848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9884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Commercial real estate (general)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31720" y="449884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100% (or LTV-based scaling under final Basel III output floor)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59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IFRS 9 – Operations Interface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Data Inputs from Loan Operations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Outstanding balance (EAD) by borrower and facility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Days past due and payment history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Covenant compliance status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Collateral value and security coverage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Internal credit rating and staging classification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Accrued interest and fee receivables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Output Used by Finance /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Stage classification (1/2/3) per loan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12-month or lifetime ECL provision amount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Effective interest rate (EIR) for revenue recognition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POCI loan identification and adjusted EIR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Provision movement in P&amp;L (impairment charge)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Regulatory capital: CET1 impact of provisions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60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KYC, AML, and Sanctions in Lending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Every borrower, guarantor, and material beneficial owner must undergo Know Your Customer (KYC) due diligence before the first drawdown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CDD (Customer Due Diligence) for corporates: company registration, constitutional documents, ownership structure, UBO identification, source of wealth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Enhanced Due Diligence (EDD) for high-risk borrowers: PEPs (politically exposed persons), high-risk jurisdictions, complex structures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Sanctions screening: all parties screened against OFAC (US), EU, UN, HM Treasury, and other applicable lists — initially and on an ongoing basis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Periodic refresh: KYC reviewed every 1–3 years (risk-based); triggered by material events (change of control, new UBO, sanctions list update)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AML red flags in lending: unusual drawdown patterns, proceeds moved immediately offshore, use of proceeds inconsistent with stated purpose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61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Lending Regulations Overview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Regulation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Requirements for Lending Operations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Basel III / CRR2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Minimum capital (CET1 ≥ 4.5% + buffers), leverage ratio ≥ 3%, LCR and NSFR liquidity requirements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IFRS 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ECL provisioning from Day 1; three-stage model; forward-looking macro scenarios required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CRD IV / CRR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Single-counterparty exposure limits (25% of own funds); large exposure reporting; Pillar 3 disclosure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5th AML Directive (AMLD5)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Enhanced UBO registers; EDD on high-risk jurisdictions; virtual asset oversight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EU NPL Directive (2021)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Minimum enforcement timelines; credit servicer regulation; NPL transaction platform (ESAP)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SFDR / EU Taxonomy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ESG disclosure obligations for sustainable loans; green loan and SLL classification requirements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62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Regulatory Framework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CET1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Common Equity Tier 1 — highest quality regulatory capital (ordinary shares + retained earnings); minimum 4.5% of RWA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RWA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Risk-Weighted Assets — loan exposures multiplied by regulatory risk weights; the denominator in capital ratio calculations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IRB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Internal Ratings-Based approach — banks use own PD/LGD/EAD models for capital calculation (subject to regulator approval)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EDD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Enhanced Due Diligence — heightened KYC requirements for high-risk customers (PEPs, high-risk jurisdictions)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PEP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Politically Exposed Person — individual in a prominent public position; subject to enhanced AML scrutiny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AMLD5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5th Anti-Money Laundering Directive — EU regulation requiring beneficial ownership registers and enhanced due diligence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63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031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00"/>
                </a:solidFill>
              </a:rPr>
              <a:t>H12.10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450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in Lending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FA8"/>
                </a:solidFill>
              </a:rPr>
              <a:t>CIBOP  ·  Lending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Loan Management Systems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Finastra Fusion Loan IQ: industry-standard LMS for syndicated loans globally; supports multi-tranche, multi-currency facilities and SOFR compounding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nCino: cloud-native platform popular with US commercial and community banks; integrates origination, underwriting, and servicing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Temenos Transact: core banking platform with lending module; widely used by retail and SME lenders globally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DTCC Loan/SERV: automates payment notices and matching between agent banks and syndicate lenders; reduces reconciliation breaks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Versana / IHS Markit (ACBS): secondary market platforms enabling digital loan transfer and settlement — compressing T+10 toward T+3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Key LMS capabilities: deal set-up, interest calculation, payment processing, covenant tracking, amendment workflows, regulatory reporting feeds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65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Technology Solutions by Process Area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170432"/>
            <a:ext cx="6492240" cy="475488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00"/>
                </a:solidFill>
              </a:rPr>
              <a:t>Process Area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Technology 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Loan Origination &amp; Credit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164592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nCino, Salesforce Financial Services Cloud, Finastra Phoenix — digital origination portals, automated credit scoring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121408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Syndication &amp; Distribution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121408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Intralinks / Datasite — secure virtual data rooms for IM distribution; Ipreo / Broadridge — deal management and book building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596896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Loan Administration (LMS)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596896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Finastra Fusion Loan IQ, SS&amp;C Loan Services, Solifi — full lifecycle administration and servicing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3072384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Secondary Market Settlement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072384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DTCC Loan/SERV, Versana, IHS Markit ACBS — electronic transfer, settlement, and register update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201168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3547872"/>
            <a:ext cx="6492240" cy="475488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Collateral Management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3547872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Finastra Fusion Collateral, Solifi — LTV monitoring, BBC processing, valuation tracking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02336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87"/>
                </a:solidFill>
              </a:rPr>
              <a:t>Regulatory Reporting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4023360"/>
            <a:ext cx="64008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Wolters Kluwer OneSumX, Axiom SL — Basel III RWA, IFRS 9 ECL, large exposures, BCBS 239 data quality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66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Digital Transformation in Lending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87"/>
                </a:solidFill>
              </a:rPr>
              <a:t>Automation Opportunities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86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Digital origination: e-signatures, online portals, API-driven credit data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AI credit scoring: ML models analysing financial data, news, ESG scores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RPA: automating BBC processing, statement downloads, payment notifications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Automated covenant monitoring: LMS alerts for missed certificates and breaches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Smart contract interest payments: DLT pilots for automated SOFR accruals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3383280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C4F"/>
                </a:solidFill>
              </a:rPr>
              <a:t>Barriers to Full STP in Loans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Bespoke documentation: each loan has unique terms resisting standardisation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Consent-intensive: amendments require bilateral/multilateral lender engagement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Legal complexity: cross-border security and governing law variations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Legacy systems: many banks run 20+ year-old LMS platforms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</a:rPr>
              <a:t>Counterparty readiness: CLOs and institutional lenders have variable tech capability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67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Sustainable Lending: SLLs and Green Loans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Green Loans (GLP): proceeds must be used for eligible green projects — renewable energy, energy efficiency, sustainable transport, green buildings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Sustainability-Linked Loans (SLLP): margin adjusts based on ESG KPI performance — GHG emissions reduction, diversity targets, water consumption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LMA Green Loan Principles (GLP) and SLL Principles (SLLP) provide the framework — use of proceeds, reporting, verification requirements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ESG ratchet mechanics: operations must track KPI performance, receive annual verification from independent verifier, and apply margin adjustment at each reset date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Greenwashing risk: ING, HSBC, and others have faced scrutiny over SLL structures — emphasis on material KPIs, not cosmetic ESG targets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EU Taxonomy and SFDR: regulatory classification requirements increasingly driving SLL and green loan definitions in European markets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68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Lending Technology in Numbers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95%+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LMS Auto-Match 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Agent banks target &gt;95% straight-through matching of loan payments via DTCC Loan/SERV and LMS integration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T+3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Digital Settlement Goal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Versana and IHS Markit platforms target T+3 secondary loan settlement vs. LMA T+10 standard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$1T+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SLL Market Size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Sustainability-linked loan market exceeded $1 trillion in annual issuance by 2023; fastest growing segment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1280160"/>
            <a:ext cx="1874520" cy="3200400"/>
          </a:xfrm>
          <a:prstGeom prst="roundRect">
            <a:avLst>
              <a:gd name="adj" fmla="val 3902"/>
            </a:avLst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1280160"/>
            <a:ext cx="1874520" cy="73152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4630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00"/>
                </a:solidFill>
              </a:rPr>
              <a:t>BCBS 239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6294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Quality Standard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8346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5F6FA"/>
                </a:solidFill>
              </a:rPr>
              <a:t>Basel Committee principles requiring banks to aggregate risk data accurately — foundation for lending RegTech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69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1C4F"/>
          </a:solidFill>
          <a:ln w="12700">
            <a:solidFill>
              <a:srgbClr val="101C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1097280" cy="329184"/>
          </a:xfrm>
          <a:prstGeom prst="roundRect">
            <a:avLst>
              <a:gd name="adj" fmla="val 13889"/>
            </a:avLst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1C4F"/>
                </a:solidFill>
              </a:rPr>
              <a:t>Key Terms – Technology &amp; ESG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007A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Fusion Loan IQ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Finastra's market-leading loan management system for syndicated loan administration; used globally by major banks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DTCC Loan/SERV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DTCC platform automating payment notifications and matching between agent banks and lenders in syndicated loans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STP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Straight-Through Processing — automated end-to-end transaction processing without manual intervention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Sustainability-Linked Loan — margin tied to ESG performance KPIs; any use of proceeds (vs. green loans)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160520" cy="594360"/>
          </a:xfrm>
          <a:prstGeom prst="rect">
            <a:avLst/>
          </a:prstGeom>
          <a:solidFill>
            <a:srgbClr val="EAF4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Green Loan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Loan where proceeds are exclusively used for eligible environmental purposes per LMA Green Loan Principles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05456"/>
            <a:ext cx="4160520" cy="594360"/>
          </a:xfrm>
          <a:prstGeom prst="rect">
            <a:avLst/>
          </a:prstGeom>
          <a:solidFill>
            <a:srgbClr val="F5F6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87"/>
                </a:solidFill>
              </a:rPr>
              <a:t>SLLP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Sustainability-Linked Loan Principles — LMA/APLMA framework defining KPI selection, reporting, and verification requirements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CIBOP  ·  Module H12  ·  Lending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70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0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A87"/>
          </a:solidFill>
          <a:ln w="12700">
            <a:solidFill>
              <a:srgbClr val="007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MODULE H12  ·  LENDING OPERATIONS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800"/>
                </a:solidFill>
              </a:rPr>
              <a:t>Key Takeaways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161288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Lending intermediates capital; products range from revolving facilities to TLBs, ABL, and bridge loans — each with distinct operational requirements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36776"/>
            <a:ext cx="8595360" cy="457200"/>
          </a:xfrm>
          <a:prstGeom prst="rect">
            <a:avLst/>
          </a:prstGeom>
          <a:solidFill>
            <a:srgbClr val="162247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36776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367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1655064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Credit assessment uses the 5 Cs and financial ratios; RAROC ensures adequate return; IBOR transition to SOFR/SONIA reshaped interest mechanics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30552"/>
            <a:ext cx="8595360" cy="4572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30552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305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148840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The facility agreement is the operational rulebook; CPs gate first drawdown; covenants provide early warning; EoDs protect lender rights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624328"/>
            <a:ext cx="8595360" cy="457200"/>
          </a:xfrm>
          <a:prstGeom prst="rect">
            <a:avLst/>
          </a:prstGeom>
          <a:solidFill>
            <a:srgbClr val="162247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24328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243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2642616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Syndication enables large-scale lending; the facility agent is the operational hub; CLOs dominate TLB buying; secondary market requires efficient transfer processing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118104"/>
            <a:ext cx="8595360" cy="4572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118104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1181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3136392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Loan administration requires precision: accurate LMS set-up, SOFR compounding, drawdown processing, covenant monitoring, and amendment management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8595360" cy="457200"/>
          </a:xfrm>
          <a:prstGeom prst="rect">
            <a:avLst/>
          </a:prstGeom>
          <a:solidFill>
            <a:srgbClr val="162247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611880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118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H12.7–8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3630168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Collateral must be perfected, valued, and maintained; distressed loans require early detection, expert workout, and intercreditor coordination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105656"/>
            <a:ext cx="8595360" cy="4572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105656"/>
            <a:ext cx="1005840" cy="457200"/>
          </a:xfrm>
          <a:prstGeom prst="rect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1056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C4F"/>
                </a:solidFill>
              </a:rPr>
              <a:t>H12.9–10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71600" y="4123944"/>
            <a:ext cx="74066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Basel III, IFRS 9, and AML/KYC are non-negotiable; Loan IQ and DLT pilots are reshaping operations; ESG integration via SLLs is the new frontier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Imarticus Learning  ·  CIBOP  ·  www.imarticus.org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778240" y="4754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FA8"/>
                </a:solidFill>
              </a:rPr>
              <a:t>71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CIBOP H12 Lending Operations</dc:title>
  <dc:subject>PptxGenJS Presentation</dc:subject>
  <dc:creator>Imarticus Learning – CIBOP</dc:creator>
  <cp:lastModifiedBy>Imarticus Learning – CIBOP</cp:lastModifiedBy>
  <cp:revision>1</cp:revision>
  <dcterms:created xsi:type="dcterms:W3CDTF">2026-05-07T05:14:54Z</dcterms:created>
  <dcterms:modified xsi:type="dcterms:W3CDTF">2026-05-07T05:14:54Z</dcterms:modified>
</cp:coreProperties>
</file>