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10" r:id="rId5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pos="1080" userDrawn="1">
          <p15:clr>
            <a:srgbClr val="A4A3A4"/>
          </p15:clr>
        </p15:guide>
        <p15:guide id="2" orient="horz" pos="22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pos="1080"/>
        <p:guide orient="horz" pos="220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3" name="Google Shape;143;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p>
        </p:txBody>
      </p:sp>
      <p:sp>
        <p:nvSpPr>
          <p:cNvPr id="155" name="Google Shape;155;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6" name="Google Shape;166;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4" name="Google Shape;184;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Google Shape;200;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p>
        </p:txBody>
      </p:sp>
      <p:sp>
        <p:nvSpPr>
          <p:cNvPr id="201" name="Google Shape;201;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1" name="Shape 211"/>
        <p:cNvGrpSpPr/>
        <p:nvPr/>
      </p:nvGrpSpPr>
      <p:grpSpPr>
        <a:xfrm>
          <a:off x="0" y="0"/>
          <a:ext cx="0" cy="0"/>
          <a:chOff x="0" y="0"/>
          <a:chExt cx="0" cy="0"/>
        </a:xfrm>
      </p:grpSpPr>
      <p:sp>
        <p:nvSpPr>
          <p:cNvPr id="212" name="Google Shape;212;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3" name="Google Shape;213;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1" name="Google Shape;231;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2" name="Shape 252"/>
        <p:cNvGrpSpPr/>
        <p:nvPr/>
      </p:nvGrpSpPr>
      <p:grpSpPr>
        <a:xfrm>
          <a:off x="0" y="0"/>
          <a:ext cx="0" cy="0"/>
          <a:chOff x="0" y="0"/>
          <a:chExt cx="0" cy="0"/>
        </a:xfrm>
      </p:grpSpPr>
      <p:sp>
        <p:nvSpPr>
          <p:cNvPr id="253" name="Google Shape;253;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4" name="Google Shape;254;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5" name="Shape 275"/>
        <p:cNvGrpSpPr/>
        <p:nvPr/>
      </p:nvGrpSpPr>
      <p:grpSpPr>
        <a:xfrm>
          <a:off x="0" y="0"/>
          <a:ext cx="0" cy="0"/>
          <a:chOff x="0" y="0"/>
          <a:chExt cx="0" cy="0"/>
        </a:xfrm>
      </p:grpSpPr>
      <p:sp>
        <p:nvSpPr>
          <p:cNvPr id="276" name="Google Shape;276;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77" name="Google Shape;277;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1" name="Shape 291"/>
        <p:cNvGrpSpPr/>
        <p:nvPr/>
      </p:nvGrpSpPr>
      <p:grpSpPr>
        <a:xfrm>
          <a:off x="0" y="0"/>
          <a:ext cx="0" cy="0"/>
          <a:chOff x="0" y="0"/>
          <a:chExt cx="0" cy="0"/>
        </a:xfrm>
      </p:grpSpPr>
      <p:sp>
        <p:nvSpPr>
          <p:cNvPr id="292" name="Google Shape;292;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3" name="Google Shape;293;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7" name="Shape 307"/>
        <p:cNvGrpSpPr/>
        <p:nvPr/>
      </p:nvGrpSpPr>
      <p:grpSpPr>
        <a:xfrm>
          <a:off x="0" y="0"/>
          <a:ext cx="0" cy="0"/>
          <a:chOff x="0" y="0"/>
          <a:chExt cx="0" cy="0"/>
        </a:xfrm>
      </p:grpSpPr>
      <p:sp>
        <p:nvSpPr>
          <p:cNvPr id="308" name="Google Shape;308;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9" name="Google Shape;309;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2" name="Shape 322"/>
        <p:cNvGrpSpPr/>
        <p:nvPr/>
      </p:nvGrpSpPr>
      <p:grpSpPr>
        <a:xfrm>
          <a:off x="0" y="0"/>
          <a:ext cx="0" cy="0"/>
          <a:chOff x="0" y="0"/>
          <a:chExt cx="0" cy="0"/>
        </a:xfrm>
      </p:grpSpPr>
      <p:sp>
        <p:nvSpPr>
          <p:cNvPr id="323" name="Google Shape;323;p1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8" name="Shape 338"/>
        <p:cNvGrpSpPr/>
        <p:nvPr/>
      </p:nvGrpSpPr>
      <p:grpSpPr>
        <a:xfrm>
          <a:off x="0" y="0"/>
          <a:ext cx="0" cy="0"/>
          <a:chOff x="0" y="0"/>
          <a:chExt cx="0" cy="0"/>
        </a:xfrm>
      </p:grpSpPr>
      <p:sp>
        <p:nvSpPr>
          <p:cNvPr id="339" name="Google Shape;339;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0" name="Google Shape;340;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2" name="Shape 352"/>
        <p:cNvGrpSpPr/>
        <p:nvPr/>
      </p:nvGrpSpPr>
      <p:grpSpPr>
        <a:xfrm>
          <a:off x="0" y="0"/>
          <a:ext cx="0" cy="0"/>
          <a:chOff x="0" y="0"/>
          <a:chExt cx="0" cy="0"/>
        </a:xfrm>
      </p:grpSpPr>
      <p:sp>
        <p:nvSpPr>
          <p:cNvPr id="353" name="Google Shape;353;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p>
        </p:txBody>
      </p:sp>
      <p:sp>
        <p:nvSpPr>
          <p:cNvPr id="354" name="Google Shape;354;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p1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66" name="Google Shape;366;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5" name="Shape 385"/>
        <p:cNvGrpSpPr/>
        <p:nvPr/>
      </p:nvGrpSpPr>
      <p:grpSpPr>
        <a:xfrm>
          <a:off x="0" y="0"/>
          <a:ext cx="0" cy="0"/>
          <a:chOff x="0" y="0"/>
          <a:chExt cx="0" cy="0"/>
        </a:xfrm>
      </p:grpSpPr>
      <p:sp>
        <p:nvSpPr>
          <p:cNvPr id="386" name="Google Shape;386;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87" name="Google Shape;387;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9" name="Shape 399"/>
        <p:cNvGrpSpPr/>
        <p:nvPr/>
      </p:nvGrpSpPr>
      <p:grpSpPr>
        <a:xfrm>
          <a:off x="0" y="0"/>
          <a:ext cx="0" cy="0"/>
          <a:chOff x="0" y="0"/>
          <a:chExt cx="0" cy="0"/>
        </a:xfrm>
      </p:grpSpPr>
      <p:sp>
        <p:nvSpPr>
          <p:cNvPr id="400" name="Google Shape;400;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r>
              <a:rPr lang="en-US">
                <a:solidFill>
                  <a:schemeClr val="dk1"/>
                </a:solidFill>
              </a:rPr>
              <a:t>Anshul’s observations:</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We may add a small table comparing the common shares with preference shares, before discussing types of preference shares…. Will be speaking points  - AD</a:t>
            </a:r>
            <a:endParaRPr lang="en-US">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Features of preference shares -  Will be speaking points  - AD</a:t>
            </a:r>
            <a:endParaRPr lang="en-US">
              <a:solidFill>
                <a:schemeClr val="dk1"/>
              </a:solidFill>
            </a:endParaRPr>
          </a:p>
          <a:p>
            <a:pPr marL="457200" lvl="0" indent="-22860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through private placements - No IPO for preference shares” </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Traded OTC mostly - Secondary market is less active as compared to common shares</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in bulk quantity usually to high profile investors </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Terms for redeeming the “Redeemable preference shares” such as redemption price, when can they be redeemed etc., would be laid out by the company very clearly at the time of issuance only </a:t>
            </a:r>
            <a:endParaRPr lang="en-US">
              <a:solidFill>
                <a:schemeClr val="dk1"/>
              </a:solidFill>
            </a:endParaRPr>
          </a:p>
          <a:p>
            <a:pPr marL="0" lvl="0" indent="0" algn="l" rtl="0">
              <a:lnSpc>
                <a:spcPct val="100000"/>
              </a:lnSpc>
              <a:spcBef>
                <a:spcPts val="0"/>
              </a:spcBef>
              <a:spcAft>
                <a:spcPts val="0"/>
              </a:spcAft>
              <a:buSzPts val="1400"/>
              <a:buNone/>
            </a:pPr>
          </a:p>
        </p:txBody>
      </p:sp>
      <p:sp>
        <p:nvSpPr>
          <p:cNvPr id="402" name="Google Shape;402;p1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3" name="Shape 423"/>
        <p:cNvGrpSpPr/>
        <p:nvPr/>
      </p:nvGrpSpPr>
      <p:grpSpPr>
        <a:xfrm>
          <a:off x="0" y="0"/>
          <a:ext cx="0" cy="0"/>
          <a:chOff x="0" y="0"/>
          <a:chExt cx="0" cy="0"/>
        </a:xfrm>
      </p:grpSpPr>
      <p:sp>
        <p:nvSpPr>
          <p:cNvPr id="424" name="Google Shape;424;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r>
              <a:rPr lang="en-US">
                <a:solidFill>
                  <a:schemeClr val="dk1"/>
                </a:solidFill>
              </a:rPr>
              <a:t>Anshul’s observations:</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We may add a small table comparing the common shares with preference shares, before discussing types of preference shares…. Will be speaking points  - AD</a:t>
            </a:r>
            <a:endParaRPr lang="en-US">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Features of preference shares -  Will be speaking points  - AD</a:t>
            </a:r>
            <a:endParaRPr lang="en-US">
              <a:solidFill>
                <a:schemeClr val="dk1"/>
              </a:solidFill>
            </a:endParaRPr>
          </a:p>
          <a:p>
            <a:pPr marL="457200" lvl="0" indent="-22860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through private placements - No IPO for preference shares” </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Traded OTC mostly - Secondary market is less active as compared to common shares</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in bulk quantity usually to high profile investors </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Terms for redeeming the “Redeemable preference shares” such as redemption price, when can they be redeemed etc., would be laid out by the company very clearly at the time of issuance only </a:t>
            </a:r>
            <a:endParaRPr lang="en-US">
              <a:solidFill>
                <a:schemeClr val="dk1"/>
              </a:solidFill>
            </a:endParaRPr>
          </a:p>
          <a:p>
            <a:pPr marL="0" lvl="0" indent="0" algn="l" rtl="0">
              <a:lnSpc>
                <a:spcPct val="100000"/>
              </a:lnSpc>
              <a:spcBef>
                <a:spcPts val="0"/>
              </a:spcBef>
              <a:spcAft>
                <a:spcPts val="0"/>
              </a:spcAft>
              <a:buSzPts val="1400"/>
              <a:buNone/>
            </a:pPr>
          </a:p>
        </p:txBody>
      </p:sp>
      <p:sp>
        <p:nvSpPr>
          <p:cNvPr id="426" name="Google Shape;426;p1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6" name="Shape 446"/>
        <p:cNvGrpSpPr/>
        <p:nvPr/>
      </p:nvGrpSpPr>
      <p:grpSpPr>
        <a:xfrm>
          <a:off x="0" y="0"/>
          <a:ext cx="0" cy="0"/>
          <a:chOff x="0" y="0"/>
          <a:chExt cx="0" cy="0"/>
        </a:xfrm>
      </p:grpSpPr>
      <p:sp>
        <p:nvSpPr>
          <p:cNvPr id="447" name="Google Shape;447;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1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r>
              <a:rPr lang="en-US">
                <a:solidFill>
                  <a:schemeClr val="dk1"/>
                </a:solidFill>
              </a:rPr>
              <a:t>Anshul’s observations:</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We may add a small table comparing the common shares with preference shares, before discussing types of preference shares…. Will be speaking points  - AD</a:t>
            </a:r>
            <a:endParaRPr lang="en-US">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Features of preference shares -  Will be speaking points  - AD</a:t>
            </a:r>
            <a:endParaRPr lang="en-US">
              <a:solidFill>
                <a:schemeClr val="dk1"/>
              </a:solidFill>
            </a:endParaRPr>
          </a:p>
          <a:p>
            <a:pPr marL="457200" lvl="0" indent="-22860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through private placements - No IPO for preference shares” </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Traded OTC mostly - Secondary market is less active as compared to common shares</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in bulk quantity usually to high profile investors </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Terms for redeeming the “Redeemable preference shares” such as redemption price, when can they be redeemed etc., would be laid out by the company very clearly at the time of issuance only </a:t>
            </a:r>
            <a:endParaRPr lang="en-US">
              <a:solidFill>
                <a:schemeClr val="dk1"/>
              </a:solidFill>
            </a:endParaRPr>
          </a:p>
          <a:p>
            <a:pPr marL="0" lvl="0" indent="0" algn="l" rtl="0">
              <a:lnSpc>
                <a:spcPct val="100000"/>
              </a:lnSpc>
              <a:spcBef>
                <a:spcPts val="0"/>
              </a:spcBef>
              <a:spcAft>
                <a:spcPts val="0"/>
              </a:spcAft>
              <a:buSzPts val="1400"/>
              <a:buNone/>
            </a:pPr>
          </a:p>
        </p:txBody>
      </p:sp>
      <p:sp>
        <p:nvSpPr>
          <p:cNvPr id="449" name="Google Shape;449;p1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9" name="Shape 469"/>
        <p:cNvGrpSpPr/>
        <p:nvPr/>
      </p:nvGrpSpPr>
      <p:grpSpPr>
        <a:xfrm>
          <a:off x="0" y="0"/>
          <a:ext cx="0" cy="0"/>
          <a:chOff x="0" y="0"/>
          <a:chExt cx="0" cy="0"/>
        </a:xfrm>
      </p:grpSpPr>
      <p:sp>
        <p:nvSpPr>
          <p:cNvPr id="470" name="Google Shape;470;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1" name="Google Shape;471;p2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r>
              <a:rPr lang="en-US">
                <a:solidFill>
                  <a:schemeClr val="dk1"/>
                </a:solidFill>
              </a:rPr>
              <a:t>Anshul’s observations:</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We may add a small table comparing the common shares with preference shares, before discussing types of preference shares…. Will be speaking points  - AD</a:t>
            </a:r>
            <a:endParaRPr lang="en-US">
              <a:solidFill>
                <a:schemeClr val="dk1"/>
              </a:solidFill>
            </a:endParaRPr>
          </a:p>
          <a:p>
            <a:pPr marL="457200" lvl="0" indent="-298450" algn="l" rtl="0">
              <a:lnSpc>
                <a:spcPct val="100000"/>
              </a:lnSpc>
              <a:spcBef>
                <a:spcPts val="0"/>
              </a:spcBef>
              <a:spcAft>
                <a:spcPts val="0"/>
              </a:spcAft>
              <a:buClr>
                <a:schemeClr val="dk1"/>
              </a:buClr>
              <a:buSzPts val="1100"/>
              <a:buFont typeface="Arial" panose="020B0604020202020204"/>
              <a:buAutoNum type="arabicParenR"/>
            </a:pPr>
            <a:r>
              <a:rPr lang="en-US">
                <a:solidFill>
                  <a:schemeClr val="dk1"/>
                </a:solidFill>
              </a:rPr>
              <a:t>Features of preference shares -  Will be speaking points  - AD</a:t>
            </a:r>
            <a:endParaRPr lang="en-US">
              <a:solidFill>
                <a:schemeClr val="dk1"/>
              </a:solidFill>
            </a:endParaRPr>
          </a:p>
          <a:p>
            <a:pPr marL="457200" lvl="0" indent="-228600" algn="l" rtl="0">
              <a:lnSpc>
                <a:spcPct val="100000"/>
              </a:lnSpc>
              <a:spcBef>
                <a:spcPts val="0"/>
              </a:spcBef>
              <a:spcAft>
                <a:spcPts val="0"/>
              </a:spcAft>
              <a:buClr>
                <a:schemeClr val="dk1"/>
              </a:buClr>
              <a:buSzPts val="1100"/>
              <a:buFont typeface="Arial" panose="020B0604020202020204"/>
              <a:buNone/>
            </a:pPr>
            <a:endParaRPr>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through private placements - No IPO for preference shares” </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Traded OTC mostly - Secondary market is less active as compared to common shares</a:t>
            </a:r>
            <a:endParaRPr lang="en-US">
              <a:solidFill>
                <a:schemeClr val="dk1"/>
              </a:solidFill>
            </a:endParaRPr>
          </a:p>
          <a:p>
            <a:pPr marL="914400" lvl="1" indent="-298450" algn="l" rtl="0">
              <a:lnSpc>
                <a:spcPct val="100000"/>
              </a:lnSpc>
              <a:spcBef>
                <a:spcPts val="0"/>
              </a:spcBef>
              <a:spcAft>
                <a:spcPts val="0"/>
              </a:spcAft>
              <a:buClr>
                <a:schemeClr val="dk1"/>
              </a:buClr>
              <a:buSzPts val="1100"/>
              <a:buFont typeface="Arial" panose="020B0604020202020204"/>
              <a:buAutoNum type="alphaLcParenR"/>
            </a:pPr>
            <a:r>
              <a:rPr lang="en-US">
                <a:solidFill>
                  <a:schemeClr val="dk1"/>
                </a:solidFill>
              </a:rPr>
              <a:t>Issued in bulk quantity usually to high profile investors </a:t>
            </a:r>
            <a:endParaRPr lang="en-US">
              <a:solidFill>
                <a:schemeClr val="dk1"/>
              </a:solidFill>
            </a:endParaRPr>
          </a:p>
          <a:p>
            <a:pPr marL="0" lvl="0" indent="0" algn="l" rtl="0">
              <a:lnSpc>
                <a:spcPct val="100000"/>
              </a:lnSpc>
              <a:spcBef>
                <a:spcPts val="0"/>
              </a:spcBef>
              <a:spcAft>
                <a:spcPts val="0"/>
              </a:spcAft>
              <a:buClr>
                <a:schemeClr val="dk1"/>
              </a:buClr>
              <a:buSzPts val="1200"/>
              <a:buFont typeface="Arial" panose="020B0604020202020204"/>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Terms for redeeming the “Redeemable preference shares” such as redemption price, when can they be redeemed etc., would be laid out by the company very clearly at the time of issuance only </a:t>
            </a:r>
            <a:endParaRPr lang="en-US">
              <a:solidFill>
                <a:schemeClr val="dk1"/>
              </a:solidFill>
            </a:endParaRPr>
          </a:p>
          <a:p>
            <a:pPr marL="0" lvl="0" indent="0" algn="l" rtl="0">
              <a:lnSpc>
                <a:spcPct val="100000"/>
              </a:lnSpc>
              <a:spcBef>
                <a:spcPts val="0"/>
              </a:spcBef>
              <a:spcAft>
                <a:spcPts val="0"/>
              </a:spcAft>
              <a:buSzPts val="1400"/>
              <a:buNone/>
            </a:pPr>
          </a:p>
        </p:txBody>
      </p:sp>
      <p:sp>
        <p:nvSpPr>
          <p:cNvPr id="472" name="Google Shape;472;p2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8" name="Shape 508"/>
        <p:cNvGrpSpPr/>
        <p:nvPr/>
      </p:nvGrpSpPr>
      <p:grpSpPr>
        <a:xfrm>
          <a:off x="0" y="0"/>
          <a:ext cx="0" cy="0"/>
          <a:chOff x="0" y="0"/>
          <a:chExt cx="0" cy="0"/>
        </a:xfrm>
      </p:grpSpPr>
      <p:sp>
        <p:nvSpPr>
          <p:cNvPr id="509" name="Google Shape;509;p2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10" name="Google Shape;510;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2" name="Shape 522"/>
        <p:cNvGrpSpPr/>
        <p:nvPr/>
      </p:nvGrpSpPr>
      <p:grpSpPr>
        <a:xfrm>
          <a:off x="0" y="0"/>
          <a:ext cx="0" cy="0"/>
          <a:chOff x="0" y="0"/>
          <a:chExt cx="0" cy="0"/>
        </a:xfrm>
      </p:grpSpPr>
      <p:sp>
        <p:nvSpPr>
          <p:cNvPr id="523" name="Google Shape;523;p2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24" name="Google Shape;524;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6" name="Shape 536"/>
        <p:cNvGrpSpPr/>
        <p:nvPr/>
      </p:nvGrpSpPr>
      <p:grpSpPr>
        <a:xfrm>
          <a:off x="0" y="0"/>
          <a:ext cx="0" cy="0"/>
          <a:chOff x="0" y="0"/>
          <a:chExt cx="0" cy="0"/>
        </a:xfrm>
      </p:grpSpPr>
      <p:sp>
        <p:nvSpPr>
          <p:cNvPr id="537" name="Google Shape;537;p2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38" name="Google Shape;538;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8" name="Shape 548"/>
        <p:cNvGrpSpPr/>
        <p:nvPr/>
      </p:nvGrpSpPr>
      <p:grpSpPr>
        <a:xfrm>
          <a:off x="0" y="0"/>
          <a:ext cx="0" cy="0"/>
          <a:chOff x="0" y="0"/>
          <a:chExt cx="0" cy="0"/>
        </a:xfrm>
      </p:grpSpPr>
      <p:sp>
        <p:nvSpPr>
          <p:cNvPr id="549" name="Google Shape;549;p2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50" name="Google Shape;550;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2" name="Shape 562"/>
        <p:cNvGrpSpPr/>
        <p:nvPr/>
      </p:nvGrpSpPr>
      <p:grpSpPr>
        <a:xfrm>
          <a:off x="0" y="0"/>
          <a:ext cx="0" cy="0"/>
          <a:chOff x="0" y="0"/>
          <a:chExt cx="0" cy="0"/>
        </a:xfrm>
      </p:grpSpPr>
      <p:sp>
        <p:nvSpPr>
          <p:cNvPr id="563" name="Google Shape;563;p2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64" name="Google Shape;564;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6" name="Shape 576"/>
        <p:cNvGrpSpPr/>
        <p:nvPr/>
      </p:nvGrpSpPr>
      <p:grpSpPr>
        <a:xfrm>
          <a:off x="0" y="0"/>
          <a:ext cx="0" cy="0"/>
          <a:chOff x="0" y="0"/>
          <a:chExt cx="0" cy="0"/>
        </a:xfrm>
      </p:grpSpPr>
      <p:sp>
        <p:nvSpPr>
          <p:cNvPr id="577" name="Google Shape;577;p2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578" name="Google Shape;578;p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9" name="Shape 589"/>
        <p:cNvGrpSpPr/>
        <p:nvPr/>
      </p:nvGrpSpPr>
      <p:grpSpPr>
        <a:xfrm>
          <a:off x="0" y="0"/>
          <a:ext cx="0" cy="0"/>
          <a:chOff x="0" y="0"/>
          <a:chExt cx="0" cy="0"/>
        </a:xfrm>
      </p:grpSpPr>
      <p:sp>
        <p:nvSpPr>
          <p:cNvPr id="590" name="Google Shape;590;p2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p>
        </p:txBody>
      </p:sp>
      <p:sp>
        <p:nvSpPr>
          <p:cNvPr id="591" name="Google Shape;591;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0" name="Shape 600"/>
        <p:cNvGrpSpPr/>
        <p:nvPr/>
      </p:nvGrpSpPr>
      <p:grpSpPr>
        <a:xfrm>
          <a:off x="0" y="0"/>
          <a:ext cx="0" cy="0"/>
          <a:chOff x="0" y="0"/>
          <a:chExt cx="0" cy="0"/>
        </a:xfrm>
      </p:grpSpPr>
      <p:sp>
        <p:nvSpPr>
          <p:cNvPr id="601" name="Google Shape;601;p2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02" name="Google Shape;602;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3" name="Shape 613"/>
        <p:cNvGrpSpPr/>
        <p:nvPr/>
      </p:nvGrpSpPr>
      <p:grpSpPr>
        <a:xfrm>
          <a:off x="0" y="0"/>
          <a:ext cx="0" cy="0"/>
          <a:chOff x="0" y="0"/>
          <a:chExt cx="0" cy="0"/>
        </a:xfrm>
      </p:grpSpPr>
      <p:sp>
        <p:nvSpPr>
          <p:cNvPr id="614" name="Google Shape;614;p2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15" name="Google Shape;615;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6" name="Shape 656"/>
        <p:cNvGrpSpPr/>
        <p:nvPr/>
      </p:nvGrpSpPr>
      <p:grpSpPr>
        <a:xfrm>
          <a:off x="0" y="0"/>
          <a:ext cx="0" cy="0"/>
          <a:chOff x="0" y="0"/>
          <a:chExt cx="0" cy="0"/>
        </a:xfrm>
      </p:grpSpPr>
      <p:sp>
        <p:nvSpPr>
          <p:cNvPr id="657" name="Google Shape;657;p3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58" name="Google Shape;658;p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2" name="Shape 672"/>
        <p:cNvGrpSpPr/>
        <p:nvPr/>
      </p:nvGrpSpPr>
      <p:grpSpPr>
        <a:xfrm>
          <a:off x="0" y="0"/>
          <a:ext cx="0" cy="0"/>
          <a:chOff x="0" y="0"/>
          <a:chExt cx="0" cy="0"/>
        </a:xfrm>
      </p:grpSpPr>
      <p:sp>
        <p:nvSpPr>
          <p:cNvPr id="673" name="Google Shape;673;p3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74" name="Google Shape;674;p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8" name="Shape 688"/>
        <p:cNvGrpSpPr/>
        <p:nvPr/>
      </p:nvGrpSpPr>
      <p:grpSpPr>
        <a:xfrm>
          <a:off x="0" y="0"/>
          <a:ext cx="0" cy="0"/>
          <a:chOff x="0" y="0"/>
          <a:chExt cx="0" cy="0"/>
        </a:xfrm>
      </p:grpSpPr>
      <p:sp>
        <p:nvSpPr>
          <p:cNvPr id="689" name="Google Shape;689;p3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90" name="Google Shape;690;p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4" name="Shape 704"/>
        <p:cNvGrpSpPr/>
        <p:nvPr/>
      </p:nvGrpSpPr>
      <p:grpSpPr>
        <a:xfrm>
          <a:off x="0" y="0"/>
          <a:ext cx="0" cy="0"/>
          <a:chOff x="0" y="0"/>
          <a:chExt cx="0" cy="0"/>
        </a:xfrm>
      </p:grpSpPr>
      <p:sp>
        <p:nvSpPr>
          <p:cNvPr id="705" name="Google Shape;705;p3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06" name="Google Shape;706;p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0" name="Shape 720"/>
        <p:cNvGrpSpPr/>
        <p:nvPr/>
      </p:nvGrpSpPr>
      <p:grpSpPr>
        <a:xfrm>
          <a:off x="0" y="0"/>
          <a:ext cx="0" cy="0"/>
          <a:chOff x="0" y="0"/>
          <a:chExt cx="0" cy="0"/>
        </a:xfrm>
      </p:grpSpPr>
      <p:sp>
        <p:nvSpPr>
          <p:cNvPr id="721" name="Google Shape;721;p3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22" name="Google Shape;722;p3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8" name="Shape 728"/>
        <p:cNvGrpSpPr/>
        <p:nvPr/>
      </p:nvGrpSpPr>
      <p:grpSpPr>
        <a:xfrm>
          <a:off x="0" y="0"/>
          <a:ext cx="0" cy="0"/>
          <a:chOff x="0" y="0"/>
          <a:chExt cx="0" cy="0"/>
        </a:xfrm>
      </p:grpSpPr>
      <p:sp>
        <p:nvSpPr>
          <p:cNvPr id="729" name="Google Shape;729;p3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p>
        </p:txBody>
      </p:sp>
      <p:sp>
        <p:nvSpPr>
          <p:cNvPr id="730" name="Google Shape;730;p3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9" name="Shape 739"/>
        <p:cNvGrpSpPr/>
        <p:nvPr/>
      </p:nvGrpSpPr>
      <p:grpSpPr>
        <a:xfrm>
          <a:off x="0" y="0"/>
          <a:ext cx="0" cy="0"/>
          <a:chOff x="0" y="0"/>
          <a:chExt cx="0" cy="0"/>
        </a:xfrm>
      </p:grpSpPr>
      <p:sp>
        <p:nvSpPr>
          <p:cNvPr id="740" name="Google Shape;740;p3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p3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42" name="Google Shape;742;p3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5" name="Shape 765"/>
        <p:cNvGrpSpPr/>
        <p:nvPr/>
      </p:nvGrpSpPr>
      <p:grpSpPr>
        <a:xfrm>
          <a:off x="0" y="0"/>
          <a:ext cx="0" cy="0"/>
          <a:chOff x="0" y="0"/>
          <a:chExt cx="0" cy="0"/>
        </a:xfrm>
      </p:grpSpPr>
      <p:sp>
        <p:nvSpPr>
          <p:cNvPr id="766" name="Google Shape;766;p3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67" name="Google Shape;767;p3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4" name="Shape 784"/>
        <p:cNvGrpSpPr/>
        <p:nvPr/>
      </p:nvGrpSpPr>
      <p:grpSpPr>
        <a:xfrm>
          <a:off x="0" y="0"/>
          <a:ext cx="0" cy="0"/>
          <a:chOff x="0" y="0"/>
          <a:chExt cx="0" cy="0"/>
        </a:xfrm>
      </p:grpSpPr>
      <p:sp>
        <p:nvSpPr>
          <p:cNvPr id="785" name="Google Shape;785;p3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86" name="Google Shape;786;p3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17" name="Shape 817"/>
        <p:cNvGrpSpPr/>
        <p:nvPr/>
      </p:nvGrpSpPr>
      <p:grpSpPr>
        <a:xfrm>
          <a:off x="0" y="0"/>
          <a:ext cx="0" cy="0"/>
          <a:chOff x="0" y="0"/>
          <a:chExt cx="0" cy="0"/>
        </a:xfrm>
      </p:grpSpPr>
      <p:sp>
        <p:nvSpPr>
          <p:cNvPr id="818" name="Google Shape;818;p3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19" name="Google Shape;819;p3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0" name="Shape 850"/>
        <p:cNvGrpSpPr/>
        <p:nvPr/>
      </p:nvGrpSpPr>
      <p:grpSpPr>
        <a:xfrm>
          <a:off x="0" y="0"/>
          <a:ext cx="0" cy="0"/>
          <a:chOff x="0" y="0"/>
          <a:chExt cx="0" cy="0"/>
        </a:xfrm>
      </p:grpSpPr>
      <p:sp>
        <p:nvSpPr>
          <p:cNvPr id="851" name="Google Shape;851;p4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52" name="Google Shape;852;p4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2" name="Shape 862"/>
        <p:cNvGrpSpPr/>
        <p:nvPr/>
      </p:nvGrpSpPr>
      <p:grpSpPr>
        <a:xfrm>
          <a:off x="0" y="0"/>
          <a:ext cx="0" cy="0"/>
          <a:chOff x="0" y="0"/>
          <a:chExt cx="0" cy="0"/>
        </a:xfrm>
      </p:grpSpPr>
      <p:sp>
        <p:nvSpPr>
          <p:cNvPr id="863" name="Google Shape;863;p4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4" name="Google Shape;864;p4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9" name="Shape 879"/>
        <p:cNvGrpSpPr/>
        <p:nvPr/>
      </p:nvGrpSpPr>
      <p:grpSpPr>
        <a:xfrm>
          <a:off x="0" y="0"/>
          <a:ext cx="0" cy="0"/>
          <a:chOff x="0" y="0"/>
          <a:chExt cx="0" cy="0"/>
        </a:xfrm>
      </p:grpSpPr>
      <p:sp>
        <p:nvSpPr>
          <p:cNvPr id="880" name="Google Shape;880;p4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81" name="Google Shape;881;p4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7" name="Shape 897"/>
        <p:cNvGrpSpPr/>
        <p:nvPr/>
      </p:nvGrpSpPr>
      <p:grpSpPr>
        <a:xfrm>
          <a:off x="0" y="0"/>
          <a:ext cx="0" cy="0"/>
          <a:chOff x="0" y="0"/>
          <a:chExt cx="0" cy="0"/>
        </a:xfrm>
      </p:grpSpPr>
      <p:sp>
        <p:nvSpPr>
          <p:cNvPr id="898" name="Google Shape;898;p4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99" name="Google Shape;899;p4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9" name="Shape 919"/>
        <p:cNvGrpSpPr/>
        <p:nvPr/>
      </p:nvGrpSpPr>
      <p:grpSpPr>
        <a:xfrm>
          <a:off x="0" y="0"/>
          <a:ext cx="0" cy="0"/>
          <a:chOff x="0" y="0"/>
          <a:chExt cx="0" cy="0"/>
        </a:xfrm>
      </p:grpSpPr>
      <p:sp>
        <p:nvSpPr>
          <p:cNvPr id="920" name="Google Shape;920;p4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21" name="Google Shape;921;p4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2" name="Shape 932"/>
        <p:cNvGrpSpPr/>
        <p:nvPr/>
      </p:nvGrpSpPr>
      <p:grpSpPr>
        <a:xfrm>
          <a:off x="0" y="0"/>
          <a:ext cx="0" cy="0"/>
          <a:chOff x="0" y="0"/>
          <a:chExt cx="0" cy="0"/>
        </a:xfrm>
      </p:grpSpPr>
      <p:sp>
        <p:nvSpPr>
          <p:cNvPr id="933" name="Google Shape;933;p4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panose="020B0604020202020204"/>
              <a:buNone/>
            </a:pPr>
          </a:p>
        </p:txBody>
      </p:sp>
      <p:sp>
        <p:nvSpPr>
          <p:cNvPr id="934" name="Google Shape;934;p4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3" name="Shape 943"/>
        <p:cNvGrpSpPr/>
        <p:nvPr/>
      </p:nvGrpSpPr>
      <p:grpSpPr>
        <a:xfrm>
          <a:off x="0" y="0"/>
          <a:ext cx="0" cy="0"/>
          <a:chOff x="0" y="0"/>
          <a:chExt cx="0" cy="0"/>
        </a:xfrm>
      </p:grpSpPr>
      <p:sp>
        <p:nvSpPr>
          <p:cNvPr id="944" name="Google Shape;944;p4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45" name="Google Shape;945;p4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955" name="Shape 955"/>
        <p:cNvGrpSpPr/>
        <p:nvPr/>
      </p:nvGrpSpPr>
      <p:grpSpPr>
        <a:xfrm>
          <a:off x="0" y="0"/>
          <a:ext cx="0" cy="0"/>
          <a:chOff x="0" y="0"/>
          <a:chExt cx="0" cy="0"/>
        </a:xfrm>
      </p:grpSpPr>
      <p:sp>
        <p:nvSpPr>
          <p:cNvPr id="956" name="Google Shape;956;p4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57" name="Google Shape;957;p4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0" name="Shape 970"/>
        <p:cNvGrpSpPr/>
        <p:nvPr/>
      </p:nvGrpSpPr>
      <p:grpSpPr>
        <a:xfrm>
          <a:off x="0" y="0"/>
          <a:ext cx="0" cy="0"/>
          <a:chOff x="0" y="0"/>
          <a:chExt cx="0" cy="0"/>
        </a:xfrm>
      </p:grpSpPr>
      <p:sp>
        <p:nvSpPr>
          <p:cNvPr id="971" name="Google Shape;971;p4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72" name="Google Shape;972;p4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1" name="Shape 1011"/>
        <p:cNvGrpSpPr/>
        <p:nvPr/>
      </p:nvGrpSpPr>
      <p:grpSpPr>
        <a:xfrm>
          <a:off x="0" y="0"/>
          <a:ext cx="0" cy="0"/>
          <a:chOff x="0" y="0"/>
          <a:chExt cx="0" cy="0"/>
        </a:xfrm>
      </p:grpSpPr>
      <p:sp>
        <p:nvSpPr>
          <p:cNvPr id="1012" name="Google Shape;1012;p4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13" name="Google Shape;1013;p4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2" name="Shape 1062"/>
        <p:cNvGrpSpPr/>
        <p:nvPr/>
      </p:nvGrpSpPr>
      <p:grpSpPr>
        <a:xfrm>
          <a:off x="0" y="0"/>
          <a:ext cx="0" cy="0"/>
          <a:chOff x="0" y="0"/>
          <a:chExt cx="0" cy="0"/>
        </a:xfrm>
      </p:grpSpPr>
      <p:sp>
        <p:nvSpPr>
          <p:cNvPr id="1063" name="Google Shape;1063;p5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64" name="Google Shape;1064;p5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8" name="Shape 1068"/>
        <p:cNvGrpSpPr/>
        <p:nvPr/>
      </p:nvGrpSpPr>
      <p:grpSpPr>
        <a:xfrm>
          <a:off x="0" y="0"/>
          <a:ext cx="0" cy="0"/>
          <a:chOff x="0" y="0"/>
          <a:chExt cx="0" cy="0"/>
        </a:xfrm>
      </p:grpSpPr>
      <p:sp>
        <p:nvSpPr>
          <p:cNvPr id="1069" name="Google Shape;1069;p5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70" name="Google Shape;1070;p5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4" name="Shape 1084"/>
        <p:cNvGrpSpPr/>
        <p:nvPr/>
      </p:nvGrpSpPr>
      <p:grpSpPr>
        <a:xfrm>
          <a:off x="0" y="0"/>
          <a:ext cx="0" cy="0"/>
          <a:chOff x="0" y="0"/>
          <a:chExt cx="0" cy="0"/>
        </a:xfrm>
      </p:grpSpPr>
      <p:sp>
        <p:nvSpPr>
          <p:cNvPr id="1085" name="Google Shape;1085;p5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6" name="Google Shape;1086;p5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2" name="Shape 1092"/>
        <p:cNvGrpSpPr/>
        <p:nvPr/>
      </p:nvGrpSpPr>
      <p:grpSpPr>
        <a:xfrm>
          <a:off x="0" y="0"/>
          <a:ext cx="0" cy="0"/>
          <a:chOff x="0" y="0"/>
          <a:chExt cx="0" cy="0"/>
        </a:xfrm>
      </p:grpSpPr>
      <p:sp>
        <p:nvSpPr>
          <p:cNvPr id="1093" name="Google Shape;1093;p5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94" name="Google Shape;1094;p5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6" name="Shape 1126"/>
        <p:cNvGrpSpPr/>
        <p:nvPr/>
      </p:nvGrpSpPr>
      <p:grpSpPr>
        <a:xfrm>
          <a:off x="0" y="0"/>
          <a:ext cx="0" cy="0"/>
          <a:chOff x="0" y="0"/>
          <a:chExt cx="0" cy="0"/>
        </a:xfrm>
      </p:grpSpPr>
      <p:sp>
        <p:nvSpPr>
          <p:cNvPr id="1127" name="Google Shape;1127;p5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28" name="Google Shape;1128;p5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p:cSld name="slide">
    <p:spTree>
      <p:nvGrpSpPr>
        <p:cNvPr id="16" name="Shape 16"/>
        <p:cNvGrpSpPr/>
        <p:nvPr/>
      </p:nvGrpSpPr>
      <p:grpSpPr>
        <a:xfrm>
          <a:off x="0" y="0"/>
          <a:ext cx="0" cy="0"/>
          <a:chOff x="0" y="0"/>
          <a:chExt cx="0" cy="0"/>
        </a:xfrm>
      </p:grpSpPr>
      <p:sp>
        <p:nvSpPr>
          <p:cNvPr id="17" name="Google Shape;17;p57"/>
          <p:cNvSpPr/>
          <p:nvPr>
            <p:ph type="pic" idx="2"/>
          </p:nvPr>
        </p:nvSpPr>
        <p:spPr>
          <a:xfrm>
            <a:off x="3978704" y="-174171"/>
            <a:ext cx="8412466" cy="7206342"/>
          </a:xfrm>
          <a:prstGeom prst="rect">
            <a:avLst/>
          </a:prstGeom>
          <a:solidFill>
            <a:srgbClr val="F2F2F2"/>
          </a:solidFill>
          <a:ln>
            <a:noFill/>
          </a:ln>
        </p:spPr>
      </p:sp>
      <p:sp>
        <p:nvSpPr>
          <p:cNvPr id="18" name="Google Shape;18;p5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9" name="Shape 19"/>
        <p:cNvGrpSpPr/>
        <p:nvPr/>
      </p:nvGrpSpPr>
      <p:grpSpPr>
        <a:xfrm>
          <a:off x="0" y="0"/>
          <a:ext cx="0" cy="0"/>
          <a:chOff x="0" y="0"/>
          <a:chExt cx="0" cy="0"/>
        </a:xfrm>
      </p:grpSpPr>
      <p:sp>
        <p:nvSpPr>
          <p:cNvPr id="20" name="Google Shape;20;p58"/>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2">
  <p:cSld name="Title - 22">
    <p:spTree>
      <p:nvGrpSpPr>
        <p:cNvPr id="21" name="Shape 21"/>
        <p:cNvGrpSpPr/>
        <p:nvPr/>
      </p:nvGrpSpPr>
      <p:grpSpPr>
        <a:xfrm>
          <a:off x="0" y="0"/>
          <a:ext cx="0" cy="0"/>
          <a:chOff x="0" y="0"/>
          <a:chExt cx="0" cy="0"/>
        </a:xfrm>
      </p:grpSpPr>
      <p:sp>
        <p:nvSpPr>
          <p:cNvPr id="22" name="Google Shape;22;p59"/>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23;p59"/>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600"/>
              <a:buFont typeface="Arial" panose="020B0604020202020204"/>
              <a:buNone/>
            </a:pPr>
            <a:fld id="{00000000-1234-1234-1234-123412341234}" type="slidenum">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24;p5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5" name="Google Shape;25;p59"/>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 name="Google Shape;26;p59"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p:cSld name="29_slide">
    <p:spTree>
      <p:nvGrpSpPr>
        <p:cNvPr id="27" name="Shape 27"/>
        <p:cNvGrpSpPr/>
        <p:nvPr/>
      </p:nvGrpSpPr>
      <p:grpSpPr>
        <a:xfrm>
          <a:off x="0" y="0"/>
          <a:ext cx="0" cy="0"/>
          <a:chOff x="0" y="0"/>
          <a:chExt cx="0" cy="0"/>
        </a:xfrm>
      </p:grpSpPr>
      <p:sp>
        <p:nvSpPr>
          <p:cNvPr id="28" name="Google Shape;28;p60"/>
          <p:cNvSpPr/>
          <p:nvPr>
            <p:ph type="pic" idx="2"/>
          </p:nvPr>
        </p:nvSpPr>
        <p:spPr>
          <a:xfrm>
            <a:off x="3978704" y="-174171"/>
            <a:ext cx="8412466" cy="7206342"/>
          </a:xfrm>
          <a:prstGeom prst="rect">
            <a:avLst/>
          </a:prstGeom>
          <a:solidFill>
            <a:srgbClr val="F2F2F2"/>
          </a:solidFill>
          <a:ln>
            <a:noFill/>
          </a:ln>
        </p:spPr>
      </p:sp>
      <p:sp>
        <p:nvSpPr>
          <p:cNvPr id="29" name="Google Shape;29;p60"/>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30" name="Shape 30"/>
        <p:cNvGrpSpPr/>
        <p:nvPr/>
      </p:nvGrpSpPr>
      <p:grpSpPr>
        <a:xfrm>
          <a:off x="0" y="0"/>
          <a:ext cx="0" cy="0"/>
          <a:chOff x="0" y="0"/>
          <a:chExt cx="0" cy="0"/>
        </a:xfrm>
      </p:grpSpPr>
      <p:sp>
        <p:nvSpPr>
          <p:cNvPr id="31" name="Google Shape;31;p6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32" name="Shape 32"/>
        <p:cNvGrpSpPr/>
        <p:nvPr/>
      </p:nvGrpSpPr>
      <p:grpSpPr>
        <a:xfrm>
          <a:off x="0" y="0"/>
          <a:ext cx="0" cy="0"/>
          <a:chOff x="0" y="0"/>
          <a:chExt cx="0" cy="0"/>
        </a:xfrm>
      </p:grpSpPr>
      <p:sp>
        <p:nvSpPr>
          <p:cNvPr id="33" name="Google Shape;33;p62"/>
          <p:cNvSpPr/>
          <p:nvPr>
            <p:ph type="media" idx="2"/>
          </p:nvPr>
        </p:nvSpPr>
        <p:spPr>
          <a:xfrm>
            <a:off x="874610" y="1346252"/>
            <a:ext cx="9921875" cy="47894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4" name="Google Shape;34;p62"/>
          <p:cNvSpPr txBox="1"/>
          <p:nvPr>
            <p:ph type="title"/>
          </p:nvPr>
        </p:nvSpPr>
        <p:spPr>
          <a:xfrm>
            <a:off x="874610" y="443784"/>
            <a:ext cx="10515600" cy="5787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2"/>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6" name="Google Shape;36;p62"/>
          <p:cNvSpPr/>
          <p:nvPr/>
        </p:nvSpPr>
        <p:spPr>
          <a:xfrm>
            <a:off x="5281257" y="3244334"/>
            <a:ext cx="162948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TABLE SLIDE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37" name="Google Shape;37;p62"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38" name="Shape 38"/>
        <p:cNvGrpSpPr/>
        <p:nvPr/>
      </p:nvGrpSpPr>
      <p:grpSpPr>
        <a:xfrm>
          <a:off x="0" y="0"/>
          <a:ext cx="0" cy="0"/>
          <a:chOff x="0" y="0"/>
          <a:chExt cx="0" cy="0"/>
        </a:xfrm>
      </p:grpSpPr>
      <p:sp>
        <p:nvSpPr>
          <p:cNvPr id="39" name="Google Shape;39;p63"/>
          <p:cNvSpPr/>
          <p:nvPr>
            <p:ph type="pic" idx="2"/>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slide">
  <p:cSld name="1_slide">
    <p:spTree>
      <p:nvGrpSpPr>
        <p:cNvPr id="40" name="Shape 40"/>
        <p:cNvGrpSpPr/>
        <p:nvPr/>
      </p:nvGrpSpPr>
      <p:grpSpPr>
        <a:xfrm>
          <a:off x="0" y="0"/>
          <a:ext cx="0" cy="0"/>
          <a:chOff x="0" y="0"/>
          <a:chExt cx="0" cy="0"/>
        </a:xfrm>
      </p:grpSpPr>
      <p:sp>
        <p:nvSpPr>
          <p:cNvPr id="41" name="Google Shape;41;p64"/>
          <p:cNvSpPr/>
          <p:nvPr>
            <p:ph type="pic" idx="2"/>
          </p:nvPr>
        </p:nvSpPr>
        <p:spPr>
          <a:xfrm>
            <a:off x="-199169" y="-174171"/>
            <a:ext cx="12590339" cy="4288971"/>
          </a:xfrm>
          <a:prstGeom prst="rect">
            <a:avLst/>
          </a:prstGeom>
          <a:solidFill>
            <a:srgbClr val="F2F2F2"/>
          </a:solidFill>
          <a:ln>
            <a:noFill/>
          </a:ln>
        </p:spPr>
      </p:sp>
      <p:sp>
        <p:nvSpPr>
          <p:cNvPr id="42" name="Google Shape;42;p64"/>
          <p:cNvSpPr txBox="1"/>
          <p:nvPr>
            <p:ph type="body" idx="1"/>
          </p:nvPr>
        </p:nvSpPr>
        <p:spPr>
          <a:xfrm>
            <a:off x="1215840" y="4367129"/>
            <a:ext cx="10421727" cy="2166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slide">
  <p:cSld name="2_slide">
    <p:spTree>
      <p:nvGrpSpPr>
        <p:cNvPr id="43" name="Shape 43"/>
        <p:cNvGrpSpPr/>
        <p:nvPr/>
      </p:nvGrpSpPr>
      <p:grpSpPr>
        <a:xfrm>
          <a:off x="0" y="0"/>
          <a:ext cx="0" cy="0"/>
          <a:chOff x="0" y="0"/>
          <a:chExt cx="0" cy="0"/>
        </a:xfrm>
      </p:grpSpPr>
      <p:sp>
        <p:nvSpPr>
          <p:cNvPr id="44" name="Google Shape;44;p65"/>
          <p:cNvSpPr/>
          <p:nvPr>
            <p:ph type="pic" idx="2"/>
          </p:nvPr>
        </p:nvSpPr>
        <p:spPr>
          <a:xfrm>
            <a:off x="3576130" y="2940877"/>
            <a:ext cx="1389961" cy="1389597"/>
          </a:xfrm>
          <a:prstGeom prst="ellipse">
            <a:avLst/>
          </a:prstGeom>
          <a:solidFill>
            <a:srgbClr val="F2F2F2"/>
          </a:solidFill>
          <a:ln>
            <a:noFill/>
          </a:ln>
        </p:spPr>
      </p:sp>
      <p:sp>
        <p:nvSpPr>
          <p:cNvPr id="45" name="Google Shape;45;p65"/>
          <p:cNvSpPr/>
          <p:nvPr>
            <p:ph type="pic" idx="3"/>
          </p:nvPr>
        </p:nvSpPr>
        <p:spPr>
          <a:xfrm>
            <a:off x="4492911" y="1447800"/>
            <a:ext cx="1389961" cy="1389597"/>
          </a:xfrm>
          <a:prstGeom prst="ellipse">
            <a:avLst/>
          </a:prstGeom>
          <a:solidFill>
            <a:srgbClr val="F2F2F2"/>
          </a:solidFill>
          <a:ln>
            <a:noFill/>
          </a:ln>
        </p:spPr>
      </p:sp>
      <p:sp>
        <p:nvSpPr>
          <p:cNvPr id="46" name="Google Shape;46;p65"/>
          <p:cNvSpPr/>
          <p:nvPr>
            <p:ph type="pic" idx="4"/>
          </p:nvPr>
        </p:nvSpPr>
        <p:spPr>
          <a:xfrm>
            <a:off x="6309129" y="1447800"/>
            <a:ext cx="1389961" cy="1389597"/>
          </a:xfrm>
          <a:prstGeom prst="ellipse">
            <a:avLst/>
          </a:prstGeom>
          <a:solidFill>
            <a:srgbClr val="F2F2F2"/>
          </a:solidFill>
          <a:ln>
            <a:noFill/>
          </a:ln>
        </p:spPr>
      </p:sp>
      <p:sp>
        <p:nvSpPr>
          <p:cNvPr id="47" name="Google Shape;47;p65"/>
          <p:cNvSpPr/>
          <p:nvPr>
            <p:ph type="pic" idx="5"/>
          </p:nvPr>
        </p:nvSpPr>
        <p:spPr>
          <a:xfrm>
            <a:off x="4492911" y="4433954"/>
            <a:ext cx="1389961" cy="1389597"/>
          </a:xfrm>
          <a:prstGeom prst="ellipse">
            <a:avLst/>
          </a:prstGeom>
          <a:solidFill>
            <a:srgbClr val="F2F2F2"/>
          </a:solidFill>
          <a:ln>
            <a:noFill/>
          </a:ln>
        </p:spPr>
      </p:sp>
      <p:sp>
        <p:nvSpPr>
          <p:cNvPr id="48" name="Google Shape;48;p65"/>
          <p:cNvSpPr/>
          <p:nvPr>
            <p:ph type="pic" idx="6"/>
          </p:nvPr>
        </p:nvSpPr>
        <p:spPr>
          <a:xfrm>
            <a:off x="6309129" y="4433954"/>
            <a:ext cx="1389961" cy="1389597"/>
          </a:xfrm>
          <a:prstGeom prst="ellipse">
            <a:avLst/>
          </a:prstGeom>
          <a:solidFill>
            <a:srgbClr val="F2F2F2"/>
          </a:solidFill>
          <a:ln>
            <a:noFill/>
          </a:ln>
        </p:spPr>
      </p:sp>
      <p:sp>
        <p:nvSpPr>
          <p:cNvPr id="49" name="Google Shape;49;p65"/>
          <p:cNvSpPr/>
          <p:nvPr>
            <p:ph type="pic" idx="7"/>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slide">
  <p:cSld name="3_slide">
    <p:spTree>
      <p:nvGrpSpPr>
        <p:cNvPr id="50" name="Shape 50"/>
        <p:cNvGrpSpPr/>
        <p:nvPr/>
      </p:nvGrpSpPr>
      <p:grpSpPr>
        <a:xfrm>
          <a:off x="0" y="0"/>
          <a:ext cx="0" cy="0"/>
          <a:chOff x="0" y="0"/>
          <a:chExt cx="0" cy="0"/>
        </a:xfrm>
      </p:grpSpPr>
      <p:sp>
        <p:nvSpPr>
          <p:cNvPr id="51" name="Google Shape;51;p66"/>
          <p:cNvSpPr/>
          <p:nvPr>
            <p:ph type="pic" idx="2"/>
          </p:nvPr>
        </p:nvSpPr>
        <p:spPr>
          <a:xfrm>
            <a:off x="2237975" y="4303749"/>
            <a:ext cx="1333651" cy="1333302"/>
          </a:xfrm>
          <a:prstGeom prst="ellipse">
            <a:avLst/>
          </a:prstGeom>
          <a:solidFill>
            <a:srgbClr val="F2F2F2"/>
          </a:solidFill>
          <a:ln>
            <a:noFill/>
          </a:ln>
        </p:spPr>
      </p:sp>
      <p:sp>
        <p:nvSpPr>
          <p:cNvPr id="52" name="Google Shape;52;p66"/>
          <p:cNvSpPr/>
          <p:nvPr>
            <p:ph type="pic" idx="3"/>
          </p:nvPr>
        </p:nvSpPr>
        <p:spPr>
          <a:xfrm>
            <a:off x="3457115" y="3122288"/>
            <a:ext cx="1333651" cy="1333302"/>
          </a:xfrm>
          <a:prstGeom prst="ellipse">
            <a:avLst/>
          </a:prstGeom>
          <a:solidFill>
            <a:srgbClr val="F2F2F2"/>
          </a:solidFill>
          <a:ln>
            <a:noFill/>
          </a:ln>
        </p:spPr>
      </p:sp>
      <p:sp>
        <p:nvSpPr>
          <p:cNvPr id="53" name="Google Shape;53;p66"/>
          <p:cNvSpPr/>
          <p:nvPr>
            <p:ph type="pic" idx="4"/>
          </p:nvPr>
        </p:nvSpPr>
        <p:spPr>
          <a:xfrm>
            <a:off x="4624057" y="1959965"/>
            <a:ext cx="1333651" cy="1333302"/>
          </a:xfrm>
          <a:prstGeom prst="ellipse">
            <a:avLst/>
          </a:prstGeom>
          <a:solidFill>
            <a:srgbClr val="F2F2F2"/>
          </a:solidFill>
          <a:ln>
            <a:noFill/>
          </a:ln>
        </p:spPr>
      </p:sp>
      <p:sp>
        <p:nvSpPr>
          <p:cNvPr id="54" name="Google Shape;54;p66"/>
          <p:cNvSpPr/>
          <p:nvPr>
            <p:ph type="pic" idx="5"/>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slide">
  <p:cSld name="4_slide">
    <p:spTree>
      <p:nvGrpSpPr>
        <p:cNvPr id="55" name="Shape 55"/>
        <p:cNvGrpSpPr/>
        <p:nvPr/>
      </p:nvGrpSpPr>
      <p:grpSpPr>
        <a:xfrm>
          <a:off x="0" y="0"/>
          <a:ext cx="0" cy="0"/>
          <a:chOff x="0" y="0"/>
          <a:chExt cx="0" cy="0"/>
        </a:xfrm>
      </p:grpSpPr>
      <p:sp>
        <p:nvSpPr>
          <p:cNvPr id="56" name="Google Shape;56;p67"/>
          <p:cNvSpPr/>
          <p:nvPr>
            <p:ph type="pic" idx="2"/>
          </p:nvPr>
        </p:nvSpPr>
        <p:spPr>
          <a:xfrm>
            <a:off x="-199169" y="2514600"/>
            <a:ext cx="12590339" cy="4517571"/>
          </a:xfrm>
          <a:prstGeom prst="rect">
            <a:avLst/>
          </a:prstGeom>
          <a:solidFill>
            <a:srgbClr val="F2F2F2"/>
          </a:solidFill>
          <a:ln>
            <a:noFill/>
          </a:ln>
        </p:spPr>
      </p:sp>
      <p:sp>
        <p:nvSpPr>
          <p:cNvPr id="57" name="Google Shape;57;p67"/>
          <p:cNvSpPr/>
          <p:nvPr>
            <p:ph type="pic" idx="3"/>
          </p:nvPr>
        </p:nvSpPr>
        <p:spPr>
          <a:xfrm>
            <a:off x="1428209" y="1579564"/>
            <a:ext cx="1870562" cy="1870072"/>
          </a:xfrm>
          <a:prstGeom prst="ellipse">
            <a:avLst/>
          </a:prstGeom>
          <a:solidFill>
            <a:srgbClr val="F2F2F2"/>
          </a:solidFill>
          <a:ln>
            <a:noFill/>
          </a:ln>
        </p:spPr>
      </p:sp>
      <p:sp>
        <p:nvSpPr>
          <p:cNvPr id="58" name="Google Shape;58;p67"/>
          <p:cNvSpPr/>
          <p:nvPr>
            <p:ph type="pic" idx="4"/>
          </p:nvPr>
        </p:nvSpPr>
        <p:spPr>
          <a:xfrm>
            <a:off x="5160720" y="1579564"/>
            <a:ext cx="1870562" cy="1870072"/>
          </a:xfrm>
          <a:prstGeom prst="ellipse">
            <a:avLst/>
          </a:prstGeom>
          <a:solidFill>
            <a:srgbClr val="F2F2F2"/>
          </a:solidFill>
          <a:ln>
            <a:noFill/>
          </a:ln>
        </p:spPr>
      </p:sp>
      <p:sp>
        <p:nvSpPr>
          <p:cNvPr id="59" name="Google Shape;59;p67"/>
          <p:cNvSpPr/>
          <p:nvPr>
            <p:ph type="pic" idx="5"/>
          </p:nvPr>
        </p:nvSpPr>
        <p:spPr>
          <a:xfrm>
            <a:off x="8893230" y="1579564"/>
            <a:ext cx="1870562" cy="1870072"/>
          </a:xfrm>
          <a:prstGeom prst="ellipse">
            <a:avLst/>
          </a:prstGeom>
          <a:solidFill>
            <a:srgbClr val="F2F2F2"/>
          </a:solidFill>
          <a:ln>
            <a:noFill/>
          </a:ln>
        </p:spPr>
      </p:sp>
      <p:pic>
        <p:nvPicPr>
          <p:cNvPr id="60" name="Google Shape;60;p67"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slide">
  <p:cSld name="5_slide">
    <p:spTree>
      <p:nvGrpSpPr>
        <p:cNvPr id="61" name="Shape 61"/>
        <p:cNvGrpSpPr/>
        <p:nvPr/>
      </p:nvGrpSpPr>
      <p:grpSpPr>
        <a:xfrm>
          <a:off x="0" y="0"/>
          <a:ext cx="0" cy="0"/>
          <a:chOff x="0" y="0"/>
          <a:chExt cx="0" cy="0"/>
        </a:xfrm>
      </p:grpSpPr>
      <p:sp>
        <p:nvSpPr>
          <p:cNvPr id="62" name="Google Shape;62;p68"/>
          <p:cNvSpPr/>
          <p:nvPr>
            <p:ph type="pic" idx="2"/>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6_slide">
  <p:cSld name="6_slide">
    <p:spTree>
      <p:nvGrpSpPr>
        <p:cNvPr id="63" name="Shape 63"/>
        <p:cNvGrpSpPr/>
        <p:nvPr/>
      </p:nvGrpSpPr>
      <p:grpSpPr>
        <a:xfrm>
          <a:off x="0" y="0"/>
          <a:ext cx="0" cy="0"/>
          <a:chOff x="0" y="0"/>
          <a:chExt cx="0" cy="0"/>
        </a:xfrm>
      </p:grpSpPr>
      <p:sp>
        <p:nvSpPr>
          <p:cNvPr id="64" name="Google Shape;64;p69"/>
          <p:cNvSpPr/>
          <p:nvPr>
            <p:ph type="pic" idx="2"/>
          </p:nvPr>
        </p:nvSpPr>
        <p:spPr>
          <a:xfrm>
            <a:off x="713116" y="2066599"/>
            <a:ext cx="1333653" cy="1333303"/>
          </a:xfrm>
          <a:prstGeom prst="ellipse">
            <a:avLst/>
          </a:prstGeom>
          <a:solidFill>
            <a:srgbClr val="F2F2F2"/>
          </a:solidFill>
          <a:ln>
            <a:noFill/>
          </a:ln>
        </p:spPr>
      </p:sp>
      <p:sp>
        <p:nvSpPr>
          <p:cNvPr id="65" name="Google Shape;65;p69"/>
          <p:cNvSpPr/>
          <p:nvPr>
            <p:ph type="pic" idx="3"/>
          </p:nvPr>
        </p:nvSpPr>
        <p:spPr>
          <a:xfrm>
            <a:off x="713119" y="3890151"/>
            <a:ext cx="1333648" cy="1333299"/>
          </a:xfrm>
          <a:prstGeom prst="ellipse">
            <a:avLst/>
          </a:prstGeom>
          <a:solidFill>
            <a:srgbClr val="F2F2F2"/>
          </a:solidFill>
          <a:ln>
            <a:noFill/>
          </a:ln>
        </p:spPr>
      </p:sp>
      <p:sp>
        <p:nvSpPr>
          <p:cNvPr id="66" name="Google Shape;66;p69"/>
          <p:cNvSpPr/>
          <p:nvPr>
            <p:ph type="pic" idx="4"/>
          </p:nvPr>
        </p:nvSpPr>
        <p:spPr>
          <a:xfrm>
            <a:off x="6589152" y="2066599"/>
            <a:ext cx="1333653" cy="1333303"/>
          </a:xfrm>
          <a:prstGeom prst="ellipse">
            <a:avLst/>
          </a:prstGeom>
          <a:solidFill>
            <a:srgbClr val="F2F2F2"/>
          </a:solidFill>
          <a:ln>
            <a:noFill/>
          </a:ln>
        </p:spPr>
      </p:sp>
      <p:sp>
        <p:nvSpPr>
          <p:cNvPr id="67" name="Google Shape;67;p69"/>
          <p:cNvSpPr/>
          <p:nvPr>
            <p:ph type="pic" idx="5"/>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7_slide">
  <p:cSld name="7_slide">
    <p:spTree>
      <p:nvGrpSpPr>
        <p:cNvPr id="68" name="Shape 68"/>
        <p:cNvGrpSpPr/>
        <p:nvPr/>
      </p:nvGrpSpPr>
      <p:grpSpPr>
        <a:xfrm>
          <a:off x="0" y="0"/>
          <a:ext cx="0" cy="0"/>
          <a:chOff x="0" y="0"/>
          <a:chExt cx="0" cy="0"/>
        </a:xfrm>
      </p:grpSpPr>
      <p:sp>
        <p:nvSpPr>
          <p:cNvPr id="69" name="Google Shape;69;p70"/>
          <p:cNvSpPr/>
          <p:nvPr>
            <p:ph type="pic" idx="2"/>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8_slide">
  <p:cSld name="8_slide">
    <p:spTree>
      <p:nvGrpSpPr>
        <p:cNvPr id="70" name="Shape 70"/>
        <p:cNvGrpSpPr/>
        <p:nvPr/>
      </p:nvGrpSpPr>
      <p:grpSpPr>
        <a:xfrm>
          <a:off x="0" y="0"/>
          <a:ext cx="0" cy="0"/>
          <a:chOff x="0" y="0"/>
          <a:chExt cx="0" cy="0"/>
        </a:xfrm>
      </p:grpSpPr>
      <p:sp>
        <p:nvSpPr>
          <p:cNvPr id="71" name="Google Shape;71;p71"/>
          <p:cNvSpPr/>
          <p:nvPr>
            <p:ph type="pic" idx="2"/>
          </p:nvPr>
        </p:nvSpPr>
        <p:spPr>
          <a:xfrm>
            <a:off x="5784331" y="1315673"/>
            <a:ext cx="5879817" cy="4203543"/>
          </a:xfrm>
          <a:prstGeom prst="rect">
            <a:avLst/>
          </a:prstGeom>
          <a:solidFill>
            <a:srgbClr val="F2F2F2"/>
          </a:solidFill>
          <a:ln>
            <a:noFill/>
          </a:ln>
        </p:spPr>
      </p:sp>
      <p:sp>
        <p:nvSpPr>
          <p:cNvPr id="72" name="Google Shape;72;p71"/>
          <p:cNvSpPr txBox="1"/>
          <p:nvPr>
            <p:ph type="title"/>
          </p:nvPr>
        </p:nvSpPr>
        <p:spPr>
          <a:xfrm>
            <a:off x="838201" y="365127"/>
            <a:ext cx="10515600" cy="62793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1"/>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74" name="Google Shape;74;p71"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9_slide">
  <p:cSld name="9_slide">
    <p:spTree>
      <p:nvGrpSpPr>
        <p:cNvPr id="75" name="Shape 75"/>
        <p:cNvGrpSpPr/>
        <p:nvPr/>
      </p:nvGrpSpPr>
      <p:grpSpPr>
        <a:xfrm>
          <a:off x="0" y="0"/>
          <a:ext cx="0" cy="0"/>
          <a:chOff x="0" y="0"/>
          <a:chExt cx="0" cy="0"/>
        </a:xfrm>
      </p:grpSpPr>
      <p:sp>
        <p:nvSpPr>
          <p:cNvPr id="76" name="Google Shape;76;p72"/>
          <p:cNvSpPr/>
          <p:nvPr>
            <p:ph type="pic" idx="2"/>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0_slide">
  <p:cSld name="10_slide">
    <p:spTree>
      <p:nvGrpSpPr>
        <p:cNvPr id="77" name="Shape 77"/>
        <p:cNvGrpSpPr/>
        <p:nvPr/>
      </p:nvGrpSpPr>
      <p:grpSpPr>
        <a:xfrm>
          <a:off x="0" y="0"/>
          <a:ext cx="0" cy="0"/>
          <a:chOff x="0" y="0"/>
          <a:chExt cx="0" cy="0"/>
        </a:xfrm>
      </p:grpSpPr>
      <p:sp>
        <p:nvSpPr>
          <p:cNvPr id="78" name="Google Shape;78;p73"/>
          <p:cNvSpPr/>
          <p:nvPr>
            <p:ph type="pic" idx="2"/>
          </p:nvPr>
        </p:nvSpPr>
        <p:spPr>
          <a:xfrm>
            <a:off x="1069999" y="2677076"/>
            <a:ext cx="2010401" cy="804672"/>
          </a:xfrm>
          <a:prstGeom prst="rect">
            <a:avLst/>
          </a:prstGeom>
          <a:solidFill>
            <a:srgbClr val="F2F2F2"/>
          </a:solidFill>
          <a:ln>
            <a:noFill/>
          </a:ln>
        </p:spPr>
      </p:sp>
      <p:sp>
        <p:nvSpPr>
          <p:cNvPr id="79" name="Google Shape;79;p73"/>
          <p:cNvSpPr/>
          <p:nvPr>
            <p:ph type="pic" idx="3"/>
          </p:nvPr>
        </p:nvSpPr>
        <p:spPr>
          <a:xfrm>
            <a:off x="5090800" y="2677076"/>
            <a:ext cx="2010401" cy="804672"/>
          </a:xfrm>
          <a:prstGeom prst="rect">
            <a:avLst/>
          </a:prstGeom>
          <a:solidFill>
            <a:srgbClr val="F2F2F2"/>
          </a:solidFill>
          <a:ln>
            <a:noFill/>
          </a:ln>
        </p:spPr>
      </p:sp>
      <p:sp>
        <p:nvSpPr>
          <p:cNvPr id="80" name="Google Shape;80;p73"/>
          <p:cNvSpPr/>
          <p:nvPr>
            <p:ph type="pic" idx="4"/>
          </p:nvPr>
        </p:nvSpPr>
        <p:spPr>
          <a:xfrm>
            <a:off x="9111600" y="2677076"/>
            <a:ext cx="2010401" cy="804672"/>
          </a:xfrm>
          <a:prstGeom prst="rect">
            <a:avLst/>
          </a:prstGeom>
          <a:solidFill>
            <a:srgbClr val="F2F2F2"/>
          </a:solidFill>
          <a:ln>
            <a:noFill/>
          </a:ln>
        </p:spPr>
      </p:sp>
      <p:sp>
        <p:nvSpPr>
          <p:cNvPr id="81" name="Google Shape;81;p73"/>
          <p:cNvSpPr/>
          <p:nvPr>
            <p:ph type="pic" idx="5"/>
          </p:nvPr>
        </p:nvSpPr>
        <p:spPr>
          <a:xfrm>
            <a:off x="3080399" y="3884084"/>
            <a:ext cx="2010401" cy="804672"/>
          </a:xfrm>
          <a:prstGeom prst="rect">
            <a:avLst/>
          </a:prstGeom>
          <a:solidFill>
            <a:srgbClr val="F2F2F2"/>
          </a:solidFill>
          <a:ln>
            <a:noFill/>
          </a:ln>
        </p:spPr>
      </p:sp>
      <p:sp>
        <p:nvSpPr>
          <p:cNvPr id="82" name="Google Shape;82;p73"/>
          <p:cNvSpPr/>
          <p:nvPr>
            <p:ph type="pic" idx="6"/>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1_slide">
  <p:cSld name="11_slide">
    <p:spTree>
      <p:nvGrpSpPr>
        <p:cNvPr id="83" name="Shape 83"/>
        <p:cNvGrpSpPr/>
        <p:nvPr/>
      </p:nvGrpSpPr>
      <p:grpSpPr>
        <a:xfrm>
          <a:off x="0" y="0"/>
          <a:ext cx="0" cy="0"/>
          <a:chOff x="0" y="0"/>
          <a:chExt cx="0" cy="0"/>
        </a:xfrm>
      </p:grpSpPr>
      <p:sp>
        <p:nvSpPr>
          <p:cNvPr id="84" name="Google Shape;84;p74"/>
          <p:cNvSpPr/>
          <p:nvPr>
            <p:ph type="pic" idx="2"/>
          </p:nvPr>
        </p:nvSpPr>
        <p:spPr>
          <a:xfrm>
            <a:off x="780799" y="1977749"/>
            <a:ext cx="2397440" cy="892514"/>
          </a:xfrm>
          <a:prstGeom prst="rect">
            <a:avLst/>
          </a:prstGeom>
          <a:solidFill>
            <a:srgbClr val="F2F2F2"/>
          </a:solidFill>
          <a:ln>
            <a:noFill/>
          </a:ln>
        </p:spPr>
      </p:sp>
      <p:sp>
        <p:nvSpPr>
          <p:cNvPr id="85" name="Google Shape;85;p74"/>
          <p:cNvSpPr/>
          <p:nvPr>
            <p:ph type="pic" idx="3"/>
          </p:nvPr>
        </p:nvSpPr>
        <p:spPr>
          <a:xfrm>
            <a:off x="3525120" y="1977749"/>
            <a:ext cx="2397440" cy="892514"/>
          </a:xfrm>
          <a:prstGeom prst="rect">
            <a:avLst/>
          </a:prstGeom>
          <a:solidFill>
            <a:srgbClr val="F2F2F2"/>
          </a:solidFill>
          <a:ln>
            <a:noFill/>
          </a:ln>
        </p:spPr>
      </p:sp>
      <p:sp>
        <p:nvSpPr>
          <p:cNvPr id="86" name="Google Shape;86;p74"/>
          <p:cNvSpPr/>
          <p:nvPr>
            <p:ph type="pic" idx="4"/>
          </p:nvPr>
        </p:nvSpPr>
        <p:spPr>
          <a:xfrm>
            <a:off x="6269441" y="1977749"/>
            <a:ext cx="2397440" cy="892514"/>
          </a:xfrm>
          <a:prstGeom prst="rect">
            <a:avLst/>
          </a:prstGeom>
          <a:solidFill>
            <a:srgbClr val="F2F2F2"/>
          </a:solidFill>
          <a:ln>
            <a:noFill/>
          </a:ln>
        </p:spPr>
      </p:sp>
      <p:sp>
        <p:nvSpPr>
          <p:cNvPr id="87" name="Google Shape;87;p74"/>
          <p:cNvSpPr/>
          <p:nvPr>
            <p:ph type="pic" idx="5"/>
          </p:nvPr>
        </p:nvSpPr>
        <p:spPr>
          <a:xfrm>
            <a:off x="9013761" y="1977749"/>
            <a:ext cx="2397440" cy="892514"/>
          </a:xfrm>
          <a:prstGeom prst="rect">
            <a:avLst/>
          </a:prstGeom>
          <a:solidFill>
            <a:srgbClr val="F2F2F2"/>
          </a:solidFill>
          <a:ln>
            <a:noFill/>
          </a:ln>
        </p:spPr>
      </p:sp>
      <p:sp>
        <p:nvSpPr>
          <p:cNvPr id="88" name="Google Shape;88;p74"/>
          <p:cNvSpPr/>
          <p:nvPr>
            <p:ph type="pic" idx="6"/>
          </p:nvPr>
        </p:nvSpPr>
        <p:spPr>
          <a:xfrm>
            <a:off x="780799" y="3236659"/>
            <a:ext cx="2397440" cy="892514"/>
          </a:xfrm>
          <a:prstGeom prst="rect">
            <a:avLst/>
          </a:prstGeom>
          <a:solidFill>
            <a:srgbClr val="F2F2F2"/>
          </a:solidFill>
          <a:ln>
            <a:noFill/>
          </a:ln>
        </p:spPr>
      </p:sp>
      <p:sp>
        <p:nvSpPr>
          <p:cNvPr id="89" name="Google Shape;89;p74"/>
          <p:cNvSpPr/>
          <p:nvPr>
            <p:ph type="pic" idx="7"/>
          </p:nvPr>
        </p:nvSpPr>
        <p:spPr>
          <a:xfrm>
            <a:off x="3525120" y="3236659"/>
            <a:ext cx="2397440" cy="892514"/>
          </a:xfrm>
          <a:prstGeom prst="rect">
            <a:avLst/>
          </a:prstGeom>
          <a:solidFill>
            <a:srgbClr val="F2F2F2"/>
          </a:solidFill>
          <a:ln>
            <a:noFill/>
          </a:ln>
        </p:spPr>
      </p:sp>
      <p:sp>
        <p:nvSpPr>
          <p:cNvPr id="90" name="Google Shape;90;p74"/>
          <p:cNvSpPr/>
          <p:nvPr>
            <p:ph type="pic" idx="8"/>
          </p:nvPr>
        </p:nvSpPr>
        <p:spPr>
          <a:xfrm>
            <a:off x="6269441" y="3236659"/>
            <a:ext cx="2397440" cy="892514"/>
          </a:xfrm>
          <a:prstGeom prst="rect">
            <a:avLst/>
          </a:prstGeom>
          <a:solidFill>
            <a:srgbClr val="F2F2F2"/>
          </a:solidFill>
          <a:ln>
            <a:noFill/>
          </a:ln>
        </p:spPr>
      </p:sp>
      <p:sp>
        <p:nvSpPr>
          <p:cNvPr id="91" name="Google Shape;91;p74"/>
          <p:cNvSpPr/>
          <p:nvPr>
            <p:ph type="pic" idx="9"/>
          </p:nvPr>
        </p:nvSpPr>
        <p:spPr>
          <a:xfrm>
            <a:off x="9013761" y="3236659"/>
            <a:ext cx="2397440" cy="892514"/>
          </a:xfrm>
          <a:prstGeom prst="rect">
            <a:avLst/>
          </a:prstGeom>
          <a:solidFill>
            <a:srgbClr val="F2F2F2"/>
          </a:solidFill>
          <a:ln>
            <a:noFill/>
          </a:ln>
        </p:spPr>
      </p:sp>
      <p:sp>
        <p:nvSpPr>
          <p:cNvPr id="92" name="Google Shape;92;p74"/>
          <p:cNvSpPr/>
          <p:nvPr>
            <p:ph type="pic" idx="13"/>
          </p:nvPr>
        </p:nvSpPr>
        <p:spPr>
          <a:xfrm>
            <a:off x="780799" y="4495568"/>
            <a:ext cx="2397440" cy="892514"/>
          </a:xfrm>
          <a:prstGeom prst="rect">
            <a:avLst/>
          </a:prstGeom>
          <a:solidFill>
            <a:srgbClr val="F2F2F2"/>
          </a:solidFill>
          <a:ln>
            <a:noFill/>
          </a:ln>
        </p:spPr>
      </p:sp>
      <p:sp>
        <p:nvSpPr>
          <p:cNvPr id="93" name="Google Shape;93;p74"/>
          <p:cNvSpPr/>
          <p:nvPr>
            <p:ph type="pic" idx="14"/>
          </p:nvPr>
        </p:nvSpPr>
        <p:spPr>
          <a:xfrm>
            <a:off x="3525120" y="4495568"/>
            <a:ext cx="2397440" cy="892514"/>
          </a:xfrm>
          <a:prstGeom prst="rect">
            <a:avLst/>
          </a:prstGeom>
          <a:solidFill>
            <a:srgbClr val="F2F2F2"/>
          </a:solidFill>
          <a:ln>
            <a:noFill/>
          </a:ln>
        </p:spPr>
      </p:sp>
      <p:sp>
        <p:nvSpPr>
          <p:cNvPr id="94" name="Google Shape;94;p74"/>
          <p:cNvSpPr/>
          <p:nvPr>
            <p:ph type="pic" idx="15"/>
          </p:nvPr>
        </p:nvSpPr>
        <p:spPr>
          <a:xfrm>
            <a:off x="6269441" y="4495568"/>
            <a:ext cx="2397440" cy="892514"/>
          </a:xfrm>
          <a:prstGeom prst="rect">
            <a:avLst/>
          </a:prstGeom>
          <a:solidFill>
            <a:srgbClr val="F2F2F2"/>
          </a:solidFill>
          <a:ln>
            <a:noFill/>
          </a:ln>
        </p:spPr>
      </p:sp>
      <p:sp>
        <p:nvSpPr>
          <p:cNvPr id="95" name="Google Shape;95;p74"/>
          <p:cNvSpPr/>
          <p:nvPr>
            <p:ph type="pic" idx="16"/>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2_slide">
  <p:cSld name="12_slide">
    <p:spTree>
      <p:nvGrpSpPr>
        <p:cNvPr id="96" name="Shape 96"/>
        <p:cNvGrpSpPr/>
        <p:nvPr/>
      </p:nvGrpSpPr>
      <p:grpSpPr>
        <a:xfrm>
          <a:off x="0" y="0"/>
          <a:ext cx="0" cy="0"/>
          <a:chOff x="0" y="0"/>
          <a:chExt cx="0" cy="0"/>
        </a:xfrm>
      </p:grpSpPr>
      <p:sp>
        <p:nvSpPr>
          <p:cNvPr id="97" name="Google Shape;97;p75"/>
          <p:cNvSpPr/>
          <p:nvPr>
            <p:ph type="pic" idx="2"/>
          </p:nvPr>
        </p:nvSpPr>
        <p:spPr>
          <a:xfrm>
            <a:off x="747589" y="1735566"/>
            <a:ext cx="3454687" cy="3999122"/>
          </a:xfrm>
          <a:prstGeom prst="rect">
            <a:avLst/>
          </a:prstGeom>
          <a:solidFill>
            <a:srgbClr val="F2F2F2"/>
          </a:solidFill>
          <a:ln>
            <a:noFill/>
          </a:ln>
        </p:spPr>
      </p:sp>
      <p:sp>
        <p:nvSpPr>
          <p:cNvPr id="98" name="Google Shape;98;p75"/>
          <p:cNvSpPr/>
          <p:nvPr>
            <p:ph type="pic" idx="3"/>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3_slide">
  <p:cSld name="13_slide">
    <p:spTree>
      <p:nvGrpSpPr>
        <p:cNvPr id="99" name="Shape 99"/>
        <p:cNvGrpSpPr/>
        <p:nvPr/>
      </p:nvGrpSpPr>
      <p:grpSpPr>
        <a:xfrm>
          <a:off x="0" y="0"/>
          <a:ext cx="0" cy="0"/>
          <a:chOff x="0" y="0"/>
          <a:chExt cx="0" cy="0"/>
        </a:xfrm>
      </p:grpSpPr>
      <p:sp>
        <p:nvSpPr>
          <p:cNvPr id="100" name="Google Shape;100;p76"/>
          <p:cNvSpPr/>
          <p:nvPr>
            <p:ph type="pic" idx="2"/>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4_slide">
  <p:cSld name="14_slide">
    <p:spTree>
      <p:nvGrpSpPr>
        <p:cNvPr id="101" name="Shape 101"/>
        <p:cNvGrpSpPr/>
        <p:nvPr/>
      </p:nvGrpSpPr>
      <p:grpSpPr>
        <a:xfrm>
          <a:off x="0" y="0"/>
          <a:ext cx="0" cy="0"/>
          <a:chOff x="0" y="0"/>
          <a:chExt cx="0" cy="0"/>
        </a:xfrm>
      </p:grpSpPr>
      <p:sp>
        <p:nvSpPr>
          <p:cNvPr id="102" name="Google Shape;102;p77"/>
          <p:cNvSpPr/>
          <p:nvPr>
            <p:ph type="pic" idx="2"/>
          </p:nvPr>
        </p:nvSpPr>
        <p:spPr>
          <a:xfrm>
            <a:off x="4407323" y="1735566"/>
            <a:ext cx="3454687" cy="3999122"/>
          </a:xfrm>
          <a:prstGeom prst="rect">
            <a:avLst/>
          </a:prstGeom>
          <a:solidFill>
            <a:srgbClr val="F2F2F2"/>
          </a:solidFill>
          <a:ln>
            <a:noFill/>
          </a:ln>
        </p:spPr>
      </p:sp>
      <p:sp>
        <p:nvSpPr>
          <p:cNvPr id="103" name="Google Shape;103;p77"/>
          <p:cNvSpPr/>
          <p:nvPr>
            <p:ph type="pic" idx="3"/>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5_slide">
  <p:cSld name="15_slide">
    <p:spTree>
      <p:nvGrpSpPr>
        <p:cNvPr id="104" name="Shape 104"/>
        <p:cNvGrpSpPr/>
        <p:nvPr/>
      </p:nvGrpSpPr>
      <p:grpSpPr>
        <a:xfrm>
          <a:off x="0" y="0"/>
          <a:ext cx="0" cy="0"/>
          <a:chOff x="0" y="0"/>
          <a:chExt cx="0" cy="0"/>
        </a:xfrm>
      </p:grpSpPr>
      <p:sp>
        <p:nvSpPr>
          <p:cNvPr id="105" name="Google Shape;105;p78"/>
          <p:cNvSpPr/>
          <p:nvPr>
            <p:ph type="pic" idx="2"/>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6_slide">
  <p:cSld name="16_slide">
    <p:spTree>
      <p:nvGrpSpPr>
        <p:cNvPr id="106" name="Shape 106"/>
        <p:cNvGrpSpPr/>
        <p:nvPr/>
      </p:nvGrpSpPr>
      <p:grpSpPr>
        <a:xfrm>
          <a:off x="0" y="0"/>
          <a:ext cx="0" cy="0"/>
          <a:chOff x="0" y="0"/>
          <a:chExt cx="0" cy="0"/>
        </a:xfrm>
      </p:grpSpPr>
      <p:sp>
        <p:nvSpPr>
          <p:cNvPr id="107" name="Google Shape;107;p79"/>
          <p:cNvSpPr/>
          <p:nvPr>
            <p:ph type="pic" idx="2"/>
          </p:nvPr>
        </p:nvSpPr>
        <p:spPr>
          <a:xfrm>
            <a:off x="-2511399" y="1712857"/>
            <a:ext cx="5022797" cy="2891798"/>
          </a:xfrm>
          <a:prstGeom prst="rect">
            <a:avLst/>
          </a:prstGeom>
          <a:solidFill>
            <a:srgbClr val="F2F2F2"/>
          </a:solidFill>
          <a:ln>
            <a:noFill/>
          </a:ln>
        </p:spPr>
      </p:sp>
      <p:sp>
        <p:nvSpPr>
          <p:cNvPr id="108" name="Google Shape;108;p79"/>
          <p:cNvSpPr/>
          <p:nvPr>
            <p:ph type="pic" idx="3"/>
          </p:nvPr>
        </p:nvSpPr>
        <p:spPr>
          <a:xfrm>
            <a:off x="3584600" y="1712857"/>
            <a:ext cx="5022797" cy="2891798"/>
          </a:xfrm>
          <a:prstGeom prst="rect">
            <a:avLst/>
          </a:prstGeom>
          <a:solidFill>
            <a:srgbClr val="F2F2F2"/>
          </a:solidFill>
          <a:ln>
            <a:noFill/>
          </a:ln>
        </p:spPr>
      </p:sp>
      <p:sp>
        <p:nvSpPr>
          <p:cNvPr id="109" name="Google Shape;109;p79"/>
          <p:cNvSpPr/>
          <p:nvPr>
            <p:ph type="pic" idx="4"/>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7_slide">
  <p:cSld name="17_slide">
    <p:spTree>
      <p:nvGrpSpPr>
        <p:cNvPr id="110" name="Shape 110"/>
        <p:cNvGrpSpPr/>
        <p:nvPr/>
      </p:nvGrpSpPr>
      <p:grpSpPr>
        <a:xfrm>
          <a:off x="0" y="0"/>
          <a:ext cx="0" cy="0"/>
          <a:chOff x="0" y="0"/>
          <a:chExt cx="0" cy="0"/>
        </a:xfrm>
      </p:grpSpPr>
      <p:sp>
        <p:nvSpPr>
          <p:cNvPr id="111" name="Google Shape;111;p80"/>
          <p:cNvSpPr/>
          <p:nvPr>
            <p:ph type="pic" idx="2"/>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8_slide">
  <p:cSld name="18_slide">
    <p:spTree>
      <p:nvGrpSpPr>
        <p:cNvPr id="112" name="Shape 112"/>
        <p:cNvGrpSpPr/>
        <p:nvPr/>
      </p:nvGrpSpPr>
      <p:grpSpPr>
        <a:xfrm>
          <a:off x="0" y="0"/>
          <a:ext cx="0" cy="0"/>
          <a:chOff x="0" y="0"/>
          <a:chExt cx="0" cy="0"/>
        </a:xfrm>
      </p:grpSpPr>
      <p:sp>
        <p:nvSpPr>
          <p:cNvPr id="113" name="Google Shape;113;p81"/>
          <p:cNvSpPr/>
          <p:nvPr>
            <p:ph type="pic" idx="2"/>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9_slide">
  <p:cSld name="19_slide">
    <p:spTree>
      <p:nvGrpSpPr>
        <p:cNvPr id="114" name="Shape 114"/>
        <p:cNvGrpSpPr/>
        <p:nvPr/>
      </p:nvGrpSpPr>
      <p:grpSpPr>
        <a:xfrm>
          <a:off x="0" y="0"/>
          <a:ext cx="0" cy="0"/>
          <a:chOff x="0" y="0"/>
          <a:chExt cx="0" cy="0"/>
        </a:xfrm>
      </p:grpSpPr>
      <p:sp>
        <p:nvSpPr>
          <p:cNvPr id="115" name="Google Shape;115;p82"/>
          <p:cNvSpPr/>
          <p:nvPr>
            <p:ph type="pic" idx="2"/>
          </p:nvPr>
        </p:nvSpPr>
        <p:spPr>
          <a:xfrm>
            <a:off x="0" y="0"/>
            <a:ext cx="7818066" cy="6869413"/>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0_slide">
  <p:cSld name="20_slide">
    <p:spTree>
      <p:nvGrpSpPr>
        <p:cNvPr id="116" name="Shape 116"/>
        <p:cNvGrpSpPr/>
        <p:nvPr/>
      </p:nvGrpSpPr>
      <p:grpSpPr>
        <a:xfrm>
          <a:off x="0" y="0"/>
          <a:ext cx="0" cy="0"/>
          <a:chOff x="0" y="0"/>
          <a:chExt cx="0" cy="0"/>
        </a:xfrm>
      </p:grpSpPr>
      <p:sp>
        <p:nvSpPr>
          <p:cNvPr id="117" name="Google Shape;117;p83"/>
          <p:cNvSpPr/>
          <p:nvPr>
            <p:ph type="pic" idx="2"/>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21_slide">
  <p:cSld name="21_slide">
    <p:spTree>
      <p:nvGrpSpPr>
        <p:cNvPr id="118" name="Shape 118"/>
        <p:cNvGrpSpPr/>
        <p:nvPr/>
      </p:nvGrpSpPr>
      <p:grpSpPr>
        <a:xfrm>
          <a:off x="0" y="0"/>
          <a:ext cx="0" cy="0"/>
          <a:chOff x="0" y="0"/>
          <a:chExt cx="0" cy="0"/>
        </a:xfrm>
      </p:grpSpPr>
      <p:sp>
        <p:nvSpPr>
          <p:cNvPr id="119" name="Google Shape;119;p84"/>
          <p:cNvSpPr/>
          <p:nvPr>
            <p:ph type="pic" idx="2"/>
          </p:nvPr>
        </p:nvSpPr>
        <p:spPr>
          <a:xfrm>
            <a:off x="3316218" y="0"/>
            <a:ext cx="6142693" cy="6858000"/>
          </a:xfrm>
          <a:prstGeom prst="rect">
            <a:avLst/>
          </a:prstGeom>
          <a:solidFill>
            <a:srgbClr val="F2F2F2"/>
          </a:solidFill>
          <a:ln>
            <a:noFill/>
          </a:ln>
        </p:spPr>
      </p:sp>
      <p:sp>
        <p:nvSpPr>
          <p:cNvPr id="120" name="Google Shape;120;p84"/>
          <p:cNvSpPr/>
          <p:nvPr>
            <p:ph type="pic" idx="3"/>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2_slide">
  <p:cSld name="22_slide">
    <p:spTree>
      <p:nvGrpSpPr>
        <p:cNvPr id="121" name="Shape 121"/>
        <p:cNvGrpSpPr/>
        <p:nvPr/>
      </p:nvGrpSpPr>
      <p:grpSpPr>
        <a:xfrm>
          <a:off x="0" y="0"/>
          <a:ext cx="0" cy="0"/>
          <a:chOff x="0" y="0"/>
          <a:chExt cx="0" cy="0"/>
        </a:xfrm>
      </p:grpSpPr>
      <p:sp>
        <p:nvSpPr>
          <p:cNvPr id="122" name="Google Shape;122;p85"/>
          <p:cNvSpPr/>
          <p:nvPr>
            <p:ph type="pic" idx="2"/>
          </p:nvPr>
        </p:nvSpPr>
        <p:spPr>
          <a:xfrm>
            <a:off x="2671026" y="-1"/>
            <a:ext cx="3970043" cy="4434836"/>
          </a:xfrm>
          <a:prstGeom prst="rect">
            <a:avLst/>
          </a:prstGeom>
          <a:solidFill>
            <a:srgbClr val="F2F2F2"/>
          </a:solidFill>
          <a:ln>
            <a:noFill/>
          </a:ln>
        </p:spPr>
      </p:sp>
      <p:sp>
        <p:nvSpPr>
          <p:cNvPr id="123" name="Google Shape;123;p85"/>
          <p:cNvSpPr/>
          <p:nvPr>
            <p:ph type="pic" idx="3"/>
          </p:nvPr>
        </p:nvSpPr>
        <p:spPr>
          <a:xfrm>
            <a:off x="5460923" y="-1"/>
            <a:ext cx="3970043" cy="4434836"/>
          </a:xfrm>
          <a:prstGeom prst="rect">
            <a:avLst/>
          </a:prstGeom>
          <a:solidFill>
            <a:srgbClr val="F2F2F2"/>
          </a:solidFill>
          <a:ln>
            <a:noFill/>
          </a:ln>
        </p:spPr>
      </p:sp>
      <p:sp>
        <p:nvSpPr>
          <p:cNvPr id="124" name="Google Shape;124;p85"/>
          <p:cNvSpPr/>
          <p:nvPr>
            <p:ph type="pic" idx="4"/>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3_slide">
  <p:cSld name="23_slide">
    <p:spTree>
      <p:nvGrpSpPr>
        <p:cNvPr id="125" name="Shape 125"/>
        <p:cNvGrpSpPr/>
        <p:nvPr/>
      </p:nvGrpSpPr>
      <p:grpSpPr>
        <a:xfrm>
          <a:off x="0" y="0"/>
          <a:ext cx="0" cy="0"/>
          <a:chOff x="0" y="0"/>
          <a:chExt cx="0" cy="0"/>
        </a:xfrm>
      </p:grpSpPr>
      <p:sp>
        <p:nvSpPr>
          <p:cNvPr id="126" name="Google Shape;126;p86"/>
          <p:cNvSpPr/>
          <p:nvPr>
            <p:ph type="pic" idx="2"/>
          </p:nvPr>
        </p:nvSpPr>
        <p:spPr>
          <a:xfrm>
            <a:off x="7485063" y="627903"/>
            <a:ext cx="2218958" cy="2218380"/>
          </a:xfrm>
          <a:prstGeom prst="rect">
            <a:avLst/>
          </a:prstGeom>
          <a:solidFill>
            <a:srgbClr val="F2F2F2"/>
          </a:solidFill>
          <a:ln>
            <a:noFill/>
          </a:ln>
        </p:spPr>
      </p:sp>
      <p:sp>
        <p:nvSpPr>
          <p:cNvPr id="127" name="Google Shape;127;p86"/>
          <p:cNvSpPr/>
          <p:nvPr>
            <p:ph type="pic" idx="3"/>
          </p:nvPr>
        </p:nvSpPr>
        <p:spPr>
          <a:xfrm>
            <a:off x="8487915" y="2988577"/>
            <a:ext cx="2923285" cy="2922525"/>
          </a:xfrm>
          <a:prstGeom prst="rect">
            <a:avLst/>
          </a:prstGeom>
          <a:solidFill>
            <a:srgbClr val="F2F2F2"/>
          </a:solidFill>
          <a:ln>
            <a:noFill/>
          </a:ln>
        </p:spPr>
      </p:sp>
      <p:sp>
        <p:nvSpPr>
          <p:cNvPr id="128" name="Google Shape;128;p86"/>
          <p:cNvSpPr/>
          <p:nvPr>
            <p:ph type="pic" idx="4"/>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4_slide">
  <p:cSld name="24_slide">
    <p:spTree>
      <p:nvGrpSpPr>
        <p:cNvPr id="129" name="Shape 129"/>
        <p:cNvGrpSpPr/>
        <p:nvPr/>
      </p:nvGrpSpPr>
      <p:grpSpPr>
        <a:xfrm>
          <a:off x="0" y="0"/>
          <a:ext cx="0" cy="0"/>
          <a:chOff x="0" y="0"/>
          <a:chExt cx="0" cy="0"/>
        </a:xfrm>
      </p:grpSpPr>
      <p:sp>
        <p:nvSpPr>
          <p:cNvPr id="130" name="Google Shape;130;p87"/>
          <p:cNvSpPr/>
          <p:nvPr>
            <p:ph type="pic" idx="2"/>
          </p:nvPr>
        </p:nvSpPr>
        <p:spPr>
          <a:xfrm>
            <a:off x="1765158" y="1616567"/>
            <a:ext cx="1945814" cy="4111559"/>
          </a:xfrm>
          <a:prstGeom prst="rect">
            <a:avLst/>
          </a:prstGeom>
          <a:solidFill>
            <a:srgbClr val="F2F2F2"/>
          </a:solidFill>
          <a:ln>
            <a:noFill/>
          </a:ln>
        </p:spPr>
      </p:sp>
      <p:sp>
        <p:nvSpPr>
          <p:cNvPr id="131" name="Google Shape;131;p87"/>
          <p:cNvSpPr/>
          <p:nvPr>
            <p:ph type="pic" idx="3"/>
          </p:nvPr>
        </p:nvSpPr>
        <p:spPr>
          <a:xfrm>
            <a:off x="5439218" y="1616567"/>
            <a:ext cx="1945814" cy="4111559"/>
          </a:xfrm>
          <a:prstGeom prst="rect">
            <a:avLst/>
          </a:prstGeom>
          <a:solidFill>
            <a:srgbClr val="F2F2F2"/>
          </a:solidFill>
          <a:ln>
            <a:noFill/>
          </a:ln>
        </p:spPr>
      </p:sp>
      <p:sp>
        <p:nvSpPr>
          <p:cNvPr id="132" name="Google Shape;132;p87"/>
          <p:cNvSpPr/>
          <p:nvPr>
            <p:ph type="pic" idx="4"/>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5_slide">
  <p:cSld name="25_slide">
    <p:spTree>
      <p:nvGrpSpPr>
        <p:cNvPr id="133" name="Shape 133"/>
        <p:cNvGrpSpPr/>
        <p:nvPr/>
      </p:nvGrpSpPr>
      <p:grpSpPr>
        <a:xfrm>
          <a:off x="0" y="0"/>
          <a:ext cx="0" cy="0"/>
          <a:chOff x="0" y="0"/>
          <a:chExt cx="0" cy="0"/>
        </a:xfrm>
      </p:grpSpPr>
      <p:sp>
        <p:nvSpPr>
          <p:cNvPr id="134" name="Google Shape;134;p88"/>
          <p:cNvSpPr/>
          <p:nvPr>
            <p:ph type="pic" idx="2"/>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6_slide">
  <p:cSld name="26_slide">
    <p:spTree>
      <p:nvGrpSpPr>
        <p:cNvPr id="135" name="Shape 135"/>
        <p:cNvGrpSpPr/>
        <p:nvPr/>
      </p:nvGrpSpPr>
      <p:grpSpPr>
        <a:xfrm>
          <a:off x="0" y="0"/>
          <a:ext cx="0" cy="0"/>
          <a:chOff x="0" y="0"/>
          <a:chExt cx="0" cy="0"/>
        </a:xfrm>
      </p:grpSpPr>
      <p:sp>
        <p:nvSpPr>
          <p:cNvPr id="136" name="Google Shape;136;p89"/>
          <p:cNvSpPr/>
          <p:nvPr>
            <p:ph type="pic" idx="2"/>
          </p:nvPr>
        </p:nvSpPr>
        <p:spPr>
          <a:xfrm>
            <a:off x="1449316" y="2114606"/>
            <a:ext cx="3626150" cy="2266340"/>
          </a:xfrm>
          <a:prstGeom prst="rect">
            <a:avLst/>
          </a:prstGeom>
          <a:solidFill>
            <a:srgbClr val="F2F2F2"/>
          </a:solidFill>
          <a:ln>
            <a:noFill/>
          </a:ln>
        </p:spPr>
      </p:sp>
      <p:sp>
        <p:nvSpPr>
          <p:cNvPr id="137" name="Google Shape;137;p89"/>
          <p:cNvSpPr/>
          <p:nvPr>
            <p:ph type="pic" idx="3"/>
          </p:nvPr>
        </p:nvSpPr>
        <p:spPr>
          <a:xfrm>
            <a:off x="7173347" y="2114606"/>
            <a:ext cx="3626150" cy="2266340"/>
          </a:xfrm>
          <a:prstGeom prst="rect">
            <a:avLst/>
          </a:prstGeom>
          <a:solidFill>
            <a:srgbClr val="F2F2F2"/>
          </a:solidFill>
          <a:ln>
            <a:noFill/>
          </a:ln>
        </p:spPr>
      </p:sp>
      <p:sp>
        <p:nvSpPr>
          <p:cNvPr id="138" name="Google Shape;138;p89"/>
          <p:cNvSpPr/>
          <p:nvPr>
            <p:ph type="pic" idx="4"/>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8_slide">
  <p:cSld name="28_slide">
    <p:spTree>
      <p:nvGrpSpPr>
        <p:cNvPr id="139" name="Shape 139"/>
        <p:cNvGrpSpPr/>
        <p:nvPr/>
      </p:nvGrpSpPr>
      <p:grpSpPr>
        <a:xfrm>
          <a:off x="0" y="0"/>
          <a:ext cx="0" cy="0"/>
          <a:chOff x="0" y="0"/>
          <a:chExt cx="0" cy="0"/>
        </a:xfrm>
      </p:grpSpPr>
      <p:sp>
        <p:nvSpPr>
          <p:cNvPr id="140" name="Google Shape;140;p90"/>
          <p:cNvSpPr/>
          <p:nvPr>
            <p:ph type="pic" idx="2"/>
          </p:nvPr>
        </p:nvSpPr>
        <p:spPr>
          <a:xfrm>
            <a:off x="-199169" y="2432304"/>
            <a:ext cx="12590339" cy="4599867"/>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5" Type="http://schemas.openxmlformats.org/officeDocument/2006/relationships/theme" Target="../theme/theme1.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56"/>
          <p:cNvSpPr txBox="1"/>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56"/>
          <p:cNvSpPr txBox="1"/>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56"/>
          <p:cNvSpPr txBox="1"/>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56"/>
          <p:cNvSpPr txBox="1"/>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56"/>
          <p:cNvSpPr txBox="1"/>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5" name="Google Shape;15;p56"/>
          <p:cNvSpPr txBox="1"/>
          <p:nvPr/>
        </p:nvSpPr>
        <p:spPr>
          <a:xfrm>
            <a:off x="11829114" y="305271"/>
            <a:ext cx="304726" cy="400091"/>
          </a:xfrm>
          <a:prstGeom prst="rect">
            <a:avLst/>
          </a:prstGeom>
          <a:noFill/>
          <a:ln>
            <a:noFill/>
          </a:ln>
        </p:spPr>
        <p:txBody>
          <a:bodyPr spcFirstLastPara="1" wrap="square" lIns="91400" tIns="45700" rIns="91400" bIns="45700" anchor="t" anchorCtr="0">
            <a:spAutoFit/>
          </a:bodyPr>
          <a:lstStyle/>
          <a:p>
            <a:pPr marL="0" marR="0" lvl="0" indent="0" algn="ctr" rtl="0">
              <a:lnSpc>
                <a:spcPct val="100000"/>
              </a:lnSpc>
              <a:spcBef>
                <a:spcPts val="0"/>
              </a:spcBef>
              <a:spcAft>
                <a:spcPts val="0"/>
              </a:spcAft>
              <a:buClr>
                <a:srgbClr val="000000"/>
              </a:buClr>
              <a:buSzPts val="1000"/>
              <a:buFont typeface="Arial" panose="020B0604020202020204"/>
              <a:buNone/>
            </a:pPr>
            <a:fld id="{00000000-1234-1234-1234-123412341234}" type="slidenum">
              <a:rPr lang="en-US" sz="1000" b="0" i="0" u="none" strike="noStrike" cap="none">
                <a:solidFill>
                  <a:schemeClr val="lt1"/>
                </a:solidFill>
                <a:latin typeface="Arial" panose="020B0604020202020204"/>
                <a:ea typeface="Arial" panose="020B0604020202020204"/>
                <a:cs typeface="Arial" panose="020B0604020202020204"/>
                <a:sym typeface="Arial" panose="020B0604020202020204"/>
              </a:rPr>
            </a:fld>
            <a:r>
              <a:rPr lang="en-US" sz="1000" b="1" i="0" u="none" strike="noStrike" cap="none">
                <a:solidFill>
                  <a:schemeClr val="lt1"/>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7.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7.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slideLayout" Target="../slideLayouts/slideLayout5.xml"/><Relationship Id="rId4" Type="http://schemas.openxmlformats.org/officeDocument/2006/relationships/hyperlink" Target="https://imarticus.org/" TargetMode="External"/><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pic>
        <p:nvPicPr>
          <p:cNvPr id="145" name="Google Shape;145;p1"/>
          <p:cNvPicPr preferRelativeResize="0"/>
          <p:nvPr>
            <p:ph type="pic" idx="2"/>
          </p:nvPr>
        </p:nvPicPr>
        <p:blipFill rotWithShape="1">
          <a:blip r:embed="rId1"/>
          <a:srcRect/>
          <a:stretch>
            <a:fillRect/>
          </a:stretch>
        </p:blipFill>
        <p:spPr>
          <a:xfrm>
            <a:off x="1588" y="1"/>
            <a:ext cx="12190412" cy="6858000"/>
          </a:xfrm>
          <a:prstGeom prst="rect">
            <a:avLst/>
          </a:prstGeom>
          <a:solidFill>
            <a:srgbClr val="F2F2F2"/>
          </a:solidFill>
          <a:ln>
            <a:noFill/>
          </a:ln>
        </p:spPr>
      </p:pic>
      <p:sp>
        <p:nvSpPr>
          <p:cNvPr id="146" name="Google Shape;146;p1"/>
          <p:cNvSpPr/>
          <p:nvPr/>
        </p:nvSpPr>
        <p:spPr>
          <a:xfrm>
            <a:off x="1588" y="1"/>
            <a:ext cx="12190411" cy="6858000"/>
          </a:xfrm>
          <a:prstGeom prst="rect">
            <a:avLst/>
          </a:prstGeom>
          <a:gradFill>
            <a:gsLst>
              <a:gs pos="0">
                <a:srgbClr val="25B6C2">
                  <a:alpha val="20000"/>
                </a:srgbClr>
              </a:gs>
              <a:gs pos="2000">
                <a:srgbClr val="25B6C2">
                  <a:alpha val="20000"/>
                </a:srgbClr>
              </a:gs>
              <a:gs pos="100000">
                <a:srgbClr val="0692DB">
                  <a:alpha val="63529"/>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47" name="Google Shape;147;p1"/>
          <p:cNvSpPr/>
          <p:nvPr/>
        </p:nvSpPr>
        <p:spPr>
          <a:xfrm>
            <a:off x="1587" y="4507667"/>
            <a:ext cx="12190411" cy="1609445"/>
          </a:xfrm>
          <a:prstGeom prst="rect">
            <a:avLst/>
          </a:prstGeom>
          <a:solidFill>
            <a:srgbClr val="D5DB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8" name="Google Shape;148;p1"/>
          <p:cNvSpPr txBox="1"/>
          <p:nvPr/>
        </p:nvSpPr>
        <p:spPr>
          <a:xfrm>
            <a:off x="3029417" y="5020001"/>
            <a:ext cx="68517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dk1"/>
                </a:solidFill>
                <a:latin typeface="Arial" panose="020B0604020202020204"/>
                <a:ea typeface="Arial" panose="020B0604020202020204"/>
                <a:cs typeface="Arial" panose="020B0604020202020204"/>
                <a:sym typeface="Arial" panose="020B0604020202020204"/>
              </a:rPr>
              <a:t>CASH EQUITIES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49" name="Google Shape;149;p1" descr="A picture containing text, clipart&#10;&#10;Description automatically generated"/>
          <p:cNvPicPr preferRelativeResize="0"/>
          <p:nvPr/>
        </p:nvPicPr>
        <p:blipFill rotWithShape="1">
          <a:blip r:embed="rId2"/>
          <a:srcRect/>
          <a:stretch>
            <a:fillRect/>
          </a:stretch>
        </p:blipFill>
        <p:spPr>
          <a:xfrm>
            <a:off x="9533468" y="804443"/>
            <a:ext cx="2421466" cy="491960"/>
          </a:xfrm>
          <a:prstGeom prst="rect">
            <a:avLst/>
          </a:prstGeom>
          <a:noFill/>
          <a:ln>
            <a:noFill/>
          </a:ln>
        </p:spPr>
      </p:pic>
      <p:grpSp>
        <p:nvGrpSpPr>
          <p:cNvPr id="150" name="Google Shape;150;p1"/>
          <p:cNvGrpSpPr/>
          <p:nvPr/>
        </p:nvGrpSpPr>
        <p:grpSpPr>
          <a:xfrm>
            <a:off x="406806" y="4225968"/>
            <a:ext cx="2217393" cy="2208699"/>
            <a:chOff x="406806" y="4225968"/>
            <a:chExt cx="2217393" cy="2208699"/>
          </a:xfrm>
        </p:grpSpPr>
        <p:sp>
          <p:nvSpPr>
            <p:cNvPr id="151" name="Google Shape;151;p1"/>
            <p:cNvSpPr/>
            <p:nvPr/>
          </p:nvSpPr>
          <p:spPr>
            <a:xfrm>
              <a:off x="406806" y="4225968"/>
              <a:ext cx="2217393" cy="2208699"/>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52" name="Google Shape;152;p1" descr="A silhouette of a city&#10;&#10;Description automatically generated with low confidence"/>
            <p:cNvPicPr preferRelativeResize="0"/>
            <p:nvPr/>
          </p:nvPicPr>
          <p:blipFill rotWithShape="1">
            <a:blip r:embed="rId3"/>
            <a:srcRect/>
            <a:stretch>
              <a:fillRect/>
            </a:stretch>
          </p:blipFill>
          <p:spPr>
            <a:xfrm>
              <a:off x="1071058" y="4841428"/>
              <a:ext cx="888889" cy="97777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pic>
        <p:nvPicPr>
          <p:cNvPr id="157" name="Google Shape;157;p2"/>
          <p:cNvPicPr preferRelativeResize="0"/>
          <p:nvPr>
            <p:ph type="pic" idx="2"/>
          </p:nvPr>
        </p:nvPicPr>
        <p:blipFill rotWithShape="1">
          <a:blip r:embed="rId1"/>
          <a:srcRect/>
          <a:stretch>
            <a:fillRect/>
          </a:stretch>
        </p:blipFill>
        <p:spPr>
          <a:xfrm>
            <a:off x="0" y="-1"/>
            <a:ext cx="12192000" cy="6857999"/>
          </a:xfrm>
          <a:prstGeom prst="rect">
            <a:avLst/>
          </a:prstGeom>
          <a:solidFill>
            <a:srgbClr val="F2F2F2"/>
          </a:solidFill>
          <a:ln>
            <a:noFill/>
          </a:ln>
        </p:spPr>
      </p:pic>
      <p:sp>
        <p:nvSpPr>
          <p:cNvPr id="158" name="Google Shape;158;p2"/>
          <p:cNvSpPr/>
          <p:nvPr/>
        </p:nvSpPr>
        <p:spPr>
          <a:xfrm>
            <a:off x="1588" y="-14288"/>
            <a:ext cx="12188825" cy="7591112"/>
          </a:xfrm>
          <a:prstGeom prst="rect">
            <a:avLst/>
          </a:prstGeom>
          <a:solidFill>
            <a:schemeClr val="lt1">
              <a:alpha val="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59" name="Google Shape;159;p2"/>
          <p:cNvSpPr/>
          <p:nvPr/>
        </p:nvSpPr>
        <p:spPr>
          <a:xfrm>
            <a:off x="1588" y="3190420"/>
            <a:ext cx="12188825" cy="2510293"/>
          </a:xfrm>
          <a:prstGeom prst="rect">
            <a:avLst/>
          </a:prstGeom>
          <a:gradFill>
            <a:gsLst>
              <a:gs pos="0">
                <a:srgbClr val="25B6C2">
                  <a:alpha val="49019"/>
                </a:srgbClr>
              </a:gs>
              <a:gs pos="13000">
                <a:srgbClr val="25B6C2">
                  <a:alpha val="49019"/>
                </a:srgbClr>
              </a:gs>
              <a:gs pos="100000">
                <a:srgbClr val="0692DB">
                  <a:alpha val="49019"/>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0" name="Google Shape;160;p2"/>
          <p:cNvSpPr/>
          <p:nvPr/>
        </p:nvSpPr>
        <p:spPr>
          <a:xfrm>
            <a:off x="1588" y="3362964"/>
            <a:ext cx="12188825" cy="2128315"/>
          </a:xfrm>
          <a:prstGeom prst="rect">
            <a:avLst/>
          </a:prstGeom>
          <a:gradFill>
            <a:gsLst>
              <a:gs pos="0">
                <a:srgbClr val="25B6C2"/>
              </a:gs>
              <a:gs pos="13000">
                <a:srgbClr val="25B6C2"/>
              </a:gs>
              <a:gs pos="100000">
                <a:srgbClr val="0692DB"/>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1" name="Google Shape;161;p2"/>
          <p:cNvSpPr txBox="1"/>
          <p:nvPr/>
        </p:nvSpPr>
        <p:spPr>
          <a:xfrm>
            <a:off x="3841715" y="3436581"/>
            <a:ext cx="4508571"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3600"/>
              <a:buFont typeface="Arial" panose="020B0604020202020204"/>
              <a:buNone/>
            </a:pPr>
            <a:r>
              <a:rPr lang="en-US" sz="3600" b="1" i="0" u="none" strike="noStrike" cap="none">
                <a:solidFill>
                  <a:srgbClr val="FFFFFF"/>
                </a:solidFill>
                <a:latin typeface="Arial" panose="020B0604020202020204"/>
                <a:ea typeface="Arial" panose="020B0604020202020204"/>
                <a:cs typeface="Arial" panose="020B0604020202020204"/>
                <a:sym typeface="Arial" panose="020B0604020202020204"/>
              </a:rPr>
              <a:t>DISCLAIMER</a:t>
            </a:r>
            <a:endParaRPr sz="33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2" name="Google Shape;162;p2"/>
          <p:cNvSpPr txBox="1"/>
          <p:nvPr/>
        </p:nvSpPr>
        <p:spPr>
          <a:xfrm>
            <a:off x="442135" y="4060016"/>
            <a:ext cx="11307731"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Arial" panose="020B0604020202020204"/>
              <a:buNone/>
            </a:pPr>
            <a:r>
              <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rPr>
              <a:t>The training content and delivery of this presentation is confidential, and cannot be recorded, or copied and distributed to any third party, without the written consent of Imarticus Learning Pvt. Ltd.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63" name="Google Shape;163;p2" descr="A picture containing text, clipart&#10;&#10;Description automatically generated"/>
          <p:cNvPicPr preferRelativeResize="0"/>
          <p:nvPr/>
        </p:nvPicPr>
        <p:blipFill rotWithShape="1">
          <a:blip r:embed="rId2"/>
          <a:srcRect/>
          <a:stretch>
            <a:fillRect/>
          </a:stretch>
        </p:blipFill>
        <p:spPr>
          <a:xfrm>
            <a:off x="9533468" y="431910"/>
            <a:ext cx="2421466" cy="491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67" name="Shape 167"/>
        <p:cNvGrpSpPr/>
        <p:nvPr/>
      </p:nvGrpSpPr>
      <p:grpSpPr>
        <a:xfrm>
          <a:off x="0" y="0"/>
          <a:ext cx="0" cy="0"/>
          <a:chOff x="0" y="0"/>
          <a:chExt cx="0" cy="0"/>
        </a:xfrm>
      </p:grpSpPr>
      <p:sp>
        <p:nvSpPr>
          <p:cNvPr id="168" name="Google Shape;168;p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9" name="Google Shape;169;p3"/>
          <p:cNvSpPr/>
          <p:nvPr/>
        </p:nvSpPr>
        <p:spPr>
          <a:xfrm rot="5400000">
            <a:off x="3836009" y="-2259991"/>
            <a:ext cx="4519984" cy="12191998"/>
          </a:xfrm>
          <a:prstGeom prst="roundRect">
            <a:avLst>
              <a:gd name="adj" fmla="val 0"/>
            </a:avLst>
          </a:prstGeom>
          <a:solidFill>
            <a:srgbClr val="A6E9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 name="Google Shape;170;p3"/>
          <p:cNvSpPr txBox="1"/>
          <p:nvPr/>
        </p:nvSpPr>
        <p:spPr>
          <a:xfrm>
            <a:off x="-7" y="1576032"/>
            <a:ext cx="12191998" cy="4519984"/>
          </a:xfrm>
          <a:prstGeom prst="rect">
            <a:avLst/>
          </a:prstGeom>
          <a:noFill/>
          <a:ln>
            <a:noFill/>
          </a:ln>
        </p:spPr>
        <p:txBody>
          <a:bodyPr spcFirstLastPara="1" wrap="square" lIns="91425" tIns="45700" rIns="91425" bIns="720000" anchor="ctr" anchorCtr="0">
            <a:noAutofit/>
          </a:bodyPr>
          <a:lstStyle/>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71" name="Google Shape;171;p3"/>
          <p:cNvGrpSpPr/>
          <p:nvPr/>
        </p:nvGrpSpPr>
        <p:grpSpPr>
          <a:xfrm>
            <a:off x="7683198" y="1366540"/>
            <a:ext cx="3737100" cy="4729236"/>
            <a:chOff x="7546960" y="2023864"/>
            <a:chExt cx="3819994" cy="4834137"/>
          </a:xfrm>
        </p:grpSpPr>
        <p:sp>
          <p:nvSpPr>
            <p:cNvPr id="172" name="Google Shape;172;p3"/>
            <p:cNvSpPr/>
            <p:nvPr/>
          </p:nvSpPr>
          <p:spPr>
            <a:xfrm flipH="1">
              <a:off x="7546960" y="2023864"/>
              <a:ext cx="3819994" cy="4834137"/>
            </a:xfrm>
            <a:custGeom>
              <a:avLst/>
              <a:gdLst/>
              <a:ahLst/>
              <a:cxnLst/>
              <a:rect l="l" t="t" r="r" b="b"/>
              <a:pathLst>
                <a:path w="3819995" h="4834137" extrusionOk="0">
                  <a:moveTo>
                    <a:pt x="417961" y="4834122"/>
                  </a:moveTo>
                  <a:cubicBezTo>
                    <a:pt x="417961" y="4834122"/>
                    <a:pt x="680885" y="4215750"/>
                    <a:pt x="671152" y="3719115"/>
                  </a:cubicBezTo>
                  <a:cubicBezTo>
                    <a:pt x="661420" y="3222480"/>
                    <a:pt x="466656" y="2886514"/>
                    <a:pt x="203731" y="2389863"/>
                  </a:cubicBezTo>
                  <a:cubicBezTo>
                    <a:pt x="-59209" y="1893228"/>
                    <a:pt x="-209616" y="909676"/>
                    <a:pt x="671424" y="330266"/>
                  </a:cubicBezTo>
                  <a:cubicBezTo>
                    <a:pt x="1552449" y="-249144"/>
                    <a:pt x="2666239" y="54407"/>
                    <a:pt x="2969342" y="330266"/>
                  </a:cubicBezTo>
                  <a:cubicBezTo>
                    <a:pt x="3402682" y="724660"/>
                    <a:pt x="3509805" y="1299204"/>
                    <a:pt x="3504939" y="1430674"/>
                  </a:cubicBezTo>
                  <a:cubicBezTo>
                    <a:pt x="3500072" y="1562144"/>
                    <a:pt x="3363880" y="1620571"/>
                    <a:pt x="3505003" y="1825068"/>
                  </a:cubicBezTo>
                  <a:cubicBezTo>
                    <a:pt x="3588322" y="1945813"/>
                    <a:pt x="3710716" y="2110675"/>
                    <a:pt x="3796997" y="2225481"/>
                  </a:cubicBezTo>
                  <a:cubicBezTo>
                    <a:pt x="3845676" y="2290264"/>
                    <a:pt x="3813356" y="2383668"/>
                    <a:pt x="3735079" y="2404622"/>
                  </a:cubicBezTo>
                  <a:lnTo>
                    <a:pt x="3631574" y="2432315"/>
                  </a:lnTo>
                  <a:cubicBezTo>
                    <a:pt x="3588914" y="2443728"/>
                    <a:pt x="3563574" y="2487573"/>
                    <a:pt x="3575084" y="2530201"/>
                  </a:cubicBezTo>
                  <a:cubicBezTo>
                    <a:pt x="3590579" y="2587604"/>
                    <a:pt x="3609260" y="2661143"/>
                    <a:pt x="3612045" y="2691750"/>
                  </a:cubicBezTo>
                  <a:cubicBezTo>
                    <a:pt x="3616912" y="2745311"/>
                    <a:pt x="3480575" y="2837819"/>
                    <a:pt x="3480575" y="2837819"/>
                  </a:cubicBezTo>
                  <a:cubicBezTo>
                    <a:pt x="3480575" y="2837819"/>
                    <a:pt x="3592564" y="2891380"/>
                    <a:pt x="3539003" y="2964407"/>
                  </a:cubicBezTo>
                  <a:cubicBezTo>
                    <a:pt x="3485442" y="3037449"/>
                    <a:pt x="3431880" y="3047181"/>
                    <a:pt x="3451361" y="3154304"/>
                  </a:cubicBezTo>
                  <a:cubicBezTo>
                    <a:pt x="3470843" y="3261427"/>
                    <a:pt x="3577949" y="3495137"/>
                    <a:pt x="3144609" y="3514618"/>
                  </a:cubicBezTo>
                  <a:cubicBezTo>
                    <a:pt x="2711268" y="3534099"/>
                    <a:pt x="2414248" y="3529233"/>
                    <a:pt x="2511638" y="3982055"/>
                  </a:cubicBezTo>
                  <a:cubicBezTo>
                    <a:pt x="2609011" y="4434877"/>
                    <a:pt x="2677188" y="4834138"/>
                    <a:pt x="2677188" y="4834138"/>
                  </a:cubicBezTo>
                  <a:lnTo>
                    <a:pt x="417961" y="4834138"/>
                  </a:lnTo>
                  <a:close/>
                </a:path>
              </a:pathLst>
            </a:custGeom>
            <a:solidFill>
              <a:schemeClr val="dk2"/>
            </a:solidFill>
            <a:ln>
              <a:noFill/>
            </a:ln>
          </p:spPr>
          <p:txBody>
            <a:bodyPr spcFirstLastPara="1" wrap="square" lIns="77750" tIns="38850" rIns="77750" bIns="38850" anchor="ctr" anchorCtr="0">
              <a:noAutofit/>
            </a:bodyPr>
            <a:lstStyle/>
            <a:p>
              <a:pPr marL="0" marR="0" lvl="0" indent="0" algn="l" rtl="0">
                <a:lnSpc>
                  <a:spcPct val="100000"/>
                </a:lnSpc>
                <a:spcBef>
                  <a:spcPts val="0"/>
                </a:spcBef>
                <a:spcAft>
                  <a:spcPts val="0"/>
                </a:spcAft>
                <a:buClr>
                  <a:srgbClr val="000000"/>
                </a:buClr>
                <a:buSzPts val="1530"/>
                <a:buFont typeface="Arial" panose="020B0604020202020204"/>
                <a:buNone/>
              </a:pPr>
              <a:endParaRPr sz="153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3" name="Google Shape;173;p3"/>
            <p:cNvGrpSpPr/>
            <p:nvPr/>
          </p:nvGrpSpPr>
          <p:grpSpPr>
            <a:xfrm flipH="1">
              <a:off x="8165376" y="2023909"/>
              <a:ext cx="2941884" cy="3845608"/>
              <a:chOff x="12739148" y="1911090"/>
              <a:chExt cx="2941885" cy="3845608"/>
            </a:xfrm>
          </p:grpSpPr>
          <p:sp>
            <p:nvSpPr>
              <p:cNvPr id="174" name="Google Shape;174;p3"/>
              <p:cNvSpPr/>
              <p:nvPr/>
            </p:nvSpPr>
            <p:spPr>
              <a:xfrm>
                <a:off x="13879927" y="4285315"/>
                <a:ext cx="334061" cy="1471383"/>
              </a:xfrm>
              <a:custGeom>
                <a:avLst/>
                <a:gdLst/>
                <a:ahLst/>
                <a:cxnLst/>
                <a:rect l="l" t="t" r="r" b="b"/>
                <a:pathLst>
                  <a:path w="334061" h="1471383" extrusionOk="0">
                    <a:moveTo>
                      <a:pt x="263196" y="1435814"/>
                    </a:moveTo>
                    <a:cubicBezTo>
                      <a:pt x="263196" y="1455408"/>
                      <a:pt x="278900" y="1471383"/>
                      <a:pt x="298509" y="1471383"/>
                    </a:cubicBezTo>
                    <a:cubicBezTo>
                      <a:pt x="318086" y="1471383"/>
                      <a:pt x="334062" y="1455408"/>
                      <a:pt x="334062" y="1435814"/>
                    </a:cubicBezTo>
                    <a:cubicBezTo>
                      <a:pt x="334062" y="1419343"/>
                      <a:pt x="322728" y="1405752"/>
                      <a:pt x="307505" y="1401782"/>
                    </a:cubicBezTo>
                    <a:lnTo>
                      <a:pt x="307505" y="1048111"/>
                    </a:lnTo>
                    <a:lnTo>
                      <a:pt x="44581" y="785187"/>
                    </a:lnTo>
                    <a:lnTo>
                      <a:pt x="44581" y="69841"/>
                    </a:lnTo>
                    <a:cubicBezTo>
                      <a:pt x="59804" y="65823"/>
                      <a:pt x="71138" y="52040"/>
                      <a:pt x="71138" y="35585"/>
                    </a:cubicBezTo>
                    <a:cubicBezTo>
                      <a:pt x="71138" y="16008"/>
                      <a:pt x="55162" y="0"/>
                      <a:pt x="35585" y="0"/>
                    </a:cubicBezTo>
                    <a:cubicBezTo>
                      <a:pt x="15976" y="0"/>
                      <a:pt x="0" y="15991"/>
                      <a:pt x="0" y="35585"/>
                    </a:cubicBezTo>
                    <a:cubicBezTo>
                      <a:pt x="0" y="52136"/>
                      <a:pt x="11461" y="65983"/>
                      <a:pt x="26813" y="69921"/>
                    </a:cubicBezTo>
                    <a:lnTo>
                      <a:pt x="26813" y="792422"/>
                    </a:lnTo>
                    <a:lnTo>
                      <a:pt x="289721" y="1055347"/>
                    </a:lnTo>
                    <a:lnTo>
                      <a:pt x="289721" y="1401718"/>
                    </a:lnTo>
                    <a:cubicBezTo>
                      <a:pt x="274450" y="1405624"/>
                      <a:pt x="263196" y="1419279"/>
                      <a:pt x="263196" y="1435814"/>
                    </a:cubicBezTo>
                    <a:close/>
                  </a:path>
                </a:pathLst>
              </a:custGeom>
              <a:solidFill>
                <a:schemeClr val="accent3"/>
              </a:solidFill>
              <a:ln>
                <a:noFill/>
              </a:ln>
            </p:spPr>
            <p:txBody>
              <a:bodyPr spcFirstLastPara="1" wrap="square" lIns="77750" tIns="38850" rIns="77750" bIns="38850" anchor="ctr" anchorCtr="0">
                <a:noAutofit/>
              </a:bodyPr>
              <a:lstStyle/>
              <a:p>
                <a:pPr marL="0" marR="0" lvl="0" indent="0" algn="l" rtl="0">
                  <a:lnSpc>
                    <a:spcPct val="100000"/>
                  </a:lnSpc>
                  <a:spcBef>
                    <a:spcPts val="0"/>
                  </a:spcBef>
                  <a:spcAft>
                    <a:spcPts val="0"/>
                  </a:spcAft>
                  <a:buClr>
                    <a:srgbClr val="000000"/>
                  </a:buClr>
                  <a:buSzPts val="1530"/>
                  <a:buFont typeface="Arial" panose="020B0604020202020204"/>
                  <a:buNone/>
                </a:pPr>
                <a:endParaRPr sz="153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 name="Google Shape;175;p3"/>
              <p:cNvSpPr/>
              <p:nvPr/>
            </p:nvSpPr>
            <p:spPr>
              <a:xfrm>
                <a:off x="13319214" y="2045889"/>
                <a:ext cx="369534" cy="2311027"/>
              </a:xfrm>
              <a:custGeom>
                <a:avLst/>
                <a:gdLst/>
                <a:ahLst/>
                <a:cxnLst/>
                <a:rect l="l" t="t" r="r" b="b"/>
                <a:pathLst>
                  <a:path w="369534" h="2311027" extrusionOk="0">
                    <a:moveTo>
                      <a:pt x="194748" y="8452"/>
                    </a:moveTo>
                    <a:lnTo>
                      <a:pt x="194748" y="716691"/>
                    </a:lnTo>
                    <a:lnTo>
                      <a:pt x="211428" y="733355"/>
                    </a:lnTo>
                    <a:lnTo>
                      <a:pt x="209763" y="733355"/>
                    </a:lnTo>
                    <a:lnTo>
                      <a:pt x="209763" y="968874"/>
                    </a:lnTo>
                    <a:lnTo>
                      <a:pt x="69249" y="1109228"/>
                    </a:lnTo>
                    <a:lnTo>
                      <a:pt x="69249" y="1384558"/>
                    </a:lnTo>
                    <a:lnTo>
                      <a:pt x="160380" y="1475705"/>
                    </a:lnTo>
                    <a:cubicBezTo>
                      <a:pt x="158619" y="1479579"/>
                      <a:pt x="157594" y="1483853"/>
                      <a:pt x="157594" y="1488399"/>
                    </a:cubicBezTo>
                    <a:cubicBezTo>
                      <a:pt x="157594" y="1502438"/>
                      <a:pt x="166943" y="1513979"/>
                      <a:pt x="179717" y="1517693"/>
                    </a:cubicBezTo>
                    <a:lnTo>
                      <a:pt x="179717" y="1733715"/>
                    </a:lnTo>
                    <a:lnTo>
                      <a:pt x="19929" y="1893423"/>
                    </a:lnTo>
                    <a:lnTo>
                      <a:pt x="19929" y="2251448"/>
                    </a:lnTo>
                    <a:cubicBezTo>
                      <a:pt x="8292" y="2255850"/>
                      <a:pt x="0" y="2266991"/>
                      <a:pt x="0" y="2280213"/>
                    </a:cubicBezTo>
                    <a:cubicBezTo>
                      <a:pt x="0" y="2297133"/>
                      <a:pt x="13767" y="2311028"/>
                      <a:pt x="30831" y="2311028"/>
                    </a:cubicBezTo>
                    <a:cubicBezTo>
                      <a:pt x="47895" y="2311028"/>
                      <a:pt x="61645" y="2297133"/>
                      <a:pt x="61645" y="2280213"/>
                    </a:cubicBezTo>
                    <a:cubicBezTo>
                      <a:pt x="61645" y="2266991"/>
                      <a:pt x="53353" y="2255850"/>
                      <a:pt x="41716" y="2251448"/>
                    </a:cubicBezTo>
                    <a:lnTo>
                      <a:pt x="41716" y="1902291"/>
                    </a:lnTo>
                    <a:lnTo>
                      <a:pt x="179701" y="1764306"/>
                    </a:lnTo>
                    <a:lnTo>
                      <a:pt x="179701" y="2068113"/>
                    </a:lnTo>
                    <a:cubicBezTo>
                      <a:pt x="167663" y="2072323"/>
                      <a:pt x="159003" y="2083672"/>
                      <a:pt x="159003" y="2096927"/>
                    </a:cubicBezTo>
                    <a:cubicBezTo>
                      <a:pt x="159003" y="2114007"/>
                      <a:pt x="172754" y="2127901"/>
                      <a:pt x="189818" y="2127901"/>
                    </a:cubicBezTo>
                    <a:cubicBezTo>
                      <a:pt x="206722" y="2127901"/>
                      <a:pt x="220488" y="2114007"/>
                      <a:pt x="220488" y="2096927"/>
                    </a:cubicBezTo>
                    <a:cubicBezTo>
                      <a:pt x="220488" y="2084281"/>
                      <a:pt x="212645" y="2073283"/>
                      <a:pt x="201519" y="2068641"/>
                    </a:cubicBezTo>
                    <a:lnTo>
                      <a:pt x="201519" y="1742503"/>
                    </a:lnTo>
                    <a:lnTo>
                      <a:pt x="369535" y="1574472"/>
                    </a:lnTo>
                    <a:lnTo>
                      <a:pt x="369535" y="860695"/>
                    </a:lnTo>
                    <a:lnTo>
                      <a:pt x="216534" y="707534"/>
                    </a:lnTo>
                    <a:lnTo>
                      <a:pt x="216534" y="0"/>
                    </a:lnTo>
                    <a:cubicBezTo>
                      <a:pt x="209283" y="2721"/>
                      <a:pt x="202015" y="5619"/>
                      <a:pt x="194748" y="8452"/>
                    </a:cubicBezTo>
                    <a:close/>
                    <a:moveTo>
                      <a:pt x="231405" y="977726"/>
                    </a:moveTo>
                    <a:lnTo>
                      <a:pt x="231405" y="753348"/>
                    </a:lnTo>
                    <a:lnTo>
                      <a:pt x="347892" y="869835"/>
                    </a:lnTo>
                    <a:lnTo>
                      <a:pt x="347892" y="1565604"/>
                    </a:lnTo>
                    <a:lnTo>
                      <a:pt x="201519" y="1711897"/>
                    </a:lnTo>
                    <a:lnTo>
                      <a:pt x="201519" y="1516028"/>
                    </a:lnTo>
                    <a:cubicBezTo>
                      <a:pt x="211908" y="1511130"/>
                      <a:pt x="219224" y="1500709"/>
                      <a:pt x="219224" y="1488367"/>
                    </a:cubicBezTo>
                    <a:cubicBezTo>
                      <a:pt x="219224" y="1471303"/>
                      <a:pt x="205313" y="1457553"/>
                      <a:pt x="188393" y="1457553"/>
                    </a:cubicBezTo>
                    <a:cubicBezTo>
                      <a:pt x="183863" y="1457553"/>
                      <a:pt x="179605" y="1458577"/>
                      <a:pt x="175731" y="1460322"/>
                    </a:cubicBezTo>
                    <a:lnTo>
                      <a:pt x="91019" y="1375370"/>
                    </a:lnTo>
                    <a:lnTo>
                      <a:pt x="91019" y="1118080"/>
                    </a:lnTo>
                    <a:lnTo>
                      <a:pt x="231405" y="977726"/>
                    </a:lnTo>
                    <a:close/>
                  </a:path>
                </a:pathLst>
              </a:custGeom>
              <a:solidFill>
                <a:schemeClr val="accent3"/>
              </a:solidFill>
              <a:ln>
                <a:noFill/>
              </a:ln>
            </p:spPr>
            <p:txBody>
              <a:bodyPr spcFirstLastPara="1" wrap="square" lIns="77750" tIns="38850" rIns="77750" bIns="38850" anchor="ctr" anchorCtr="0">
                <a:noAutofit/>
              </a:bodyPr>
              <a:lstStyle/>
              <a:p>
                <a:pPr marL="0" marR="0" lvl="0" indent="0" algn="l" rtl="0">
                  <a:lnSpc>
                    <a:spcPct val="100000"/>
                  </a:lnSpc>
                  <a:spcBef>
                    <a:spcPts val="0"/>
                  </a:spcBef>
                  <a:spcAft>
                    <a:spcPts val="0"/>
                  </a:spcAft>
                  <a:buClr>
                    <a:srgbClr val="000000"/>
                  </a:buClr>
                  <a:buSzPts val="1530"/>
                  <a:buFont typeface="Arial" panose="020B0604020202020204"/>
                  <a:buNone/>
                </a:pPr>
                <a:endParaRPr sz="153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 name="Google Shape;176;p3"/>
              <p:cNvSpPr/>
              <p:nvPr/>
            </p:nvSpPr>
            <p:spPr>
              <a:xfrm>
                <a:off x="13009276" y="2123798"/>
                <a:ext cx="435293" cy="2557304"/>
              </a:xfrm>
              <a:custGeom>
                <a:avLst/>
                <a:gdLst/>
                <a:ahLst/>
                <a:cxnLst/>
                <a:rect l="l" t="t" r="r" b="b"/>
                <a:pathLst>
                  <a:path w="435293" h="2557304" extrusionOk="0">
                    <a:moveTo>
                      <a:pt x="0" y="1130806"/>
                    </a:moveTo>
                    <a:lnTo>
                      <a:pt x="0" y="1415965"/>
                    </a:lnTo>
                    <a:lnTo>
                      <a:pt x="198366" y="1614475"/>
                    </a:lnTo>
                    <a:lnTo>
                      <a:pt x="198366" y="2264734"/>
                    </a:lnTo>
                    <a:lnTo>
                      <a:pt x="308850" y="2375218"/>
                    </a:lnTo>
                    <a:lnTo>
                      <a:pt x="308850" y="2498669"/>
                    </a:lnTo>
                    <a:cubicBezTo>
                      <a:pt x="298221" y="2503519"/>
                      <a:pt x="290825" y="2514132"/>
                      <a:pt x="290825" y="2526490"/>
                    </a:cubicBezTo>
                    <a:cubicBezTo>
                      <a:pt x="290825" y="2543554"/>
                      <a:pt x="304592" y="2557304"/>
                      <a:pt x="321640" y="2557304"/>
                    </a:cubicBezTo>
                    <a:cubicBezTo>
                      <a:pt x="338560" y="2557304"/>
                      <a:pt x="352310" y="2543554"/>
                      <a:pt x="352310" y="2526490"/>
                    </a:cubicBezTo>
                    <a:cubicBezTo>
                      <a:pt x="352310" y="2512739"/>
                      <a:pt x="343154" y="2501214"/>
                      <a:pt x="330652" y="2497340"/>
                    </a:cubicBezTo>
                    <a:lnTo>
                      <a:pt x="330652" y="2366238"/>
                    </a:lnTo>
                    <a:lnTo>
                      <a:pt x="220168" y="2255738"/>
                    </a:lnTo>
                    <a:lnTo>
                      <a:pt x="220168" y="1605335"/>
                    </a:lnTo>
                    <a:lnTo>
                      <a:pt x="21802" y="1407129"/>
                    </a:lnTo>
                    <a:lnTo>
                      <a:pt x="21802" y="1139658"/>
                    </a:lnTo>
                    <a:lnTo>
                      <a:pt x="435294" y="726167"/>
                    </a:lnTo>
                    <a:lnTo>
                      <a:pt x="435294" y="532876"/>
                    </a:lnTo>
                    <a:lnTo>
                      <a:pt x="346772" y="444050"/>
                    </a:lnTo>
                    <a:lnTo>
                      <a:pt x="346772" y="0"/>
                    </a:lnTo>
                    <a:cubicBezTo>
                      <a:pt x="339488" y="3602"/>
                      <a:pt x="332237" y="7331"/>
                      <a:pt x="324969" y="11029"/>
                    </a:cubicBezTo>
                    <a:lnTo>
                      <a:pt x="324969" y="453206"/>
                    </a:lnTo>
                    <a:lnTo>
                      <a:pt x="413459" y="541728"/>
                    </a:lnTo>
                    <a:lnTo>
                      <a:pt x="413459" y="717171"/>
                    </a:lnTo>
                    <a:lnTo>
                      <a:pt x="0" y="1130806"/>
                    </a:lnTo>
                    <a:close/>
                  </a:path>
                </a:pathLst>
              </a:custGeom>
              <a:solidFill>
                <a:schemeClr val="accent3"/>
              </a:solidFill>
              <a:ln>
                <a:noFill/>
              </a:ln>
            </p:spPr>
            <p:txBody>
              <a:bodyPr spcFirstLastPara="1" wrap="square" lIns="77750" tIns="38850" rIns="77750" bIns="38850" anchor="ctr" anchorCtr="0">
                <a:noAutofit/>
              </a:bodyPr>
              <a:lstStyle/>
              <a:p>
                <a:pPr marL="0" marR="0" lvl="0" indent="0" algn="l" rtl="0">
                  <a:lnSpc>
                    <a:spcPct val="100000"/>
                  </a:lnSpc>
                  <a:spcBef>
                    <a:spcPts val="0"/>
                  </a:spcBef>
                  <a:spcAft>
                    <a:spcPts val="0"/>
                  </a:spcAft>
                  <a:buClr>
                    <a:srgbClr val="000000"/>
                  </a:buClr>
                  <a:buSzPts val="1530"/>
                  <a:buFont typeface="Arial" panose="020B0604020202020204"/>
                  <a:buNone/>
                </a:pPr>
                <a:endParaRPr sz="153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 name="Google Shape;177;p3"/>
              <p:cNvSpPr/>
              <p:nvPr/>
            </p:nvSpPr>
            <p:spPr>
              <a:xfrm>
                <a:off x="13724846" y="1911090"/>
                <a:ext cx="1956187" cy="3529331"/>
              </a:xfrm>
              <a:custGeom>
                <a:avLst/>
                <a:gdLst/>
                <a:ahLst/>
                <a:cxnLst/>
                <a:rect l="l" t="t" r="r" b="b"/>
                <a:pathLst>
                  <a:path w="1956187" h="3529331" extrusionOk="0">
                    <a:moveTo>
                      <a:pt x="1920715" y="548243"/>
                    </a:moveTo>
                    <a:lnTo>
                      <a:pt x="1920715" y="883249"/>
                    </a:lnTo>
                    <a:cubicBezTo>
                      <a:pt x="1901362" y="883249"/>
                      <a:pt x="1885403" y="899241"/>
                      <a:pt x="1885403" y="918834"/>
                    </a:cubicBezTo>
                    <a:cubicBezTo>
                      <a:pt x="1885403" y="927654"/>
                      <a:pt x="1888748" y="935626"/>
                      <a:pt x="1894079" y="941853"/>
                    </a:cubicBezTo>
                    <a:lnTo>
                      <a:pt x="1757518" y="1078398"/>
                    </a:lnTo>
                    <a:lnTo>
                      <a:pt x="1757518" y="968906"/>
                    </a:lnTo>
                    <a:cubicBezTo>
                      <a:pt x="1768099" y="962727"/>
                      <a:pt x="1775302" y="951394"/>
                      <a:pt x="1775302" y="938299"/>
                    </a:cubicBezTo>
                    <a:cubicBezTo>
                      <a:pt x="1775302" y="918706"/>
                      <a:pt x="1759327" y="902715"/>
                      <a:pt x="1739734" y="902715"/>
                    </a:cubicBezTo>
                    <a:cubicBezTo>
                      <a:pt x="1720140" y="902715"/>
                      <a:pt x="1704421" y="918706"/>
                      <a:pt x="1704421" y="938299"/>
                    </a:cubicBezTo>
                    <a:cubicBezTo>
                      <a:pt x="1704421" y="957893"/>
                      <a:pt x="1720140" y="973852"/>
                      <a:pt x="1739734" y="973852"/>
                    </a:cubicBezTo>
                    <a:lnTo>
                      <a:pt x="1739734" y="1096182"/>
                    </a:lnTo>
                    <a:lnTo>
                      <a:pt x="1565427" y="1270504"/>
                    </a:lnTo>
                    <a:cubicBezTo>
                      <a:pt x="1559457" y="1265990"/>
                      <a:pt x="1552125" y="1263221"/>
                      <a:pt x="1544105" y="1263221"/>
                    </a:cubicBezTo>
                    <a:cubicBezTo>
                      <a:pt x="1524512" y="1263221"/>
                      <a:pt x="1508552" y="1279196"/>
                      <a:pt x="1508552" y="1298774"/>
                    </a:cubicBezTo>
                    <a:cubicBezTo>
                      <a:pt x="1508552" y="1315358"/>
                      <a:pt x="1520622" y="1329556"/>
                      <a:pt x="1536630" y="1332998"/>
                    </a:cubicBezTo>
                    <a:lnTo>
                      <a:pt x="1536630" y="1462659"/>
                    </a:lnTo>
                    <a:lnTo>
                      <a:pt x="1279932" y="1719420"/>
                    </a:lnTo>
                    <a:lnTo>
                      <a:pt x="1080815" y="1520302"/>
                    </a:lnTo>
                    <a:cubicBezTo>
                      <a:pt x="1084048" y="1514940"/>
                      <a:pt x="1086017" y="1508745"/>
                      <a:pt x="1086017" y="1502038"/>
                    </a:cubicBezTo>
                    <a:cubicBezTo>
                      <a:pt x="1086017" y="1485406"/>
                      <a:pt x="1074444" y="1471847"/>
                      <a:pt x="1058964" y="1468102"/>
                    </a:cubicBezTo>
                    <a:lnTo>
                      <a:pt x="1058964" y="269119"/>
                    </a:lnTo>
                    <a:lnTo>
                      <a:pt x="963303" y="173538"/>
                    </a:lnTo>
                    <a:lnTo>
                      <a:pt x="963303" y="31007"/>
                    </a:lnTo>
                    <a:cubicBezTo>
                      <a:pt x="957380" y="30046"/>
                      <a:pt x="951473" y="29070"/>
                      <a:pt x="945503" y="28157"/>
                    </a:cubicBezTo>
                    <a:lnTo>
                      <a:pt x="945503" y="155770"/>
                    </a:lnTo>
                    <a:lnTo>
                      <a:pt x="799946" y="10309"/>
                    </a:lnTo>
                    <a:cubicBezTo>
                      <a:pt x="790870" y="9476"/>
                      <a:pt x="781761" y="8708"/>
                      <a:pt x="772621" y="7972"/>
                    </a:cubicBezTo>
                    <a:lnTo>
                      <a:pt x="945519" y="181094"/>
                    </a:lnTo>
                    <a:lnTo>
                      <a:pt x="945519" y="668572"/>
                    </a:lnTo>
                    <a:lnTo>
                      <a:pt x="827447" y="786644"/>
                    </a:lnTo>
                    <a:lnTo>
                      <a:pt x="827447" y="1392130"/>
                    </a:lnTo>
                    <a:cubicBezTo>
                      <a:pt x="826406" y="1391521"/>
                      <a:pt x="825366" y="1390897"/>
                      <a:pt x="824261" y="1390401"/>
                    </a:cubicBezTo>
                    <a:lnTo>
                      <a:pt x="824261" y="712753"/>
                    </a:lnTo>
                    <a:lnTo>
                      <a:pt x="618756" y="506783"/>
                    </a:lnTo>
                    <a:cubicBezTo>
                      <a:pt x="619861" y="503342"/>
                      <a:pt x="620613" y="499756"/>
                      <a:pt x="620613" y="495962"/>
                    </a:cubicBezTo>
                    <a:cubicBezTo>
                      <a:pt x="620613" y="482884"/>
                      <a:pt x="613394" y="471535"/>
                      <a:pt x="602829" y="465340"/>
                    </a:cubicBezTo>
                    <a:lnTo>
                      <a:pt x="602829" y="176"/>
                    </a:lnTo>
                    <a:cubicBezTo>
                      <a:pt x="595529" y="96"/>
                      <a:pt x="588246" y="16"/>
                      <a:pt x="580914" y="0"/>
                    </a:cubicBezTo>
                    <a:lnTo>
                      <a:pt x="580914" y="109716"/>
                    </a:lnTo>
                    <a:lnTo>
                      <a:pt x="375617" y="315333"/>
                    </a:lnTo>
                    <a:lnTo>
                      <a:pt x="375617" y="8644"/>
                    </a:lnTo>
                    <a:cubicBezTo>
                      <a:pt x="369695" y="9156"/>
                      <a:pt x="363756" y="9797"/>
                      <a:pt x="357833" y="10357"/>
                    </a:cubicBezTo>
                    <a:lnTo>
                      <a:pt x="357833" y="333149"/>
                    </a:lnTo>
                    <a:lnTo>
                      <a:pt x="268015" y="423112"/>
                    </a:lnTo>
                    <a:cubicBezTo>
                      <a:pt x="263677" y="421191"/>
                      <a:pt x="258890" y="420086"/>
                      <a:pt x="253816" y="420086"/>
                    </a:cubicBezTo>
                    <a:cubicBezTo>
                      <a:pt x="234223" y="420086"/>
                      <a:pt x="218247" y="436062"/>
                      <a:pt x="218247" y="455639"/>
                    </a:cubicBezTo>
                    <a:cubicBezTo>
                      <a:pt x="218247" y="471327"/>
                      <a:pt x="228572" y="484565"/>
                      <a:pt x="242739" y="489271"/>
                    </a:cubicBezTo>
                    <a:lnTo>
                      <a:pt x="242739" y="807261"/>
                    </a:lnTo>
                    <a:lnTo>
                      <a:pt x="543217" y="1107723"/>
                    </a:lnTo>
                    <a:cubicBezTo>
                      <a:pt x="540079" y="1112942"/>
                      <a:pt x="538142" y="1118993"/>
                      <a:pt x="538142" y="1125588"/>
                    </a:cubicBezTo>
                    <a:cubicBezTo>
                      <a:pt x="538142" y="1142092"/>
                      <a:pt x="549555" y="1155938"/>
                      <a:pt x="564699" y="1159908"/>
                    </a:cubicBezTo>
                    <a:lnTo>
                      <a:pt x="564699" y="1670037"/>
                    </a:lnTo>
                    <a:lnTo>
                      <a:pt x="51464" y="2183064"/>
                    </a:lnTo>
                    <a:cubicBezTo>
                      <a:pt x="46678" y="2180630"/>
                      <a:pt x="41332" y="2179110"/>
                      <a:pt x="35553" y="2179110"/>
                    </a:cubicBezTo>
                    <a:cubicBezTo>
                      <a:pt x="15959" y="2179110"/>
                      <a:pt x="0" y="2195085"/>
                      <a:pt x="0" y="2214166"/>
                    </a:cubicBezTo>
                    <a:cubicBezTo>
                      <a:pt x="0" y="2227244"/>
                      <a:pt x="7203" y="2238594"/>
                      <a:pt x="17768" y="2244773"/>
                    </a:cubicBezTo>
                    <a:lnTo>
                      <a:pt x="17768" y="3323106"/>
                    </a:lnTo>
                    <a:lnTo>
                      <a:pt x="166975" y="3472297"/>
                    </a:lnTo>
                    <a:cubicBezTo>
                      <a:pt x="162397" y="3478283"/>
                      <a:pt x="159579" y="3485663"/>
                      <a:pt x="159579" y="3493763"/>
                    </a:cubicBezTo>
                    <a:cubicBezTo>
                      <a:pt x="159579" y="3513356"/>
                      <a:pt x="175555" y="3529332"/>
                      <a:pt x="195132" y="3529332"/>
                    </a:cubicBezTo>
                    <a:cubicBezTo>
                      <a:pt x="214709" y="3529332"/>
                      <a:pt x="230445" y="3513356"/>
                      <a:pt x="230445" y="3493763"/>
                    </a:cubicBezTo>
                    <a:cubicBezTo>
                      <a:pt x="230445" y="3474169"/>
                      <a:pt x="214709" y="3458194"/>
                      <a:pt x="195132" y="3458194"/>
                    </a:cubicBezTo>
                    <a:cubicBezTo>
                      <a:pt x="190058" y="3458194"/>
                      <a:pt x="185255" y="3459298"/>
                      <a:pt x="180901" y="3461219"/>
                    </a:cubicBezTo>
                    <a:lnTo>
                      <a:pt x="35569" y="3315903"/>
                    </a:lnTo>
                    <a:lnTo>
                      <a:pt x="35569" y="2249767"/>
                    </a:lnTo>
                    <a:cubicBezTo>
                      <a:pt x="55162" y="2249767"/>
                      <a:pt x="70881" y="2233776"/>
                      <a:pt x="70881" y="2214182"/>
                    </a:cubicBezTo>
                    <a:cubicBezTo>
                      <a:pt x="70881" y="2207011"/>
                      <a:pt x="68656" y="2200288"/>
                      <a:pt x="64863" y="2194685"/>
                    </a:cubicBezTo>
                    <a:lnTo>
                      <a:pt x="564667" y="1695041"/>
                    </a:lnTo>
                    <a:lnTo>
                      <a:pt x="564667" y="2196622"/>
                    </a:lnTo>
                    <a:cubicBezTo>
                      <a:pt x="549523" y="2200592"/>
                      <a:pt x="538110" y="2214406"/>
                      <a:pt x="538110" y="2230926"/>
                    </a:cubicBezTo>
                    <a:cubicBezTo>
                      <a:pt x="538110" y="2237393"/>
                      <a:pt x="539983" y="2243316"/>
                      <a:pt x="543008" y="2248486"/>
                    </a:cubicBezTo>
                    <a:lnTo>
                      <a:pt x="304560" y="2487159"/>
                    </a:lnTo>
                    <a:lnTo>
                      <a:pt x="304560" y="2829657"/>
                    </a:lnTo>
                    <a:cubicBezTo>
                      <a:pt x="290985" y="2834603"/>
                      <a:pt x="281109" y="2847618"/>
                      <a:pt x="281109" y="2862985"/>
                    </a:cubicBezTo>
                    <a:cubicBezTo>
                      <a:pt x="281109" y="2882594"/>
                      <a:pt x="297100" y="2898570"/>
                      <a:pt x="316421" y="2898570"/>
                    </a:cubicBezTo>
                    <a:cubicBezTo>
                      <a:pt x="336015" y="2898570"/>
                      <a:pt x="351990" y="2882594"/>
                      <a:pt x="351990" y="2862985"/>
                    </a:cubicBezTo>
                    <a:cubicBezTo>
                      <a:pt x="351990" y="2845424"/>
                      <a:pt x="339120" y="2830874"/>
                      <a:pt x="322344" y="2828024"/>
                    </a:cubicBezTo>
                    <a:lnTo>
                      <a:pt x="322344" y="2494379"/>
                    </a:lnTo>
                    <a:lnTo>
                      <a:pt x="555799" y="2261148"/>
                    </a:lnTo>
                    <a:cubicBezTo>
                      <a:pt x="561017" y="2264142"/>
                      <a:pt x="566988" y="2265983"/>
                      <a:pt x="573407" y="2265983"/>
                    </a:cubicBezTo>
                    <a:cubicBezTo>
                      <a:pt x="593256" y="2265983"/>
                      <a:pt x="608976" y="2250519"/>
                      <a:pt x="608976" y="2230926"/>
                    </a:cubicBezTo>
                    <a:cubicBezTo>
                      <a:pt x="608976" y="2214438"/>
                      <a:pt x="597786" y="2200656"/>
                      <a:pt x="582419" y="2196654"/>
                    </a:cubicBezTo>
                    <a:lnTo>
                      <a:pt x="582419" y="1677272"/>
                    </a:lnTo>
                    <a:lnTo>
                      <a:pt x="745360" y="1514380"/>
                    </a:lnTo>
                    <a:lnTo>
                      <a:pt x="1115071" y="1884298"/>
                    </a:lnTo>
                    <a:lnTo>
                      <a:pt x="847536" y="2151913"/>
                    </a:lnTo>
                    <a:lnTo>
                      <a:pt x="847536" y="2514980"/>
                    </a:lnTo>
                    <a:cubicBezTo>
                      <a:pt x="835370" y="2520471"/>
                      <a:pt x="826918" y="2532509"/>
                      <a:pt x="826918" y="2546819"/>
                    </a:cubicBezTo>
                    <a:cubicBezTo>
                      <a:pt x="826918" y="2554535"/>
                      <a:pt x="829432" y="2561642"/>
                      <a:pt x="833578" y="2567485"/>
                    </a:cubicBezTo>
                    <a:lnTo>
                      <a:pt x="531483" y="2870060"/>
                    </a:lnTo>
                    <a:lnTo>
                      <a:pt x="531483" y="3123716"/>
                    </a:lnTo>
                    <a:cubicBezTo>
                      <a:pt x="520854" y="3129879"/>
                      <a:pt x="513715" y="3141260"/>
                      <a:pt x="513715" y="3154387"/>
                    </a:cubicBezTo>
                    <a:cubicBezTo>
                      <a:pt x="513715" y="3173964"/>
                      <a:pt x="529418" y="3189939"/>
                      <a:pt x="549267" y="3189939"/>
                    </a:cubicBezTo>
                    <a:cubicBezTo>
                      <a:pt x="568605" y="3189939"/>
                      <a:pt x="584580" y="3173964"/>
                      <a:pt x="584580" y="3154387"/>
                    </a:cubicBezTo>
                    <a:cubicBezTo>
                      <a:pt x="584580" y="3134809"/>
                      <a:pt x="568605" y="3118802"/>
                      <a:pt x="549267" y="3118802"/>
                    </a:cubicBezTo>
                    <a:lnTo>
                      <a:pt x="549267" y="2877280"/>
                    </a:lnTo>
                    <a:lnTo>
                      <a:pt x="847488" y="2579059"/>
                    </a:lnTo>
                    <a:cubicBezTo>
                      <a:pt x="851986" y="2581140"/>
                      <a:pt x="856933" y="2582388"/>
                      <a:pt x="862215" y="2582388"/>
                    </a:cubicBezTo>
                    <a:cubicBezTo>
                      <a:pt x="881808" y="2582388"/>
                      <a:pt x="897768" y="2566397"/>
                      <a:pt x="897768" y="2546803"/>
                    </a:cubicBezTo>
                    <a:cubicBezTo>
                      <a:pt x="897768" y="2528267"/>
                      <a:pt x="883425" y="2513604"/>
                      <a:pt x="865305" y="2512051"/>
                    </a:cubicBezTo>
                    <a:lnTo>
                      <a:pt x="865305" y="2159116"/>
                    </a:lnTo>
                    <a:lnTo>
                      <a:pt x="1126692" y="1897809"/>
                    </a:lnTo>
                    <a:lnTo>
                      <a:pt x="1126692" y="2636254"/>
                    </a:lnTo>
                    <a:lnTo>
                      <a:pt x="993941" y="2768764"/>
                    </a:lnTo>
                    <a:lnTo>
                      <a:pt x="993941" y="3279101"/>
                    </a:lnTo>
                    <a:cubicBezTo>
                      <a:pt x="978654" y="3283039"/>
                      <a:pt x="967401" y="3296886"/>
                      <a:pt x="967401" y="3313422"/>
                    </a:cubicBezTo>
                    <a:cubicBezTo>
                      <a:pt x="967401" y="3333031"/>
                      <a:pt x="983120" y="3348750"/>
                      <a:pt x="1002714" y="3348750"/>
                    </a:cubicBezTo>
                    <a:cubicBezTo>
                      <a:pt x="1022307" y="3348750"/>
                      <a:pt x="1038282" y="3333031"/>
                      <a:pt x="1038282" y="3313422"/>
                    </a:cubicBezTo>
                    <a:cubicBezTo>
                      <a:pt x="1038282" y="3296870"/>
                      <a:pt x="1026821" y="3283023"/>
                      <a:pt x="1011470" y="3279085"/>
                    </a:cubicBezTo>
                    <a:lnTo>
                      <a:pt x="1011470" y="2776496"/>
                    </a:lnTo>
                    <a:lnTo>
                      <a:pt x="1144477" y="2643489"/>
                    </a:lnTo>
                    <a:lnTo>
                      <a:pt x="1144477" y="1888716"/>
                    </a:lnTo>
                    <a:lnTo>
                      <a:pt x="1140138" y="1884378"/>
                    </a:lnTo>
                    <a:lnTo>
                      <a:pt x="1279917" y="1744632"/>
                    </a:lnTo>
                    <a:lnTo>
                      <a:pt x="1383950" y="1848505"/>
                    </a:lnTo>
                    <a:lnTo>
                      <a:pt x="1383950" y="2143269"/>
                    </a:lnTo>
                    <a:lnTo>
                      <a:pt x="1264869" y="2262349"/>
                    </a:lnTo>
                    <a:lnTo>
                      <a:pt x="1264869" y="2503199"/>
                    </a:lnTo>
                    <a:cubicBezTo>
                      <a:pt x="1248093" y="2506048"/>
                      <a:pt x="1235223" y="2520599"/>
                      <a:pt x="1235223" y="2538159"/>
                    </a:cubicBezTo>
                    <a:cubicBezTo>
                      <a:pt x="1235223" y="2557768"/>
                      <a:pt x="1251199" y="2573232"/>
                      <a:pt x="1270808" y="2573232"/>
                    </a:cubicBezTo>
                    <a:cubicBezTo>
                      <a:pt x="1290385" y="2573232"/>
                      <a:pt x="1306121" y="2557768"/>
                      <a:pt x="1306121" y="2538159"/>
                    </a:cubicBezTo>
                    <a:cubicBezTo>
                      <a:pt x="1306121" y="2522760"/>
                      <a:pt x="1296340" y="2509730"/>
                      <a:pt x="1282654" y="2504800"/>
                    </a:cubicBezTo>
                    <a:lnTo>
                      <a:pt x="1282654" y="2269584"/>
                    </a:lnTo>
                    <a:lnTo>
                      <a:pt x="1383934" y="2168304"/>
                    </a:lnTo>
                    <a:lnTo>
                      <a:pt x="1383934" y="2737934"/>
                    </a:lnTo>
                    <a:cubicBezTo>
                      <a:pt x="1367174" y="2740783"/>
                      <a:pt x="1354288" y="2755366"/>
                      <a:pt x="1354288" y="2772910"/>
                    </a:cubicBezTo>
                    <a:cubicBezTo>
                      <a:pt x="1354288" y="2792503"/>
                      <a:pt x="1370279" y="2807967"/>
                      <a:pt x="1389873" y="2807967"/>
                    </a:cubicBezTo>
                    <a:cubicBezTo>
                      <a:pt x="1409466" y="2807967"/>
                      <a:pt x="1425185" y="2792503"/>
                      <a:pt x="1425185" y="2772910"/>
                    </a:cubicBezTo>
                    <a:cubicBezTo>
                      <a:pt x="1425185" y="2757511"/>
                      <a:pt x="1415404" y="2744465"/>
                      <a:pt x="1401718" y="2739535"/>
                    </a:cubicBezTo>
                    <a:lnTo>
                      <a:pt x="1401718" y="2150520"/>
                    </a:lnTo>
                    <a:lnTo>
                      <a:pt x="1554334" y="1997904"/>
                    </a:lnTo>
                    <a:lnTo>
                      <a:pt x="1554334" y="1470279"/>
                    </a:lnTo>
                    <a:lnTo>
                      <a:pt x="1757438" y="1267239"/>
                    </a:lnTo>
                    <a:lnTo>
                      <a:pt x="1757438" y="1103401"/>
                    </a:lnTo>
                    <a:lnTo>
                      <a:pt x="1908709" y="952130"/>
                    </a:lnTo>
                    <a:cubicBezTo>
                      <a:pt x="1912455" y="953507"/>
                      <a:pt x="1916441" y="954371"/>
                      <a:pt x="1920635" y="954371"/>
                    </a:cubicBezTo>
                    <a:cubicBezTo>
                      <a:pt x="1940484" y="954371"/>
                      <a:pt x="1956188" y="938395"/>
                      <a:pt x="1956188" y="918818"/>
                    </a:cubicBezTo>
                    <a:cubicBezTo>
                      <a:pt x="1956188" y="905692"/>
                      <a:pt x="1949049" y="894311"/>
                      <a:pt x="1938420" y="888148"/>
                    </a:cubicBezTo>
                    <a:lnTo>
                      <a:pt x="1938420" y="572366"/>
                    </a:lnTo>
                    <a:cubicBezTo>
                      <a:pt x="1932705" y="564299"/>
                      <a:pt x="1926702" y="556279"/>
                      <a:pt x="1920715" y="548243"/>
                    </a:cubicBezTo>
                    <a:close/>
                    <a:moveTo>
                      <a:pt x="582451" y="1652269"/>
                    </a:moveTo>
                    <a:lnTo>
                      <a:pt x="582451" y="1159892"/>
                    </a:lnTo>
                    <a:cubicBezTo>
                      <a:pt x="597818" y="1155890"/>
                      <a:pt x="609008" y="1142076"/>
                      <a:pt x="609008" y="1125588"/>
                    </a:cubicBezTo>
                    <a:cubicBezTo>
                      <a:pt x="609008" y="1105995"/>
                      <a:pt x="593288" y="1090531"/>
                      <a:pt x="573439" y="1090531"/>
                    </a:cubicBezTo>
                    <a:cubicBezTo>
                      <a:pt x="567020" y="1090531"/>
                      <a:pt x="561065" y="1092356"/>
                      <a:pt x="555847" y="1095350"/>
                    </a:cubicBezTo>
                    <a:lnTo>
                      <a:pt x="260507" y="800010"/>
                    </a:lnTo>
                    <a:lnTo>
                      <a:pt x="260507" y="490536"/>
                    </a:lnTo>
                    <a:cubicBezTo>
                      <a:pt x="276851" y="487382"/>
                      <a:pt x="289113" y="472927"/>
                      <a:pt x="289113" y="455639"/>
                    </a:cubicBezTo>
                    <a:cubicBezTo>
                      <a:pt x="289113" y="447587"/>
                      <a:pt x="286359" y="440240"/>
                      <a:pt x="281877" y="434269"/>
                    </a:cubicBezTo>
                    <a:lnTo>
                      <a:pt x="357833" y="358313"/>
                    </a:lnTo>
                    <a:lnTo>
                      <a:pt x="357833" y="434093"/>
                    </a:lnTo>
                    <a:lnTo>
                      <a:pt x="673358" y="749362"/>
                    </a:lnTo>
                    <a:lnTo>
                      <a:pt x="673358" y="1404296"/>
                    </a:lnTo>
                    <a:cubicBezTo>
                      <a:pt x="658071" y="1408249"/>
                      <a:pt x="646801" y="1422096"/>
                      <a:pt x="646801" y="1438648"/>
                    </a:cubicBezTo>
                    <a:cubicBezTo>
                      <a:pt x="646801" y="1458225"/>
                      <a:pt x="662521" y="1474233"/>
                      <a:pt x="682114" y="1474233"/>
                    </a:cubicBezTo>
                    <a:cubicBezTo>
                      <a:pt x="688725" y="1474233"/>
                      <a:pt x="694872" y="1472296"/>
                      <a:pt x="700187" y="1469110"/>
                    </a:cubicBezTo>
                    <a:lnTo>
                      <a:pt x="732922" y="1501862"/>
                    </a:lnTo>
                    <a:lnTo>
                      <a:pt x="582451" y="1652269"/>
                    </a:lnTo>
                    <a:close/>
                    <a:moveTo>
                      <a:pt x="712625" y="1456560"/>
                    </a:moveTo>
                    <a:cubicBezTo>
                      <a:pt x="715746" y="1451278"/>
                      <a:pt x="717651" y="1445195"/>
                      <a:pt x="717651" y="1438648"/>
                    </a:cubicBezTo>
                    <a:cubicBezTo>
                      <a:pt x="717651" y="1422192"/>
                      <a:pt x="706318" y="1408409"/>
                      <a:pt x="691094" y="1404376"/>
                    </a:cubicBezTo>
                    <a:lnTo>
                      <a:pt x="691094" y="742143"/>
                    </a:lnTo>
                    <a:lnTo>
                      <a:pt x="375585" y="426361"/>
                    </a:lnTo>
                    <a:lnTo>
                      <a:pt x="375585" y="340529"/>
                    </a:lnTo>
                    <a:lnTo>
                      <a:pt x="585012" y="131102"/>
                    </a:lnTo>
                    <a:lnTo>
                      <a:pt x="585012" y="460378"/>
                    </a:lnTo>
                    <a:cubicBezTo>
                      <a:pt x="565419" y="460378"/>
                      <a:pt x="549700" y="476369"/>
                      <a:pt x="549700" y="495962"/>
                    </a:cubicBezTo>
                    <a:cubicBezTo>
                      <a:pt x="549700" y="515556"/>
                      <a:pt x="565435" y="531803"/>
                      <a:pt x="585012" y="531803"/>
                    </a:cubicBezTo>
                    <a:cubicBezTo>
                      <a:pt x="594313" y="531803"/>
                      <a:pt x="602733" y="528058"/>
                      <a:pt x="609088" y="522119"/>
                    </a:cubicBezTo>
                    <a:lnTo>
                      <a:pt x="806717" y="719956"/>
                    </a:lnTo>
                    <a:lnTo>
                      <a:pt x="806717" y="1387375"/>
                    </a:lnTo>
                    <a:cubicBezTo>
                      <a:pt x="788452" y="1388848"/>
                      <a:pt x="773950" y="1404023"/>
                      <a:pt x="773950" y="1422672"/>
                    </a:cubicBezTo>
                    <a:cubicBezTo>
                      <a:pt x="773950" y="1433189"/>
                      <a:pt x="778656" y="1442426"/>
                      <a:pt x="785955" y="1448797"/>
                    </a:cubicBezTo>
                    <a:lnTo>
                      <a:pt x="745392" y="1489344"/>
                    </a:lnTo>
                    <a:lnTo>
                      <a:pt x="712625" y="1456560"/>
                    </a:lnTo>
                    <a:close/>
                    <a:moveTo>
                      <a:pt x="1127605" y="1871780"/>
                    </a:moveTo>
                    <a:lnTo>
                      <a:pt x="757910" y="1501862"/>
                    </a:lnTo>
                    <a:lnTo>
                      <a:pt x="802731" y="1457056"/>
                    </a:lnTo>
                    <a:cubicBezTo>
                      <a:pt x="804940" y="1457473"/>
                      <a:pt x="807229" y="1457729"/>
                      <a:pt x="809566" y="1457729"/>
                    </a:cubicBezTo>
                    <a:cubicBezTo>
                      <a:pt x="829160" y="1457729"/>
                      <a:pt x="845151" y="1442265"/>
                      <a:pt x="845151" y="1422672"/>
                    </a:cubicBezTo>
                    <a:cubicBezTo>
                      <a:pt x="845151" y="1420191"/>
                      <a:pt x="844879" y="1417758"/>
                      <a:pt x="844399" y="1415421"/>
                    </a:cubicBezTo>
                    <a:lnTo>
                      <a:pt x="845263" y="1414556"/>
                    </a:lnTo>
                    <a:lnTo>
                      <a:pt x="845263" y="793831"/>
                    </a:lnTo>
                    <a:lnTo>
                      <a:pt x="963335" y="675791"/>
                    </a:lnTo>
                    <a:lnTo>
                      <a:pt x="963335" y="198878"/>
                    </a:lnTo>
                    <a:lnTo>
                      <a:pt x="1041196" y="276851"/>
                    </a:lnTo>
                    <a:lnTo>
                      <a:pt x="1041196" y="1468342"/>
                    </a:lnTo>
                    <a:cubicBezTo>
                      <a:pt x="1026181" y="1472344"/>
                      <a:pt x="1015168" y="1485694"/>
                      <a:pt x="1015168" y="1502038"/>
                    </a:cubicBezTo>
                    <a:cubicBezTo>
                      <a:pt x="1015168" y="1521647"/>
                      <a:pt x="1030871" y="1537622"/>
                      <a:pt x="1050464" y="1537622"/>
                    </a:cubicBezTo>
                    <a:cubicBezTo>
                      <a:pt x="1056835" y="1537622"/>
                      <a:pt x="1062726" y="1535798"/>
                      <a:pt x="1067912" y="1532852"/>
                    </a:cubicBezTo>
                    <a:lnTo>
                      <a:pt x="1267383" y="1732002"/>
                    </a:lnTo>
                    <a:lnTo>
                      <a:pt x="1127605" y="1871780"/>
                    </a:lnTo>
                    <a:close/>
                    <a:moveTo>
                      <a:pt x="1536630" y="1990637"/>
                    </a:moveTo>
                    <a:lnTo>
                      <a:pt x="1401798" y="2125468"/>
                    </a:lnTo>
                    <a:lnTo>
                      <a:pt x="1401798" y="1841286"/>
                    </a:lnTo>
                    <a:lnTo>
                      <a:pt x="1292562" y="1732050"/>
                    </a:lnTo>
                    <a:lnTo>
                      <a:pt x="1536630" y="1488047"/>
                    </a:lnTo>
                    <a:lnTo>
                      <a:pt x="1536630" y="1990637"/>
                    </a:lnTo>
                    <a:close/>
                    <a:moveTo>
                      <a:pt x="1739734" y="1259491"/>
                    </a:moveTo>
                    <a:lnTo>
                      <a:pt x="1554414" y="1444859"/>
                    </a:lnTo>
                    <a:lnTo>
                      <a:pt x="1554414" y="1332117"/>
                    </a:lnTo>
                    <a:cubicBezTo>
                      <a:pt x="1568965" y="1327667"/>
                      <a:pt x="1579674" y="1314333"/>
                      <a:pt x="1579674" y="1298774"/>
                    </a:cubicBezTo>
                    <a:cubicBezTo>
                      <a:pt x="1579674" y="1293635"/>
                      <a:pt x="1578522" y="1288785"/>
                      <a:pt x="1576553" y="1284367"/>
                    </a:cubicBezTo>
                    <a:lnTo>
                      <a:pt x="1739734" y="1121186"/>
                    </a:lnTo>
                    <a:lnTo>
                      <a:pt x="1739734" y="1259491"/>
                    </a:lnTo>
                    <a:close/>
                  </a:path>
                </a:pathLst>
              </a:custGeom>
              <a:solidFill>
                <a:schemeClr val="accent3"/>
              </a:solidFill>
              <a:ln>
                <a:noFill/>
              </a:ln>
            </p:spPr>
            <p:txBody>
              <a:bodyPr spcFirstLastPara="1" wrap="square" lIns="77750" tIns="38850" rIns="77750" bIns="38850" anchor="ctr" anchorCtr="0">
                <a:noAutofit/>
              </a:bodyPr>
              <a:lstStyle/>
              <a:p>
                <a:pPr marL="0" marR="0" lvl="0" indent="0" algn="l" rtl="0">
                  <a:lnSpc>
                    <a:spcPct val="100000"/>
                  </a:lnSpc>
                  <a:spcBef>
                    <a:spcPts val="0"/>
                  </a:spcBef>
                  <a:spcAft>
                    <a:spcPts val="0"/>
                  </a:spcAft>
                  <a:buClr>
                    <a:srgbClr val="000000"/>
                  </a:buClr>
                  <a:buSzPts val="1530"/>
                  <a:buFont typeface="Arial" panose="020B0604020202020204"/>
                  <a:buNone/>
                </a:pPr>
                <a:endParaRPr sz="153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 name="Google Shape;178;p3"/>
              <p:cNvSpPr/>
              <p:nvPr/>
            </p:nvSpPr>
            <p:spPr>
              <a:xfrm>
                <a:off x="12739148" y="2570249"/>
                <a:ext cx="414467" cy="1525616"/>
              </a:xfrm>
              <a:custGeom>
                <a:avLst/>
                <a:gdLst/>
                <a:ahLst/>
                <a:cxnLst/>
                <a:rect l="l" t="t" r="r" b="b"/>
                <a:pathLst>
                  <a:path w="414467" h="1525616" extrusionOk="0">
                    <a:moveTo>
                      <a:pt x="35569" y="378259"/>
                    </a:moveTo>
                    <a:cubicBezTo>
                      <a:pt x="42084" y="378259"/>
                      <a:pt x="48087" y="376370"/>
                      <a:pt x="53305" y="373312"/>
                    </a:cubicBezTo>
                    <a:lnTo>
                      <a:pt x="127852" y="447860"/>
                    </a:lnTo>
                    <a:lnTo>
                      <a:pt x="127852" y="932361"/>
                    </a:lnTo>
                    <a:cubicBezTo>
                      <a:pt x="114086" y="937275"/>
                      <a:pt x="104129" y="950321"/>
                      <a:pt x="104129" y="965720"/>
                    </a:cubicBezTo>
                    <a:cubicBezTo>
                      <a:pt x="104129" y="985314"/>
                      <a:pt x="120105" y="1001305"/>
                      <a:pt x="139698" y="1001305"/>
                    </a:cubicBezTo>
                    <a:cubicBezTo>
                      <a:pt x="144468" y="1001305"/>
                      <a:pt x="148982" y="1000329"/>
                      <a:pt x="153112" y="998616"/>
                    </a:cubicBezTo>
                    <a:lnTo>
                      <a:pt x="370143" y="1210108"/>
                    </a:lnTo>
                    <a:lnTo>
                      <a:pt x="370143" y="1456176"/>
                    </a:lnTo>
                    <a:cubicBezTo>
                      <a:pt x="354856" y="1460018"/>
                      <a:pt x="343586" y="1473496"/>
                      <a:pt x="343586" y="1490064"/>
                    </a:cubicBezTo>
                    <a:cubicBezTo>
                      <a:pt x="343586" y="1509641"/>
                      <a:pt x="359322" y="1525617"/>
                      <a:pt x="378899" y="1525617"/>
                    </a:cubicBezTo>
                    <a:cubicBezTo>
                      <a:pt x="398492" y="1525617"/>
                      <a:pt x="414468" y="1509641"/>
                      <a:pt x="414468" y="1490064"/>
                    </a:cubicBezTo>
                    <a:cubicBezTo>
                      <a:pt x="414468" y="1473496"/>
                      <a:pt x="403006" y="1460002"/>
                      <a:pt x="387655" y="1456176"/>
                    </a:cubicBezTo>
                    <a:lnTo>
                      <a:pt x="387655" y="1202904"/>
                    </a:lnTo>
                    <a:lnTo>
                      <a:pt x="167215" y="987811"/>
                    </a:lnTo>
                    <a:cubicBezTo>
                      <a:pt x="172033" y="981712"/>
                      <a:pt x="175027" y="974108"/>
                      <a:pt x="175027" y="965736"/>
                    </a:cubicBezTo>
                    <a:cubicBezTo>
                      <a:pt x="175027" y="948176"/>
                      <a:pt x="162365" y="933625"/>
                      <a:pt x="145637" y="930776"/>
                    </a:cubicBezTo>
                    <a:lnTo>
                      <a:pt x="145637" y="440656"/>
                    </a:lnTo>
                    <a:lnTo>
                      <a:pt x="65855" y="360874"/>
                    </a:lnTo>
                    <a:cubicBezTo>
                      <a:pt x="68977" y="355640"/>
                      <a:pt x="70881" y="349637"/>
                      <a:pt x="70881" y="343202"/>
                    </a:cubicBezTo>
                    <a:cubicBezTo>
                      <a:pt x="70881" y="326954"/>
                      <a:pt x="59980" y="313332"/>
                      <a:pt x="45109" y="309122"/>
                    </a:cubicBezTo>
                    <a:lnTo>
                      <a:pt x="45109" y="0"/>
                    </a:lnTo>
                    <a:cubicBezTo>
                      <a:pt x="39042" y="7572"/>
                      <a:pt x="33184" y="15207"/>
                      <a:pt x="27325" y="22843"/>
                    </a:cubicBezTo>
                    <a:lnTo>
                      <a:pt x="27325" y="308706"/>
                    </a:lnTo>
                    <a:cubicBezTo>
                      <a:pt x="11702" y="312452"/>
                      <a:pt x="0" y="326458"/>
                      <a:pt x="0" y="343186"/>
                    </a:cubicBezTo>
                    <a:cubicBezTo>
                      <a:pt x="0" y="362283"/>
                      <a:pt x="15976" y="378259"/>
                      <a:pt x="35569" y="378259"/>
                    </a:cubicBezTo>
                    <a:close/>
                  </a:path>
                </a:pathLst>
              </a:custGeom>
              <a:solidFill>
                <a:schemeClr val="accent3"/>
              </a:solidFill>
              <a:ln>
                <a:noFill/>
              </a:ln>
            </p:spPr>
            <p:txBody>
              <a:bodyPr spcFirstLastPara="1" wrap="square" lIns="77750" tIns="38850" rIns="77750" bIns="38850" anchor="ctr" anchorCtr="0">
                <a:noAutofit/>
              </a:bodyPr>
              <a:lstStyle/>
              <a:p>
                <a:pPr marL="0" marR="0" lvl="0" indent="0" algn="l" rtl="0">
                  <a:lnSpc>
                    <a:spcPct val="100000"/>
                  </a:lnSpc>
                  <a:spcBef>
                    <a:spcPts val="0"/>
                  </a:spcBef>
                  <a:spcAft>
                    <a:spcPts val="0"/>
                  </a:spcAft>
                  <a:buClr>
                    <a:srgbClr val="000000"/>
                  </a:buClr>
                  <a:buSzPts val="1530"/>
                  <a:buFont typeface="Arial" panose="020B0604020202020204"/>
                  <a:buNone/>
                </a:pPr>
                <a:endParaRPr sz="153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179" name="Google Shape;179;p3"/>
            <p:cNvPicPr preferRelativeResize="0"/>
            <p:nvPr/>
          </p:nvPicPr>
          <p:blipFill rotWithShape="1">
            <a:blip r:embed="rId1"/>
            <a:srcRect/>
            <a:stretch>
              <a:fillRect/>
            </a:stretch>
          </p:blipFill>
          <p:spPr>
            <a:xfrm flipH="1">
              <a:off x="8545731" y="2560353"/>
              <a:ext cx="2287123" cy="1917349"/>
            </a:xfrm>
            <a:prstGeom prst="rect">
              <a:avLst/>
            </a:prstGeom>
            <a:noFill/>
            <a:ln>
              <a:noFill/>
            </a:ln>
          </p:spPr>
        </p:pic>
      </p:grpSp>
      <p:sp>
        <p:nvSpPr>
          <p:cNvPr id="180" name="Google Shape;180;p3"/>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YOU ARE GOING TO LEARN…</a:t>
            </a:r>
            <a:endParaRPr lang="en-US"/>
          </a:p>
        </p:txBody>
      </p:sp>
      <p:sp>
        <p:nvSpPr>
          <p:cNvPr id="181" name="Google Shape;181;p3"/>
          <p:cNvSpPr txBox="1"/>
          <p:nvPr/>
        </p:nvSpPr>
        <p:spPr>
          <a:xfrm>
            <a:off x="393700" y="1770475"/>
            <a:ext cx="6818100" cy="4435500"/>
          </a:xfrm>
          <a:prstGeom prst="rect">
            <a:avLst/>
          </a:prstGeom>
          <a:noFill/>
          <a:ln>
            <a:noFill/>
          </a:ln>
        </p:spPr>
        <p:txBody>
          <a:bodyPr spcFirstLastPara="1" wrap="square" lIns="91425" tIns="45700" rIns="91425" bIns="45700" anchor="t" anchorCtr="0">
            <a:noAutofit/>
          </a:bodyPr>
          <a:lstStyle/>
          <a:p>
            <a:pPr marL="285750" marR="0" lvl="0" indent="-285750" algn="l" rtl="0">
              <a:lnSpc>
                <a:spcPct val="200000"/>
              </a:lnSpc>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Introduction to Cash Equity Products &amp; types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Common Shares/Equity Shares, its features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Preference Shares - Features &amp; Types,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Depository Receipts - ADRs/GDRs - Features &amp; Types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Share Capital</a:t>
            </a:r>
            <a:r>
              <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 - Authorised - Issued - Subscribed - Paidup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200000"/>
              </a:lnSpc>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Equity Index</a:t>
            </a:r>
            <a:r>
              <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 &amp; its application</a:t>
            </a:r>
            <a:endPar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85" name="Shape 185"/>
        <p:cNvGrpSpPr/>
        <p:nvPr/>
      </p:nvGrpSpPr>
      <p:grpSpPr>
        <a:xfrm>
          <a:off x="0" y="0"/>
          <a:ext cx="0" cy="0"/>
          <a:chOff x="0" y="0"/>
          <a:chExt cx="0" cy="0"/>
        </a:xfrm>
      </p:grpSpPr>
      <p:sp>
        <p:nvSpPr>
          <p:cNvPr id="186" name="Google Shape;186;p4"/>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EQUITY </a:t>
            </a:r>
            <a:endParaRPr lang="en-US"/>
          </a:p>
        </p:txBody>
      </p:sp>
      <p:sp>
        <p:nvSpPr>
          <p:cNvPr id="187" name="Google Shape;187;p4"/>
          <p:cNvSpPr/>
          <p:nvPr/>
        </p:nvSpPr>
        <p:spPr>
          <a:xfrm>
            <a:off x="0" y="1212112"/>
            <a:ext cx="12192000" cy="71642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There are several different types of equities that investors can trade and invest in. Here are some of the most common types: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88" name="Google Shape;188;p4"/>
          <p:cNvGrpSpPr/>
          <p:nvPr/>
        </p:nvGrpSpPr>
        <p:grpSpPr>
          <a:xfrm>
            <a:off x="366485" y="1997815"/>
            <a:ext cx="3657600" cy="4435607"/>
            <a:chOff x="366485" y="1997815"/>
            <a:chExt cx="3657600" cy="4435607"/>
          </a:xfrm>
        </p:grpSpPr>
        <p:sp>
          <p:nvSpPr>
            <p:cNvPr id="189" name="Google Shape;189;p4"/>
            <p:cNvSpPr/>
            <p:nvPr/>
          </p:nvSpPr>
          <p:spPr>
            <a:xfrm>
              <a:off x="366485" y="2501502"/>
              <a:ext cx="3657600" cy="3931920"/>
            </a:xfrm>
            <a:prstGeom prst="roundRect">
              <a:avLst>
                <a:gd name="adj" fmla="val 8611"/>
              </a:avLst>
            </a:prstGeom>
            <a:solidFill>
              <a:srgbClr val="DA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90" name="Google Shape;190;p4"/>
            <p:cNvSpPr/>
            <p:nvPr/>
          </p:nvSpPr>
          <p:spPr>
            <a:xfrm>
              <a:off x="544486" y="1997815"/>
              <a:ext cx="3291840" cy="369332"/>
            </a:xfrm>
            <a:prstGeom prst="rect">
              <a:avLst/>
            </a:prstGeom>
            <a:solidFill>
              <a:schemeClr val="accent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Common Stock</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91" name="Google Shape;191;p4"/>
          <p:cNvSpPr/>
          <p:nvPr/>
        </p:nvSpPr>
        <p:spPr>
          <a:xfrm>
            <a:off x="778951" y="2601100"/>
            <a:ext cx="2987400" cy="4031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Common stock is the most well-known type of equity. When you own common stock in a company, you become a shareholder and have the right to vote on certain company matters, such as electing the board of directors. Common shareholders also have the potential to receive dividends and benefit from capital appreciation, but they are last in line to receive assets distribution if the company goes bankrupt.</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92" name="Google Shape;192;p4"/>
          <p:cNvGrpSpPr/>
          <p:nvPr/>
        </p:nvGrpSpPr>
        <p:grpSpPr>
          <a:xfrm>
            <a:off x="4267200" y="2030352"/>
            <a:ext cx="3657600" cy="4368814"/>
            <a:chOff x="4267200" y="2030352"/>
            <a:chExt cx="3657600" cy="4368814"/>
          </a:xfrm>
        </p:grpSpPr>
        <p:sp>
          <p:nvSpPr>
            <p:cNvPr id="193" name="Google Shape;193;p4"/>
            <p:cNvSpPr/>
            <p:nvPr/>
          </p:nvSpPr>
          <p:spPr>
            <a:xfrm>
              <a:off x="4267200" y="2467246"/>
              <a:ext cx="3657600" cy="3931920"/>
            </a:xfrm>
            <a:prstGeom prst="roundRect">
              <a:avLst>
                <a:gd name="adj" fmla="val 8611"/>
              </a:avLst>
            </a:prstGeom>
            <a:solidFill>
              <a:srgbClr val="DDEA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94" name="Google Shape;194;p4"/>
            <p:cNvSpPr/>
            <p:nvPr/>
          </p:nvSpPr>
          <p:spPr>
            <a:xfrm>
              <a:off x="4267200" y="2845121"/>
              <a:ext cx="3574822" cy="28007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stock is a type of equity that generally offers a fixed dividend, which is paid before any dividends are distributed to common shareholders. Preferred shareholders have a higher claim on the company's assets and earnings compared to common shareholders. However, preferred shareholders usually do not have voting rights or their voting rights are limited.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 name="Google Shape;195;p4"/>
            <p:cNvSpPr/>
            <p:nvPr/>
          </p:nvSpPr>
          <p:spPr>
            <a:xfrm>
              <a:off x="4450080" y="2030352"/>
              <a:ext cx="3291840" cy="369332"/>
            </a:xfrm>
            <a:prstGeom prst="rect">
              <a:avLst/>
            </a:prstGeom>
            <a:solidFill>
              <a:schemeClr val="accent5"/>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Preferred Stock</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96" name="Google Shape;196;p4"/>
          <p:cNvGrpSpPr/>
          <p:nvPr/>
        </p:nvGrpSpPr>
        <p:grpSpPr>
          <a:xfrm>
            <a:off x="8167915" y="2030352"/>
            <a:ext cx="3657600" cy="4368814"/>
            <a:chOff x="8167915" y="2030352"/>
            <a:chExt cx="3657600" cy="4368814"/>
          </a:xfrm>
        </p:grpSpPr>
        <p:sp>
          <p:nvSpPr>
            <p:cNvPr id="197" name="Google Shape;197;p4"/>
            <p:cNvSpPr/>
            <p:nvPr/>
          </p:nvSpPr>
          <p:spPr>
            <a:xfrm>
              <a:off x="8355674" y="2030352"/>
              <a:ext cx="3291840" cy="369332"/>
            </a:xfrm>
            <a:prstGeom prst="rect">
              <a:avLst/>
            </a:prstGeom>
            <a:solidFill>
              <a:schemeClr val="accent4"/>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Depository Receipts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8" name="Google Shape;198;p4"/>
            <p:cNvSpPr/>
            <p:nvPr/>
          </p:nvSpPr>
          <p:spPr>
            <a:xfrm>
              <a:off x="8167915" y="2467246"/>
              <a:ext cx="3657600" cy="3931920"/>
            </a:xfrm>
            <a:prstGeom prst="roundRect">
              <a:avLst>
                <a:gd name="adj" fmla="val 8611"/>
              </a:avLst>
            </a:prstGeom>
            <a:solidFill>
              <a:srgbClr val="D2F4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These are certificates representing ownership of foreign company stocks. They allow investors to trade foreign equities on their local exchanges without needing to directly hold shares in foreign markets.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pic>
        <p:nvPicPr>
          <p:cNvPr id="203" name="Google Shape;203;p5"/>
          <p:cNvPicPr preferRelativeResize="0"/>
          <p:nvPr>
            <p:ph type="pic" idx="2"/>
          </p:nvPr>
        </p:nvPicPr>
        <p:blipFill rotWithShape="1">
          <a:blip r:embed="rId1"/>
          <a:srcRect/>
          <a:stretch>
            <a:fillRect/>
          </a:stretch>
        </p:blipFill>
        <p:spPr>
          <a:xfrm>
            <a:off x="3978704" y="-21266"/>
            <a:ext cx="8211708" cy="6889900"/>
          </a:xfrm>
          <a:prstGeom prst="rect">
            <a:avLst/>
          </a:prstGeom>
          <a:solidFill>
            <a:srgbClr val="F2F2F2"/>
          </a:solidFill>
          <a:ln>
            <a:noFill/>
          </a:ln>
        </p:spPr>
      </p:pic>
      <p:sp>
        <p:nvSpPr>
          <p:cNvPr id="204" name="Google Shape;204;p5"/>
          <p:cNvSpPr/>
          <p:nvPr/>
        </p:nvSpPr>
        <p:spPr>
          <a:xfrm>
            <a:off x="0" y="0"/>
            <a:ext cx="6124354" cy="6879266"/>
          </a:xfrm>
          <a:custGeom>
            <a:avLst/>
            <a:gdLst/>
            <a:ahLst/>
            <a:cxnLst/>
            <a:rect l="l" t="t" r="r" b="b"/>
            <a:pathLst>
              <a:path w="6124354" h="6879266" extrusionOk="0">
                <a:moveTo>
                  <a:pt x="0" y="0"/>
                </a:moveTo>
                <a:lnTo>
                  <a:pt x="4061637" y="0"/>
                </a:lnTo>
                <a:lnTo>
                  <a:pt x="6124354" y="6879266"/>
                </a:lnTo>
                <a:lnTo>
                  <a:pt x="0" y="685800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5" name="Google Shape;205;p5"/>
          <p:cNvSpPr/>
          <p:nvPr/>
        </p:nvSpPr>
        <p:spPr>
          <a:xfrm flipH="1">
            <a:off x="4025448" y="-21268"/>
            <a:ext cx="8166551" cy="6900533"/>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06" name="Google Shape;206;p5"/>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07" name="Google Shape;207;p5"/>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08" name="Google Shape;208;p5"/>
          <p:cNvSpPr txBox="1"/>
          <p:nvPr/>
        </p:nvSpPr>
        <p:spPr>
          <a:xfrm>
            <a:off x="68598" y="3044279"/>
            <a:ext cx="7820212"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rPr>
              <a:t>Common Stock</a:t>
            </a:r>
            <a:endParaRPr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09" name="Google Shape;209;p5"/>
          <p:cNvPicPr preferRelativeResize="0"/>
          <p:nvPr/>
        </p:nvPicPr>
        <p:blipFill rotWithShape="1">
          <a:blip r:embed="rId2"/>
          <a:srcRect/>
          <a:stretch>
            <a:fillRect/>
          </a:stretch>
        </p:blipFill>
        <p:spPr>
          <a:xfrm>
            <a:off x="617538" y="-2207760"/>
            <a:ext cx="3614738" cy="2033588"/>
          </a:xfrm>
          <a:prstGeom prst="rect">
            <a:avLst/>
          </a:prstGeom>
          <a:noFill/>
          <a:ln>
            <a:noFill/>
          </a:ln>
        </p:spPr>
      </p:pic>
      <p:pic>
        <p:nvPicPr>
          <p:cNvPr id="210" name="Google Shape;210;p5" descr="A picture containing text, clipart&#10;&#10;Description automatically generated"/>
          <p:cNvPicPr preferRelativeResize="0"/>
          <p:nvPr/>
        </p:nvPicPr>
        <p:blipFill rotWithShape="1">
          <a:blip r:embed="rId3"/>
          <a:srcRect/>
          <a:stretch>
            <a:fillRect/>
          </a:stretch>
        </p:blipFill>
        <p:spPr>
          <a:xfrm>
            <a:off x="9533468" y="312483"/>
            <a:ext cx="2421466" cy="4919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14" name="Shape 214"/>
        <p:cNvGrpSpPr/>
        <p:nvPr/>
      </p:nvGrpSpPr>
      <p:grpSpPr>
        <a:xfrm>
          <a:off x="0" y="0"/>
          <a:ext cx="0" cy="0"/>
          <a:chOff x="0" y="0"/>
          <a:chExt cx="0" cy="0"/>
        </a:xfrm>
      </p:grpSpPr>
      <p:sp>
        <p:nvSpPr>
          <p:cNvPr id="215" name="Google Shape;215;p6"/>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EQUITY </a:t>
            </a:r>
            <a:endParaRPr lang="en-US"/>
          </a:p>
        </p:txBody>
      </p:sp>
      <p:grpSp>
        <p:nvGrpSpPr>
          <p:cNvPr id="216" name="Google Shape;216;p6"/>
          <p:cNvGrpSpPr/>
          <p:nvPr/>
        </p:nvGrpSpPr>
        <p:grpSpPr>
          <a:xfrm>
            <a:off x="890737" y="2169113"/>
            <a:ext cx="4943079" cy="4458892"/>
            <a:chOff x="890737" y="2169114"/>
            <a:chExt cx="4943079" cy="4458892"/>
          </a:xfrm>
        </p:grpSpPr>
        <p:sp>
          <p:nvSpPr>
            <p:cNvPr id="217" name="Google Shape;217;p6"/>
            <p:cNvSpPr/>
            <p:nvPr/>
          </p:nvSpPr>
          <p:spPr>
            <a:xfrm rot="-5400000">
              <a:off x="3025641" y="53435"/>
              <a:ext cx="692496" cy="4923853"/>
            </a:xfrm>
            <a:prstGeom prst="homePlate">
              <a:avLst>
                <a:gd name="adj" fmla="val 37858"/>
              </a:avLst>
            </a:prstGeom>
            <a:solidFill>
              <a:srgbClr val="309C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18" name="Google Shape;218;p6"/>
            <p:cNvSpPr/>
            <p:nvPr/>
          </p:nvSpPr>
          <p:spPr>
            <a:xfrm>
              <a:off x="909962" y="2861611"/>
              <a:ext cx="4923853" cy="3358435"/>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19" name="Google Shape;219;p6"/>
            <p:cNvSpPr txBox="1"/>
            <p:nvPr/>
          </p:nvSpPr>
          <p:spPr>
            <a:xfrm>
              <a:off x="1394231" y="2437755"/>
              <a:ext cx="3955312"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Ownership and Voting Rights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0" name="Google Shape;220;p6"/>
            <p:cNvSpPr txBox="1"/>
            <p:nvPr/>
          </p:nvSpPr>
          <p:spPr>
            <a:xfrm>
              <a:off x="890737" y="2999267"/>
              <a:ext cx="4923900" cy="2801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Represents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fractional ownership</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in a company</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Shareholders become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part-owners</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of the company</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Common rights include: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Voting on important matters at shareholder meetings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Electing or removing the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Board of Directors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Approving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major corporate decisions</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Voting on changes to the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company’s bylaws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21" name="Google Shape;221;p6"/>
            <p:cNvSpPr/>
            <p:nvPr/>
          </p:nvSpPr>
          <p:spPr>
            <a:xfrm>
              <a:off x="2763014" y="5812087"/>
              <a:ext cx="813711" cy="815918"/>
            </a:xfrm>
            <a:prstGeom prst="ellipse">
              <a:avLst/>
            </a:prstGeom>
            <a:solidFill>
              <a:srgbClr val="309C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22" name="Google Shape;222;p6"/>
          <p:cNvGrpSpPr/>
          <p:nvPr/>
        </p:nvGrpSpPr>
        <p:grpSpPr>
          <a:xfrm>
            <a:off x="6280664" y="2169111"/>
            <a:ext cx="4923853" cy="4563398"/>
            <a:chOff x="6280664" y="2169111"/>
            <a:chExt cx="4923853" cy="4563398"/>
          </a:xfrm>
        </p:grpSpPr>
        <p:sp>
          <p:nvSpPr>
            <p:cNvPr id="223" name="Google Shape;223;p6"/>
            <p:cNvSpPr/>
            <p:nvPr/>
          </p:nvSpPr>
          <p:spPr>
            <a:xfrm rot="-5400000">
              <a:off x="8396341" y="53434"/>
              <a:ext cx="692499" cy="4923853"/>
            </a:xfrm>
            <a:prstGeom prst="homePlate">
              <a:avLst>
                <a:gd name="adj" fmla="val 37858"/>
              </a:avLst>
            </a:prstGeom>
            <a:solidFill>
              <a:srgbClr val="1463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24" name="Google Shape;224;p6"/>
            <p:cNvSpPr/>
            <p:nvPr/>
          </p:nvSpPr>
          <p:spPr>
            <a:xfrm>
              <a:off x="6280664" y="2861612"/>
              <a:ext cx="4923853" cy="3358434"/>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25" name="Google Shape;225;p6"/>
            <p:cNvSpPr txBox="1"/>
            <p:nvPr/>
          </p:nvSpPr>
          <p:spPr>
            <a:xfrm>
              <a:off x="7973989" y="2382191"/>
              <a:ext cx="1582929"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Dividends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6" name="Google Shape;226;p6"/>
            <p:cNvSpPr txBox="1"/>
            <p:nvPr/>
          </p:nvSpPr>
          <p:spPr>
            <a:xfrm>
              <a:off x="6326392" y="2990788"/>
              <a:ext cx="4878000" cy="29244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Dividends for Common Shareholders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Dividends =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share of company profits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distributed to shareholders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Serve as a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return on investment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Companies are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not obligated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to pay dividends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Amount &amp; frequency depend on: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5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Company’s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financial performance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5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Decisions of the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Board of Directors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27" name="Google Shape;227;p6"/>
            <p:cNvSpPr/>
            <p:nvPr/>
          </p:nvSpPr>
          <p:spPr>
            <a:xfrm>
              <a:off x="8386777" y="5916591"/>
              <a:ext cx="813711" cy="815918"/>
            </a:xfrm>
            <a:prstGeom prst="ellipse">
              <a:avLst/>
            </a:prstGeom>
            <a:solidFill>
              <a:srgbClr val="1463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28" name="Google Shape;228;p6"/>
          <p:cNvSpPr txBox="1"/>
          <p:nvPr/>
        </p:nvSpPr>
        <p:spPr>
          <a:xfrm>
            <a:off x="0" y="1327025"/>
            <a:ext cx="12192000" cy="636354"/>
          </a:xfrm>
          <a:prstGeom prst="rect">
            <a:avLst/>
          </a:prstGeom>
          <a:solidFill>
            <a:srgbClr val="D8D8D8"/>
          </a:solidFill>
          <a:ln>
            <a:noFill/>
          </a:ln>
        </p:spPr>
        <p:txBody>
          <a:bodyPr spcFirstLastPara="1" wrap="square" lIns="81550" tIns="40775" rIns="81550" bIns="40775" anchor="t" anchorCtr="0">
            <a:sp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Common stock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is one of the most common and well-known types of equity that individuals can invest in. Features of common stock include the following: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32" name="Shape 232"/>
        <p:cNvGrpSpPr/>
        <p:nvPr/>
      </p:nvGrpSpPr>
      <p:grpSpPr>
        <a:xfrm>
          <a:off x="0" y="0"/>
          <a:ext cx="0" cy="0"/>
          <a:chOff x="0" y="0"/>
          <a:chExt cx="0" cy="0"/>
        </a:xfrm>
      </p:grpSpPr>
      <p:sp>
        <p:nvSpPr>
          <p:cNvPr id="233" name="Google Shape;233;p7"/>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EQUITY </a:t>
            </a:r>
            <a:endParaRPr lang="en-US"/>
          </a:p>
        </p:txBody>
      </p:sp>
      <p:grpSp>
        <p:nvGrpSpPr>
          <p:cNvPr id="234" name="Google Shape;234;p7"/>
          <p:cNvGrpSpPr/>
          <p:nvPr/>
        </p:nvGrpSpPr>
        <p:grpSpPr>
          <a:xfrm>
            <a:off x="244256" y="1397303"/>
            <a:ext cx="3651950" cy="5346139"/>
            <a:chOff x="244256" y="1397303"/>
            <a:chExt cx="3651950" cy="5346139"/>
          </a:xfrm>
        </p:grpSpPr>
        <p:sp>
          <p:nvSpPr>
            <p:cNvPr id="235" name="Google Shape;235;p7"/>
            <p:cNvSpPr/>
            <p:nvPr/>
          </p:nvSpPr>
          <p:spPr>
            <a:xfrm rot="-5400000">
              <a:off x="1549105" y="92455"/>
              <a:ext cx="1041959" cy="3651656"/>
            </a:xfrm>
            <a:prstGeom prst="homePlate">
              <a:avLst>
                <a:gd name="adj" fmla="val 37858"/>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36" name="Google Shape;236;p7"/>
            <p:cNvSpPr/>
            <p:nvPr/>
          </p:nvSpPr>
          <p:spPr>
            <a:xfrm>
              <a:off x="244550" y="2431565"/>
              <a:ext cx="3651656" cy="3542876"/>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37" name="Google Shape;237;p7"/>
            <p:cNvSpPr txBox="1"/>
            <p:nvPr/>
          </p:nvSpPr>
          <p:spPr>
            <a:xfrm>
              <a:off x="693940" y="1924227"/>
              <a:ext cx="2752287"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Capital Appreciation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8" name="Google Shape;238;p7"/>
            <p:cNvSpPr txBox="1"/>
            <p:nvPr/>
          </p:nvSpPr>
          <p:spPr>
            <a:xfrm>
              <a:off x="244256" y="2501327"/>
              <a:ext cx="3651900" cy="2555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Capital Appreciation – Key Benefit of Common Stock</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Main attraction: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potential for price growth</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If the company performs well →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stock value increases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Investors can: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Buy shares at a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lower price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Sell later at a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higher price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Earn a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capital gain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39" name="Google Shape;239;p7"/>
            <p:cNvSpPr/>
            <p:nvPr/>
          </p:nvSpPr>
          <p:spPr>
            <a:xfrm>
              <a:off x="1525783" y="5927524"/>
              <a:ext cx="813711" cy="815918"/>
            </a:xfrm>
            <a:prstGeom prst="ellipse">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40" name="Google Shape;240;p7"/>
          <p:cNvGrpSpPr/>
          <p:nvPr/>
        </p:nvGrpSpPr>
        <p:grpSpPr>
          <a:xfrm>
            <a:off x="4243928" y="1389605"/>
            <a:ext cx="3686400" cy="5079742"/>
            <a:chOff x="4243928" y="1389605"/>
            <a:chExt cx="3686400" cy="5079742"/>
          </a:xfrm>
        </p:grpSpPr>
        <p:sp>
          <p:nvSpPr>
            <p:cNvPr id="241" name="Google Shape;241;p7"/>
            <p:cNvSpPr/>
            <p:nvPr/>
          </p:nvSpPr>
          <p:spPr>
            <a:xfrm rot="-5400000">
              <a:off x="5583396" y="84757"/>
              <a:ext cx="1041959" cy="3651656"/>
            </a:xfrm>
            <a:prstGeom prst="homePlate">
              <a:avLst>
                <a:gd name="adj" fmla="val 37858"/>
              </a:avLst>
            </a:prstGeom>
            <a:solidFill>
              <a:srgbClr val="7570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42" name="Google Shape;242;p7"/>
            <p:cNvSpPr/>
            <p:nvPr/>
          </p:nvSpPr>
          <p:spPr>
            <a:xfrm>
              <a:off x="4278548" y="2431565"/>
              <a:ext cx="3651656" cy="3542876"/>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43" name="Google Shape;243;p7"/>
            <p:cNvSpPr txBox="1"/>
            <p:nvPr/>
          </p:nvSpPr>
          <p:spPr>
            <a:xfrm>
              <a:off x="4863367" y="1936007"/>
              <a:ext cx="2482015"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Risk and Volatility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4" name="Google Shape;244;p7"/>
            <p:cNvSpPr txBox="1"/>
            <p:nvPr/>
          </p:nvSpPr>
          <p:spPr>
            <a:xfrm>
              <a:off x="4243928" y="2548445"/>
              <a:ext cx="3686400" cy="32940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Investments involve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risk &amp; volatility</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Stock prices influenced by:</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Company’s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financial performance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Industry trends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Market sentiment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Economic conditions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Geopolitical events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0100" marR="0" lvl="1" indent="-34290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Prices may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fluctuate sharply</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 potential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gains or losses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ctr" rtl="0">
                <a:lnSpc>
                  <a:spcPct val="100000"/>
                </a:lnSpc>
                <a:spcBef>
                  <a:spcPts val="0"/>
                </a:spcBef>
                <a:spcAft>
                  <a:spcPts val="0"/>
                </a:spcAft>
                <a:buClr>
                  <a:schemeClr val="dk1"/>
                </a:buClr>
                <a:buSzPts val="1600"/>
                <a:buFont typeface="Arial" panose="020B0604020202020204"/>
                <a:buAutoNum type="arabicPeriod"/>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45" name="Google Shape;245;p7"/>
            <p:cNvSpPr/>
            <p:nvPr/>
          </p:nvSpPr>
          <p:spPr>
            <a:xfrm>
              <a:off x="5689144" y="5653429"/>
              <a:ext cx="813711" cy="815918"/>
            </a:xfrm>
            <a:prstGeom prst="ellipse">
              <a:avLst/>
            </a:prstGeom>
            <a:solidFill>
              <a:srgbClr val="7570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46" name="Google Shape;246;p7"/>
          <p:cNvGrpSpPr/>
          <p:nvPr/>
        </p:nvGrpSpPr>
        <p:grpSpPr>
          <a:xfrm>
            <a:off x="8192719" y="1358763"/>
            <a:ext cx="3651658" cy="5023635"/>
            <a:chOff x="8192719" y="1358763"/>
            <a:chExt cx="3651658" cy="5023635"/>
          </a:xfrm>
        </p:grpSpPr>
        <p:sp>
          <p:nvSpPr>
            <p:cNvPr id="247" name="Google Shape;247;p7"/>
            <p:cNvSpPr/>
            <p:nvPr/>
          </p:nvSpPr>
          <p:spPr>
            <a:xfrm rot="-5400000">
              <a:off x="9497568" y="53914"/>
              <a:ext cx="1041959" cy="3651657"/>
            </a:xfrm>
            <a:prstGeom prst="homePlate">
              <a:avLst>
                <a:gd name="adj" fmla="val 37858"/>
              </a:avLst>
            </a:prstGeom>
            <a:solidFill>
              <a:srgbClr val="20685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48" name="Google Shape;248;p7"/>
            <p:cNvSpPr/>
            <p:nvPr/>
          </p:nvSpPr>
          <p:spPr>
            <a:xfrm>
              <a:off x="8192721" y="2400723"/>
              <a:ext cx="3651656" cy="3542876"/>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49" name="Google Shape;249;p7"/>
            <p:cNvSpPr txBox="1"/>
            <p:nvPr/>
          </p:nvSpPr>
          <p:spPr>
            <a:xfrm>
              <a:off x="8290200" y="1754392"/>
              <a:ext cx="340226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Liquidation and Residual Claims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7"/>
            <p:cNvSpPr txBox="1"/>
            <p:nvPr/>
          </p:nvSpPr>
          <p:spPr>
            <a:xfrm>
              <a:off x="8192721" y="2509786"/>
              <a:ext cx="3601200" cy="25551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Common Shareholders in Bankruptcy</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bankruptcy/liquidation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payouts follow a priority order</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Paid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after</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Creditors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Bondholders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shareholders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Common shareholders =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residual claimants</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(last in line)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51" name="Google Shape;251;p7"/>
            <p:cNvSpPr/>
            <p:nvPr/>
          </p:nvSpPr>
          <p:spPr>
            <a:xfrm>
              <a:off x="9699136" y="5566480"/>
              <a:ext cx="813711" cy="815918"/>
            </a:xfrm>
            <a:prstGeom prst="ellipse">
              <a:avLst/>
            </a:prstGeom>
            <a:solidFill>
              <a:srgbClr val="20685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5</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55" name="Shape 255"/>
        <p:cNvGrpSpPr/>
        <p:nvPr/>
      </p:nvGrpSpPr>
      <p:grpSpPr>
        <a:xfrm>
          <a:off x="0" y="0"/>
          <a:ext cx="0" cy="0"/>
          <a:chOff x="0" y="0"/>
          <a:chExt cx="0" cy="0"/>
        </a:xfrm>
      </p:grpSpPr>
      <p:sp>
        <p:nvSpPr>
          <p:cNvPr id="256" name="Google Shape;256;p8"/>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EQUITY </a:t>
            </a:r>
            <a:endParaRPr lang="en-US"/>
          </a:p>
        </p:txBody>
      </p:sp>
      <p:grpSp>
        <p:nvGrpSpPr>
          <p:cNvPr id="257" name="Google Shape;257;p8"/>
          <p:cNvGrpSpPr/>
          <p:nvPr/>
        </p:nvGrpSpPr>
        <p:grpSpPr>
          <a:xfrm>
            <a:off x="244256" y="1397303"/>
            <a:ext cx="3651950" cy="4954255"/>
            <a:chOff x="244256" y="1397303"/>
            <a:chExt cx="3651950" cy="4954255"/>
          </a:xfrm>
        </p:grpSpPr>
        <p:sp>
          <p:nvSpPr>
            <p:cNvPr id="258" name="Google Shape;258;p8"/>
            <p:cNvSpPr/>
            <p:nvPr/>
          </p:nvSpPr>
          <p:spPr>
            <a:xfrm rot="-5400000">
              <a:off x="1549105" y="92455"/>
              <a:ext cx="1041959" cy="3651656"/>
            </a:xfrm>
            <a:prstGeom prst="homePlate">
              <a:avLst>
                <a:gd name="adj" fmla="val 37858"/>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59" name="Google Shape;259;p8"/>
            <p:cNvSpPr/>
            <p:nvPr/>
          </p:nvSpPr>
          <p:spPr>
            <a:xfrm>
              <a:off x="244550" y="2431565"/>
              <a:ext cx="3651656" cy="3542876"/>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60" name="Google Shape;260;p8"/>
            <p:cNvSpPr txBox="1"/>
            <p:nvPr/>
          </p:nvSpPr>
          <p:spPr>
            <a:xfrm>
              <a:off x="660400" y="1924227"/>
              <a:ext cx="2752287"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Information Access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1" name="Google Shape;261;p8"/>
            <p:cNvSpPr txBox="1"/>
            <p:nvPr/>
          </p:nvSpPr>
          <p:spPr>
            <a:xfrm>
              <a:off x="244256" y="2553579"/>
              <a:ext cx="3651900" cy="28014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Disclosure by Public Companies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Companies with publicly traded stock must share information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Disclosures include: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Financial performance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Operational details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Provided through regulatory filings: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Quarterly reports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Annual reports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Helps investors make informed decisions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2" name="Google Shape;262;p8"/>
            <p:cNvSpPr/>
            <p:nvPr/>
          </p:nvSpPr>
          <p:spPr>
            <a:xfrm>
              <a:off x="1525783" y="5535640"/>
              <a:ext cx="813711" cy="815918"/>
            </a:xfrm>
            <a:prstGeom prst="ellipse">
              <a:avLst/>
            </a:prstGeom>
            <a:solidFill>
              <a:srgbClr val="0070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6</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63" name="Google Shape;263;p8"/>
          <p:cNvGrpSpPr/>
          <p:nvPr/>
        </p:nvGrpSpPr>
        <p:grpSpPr>
          <a:xfrm>
            <a:off x="4243928" y="1389607"/>
            <a:ext cx="3686400" cy="4937237"/>
            <a:chOff x="4243928" y="1389605"/>
            <a:chExt cx="3686400" cy="4937237"/>
          </a:xfrm>
        </p:grpSpPr>
        <p:sp>
          <p:nvSpPr>
            <p:cNvPr id="264" name="Google Shape;264;p8"/>
            <p:cNvSpPr/>
            <p:nvPr/>
          </p:nvSpPr>
          <p:spPr>
            <a:xfrm rot="-5400000">
              <a:off x="5583396" y="84757"/>
              <a:ext cx="1041959" cy="3651656"/>
            </a:xfrm>
            <a:prstGeom prst="homePlate">
              <a:avLst>
                <a:gd name="adj" fmla="val 37858"/>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65" name="Google Shape;265;p8"/>
            <p:cNvSpPr/>
            <p:nvPr/>
          </p:nvSpPr>
          <p:spPr>
            <a:xfrm>
              <a:off x="4278548" y="2431565"/>
              <a:ext cx="3651656" cy="3542876"/>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66" name="Google Shape;266;p8"/>
            <p:cNvSpPr txBox="1"/>
            <p:nvPr/>
          </p:nvSpPr>
          <p:spPr>
            <a:xfrm>
              <a:off x="4863367" y="1795342"/>
              <a:ext cx="2481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Corporate Actions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7" name="Google Shape;267;p8"/>
            <p:cNvSpPr txBox="1"/>
            <p:nvPr/>
          </p:nvSpPr>
          <p:spPr>
            <a:xfrm>
              <a:off x="4243928" y="2548445"/>
              <a:ext cx="3686400" cy="30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Corporate Actions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Rights Offering</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Companies may issue additional shares of common stock.</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Existing shareholders can buy these shares at a discounted price.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Share Split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Existing shares are divided into multiple smaller shares.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Makes the stock more affordable and accessible to retail investors.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68" name="Google Shape;268;p8"/>
            <p:cNvSpPr/>
            <p:nvPr/>
          </p:nvSpPr>
          <p:spPr>
            <a:xfrm>
              <a:off x="5689144" y="5510924"/>
              <a:ext cx="813711" cy="815918"/>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7</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69" name="Google Shape;269;p8"/>
          <p:cNvGrpSpPr/>
          <p:nvPr/>
        </p:nvGrpSpPr>
        <p:grpSpPr>
          <a:xfrm>
            <a:off x="8192719" y="1358763"/>
            <a:ext cx="3686406" cy="5023635"/>
            <a:chOff x="8192719" y="1358763"/>
            <a:chExt cx="3686406" cy="5023635"/>
          </a:xfrm>
        </p:grpSpPr>
        <p:sp>
          <p:nvSpPr>
            <p:cNvPr id="270" name="Google Shape;270;p8"/>
            <p:cNvSpPr/>
            <p:nvPr/>
          </p:nvSpPr>
          <p:spPr>
            <a:xfrm rot="-5400000">
              <a:off x="9497568" y="53914"/>
              <a:ext cx="1041959" cy="3651657"/>
            </a:xfrm>
            <a:prstGeom prst="homePlate">
              <a:avLst>
                <a:gd name="adj" fmla="val 37858"/>
              </a:avLst>
            </a:prstGeom>
            <a:solidFill>
              <a:srgbClr val="4896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71" name="Google Shape;271;p8"/>
            <p:cNvSpPr/>
            <p:nvPr/>
          </p:nvSpPr>
          <p:spPr>
            <a:xfrm>
              <a:off x="8192721" y="2400723"/>
              <a:ext cx="3651656" cy="3542876"/>
            </a:xfrm>
            <a:prstGeom prst="rect">
              <a:avLst/>
            </a:prstGeom>
            <a:solidFill>
              <a:srgbClr val="7F7F7F">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72" name="Google Shape;272;p8"/>
            <p:cNvSpPr txBox="1"/>
            <p:nvPr/>
          </p:nvSpPr>
          <p:spPr>
            <a:xfrm>
              <a:off x="8290200" y="1754392"/>
              <a:ext cx="3402266"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Long-Term Investment Potential</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3" name="Google Shape;273;p8"/>
            <p:cNvSpPr txBox="1"/>
            <p:nvPr/>
          </p:nvSpPr>
          <p:spPr>
            <a:xfrm>
              <a:off x="8192725" y="2509775"/>
              <a:ext cx="3686400" cy="30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Common Stock as a Long-Term Investment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Many investors view common stock as a reliable long-term investment option.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Historically, fundamentally strong companies have delivered consistent returns over time, despite short-term market fluctuations.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Patient investors who hold shares for the long run often benefit from:</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1" u="none" strike="noStrike" cap="none">
                  <a:solidFill>
                    <a:schemeClr val="dk1"/>
                  </a:solidFill>
                  <a:latin typeface="Arial" panose="020B0604020202020204"/>
                  <a:ea typeface="Arial" panose="020B0604020202020204"/>
                  <a:cs typeface="Arial" panose="020B0604020202020204"/>
                  <a:sym typeface="Arial" panose="020B0604020202020204"/>
                </a:rPr>
                <a:t>Compounding growth</a:t>
              </a:r>
              <a:endParaRPr sz="1600" b="0" i="1"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1" indent="0" algn="l" rtl="0">
                <a:lnSpc>
                  <a:spcPct val="100000"/>
                </a:lnSpc>
                <a:spcBef>
                  <a:spcPts val="0"/>
                </a:spcBef>
                <a:spcAft>
                  <a:spcPts val="0"/>
                </a:spcAft>
                <a:buClr>
                  <a:srgbClr val="000000"/>
                </a:buClr>
                <a:buSzPts val="1600"/>
                <a:buFont typeface="Arial" panose="020B0604020202020204"/>
                <a:buNone/>
              </a:pPr>
              <a:r>
                <a:rPr lang="en-US" sz="1600" b="0" i="1" u="none" strike="noStrike" cap="none">
                  <a:solidFill>
                    <a:schemeClr val="dk1"/>
                  </a:solidFill>
                  <a:latin typeface="Arial" panose="020B0604020202020204"/>
                  <a:ea typeface="Arial" panose="020B0604020202020204"/>
                  <a:cs typeface="Arial" panose="020B0604020202020204"/>
                  <a:sym typeface="Arial" panose="020B0604020202020204"/>
                </a:rPr>
                <a:t>Dividend reinvestment</a:t>
              </a:r>
              <a:endParaRPr sz="1600" b="0" i="1"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74" name="Google Shape;274;p8"/>
            <p:cNvSpPr/>
            <p:nvPr/>
          </p:nvSpPr>
          <p:spPr>
            <a:xfrm>
              <a:off x="9699136" y="5566480"/>
              <a:ext cx="813711" cy="815918"/>
            </a:xfrm>
            <a:prstGeom prst="ellipse">
              <a:avLst/>
            </a:prstGeom>
            <a:solidFill>
              <a:srgbClr val="4896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600"/>
                <a:buFont typeface="Arial" panose="020B0604020202020204"/>
                <a:buNone/>
              </a:pPr>
              <a:r>
                <a:rPr lang="en-US" sz="3600" b="1" i="0" u="none" strike="noStrike" cap="none">
                  <a:solidFill>
                    <a:schemeClr val="lt1"/>
                  </a:solidFill>
                  <a:latin typeface="Arial" panose="020B0604020202020204"/>
                  <a:ea typeface="Arial" panose="020B0604020202020204"/>
                  <a:cs typeface="Arial" panose="020B0604020202020204"/>
                  <a:sym typeface="Arial" panose="020B0604020202020204"/>
                </a:rPr>
                <a:t>8</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78" name="Shape 278"/>
        <p:cNvGrpSpPr/>
        <p:nvPr/>
      </p:nvGrpSpPr>
      <p:grpSpPr>
        <a:xfrm>
          <a:off x="0" y="0"/>
          <a:ext cx="0" cy="0"/>
          <a:chOff x="0" y="0"/>
          <a:chExt cx="0" cy="0"/>
        </a:xfrm>
      </p:grpSpPr>
      <p:sp>
        <p:nvSpPr>
          <p:cNvPr id="279" name="Google Shape;279;p9"/>
          <p:cNvSpPr/>
          <p:nvPr/>
        </p:nvSpPr>
        <p:spPr>
          <a:xfrm>
            <a:off x="0" y="1837713"/>
            <a:ext cx="12192000" cy="42532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Advantages of Equity</a:t>
            </a: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0" name="Google Shape;280;p9"/>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AND DISADVANTAGES OF EQUITY</a:t>
            </a:r>
            <a:endParaRPr lang="en-US"/>
          </a:p>
        </p:txBody>
      </p:sp>
      <p:sp>
        <p:nvSpPr>
          <p:cNvPr id="281" name="Google Shape;281;p9"/>
          <p:cNvSpPr/>
          <p:nvPr/>
        </p:nvSpPr>
        <p:spPr>
          <a:xfrm>
            <a:off x="0" y="1121291"/>
            <a:ext cx="12192000" cy="716422"/>
          </a:xfrm>
          <a:prstGeom prst="rect">
            <a:avLst/>
          </a:prstGeom>
          <a:solidFill>
            <a:srgbClr val="D5DB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Investing in equity has its advantages and disadvantages. Understanding these pros and cons can help you make informed decisions about including equities in your investment portfolio.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282" name="Google Shape;282;p9"/>
          <p:cNvGrpSpPr/>
          <p:nvPr/>
        </p:nvGrpSpPr>
        <p:grpSpPr>
          <a:xfrm>
            <a:off x="592137" y="2373274"/>
            <a:ext cx="11007726" cy="3862425"/>
            <a:chOff x="755330" y="2373274"/>
            <a:chExt cx="11007726" cy="3862425"/>
          </a:xfrm>
        </p:grpSpPr>
        <p:sp>
          <p:nvSpPr>
            <p:cNvPr id="283" name="Google Shape;283;p9"/>
            <p:cNvSpPr/>
            <p:nvPr/>
          </p:nvSpPr>
          <p:spPr>
            <a:xfrm>
              <a:off x="755331" y="2373274"/>
              <a:ext cx="11007725" cy="3862425"/>
            </a:xfrm>
            <a:prstGeom prst="roundRect">
              <a:avLst>
                <a:gd name="adj" fmla="val 2407"/>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4" name="Google Shape;284;p9"/>
            <p:cNvSpPr/>
            <p:nvPr/>
          </p:nvSpPr>
          <p:spPr>
            <a:xfrm>
              <a:off x="818513" y="2373274"/>
              <a:ext cx="10881360" cy="3862425"/>
            </a:xfrm>
            <a:prstGeom prst="roundRect">
              <a:avLst>
                <a:gd name="adj" fmla="val 240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Capital Appreciation:  Equities offer the opportunity for capital appreciation, meaning the value of your investments can increase over time, potentially leading to significant profits.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5" name="Google Shape;285;p9"/>
            <p:cNvSpPr/>
            <p:nvPr/>
          </p:nvSpPr>
          <p:spPr>
            <a:xfrm>
              <a:off x="818513" y="2652702"/>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Potential for High Returns: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6" name="Google Shape;286;p9"/>
            <p:cNvSpPr/>
            <p:nvPr/>
          </p:nvSpPr>
          <p:spPr>
            <a:xfrm>
              <a:off x="818513" y="3889887"/>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Capital Appreciation/Gains:</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7" name="Google Shape;287;p9"/>
            <p:cNvSpPr txBox="1"/>
            <p:nvPr/>
          </p:nvSpPr>
          <p:spPr>
            <a:xfrm>
              <a:off x="924418" y="3101068"/>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Historically, equities have shown the potential for higher long-term returns compared to other asset classes like bonds or cash investments.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8" name="Google Shape;288;p9"/>
            <p:cNvSpPr txBox="1"/>
            <p:nvPr/>
          </p:nvSpPr>
          <p:spPr>
            <a:xfrm>
              <a:off x="924418" y="4365881"/>
              <a:ext cx="1020787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Equities offer the opportunity for capital appreciation, meaning the value of your investments can increase over time, potentially leading to significant profits.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9" name="Google Shape;289;p9"/>
            <p:cNvSpPr/>
            <p:nvPr/>
          </p:nvSpPr>
          <p:spPr>
            <a:xfrm>
              <a:off x="755330" y="506794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Dividend Income: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0" name="Google Shape;290;p9"/>
            <p:cNvSpPr txBox="1"/>
            <p:nvPr/>
          </p:nvSpPr>
          <p:spPr>
            <a:xfrm>
              <a:off x="924418" y="5487769"/>
              <a:ext cx="102078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Many companies distribute a portion of their profits as dividends to shareholders, providing a dividend income for investors.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94" name="Shape 294"/>
        <p:cNvGrpSpPr/>
        <p:nvPr/>
      </p:nvGrpSpPr>
      <p:grpSpPr>
        <a:xfrm>
          <a:off x="0" y="0"/>
          <a:ext cx="0" cy="0"/>
          <a:chOff x="0" y="0"/>
          <a:chExt cx="0" cy="0"/>
        </a:xfrm>
      </p:grpSpPr>
      <p:sp>
        <p:nvSpPr>
          <p:cNvPr id="295" name="Google Shape;295;p10"/>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AND DISADVANTAGES OF EQUITY</a:t>
            </a:r>
            <a:endParaRPr lang="en-US"/>
          </a:p>
        </p:txBody>
      </p:sp>
      <p:grpSp>
        <p:nvGrpSpPr>
          <p:cNvPr id="296" name="Google Shape;296;p10"/>
          <p:cNvGrpSpPr/>
          <p:nvPr/>
        </p:nvGrpSpPr>
        <p:grpSpPr>
          <a:xfrm>
            <a:off x="592138" y="1384418"/>
            <a:ext cx="11007725" cy="4931321"/>
            <a:chOff x="692150" y="1384418"/>
            <a:chExt cx="11007725" cy="4931321"/>
          </a:xfrm>
        </p:grpSpPr>
        <p:sp>
          <p:nvSpPr>
            <p:cNvPr id="297" name="Google Shape;297;p10"/>
            <p:cNvSpPr/>
            <p:nvPr/>
          </p:nvSpPr>
          <p:spPr>
            <a:xfrm>
              <a:off x="692150" y="1384418"/>
              <a:ext cx="11007725" cy="4931321"/>
            </a:xfrm>
            <a:prstGeom prst="roundRect">
              <a:avLst>
                <a:gd name="adj" fmla="val 2407"/>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8" name="Google Shape;298;p10"/>
            <p:cNvSpPr/>
            <p:nvPr/>
          </p:nvSpPr>
          <p:spPr>
            <a:xfrm>
              <a:off x="755332" y="1384418"/>
              <a:ext cx="10881360" cy="4931321"/>
            </a:xfrm>
            <a:prstGeom prst="roundRect">
              <a:avLst>
                <a:gd name="adj" fmla="val 240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9" name="Google Shape;299;p10"/>
            <p:cNvSpPr/>
            <p:nvPr/>
          </p:nvSpPr>
          <p:spPr>
            <a:xfrm>
              <a:off x="755332" y="1555334"/>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Liquidity: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0" name="Google Shape;300;p10"/>
            <p:cNvSpPr/>
            <p:nvPr/>
          </p:nvSpPr>
          <p:spPr>
            <a:xfrm>
              <a:off x="700550" y="2676222"/>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5. Diversification: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1" name="Google Shape;301;p10"/>
            <p:cNvSpPr/>
            <p:nvPr/>
          </p:nvSpPr>
          <p:spPr>
            <a:xfrm>
              <a:off x="755331" y="387150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6. Ownership and Voting Rights: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2" name="Google Shape;302;p10"/>
            <p:cNvSpPr/>
            <p:nvPr/>
          </p:nvSpPr>
          <p:spPr>
            <a:xfrm>
              <a:off x="700550" y="5088574"/>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7. Transparency: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3" name="Google Shape;303;p10"/>
            <p:cNvSpPr txBox="1"/>
            <p:nvPr/>
          </p:nvSpPr>
          <p:spPr>
            <a:xfrm>
              <a:off x="755331" y="1921094"/>
              <a:ext cx="10775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Equities listed in Stock Exchanges are generally more liquid than other investments, allowing you to quickly buy or sell shares in the stock market.</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4" name="Google Shape;304;p10"/>
            <p:cNvSpPr txBox="1"/>
            <p:nvPr/>
          </p:nvSpPr>
          <p:spPr>
            <a:xfrm>
              <a:off x="755332" y="3105425"/>
              <a:ext cx="10775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Investing in a range of Equities Portfolio across different industries and sectors can help diversify your portfolio, reducing the impact of poor performance from a single investment.</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5" name="Google Shape;305;p10"/>
            <p:cNvSpPr txBox="1"/>
            <p:nvPr/>
          </p:nvSpPr>
          <p:spPr>
            <a:xfrm>
              <a:off x="808284" y="4333785"/>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When you invest in equities, you become a shareholder and have the right to vote on important company decisions, depending on the number of shares you hold.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6" name="Google Shape;306;p10"/>
            <p:cNvSpPr txBox="1"/>
            <p:nvPr/>
          </p:nvSpPr>
          <p:spPr>
            <a:xfrm>
              <a:off x="808283" y="5528826"/>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Publicly traded companies are required to disclose financial information regularly, providing transparency and information for investors.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10" name="Shape 310"/>
        <p:cNvGrpSpPr/>
        <p:nvPr/>
      </p:nvGrpSpPr>
      <p:grpSpPr>
        <a:xfrm>
          <a:off x="0" y="0"/>
          <a:ext cx="0" cy="0"/>
          <a:chOff x="0" y="0"/>
          <a:chExt cx="0" cy="0"/>
        </a:xfrm>
      </p:grpSpPr>
      <p:sp>
        <p:nvSpPr>
          <p:cNvPr id="311" name="Google Shape;311;p11"/>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AND DISADVANTAGES OF EQUITY</a:t>
            </a:r>
            <a:endParaRPr lang="en-US"/>
          </a:p>
        </p:txBody>
      </p:sp>
      <p:grpSp>
        <p:nvGrpSpPr>
          <p:cNvPr id="312" name="Google Shape;312;p11"/>
          <p:cNvGrpSpPr/>
          <p:nvPr/>
        </p:nvGrpSpPr>
        <p:grpSpPr>
          <a:xfrm>
            <a:off x="592138" y="1950250"/>
            <a:ext cx="11007725" cy="3918248"/>
            <a:chOff x="639197" y="1950250"/>
            <a:chExt cx="11007725" cy="3918248"/>
          </a:xfrm>
        </p:grpSpPr>
        <p:sp>
          <p:nvSpPr>
            <p:cNvPr id="313" name="Google Shape;313;p11"/>
            <p:cNvSpPr/>
            <p:nvPr/>
          </p:nvSpPr>
          <p:spPr>
            <a:xfrm>
              <a:off x="639197" y="1950250"/>
              <a:ext cx="11007725" cy="3918248"/>
            </a:xfrm>
            <a:prstGeom prst="roundRect">
              <a:avLst>
                <a:gd name="adj" fmla="val 2407"/>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14" name="Google Shape;314;p11"/>
            <p:cNvSpPr/>
            <p:nvPr/>
          </p:nvSpPr>
          <p:spPr>
            <a:xfrm>
              <a:off x="702379" y="1950250"/>
              <a:ext cx="10881360" cy="3918248"/>
            </a:xfrm>
            <a:prstGeom prst="roundRect">
              <a:avLst>
                <a:gd name="adj" fmla="val 240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15" name="Google Shape;315;p11"/>
            <p:cNvSpPr/>
            <p:nvPr/>
          </p:nvSpPr>
          <p:spPr>
            <a:xfrm>
              <a:off x="702379" y="2121165"/>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Market Volatility: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6" name="Google Shape;316;p11"/>
            <p:cNvSpPr/>
            <p:nvPr/>
          </p:nvSpPr>
          <p:spPr>
            <a:xfrm>
              <a:off x="647597" y="3242053"/>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Risk of Loss: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7" name="Google Shape;317;p11"/>
            <p:cNvSpPr/>
            <p:nvPr/>
          </p:nvSpPr>
          <p:spPr>
            <a:xfrm>
              <a:off x="702378" y="4437331"/>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Lack of Guaranteed Income: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8" name="Google Shape;318;p11"/>
            <p:cNvSpPr txBox="1"/>
            <p:nvPr/>
          </p:nvSpPr>
          <p:spPr>
            <a:xfrm>
              <a:off x="702378" y="2486925"/>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Equity prices can be highly volatile, leading to short-term fluctuations in the value of your investments. This volatility can be unsettling for some investors.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9" name="Google Shape;319;p11"/>
            <p:cNvSpPr txBox="1"/>
            <p:nvPr/>
          </p:nvSpPr>
          <p:spPr>
            <a:xfrm>
              <a:off x="702379" y="3671256"/>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There's always a risk that the value of your equity investments could decrease, leading to potential losses, especially during market downturns.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0" name="Google Shape;320;p11"/>
            <p:cNvSpPr txBox="1"/>
            <p:nvPr/>
          </p:nvSpPr>
          <p:spPr>
            <a:xfrm>
              <a:off x="755331" y="4899616"/>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Unlike bonds or fixed-income investments, equities don't offer guaranteed income, and companies are not obligated to pay dividends.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21" name="Google Shape;321;p11"/>
          <p:cNvSpPr/>
          <p:nvPr/>
        </p:nvSpPr>
        <p:spPr>
          <a:xfrm>
            <a:off x="0" y="1198729"/>
            <a:ext cx="12192000" cy="42532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Disadvantages of Equity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p12"/>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AND DISADVANTAGES OF EQUITY</a:t>
            </a:r>
            <a:endParaRPr lang="en-US"/>
          </a:p>
        </p:txBody>
      </p:sp>
      <p:grpSp>
        <p:nvGrpSpPr>
          <p:cNvPr id="327" name="Google Shape;327;p12"/>
          <p:cNvGrpSpPr/>
          <p:nvPr/>
        </p:nvGrpSpPr>
        <p:grpSpPr>
          <a:xfrm>
            <a:off x="592138" y="1384418"/>
            <a:ext cx="11007725" cy="4931321"/>
            <a:chOff x="692150" y="1384418"/>
            <a:chExt cx="11007725" cy="4931321"/>
          </a:xfrm>
        </p:grpSpPr>
        <p:sp>
          <p:nvSpPr>
            <p:cNvPr id="328" name="Google Shape;328;p12"/>
            <p:cNvSpPr/>
            <p:nvPr/>
          </p:nvSpPr>
          <p:spPr>
            <a:xfrm>
              <a:off x="692150" y="1384418"/>
              <a:ext cx="11007725" cy="4931321"/>
            </a:xfrm>
            <a:prstGeom prst="roundRect">
              <a:avLst>
                <a:gd name="adj" fmla="val 2407"/>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29" name="Google Shape;329;p12"/>
            <p:cNvSpPr/>
            <p:nvPr/>
          </p:nvSpPr>
          <p:spPr>
            <a:xfrm>
              <a:off x="755332" y="1384418"/>
              <a:ext cx="10881360" cy="4931321"/>
            </a:xfrm>
            <a:prstGeom prst="roundRect">
              <a:avLst>
                <a:gd name="adj" fmla="val 240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30" name="Google Shape;330;p12"/>
            <p:cNvSpPr/>
            <p:nvPr/>
          </p:nvSpPr>
          <p:spPr>
            <a:xfrm>
              <a:off x="755332" y="1555334"/>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Lack of Control: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1" name="Google Shape;331;p12"/>
            <p:cNvSpPr/>
            <p:nvPr/>
          </p:nvSpPr>
          <p:spPr>
            <a:xfrm>
              <a:off x="700550" y="2676222"/>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5. Long-Term Commitment: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2" name="Google Shape;332;p12"/>
            <p:cNvSpPr/>
            <p:nvPr/>
          </p:nvSpPr>
          <p:spPr>
            <a:xfrm>
              <a:off x="755331" y="387150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6. Research and Monitoring: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3" name="Google Shape;333;p12"/>
            <p:cNvSpPr/>
            <p:nvPr/>
          </p:nvSpPr>
          <p:spPr>
            <a:xfrm>
              <a:off x="700550" y="5088574"/>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7. Lack of Regular Income: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4" name="Google Shape;334;p12"/>
            <p:cNvSpPr txBox="1"/>
            <p:nvPr/>
          </p:nvSpPr>
          <p:spPr>
            <a:xfrm>
              <a:off x="755331" y="1921094"/>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While shareholders have voting rights, individual investors often have limited influence on company decisions, especially if they hold a small number of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5" name="Google Shape;335;p12"/>
            <p:cNvSpPr txBox="1"/>
            <p:nvPr/>
          </p:nvSpPr>
          <p:spPr>
            <a:xfrm>
              <a:off x="755332" y="3105425"/>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Successful equity investing often requires a long-term perspective to ride out short-term market fluctuations and realize the potential for growth.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6" name="Google Shape;336;p12"/>
            <p:cNvSpPr txBox="1"/>
            <p:nvPr/>
          </p:nvSpPr>
          <p:spPr>
            <a:xfrm>
              <a:off x="808284" y="4333785"/>
              <a:ext cx="1077545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Investing in equities requires research and monitoring of companies, market trends, and economic conditions to make informed decisions.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7" name="Google Shape;337;p12"/>
            <p:cNvSpPr txBox="1"/>
            <p:nvPr/>
          </p:nvSpPr>
          <p:spPr>
            <a:xfrm>
              <a:off x="808283" y="5528826"/>
              <a:ext cx="1077545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If a company doesn't pay dividends or if you don't sell your shares, equities may not provide regular income, which can be a disadvantage for investors seeking consistent cash flow.</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41" name="Shape 341"/>
        <p:cNvGrpSpPr/>
        <p:nvPr/>
      </p:nvGrpSpPr>
      <p:grpSpPr>
        <a:xfrm>
          <a:off x="0" y="0"/>
          <a:ext cx="0" cy="0"/>
          <a:chOff x="0" y="0"/>
          <a:chExt cx="0" cy="0"/>
        </a:xfrm>
      </p:grpSpPr>
      <p:sp>
        <p:nvSpPr>
          <p:cNvPr id="342" name="Google Shape;342;p13"/>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AND DISADVANTAGES OF EQUITY</a:t>
            </a:r>
            <a:endParaRPr lang="en-US"/>
          </a:p>
        </p:txBody>
      </p:sp>
      <p:grpSp>
        <p:nvGrpSpPr>
          <p:cNvPr id="343" name="Google Shape;343;p13"/>
          <p:cNvGrpSpPr/>
          <p:nvPr/>
        </p:nvGrpSpPr>
        <p:grpSpPr>
          <a:xfrm>
            <a:off x="592138" y="1724660"/>
            <a:ext cx="11007725" cy="3872697"/>
            <a:chOff x="639198" y="1724660"/>
            <a:chExt cx="11007725" cy="3872697"/>
          </a:xfrm>
        </p:grpSpPr>
        <p:sp>
          <p:nvSpPr>
            <p:cNvPr id="344" name="Google Shape;344;p13"/>
            <p:cNvSpPr/>
            <p:nvPr/>
          </p:nvSpPr>
          <p:spPr>
            <a:xfrm>
              <a:off x="639198" y="1724660"/>
              <a:ext cx="11007725" cy="3872697"/>
            </a:xfrm>
            <a:prstGeom prst="roundRect">
              <a:avLst>
                <a:gd name="adj" fmla="val 2407"/>
              </a:avLst>
            </a:prstGeom>
            <a:solidFill>
              <a:schemeClr val="accent3"/>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45" name="Google Shape;345;p13"/>
            <p:cNvSpPr/>
            <p:nvPr/>
          </p:nvSpPr>
          <p:spPr>
            <a:xfrm>
              <a:off x="702380" y="1724660"/>
              <a:ext cx="10881360" cy="3872697"/>
            </a:xfrm>
            <a:prstGeom prst="roundRect">
              <a:avLst>
                <a:gd name="adj" fmla="val 240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46" name="Google Shape;346;p13"/>
            <p:cNvSpPr/>
            <p:nvPr/>
          </p:nvSpPr>
          <p:spPr>
            <a:xfrm>
              <a:off x="702380" y="1895576"/>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8. Liquidity Risk: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7" name="Google Shape;347;p13"/>
            <p:cNvSpPr/>
            <p:nvPr/>
          </p:nvSpPr>
          <p:spPr>
            <a:xfrm>
              <a:off x="647598" y="3016464"/>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9. Individual Stock / Issuer Company Risk: </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48" name="Google Shape;348;p13"/>
            <p:cNvSpPr/>
            <p:nvPr/>
          </p:nvSpPr>
          <p:spPr>
            <a:xfrm>
              <a:off x="702379" y="4211742"/>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10. Tax Implications: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13"/>
            <p:cNvSpPr txBox="1"/>
            <p:nvPr/>
          </p:nvSpPr>
          <p:spPr>
            <a:xfrm>
              <a:off x="702379" y="2261336"/>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While equities are generally liquid, there can be situations where market conditions or trading restrictions make it difficult to sell shares at desired prices.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13"/>
            <p:cNvSpPr txBox="1"/>
            <p:nvPr/>
          </p:nvSpPr>
          <p:spPr>
            <a:xfrm>
              <a:off x="702380" y="3445667"/>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Investing in individual stocks exposes you to company-specific risks that can affect your portfolio if the company faces challenges or poor performance.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13"/>
            <p:cNvSpPr txBox="1"/>
            <p:nvPr/>
          </p:nvSpPr>
          <p:spPr>
            <a:xfrm>
              <a:off x="755332" y="4674027"/>
              <a:ext cx="10775455"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Capital gains and dividends from equities can have tax implications, and tax laws can change over time, affecting your after-tax returns.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55" name="Shape 355"/>
        <p:cNvGrpSpPr/>
        <p:nvPr/>
      </p:nvGrpSpPr>
      <p:grpSpPr>
        <a:xfrm>
          <a:off x="0" y="0"/>
          <a:ext cx="0" cy="0"/>
          <a:chOff x="0" y="0"/>
          <a:chExt cx="0" cy="0"/>
        </a:xfrm>
      </p:grpSpPr>
      <p:pic>
        <p:nvPicPr>
          <p:cNvPr id="356" name="Google Shape;356;p14"/>
          <p:cNvPicPr preferRelativeResize="0"/>
          <p:nvPr>
            <p:ph type="pic" idx="2"/>
          </p:nvPr>
        </p:nvPicPr>
        <p:blipFill rotWithShape="1">
          <a:blip r:embed="rId1"/>
          <a:srcRect/>
          <a:stretch>
            <a:fillRect/>
          </a:stretch>
        </p:blipFill>
        <p:spPr>
          <a:xfrm>
            <a:off x="3978704" y="-21266"/>
            <a:ext cx="8211708" cy="6889900"/>
          </a:xfrm>
          <a:prstGeom prst="rect">
            <a:avLst/>
          </a:prstGeom>
          <a:solidFill>
            <a:srgbClr val="F2F2F2"/>
          </a:solidFill>
          <a:ln>
            <a:noFill/>
          </a:ln>
        </p:spPr>
      </p:pic>
      <p:sp>
        <p:nvSpPr>
          <p:cNvPr id="357" name="Google Shape;357;p14"/>
          <p:cNvSpPr/>
          <p:nvPr/>
        </p:nvSpPr>
        <p:spPr>
          <a:xfrm>
            <a:off x="0" y="0"/>
            <a:ext cx="6124354" cy="6879266"/>
          </a:xfrm>
          <a:custGeom>
            <a:avLst/>
            <a:gdLst/>
            <a:ahLst/>
            <a:cxnLst/>
            <a:rect l="l" t="t" r="r" b="b"/>
            <a:pathLst>
              <a:path w="6124354" h="6879266" extrusionOk="0">
                <a:moveTo>
                  <a:pt x="0" y="0"/>
                </a:moveTo>
                <a:lnTo>
                  <a:pt x="4061637" y="0"/>
                </a:lnTo>
                <a:lnTo>
                  <a:pt x="6124354" y="6879266"/>
                </a:lnTo>
                <a:lnTo>
                  <a:pt x="0" y="685800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58" name="Google Shape;358;p14"/>
          <p:cNvSpPr/>
          <p:nvPr/>
        </p:nvSpPr>
        <p:spPr>
          <a:xfrm flipH="1">
            <a:off x="4025448" y="-21268"/>
            <a:ext cx="8166551" cy="6900533"/>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59" name="Google Shape;359;p14"/>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60" name="Google Shape;360;p1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61" name="Google Shape;361;p14"/>
          <p:cNvSpPr txBox="1"/>
          <p:nvPr/>
        </p:nvSpPr>
        <p:spPr>
          <a:xfrm>
            <a:off x="68598" y="3044279"/>
            <a:ext cx="7820212"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rPr>
              <a:t>Preference Shares</a:t>
            </a:r>
            <a:endParaRPr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362" name="Google Shape;362;p14"/>
          <p:cNvPicPr preferRelativeResize="0"/>
          <p:nvPr/>
        </p:nvPicPr>
        <p:blipFill rotWithShape="1">
          <a:blip r:embed="rId2"/>
          <a:srcRect/>
          <a:stretch>
            <a:fillRect/>
          </a:stretch>
        </p:blipFill>
        <p:spPr>
          <a:xfrm>
            <a:off x="617538" y="-2207760"/>
            <a:ext cx="3614738" cy="2033588"/>
          </a:xfrm>
          <a:prstGeom prst="rect">
            <a:avLst/>
          </a:prstGeom>
          <a:noFill/>
          <a:ln>
            <a:noFill/>
          </a:ln>
        </p:spPr>
      </p:pic>
      <p:pic>
        <p:nvPicPr>
          <p:cNvPr id="363" name="Google Shape;363;p14" descr="A picture containing text, clipart&#10;&#10;Description automatically generated"/>
          <p:cNvPicPr preferRelativeResize="0"/>
          <p:nvPr/>
        </p:nvPicPr>
        <p:blipFill rotWithShape="1">
          <a:blip r:embed="rId3"/>
          <a:srcRect/>
          <a:stretch>
            <a:fillRect/>
          </a:stretch>
        </p:blipFill>
        <p:spPr>
          <a:xfrm>
            <a:off x="9533468" y="312483"/>
            <a:ext cx="2421466" cy="4919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67" name="Shape 367"/>
        <p:cNvGrpSpPr/>
        <p:nvPr/>
      </p:nvGrpSpPr>
      <p:grpSpPr>
        <a:xfrm>
          <a:off x="0" y="0"/>
          <a:ext cx="0" cy="0"/>
          <a:chOff x="0" y="0"/>
          <a:chExt cx="0" cy="0"/>
        </a:xfrm>
      </p:grpSpPr>
      <p:sp>
        <p:nvSpPr>
          <p:cNvPr id="368" name="Google Shape;368;p15"/>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PREFERRED SHARES</a:t>
            </a:r>
            <a:endParaRPr lang="en-US"/>
          </a:p>
        </p:txBody>
      </p:sp>
      <p:grpSp>
        <p:nvGrpSpPr>
          <p:cNvPr id="369" name="Google Shape;369;p15"/>
          <p:cNvGrpSpPr/>
          <p:nvPr/>
        </p:nvGrpSpPr>
        <p:grpSpPr>
          <a:xfrm>
            <a:off x="640775" y="2238801"/>
            <a:ext cx="10991243" cy="1351460"/>
            <a:chOff x="640775" y="2238801"/>
            <a:chExt cx="10991243" cy="1351460"/>
          </a:xfrm>
        </p:grpSpPr>
        <p:grpSp>
          <p:nvGrpSpPr>
            <p:cNvPr id="370" name="Google Shape;370;p15"/>
            <p:cNvGrpSpPr/>
            <p:nvPr/>
          </p:nvGrpSpPr>
          <p:grpSpPr>
            <a:xfrm>
              <a:off x="640775" y="2445695"/>
              <a:ext cx="2958498" cy="584017"/>
              <a:chOff x="640775" y="2445695"/>
              <a:chExt cx="2958498" cy="584017"/>
            </a:xfrm>
          </p:grpSpPr>
          <p:sp>
            <p:nvSpPr>
              <p:cNvPr id="371" name="Google Shape;371;p15"/>
              <p:cNvSpPr/>
              <p:nvPr/>
            </p:nvSpPr>
            <p:spPr>
              <a:xfrm>
                <a:off x="640775" y="2445695"/>
                <a:ext cx="2958498" cy="584017"/>
              </a:xfrm>
              <a:custGeom>
                <a:avLst/>
                <a:gdLst/>
                <a:ahLst/>
                <a:cxnLst/>
                <a:rect l="l" t="t" r="r" b="b"/>
                <a:pathLst>
                  <a:path w="1152" h="500" extrusionOk="0">
                    <a:moveTo>
                      <a:pt x="0" y="500"/>
                    </a:moveTo>
                    <a:lnTo>
                      <a:pt x="995" y="500"/>
                    </a:lnTo>
                    <a:lnTo>
                      <a:pt x="1152" y="250"/>
                    </a:lnTo>
                    <a:lnTo>
                      <a:pt x="1152" y="250"/>
                    </a:lnTo>
                    <a:lnTo>
                      <a:pt x="995" y="0"/>
                    </a:lnTo>
                    <a:lnTo>
                      <a:pt x="0" y="0"/>
                    </a:lnTo>
                    <a:close/>
                  </a:path>
                </a:pathLst>
              </a:custGeom>
              <a:solidFill>
                <a:srgbClr val="1F949C"/>
              </a:solidFill>
              <a:ln>
                <a:noFill/>
              </a:ln>
            </p:spPr>
            <p:txBody>
              <a:bodyPr spcFirstLastPara="1" wrap="square" lIns="45000" tIns="22500" rIns="45000" bIns="22500" anchor="ctr" anchorCtr="1">
                <a:noAutofit/>
              </a:bodyPr>
              <a:lstStyle/>
              <a:p>
                <a:pPr marL="0" marR="0" lvl="0" indent="0" algn="l" rtl="0">
                  <a:lnSpc>
                    <a:spcPct val="100000"/>
                  </a:lnSpc>
                  <a:spcBef>
                    <a:spcPts val="0"/>
                  </a:spcBef>
                  <a:spcAft>
                    <a:spcPts val="0"/>
                  </a:spcAft>
                  <a:buClr>
                    <a:srgbClr val="000000"/>
                  </a:buClr>
                  <a:buSzPts val="900"/>
                  <a:buFont typeface="Arial" panose="020B0604020202020204"/>
                  <a:buNone/>
                </a:pPr>
                <a:endParaRPr sz="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2" name="Google Shape;372;p15"/>
              <p:cNvSpPr/>
              <p:nvPr/>
            </p:nvSpPr>
            <p:spPr>
              <a:xfrm>
                <a:off x="656503" y="2576381"/>
                <a:ext cx="255063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1. Dividend Priority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73" name="Google Shape;373;p15"/>
            <p:cNvSpPr/>
            <p:nvPr/>
          </p:nvSpPr>
          <p:spPr>
            <a:xfrm>
              <a:off x="3599273" y="2238801"/>
              <a:ext cx="8032745" cy="1351460"/>
            </a:xfrm>
            <a:prstGeom prst="rect">
              <a:avLst/>
            </a:prstGeom>
            <a:noFill/>
            <a:ln>
              <a:noFill/>
            </a:ln>
          </p:spPr>
          <p:txBody>
            <a:bodyPr spcFirstLastPara="1" wrap="square" lIns="91425" tIns="45700" rIns="91425" bIns="45700" anchor="t" anchorCtr="0">
              <a:spAutoFit/>
            </a:bodyPr>
            <a:lstStyle/>
            <a:p>
              <a:pPr marL="0" marR="0" lvl="0" indent="0" algn="l" rtl="0">
                <a:lnSpc>
                  <a:spcPct val="127000"/>
                </a:lnSpc>
                <a:spcBef>
                  <a:spcPts val="0"/>
                </a:spcBef>
                <a:spcAft>
                  <a:spcPts val="0"/>
                </a:spcAft>
                <a:buClr>
                  <a:srgbClr val="000000"/>
                </a:buClr>
                <a:buSzPts val="1600"/>
                <a:buFont typeface="Arial" panose="020B0604020202020204"/>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One of the primary features of preferred shares is their dividend preference. Preferred shareholders typically have a higher claim on the company's profits compared to common shareholders. This means that if the company distributes dividends, preferred shareholders are entitled to receive their dividends before common shareholders receive any payments.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74" name="Google Shape;374;p15"/>
          <p:cNvGrpSpPr/>
          <p:nvPr/>
        </p:nvGrpSpPr>
        <p:grpSpPr>
          <a:xfrm>
            <a:off x="640775" y="3671290"/>
            <a:ext cx="10991244" cy="1100814"/>
            <a:chOff x="640775" y="3671290"/>
            <a:chExt cx="10991244" cy="1100814"/>
          </a:xfrm>
        </p:grpSpPr>
        <p:grpSp>
          <p:nvGrpSpPr>
            <p:cNvPr id="375" name="Google Shape;375;p15"/>
            <p:cNvGrpSpPr/>
            <p:nvPr/>
          </p:nvGrpSpPr>
          <p:grpSpPr>
            <a:xfrm>
              <a:off x="640775" y="3899982"/>
              <a:ext cx="2958498" cy="582847"/>
              <a:chOff x="640775" y="3899982"/>
              <a:chExt cx="2958498" cy="582847"/>
            </a:xfrm>
          </p:grpSpPr>
          <p:sp>
            <p:nvSpPr>
              <p:cNvPr id="376" name="Google Shape;376;p15"/>
              <p:cNvSpPr/>
              <p:nvPr/>
            </p:nvSpPr>
            <p:spPr>
              <a:xfrm>
                <a:off x="640775" y="3899982"/>
                <a:ext cx="2958498" cy="582847"/>
              </a:xfrm>
              <a:custGeom>
                <a:avLst/>
                <a:gdLst/>
                <a:ahLst/>
                <a:cxnLst/>
                <a:rect l="l" t="t" r="r" b="b"/>
                <a:pathLst>
                  <a:path w="1152" h="499" extrusionOk="0">
                    <a:moveTo>
                      <a:pt x="0" y="499"/>
                    </a:moveTo>
                    <a:lnTo>
                      <a:pt x="995" y="499"/>
                    </a:lnTo>
                    <a:lnTo>
                      <a:pt x="1152" y="250"/>
                    </a:lnTo>
                    <a:lnTo>
                      <a:pt x="1152" y="249"/>
                    </a:lnTo>
                    <a:lnTo>
                      <a:pt x="995" y="0"/>
                    </a:lnTo>
                    <a:lnTo>
                      <a:pt x="0" y="0"/>
                    </a:lnTo>
                    <a:close/>
                  </a:path>
                </a:pathLst>
              </a:custGeom>
              <a:solidFill>
                <a:schemeClr val="dk2"/>
              </a:solidFill>
              <a:ln>
                <a:noFill/>
              </a:ln>
            </p:spPr>
            <p:txBody>
              <a:bodyPr spcFirstLastPara="1" wrap="square" lIns="45000" tIns="22500" rIns="45000" bIns="22500" anchor="ctr" anchorCtr="1">
                <a:noAutofit/>
              </a:bodyPr>
              <a:lstStyle/>
              <a:p>
                <a:pPr marL="0" marR="0" lvl="0" indent="0" algn="l" rtl="0">
                  <a:lnSpc>
                    <a:spcPct val="100000"/>
                  </a:lnSpc>
                  <a:spcBef>
                    <a:spcPts val="0"/>
                  </a:spcBef>
                  <a:spcAft>
                    <a:spcPts val="0"/>
                  </a:spcAft>
                  <a:buClr>
                    <a:srgbClr val="000000"/>
                  </a:buClr>
                  <a:buSzPts val="900"/>
                  <a:buFont typeface="Arial" panose="020B0604020202020204"/>
                  <a:buNone/>
                </a:pPr>
                <a:endParaRPr sz="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7" name="Google Shape;377;p15"/>
              <p:cNvSpPr/>
              <p:nvPr/>
            </p:nvSpPr>
            <p:spPr>
              <a:xfrm>
                <a:off x="700550" y="4006739"/>
                <a:ext cx="23112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2. Fixed Dividend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78" name="Google Shape;378;p15"/>
            <p:cNvSpPr/>
            <p:nvPr/>
          </p:nvSpPr>
          <p:spPr>
            <a:xfrm>
              <a:off x="3599274" y="3671290"/>
              <a:ext cx="8032745" cy="1100814"/>
            </a:xfrm>
            <a:prstGeom prst="rect">
              <a:avLst/>
            </a:prstGeom>
            <a:noFill/>
            <a:ln>
              <a:noFill/>
            </a:ln>
          </p:spPr>
          <p:txBody>
            <a:bodyPr spcFirstLastPara="1" wrap="square" lIns="91425" tIns="45700" rIns="91425" bIns="45700" anchor="t" anchorCtr="0">
              <a:spAutoFit/>
            </a:bodyPr>
            <a:lstStyle/>
            <a:p>
              <a:pPr marL="0" marR="0" lvl="0" indent="0" algn="l" rtl="0">
                <a:lnSpc>
                  <a:spcPct val="127000"/>
                </a:lnSpc>
                <a:spcBef>
                  <a:spcPts val="0"/>
                </a:spcBef>
                <a:spcAft>
                  <a:spcPts val="0"/>
                </a:spcAft>
                <a:buClr>
                  <a:srgbClr val="000000"/>
                </a:buClr>
                <a:buSzPts val="1600"/>
                <a:buFont typeface="Arial" panose="020B0604020202020204"/>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Preferred shares often come with a fixed dividend rate. This means that the dividend payment to preferred shareholders is typically a predetermined percentage of the par value (face value) of the preferred shares. This fixed dividend is usually paid on a regular basis, such as quarterly or annually.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79" name="Google Shape;379;p15"/>
          <p:cNvGrpSpPr/>
          <p:nvPr/>
        </p:nvGrpSpPr>
        <p:grpSpPr>
          <a:xfrm>
            <a:off x="595624" y="5101671"/>
            <a:ext cx="10923276" cy="1100814"/>
            <a:chOff x="595624" y="5101671"/>
            <a:chExt cx="10923276" cy="1100814"/>
          </a:xfrm>
        </p:grpSpPr>
        <p:grpSp>
          <p:nvGrpSpPr>
            <p:cNvPr id="380" name="Google Shape;380;p15"/>
            <p:cNvGrpSpPr/>
            <p:nvPr/>
          </p:nvGrpSpPr>
          <p:grpSpPr>
            <a:xfrm>
              <a:off x="595624" y="5246505"/>
              <a:ext cx="3003649" cy="768489"/>
              <a:chOff x="595624" y="5246505"/>
              <a:chExt cx="3003649" cy="768489"/>
            </a:xfrm>
          </p:grpSpPr>
          <p:sp>
            <p:nvSpPr>
              <p:cNvPr id="381" name="Google Shape;381;p15"/>
              <p:cNvSpPr/>
              <p:nvPr/>
            </p:nvSpPr>
            <p:spPr>
              <a:xfrm>
                <a:off x="640775" y="5246505"/>
                <a:ext cx="2958498" cy="768489"/>
              </a:xfrm>
              <a:custGeom>
                <a:avLst/>
                <a:gdLst/>
                <a:ahLst/>
                <a:cxnLst/>
                <a:rect l="l" t="t" r="r" b="b"/>
                <a:pathLst>
                  <a:path w="1152" h="500" extrusionOk="0">
                    <a:moveTo>
                      <a:pt x="0" y="500"/>
                    </a:moveTo>
                    <a:lnTo>
                      <a:pt x="995" y="500"/>
                    </a:lnTo>
                    <a:lnTo>
                      <a:pt x="1152" y="250"/>
                    </a:lnTo>
                    <a:lnTo>
                      <a:pt x="1152" y="250"/>
                    </a:lnTo>
                    <a:lnTo>
                      <a:pt x="995" y="0"/>
                    </a:lnTo>
                    <a:lnTo>
                      <a:pt x="0" y="0"/>
                    </a:lnTo>
                    <a:close/>
                  </a:path>
                </a:pathLst>
              </a:custGeom>
              <a:solidFill>
                <a:schemeClr val="accent3"/>
              </a:solidFill>
              <a:ln>
                <a:noFill/>
              </a:ln>
            </p:spPr>
            <p:txBody>
              <a:bodyPr spcFirstLastPara="1" wrap="square" lIns="45000" tIns="22500" rIns="45000" bIns="22500" anchor="ctr" anchorCtr="1">
                <a:noAutofit/>
              </a:bodyPr>
              <a:lstStyle/>
              <a:p>
                <a:pPr marL="0" marR="0" lvl="0" indent="0" algn="l" rtl="0">
                  <a:lnSpc>
                    <a:spcPct val="100000"/>
                  </a:lnSpc>
                  <a:spcBef>
                    <a:spcPts val="0"/>
                  </a:spcBef>
                  <a:spcAft>
                    <a:spcPts val="0"/>
                  </a:spcAft>
                  <a:buClr>
                    <a:srgbClr val="000000"/>
                  </a:buClr>
                  <a:buSzPts val="900"/>
                  <a:buFont typeface="Arial" panose="020B0604020202020204"/>
                  <a:buNone/>
                </a:pPr>
                <a:endParaRPr sz="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2" name="Google Shape;382;p15"/>
              <p:cNvSpPr/>
              <p:nvPr/>
            </p:nvSpPr>
            <p:spPr>
              <a:xfrm>
                <a:off x="595624" y="5338277"/>
                <a:ext cx="2847664"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3. Limited Voting Rights or No Voting Rights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83" name="Google Shape;383;p15"/>
            <p:cNvSpPr/>
            <p:nvPr/>
          </p:nvSpPr>
          <p:spPr>
            <a:xfrm>
              <a:off x="3599274" y="5101671"/>
              <a:ext cx="7919626" cy="1100814"/>
            </a:xfrm>
            <a:prstGeom prst="rect">
              <a:avLst/>
            </a:prstGeom>
            <a:noFill/>
            <a:ln>
              <a:noFill/>
            </a:ln>
          </p:spPr>
          <p:txBody>
            <a:bodyPr spcFirstLastPara="1" wrap="square" lIns="91425" tIns="45700" rIns="91425" bIns="45700" anchor="t" anchorCtr="0">
              <a:spAutoFit/>
            </a:bodyPr>
            <a:lstStyle/>
            <a:p>
              <a:pPr marL="0" marR="0" lvl="0" indent="0" algn="l" rtl="0">
                <a:lnSpc>
                  <a:spcPct val="127000"/>
                </a:lnSpc>
                <a:spcBef>
                  <a:spcPts val="0"/>
                </a:spcBef>
                <a:spcAft>
                  <a:spcPts val="0"/>
                </a:spcAft>
                <a:buClr>
                  <a:srgbClr val="000000"/>
                </a:buClr>
                <a:buSzPts val="1600"/>
                <a:buFont typeface="Arial" panose="020B0604020202020204"/>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In many cases, preferred shareholders have limited or no voting rights. While common shareholders can typically vote on company matters, preferred shareholders might not have the same level of influence on decisions. However, some types of preferred shares may come with voting rights if specific conditions are met.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84" name="Google Shape;384;p15"/>
          <p:cNvSpPr/>
          <p:nvPr/>
        </p:nvSpPr>
        <p:spPr>
          <a:xfrm>
            <a:off x="838200" y="1212112"/>
            <a:ext cx="10515600" cy="850604"/>
          </a:xfrm>
          <a:prstGeom prst="roundRect">
            <a:avLst>
              <a:gd name="adj" fmla="val 16667"/>
            </a:avLst>
          </a:prstGeom>
          <a:solidFill>
            <a:srgbClr val="DAF3EB"/>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Preferred shares</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often referred to as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preferred stock</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or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preference shares</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are a type of equity ownership in a company that comes with certain preferential rights and privileges compared to common shares. Here's an overview of preferred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88" name="Shape 388"/>
        <p:cNvGrpSpPr/>
        <p:nvPr/>
      </p:nvGrpSpPr>
      <p:grpSpPr>
        <a:xfrm>
          <a:off x="0" y="0"/>
          <a:ext cx="0" cy="0"/>
          <a:chOff x="0" y="0"/>
          <a:chExt cx="0" cy="0"/>
        </a:xfrm>
      </p:grpSpPr>
      <p:sp>
        <p:nvSpPr>
          <p:cNvPr id="389" name="Google Shape;389;p16"/>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PREFERRED SHARES</a:t>
            </a:r>
            <a:endParaRPr lang="en-US"/>
          </a:p>
        </p:txBody>
      </p:sp>
      <p:grpSp>
        <p:nvGrpSpPr>
          <p:cNvPr id="390" name="Google Shape;390;p16"/>
          <p:cNvGrpSpPr/>
          <p:nvPr/>
        </p:nvGrpSpPr>
        <p:grpSpPr>
          <a:xfrm>
            <a:off x="640774" y="1493159"/>
            <a:ext cx="10878126" cy="1100814"/>
            <a:chOff x="640774" y="1493159"/>
            <a:chExt cx="10878126" cy="1100814"/>
          </a:xfrm>
        </p:grpSpPr>
        <p:sp>
          <p:nvSpPr>
            <p:cNvPr id="391" name="Google Shape;391;p16"/>
            <p:cNvSpPr/>
            <p:nvPr/>
          </p:nvSpPr>
          <p:spPr>
            <a:xfrm>
              <a:off x="640774" y="1781187"/>
              <a:ext cx="2916000" cy="584017"/>
            </a:xfrm>
            <a:custGeom>
              <a:avLst/>
              <a:gdLst/>
              <a:ahLst/>
              <a:cxnLst/>
              <a:rect l="l" t="t" r="r" b="b"/>
              <a:pathLst>
                <a:path w="1152" h="500" extrusionOk="0">
                  <a:moveTo>
                    <a:pt x="0" y="500"/>
                  </a:moveTo>
                  <a:lnTo>
                    <a:pt x="995" y="500"/>
                  </a:lnTo>
                  <a:lnTo>
                    <a:pt x="1152" y="250"/>
                  </a:lnTo>
                  <a:lnTo>
                    <a:pt x="1152" y="250"/>
                  </a:lnTo>
                  <a:lnTo>
                    <a:pt x="995" y="0"/>
                  </a:lnTo>
                  <a:lnTo>
                    <a:pt x="0" y="0"/>
                  </a:lnTo>
                  <a:close/>
                </a:path>
              </a:pathLst>
            </a:custGeom>
            <a:solidFill>
              <a:srgbClr val="1F949C"/>
            </a:solidFill>
            <a:ln>
              <a:noFill/>
            </a:ln>
          </p:spPr>
          <p:txBody>
            <a:bodyPr spcFirstLastPara="1" wrap="square" lIns="45000" tIns="22500" rIns="45000" bIns="22500" anchor="ctr" anchorCtr="1">
              <a:noAutofit/>
            </a:bodyPr>
            <a:lstStyle/>
            <a:p>
              <a:pPr marL="0" marR="0" lvl="0" indent="0" algn="l" rtl="0">
                <a:lnSpc>
                  <a:spcPct val="100000"/>
                </a:lnSpc>
                <a:spcBef>
                  <a:spcPts val="0"/>
                </a:spcBef>
                <a:spcAft>
                  <a:spcPts val="0"/>
                </a:spcAft>
                <a:buClr>
                  <a:srgbClr val="000000"/>
                </a:buClr>
                <a:buSzPts val="900"/>
                <a:buFont typeface="Arial" panose="020B0604020202020204"/>
                <a:buNone/>
              </a:pPr>
              <a:endParaRPr sz="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2" name="Google Shape;392;p16"/>
            <p:cNvSpPr/>
            <p:nvPr/>
          </p:nvSpPr>
          <p:spPr>
            <a:xfrm>
              <a:off x="640775" y="1869684"/>
              <a:ext cx="332210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4. Priority in Liquidation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3" name="Google Shape;393;p16"/>
            <p:cNvSpPr/>
            <p:nvPr/>
          </p:nvSpPr>
          <p:spPr>
            <a:xfrm>
              <a:off x="3797442" y="1493159"/>
              <a:ext cx="7721458" cy="1100814"/>
            </a:xfrm>
            <a:prstGeom prst="rect">
              <a:avLst/>
            </a:prstGeom>
            <a:noFill/>
            <a:ln>
              <a:noFill/>
            </a:ln>
          </p:spPr>
          <p:txBody>
            <a:bodyPr spcFirstLastPara="1" wrap="square" lIns="91425" tIns="45700" rIns="91425" bIns="45700" anchor="t" anchorCtr="0">
              <a:spAutoFit/>
            </a:bodyPr>
            <a:lstStyle/>
            <a:p>
              <a:pPr marL="0" marR="0" lvl="0" indent="0" algn="l" rtl="0">
                <a:lnSpc>
                  <a:spcPct val="127000"/>
                </a:lnSpc>
                <a:spcBef>
                  <a:spcPts val="0"/>
                </a:spcBef>
                <a:spcAft>
                  <a:spcPts val="0"/>
                </a:spcAft>
                <a:buClr>
                  <a:srgbClr val="000000"/>
                </a:buClr>
                <a:buSzPts val="1600"/>
                <a:buFont typeface="Arial" panose="020B0604020202020204"/>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In the event of the company's liquidation or bankruptcy, preferred shareholders have a higher claim on the company's assets compared to common shareholders. This means that preferred shareholders are more likely to receive a portion of the remaining assets after satisfying debts and obligations.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94" name="Google Shape;394;p16"/>
          <p:cNvGrpSpPr/>
          <p:nvPr/>
        </p:nvGrpSpPr>
        <p:grpSpPr>
          <a:xfrm>
            <a:off x="640774" y="2960007"/>
            <a:ext cx="10910451" cy="844334"/>
            <a:chOff x="640774" y="2960007"/>
            <a:chExt cx="10910451" cy="844334"/>
          </a:xfrm>
        </p:grpSpPr>
        <p:sp>
          <p:nvSpPr>
            <p:cNvPr id="395" name="Google Shape;395;p16"/>
            <p:cNvSpPr/>
            <p:nvPr/>
          </p:nvSpPr>
          <p:spPr>
            <a:xfrm>
              <a:off x="640774" y="3012845"/>
              <a:ext cx="2916000" cy="582847"/>
            </a:xfrm>
            <a:custGeom>
              <a:avLst/>
              <a:gdLst/>
              <a:ahLst/>
              <a:cxnLst/>
              <a:rect l="l" t="t" r="r" b="b"/>
              <a:pathLst>
                <a:path w="1152" h="499" extrusionOk="0">
                  <a:moveTo>
                    <a:pt x="0" y="499"/>
                  </a:moveTo>
                  <a:lnTo>
                    <a:pt x="995" y="499"/>
                  </a:lnTo>
                  <a:lnTo>
                    <a:pt x="1152" y="250"/>
                  </a:lnTo>
                  <a:lnTo>
                    <a:pt x="1152" y="249"/>
                  </a:lnTo>
                  <a:lnTo>
                    <a:pt x="995" y="0"/>
                  </a:lnTo>
                  <a:lnTo>
                    <a:pt x="0" y="0"/>
                  </a:lnTo>
                  <a:close/>
                </a:path>
              </a:pathLst>
            </a:custGeom>
            <a:solidFill>
              <a:schemeClr val="dk2"/>
            </a:solidFill>
            <a:ln>
              <a:noFill/>
            </a:ln>
          </p:spPr>
          <p:txBody>
            <a:bodyPr spcFirstLastPara="1" wrap="square" lIns="45000" tIns="22500" rIns="45000" bIns="22500" anchor="ctr" anchorCtr="1">
              <a:noAutofit/>
            </a:bodyPr>
            <a:lstStyle/>
            <a:p>
              <a:pPr marL="0" marR="0" lvl="0" indent="0" algn="l" rtl="0">
                <a:lnSpc>
                  <a:spcPct val="100000"/>
                </a:lnSpc>
                <a:spcBef>
                  <a:spcPts val="0"/>
                </a:spcBef>
                <a:spcAft>
                  <a:spcPts val="0"/>
                </a:spcAft>
                <a:buClr>
                  <a:srgbClr val="000000"/>
                </a:buClr>
                <a:buSzPts val="900"/>
                <a:buFont typeface="Arial" panose="020B0604020202020204"/>
                <a:buNone/>
              </a:pPr>
              <a:endParaRPr sz="9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6" name="Google Shape;396;p16"/>
            <p:cNvSpPr/>
            <p:nvPr/>
          </p:nvSpPr>
          <p:spPr>
            <a:xfrm>
              <a:off x="768567" y="3134418"/>
              <a:ext cx="225244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5. Different Series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7" name="Google Shape;397;p16"/>
            <p:cNvSpPr/>
            <p:nvPr/>
          </p:nvSpPr>
          <p:spPr>
            <a:xfrm>
              <a:off x="3797441" y="2960007"/>
              <a:ext cx="7753784" cy="844334"/>
            </a:xfrm>
            <a:prstGeom prst="rect">
              <a:avLst/>
            </a:prstGeom>
            <a:noFill/>
            <a:ln>
              <a:noFill/>
            </a:ln>
          </p:spPr>
          <p:txBody>
            <a:bodyPr spcFirstLastPara="1" wrap="square" lIns="91425" tIns="45700" rIns="91425" bIns="45700" anchor="t" anchorCtr="0">
              <a:spAutoFit/>
            </a:bodyPr>
            <a:lstStyle/>
            <a:p>
              <a:pPr marL="0" marR="0" lvl="0" indent="0" algn="l" rtl="0">
                <a:lnSpc>
                  <a:spcPct val="127000"/>
                </a:lnSpc>
                <a:spcBef>
                  <a:spcPts val="0"/>
                </a:spcBef>
                <a:spcAft>
                  <a:spcPts val="0"/>
                </a:spcAft>
                <a:buClr>
                  <a:srgbClr val="000000"/>
                </a:buClr>
                <a:buSzPts val="1600"/>
                <a:buFont typeface="Arial" panose="020B0604020202020204"/>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Companies may issue multiple series of preferred shares, each with different terms, dividend rates, and other characteristics. This allows companies to tailor preferred shares to specific investor preferences or capital needs.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98" name="Google Shape;398;p16"/>
          <p:cNvSpPr/>
          <p:nvPr/>
        </p:nvSpPr>
        <p:spPr>
          <a:xfrm>
            <a:off x="768567" y="4774018"/>
            <a:ext cx="10618903" cy="1360081"/>
          </a:xfrm>
          <a:prstGeom prst="roundRect">
            <a:avLst>
              <a:gd name="adj" fmla="val 16667"/>
            </a:avLst>
          </a:prstGeom>
          <a:solidFill>
            <a:srgbClr val="DAF3EB"/>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shares are often seen as a hybrid between common equity and debt. While they offer the potential for regular income through fixed dividends and certain protections in case of company difficulties, they generally lack the same potential for capital appreciation as common shares. The specific terms and features of preferred shares can vary widely depending on the issuing company and the type of preferred shares being offered.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03" name="Shape 403"/>
        <p:cNvGrpSpPr/>
        <p:nvPr/>
      </p:nvGrpSpPr>
      <p:grpSpPr>
        <a:xfrm>
          <a:off x="0" y="0"/>
          <a:ext cx="0" cy="0"/>
          <a:chOff x="0" y="0"/>
          <a:chExt cx="0" cy="0"/>
        </a:xfrm>
      </p:grpSpPr>
      <p:sp>
        <p:nvSpPr>
          <p:cNvPr id="404" name="Google Shape;404;p1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05" name="Google Shape;405;p17"/>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PREFERENCE SHARES</a:t>
            </a:r>
            <a:endParaRPr lang="en-US"/>
          </a:p>
        </p:txBody>
      </p:sp>
      <p:grpSp>
        <p:nvGrpSpPr>
          <p:cNvPr id="406" name="Google Shape;406;p17"/>
          <p:cNvGrpSpPr/>
          <p:nvPr/>
        </p:nvGrpSpPr>
        <p:grpSpPr>
          <a:xfrm>
            <a:off x="730395" y="2336428"/>
            <a:ext cx="5255902" cy="3881491"/>
            <a:chOff x="730395" y="2336429"/>
            <a:chExt cx="5255902" cy="2948926"/>
          </a:xfrm>
        </p:grpSpPr>
        <p:grpSp>
          <p:nvGrpSpPr>
            <p:cNvPr id="407" name="Google Shape;407;p17"/>
            <p:cNvGrpSpPr/>
            <p:nvPr/>
          </p:nvGrpSpPr>
          <p:grpSpPr>
            <a:xfrm>
              <a:off x="730395" y="2336429"/>
              <a:ext cx="5255902" cy="2948926"/>
              <a:chOff x="635090" y="2731746"/>
              <a:chExt cx="5255902" cy="2948926"/>
            </a:xfrm>
          </p:grpSpPr>
          <p:pic>
            <p:nvPicPr>
              <p:cNvPr id="408" name="Google Shape;408;p17"/>
              <p:cNvPicPr preferRelativeResize="0"/>
              <p:nvPr/>
            </p:nvPicPr>
            <p:blipFill rotWithShape="1">
              <a:blip r:embed="rId1"/>
              <a:srcRect t="64560"/>
              <a:stretch>
                <a:fillRect/>
              </a:stretch>
            </p:blipFill>
            <p:spPr>
              <a:xfrm>
                <a:off x="635090" y="5381015"/>
                <a:ext cx="1759483" cy="299657"/>
              </a:xfrm>
              <a:prstGeom prst="rect">
                <a:avLst/>
              </a:prstGeom>
              <a:noFill/>
              <a:ln>
                <a:noFill/>
              </a:ln>
            </p:spPr>
          </p:pic>
          <p:grpSp>
            <p:nvGrpSpPr>
              <p:cNvPr id="409" name="Google Shape;409;p17"/>
              <p:cNvGrpSpPr/>
              <p:nvPr/>
            </p:nvGrpSpPr>
            <p:grpSpPr>
              <a:xfrm>
                <a:off x="635090" y="2731746"/>
                <a:ext cx="5255902" cy="2799098"/>
                <a:chOff x="635090" y="2731746"/>
                <a:chExt cx="5255902" cy="2799098"/>
              </a:xfrm>
            </p:grpSpPr>
            <p:sp>
              <p:nvSpPr>
                <p:cNvPr id="410" name="Google Shape;410;p17"/>
                <p:cNvSpPr txBox="1"/>
                <p:nvPr/>
              </p:nvSpPr>
              <p:spPr>
                <a:xfrm>
                  <a:off x="700550" y="2731746"/>
                  <a:ext cx="5190442" cy="2799098"/>
                </a:xfrm>
                <a:prstGeom prst="rect">
                  <a:avLst/>
                </a:prstGeom>
                <a:gradFill>
                  <a:gsLst>
                    <a:gs pos="0">
                      <a:schemeClr val="lt1"/>
                    </a:gs>
                    <a:gs pos="100000">
                      <a:schemeClr val="lt1"/>
                    </a:gs>
                  </a:gsLst>
                  <a:lin ang="5400000" scaled="0"/>
                </a:gradFill>
                <a:ln w="9525" cap="flat" cmpd="sng">
                  <a:solidFill>
                    <a:schemeClr val="accent5"/>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11" name="Google Shape;411;p17"/>
                <p:cNvSpPr/>
                <p:nvPr/>
              </p:nvSpPr>
              <p:spPr>
                <a:xfrm>
                  <a:off x="700550" y="2743545"/>
                  <a:ext cx="5190300" cy="381000"/>
                </a:xfrm>
                <a:prstGeom prst="rect">
                  <a:avLst/>
                </a:prstGeom>
                <a:solidFill>
                  <a:schemeClr val="accent5"/>
                </a:solidFill>
                <a:ln w="9525"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Cumulative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12" name="Google Shape;412;p17"/>
                <p:cNvPicPr preferRelativeResize="0"/>
                <p:nvPr/>
              </p:nvPicPr>
              <p:blipFill rotWithShape="1">
                <a:blip r:embed="rId1"/>
                <a:srcRect t="64560"/>
                <a:stretch>
                  <a:fillRect/>
                </a:stretch>
              </p:blipFill>
              <p:spPr>
                <a:xfrm>
                  <a:off x="635090" y="2919592"/>
                  <a:ext cx="1759482" cy="382727"/>
                </a:xfrm>
                <a:prstGeom prst="rect">
                  <a:avLst/>
                </a:prstGeom>
                <a:noFill/>
                <a:ln>
                  <a:noFill/>
                </a:ln>
              </p:spPr>
            </p:pic>
          </p:grpSp>
        </p:grpSp>
        <p:sp>
          <p:nvSpPr>
            <p:cNvPr id="413" name="Google Shape;413;p17"/>
            <p:cNvSpPr txBox="1"/>
            <p:nvPr/>
          </p:nvSpPr>
          <p:spPr>
            <a:xfrm>
              <a:off x="966028" y="2826419"/>
              <a:ext cx="4784700" cy="15669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Shares with a provision that ensures unpaid dividends accumulate and are paid in future profitable years.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Before common shareholders receive any dividends, all accumulated arrears must be cleared.</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Benefit</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Provides greater security of dividend payments compared to common stock.</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414" name="Google Shape;414;p17"/>
          <p:cNvGrpSpPr/>
          <p:nvPr/>
        </p:nvGrpSpPr>
        <p:grpSpPr>
          <a:xfrm>
            <a:off x="6180845" y="2333695"/>
            <a:ext cx="5255760" cy="3930495"/>
            <a:chOff x="6180845" y="2333695"/>
            <a:chExt cx="5255760" cy="2986156"/>
          </a:xfrm>
        </p:grpSpPr>
        <p:grpSp>
          <p:nvGrpSpPr>
            <p:cNvPr id="415" name="Google Shape;415;p17"/>
            <p:cNvGrpSpPr/>
            <p:nvPr/>
          </p:nvGrpSpPr>
          <p:grpSpPr>
            <a:xfrm>
              <a:off x="6180845" y="2333695"/>
              <a:ext cx="5255760" cy="2986156"/>
              <a:chOff x="6443973" y="2731745"/>
              <a:chExt cx="5255760" cy="2986156"/>
            </a:xfrm>
          </p:grpSpPr>
          <p:pic>
            <p:nvPicPr>
              <p:cNvPr id="416" name="Google Shape;416;p17"/>
              <p:cNvPicPr preferRelativeResize="0"/>
              <p:nvPr/>
            </p:nvPicPr>
            <p:blipFill rotWithShape="1">
              <a:blip r:embed="rId1"/>
              <a:srcRect t="64560"/>
              <a:stretch>
                <a:fillRect/>
              </a:stretch>
            </p:blipFill>
            <p:spPr>
              <a:xfrm>
                <a:off x="6468833" y="5335174"/>
                <a:ext cx="1759483" cy="382727"/>
              </a:xfrm>
              <a:prstGeom prst="rect">
                <a:avLst/>
              </a:prstGeom>
              <a:noFill/>
              <a:ln>
                <a:noFill/>
              </a:ln>
            </p:spPr>
          </p:pic>
          <p:grpSp>
            <p:nvGrpSpPr>
              <p:cNvPr id="417" name="Google Shape;417;p17"/>
              <p:cNvGrpSpPr/>
              <p:nvPr/>
            </p:nvGrpSpPr>
            <p:grpSpPr>
              <a:xfrm>
                <a:off x="6443973" y="2731745"/>
                <a:ext cx="5255760" cy="2799000"/>
                <a:chOff x="6443973" y="2731745"/>
                <a:chExt cx="5255760" cy="2799000"/>
              </a:xfrm>
            </p:grpSpPr>
            <p:sp>
              <p:nvSpPr>
                <p:cNvPr id="418" name="Google Shape;418;p17"/>
                <p:cNvSpPr txBox="1"/>
                <p:nvPr/>
              </p:nvSpPr>
              <p:spPr>
                <a:xfrm>
                  <a:off x="6509433" y="2731745"/>
                  <a:ext cx="5190300" cy="2799000"/>
                </a:xfrm>
                <a:prstGeom prst="rect">
                  <a:avLst/>
                </a:prstGeom>
                <a:gradFill>
                  <a:gsLst>
                    <a:gs pos="0">
                      <a:schemeClr val="lt1"/>
                    </a:gs>
                    <a:gs pos="100000">
                      <a:schemeClr val="lt1"/>
                    </a:gs>
                  </a:gsLst>
                  <a:lin ang="5400000" scaled="0"/>
                </a:gradFill>
                <a:ln w="9525" cap="flat" cmpd="sng">
                  <a:solidFill>
                    <a:schemeClr val="accent5"/>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19" name="Google Shape;419;p17"/>
                <p:cNvSpPr/>
                <p:nvPr/>
              </p:nvSpPr>
              <p:spPr>
                <a:xfrm>
                  <a:off x="6509433" y="2743545"/>
                  <a:ext cx="5190300" cy="381000"/>
                </a:xfrm>
                <a:prstGeom prst="rect">
                  <a:avLst/>
                </a:prstGeom>
                <a:solidFill>
                  <a:schemeClr val="accent5"/>
                </a:solidFill>
                <a:ln w="9525" cap="flat" cmpd="sng">
                  <a:solidFill>
                    <a:schemeClr val="accent5"/>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Non-Cumulative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20" name="Google Shape;420;p17"/>
                <p:cNvPicPr preferRelativeResize="0"/>
                <p:nvPr/>
              </p:nvPicPr>
              <p:blipFill rotWithShape="1">
                <a:blip r:embed="rId1"/>
                <a:srcRect t="64560"/>
                <a:stretch>
                  <a:fillRect/>
                </a:stretch>
              </p:blipFill>
              <p:spPr>
                <a:xfrm>
                  <a:off x="6443973" y="2919592"/>
                  <a:ext cx="1759482" cy="382727"/>
                </a:xfrm>
                <a:prstGeom prst="rect">
                  <a:avLst/>
                </a:prstGeom>
                <a:noFill/>
                <a:ln>
                  <a:noFill/>
                </a:ln>
              </p:spPr>
            </p:pic>
          </p:grpSp>
        </p:grpSp>
        <p:sp>
          <p:nvSpPr>
            <p:cNvPr id="421" name="Google Shape;421;p17"/>
            <p:cNvSpPr txBox="1"/>
            <p:nvPr/>
          </p:nvSpPr>
          <p:spPr>
            <a:xfrm>
              <a:off x="6431498" y="2822539"/>
              <a:ext cx="4784700" cy="1941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Unlike cumulative preference shares, these do not carry forward unpaid dividends.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If the company skips dividend payment in a given year, shareholders lose the right to claim it in the future.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Implication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More risky compared to cumulative preference shares, but may offer higher returns when dividends are declared.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422" name="Google Shape;422;p17"/>
          <p:cNvSpPr/>
          <p:nvPr/>
        </p:nvSpPr>
        <p:spPr>
          <a:xfrm>
            <a:off x="0" y="1244008"/>
            <a:ext cx="12192000" cy="669485"/>
          </a:xfrm>
          <a:prstGeom prst="rect">
            <a:avLst/>
          </a:prstGeom>
          <a:solidFill>
            <a:schemeClr val="dk2"/>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There are various types of preference shares, each with its own unique features and characteristics. Some common types of preference shares include: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27" name="Shape 427"/>
        <p:cNvGrpSpPr/>
        <p:nvPr/>
      </p:nvGrpSpPr>
      <p:grpSpPr>
        <a:xfrm>
          <a:off x="0" y="0"/>
          <a:ext cx="0" cy="0"/>
          <a:chOff x="0" y="0"/>
          <a:chExt cx="0" cy="0"/>
        </a:xfrm>
      </p:grpSpPr>
      <p:sp>
        <p:nvSpPr>
          <p:cNvPr id="428" name="Google Shape;428;p1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29" name="Google Shape;429;p18"/>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PREFERENCE SHARES</a:t>
            </a:r>
            <a:endParaRPr lang="en-US"/>
          </a:p>
        </p:txBody>
      </p:sp>
      <p:grpSp>
        <p:nvGrpSpPr>
          <p:cNvPr id="430" name="Google Shape;430;p18"/>
          <p:cNvGrpSpPr/>
          <p:nvPr/>
        </p:nvGrpSpPr>
        <p:grpSpPr>
          <a:xfrm>
            <a:off x="709225" y="1292715"/>
            <a:ext cx="5329478" cy="3638195"/>
            <a:chOff x="709225" y="1292715"/>
            <a:chExt cx="5329478" cy="3638195"/>
          </a:xfrm>
        </p:grpSpPr>
        <p:grpSp>
          <p:nvGrpSpPr>
            <p:cNvPr id="431" name="Google Shape;431;p18"/>
            <p:cNvGrpSpPr/>
            <p:nvPr/>
          </p:nvGrpSpPr>
          <p:grpSpPr>
            <a:xfrm>
              <a:off x="709225" y="1292715"/>
              <a:ext cx="5329478" cy="3637483"/>
              <a:chOff x="641867" y="2438758"/>
              <a:chExt cx="5329478" cy="3637483"/>
            </a:xfrm>
          </p:grpSpPr>
          <p:pic>
            <p:nvPicPr>
              <p:cNvPr id="432" name="Google Shape;432;p18"/>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433" name="Google Shape;433;p18"/>
              <p:cNvGrpSpPr/>
              <p:nvPr/>
            </p:nvGrpSpPr>
            <p:grpSpPr>
              <a:xfrm>
                <a:off x="641867" y="2438758"/>
                <a:ext cx="5329478" cy="3637483"/>
                <a:chOff x="641867" y="2438758"/>
                <a:chExt cx="5329478" cy="3637483"/>
              </a:xfrm>
            </p:grpSpPr>
            <p:sp>
              <p:nvSpPr>
                <p:cNvPr id="434" name="Google Shape;434;p18"/>
                <p:cNvSpPr txBox="1"/>
                <p:nvPr/>
              </p:nvSpPr>
              <p:spPr>
                <a:xfrm>
                  <a:off x="703546" y="2438758"/>
                  <a:ext cx="5267799" cy="3637483"/>
                </a:xfrm>
                <a:prstGeom prst="rect">
                  <a:avLst/>
                </a:prstGeom>
                <a:gradFill>
                  <a:gsLst>
                    <a:gs pos="0">
                      <a:schemeClr val="lt1"/>
                    </a:gs>
                    <a:gs pos="100000">
                      <a:schemeClr val="lt1"/>
                    </a:gs>
                  </a:gsLst>
                  <a:lin ang="5400000" scaled="0"/>
                </a:gradFill>
                <a:ln w="9525" cap="flat" cmpd="sng">
                  <a:solidFill>
                    <a:schemeClr val="dk2"/>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35" name="Google Shape;435;p18"/>
                <p:cNvSpPr/>
                <p:nvPr/>
              </p:nvSpPr>
              <p:spPr>
                <a:xfrm>
                  <a:off x="707342" y="2438768"/>
                  <a:ext cx="5256000" cy="558900"/>
                </a:xfrm>
                <a:prstGeom prst="rect">
                  <a:avLst/>
                </a:prstGeom>
                <a:solidFill>
                  <a:schemeClr val="dk2"/>
                </a:solidFill>
                <a:ln w="9525" cap="flat" cmpd="sng">
                  <a:solidFill>
                    <a:schemeClr val="dk2"/>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Optionally Convertible Shares</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436" name="Google Shape;436;p18"/>
                <p:cNvPicPr preferRelativeResize="0"/>
                <p:nvPr/>
              </p:nvPicPr>
              <p:blipFill rotWithShape="1">
                <a:blip r:embed="rId1"/>
                <a:srcRect t="64560"/>
                <a:stretch>
                  <a:fillRect/>
                </a:stretch>
              </p:blipFill>
              <p:spPr>
                <a:xfrm>
                  <a:off x="641867" y="2690988"/>
                  <a:ext cx="1759501" cy="558900"/>
                </a:xfrm>
                <a:prstGeom prst="rect">
                  <a:avLst/>
                </a:prstGeom>
                <a:noFill/>
                <a:ln>
                  <a:noFill/>
                </a:ln>
              </p:spPr>
            </p:pic>
          </p:grpSp>
        </p:grpSp>
        <p:sp>
          <p:nvSpPr>
            <p:cNvPr id="437" name="Google Shape;437;p18"/>
            <p:cNvSpPr txBox="1"/>
            <p:nvPr/>
          </p:nvSpPr>
          <p:spPr>
            <a:xfrm>
              <a:off x="970803" y="1883210"/>
              <a:ext cx="4784700" cy="30477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These preference shares give shareholders the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option (not obligation)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to convert them into a predetermined number of common equity shares.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Benefit</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Provides investors with a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flexibility choice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Steady dividend income (as preference shares), OR</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Capital appreciation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(by converting into common shares).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Advantage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Balances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fixed income security</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with the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growth potential</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of equity.</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438" name="Google Shape;438;p18"/>
          <p:cNvGrpSpPr/>
          <p:nvPr/>
        </p:nvGrpSpPr>
        <p:grpSpPr>
          <a:xfrm>
            <a:off x="6153297" y="1315622"/>
            <a:ext cx="5256053" cy="3805018"/>
            <a:chOff x="6153297" y="1315622"/>
            <a:chExt cx="5256053" cy="2363708"/>
          </a:xfrm>
        </p:grpSpPr>
        <p:grpSp>
          <p:nvGrpSpPr>
            <p:cNvPr id="439" name="Google Shape;439;p18"/>
            <p:cNvGrpSpPr/>
            <p:nvPr/>
          </p:nvGrpSpPr>
          <p:grpSpPr>
            <a:xfrm>
              <a:off x="6153297" y="1315622"/>
              <a:ext cx="5256053" cy="2363708"/>
              <a:chOff x="641875" y="2438758"/>
              <a:chExt cx="5256053" cy="2363708"/>
            </a:xfrm>
          </p:grpSpPr>
          <p:pic>
            <p:nvPicPr>
              <p:cNvPr id="440" name="Google Shape;440;p18"/>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441" name="Google Shape;441;p18"/>
              <p:cNvGrpSpPr/>
              <p:nvPr/>
            </p:nvGrpSpPr>
            <p:grpSpPr>
              <a:xfrm>
                <a:off x="641875" y="2438758"/>
                <a:ext cx="5256053" cy="2243613"/>
                <a:chOff x="641875" y="2438758"/>
                <a:chExt cx="5256053" cy="2243613"/>
              </a:xfrm>
            </p:grpSpPr>
            <p:sp>
              <p:nvSpPr>
                <p:cNvPr id="442" name="Google Shape;442;p18"/>
                <p:cNvSpPr txBox="1"/>
                <p:nvPr/>
              </p:nvSpPr>
              <p:spPr>
                <a:xfrm>
                  <a:off x="703547" y="2438758"/>
                  <a:ext cx="5190442" cy="2243613"/>
                </a:xfrm>
                <a:prstGeom prst="rect">
                  <a:avLst/>
                </a:prstGeom>
                <a:gradFill>
                  <a:gsLst>
                    <a:gs pos="0">
                      <a:schemeClr val="lt1"/>
                    </a:gs>
                    <a:gs pos="100000">
                      <a:schemeClr val="lt1"/>
                    </a:gs>
                  </a:gsLst>
                  <a:lin ang="5400000" scaled="0"/>
                </a:gradFill>
                <a:ln w="9525" cap="flat" cmpd="sng">
                  <a:solidFill>
                    <a:schemeClr val="dk2"/>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43" name="Google Shape;443;p18"/>
                <p:cNvSpPr/>
                <p:nvPr/>
              </p:nvSpPr>
              <p:spPr>
                <a:xfrm>
                  <a:off x="707328" y="2438763"/>
                  <a:ext cx="5190600" cy="339300"/>
                </a:xfrm>
                <a:prstGeom prst="rect">
                  <a:avLst/>
                </a:prstGeom>
                <a:solidFill>
                  <a:schemeClr val="dk2"/>
                </a:solidFill>
                <a:ln w="9525" cap="flat" cmpd="sng">
                  <a:solidFill>
                    <a:schemeClr val="dk2"/>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Non-Convertible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44" name="Google Shape;444;p18"/>
                <p:cNvPicPr preferRelativeResize="0"/>
                <p:nvPr/>
              </p:nvPicPr>
              <p:blipFill rotWithShape="1">
                <a:blip r:embed="rId1"/>
                <a:srcRect t="64560"/>
                <a:stretch>
                  <a:fillRect/>
                </a:stretch>
              </p:blipFill>
              <p:spPr>
                <a:xfrm>
                  <a:off x="641875" y="2567470"/>
                  <a:ext cx="1759482" cy="382727"/>
                </a:xfrm>
                <a:prstGeom prst="rect">
                  <a:avLst/>
                </a:prstGeom>
                <a:noFill/>
                <a:ln>
                  <a:noFill/>
                </a:ln>
              </p:spPr>
            </p:pic>
          </p:grpSp>
        </p:grpSp>
        <p:sp>
          <p:nvSpPr>
            <p:cNvPr id="445" name="Google Shape;445;p18"/>
            <p:cNvSpPr txBox="1"/>
            <p:nvPr/>
          </p:nvSpPr>
          <p:spPr>
            <a:xfrm>
              <a:off x="6338047" y="1702263"/>
              <a:ext cx="4784700" cy="15873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These preference shares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cannot be converted</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into common equity shares.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Features</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Provide a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fixed dividend</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Carry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preferential rights</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over common shareholders in dividend payments and repayment of capital.</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Perspective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Suitable for investors seeking </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stable income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rather than equity growth.</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50" name="Shape 450"/>
        <p:cNvGrpSpPr/>
        <p:nvPr/>
      </p:nvGrpSpPr>
      <p:grpSpPr>
        <a:xfrm>
          <a:off x="0" y="0"/>
          <a:ext cx="0" cy="0"/>
          <a:chOff x="0" y="0"/>
          <a:chExt cx="0" cy="0"/>
        </a:xfrm>
      </p:grpSpPr>
      <p:sp>
        <p:nvSpPr>
          <p:cNvPr id="451" name="Google Shape;451;p1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52" name="Google Shape;452;p19"/>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PREFERENCE SHARES</a:t>
            </a:r>
            <a:endParaRPr lang="en-US"/>
          </a:p>
        </p:txBody>
      </p:sp>
      <p:grpSp>
        <p:nvGrpSpPr>
          <p:cNvPr id="453" name="Google Shape;453;p19"/>
          <p:cNvGrpSpPr/>
          <p:nvPr/>
        </p:nvGrpSpPr>
        <p:grpSpPr>
          <a:xfrm>
            <a:off x="750071" y="1612114"/>
            <a:ext cx="5365424" cy="3252862"/>
            <a:chOff x="750071" y="3871992"/>
            <a:chExt cx="5365424" cy="3252862"/>
          </a:xfrm>
        </p:grpSpPr>
        <p:grpSp>
          <p:nvGrpSpPr>
            <p:cNvPr id="454" name="Google Shape;454;p19"/>
            <p:cNvGrpSpPr/>
            <p:nvPr/>
          </p:nvGrpSpPr>
          <p:grpSpPr>
            <a:xfrm>
              <a:off x="750071" y="3871992"/>
              <a:ext cx="5256054" cy="3252862"/>
              <a:chOff x="641875" y="2438758"/>
              <a:chExt cx="5256054" cy="3252862"/>
            </a:xfrm>
          </p:grpSpPr>
          <p:pic>
            <p:nvPicPr>
              <p:cNvPr id="455" name="Google Shape;455;p19"/>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456" name="Google Shape;456;p19"/>
              <p:cNvGrpSpPr/>
              <p:nvPr/>
            </p:nvGrpSpPr>
            <p:grpSpPr>
              <a:xfrm>
                <a:off x="641875" y="2438758"/>
                <a:ext cx="5256054" cy="3252862"/>
                <a:chOff x="641875" y="2438758"/>
                <a:chExt cx="5256054" cy="3252862"/>
              </a:xfrm>
            </p:grpSpPr>
            <p:sp>
              <p:nvSpPr>
                <p:cNvPr id="457" name="Google Shape;457;p19"/>
                <p:cNvSpPr txBox="1"/>
                <p:nvPr/>
              </p:nvSpPr>
              <p:spPr>
                <a:xfrm>
                  <a:off x="703547" y="2438758"/>
                  <a:ext cx="5190442" cy="3252862"/>
                </a:xfrm>
                <a:prstGeom prst="rect">
                  <a:avLst/>
                </a:prstGeom>
                <a:gradFill>
                  <a:gsLst>
                    <a:gs pos="0">
                      <a:schemeClr val="lt1"/>
                    </a:gs>
                    <a:gs pos="100000">
                      <a:schemeClr val="lt1"/>
                    </a:gs>
                  </a:gsLst>
                  <a:lin ang="5400000" scaled="0"/>
                </a:gradFill>
                <a:ln w="9525" cap="flat" cmpd="sng">
                  <a:solidFill>
                    <a:schemeClr val="dk2"/>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58" name="Google Shape;458;p19"/>
                <p:cNvSpPr/>
                <p:nvPr/>
              </p:nvSpPr>
              <p:spPr>
                <a:xfrm>
                  <a:off x="707329" y="2438773"/>
                  <a:ext cx="5190600" cy="524700"/>
                </a:xfrm>
                <a:prstGeom prst="rect">
                  <a:avLst/>
                </a:prstGeom>
                <a:solidFill>
                  <a:schemeClr val="dk2"/>
                </a:solidFill>
                <a:ln w="9525" cap="flat" cmpd="sng">
                  <a:solidFill>
                    <a:schemeClr val="dk2"/>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5. Participating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59" name="Google Shape;459;p19"/>
                <p:cNvPicPr preferRelativeResize="0"/>
                <p:nvPr/>
              </p:nvPicPr>
              <p:blipFill rotWithShape="1">
                <a:blip r:embed="rId1"/>
                <a:srcRect t="64560"/>
                <a:stretch>
                  <a:fillRect/>
                </a:stretch>
              </p:blipFill>
              <p:spPr>
                <a:xfrm>
                  <a:off x="641875" y="2767205"/>
                  <a:ext cx="1759482" cy="382727"/>
                </a:xfrm>
                <a:prstGeom prst="rect">
                  <a:avLst/>
                </a:prstGeom>
                <a:noFill/>
                <a:ln>
                  <a:noFill/>
                </a:ln>
              </p:spPr>
            </p:pic>
          </p:grpSp>
        </p:grpSp>
        <p:sp>
          <p:nvSpPr>
            <p:cNvPr id="460" name="Google Shape;460;p19"/>
            <p:cNvSpPr txBox="1"/>
            <p:nvPr/>
          </p:nvSpPr>
          <p:spPr>
            <a:xfrm>
              <a:off x="1003195" y="4631761"/>
              <a:ext cx="5112300" cy="2062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Preference shares that provide a fixed dividend plus the right to receive additional dividends if the company earns surplus profits.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Shareholders </a:t>
              </a:r>
              <a:r>
                <a:rPr lang="en-US" sz="1600" b="0" i="1" u="none" strike="noStrike" cap="none">
                  <a:solidFill>
                    <a:schemeClr val="dk1"/>
                  </a:solidFill>
                  <a:latin typeface="Arial" panose="020B0604020202020204"/>
                  <a:ea typeface="Arial" panose="020B0604020202020204"/>
                  <a:cs typeface="Arial" panose="020B0604020202020204"/>
                  <a:sym typeface="Arial" panose="020B0604020202020204"/>
                </a:rPr>
                <a:t>“participate”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in extra earnings after common shareholders have received their dividends.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Advantage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Combines fixed income security with a share in higher profits.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461" name="Google Shape;461;p19"/>
          <p:cNvGrpSpPr/>
          <p:nvPr/>
        </p:nvGrpSpPr>
        <p:grpSpPr>
          <a:xfrm>
            <a:off x="6165193" y="1592488"/>
            <a:ext cx="5255902" cy="3272487"/>
            <a:chOff x="6165193" y="3852367"/>
            <a:chExt cx="5255902" cy="2363708"/>
          </a:xfrm>
        </p:grpSpPr>
        <p:grpSp>
          <p:nvGrpSpPr>
            <p:cNvPr id="462" name="Google Shape;462;p19"/>
            <p:cNvGrpSpPr/>
            <p:nvPr/>
          </p:nvGrpSpPr>
          <p:grpSpPr>
            <a:xfrm>
              <a:off x="6165193" y="3852367"/>
              <a:ext cx="5255902" cy="2363708"/>
              <a:chOff x="641875" y="2438758"/>
              <a:chExt cx="5255902" cy="2363708"/>
            </a:xfrm>
          </p:grpSpPr>
          <p:pic>
            <p:nvPicPr>
              <p:cNvPr id="463" name="Google Shape;463;p19"/>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464" name="Google Shape;464;p19"/>
              <p:cNvGrpSpPr/>
              <p:nvPr/>
            </p:nvGrpSpPr>
            <p:grpSpPr>
              <a:xfrm>
                <a:off x="641875" y="2438758"/>
                <a:ext cx="5255902" cy="2243613"/>
                <a:chOff x="641875" y="2438758"/>
                <a:chExt cx="5255902" cy="2243613"/>
              </a:xfrm>
            </p:grpSpPr>
            <p:sp>
              <p:nvSpPr>
                <p:cNvPr id="465" name="Google Shape;465;p19"/>
                <p:cNvSpPr txBox="1"/>
                <p:nvPr/>
              </p:nvSpPr>
              <p:spPr>
                <a:xfrm>
                  <a:off x="703547" y="2438758"/>
                  <a:ext cx="5190442" cy="2243613"/>
                </a:xfrm>
                <a:prstGeom prst="rect">
                  <a:avLst/>
                </a:prstGeom>
                <a:gradFill>
                  <a:gsLst>
                    <a:gs pos="0">
                      <a:schemeClr val="lt1"/>
                    </a:gs>
                    <a:gs pos="100000">
                      <a:schemeClr val="lt1"/>
                    </a:gs>
                  </a:gsLst>
                  <a:lin ang="5400000" scaled="0"/>
                </a:gradFill>
                <a:ln w="9525" cap="flat" cmpd="sng">
                  <a:solidFill>
                    <a:schemeClr val="dk2"/>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66" name="Google Shape;466;p19"/>
                <p:cNvSpPr/>
                <p:nvPr/>
              </p:nvSpPr>
              <p:spPr>
                <a:xfrm>
                  <a:off x="707335" y="2438758"/>
                  <a:ext cx="5190442" cy="380911"/>
                </a:xfrm>
                <a:prstGeom prst="rect">
                  <a:avLst/>
                </a:prstGeom>
                <a:solidFill>
                  <a:schemeClr val="dk2"/>
                </a:solidFill>
                <a:ln w="9525" cap="flat" cmpd="sng">
                  <a:solidFill>
                    <a:schemeClr val="dk2"/>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6. Non-Participating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67" name="Google Shape;467;p19"/>
                <p:cNvPicPr preferRelativeResize="0"/>
                <p:nvPr/>
              </p:nvPicPr>
              <p:blipFill rotWithShape="1">
                <a:blip r:embed="rId1"/>
                <a:srcRect t="64560"/>
                <a:stretch>
                  <a:fillRect/>
                </a:stretch>
              </p:blipFill>
              <p:spPr>
                <a:xfrm>
                  <a:off x="641875" y="2614805"/>
                  <a:ext cx="1759483" cy="382727"/>
                </a:xfrm>
                <a:prstGeom prst="rect">
                  <a:avLst/>
                </a:prstGeom>
                <a:noFill/>
                <a:ln>
                  <a:noFill/>
                </a:ln>
              </p:spPr>
            </p:pic>
          </p:grpSp>
        </p:grpSp>
        <p:sp>
          <p:nvSpPr>
            <p:cNvPr id="468" name="Google Shape;468;p19"/>
            <p:cNvSpPr txBox="1"/>
            <p:nvPr/>
          </p:nvSpPr>
          <p:spPr>
            <a:xfrm>
              <a:off x="6357360" y="4411142"/>
              <a:ext cx="4784700" cy="14898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Preference shares that provide only a fixed dividend.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Shareholders cannot receive extra dividends, even if the company earns surplus profits.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Perspective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Offers stable but limited returns, with no participation in additional profits.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473" name="Shape 473"/>
        <p:cNvGrpSpPr/>
        <p:nvPr/>
      </p:nvGrpSpPr>
      <p:grpSpPr>
        <a:xfrm>
          <a:off x="0" y="0"/>
          <a:ext cx="0" cy="0"/>
          <a:chOff x="0" y="0"/>
          <a:chExt cx="0" cy="0"/>
        </a:xfrm>
      </p:grpSpPr>
      <p:sp>
        <p:nvSpPr>
          <p:cNvPr id="474" name="Google Shape;474;p20"/>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75" name="Google Shape;475;p20"/>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PREFERENCE SHARES</a:t>
            </a:r>
            <a:endParaRPr lang="en-US"/>
          </a:p>
        </p:txBody>
      </p:sp>
      <p:grpSp>
        <p:nvGrpSpPr>
          <p:cNvPr id="476" name="Google Shape;476;p20"/>
          <p:cNvGrpSpPr/>
          <p:nvPr/>
        </p:nvGrpSpPr>
        <p:grpSpPr>
          <a:xfrm>
            <a:off x="709233" y="1292715"/>
            <a:ext cx="5255902" cy="2561554"/>
            <a:chOff x="709233" y="1292715"/>
            <a:chExt cx="5255902" cy="2561554"/>
          </a:xfrm>
        </p:grpSpPr>
        <p:grpSp>
          <p:nvGrpSpPr>
            <p:cNvPr id="477" name="Google Shape;477;p20"/>
            <p:cNvGrpSpPr/>
            <p:nvPr/>
          </p:nvGrpSpPr>
          <p:grpSpPr>
            <a:xfrm>
              <a:off x="709233" y="1292715"/>
              <a:ext cx="5255902" cy="2459182"/>
              <a:chOff x="641875" y="2438758"/>
              <a:chExt cx="5255902" cy="2459182"/>
            </a:xfrm>
          </p:grpSpPr>
          <p:pic>
            <p:nvPicPr>
              <p:cNvPr id="478" name="Google Shape;478;p20"/>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479" name="Google Shape;479;p20"/>
              <p:cNvGrpSpPr/>
              <p:nvPr/>
            </p:nvGrpSpPr>
            <p:grpSpPr>
              <a:xfrm>
                <a:off x="641875" y="2438758"/>
                <a:ext cx="5255902" cy="2459182"/>
                <a:chOff x="641875" y="2438758"/>
                <a:chExt cx="5255902" cy="2459182"/>
              </a:xfrm>
            </p:grpSpPr>
            <p:sp>
              <p:nvSpPr>
                <p:cNvPr id="480" name="Google Shape;480;p20"/>
                <p:cNvSpPr txBox="1"/>
                <p:nvPr/>
              </p:nvSpPr>
              <p:spPr>
                <a:xfrm>
                  <a:off x="703547" y="2438758"/>
                  <a:ext cx="5190442" cy="2459182"/>
                </a:xfrm>
                <a:prstGeom prst="rect">
                  <a:avLst/>
                </a:prstGeom>
                <a:gradFill>
                  <a:gsLst>
                    <a:gs pos="0">
                      <a:schemeClr val="lt1"/>
                    </a:gs>
                    <a:gs pos="100000">
                      <a:schemeClr val="lt1"/>
                    </a:gs>
                  </a:gsLst>
                  <a:lin ang="5400000" scaled="0"/>
                </a:gradFill>
                <a:ln w="9525" cap="flat" cmpd="sng">
                  <a:solidFill>
                    <a:schemeClr val="accent4"/>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81" name="Google Shape;481;p20"/>
                <p:cNvSpPr/>
                <p:nvPr/>
              </p:nvSpPr>
              <p:spPr>
                <a:xfrm>
                  <a:off x="707335" y="2438758"/>
                  <a:ext cx="5190442" cy="380911"/>
                </a:xfrm>
                <a:prstGeom prst="rect">
                  <a:avLst/>
                </a:prstGeom>
                <a:solidFill>
                  <a:schemeClr val="accent4"/>
                </a:solidFill>
                <a:ln w="9525"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7. Redeemable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82" name="Google Shape;482;p20"/>
                <p:cNvPicPr preferRelativeResize="0"/>
                <p:nvPr/>
              </p:nvPicPr>
              <p:blipFill rotWithShape="1">
                <a:blip r:embed="rId1"/>
                <a:srcRect t="64560"/>
                <a:stretch>
                  <a:fillRect/>
                </a:stretch>
              </p:blipFill>
              <p:spPr>
                <a:xfrm>
                  <a:off x="641875" y="2614805"/>
                  <a:ext cx="1759483" cy="382727"/>
                </a:xfrm>
                <a:prstGeom prst="rect">
                  <a:avLst/>
                </a:prstGeom>
                <a:noFill/>
                <a:ln>
                  <a:noFill/>
                </a:ln>
              </p:spPr>
            </p:pic>
          </p:grpSp>
        </p:grpSp>
        <p:sp>
          <p:nvSpPr>
            <p:cNvPr id="483" name="Google Shape;483;p20"/>
            <p:cNvSpPr txBox="1"/>
            <p:nvPr/>
          </p:nvSpPr>
          <p:spPr>
            <a:xfrm>
              <a:off x="970803" y="1791769"/>
              <a:ext cx="4784700" cy="2062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Preference shares that the company agrees to repay (redeem) after a fixed period.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Redemption occurs on the maturity date specified at the time of issue.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Benefit</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Provides certainty of capital repayment along with fixed dividend income.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ctr" rtl="0">
                <a:lnSpc>
                  <a:spcPct val="100000"/>
                </a:lnSpc>
                <a:spcBef>
                  <a:spcPts val="0"/>
                </a:spcBef>
                <a:spcAft>
                  <a:spcPts val="0"/>
                </a:spcAft>
                <a:buClr>
                  <a:schemeClr val="dk1"/>
                </a:buClr>
                <a:buSzPts val="1600"/>
                <a:buFont typeface="Arial" panose="020B0604020202020204"/>
                <a:buChar char="•"/>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484" name="Google Shape;484;p20"/>
          <p:cNvGrpSpPr/>
          <p:nvPr/>
        </p:nvGrpSpPr>
        <p:grpSpPr>
          <a:xfrm>
            <a:off x="6124355" y="1273090"/>
            <a:ext cx="5255902" cy="2526483"/>
            <a:chOff x="6124355" y="1273090"/>
            <a:chExt cx="5255902" cy="2526483"/>
          </a:xfrm>
        </p:grpSpPr>
        <p:grpSp>
          <p:nvGrpSpPr>
            <p:cNvPr id="485" name="Google Shape;485;p20"/>
            <p:cNvGrpSpPr/>
            <p:nvPr/>
          </p:nvGrpSpPr>
          <p:grpSpPr>
            <a:xfrm>
              <a:off x="6124355" y="1273090"/>
              <a:ext cx="5255902" cy="2478807"/>
              <a:chOff x="641875" y="2438758"/>
              <a:chExt cx="5255902" cy="2478807"/>
            </a:xfrm>
          </p:grpSpPr>
          <p:pic>
            <p:nvPicPr>
              <p:cNvPr id="486" name="Google Shape;486;p20"/>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487" name="Google Shape;487;p20"/>
              <p:cNvGrpSpPr/>
              <p:nvPr/>
            </p:nvGrpSpPr>
            <p:grpSpPr>
              <a:xfrm>
                <a:off x="641875" y="2438758"/>
                <a:ext cx="5255902" cy="2478807"/>
                <a:chOff x="641875" y="2438758"/>
                <a:chExt cx="5255902" cy="2478807"/>
              </a:xfrm>
            </p:grpSpPr>
            <p:sp>
              <p:nvSpPr>
                <p:cNvPr id="488" name="Google Shape;488;p20"/>
                <p:cNvSpPr txBox="1"/>
                <p:nvPr/>
              </p:nvSpPr>
              <p:spPr>
                <a:xfrm>
                  <a:off x="703547" y="2438758"/>
                  <a:ext cx="5190442" cy="2478807"/>
                </a:xfrm>
                <a:prstGeom prst="rect">
                  <a:avLst/>
                </a:prstGeom>
                <a:gradFill>
                  <a:gsLst>
                    <a:gs pos="0">
                      <a:schemeClr val="lt1"/>
                    </a:gs>
                    <a:gs pos="100000">
                      <a:schemeClr val="lt1"/>
                    </a:gs>
                  </a:gsLst>
                  <a:lin ang="5400000" scaled="0"/>
                </a:gradFill>
                <a:ln w="9525" cap="flat" cmpd="sng">
                  <a:solidFill>
                    <a:schemeClr val="accent4"/>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89" name="Google Shape;489;p20"/>
                <p:cNvSpPr/>
                <p:nvPr/>
              </p:nvSpPr>
              <p:spPr>
                <a:xfrm>
                  <a:off x="707335" y="2438758"/>
                  <a:ext cx="5190442" cy="380911"/>
                </a:xfrm>
                <a:prstGeom prst="rect">
                  <a:avLst/>
                </a:prstGeom>
                <a:solidFill>
                  <a:schemeClr val="accent4"/>
                </a:solidFill>
                <a:ln w="9525"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8. Irredeemable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90" name="Google Shape;490;p20"/>
                <p:cNvPicPr preferRelativeResize="0"/>
                <p:nvPr/>
              </p:nvPicPr>
              <p:blipFill rotWithShape="1">
                <a:blip r:embed="rId1"/>
                <a:srcRect t="64560"/>
                <a:stretch>
                  <a:fillRect/>
                </a:stretch>
              </p:blipFill>
              <p:spPr>
                <a:xfrm>
                  <a:off x="641875" y="2614805"/>
                  <a:ext cx="1759483" cy="382727"/>
                </a:xfrm>
                <a:prstGeom prst="rect">
                  <a:avLst/>
                </a:prstGeom>
                <a:noFill/>
                <a:ln>
                  <a:noFill/>
                </a:ln>
              </p:spPr>
            </p:pic>
          </p:grpSp>
        </p:grpSp>
        <p:sp>
          <p:nvSpPr>
            <p:cNvPr id="491" name="Google Shape;491;p20"/>
            <p:cNvSpPr txBox="1"/>
            <p:nvPr/>
          </p:nvSpPr>
          <p:spPr>
            <a:xfrm>
              <a:off x="6388922" y="1737073"/>
              <a:ext cx="4784700" cy="2062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Preference shares that do not have a fixed maturity date.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The company is not obligated to repay the capital during its lifetime.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Perspective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Shareholders continue to receive fixed dividends, but their capital remains invested unless the company winds up or redeems voluntarily.</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492" name="Google Shape;492;p20"/>
          <p:cNvGrpSpPr/>
          <p:nvPr/>
        </p:nvGrpSpPr>
        <p:grpSpPr>
          <a:xfrm>
            <a:off x="708351" y="3976496"/>
            <a:ext cx="5284559" cy="2698071"/>
            <a:chOff x="721414" y="3871992"/>
            <a:chExt cx="5284559" cy="2698071"/>
          </a:xfrm>
        </p:grpSpPr>
        <p:grpSp>
          <p:nvGrpSpPr>
            <p:cNvPr id="493" name="Google Shape;493;p20"/>
            <p:cNvGrpSpPr/>
            <p:nvPr/>
          </p:nvGrpSpPr>
          <p:grpSpPr>
            <a:xfrm>
              <a:off x="721414" y="3871992"/>
              <a:ext cx="5284559" cy="2698071"/>
              <a:chOff x="613218" y="2438758"/>
              <a:chExt cx="5284559" cy="2698071"/>
            </a:xfrm>
          </p:grpSpPr>
          <p:pic>
            <p:nvPicPr>
              <p:cNvPr id="494" name="Google Shape;494;p20"/>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495" name="Google Shape;495;p20"/>
              <p:cNvGrpSpPr/>
              <p:nvPr/>
            </p:nvGrpSpPr>
            <p:grpSpPr>
              <a:xfrm>
                <a:off x="613218" y="2438758"/>
                <a:ext cx="5284559" cy="2698071"/>
                <a:chOff x="613218" y="2438758"/>
                <a:chExt cx="5284559" cy="2698071"/>
              </a:xfrm>
            </p:grpSpPr>
            <p:sp>
              <p:nvSpPr>
                <p:cNvPr id="496" name="Google Shape;496;p20"/>
                <p:cNvSpPr txBox="1"/>
                <p:nvPr/>
              </p:nvSpPr>
              <p:spPr>
                <a:xfrm>
                  <a:off x="703547" y="2438758"/>
                  <a:ext cx="5190442" cy="2698071"/>
                </a:xfrm>
                <a:prstGeom prst="rect">
                  <a:avLst/>
                </a:prstGeom>
                <a:gradFill>
                  <a:gsLst>
                    <a:gs pos="0">
                      <a:schemeClr val="lt1"/>
                    </a:gs>
                    <a:gs pos="100000">
                      <a:schemeClr val="lt1"/>
                    </a:gs>
                  </a:gsLst>
                  <a:lin ang="5400000" scaled="0"/>
                </a:gradFill>
                <a:ln w="9525" cap="flat" cmpd="sng">
                  <a:solidFill>
                    <a:schemeClr val="accent4"/>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497" name="Google Shape;497;p20"/>
                <p:cNvSpPr/>
                <p:nvPr/>
              </p:nvSpPr>
              <p:spPr>
                <a:xfrm>
                  <a:off x="707335" y="2438758"/>
                  <a:ext cx="5190442" cy="539149"/>
                </a:xfrm>
                <a:prstGeom prst="rect">
                  <a:avLst/>
                </a:prstGeom>
                <a:solidFill>
                  <a:schemeClr val="accent4"/>
                </a:solidFill>
                <a:ln w="9525"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9. Adjustable or Floating Rate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498" name="Google Shape;498;p20"/>
                <p:cNvPicPr preferRelativeResize="0"/>
                <p:nvPr/>
              </p:nvPicPr>
              <p:blipFill rotWithShape="1">
                <a:blip r:embed="rId1"/>
                <a:srcRect t="64560"/>
                <a:stretch>
                  <a:fillRect/>
                </a:stretch>
              </p:blipFill>
              <p:spPr>
                <a:xfrm>
                  <a:off x="613218" y="2783218"/>
                  <a:ext cx="1759483" cy="382727"/>
                </a:xfrm>
                <a:prstGeom prst="rect">
                  <a:avLst/>
                </a:prstGeom>
                <a:noFill/>
                <a:ln>
                  <a:noFill/>
                </a:ln>
              </p:spPr>
            </p:pic>
          </p:grpSp>
        </p:grpSp>
        <p:sp>
          <p:nvSpPr>
            <p:cNvPr id="499" name="Google Shape;499;p20"/>
            <p:cNvSpPr txBox="1"/>
            <p:nvPr/>
          </p:nvSpPr>
          <p:spPr>
            <a:xfrm>
              <a:off x="815531" y="4481834"/>
              <a:ext cx="5112300" cy="20625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Preference shares where the dividend is linked to a benchmark rate (e.g., LIBOR, MIBOR, government bond yield).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Dividend rate is adjusted periodically as the benchmark changes.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Perspective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Protects against interest rate fluctuations, offering variable returns instead of a fixed dividend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500" name="Google Shape;500;p20"/>
          <p:cNvGrpSpPr/>
          <p:nvPr/>
        </p:nvGrpSpPr>
        <p:grpSpPr>
          <a:xfrm>
            <a:off x="6152130" y="3956871"/>
            <a:ext cx="5255902" cy="2734894"/>
            <a:chOff x="6165193" y="3852367"/>
            <a:chExt cx="5255902" cy="2734894"/>
          </a:xfrm>
        </p:grpSpPr>
        <p:grpSp>
          <p:nvGrpSpPr>
            <p:cNvPr id="501" name="Google Shape;501;p20"/>
            <p:cNvGrpSpPr/>
            <p:nvPr/>
          </p:nvGrpSpPr>
          <p:grpSpPr>
            <a:xfrm>
              <a:off x="6165193" y="3852367"/>
              <a:ext cx="5255902" cy="2698071"/>
              <a:chOff x="641875" y="2438758"/>
              <a:chExt cx="5255902" cy="2698071"/>
            </a:xfrm>
          </p:grpSpPr>
          <p:pic>
            <p:nvPicPr>
              <p:cNvPr id="502" name="Google Shape;502;p20"/>
              <p:cNvPicPr preferRelativeResize="0"/>
              <p:nvPr/>
            </p:nvPicPr>
            <p:blipFill rotWithShape="1">
              <a:blip r:embed="rId1"/>
              <a:srcRect t="64560"/>
              <a:stretch>
                <a:fillRect/>
              </a:stretch>
            </p:blipFill>
            <p:spPr>
              <a:xfrm>
                <a:off x="641875" y="4562276"/>
                <a:ext cx="1759483" cy="240190"/>
              </a:xfrm>
              <a:prstGeom prst="rect">
                <a:avLst/>
              </a:prstGeom>
              <a:noFill/>
              <a:ln>
                <a:noFill/>
              </a:ln>
            </p:spPr>
          </p:pic>
          <p:grpSp>
            <p:nvGrpSpPr>
              <p:cNvPr id="503" name="Google Shape;503;p20"/>
              <p:cNvGrpSpPr/>
              <p:nvPr/>
            </p:nvGrpSpPr>
            <p:grpSpPr>
              <a:xfrm>
                <a:off x="641875" y="2438758"/>
                <a:ext cx="5255902" cy="2698071"/>
                <a:chOff x="641875" y="2438758"/>
                <a:chExt cx="5255902" cy="2698071"/>
              </a:xfrm>
            </p:grpSpPr>
            <p:sp>
              <p:nvSpPr>
                <p:cNvPr id="504" name="Google Shape;504;p20"/>
                <p:cNvSpPr txBox="1"/>
                <p:nvPr/>
              </p:nvSpPr>
              <p:spPr>
                <a:xfrm>
                  <a:off x="703547" y="2438758"/>
                  <a:ext cx="5190442" cy="2698071"/>
                </a:xfrm>
                <a:prstGeom prst="rect">
                  <a:avLst/>
                </a:prstGeom>
                <a:gradFill>
                  <a:gsLst>
                    <a:gs pos="0">
                      <a:schemeClr val="lt1"/>
                    </a:gs>
                    <a:gs pos="100000">
                      <a:schemeClr val="lt1"/>
                    </a:gs>
                  </a:gsLst>
                  <a:lin ang="5400000" scaled="0"/>
                </a:gradFill>
                <a:ln w="9525" cap="flat" cmpd="sng">
                  <a:solidFill>
                    <a:schemeClr val="accent4"/>
                  </a:solidFill>
                  <a:prstDash val="solid"/>
                  <a:round/>
                  <a:headEnd type="none" w="sm" len="sm"/>
                  <a:tailEnd type="none" w="sm" len="sm"/>
                </a:ln>
              </p:spPr>
              <p:txBody>
                <a:bodyPr spcFirstLastPara="1" wrap="square" lIns="36575" tIns="338325" rIns="36575" bIns="34275" anchor="ctr" anchorCtr="0">
                  <a:noAutofit/>
                </a:bodyPr>
                <a:lstStyle/>
                <a:p>
                  <a:pPr marL="12700" marR="0" lvl="1" indent="0" algn="ctr" rtl="0">
                    <a:lnSpc>
                      <a:spcPct val="100000"/>
                    </a:lnSpc>
                    <a:spcBef>
                      <a:spcPts val="0"/>
                    </a:spcBef>
                    <a:spcAft>
                      <a:spcPts val="0"/>
                    </a:spcAft>
                    <a:buClr>
                      <a:schemeClr val="accent2"/>
                    </a:buClr>
                    <a:buSzPts val="1400"/>
                    <a:buFont typeface="Noto Sans Symbols"/>
                    <a:buNone/>
                  </a:pPr>
                  <a:endParaRPr sz="14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505" name="Google Shape;505;p20"/>
                <p:cNvSpPr/>
                <p:nvPr/>
              </p:nvSpPr>
              <p:spPr>
                <a:xfrm>
                  <a:off x="707335" y="2438758"/>
                  <a:ext cx="5190442" cy="380911"/>
                </a:xfrm>
                <a:prstGeom prst="rect">
                  <a:avLst/>
                </a:prstGeom>
                <a:solidFill>
                  <a:schemeClr val="accent4"/>
                </a:solidFill>
                <a:ln w="9525" cap="flat" cmpd="sng">
                  <a:solidFill>
                    <a:schemeClr val="accent4"/>
                  </a:solidFill>
                  <a:prstDash val="solid"/>
                  <a:miter lim="800000"/>
                  <a:headEnd type="none" w="sm" len="sm"/>
                  <a:tailEnd type="none" w="sm" len="sm"/>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10. Callable Preference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506" name="Google Shape;506;p20"/>
                <p:cNvPicPr preferRelativeResize="0"/>
                <p:nvPr/>
              </p:nvPicPr>
              <p:blipFill rotWithShape="1">
                <a:blip r:embed="rId1"/>
                <a:srcRect t="64560"/>
                <a:stretch>
                  <a:fillRect/>
                </a:stretch>
              </p:blipFill>
              <p:spPr>
                <a:xfrm>
                  <a:off x="641875" y="2614805"/>
                  <a:ext cx="1759483" cy="382727"/>
                </a:xfrm>
                <a:prstGeom prst="rect">
                  <a:avLst/>
                </a:prstGeom>
                <a:noFill/>
                <a:ln>
                  <a:noFill/>
                </a:ln>
              </p:spPr>
            </p:pic>
          </p:grpSp>
        </p:grpSp>
        <p:sp>
          <p:nvSpPr>
            <p:cNvPr id="507" name="Google Shape;507;p20"/>
            <p:cNvSpPr txBox="1"/>
            <p:nvPr/>
          </p:nvSpPr>
          <p:spPr>
            <a:xfrm>
              <a:off x="6429760" y="4278461"/>
              <a:ext cx="4784700" cy="23088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Definition</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Preference shares that can be repurchased (“called back”) by the issuing company.</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Key Feature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Redemption occurs at a predetermined price after a specified period.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Company Advantage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Provides flexibility to restructure or reduce capital when needed.</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0"/>
                </a:spcBef>
                <a:spcAft>
                  <a:spcPts val="0"/>
                </a:spcAft>
                <a:buClr>
                  <a:schemeClr val="dk1"/>
                </a:buClr>
                <a:buSzPts val="1600"/>
                <a:buFont typeface="Arial" panose="020B0604020202020204"/>
                <a:buChar char="•"/>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Investor Impact</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Dividend income may end earlier if the company exercises the call option.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11" name="Shape 511"/>
        <p:cNvGrpSpPr/>
        <p:nvPr/>
      </p:nvGrpSpPr>
      <p:grpSpPr>
        <a:xfrm>
          <a:off x="0" y="0"/>
          <a:ext cx="0" cy="0"/>
          <a:chOff x="0" y="0"/>
          <a:chExt cx="0" cy="0"/>
        </a:xfrm>
      </p:grpSpPr>
      <p:sp>
        <p:nvSpPr>
          <p:cNvPr id="512" name="Google Shape;512;p21"/>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OF PREFERRED SHARES </a:t>
            </a:r>
            <a:endParaRPr lang="en-US"/>
          </a:p>
        </p:txBody>
      </p:sp>
      <p:grpSp>
        <p:nvGrpSpPr>
          <p:cNvPr id="513" name="Google Shape;513;p21"/>
          <p:cNvGrpSpPr/>
          <p:nvPr/>
        </p:nvGrpSpPr>
        <p:grpSpPr>
          <a:xfrm>
            <a:off x="592138" y="1614712"/>
            <a:ext cx="11007725" cy="4286358"/>
            <a:chOff x="660400" y="1614712"/>
            <a:chExt cx="11007725" cy="4286358"/>
          </a:xfrm>
        </p:grpSpPr>
        <p:sp>
          <p:nvSpPr>
            <p:cNvPr id="514" name="Google Shape;514;p21"/>
            <p:cNvSpPr/>
            <p:nvPr/>
          </p:nvSpPr>
          <p:spPr>
            <a:xfrm>
              <a:off x="660400" y="1614712"/>
              <a:ext cx="11007725" cy="4286358"/>
            </a:xfrm>
            <a:prstGeom prst="roundRect">
              <a:avLst>
                <a:gd name="adj" fmla="val 2407"/>
              </a:avLst>
            </a:prstGeom>
            <a:solidFill>
              <a:srgbClr val="19A7CE"/>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15" name="Google Shape;515;p21"/>
            <p:cNvSpPr/>
            <p:nvPr/>
          </p:nvSpPr>
          <p:spPr>
            <a:xfrm>
              <a:off x="723582" y="1614712"/>
              <a:ext cx="10881360" cy="4286358"/>
            </a:xfrm>
            <a:prstGeom prst="roundRect">
              <a:avLst>
                <a:gd name="adj" fmla="val 2407"/>
              </a:avLst>
            </a:prstGeom>
            <a:solidFill>
              <a:schemeClr val="lt2"/>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16" name="Google Shape;516;p21"/>
            <p:cNvSpPr/>
            <p:nvPr/>
          </p:nvSpPr>
          <p:spPr>
            <a:xfrm>
              <a:off x="723582" y="189414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Fixed Dividend Income: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7" name="Google Shape;517;p21"/>
            <p:cNvSpPr/>
            <p:nvPr/>
          </p:nvSpPr>
          <p:spPr>
            <a:xfrm>
              <a:off x="723582" y="3131325"/>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4"/>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Priority in Dividend Payments: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8" name="Google Shape;518;p21"/>
            <p:cNvSpPr txBox="1"/>
            <p:nvPr/>
          </p:nvSpPr>
          <p:spPr>
            <a:xfrm>
              <a:off x="829487" y="2342506"/>
              <a:ext cx="10775400" cy="65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shareholders typically receive a fixed dividend payment, providing a predictable income stream that can be attractive to income-oriented investors.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9" name="Google Shape;519;p21"/>
            <p:cNvSpPr txBox="1"/>
            <p:nvPr/>
          </p:nvSpPr>
          <p:spPr>
            <a:xfrm>
              <a:off x="829487" y="3607319"/>
              <a:ext cx="1020787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shareholders have priority over common shareholders in receiving dividend payments. If the company faces financial difficulties, preferred shareholders are usually paid dividends before common shareholders.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0" name="Google Shape;520;p21"/>
            <p:cNvSpPr txBox="1"/>
            <p:nvPr/>
          </p:nvSpPr>
          <p:spPr>
            <a:xfrm>
              <a:off x="829487" y="5052372"/>
              <a:ext cx="102078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 case of liquidation or bankruptcy, preferred shareholders have higher priority than common shareholders in receiving remaining assets after satisfying debts and obligations.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21" name="Google Shape;521;p21"/>
            <p:cNvSpPr/>
            <p:nvPr/>
          </p:nvSpPr>
          <p:spPr>
            <a:xfrm>
              <a:off x="700550" y="4598101"/>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Priority in Liquidation: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525" name="Shape 525"/>
        <p:cNvGrpSpPr/>
        <p:nvPr/>
      </p:nvGrpSpPr>
      <p:grpSpPr>
        <a:xfrm>
          <a:off x="0" y="0"/>
          <a:ext cx="0" cy="0"/>
          <a:chOff x="0" y="0"/>
          <a:chExt cx="0" cy="0"/>
        </a:xfrm>
      </p:grpSpPr>
      <p:sp>
        <p:nvSpPr>
          <p:cNvPr id="526" name="Google Shape;526;p22"/>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OF PREFERRED SHARES </a:t>
            </a:r>
            <a:endParaRPr lang="en-US"/>
          </a:p>
        </p:txBody>
      </p:sp>
      <p:grpSp>
        <p:nvGrpSpPr>
          <p:cNvPr id="527" name="Google Shape;527;p22"/>
          <p:cNvGrpSpPr/>
          <p:nvPr/>
        </p:nvGrpSpPr>
        <p:grpSpPr>
          <a:xfrm>
            <a:off x="592138" y="1534070"/>
            <a:ext cx="11007725" cy="4286358"/>
            <a:chOff x="637368" y="1534070"/>
            <a:chExt cx="11007725" cy="4286358"/>
          </a:xfrm>
        </p:grpSpPr>
        <p:sp>
          <p:nvSpPr>
            <p:cNvPr id="528" name="Google Shape;528;p22"/>
            <p:cNvSpPr/>
            <p:nvPr/>
          </p:nvSpPr>
          <p:spPr>
            <a:xfrm>
              <a:off x="637368" y="1534070"/>
              <a:ext cx="11007725" cy="4286358"/>
            </a:xfrm>
            <a:prstGeom prst="roundRect">
              <a:avLst>
                <a:gd name="adj" fmla="val 2407"/>
              </a:avLst>
            </a:prstGeom>
            <a:solidFill>
              <a:srgbClr val="757070"/>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29" name="Google Shape;529;p22"/>
            <p:cNvSpPr/>
            <p:nvPr/>
          </p:nvSpPr>
          <p:spPr>
            <a:xfrm>
              <a:off x="700550" y="1534070"/>
              <a:ext cx="10881360" cy="4286358"/>
            </a:xfrm>
            <a:prstGeom prst="roundRect">
              <a:avLst>
                <a:gd name="adj" fmla="val 2407"/>
              </a:avLst>
            </a:prstGeom>
            <a:solidFill>
              <a:schemeClr val="lt2"/>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30" name="Google Shape;530;p22"/>
            <p:cNvSpPr/>
            <p:nvPr/>
          </p:nvSpPr>
          <p:spPr>
            <a:xfrm>
              <a:off x="700550" y="1813498"/>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Lower Volatility: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1" name="Google Shape;531;p22"/>
            <p:cNvSpPr/>
            <p:nvPr/>
          </p:nvSpPr>
          <p:spPr>
            <a:xfrm>
              <a:off x="700550" y="3050683"/>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4"/>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5. Potential Capital Appreciation: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2" name="Google Shape;532;p22"/>
            <p:cNvSpPr txBox="1"/>
            <p:nvPr/>
          </p:nvSpPr>
          <p:spPr>
            <a:xfrm>
              <a:off x="806455" y="2261864"/>
              <a:ext cx="10775400" cy="65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shares tend to be less volatile than common shares. This can make them appealing to investors who seek a steadier investment without the same level of price fluctuations.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3" name="Google Shape;533;p22"/>
            <p:cNvSpPr txBox="1"/>
            <p:nvPr/>
          </p:nvSpPr>
          <p:spPr>
            <a:xfrm>
              <a:off x="806455" y="3526677"/>
              <a:ext cx="102078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Some types of preferred shares, such as convertible preferred shares, offer the potential for capital appreciation if the company's common stock performs well.</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4" name="Google Shape;534;p22"/>
            <p:cNvSpPr txBox="1"/>
            <p:nvPr/>
          </p:nvSpPr>
          <p:spPr>
            <a:xfrm>
              <a:off x="806455" y="4971730"/>
              <a:ext cx="10207800" cy="64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 some jurisdictions, dividends received from preferred shares may be taxed at a lower rate compared to interest income from bonds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5" name="Google Shape;535;p22"/>
            <p:cNvSpPr/>
            <p:nvPr/>
          </p:nvSpPr>
          <p:spPr>
            <a:xfrm>
              <a:off x="677518" y="4517459"/>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6. Tax Advantages: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539" name="Shape 539"/>
        <p:cNvGrpSpPr/>
        <p:nvPr/>
      </p:nvGrpSpPr>
      <p:grpSpPr>
        <a:xfrm>
          <a:off x="0" y="0"/>
          <a:ext cx="0" cy="0"/>
          <a:chOff x="0" y="0"/>
          <a:chExt cx="0" cy="0"/>
        </a:xfrm>
      </p:grpSpPr>
      <p:sp>
        <p:nvSpPr>
          <p:cNvPr id="540" name="Google Shape;540;p23"/>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OF PREFERRED SHARES </a:t>
            </a:r>
            <a:endParaRPr lang="en-US"/>
          </a:p>
        </p:txBody>
      </p:sp>
      <p:grpSp>
        <p:nvGrpSpPr>
          <p:cNvPr id="541" name="Google Shape;541;p23"/>
          <p:cNvGrpSpPr/>
          <p:nvPr/>
        </p:nvGrpSpPr>
        <p:grpSpPr>
          <a:xfrm>
            <a:off x="592138" y="1534070"/>
            <a:ext cx="11007725" cy="3101725"/>
            <a:chOff x="637368" y="1534070"/>
            <a:chExt cx="11007725" cy="3101725"/>
          </a:xfrm>
        </p:grpSpPr>
        <p:sp>
          <p:nvSpPr>
            <p:cNvPr id="542" name="Google Shape;542;p23"/>
            <p:cNvSpPr/>
            <p:nvPr/>
          </p:nvSpPr>
          <p:spPr>
            <a:xfrm>
              <a:off x="637368" y="1534070"/>
              <a:ext cx="11007725" cy="3101725"/>
            </a:xfrm>
            <a:prstGeom prst="roundRect">
              <a:avLst>
                <a:gd name="adj" fmla="val 2407"/>
              </a:avLst>
            </a:prstGeom>
            <a:solidFill>
              <a:srgbClr val="757070"/>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43" name="Google Shape;543;p23"/>
            <p:cNvSpPr/>
            <p:nvPr/>
          </p:nvSpPr>
          <p:spPr>
            <a:xfrm>
              <a:off x="700550" y="1534070"/>
              <a:ext cx="10881360" cy="3101725"/>
            </a:xfrm>
            <a:prstGeom prst="roundRect">
              <a:avLst>
                <a:gd name="adj" fmla="val 2407"/>
              </a:avLst>
            </a:prstGeom>
            <a:solidFill>
              <a:schemeClr val="lt2"/>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44" name="Google Shape;544;p23"/>
            <p:cNvSpPr/>
            <p:nvPr/>
          </p:nvSpPr>
          <p:spPr>
            <a:xfrm>
              <a:off x="700550" y="1813498"/>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3"/>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7. Flexibility for Companies: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5" name="Google Shape;545;p23"/>
            <p:cNvSpPr/>
            <p:nvPr/>
          </p:nvSpPr>
          <p:spPr>
            <a:xfrm>
              <a:off x="700550" y="3050683"/>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chemeClr val="accent4"/>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8. Strengthened Capital Structure: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6" name="Google Shape;546;p23"/>
            <p:cNvSpPr txBox="1"/>
            <p:nvPr/>
          </p:nvSpPr>
          <p:spPr>
            <a:xfrm>
              <a:off x="806455" y="2261864"/>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Companies can tailor the terms of preferred shares to meet their financing needs, adjusting dividend rates, redemption options, and other features.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7" name="Google Shape;547;p23"/>
            <p:cNvSpPr txBox="1"/>
            <p:nvPr/>
          </p:nvSpPr>
          <p:spPr>
            <a:xfrm>
              <a:off x="806455" y="3526677"/>
              <a:ext cx="1020787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Issuing preferred shares can help companies raise capital without increasing their debt levels, thus improving their balance sheet.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551" name="Shape 551"/>
        <p:cNvGrpSpPr/>
        <p:nvPr/>
      </p:nvGrpSpPr>
      <p:grpSpPr>
        <a:xfrm>
          <a:off x="0" y="0"/>
          <a:ext cx="0" cy="0"/>
          <a:chOff x="0" y="0"/>
          <a:chExt cx="0" cy="0"/>
        </a:xfrm>
      </p:grpSpPr>
      <p:sp>
        <p:nvSpPr>
          <p:cNvPr id="552" name="Google Shape;552;p24"/>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DISADVANTAGES OF PREFERRED SHARES </a:t>
            </a:r>
            <a:endParaRPr lang="en-US"/>
          </a:p>
        </p:txBody>
      </p:sp>
      <p:grpSp>
        <p:nvGrpSpPr>
          <p:cNvPr id="553" name="Google Shape;553;p24"/>
          <p:cNvGrpSpPr/>
          <p:nvPr/>
        </p:nvGrpSpPr>
        <p:grpSpPr>
          <a:xfrm>
            <a:off x="592138" y="1614712"/>
            <a:ext cx="11007725" cy="4286358"/>
            <a:chOff x="660400" y="1614712"/>
            <a:chExt cx="11007725" cy="4286358"/>
          </a:xfrm>
        </p:grpSpPr>
        <p:sp>
          <p:nvSpPr>
            <p:cNvPr id="554" name="Google Shape;554;p24"/>
            <p:cNvSpPr/>
            <p:nvPr/>
          </p:nvSpPr>
          <p:spPr>
            <a:xfrm>
              <a:off x="660400" y="1614712"/>
              <a:ext cx="11007725" cy="4286358"/>
            </a:xfrm>
            <a:prstGeom prst="roundRect">
              <a:avLst>
                <a:gd name="adj" fmla="val 2407"/>
              </a:avLst>
            </a:pr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55" name="Google Shape;555;p24"/>
            <p:cNvSpPr/>
            <p:nvPr/>
          </p:nvSpPr>
          <p:spPr>
            <a:xfrm>
              <a:off x="723582" y="1614712"/>
              <a:ext cx="10881360" cy="4286358"/>
            </a:xfrm>
            <a:prstGeom prst="roundRect">
              <a:avLst>
                <a:gd name="adj" fmla="val 2407"/>
              </a:avLst>
            </a:prstGeom>
            <a:solidFill>
              <a:srgbClr val="DDEAF6"/>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56" name="Google Shape;556;p24"/>
            <p:cNvSpPr/>
            <p:nvPr/>
          </p:nvSpPr>
          <p:spPr>
            <a:xfrm>
              <a:off x="723582" y="189414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Limited Voting Rights: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7" name="Google Shape;557;p24"/>
            <p:cNvSpPr/>
            <p:nvPr/>
          </p:nvSpPr>
          <p:spPr>
            <a:xfrm>
              <a:off x="723582" y="3131325"/>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Lower Potential Returns: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8" name="Google Shape;558;p24"/>
            <p:cNvSpPr txBox="1"/>
            <p:nvPr/>
          </p:nvSpPr>
          <p:spPr>
            <a:xfrm>
              <a:off x="829487" y="2342506"/>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shareholders often have limited or no voting rights, which means they have less influence on company decisions compared to common shareholders.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9" name="Google Shape;559;p24"/>
            <p:cNvSpPr txBox="1"/>
            <p:nvPr/>
          </p:nvSpPr>
          <p:spPr>
            <a:xfrm>
              <a:off x="829487" y="3607319"/>
              <a:ext cx="1020787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While preferred shares offer fixed dividends, they generally lack the same potential for capital appreciation as common shares, which can limit long-term returns.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0" name="Google Shape;560;p24"/>
            <p:cNvSpPr txBox="1"/>
            <p:nvPr/>
          </p:nvSpPr>
          <p:spPr>
            <a:xfrm>
              <a:off x="829487" y="5052372"/>
              <a:ext cx="1020787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Some types of preferred shares, especially those with adjustable rates, can be sensitive to changes in interest rates, which may affect their market value.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1" name="Google Shape;561;p24"/>
            <p:cNvSpPr/>
            <p:nvPr/>
          </p:nvSpPr>
          <p:spPr>
            <a:xfrm>
              <a:off x="700550" y="4598101"/>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Interest Rate Sensitivity: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65" name="Shape 565"/>
        <p:cNvGrpSpPr/>
        <p:nvPr/>
      </p:nvGrpSpPr>
      <p:grpSpPr>
        <a:xfrm>
          <a:off x="0" y="0"/>
          <a:ext cx="0" cy="0"/>
          <a:chOff x="0" y="0"/>
          <a:chExt cx="0" cy="0"/>
        </a:xfrm>
      </p:grpSpPr>
      <p:sp>
        <p:nvSpPr>
          <p:cNvPr id="566" name="Google Shape;566;p25"/>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DISADVANTAGES OF PREFERRED SHARES </a:t>
            </a:r>
            <a:endParaRPr lang="en-US"/>
          </a:p>
        </p:txBody>
      </p:sp>
      <p:grpSp>
        <p:nvGrpSpPr>
          <p:cNvPr id="567" name="Google Shape;567;p25"/>
          <p:cNvGrpSpPr/>
          <p:nvPr/>
        </p:nvGrpSpPr>
        <p:grpSpPr>
          <a:xfrm>
            <a:off x="592138" y="1614712"/>
            <a:ext cx="11007725" cy="4293297"/>
            <a:chOff x="660400" y="1614712"/>
            <a:chExt cx="11007725" cy="4293297"/>
          </a:xfrm>
        </p:grpSpPr>
        <p:sp>
          <p:nvSpPr>
            <p:cNvPr id="568" name="Google Shape;568;p25"/>
            <p:cNvSpPr/>
            <p:nvPr/>
          </p:nvSpPr>
          <p:spPr>
            <a:xfrm>
              <a:off x="660400" y="1614712"/>
              <a:ext cx="11007725" cy="4286358"/>
            </a:xfrm>
            <a:prstGeom prst="roundRect">
              <a:avLst>
                <a:gd name="adj" fmla="val 2407"/>
              </a:avLst>
            </a:pr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69" name="Google Shape;569;p25"/>
            <p:cNvSpPr/>
            <p:nvPr/>
          </p:nvSpPr>
          <p:spPr>
            <a:xfrm>
              <a:off x="723582" y="1614712"/>
              <a:ext cx="10881360" cy="4286358"/>
            </a:xfrm>
            <a:prstGeom prst="roundRect">
              <a:avLst>
                <a:gd name="adj" fmla="val 2407"/>
              </a:avLst>
            </a:prstGeom>
            <a:solidFill>
              <a:srgbClr val="DDEAF6"/>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70" name="Google Shape;570;p25"/>
            <p:cNvSpPr/>
            <p:nvPr/>
          </p:nvSpPr>
          <p:spPr>
            <a:xfrm>
              <a:off x="723582" y="189414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Non-Participation in Company Growth: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1" name="Google Shape;571;p25"/>
            <p:cNvSpPr/>
            <p:nvPr/>
          </p:nvSpPr>
          <p:spPr>
            <a:xfrm>
              <a:off x="723582" y="3131325"/>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5. Call Risk: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2" name="Google Shape;572;p25"/>
            <p:cNvSpPr txBox="1"/>
            <p:nvPr/>
          </p:nvSpPr>
          <p:spPr>
            <a:xfrm>
              <a:off x="829487" y="2342506"/>
              <a:ext cx="10775455" cy="64516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shareholders may miss out on the potential for significant capital gains, while the company's common shares experience substantial growth.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3" name="Google Shape;573;p25"/>
            <p:cNvSpPr txBox="1"/>
            <p:nvPr/>
          </p:nvSpPr>
          <p:spPr>
            <a:xfrm>
              <a:off x="829487" y="3607319"/>
              <a:ext cx="1020787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If a company issues callable preferred shares, there's a risk that the company may redeem the shares at a predetermined price, potentially leaving investors with fewer income-generating options.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4" name="Google Shape;574;p25"/>
            <p:cNvSpPr txBox="1"/>
            <p:nvPr/>
          </p:nvSpPr>
          <p:spPr>
            <a:xfrm>
              <a:off x="829487" y="4984679"/>
              <a:ext cx="1020787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While preferred shares are generally less volatile than common shares, they can still experience price fluctuations in response to changes in interest rates, company performance, or market sentiment.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5" name="Google Shape;575;p25"/>
            <p:cNvSpPr/>
            <p:nvPr/>
          </p:nvSpPr>
          <p:spPr>
            <a:xfrm>
              <a:off x="700550" y="4598101"/>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6. Market Price Fluctuations: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79" name="Shape 579"/>
        <p:cNvGrpSpPr/>
        <p:nvPr/>
      </p:nvGrpSpPr>
      <p:grpSpPr>
        <a:xfrm>
          <a:off x="0" y="0"/>
          <a:ext cx="0" cy="0"/>
          <a:chOff x="0" y="0"/>
          <a:chExt cx="0" cy="0"/>
        </a:xfrm>
      </p:grpSpPr>
      <p:sp>
        <p:nvSpPr>
          <p:cNvPr id="580" name="Google Shape;580;p26"/>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DISADVANTAGES OF PREFERRED SHARES </a:t>
            </a:r>
            <a:endParaRPr lang="en-US"/>
          </a:p>
        </p:txBody>
      </p:sp>
      <p:grpSp>
        <p:nvGrpSpPr>
          <p:cNvPr id="581" name="Google Shape;581;p26"/>
          <p:cNvGrpSpPr/>
          <p:nvPr/>
        </p:nvGrpSpPr>
        <p:grpSpPr>
          <a:xfrm>
            <a:off x="592138" y="1614712"/>
            <a:ext cx="11007725" cy="2841785"/>
            <a:chOff x="660400" y="1614712"/>
            <a:chExt cx="11007725" cy="2841785"/>
          </a:xfrm>
        </p:grpSpPr>
        <p:sp>
          <p:nvSpPr>
            <p:cNvPr id="582" name="Google Shape;582;p26"/>
            <p:cNvSpPr/>
            <p:nvPr/>
          </p:nvSpPr>
          <p:spPr>
            <a:xfrm>
              <a:off x="660400" y="1614712"/>
              <a:ext cx="11007725" cy="2841785"/>
            </a:xfrm>
            <a:prstGeom prst="roundRect">
              <a:avLst>
                <a:gd name="adj" fmla="val 2407"/>
              </a:avLst>
            </a:pr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83" name="Google Shape;583;p26"/>
            <p:cNvSpPr/>
            <p:nvPr/>
          </p:nvSpPr>
          <p:spPr>
            <a:xfrm>
              <a:off x="723582" y="1614712"/>
              <a:ext cx="10881360" cy="2841785"/>
            </a:xfrm>
            <a:prstGeom prst="roundRect">
              <a:avLst>
                <a:gd name="adj" fmla="val 2407"/>
              </a:avLst>
            </a:prstGeom>
            <a:solidFill>
              <a:srgbClr val="DDEAF6"/>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84" name="Google Shape;584;p26"/>
            <p:cNvSpPr/>
            <p:nvPr/>
          </p:nvSpPr>
          <p:spPr>
            <a:xfrm>
              <a:off x="723582" y="189414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7. Credit Risk: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5" name="Google Shape;585;p26"/>
            <p:cNvSpPr/>
            <p:nvPr/>
          </p:nvSpPr>
          <p:spPr>
            <a:xfrm>
              <a:off x="723582" y="3131325"/>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0070C0"/>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8. Less Liquidity: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6" name="Google Shape;586;p26"/>
            <p:cNvSpPr txBox="1"/>
            <p:nvPr/>
          </p:nvSpPr>
          <p:spPr>
            <a:xfrm>
              <a:off x="829487" y="2342506"/>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income from preferred shares is dependent on the company's ability to pay dividends. If the company faces financial difficulties, it may be unable to make dividend payments.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7" name="Google Shape;587;p26"/>
            <p:cNvSpPr txBox="1"/>
            <p:nvPr/>
          </p:nvSpPr>
          <p:spPr>
            <a:xfrm>
              <a:off x="829487" y="3607319"/>
              <a:ext cx="102078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Preferred shares can be less liquid than common shares, making them harder to buy or sell quickly in the market as most of the Preference Shares are not listed on the Stock Exchanges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588" name="Google Shape;588;p26"/>
          <p:cNvSpPr/>
          <p:nvPr/>
        </p:nvSpPr>
        <p:spPr>
          <a:xfrm>
            <a:off x="768567" y="4949918"/>
            <a:ext cx="10618903" cy="1184181"/>
          </a:xfrm>
          <a:prstGeom prst="round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Investors and companies should carefully consider these advantages and disadvantages when deciding whether to issue or invest in preferred shares. The choice depends on individual financial goals, risk tolerance, and overall investment strategy. referred shareholders may miss out on the potential for significant capital gains if the company's common shares experience substantial growth.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592" name="Shape 592"/>
        <p:cNvGrpSpPr/>
        <p:nvPr/>
      </p:nvGrpSpPr>
      <p:grpSpPr>
        <a:xfrm>
          <a:off x="0" y="0"/>
          <a:ext cx="0" cy="0"/>
          <a:chOff x="0" y="0"/>
          <a:chExt cx="0" cy="0"/>
        </a:xfrm>
      </p:grpSpPr>
      <p:pic>
        <p:nvPicPr>
          <p:cNvPr id="593" name="Google Shape;593;p27"/>
          <p:cNvPicPr preferRelativeResize="0"/>
          <p:nvPr>
            <p:ph type="pic" idx="2"/>
          </p:nvPr>
        </p:nvPicPr>
        <p:blipFill rotWithShape="1">
          <a:blip r:embed="rId1"/>
          <a:srcRect/>
          <a:stretch>
            <a:fillRect/>
          </a:stretch>
        </p:blipFill>
        <p:spPr>
          <a:xfrm>
            <a:off x="3978704" y="-21266"/>
            <a:ext cx="8211708" cy="6889900"/>
          </a:xfrm>
          <a:prstGeom prst="rect">
            <a:avLst/>
          </a:prstGeom>
          <a:solidFill>
            <a:srgbClr val="F2F2F2"/>
          </a:solidFill>
          <a:ln>
            <a:noFill/>
          </a:ln>
        </p:spPr>
      </p:pic>
      <p:sp>
        <p:nvSpPr>
          <p:cNvPr id="594" name="Google Shape;594;p27"/>
          <p:cNvSpPr/>
          <p:nvPr/>
        </p:nvSpPr>
        <p:spPr>
          <a:xfrm>
            <a:off x="0" y="0"/>
            <a:ext cx="6124354" cy="6879266"/>
          </a:xfrm>
          <a:custGeom>
            <a:avLst/>
            <a:gdLst/>
            <a:ahLst/>
            <a:cxnLst/>
            <a:rect l="l" t="t" r="r" b="b"/>
            <a:pathLst>
              <a:path w="6124354" h="6879266" extrusionOk="0">
                <a:moveTo>
                  <a:pt x="0" y="0"/>
                </a:moveTo>
                <a:lnTo>
                  <a:pt x="4061637" y="0"/>
                </a:lnTo>
                <a:lnTo>
                  <a:pt x="6124354" y="6879266"/>
                </a:lnTo>
                <a:lnTo>
                  <a:pt x="0" y="685800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95" name="Google Shape;595;p27"/>
          <p:cNvSpPr/>
          <p:nvPr/>
        </p:nvSpPr>
        <p:spPr>
          <a:xfrm flipH="1">
            <a:off x="4025448" y="-21268"/>
            <a:ext cx="8166551" cy="6900533"/>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96" name="Google Shape;596;p27"/>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597" name="Google Shape;597;p27"/>
          <p:cNvPicPr preferRelativeResize="0"/>
          <p:nvPr/>
        </p:nvPicPr>
        <p:blipFill rotWithShape="1">
          <a:blip r:embed="rId2"/>
          <a:srcRect/>
          <a:stretch>
            <a:fillRect/>
          </a:stretch>
        </p:blipFill>
        <p:spPr>
          <a:xfrm>
            <a:off x="617538" y="-2207760"/>
            <a:ext cx="3614738" cy="2033588"/>
          </a:xfrm>
          <a:prstGeom prst="rect">
            <a:avLst/>
          </a:prstGeom>
          <a:noFill/>
          <a:ln>
            <a:noFill/>
          </a:ln>
        </p:spPr>
      </p:pic>
      <p:pic>
        <p:nvPicPr>
          <p:cNvPr id="598" name="Google Shape;598;p27" descr="A picture containing text, clipart&#10;&#10;Description automatically generated"/>
          <p:cNvPicPr preferRelativeResize="0"/>
          <p:nvPr/>
        </p:nvPicPr>
        <p:blipFill rotWithShape="1">
          <a:blip r:embed="rId3"/>
          <a:srcRect/>
          <a:stretch>
            <a:fillRect/>
          </a:stretch>
        </p:blipFill>
        <p:spPr>
          <a:xfrm>
            <a:off x="9533468" y="312483"/>
            <a:ext cx="2421466" cy="491960"/>
          </a:xfrm>
          <a:prstGeom prst="rect">
            <a:avLst/>
          </a:prstGeom>
          <a:noFill/>
          <a:ln>
            <a:noFill/>
          </a:ln>
        </p:spPr>
      </p:pic>
      <p:sp>
        <p:nvSpPr>
          <p:cNvPr id="599" name="Google Shape;599;p27"/>
          <p:cNvSpPr txBox="1"/>
          <p:nvPr/>
        </p:nvSpPr>
        <p:spPr>
          <a:xfrm>
            <a:off x="73717" y="3025678"/>
            <a:ext cx="7501356"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rPr>
              <a:t>Depository Receipts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603" name="Shape 603"/>
        <p:cNvGrpSpPr/>
        <p:nvPr/>
      </p:nvGrpSpPr>
      <p:grpSpPr>
        <a:xfrm>
          <a:off x="0" y="0"/>
          <a:ext cx="0" cy="0"/>
          <a:chOff x="0" y="0"/>
          <a:chExt cx="0" cy="0"/>
        </a:xfrm>
      </p:grpSpPr>
      <p:sp>
        <p:nvSpPr>
          <p:cNvPr id="604" name="Google Shape;604;p28"/>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DEPOSITORY RECEIPTS</a:t>
            </a:r>
            <a:endParaRPr lang="en-US"/>
          </a:p>
        </p:txBody>
      </p:sp>
      <p:grpSp>
        <p:nvGrpSpPr>
          <p:cNvPr id="605" name="Google Shape;605;p28"/>
          <p:cNvGrpSpPr/>
          <p:nvPr/>
        </p:nvGrpSpPr>
        <p:grpSpPr>
          <a:xfrm>
            <a:off x="0" y="2390372"/>
            <a:ext cx="12192000" cy="4293178"/>
            <a:chOff x="0" y="2390372"/>
            <a:chExt cx="12192000" cy="4293178"/>
          </a:xfrm>
        </p:grpSpPr>
        <p:sp>
          <p:nvSpPr>
            <p:cNvPr id="606" name="Google Shape;606;p28"/>
            <p:cNvSpPr/>
            <p:nvPr/>
          </p:nvSpPr>
          <p:spPr>
            <a:xfrm rot="-5400000">
              <a:off x="5749970" y="152524"/>
              <a:ext cx="791302" cy="5911699"/>
            </a:xfrm>
            <a:prstGeom prst="rightBrace">
              <a:avLst>
                <a:gd name="adj1" fmla="val 8333"/>
                <a:gd name="adj2" fmla="val 50000"/>
              </a:avLst>
            </a:prstGeom>
            <a:noFill/>
            <a:ln w="19050" cap="flat" cmpd="sng">
              <a:solidFill>
                <a:schemeClr val="dk2"/>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07" name="Google Shape;607;p28"/>
            <p:cNvSpPr txBox="1"/>
            <p:nvPr/>
          </p:nvSpPr>
          <p:spPr>
            <a:xfrm>
              <a:off x="0" y="2390372"/>
              <a:ext cx="12192000" cy="359355"/>
            </a:xfrm>
            <a:prstGeom prst="rect">
              <a:avLst/>
            </a:prstGeom>
            <a:solidFill>
              <a:schemeClr val="dk2"/>
            </a:solidFill>
            <a:ln>
              <a:noFill/>
            </a:ln>
          </p:spPr>
          <p:txBody>
            <a:bodyPr spcFirstLastPara="1" wrap="square" lIns="81550" tIns="40775" rIns="81550" bIns="40775" anchor="t" anchorCtr="0">
              <a:spAutoFit/>
            </a:bodyPr>
            <a:lstStyle/>
            <a:p>
              <a:pPr marL="0" marR="0" lvl="0" indent="0" algn="ctr" rtl="0">
                <a:lnSpc>
                  <a:spcPct val="100000"/>
                </a:lnSpc>
                <a:spcBef>
                  <a:spcPts val="0"/>
                </a:spcBef>
                <a:spcAft>
                  <a:spcPts val="0"/>
                </a:spcAft>
                <a:buClr>
                  <a:srgbClr val="FFFFFF"/>
                </a:buClr>
                <a:buSzPts val="1800"/>
                <a:buFont typeface="Arial" panose="020B0604020202020204"/>
                <a:buNone/>
              </a:pPr>
              <a:r>
                <a:rPr lang="en-US" sz="1800" b="1" i="0" u="none" strike="noStrike" cap="none">
                  <a:solidFill>
                    <a:srgbClr val="FFFFFF"/>
                  </a:solidFill>
                  <a:latin typeface="Arial" panose="020B0604020202020204"/>
                  <a:ea typeface="Arial" panose="020B0604020202020204"/>
                  <a:cs typeface="Arial" panose="020B0604020202020204"/>
                  <a:sym typeface="Arial" panose="020B0604020202020204"/>
                </a:rPr>
                <a:t>There are two main types of depository receipts: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8" name="Google Shape;608;p28"/>
            <p:cNvSpPr/>
            <p:nvPr/>
          </p:nvSpPr>
          <p:spPr>
            <a:xfrm>
              <a:off x="1201481" y="3467020"/>
              <a:ext cx="4805914" cy="3216530"/>
            </a:xfrm>
            <a:prstGeom prst="roundRect">
              <a:avLst>
                <a:gd name="adj" fmla="val 9112"/>
              </a:avLst>
            </a:prstGeom>
            <a:solidFill>
              <a:srgbClr val="309C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75"/>
                <a:buFont typeface="Arial" panose="020B0604020202020204"/>
                <a:buNone/>
              </a:pPr>
              <a:endParaRPr sz="67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09" name="Google Shape;609;p28"/>
            <p:cNvSpPr/>
            <p:nvPr/>
          </p:nvSpPr>
          <p:spPr>
            <a:xfrm>
              <a:off x="6315740" y="3467020"/>
              <a:ext cx="4685624" cy="3216530"/>
            </a:xfrm>
            <a:prstGeom prst="roundRect">
              <a:avLst>
                <a:gd name="adj" fmla="val 9112"/>
              </a:avLst>
            </a:prstGeom>
            <a:solidFill>
              <a:srgbClr val="1F94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75"/>
                <a:buFont typeface="Arial" panose="020B0604020202020204"/>
                <a:buNone/>
              </a:pPr>
              <a:endParaRPr sz="67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10" name="Google Shape;610;p28"/>
            <p:cNvSpPr txBox="1"/>
            <p:nvPr/>
          </p:nvSpPr>
          <p:spPr>
            <a:xfrm>
              <a:off x="1382233" y="3532248"/>
              <a:ext cx="4494028" cy="2640965"/>
            </a:xfrm>
            <a:prstGeom prst="rect">
              <a:avLst/>
            </a:prstGeom>
            <a:noFill/>
            <a:ln>
              <a:noFill/>
            </a:ln>
          </p:spPr>
          <p:txBody>
            <a:bodyPr spcFirstLastPara="1" wrap="square" lIns="81550" tIns="40775" rIns="81550" bIns="40775" anchor="t" anchorCtr="0">
              <a:spAutoFit/>
            </a:bodyPr>
            <a:lstStyle/>
            <a:p>
              <a:pPr marL="0" marR="0" lvl="0" indent="0" algn="ctr" rtl="0">
                <a:lnSpc>
                  <a:spcPct val="100000"/>
                </a:lnSpc>
                <a:spcBef>
                  <a:spcPts val="0"/>
                </a:spcBef>
                <a:spcAft>
                  <a:spcPts val="0"/>
                </a:spcAft>
                <a:buClr>
                  <a:srgbClr val="FFFFFF"/>
                </a:buClr>
                <a:buSzPts val="1600"/>
                <a:buFont typeface="Arial" panose="020B0604020202020204"/>
                <a:buNone/>
              </a:pPr>
              <a:r>
                <a:rPr lang="en-US" sz="1600" b="1" i="0" u="none" strike="noStrike" cap="none">
                  <a:solidFill>
                    <a:srgbClr val="FFFFFF"/>
                  </a:solidFill>
                  <a:latin typeface="Arial" panose="020B0604020202020204"/>
                  <a:ea typeface="Arial" panose="020B0604020202020204"/>
                  <a:cs typeface="Arial" panose="020B0604020202020204"/>
                  <a:sym typeface="Arial" panose="020B0604020202020204"/>
                </a:rPr>
                <a:t>Global Depository Receipts (GDRs):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320"/>
                </a:spcBef>
                <a:spcAft>
                  <a:spcPts val="0"/>
                </a:spcAft>
                <a:buClr>
                  <a:schemeClr val="dk2"/>
                </a:buClr>
                <a:buSzPts val="1600"/>
                <a:buFont typeface="Arial" panose="020B0604020202020204"/>
                <a:buNone/>
              </a:pPr>
              <a:endParaRPr sz="16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320"/>
                </a:spcBef>
                <a:spcAft>
                  <a:spcPts val="0"/>
                </a:spcAft>
                <a:buClr>
                  <a:srgbClr val="FFFFFF"/>
                </a:buClr>
                <a:buSzPts val="1600"/>
                <a:buFont typeface="Arial" panose="020B0604020202020204"/>
                <a:buNone/>
              </a:pPr>
              <a:r>
                <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rPr>
                <a:t>GDRs are issued and traded outside the company's home country, typically in the form of Euroclear/Clearstream-listed securities in Europe. GDRs are usually denominated in U.S. dollars or Euros or Pounds etc, and they allow international investors to invest in foreign companies without the need to navigate foreign exchanges and currencies.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1" name="Google Shape;611;p28"/>
            <p:cNvSpPr txBox="1"/>
            <p:nvPr/>
          </p:nvSpPr>
          <p:spPr>
            <a:xfrm>
              <a:off x="6422065" y="3561543"/>
              <a:ext cx="4465676" cy="2148205"/>
            </a:xfrm>
            <a:prstGeom prst="rect">
              <a:avLst/>
            </a:prstGeom>
            <a:noFill/>
            <a:ln>
              <a:noFill/>
            </a:ln>
          </p:spPr>
          <p:txBody>
            <a:bodyPr spcFirstLastPara="1" wrap="square" lIns="81550" tIns="40775" rIns="81550" bIns="40775" anchor="t" anchorCtr="0">
              <a:spAutoFit/>
            </a:bodyPr>
            <a:lstStyle/>
            <a:p>
              <a:pPr marL="0" marR="0" lvl="0" indent="0" algn="ctr" rtl="0">
                <a:lnSpc>
                  <a:spcPct val="100000"/>
                </a:lnSpc>
                <a:spcBef>
                  <a:spcPts val="0"/>
                </a:spcBef>
                <a:spcAft>
                  <a:spcPts val="0"/>
                </a:spcAft>
                <a:buClr>
                  <a:srgbClr val="FFFFFF"/>
                </a:buClr>
                <a:buSzPts val="1600"/>
                <a:buFont typeface="Arial" panose="020B0604020202020204"/>
                <a:buNone/>
              </a:pPr>
              <a:r>
                <a:rPr lang="en-US" sz="1600" b="1" i="0" u="none" strike="noStrike" cap="none">
                  <a:solidFill>
                    <a:srgbClr val="FFFFFF"/>
                  </a:solidFill>
                  <a:latin typeface="Arial" panose="020B0604020202020204"/>
                  <a:ea typeface="Arial" panose="020B0604020202020204"/>
                  <a:cs typeface="Arial" panose="020B0604020202020204"/>
                  <a:sym typeface="Arial" panose="020B0604020202020204"/>
                </a:rPr>
                <a:t>American Depositary Receipts (ADRs):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320"/>
                </a:spcBef>
                <a:spcAft>
                  <a:spcPts val="0"/>
                </a:spcAft>
                <a:buClr>
                  <a:schemeClr val="dk2"/>
                </a:buClr>
                <a:buSzPts val="1600"/>
                <a:buFont typeface="Arial" panose="020B0604020202020204"/>
                <a:buNone/>
              </a:pPr>
              <a:endParaRPr sz="16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320"/>
                </a:spcBef>
                <a:spcAft>
                  <a:spcPts val="0"/>
                </a:spcAft>
                <a:buClr>
                  <a:srgbClr val="FFFFFF"/>
                </a:buClr>
                <a:buSzPts val="1600"/>
                <a:buFont typeface="Arial" panose="020B0604020202020204"/>
                <a:buNone/>
              </a:pPr>
              <a:r>
                <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rPr>
                <a:t>ADRs are a specific type of DR traded on U.S. exchanges. They enable American investors to invest in foreign companies as if they were trading shares of a U.S. company. ADRs are denominated in U.S. dollars and are subject to U.S. Securities regulations.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612" name="Google Shape;612;p28"/>
          <p:cNvSpPr/>
          <p:nvPr/>
        </p:nvSpPr>
        <p:spPr>
          <a:xfrm>
            <a:off x="497409" y="994432"/>
            <a:ext cx="10718817" cy="1194461"/>
          </a:xfrm>
          <a:prstGeom prst="roundRect">
            <a:avLst>
              <a:gd name="adj" fmla="val 16667"/>
            </a:avLst>
          </a:prstGeom>
          <a:solidFill>
            <a:srgbClr val="D2F4F6"/>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Depository Receipts (DRs)  are financial instruments that represent ownership in shares of foreign companies. They allow investors to trade and invest in foreign stocks without directly owning the shares or dealing with the complexities of cross-border investment, trading &amp; regulations compliance. DRs are issued by financial institutions known as depository banks and are traded on local stock exchanges.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616" name="Shape 616"/>
        <p:cNvGrpSpPr/>
        <p:nvPr/>
      </p:nvGrpSpPr>
      <p:grpSpPr>
        <a:xfrm>
          <a:off x="0" y="0"/>
          <a:ext cx="0" cy="0"/>
          <a:chOff x="0" y="0"/>
          <a:chExt cx="0" cy="0"/>
        </a:xfrm>
      </p:grpSpPr>
      <p:sp>
        <p:nvSpPr>
          <p:cNvPr id="617" name="Google Shape;617;p29"/>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DEPOSITORY RECEIPTS</a:t>
            </a:r>
            <a:endParaRPr lang="en-US"/>
          </a:p>
        </p:txBody>
      </p:sp>
      <p:sp>
        <p:nvSpPr>
          <p:cNvPr id="618" name="Google Shape;618;p29"/>
          <p:cNvSpPr/>
          <p:nvPr/>
        </p:nvSpPr>
        <p:spPr>
          <a:xfrm>
            <a:off x="0" y="1121291"/>
            <a:ext cx="12192000" cy="335369"/>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How Depository Receipts Work: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19" name="Google Shape;619;p29"/>
          <p:cNvGrpSpPr/>
          <p:nvPr/>
        </p:nvGrpSpPr>
        <p:grpSpPr>
          <a:xfrm>
            <a:off x="-108660" y="1651270"/>
            <a:ext cx="11850610" cy="2365955"/>
            <a:chOff x="-6035" y="1651270"/>
            <a:chExt cx="11850610" cy="2365955"/>
          </a:xfrm>
        </p:grpSpPr>
        <p:sp>
          <p:nvSpPr>
            <p:cNvPr id="620" name="Google Shape;620;p29"/>
            <p:cNvSpPr/>
            <p:nvPr/>
          </p:nvSpPr>
          <p:spPr>
            <a:xfrm>
              <a:off x="700550" y="1916180"/>
              <a:ext cx="4992623" cy="1688257"/>
            </a:xfrm>
            <a:prstGeom prst="roundRect">
              <a:avLst>
                <a:gd name="adj" fmla="val 16667"/>
              </a:avLst>
            </a:prstGeom>
            <a:solidFill>
              <a:schemeClr val="dk2"/>
            </a:solidFill>
            <a:ln w="12700" cap="flat" cmpd="sng">
              <a:solidFill>
                <a:schemeClr val="dk2"/>
              </a:solidFill>
              <a:prstDash val="solid"/>
              <a:miter lim="800000"/>
              <a:headEnd type="none" w="sm" len="sm"/>
              <a:tailEnd type="none" w="sm" len="sm"/>
            </a:ln>
          </p:spPr>
          <p:txBody>
            <a:bodyPr spcFirstLastPara="1" wrap="square" lIns="324000" tIns="540000" rIns="91425" bIns="45700" anchor="t" anchorCtr="0">
              <a:noAutofit/>
            </a:bodyPr>
            <a:lstStyle/>
            <a:p>
              <a:pPr marL="285750" marR="0" lvl="0" indent="-17145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1" name="Google Shape;621;p29"/>
            <p:cNvSpPr/>
            <p:nvPr/>
          </p:nvSpPr>
          <p:spPr>
            <a:xfrm>
              <a:off x="6704077" y="1916180"/>
              <a:ext cx="4992624" cy="1688257"/>
            </a:xfrm>
            <a:prstGeom prst="roundRect">
              <a:avLst>
                <a:gd name="adj" fmla="val 16667"/>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324000" tIns="540000" rIns="91425" bIns="45700" anchor="t" anchorCtr="0">
              <a:noAutofit/>
            </a:bodyPr>
            <a:lstStyle/>
            <a:p>
              <a:pPr marL="285750" marR="0" lvl="0" indent="-17145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2" name="Google Shape;622;p29"/>
            <p:cNvSpPr/>
            <p:nvPr/>
          </p:nvSpPr>
          <p:spPr>
            <a:xfrm>
              <a:off x="6704075" y="1761525"/>
              <a:ext cx="5140500" cy="2255700"/>
            </a:xfrm>
            <a:prstGeom prst="roundRect">
              <a:avLst>
                <a:gd name="adj" fmla="val 16667"/>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324000" tIns="5400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The depository bank holds the company's shares in a Custodian Bank  in the home country of Issuer company, while the depository receipts are issued to investors. Each DR represents a certain number of shares, and the value of the DRs is linked to the value of the underlying shares.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3" name="Google Shape;623;p29"/>
            <p:cNvSpPr/>
            <p:nvPr/>
          </p:nvSpPr>
          <p:spPr>
            <a:xfrm>
              <a:off x="700550" y="1761513"/>
              <a:ext cx="4992600" cy="2149500"/>
            </a:xfrm>
            <a:prstGeom prst="roundRect">
              <a:avLst>
                <a:gd name="adj" fmla="val 1666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324000" tIns="5400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 foreign company that wishes to raise capital in international markets may choose to issue depository receipts. The company partners with a depository bank, which buys a block of the company's shares and holds them as the underlying asset for the DRs.</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4" name="Google Shape;624;p29"/>
            <p:cNvSpPr/>
            <p:nvPr/>
          </p:nvSpPr>
          <p:spPr>
            <a:xfrm>
              <a:off x="700550" y="1651270"/>
              <a:ext cx="4992600" cy="482400"/>
            </a:xfrm>
            <a:prstGeom prst="round2SameRect">
              <a:avLst>
                <a:gd name="adj1" fmla="val 9603"/>
                <a:gd name="adj2" fmla="val 11190"/>
              </a:avLst>
            </a:prstGeom>
            <a:solidFill>
              <a:schemeClr val="accent3"/>
            </a:solidFill>
            <a:ln>
              <a:noFill/>
            </a:ln>
          </p:spPr>
          <p:txBody>
            <a:bodyPr spcFirstLastPara="1" wrap="square" lIns="822950" tIns="0" rIns="0" bIns="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Issuance: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25" name="Google Shape;625;p29"/>
            <p:cNvGrpSpPr/>
            <p:nvPr/>
          </p:nvGrpSpPr>
          <p:grpSpPr>
            <a:xfrm>
              <a:off x="-6035" y="1662358"/>
              <a:ext cx="1355359" cy="700104"/>
              <a:chOff x="-6035" y="2555951"/>
              <a:chExt cx="1355359" cy="700104"/>
            </a:xfrm>
          </p:grpSpPr>
          <p:sp>
            <p:nvSpPr>
              <p:cNvPr id="626" name="Google Shape;626;p29"/>
              <p:cNvSpPr/>
              <p:nvPr/>
            </p:nvSpPr>
            <p:spPr>
              <a:xfrm>
                <a:off x="1160067" y="2556419"/>
                <a:ext cx="109644" cy="69866"/>
              </a:xfrm>
              <a:custGeom>
                <a:avLst/>
                <a:gdLst/>
                <a:ahLst/>
                <a:cxnLst/>
                <a:rect l="l" t="t" r="r" b="b"/>
                <a:pathLst>
                  <a:path w="510" h="318" extrusionOk="0">
                    <a:moveTo>
                      <a:pt x="0" y="318"/>
                    </a:moveTo>
                    <a:lnTo>
                      <a:pt x="0" y="316"/>
                    </a:lnTo>
                    <a:lnTo>
                      <a:pt x="0" y="316"/>
                    </a:lnTo>
                    <a:lnTo>
                      <a:pt x="2" y="290"/>
                    </a:lnTo>
                    <a:lnTo>
                      <a:pt x="6" y="262"/>
                    </a:lnTo>
                    <a:lnTo>
                      <a:pt x="12" y="234"/>
                    </a:lnTo>
                    <a:lnTo>
                      <a:pt x="20" y="206"/>
                    </a:lnTo>
                    <a:lnTo>
                      <a:pt x="30" y="180"/>
                    </a:lnTo>
                    <a:lnTo>
                      <a:pt x="44" y="154"/>
                    </a:lnTo>
                    <a:lnTo>
                      <a:pt x="58" y="128"/>
                    </a:lnTo>
                    <a:lnTo>
                      <a:pt x="74" y="104"/>
                    </a:lnTo>
                    <a:lnTo>
                      <a:pt x="92" y="82"/>
                    </a:lnTo>
                    <a:lnTo>
                      <a:pt x="112" y="62"/>
                    </a:lnTo>
                    <a:lnTo>
                      <a:pt x="134" y="44"/>
                    </a:lnTo>
                    <a:lnTo>
                      <a:pt x="156" y="28"/>
                    </a:lnTo>
                    <a:lnTo>
                      <a:pt x="180" y="16"/>
                    </a:lnTo>
                    <a:lnTo>
                      <a:pt x="204" y="8"/>
                    </a:lnTo>
                    <a:lnTo>
                      <a:pt x="230" y="2"/>
                    </a:lnTo>
                    <a:lnTo>
                      <a:pt x="256" y="0"/>
                    </a:lnTo>
                    <a:lnTo>
                      <a:pt x="256" y="0"/>
                    </a:lnTo>
                    <a:lnTo>
                      <a:pt x="282" y="2"/>
                    </a:lnTo>
                    <a:lnTo>
                      <a:pt x="306" y="8"/>
                    </a:lnTo>
                    <a:lnTo>
                      <a:pt x="332" y="16"/>
                    </a:lnTo>
                    <a:lnTo>
                      <a:pt x="354" y="28"/>
                    </a:lnTo>
                    <a:lnTo>
                      <a:pt x="376" y="44"/>
                    </a:lnTo>
                    <a:lnTo>
                      <a:pt x="398" y="62"/>
                    </a:lnTo>
                    <a:lnTo>
                      <a:pt x="418" y="82"/>
                    </a:lnTo>
                    <a:lnTo>
                      <a:pt x="436" y="104"/>
                    </a:lnTo>
                    <a:lnTo>
                      <a:pt x="452" y="128"/>
                    </a:lnTo>
                    <a:lnTo>
                      <a:pt x="466" y="154"/>
                    </a:lnTo>
                    <a:lnTo>
                      <a:pt x="480" y="180"/>
                    </a:lnTo>
                    <a:lnTo>
                      <a:pt x="490" y="206"/>
                    </a:lnTo>
                    <a:lnTo>
                      <a:pt x="500" y="234"/>
                    </a:lnTo>
                    <a:lnTo>
                      <a:pt x="506" y="262"/>
                    </a:lnTo>
                    <a:lnTo>
                      <a:pt x="510" y="290"/>
                    </a:lnTo>
                    <a:lnTo>
                      <a:pt x="510" y="316"/>
                    </a:lnTo>
                    <a:lnTo>
                      <a:pt x="510" y="318"/>
                    </a:lnTo>
                    <a:lnTo>
                      <a:pt x="0"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7" name="Google Shape;627;p29"/>
              <p:cNvSpPr/>
              <p:nvPr/>
            </p:nvSpPr>
            <p:spPr>
              <a:xfrm>
                <a:off x="836428" y="2556420"/>
                <a:ext cx="110072" cy="69866"/>
              </a:xfrm>
              <a:custGeom>
                <a:avLst/>
                <a:gdLst/>
                <a:ahLst/>
                <a:cxnLst/>
                <a:rect l="l" t="t" r="r" b="b"/>
                <a:pathLst>
                  <a:path w="512" h="318" extrusionOk="0">
                    <a:moveTo>
                      <a:pt x="512" y="318"/>
                    </a:moveTo>
                    <a:lnTo>
                      <a:pt x="512" y="316"/>
                    </a:lnTo>
                    <a:lnTo>
                      <a:pt x="512" y="316"/>
                    </a:lnTo>
                    <a:lnTo>
                      <a:pt x="510" y="290"/>
                    </a:lnTo>
                    <a:lnTo>
                      <a:pt x="506" y="262"/>
                    </a:lnTo>
                    <a:lnTo>
                      <a:pt x="500" y="234"/>
                    </a:lnTo>
                    <a:lnTo>
                      <a:pt x="492" y="206"/>
                    </a:lnTo>
                    <a:lnTo>
                      <a:pt x="480" y="180"/>
                    </a:lnTo>
                    <a:lnTo>
                      <a:pt x="468" y="154"/>
                    </a:lnTo>
                    <a:lnTo>
                      <a:pt x="454" y="128"/>
                    </a:lnTo>
                    <a:lnTo>
                      <a:pt x="436" y="104"/>
                    </a:lnTo>
                    <a:lnTo>
                      <a:pt x="418" y="82"/>
                    </a:lnTo>
                    <a:lnTo>
                      <a:pt x="398" y="62"/>
                    </a:lnTo>
                    <a:lnTo>
                      <a:pt x="378" y="44"/>
                    </a:lnTo>
                    <a:lnTo>
                      <a:pt x="356" y="28"/>
                    </a:lnTo>
                    <a:lnTo>
                      <a:pt x="332" y="16"/>
                    </a:lnTo>
                    <a:lnTo>
                      <a:pt x="308" y="8"/>
                    </a:lnTo>
                    <a:lnTo>
                      <a:pt x="282" y="2"/>
                    </a:lnTo>
                    <a:lnTo>
                      <a:pt x="256" y="0"/>
                    </a:lnTo>
                    <a:lnTo>
                      <a:pt x="256" y="0"/>
                    </a:lnTo>
                    <a:lnTo>
                      <a:pt x="230" y="2"/>
                    </a:lnTo>
                    <a:lnTo>
                      <a:pt x="204" y="8"/>
                    </a:lnTo>
                    <a:lnTo>
                      <a:pt x="180" y="16"/>
                    </a:lnTo>
                    <a:lnTo>
                      <a:pt x="156" y="28"/>
                    </a:lnTo>
                    <a:lnTo>
                      <a:pt x="134" y="44"/>
                    </a:lnTo>
                    <a:lnTo>
                      <a:pt x="114" y="62"/>
                    </a:lnTo>
                    <a:lnTo>
                      <a:pt x="94" y="82"/>
                    </a:lnTo>
                    <a:lnTo>
                      <a:pt x="76" y="104"/>
                    </a:lnTo>
                    <a:lnTo>
                      <a:pt x="60" y="128"/>
                    </a:lnTo>
                    <a:lnTo>
                      <a:pt x="44" y="154"/>
                    </a:lnTo>
                    <a:lnTo>
                      <a:pt x="32" y="180"/>
                    </a:lnTo>
                    <a:lnTo>
                      <a:pt x="20" y="206"/>
                    </a:lnTo>
                    <a:lnTo>
                      <a:pt x="12" y="234"/>
                    </a:lnTo>
                    <a:lnTo>
                      <a:pt x="6" y="262"/>
                    </a:lnTo>
                    <a:lnTo>
                      <a:pt x="2" y="290"/>
                    </a:lnTo>
                    <a:lnTo>
                      <a:pt x="0" y="316"/>
                    </a:lnTo>
                    <a:lnTo>
                      <a:pt x="0" y="318"/>
                    </a:lnTo>
                    <a:lnTo>
                      <a:pt x="512"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8" name="Google Shape;628;p29"/>
              <p:cNvSpPr/>
              <p:nvPr/>
            </p:nvSpPr>
            <p:spPr>
              <a:xfrm>
                <a:off x="771782" y="2555951"/>
                <a:ext cx="577542" cy="700104"/>
              </a:xfrm>
              <a:custGeom>
                <a:avLst/>
                <a:gdLst/>
                <a:ahLst/>
                <a:cxnLst/>
                <a:rect l="l" t="t" r="r" b="b"/>
                <a:pathLst>
                  <a:path w="2578" h="3058" extrusionOk="0">
                    <a:moveTo>
                      <a:pt x="2142" y="802"/>
                    </a:moveTo>
                    <a:lnTo>
                      <a:pt x="2142" y="802"/>
                    </a:lnTo>
                    <a:lnTo>
                      <a:pt x="2092" y="756"/>
                    </a:lnTo>
                    <a:lnTo>
                      <a:pt x="2046" y="718"/>
                    </a:lnTo>
                    <a:lnTo>
                      <a:pt x="1970" y="658"/>
                    </a:lnTo>
                    <a:lnTo>
                      <a:pt x="1912" y="612"/>
                    </a:lnTo>
                    <a:lnTo>
                      <a:pt x="1890" y="592"/>
                    </a:lnTo>
                    <a:lnTo>
                      <a:pt x="1870" y="572"/>
                    </a:lnTo>
                    <a:lnTo>
                      <a:pt x="1854" y="554"/>
                    </a:lnTo>
                    <a:lnTo>
                      <a:pt x="1842" y="532"/>
                    </a:lnTo>
                    <a:lnTo>
                      <a:pt x="1830" y="510"/>
                    </a:lnTo>
                    <a:lnTo>
                      <a:pt x="1822" y="484"/>
                    </a:lnTo>
                    <a:lnTo>
                      <a:pt x="1816" y="452"/>
                    </a:lnTo>
                    <a:lnTo>
                      <a:pt x="1812" y="416"/>
                    </a:lnTo>
                    <a:lnTo>
                      <a:pt x="1810" y="374"/>
                    </a:lnTo>
                    <a:lnTo>
                      <a:pt x="1808" y="324"/>
                    </a:lnTo>
                    <a:lnTo>
                      <a:pt x="1808" y="316"/>
                    </a:lnTo>
                    <a:lnTo>
                      <a:pt x="1808" y="316"/>
                    </a:lnTo>
                    <a:lnTo>
                      <a:pt x="1810" y="290"/>
                    </a:lnTo>
                    <a:lnTo>
                      <a:pt x="1814" y="262"/>
                    </a:lnTo>
                    <a:lnTo>
                      <a:pt x="1820" y="234"/>
                    </a:lnTo>
                    <a:lnTo>
                      <a:pt x="1828" y="206"/>
                    </a:lnTo>
                    <a:lnTo>
                      <a:pt x="1838" y="180"/>
                    </a:lnTo>
                    <a:lnTo>
                      <a:pt x="1852" y="154"/>
                    </a:lnTo>
                    <a:lnTo>
                      <a:pt x="1866" y="128"/>
                    </a:lnTo>
                    <a:lnTo>
                      <a:pt x="1882" y="104"/>
                    </a:lnTo>
                    <a:lnTo>
                      <a:pt x="1900" y="82"/>
                    </a:lnTo>
                    <a:lnTo>
                      <a:pt x="1920" y="62"/>
                    </a:lnTo>
                    <a:lnTo>
                      <a:pt x="1942" y="44"/>
                    </a:lnTo>
                    <a:lnTo>
                      <a:pt x="1964" y="28"/>
                    </a:lnTo>
                    <a:lnTo>
                      <a:pt x="1988" y="16"/>
                    </a:lnTo>
                    <a:lnTo>
                      <a:pt x="2012" y="8"/>
                    </a:lnTo>
                    <a:lnTo>
                      <a:pt x="2038" y="2"/>
                    </a:lnTo>
                    <a:lnTo>
                      <a:pt x="2064" y="0"/>
                    </a:lnTo>
                    <a:lnTo>
                      <a:pt x="2064" y="0"/>
                    </a:lnTo>
                    <a:lnTo>
                      <a:pt x="1926" y="0"/>
                    </a:lnTo>
                    <a:lnTo>
                      <a:pt x="1818" y="4"/>
                    </a:lnTo>
                    <a:lnTo>
                      <a:pt x="1728" y="8"/>
                    </a:lnTo>
                    <a:lnTo>
                      <a:pt x="1648" y="12"/>
                    </a:lnTo>
                    <a:lnTo>
                      <a:pt x="1574" y="18"/>
                    </a:lnTo>
                    <a:lnTo>
                      <a:pt x="1494" y="22"/>
                    </a:lnTo>
                    <a:lnTo>
                      <a:pt x="1402" y="26"/>
                    </a:lnTo>
                    <a:lnTo>
                      <a:pt x="1288" y="26"/>
                    </a:lnTo>
                    <a:lnTo>
                      <a:pt x="1288" y="26"/>
                    </a:lnTo>
                    <a:lnTo>
                      <a:pt x="1288" y="26"/>
                    </a:lnTo>
                    <a:lnTo>
                      <a:pt x="1288" y="26"/>
                    </a:lnTo>
                    <a:lnTo>
                      <a:pt x="1176" y="26"/>
                    </a:lnTo>
                    <a:lnTo>
                      <a:pt x="1084" y="22"/>
                    </a:lnTo>
                    <a:lnTo>
                      <a:pt x="1004" y="18"/>
                    </a:lnTo>
                    <a:lnTo>
                      <a:pt x="928" y="12"/>
                    </a:lnTo>
                    <a:lnTo>
                      <a:pt x="850" y="8"/>
                    </a:lnTo>
                    <a:lnTo>
                      <a:pt x="760" y="4"/>
                    </a:lnTo>
                    <a:lnTo>
                      <a:pt x="650" y="0"/>
                    </a:lnTo>
                    <a:lnTo>
                      <a:pt x="514" y="0"/>
                    </a:lnTo>
                    <a:lnTo>
                      <a:pt x="514" y="0"/>
                    </a:lnTo>
                    <a:lnTo>
                      <a:pt x="540" y="2"/>
                    </a:lnTo>
                    <a:lnTo>
                      <a:pt x="566" y="8"/>
                    </a:lnTo>
                    <a:lnTo>
                      <a:pt x="590" y="16"/>
                    </a:lnTo>
                    <a:lnTo>
                      <a:pt x="614" y="28"/>
                    </a:lnTo>
                    <a:lnTo>
                      <a:pt x="636" y="44"/>
                    </a:lnTo>
                    <a:lnTo>
                      <a:pt x="656" y="62"/>
                    </a:lnTo>
                    <a:lnTo>
                      <a:pt x="676" y="82"/>
                    </a:lnTo>
                    <a:lnTo>
                      <a:pt x="694" y="104"/>
                    </a:lnTo>
                    <a:lnTo>
                      <a:pt x="712" y="128"/>
                    </a:lnTo>
                    <a:lnTo>
                      <a:pt x="726" y="154"/>
                    </a:lnTo>
                    <a:lnTo>
                      <a:pt x="738" y="180"/>
                    </a:lnTo>
                    <a:lnTo>
                      <a:pt x="750" y="206"/>
                    </a:lnTo>
                    <a:lnTo>
                      <a:pt x="758" y="234"/>
                    </a:lnTo>
                    <a:lnTo>
                      <a:pt x="764" y="262"/>
                    </a:lnTo>
                    <a:lnTo>
                      <a:pt x="768" y="290"/>
                    </a:lnTo>
                    <a:lnTo>
                      <a:pt x="770" y="316"/>
                    </a:lnTo>
                    <a:lnTo>
                      <a:pt x="770" y="324"/>
                    </a:lnTo>
                    <a:lnTo>
                      <a:pt x="770" y="324"/>
                    </a:lnTo>
                    <a:lnTo>
                      <a:pt x="768" y="374"/>
                    </a:lnTo>
                    <a:lnTo>
                      <a:pt x="766" y="416"/>
                    </a:lnTo>
                    <a:lnTo>
                      <a:pt x="760" y="452"/>
                    </a:lnTo>
                    <a:lnTo>
                      <a:pt x="754" y="484"/>
                    </a:lnTo>
                    <a:lnTo>
                      <a:pt x="746" y="510"/>
                    </a:lnTo>
                    <a:lnTo>
                      <a:pt x="736" y="532"/>
                    </a:lnTo>
                    <a:lnTo>
                      <a:pt x="724" y="554"/>
                    </a:lnTo>
                    <a:lnTo>
                      <a:pt x="708" y="572"/>
                    </a:lnTo>
                    <a:lnTo>
                      <a:pt x="688" y="592"/>
                    </a:lnTo>
                    <a:lnTo>
                      <a:pt x="664" y="612"/>
                    </a:lnTo>
                    <a:lnTo>
                      <a:pt x="606" y="658"/>
                    </a:lnTo>
                    <a:lnTo>
                      <a:pt x="532" y="718"/>
                    </a:lnTo>
                    <a:lnTo>
                      <a:pt x="486" y="756"/>
                    </a:lnTo>
                    <a:lnTo>
                      <a:pt x="436" y="802"/>
                    </a:lnTo>
                    <a:lnTo>
                      <a:pt x="436" y="802"/>
                    </a:lnTo>
                    <a:lnTo>
                      <a:pt x="436" y="802"/>
                    </a:lnTo>
                    <a:lnTo>
                      <a:pt x="386" y="848"/>
                    </a:lnTo>
                    <a:lnTo>
                      <a:pt x="340" y="896"/>
                    </a:lnTo>
                    <a:lnTo>
                      <a:pt x="296" y="946"/>
                    </a:lnTo>
                    <a:lnTo>
                      <a:pt x="254" y="1000"/>
                    </a:lnTo>
                    <a:lnTo>
                      <a:pt x="216" y="1054"/>
                    </a:lnTo>
                    <a:lnTo>
                      <a:pt x="180" y="1110"/>
                    </a:lnTo>
                    <a:lnTo>
                      <a:pt x="148" y="1170"/>
                    </a:lnTo>
                    <a:lnTo>
                      <a:pt x="118" y="1230"/>
                    </a:lnTo>
                    <a:lnTo>
                      <a:pt x="90" y="1292"/>
                    </a:lnTo>
                    <a:lnTo>
                      <a:pt x="68" y="1356"/>
                    </a:lnTo>
                    <a:lnTo>
                      <a:pt x="48" y="1422"/>
                    </a:lnTo>
                    <a:lnTo>
                      <a:pt x="30" y="1488"/>
                    </a:lnTo>
                    <a:lnTo>
                      <a:pt x="18" y="1556"/>
                    </a:lnTo>
                    <a:lnTo>
                      <a:pt x="8" y="1626"/>
                    </a:lnTo>
                    <a:lnTo>
                      <a:pt x="2" y="1696"/>
                    </a:lnTo>
                    <a:lnTo>
                      <a:pt x="0" y="1768"/>
                    </a:lnTo>
                    <a:lnTo>
                      <a:pt x="0" y="1768"/>
                    </a:lnTo>
                    <a:lnTo>
                      <a:pt x="2" y="1834"/>
                    </a:lnTo>
                    <a:lnTo>
                      <a:pt x="6" y="1900"/>
                    </a:lnTo>
                    <a:lnTo>
                      <a:pt x="14" y="1964"/>
                    </a:lnTo>
                    <a:lnTo>
                      <a:pt x="26" y="2028"/>
                    </a:lnTo>
                    <a:lnTo>
                      <a:pt x="40" y="2090"/>
                    </a:lnTo>
                    <a:lnTo>
                      <a:pt x="58" y="2152"/>
                    </a:lnTo>
                    <a:lnTo>
                      <a:pt x="78" y="2212"/>
                    </a:lnTo>
                    <a:lnTo>
                      <a:pt x="102" y="2270"/>
                    </a:lnTo>
                    <a:lnTo>
                      <a:pt x="128" y="2328"/>
                    </a:lnTo>
                    <a:lnTo>
                      <a:pt x="156" y="2382"/>
                    </a:lnTo>
                    <a:lnTo>
                      <a:pt x="186" y="2436"/>
                    </a:lnTo>
                    <a:lnTo>
                      <a:pt x="220" y="2488"/>
                    </a:lnTo>
                    <a:lnTo>
                      <a:pt x="256" y="2540"/>
                    </a:lnTo>
                    <a:lnTo>
                      <a:pt x="294" y="2588"/>
                    </a:lnTo>
                    <a:lnTo>
                      <a:pt x="334" y="2634"/>
                    </a:lnTo>
                    <a:lnTo>
                      <a:pt x="378" y="2680"/>
                    </a:lnTo>
                    <a:lnTo>
                      <a:pt x="422" y="2722"/>
                    </a:lnTo>
                    <a:lnTo>
                      <a:pt x="470" y="2762"/>
                    </a:lnTo>
                    <a:lnTo>
                      <a:pt x="518" y="2802"/>
                    </a:lnTo>
                    <a:lnTo>
                      <a:pt x="568" y="2836"/>
                    </a:lnTo>
                    <a:lnTo>
                      <a:pt x="620" y="2870"/>
                    </a:lnTo>
                    <a:lnTo>
                      <a:pt x="674" y="2902"/>
                    </a:lnTo>
                    <a:lnTo>
                      <a:pt x="730" y="2930"/>
                    </a:lnTo>
                    <a:lnTo>
                      <a:pt x="788" y="2956"/>
                    </a:lnTo>
                    <a:lnTo>
                      <a:pt x="846" y="2978"/>
                    </a:lnTo>
                    <a:lnTo>
                      <a:pt x="906" y="3000"/>
                    </a:lnTo>
                    <a:lnTo>
                      <a:pt x="966" y="3016"/>
                    </a:lnTo>
                    <a:lnTo>
                      <a:pt x="1030" y="3030"/>
                    </a:lnTo>
                    <a:lnTo>
                      <a:pt x="1092" y="3042"/>
                    </a:lnTo>
                    <a:lnTo>
                      <a:pt x="1156" y="3050"/>
                    </a:lnTo>
                    <a:lnTo>
                      <a:pt x="1222" y="3056"/>
                    </a:lnTo>
                    <a:lnTo>
                      <a:pt x="1288" y="3058"/>
                    </a:lnTo>
                    <a:lnTo>
                      <a:pt x="1288" y="3058"/>
                    </a:lnTo>
                    <a:lnTo>
                      <a:pt x="1356" y="3056"/>
                    </a:lnTo>
                    <a:lnTo>
                      <a:pt x="1420" y="3050"/>
                    </a:lnTo>
                    <a:lnTo>
                      <a:pt x="1484" y="3042"/>
                    </a:lnTo>
                    <a:lnTo>
                      <a:pt x="1548" y="3030"/>
                    </a:lnTo>
                    <a:lnTo>
                      <a:pt x="1610" y="3016"/>
                    </a:lnTo>
                    <a:lnTo>
                      <a:pt x="1672" y="3000"/>
                    </a:lnTo>
                    <a:lnTo>
                      <a:pt x="1732" y="2978"/>
                    </a:lnTo>
                    <a:lnTo>
                      <a:pt x="1790" y="2956"/>
                    </a:lnTo>
                    <a:lnTo>
                      <a:pt x="1848" y="2930"/>
                    </a:lnTo>
                    <a:lnTo>
                      <a:pt x="1902" y="2902"/>
                    </a:lnTo>
                    <a:lnTo>
                      <a:pt x="1956" y="2870"/>
                    </a:lnTo>
                    <a:lnTo>
                      <a:pt x="2010" y="2836"/>
                    </a:lnTo>
                    <a:lnTo>
                      <a:pt x="2060" y="2802"/>
                    </a:lnTo>
                    <a:lnTo>
                      <a:pt x="2108" y="2762"/>
                    </a:lnTo>
                    <a:lnTo>
                      <a:pt x="2156" y="2722"/>
                    </a:lnTo>
                    <a:lnTo>
                      <a:pt x="2200" y="2680"/>
                    </a:lnTo>
                    <a:lnTo>
                      <a:pt x="2242" y="2634"/>
                    </a:lnTo>
                    <a:lnTo>
                      <a:pt x="2284" y="2588"/>
                    </a:lnTo>
                    <a:lnTo>
                      <a:pt x="2322" y="2540"/>
                    </a:lnTo>
                    <a:lnTo>
                      <a:pt x="2358" y="2488"/>
                    </a:lnTo>
                    <a:lnTo>
                      <a:pt x="2390" y="2436"/>
                    </a:lnTo>
                    <a:lnTo>
                      <a:pt x="2422" y="2382"/>
                    </a:lnTo>
                    <a:lnTo>
                      <a:pt x="2450" y="2328"/>
                    </a:lnTo>
                    <a:lnTo>
                      <a:pt x="2476" y="2270"/>
                    </a:lnTo>
                    <a:lnTo>
                      <a:pt x="2500" y="2212"/>
                    </a:lnTo>
                    <a:lnTo>
                      <a:pt x="2520" y="2152"/>
                    </a:lnTo>
                    <a:lnTo>
                      <a:pt x="2536" y="2090"/>
                    </a:lnTo>
                    <a:lnTo>
                      <a:pt x="2552" y="2028"/>
                    </a:lnTo>
                    <a:lnTo>
                      <a:pt x="2562" y="1964"/>
                    </a:lnTo>
                    <a:lnTo>
                      <a:pt x="2570" y="1900"/>
                    </a:lnTo>
                    <a:lnTo>
                      <a:pt x="2576" y="1834"/>
                    </a:lnTo>
                    <a:lnTo>
                      <a:pt x="2578" y="1768"/>
                    </a:lnTo>
                    <a:lnTo>
                      <a:pt x="2578" y="1768"/>
                    </a:lnTo>
                    <a:lnTo>
                      <a:pt x="2576" y="1696"/>
                    </a:lnTo>
                    <a:lnTo>
                      <a:pt x="2570" y="1626"/>
                    </a:lnTo>
                    <a:lnTo>
                      <a:pt x="2560" y="1556"/>
                    </a:lnTo>
                    <a:lnTo>
                      <a:pt x="2546" y="1488"/>
                    </a:lnTo>
                    <a:lnTo>
                      <a:pt x="2530" y="1422"/>
                    </a:lnTo>
                    <a:lnTo>
                      <a:pt x="2510" y="1356"/>
                    </a:lnTo>
                    <a:lnTo>
                      <a:pt x="2486" y="1292"/>
                    </a:lnTo>
                    <a:lnTo>
                      <a:pt x="2460" y="1230"/>
                    </a:lnTo>
                    <a:lnTo>
                      <a:pt x="2430" y="1170"/>
                    </a:lnTo>
                    <a:lnTo>
                      <a:pt x="2396" y="1110"/>
                    </a:lnTo>
                    <a:lnTo>
                      <a:pt x="2362" y="1054"/>
                    </a:lnTo>
                    <a:lnTo>
                      <a:pt x="2322" y="1000"/>
                    </a:lnTo>
                    <a:lnTo>
                      <a:pt x="2282" y="946"/>
                    </a:lnTo>
                    <a:lnTo>
                      <a:pt x="2238" y="896"/>
                    </a:lnTo>
                    <a:lnTo>
                      <a:pt x="2190" y="848"/>
                    </a:lnTo>
                    <a:lnTo>
                      <a:pt x="2142" y="802"/>
                    </a:lnTo>
                    <a:lnTo>
                      <a:pt x="2142" y="802"/>
                    </a:lnTo>
                    <a:close/>
                  </a:path>
                </a:pathLst>
              </a:custGeom>
              <a:solidFill>
                <a:srgbClr val="B6E8D8"/>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9" name="Google Shape;629;p29"/>
              <p:cNvSpPr/>
              <p:nvPr/>
            </p:nvSpPr>
            <p:spPr>
              <a:xfrm>
                <a:off x="797415" y="2690995"/>
                <a:ext cx="526276" cy="537822"/>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strike="noStrike" cap="none">
                    <a:solidFill>
                      <a:schemeClr val="accent3"/>
                    </a:solidFill>
                    <a:latin typeface="Arial" panose="020B0604020202020204"/>
                    <a:ea typeface="Arial" panose="020B0604020202020204"/>
                    <a:cs typeface="Arial" panose="020B0604020202020204"/>
                    <a:sym typeface="Arial" panose="020B0604020202020204"/>
                  </a:rPr>
                  <a:t>1</a:t>
                </a:r>
                <a:endParaRPr sz="1400" b="0" i="0" u="none" strike="noStrike" cap="none">
                  <a:solidFill>
                    <a:schemeClr val="accent3"/>
                  </a:solidFill>
                  <a:latin typeface="Arial" panose="020B0604020202020204"/>
                  <a:ea typeface="Arial" panose="020B0604020202020204"/>
                  <a:cs typeface="Arial" panose="020B0604020202020204"/>
                  <a:sym typeface="Arial" panose="020B0604020202020204"/>
                </a:endParaRPr>
              </a:p>
            </p:txBody>
          </p:sp>
          <p:sp>
            <p:nvSpPr>
              <p:cNvPr id="630" name="Google Shape;630;p29"/>
              <p:cNvSpPr/>
              <p:nvPr/>
            </p:nvSpPr>
            <p:spPr>
              <a:xfrm>
                <a:off x="-6035" y="2655106"/>
                <a:ext cx="4569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631" name="Google Shape;631;p29"/>
            <p:cNvSpPr/>
            <p:nvPr/>
          </p:nvSpPr>
          <p:spPr>
            <a:xfrm>
              <a:off x="6704076" y="1651270"/>
              <a:ext cx="4992600" cy="482400"/>
            </a:xfrm>
            <a:prstGeom prst="round2SameRect">
              <a:avLst>
                <a:gd name="adj1" fmla="val 9603"/>
                <a:gd name="adj2" fmla="val 11190"/>
              </a:avLst>
            </a:prstGeom>
            <a:solidFill>
              <a:schemeClr val="accent4"/>
            </a:solidFill>
            <a:ln>
              <a:noFill/>
            </a:ln>
          </p:spPr>
          <p:txBody>
            <a:bodyPr spcFirstLastPara="1" wrap="square" lIns="822950" tIns="0" rIns="0" bIns="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Deposit of Shares: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32" name="Google Shape;632;p29"/>
            <p:cNvGrpSpPr/>
            <p:nvPr/>
          </p:nvGrpSpPr>
          <p:grpSpPr>
            <a:xfrm>
              <a:off x="6302291" y="1662358"/>
              <a:ext cx="1050559" cy="700104"/>
              <a:chOff x="6302291" y="2555951"/>
              <a:chExt cx="1050559" cy="700104"/>
            </a:xfrm>
          </p:grpSpPr>
          <p:sp>
            <p:nvSpPr>
              <p:cNvPr id="633" name="Google Shape;633;p29"/>
              <p:cNvSpPr/>
              <p:nvPr/>
            </p:nvSpPr>
            <p:spPr>
              <a:xfrm>
                <a:off x="7163593" y="2556419"/>
                <a:ext cx="109644" cy="69866"/>
              </a:xfrm>
              <a:custGeom>
                <a:avLst/>
                <a:gdLst/>
                <a:ahLst/>
                <a:cxnLst/>
                <a:rect l="l" t="t" r="r" b="b"/>
                <a:pathLst>
                  <a:path w="510" h="318" extrusionOk="0">
                    <a:moveTo>
                      <a:pt x="0" y="318"/>
                    </a:moveTo>
                    <a:lnTo>
                      <a:pt x="0" y="316"/>
                    </a:lnTo>
                    <a:lnTo>
                      <a:pt x="0" y="316"/>
                    </a:lnTo>
                    <a:lnTo>
                      <a:pt x="2" y="290"/>
                    </a:lnTo>
                    <a:lnTo>
                      <a:pt x="6" y="262"/>
                    </a:lnTo>
                    <a:lnTo>
                      <a:pt x="12" y="234"/>
                    </a:lnTo>
                    <a:lnTo>
                      <a:pt x="20" y="206"/>
                    </a:lnTo>
                    <a:lnTo>
                      <a:pt x="30" y="180"/>
                    </a:lnTo>
                    <a:lnTo>
                      <a:pt x="44" y="154"/>
                    </a:lnTo>
                    <a:lnTo>
                      <a:pt x="58" y="128"/>
                    </a:lnTo>
                    <a:lnTo>
                      <a:pt x="74" y="104"/>
                    </a:lnTo>
                    <a:lnTo>
                      <a:pt x="92" y="82"/>
                    </a:lnTo>
                    <a:lnTo>
                      <a:pt x="112" y="62"/>
                    </a:lnTo>
                    <a:lnTo>
                      <a:pt x="134" y="44"/>
                    </a:lnTo>
                    <a:lnTo>
                      <a:pt x="156" y="28"/>
                    </a:lnTo>
                    <a:lnTo>
                      <a:pt x="180" y="16"/>
                    </a:lnTo>
                    <a:lnTo>
                      <a:pt x="204" y="8"/>
                    </a:lnTo>
                    <a:lnTo>
                      <a:pt x="230" y="2"/>
                    </a:lnTo>
                    <a:lnTo>
                      <a:pt x="256" y="0"/>
                    </a:lnTo>
                    <a:lnTo>
                      <a:pt x="256" y="0"/>
                    </a:lnTo>
                    <a:lnTo>
                      <a:pt x="282" y="2"/>
                    </a:lnTo>
                    <a:lnTo>
                      <a:pt x="306" y="8"/>
                    </a:lnTo>
                    <a:lnTo>
                      <a:pt x="332" y="16"/>
                    </a:lnTo>
                    <a:lnTo>
                      <a:pt x="354" y="28"/>
                    </a:lnTo>
                    <a:lnTo>
                      <a:pt x="376" y="44"/>
                    </a:lnTo>
                    <a:lnTo>
                      <a:pt x="398" y="62"/>
                    </a:lnTo>
                    <a:lnTo>
                      <a:pt x="418" y="82"/>
                    </a:lnTo>
                    <a:lnTo>
                      <a:pt x="436" y="104"/>
                    </a:lnTo>
                    <a:lnTo>
                      <a:pt x="452" y="128"/>
                    </a:lnTo>
                    <a:lnTo>
                      <a:pt x="466" y="154"/>
                    </a:lnTo>
                    <a:lnTo>
                      <a:pt x="480" y="180"/>
                    </a:lnTo>
                    <a:lnTo>
                      <a:pt x="490" y="206"/>
                    </a:lnTo>
                    <a:lnTo>
                      <a:pt x="500" y="234"/>
                    </a:lnTo>
                    <a:lnTo>
                      <a:pt x="506" y="262"/>
                    </a:lnTo>
                    <a:lnTo>
                      <a:pt x="510" y="290"/>
                    </a:lnTo>
                    <a:lnTo>
                      <a:pt x="510" y="316"/>
                    </a:lnTo>
                    <a:lnTo>
                      <a:pt x="510" y="318"/>
                    </a:lnTo>
                    <a:lnTo>
                      <a:pt x="0"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4" name="Google Shape;634;p29"/>
              <p:cNvSpPr/>
              <p:nvPr/>
            </p:nvSpPr>
            <p:spPr>
              <a:xfrm>
                <a:off x="6839954" y="2556420"/>
                <a:ext cx="110072" cy="69866"/>
              </a:xfrm>
              <a:custGeom>
                <a:avLst/>
                <a:gdLst/>
                <a:ahLst/>
                <a:cxnLst/>
                <a:rect l="l" t="t" r="r" b="b"/>
                <a:pathLst>
                  <a:path w="512" h="318" extrusionOk="0">
                    <a:moveTo>
                      <a:pt x="512" y="318"/>
                    </a:moveTo>
                    <a:lnTo>
                      <a:pt x="512" y="316"/>
                    </a:lnTo>
                    <a:lnTo>
                      <a:pt x="512" y="316"/>
                    </a:lnTo>
                    <a:lnTo>
                      <a:pt x="510" y="290"/>
                    </a:lnTo>
                    <a:lnTo>
                      <a:pt x="506" y="262"/>
                    </a:lnTo>
                    <a:lnTo>
                      <a:pt x="500" y="234"/>
                    </a:lnTo>
                    <a:lnTo>
                      <a:pt x="492" y="206"/>
                    </a:lnTo>
                    <a:lnTo>
                      <a:pt x="480" y="180"/>
                    </a:lnTo>
                    <a:lnTo>
                      <a:pt x="468" y="154"/>
                    </a:lnTo>
                    <a:lnTo>
                      <a:pt x="454" y="128"/>
                    </a:lnTo>
                    <a:lnTo>
                      <a:pt x="436" y="104"/>
                    </a:lnTo>
                    <a:lnTo>
                      <a:pt x="418" y="82"/>
                    </a:lnTo>
                    <a:lnTo>
                      <a:pt x="398" y="62"/>
                    </a:lnTo>
                    <a:lnTo>
                      <a:pt x="378" y="44"/>
                    </a:lnTo>
                    <a:lnTo>
                      <a:pt x="356" y="28"/>
                    </a:lnTo>
                    <a:lnTo>
                      <a:pt x="332" y="16"/>
                    </a:lnTo>
                    <a:lnTo>
                      <a:pt x="308" y="8"/>
                    </a:lnTo>
                    <a:lnTo>
                      <a:pt x="282" y="2"/>
                    </a:lnTo>
                    <a:lnTo>
                      <a:pt x="256" y="0"/>
                    </a:lnTo>
                    <a:lnTo>
                      <a:pt x="256" y="0"/>
                    </a:lnTo>
                    <a:lnTo>
                      <a:pt x="230" y="2"/>
                    </a:lnTo>
                    <a:lnTo>
                      <a:pt x="204" y="8"/>
                    </a:lnTo>
                    <a:lnTo>
                      <a:pt x="180" y="16"/>
                    </a:lnTo>
                    <a:lnTo>
                      <a:pt x="156" y="28"/>
                    </a:lnTo>
                    <a:lnTo>
                      <a:pt x="134" y="44"/>
                    </a:lnTo>
                    <a:lnTo>
                      <a:pt x="114" y="62"/>
                    </a:lnTo>
                    <a:lnTo>
                      <a:pt x="94" y="82"/>
                    </a:lnTo>
                    <a:lnTo>
                      <a:pt x="76" y="104"/>
                    </a:lnTo>
                    <a:lnTo>
                      <a:pt x="60" y="128"/>
                    </a:lnTo>
                    <a:lnTo>
                      <a:pt x="44" y="154"/>
                    </a:lnTo>
                    <a:lnTo>
                      <a:pt x="32" y="180"/>
                    </a:lnTo>
                    <a:lnTo>
                      <a:pt x="20" y="206"/>
                    </a:lnTo>
                    <a:lnTo>
                      <a:pt x="12" y="234"/>
                    </a:lnTo>
                    <a:lnTo>
                      <a:pt x="6" y="262"/>
                    </a:lnTo>
                    <a:lnTo>
                      <a:pt x="2" y="290"/>
                    </a:lnTo>
                    <a:lnTo>
                      <a:pt x="0" y="316"/>
                    </a:lnTo>
                    <a:lnTo>
                      <a:pt x="0" y="318"/>
                    </a:lnTo>
                    <a:lnTo>
                      <a:pt x="512"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5" name="Google Shape;635;p29"/>
              <p:cNvSpPr/>
              <p:nvPr/>
            </p:nvSpPr>
            <p:spPr>
              <a:xfrm>
                <a:off x="6775308" y="2555951"/>
                <a:ext cx="577542" cy="700104"/>
              </a:xfrm>
              <a:custGeom>
                <a:avLst/>
                <a:gdLst/>
                <a:ahLst/>
                <a:cxnLst/>
                <a:rect l="l" t="t" r="r" b="b"/>
                <a:pathLst>
                  <a:path w="2578" h="3058" extrusionOk="0">
                    <a:moveTo>
                      <a:pt x="2142" y="802"/>
                    </a:moveTo>
                    <a:lnTo>
                      <a:pt x="2142" y="802"/>
                    </a:lnTo>
                    <a:lnTo>
                      <a:pt x="2092" y="756"/>
                    </a:lnTo>
                    <a:lnTo>
                      <a:pt x="2046" y="718"/>
                    </a:lnTo>
                    <a:lnTo>
                      <a:pt x="1970" y="658"/>
                    </a:lnTo>
                    <a:lnTo>
                      <a:pt x="1912" y="612"/>
                    </a:lnTo>
                    <a:lnTo>
                      <a:pt x="1890" y="592"/>
                    </a:lnTo>
                    <a:lnTo>
                      <a:pt x="1870" y="572"/>
                    </a:lnTo>
                    <a:lnTo>
                      <a:pt x="1854" y="554"/>
                    </a:lnTo>
                    <a:lnTo>
                      <a:pt x="1842" y="532"/>
                    </a:lnTo>
                    <a:lnTo>
                      <a:pt x="1830" y="510"/>
                    </a:lnTo>
                    <a:lnTo>
                      <a:pt x="1822" y="484"/>
                    </a:lnTo>
                    <a:lnTo>
                      <a:pt x="1816" y="452"/>
                    </a:lnTo>
                    <a:lnTo>
                      <a:pt x="1812" y="416"/>
                    </a:lnTo>
                    <a:lnTo>
                      <a:pt x="1810" y="374"/>
                    </a:lnTo>
                    <a:lnTo>
                      <a:pt x="1808" y="324"/>
                    </a:lnTo>
                    <a:lnTo>
                      <a:pt x="1808" y="316"/>
                    </a:lnTo>
                    <a:lnTo>
                      <a:pt x="1808" y="316"/>
                    </a:lnTo>
                    <a:lnTo>
                      <a:pt x="1810" y="290"/>
                    </a:lnTo>
                    <a:lnTo>
                      <a:pt x="1814" y="262"/>
                    </a:lnTo>
                    <a:lnTo>
                      <a:pt x="1820" y="234"/>
                    </a:lnTo>
                    <a:lnTo>
                      <a:pt x="1828" y="206"/>
                    </a:lnTo>
                    <a:lnTo>
                      <a:pt x="1838" y="180"/>
                    </a:lnTo>
                    <a:lnTo>
                      <a:pt x="1852" y="154"/>
                    </a:lnTo>
                    <a:lnTo>
                      <a:pt x="1866" y="128"/>
                    </a:lnTo>
                    <a:lnTo>
                      <a:pt x="1882" y="104"/>
                    </a:lnTo>
                    <a:lnTo>
                      <a:pt x="1900" y="82"/>
                    </a:lnTo>
                    <a:lnTo>
                      <a:pt x="1920" y="62"/>
                    </a:lnTo>
                    <a:lnTo>
                      <a:pt x="1942" y="44"/>
                    </a:lnTo>
                    <a:lnTo>
                      <a:pt x="1964" y="28"/>
                    </a:lnTo>
                    <a:lnTo>
                      <a:pt x="1988" y="16"/>
                    </a:lnTo>
                    <a:lnTo>
                      <a:pt x="2012" y="8"/>
                    </a:lnTo>
                    <a:lnTo>
                      <a:pt x="2038" y="2"/>
                    </a:lnTo>
                    <a:lnTo>
                      <a:pt x="2064" y="0"/>
                    </a:lnTo>
                    <a:lnTo>
                      <a:pt x="2064" y="0"/>
                    </a:lnTo>
                    <a:lnTo>
                      <a:pt x="1926" y="0"/>
                    </a:lnTo>
                    <a:lnTo>
                      <a:pt x="1818" y="4"/>
                    </a:lnTo>
                    <a:lnTo>
                      <a:pt x="1728" y="8"/>
                    </a:lnTo>
                    <a:lnTo>
                      <a:pt x="1648" y="12"/>
                    </a:lnTo>
                    <a:lnTo>
                      <a:pt x="1574" y="18"/>
                    </a:lnTo>
                    <a:lnTo>
                      <a:pt x="1494" y="22"/>
                    </a:lnTo>
                    <a:lnTo>
                      <a:pt x="1402" y="26"/>
                    </a:lnTo>
                    <a:lnTo>
                      <a:pt x="1288" y="26"/>
                    </a:lnTo>
                    <a:lnTo>
                      <a:pt x="1288" y="26"/>
                    </a:lnTo>
                    <a:lnTo>
                      <a:pt x="1288" y="26"/>
                    </a:lnTo>
                    <a:lnTo>
                      <a:pt x="1288" y="26"/>
                    </a:lnTo>
                    <a:lnTo>
                      <a:pt x="1176" y="26"/>
                    </a:lnTo>
                    <a:lnTo>
                      <a:pt x="1084" y="22"/>
                    </a:lnTo>
                    <a:lnTo>
                      <a:pt x="1004" y="18"/>
                    </a:lnTo>
                    <a:lnTo>
                      <a:pt x="928" y="12"/>
                    </a:lnTo>
                    <a:lnTo>
                      <a:pt x="850" y="8"/>
                    </a:lnTo>
                    <a:lnTo>
                      <a:pt x="760" y="4"/>
                    </a:lnTo>
                    <a:lnTo>
                      <a:pt x="650" y="0"/>
                    </a:lnTo>
                    <a:lnTo>
                      <a:pt x="514" y="0"/>
                    </a:lnTo>
                    <a:lnTo>
                      <a:pt x="514" y="0"/>
                    </a:lnTo>
                    <a:lnTo>
                      <a:pt x="540" y="2"/>
                    </a:lnTo>
                    <a:lnTo>
                      <a:pt x="566" y="8"/>
                    </a:lnTo>
                    <a:lnTo>
                      <a:pt x="590" y="16"/>
                    </a:lnTo>
                    <a:lnTo>
                      <a:pt x="614" y="28"/>
                    </a:lnTo>
                    <a:lnTo>
                      <a:pt x="636" y="44"/>
                    </a:lnTo>
                    <a:lnTo>
                      <a:pt x="656" y="62"/>
                    </a:lnTo>
                    <a:lnTo>
                      <a:pt x="676" y="82"/>
                    </a:lnTo>
                    <a:lnTo>
                      <a:pt x="694" y="104"/>
                    </a:lnTo>
                    <a:lnTo>
                      <a:pt x="712" y="128"/>
                    </a:lnTo>
                    <a:lnTo>
                      <a:pt x="726" y="154"/>
                    </a:lnTo>
                    <a:lnTo>
                      <a:pt x="738" y="180"/>
                    </a:lnTo>
                    <a:lnTo>
                      <a:pt x="750" y="206"/>
                    </a:lnTo>
                    <a:lnTo>
                      <a:pt x="758" y="234"/>
                    </a:lnTo>
                    <a:lnTo>
                      <a:pt x="764" y="262"/>
                    </a:lnTo>
                    <a:lnTo>
                      <a:pt x="768" y="290"/>
                    </a:lnTo>
                    <a:lnTo>
                      <a:pt x="770" y="316"/>
                    </a:lnTo>
                    <a:lnTo>
                      <a:pt x="770" y="324"/>
                    </a:lnTo>
                    <a:lnTo>
                      <a:pt x="770" y="324"/>
                    </a:lnTo>
                    <a:lnTo>
                      <a:pt x="768" y="374"/>
                    </a:lnTo>
                    <a:lnTo>
                      <a:pt x="766" y="416"/>
                    </a:lnTo>
                    <a:lnTo>
                      <a:pt x="760" y="452"/>
                    </a:lnTo>
                    <a:lnTo>
                      <a:pt x="754" y="484"/>
                    </a:lnTo>
                    <a:lnTo>
                      <a:pt x="746" y="510"/>
                    </a:lnTo>
                    <a:lnTo>
                      <a:pt x="736" y="532"/>
                    </a:lnTo>
                    <a:lnTo>
                      <a:pt x="724" y="554"/>
                    </a:lnTo>
                    <a:lnTo>
                      <a:pt x="708" y="572"/>
                    </a:lnTo>
                    <a:lnTo>
                      <a:pt x="688" y="592"/>
                    </a:lnTo>
                    <a:lnTo>
                      <a:pt x="664" y="612"/>
                    </a:lnTo>
                    <a:lnTo>
                      <a:pt x="606" y="658"/>
                    </a:lnTo>
                    <a:lnTo>
                      <a:pt x="532" y="718"/>
                    </a:lnTo>
                    <a:lnTo>
                      <a:pt x="486" y="756"/>
                    </a:lnTo>
                    <a:lnTo>
                      <a:pt x="436" y="802"/>
                    </a:lnTo>
                    <a:lnTo>
                      <a:pt x="436" y="802"/>
                    </a:lnTo>
                    <a:lnTo>
                      <a:pt x="436" y="802"/>
                    </a:lnTo>
                    <a:lnTo>
                      <a:pt x="386" y="848"/>
                    </a:lnTo>
                    <a:lnTo>
                      <a:pt x="340" y="896"/>
                    </a:lnTo>
                    <a:lnTo>
                      <a:pt x="296" y="946"/>
                    </a:lnTo>
                    <a:lnTo>
                      <a:pt x="254" y="1000"/>
                    </a:lnTo>
                    <a:lnTo>
                      <a:pt x="216" y="1054"/>
                    </a:lnTo>
                    <a:lnTo>
                      <a:pt x="180" y="1110"/>
                    </a:lnTo>
                    <a:lnTo>
                      <a:pt x="148" y="1170"/>
                    </a:lnTo>
                    <a:lnTo>
                      <a:pt x="118" y="1230"/>
                    </a:lnTo>
                    <a:lnTo>
                      <a:pt x="90" y="1292"/>
                    </a:lnTo>
                    <a:lnTo>
                      <a:pt x="68" y="1356"/>
                    </a:lnTo>
                    <a:lnTo>
                      <a:pt x="48" y="1422"/>
                    </a:lnTo>
                    <a:lnTo>
                      <a:pt x="30" y="1488"/>
                    </a:lnTo>
                    <a:lnTo>
                      <a:pt x="18" y="1556"/>
                    </a:lnTo>
                    <a:lnTo>
                      <a:pt x="8" y="1626"/>
                    </a:lnTo>
                    <a:lnTo>
                      <a:pt x="2" y="1696"/>
                    </a:lnTo>
                    <a:lnTo>
                      <a:pt x="0" y="1768"/>
                    </a:lnTo>
                    <a:lnTo>
                      <a:pt x="0" y="1768"/>
                    </a:lnTo>
                    <a:lnTo>
                      <a:pt x="2" y="1834"/>
                    </a:lnTo>
                    <a:lnTo>
                      <a:pt x="6" y="1900"/>
                    </a:lnTo>
                    <a:lnTo>
                      <a:pt x="14" y="1964"/>
                    </a:lnTo>
                    <a:lnTo>
                      <a:pt x="26" y="2028"/>
                    </a:lnTo>
                    <a:lnTo>
                      <a:pt x="40" y="2090"/>
                    </a:lnTo>
                    <a:lnTo>
                      <a:pt x="58" y="2152"/>
                    </a:lnTo>
                    <a:lnTo>
                      <a:pt x="78" y="2212"/>
                    </a:lnTo>
                    <a:lnTo>
                      <a:pt x="102" y="2270"/>
                    </a:lnTo>
                    <a:lnTo>
                      <a:pt x="128" y="2328"/>
                    </a:lnTo>
                    <a:lnTo>
                      <a:pt x="156" y="2382"/>
                    </a:lnTo>
                    <a:lnTo>
                      <a:pt x="186" y="2436"/>
                    </a:lnTo>
                    <a:lnTo>
                      <a:pt x="220" y="2488"/>
                    </a:lnTo>
                    <a:lnTo>
                      <a:pt x="256" y="2540"/>
                    </a:lnTo>
                    <a:lnTo>
                      <a:pt x="294" y="2588"/>
                    </a:lnTo>
                    <a:lnTo>
                      <a:pt x="334" y="2634"/>
                    </a:lnTo>
                    <a:lnTo>
                      <a:pt x="378" y="2680"/>
                    </a:lnTo>
                    <a:lnTo>
                      <a:pt x="422" y="2722"/>
                    </a:lnTo>
                    <a:lnTo>
                      <a:pt x="470" y="2762"/>
                    </a:lnTo>
                    <a:lnTo>
                      <a:pt x="518" y="2802"/>
                    </a:lnTo>
                    <a:lnTo>
                      <a:pt x="568" y="2836"/>
                    </a:lnTo>
                    <a:lnTo>
                      <a:pt x="620" y="2870"/>
                    </a:lnTo>
                    <a:lnTo>
                      <a:pt x="674" y="2902"/>
                    </a:lnTo>
                    <a:lnTo>
                      <a:pt x="730" y="2930"/>
                    </a:lnTo>
                    <a:lnTo>
                      <a:pt x="788" y="2956"/>
                    </a:lnTo>
                    <a:lnTo>
                      <a:pt x="846" y="2978"/>
                    </a:lnTo>
                    <a:lnTo>
                      <a:pt x="906" y="3000"/>
                    </a:lnTo>
                    <a:lnTo>
                      <a:pt x="966" y="3016"/>
                    </a:lnTo>
                    <a:lnTo>
                      <a:pt x="1030" y="3030"/>
                    </a:lnTo>
                    <a:lnTo>
                      <a:pt x="1092" y="3042"/>
                    </a:lnTo>
                    <a:lnTo>
                      <a:pt x="1156" y="3050"/>
                    </a:lnTo>
                    <a:lnTo>
                      <a:pt x="1222" y="3056"/>
                    </a:lnTo>
                    <a:lnTo>
                      <a:pt x="1288" y="3058"/>
                    </a:lnTo>
                    <a:lnTo>
                      <a:pt x="1288" y="3058"/>
                    </a:lnTo>
                    <a:lnTo>
                      <a:pt x="1356" y="3056"/>
                    </a:lnTo>
                    <a:lnTo>
                      <a:pt x="1420" y="3050"/>
                    </a:lnTo>
                    <a:lnTo>
                      <a:pt x="1484" y="3042"/>
                    </a:lnTo>
                    <a:lnTo>
                      <a:pt x="1548" y="3030"/>
                    </a:lnTo>
                    <a:lnTo>
                      <a:pt x="1610" y="3016"/>
                    </a:lnTo>
                    <a:lnTo>
                      <a:pt x="1672" y="3000"/>
                    </a:lnTo>
                    <a:lnTo>
                      <a:pt x="1732" y="2978"/>
                    </a:lnTo>
                    <a:lnTo>
                      <a:pt x="1790" y="2956"/>
                    </a:lnTo>
                    <a:lnTo>
                      <a:pt x="1848" y="2930"/>
                    </a:lnTo>
                    <a:lnTo>
                      <a:pt x="1902" y="2902"/>
                    </a:lnTo>
                    <a:lnTo>
                      <a:pt x="1956" y="2870"/>
                    </a:lnTo>
                    <a:lnTo>
                      <a:pt x="2010" y="2836"/>
                    </a:lnTo>
                    <a:lnTo>
                      <a:pt x="2060" y="2802"/>
                    </a:lnTo>
                    <a:lnTo>
                      <a:pt x="2108" y="2762"/>
                    </a:lnTo>
                    <a:lnTo>
                      <a:pt x="2156" y="2722"/>
                    </a:lnTo>
                    <a:lnTo>
                      <a:pt x="2200" y="2680"/>
                    </a:lnTo>
                    <a:lnTo>
                      <a:pt x="2242" y="2634"/>
                    </a:lnTo>
                    <a:lnTo>
                      <a:pt x="2284" y="2588"/>
                    </a:lnTo>
                    <a:lnTo>
                      <a:pt x="2322" y="2540"/>
                    </a:lnTo>
                    <a:lnTo>
                      <a:pt x="2358" y="2488"/>
                    </a:lnTo>
                    <a:lnTo>
                      <a:pt x="2390" y="2436"/>
                    </a:lnTo>
                    <a:lnTo>
                      <a:pt x="2422" y="2382"/>
                    </a:lnTo>
                    <a:lnTo>
                      <a:pt x="2450" y="2328"/>
                    </a:lnTo>
                    <a:lnTo>
                      <a:pt x="2476" y="2270"/>
                    </a:lnTo>
                    <a:lnTo>
                      <a:pt x="2500" y="2212"/>
                    </a:lnTo>
                    <a:lnTo>
                      <a:pt x="2520" y="2152"/>
                    </a:lnTo>
                    <a:lnTo>
                      <a:pt x="2536" y="2090"/>
                    </a:lnTo>
                    <a:lnTo>
                      <a:pt x="2552" y="2028"/>
                    </a:lnTo>
                    <a:lnTo>
                      <a:pt x="2562" y="1964"/>
                    </a:lnTo>
                    <a:lnTo>
                      <a:pt x="2570" y="1900"/>
                    </a:lnTo>
                    <a:lnTo>
                      <a:pt x="2576" y="1834"/>
                    </a:lnTo>
                    <a:lnTo>
                      <a:pt x="2578" y="1768"/>
                    </a:lnTo>
                    <a:lnTo>
                      <a:pt x="2578" y="1768"/>
                    </a:lnTo>
                    <a:lnTo>
                      <a:pt x="2576" y="1696"/>
                    </a:lnTo>
                    <a:lnTo>
                      <a:pt x="2570" y="1626"/>
                    </a:lnTo>
                    <a:lnTo>
                      <a:pt x="2560" y="1556"/>
                    </a:lnTo>
                    <a:lnTo>
                      <a:pt x="2546" y="1488"/>
                    </a:lnTo>
                    <a:lnTo>
                      <a:pt x="2530" y="1422"/>
                    </a:lnTo>
                    <a:lnTo>
                      <a:pt x="2510" y="1356"/>
                    </a:lnTo>
                    <a:lnTo>
                      <a:pt x="2486" y="1292"/>
                    </a:lnTo>
                    <a:lnTo>
                      <a:pt x="2460" y="1230"/>
                    </a:lnTo>
                    <a:lnTo>
                      <a:pt x="2430" y="1170"/>
                    </a:lnTo>
                    <a:lnTo>
                      <a:pt x="2396" y="1110"/>
                    </a:lnTo>
                    <a:lnTo>
                      <a:pt x="2362" y="1054"/>
                    </a:lnTo>
                    <a:lnTo>
                      <a:pt x="2322" y="1000"/>
                    </a:lnTo>
                    <a:lnTo>
                      <a:pt x="2282" y="946"/>
                    </a:lnTo>
                    <a:lnTo>
                      <a:pt x="2238" y="896"/>
                    </a:lnTo>
                    <a:lnTo>
                      <a:pt x="2190" y="848"/>
                    </a:lnTo>
                    <a:lnTo>
                      <a:pt x="2142" y="802"/>
                    </a:lnTo>
                    <a:lnTo>
                      <a:pt x="2142" y="802"/>
                    </a:lnTo>
                    <a:close/>
                  </a:path>
                </a:pathLst>
              </a:custGeom>
              <a:solidFill>
                <a:srgbClr val="7DDDE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6" name="Google Shape;636;p29"/>
              <p:cNvSpPr/>
              <p:nvPr/>
            </p:nvSpPr>
            <p:spPr>
              <a:xfrm>
                <a:off x="6800941" y="2614795"/>
                <a:ext cx="526200" cy="537900"/>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strike="noStrike" cap="none">
                    <a:solidFill>
                      <a:schemeClr val="accent4"/>
                    </a:solidFill>
                    <a:latin typeface="Arial" panose="020B0604020202020204"/>
                    <a:ea typeface="Arial" panose="020B0604020202020204"/>
                    <a:cs typeface="Arial" panose="020B0604020202020204"/>
                    <a:sym typeface="Arial" panose="020B0604020202020204"/>
                  </a:rPr>
                  <a:t>2</a:t>
                </a:r>
                <a:endParaRPr sz="1400" b="0" i="0" u="none" strike="noStrike" cap="none">
                  <a:solidFill>
                    <a:schemeClr val="accent4"/>
                  </a:solidFill>
                  <a:latin typeface="Arial" panose="020B0604020202020204"/>
                  <a:ea typeface="Arial" panose="020B0604020202020204"/>
                  <a:cs typeface="Arial" panose="020B0604020202020204"/>
                  <a:sym typeface="Arial" panose="020B0604020202020204"/>
                </a:endParaRPr>
              </a:p>
            </p:txBody>
          </p:sp>
          <p:sp>
            <p:nvSpPr>
              <p:cNvPr id="637" name="Google Shape;637;p29"/>
              <p:cNvSpPr/>
              <p:nvPr/>
            </p:nvSpPr>
            <p:spPr>
              <a:xfrm>
                <a:off x="6302291" y="2731306"/>
                <a:ext cx="4569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grpSp>
        <p:nvGrpSpPr>
          <p:cNvPr id="638" name="Google Shape;638;p29"/>
          <p:cNvGrpSpPr/>
          <p:nvPr/>
        </p:nvGrpSpPr>
        <p:grpSpPr>
          <a:xfrm>
            <a:off x="597925" y="4093535"/>
            <a:ext cx="10996151" cy="2431177"/>
            <a:chOff x="700550" y="1662358"/>
            <a:chExt cx="10996151" cy="2431177"/>
          </a:xfrm>
        </p:grpSpPr>
        <p:sp>
          <p:nvSpPr>
            <p:cNvPr id="639" name="Google Shape;639;p29"/>
            <p:cNvSpPr/>
            <p:nvPr/>
          </p:nvSpPr>
          <p:spPr>
            <a:xfrm>
              <a:off x="700550" y="1916180"/>
              <a:ext cx="4992623" cy="1688257"/>
            </a:xfrm>
            <a:prstGeom prst="roundRect">
              <a:avLst>
                <a:gd name="adj" fmla="val 16667"/>
              </a:avLst>
            </a:prstGeom>
            <a:solidFill>
              <a:schemeClr val="dk2"/>
            </a:solidFill>
            <a:ln w="12700" cap="flat" cmpd="sng">
              <a:solidFill>
                <a:schemeClr val="dk2"/>
              </a:solidFill>
              <a:prstDash val="solid"/>
              <a:miter lim="800000"/>
              <a:headEnd type="none" w="sm" len="sm"/>
              <a:tailEnd type="none" w="sm" len="sm"/>
            </a:ln>
          </p:spPr>
          <p:txBody>
            <a:bodyPr spcFirstLastPara="1" wrap="square" lIns="324000" tIns="540000" rIns="91425" bIns="45700" anchor="t" anchorCtr="0">
              <a:noAutofit/>
            </a:bodyPr>
            <a:lstStyle/>
            <a:p>
              <a:pPr marL="285750" marR="0" lvl="0" indent="-17145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0" name="Google Shape;640;p29"/>
            <p:cNvSpPr/>
            <p:nvPr/>
          </p:nvSpPr>
          <p:spPr>
            <a:xfrm>
              <a:off x="6704077" y="1916180"/>
              <a:ext cx="4992624" cy="1688257"/>
            </a:xfrm>
            <a:prstGeom prst="roundRect">
              <a:avLst>
                <a:gd name="adj" fmla="val 16667"/>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324000" tIns="540000" rIns="91425" bIns="45700" anchor="t" anchorCtr="0">
              <a:noAutofit/>
            </a:bodyPr>
            <a:lstStyle/>
            <a:p>
              <a:pPr marL="285750" marR="0" lvl="0" indent="-17145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1" name="Google Shape;641;p29"/>
            <p:cNvSpPr/>
            <p:nvPr/>
          </p:nvSpPr>
          <p:spPr>
            <a:xfrm>
              <a:off x="6704077" y="1837713"/>
              <a:ext cx="4992624" cy="2255822"/>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324000" tIns="5400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Investors holding DRs may receive dividends and, in some cases, voting rights, based on the terms of the DR program. Dividends are paid to the depository bank, which then distributes them to DR holders after deducting fees.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2" name="Google Shape;642;p29"/>
            <p:cNvSpPr/>
            <p:nvPr/>
          </p:nvSpPr>
          <p:spPr>
            <a:xfrm>
              <a:off x="700550" y="1837713"/>
              <a:ext cx="4992623" cy="2149496"/>
            </a:xfrm>
            <a:prstGeom prst="roundRect">
              <a:avLst>
                <a:gd name="adj" fmla="val 16667"/>
              </a:avLst>
            </a:prstGeom>
            <a:solidFill>
              <a:schemeClr val="lt1"/>
            </a:solidFill>
            <a:ln w="12700" cap="flat" cmpd="sng">
              <a:solidFill>
                <a:srgbClr val="757070"/>
              </a:solidFill>
              <a:prstDash val="solid"/>
              <a:miter lim="800000"/>
              <a:headEnd type="none" w="sm" len="sm"/>
              <a:tailEnd type="none" w="sm" len="sm"/>
            </a:ln>
          </p:spPr>
          <p:txBody>
            <a:bodyPr spcFirstLastPara="1" wrap="square" lIns="324000" tIns="540000" rIns="91425" bIns="45700" anchor="t"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Investors buy and sell DRs on local stock exchanges where the DRs are listed. These exchanges facilitate trading and provide a familiar platform for investors to access foreign companies'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3" name="Google Shape;643;p29"/>
            <p:cNvSpPr/>
            <p:nvPr/>
          </p:nvSpPr>
          <p:spPr>
            <a:xfrm>
              <a:off x="700550" y="1727470"/>
              <a:ext cx="4992624" cy="482329"/>
            </a:xfrm>
            <a:prstGeom prst="round2SameRect">
              <a:avLst>
                <a:gd name="adj1" fmla="val 9603"/>
                <a:gd name="adj2" fmla="val 11190"/>
              </a:avLst>
            </a:prstGeom>
            <a:solidFill>
              <a:srgbClr val="757070"/>
            </a:solidFill>
            <a:ln>
              <a:noFill/>
            </a:ln>
          </p:spPr>
          <p:txBody>
            <a:bodyPr spcFirstLastPara="1" wrap="square" lIns="822950" tIns="0" rIns="0" bIns="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Trading and Investment: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44" name="Google Shape;644;p29"/>
            <p:cNvGrpSpPr/>
            <p:nvPr/>
          </p:nvGrpSpPr>
          <p:grpSpPr>
            <a:xfrm>
              <a:off x="771782" y="1662358"/>
              <a:ext cx="577542" cy="700104"/>
              <a:chOff x="771782" y="2555951"/>
              <a:chExt cx="577542" cy="700104"/>
            </a:xfrm>
          </p:grpSpPr>
          <p:sp>
            <p:nvSpPr>
              <p:cNvPr id="645" name="Google Shape;645;p29"/>
              <p:cNvSpPr/>
              <p:nvPr/>
            </p:nvSpPr>
            <p:spPr>
              <a:xfrm>
                <a:off x="1160067" y="2556419"/>
                <a:ext cx="109644" cy="69866"/>
              </a:xfrm>
              <a:custGeom>
                <a:avLst/>
                <a:gdLst/>
                <a:ahLst/>
                <a:cxnLst/>
                <a:rect l="l" t="t" r="r" b="b"/>
                <a:pathLst>
                  <a:path w="510" h="318" extrusionOk="0">
                    <a:moveTo>
                      <a:pt x="0" y="318"/>
                    </a:moveTo>
                    <a:lnTo>
                      <a:pt x="0" y="316"/>
                    </a:lnTo>
                    <a:lnTo>
                      <a:pt x="0" y="316"/>
                    </a:lnTo>
                    <a:lnTo>
                      <a:pt x="2" y="290"/>
                    </a:lnTo>
                    <a:lnTo>
                      <a:pt x="6" y="262"/>
                    </a:lnTo>
                    <a:lnTo>
                      <a:pt x="12" y="234"/>
                    </a:lnTo>
                    <a:lnTo>
                      <a:pt x="20" y="206"/>
                    </a:lnTo>
                    <a:lnTo>
                      <a:pt x="30" y="180"/>
                    </a:lnTo>
                    <a:lnTo>
                      <a:pt x="44" y="154"/>
                    </a:lnTo>
                    <a:lnTo>
                      <a:pt x="58" y="128"/>
                    </a:lnTo>
                    <a:lnTo>
                      <a:pt x="74" y="104"/>
                    </a:lnTo>
                    <a:lnTo>
                      <a:pt x="92" y="82"/>
                    </a:lnTo>
                    <a:lnTo>
                      <a:pt x="112" y="62"/>
                    </a:lnTo>
                    <a:lnTo>
                      <a:pt x="134" y="44"/>
                    </a:lnTo>
                    <a:lnTo>
                      <a:pt x="156" y="28"/>
                    </a:lnTo>
                    <a:lnTo>
                      <a:pt x="180" y="16"/>
                    </a:lnTo>
                    <a:lnTo>
                      <a:pt x="204" y="8"/>
                    </a:lnTo>
                    <a:lnTo>
                      <a:pt x="230" y="2"/>
                    </a:lnTo>
                    <a:lnTo>
                      <a:pt x="256" y="0"/>
                    </a:lnTo>
                    <a:lnTo>
                      <a:pt x="256" y="0"/>
                    </a:lnTo>
                    <a:lnTo>
                      <a:pt x="282" y="2"/>
                    </a:lnTo>
                    <a:lnTo>
                      <a:pt x="306" y="8"/>
                    </a:lnTo>
                    <a:lnTo>
                      <a:pt x="332" y="16"/>
                    </a:lnTo>
                    <a:lnTo>
                      <a:pt x="354" y="28"/>
                    </a:lnTo>
                    <a:lnTo>
                      <a:pt x="376" y="44"/>
                    </a:lnTo>
                    <a:lnTo>
                      <a:pt x="398" y="62"/>
                    </a:lnTo>
                    <a:lnTo>
                      <a:pt x="418" y="82"/>
                    </a:lnTo>
                    <a:lnTo>
                      <a:pt x="436" y="104"/>
                    </a:lnTo>
                    <a:lnTo>
                      <a:pt x="452" y="128"/>
                    </a:lnTo>
                    <a:lnTo>
                      <a:pt x="466" y="154"/>
                    </a:lnTo>
                    <a:lnTo>
                      <a:pt x="480" y="180"/>
                    </a:lnTo>
                    <a:lnTo>
                      <a:pt x="490" y="206"/>
                    </a:lnTo>
                    <a:lnTo>
                      <a:pt x="500" y="234"/>
                    </a:lnTo>
                    <a:lnTo>
                      <a:pt x="506" y="262"/>
                    </a:lnTo>
                    <a:lnTo>
                      <a:pt x="510" y="290"/>
                    </a:lnTo>
                    <a:lnTo>
                      <a:pt x="510" y="316"/>
                    </a:lnTo>
                    <a:lnTo>
                      <a:pt x="510" y="318"/>
                    </a:lnTo>
                    <a:lnTo>
                      <a:pt x="0"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6" name="Google Shape;646;p29"/>
              <p:cNvSpPr/>
              <p:nvPr/>
            </p:nvSpPr>
            <p:spPr>
              <a:xfrm>
                <a:off x="836428" y="2556420"/>
                <a:ext cx="110072" cy="69866"/>
              </a:xfrm>
              <a:custGeom>
                <a:avLst/>
                <a:gdLst/>
                <a:ahLst/>
                <a:cxnLst/>
                <a:rect l="l" t="t" r="r" b="b"/>
                <a:pathLst>
                  <a:path w="512" h="318" extrusionOk="0">
                    <a:moveTo>
                      <a:pt x="512" y="318"/>
                    </a:moveTo>
                    <a:lnTo>
                      <a:pt x="512" y="316"/>
                    </a:lnTo>
                    <a:lnTo>
                      <a:pt x="512" y="316"/>
                    </a:lnTo>
                    <a:lnTo>
                      <a:pt x="510" y="290"/>
                    </a:lnTo>
                    <a:lnTo>
                      <a:pt x="506" y="262"/>
                    </a:lnTo>
                    <a:lnTo>
                      <a:pt x="500" y="234"/>
                    </a:lnTo>
                    <a:lnTo>
                      <a:pt x="492" y="206"/>
                    </a:lnTo>
                    <a:lnTo>
                      <a:pt x="480" y="180"/>
                    </a:lnTo>
                    <a:lnTo>
                      <a:pt x="468" y="154"/>
                    </a:lnTo>
                    <a:lnTo>
                      <a:pt x="454" y="128"/>
                    </a:lnTo>
                    <a:lnTo>
                      <a:pt x="436" y="104"/>
                    </a:lnTo>
                    <a:lnTo>
                      <a:pt x="418" y="82"/>
                    </a:lnTo>
                    <a:lnTo>
                      <a:pt x="398" y="62"/>
                    </a:lnTo>
                    <a:lnTo>
                      <a:pt x="378" y="44"/>
                    </a:lnTo>
                    <a:lnTo>
                      <a:pt x="356" y="28"/>
                    </a:lnTo>
                    <a:lnTo>
                      <a:pt x="332" y="16"/>
                    </a:lnTo>
                    <a:lnTo>
                      <a:pt x="308" y="8"/>
                    </a:lnTo>
                    <a:lnTo>
                      <a:pt x="282" y="2"/>
                    </a:lnTo>
                    <a:lnTo>
                      <a:pt x="256" y="0"/>
                    </a:lnTo>
                    <a:lnTo>
                      <a:pt x="256" y="0"/>
                    </a:lnTo>
                    <a:lnTo>
                      <a:pt x="230" y="2"/>
                    </a:lnTo>
                    <a:lnTo>
                      <a:pt x="204" y="8"/>
                    </a:lnTo>
                    <a:lnTo>
                      <a:pt x="180" y="16"/>
                    </a:lnTo>
                    <a:lnTo>
                      <a:pt x="156" y="28"/>
                    </a:lnTo>
                    <a:lnTo>
                      <a:pt x="134" y="44"/>
                    </a:lnTo>
                    <a:lnTo>
                      <a:pt x="114" y="62"/>
                    </a:lnTo>
                    <a:lnTo>
                      <a:pt x="94" y="82"/>
                    </a:lnTo>
                    <a:lnTo>
                      <a:pt x="76" y="104"/>
                    </a:lnTo>
                    <a:lnTo>
                      <a:pt x="60" y="128"/>
                    </a:lnTo>
                    <a:lnTo>
                      <a:pt x="44" y="154"/>
                    </a:lnTo>
                    <a:lnTo>
                      <a:pt x="32" y="180"/>
                    </a:lnTo>
                    <a:lnTo>
                      <a:pt x="20" y="206"/>
                    </a:lnTo>
                    <a:lnTo>
                      <a:pt x="12" y="234"/>
                    </a:lnTo>
                    <a:lnTo>
                      <a:pt x="6" y="262"/>
                    </a:lnTo>
                    <a:lnTo>
                      <a:pt x="2" y="290"/>
                    </a:lnTo>
                    <a:lnTo>
                      <a:pt x="0" y="316"/>
                    </a:lnTo>
                    <a:lnTo>
                      <a:pt x="0" y="318"/>
                    </a:lnTo>
                    <a:lnTo>
                      <a:pt x="512"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7" name="Google Shape;647;p29"/>
              <p:cNvSpPr/>
              <p:nvPr/>
            </p:nvSpPr>
            <p:spPr>
              <a:xfrm>
                <a:off x="771782" y="2555951"/>
                <a:ext cx="577542" cy="700104"/>
              </a:xfrm>
              <a:custGeom>
                <a:avLst/>
                <a:gdLst/>
                <a:ahLst/>
                <a:cxnLst/>
                <a:rect l="l" t="t" r="r" b="b"/>
                <a:pathLst>
                  <a:path w="2578" h="3058" extrusionOk="0">
                    <a:moveTo>
                      <a:pt x="2142" y="802"/>
                    </a:moveTo>
                    <a:lnTo>
                      <a:pt x="2142" y="802"/>
                    </a:lnTo>
                    <a:lnTo>
                      <a:pt x="2092" y="756"/>
                    </a:lnTo>
                    <a:lnTo>
                      <a:pt x="2046" y="718"/>
                    </a:lnTo>
                    <a:lnTo>
                      <a:pt x="1970" y="658"/>
                    </a:lnTo>
                    <a:lnTo>
                      <a:pt x="1912" y="612"/>
                    </a:lnTo>
                    <a:lnTo>
                      <a:pt x="1890" y="592"/>
                    </a:lnTo>
                    <a:lnTo>
                      <a:pt x="1870" y="572"/>
                    </a:lnTo>
                    <a:lnTo>
                      <a:pt x="1854" y="554"/>
                    </a:lnTo>
                    <a:lnTo>
                      <a:pt x="1842" y="532"/>
                    </a:lnTo>
                    <a:lnTo>
                      <a:pt x="1830" y="510"/>
                    </a:lnTo>
                    <a:lnTo>
                      <a:pt x="1822" y="484"/>
                    </a:lnTo>
                    <a:lnTo>
                      <a:pt x="1816" y="452"/>
                    </a:lnTo>
                    <a:lnTo>
                      <a:pt x="1812" y="416"/>
                    </a:lnTo>
                    <a:lnTo>
                      <a:pt x="1810" y="374"/>
                    </a:lnTo>
                    <a:lnTo>
                      <a:pt x="1808" y="324"/>
                    </a:lnTo>
                    <a:lnTo>
                      <a:pt x="1808" y="316"/>
                    </a:lnTo>
                    <a:lnTo>
                      <a:pt x="1808" y="316"/>
                    </a:lnTo>
                    <a:lnTo>
                      <a:pt x="1810" y="290"/>
                    </a:lnTo>
                    <a:lnTo>
                      <a:pt x="1814" y="262"/>
                    </a:lnTo>
                    <a:lnTo>
                      <a:pt x="1820" y="234"/>
                    </a:lnTo>
                    <a:lnTo>
                      <a:pt x="1828" y="206"/>
                    </a:lnTo>
                    <a:lnTo>
                      <a:pt x="1838" y="180"/>
                    </a:lnTo>
                    <a:lnTo>
                      <a:pt x="1852" y="154"/>
                    </a:lnTo>
                    <a:lnTo>
                      <a:pt x="1866" y="128"/>
                    </a:lnTo>
                    <a:lnTo>
                      <a:pt x="1882" y="104"/>
                    </a:lnTo>
                    <a:lnTo>
                      <a:pt x="1900" y="82"/>
                    </a:lnTo>
                    <a:lnTo>
                      <a:pt x="1920" y="62"/>
                    </a:lnTo>
                    <a:lnTo>
                      <a:pt x="1942" y="44"/>
                    </a:lnTo>
                    <a:lnTo>
                      <a:pt x="1964" y="28"/>
                    </a:lnTo>
                    <a:lnTo>
                      <a:pt x="1988" y="16"/>
                    </a:lnTo>
                    <a:lnTo>
                      <a:pt x="2012" y="8"/>
                    </a:lnTo>
                    <a:lnTo>
                      <a:pt x="2038" y="2"/>
                    </a:lnTo>
                    <a:lnTo>
                      <a:pt x="2064" y="0"/>
                    </a:lnTo>
                    <a:lnTo>
                      <a:pt x="2064" y="0"/>
                    </a:lnTo>
                    <a:lnTo>
                      <a:pt x="1926" y="0"/>
                    </a:lnTo>
                    <a:lnTo>
                      <a:pt x="1818" y="4"/>
                    </a:lnTo>
                    <a:lnTo>
                      <a:pt x="1728" y="8"/>
                    </a:lnTo>
                    <a:lnTo>
                      <a:pt x="1648" y="12"/>
                    </a:lnTo>
                    <a:lnTo>
                      <a:pt x="1574" y="18"/>
                    </a:lnTo>
                    <a:lnTo>
                      <a:pt x="1494" y="22"/>
                    </a:lnTo>
                    <a:lnTo>
                      <a:pt x="1402" y="26"/>
                    </a:lnTo>
                    <a:lnTo>
                      <a:pt x="1288" y="26"/>
                    </a:lnTo>
                    <a:lnTo>
                      <a:pt x="1288" y="26"/>
                    </a:lnTo>
                    <a:lnTo>
                      <a:pt x="1288" y="26"/>
                    </a:lnTo>
                    <a:lnTo>
                      <a:pt x="1288" y="26"/>
                    </a:lnTo>
                    <a:lnTo>
                      <a:pt x="1176" y="26"/>
                    </a:lnTo>
                    <a:lnTo>
                      <a:pt x="1084" y="22"/>
                    </a:lnTo>
                    <a:lnTo>
                      <a:pt x="1004" y="18"/>
                    </a:lnTo>
                    <a:lnTo>
                      <a:pt x="928" y="12"/>
                    </a:lnTo>
                    <a:lnTo>
                      <a:pt x="850" y="8"/>
                    </a:lnTo>
                    <a:lnTo>
                      <a:pt x="760" y="4"/>
                    </a:lnTo>
                    <a:lnTo>
                      <a:pt x="650" y="0"/>
                    </a:lnTo>
                    <a:lnTo>
                      <a:pt x="514" y="0"/>
                    </a:lnTo>
                    <a:lnTo>
                      <a:pt x="514" y="0"/>
                    </a:lnTo>
                    <a:lnTo>
                      <a:pt x="540" y="2"/>
                    </a:lnTo>
                    <a:lnTo>
                      <a:pt x="566" y="8"/>
                    </a:lnTo>
                    <a:lnTo>
                      <a:pt x="590" y="16"/>
                    </a:lnTo>
                    <a:lnTo>
                      <a:pt x="614" y="28"/>
                    </a:lnTo>
                    <a:lnTo>
                      <a:pt x="636" y="44"/>
                    </a:lnTo>
                    <a:lnTo>
                      <a:pt x="656" y="62"/>
                    </a:lnTo>
                    <a:lnTo>
                      <a:pt x="676" y="82"/>
                    </a:lnTo>
                    <a:lnTo>
                      <a:pt x="694" y="104"/>
                    </a:lnTo>
                    <a:lnTo>
                      <a:pt x="712" y="128"/>
                    </a:lnTo>
                    <a:lnTo>
                      <a:pt x="726" y="154"/>
                    </a:lnTo>
                    <a:lnTo>
                      <a:pt x="738" y="180"/>
                    </a:lnTo>
                    <a:lnTo>
                      <a:pt x="750" y="206"/>
                    </a:lnTo>
                    <a:lnTo>
                      <a:pt x="758" y="234"/>
                    </a:lnTo>
                    <a:lnTo>
                      <a:pt x="764" y="262"/>
                    </a:lnTo>
                    <a:lnTo>
                      <a:pt x="768" y="290"/>
                    </a:lnTo>
                    <a:lnTo>
                      <a:pt x="770" y="316"/>
                    </a:lnTo>
                    <a:lnTo>
                      <a:pt x="770" y="324"/>
                    </a:lnTo>
                    <a:lnTo>
                      <a:pt x="770" y="324"/>
                    </a:lnTo>
                    <a:lnTo>
                      <a:pt x="768" y="374"/>
                    </a:lnTo>
                    <a:lnTo>
                      <a:pt x="766" y="416"/>
                    </a:lnTo>
                    <a:lnTo>
                      <a:pt x="760" y="452"/>
                    </a:lnTo>
                    <a:lnTo>
                      <a:pt x="754" y="484"/>
                    </a:lnTo>
                    <a:lnTo>
                      <a:pt x="746" y="510"/>
                    </a:lnTo>
                    <a:lnTo>
                      <a:pt x="736" y="532"/>
                    </a:lnTo>
                    <a:lnTo>
                      <a:pt x="724" y="554"/>
                    </a:lnTo>
                    <a:lnTo>
                      <a:pt x="708" y="572"/>
                    </a:lnTo>
                    <a:lnTo>
                      <a:pt x="688" y="592"/>
                    </a:lnTo>
                    <a:lnTo>
                      <a:pt x="664" y="612"/>
                    </a:lnTo>
                    <a:lnTo>
                      <a:pt x="606" y="658"/>
                    </a:lnTo>
                    <a:lnTo>
                      <a:pt x="532" y="718"/>
                    </a:lnTo>
                    <a:lnTo>
                      <a:pt x="486" y="756"/>
                    </a:lnTo>
                    <a:lnTo>
                      <a:pt x="436" y="802"/>
                    </a:lnTo>
                    <a:lnTo>
                      <a:pt x="436" y="802"/>
                    </a:lnTo>
                    <a:lnTo>
                      <a:pt x="436" y="802"/>
                    </a:lnTo>
                    <a:lnTo>
                      <a:pt x="386" y="848"/>
                    </a:lnTo>
                    <a:lnTo>
                      <a:pt x="340" y="896"/>
                    </a:lnTo>
                    <a:lnTo>
                      <a:pt x="296" y="946"/>
                    </a:lnTo>
                    <a:lnTo>
                      <a:pt x="254" y="1000"/>
                    </a:lnTo>
                    <a:lnTo>
                      <a:pt x="216" y="1054"/>
                    </a:lnTo>
                    <a:lnTo>
                      <a:pt x="180" y="1110"/>
                    </a:lnTo>
                    <a:lnTo>
                      <a:pt x="148" y="1170"/>
                    </a:lnTo>
                    <a:lnTo>
                      <a:pt x="118" y="1230"/>
                    </a:lnTo>
                    <a:lnTo>
                      <a:pt x="90" y="1292"/>
                    </a:lnTo>
                    <a:lnTo>
                      <a:pt x="68" y="1356"/>
                    </a:lnTo>
                    <a:lnTo>
                      <a:pt x="48" y="1422"/>
                    </a:lnTo>
                    <a:lnTo>
                      <a:pt x="30" y="1488"/>
                    </a:lnTo>
                    <a:lnTo>
                      <a:pt x="18" y="1556"/>
                    </a:lnTo>
                    <a:lnTo>
                      <a:pt x="8" y="1626"/>
                    </a:lnTo>
                    <a:lnTo>
                      <a:pt x="2" y="1696"/>
                    </a:lnTo>
                    <a:lnTo>
                      <a:pt x="0" y="1768"/>
                    </a:lnTo>
                    <a:lnTo>
                      <a:pt x="0" y="1768"/>
                    </a:lnTo>
                    <a:lnTo>
                      <a:pt x="2" y="1834"/>
                    </a:lnTo>
                    <a:lnTo>
                      <a:pt x="6" y="1900"/>
                    </a:lnTo>
                    <a:lnTo>
                      <a:pt x="14" y="1964"/>
                    </a:lnTo>
                    <a:lnTo>
                      <a:pt x="26" y="2028"/>
                    </a:lnTo>
                    <a:lnTo>
                      <a:pt x="40" y="2090"/>
                    </a:lnTo>
                    <a:lnTo>
                      <a:pt x="58" y="2152"/>
                    </a:lnTo>
                    <a:lnTo>
                      <a:pt x="78" y="2212"/>
                    </a:lnTo>
                    <a:lnTo>
                      <a:pt x="102" y="2270"/>
                    </a:lnTo>
                    <a:lnTo>
                      <a:pt x="128" y="2328"/>
                    </a:lnTo>
                    <a:lnTo>
                      <a:pt x="156" y="2382"/>
                    </a:lnTo>
                    <a:lnTo>
                      <a:pt x="186" y="2436"/>
                    </a:lnTo>
                    <a:lnTo>
                      <a:pt x="220" y="2488"/>
                    </a:lnTo>
                    <a:lnTo>
                      <a:pt x="256" y="2540"/>
                    </a:lnTo>
                    <a:lnTo>
                      <a:pt x="294" y="2588"/>
                    </a:lnTo>
                    <a:lnTo>
                      <a:pt x="334" y="2634"/>
                    </a:lnTo>
                    <a:lnTo>
                      <a:pt x="378" y="2680"/>
                    </a:lnTo>
                    <a:lnTo>
                      <a:pt x="422" y="2722"/>
                    </a:lnTo>
                    <a:lnTo>
                      <a:pt x="470" y="2762"/>
                    </a:lnTo>
                    <a:lnTo>
                      <a:pt x="518" y="2802"/>
                    </a:lnTo>
                    <a:lnTo>
                      <a:pt x="568" y="2836"/>
                    </a:lnTo>
                    <a:lnTo>
                      <a:pt x="620" y="2870"/>
                    </a:lnTo>
                    <a:lnTo>
                      <a:pt x="674" y="2902"/>
                    </a:lnTo>
                    <a:lnTo>
                      <a:pt x="730" y="2930"/>
                    </a:lnTo>
                    <a:lnTo>
                      <a:pt x="788" y="2956"/>
                    </a:lnTo>
                    <a:lnTo>
                      <a:pt x="846" y="2978"/>
                    </a:lnTo>
                    <a:lnTo>
                      <a:pt x="906" y="3000"/>
                    </a:lnTo>
                    <a:lnTo>
                      <a:pt x="966" y="3016"/>
                    </a:lnTo>
                    <a:lnTo>
                      <a:pt x="1030" y="3030"/>
                    </a:lnTo>
                    <a:lnTo>
                      <a:pt x="1092" y="3042"/>
                    </a:lnTo>
                    <a:lnTo>
                      <a:pt x="1156" y="3050"/>
                    </a:lnTo>
                    <a:lnTo>
                      <a:pt x="1222" y="3056"/>
                    </a:lnTo>
                    <a:lnTo>
                      <a:pt x="1288" y="3058"/>
                    </a:lnTo>
                    <a:lnTo>
                      <a:pt x="1288" y="3058"/>
                    </a:lnTo>
                    <a:lnTo>
                      <a:pt x="1356" y="3056"/>
                    </a:lnTo>
                    <a:lnTo>
                      <a:pt x="1420" y="3050"/>
                    </a:lnTo>
                    <a:lnTo>
                      <a:pt x="1484" y="3042"/>
                    </a:lnTo>
                    <a:lnTo>
                      <a:pt x="1548" y="3030"/>
                    </a:lnTo>
                    <a:lnTo>
                      <a:pt x="1610" y="3016"/>
                    </a:lnTo>
                    <a:lnTo>
                      <a:pt x="1672" y="3000"/>
                    </a:lnTo>
                    <a:lnTo>
                      <a:pt x="1732" y="2978"/>
                    </a:lnTo>
                    <a:lnTo>
                      <a:pt x="1790" y="2956"/>
                    </a:lnTo>
                    <a:lnTo>
                      <a:pt x="1848" y="2930"/>
                    </a:lnTo>
                    <a:lnTo>
                      <a:pt x="1902" y="2902"/>
                    </a:lnTo>
                    <a:lnTo>
                      <a:pt x="1956" y="2870"/>
                    </a:lnTo>
                    <a:lnTo>
                      <a:pt x="2010" y="2836"/>
                    </a:lnTo>
                    <a:lnTo>
                      <a:pt x="2060" y="2802"/>
                    </a:lnTo>
                    <a:lnTo>
                      <a:pt x="2108" y="2762"/>
                    </a:lnTo>
                    <a:lnTo>
                      <a:pt x="2156" y="2722"/>
                    </a:lnTo>
                    <a:lnTo>
                      <a:pt x="2200" y="2680"/>
                    </a:lnTo>
                    <a:lnTo>
                      <a:pt x="2242" y="2634"/>
                    </a:lnTo>
                    <a:lnTo>
                      <a:pt x="2284" y="2588"/>
                    </a:lnTo>
                    <a:lnTo>
                      <a:pt x="2322" y="2540"/>
                    </a:lnTo>
                    <a:lnTo>
                      <a:pt x="2358" y="2488"/>
                    </a:lnTo>
                    <a:lnTo>
                      <a:pt x="2390" y="2436"/>
                    </a:lnTo>
                    <a:lnTo>
                      <a:pt x="2422" y="2382"/>
                    </a:lnTo>
                    <a:lnTo>
                      <a:pt x="2450" y="2328"/>
                    </a:lnTo>
                    <a:lnTo>
                      <a:pt x="2476" y="2270"/>
                    </a:lnTo>
                    <a:lnTo>
                      <a:pt x="2500" y="2212"/>
                    </a:lnTo>
                    <a:lnTo>
                      <a:pt x="2520" y="2152"/>
                    </a:lnTo>
                    <a:lnTo>
                      <a:pt x="2536" y="2090"/>
                    </a:lnTo>
                    <a:lnTo>
                      <a:pt x="2552" y="2028"/>
                    </a:lnTo>
                    <a:lnTo>
                      <a:pt x="2562" y="1964"/>
                    </a:lnTo>
                    <a:lnTo>
                      <a:pt x="2570" y="1900"/>
                    </a:lnTo>
                    <a:lnTo>
                      <a:pt x="2576" y="1834"/>
                    </a:lnTo>
                    <a:lnTo>
                      <a:pt x="2578" y="1768"/>
                    </a:lnTo>
                    <a:lnTo>
                      <a:pt x="2578" y="1768"/>
                    </a:lnTo>
                    <a:lnTo>
                      <a:pt x="2576" y="1696"/>
                    </a:lnTo>
                    <a:lnTo>
                      <a:pt x="2570" y="1626"/>
                    </a:lnTo>
                    <a:lnTo>
                      <a:pt x="2560" y="1556"/>
                    </a:lnTo>
                    <a:lnTo>
                      <a:pt x="2546" y="1488"/>
                    </a:lnTo>
                    <a:lnTo>
                      <a:pt x="2530" y="1422"/>
                    </a:lnTo>
                    <a:lnTo>
                      <a:pt x="2510" y="1356"/>
                    </a:lnTo>
                    <a:lnTo>
                      <a:pt x="2486" y="1292"/>
                    </a:lnTo>
                    <a:lnTo>
                      <a:pt x="2460" y="1230"/>
                    </a:lnTo>
                    <a:lnTo>
                      <a:pt x="2430" y="1170"/>
                    </a:lnTo>
                    <a:lnTo>
                      <a:pt x="2396" y="1110"/>
                    </a:lnTo>
                    <a:lnTo>
                      <a:pt x="2362" y="1054"/>
                    </a:lnTo>
                    <a:lnTo>
                      <a:pt x="2322" y="1000"/>
                    </a:lnTo>
                    <a:lnTo>
                      <a:pt x="2282" y="946"/>
                    </a:lnTo>
                    <a:lnTo>
                      <a:pt x="2238" y="896"/>
                    </a:lnTo>
                    <a:lnTo>
                      <a:pt x="2190" y="848"/>
                    </a:lnTo>
                    <a:lnTo>
                      <a:pt x="2142" y="802"/>
                    </a:lnTo>
                    <a:lnTo>
                      <a:pt x="2142" y="802"/>
                    </a:lnTo>
                    <a:close/>
                  </a:path>
                </a:pathLst>
              </a:custGeom>
              <a:solidFill>
                <a:srgbClr val="D0CECE"/>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8" name="Google Shape;648;p29"/>
              <p:cNvSpPr/>
              <p:nvPr/>
            </p:nvSpPr>
            <p:spPr>
              <a:xfrm>
                <a:off x="797415" y="2690995"/>
                <a:ext cx="526276" cy="537822"/>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strike="noStrike" cap="none">
                    <a:solidFill>
                      <a:srgbClr val="7F7F7F"/>
                    </a:solidFill>
                    <a:latin typeface="Arial" panose="020B0604020202020204"/>
                    <a:ea typeface="Arial" panose="020B0604020202020204"/>
                    <a:cs typeface="Arial" panose="020B0604020202020204"/>
                    <a:sym typeface="Arial" panose="020B0604020202020204"/>
                  </a:rPr>
                  <a:t>3</a:t>
                </a:r>
                <a:endParaRPr sz="1400" b="0" i="0" u="none" strike="noStrike" cap="none">
                  <a:solidFill>
                    <a:srgbClr val="7F7F7F"/>
                  </a:solidFill>
                  <a:latin typeface="Arial" panose="020B0604020202020204"/>
                  <a:ea typeface="Arial" panose="020B0604020202020204"/>
                  <a:cs typeface="Arial" panose="020B0604020202020204"/>
                  <a:sym typeface="Arial" panose="020B0604020202020204"/>
                </a:endParaRPr>
              </a:p>
            </p:txBody>
          </p:sp>
        </p:grpSp>
        <p:sp>
          <p:nvSpPr>
            <p:cNvPr id="649" name="Google Shape;649;p29"/>
            <p:cNvSpPr/>
            <p:nvPr/>
          </p:nvSpPr>
          <p:spPr>
            <a:xfrm>
              <a:off x="6704076" y="1727470"/>
              <a:ext cx="4992624" cy="482329"/>
            </a:xfrm>
            <a:prstGeom prst="round2SameRect">
              <a:avLst>
                <a:gd name="adj1" fmla="val 9603"/>
                <a:gd name="adj2" fmla="val 11190"/>
              </a:avLst>
            </a:prstGeom>
            <a:solidFill>
              <a:schemeClr val="accent5"/>
            </a:solidFill>
            <a:ln>
              <a:noFill/>
            </a:ln>
          </p:spPr>
          <p:txBody>
            <a:bodyPr spcFirstLastPara="1" wrap="square" lIns="822950" tIns="0" rIns="0" bIns="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Dividends and Voting Rights: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50" name="Google Shape;650;p29"/>
            <p:cNvGrpSpPr/>
            <p:nvPr/>
          </p:nvGrpSpPr>
          <p:grpSpPr>
            <a:xfrm>
              <a:off x="6149891" y="1662358"/>
              <a:ext cx="1202959" cy="700104"/>
              <a:chOff x="6149891" y="2555951"/>
              <a:chExt cx="1202959" cy="700104"/>
            </a:xfrm>
          </p:grpSpPr>
          <p:sp>
            <p:nvSpPr>
              <p:cNvPr id="651" name="Google Shape;651;p29"/>
              <p:cNvSpPr/>
              <p:nvPr/>
            </p:nvSpPr>
            <p:spPr>
              <a:xfrm>
                <a:off x="7163593" y="2556419"/>
                <a:ext cx="109644" cy="69866"/>
              </a:xfrm>
              <a:custGeom>
                <a:avLst/>
                <a:gdLst/>
                <a:ahLst/>
                <a:cxnLst/>
                <a:rect l="l" t="t" r="r" b="b"/>
                <a:pathLst>
                  <a:path w="510" h="318" extrusionOk="0">
                    <a:moveTo>
                      <a:pt x="0" y="318"/>
                    </a:moveTo>
                    <a:lnTo>
                      <a:pt x="0" y="316"/>
                    </a:lnTo>
                    <a:lnTo>
                      <a:pt x="0" y="316"/>
                    </a:lnTo>
                    <a:lnTo>
                      <a:pt x="2" y="290"/>
                    </a:lnTo>
                    <a:lnTo>
                      <a:pt x="6" y="262"/>
                    </a:lnTo>
                    <a:lnTo>
                      <a:pt x="12" y="234"/>
                    </a:lnTo>
                    <a:lnTo>
                      <a:pt x="20" y="206"/>
                    </a:lnTo>
                    <a:lnTo>
                      <a:pt x="30" y="180"/>
                    </a:lnTo>
                    <a:lnTo>
                      <a:pt x="44" y="154"/>
                    </a:lnTo>
                    <a:lnTo>
                      <a:pt x="58" y="128"/>
                    </a:lnTo>
                    <a:lnTo>
                      <a:pt x="74" y="104"/>
                    </a:lnTo>
                    <a:lnTo>
                      <a:pt x="92" y="82"/>
                    </a:lnTo>
                    <a:lnTo>
                      <a:pt x="112" y="62"/>
                    </a:lnTo>
                    <a:lnTo>
                      <a:pt x="134" y="44"/>
                    </a:lnTo>
                    <a:lnTo>
                      <a:pt x="156" y="28"/>
                    </a:lnTo>
                    <a:lnTo>
                      <a:pt x="180" y="16"/>
                    </a:lnTo>
                    <a:lnTo>
                      <a:pt x="204" y="8"/>
                    </a:lnTo>
                    <a:lnTo>
                      <a:pt x="230" y="2"/>
                    </a:lnTo>
                    <a:lnTo>
                      <a:pt x="256" y="0"/>
                    </a:lnTo>
                    <a:lnTo>
                      <a:pt x="256" y="0"/>
                    </a:lnTo>
                    <a:lnTo>
                      <a:pt x="282" y="2"/>
                    </a:lnTo>
                    <a:lnTo>
                      <a:pt x="306" y="8"/>
                    </a:lnTo>
                    <a:lnTo>
                      <a:pt x="332" y="16"/>
                    </a:lnTo>
                    <a:lnTo>
                      <a:pt x="354" y="28"/>
                    </a:lnTo>
                    <a:lnTo>
                      <a:pt x="376" y="44"/>
                    </a:lnTo>
                    <a:lnTo>
                      <a:pt x="398" y="62"/>
                    </a:lnTo>
                    <a:lnTo>
                      <a:pt x="418" y="82"/>
                    </a:lnTo>
                    <a:lnTo>
                      <a:pt x="436" y="104"/>
                    </a:lnTo>
                    <a:lnTo>
                      <a:pt x="452" y="128"/>
                    </a:lnTo>
                    <a:lnTo>
                      <a:pt x="466" y="154"/>
                    </a:lnTo>
                    <a:lnTo>
                      <a:pt x="480" y="180"/>
                    </a:lnTo>
                    <a:lnTo>
                      <a:pt x="490" y="206"/>
                    </a:lnTo>
                    <a:lnTo>
                      <a:pt x="500" y="234"/>
                    </a:lnTo>
                    <a:lnTo>
                      <a:pt x="506" y="262"/>
                    </a:lnTo>
                    <a:lnTo>
                      <a:pt x="510" y="290"/>
                    </a:lnTo>
                    <a:lnTo>
                      <a:pt x="510" y="316"/>
                    </a:lnTo>
                    <a:lnTo>
                      <a:pt x="510" y="318"/>
                    </a:lnTo>
                    <a:lnTo>
                      <a:pt x="0"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2" name="Google Shape;652;p29"/>
              <p:cNvSpPr/>
              <p:nvPr/>
            </p:nvSpPr>
            <p:spPr>
              <a:xfrm>
                <a:off x="6839954" y="2556420"/>
                <a:ext cx="110072" cy="69866"/>
              </a:xfrm>
              <a:custGeom>
                <a:avLst/>
                <a:gdLst/>
                <a:ahLst/>
                <a:cxnLst/>
                <a:rect l="l" t="t" r="r" b="b"/>
                <a:pathLst>
                  <a:path w="512" h="318" extrusionOk="0">
                    <a:moveTo>
                      <a:pt x="512" y="318"/>
                    </a:moveTo>
                    <a:lnTo>
                      <a:pt x="512" y="316"/>
                    </a:lnTo>
                    <a:lnTo>
                      <a:pt x="512" y="316"/>
                    </a:lnTo>
                    <a:lnTo>
                      <a:pt x="510" y="290"/>
                    </a:lnTo>
                    <a:lnTo>
                      <a:pt x="506" y="262"/>
                    </a:lnTo>
                    <a:lnTo>
                      <a:pt x="500" y="234"/>
                    </a:lnTo>
                    <a:lnTo>
                      <a:pt x="492" y="206"/>
                    </a:lnTo>
                    <a:lnTo>
                      <a:pt x="480" y="180"/>
                    </a:lnTo>
                    <a:lnTo>
                      <a:pt x="468" y="154"/>
                    </a:lnTo>
                    <a:lnTo>
                      <a:pt x="454" y="128"/>
                    </a:lnTo>
                    <a:lnTo>
                      <a:pt x="436" y="104"/>
                    </a:lnTo>
                    <a:lnTo>
                      <a:pt x="418" y="82"/>
                    </a:lnTo>
                    <a:lnTo>
                      <a:pt x="398" y="62"/>
                    </a:lnTo>
                    <a:lnTo>
                      <a:pt x="378" y="44"/>
                    </a:lnTo>
                    <a:lnTo>
                      <a:pt x="356" y="28"/>
                    </a:lnTo>
                    <a:lnTo>
                      <a:pt x="332" y="16"/>
                    </a:lnTo>
                    <a:lnTo>
                      <a:pt x="308" y="8"/>
                    </a:lnTo>
                    <a:lnTo>
                      <a:pt x="282" y="2"/>
                    </a:lnTo>
                    <a:lnTo>
                      <a:pt x="256" y="0"/>
                    </a:lnTo>
                    <a:lnTo>
                      <a:pt x="256" y="0"/>
                    </a:lnTo>
                    <a:lnTo>
                      <a:pt x="230" y="2"/>
                    </a:lnTo>
                    <a:lnTo>
                      <a:pt x="204" y="8"/>
                    </a:lnTo>
                    <a:lnTo>
                      <a:pt x="180" y="16"/>
                    </a:lnTo>
                    <a:lnTo>
                      <a:pt x="156" y="28"/>
                    </a:lnTo>
                    <a:lnTo>
                      <a:pt x="134" y="44"/>
                    </a:lnTo>
                    <a:lnTo>
                      <a:pt x="114" y="62"/>
                    </a:lnTo>
                    <a:lnTo>
                      <a:pt x="94" y="82"/>
                    </a:lnTo>
                    <a:lnTo>
                      <a:pt x="76" y="104"/>
                    </a:lnTo>
                    <a:lnTo>
                      <a:pt x="60" y="128"/>
                    </a:lnTo>
                    <a:lnTo>
                      <a:pt x="44" y="154"/>
                    </a:lnTo>
                    <a:lnTo>
                      <a:pt x="32" y="180"/>
                    </a:lnTo>
                    <a:lnTo>
                      <a:pt x="20" y="206"/>
                    </a:lnTo>
                    <a:lnTo>
                      <a:pt x="12" y="234"/>
                    </a:lnTo>
                    <a:lnTo>
                      <a:pt x="6" y="262"/>
                    </a:lnTo>
                    <a:lnTo>
                      <a:pt x="2" y="290"/>
                    </a:lnTo>
                    <a:lnTo>
                      <a:pt x="0" y="316"/>
                    </a:lnTo>
                    <a:lnTo>
                      <a:pt x="0" y="318"/>
                    </a:lnTo>
                    <a:lnTo>
                      <a:pt x="512" y="318"/>
                    </a:lnTo>
                    <a:close/>
                  </a:path>
                </a:pathLst>
              </a:custGeom>
              <a:solidFill>
                <a:srgbClr val="222A35"/>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3" name="Google Shape;653;p29"/>
              <p:cNvSpPr/>
              <p:nvPr/>
            </p:nvSpPr>
            <p:spPr>
              <a:xfrm>
                <a:off x="6775308" y="2555951"/>
                <a:ext cx="577542" cy="700104"/>
              </a:xfrm>
              <a:custGeom>
                <a:avLst/>
                <a:gdLst/>
                <a:ahLst/>
                <a:cxnLst/>
                <a:rect l="l" t="t" r="r" b="b"/>
                <a:pathLst>
                  <a:path w="2578" h="3058" extrusionOk="0">
                    <a:moveTo>
                      <a:pt x="2142" y="802"/>
                    </a:moveTo>
                    <a:lnTo>
                      <a:pt x="2142" y="802"/>
                    </a:lnTo>
                    <a:lnTo>
                      <a:pt x="2092" y="756"/>
                    </a:lnTo>
                    <a:lnTo>
                      <a:pt x="2046" y="718"/>
                    </a:lnTo>
                    <a:lnTo>
                      <a:pt x="1970" y="658"/>
                    </a:lnTo>
                    <a:lnTo>
                      <a:pt x="1912" y="612"/>
                    </a:lnTo>
                    <a:lnTo>
                      <a:pt x="1890" y="592"/>
                    </a:lnTo>
                    <a:lnTo>
                      <a:pt x="1870" y="572"/>
                    </a:lnTo>
                    <a:lnTo>
                      <a:pt x="1854" y="554"/>
                    </a:lnTo>
                    <a:lnTo>
                      <a:pt x="1842" y="532"/>
                    </a:lnTo>
                    <a:lnTo>
                      <a:pt x="1830" y="510"/>
                    </a:lnTo>
                    <a:lnTo>
                      <a:pt x="1822" y="484"/>
                    </a:lnTo>
                    <a:lnTo>
                      <a:pt x="1816" y="452"/>
                    </a:lnTo>
                    <a:lnTo>
                      <a:pt x="1812" y="416"/>
                    </a:lnTo>
                    <a:lnTo>
                      <a:pt x="1810" y="374"/>
                    </a:lnTo>
                    <a:lnTo>
                      <a:pt x="1808" y="324"/>
                    </a:lnTo>
                    <a:lnTo>
                      <a:pt x="1808" y="316"/>
                    </a:lnTo>
                    <a:lnTo>
                      <a:pt x="1808" y="316"/>
                    </a:lnTo>
                    <a:lnTo>
                      <a:pt x="1810" y="290"/>
                    </a:lnTo>
                    <a:lnTo>
                      <a:pt x="1814" y="262"/>
                    </a:lnTo>
                    <a:lnTo>
                      <a:pt x="1820" y="234"/>
                    </a:lnTo>
                    <a:lnTo>
                      <a:pt x="1828" y="206"/>
                    </a:lnTo>
                    <a:lnTo>
                      <a:pt x="1838" y="180"/>
                    </a:lnTo>
                    <a:lnTo>
                      <a:pt x="1852" y="154"/>
                    </a:lnTo>
                    <a:lnTo>
                      <a:pt x="1866" y="128"/>
                    </a:lnTo>
                    <a:lnTo>
                      <a:pt x="1882" y="104"/>
                    </a:lnTo>
                    <a:lnTo>
                      <a:pt x="1900" y="82"/>
                    </a:lnTo>
                    <a:lnTo>
                      <a:pt x="1920" y="62"/>
                    </a:lnTo>
                    <a:lnTo>
                      <a:pt x="1942" y="44"/>
                    </a:lnTo>
                    <a:lnTo>
                      <a:pt x="1964" y="28"/>
                    </a:lnTo>
                    <a:lnTo>
                      <a:pt x="1988" y="16"/>
                    </a:lnTo>
                    <a:lnTo>
                      <a:pt x="2012" y="8"/>
                    </a:lnTo>
                    <a:lnTo>
                      <a:pt x="2038" y="2"/>
                    </a:lnTo>
                    <a:lnTo>
                      <a:pt x="2064" y="0"/>
                    </a:lnTo>
                    <a:lnTo>
                      <a:pt x="2064" y="0"/>
                    </a:lnTo>
                    <a:lnTo>
                      <a:pt x="1926" y="0"/>
                    </a:lnTo>
                    <a:lnTo>
                      <a:pt x="1818" y="4"/>
                    </a:lnTo>
                    <a:lnTo>
                      <a:pt x="1728" y="8"/>
                    </a:lnTo>
                    <a:lnTo>
                      <a:pt x="1648" y="12"/>
                    </a:lnTo>
                    <a:lnTo>
                      <a:pt x="1574" y="18"/>
                    </a:lnTo>
                    <a:lnTo>
                      <a:pt x="1494" y="22"/>
                    </a:lnTo>
                    <a:lnTo>
                      <a:pt x="1402" y="26"/>
                    </a:lnTo>
                    <a:lnTo>
                      <a:pt x="1288" y="26"/>
                    </a:lnTo>
                    <a:lnTo>
                      <a:pt x="1288" y="26"/>
                    </a:lnTo>
                    <a:lnTo>
                      <a:pt x="1288" y="26"/>
                    </a:lnTo>
                    <a:lnTo>
                      <a:pt x="1288" y="26"/>
                    </a:lnTo>
                    <a:lnTo>
                      <a:pt x="1176" y="26"/>
                    </a:lnTo>
                    <a:lnTo>
                      <a:pt x="1084" y="22"/>
                    </a:lnTo>
                    <a:lnTo>
                      <a:pt x="1004" y="18"/>
                    </a:lnTo>
                    <a:lnTo>
                      <a:pt x="928" y="12"/>
                    </a:lnTo>
                    <a:lnTo>
                      <a:pt x="850" y="8"/>
                    </a:lnTo>
                    <a:lnTo>
                      <a:pt x="760" y="4"/>
                    </a:lnTo>
                    <a:lnTo>
                      <a:pt x="650" y="0"/>
                    </a:lnTo>
                    <a:lnTo>
                      <a:pt x="514" y="0"/>
                    </a:lnTo>
                    <a:lnTo>
                      <a:pt x="514" y="0"/>
                    </a:lnTo>
                    <a:lnTo>
                      <a:pt x="540" y="2"/>
                    </a:lnTo>
                    <a:lnTo>
                      <a:pt x="566" y="8"/>
                    </a:lnTo>
                    <a:lnTo>
                      <a:pt x="590" y="16"/>
                    </a:lnTo>
                    <a:lnTo>
                      <a:pt x="614" y="28"/>
                    </a:lnTo>
                    <a:lnTo>
                      <a:pt x="636" y="44"/>
                    </a:lnTo>
                    <a:lnTo>
                      <a:pt x="656" y="62"/>
                    </a:lnTo>
                    <a:lnTo>
                      <a:pt x="676" y="82"/>
                    </a:lnTo>
                    <a:lnTo>
                      <a:pt x="694" y="104"/>
                    </a:lnTo>
                    <a:lnTo>
                      <a:pt x="712" y="128"/>
                    </a:lnTo>
                    <a:lnTo>
                      <a:pt x="726" y="154"/>
                    </a:lnTo>
                    <a:lnTo>
                      <a:pt x="738" y="180"/>
                    </a:lnTo>
                    <a:lnTo>
                      <a:pt x="750" y="206"/>
                    </a:lnTo>
                    <a:lnTo>
                      <a:pt x="758" y="234"/>
                    </a:lnTo>
                    <a:lnTo>
                      <a:pt x="764" y="262"/>
                    </a:lnTo>
                    <a:lnTo>
                      <a:pt x="768" y="290"/>
                    </a:lnTo>
                    <a:lnTo>
                      <a:pt x="770" y="316"/>
                    </a:lnTo>
                    <a:lnTo>
                      <a:pt x="770" y="324"/>
                    </a:lnTo>
                    <a:lnTo>
                      <a:pt x="770" y="324"/>
                    </a:lnTo>
                    <a:lnTo>
                      <a:pt x="768" y="374"/>
                    </a:lnTo>
                    <a:lnTo>
                      <a:pt x="766" y="416"/>
                    </a:lnTo>
                    <a:lnTo>
                      <a:pt x="760" y="452"/>
                    </a:lnTo>
                    <a:lnTo>
                      <a:pt x="754" y="484"/>
                    </a:lnTo>
                    <a:lnTo>
                      <a:pt x="746" y="510"/>
                    </a:lnTo>
                    <a:lnTo>
                      <a:pt x="736" y="532"/>
                    </a:lnTo>
                    <a:lnTo>
                      <a:pt x="724" y="554"/>
                    </a:lnTo>
                    <a:lnTo>
                      <a:pt x="708" y="572"/>
                    </a:lnTo>
                    <a:lnTo>
                      <a:pt x="688" y="592"/>
                    </a:lnTo>
                    <a:lnTo>
                      <a:pt x="664" y="612"/>
                    </a:lnTo>
                    <a:lnTo>
                      <a:pt x="606" y="658"/>
                    </a:lnTo>
                    <a:lnTo>
                      <a:pt x="532" y="718"/>
                    </a:lnTo>
                    <a:lnTo>
                      <a:pt x="486" y="756"/>
                    </a:lnTo>
                    <a:lnTo>
                      <a:pt x="436" y="802"/>
                    </a:lnTo>
                    <a:lnTo>
                      <a:pt x="436" y="802"/>
                    </a:lnTo>
                    <a:lnTo>
                      <a:pt x="436" y="802"/>
                    </a:lnTo>
                    <a:lnTo>
                      <a:pt x="386" y="848"/>
                    </a:lnTo>
                    <a:lnTo>
                      <a:pt x="340" y="896"/>
                    </a:lnTo>
                    <a:lnTo>
                      <a:pt x="296" y="946"/>
                    </a:lnTo>
                    <a:lnTo>
                      <a:pt x="254" y="1000"/>
                    </a:lnTo>
                    <a:lnTo>
                      <a:pt x="216" y="1054"/>
                    </a:lnTo>
                    <a:lnTo>
                      <a:pt x="180" y="1110"/>
                    </a:lnTo>
                    <a:lnTo>
                      <a:pt x="148" y="1170"/>
                    </a:lnTo>
                    <a:lnTo>
                      <a:pt x="118" y="1230"/>
                    </a:lnTo>
                    <a:lnTo>
                      <a:pt x="90" y="1292"/>
                    </a:lnTo>
                    <a:lnTo>
                      <a:pt x="68" y="1356"/>
                    </a:lnTo>
                    <a:lnTo>
                      <a:pt x="48" y="1422"/>
                    </a:lnTo>
                    <a:lnTo>
                      <a:pt x="30" y="1488"/>
                    </a:lnTo>
                    <a:lnTo>
                      <a:pt x="18" y="1556"/>
                    </a:lnTo>
                    <a:lnTo>
                      <a:pt x="8" y="1626"/>
                    </a:lnTo>
                    <a:lnTo>
                      <a:pt x="2" y="1696"/>
                    </a:lnTo>
                    <a:lnTo>
                      <a:pt x="0" y="1768"/>
                    </a:lnTo>
                    <a:lnTo>
                      <a:pt x="0" y="1768"/>
                    </a:lnTo>
                    <a:lnTo>
                      <a:pt x="2" y="1834"/>
                    </a:lnTo>
                    <a:lnTo>
                      <a:pt x="6" y="1900"/>
                    </a:lnTo>
                    <a:lnTo>
                      <a:pt x="14" y="1964"/>
                    </a:lnTo>
                    <a:lnTo>
                      <a:pt x="26" y="2028"/>
                    </a:lnTo>
                    <a:lnTo>
                      <a:pt x="40" y="2090"/>
                    </a:lnTo>
                    <a:lnTo>
                      <a:pt x="58" y="2152"/>
                    </a:lnTo>
                    <a:lnTo>
                      <a:pt x="78" y="2212"/>
                    </a:lnTo>
                    <a:lnTo>
                      <a:pt x="102" y="2270"/>
                    </a:lnTo>
                    <a:lnTo>
                      <a:pt x="128" y="2328"/>
                    </a:lnTo>
                    <a:lnTo>
                      <a:pt x="156" y="2382"/>
                    </a:lnTo>
                    <a:lnTo>
                      <a:pt x="186" y="2436"/>
                    </a:lnTo>
                    <a:lnTo>
                      <a:pt x="220" y="2488"/>
                    </a:lnTo>
                    <a:lnTo>
                      <a:pt x="256" y="2540"/>
                    </a:lnTo>
                    <a:lnTo>
                      <a:pt x="294" y="2588"/>
                    </a:lnTo>
                    <a:lnTo>
                      <a:pt x="334" y="2634"/>
                    </a:lnTo>
                    <a:lnTo>
                      <a:pt x="378" y="2680"/>
                    </a:lnTo>
                    <a:lnTo>
                      <a:pt x="422" y="2722"/>
                    </a:lnTo>
                    <a:lnTo>
                      <a:pt x="470" y="2762"/>
                    </a:lnTo>
                    <a:lnTo>
                      <a:pt x="518" y="2802"/>
                    </a:lnTo>
                    <a:lnTo>
                      <a:pt x="568" y="2836"/>
                    </a:lnTo>
                    <a:lnTo>
                      <a:pt x="620" y="2870"/>
                    </a:lnTo>
                    <a:lnTo>
                      <a:pt x="674" y="2902"/>
                    </a:lnTo>
                    <a:lnTo>
                      <a:pt x="730" y="2930"/>
                    </a:lnTo>
                    <a:lnTo>
                      <a:pt x="788" y="2956"/>
                    </a:lnTo>
                    <a:lnTo>
                      <a:pt x="846" y="2978"/>
                    </a:lnTo>
                    <a:lnTo>
                      <a:pt x="906" y="3000"/>
                    </a:lnTo>
                    <a:lnTo>
                      <a:pt x="966" y="3016"/>
                    </a:lnTo>
                    <a:lnTo>
                      <a:pt x="1030" y="3030"/>
                    </a:lnTo>
                    <a:lnTo>
                      <a:pt x="1092" y="3042"/>
                    </a:lnTo>
                    <a:lnTo>
                      <a:pt x="1156" y="3050"/>
                    </a:lnTo>
                    <a:lnTo>
                      <a:pt x="1222" y="3056"/>
                    </a:lnTo>
                    <a:lnTo>
                      <a:pt x="1288" y="3058"/>
                    </a:lnTo>
                    <a:lnTo>
                      <a:pt x="1288" y="3058"/>
                    </a:lnTo>
                    <a:lnTo>
                      <a:pt x="1356" y="3056"/>
                    </a:lnTo>
                    <a:lnTo>
                      <a:pt x="1420" y="3050"/>
                    </a:lnTo>
                    <a:lnTo>
                      <a:pt x="1484" y="3042"/>
                    </a:lnTo>
                    <a:lnTo>
                      <a:pt x="1548" y="3030"/>
                    </a:lnTo>
                    <a:lnTo>
                      <a:pt x="1610" y="3016"/>
                    </a:lnTo>
                    <a:lnTo>
                      <a:pt x="1672" y="3000"/>
                    </a:lnTo>
                    <a:lnTo>
                      <a:pt x="1732" y="2978"/>
                    </a:lnTo>
                    <a:lnTo>
                      <a:pt x="1790" y="2956"/>
                    </a:lnTo>
                    <a:lnTo>
                      <a:pt x="1848" y="2930"/>
                    </a:lnTo>
                    <a:lnTo>
                      <a:pt x="1902" y="2902"/>
                    </a:lnTo>
                    <a:lnTo>
                      <a:pt x="1956" y="2870"/>
                    </a:lnTo>
                    <a:lnTo>
                      <a:pt x="2010" y="2836"/>
                    </a:lnTo>
                    <a:lnTo>
                      <a:pt x="2060" y="2802"/>
                    </a:lnTo>
                    <a:lnTo>
                      <a:pt x="2108" y="2762"/>
                    </a:lnTo>
                    <a:lnTo>
                      <a:pt x="2156" y="2722"/>
                    </a:lnTo>
                    <a:lnTo>
                      <a:pt x="2200" y="2680"/>
                    </a:lnTo>
                    <a:lnTo>
                      <a:pt x="2242" y="2634"/>
                    </a:lnTo>
                    <a:lnTo>
                      <a:pt x="2284" y="2588"/>
                    </a:lnTo>
                    <a:lnTo>
                      <a:pt x="2322" y="2540"/>
                    </a:lnTo>
                    <a:lnTo>
                      <a:pt x="2358" y="2488"/>
                    </a:lnTo>
                    <a:lnTo>
                      <a:pt x="2390" y="2436"/>
                    </a:lnTo>
                    <a:lnTo>
                      <a:pt x="2422" y="2382"/>
                    </a:lnTo>
                    <a:lnTo>
                      <a:pt x="2450" y="2328"/>
                    </a:lnTo>
                    <a:lnTo>
                      <a:pt x="2476" y="2270"/>
                    </a:lnTo>
                    <a:lnTo>
                      <a:pt x="2500" y="2212"/>
                    </a:lnTo>
                    <a:lnTo>
                      <a:pt x="2520" y="2152"/>
                    </a:lnTo>
                    <a:lnTo>
                      <a:pt x="2536" y="2090"/>
                    </a:lnTo>
                    <a:lnTo>
                      <a:pt x="2552" y="2028"/>
                    </a:lnTo>
                    <a:lnTo>
                      <a:pt x="2562" y="1964"/>
                    </a:lnTo>
                    <a:lnTo>
                      <a:pt x="2570" y="1900"/>
                    </a:lnTo>
                    <a:lnTo>
                      <a:pt x="2576" y="1834"/>
                    </a:lnTo>
                    <a:lnTo>
                      <a:pt x="2578" y="1768"/>
                    </a:lnTo>
                    <a:lnTo>
                      <a:pt x="2578" y="1768"/>
                    </a:lnTo>
                    <a:lnTo>
                      <a:pt x="2576" y="1696"/>
                    </a:lnTo>
                    <a:lnTo>
                      <a:pt x="2570" y="1626"/>
                    </a:lnTo>
                    <a:lnTo>
                      <a:pt x="2560" y="1556"/>
                    </a:lnTo>
                    <a:lnTo>
                      <a:pt x="2546" y="1488"/>
                    </a:lnTo>
                    <a:lnTo>
                      <a:pt x="2530" y="1422"/>
                    </a:lnTo>
                    <a:lnTo>
                      <a:pt x="2510" y="1356"/>
                    </a:lnTo>
                    <a:lnTo>
                      <a:pt x="2486" y="1292"/>
                    </a:lnTo>
                    <a:lnTo>
                      <a:pt x="2460" y="1230"/>
                    </a:lnTo>
                    <a:lnTo>
                      <a:pt x="2430" y="1170"/>
                    </a:lnTo>
                    <a:lnTo>
                      <a:pt x="2396" y="1110"/>
                    </a:lnTo>
                    <a:lnTo>
                      <a:pt x="2362" y="1054"/>
                    </a:lnTo>
                    <a:lnTo>
                      <a:pt x="2322" y="1000"/>
                    </a:lnTo>
                    <a:lnTo>
                      <a:pt x="2282" y="946"/>
                    </a:lnTo>
                    <a:lnTo>
                      <a:pt x="2238" y="896"/>
                    </a:lnTo>
                    <a:lnTo>
                      <a:pt x="2190" y="848"/>
                    </a:lnTo>
                    <a:lnTo>
                      <a:pt x="2142" y="802"/>
                    </a:lnTo>
                    <a:lnTo>
                      <a:pt x="2142" y="802"/>
                    </a:lnTo>
                    <a:close/>
                  </a:path>
                </a:pathLst>
              </a:custGeom>
              <a:solidFill>
                <a:srgbClr val="BBD6EE"/>
              </a:solidFill>
              <a:ln>
                <a:noFill/>
              </a:ln>
            </p:spPr>
            <p:txBody>
              <a:bodyPr spcFirstLastPara="1" wrap="square" lIns="98675" tIns="49325" rIns="98675" bIns="49325" anchor="t" anchorCtr="0">
                <a:noAutofit/>
              </a:bodyPr>
              <a:lstStyle/>
              <a:p>
                <a:pPr marL="0" marR="0" lvl="0" indent="0" algn="l" rtl="0">
                  <a:lnSpc>
                    <a:spcPct val="100000"/>
                  </a:lnSpc>
                  <a:spcBef>
                    <a:spcPts val="0"/>
                  </a:spcBef>
                  <a:spcAft>
                    <a:spcPts val="0"/>
                  </a:spcAft>
                  <a:buClr>
                    <a:schemeClr val="dk1"/>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4" name="Google Shape;654;p29"/>
              <p:cNvSpPr/>
              <p:nvPr/>
            </p:nvSpPr>
            <p:spPr>
              <a:xfrm>
                <a:off x="6800941" y="2690995"/>
                <a:ext cx="526276" cy="537822"/>
              </a:xfrm>
              <a:prstGeom prst="ellipse">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strike="noStrike" cap="none">
                    <a:solidFill>
                      <a:srgbClr val="19A7CE"/>
                    </a:solidFill>
                    <a:latin typeface="Arial" panose="020B0604020202020204"/>
                    <a:ea typeface="Arial" panose="020B0604020202020204"/>
                    <a:cs typeface="Arial" panose="020B0604020202020204"/>
                    <a:sym typeface="Arial" panose="020B0604020202020204"/>
                  </a:rPr>
                  <a:t>4</a:t>
                </a:r>
                <a:endParaRPr sz="1400" b="0" i="0" u="none" strike="noStrike" cap="none">
                  <a:solidFill>
                    <a:srgbClr val="19A7CE"/>
                  </a:solidFill>
                  <a:latin typeface="Arial" panose="020B0604020202020204"/>
                  <a:ea typeface="Arial" panose="020B0604020202020204"/>
                  <a:cs typeface="Arial" panose="020B0604020202020204"/>
                  <a:sym typeface="Arial" panose="020B0604020202020204"/>
                </a:endParaRPr>
              </a:p>
            </p:txBody>
          </p:sp>
          <p:sp>
            <p:nvSpPr>
              <p:cNvPr id="655" name="Google Shape;655;p29"/>
              <p:cNvSpPr/>
              <p:nvPr/>
            </p:nvSpPr>
            <p:spPr>
              <a:xfrm>
                <a:off x="6149891" y="2731306"/>
                <a:ext cx="4569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659" name="Shape 659"/>
        <p:cNvGrpSpPr/>
        <p:nvPr/>
      </p:nvGrpSpPr>
      <p:grpSpPr>
        <a:xfrm>
          <a:off x="0" y="0"/>
          <a:ext cx="0" cy="0"/>
          <a:chOff x="0" y="0"/>
          <a:chExt cx="0" cy="0"/>
        </a:xfrm>
      </p:grpSpPr>
      <p:sp>
        <p:nvSpPr>
          <p:cNvPr id="660" name="Google Shape;660;p30"/>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ADVANTAGES OF DEPOSITORY RECEIPTS</a:t>
            </a:r>
            <a:endParaRPr lang="en-US"/>
          </a:p>
        </p:txBody>
      </p:sp>
      <p:grpSp>
        <p:nvGrpSpPr>
          <p:cNvPr id="661" name="Google Shape;661;p30"/>
          <p:cNvGrpSpPr/>
          <p:nvPr/>
        </p:nvGrpSpPr>
        <p:grpSpPr>
          <a:xfrm>
            <a:off x="592138" y="1282929"/>
            <a:ext cx="11007725" cy="4894588"/>
            <a:chOff x="576014" y="1282929"/>
            <a:chExt cx="11007725" cy="4894588"/>
          </a:xfrm>
        </p:grpSpPr>
        <p:sp>
          <p:nvSpPr>
            <p:cNvPr id="662" name="Google Shape;662;p30"/>
            <p:cNvSpPr/>
            <p:nvPr/>
          </p:nvSpPr>
          <p:spPr>
            <a:xfrm>
              <a:off x="576014" y="1282929"/>
              <a:ext cx="11007725" cy="4894588"/>
            </a:xfrm>
            <a:prstGeom prst="roundRect">
              <a:avLst>
                <a:gd name="adj" fmla="val 2407"/>
              </a:avLst>
            </a:prstGeom>
            <a:solidFill>
              <a:srgbClr val="309C7A"/>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663" name="Google Shape;663;p30"/>
            <p:cNvSpPr/>
            <p:nvPr/>
          </p:nvSpPr>
          <p:spPr>
            <a:xfrm>
              <a:off x="639196" y="1282929"/>
              <a:ext cx="10881360" cy="4894588"/>
            </a:xfrm>
            <a:prstGeom prst="roundRect">
              <a:avLst>
                <a:gd name="adj" fmla="val 2407"/>
              </a:avLst>
            </a:prstGeom>
            <a:solidFill>
              <a:schemeClr val="lt1"/>
            </a:solidFill>
            <a:ln w="12700" cap="flat" cmpd="sng">
              <a:solidFill>
                <a:srgbClr val="309C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4" name="Google Shape;664;p30"/>
            <p:cNvSpPr/>
            <p:nvPr/>
          </p:nvSpPr>
          <p:spPr>
            <a:xfrm>
              <a:off x="639196" y="1453844"/>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309C7A"/>
            </a:solidFill>
            <a:ln w="12700" cap="flat" cmpd="sng">
              <a:solidFill>
                <a:srgbClr val="309C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Global Investment Access: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5" name="Google Shape;665;p30"/>
            <p:cNvSpPr/>
            <p:nvPr/>
          </p:nvSpPr>
          <p:spPr>
            <a:xfrm>
              <a:off x="584414" y="2574732"/>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309C7A"/>
            </a:solidFill>
            <a:ln w="12700" cap="flat" cmpd="sng">
              <a:solidFill>
                <a:srgbClr val="309C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Liquidity: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6" name="Google Shape;666;p30"/>
            <p:cNvSpPr/>
            <p:nvPr/>
          </p:nvSpPr>
          <p:spPr>
            <a:xfrm>
              <a:off x="639195" y="377001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309C7A"/>
            </a:solidFill>
            <a:ln w="12700" cap="flat" cmpd="sng">
              <a:solidFill>
                <a:srgbClr val="309C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Diversification: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7" name="Google Shape;667;p30"/>
            <p:cNvSpPr txBox="1"/>
            <p:nvPr/>
          </p:nvSpPr>
          <p:spPr>
            <a:xfrm>
              <a:off x="639195" y="1819604"/>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DRs allow investors to access international markets and invest in foreign companies without the need to navigate foreign exchanges and currencies.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8" name="Google Shape;668;p30"/>
            <p:cNvSpPr txBox="1"/>
            <p:nvPr/>
          </p:nvSpPr>
          <p:spPr>
            <a:xfrm>
              <a:off x="639196" y="3101369"/>
              <a:ext cx="1077545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DRs are traded on major stock exchanges, providing liquidity and ease of buying and selling.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9" name="Google Shape;669;p30"/>
            <p:cNvSpPr txBox="1"/>
            <p:nvPr/>
          </p:nvSpPr>
          <p:spPr>
            <a:xfrm>
              <a:off x="671444" y="4320026"/>
              <a:ext cx="1077545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DRs enable investors to diversify their portfolios across different geographical regions and industries.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0" name="Google Shape;670;p30"/>
            <p:cNvSpPr/>
            <p:nvPr/>
          </p:nvSpPr>
          <p:spPr>
            <a:xfrm>
              <a:off x="608261" y="4965288"/>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309C7A"/>
            </a:solidFill>
            <a:ln w="12700" cap="flat" cmpd="sng">
              <a:solidFill>
                <a:srgbClr val="309C7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Currency Risk Mitigation: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1" name="Google Shape;671;p30"/>
            <p:cNvSpPr txBox="1"/>
            <p:nvPr/>
          </p:nvSpPr>
          <p:spPr>
            <a:xfrm>
              <a:off x="639194" y="5443499"/>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GDRs and ADRs are typically denominated in major global currencies like U.S. dollars or euros, reducing currency risk for investors.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675" name="Shape 675"/>
        <p:cNvGrpSpPr/>
        <p:nvPr/>
      </p:nvGrpSpPr>
      <p:grpSpPr>
        <a:xfrm>
          <a:off x="0" y="0"/>
          <a:ext cx="0" cy="0"/>
          <a:chOff x="0" y="0"/>
          <a:chExt cx="0" cy="0"/>
        </a:xfrm>
      </p:grpSpPr>
      <p:sp>
        <p:nvSpPr>
          <p:cNvPr id="676" name="Google Shape;676;p31"/>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DISADVANTAGES OF DEPOSITORY RECEIPTS</a:t>
            </a:r>
            <a:endParaRPr lang="en-US"/>
          </a:p>
        </p:txBody>
      </p:sp>
      <p:grpSp>
        <p:nvGrpSpPr>
          <p:cNvPr id="677" name="Google Shape;677;p31"/>
          <p:cNvGrpSpPr/>
          <p:nvPr/>
        </p:nvGrpSpPr>
        <p:grpSpPr>
          <a:xfrm>
            <a:off x="592138" y="1282929"/>
            <a:ext cx="11007725" cy="4894588"/>
            <a:chOff x="576014" y="1282929"/>
            <a:chExt cx="11007725" cy="4894588"/>
          </a:xfrm>
        </p:grpSpPr>
        <p:sp>
          <p:nvSpPr>
            <p:cNvPr id="678" name="Google Shape;678;p31"/>
            <p:cNvSpPr/>
            <p:nvPr/>
          </p:nvSpPr>
          <p:spPr>
            <a:xfrm>
              <a:off x="576014" y="1282929"/>
              <a:ext cx="11007725" cy="4894588"/>
            </a:xfrm>
            <a:prstGeom prst="roundRect">
              <a:avLst>
                <a:gd name="adj" fmla="val 2407"/>
              </a:avLst>
            </a:prstGeom>
            <a:solidFill>
              <a:srgbClr val="146368"/>
            </a:solidFill>
            <a:ln w="12700" cap="flat" cmpd="sng">
              <a:solidFill>
                <a:srgbClr val="14636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679" name="Google Shape;679;p31"/>
            <p:cNvSpPr/>
            <p:nvPr/>
          </p:nvSpPr>
          <p:spPr>
            <a:xfrm>
              <a:off x="639196" y="1282929"/>
              <a:ext cx="10881360" cy="4894588"/>
            </a:xfrm>
            <a:prstGeom prst="roundRect">
              <a:avLst>
                <a:gd name="adj" fmla="val 2407"/>
              </a:avLst>
            </a:prstGeom>
            <a:solidFill>
              <a:schemeClr val="lt1"/>
            </a:solidFill>
            <a:ln w="12700" cap="flat" cmpd="sng">
              <a:solidFill>
                <a:srgbClr val="14636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RSUs typically have a vesting period during which employees must remain with the company to receive the shares. This encourages employee retention.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0" name="Google Shape;680;p31"/>
            <p:cNvSpPr/>
            <p:nvPr/>
          </p:nvSpPr>
          <p:spPr>
            <a:xfrm>
              <a:off x="639196" y="1453844"/>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146368"/>
            </a:solidFill>
            <a:ln w="12700" cap="flat" cmpd="sng">
              <a:solidFill>
                <a:srgbClr val="14636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Exchange Rate Fluctuations: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1" name="Google Shape;681;p31"/>
            <p:cNvSpPr/>
            <p:nvPr/>
          </p:nvSpPr>
          <p:spPr>
            <a:xfrm>
              <a:off x="584414" y="2574732"/>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146368"/>
            </a:solidFill>
            <a:ln w="12700" cap="flat" cmpd="sng">
              <a:solidFill>
                <a:srgbClr val="14636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Country Risk: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2" name="Google Shape;682;p31"/>
            <p:cNvSpPr/>
            <p:nvPr/>
          </p:nvSpPr>
          <p:spPr>
            <a:xfrm>
              <a:off x="639195" y="3770010"/>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146368"/>
            </a:solidFill>
            <a:ln w="12700" cap="flat" cmpd="sng">
              <a:solidFill>
                <a:srgbClr val="14636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Fees: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3" name="Google Shape;683;p31"/>
            <p:cNvSpPr txBox="1"/>
            <p:nvPr/>
          </p:nvSpPr>
          <p:spPr>
            <a:xfrm>
              <a:off x="639195" y="1819604"/>
              <a:ext cx="10775455" cy="652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While DRs mitigate currency risk to some extent, fluctuations in exchange rates can still impact the value of the investment.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4" name="Google Shape;684;p31"/>
            <p:cNvSpPr txBox="1"/>
            <p:nvPr/>
          </p:nvSpPr>
          <p:spPr>
            <a:xfrm>
              <a:off x="639196" y="3101369"/>
              <a:ext cx="1077545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Investing in foreign companies involves exposure to the economic and political risks of the country in which the company is based.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5" name="Google Shape;685;p31"/>
            <p:cNvSpPr txBox="1"/>
            <p:nvPr/>
          </p:nvSpPr>
          <p:spPr>
            <a:xfrm>
              <a:off x="671444" y="4320026"/>
              <a:ext cx="1077545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Investors may incur fees related to trading, conversion, and custodial services for holding DRs.</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86" name="Google Shape;686;p31"/>
            <p:cNvSpPr/>
            <p:nvPr/>
          </p:nvSpPr>
          <p:spPr>
            <a:xfrm>
              <a:off x="608261" y="4965288"/>
              <a:ext cx="9183427" cy="365760"/>
            </a:xfrm>
            <a:custGeom>
              <a:avLst/>
              <a:gdLst/>
              <a:ahLst/>
              <a:cxnLst/>
              <a:rect l="l" t="t" r="r" b="b"/>
              <a:pathLst>
                <a:path w="9183427" h="365760" extrusionOk="0">
                  <a:moveTo>
                    <a:pt x="0" y="0"/>
                  </a:moveTo>
                  <a:lnTo>
                    <a:pt x="2261333" y="0"/>
                  </a:lnTo>
                  <a:lnTo>
                    <a:pt x="2261333" y="6600"/>
                  </a:lnTo>
                  <a:lnTo>
                    <a:pt x="2270624" y="3716"/>
                  </a:lnTo>
                  <a:cubicBezTo>
                    <a:pt x="2282530" y="1279"/>
                    <a:pt x="2294856" y="0"/>
                    <a:pt x="2307481" y="0"/>
                  </a:cubicBezTo>
                  <a:lnTo>
                    <a:pt x="9000547" y="0"/>
                  </a:lnTo>
                  <a:cubicBezTo>
                    <a:pt x="9101549" y="0"/>
                    <a:pt x="9183427" y="81878"/>
                    <a:pt x="9183427" y="182880"/>
                  </a:cubicBezTo>
                  <a:cubicBezTo>
                    <a:pt x="9183427" y="283882"/>
                    <a:pt x="9101549" y="365760"/>
                    <a:pt x="9000547" y="365760"/>
                  </a:cubicBezTo>
                  <a:lnTo>
                    <a:pt x="2307481" y="365760"/>
                  </a:lnTo>
                  <a:cubicBezTo>
                    <a:pt x="2294856" y="365760"/>
                    <a:pt x="2282530" y="364481"/>
                    <a:pt x="2270624" y="362045"/>
                  </a:cubicBezTo>
                  <a:lnTo>
                    <a:pt x="2261333" y="359160"/>
                  </a:lnTo>
                  <a:lnTo>
                    <a:pt x="2261333" y="365760"/>
                  </a:lnTo>
                  <a:lnTo>
                    <a:pt x="0" y="365760"/>
                  </a:lnTo>
                  <a:close/>
                </a:path>
              </a:pathLst>
            </a:custGeom>
            <a:solidFill>
              <a:srgbClr val="146368"/>
            </a:solidFill>
            <a:ln w="12700" cap="flat" cmpd="sng">
              <a:solidFill>
                <a:srgbClr val="14636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Limited Voting Rights: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7" name="Google Shape;687;p31"/>
            <p:cNvSpPr txBox="1"/>
            <p:nvPr/>
          </p:nvSpPr>
          <p:spPr>
            <a:xfrm>
              <a:off x="639194" y="5443499"/>
              <a:ext cx="1077545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Investors may have limited or no voting rights compared to direct shareholders of the company.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691" name="Shape 691"/>
        <p:cNvGrpSpPr/>
        <p:nvPr/>
      </p:nvGrpSpPr>
      <p:grpSpPr>
        <a:xfrm>
          <a:off x="0" y="0"/>
          <a:ext cx="0" cy="0"/>
          <a:chOff x="0" y="0"/>
          <a:chExt cx="0" cy="0"/>
        </a:xfrm>
      </p:grpSpPr>
      <p:sp>
        <p:nvSpPr>
          <p:cNvPr id="692" name="Google Shape;692;p32"/>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DEPOSITORY RECEIPTS</a:t>
            </a:r>
            <a:endParaRPr lang="en-US"/>
          </a:p>
        </p:txBody>
      </p:sp>
      <p:grpSp>
        <p:nvGrpSpPr>
          <p:cNvPr id="693" name="Google Shape;693;p32"/>
          <p:cNvGrpSpPr/>
          <p:nvPr/>
        </p:nvGrpSpPr>
        <p:grpSpPr>
          <a:xfrm>
            <a:off x="700550" y="1053815"/>
            <a:ext cx="10846981" cy="2666382"/>
            <a:chOff x="3955312" y="1243129"/>
            <a:chExt cx="10846981" cy="2666382"/>
          </a:xfrm>
        </p:grpSpPr>
        <p:sp>
          <p:nvSpPr>
            <p:cNvPr id="694" name="Google Shape;694;p32"/>
            <p:cNvSpPr/>
            <p:nvPr/>
          </p:nvSpPr>
          <p:spPr>
            <a:xfrm>
              <a:off x="3955313" y="2412454"/>
              <a:ext cx="10846980" cy="1497057"/>
            </a:xfrm>
            <a:prstGeom prst="roundRect">
              <a:avLst>
                <a:gd name="adj" fmla="val 7707"/>
              </a:avLst>
            </a:prstGeom>
            <a:solidFill>
              <a:schemeClr val="accent3"/>
            </a:solidFill>
            <a:ln w="9525" cap="rnd" cmpd="sng">
              <a:solidFill>
                <a:schemeClr val="accent3"/>
              </a:solidFill>
              <a:prstDash val="solid"/>
              <a:round/>
              <a:headEnd type="none" w="sm" len="sm"/>
              <a:tailEnd type="none" w="sm" len="sm"/>
            </a:ln>
          </p:spPr>
          <p:txBody>
            <a:bodyPr spcFirstLastPara="1" wrap="square" lIns="91425" tIns="180000" rIns="91425" bIns="45700" anchor="t" anchorCtr="0">
              <a:noAutofit/>
            </a:bodyPr>
            <a:lstStyle/>
            <a:p>
              <a:pPr marL="285750" marR="0" lvl="0" indent="-17145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95" name="Google Shape;695;p32"/>
            <p:cNvSpPr/>
            <p:nvPr/>
          </p:nvSpPr>
          <p:spPr>
            <a:xfrm>
              <a:off x="3955312" y="2344979"/>
              <a:ext cx="10846981" cy="1497056"/>
            </a:xfrm>
            <a:prstGeom prst="roundRect">
              <a:avLst>
                <a:gd name="adj" fmla="val 7707"/>
              </a:avLst>
            </a:prstGeom>
            <a:solidFill>
              <a:schemeClr val="lt1"/>
            </a:solidFill>
            <a:ln w="9525" cap="rnd" cmpd="sng">
              <a:solidFill>
                <a:schemeClr val="accent3"/>
              </a:solidFill>
              <a:prstDash val="solid"/>
              <a:round/>
              <a:headEnd type="none" w="sm" len="sm"/>
              <a:tailEnd type="none" w="sm" len="sm"/>
            </a:ln>
          </p:spPr>
          <p:txBody>
            <a:bodyPr spcFirstLastPara="1" wrap="square" lIns="91425" tIns="1800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Sponsored Depositary Receipts are issued with the active involvement and support of the Issuer company whose shares underlie the DR program. In other words, the Issuer company plays a direct role in establishing and managing the DR program, often working closely with a depository bank to ensure proper execution. Sponsored DRs provide several advantages: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96" name="Google Shape;696;p32"/>
            <p:cNvSpPr/>
            <p:nvPr/>
          </p:nvSpPr>
          <p:spPr>
            <a:xfrm>
              <a:off x="6978335" y="2097235"/>
              <a:ext cx="4469986" cy="247743"/>
            </a:xfrm>
            <a:prstGeom prst="trapezoid">
              <a:avLst>
                <a:gd name="adj" fmla="val 88189"/>
              </a:avLst>
            </a:prstGeom>
            <a:solidFill>
              <a:srgbClr val="206851"/>
            </a:solidFill>
            <a:ln w="9525" cap="rnd" cmpd="sng">
              <a:solidFill>
                <a:srgbClr val="20685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nvGrpSpPr>
            <p:cNvPr id="697" name="Google Shape;697;p32"/>
            <p:cNvGrpSpPr/>
            <p:nvPr/>
          </p:nvGrpSpPr>
          <p:grpSpPr>
            <a:xfrm>
              <a:off x="8672347" y="1243129"/>
              <a:ext cx="1081962" cy="569404"/>
              <a:chOff x="932256" y="3371908"/>
              <a:chExt cx="1494328" cy="786419"/>
            </a:xfrm>
          </p:grpSpPr>
          <p:sp>
            <p:nvSpPr>
              <p:cNvPr id="698" name="Google Shape;698;p32"/>
              <p:cNvSpPr/>
              <p:nvPr/>
            </p:nvSpPr>
            <p:spPr>
              <a:xfrm>
                <a:off x="934184" y="3453756"/>
                <a:ext cx="1484440" cy="685521"/>
              </a:xfrm>
              <a:custGeom>
                <a:avLst/>
                <a:gdLst/>
                <a:ahLst/>
                <a:cxnLst/>
                <a:rect l="l" t="t" r="r" b="b"/>
                <a:pathLst>
                  <a:path w="1484440" h="685521" extrusionOk="0">
                    <a:moveTo>
                      <a:pt x="742220" y="0"/>
                    </a:moveTo>
                    <a:cubicBezTo>
                      <a:pt x="1128078" y="0"/>
                      <a:pt x="1445445" y="293250"/>
                      <a:pt x="1483608" y="669040"/>
                    </a:cubicBezTo>
                    <a:lnTo>
                      <a:pt x="1484440" y="685521"/>
                    </a:lnTo>
                    <a:lnTo>
                      <a:pt x="0" y="685521"/>
                    </a:lnTo>
                    <a:lnTo>
                      <a:pt x="832" y="669040"/>
                    </a:lnTo>
                    <a:cubicBezTo>
                      <a:pt x="38995" y="293250"/>
                      <a:pt x="356362" y="0"/>
                      <a:pt x="742220"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01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9" name="Google Shape;699;p32"/>
              <p:cNvSpPr/>
              <p:nvPr/>
            </p:nvSpPr>
            <p:spPr>
              <a:xfrm>
                <a:off x="932256" y="3371908"/>
                <a:ext cx="1494328" cy="786419"/>
              </a:xfrm>
              <a:custGeom>
                <a:avLst/>
                <a:gdLst/>
                <a:ahLst/>
                <a:cxnLst/>
                <a:rect l="l" t="t" r="r" b="b"/>
                <a:pathLst>
                  <a:path w="1494328" h="786419" extrusionOk="0">
                    <a:moveTo>
                      <a:pt x="747164" y="0"/>
                    </a:moveTo>
                    <a:cubicBezTo>
                      <a:pt x="1159811" y="0"/>
                      <a:pt x="1494328" y="334517"/>
                      <a:pt x="1494328" y="747164"/>
                    </a:cubicBezTo>
                    <a:lnTo>
                      <a:pt x="1492346" y="786419"/>
                    </a:lnTo>
                    <a:lnTo>
                      <a:pt x="1490470" y="749280"/>
                    </a:lnTo>
                    <a:cubicBezTo>
                      <a:pt x="1452208" y="372518"/>
                      <a:pt x="1134021" y="78509"/>
                      <a:pt x="747164" y="78509"/>
                    </a:cubicBezTo>
                    <a:cubicBezTo>
                      <a:pt x="360308" y="78509"/>
                      <a:pt x="42120" y="372518"/>
                      <a:pt x="3858" y="749280"/>
                    </a:cubicBezTo>
                    <a:lnTo>
                      <a:pt x="1982" y="786419"/>
                    </a:lnTo>
                    <a:lnTo>
                      <a:pt x="0" y="747164"/>
                    </a:lnTo>
                    <a:cubicBezTo>
                      <a:pt x="0" y="334517"/>
                      <a:pt x="334517" y="0"/>
                      <a:pt x="747164"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panose="020B060402020202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700" name="Google Shape;700;p32"/>
            <p:cNvSpPr/>
            <p:nvPr/>
          </p:nvSpPr>
          <p:spPr>
            <a:xfrm>
              <a:off x="7176194" y="1709770"/>
              <a:ext cx="4074268" cy="635207"/>
            </a:xfrm>
            <a:prstGeom prst="round2SameRect">
              <a:avLst>
                <a:gd name="adj1" fmla="val 16667"/>
                <a:gd name="adj2" fmla="val 0"/>
              </a:avLst>
            </a:prstGeom>
            <a:solidFill>
              <a:schemeClr val="accent3"/>
            </a:solidFill>
            <a:ln w="9525" cap="rnd"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lt1"/>
                  </a:solidFill>
                  <a:latin typeface="Arial" panose="020B0604020202020204"/>
                  <a:ea typeface="Arial" panose="020B0604020202020204"/>
                  <a:cs typeface="Arial" panose="020B0604020202020204"/>
                  <a:sym typeface="Arial" panose="020B0604020202020204"/>
                </a:rPr>
                <a:t>Sponsored Depositary Receipts (DRs)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701" name="Google Shape;701;p32"/>
          <p:cNvGrpSpPr/>
          <p:nvPr/>
        </p:nvGrpSpPr>
        <p:grpSpPr>
          <a:xfrm>
            <a:off x="619770" y="4148845"/>
            <a:ext cx="10952461" cy="1076500"/>
            <a:chOff x="1012393" y="1693117"/>
            <a:chExt cx="10952461" cy="1076500"/>
          </a:xfrm>
        </p:grpSpPr>
        <p:sp>
          <p:nvSpPr>
            <p:cNvPr id="702" name="Google Shape;702;p32"/>
            <p:cNvSpPr/>
            <p:nvPr/>
          </p:nvSpPr>
          <p:spPr>
            <a:xfrm>
              <a:off x="1012393" y="1693117"/>
              <a:ext cx="10952461" cy="1076500"/>
            </a:xfrm>
            <a:prstGeom prst="rect">
              <a:avLst/>
            </a:prstGeom>
            <a:solidFill>
              <a:srgbClr val="D5DBE5"/>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03" name="Google Shape;703;p32"/>
            <p:cNvSpPr txBox="1"/>
            <p:nvPr/>
          </p:nvSpPr>
          <p:spPr>
            <a:xfrm>
              <a:off x="1346163" y="1849147"/>
              <a:ext cx="10482000" cy="609600"/>
            </a:xfrm>
            <a:prstGeom prst="rect">
              <a:avLst/>
            </a:prstGeom>
            <a:noFill/>
            <a:ln>
              <a:noFill/>
            </a:ln>
          </p:spPr>
          <p:txBody>
            <a:bodyPr spcFirstLastPara="1" wrap="square" lIns="0" tIns="0" rIns="0" bIns="0" anchor="ctr" anchorCtr="0">
              <a:spAutoFit/>
            </a:bodyPr>
            <a:lstStyle/>
            <a:p>
              <a:pPr marL="0" marR="0" lvl="0" indent="0" algn="l" rtl="0">
                <a:lnSpc>
                  <a:spcPct val="12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Company Involvement: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Issuer company is actively involved in the DR program, which can enhance transparency and communication with investors.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707" name="Shape 707"/>
        <p:cNvGrpSpPr/>
        <p:nvPr/>
      </p:nvGrpSpPr>
      <p:grpSpPr>
        <a:xfrm>
          <a:off x="0" y="0"/>
          <a:ext cx="0" cy="0"/>
          <a:chOff x="0" y="0"/>
          <a:chExt cx="0" cy="0"/>
        </a:xfrm>
      </p:grpSpPr>
      <p:sp>
        <p:nvSpPr>
          <p:cNvPr id="708" name="Google Shape;708;p33"/>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DEPOSITORY RECEIPTS</a:t>
            </a:r>
            <a:endParaRPr lang="en-US"/>
          </a:p>
        </p:txBody>
      </p:sp>
      <p:grpSp>
        <p:nvGrpSpPr>
          <p:cNvPr id="709" name="Google Shape;709;p33"/>
          <p:cNvGrpSpPr/>
          <p:nvPr/>
        </p:nvGrpSpPr>
        <p:grpSpPr>
          <a:xfrm>
            <a:off x="700367" y="1053814"/>
            <a:ext cx="10951965" cy="2666382"/>
            <a:chOff x="3955312" y="1243129"/>
            <a:chExt cx="11007000" cy="2666382"/>
          </a:xfrm>
        </p:grpSpPr>
        <p:sp>
          <p:nvSpPr>
            <p:cNvPr id="710" name="Google Shape;710;p33"/>
            <p:cNvSpPr/>
            <p:nvPr/>
          </p:nvSpPr>
          <p:spPr>
            <a:xfrm>
              <a:off x="3955313" y="2412454"/>
              <a:ext cx="10846980" cy="1497057"/>
            </a:xfrm>
            <a:prstGeom prst="roundRect">
              <a:avLst>
                <a:gd name="adj" fmla="val 7707"/>
              </a:avLst>
            </a:prstGeom>
            <a:solidFill>
              <a:schemeClr val="accent3"/>
            </a:solidFill>
            <a:ln w="9525" cap="rnd" cmpd="sng">
              <a:solidFill>
                <a:schemeClr val="accent3"/>
              </a:solidFill>
              <a:prstDash val="solid"/>
              <a:round/>
              <a:headEnd type="none" w="sm" len="sm"/>
              <a:tailEnd type="none" w="sm" len="sm"/>
            </a:ln>
          </p:spPr>
          <p:txBody>
            <a:bodyPr spcFirstLastPara="1" wrap="square" lIns="91425" tIns="180000" rIns="91425" bIns="45700" anchor="t" anchorCtr="0">
              <a:noAutofit/>
            </a:bodyPr>
            <a:lstStyle/>
            <a:p>
              <a:pPr marL="285750" marR="0" lvl="0" indent="-171450" algn="l" rtl="0">
                <a:lnSpc>
                  <a:spcPct val="100000"/>
                </a:lnSpc>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11" name="Google Shape;711;p33"/>
            <p:cNvSpPr/>
            <p:nvPr/>
          </p:nvSpPr>
          <p:spPr>
            <a:xfrm>
              <a:off x="3955312" y="2239564"/>
              <a:ext cx="11007000" cy="1620000"/>
            </a:xfrm>
            <a:prstGeom prst="roundRect">
              <a:avLst>
                <a:gd name="adj" fmla="val 7707"/>
              </a:avLst>
            </a:prstGeom>
            <a:solidFill>
              <a:schemeClr val="lt1"/>
            </a:solidFill>
            <a:ln w="9525" cap="rnd" cmpd="sng">
              <a:solidFill>
                <a:schemeClr val="accent3"/>
              </a:solidFill>
              <a:prstDash val="solid"/>
              <a:round/>
              <a:headEnd type="none" w="sm" len="sm"/>
              <a:tailEnd type="none" w="sm" len="sm"/>
            </a:ln>
          </p:spPr>
          <p:txBody>
            <a:bodyPr spcFirstLastPara="1" wrap="square" lIns="91425" tIns="180000" rIns="91425" bIns="4570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Unsponsored Depositary Receipts are issued without the active participation or endorsement of the foreign company. In these cases, a financial institution, typically a broker or bank, initiates the DR program without direct involvement from the company whose shares underlie the DRs. Unsponsored DRs have the following characteristics: They are not listed on Stock Exchanges and hence they trade only in OTC Markets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12" name="Google Shape;712;p33"/>
            <p:cNvSpPr/>
            <p:nvPr/>
          </p:nvSpPr>
          <p:spPr>
            <a:xfrm>
              <a:off x="6978335" y="2097235"/>
              <a:ext cx="4469986" cy="247743"/>
            </a:xfrm>
            <a:prstGeom prst="trapezoid">
              <a:avLst>
                <a:gd name="adj" fmla="val 88189"/>
              </a:avLst>
            </a:prstGeom>
            <a:solidFill>
              <a:srgbClr val="206851"/>
            </a:solidFill>
            <a:ln w="9525" cap="rnd" cmpd="sng">
              <a:solidFill>
                <a:srgbClr val="20685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nvGrpSpPr>
            <p:cNvPr id="713" name="Google Shape;713;p33"/>
            <p:cNvGrpSpPr/>
            <p:nvPr/>
          </p:nvGrpSpPr>
          <p:grpSpPr>
            <a:xfrm>
              <a:off x="8672347" y="1243129"/>
              <a:ext cx="1081962" cy="569404"/>
              <a:chOff x="932256" y="3371908"/>
              <a:chExt cx="1494328" cy="786419"/>
            </a:xfrm>
          </p:grpSpPr>
          <p:sp>
            <p:nvSpPr>
              <p:cNvPr id="714" name="Google Shape;714;p33"/>
              <p:cNvSpPr/>
              <p:nvPr/>
            </p:nvSpPr>
            <p:spPr>
              <a:xfrm>
                <a:off x="934184" y="3453756"/>
                <a:ext cx="1484440" cy="685521"/>
              </a:xfrm>
              <a:custGeom>
                <a:avLst/>
                <a:gdLst/>
                <a:ahLst/>
                <a:cxnLst/>
                <a:rect l="l" t="t" r="r" b="b"/>
                <a:pathLst>
                  <a:path w="1484440" h="685521" extrusionOk="0">
                    <a:moveTo>
                      <a:pt x="742220" y="0"/>
                    </a:moveTo>
                    <a:cubicBezTo>
                      <a:pt x="1128078" y="0"/>
                      <a:pt x="1445445" y="293250"/>
                      <a:pt x="1483608" y="669040"/>
                    </a:cubicBezTo>
                    <a:lnTo>
                      <a:pt x="1484440" y="685521"/>
                    </a:lnTo>
                    <a:lnTo>
                      <a:pt x="0" y="685521"/>
                    </a:lnTo>
                    <a:lnTo>
                      <a:pt x="832" y="669040"/>
                    </a:lnTo>
                    <a:cubicBezTo>
                      <a:pt x="38995" y="293250"/>
                      <a:pt x="356362" y="0"/>
                      <a:pt x="742220"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Arial" panose="020B0604020202020204"/>
                  <a:buNone/>
                </a:pPr>
                <a:r>
                  <a:rPr lang="en-US" sz="2000" b="0" i="0" u="none" strike="noStrike" cap="none">
                    <a:solidFill>
                      <a:schemeClr val="dk1"/>
                    </a:solidFill>
                    <a:latin typeface="Arial" panose="020B0604020202020204"/>
                    <a:ea typeface="Arial" panose="020B0604020202020204"/>
                    <a:cs typeface="Arial" panose="020B0604020202020204"/>
                    <a:sym typeface="Arial" panose="020B0604020202020204"/>
                  </a:rPr>
                  <a:t>02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5" name="Google Shape;715;p33"/>
              <p:cNvSpPr/>
              <p:nvPr/>
            </p:nvSpPr>
            <p:spPr>
              <a:xfrm>
                <a:off x="932256" y="3371908"/>
                <a:ext cx="1494328" cy="786419"/>
              </a:xfrm>
              <a:custGeom>
                <a:avLst/>
                <a:gdLst/>
                <a:ahLst/>
                <a:cxnLst/>
                <a:rect l="l" t="t" r="r" b="b"/>
                <a:pathLst>
                  <a:path w="1494328" h="786419" extrusionOk="0">
                    <a:moveTo>
                      <a:pt x="747164" y="0"/>
                    </a:moveTo>
                    <a:cubicBezTo>
                      <a:pt x="1159811" y="0"/>
                      <a:pt x="1494328" y="334517"/>
                      <a:pt x="1494328" y="747164"/>
                    </a:cubicBezTo>
                    <a:lnTo>
                      <a:pt x="1492346" y="786419"/>
                    </a:lnTo>
                    <a:lnTo>
                      <a:pt x="1490470" y="749280"/>
                    </a:lnTo>
                    <a:cubicBezTo>
                      <a:pt x="1452208" y="372518"/>
                      <a:pt x="1134021" y="78509"/>
                      <a:pt x="747164" y="78509"/>
                    </a:cubicBezTo>
                    <a:cubicBezTo>
                      <a:pt x="360308" y="78509"/>
                      <a:pt x="42120" y="372518"/>
                      <a:pt x="3858" y="749280"/>
                    </a:cubicBezTo>
                    <a:lnTo>
                      <a:pt x="1982" y="786419"/>
                    </a:lnTo>
                    <a:lnTo>
                      <a:pt x="0" y="747164"/>
                    </a:lnTo>
                    <a:cubicBezTo>
                      <a:pt x="0" y="334517"/>
                      <a:pt x="334517" y="0"/>
                      <a:pt x="747164" y="0"/>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Arial" panose="020B0604020202020204"/>
                  <a:buNone/>
                </a:pPr>
                <a:endParaRPr sz="12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716" name="Google Shape;716;p33"/>
            <p:cNvSpPr/>
            <p:nvPr/>
          </p:nvSpPr>
          <p:spPr>
            <a:xfrm>
              <a:off x="7176194" y="1709770"/>
              <a:ext cx="4074268" cy="635207"/>
            </a:xfrm>
            <a:prstGeom prst="round2SameRect">
              <a:avLst>
                <a:gd name="adj1" fmla="val 16667"/>
                <a:gd name="adj2" fmla="val 0"/>
              </a:avLst>
            </a:prstGeom>
            <a:solidFill>
              <a:schemeClr val="accent3"/>
            </a:solidFill>
            <a:ln w="9525" cap="rnd"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lt1"/>
                  </a:solidFill>
                  <a:latin typeface="Arial" panose="020B0604020202020204"/>
                  <a:ea typeface="Arial" panose="020B0604020202020204"/>
                  <a:cs typeface="Arial" panose="020B0604020202020204"/>
                  <a:sym typeface="Arial" panose="020B0604020202020204"/>
                </a:rPr>
                <a:t>Unsponsored Depositary Receipts (DRs)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717" name="Google Shape;717;p33"/>
          <p:cNvGrpSpPr/>
          <p:nvPr/>
        </p:nvGrpSpPr>
        <p:grpSpPr>
          <a:xfrm>
            <a:off x="755161" y="4148845"/>
            <a:ext cx="10952461" cy="1076500"/>
            <a:chOff x="755161" y="4148845"/>
            <a:chExt cx="10952461" cy="1076500"/>
          </a:xfrm>
        </p:grpSpPr>
        <p:sp>
          <p:nvSpPr>
            <p:cNvPr id="718" name="Google Shape;718;p33"/>
            <p:cNvSpPr/>
            <p:nvPr/>
          </p:nvSpPr>
          <p:spPr>
            <a:xfrm>
              <a:off x="755161" y="4148845"/>
              <a:ext cx="10952461" cy="1076500"/>
            </a:xfrm>
            <a:prstGeom prst="rect">
              <a:avLst/>
            </a:prstGeom>
            <a:solidFill>
              <a:srgbClr val="D5DBE5"/>
            </a:solidFill>
            <a:ln>
              <a:noFill/>
            </a:ln>
            <a:effectLst>
              <a:outerShdw blurRad="50800" dist="38100" dir="5400000" algn="t" rotWithShape="0">
                <a:srgbClr val="000000">
                  <a:alpha val="40000"/>
                </a:srgbClr>
              </a:outerShdw>
            </a:effectLst>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19" name="Google Shape;719;p33"/>
            <p:cNvSpPr txBox="1"/>
            <p:nvPr/>
          </p:nvSpPr>
          <p:spPr>
            <a:xfrm>
              <a:off x="1039363" y="4352896"/>
              <a:ext cx="10508100" cy="609600"/>
            </a:xfrm>
            <a:prstGeom prst="rect">
              <a:avLst/>
            </a:prstGeom>
            <a:noFill/>
            <a:ln>
              <a:noFill/>
            </a:ln>
          </p:spPr>
          <p:txBody>
            <a:bodyPr spcFirstLastPara="1" wrap="square" lIns="0" tIns="0" rIns="0" bIns="0" anchor="ctr" anchorCtr="0">
              <a:spAutoFit/>
            </a:bodyPr>
            <a:lstStyle/>
            <a:p>
              <a:pPr marL="0" marR="0" lvl="0" indent="0" algn="l" rtl="0">
                <a:lnSpc>
                  <a:spcPct val="12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Independent Issuance: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issuance of unsponsored DRs is initiated by a financial institution without the formal approval or collaboration of the Issuer company.</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723" name="Shape 723"/>
        <p:cNvGrpSpPr/>
        <p:nvPr/>
      </p:nvGrpSpPr>
      <p:grpSpPr>
        <a:xfrm>
          <a:off x="0" y="0"/>
          <a:ext cx="0" cy="0"/>
          <a:chOff x="0" y="0"/>
          <a:chExt cx="0" cy="0"/>
        </a:xfrm>
      </p:grpSpPr>
      <p:sp>
        <p:nvSpPr>
          <p:cNvPr id="724" name="Google Shape;724;p34"/>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TYPES OF DEPOSITORY RECEIPTS</a:t>
            </a:r>
            <a:endParaRPr lang="en-US"/>
          </a:p>
        </p:txBody>
      </p:sp>
      <p:sp>
        <p:nvSpPr>
          <p:cNvPr id="725" name="Google Shape;725;p34"/>
          <p:cNvSpPr/>
          <p:nvPr/>
        </p:nvSpPr>
        <p:spPr>
          <a:xfrm>
            <a:off x="1588" y="3690781"/>
            <a:ext cx="12190412" cy="2062716"/>
          </a:xfrm>
          <a:prstGeom prst="rect">
            <a:avLst/>
          </a:prstGeom>
          <a:solidFill>
            <a:srgbClr val="18A7C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 Investors interested in investing in DRs should be aware of whether they are dealing with sponsored or unsponsored DRs, as the level of company involvement and related benefits can vary significantly. Additionally, understanding the differences can help investors make informed decisions based on their investment goals and preferences.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6" name="Google Shape;726;p34"/>
          <p:cNvSpPr/>
          <p:nvPr/>
        </p:nvSpPr>
        <p:spPr>
          <a:xfrm>
            <a:off x="488395" y="2081250"/>
            <a:ext cx="11215211" cy="14773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primary distinction between sponsored and unsponsored DRs lies in the level of involvement and endorsement from the foreign company whose shares are being represented by the DRs. Sponsored DRs involve active company participation, customization, and potential benefits for the company. Unsponsored DRs are initiated independently by financial institutions, with limited company involvement and potential for customization.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7" name="Google Shape;727;p34"/>
          <p:cNvSpPr/>
          <p:nvPr/>
        </p:nvSpPr>
        <p:spPr>
          <a:xfrm>
            <a:off x="1588" y="1226402"/>
            <a:ext cx="12192000" cy="41341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Key Differences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731" name="Shape 731"/>
        <p:cNvGrpSpPr/>
        <p:nvPr/>
      </p:nvGrpSpPr>
      <p:grpSpPr>
        <a:xfrm>
          <a:off x="0" y="0"/>
          <a:ext cx="0" cy="0"/>
          <a:chOff x="0" y="0"/>
          <a:chExt cx="0" cy="0"/>
        </a:xfrm>
      </p:grpSpPr>
      <p:pic>
        <p:nvPicPr>
          <p:cNvPr id="732" name="Google Shape;732;p35"/>
          <p:cNvPicPr preferRelativeResize="0"/>
          <p:nvPr>
            <p:ph type="pic" idx="2"/>
          </p:nvPr>
        </p:nvPicPr>
        <p:blipFill rotWithShape="1">
          <a:blip r:embed="rId1"/>
          <a:srcRect/>
          <a:stretch>
            <a:fillRect/>
          </a:stretch>
        </p:blipFill>
        <p:spPr>
          <a:xfrm>
            <a:off x="3978704" y="-21266"/>
            <a:ext cx="8211708" cy="6889900"/>
          </a:xfrm>
          <a:prstGeom prst="rect">
            <a:avLst/>
          </a:prstGeom>
          <a:solidFill>
            <a:srgbClr val="F2F2F2"/>
          </a:solidFill>
          <a:ln>
            <a:noFill/>
          </a:ln>
        </p:spPr>
      </p:pic>
      <p:sp>
        <p:nvSpPr>
          <p:cNvPr id="733" name="Google Shape;733;p35"/>
          <p:cNvSpPr/>
          <p:nvPr/>
        </p:nvSpPr>
        <p:spPr>
          <a:xfrm>
            <a:off x="0" y="0"/>
            <a:ext cx="6124354" cy="6879266"/>
          </a:xfrm>
          <a:custGeom>
            <a:avLst/>
            <a:gdLst/>
            <a:ahLst/>
            <a:cxnLst/>
            <a:rect l="l" t="t" r="r" b="b"/>
            <a:pathLst>
              <a:path w="6124354" h="6879266" extrusionOk="0">
                <a:moveTo>
                  <a:pt x="0" y="0"/>
                </a:moveTo>
                <a:lnTo>
                  <a:pt x="4061637" y="0"/>
                </a:lnTo>
                <a:lnTo>
                  <a:pt x="6124354" y="6879266"/>
                </a:lnTo>
                <a:lnTo>
                  <a:pt x="0" y="685800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34" name="Google Shape;734;p35"/>
          <p:cNvSpPr/>
          <p:nvPr/>
        </p:nvSpPr>
        <p:spPr>
          <a:xfrm flipH="1">
            <a:off x="4025448" y="-21268"/>
            <a:ext cx="8166551" cy="6900533"/>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35" name="Google Shape;735;p35"/>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736" name="Google Shape;736;p35"/>
          <p:cNvPicPr preferRelativeResize="0"/>
          <p:nvPr/>
        </p:nvPicPr>
        <p:blipFill rotWithShape="1">
          <a:blip r:embed="rId2"/>
          <a:srcRect/>
          <a:stretch>
            <a:fillRect/>
          </a:stretch>
        </p:blipFill>
        <p:spPr>
          <a:xfrm>
            <a:off x="617538" y="-2207760"/>
            <a:ext cx="3614738" cy="2033588"/>
          </a:xfrm>
          <a:prstGeom prst="rect">
            <a:avLst/>
          </a:prstGeom>
          <a:noFill/>
          <a:ln>
            <a:noFill/>
          </a:ln>
        </p:spPr>
      </p:pic>
      <p:pic>
        <p:nvPicPr>
          <p:cNvPr id="737" name="Google Shape;737;p35" descr="A picture containing text, clipart&#10;&#10;Description automatically generated"/>
          <p:cNvPicPr preferRelativeResize="0"/>
          <p:nvPr/>
        </p:nvPicPr>
        <p:blipFill rotWithShape="1">
          <a:blip r:embed="rId3"/>
          <a:srcRect/>
          <a:stretch>
            <a:fillRect/>
          </a:stretch>
        </p:blipFill>
        <p:spPr>
          <a:xfrm>
            <a:off x="9533468" y="312483"/>
            <a:ext cx="2421466" cy="491960"/>
          </a:xfrm>
          <a:prstGeom prst="rect">
            <a:avLst/>
          </a:prstGeom>
          <a:noFill/>
          <a:ln>
            <a:noFill/>
          </a:ln>
        </p:spPr>
      </p:pic>
      <p:sp>
        <p:nvSpPr>
          <p:cNvPr id="738" name="Google Shape;738;p35"/>
          <p:cNvSpPr txBox="1"/>
          <p:nvPr/>
        </p:nvSpPr>
        <p:spPr>
          <a:xfrm>
            <a:off x="73717" y="3025678"/>
            <a:ext cx="7501356"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rPr>
              <a:t>Share Capital</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743" name="Shape 743"/>
        <p:cNvGrpSpPr/>
        <p:nvPr/>
      </p:nvGrpSpPr>
      <p:grpSpPr>
        <a:xfrm>
          <a:off x="0" y="0"/>
          <a:ext cx="0" cy="0"/>
          <a:chOff x="0" y="0"/>
          <a:chExt cx="0" cy="0"/>
        </a:xfrm>
      </p:grpSpPr>
      <p:sp>
        <p:nvSpPr>
          <p:cNvPr id="744" name="Google Shape;744;p36"/>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SHARE CAPITAL </a:t>
            </a:r>
            <a:endParaRPr lang="en-US"/>
          </a:p>
        </p:txBody>
      </p:sp>
      <p:grpSp>
        <p:nvGrpSpPr>
          <p:cNvPr id="745" name="Google Shape;745;p36"/>
          <p:cNvGrpSpPr/>
          <p:nvPr/>
        </p:nvGrpSpPr>
        <p:grpSpPr>
          <a:xfrm>
            <a:off x="676579" y="2303888"/>
            <a:ext cx="10754522" cy="3824588"/>
            <a:chOff x="676579" y="2303888"/>
            <a:chExt cx="10754522" cy="3824588"/>
          </a:xfrm>
        </p:grpSpPr>
        <p:sp>
          <p:nvSpPr>
            <p:cNvPr id="746" name="Google Shape;746;p36"/>
            <p:cNvSpPr/>
            <p:nvPr/>
          </p:nvSpPr>
          <p:spPr>
            <a:xfrm>
              <a:off x="678516" y="2559897"/>
              <a:ext cx="683081" cy="671268"/>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01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47" name="Google Shape;747;p36"/>
            <p:cNvGrpSpPr/>
            <p:nvPr/>
          </p:nvGrpSpPr>
          <p:grpSpPr>
            <a:xfrm>
              <a:off x="1713151" y="2303888"/>
              <a:ext cx="9717950" cy="1183286"/>
              <a:chOff x="1712078" y="2330104"/>
              <a:chExt cx="9717950" cy="1183286"/>
            </a:xfrm>
          </p:grpSpPr>
          <p:grpSp>
            <p:nvGrpSpPr>
              <p:cNvPr id="748" name="Google Shape;748;p36"/>
              <p:cNvGrpSpPr/>
              <p:nvPr/>
            </p:nvGrpSpPr>
            <p:grpSpPr>
              <a:xfrm>
                <a:off x="1712078" y="2330104"/>
                <a:ext cx="9669263" cy="1183286"/>
                <a:chOff x="2918012" y="2217486"/>
                <a:chExt cx="8813518" cy="880171"/>
              </a:xfrm>
            </p:grpSpPr>
            <p:sp>
              <p:nvSpPr>
                <p:cNvPr id="749" name="Google Shape;749;p36"/>
                <p:cNvSpPr/>
                <p:nvPr/>
              </p:nvSpPr>
              <p:spPr>
                <a:xfrm>
                  <a:off x="2918012" y="2217486"/>
                  <a:ext cx="8778688" cy="831273"/>
                </a:xfrm>
                <a:prstGeom prst="roundRect">
                  <a:avLst>
                    <a:gd name="adj" fmla="val 16667"/>
                  </a:avLst>
                </a:prstGeom>
                <a:solidFill>
                  <a:schemeClr val="accent4"/>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50" name="Google Shape;750;p36"/>
                <p:cNvSpPr/>
                <p:nvPr/>
              </p:nvSpPr>
              <p:spPr>
                <a:xfrm>
                  <a:off x="2952842" y="2266384"/>
                  <a:ext cx="8778688" cy="831273"/>
                </a:xfrm>
                <a:prstGeom prst="roundRect">
                  <a:avLst>
                    <a:gd name="adj" fmla="val 16667"/>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751" name="Google Shape;751;p36"/>
              <p:cNvSpPr/>
              <p:nvPr/>
            </p:nvSpPr>
            <p:spPr>
              <a:xfrm>
                <a:off x="1972779" y="2484637"/>
                <a:ext cx="945724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Authorized Share Capital: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Companies have an authorized share capital, which is the maximum amount of share capital they are legally allowed to issue. This provides flexibility for the company to issue additional shares in the future without needing to amend its articles of incorporation.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752" name="Google Shape;752;p36"/>
            <p:cNvSpPr/>
            <p:nvPr/>
          </p:nvSpPr>
          <p:spPr>
            <a:xfrm>
              <a:off x="682091" y="3881054"/>
              <a:ext cx="671268" cy="671268"/>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02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53" name="Google Shape;753;p36"/>
            <p:cNvGrpSpPr/>
            <p:nvPr/>
          </p:nvGrpSpPr>
          <p:grpSpPr>
            <a:xfrm>
              <a:off x="1734567" y="3624539"/>
              <a:ext cx="9669263" cy="1183286"/>
              <a:chOff x="1724972" y="3647261"/>
              <a:chExt cx="9669263" cy="1183286"/>
            </a:xfrm>
          </p:grpSpPr>
          <p:grpSp>
            <p:nvGrpSpPr>
              <p:cNvPr id="754" name="Google Shape;754;p36"/>
              <p:cNvGrpSpPr/>
              <p:nvPr/>
            </p:nvGrpSpPr>
            <p:grpSpPr>
              <a:xfrm>
                <a:off x="1724972" y="3647261"/>
                <a:ext cx="9669263" cy="1183286"/>
                <a:chOff x="2918012" y="2217486"/>
                <a:chExt cx="8813518" cy="880171"/>
              </a:xfrm>
            </p:grpSpPr>
            <p:sp>
              <p:nvSpPr>
                <p:cNvPr id="755" name="Google Shape;755;p36"/>
                <p:cNvSpPr/>
                <p:nvPr/>
              </p:nvSpPr>
              <p:spPr>
                <a:xfrm>
                  <a:off x="2918012" y="2217486"/>
                  <a:ext cx="8778688" cy="831273"/>
                </a:xfrm>
                <a:prstGeom prst="roundRect">
                  <a:avLst>
                    <a:gd name="adj" fmla="val 16667"/>
                  </a:avLst>
                </a:prstGeom>
                <a:solidFill>
                  <a:schemeClr val="accent3"/>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56" name="Google Shape;756;p36"/>
                <p:cNvSpPr/>
                <p:nvPr/>
              </p:nvSpPr>
              <p:spPr>
                <a:xfrm>
                  <a:off x="2952842" y="2266384"/>
                  <a:ext cx="8778688" cy="831273"/>
                </a:xfrm>
                <a:prstGeom prst="roundRect">
                  <a:avLst>
                    <a:gd name="adj" fmla="val 16667"/>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757" name="Google Shape;757;p36"/>
              <p:cNvSpPr/>
              <p:nvPr/>
            </p:nvSpPr>
            <p:spPr>
              <a:xfrm>
                <a:off x="1898774" y="3794355"/>
                <a:ext cx="945724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Issued Share Capital: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This refers to the portion of authorized share capital that the company has actually issued to shareholders. It represents the ownership interest held by shareholders at a specific point in time.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758" name="Google Shape;758;p36"/>
            <p:cNvSpPr/>
            <p:nvPr/>
          </p:nvSpPr>
          <p:spPr>
            <a:xfrm>
              <a:off x="676579" y="5224245"/>
              <a:ext cx="671268" cy="671268"/>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03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759" name="Google Shape;759;p36"/>
            <p:cNvGrpSpPr/>
            <p:nvPr/>
          </p:nvGrpSpPr>
          <p:grpSpPr>
            <a:xfrm>
              <a:off x="1715461" y="4945190"/>
              <a:ext cx="9669263" cy="1183286"/>
              <a:chOff x="1752109" y="4948858"/>
              <a:chExt cx="9669263" cy="1183286"/>
            </a:xfrm>
          </p:grpSpPr>
          <p:grpSp>
            <p:nvGrpSpPr>
              <p:cNvPr id="760" name="Google Shape;760;p36"/>
              <p:cNvGrpSpPr/>
              <p:nvPr/>
            </p:nvGrpSpPr>
            <p:grpSpPr>
              <a:xfrm>
                <a:off x="1752109" y="4948858"/>
                <a:ext cx="9669263" cy="1183286"/>
                <a:chOff x="2918012" y="2217486"/>
                <a:chExt cx="8813518" cy="880171"/>
              </a:xfrm>
            </p:grpSpPr>
            <p:sp>
              <p:nvSpPr>
                <p:cNvPr id="761" name="Google Shape;761;p36"/>
                <p:cNvSpPr/>
                <p:nvPr/>
              </p:nvSpPr>
              <p:spPr>
                <a:xfrm>
                  <a:off x="2918012" y="2217486"/>
                  <a:ext cx="8778688" cy="831273"/>
                </a:xfrm>
                <a:prstGeom prst="roundRect">
                  <a:avLst>
                    <a:gd name="adj" fmla="val 16667"/>
                  </a:avLst>
                </a:prstGeom>
                <a:solidFill>
                  <a:schemeClr val="accent4"/>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62" name="Google Shape;762;p36"/>
                <p:cNvSpPr/>
                <p:nvPr/>
              </p:nvSpPr>
              <p:spPr>
                <a:xfrm>
                  <a:off x="2952842" y="2266384"/>
                  <a:ext cx="8778688" cy="831273"/>
                </a:xfrm>
                <a:prstGeom prst="roundRect">
                  <a:avLst>
                    <a:gd name="adj" fmla="val 16667"/>
                  </a:avLst>
                </a:prstGeom>
                <a:solidFill>
                  <a:schemeClr val="lt1"/>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763" name="Google Shape;763;p36"/>
              <p:cNvSpPr/>
              <p:nvPr/>
            </p:nvSpPr>
            <p:spPr>
              <a:xfrm>
                <a:off x="1945017" y="5269936"/>
                <a:ext cx="9457249"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Unissued Share Capital :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This refers to the portion of authorized share capital that the company has not issued to shareholders.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
        <p:nvSpPr>
          <p:cNvPr id="764" name="Google Shape;764;p36"/>
          <p:cNvSpPr/>
          <p:nvPr/>
        </p:nvSpPr>
        <p:spPr>
          <a:xfrm>
            <a:off x="0" y="1089319"/>
            <a:ext cx="12192000" cy="997954"/>
          </a:xfrm>
          <a:prstGeom prst="roundRect">
            <a:avLst>
              <a:gd name="adj" fmla="val 0"/>
            </a:avLst>
          </a:prstGeom>
          <a:solidFill>
            <a:schemeClr val="dk2"/>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Share capital refers to the total value of the shares issued by a company. It represents the ownership interest that shareholders have in the company. Share capital is a critical component of a company's balance sheet and reflects the amount of capital raised from shareholders to finance the company's operations, investments, and growth.</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768" name="Shape 768"/>
        <p:cNvGrpSpPr/>
        <p:nvPr/>
      </p:nvGrpSpPr>
      <p:grpSpPr>
        <a:xfrm>
          <a:off x="0" y="0"/>
          <a:ext cx="0" cy="0"/>
          <a:chOff x="0" y="0"/>
          <a:chExt cx="0" cy="0"/>
        </a:xfrm>
      </p:grpSpPr>
      <p:sp>
        <p:nvSpPr>
          <p:cNvPr id="769" name="Google Shape;769;p37"/>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OFFER FOR SALE (OFS) </a:t>
            </a:r>
            <a:endParaRPr lang="en-US"/>
          </a:p>
        </p:txBody>
      </p:sp>
      <p:sp>
        <p:nvSpPr>
          <p:cNvPr id="770" name="Google Shape;770;p37"/>
          <p:cNvSpPr txBox="1"/>
          <p:nvPr/>
        </p:nvSpPr>
        <p:spPr>
          <a:xfrm>
            <a:off x="0" y="1327025"/>
            <a:ext cx="12192000" cy="821100"/>
          </a:xfrm>
          <a:prstGeom prst="rect">
            <a:avLst/>
          </a:prstGeom>
          <a:solidFill>
            <a:schemeClr val="dk2"/>
          </a:solidFill>
          <a:ln>
            <a:noFill/>
          </a:ln>
        </p:spPr>
        <p:txBody>
          <a:bodyPr spcFirstLastPara="1" wrap="square" lIns="81550" tIns="40775" rIns="81550" bIns="40775" anchor="t" anchorCtr="0">
            <a:spAutoFit/>
          </a:bodyPr>
          <a:lstStyle/>
          <a:p>
            <a:pPr marL="0" marR="0" lvl="0" indent="0" algn="ctr" rtl="0">
              <a:lnSpc>
                <a:spcPct val="100000"/>
              </a:lnSpc>
              <a:spcBef>
                <a:spcPts val="0"/>
              </a:spcBef>
              <a:spcAft>
                <a:spcPts val="0"/>
              </a:spcAft>
              <a:buClr>
                <a:srgbClr val="FFFFFF"/>
              </a:buClr>
              <a:buSzPts val="1600"/>
              <a:buFont typeface="Arial" panose="020B0604020202020204"/>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 </a:t>
            </a: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An </a:t>
            </a: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"Offer for Sale" (OFS) </a:t>
            </a: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is a method of selling shares of a publicly traded company by existing shareholders, such as promoters, founders, or large investors, to the public through the Public Issue of Shares. It's a way for existing shareholders to monetize their holdings and for the company to comply with regulatory requirements for minimum public shareholding.</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nvGrpSpPr>
          <p:cNvPr id="771" name="Google Shape;771;p37"/>
          <p:cNvGrpSpPr/>
          <p:nvPr/>
        </p:nvGrpSpPr>
        <p:grpSpPr>
          <a:xfrm>
            <a:off x="709949" y="2757033"/>
            <a:ext cx="10772102" cy="3141965"/>
            <a:chOff x="601493" y="2757033"/>
            <a:chExt cx="10772102" cy="3141965"/>
          </a:xfrm>
        </p:grpSpPr>
        <p:grpSp>
          <p:nvGrpSpPr>
            <p:cNvPr id="772" name="Google Shape;772;p37"/>
            <p:cNvGrpSpPr/>
            <p:nvPr/>
          </p:nvGrpSpPr>
          <p:grpSpPr>
            <a:xfrm>
              <a:off x="601493" y="2757033"/>
              <a:ext cx="10752804" cy="1362784"/>
              <a:chOff x="715297" y="1149093"/>
              <a:chExt cx="10752804" cy="1362784"/>
            </a:xfrm>
          </p:grpSpPr>
          <p:sp>
            <p:nvSpPr>
              <p:cNvPr id="773" name="Google Shape;773;p37"/>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774" name="Google Shape;774;p37"/>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775" name="Google Shape;775;p37"/>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76" name="Google Shape;776;p37"/>
              <p:cNvSpPr txBox="1"/>
              <p:nvPr/>
            </p:nvSpPr>
            <p:spPr>
              <a:xfrm>
                <a:off x="933873" y="1448983"/>
                <a:ext cx="990214"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777" name="Google Shape;777;p37"/>
            <p:cNvGrpSpPr/>
            <p:nvPr/>
          </p:nvGrpSpPr>
          <p:grpSpPr>
            <a:xfrm>
              <a:off x="620791" y="4536214"/>
              <a:ext cx="10752804" cy="1362784"/>
              <a:chOff x="715297" y="1149093"/>
              <a:chExt cx="10752804" cy="1362784"/>
            </a:xfrm>
          </p:grpSpPr>
          <p:sp>
            <p:nvSpPr>
              <p:cNvPr id="778" name="Google Shape;778;p37"/>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779" name="Google Shape;779;p37"/>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780" name="Google Shape;780;p37"/>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81" name="Google Shape;781;p37"/>
              <p:cNvSpPr txBox="1"/>
              <p:nvPr/>
            </p:nvSpPr>
            <p:spPr>
              <a:xfrm>
                <a:off x="933873" y="1448983"/>
                <a:ext cx="990214"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782" name="Google Shape;782;p37"/>
            <p:cNvSpPr/>
            <p:nvPr/>
          </p:nvSpPr>
          <p:spPr>
            <a:xfrm>
              <a:off x="2265114" y="3022926"/>
              <a:ext cx="885491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Decision to Sell: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Existing shareholders, often large institutional investors or company insiders, decide to sell their shares in the company. This decision could be for various reasons, including encashing their shares, complying with regulatory requirements, or realizing profits.</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83" name="Google Shape;783;p37"/>
            <p:cNvSpPr/>
            <p:nvPr/>
          </p:nvSpPr>
          <p:spPr>
            <a:xfrm>
              <a:off x="2265114" y="4836104"/>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Regulatory Compliance:</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 In many countries, securities regulators require companies to maintain a minimum level of public shareholding. An OFS can help a company meet this requirement if its public float falls below the mandated threshold.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787" name="Shape 787"/>
        <p:cNvGrpSpPr/>
        <p:nvPr/>
      </p:nvGrpSpPr>
      <p:grpSpPr>
        <a:xfrm>
          <a:off x="0" y="0"/>
          <a:ext cx="0" cy="0"/>
          <a:chOff x="0" y="0"/>
          <a:chExt cx="0" cy="0"/>
        </a:xfrm>
      </p:grpSpPr>
      <p:sp>
        <p:nvSpPr>
          <p:cNvPr id="788" name="Google Shape;788;p38"/>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OFFER FOR SALE (OFS) </a:t>
            </a:r>
            <a:endParaRPr lang="en-US"/>
          </a:p>
        </p:txBody>
      </p:sp>
      <p:grpSp>
        <p:nvGrpSpPr>
          <p:cNvPr id="789" name="Google Shape;789;p38"/>
          <p:cNvGrpSpPr/>
          <p:nvPr/>
        </p:nvGrpSpPr>
        <p:grpSpPr>
          <a:xfrm>
            <a:off x="820069" y="1243145"/>
            <a:ext cx="10366498" cy="1162884"/>
            <a:chOff x="820069" y="1243145"/>
            <a:chExt cx="10366498" cy="1162884"/>
          </a:xfrm>
        </p:grpSpPr>
        <p:grpSp>
          <p:nvGrpSpPr>
            <p:cNvPr id="790" name="Google Shape;790;p38"/>
            <p:cNvGrpSpPr/>
            <p:nvPr/>
          </p:nvGrpSpPr>
          <p:grpSpPr>
            <a:xfrm>
              <a:off x="820069" y="1243145"/>
              <a:ext cx="10366498" cy="1162884"/>
              <a:chOff x="715297" y="1149093"/>
              <a:chExt cx="10752804" cy="1362784"/>
            </a:xfrm>
          </p:grpSpPr>
          <p:sp>
            <p:nvSpPr>
              <p:cNvPr id="791" name="Google Shape;791;p38"/>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792" name="Google Shape;792;p38"/>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793" name="Google Shape;793;p38"/>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794" name="Google Shape;794;p38"/>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795" name="Google Shape;795;p38"/>
            <p:cNvSpPr/>
            <p:nvPr/>
          </p:nvSpPr>
          <p:spPr>
            <a:xfrm>
              <a:off x="2284412" y="1409088"/>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Appointment of Intermediaries: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The selling shareholders typically engage investment banks or financial intermediaries to manage the OFS process. These intermediaries help determine the offer price and handle the logistics of the sale.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796" name="Google Shape;796;p38"/>
          <p:cNvGrpSpPr/>
          <p:nvPr/>
        </p:nvGrpSpPr>
        <p:grpSpPr>
          <a:xfrm>
            <a:off x="820069" y="2489132"/>
            <a:ext cx="10366498" cy="1162884"/>
            <a:chOff x="820069" y="1243145"/>
            <a:chExt cx="10366498" cy="1162884"/>
          </a:xfrm>
        </p:grpSpPr>
        <p:grpSp>
          <p:nvGrpSpPr>
            <p:cNvPr id="797" name="Google Shape;797;p38"/>
            <p:cNvGrpSpPr/>
            <p:nvPr/>
          </p:nvGrpSpPr>
          <p:grpSpPr>
            <a:xfrm>
              <a:off x="820069" y="1243145"/>
              <a:ext cx="10366498" cy="1162884"/>
              <a:chOff x="715297" y="1149093"/>
              <a:chExt cx="10752804" cy="1362784"/>
            </a:xfrm>
          </p:grpSpPr>
          <p:sp>
            <p:nvSpPr>
              <p:cNvPr id="798" name="Google Shape;798;p38"/>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799" name="Google Shape;799;p38"/>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00" name="Google Shape;800;p38"/>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01" name="Google Shape;801;p38"/>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02" name="Google Shape;802;p38"/>
            <p:cNvSpPr/>
            <p:nvPr/>
          </p:nvSpPr>
          <p:spPr>
            <a:xfrm>
              <a:off x="2284412" y="1310691"/>
              <a:ext cx="8854910"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Price Determination: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The offer price of the shares is determined through a bidding process. The investment bank may conduct a book-building process, where institutional and retail investors submit bids specifying the number of shares they want to buy and the price they are willing to pay.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03" name="Google Shape;803;p38"/>
          <p:cNvGrpSpPr/>
          <p:nvPr/>
        </p:nvGrpSpPr>
        <p:grpSpPr>
          <a:xfrm>
            <a:off x="820069" y="3735119"/>
            <a:ext cx="10366498" cy="1162884"/>
            <a:chOff x="820069" y="1243145"/>
            <a:chExt cx="10366498" cy="1162884"/>
          </a:xfrm>
        </p:grpSpPr>
        <p:grpSp>
          <p:nvGrpSpPr>
            <p:cNvPr id="804" name="Google Shape;804;p38"/>
            <p:cNvGrpSpPr/>
            <p:nvPr/>
          </p:nvGrpSpPr>
          <p:grpSpPr>
            <a:xfrm>
              <a:off x="820069" y="1243145"/>
              <a:ext cx="10366498" cy="1162884"/>
              <a:chOff x="715297" y="1149093"/>
              <a:chExt cx="10752804" cy="1362784"/>
            </a:xfrm>
          </p:grpSpPr>
          <p:sp>
            <p:nvSpPr>
              <p:cNvPr id="805" name="Google Shape;805;p38"/>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06" name="Google Shape;806;p38"/>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07" name="Google Shape;807;p38"/>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08" name="Google Shape;808;p38"/>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5</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09" name="Google Shape;809;p38"/>
            <p:cNvSpPr/>
            <p:nvPr/>
          </p:nvSpPr>
          <p:spPr>
            <a:xfrm>
              <a:off x="2284412" y="1409088"/>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Retail and Institutional Participation: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Both retail and institutional investors can participate in the OFS. Retail investors can bid at the floor price or above it, while institutional investors often submit their bids at specific price points.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10" name="Google Shape;810;p38"/>
          <p:cNvGrpSpPr/>
          <p:nvPr/>
        </p:nvGrpSpPr>
        <p:grpSpPr>
          <a:xfrm>
            <a:off x="820069" y="4981106"/>
            <a:ext cx="10366498" cy="1162884"/>
            <a:chOff x="820069" y="1243145"/>
            <a:chExt cx="10366498" cy="1162884"/>
          </a:xfrm>
        </p:grpSpPr>
        <p:grpSp>
          <p:nvGrpSpPr>
            <p:cNvPr id="811" name="Google Shape;811;p38"/>
            <p:cNvGrpSpPr/>
            <p:nvPr/>
          </p:nvGrpSpPr>
          <p:grpSpPr>
            <a:xfrm>
              <a:off x="820069" y="1243145"/>
              <a:ext cx="10366498" cy="1162884"/>
              <a:chOff x="715297" y="1149093"/>
              <a:chExt cx="10752804" cy="1362784"/>
            </a:xfrm>
          </p:grpSpPr>
          <p:sp>
            <p:nvSpPr>
              <p:cNvPr id="812" name="Google Shape;812;p38"/>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13" name="Google Shape;813;p38"/>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14" name="Google Shape;814;p38"/>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15" name="Google Shape;815;p38"/>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6</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16" name="Google Shape;816;p38"/>
            <p:cNvSpPr/>
            <p:nvPr/>
          </p:nvSpPr>
          <p:spPr>
            <a:xfrm>
              <a:off x="2284412" y="1409088"/>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Allotment: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Once the bidding process is complete, the allotment of shares is made based on the bids received. The shares are allocated to the highest bidders, starting with those who bid at the highest price.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820" name="Shape 820"/>
        <p:cNvGrpSpPr/>
        <p:nvPr/>
      </p:nvGrpSpPr>
      <p:grpSpPr>
        <a:xfrm>
          <a:off x="0" y="0"/>
          <a:ext cx="0" cy="0"/>
          <a:chOff x="0" y="0"/>
          <a:chExt cx="0" cy="0"/>
        </a:xfrm>
      </p:grpSpPr>
      <p:sp>
        <p:nvSpPr>
          <p:cNvPr id="821" name="Google Shape;821;p39"/>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OFFER FOR SALE (OFS) </a:t>
            </a:r>
            <a:endParaRPr lang="en-US"/>
          </a:p>
        </p:txBody>
      </p:sp>
      <p:grpSp>
        <p:nvGrpSpPr>
          <p:cNvPr id="822" name="Google Shape;822;p39"/>
          <p:cNvGrpSpPr/>
          <p:nvPr/>
        </p:nvGrpSpPr>
        <p:grpSpPr>
          <a:xfrm>
            <a:off x="820069" y="1243145"/>
            <a:ext cx="10366498" cy="1162884"/>
            <a:chOff x="820069" y="1243145"/>
            <a:chExt cx="10366498" cy="1162884"/>
          </a:xfrm>
        </p:grpSpPr>
        <p:grpSp>
          <p:nvGrpSpPr>
            <p:cNvPr id="823" name="Google Shape;823;p39"/>
            <p:cNvGrpSpPr/>
            <p:nvPr/>
          </p:nvGrpSpPr>
          <p:grpSpPr>
            <a:xfrm>
              <a:off x="820069" y="1243145"/>
              <a:ext cx="10366498" cy="1162884"/>
              <a:chOff x="715297" y="1149093"/>
              <a:chExt cx="10752804" cy="1362784"/>
            </a:xfrm>
          </p:grpSpPr>
          <p:sp>
            <p:nvSpPr>
              <p:cNvPr id="824" name="Google Shape;824;p39"/>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25" name="Google Shape;825;p39"/>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26" name="Google Shape;826;p39"/>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27" name="Google Shape;827;p39"/>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7</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28" name="Google Shape;828;p39"/>
            <p:cNvSpPr/>
            <p:nvPr/>
          </p:nvSpPr>
          <p:spPr>
            <a:xfrm>
              <a:off x="2284412" y="1409088"/>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Listing: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The shares allotted through the OFS are listed on the stock exchange and become tradable on the open market. Investors who receive shares can buy or sell them like any other publicly traded stock.</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29" name="Google Shape;829;p39"/>
          <p:cNvGrpSpPr/>
          <p:nvPr/>
        </p:nvGrpSpPr>
        <p:grpSpPr>
          <a:xfrm>
            <a:off x="820069" y="2489132"/>
            <a:ext cx="10366498" cy="1162884"/>
            <a:chOff x="820069" y="1243145"/>
            <a:chExt cx="10366498" cy="1162884"/>
          </a:xfrm>
        </p:grpSpPr>
        <p:grpSp>
          <p:nvGrpSpPr>
            <p:cNvPr id="830" name="Google Shape;830;p39"/>
            <p:cNvGrpSpPr/>
            <p:nvPr/>
          </p:nvGrpSpPr>
          <p:grpSpPr>
            <a:xfrm>
              <a:off x="820069" y="1243145"/>
              <a:ext cx="10366498" cy="1162884"/>
              <a:chOff x="715297" y="1149093"/>
              <a:chExt cx="10752804" cy="1362784"/>
            </a:xfrm>
          </p:grpSpPr>
          <p:sp>
            <p:nvSpPr>
              <p:cNvPr id="831" name="Google Shape;831;p39"/>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32" name="Google Shape;832;p39"/>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33" name="Google Shape;833;p39"/>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34" name="Google Shape;834;p39"/>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8</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35" name="Google Shape;835;p39"/>
            <p:cNvSpPr/>
            <p:nvPr/>
          </p:nvSpPr>
          <p:spPr>
            <a:xfrm>
              <a:off x="2284412" y="1409088"/>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Settlement: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The settlement process involves the transfer of funds from buyers to sellers and the transfer of shares from sellers to buyers. This typically occurs through the stock exchange's clearing and settlement system.</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36" name="Google Shape;836;p39"/>
          <p:cNvGrpSpPr/>
          <p:nvPr/>
        </p:nvGrpSpPr>
        <p:grpSpPr>
          <a:xfrm>
            <a:off x="820069" y="3735119"/>
            <a:ext cx="10366498" cy="1162884"/>
            <a:chOff x="820069" y="1243145"/>
            <a:chExt cx="10366498" cy="1162884"/>
          </a:xfrm>
        </p:grpSpPr>
        <p:grpSp>
          <p:nvGrpSpPr>
            <p:cNvPr id="837" name="Google Shape;837;p39"/>
            <p:cNvGrpSpPr/>
            <p:nvPr/>
          </p:nvGrpSpPr>
          <p:grpSpPr>
            <a:xfrm>
              <a:off x="820069" y="1243145"/>
              <a:ext cx="10366498" cy="1162884"/>
              <a:chOff x="715297" y="1149093"/>
              <a:chExt cx="10752804" cy="1362784"/>
            </a:xfrm>
          </p:grpSpPr>
          <p:sp>
            <p:nvSpPr>
              <p:cNvPr id="838" name="Google Shape;838;p39"/>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39" name="Google Shape;839;p39"/>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40" name="Google Shape;840;p39"/>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41" name="Google Shape;841;p39"/>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9</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42" name="Google Shape;842;p39"/>
            <p:cNvSpPr/>
            <p:nvPr/>
          </p:nvSpPr>
          <p:spPr>
            <a:xfrm>
              <a:off x="2284412" y="1409088"/>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Post-OFS Ownership: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After the OFS, the selling shareholders may still retain some ownership in the company, depending on how many shares they chose to sell. The company's public float may increase, helping it comply with regulatory requirements.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43" name="Google Shape;843;p39"/>
          <p:cNvGrpSpPr/>
          <p:nvPr/>
        </p:nvGrpSpPr>
        <p:grpSpPr>
          <a:xfrm>
            <a:off x="820069" y="4981106"/>
            <a:ext cx="10366498" cy="1162884"/>
            <a:chOff x="820069" y="1243145"/>
            <a:chExt cx="10366498" cy="1162884"/>
          </a:xfrm>
        </p:grpSpPr>
        <p:grpSp>
          <p:nvGrpSpPr>
            <p:cNvPr id="844" name="Google Shape;844;p39"/>
            <p:cNvGrpSpPr/>
            <p:nvPr/>
          </p:nvGrpSpPr>
          <p:grpSpPr>
            <a:xfrm>
              <a:off x="820069" y="1243145"/>
              <a:ext cx="10366498" cy="1162884"/>
              <a:chOff x="715297" y="1149093"/>
              <a:chExt cx="10752804" cy="1362784"/>
            </a:xfrm>
          </p:grpSpPr>
          <p:sp>
            <p:nvSpPr>
              <p:cNvPr id="845" name="Google Shape;845;p39"/>
              <p:cNvSpPr/>
              <p:nvPr/>
            </p:nvSpPr>
            <p:spPr>
              <a:xfrm>
                <a:off x="10960960" y="1149093"/>
                <a:ext cx="507141" cy="1362784"/>
              </a:xfrm>
              <a:prstGeom prst="rect">
                <a:avLst/>
              </a:prstGeom>
              <a:solidFill>
                <a:srgbClr val="2E75B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46" name="Google Shape;846;p39"/>
              <p:cNvSpPr/>
              <p:nvPr/>
            </p:nvSpPr>
            <p:spPr>
              <a:xfrm>
                <a:off x="1762640" y="1202615"/>
                <a:ext cx="9572359" cy="1266791"/>
              </a:xfrm>
              <a:prstGeom prst="rect">
                <a:avLst/>
              </a:prstGeom>
              <a:gradFill>
                <a:gsLst>
                  <a:gs pos="0">
                    <a:schemeClr val="lt1"/>
                  </a:gs>
                  <a:gs pos="100000">
                    <a:srgbClr val="F2F2F2"/>
                  </a:gs>
                </a:gsLst>
                <a:lin ang="5400000" scaled="0"/>
              </a:gra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4D4F53"/>
                  </a:solidFill>
                  <a:latin typeface="Arial" panose="020B0604020202020204"/>
                  <a:ea typeface="Arial" panose="020B0604020202020204"/>
                  <a:cs typeface="Arial" panose="020B0604020202020204"/>
                  <a:sym typeface="Arial" panose="020B0604020202020204"/>
                </a:endParaRPr>
              </a:p>
            </p:txBody>
          </p:sp>
          <p:sp>
            <p:nvSpPr>
              <p:cNvPr id="847" name="Google Shape;847;p39"/>
              <p:cNvSpPr/>
              <p:nvPr/>
            </p:nvSpPr>
            <p:spPr>
              <a:xfrm>
                <a:off x="715297" y="1199088"/>
                <a:ext cx="1427367" cy="1269231"/>
              </a:xfrm>
              <a:prstGeom prst="hexagon">
                <a:avLst>
                  <a:gd name="adj" fmla="val 25000"/>
                  <a:gd name="vf" fmla="val 115470"/>
                </a:avLst>
              </a:prstGeom>
              <a:solidFill>
                <a:schemeClr val="lt1"/>
              </a:solidFill>
              <a:ln w="38100" cap="flat" cmpd="sng">
                <a:solidFill>
                  <a:srgbClr val="2E75B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48" name="Google Shape;848;p39"/>
              <p:cNvSpPr txBox="1"/>
              <p:nvPr/>
            </p:nvSpPr>
            <p:spPr>
              <a:xfrm>
                <a:off x="933873" y="1448983"/>
                <a:ext cx="990215" cy="9017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panose="020B0604020202020204"/>
                  <a:buNone/>
                </a:pPr>
                <a:r>
                  <a:rPr lang="en-US" sz="4400" b="0" i="0" u="none" strike="noStrike" cap="none">
                    <a:solidFill>
                      <a:schemeClr val="dk1"/>
                    </a:solidFill>
                    <a:latin typeface="Arial" panose="020B0604020202020204"/>
                    <a:ea typeface="Arial" panose="020B0604020202020204"/>
                    <a:cs typeface="Arial" panose="020B0604020202020204"/>
                    <a:sym typeface="Arial" panose="020B0604020202020204"/>
                  </a:rPr>
                  <a:t>10</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849" name="Google Shape;849;p39"/>
            <p:cNvSpPr/>
            <p:nvPr/>
          </p:nvSpPr>
          <p:spPr>
            <a:xfrm>
              <a:off x="2284412" y="1409088"/>
              <a:ext cx="885491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Disclosure: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Companies and selling shareholders are required to disclose details of the OFS, including the offer document, financial information, and any material information that investors should be aware of before participating in the offer.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853" name="Shape 853"/>
        <p:cNvGrpSpPr/>
        <p:nvPr/>
      </p:nvGrpSpPr>
      <p:grpSpPr>
        <a:xfrm>
          <a:off x="0" y="0"/>
          <a:ext cx="0" cy="0"/>
          <a:chOff x="0" y="0"/>
          <a:chExt cx="0" cy="0"/>
        </a:xfrm>
      </p:grpSpPr>
      <p:sp>
        <p:nvSpPr>
          <p:cNvPr id="854" name="Google Shape;854;p40"/>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2200"/>
              <a:buFont typeface="Arial" panose="020B0604020202020204"/>
              <a:buNone/>
            </a:pPr>
            <a:r>
              <a:rPr lang="en-US">
                <a:solidFill>
                  <a:srgbClr val="323F4F"/>
                </a:solidFill>
              </a:rPr>
              <a:t>DIFFERENCE BETWEEN FRESH NEW SHARES ISSUE &amp; OFS</a:t>
            </a:r>
            <a:endParaRPr>
              <a:solidFill>
                <a:srgbClr val="323F4F"/>
              </a:solidFill>
            </a:endParaRPr>
          </a:p>
        </p:txBody>
      </p:sp>
      <p:sp>
        <p:nvSpPr>
          <p:cNvPr id="855" name="Google Shape;855;p40"/>
          <p:cNvSpPr/>
          <p:nvPr/>
        </p:nvSpPr>
        <p:spPr>
          <a:xfrm>
            <a:off x="0" y="1297172"/>
            <a:ext cx="12269972" cy="716422"/>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An Offer for Sale (OFS) Public Offering and a Fresh New Shares Issue Public Offering  are both methods of raising capital by selling shares of a company to the public, but they differ in several key ways:</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nvGrpSpPr>
          <p:cNvPr id="856" name="Google Shape;856;p40"/>
          <p:cNvGrpSpPr/>
          <p:nvPr/>
        </p:nvGrpSpPr>
        <p:grpSpPr>
          <a:xfrm>
            <a:off x="1052623" y="2387009"/>
            <a:ext cx="10086754" cy="2854842"/>
            <a:chOff x="1052623" y="2387009"/>
            <a:chExt cx="10086754" cy="2854842"/>
          </a:xfrm>
        </p:grpSpPr>
        <p:sp>
          <p:nvSpPr>
            <p:cNvPr id="857" name="Google Shape;857;p40"/>
            <p:cNvSpPr/>
            <p:nvPr/>
          </p:nvSpPr>
          <p:spPr>
            <a:xfrm>
              <a:off x="3974804" y="2387009"/>
              <a:ext cx="4242391" cy="40403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Timing and Purpose: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8" name="Google Shape;858;p40"/>
            <p:cNvSpPr/>
            <p:nvPr/>
          </p:nvSpPr>
          <p:spPr>
            <a:xfrm>
              <a:off x="1052623" y="2791046"/>
              <a:ext cx="5043377" cy="2450805"/>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59" name="Google Shape;859;p40"/>
            <p:cNvSpPr/>
            <p:nvPr/>
          </p:nvSpPr>
          <p:spPr>
            <a:xfrm>
              <a:off x="6096000" y="2791046"/>
              <a:ext cx="5043377" cy="2450805"/>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60" name="Google Shape;860;p40"/>
            <p:cNvSpPr txBox="1"/>
            <p:nvPr/>
          </p:nvSpPr>
          <p:spPr>
            <a:xfrm>
              <a:off x="1233377" y="2955851"/>
              <a:ext cx="4678325" cy="13220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Fresh Issue :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An Fresh Shares Issue  is the time a company goes public and issues shares to the general public.  The primary objective of an Fresh Shares Issue  is to raise capital for growth, expansion, or other corporate purpose.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1" name="Google Shape;861;p40"/>
            <p:cNvSpPr txBox="1"/>
            <p:nvPr/>
          </p:nvSpPr>
          <p:spPr>
            <a:xfrm>
              <a:off x="6276754" y="2914588"/>
              <a:ext cx="4678325"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OFS: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An OFS, on the other hand, is when existing shareholders of a publicly traded company sell their shares to the public. The primary purpose is often to provide liquidity to existing shareholders, such as promoters, founders, or large investors, rather than raising capital for the company itself. OFS can also help companies meet regulatory requirements for minimum public shareholding.</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865" name="Shape 865"/>
        <p:cNvGrpSpPr/>
        <p:nvPr/>
      </p:nvGrpSpPr>
      <p:grpSpPr>
        <a:xfrm>
          <a:off x="0" y="0"/>
          <a:ext cx="0" cy="0"/>
          <a:chOff x="0" y="0"/>
          <a:chExt cx="0" cy="0"/>
        </a:xfrm>
      </p:grpSpPr>
      <p:sp>
        <p:nvSpPr>
          <p:cNvPr id="866" name="Google Shape;866;p41"/>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2200"/>
              <a:buFont typeface="Arial" panose="020B0604020202020204"/>
              <a:buNone/>
            </a:pPr>
            <a:r>
              <a:rPr lang="en-US">
                <a:solidFill>
                  <a:srgbClr val="323F4F"/>
                </a:solidFill>
              </a:rPr>
              <a:t>DIFFERENCE BETWEEN FRESH NEW SHARES ISSUE &amp; OFS</a:t>
            </a:r>
            <a:endParaRPr>
              <a:solidFill>
                <a:srgbClr val="323F4F"/>
              </a:solidFill>
            </a:endParaRPr>
          </a:p>
        </p:txBody>
      </p:sp>
      <p:grpSp>
        <p:nvGrpSpPr>
          <p:cNvPr id="867" name="Google Shape;867;p41"/>
          <p:cNvGrpSpPr/>
          <p:nvPr/>
        </p:nvGrpSpPr>
        <p:grpSpPr>
          <a:xfrm>
            <a:off x="914973" y="1121291"/>
            <a:ext cx="10086754" cy="2630052"/>
            <a:chOff x="1052623" y="2387009"/>
            <a:chExt cx="10086754" cy="2630052"/>
          </a:xfrm>
        </p:grpSpPr>
        <p:sp>
          <p:nvSpPr>
            <p:cNvPr id="868" name="Google Shape;868;p41"/>
            <p:cNvSpPr/>
            <p:nvPr/>
          </p:nvSpPr>
          <p:spPr>
            <a:xfrm>
              <a:off x="3974804" y="2387009"/>
              <a:ext cx="4242391" cy="404037"/>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Ownership Change: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9" name="Google Shape;869;p41"/>
            <p:cNvSpPr/>
            <p:nvPr/>
          </p:nvSpPr>
          <p:spPr>
            <a:xfrm>
              <a:off x="1052623" y="2791046"/>
              <a:ext cx="5043377" cy="2073793"/>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70" name="Google Shape;870;p41"/>
            <p:cNvSpPr/>
            <p:nvPr/>
          </p:nvSpPr>
          <p:spPr>
            <a:xfrm>
              <a:off x="6096000" y="2791046"/>
              <a:ext cx="5043377" cy="2073793"/>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71" name="Google Shape;871;p41"/>
            <p:cNvSpPr txBox="1"/>
            <p:nvPr/>
          </p:nvSpPr>
          <p:spPr>
            <a:xfrm>
              <a:off x="1233377" y="2955851"/>
              <a:ext cx="4773445" cy="20612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Fresh Issue :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 an Fresh Shares Issue Public Offering, the ownership structure of the company typically changes significantly. New shareholders, including retail and institutional investors, become part-owners of the company. The company's founders and early investors may retain a portion of their shares but often have reduced ownership percentages.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2" name="Google Shape;872;p41"/>
            <p:cNvSpPr txBox="1"/>
            <p:nvPr/>
          </p:nvSpPr>
          <p:spPr>
            <a:xfrm>
              <a:off x="6276754" y="2914588"/>
              <a:ext cx="4678325" cy="18158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OFS: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 an OFS, the ownership structure of the company remains largely the same. Existing shareholders are selling their shares to the public, but the company itself is not issuing new shares or raising capital. The percentage ownership of the existing shareholders decreases as they sell their shares to new investors.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873" name="Google Shape;873;p41"/>
          <p:cNvGrpSpPr/>
          <p:nvPr/>
        </p:nvGrpSpPr>
        <p:grpSpPr>
          <a:xfrm>
            <a:off x="914973" y="4003158"/>
            <a:ext cx="10086754" cy="2384724"/>
            <a:chOff x="1052623" y="2387009"/>
            <a:chExt cx="10086754" cy="2384724"/>
          </a:xfrm>
        </p:grpSpPr>
        <p:sp>
          <p:nvSpPr>
            <p:cNvPr id="874" name="Google Shape;874;p41"/>
            <p:cNvSpPr/>
            <p:nvPr/>
          </p:nvSpPr>
          <p:spPr>
            <a:xfrm>
              <a:off x="3974804" y="2387009"/>
              <a:ext cx="4242391" cy="40403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Regulatory Requirements: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5" name="Google Shape;875;p41"/>
            <p:cNvSpPr/>
            <p:nvPr/>
          </p:nvSpPr>
          <p:spPr>
            <a:xfrm>
              <a:off x="1052623" y="2791046"/>
              <a:ext cx="5043377" cy="1980687"/>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76" name="Google Shape;876;p41"/>
            <p:cNvSpPr/>
            <p:nvPr/>
          </p:nvSpPr>
          <p:spPr>
            <a:xfrm>
              <a:off x="6096000" y="2791046"/>
              <a:ext cx="5043377" cy="1980687"/>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77" name="Google Shape;877;p41"/>
            <p:cNvSpPr txBox="1"/>
            <p:nvPr/>
          </p:nvSpPr>
          <p:spPr>
            <a:xfrm>
              <a:off x="1233377" y="2955851"/>
              <a:ext cx="4678200" cy="1814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Fresh Issue :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An IPO involves extensive regulatory requirements and disclosures. Companies must prepare detailed prospectuses or offering documents that provide information about their financials, business operations, risks, and future prospects. This information is made available to the public for due diligence.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8" name="Google Shape;878;p41"/>
            <p:cNvSpPr txBox="1"/>
            <p:nvPr/>
          </p:nvSpPr>
          <p:spPr>
            <a:xfrm>
              <a:off x="6276754" y="2914588"/>
              <a:ext cx="4678200" cy="1568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OFS: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While there are regulatory requirements for OFS as well, they are generally less onerous than those for an Fresh Issue. The focus of the disclosures is primarily on the selling shareholders and the offer itself, rather than the company's financial and operational details.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882" name="Shape 882"/>
        <p:cNvGrpSpPr/>
        <p:nvPr/>
      </p:nvGrpSpPr>
      <p:grpSpPr>
        <a:xfrm>
          <a:off x="0" y="0"/>
          <a:ext cx="0" cy="0"/>
          <a:chOff x="0" y="0"/>
          <a:chExt cx="0" cy="0"/>
        </a:xfrm>
      </p:grpSpPr>
      <p:sp>
        <p:nvSpPr>
          <p:cNvPr id="883" name="Google Shape;883;p42"/>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2200"/>
              <a:buFont typeface="Arial" panose="020B0604020202020204"/>
              <a:buNone/>
            </a:pPr>
            <a:r>
              <a:rPr lang="en-US">
                <a:solidFill>
                  <a:srgbClr val="323F4F"/>
                </a:solidFill>
              </a:rPr>
              <a:t>DIFFERENCE BETWEEN FRESH NEW SHARES ISSUE &amp; OFS</a:t>
            </a:r>
            <a:endParaRPr>
              <a:solidFill>
                <a:srgbClr val="323F4F"/>
              </a:solidFill>
            </a:endParaRPr>
          </a:p>
        </p:txBody>
      </p:sp>
      <p:grpSp>
        <p:nvGrpSpPr>
          <p:cNvPr id="884" name="Google Shape;884;p42"/>
          <p:cNvGrpSpPr/>
          <p:nvPr/>
        </p:nvGrpSpPr>
        <p:grpSpPr>
          <a:xfrm>
            <a:off x="1052622" y="1367900"/>
            <a:ext cx="10086754" cy="2062550"/>
            <a:chOff x="1052623" y="2387009"/>
            <a:chExt cx="10086754" cy="2062550"/>
          </a:xfrm>
        </p:grpSpPr>
        <p:sp>
          <p:nvSpPr>
            <p:cNvPr id="885" name="Google Shape;885;p42"/>
            <p:cNvSpPr/>
            <p:nvPr/>
          </p:nvSpPr>
          <p:spPr>
            <a:xfrm>
              <a:off x="3974804" y="2387009"/>
              <a:ext cx="4242391" cy="404037"/>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Fund Utilization: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6" name="Google Shape;886;p42"/>
            <p:cNvSpPr/>
            <p:nvPr/>
          </p:nvSpPr>
          <p:spPr>
            <a:xfrm>
              <a:off x="1052623" y="2791046"/>
              <a:ext cx="5043377" cy="1393623"/>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87" name="Google Shape;887;p42"/>
            <p:cNvSpPr/>
            <p:nvPr/>
          </p:nvSpPr>
          <p:spPr>
            <a:xfrm>
              <a:off x="6096000" y="2791046"/>
              <a:ext cx="5043377" cy="1393623"/>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88" name="Google Shape;888;p42"/>
            <p:cNvSpPr txBox="1"/>
            <p:nvPr/>
          </p:nvSpPr>
          <p:spPr>
            <a:xfrm>
              <a:off x="1233376" y="2879659"/>
              <a:ext cx="4759800" cy="1569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Fresh Issue: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 an Fresh Issue Public Offering, the funds raised go directly to the company, and they can be used for various corporate purposes, such as research and development, debt reduction, or expansion.</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accent1"/>
                </a:solidFill>
                <a:latin typeface="Arial" panose="020B0604020202020204"/>
                <a:ea typeface="Arial" panose="020B0604020202020204"/>
                <a:cs typeface="Arial" panose="020B0604020202020204"/>
                <a:sym typeface="Arial" panose="020B0604020202020204"/>
              </a:endParaRPr>
            </a:p>
          </p:txBody>
        </p:sp>
        <p:sp>
          <p:nvSpPr>
            <p:cNvPr id="889" name="Google Shape;889;p42"/>
            <p:cNvSpPr txBox="1"/>
            <p:nvPr/>
          </p:nvSpPr>
          <p:spPr>
            <a:xfrm>
              <a:off x="6276754" y="2838388"/>
              <a:ext cx="4678200" cy="1323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OFS: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 an OFS, the funds raised (if any) go to the selling shareholders, not the company. The company itself does not receive capital from the sale of existing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890" name="Google Shape;890;p42"/>
          <p:cNvGrpSpPr/>
          <p:nvPr/>
        </p:nvGrpSpPr>
        <p:grpSpPr>
          <a:xfrm>
            <a:off x="1052623" y="3424986"/>
            <a:ext cx="10086754" cy="1797662"/>
            <a:chOff x="1052623" y="2387009"/>
            <a:chExt cx="10086754" cy="1797662"/>
          </a:xfrm>
        </p:grpSpPr>
        <p:sp>
          <p:nvSpPr>
            <p:cNvPr id="891" name="Google Shape;891;p42"/>
            <p:cNvSpPr/>
            <p:nvPr/>
          </p:nvSpPr>
          <p:spPr>
            <a:xfrm>
              <a:off x="3974804" y="2387009"/>
              <a:ext cx="4242391" cy="404037"/>
            </a:xfrm>
            <a:prstGeom prst="rect">
              <a:avLst/>
            </a:prstGeom>
            <a:solidFill>
              <a:srgbClr val="309C7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5. Public Issue Costs: </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92" name="Google Shape;892;p42"/>
            <p:cNvSpPr/>
            <p:nvPr/>
          </p:nvSpPr>
          <p:spPr>
            <a:xfrm>
              <a:off x="1052623" y="2791047"/>
              <a:ext cx="5043377" cy="1393624"/>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93" name="Google Shape;893;p42"/>
            <p:cNvSpPr/>
            <p:nvPr/>
          </p:nvSpPr>
          <p:spPr>
            <a:xfrm>
              <a:off x="6096000" y="2791047"/>
              <a:ext cx="5043377" cy="1393624"/>
            </a:xfrm>
            <a:prstGeom prst="rect">
              <a:avLst/>
            </a:prstGeom>
            <a:solidFill>
              <a:schemeClr val="lt2"/>
            </a:solidFill>
            <a:ln w="12700" cap="flat" cmpd="sng">
              <a:solidFill>
                <a:srgbClr val="AEABA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894" name="Google Shape;894;p42"/>
            <p:cNvSpPr txBox="1"/>
            <p:nvPr/>
          </p:nvSpPr>
          <p:spPr>
            <a:xfrm>
              <a:off x="1233377" y="2955851"/>
              <a:ext cx="4678200" cy="107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Fresh Issue :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Typically, Fresh Shares Public Issue Costs like Underwriting/Regulatory Fees/Listing Fees/Marketing Costs are borne by the Issuing Company</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895" name="Google Shape;895;p42"/>
            <p:cNvSpPr txBox="1"/>
            <p:nvPr/>
          </p:nvSpPr>
          <p:spPr>
            <a:xfrm>
              <a:off x="6276754" y="2914588"/>
              <a:ext cx="46782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OFS: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OFS public issue costs are borne by Selling Investors .</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896" name="Google Shape;896;p42"/>
          <p:cNvSpPr/>
          <p:nvPr/>
        </p:nvSpPr>
        <p:spPr>
          <a:xfrm>
            <a:off x="1052623" y="5613719"/>
            <a:ext cx="10163527" cy="1063256"/>
          </a:xfrm>
          <a:prstGeom prst="roundRect">
            <a:avLst>
              <a:gd name="adj" fmla="val 16667"/>
            </a:avLst>
          </a:prstGeom>
          <a:solidFill>
            <a:srgbClr val="1463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In summary, an Fresh Issue Public Offering is the process by which an Issuing company raising capital for the Business Purposes, whereas an OFS involves the sale of existing shares of a company by its current shareholders to the public. The key distinction is the timing, purpose, and impact on ownership and funding.</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900" name="Shape 900"/>
        <p:cNvGrpSpPr/>
        <p:nvPr/>
      </p:nvGrpSpPr>
      <p:grpSpPr>
        <a:xfrm>
          <a:off x="0" y="0"/>
          <a:ext cx="0" cy="0"/>
          <a:chOff x="0" y="0"/>
          <a:chExt cx="0" cy="0"/>
        </a:xfrm>
      </p:grpSpPr>
      <p:sp>
        <p:nvSpPr>
          <p:cNvPr id="901" name="Google Shape;901;p43"/>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PRIMARY MARKET</a:t>
            </a:r>
            <a:endParaRPr lang="en-US"/>
          </a:p>
        </p:txBody>
      </p:sp>
      <p:grpSp>
        <p:nvGrpSpPr>
          <p:cNvPr id="902" name="Google Shape;902;p43"/>
          <p:cNvGrpSpPr/>
          <p:nvPr/>
        </p:nvGrpSpPr>
        <p:grpSpPr>
          <a:xfrm>
            <a:off x="0" y="2438708"/>
            <a:ext cx="11880584" cy="3849168"/>
            <a:chOff x="1989865" y="4562449"/>
            <a:chExt cx="23761168" cy="7698335"/>
          </a:xfrm>
        </p:grpSpPr>
        <p:sp>
          <p:nvSpPr>
            <p:cNvPr id="903" name="Google Shape;903;p43"/>
            <p:cNvSpPr/>
            <p:nvPr/>
          </p:nvSpPr>
          <p:spPr>
            <a:xfrm>
              <a:off x="2359405" y="4562449"/>
              <a:ext cx="5599392" cy="7698335"/>
            </a:xfrm>
            <a:custGeom>
              <a:avLst/>
              <a:gdLst/>
              <a:ahLst/>
              <a:cxnLst/>
              <a:rect l="l" t="t" r="r" b="b"/>
              <a:pathLst>
                <a:path w="1970" h="2719" extrusionOk="0">
                  <a:moveTo>
                    <a:pt x="0" y="2575"/>
                  </a:moveTo>
                  <a:cubicBezTo>
                    <a:pt x="183" y="2667"/>
                    <a:pt x="391" y="2719"/>
                    <a:pt x="610" y="2719"/>
                  </a:cubicBezTo>
                  <a:cubicBezTo>
                    <a:pt x="1361" y="2719"/>
                    <a:pt x="1970" y="2111"/>
                    <a:pt x="1970" y="1360"/>
                  </a:cubicBezTo>
                  <a:cubicBezTo>
                    <a:pt x="1970" y="608"/>
                    <a:pt x="1361" y="0"/>
                    <a:pt x="610" y="0"/>
                  </a:cubicBezTo>
                  <a:cubicBezTo>
                    <a:pt x="391" y="0"/>
                    <a:pt x="183" y="52"/>
                    <a:pt x="0" y="144"/>
                  </a:cubicBezTo>
                </a:path>
              </a:pathLst>
            </a:custGeom>
            <a:noFill/>
            <a:ln w="25400" cap="flat" cmpd="sng">
              <a:solidFill>
                <a:srgbClr val="D8D8D8"/>
              </a:solidFill>
              <a:prstDash val="solid"/>
              <a:miter lim="800000"/>
              <a:headEnd type="none" w="sm" len="sm"/>
              <a:tailEnd type="none" w="sm" len="sm"/>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904" name="Google Shape;904;p43"/>
            <p:cNvCxnSpPr/>
            <p:nvPr/>
          </p:nvCxnSpPr>
          <p:spPr>
            <a:xfrm>
              <a:off x="7958797" y="7408758"/>
              <a:ext cx="1471082" cy="1"/>
            </a:xfrm>
            <a:prstGeom prst="straightConnector1">
              <a:avLst/>
            </a:prstGeom>
            <a:noFill/>
            <a:ln w="9525" cap="flat" cmpd="sng">
              <a:solidFill>
                <a:srgbClr val="D8D8D8"/>
              </a:solidFill>
              <a:prstDash val="solid"/>
              <a:miter lim="800000"/>
              <a:headEnd type="none" w="sm" len="sm"/>
              <a:tailEnd type="none" w="sm" len="sm"/>
            </a:ln>
          </p:spPr>
        </p:cxnSp>
        <p:cxnSp>
          <p:nvCxnSpPr>
            <p:cNvPr id="905" name="Google Shape;905;p43"/>
            <p:cNvCxnSpPr/>
            <p:nvPr/>
          </p:nvCxnSpPr>
          <p:spPr>
            <a:xfrm>
              <a:off x="7958797" y="9397578"/>
              <a:ext cx="1471082" cy="1"/>
            </a:xfrm>
            <a:prstGeom prst="straightConnector1">
              <a:avLst/>
            </a:prstGeom>
            <a:noFill/>
            <a:ln w="9525" cap="flat" cmpd="sng">
              <a:solidFill>
                <a:srgbClr val="D8D8D8"/>
              </a:solidFill>
              <a:prstDash val="solid"/>
              <a:miter lim="800000"/>
              <a:headEnd type="none" w="sm" len="sm"/>
              <a:tailEnd type="none" w="sm" len="sm"/>
            </a:ln>
          </p:spPr>
        </p:cxnSp>
        <p:sp>
          <p:nvSpPr>
            <p:cNvPr id="906" name="Google Shape;906;p43"/>
            <p:cNvSpPr/>
            <p:nvPr/>
          </p:nvSpPr>
          <p:spPr>
            <a:xfrm>
              <a:off x="7589258" y="7202657"/>
              <a:ext cx="456186" cy="453947"/>
            </a:xfrm>
            <a:prstGeom prst="ellipse">
              <a:avLst/>
            </a:prstGeom>
            <a:solidFill>
              <a:schemeClr val="accent5"/>
            </a:solid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7" name="Google Shape;907;p43"/>
            <p:cNvSpPr/>
            <p:nvPr/>
          </p:nvSpPr>
          <p:spPr>
            <a:xfrm>
              <a:off x="9799418" y="5189567"/>
              <a:ext cx="1634043" cy="1584527"/>
            </a:xfrm>
            <a:prstGeom prst="ellipse">
              <a:avLst/>
            </a:prstGeom>
            <a:solidFill>
              <a:schemeClr val="accent5"/>
            </a:solidFill>
            <a:ln>
              <a:noFill/>
            </a:ln>
          </p:spPr>
          <p:txBody>
            <a:bodyPr spcFirstLastPara="1" wrap="square" lIns="91425" tIns="45700" rIns="0" bIns="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endParaRPr sz="16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08" name="Google Shape;908;p43"/>
            <p:cNvSpPr/>
            <p:nvPr/>
          </p:nvSpPr>
          <p:spPr>
            <a:xfrm>
              <a:off x="7589258" y="9166628"/>
              <a:ext cx="456186" cy="453947"/>
            </a:xfrm>
            <a:prstGeom prst="ellipse">
              <a:avLst/>
            </a:prstGeom>
            <a:solidFill>
              <a:schemeClr val="accent3"/>
            </a:solid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9" name="Google Shape;909;p43"/>
            <p:cNvSpPr/>
            <p:nvPr/>
          </p:nvSpPr>
          <p:spPr>
            <a:xfrm>
              <a:off x="9799418" y="7153539"/>
              <a:ext cx="1634043" cy="1584527"/>
            </a:xfrm>
            <a:prstGeom prst="ellipse">
              <a:avLst/>
            </a:prstGeom>
            <a:solidFill>
              <a:schemeClr val="accent3"/>
            </a:solidFill>
            <a:ln>
              <a:noFill/>
            </a:ln>
          </p:spPr>
          <p:txBody>
            <a:bodyPr spcFirstLastPara="1" wrap="square" lIns="91425" tIns="45700" rIns="0" bIns="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endParaRPr sz="16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10" name="Google Shape;910;p43"/>
            <p:cNvSpPr/>
            <p:nvPr/>
          </p:nvSpPr>
          <p:spPr>
            <a:xfrm>
              <a:off x="1989865" y="6609099"/>
              <a:ext cx="3983916" cy="3823118"/>
            </a:xfrm>
            <a:prstGeom prst="ellipse">
              <a:avLst/>
            </a:prstGeom>
            <a:solidFill>
              <a:srgbClr val="D5DB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Functions of the Primary Market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1" name="Google Shape;911;p43"/>
            <p:cNvSpPr txBox="1"/>
            <p:nvPr/>
          </p:nvSpPr>
          <p:spPr>
            <a:xfrm>
              <a:off x="11803003" y="7371242"/>
              <a:ext cx="13948030" cy="21544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Initial Public Offerings (IPOs):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The primary market is where companies conduct initial public offerings (IPOs) when they decide to become publicly traded companies. During an IPO, shares of the company are offered to the public for the first time, allowing the company to raise equity capital.</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2" name="Google Shape;912;p43"/>
            <p:cNvSpPr txBox="1"/>
            <p:nvPr/>
          </p:nvSpPr>
          <p:spPr>
            <a:xfrm>
              <a:off x="11803001" y="4964489"/>
              <a:ext cx="13948032" cy="21544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Capital Formation: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The primary function of the primary market is to facilitate the raising of capital by companies and governments. By issuing new securities, these entities can raise funds to finance their operations, investments, and growth initiatives.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3" name="Google Shape;913;p43"/>
            <p:cNvSpPr/>
            <p:nvPr/>
          </p:nvSpPr>
          <p:spPr>
            <a:xfrm>
              <a:off x="9981667" y="5515941"/>
              <a:ext cx="12906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rPr>
                <a:t>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4" name="Google Shape;914;p43"/>
            <p:cNvSpPr/>
            <p:nvPr/>
          </p:nvSpPr>
          <p:spPr>
            <a:xfrm>
              <a:off x="9981667" y="7557224"/>
              <a:ext cx="1290674"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rPr>
                <a:t>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15" name="Google Shape;915;p43"/>
          <p:cNvSpPr/>
          <p:nvPr/>
        </p:nvSpPr>
        <p:spPr>
          <a:xfrm>
            <a:off x="0" y="1224343"/>
            <a:ext cx="12192000" cy="1077218"/>
          </a:xfrm>
          <a:prstGeom prst="roundRect">
            <a:avLst>
              <a:gd name="adj" fmla="val 0"/>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The </a:t>
            </a: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primary market</a:t>
            </a: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 also known as the new issue market, is the financial market where new securities, such as stocks, bonds, and other financial instruments, are issued and sold by companies, governments, or other entities to raise capital. In the primary market, New Fresh Issue of securities are directly offered to investors, and the proceeds from the sale of these securities go to the issuing entity and in case of OFS Public Issue, the sale proceeds go to the selling investors.</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16" name="Google Shape;916;p43"/>
          <p:cNvSpPr/>
          <p:nvPr/>
        </p:nvSpPr>
        <p:spPr>
          <a:xfrm>
            <a:off x="3955577" y="4880428"/>
            <a:ext cx="817022" cy="792264"/>
          </a:xfrm>
          <a:prstGeom prst="ellipse">
            <a:avLst/>
          </a:prstGeom>
          <a:solidFill>
            <a:schemeClr val="accent4"/>
          </a:solidFill>
          <a:ln>
            <a:noFill/>
          </a:ln>
        </p:spPr>
        <p:txBody>
          <a:bodyPr spcFirstLastPara="1" wrap="square" lIns="91425" tIns="45700" rIns="0" bIns="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endParaRPr sz="16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17" name="Google Shape;917;p43"/>
          <p:cNvSpPr txBox="1"/>
          <p:nvPr/>
        </p:nvSpPr>
        <p:spPr>
          <a:xfrm>
            <a:off x="4957369" y="4989280"/>
            <a:ext cx="69741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Follow on Public Offerings (FPOs):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a:t>
            </a: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primary market, listed companies can also raise capital through FPOs when they need more capital for growth companies. </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18" name="Google Shape;918;p43"/>
          <p:cNvSpPr/>
          <p:nvPr/>
        </p:nvSpPr>
        <p:spPr>
          <a:xfrm>
            <a:off x="4046701" y="5082271"/>
            <a:ext cx="645337" cy="4603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rPr>
              <a:t>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922" name="Shape 922"/>
        <p:cNvGrpSpPr/>
        <p:nvPr/>
      </p:nvGrpSpPr>
      <p:grpSpPr>
        <a:xfrm>
          <a:off x="0" y="0"/>
          <a:ext cx="0" cy="0"/>
          <a:chOff x="0" y="0"/>
          <a:chExt cx="0" cy="0"/>
        </a:xfrm>
      </p:grpSpPr>
      <p:sp>
        <p:nvSpPr>
          <p:cNvPr id="923" name="Google Shape;923;p44"/>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SECONDARY MARKET </a:t>
            </a:r>
            <a:endParaRPr lang="en-US"/>
          </a:p>
        </p:txBody>
      </p:sp>
      <p:grpSp>
        <p:nvGrpSpPr>
          <p:cNvPr id="924" name="Google Shape;924;p44"/>
          <p:cNvGrpSpPr/>
          <p:nvPr/>
        </p:nvGrpSpPr>
        <p:grpSpPr>
          <a:xfrm>
            <a:off x="515028" y="3826023"/>
            <a:ext cx="11100023" cy="1036320"/>
            <a:chOff x="700550" y="1344613"/>
            <a:chExt cx="11100023" cy="1036320"/>
          </a:xfrm>
        </p:grpSpPr>
        <p:sp>
          <p:nvSpPr>
            <p:cNvPr id="925" name="Google Shape;925;p44"/>
            <p:cNvSpPr/>
            <p:nvPr/>
          </p:nvSpPr>
          <p:spPr>
            <a:xfrm>
              <a:off x="700550" y="1344613"/>
              <a:ext cx="11007262" cy="1036320"/>
            </a:xfrm>
            <a:prstGeom prst="rect">
              <a:avLst/>
            </a:prstGeom>
            <a:solidFill>
              <a:schemeClr val="dk2"/>
            </a:solidFill>
            <a:ln w="12700" cap="flat" cmpd="sng">
              <a:solidFill>
                <a:schemeClr val="dk2"/>
              </a:solidFill>
              <a:prstDash val="solid"/>
              <a:miter lim="800000"/>
              <a:headEnd type="none" w="sm" len="sm"/>
              <a:tailEnd type="none" w="sm" len="sm"/>
            </a:ln>
          </p:spPr>
          <p:txBody>
            <a:bodyPr spcFirstLastPara="1" wrap="square" lIns="144000"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lt1"/>
                  </a:solidFill>
                  <a:latin typeface="Arial" panose="020B0604020202020204"/>
                  <a:ea typeface="Arial" panose="020B0604020202020204"/>
                  <a:cs typeface="Arial" panose="020B0604020202020204"/>
                  <a:sym typeface="Arial" panose="020B0604020202020204"/>
                </a:rPr>
                <a:t>01</a:t>
              </a:r>
              <a:endParaRPr sz="32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26" name="Google Shape;926;p44"/>
            <p:cNvSpPr/>
            <p:nvPr/>
          </p:nvSpPr>
          <p:spPr>
            <a:xfrm>
              <a:off x="1550894" y="1452282"/>
              <a:ext cx="10249679" cy="820982"/>
            </a:xfrm>
            <a:prstGeom prst="roundRect">
              <a:avLst>
                <a:gd name="adj" fmla="val 16667"/>
              </a:avLst>
            </a:prstGeom>
            <a:solidFill>
              <a:schemeClr val="lt1"/>
            </a:solidFill>
            <a:ln>
              <a:noFill/>
            </a:ln>
          </p:spPr>
          <p:txBody>
            <a:bodyPr spcFirstLastPara="1" wrap="square" lIns="144000" tIns="0" rIns="0" bIns="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Liquidity: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One of the primary functions of the secondary market is to provide liquidity to investors. Investors can buy and sell securities quickly and easily, converting their investments into cash whenever needed. This liquidity is essential for the efficient allocation of capital.</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27" name="Google Shape;927;p44"/>
          <p:cNvSpPr/>
          <p:nvPr/>
        </p:nvSpPr>
        <p:spPr>
          <a:xfrm>
            <a:off x="0" y="1214470"/>
            <a:ext cx="12192000" cy="1484663"/>
          </a:xfrm>
          <a:prstGeom prst="roundRect">
            <a:avLst>
              <a:gd name="adj" fmla="val 0"/>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The </a:t>
            </a: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secondary market</a:t>
            </a: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 also known as the aftermarket, is the financial market where previously issued securities, such as stocks, bonds, and other financial instruments, are bought and sold among investors. Unlike the primary market, where new securities are issued and sold to raise capital, the secondary market involves the trading of existing securities between investors. The secondary market plays a crucial role in providing liquidity, price discovery, and continuous trading opportunities for investors.</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28" name="Google Shape;928;p44"/>
          <p:cNvSpPr/>
          <p:nvPr/>
        </p:nvSpPr>
        <p:spPr>
          <a:xfrm>
            <a:off x="4150595" y="3244334"/>
            <a:ext cx="417293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Functions of the Secondary Market: </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929" name="Google Shape;929;p44"/>
          <p:cNvGrpSpPr/>
          <p:nvPr/>
        </p:nvGrpSpPr>
        <p:grpSpPr>
          <a:xfrm>
            <a:off x="515028" y="5074700"/>
            <a:ext cx="11100023" cy="1036320"/>
            <a:chOff x="700550" y="1344613"/>
            <a:chExt cx="11100023" cy="1036320"/>
          </a:xfrm>
        </p:grpSpPr>
        <p:sp>
          <p:nvSpPr>
            <p:cNvPr id="930" name="Google Shape;930;p44"/>
            <p:cNvSpPr/>
            <p:nvPr/>
          </p:nvSpPr>
          <p:spPr>
            <a:xfrm>
              <a:off x="700550" y="1344613"/>
              <a:ext cx="11007262" cy="1036320"/>
            </a:xfrm>
            <a:prstGeom prst="rect">
              <a:avLst/>
            </a:prstGeom>
            <a:solidFill>
              <a:srgbClr val="7C3B00"/>
            </a:solidFill>
            <a:ln w="12700" cap="flat" cmpd="sng">
              <a:solidFill>
                <a:srgbClr val="7C3B00"/>
              </a:solidFill>
              <a:prstDash val="solid"/>
              <a:miter lim="800000"/>
              <a:headEnd type="none" w="sm" len="sm"/>
              <a:tailEnd type="none" w="sm" len="sm"/>
            </a:ln>
          </p:spPr>
          <p:txBody>
            <a:bodyPr spcFirstLastPara="1" wrap="square" lIns="144000"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lt1"/>
                  </a:solidFill>
                  <a:latin typeface="Arial" panose="020B0604020202020204"/>
                  <a:ea typeface="Arial" panose="020B0604020202020204"/>
                  <a:cs typeface="Arial" panose="020B0604020202020204"/>
                  <a:sym typeface="Arial" panose="020B0604020202020204"/>
                </a:rPr>
                <a:t>02</a:t>
              </a:r>
              <a:endParaRPr sz="32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31" name="Google Shape;931;p44"/>
            <p:cNvSpPr/>
            <p:nvPr/>
          </p:nvSpPr>
          <p:spPr>
            <a:xfrm>
              <a:off x="1550894" y="1452282"/>
              <a:ext cx="10249679" cy="820982"/>
            </a:xfrm>
            <a:prstGeom prst="roundRect">
              <a:avLst>
                <a:gd name="adj" fmla="val 16667"/>
              </a:avLst>
            </a:prstGeom>
            <a:solidFill>
              <a:schemeClr val="lt1"/>
            </a:solidFill>
            <a:ln>
              <a:noFill/>
            </a:ln>
          </p:spPr>
          <p:txBody>
            <a:bodyPr spcFirstLastPara="1" wrap="square" lIns="144000" tIns="0" rIns="0" bIns="0" anchor="ctr" anchorCtr="0">
              <a:no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Price Discovery: </a:t>
              </a: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The secondary market enables the determination of market prices for securities based on supply and demand dynamics. As securities are traded, the market price reflects the collective assessment of investors about a company's value, performance, and prospects.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935" name="Shape 935"/>
        <p:cNvGrpSpPr/>
        <p:nvPr/>
      </p:nvGrpSpPr>
      <p:grpSpPr>
        <a:xfrm>
          <a:off x="0" y="0"/>
          <a:ext cx="0" cy="0"/>
          <a:chOff x="0" y="0"/>
          <a:chExt cx="0" cy="0"/>
        </a:xfrm>
      </p:grpSpPr>
      <p:pic>
        <p:nvPicPr>
          <p:cNvPr id="936" name="Google Shape;936;p45"/>
          <p:cNvPicPr preferRelativeResize="0"/>
          <p:nvPr>
            <p:ph type="pic" idx="2"/>
          </p:nvPr>
        </p:nvPicPr>
        <p:blipFill rotWithShape="1">
          <a:blip r:embed="rId1"/>
          <a:srcRect/>
          <a:stretch>
            <a:fillRect/>
          </a:stretch>
        </p:blipFill>
        <p:spPr>
          <a:xfrm>
            <a:off x="3978704" y="-21266"/>
            <a:ext cx="8211708" cy="6889900"/>
          </a:xfrm>
          <a:prstGeom prst="rect">
            <a:avLst/>
          </a:prstGeom>
          <a:solidFill>
            <a:srgbClr val="F2F2F2"/>
          </a:solidFill>
          <a:ln>
            <a:noFill/>
          </a:ln>
        </p:spPr>
      </p:pic>
      <p:sp>
        <p:nvSpPr>
          <p:cNvPr id="937" name="Google Shape;937;p45"/>
          <p:cNvSpPr/>
          <p:nvPr/>
        </p:nvSpPr>
        <p:spPr>
          <a:xfrm>
            <a:off x="0" y="0"/>
            <a:ext cx="6124354" cy="6879266"/>
          </a:xfrm>
          <a:custGeom>
            <a:avLst/>
            <a:gdLst/>
            <a:ahLst/>
            <a:cxnLst/>
            <a:rect l="l" t="t" r="r" b="b"/>
            <a:pathLst>
              <a:path w="6124354" h="6879266" extrusionOk="0">
                <a:moveTo>
                  <a:pt x="0" y="0"/>
                </a:moveTo>
                <a:lnTo>
                  <a:pt x="4061637" y="0"/>
                </a:lnTo>
                <a:lnTo>
                  <a:pt x="6124354" y="6879266"/>
                </a:lnTo>
                <a:lnTo>
                  <a:pt x="0" y="685800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38" name="Google Shape;938;p45"/>
          <p:cNvSpPr/>
          <p:nvPr/>
        </p:nvSpPr>
        <p:spPr>
          <a:xfrm flipH="1">
            <a:off x="4025448" y="-21268"/>
            <a:ext cx="8166551" cy="6900533"/>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939" name="Google Shape;939;p45"/>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940" name="Google Shape;940;p45"/>
          <p:cNvPicPr preferRelativeResize="0"/>
          <p:nvPr/>
        </p:nvPicPr>
        <p:blipFill rotWithShape="1">
          <a:blip r:embed="rId2"/>
          <a:srcRect/>
          <a:stretch>
            <a:fillRect/>
          </a:stretch>
        </p:blipFill>
        <p:spPr>
          <a:xfrm>
            <a:off x="617538" y="-2207760"/>
            <a:ext cx="3614738" cy="2033588"/>
          </a:xfrm>
          <a:prstGeom prst="rect">
            <a:avLst/>
          </a:prstGeom>
          <a:noFill/>
          <a:ln>
            <a:noFill/>
          </a:ln>
        </p:spPr>
      </p:pic>
      <p:pic>
        <p:nvPicPr>
          <p:cNvPr id="941" name="Google Shape;941;p45" descr="A picture containing text, clipart&#10;&#10;Description automatically generated"/>
          <p:cNvPicPr preferRelativeResize="0"/>
          <p:nvPr/>
        </p:nvPicPr>
        <p:blipFill rotWithShape="1">
          <a:blip r:embed="rId3"/>
          <a:srcRect/>
          <a:stretch>
            <a:fillRect/>
          </a:stretch>
        </p:blipFill>
        <p:spPr>
          <a:xfrm>
            <a:off x="9533468" y="312483"/>
            <a:ext cx="2421466" cy="491960"/>
          </a:xfrm>
          <a:prstGeom prst="rect">
            <a:avLst/>
          </a:prstGeom>
          <a:noFill/>
          <a:ln>
            <a:noFill/>
          </a:ln>
        </p:spPr>
      </p:pic>
      <p:sp>
        <p:nvSpPr>
          <p:cNvPr id="942" name="Google Shape;942;p45"/>
          <p:cNvSpPr txBox="1"/>
          <p:nvPr/>
        </p:nvSpPr>
        <p:spPr>
          <a:xfrm>
            <a:off x="1962" y="3025678"/>
            <a:ext cx="7501356" cy="7683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rPr>
              <a:t>Equity Index</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946" name="Shape 946"/>
        <p:cNvGrpSpPr/>
        <p:nvPr/>
      </p:nvGrpSpPr>
      <p:grpSpPr>
        <a:xfrm>
          <a:off x="0" y="0"/>
          <a:ext cx="0" cy="0"/>
          <a:chOff x="0" y="0"/>
          <a:chExt cx="0" cy="0"/>
        </a:xfrm>
      </p:grpSpPr>
      <p:sp>
        <p:nvSpPr>
          <p:cNvPr id="947" name="Google Shape;947;p46"/>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WHAT IS AN INDEX?</a:t>
            </a:r>
            <a:endParaRPr lang="en-US"/>
          </a:p>
        </p:txBody>
      </p:sp>
      <p:sp>
        <p:nvSpPr>
          <p:cNvPr id="948" name="Google Shape;948;p46"/>
          <p:cNvSpPr/>
          <p:nvPr/>
        </p:nvSpPr>
        <p:spPr>
          <a:xfrm>
            <a:off x="473148" y="1153188"/>
            <a:ext cx="11010900" cy="1292299"/>
          </a:xfrm>
          <a:prstGeom prst="roundRect">
            <a:avLst>
              <a:gd name="adj" fmla="val 16667"/>
            </a:avLst>
          </a:prstGeom>
          <a:solidFill>
            <a:schemeClr val="dk2"/>
          </a:solidFill>
          <a:ln w="12700" cap="flat" cmpd="sng">
            <a:solidFill>
              <a:schemeClr val="lt1"/>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An </a:t>
            </a: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index </a:t>
            </a: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in the context of finance and investing is a statistical measure used to represent the performance of a specific group of assets, such as stocks, bonds, commodities, or other financial instruments. It provides a way to track and assess the overall performance of a particular market, sector, or asset class.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949" name="Google Shape;949;p46"/>
          <p:cNvGrpSpPr/>
          <p:nvPr/>
        </p:nvGrpSpPr>
        <p:grpSpPr>
          <a:xfrm>
            <a:off x="604857" y="3104707"/>
            <a:ext cx="10996150" cy="2448898"/>
            <a:chOff x="604857" y="3104707"/>
            <a:chExt cx="10996150" cy="2448898"/>
          </a:xfrm>
        </p:grpSpPr>
        <p:sp>
          <p:nvSpPr>
            <p:cNvPr id="950" name="Google Shape;950;p46"/>
            <p:cNvSpPr/>
            <p:nvPr/>
          </p:nvSpPr>
          <p:spPr>
            <a:xfrm>
              <a:off x="604857" y="3104707"/>
              <a:ext cx="5395450" cy="537563"/>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1. Composition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1" name="Google Shape;951;p46"/>
            <p:cNvSpPr/>
            <p:nvPr/>
          </p:nvSpPr>
          <p:spPr>
            <a:xfrm>
              <a:off x="604857" y="3642270"/>
              <a:ext cx="5395450" cy="1911335"/>
            </a:xfrm>
            <a:prstGeom prst="rect">
              <a:avLst/>
            </a:prstGeom>
            <a:noFill/>
            <a:ln w="9525"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An index is composed of a predefined set of financial assets. For example, a stock market index includes a selection of stocks from a particular stock exchange.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2" name="Google Shape;952;p46"/>
            <p:cNvSpPr/>
            <p:nvPr/>
          </p:nvSpPr>
          <p:spPr>
            <a:xfrm>
              <a:off x="6205557" y="3104707"/>
              <a:ext cx="5395450" cy="53756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2. Weighting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3" name="Google Shape;953;p46"/>
            <p:cNvSpPr/>
            <p:nvPr/>
          </p:nvSpPr>
          <p:spPr>
            <a:xfrm>
              <a:off x="6205557" y="3642270"/>
              <a:ext cx="5395450" cy="1911335"/>
            </a:xfrm>
            <a:prstGeom prst="rect">
              <a:avLst/>
            </a:prstGeom>
            <a:noFill/>
            <a:ln w="9525"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Each asset in the index is assigned a weight or value based on certain criteria. Common methods of weighting include market capitalization (market cap), price-weighted, or equal-weighted.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54" name="Google Shape;954;p46"/>
          <p:cNvSpPr/>
          <p:nvPr/>
        </p:nvSpPr>
        <p:spPr>
          <a:xfrm>
            <a:off x="3631222" y="2613718"/>
            <a:ext cx="5391219"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Key characteristics of financial indices include: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958" name="Shape 958"/>
        <p:cNvGrpSpPr/>
        <p:nvPr/>
      </p:nvGrpSpPr>
      <p:grpSpPr>
        <a:xfrm>
          <a:off x="0" y="0"/>
          <a:ext cx="0" cy="0"/>
          <a:chOff x="0" y="0"/>
          <a:chExt cx="0" cy="0"/>
        </a:xfrm>
      </p:grpSpPr>
      <p:sp>
        <p:nvSpPr>
          <p:cNvPr id="959" name="Google Shape;959;p47"/>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WHAT IS AN INDEX?</a:t>
            </a:r>
            <a:endParaRPr lang="en-US"/>
          </a:p>
        </p:txBody>
      </p:sp>
      <p:grpSp>
        <p:nvGrpSpPr>
          <p:cNvPr id="960" name="Google Shape;960;p47"/>
          <p:cNvGrpSpPr/>
          <p:nvPr/>
        </p:nvGrpSpPr>
        <p:grpSpPr>
          <a:xfrm>
            <a:off x="700550" y="1371600"/>
            <a:ext cx="10996150" cy="2448898"/>
            <a:chOff x="700550" y="1371600"/>
            <a:chExt cx="10996150" cy="2448898"/>
          </a:xfrm>
        </p:grpSpPr>
        <p:sp>
          <p:nvSpPr>
            <p:cNvPr id="961" name="Google Shape;961;p47"/>
            <p:cNvSpPr/>
            <p:nvPr/>
          </p:nvSpPr>
          <p:spPr>
            <a:xfrm>
              <a:off x="700550" y="1371600"/>
              <a:ext cx="5395450" cy="537563"/>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3. Calculation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2" name="Google Shape;962;p47"/>
            <p:cNvSpPr/>
            <p:nvPr/>
          </p:nvSpPr>
          <p:spPr>
            <a:xfrm>
              <a:off x="700550" y="1909163"/>
              <a:ext cx="5395450" cy="1911335"/>
            </a:xfrm>
            <a:prstGeom prst="rect">
              <a:avLst/>
            </a:prstGeom>
            <a:noFill/>
            <a:ln w="9525"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Indices are calculated using a specific formula or methodology. The most common formula is a price-weighted average or a market cap-weighted average, where the performance of each component is combined to create an overall index value.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3" name="Google Shape;963;p47"/>
            <p:cNvSpPr/>
            <p:nvPr/>
          </p:nvSpPr>
          <p:spPr>
            <a:xfrm>
              <a:off x="6301250" y="1371600"/>
              <a:ext cx="5395450" cy="537563"/>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4. Base Value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4" name="Google Shape;964;p47"/>
            <p:cNvSpPr/>
            <p:nvPr/>
          </p:nvSpPr>
          <p:spPr>
            <a:xfrm>
              <a:off x="6301250" y="1909163"/>
              <a:ext cx="5395450" cy="1911335"/>
            </a:xfrm>
            <a:prstGeom prst="rect">
              <a:avLst/>
            </a:prstGeom>
            <a:noFill/>
            <a:ln w="9525"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Most indices start with a base value set at a specific point in the past (often 100 or 1,000) for ease of tracking performance over time.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65" name="Google Shape;965;p47"/>
          <p:cNvGrpSpPr/>
          <p:nvPr/>
        </p:nvGrpSpPr>
        <p:grpSpPr>
          <a:xfrm>
            <a:off x="700550" y="3951902"/>
            <a:ext cx="10996150" cy="2448898"/>
            <a:chOff x="700550" y="3951902"/>
            <a:chExt cx="10996150" cy="2448898"/>
          </a:xfrm>
        </p:grpSpPr>
        <p:sp>
          <p:nvSpPr>
            <p:cNvPr id="966" name="Google Shape;966;p47"/>
            <p:cNvSpPr/>
            <p:nvPr/>
          </p:nvSpPr>
          <p:spPr>
            <a:xfrm>
              <a:off x="700550" y="3951902"/>
              <a:ext cx="5395450" cy="537563"/>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5. Benchmark</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7" name="Google Shape;967;p47"/>
            <p:cNvSpPr/>
            <p:nvPr/>
          </p:nvSpPr>
          <p:spPr>
            <a:xfrm>
              <a:off x="700550" y="4489465"/>
              <a:ext cx="5395450" cy="1911335"/>
            </a:xfrm>
            <a:prstGeom prst="rect">
              <a:avLst/>
            </a:prstGeom>
            <a:noFill/>
            <a:ln w="9525"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Indices are often used as benchmarks to measure the performance of investment portfolios or specific assets against the broader market or a particular sector.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8" name="Google Shape;968;p47"/>
            <p:cNvSpPr/>
            <p:nvPr/>
          </p:nvSpPr>
          <p:spPr>
            <a:xfrm>
              <a:off x="6301250" y="3951902"/>
              <a:ext cx="5395450" cy="537563"/>
            </a:xfrm>
            <a:prstGeom prst="rect">
              <a:avLst/>
            </a:prstGeom>
            <a:solidFill>
              <a:srgbClr val="1F94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6. Historical Data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9" name="Google Shape;969;p47"/>
            <p:cNvSpPr/>
            <p:nvPr/>
          </p:nvSpPr>
          <p:spPr>
            <a:xfrm>
              <a:off x="6301250" y="4489465"/>
              <a:ext cx="5395450" cy="1911335"/>
            </a:xfrm>
            <a:prstGeom prst="rect">
              <a:avLst/>
            </a:prstGeom>
            <a:noFill/>
            <a:ln w="9525"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Indices provide historical data on how the assets they represent have performed over time, allowing investors to analyze trends and make informed decisions.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973" name="Shape 973"/>
        <p:cNvGrpSpPr/>
        <p:nvPr/>
      </p:nvGrpSpPr>
      <p:grpSpPr>
        <a:xfrm>
          <a:off x="0" y="0"/>
          <a:ext cx="0" cy="0"/>
          <a:chOff x="0" y="0"/>
          <a:chExt cx="0" cy="0"/>
        </a:xfrm>
      </p:grpSpPr>
      <p:sp>
        <p:nvSpPr>
          <p:cNvPr id="974" name="Google Shape;974;p48"/>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WHAT IS AN INDEX?</a:t>
            </a:r>
            <a:endParaRPr lang="en-US"/>
          </a:p>
        </p:txBody>
      </p:sp>
      <p:sp>
        <p:nvSpPr>
          <p:cNvPr id="975" name="Google Shape;975;p48"/>
          <p:cNvSpPr/>
          <p:nvPr/>
        </p:nvSpPr>
        <p:spPr>
          <a:xfrm>
            <a:off x="0" y="1121291"/>
            <a:ext cx="12192000" cy="452328"/>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Examples of well-known financial indices include: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976" name="Google Shape;976;p48"/>
          <p:cNvGrpSpPr/>
          <p:nvPr/>
        </p:nvGrpSpPr>
        <p:grpSpPr>
          <a:xfrm>
            <a:off x="222722" y="1867768"/>
            <a:ext cx="11634032" cy="646331"/>
            <a:chOff x="183307" y="1867768"/>
            <a:chExt cx="11634032" cy="646331"/>
          </a:xfrm>
        </p:grpSpPr>
        <p:grpSp>
          <p:nvGrpSpPr>
            <p:cNvPr id="977" name="Google Shape;977;p48"/>
            <p:cNvGrpSpPr/>
            <p:nvPr/>
          </p:nvGrpSpPr>
          <p:grpSpPr>
            <a:xfrm>
              <a:off x="183307" y="1889307"/>
              <a:ext cx="1416952" cy="603255"/>
              <a:chOff x="320468" y="2192031"/>
              <a:chExt cx="1416952" cy="716422"/>
            </a:xfrm>
          </p:grpSpPr>
          <p:sp>
            <p:nvSpPr>
              <p:cNvPr id="978" name="Google Shape;978;p48"/>
              <p:cNvSpPr/>
              <p:nvPr/>
            </p:nvSpPr>
            <p:spPr>
              <a:xfrm>
                <a:off x="1347301" y="2305198"/>
                <a:ext cx="390119" cy="490088"/>
              </a:xfrm>
              <a:prstGeom prst="chevron">
                <a:avLst>
                  <a:gd name="adj" fmla="val 50000"/>
                </a:avLst>
              </a:prstGeom>
              <a:solidFill>
                <a:srgbClr val="DAF3E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79" name="Google Shape;979;p48"/>
              <p:cNvSpPr/>
              <p:nvPr/>
            </p:nvSpPr>
            <p:spPr>
              <a:xfrm>
                <a:off x="700550" y="2192031"/>
                <a:ext cx="841811" cy="716422"/>
              </a:xfrm>
              <a:prstGeom prst="chevron">
                <a:avLst>
                  <a:gd name="adj" fmla="val 50000"/>
                </a:avLst>
              </a:prstGeom>
              <a:solidFill>
                <a:srgbClr val="20685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80" name="Google Shape;980;p48"/>
              <p:cNvSpPr/>
              <p:nvPr/>
            </p:nvSpPr>
            <p:spPr>
              <a:xfrm>
                <a:off x="1145753" y="2241769"/>
                <a:ext cx="451692" cy="616946"/>
              </a:xfrm>
              <a:prstGeom prst="chevron">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81" name="Google Shape;981;p48"/>
              <p:cNvSpPr txBox="1"/>
              <p:nvPr/>
            </p:nvSpPr>
            <p:spPr>
              <a:xfrm>
                <a:off x="320468" y="2305198"/>
                <a:ext cx="649995"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82" name="Google Shape;982;p48"/>
            <p:cNvSpPr/>
            <p:nvPr/>
          </p:nvSpPr>
          <p:spPr>
            <a:xfrm>
              <a:off x="1801807" y="1867768"/>
              <a:ext cx="1001553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S&amp;P 500: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Represents 500 of the largest publicly traded companies in the United States and is often used as a benchmark for U.S. stock market performance.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83" name="Google Shape;983;p48"/>
          <p:cNvGrpSpPr/>
          <p:nvPr/>
        </p:nvGrpSpPr>
        <p:grpSpPr>
          <a:xfrm>
            <a:off x="198424" y="2834693"/>
            <a:ext cx="11682628" cy="669221"/>
            <a:chOff x="183307" y="2834693"/>
            <a:chExt cx="11682628" cy="669221"/>
          </a:xfrm>
        </p:grpSpPr>
        <p:grpSp>
          <p:nvGrpSpPr>
            <p:cNvPr id="984" name="Google Shape;984;p48"/>
            <p:cNvGrpSpPr/>
            <p:nvPr/>
          </p:nvGrpSpPr>
          <p:grpSpPr>
            <a:xfrm>
              <a:off x="183307" y="2900659"/>
              <a:ext cx="1416952" cy="603255"/>
              <a:chOff x="320468" y="2192031"/>
              <a:chExt cx="1416952" cy="716422"/>
            </a:xfrm>
          </p:grpSpPr>
          <p:sp>
            <p:nvSpPr>
              <p:cNvPr id="985" name="Google Shape;985;p48"/>
              <p:cNvSpPr/>
              <p:nvPr/>
            </p:nvSpPr>
            <p:spPr>
              <a:xfrm>
                <a:off x="1347301" y="2305198"/>
                <a:ext cx="390119" cy="490088"/>
              </a:xfrm>
              <a:prstGeom prst="chevron">
                <a:avLst>
                  <a:gd name="adj" fmla="val 50000"/>
                </a:avLst>
              </a:prstGeom>
              <a:solidFill>
                <a:srgbClr val="D2F4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86" name="Google Shape;986;p48"/>
              <p:cNvSpPr/>
              <p:nvPr/>
            </p:nvSpPr>
            <p:spPr>
              <a:xfrm>
                <a:off x="700550" y="2192031"/>
                <a:ext cx="841811" cy="716422"/>
              </a:xfrm>
              <a:prstGeom prst="chevron">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87" name="Google Shape;987;p48"/>
              <p:cNvSpPr/>
              <p:nvPr/>
            </p:nvSpPr>
            <p:spPr>
              <a:xfrm>
                <a:off x="1145753" y="2241769"/>
                <a:ext cx="451692" cy="616946"/>
              </a:xfrm>
              <a:prstGeom prst="chevron">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88" name="Google Shape;988;p48"/>
              <p:cNvSpPr txBox="1"/>
              <p:nvPr/>
            </p:nvSpPr>
            <p:spPr>
              <a:xfrm>
                <a:off x="320468" y="2305198"/>
                <a:ext cx="649995"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89" name="Google Shape;989;p48"/>
            <p:cNvSpPr/>
            <p:nvPr/>
          </p:nvSpPr>
          <p:spPr>
            <a:xfrm>
              <a:off x="1850403" y="2834693"/>
              <a:ext cx="1001553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Dow Jones Industrial Average (DJIA):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Tracks the performance of 30 large, publicly traded companies in the United States.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90" name="Google Shape;990;p48"/>
          <p:cNvGrpSpPr/>
          <p:nvPr/>
        </p:nvGrpSpPr>
        <p:grpSpPr>
          <a:xfrm>
            <a:off x="192212" y="3775173"/>
            <a:ext cx="11695053" cy="690357"/>
            <a:chOff x="170882" y="3775173"/>
            <a:chExt cx="11695053" cy="690357"/>
          </a:xfrm>
        </p:grpSpPr>
        <p:grpSp>
          <p:nvGrpSpPr>
            <p:cNvPr id="991" name="Google Shape;991;p48"/>
            <p:cNvGrpSpPr/>
            <p:nvPr/>
          </p:nvGrpSpPr>
          <p:grpSpPr>
            <a:xfrm>
              <a:off x="170882" y="3862275"/>
              <a:ext cx="1416952" cy="603255"/>
              <a:chOff x="320468" y="2192031"/>
              <a:chExt cx="1416952" cy="716422"/>
            </a:xfrm>
          </p:grpSpPr>
          <p:sp>
            <p:nvSpPr>
              <p:cNvPr id="992" name="Google Shape;992;p48"/>
              <p:cNvSpPr/>
              <p:nvPr/>
            </p:nvSpPr>
            <p:spPr>
              <a:xfrm>
                <a:off x="1347301" y="2305198"/>
                <a:ext cx="390119" cy="490088"/>
              </a:xfrm>
              <a:prstGeom prst="chevron">
                <a:avLst>
                  <a:gd name="adj" fmla="val 50000"/>
                </a:avLst>
              </a:prstGeom>
              <a:solidFill>
                <a:srgbClr val="BBD6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93" name="Google Shape;993;p48"/>
              <p:cNvSpPr/>
              <p:nvPr/>
            </p:nvSpPr>
            <p:spPr>
              <a:xfrm>
                <a:off x="700550" y="2192031"/>
                <a:ext cx="841811" cy="716422"/>
              </a:xfrm>
              <a:prstGeom prst="chevron">
                <a:avLst>
                  <a:gd name="adj" fmla="val 50000"/>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94" name="Google Shape;994;p48"/>
              <p:cNvSpPr/>
              <p:nvPr/>
            </p:nvSpPr>
            <p:spPr>
              <a:xfrm>
                <a:off x="1145753" y="2241769"/>
                <a:ext cx="451692" cy="616946"/>
              </a:xfrm>
              <a:prstGeom prst="chevron">
                <a:avLst>
                  <a:gd name="adj"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995" name="Google Shape;995;p48"/>
              <p:cNvSpPr txBox="1"/>
              <p:nvPr/>
            </p:nvSpPr>
            <p:spPr>
              <a:xfrm>
                <a:off x="320468" y="2305198"/>
                <a:ext cx="649995"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996" name="Google Shape;996;p48"/>
            <p:cNvSpPr/>
            <p:nvPr/>
          </p:nvSpPr>
          <p:spPr>
            <a:xfrm>
              <a:off x="1850403" y="3775173"/>
              <a:ext cx="1001553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NASDAQ Composite: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Includes all the companies listed on the NASDAQ stock exchange, primarily technology and internet-related companies.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997" name="Google Shape;997;p48"/>
          <p:cNvGrpSpPr/>
          <p:nvPr/>
        </p:nvGrpSpPr>
        <p:grpSpPr>
          <a:xfrm>
            <a:off x="170882" y="4755320"/>
            <a:ext cx="11737712" cy="646331"/>
            <a:chOff x="170882" y="4755320"/>
            <a:chExt cx="11737712" cy="646331"/>
          </a:xfrm>
        </p:grpSpPr>
        <p:grpSp>
          <p:nvGrpSpPr>
            <p:cNvPr id="998" name="Google Shape;998;p48"/>
            <p:cNvGrpSpPr/>
            <p:nvPr/>
          </p:nvGrpSpPr>
          <p:grpSpPr>
            <a:xfrm>
              <a:off x="170882" y="4798145"/>
              <a:ext cx="1416952" cy="603255"/>
              <a:chOff x="320468" y="2192031"/>
              <a:chExt cx="1416952" cy="716422"/>
            </a:xfrm>
          </p:grpSpPr>
          <p:sp>
            <p:nvSpPr>
              <p:cNvPr id="999" name="Google Shape;999;p48"/>
              <p:cNvSpPr/>
              <p:nvPr/>
            </p:nvSpPr>
            <p:spPr>
              <a:xfrm>
                <a:off x="1347301" y="2305198"/>
                <a:ext cx="390119" cy="490088"/>
              </a:xfrm>
              <a:prstGeom prst="chevron">
                <a:avLst>
                  <a:gd name="adj" fmla="val 50000"/>
                </a:avLst>
              </a:prstGeom>
              <a:solidFill>
                <a:srgbClr val="D5DB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00" name="Google Shape;1000;p48"/>
              <p:cNvSpPr/>
              <p:nvPr/>
            </p:nvSpPr>
            <p:spPr>
              <a:xfrm>
                <a:off x="700550" y="2192031"/>
                <a:ext cx="841811" cy="716422"/>
              </a:xfrm>
              <a:prstGeom prst="chevron">
                <a:avLst>
                  <a:gd name="adj" fmla="val 50000"/>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01" name="Google Shape;1001;p48"/>
              <p:cNvSpPr/>
              <p:nvPr/>
            </p:nvSpPr>
            <p:spPr>
              <a:xfrm>
                <a:off x="1145753" y="2241769"/>
                <a:ext cx="451692" cy="616946"/>
              </a:xfrm>
              <a:prstGeom prst="chevron">
                <a:avLst>
                  <a:gd name="adj" fmla="val 50000"/>
                </a:avLst>
              </a:prstGeom>
              <a:solidFill>
                <a:srgbClr val="8296B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02" name="Google Shape;1002;p48"/>
              <p:cNvSpPr txBox="1"/>
              <p:nvPr/>
            </p:nvSpPr>
            <p:spPr>
              <a:xfrm>
                <a:off x="320468" y="2305198"/>
                <a:ext cx="649995"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03" name="Google Shape;1003;p48"/>
            <p:cNvSpPr/>
            <p:nvPr/>
          </p:nvSpPr>
          <p:spPr>
            <a:xfrm>
              <a:off x="1893062" y="4755320"/>
              <a:ext cx="1001553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FTSE 100: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Represents the 100 largest companies listed on the London Stock Exchange in the United Kingdom.</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004" name="Google Shape;1004;p48"/>
          <p:cNvGrpSpPr/>
          <p:nvPr/>
        </p:nvGrpSpPr>
        <p:grpSpPr>
          <a:xfrm>
            <a:off x="170882" y="5728914"/>
            <a:ext cx="11737712" cy="652885"/>
            <a:chOff x="170882" y="5728914"/>
            <a:chExt cx="11737712" cy="652885"/>
          </a:xfrm>
        </p:grpSpPr>
        <p:grpSp>
          <p:nvGrpSpPr>
            <p:cNvPr id="1005" name="Google Shape;1005;p48"/>
            <p:cNvGrpSpPr/>
            <p:nvPr/>
          </p:nvGrpSpPr>
          <p:grpSpPr>
            <a:xfrm>
              <a:off x="170882" y="5728914"/>
              <a:ext cx="1416952" cy="603255"/>
              <a:chOff x="320468" y="2192031"/>
              <a:chExt cx="1416952" cy="716422"/>
            </a:xfrm>
          </p:grpSpPr>
          <p:sp>
            <p:nvSpPr>
              <p:cNvPr id="1006" name="Google Shape;1006;p48"/>
              <p:cNvSpPr/>
              <p:nvPr/>
            </p:nvSpPr>
            <p:spPr>
              <a:xfrm>
                <a:off x="1347301" y="2305198"/>
                <a:ext cx="390119" cy="490088"/>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07" name="Google Shape;1007;p48"/>
              <p:cNvSpPr/>
              <p:nvPr/>
            </p:nvSpPr>
            <p:spPr>
              <a:xfrm>
                <a:off x="700550" y="2192031"/>
                <a:ext cx="841811" cy="716422"/>
              </a:xfrm>
              <a:prstGeom prst="chevron">
                <a:avLst>
                  <a:gd name="adj" fmla="val 50000"/>
                </a:avLst>
              </a:prstGeom>
              <a:solidFill>
                <a:srgbClr val="7F7F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08" name="Google Shape;1008;p48"/>
              <p:cNvSpPr/>
              <p:nvPr/>
            </p:nvSpPr>
            <p:spPr>
              <a:xfrm>
                <a:off x="1145753" y="2241769"/>
                <a:ext cx="451692" cy="616946"/>
              </a:xfrm>
              <a:prstGeom prst="chevron">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09" name="Google Shape;1009;p48"/>
              <p:cNvSpPr txBox="1"/>
              <p:nvPr/>
            </p:nvSpPr>
            <p:spPr>
              <a:xfrm>
                <a:off x="320468" y="2305198"/>
                <a:ext cx="649995" cy="54827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chemeClr val="dk1"/>
                    </a:solidFill>
                    <a:latin typeface="Arial" panose="020B0604020202020204"/>
                    <a:ea typeface="Arial" panose="020B0604020202020204"/>
                    <a:cs typeface="Arial" panose="020B0604020202020204"/>
                    <a:sym typeface="Arial" panose="020B0604020202020204"/>
                  </a:rPr>
                  <a:t>5</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10" name="Google Shape;1010;p48"/>
            <p:cNvSpPr/>
            <p:nvPr/>
          </p:nvSpPr>
          <p:spPr>
            <a:xfrm>
              <a:off x="1893062" y="5735468"/>
              <a:ext cx="1001553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Nikkei 225: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Measures the performance of 225 large, publicly traded companies on the Tokyo Stock Exchange in Japan.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014" name="Shape 1014"/>
        <p:cNvGrpSpPr/>
        <p:nvPr/>
      </p:nvGrpSpPr>
      <p:grpSpPr>
        <a:xfrm>
          <a:off x="0" y="0"/>
          <a:ext cx="0" cy="0"/>
          <a:chOff x="0" y="0"/>
          <a:chExt cx="0" cy="0"/>
        </a:xfrm>
      </p:grpSpPr>
      <p:sp>
        <p:nvSpPr>
          <p:cNvPr id="1015" name="Google Shape;1015;p49"/>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WHAT IS AN INDEX?</a:t>
            </a:r>
            <a:endParaRPr lang="en-US"/>
          </a:p>
        </p:txBody>
      </p:sp>
      <p:sp>
        <p:nvSpPr>
          <p:cNvPr id="1016" name="Google Shape;1016;p49"/>
          <p:cNvSpPr/>
          <p:nvPr/>
        </p:nvSpPr>
        <p:spPr>
          <a:xfrm>
            <a:off x="0" y="1233378"/>
            <a:ext cx="12192000" cy="390914"/>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Indices serve several important purposes in the financial world:</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017" name="Google Shape;1017;p49"/>
          <p:cNvGrpSpPr/>
          <p:nvPr/>
        </p:nvGrpSpPr>
        <p:grpSpPr>
          <a:xfrm>
            <a:off x="772507" y="1920372"/>
            <a:ext cx="10646987" cy="4505314"/>
            <a:chOff x="638435" y="1920372"/>
            <a:chExt cx="10646987" cy="4505314"/>
          </a:xfrm>
        </p:grpSpPr>
        <p:grpSp>
          <p:nvGrpSpPr>
            <p:cNvPr id="1018" name="Google Shape;1018;p49"/>
            <p:cNvGrpSpPr/>
            <p:nvPr/>
          </p:nvGrpSpPr>
          <p:grpSpPr>
            <a:xfrm>
              <a:off x="638435" y="1920372"/>
              <a:ext cx="10646987" cy="1016644"/>
              <a:chOff x="864583" y="4946580"/>
              <a:chExt cx="10786025" cy="883432"/>
            </a:xfrm>
          </p:grpSpPr>
          <p:sp>
            <p:nvSpPr>
              <p:cNvPr id="1019" name="Google Shape;1019;p49"/>
              <p:cNvSpPr txBox="1"/>
              <p:nvPr/>
            </p:nvSpPr>
            <p:spPr>
              <a:xfrm>
                <a:off x="864583" y="4994136"/>
                <a:ext cx="10786025" cy="768791"/>
              </a:xfrm>
              <a:prstGeom prst="rect">
                <a:avLst/>
              </a:prstGeom>
              <a:gradFill>
                <a:gsLst>
                  <a:gs pos="0">
                    <a:srgbClr val="FFFFFF">
                      <a:alpha val="20392"/>
                    </a:srgbClr>
                  </a:gs>
                  <a:gs pos="7000">
                    <a:srgbClr val="FFFFFF">
                      <a:alpha val="20392"/>
                    </a:srgbClr>
                  </a:gs>
                  <a:gs pos="74000">
                    <a:srgbClr val="FFFFFF">
                      <a:alpha val="43529"/>
                    </a:srgbClr>
                  </a:gs>
                  <a:gs pos="100000">
                    <a:srgbClr val="FFFFFF">
                      <a:alpha val="43529"/>
                    </a:srgbClr>
                  </a:gs>
                </a:gsLst>
                <a:lin ang="5400000" scaled="0"/>
              </a:gradFill>
              <a:ln w="9525" cap="flat" cmpd="sng">
                <a:solidFill>
                  <a:srgbClr val="7F7F7F"/>
                </a:solidFill>
                <a:prstDash val="solid"/>
                <a:round/>
                <a:headEnd type="none" w="sm" len="sm"/>
                <a:tailEnd type="none" w="sm" len="sm"/>
              </a:ln>
            </p:spPr>
            <p:txBody>
              <a:bodyPr spcFirstLastPara="1" wrap="square" lIns="0" tIns="274300" rIns="45700" bIns="34275" anchor="t" anchorCtr="0">
                <a:noAutofit/>
              </a:bodyPr>
              <a:lstStyle/>
              <a:p>
                <a:pPr marL="171450" marR="0" lvl="1" indent="-57150" algn="l" rtl="0">
                  <a:lnSpc>
                    <a:spcPct val="100000"/>
                  </a:lnSpc>
                  <a:spcBef>
                    <a:spcPts val="0"/>
                  </a:spcBef>
                  <a:spcAft>
                    <a:spcPts val="0"/>
                  </a:spcAft>
                  <a:buClr>
                    <a:schemeClr val="accent2"/>
                  </a:buClr>
                  <a:buSzPts val="900"/>
                  <a:buFont typeface="Noto Sans Symbols"/>
                  <a:buNone/>
                </a:pPr>
                <a:endParaRPr sz="9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020" name="Google Shape;1020;p49"/>
              <p:cNvGrpSpPr/>
              <p:nvPr/>
            </p:nvGrpSpPr>
            <p:grpSpPr>
              <a:xfrm>
                <a:off x="908903" y="4946580"/>
                <a:ext cx="413815" cy="878084"/>
                <a:chOff x="908903" y="4946580"/>
                <a:chExt cx="413815" cy="878084"/>
              </a:xfrm>
            </p:grpSpPr>
            <p:pic>
              <p:nvPicPr>
                <p:cNvPr id="1021" name="Google Shape;1021;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22" name="Google Shape;1022;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23" name="Google Shape;1023;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nvGrpSpPr>
              <p:cNvPr id="1024" name="Google Shape;1024;p49"/>
              <p:cNvGrpSpPr/>
              <p:nvPr/>
            </p:nvGrpSpPr>
            <p:grpSpPr>
              <a:xfrm rot="10800000">
                <a:off x="11192010" y="4951928"/>
                <a:ext cx="413815" cy="878084"/>
                <a:chOff x="908903" y="4946580"/>
                <a:chExt cx="413815" cy="878084"/>
              </a:xfrm>
            </p:grpSpPr>
            <p:pic>
              <p:nvPicPr>
                <p:cNvPr id="1025" name="Google Shape;1025;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26" name="Google Shape;1026;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27" name="Google Shape;1027;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grpSp>
          <p:nvGrpSpPr>
            <p:cNvPr id="1028" name="Google Shape;1028;p49"/>
            <p:cNvGrpSpPr/>
            <p:nvPr/>
          </p:nvGrpSpPr>
          <p:grpSpPr>
            <a:xfrm>
              <a:off x="638435" y="3083262"/>
              <a:ext cx="10646987" cy="1016644"/>
              <a:chOff x="864583" y="4946580"/>
              <a:chExt cx="10786025" cy="883432"/>
            </a:xfrm>
          </p:grpSpPr>
          <p:sp>
            <p:nvSpPr>
              <p:cNvPr id="1029" name="Google Shape;1029;p49"/>
              <p:cNvSpPr txBox="1"/>
              <p:nvPr/>
            </p:nvSpPr>
            <p:spPr>
              <a:xfrm>
                <a:off x="864583" y="4994136"/>
                <a:ext cx="10786025" cy="768791"/>
              </a:xfrm>
              <a:prstGeom prst="rect">
                <a:avLst/>
              </a:prstGeom>
              <a:gradFill>
                <a:gsLst>
                  <a:gs pos="0">
                    <a:srgbClr val="FFFFFF">
                      <a:alpha val="20392"/>
                    </a:srgbClr>
                  </a:gs>
                  <a:gs pos="7000">
                    <a:srgbClr val="FFFFFF">
                      <a:alpha val="20392"/>
                    </a:srgbClr>
                  </a:gs>
                  <a:gs pos="74000">
                    <a:srgbClr val="FFFFFF">
                      <a:alpha val="43529"/>
                    </a:srgbClr>
                  </a:gs>
                  <a:gs pos="100000">
                    <a:srgbClr val="FFFFFF">
                      <a:alpha val="43529"/>
                    </a:srgbClr>
                  </a:gs>
                </a:gsLst>
                <a:lin ang="5400000" scaled="0"/>
              </a:gradFill>
              <a:ln w="9525" cap="flat" cmpd="sng">
                <a:solidFill>
                  <a:srgbClr val="7F7F7F"/>
                </a:solidFill>
                <a:prstDash val="solid"/>
                <a:round/>
                <a:headEnd type="none" w="sm" len="sm"/>
                <a:tailEnd type="none" w="sm" len="sm"/>
              </a:ln>
            </p:spPr>
            <p:txBody>
              <a:bodyPr spcFirstLastPara="1" wrap="square" lIns="0" tIns="274300" rIns="45700" bIns="34275" anchor="t" anchorCtr="0">
                <a:noAutofit/>
              </a:bodyPr>
              <a:lstStyle/>
              <a:p>
                <a:pPr marL="171450" marR="0" lvl="1" indent="-57150" algn="l" rtl="0">
                  <a:lnSpc>
                    <a:spcPct val="100000"/>
                  </a:lnSpc>
                  <a:spcBef>
                    <a:spcPts val="0"/>
                  </a:spcBef>
                  <a:spcAft>
                    <a:spcPts val="0"/>
                  </a:spcAft>
                  <a:buClr>
                    <a:schemeClr val="accent2"/>
                  </a:buClr>
                  <a:buSzPts val="900"/>
                  <a:buFont typeface="Noto Sans Symbols"/>
                  <a:buNone/>
                </a:pPr>
                <a:endParaRPr sz="9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030" name="Google Shape;1030;p49"/>
              <p:cNvGrpSpPr/>
              <p:nvPr/>
            </p:nvGrpSpPr>
            <p:grpSpPr>
              <a:xfrm>
                <a:off x="908903" y="4946580"/>
                <a:ext cx="413815" cy="878084"/>
                <a:chOff x="908903" y="4946580"/>
                <a:chExt cx="413815" cy="878084"/>
              </a:xfrm>
            </p:grpSpPr>
            <p:pic>
              <p:nvPicPr>
                <p:cNvPr id="1031" name="Google Shape;1031;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32" name="Google Shape;1032;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33" name="Google Shape;1033;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nvGrpSpPr>
              <p:cNvPr id="1034" name="Google Shape;1034;p49"/>
              <p:cNvGrpSpPr/>
              <p:nvPr/>
            </p:nvGrpSpPr>
            <p:grpSpPr>
              <a:xfrm rot="10800000">
                <a:off x="11192010" y="4951928"/>
                <a:ext cx="413815" cy="878084"/>
                <a:chOff x="908903" y="4946580"/>
                <a:chExt cx="413815" cy="878084"/>
              </a:xfrm>
            </p:grpSpPr>
            <p:pic>
              <p:nvPicPr>
                <p:cNvPr id="1035" name="Google Shape;1035;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36" name="Google Shape;1036;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37" name="Google Shape;1037;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grpSp>
          <p:nvGrpSpPr>
            <p:cNvPr id="1038" name="Google Shape;1038;p49"/>
            <p:cNvGrpSpPr/>
            <p:nvPr/>
          </p:nvGrpSpPr>
          <p:grpSpPr>
            <a:xfrm>
              <a:off x="638435" y="4246152"/>
              <a:ext cx="10646987" cy="1016644"/>
              <a:chOff x="864583" y="4946580"/>
              <a:chExt cx="10786025" cy="883432"/>
            </a:xfrm>
          </p:grpSpPr>
          <p:sp>
            <p:nvSpPr>
              <p:cNvPr id="1039" name="Google Shape;1039;p49"/>
              <p:cNvSpPr txBox="1"/>
              <p:nvPr/>
            </p:nvSpPr>
            <p:spPr>
              <a:xfrm>
                <a:off x="864583" y="4994136"/>
                <a:ext cx="10786025" cy="768791"/>
              </a:xfrm>
              <a:prstGeom prst="rect">
                <a:avLst/>
              </a:prstGeom>
              <a:gradFill>
                <a:gsLst>
                  <a:gs pos="0">
                    <a:srgbClr val="FFFFFF">
                      <a:alpha val="20392"/>
                    </a:srgbClr>
                  </a:gs>
                  <a:gs pos="7000">
                    <a:srgbClr val="FFFFFF">
                      <a:alpha val="20392"/>
                    </a:srgbClr>
                  </a:gs>
                  <a:gs pos="74000">
                    <a:srgbClr val="FFFFFF">
                      <a:alpha val="43529"/>
                    </a:srgbClr>
                  </a:gs>
                  <a:gs pos="100000">
                    <a:srgbClr val="FFFFFF">
                      <a:alpha val="43529"/>
                    </a:srgbClr>
                  </a:gs>
                </a:gsLst>
                <a:lin ang="5400000" scaled="0"/>
              </a:gradFill>
              <a:ln w="9525" cap="flat" cmpd="sng">
                <a:solidFill>
                  <a:srgbClr val="7F7F7F"/>
                </a:solidFill>
                <a:prstDash val="solid"/>
                <a:round/>
                <a:headEnd type="none" w="sm" len="sm"/>
                <a:tailEnd type="none" w="sm" len="sm"/>
              </a:ln>
            </p:spPr>
            <p:txBody>
              <a:bodyPr spcFirstLastPara="1" wrap="square" lIns="0" tIns="274300" rIns="45700" bIns="34275" anchor="t" anchorCtr="0">
                <a:noAutofit/>
              </a:bodyPr>
              <a:lstStyle/>
              <a:p>
                <a:pPr marL="171450" marR="0" lvl="1" indent="-57150" algn="l" rtl="0">
                  <a:lnSpc>
                    <a:spcPct val="100000"/>
                  </a:lnSpc>
                  <a:spcBef>
                    <a:spcPts val="0"/>
                  </a:spcBef>
                  <a:spcAft>
                    <a:spcPts val="0"/>
                  </a:spcAft>
                  <a:buClr>
                    <a:schemeClr val="accent2"/>
                  </a:buClr>
                  <a:buSzPts val="900"/>
                  <a:buFont typeface="Noto Sans Symbols"/>
                  <a:buNone/>
                </a:pPr>
                <a:endParaRPr sz="9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040" name="Google Shape;1040;p49"/>
              <p:cNvGrpSpPr/>
              <p:nvPr/>
            </p:nvGrpSpPr>
            <p:grpSpPr>
              <a:xfrm>
                <a:off x="908903" y="4946580"/>
                <a:ext cx="413815" cy="878084"/>
                <a:chOff x="908903" y="4946580"/>
                <a:chExt cx="413815" cy="878084"/>
              </a:xfrm>
            </p:grpSpPr>
            <p:pic>
              <p:nvPicPr>
                <p:cNvPr id="1041" name="Google Shape;1041;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42" name="Google Shape;1042;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43" name="Google Shape;1043;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nvGrpSpPr>
              <p:cNvPr id="1044" name="Google Shape;1044;p49"/>
              <p:cNvGrpSpPr/>
              <p:nvPr/>
            </p:nvGrpSpPr>
            <p:grpSpPr>
              <a:xfrm rot="10800000">
                <a:off x="11192010" y="4951928"/>
                <a:ext cx="413815" cy="878084"/>
                <a:chOff x="908903" y="4946580"/>
                <a:chExt cx="413815" cy="878084"/>
              </a:xfrm>
            </p:grpSpPr>
            <p:pic>
              <p:nvPicPr>
                <p:cNvPr id="1045" name="Google Shape;1045;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46" name="Google Shape;1046;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47" name="Google Shape;1047;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grpSp>
          <p:nvGrpSpPr>
            <p:cNvPr id="1048" name="Google Shape;1048;p49"/>
            <p:cNvGrpSpPr/>
            <p:nvPr/>
          </p:nvGrpSpPr>
          <p:grpSpPr>
            <a:xfrm>
              <a:off x="638435" y="5409042"/>
              <a:ext cx="10646987" cy="1016644"/>
              <a:chOff x="864583" y="4946580"/>
              <a:chExt cx="10786025" cy="883432"/>
            </a:xfrm>
          </p:grpSpPr>
          <p:sp>
            <p:nvSpPr>
              <p:cNvPr id="1049" name="Google Shape;1049;p49"/>
              <p:cNvSpPr txBox="1"/>
              <p:nvPr/>
            </p:nvSpPr>
            <p:spPr>
              <a:xfrm>
                <a:off x="864583" y="4994136"/>
                <a:ext cx="10786025" cy="768791"/>
              </a:xfrm>
              <a:prstGeom prst="rect">
                <a:avLst/>
              </a:prstGeom>
              <a:gradFill>
                <a:gsLst>
                  <a:gs pos="0">
                    <a:srgbClr val="FFFFFF">
                      <a:alpha val="20392"/>
                    </a:srgbClr>
                  </a:gs>
                  <a:gs pos="7000">
                    <a:srgbClr val="FFFFFF">
                      <a:alpha val="20392"/>
                    </a:srgbClr>
                  </a:gs>
                  <a:gs pos="74000">
                    <a:srgbClr val="FFFFFF">
                      <a:alpha val="43529"/>
                    </a:srgbClr>
                  </a:gs>
                  <a:gs pos="100000">
                    <a:srgbClr val="FFFFFF">
                      <a:alpha val="43529"/>
                    </a:srgbClr>
                  </a:gs>
                </a:gsLst>
                <a:lin ang="5400000" scaled="0"/>
              </a:gradFill>
              <a:ln w="9525" cap="flat" cmpd="sng">
                <a:solidFill>
                  <a:srgbClr val="7F7F7F"/>
                </a:solidFill>
                <a:prstDash val="solid"/>
                <a:round/>
                <a:headEnd type="none" w="sm" len="sm"/>
                <a:tailEnd type="none" w="sm" len="sm"/>
              </a:ln>
            </p:spPr>
            <p:txBody>
              <a:bodyPr spcFirstLastPara="1" wrap="square" lIns="0" tIns="274300" rIns="45700" bIns="34275" anchor="t" anchorCtr="0">
                <a:noAutofit/>
              </a:bodyPr>
              <a:lstStyle/>
              <a:p>
                <a:pPr marL="171450" marR="0" lvl="1" indent="-57150" algn="l" rtl="0">
                  <a:lnSpc>
                    <a:spcPct val="100000"/>
                  </a:lnSpc>
                  <a:spcBef>
                    <a:spcPts val="0"/>
                  </a:spcBef>
                  <a:spcAft>
                    <a:spcPts val="0"/>
                  </a:spcAft>
                  <a:buClr>
                    <a:schemeClr val="accent2"/>
                  </a:buClr>
                  <a:buSzPts val="900"/>
                  <a:buFont typeface="Noto Sans Symbols"/>
                  <a:buNone/>
                </a:pPr>
                <a:endParaRPr sz="9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grpSp>
            <p:nvGrpSpPr>
              <p:cNvPr id="1050" name="Google Shape;1050;p49"/>
              <p:cNvGrpSpPr/>
              <p:nvPr/>
            </p:nvGrpSpPr>
            <p:grpSpPr>
              <a:xfrm>
                <a:off x="908903" y="4946580"/>
                <a:ext cx="413815" cy="878084"/>
                <a:chOff x="908903" y="4946580"/>
                <a:chExt cx="413815" cy="878084"/>
              </a:xfrm>
            </p:grpSpPr>
            <p:pic>
              <p:nvPicPr>
                <p:cNvPr id="1051" name="Google Shape;1051;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52" name="Google Shape;1052;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53" name="Google Shape;1053;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nvGrpSpPr>
              <p:cNvPr id="1054" name="Google Shape;1054;p49"/>
              <p:cNvGrpSpPr/>
              <p:nvPr/>
            </p:nvGrpSpPr>
            <p:grpSpPr>
              <a:xfrm rot="10800000">
                <a:off x="11192010" y="4951928"/>
                <a:ext cx="413815" cy="878084"/>
                <a:chOff x="908903" y="4946580"/>
                <a:chExt cx="413815" cy="878084"/>
              </a:xfrm>
            </p:grpSpPr>
            <p:pic>
              <p:nvPicPr>
                <p:cNvPr id="1055" name="Google Shape;1055;p49"/>
                <p:cNvPicPr preferRelativeResize="0"/>
                <p:nvPr/>
              </p:nvPicPr>
              <p:blipFill rotWithShape="1">
                <a:blip r:embed="rId1"/>
                <a:srcRect t="64560"/>
                <a:stretch>
                  <a:fillRect/>
                </a:stretch>
              </p:blipFill>
              <p:spPr>
                <a:xfrm rot="-5400000">
                  <a:off x="997183" y="5495855"/>
                  <a:ext cx="390163" cy="260907"/>
                </a:xfrm>
                <a:prstGeom prst="rect">
                  <a:avLst/>
                </a:prstGeom>
                <a:noFill/>
                <a:ln>
                  <a:noFill/>
                </a:ln>
              </p:spPr>
            </p:pic>
            <p:sp>
              <p:nvSpPr>
                <p:cNvPr id="1056" name="Google Shape;1056;p49"/>
                <p:cNvSpPr/>
                <p:nvPr/>
              </p:nvSpPr>
              <p:spPr>
                <a:xfrm rot="-5400000">
                  <a:off x="613367" y="5243068"/>
                  <a:ext cx="877132" cy="286060"/>
                </a:xfrm>
                <a:prstGeom prst="rect">
                  <a:avLst/>
                </a:prstGeom>
                <a:solidFill>
                  <a:srgbClr val="2E75B5"/>
                </a:solidFill>
                <a:ln>
                  <a:noFill/>
                </a:ln>
              </p:spPr>
              <p:txBody>
                <a:bodyPr spcFirstLastPara="1" wrap="square" lIns="91425" tIns="91425" rIns="91425" bIns="91425" anchor="ctr" anchorCtr="0">
                  <a:noAutofit/>
                </a:bodyPr>
                <a:lstStyle/>
                <a:p>
                  <a:pPr marL="299085" marR="0" lvl="0" indent="-28575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1057" name="Google Shape;1057;p49"/>
                <p:cNvPicPr preferRelativeResize="0"/>
                <p:nvPr/>
              </p:nvPicPr>
              <p:blipFill rotWithShape="1">
                <a:blip r:embed="rId1"/>
                <a:srcRect t="64560"/>
                <a:stretch>
                  <a:fillRect/>
                </a:stretch>
              </p:blipFill>
              <p:spPr>
                <a:xfrm rot="-5400000" flipH="1">
                  <a:off x="997180" y="5011208"/>
                  <a:ext cx="390163" cy="260907"/>
                </a:xfrm>
                <a:prstGeom prst="rect">
                  <a:avLst/>
                </a:prstGeom>
                <a:noFill/>
                <a:ln>
                  <a:noFill/>
                </a:ln>
              </p:spPr>
            </p:pic>
          </p:grpSp>
        </p:grpSp>
        <p:sp>
          <p:nvSpPr>
            <p:cNvPr id="1058" name="Google Shape;1058;p49"/>
            <p:cNvSpPr/>
            <p:nvPr/>
          </p:nvSpPr>
          <p:spPr>
            <a:xfrm>
              <a:off x="1133404" y="2023591"/>
              <a:ext cx="96978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1. Performance Measurement: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Investors use indices to assess the performance of their portfolios or specific investments in relation to the broader market.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9" name="Google Shape;1059;p49"/>
            <p:cNvSpPr/>
            <p:nvPr/>
          </p:nvSpPr>
          <p:spPr>
            <a:xfrm>
              <a:off x="1070256" y="3227666"/>
              <a:ext cx="96978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2. Benchmarking: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Indices are commonly used as benchmarks for investment managers to evaluate the success of their investment strategies.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0" name="Google Shape;1060;p49"/>
            <p:cNvSpPr/>
            <p:nvPr/>
          </p:nvSpPr>
          <p:spPr>
            <a:xfrm>
              <a:off x="1007108" y="4431741"/>
              <a:ext cx="969786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3. Investment Products: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Many financial products, such as exchange-traded funds (ETFs) and index mutual funds, are designed to replicate the performance of specific indices.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61" name="Google Shape;1061;p49"/>
            <p:cNvSpPr/>
            <p:nvPr/>
          </p:nvSpPr>
          <p:spPr>
            <a:xfrm>
              <a:off x="1021079" y="5492434"/>
              <a:ext cx="9929402"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4. Economic Analysis: </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Analysts and economists use indices as indicators of economic health and trends. For example, a rising stock market index may be seen as a sign of economic confidence.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065" name="Shape 1065"/>
        <p:cNvGrpSpPr/>
        <p:nvPr/>
      </p:nvGrpSpPr>
      <p:grpSpPr>
        <a:xfrm>
          <a:off x="0" y="0"/>
          <a:ext cx="0" cy="0"/>
          <a:chOff x="0" y="0"/>
          <a:chExt cx="0" cy="0"/>
        </a:xfrm>
      </p:grpSpPr>
      <p:sp>
        <p:nvSpPr>
          <p:cNvPr id="1066" name="Google Shape;1066;p50"/>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MARKET CAPITALIZATION</a:t>
            </a:r>
            <a:endParaRPr lang="en-US"/>
          </a:p>
        </p:txBody>
      </p:sp>
      <p:sp>
        <p:nvSpPr>
          <p:cNvPr id="1067" name="Google Shape;1067;p50"/>
          <p:cNvSpPr/>
          <p:nvPr/>
        </p:nvSpPr>
        <p:spPr>
          <a:xfrm>
            <a:off x="1236921" y="1531089"/>
            <a:ext cx="9718158" cy="4284921"/>
          </a:xfrm>
          <a:prstGeom prst="roundRect">
            <a:avLst>
              <a:gd name="adj" fmla="val 16667"/>
            </a:avLst>
          </a:prstGeom>
          <a:solidFill>
            <a:schemeClr val="accent4">
              <a:alpha val="29411"/>
            </a:schemeClr>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 Market capitalization</a:t>
            </a: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 often abbreviated as "market cap," is a financial metric used to measure the total value of a publicly traded company's outstanding shares of stock. It provides insight into a company's size and value in the financial markets. Market capitalization is calculated by multiplying the company's current stock price by the total number of outstanding shares.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 The formula for calculating market capitalization is: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Market Cap = Stock Price x Total Outstanding Shares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071" name="Shape 1071"/>
        <p:cNvGrpSpPr/>
        <p:nvPr/>
      </p:nvGrpSpPr>
      <p:grpSpPr>
        <a:xfrm>
          <a:off x="0" y="0"/>
          <a:ext cx="0" cy="0"/>
          <a:chOff x="0" y="0"/>
          <a:chExt cx="0" cy="0"/>
        </a:xfrm>
      </p:grpSpPr>
      <p:sp>
        <p:nvSpPr>
          <p:cNvPr id="1072" name="Google Shape;1072;p51"/>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MARKET CAPITALIZATION</a:t>
            </a:r>
            <a:endParaRPr lang="en-US"/>
          </a:p>
        </p:txBody>
      </p:sp>
      <p:grpSp>
        <p:nvGrpSpPr>
          <p:cNvPr id="1073" name="Google Shape;1073;p51"/>
          <p:cNvGrpSpPr/>
          <p:nvPr/>
        </p:nvGrpSpPr>
        <p:grpSpPr>
          <a:xfrm>
            <a:off x="1236919" y="1617913"/>
            <a:ext cx="9597657" cy="4940595"/>
            <a:chOff x="1297171" y="1509823"/>
            <a:chExt cx="9597657" cy="4940595"/>
          </a:xfrm>
        </p:grpSpPr>
        <p:sp>
          <p:nvSpPr>
            <p:cNvPr id="1074" name="Google Shape;1074;p51"/>
            <p:cNvSpPr/>
            <p:nvPr/>
          </p:nvSpPr>
          <p:spPr>
            <a:xfrm>
              <a:off x="1357423" y="4557823"/>
              <a:ext cx="9537405" cy="1892595"/>
            </a:xfrm>
            <a:custGeom>
              <a:avLst/>
              <a:gdLst/>
              <a:ahLst/>
              <a:cxnLst/>
              <a:rect l="l" t="t" r="r" b="b"/>
              <a:pathLst>
                <a:path w="8793126" h="1892595" extrusionOk="0">
                  <a:moveTo>
                    <a:pt x="0" y="0"/>
                  </a:moveTo>
                  <a:lnTo>
                    <a:pt x="8793126" y="0"/>
                  </a:lnTo>
                  <a:lnTo>
                    <a:pt x="8793126" y="1329070"/>
                  </a:lnTo>
                  <a:lnTo>
                    <a:pt x="1073888" y="1329070"/>
                  </a:lnTo>
                  <a:lnTo>
                    <a:pt x="536944" y="1892595"/>
                  </a:lnTo>
                  <a:lnTo>
                    <a:pt x="0" y="132907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75" name="Google Shape;1075;p51"/>
            <p:cNvSpPr/>
            <p:nvPr/>
          </p:nvSpPr>
          <p:spPr>
            <a:xfrm>
              <a:off x="1327297" y="3033823"/>
              <a:ext cx="9537405" cy="1892595"/>
            </a:xfrm>
            <a:custGeom>
              <a:avLst/>
              <a:gdLst/>
              <a:ahLst/>
              <a:cxnLst/>
              <a:rect l="l" t="t" r="r" b="b"/>
              <a:pathLst>
                <a:path w="8793126" h="1892595" extrusionOk="0">
                  <a:moveTo>
                    <a:pt x="0" y="0"/>
                  </a:moveTo>
                  <a:lnTo>
                    <a:pt x="8793126" y="0"/>
                  </a:lnTo>
                  <a:lnTo>
                    <a:pt x="8793126" y="1329070"/>
                  </a:lnTo>
                  <a:lnTo>
                    <a:pt x="1073888" y="1329070"/>
                  </a:lnTo>
                  <a:lnTo>
                    <a:pt x="536944" y="1892595"/>
                  </a:lnTo>
                  <a:lnTo>
                    <a:pt x="0" y="1329070"/>
                  </a:lnTo>
                  <a:close/>
                </a:path>
              </a:pathLst>
            </a:cu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76" name="Google Shape;1076;p51"/>
            <p:cNvSpPr/>
            <p:nvPr/>
          </p:nvSpPr>
          <p:spPr>
            <a:xfrm>
              <a:off x="1297171" y="1509823"/>
              <a:ext cx="9537405" cy="1892595"/>
            </a:xfrm>
            <a:custGeom>
              <a:avLst/>
              <a:gdLst/>
              <a:ahLst/>
              <a:cxnLst/>
              <a:rect l="l" t="t" r="r" b="b"/>
              <a:pathLst>
                <a:path w="8793126" h="1892595" extrusionOk="0">
                  <a:moveTo>
                    <a:pt x="0" y="0"/>
                  </a:moveTo>
                  <a:lnTo>
                    <a:pt x="8793126" y="0"/>
                  </a:lnTo>
                  <a:lnTo>
                    <a:pt x="8793126" y="1329070"/>
                  </a:lnTo>
                  <a:lnTo>
                    <a:pt x="1073888" y="1329070"/>
                  </a:lnTo>
                  <a:lnTo>
                    <a:pt x="536944" y="1892595"/>
                  </a:lnTo>
                  <a:lnTo>
                    <a:pt x="0" y="132907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77" name="Google Shape;1077;p51"/>
            <p:cNvSpPr txBox="1"/>
            <p:nvPr/>
          </p:nvSpPr>
          <p:spPr>
            <a:xfrm>
              <a:off x="1541721" y="1893259"/>
              <a:ext cx="75491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lt1"/>
                  </a:solidFill>
                  <a:latin typeface="Arial" panose="020B0604020202020204"/>
                  <a:ea typeface="Arial" panose="020B0604020202020204"/>
                  <a:cs typeface="Arial" panose="020B0604020202020204"/>
                  <a:sym typeface="Arial" panose="020B0604020202020204"/>
                </a:rPr>
                <a:t>01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8" name="Google Shape;1078;p51"/>
            <p:cNvSpPr txBox="1"/>
            <p:nvPr/>
          </p:nvSpPr>
          <p:spPr>
            <a:xfrm>
              <a:off x="1541721" y="3503436"/>
              <a:ext cx="75491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lt1"/>
                  </a:solidFill>
                  <a:latin typeface="Arial" panose="020B0604020202020204"/>
                  <a:ea typeface="Arial" panose="020B0604020202020204"/>
                  <a:cs typeface="Arial" panose="020B0604020202020204"/>
                  <a:sym typeface="Arial" panose="020B0604020202020204"/>
                </a:rPr>
                <a:t>02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79" name="Google Shape;1079;p51"/>
            <p:cNvSpPr txBox="1"/>
            <p:nvPr/>
          </p:nvSpPr>
          <p:spPr>
            <a:xfrm>
              <a:off x="1541721" y="5113613"/>
              <a:ext cx="754912"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chemeClr val="lt1"/>
                  </a:solidFill>
                  <a:latin typeface="Arial" panose="020B0604020202020204"/>
                  <a:ea typeface="Arial" panose="020B0604020202020204"/>
                  <a:cs typeface="Arial" panose="020B0604020202020204"/>
                  <a:sym typeface="Arial" panose="020B0604020202020204"/>
                </a:rPr>
                <a:t>03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0" name="Google Shape;1080;p51"/>
            <p:cNvSpPr txBox="1"/>
            <p:nvPr/>
          </p:nvSpPr>
          <p:spPr>
            <a:xfrm>
              <a:off x="2424220" y="1606345"/>
              <a:ext cx="805947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Stock Price: </a:t>
              </a: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The stock price used in the calculation is the current market price at which a company's shares are trading on a stock exchange. This price can fluctuate throughout the trading day based on supply and demand dynamics.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1" name="Google Shape;1081;p51"/>
            <p:cNvSpPr txBox="1"/>
            <p:nvPr/>
          </p:nvSpPr>
          <p:spPr>
            <a:xfrm>
              <a:off x="2424222" y="3065682"/>
              <a:ext cx="8346561"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Total Outstanding Shares: </a:t>
              </a: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This refers to the total number of shares of a company's stock that are available to the public and held by investors. It includes all common shares, but not shares that are held by insiders or restricted from public trading. Outstanding shares can change over time due to events such as stock issuances, stock buybacks, and employee stock option exercises.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600"/>
                <a:buFont typeface="Arial" panose="020B0604020202020204"/>
                <a:buNone/>
              </a:pPr>
              <a:endParaRPr sz="16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82" name="Google Shape;1082;p51"/>
            <p:cNvSpPr txBox="1"/>
            <p:nvPr/>
          </p:nvSpPr>
          <p:spPr>
            <a:xfrm>
              <a:off x="2424221" y="4774417"/>
              <a:ext cx="834656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Resulting Market Cap:  </a:t>
              </a:r>
              <a:r>
                <a:rPr lang="en-US" sz="1600" b="0" i="0" u="none" strike="noStrike" cap="none">
                  <a:solidFill>
                    <a:schemeClr val="lt1"/>
                  </a:solidFill>
                  <a:latin typeface="Arial" panose="020B0604020202020204"/>
                  <a:ea typeface="Arial" panose="020B0604020202020204"/>
                  <a:cs typeface="Arial" panose="020B0604020202020204"/>
                  <a:sym typeface="Arial" panose="020B0604020202020204"/>
                </a:rPr>
                <a:t>Once you multiply the stock price by the total outstanding shares, you get the market capitalization. Market cap is typically expressed in terms of billions or trillions of dollars, depending on the size of the company.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083" name="Google Shape;1083;p51"/>
          <p:cNvSpPr/>
          <p:nvPr/>
        </p:nvSpPr>
        <p:spPr>
          <a:xfrm>
            <a:off x="2937122" y="1128294"/>
            <a:ext cx="631775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Here's a breakdown of how market capitalization works: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087" name="Shape 1087"/>
        <p:cNvGrpSpPr/>
        <p:nvPr/>
      </p:nvGrpSpPr>
      <p:grpSpPr>
        <a:xfrm>
          <a:off x="0" y="0"/>
          <a:ext cx="0" cy="0"/>
          <a:chOff x="0" y="0"/>
          <a:chExt cx="0" cy="0"/>
        </a:xfrm>
      </p:grpSpPr>
      <p:sp>
        <p:nvSpPr>
          <p:cNvPr id="1088" name="Google Shape;1088;p52"/>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MARKET CAPITALIZATION</a:t>
            </a:r>
            <a:endParaRPr lang="en-US"/>
          </a:p>
        </p:txBody>
      </p:sp>
      <p:sp>
        <p:nvSpPr>
          <p:cNvPr id="1089" name="Google Shape;1089;p52"/>
          <p:cNvSpPr txBox="1"/>
          <p:nvPr/>
        </p:nvSpPr>
        <p:spPr>
          <a:xfrm>
            <a:off x="0" y="1201479"/>
            <a:ext cx="7564438" cy="646331"/>
          </a:xfrm>
          <a:prstGeom prst="rect">
            <a:avLst/>
          </a:prstGeom>
          <a:solidFill>
            <a:schemeClr val="dk2"/>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Market capitalization is commonly used to categorize companies into different size groups: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090" name="Google Shape;1090;p52"/>
          <p:cNvPicPr preferRelativeResize="0"/>
          <p:nvPr/>
        </p:nvPicPr>
        <p:blipFill rotWithShape="1">
          <a:blip r:embed="rId1"/>
          <a:srcRect/>
          <a:stretch>
            <a:fillRect/>
          </a:stretch>
        </p:blipFill>
        <p:spPr>
          <a:xfrm>
            <a:off x="7564438" y="-173832"/>
            <a:ext cx="4825207" cy="7205663"/>
          </a:xfrm>
          <a:prstGeom prst="rect">
            <a:avLst/>
          </a:prstGeom>
          <a:noFill/>
          <a:ln>
            <a:noFill/>
          </a:ln>
        </p:spPr>
      </p:pic>
      <p:sp>
        <p:nvSpPr>
          <p:cNvPr id="1091" name="Google Shape;1091;p52"/>
          <p:cNvSpPr txBox="1"/>
          <p:nvPr/>
        </p:nvSpPr>
        <p:spPr>
          <a:xfrm>
            <a:off x="590346" y="2388609"/>
            <a:ext cx="6469673" cy="3693319"/>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Large-Cap: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Companies with a market cap of over $10 billion are considered large-cap. These are often well-established and stable companies.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Mid-Cap: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Companies with a market cap between $2 billion and $10 billion fall into the mid-cap category. They are typically in a growth phase and may have more room for expansion.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Small-Cap: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Companies with a market cap between $300 million and $2 billion are small-cap companies. They often have more growth potential but can be riskier investments.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Micro-Cap: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Companies with a market cap below $300 million are classified as micro-cap. These are often smaller, emerging companies with higher risk.</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095" name="Shape 1095"/>
        <p:cNvGrpSpPr/>
        <p:nvPr/>
      </p:nvGrpSpPr>
      <p:grpSpPr>
        <a:xfrm>
          <a:off x="0" y="0"/>
          <a:ext cx="0" cy="0"/>
          <a:chOff x="0" y="0"/>
          <a:chExt cx="0" cy="0"/>
        </a:xfrm>
      </p:grpSpPr>
      <p:sp>
        <p:nvSpPr>
          <p:cNvPr id="1096" name="Google Shape;1096;p53"/>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MARKET CAPITALIZATION</a:t>
            </a:r>
            <a:endParaRPr lang="en-US"/>
          </a:p>
        </p:txBody>
      </p:sp>
      <p:grpSp>
        <p:nvGrpSpPr>
          <p:cNvPr id="1097" name="Google Shape;1097;p53"/>
          <p:cNvGrpSpPr/>
          <p:nvPr/>
        </p:nvGrpSpPr>
        <p:grpSpPr>
          <a:xfrm>
            <a:off x="109870" y="1769301"/>
            <a:ext cx="11972260" cy="4480626"/>
            <a:chOff x="216128" y="3743432"/>
            <a:chExt cx="23944520" cy="8961252"/>
          </a:xfrm>
        </p:grpSpPr>
        <p:grpSp>
          <p:nvGrpSpPr>
            <p:cNvPr id="1098" name="Google Shape;1098;p53"/>
            <p:cNvGrpSpPr/>
            <p:nvPr/>
          </p:nvGrpSpPr>
          <p:grpSpPr>
            <a:xfrm>
              <a:off x="9759610" y="4099554"/>
              <a:ext cx="3889426" cy="3432425"/>
              <a:chOff x="9421092" y="3620823"/>
              <a:chExt cx="4382227" cy="3867323"/>
            </a:xfrm>
          </p:grpSpPr>
          <p:sp>
            <p:nvSpPr>
              <p:cNvPr id="1099" name="Google Shape;1099;p53"/>
              <p:cNvSpPr/>
              <p:nvPr/>
            </p:nvSpPr>
            <p:spPr>
              <a:xfrm>
                <a:off x="9935995" y="3620823"/>
                <a:ext cx="3867323" cy="3867323"/>
              </a:xfrm>
              <a:prstGeom prst="roundRect">
                <a:avLst>
                  <a:gd name="adj" fmla="val 16667"/>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00" name="Google Shape;1100;p53"/>
              <p:cNvSpPr/>
              <p:nvPr/>
            </p:nvSpPr>
            <p:spPr>
              <a:xfrm rot="-5400000">
                <a:off x="9359023" y="4519579"/>
                <a:ext cx="899992" cy="775855"/>
              </a:xfrm>
              <a:prstGeom prst="triangle">
                <a:avLst>
                  <a:gd name="adj" fmla="val 50000"/>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grpSp>
          <p:nvGrpSpPr>
            <p:cNvPr id="1101" name="Google Shape;1101;p53"/>
            <p:cNvGrpSpPr/>
            <p:nvPr/>
          </p:nvGrpSpPr>
          <p:grpSpPr>
            <a:xfrm>
              <a:off x="12882596" y="5815766"/>
              <a:ext cx="3927614" cy="3432425"/>
              <a:chOff x="12939768" y="5554484"/>
              <a:chExt cx="4425254" cy="3867323"/>
            </a:xfrm>
          </p:grpSpPr>
          <p:sp>
            <p:nvSpPr>
              <p:cNvPr id="1102" name="Google Shape;1102;p53"/>
              <p:cNvSpPr/>
              <p:nvPr/>
            </p:nvSpPr>
            <p:spPr>
              <a:xfrm>
                <a:off x="12939768" y="5554484"/>
                <a:ext cx="3867323" cy="3867323"/>
              </a:xfrm>
              <a:prstGeom prst="roundRect">
                <a:avLst>
                  <a:gd name="adj" fmla="val 16667"/>
                </a:avLst>
              </a:prstGeom>
              <a:solidFill>
                <a:srgbClr val="1F94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03" name="Google Shape;1103;p53"/>
              <p:cNvSpPr/>
              <p:nvPr/>
            </p:nvSpPr>
            <p:spPr>
              <a:xfrm rot="5400000">
                <a:off x="16527098" y="7100219"/>
                <a:ext cx="899992" cy="775855"/>
              </a:xfrm>
              <a:prstGeom prst="triangle">
                <a:avLst>
                  <a:gd name="adj" fmla="val 50000"/>
                </a:avLst>
              </a:prstGeom>
              <a:solidFill>
                <a:srgbClr val="1F94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grpSp>
          <p:nvGrpSpPr>
            <p:cNvPr id="1104" name="Google Shape;1104;p53"/>
            <p:cNvGrpSpPr/>
            <p:nvPr/>
          </p:nvGrpSpPr>
          <p:grpSpPr>
            <a:xfrm>
              <a:off x="7621989" y="6564659"/>
              <a:ext cx="3927615" cy="3432425"/>
              <a:chOff x="7012629" y="6398263"/>
              <a:chExt cx="4425254" cy="3867323"/>
            </a:xfrm>
          </p:grpSpPr>
          <p:sp>
            <p:nvSpPr>
              <p:cNvPr id="1105" name="Google Shape;1105;p53"/>
              <p:cNvSpPr/>
              <p:nvPr/>
            </p:nvSpPr>
            <p:spPr>
              <a:xfrm>
                <a:off x="7570559" y="6398263"/>
                <a:ext cx="3867323" cy="3867323"/>
              </a:xfrm>
              <a:prstGeom prst="roundRect">
                <a:avLst>
                  <a:gd name="adj" fmla="val 16667"/>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06" name="Google Shape;1106;p53"/>
              <p:cNvSpPr/>
              <p:nvPr/>
            </p:nvSpPr>
            <p:spPr>
              <a:xfrm rot="-5400000">
                <a:off x="6950560" y="7943997"/>
                <a:ext cx="899992" cy="775855"/>
              </a:xfrm>
              <a:prstGeom prst="triangle">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grpSp>
          <p:nvGrpSpPr>
            <p:cNvPr id="1107" name="Google Shape;1107;p53"/>
            <p:cNvGrpSpPr/>
            <p:nvPr/>
          </p:nvGrpSpPr>
          <p:grpSpPr>
            <a:xfrm>
              <a:off x="10783164" y="8753223"/>
              <a:ext cx="3938609" cy="3432425"/>
              <a:chOff x="10574332" y="8864124"/>
              <a:chExt cx="4437641" cy="3867323"/>
            </a:xfrm>
          </p:grpSpPr>
          <p:sp>
            <p:nvSpPr>
              <p:cNvPr id="1108" name="Google Shape;1108;p53"/>
              <p:cNvSpPr/>
              <p:nvPr/>
            </p:nvSpPr>
            <p:spPr>
              <a:xfrm>
                <a:off x="10574332" y="8864124"/>
                <a:ext cx="3867323" cy="3867323"/>
              </a:xfrm>
              <a:prstGeom prst="round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09" name="Google Shape;1109;p53"/>
              <p:cNvSpPr/>
              <p:nvPr/>
            </p:nvSpPr>
            <p:spPr>
              <a:xfrm rot="5400000">
                <a:off x="14174050" y="10967540"/>
                <a:ext cx="899992" cy="775855"/>
              </a:xfrm>
              <a:prstGeom prst="triangle">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1110" name="Google Shape;1110;p53"/>
            <p:cNvSpPr/>
            <p:nvPr/>
          </p:nvSpPr>
          <p:spPr>
            <a:xfrm>
              <a:off x="11062724" y="5085420"/>
              <a:ext cx="1819872" cy="12003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300"/>
                <a:buFont typeface="Arial" panose="020B0604020202020204"/>
                <a:buNone/>
              </a:pPr>
              <a:r>
                <a:rPr lang="en-US" sz="3300" b="0" i="0" u="none" strike="noStrike" cap="none">
                  <a:solidFill>
                    <a:srgbClr val="FFFFFF"/>
                  </a:solidFill>
                  <a:latin typeface="Arial" panose="020B0604020202020204"/>
                  <a:ea typeface="Arial" panose="020B0604020202020204"/>
                  <a:cs typeface="Arial" panose="020B0604020202020204"/>
                  <a:sym typeface="Arial" panose="020B0604020202020204"/>
                </a:rPr>
                <a:t>01</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1" name="Google Shape;1111;p53"/>
            <p:cNvSpPr/>
            <p:nvPr/>
          </p:nvSpPr>
          <p:spPr>
            <a:xfrm>
              <a:off x="13688872" y="6977020"/>
              <a:ext cx="1819872" cy="12003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300"/>
                <a:buFont typeface="Arial" panose="020B0604020202020204"/>
                <a:buNone/>
              </a:pPr>
              <a:r>
                <a:rPr lang="en-US" sz="3300" b="0" i="0" u="none" strike="noStrike" cap="none">
                  <a:solidFill>
                    <a:srgbClr val="FFFFFF"/>
                  </a:solidFill>
                  <a:latin typeface="Arial" panose="020B0604020202020204"/>
                  <a:ea typeface="Arial" panose="020B0604020202020204"/>
                  <a:cs typeface="Arial" panose="020B0604020202020204"/>
                  <a:sym typeface="Arial" panose="020B0604020202020204"/>
                </a:rPr>
                <a:t>02</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2" name="Google Shape;1112;p53"/>
            <p:cNvSpPr/>
            <p:nvPr/>
          </p:nvSpPr>
          <p:spPr>
            <a:xfrm>
              <a:off x="8916592" y="7714860"/>
              <a:ext cx="1819872" cy="12003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300"/>
                <a:buFont typeface="Arial" panose="020B0604020202020204"/>
                <a:buNone/>
              </a:pPr>
              <a:r>
                <a:rPr lang="en-US" sz="3300" b="0" i="0" u="none" strike="noStrike" cap="none">
                  <a:solidFill>
                    <a:srgbClr val="FFFFFF"/>
                  </a:solidFill>
                  <a:latin typeface="Arial" panose="020B0604020202020204"/>
                  <a:ea typeface="Arial" panose="020B0604020202020204"/>
                  <a:cs typeface="Arial" panose="020B0604020202020204"/>
                  <a:sym typeface="Arial" panose="020B0604020202020204"/>
                </a:rPr>
                <a:t>04</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3" name="Google Shape;1113;p53"/>
            <p:cNvSpPr/>
            <p:nvPr/>
          </p:nvSpPr>
          <p:spPr>
            <a:xfrm>
              <a:off x="11633318" y="9954006"/>
              <a:ext cx="1819872" cy="12003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300"/>
                <a:buFont typeface="Arial" panose="020B0604020202020204"/>
                <a:buNone/>
              </a:pPr>
              <a:r>
                <a:rPr lang="en-US" sz="3300" b="0" i="0" u="none" strike="noStrike" cap="none">
                  <a:solidFill>
                    <a:srgbClr val="FFFFFF"/>
                  </a:solidFill>
                  <a:latin typeface="Arial" panose="020B0604020202020204"/>
                  <a:ea typeface="Arial" panose="020B0604020202020204"/>
                  <a:cs typeface="Arial" panose="020B0604020202020204"/>
                  <a:sym typeface="Arial" panose="020B0604020202020204"/>
                </a:rPr>
                <a:t>03</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4" name="Google Shape;1114;p53"/>
            <p:cNvSpPr txBox="1"/>
            <p:nvPr/>
          </p:nvSpPr>
          <p:spPr>
            <a:xfrm>
              <a:off x="17116638" y="6073978"/>
              <a:ext cx="7039350" cy="3174214"/>
            </a:xfrm>
            <a:prstGeom prst="rect">
              <a:avLst/>
            </a:prstGeom>
            <a:noFill/>
            <a:ln>
              <a:noFill/>
            </a:ln>
          </p:spPr>
          <p:txBody>
            <a:bodyPr spcFirstLastPara="1" wrap="square" lIns="108700" tIns="54350" rIns="108700" bIns="5435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Investment Decisions: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Market cap can help investors make investment decisions. Some investors prefer larger, more stable companies, while others seek the growth potential of smaller companies.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5" name="Google Shape;1115;p53"/>
            <p:cNvSpPr txBox="1"/>
            <p:nvPr/>
          </p:nvSpPr>
          <p:spPr>
            <a:xfrm>
              <a:off x="15142464" y="10022912"/>
              <a:ext cx="9018184" cy="2681772"/>
            </a:xfrm>
            <a:prstGeom prst="rect">
              <a:avLst/>
            </a:prstGeom>
            <a:noFill/>
            <a:ln>
              <a:noFill/>
            </a:ln>
          </p:spPr>
          <p:txBody>
            <a:bodyPr spcFirstLastPara="1" wrap="square" lIns="108700" tIns="54350" rIns="108700" bIns="5435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Index Composition: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Market cap is a key factor in determining which companies are included in stock market indices. Many indices, like the S&amp;P 500, select companies based on market cap.</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6" name="Google Shape;1116;p53"/>
            <p:cNvSpPr txBox="1"/>
            <p:nvPr/>
          </p:nvSpPr>
          <p:spPr>
            <a:xfrm>
              <a:off x="216128" y="3743432"/>
              <a:ext cx="9333988" cy="2681772"/>
            </a:xfrm>
            <a:prstGeom prst="rect">
              <a:avLst/>
            </a:prstGeom>
            <a:noFill/>
            <a:ln>
              <a:noFill/>
            </a:ln>
          </p:spPr>
          <p:txBody>
            <a:bodyPr spcFirstLastPara="1" wrap="square" lIns="108700" tIns="54350" rIns="108700" bIns="54350" anchor="t" anchorCtr="0">
              <a:spAutoFit/>
            </a:bodyPr>
            <a:lstStyle/>
            <a:p>
              <a:pPr marL="0" marR="0" lvl="0" indent="0" algn="r"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Comparative Analysis: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It allows investors to compare companies of similar size within the same industry or sector. For example, it's common to compare the market cap of one technology company to another.</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17" name="Google Shape;1117;p53"/>
            <p:cNvSpPr txBox="1"/>
            <p:nvPr/>
          </p:nvSpPr>
          <p:spPr>
            <a:xfrm>
              <a:off x="655610" y="6977020"/>
              <a:ext cx="6659952" cy="3174214"/>
            </a:xfrm>
            <a:prstGeom prst="rect">
              <a:avLst/>
            </a:prstGeom>
            <a:noFill/>
            <a:ln>
              <a:noFill/>
            </a:ln>
          </p:spPr>
          <p:txBody>
            <a:bodyPr spcFirstLastPara="1" wrap="square" lIns="108700" tIns="54350" rIns="108700" bIns="54350" anchor="t" anchorCtr="0">
              <a:spAutoFit/>
            </a:bodyPr>
            <a:lstStyle/>
            <a:p>
              <a:pPr marL="0" marR="0" lvl="0" indent="0" algn="r"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Risk Assessment: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Smaller companies with lower market caps are often considered riskier investments because they may be more volatile and have less financial stability.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118" name="Google Shape;1118;p53"/>
          <p:cNvSpPr/>
          <p:nvPr/>
        </p:nvSpPr>
        <p:spPr>
          <a:xfrm>
            <a:off x="0" y="1244009"/>
            <a:ext cx="12192000" cy="398000"/>
          </a:xfrm>
          <a:prstGeom prst="rect">
            <a:avLst/>
          </a:prstGeom>
          <a:solidFill>
            <a:schemeClr val="dk2"/>
          </a:solid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Market capitalization is an important metric for investors and analysts for several reasons: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129" name="Shape 1129"/>
        <p:cNvGrpSpPr/>
        <p:nvPr/>
      </p:nvGrpSpPr>
      <p:grpSpPr>
        <a:xfrm>
          <a:off x="0" y="0"/>
          <a:ext cx="0" cy="0"/>
          <a:chOff x="0" y="0"/>
          <a:chExt cx="0" cy="0"/>
        </a:xfrm>
      </p:grpSpPr>
      <p:grpSp>
        <p:nvGrpSpPr>
          <p:cNvPr id="1130" name="Google Shape;1130;p55"/>
          <p:cNvGrpSpPr/>
          <p:nvPr/>
        </p:nvGrpSpPr>
        <p:grpSpPr>
          <a:xfrm>
            <a:off x="4820748" y="531121"/>
            <a:ext cx="7371252" cy="6326878"/>
            <a:chOff x="4820748" y="531121"/>
            <a:chExt cx="7371252" cy="6326878"/>
          </a:xfrm>
        </p:grpSpPr>
        <p:sp>
          <p:nvSpPr>
            <p:cNvPr id="1131" name="Google Shape;1131;p55"/>
            <p:cNvSpPr/>
            <p:nvPr/>
          </p:nvSpPr>
          <p:spPr>
            <a:xfrm>
              <a:off x="4820748" y="531121"/>
              <a:ext cx="7371252" cy="6326878"/>
            </a:xfrm>
            <a:custGeom>
              <a:avLst/>
              <a:gdLst/>
              <a:ahLst/>
              <a:cxnLst/>
              <a:rect l="l" t="t" r="r" b="b"/>
              <a:pathLst>
                <a:path w="7371252" h="6326878" extrusionOk="0">
                  <a:moveTo>
                    <a:pt x="4069070" y="0"/>
                  </a:moveTo>
                  <a:cubicBezTo>
                    <a:pt x="5403395" y="0"/>
                    <a:pt x="6587716" y="642250"/>
                    <a:pt x="7329760" y="1634481"/>
                  </a:cubicBezTo>
                  <a:lnTo>
                    <a:pt x="7371252" y="1692828"/>
                  </a:lnTo>
                  <a:lnTo>
                    <a:pt x="7371252" y="6326878"/>
                  </a:lnTo>
                  <a:lnTo>
                    <a:pt x="683876" y="6326878"/>
                  </a:lnTo>
                  <a:lnTo>
                    <a:pt x="589093" y="6179031"/>
                  </a:lnTo>
                  <a:cubicBezTo>
                    <a:pt x="215270" y="5563799"/>
                    <a:pt x="0" y="4841574"/>
                    <a:pt x="0" y="4069070"/>
                  </a:cubicBezTo>
                  <a:cubicBezTo>
                    <a:pt x="0" y="1821785"/>
                    <a:pt x="1821785" y="0"/>
                    <a:pt x="4069070" y="0"/>
                  </a:cubicBezTo>
                  <a:close/>
                </a:path>
              </a:pathLst>
            </a:custGeom>
            <a:solidFill>
              <a:srgbClr val="E0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1132" name="Google Shape;1132;p55"/>
            <p:cNvCxnSpPr/>
            <p:nvPr/>
          </p:nvCxnSpPr>
          <p:spPr>
            <a:xfrm>
              <a:off x="11883463" y="4050043"/>
              <a:ext cx="0" cy="1986517"/>
            </a:xfrm>
            <a:prstGeom prst="straightConnector1">
              <a:avLst/>
            </a:prstGeom>
            <a:noFill/>
            <a:ln w="9525" cap="flat" cmpd="sng">
              <a:solidFill>
                <a:srgbClr val="7F7F7F"/>
              </a:solidFill>
              <a:prstDash val="solid"/>
              <a:miter lim="800000"/>
              <a:headEnd type="none" w="sm" len="sm"/>
              <a:tailEnd type="none" w="sm" len="sm"/>
            </a:ln>
          </p:spPr>
        </p:cxnSp>
      </p:grpSp>
      <p:grpSp>
        <p:nvGrpSpPr>
          <p:cNvPr id="1133" name="Google Shape;1133;p55"/>
          <p:cNvGrpSpPr/>
          <p:nvPr/>
        </p:nvGrpSpPr>
        <p:grpSpPr>
          <a:xfrm>
            <a:off x="0" y="0"/>
            <a:ext cx="3264675" cy="3483123"/>
            <a:chOff x="0" y="0"/>
            <a:chExt cx="3264675" cy="3483123"/>
          </a:xfrm>
        </p:grpSpPr>
        <p:sp>
          <p:nvSpPr>
            <p:cNvPr id="1134" name="Google Shape;1134;p55"/>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blipFill rotWithShape="1">
              <a:blip r:embed="rId1"/>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35" name="Google Shape;1135;p55"/>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solidFill>
              <a:schemeClr val="accent4">
                <a:alpha val="8352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1136" name="Google Shape;1136;p55"/>
          <p:cNvSpPr/>
          <p:nvPr/>
        </p:nvSpPr>
        <p:spPr>
          <a:xfrm>
            <a:off x="745108" y="855691"/>
            <a:ext cx="5471182" cy="547118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137" name="Google Shape;1137;p55" descr="A person in a suit shaking hands with another person&#10;&#10;Description automatically generated"/>
          <p:cNvPicPr preferRelativeResize="0"/>
          <p:nvPr/>
        </p:nvPicPr>
        <p:blipFill rotWithShape="1">
          <a:blip r:embed="rId2"/>
          <a:srcRect l="17301" t="950" r="17301" b="949"/>
          <a:stretch>
            <a:fillRect/>
          </a:stretch>
        </p:blipFill>
        <p:spPr>
          <a:xfrm>
            <a:off x="665986" y="855691"/>
            <a:ext cx="5471182" cy="5471187"/>
          </a:xfrm>
          <a:custGeom>
            <a:avLst/>
            <a:gdLst/>
            <a:ahLst/>
            <a:cxnLst/>
            <a:rect l="l" t="t" r="r" b="b"/>
            <a:pathLst>
              <a:path w="5471182" h="5471188" extrusionOk="0">
                <a:moveTo>
                  <a:pt x="2735591" y="0"/>
                </a:moveTo>
                <a:cubicBezTo>
                  <a:pt x="4246416" y="0"/>
                  <a:pt x="5471182" y="1224767"/>
                  <a:pt x="5471182" y="2735594"/>
                </a:cubicBezTo>
                <a:cubicBezTo>
                  <a:pt x="5471182" y="4246421"/>
                  <a:pt x="4246416" y="5471188"/>
                  <a:pt x="2735591" y="5471188"/>
                </a:cubicBezTo>
                <a:cubicBezTo>
                  <a:pt x="1224766" y="5471188"/>
                  <a:pt x="0" y="4246421"/>
                  <a:pt x="0" y="2735594"/>
                </a:cubicBezTo>
                <a:cubicBezTo>
                  <a:pt x="0" y="1224767"/>
                  <a:pt x="1224766" y="0"/>
                  <a:pt x="2735591" y="0"/>
                </a:cubicBezTo>
                <a:close/>
              </a:path>
            </a:pathLst>
          </a:custGeom>
          <a:noFill/>
          <a:ln>
            <a:noFill/>
          </a:ln>
        </p:spPr>
      </p:pic>
      <p:sp>
        <p:nvSpPr>
          <p:cNvPr id="1138" name="Google Shape;1138;p55"/>
          <p:cNvSpPr/>
          <p:nvPr/>
        </p:nvSpPr>
        <p:spPr>
          <a:xfrm>
            <a:off x="853414" y="855691"/>
            <a:ext cx="5471183" cy="5471187"/>
          </a:xfrm>
          <a:prstGeom prst="ellipse">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139" name="Google Shape;1139;p55"/>
          <p:cNvSpPr txBox="1"/>
          <p:nvPr/>
        </p:nvSpPr>
        <p:spPr>
          <a:xfrm>
            <a:off x="6803154" y="3472867"/>
            <a:ext cx="488524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AC6D1"/>
              </a:buClr>
              <a:buSzPts val="4800"/>
              <a:buFont typeface="Arial" panose="020B0604020202020204"/>
              <a:buNone/>
            </a:pPr>
            <a:r>
              <a:rPr lang="en-US" sz="4800" b="1" i="0" u="none" strike="noStrike" cap="none">
                <a:solidFill>
                  <a:srgbClr val="2AC6D1"/>
                </a:solidFill>
                <a:latin typeface="Arial" panose="020B0604020202020204"/>
                <a:ea typeface="Arial" panose="020B0604020202020204"/>
                <a:cs typeface="Arial" panose="020B0604020202020204"/>
                <a:sym typeface="Arial" panose="020B0604020202020204"/>
              </a:rPr>
              <a:t>THANK YOU !!!</a:t>
            </a:r>
            <a:endParaRPr sz="20600" b="1" i="0" u="none" strike="noStrike" cap="none">
              <a:solidFill>
                <a:srgbClr val="2AC6D1"/>
              </a:solidFill>
              <a:latin typeface="Arial" panose="020B0604020202020204"/>
              <a:ea typeface="Arial" panose="020B0604020202020204"/>
              <a:cs typeface="Arial" panose="020B0604020202020204"/>
              <a:sym typeface="Arial" panose="020B0604020202020204"/>
            </a:endParaRPr>
          </a:p>
        </p:txBody>
      </p:sp>
      <p:pic>
        <p:nvPicPr>
          <p:cNvPr id="1140" name="Google Shape;1140;p55" descr="Text&#10;&#10;Description automatically generated"/>
          <p:cNvPicPr preferRelativeResize="0"/>
          <p:nvPr/>
        </p:nvPicPr>
        <p:blipFill rotWithShape="1">
          <a:blip r:embed="rId3"/>
          <a:srcRect l="6879" t="8371" r="6879" b="8371"/>
          <a:stretch>
            <a:fillRect/>
          </a:stretch>
        </p:blipFill>
        <p:spPr>
          <a:xfrm>
            <a:off x="7828034" y="2437493"/>
            <a:ext cx="2835486" cy="830997"/>
          </a:xfrm>
          <a:prstGeom prst="rect">
            <a:avLst/>
          </a:prstGeom>
          <a:noFill/>
          <a:ln>
            <a:noFill/>
          </a:ln>
        </p:spPr>
      </p:pic>
      <p:sp>
        <p:nvSpPr>
          <p:cNvPr id="1141" name="Google Shape;1141;p55"/>
          <p:cNvSpPr txBox="1"/>
          <p:nvPr/>
        </p:nvSpPr>
        <p:spPr>
          <a:xfrm>
            <a:off x="7646836" y="5262840"/>
            <a:ext cx="3197881"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2"/>
                </a:solidFill>
                <a:latin typeface="Arial" panose="020B0604020202020204"/>
                <a:ea typeface="Arial" panose="020B0604020202020204"/>
                <a:cs typeface="Arial" panose="020B0604020202020204"/>
                <a:sym typeface="Arial" panose="020B0604020202020204"/>
              </a:rPr>
              <a:t>Contact us today!</a:t>
            </a:r>
            <a:br>
              <a:rPr lang="en-US" sz="2000" b="1" i="0" u="none" strike="noStrike" cap="none">
                <a:solidFill>
                  <a:schemeClr val="dk2"/>
                </a:solidFill>
                <a:latin typeface="Arial" panose="020B0604020202020204"/>
                <a:ea typeface="Arial" panose="020B0604020202020204"/>
                <a:cs typeface="Arial" panose="020B0604020202020204"/>
                <a:sym typeface="Arial" panose="020B0604020202020204"/>
              </a:rPr>
            </a:br>
            <a:r>
              <a:rPr lang="en-US" sz="2000" b="0" i="0" u="sng" strike="noStrike" cap="none">
                <a:solidFill>
                  <a:schemeClr val="dk2"/>
                </a:solidFill>
                <a:latin typeface="Arial" panose="020B0604020202020204"/>
                <a:ea typeface="Arial" panose="020B0604020202020204"/>
                <a:cs typeface="Arial" panose="020B0604020202020204"/>
                <a:sym typeface="Arial" panose="020B0604020202020204"/>
                <a:hlinkClick r:id="rId4"/>
              </a:rPr>
              <a:t>https://imarticus.org/</a:t>
            </a:r>
            <a:endParaRPr sz="2000" b="0" i="0" u="none" strike="noStrike" cap="none">
              <a:solidFill>
                <a:schemeClr val="dk2"/>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1_Office Theme">
  <a:themeElements>
    <a:clrScheme name="Imarticus_Elearning">
      <a:dk1>
        <a:srgbClr val="000000"/>
      </a:dk1>
      <a:lt1>
        <a:srgbClr val="FFFFFF"/>
      </a:lt1>
      <a:dk2>
        <a:srgbClr val="44546A"/>
      </a:dk2>
      <a:lt2>
        <a:srgbClr val="E7E6E6"/>
      </a:lt2>
      <a:accent1>
        <a:srgbClr val="E34855"/>
      </a:accent1>
      <a:accent2>
        <a:srgbClr val="F97700"/>
      </a:accent2>
      <a:accent3>
        <a:srgbClr val="4BC7A0"/>
      </a:accent3>
      <a:accent4>
        <a:srgbClr val="2AC6D1"/>
      </a:accent4>
      <a:accent5>
        <a:srgbClr val="5B9BD5"/>
      </a:accent5>
      <a:accent6>
        <a:srgbClr val="DD5148"/>
      </a:accent6>
      <a:hlink>
        <a:srgbClr val="333A45"/>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38842</Words>
  <Application>WPS Presentation</Application>
  <PresentationFormat/>
  <Paragraphs>795</Paragraphs>
  <Slides>54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54</vt:i4>
      </vt:variant>
    </vt:vector>
  </HeadingPairs>
  <TitlesOfParts>
    <vt:vector size="64" baseType="lpstr">
      <vt:lpstr>Arial</vt:lpstr>
      <vt:lpstr>SimSun</vt:lpstr>
      <vt:lpstr>Wingdings</vt:lpstr>
      <vt:lpstr>Arial</vt:lpstr>
      <vt:lpstr>Calibri</vt:lpstr>
      <vt:lpstr>Microsoft YaHei</vt:lpstr>
      <vt:lpstr>Arial Unicode MS</vt:lpstr>
      <vt:lpstr>Noto Sans Symbols</vt:lpstr>
      <vt:lpstr>Segoe Print</vt:lpstr>
      <vt:lpstr>1_Office Theme</vt:lpstr>
      <vt:lpstr>PowerPoint 演示文稿</vt:lpstr>
      <vt:lpstr>PowerPoint 演示文稿</vt:lpstr>
      <vt:lpstr>YOU ARE GOING TO LEARN…</vt:lpstr>
      <vt:lpstr>TYPES OF EQUITY </vt:lpstr>
      <vt:lpstr>PowerPoint 演示文稿</vt:lpstr>
      <vt:lpstr>TYPES OF EQUITY </vt:lpstr>
      <vt:lpstr>TYPES OF EQUITY </vt:lpstr>
      <vt:lpstr>TYPES OF EQUITY </vt:lpstr>
      <vt:lpstr>ADVANTAGES AND DISADVANTAGES OF EQUITY</vt:lpstr>
      <vt:lpstr>ADVANTAGES AND DISADVANTAGES OF EQUITY</vt:lpstr>
      <vt:lpstr>ADVANTAGES AND DISADVANTAGES OF EQUITY</vt:lpstr>
      <vt:lpstr>ADVANTAGES AND DISADVANTAGES OF EQUITY</vt:lpstr>
      <vt:lpstr>ADVANTAGES AND DISADVANTAGES OF EQUITY</vt:lpstr>
      <vt:lpstr>PowerPoint 演示文稿</vt:lpstr>
      <vt:lpstr>PREFERRED SHARES</vt:lpstr>
      <vt:lpstr>PREFERRED SHARES</vt:lpstr>
      <vt:lpstr>TYPES OF PREFERENCE SHARES</vt:lpstr>
      <vt:lpstr>TYPES OF PREFERENCE SHARES</vt:lpstr>
      <vt:lpstr>TYPES OF PREFERENCE SHARES</vt:lpstr>
      <vt:lpstr>TYPES OF PREFERENCE SHARES</vt:lpstr>
      <vt:lpstr>ADVANTAGES OF PREFERRED SHARES </vt:lpstr>
      <vt:lpstr>ADVANTAGES OF PREFERRED SHARES </vt:lpstr>
      <vt:lpstr>ADVANTAGES OF PREFERRED SHARES </vt:lpstr>
      <vt:lpstr>DISADVANTAGES OF PREFERRED SHARES </vt:lpstr>
      <vt:lpstr>DISADVANTAGES OF PREFERRED SHARES </vt:lpstr>
      <vt:lpstr>DISADVANTAGES OF PREFERRED SHARES </vt:lpstr>
      <vt:lpstr>PowerPoint 演示文稿</vt:lpstr>
      <vt:lpstr>DEPOSITORY RECEIPTS</vt:lpstr>
      <vt:lpstr>DEPOSITORY RECEIPTS</vt:lpstr>
      <vt:lpstr>ADVANTAGES OF DEPOSITORY RECEIPTS</vt:lpstr>
      <vt:lpstr>DISADVANTAGES OF DEPOSITORY RECEIPTS</vt:lpstr>
      <vt:lpstr>TYPES OF DEPOSITORY RECEIPTS</vt:lpstr>
      <vt:lpstr>TYPES OF DEPOSITORY RECEIPTS</vt:lpstr>
      <vt:lpstr>TYPES OF DEPOSITORY RECEIPTS</vt:lpstr>
      <vt:lpstr>PowerPoint 演示文稿</vt:lpstr>
      <vt:lpstr>SHARE CAPITAL </vt:lpstr>
      <vt:lpstr>OFFER FOR SALE (OFS) </vt:lpstr>
      <vt:lpstr>OFFER FOR SALE (OFS) </vt:lpstr>
      <vt:lpstr>OFFER FOR SALE (OFS) </vt:lpstr>
      <vt:lpstr>DIFFERENCE BETWEEN FRESH NEW SHARES ISSUE &amp; OFS</vt:lpstr>
      <vt:lpstr>DIFFERENCE BETWEEN FRESH NEW SHARES ISSUE &amp; OFS</vt:lpstr>
      <vt:lpstr>DIFFERENCE BETWEEN FRESH NEW SHARES ISSUE &amp; OFS</vt:lpstr>
      <vt:lpstr>PRIMARY MARKET</vt:lpstr>
      <vt:lpstr>SECONDARY MARKET </vt:lpstr>
      <vt:lpstr>PowerPoint 演示文稿</vt:lpstr>
      <vt:lpstr>WHAT IS AN INDEX?</vt:lpstr>
      <vt:lpstr>WHAT IS AN INDEX?</vt:lpstr>
      <vt:lpstr>WHAT IS AN INDEX?</vt:lpstr>
      <vt:lpstr>WHAT IS AN INDEX?</vt:lpstr>
      <vt:lpstr>MARKET CAPITALIZATION</vt:lpstr>
      <vt:lpstr>MARKET CAPITALIZATION</vt:lpstr>
      <vt:lpstr>MARKET CAPITALIZATION</vt:lpstr>
      <vt:lpstr>MARKET CAPITALIZATION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Ravi Kumar</cp:lastModifiedBy>
  <cp:revision>1</cp:revision>
  <dcterms:created xsi:type="dcterms:W3CDTF">2026-03-16T18:09:12Z</dcterms:created>
  <dcterms:modified xsi:type="dcterms:W3CDTF">2026-03-16T18:09:12Z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3EE347639B5B4F0099C246F07BC33D6E_13</vt:lpwstr>
  </property>
  <property fmtid="{D5CDD505-2E9C-101B-9397-08002B2CF9AE}" pid="3" name="KSOProductBuildVer">
    <vt:lpwstr>1033-12.2.0.23196</vt:lpwstr>
  </property>
</Properties>
</file>