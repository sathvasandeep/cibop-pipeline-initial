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301"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AE1F60-2A2B-44DB-BF15-9D3A41893EC8}"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99" autoAdjust="0"/>
    <p:restoredTop sz="95033" autoAdjust="0"/>
  </p:normalViewPr>
  <p:slideViewPr>
    <p:cSldViewPr snapToGrid="0">
      <p:cViewPr varScale="1">
        <p:scale>
          <a:sx n="82" d="100"/>
          <a:sy n="82" d="100"/>
        </p:scale>
        <p:origin x="1142" y="72"/>
      </p:cViewPr>
      <p:guideLst/>
    </p:cSldViewPr>
  </p:slideViewPr>
  <p:notesTextViewPr>
    <p:cViewPr>
      <p:scale>
        <a:sx n="1" d="1"/>
        <a:sy n="1" d="1"/>
      </p:scale>
      <p:origin x="0" y="0"/>
    </p:cViewPr>
  </p:notesTextViewPr>
  <p:sorterViewPr>
    <p:cViewPr>
      <p:scale>
        <a:sx n="100" d="100"/>
        <a:sy n="100" d="100"/>
      </p:scale>
      <p:origin x="0" y="-1874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RISHI\Desktop\Pappa\IT%20Forms%20NPS\Imarticus%20-%20Trainer%20Invoice%20-%20Rishikesh%20-%2018th%20July'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600" b="1" i="0" u="none" strike="noStrike" kern="1200" baseline="0">
                <a:solidFill>
                  <a:schemeClr val="tx1"/>
                </a:solidFill>
                <a:latin typeface="+mn-lt"/>
                <a:ea typeface="+mn-ea"/>
                <a:cs typeface="+mn-cs"/>
              </a:defRPr>
            </a:pPr>
            <a:r>
              <a:rPr lang="en-IN" sz="1600"/>
              <a:t>Bond Cashflow</a:t>
            </a:r>
            <a:endParaRPr lang="en-IN" sz="1600"/>
          </a:p>
        </c:rich>
      </c:tx>
      <c:layout/>
      <c:overlay val="0"/>
      <c:spPr>
        <a:noFill/>
        <a:ln>
          <a:noFill/>
        </a:ln>
        <a:effectLst/>
      </c:spPr>
    </c:title>
    <c:autoTitleDeleted val="0"/>
    <c:plotArea>
      <c:layout/>
      <c:barChart>
        <c:barDir val="col"/>
        <c:grouping val="clustered"/>
        <c:varyColors val="0"/>
        <c:ser>
          <c:idx val="0"/>
          <c:order val="0"/>
          <c:tx>
            <c:strRef>
              <c:f>'[Imarticus - Trainer Invoice - Rishikesh - 18th July''25.xlsx]Sheet1'!$G$3</c:f>
              <c:strCache>
                <c:ptCount val="1"/>
                <c:pt idx="0">
                  <c:v>Cashflow</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en-US" sz="16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'[Imarticus - Trainer Invoice - Rishikesh - 18th July''25.xlsx]Sheet1'!$F$4:$F$15</c:f>
              <c:strCache>
                <c:ptCount val="12"/>
                <c:pt idx="0">
                  <c:v>Year-1</c:v>
                </c:pt>
                <c:pt idx="1">
                  <c:v>Year-2</c:v>
                </c:pt>
                <c:pt idx="2">
                  <c:v>Year-3</c:v>
                </c:pt>
                <c:pt idx="3">
                  <c:v>Year-4</c:v>
                </c:pt>
                <c:pt idx="4">
                  <c:v>Year-5</c:v>
                </c:pt>
                <c:pt idx="5">
                  <c:v>Year-6</c:v>
                </c:pt>
                <c:pt idx="6">
                  <c:v>Year-7</c:v>
                </c:pt>
                <c:pt idx="7">
                  <c:v>Year-8</c:v>
                </c:pt>
                <c:pt idx="8">
                  <c:v>Year-9</c:v>
                </c:pt>
                <c:pt idx="9">
                  <c:v>Year-10</c:v>
                </c:pt>
                <c:pt idx="10">
                  <c:v>Year-11</c:v>
                </c:pt>
                <c:pt idx="11">
                  <c:v>Year-12</c:v>
                </c:pt>
              </c:strCache>
            </c:strRef>
          </c:cat>
          <c:val>
            <c:numRef>
              <c:f>'[Imarticus - Trainer Invoice - Rishikesh - 18th July''25.xlsx]Sheet1'!$G$4:$G$15</c:f>
              <c:numCache>
                <c:formatCode>General</c:formatCode>
                <c:ptCount val="12"/>
                <c:pt idx="0">
                  <c:v>50</c:v>
                </c:pt>
                <c:pt idx="1">
                  <c:v>50</c:v>
                </c:pt>
                <c:pt idx="2">
                  <c:v>50</c:v>
                </c:pt>
                <c:pt idx="3">
                  <c:v>50</c:v>
                </c:pt>
                <c:pt idx="4">
                  <c:v>50</c:v>
                </c:pt>
                <c:pt idx="5">
                  <c:v>50</c:v>
                </c:pt>
                <c:pt idx="6">
                  <c:v>50</c:v>
                </c:pt>
                <c:pt idx="7">
                  <c:v>50</c:v>
                </c:pt>
                <c:pt idx="8">
                  <c:v>50</c:v>
                </c:pt>
                <c:pt idx="9">
                  <c:v>50</c:v>
                </c:pt>
                <c:pt idx="10">
                  <c:v>50</c:v>
                </c:pt>
                <c:pt idx="11">
                  <c:v>1050</c:v>
                </c:pt>
              </c:numCache>
            </c:numRef>
          </c:val>
        </c:ser>
        <c:dLbls>
          <c:showLegendKey val="0"/>
          <c:showVal val="1"/>
          <c:showCatName val="0"/>
          <c:showSerName val="0"/>
          <c:showPercent val="0"/>
          <c:showBubbleSize val="0"/>
        </c:dLbls>
        <c:gapWidth val="246"/>
        <c:overlap val="-28"/>
        <c:axId val="670249738"/>
        <c:axId val="361225974"/>
      </c:barChart>
      <c:catAx>
        <c:axId val="670249738"/>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600" b="0" i="0" u="none" strike="noStrike" kern="1200" baseline="0">
                <a:solidFill>
                  <a:schemeClr val="tx1"/>
                </a:solidFill>
                <a:latin typeface="+mn-lt"/>
                <a:ea typeface="+mn-ea"/>
                <a:cs typeface="+mn-cs"/>
              </a:defRPr>
            </a:pPr>
          </a:p>
        </c:txPr>
        <c:crossAx val="361225974"/>
        <c:crosses val="autoZero"/>
        <c:auto val="1"/>
        <c:lblAlgn val="ctr"/>
        <c:lblOffset val="100"/>
        <c:noMultiLvlLbl val="0"/>
      </c:catAx>
      <c:valAx>
        <c:axId val="361225974"/>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600" b="0" i="0" u="none" strike="noStrike" kern="1200" baseline="0">
                <a:solidFill>
                  <a:schemeClr val="tx1"/>
                </a:solidFill>
                <a:latin typeface="+mn-lt"/>
                <a:ea typeface="+mn-ea"/>
                <a:cs typeface="+mn-cs"/>
              </a:defRPr>
            </a:pPr>
          </a:p>
        </c:txPr>
        <c:crossAx val="67024973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US" sz="16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03ceadeb-d5a5-4afb-86f0-af425e94259c}"/>
      </c:ext>
    </c:extLst>
  </c:chart>
  <c:spPr>
    <a:solidFill>
      <a:schemeClr val="bg1"/>
    </a:solidFill>
    <a:ln w="9525" cap="flat" cmpd="sng" algn="ctr">
      <a:solidFill>
        <a:schemeClr val="tx1">
          <a:lumMod val="15000"/>
          <a:lumOff val="85000"/>
        </a:schemeClr>
      </a:solidFill>
      <a:round/>
    </a:ln>
    <a:effectLst/>
  </c:spPr>
  <c:txPr>
    <a:bodyPr/>
    <a:lstStyle/>
    <a:p>
      <a:pPr>
        <a:defRPr lang="en-US" sz="1600">
          <a:solidFill>
            <a:schemeClr val="tx1"/>
          </a:solidFill>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9" name="Google Shape;9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9"/>
        <p:cNvGrpSpPr/>
        <p:nvPr/>
      </p:nvGrpSpPr>
      <p:grpSpPr>
        <a:xfrm>
          <a:off x="0" y="0"/>
          <a:ext cx="0" cy="0"/>
          <a:chOff x="0" y="0"/>
          <a:chExt cx="0" cy="0"/>
        </a:xfrm>
      </p:grpSpPr>
      <p:sp>
        <p:nvSpPr>
          <p:cNvPr id="110" name="Google Shape;11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1" name="Google Shape;1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2" name="Google Shape;12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8"/>
        <p:cNvGrpSpPr/>
        <p:nvPr/>
      </p:nvGrpSpPr>
      <p:grpSpPr>
        <a:xfrm>
          <a:off x="0" y="0"/>
          <a:ext cx="0" cy="0"/>
          <a:chOff x="0" y="0"/>
          <a:chExt cx="0" cy="0"/>
        </a:xfrm>
      </p:grpSpPr>
      <p:sp>
        <p:nvSpPr>
          <p:cNvPr id="139" name="Google Shape;13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0" name="Google Shape;14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6"/>
        <p:cNvGrpSpPr/>
        <p:nvPr/>
      </p:nvGrpSpPr>
      <p:grpSpPr>
        <a:xfrm>
          <a:off x="0" y="0"/>
          <a:ext cx="0" cy="0"/>
          <a:chOff x="0" y="0"/>
          <a:chExt cx="0" cy="0"/>
        </a:xfrm>
      </p:grpSpPr>
      <p:sp>
        <p:nvSpPr>
          <p:cNvPr id="167" name="Google Shape;16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8" name="Google Shape;16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1"/>
        <p:cNvGrpSpPr/>
        <p:nvPr/>
      </p:nvGrpSpPr>
      <p:grpSpPr>
        <a:xfrm>
          <a:off x="0" y="0"/>
          <a:ext cx="0" cy="0"/>
          <a:chOff x="0" y="0"/>
          <a:chExt cx="0" cy="0"/>
        </a:xfrm>
      </p:grpSpPr>
      <p:sp>
        <p:nvSpPr>
          <p:cNvPr id="212" name="Google Shape;21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3" name="Google Shape;21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6"/>
        <p:cNvGrpSpPr/>
        <p:nvPr/>
      </p:nvGrpSpPr>
      <p:grpSpPr>
        <a:xfrm>
          <a:off x="0" y="0"/>
          <a:ext cx="0" cy="0"/>
          <a:chOff x="0" y="0"/>
          <a:chExt cx="0" cy="0"/>
        </a:xfrm>
      </p:grpSpPr>
      <p:sp>
        <p:nvSpPr>
          <p:cNvPr id="257" name="Google Shape;25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8" name="Google Shape;25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9"/>
        <p:cNvGrpSpPr/>
        <p:nvPr/>
      </p:nvGrpSpPr>
      <p:grpSpPr>
        <a:xfrm>
          <a:off x="0" y="0"/>
          <a:ext cx="0" cy="0"/>
          <a:chOff x="0" y="0"/>
          <a:chExt cx="0" cy="0"/>
        </a:xfrm>
      </p:grpSpPr>
      <p:sp>
        <p:nvSpPr>
          <p:cNvPr id="270" name="Google Shape;27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1" name="Google Shape;27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2"/>
        <p:cNvGrpSpPr/>
        <p:nvPr/>
      </p:nvGrpSpPr>
      <p:grpSpPr>
        <a:xfrm>
          <a:off x="0" y="0"/>
          <a:ext cx="0" cy="0"/>
          <a:chOff x="0" y="0"/>
          <a:chExt cx="0" cy="0"/>
        </a:xfrm>
      </p:grpSpPr>
      <p:sp>
        <p:nvSpPr>
          <p:cNvPr id="293" name="Google Shape;29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4" name="Google Shape;29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15"/>
        <p:cNvGrpSpPr/>
        <p:nvPr/>
      </p:nvGrpSpPr>
      <p:grpSpPr>
        <a:xfrm>
          <a:off x="0" y="0"/>
          <a:ext cx="0" cy="0"/>
          <a:chOff x="0" y="0"/>
          <a:chExt cx="0" cy="0"/>
        </a:xfrm>
      </p:grpSpPr>
      <p:sp>
        <p:nvSpPr>
          <p:cNvPr id="316" name="Google Shape;31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7" name="Google Shape;31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1"/>
        <p:cNvGrpSpPr/>
        <p:nvPr/>
      </p:nvGrpSpPr>
      <p:grpSpPr>
        <a:xfrm>
          <a:off x="0" y="0"/>
          <a:ext cx="0" cy="0"/>
          <a:chOff x="0" y="0"/>
          <a:chExt cx="0" cy="0"/>
        </a:xfrm>
      </p:grpSpPr>
      <p:sp>
        <p:nvSpPr>
          <p:cNvPr id="332" name="Google Shape;33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3" name="Google Shape;33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7"/>
        <p:cNvGrpSpPr/>
        <p:nvPr/>
      </p:nvGrpSpPr>
      <p:grpSpPr>
        <a:xfrm>
          <a:off x="0" y="0"/>
          <a:ext cx="0" cy="0"/>
          <a:chOff x="0" y="0"/>
          <a:chExt cx="0" cy="0"/>
        </a:xfrm>
      </p:grpSpPr>
      <p:sp>
        <p:nvSpPr>
          <p:cNvPr id="348" name="Google Shape;34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9" name="Google Shape;34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61"/>
        <p:cNvGrpSpPr/>
        <p:nvPr/>
      </p:nvGrpSpPr>
      <p:grpSpPr>
        <a:xfrm>
          <a:off x="0" y="0"/>
          <a:ext cx="0" cy="0"/>
          <a:chOff x="0" y="0"/>
          <a:chExt cx="0" cy="0"/>
        </a:xfrm>
      </p:grpSpPr>
      <p:sp>
        <p:nvSpPr>
          <p:cNvPr id="362" name="Google Shape;36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3" name="Google Shape;3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7"/>
        <p:cNvGrpSpPr/>
        <p:nvPr/>
      </p:nvGrpSpPr>
      <p:grpSpPr>
        <a:xfrm>
          <a:off x="0" y="0"/>
          <a:ext cx="0" cy="0"/>
          <a:chOff x="0" y="0"/>
          <a:chExt cx="0" cy="0"/>
        </a:xfrm>
      </p:grpSpPr>
      <p:sp>
        <p:nvSpPr>
          <p:cNvPr id="378" name="Google Shape;37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9" name="Google Shape;37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95"/>
        <p:cNvGrpSpPr/>
        <p:nvPr/>
      </p:nvGrpSpPr>
      <p:grpSpPr>
        <a:xfrm>
          <a:off x="0" y="0"/>
          <a:ext cx="0" cy="0"/>
          <a:chOff x="0" y="0"/>
          <a:chExt cx="0" cy="0"/>
        </a:xfrm>
      </p:grpSpPr>
      <p:sp>
        <p:nvSpPr>
          <p:cNvPr id="396" name="Google Shape;39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7" name="Google Shape;3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95"/>
        <p:cNvGrpSpPr/>
        <p:nvPr/>
      </p:nvGrpSpPr>
      <p:grpSpPr>
        <a:xfrm>
          <a:off x="0" y="0"/>
          <a:ext cx="0" cy="0"/>
          <a:chOff x="0" y="0"/>
          <a:chExt cx="0" cy="0"/>
        </a:xfrm>
      </p:grpSpPr>
      <p:sp>
        <p:nvSpPr>
          <p:cNvPr id="396" name="Google Shape;39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7" name="Google Shape;3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11"/>
        <p:cNvGrpSpPr/>
        <p:nvPr/>
      </p:nvGrpSpPr>
      <p:grpSpPr>
        <a:xfrm>
          <a:off x="0" y="0"/>
          <a:ext cx="0" cy="0"/>
          <a:chOff x="0" y="0"/>
          <a:chExt cx="0" cy="0"/>
        </a:xfrm>
      </p:grpSpPr>
      <p:sp>
        <p:nvSpPr>
          <p:cNvPr id="412" name="Google Shape;41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13" name="Google Shape;41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35"/>
        <p:cNvGrpSpPr/>
        <p:nvPr/>
      </p:nvGrpSpPr>
      <p:grpSpPr>
        <a:xfrm>
          <a:off x="0" y="0"/>
          <a:ext cx="0" cy="0"/>
          <a:chOff x="0" y="0"/>
          <a:chExt cx="0" cy="0"/>
        </a:xfrm>
      </p:grpSpPr>
      <p:sp>
        <p:nvSpPr>
          <p:cNvPr id="436" name="Google Shape;436;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37" name="Google Shape;43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47"/>
        <p:cNvGrpSpPr/>
        <p:nvPr/>
      </p:nvGrpSpPr>
      <p:grpSpPr>
        <a:xfrm>
          <a:off x="0" y="0"/>
          <a:ext cx="0" cy="0"/>
          <a:chOff x="0" y="0"/>
          <a:chExt cx="0" cy="0"/>
        </a:xfrm>
      </p:grpSpPr>
      <p:sp>
        <p:nvSpPr>
          <p:cNvPr id="448" name="Google Shape;44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49" name="Google Shape;44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4"/>
        <p:cNvGrpSpPr/>
        <p:nvPr/>
      </p:nvGrpSpPr>
      <p:grpSpPr>
        <a:xfrm>
          <a:off x="0" y="0"/>
          <a:ext cx="0" cy="0"/>
          <a:chOff x="0" y="0"/>
          <a:chExt cx="0" cy="0"/>
        </a:xfrm>
      </p:grpSpPr>
      <p:sp>
        <p:nvSpPr>
          <p:cNvPr id="465" name="Google Shape;46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66" name="Google Shape;46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9"/>
        <p:cNvGrpSpPr/>
        <p:nvPr/>
      </p:nvGrpSpPr>
      <p:grpSpPr>
        <a:xfrm>
          <a:off x="0" y="0"/>
          <a:ext cx="0" cy="0"/>
          <a:chOff x="0" y="0"/>
          <a:chExt cx="0" cy="0"/>
        </a:xfrm>
      </p:grpSpPr>
      <p:sp>
        <p:nvSpPr>
          <p:cNvPr id="480" name="Google Shape;480;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81" name="Google Shape;48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9"/>
        <p:cNvGrpSpPr/>
        <p:nvPr/>
      </p:nvGrpSpPr>
      <p:grpSpPr>
        <a:xfrm>
          <a:off x="0" y="0"/>
          <a:ext cx="0" cy="0"/>
          <a:chOff x="0" y="0"/>
          <a:chExt cx="0" cy="0"/>
        </a:xfrm>
      </p:grpSpPr>
      <p:sp>
        <p:nvSpPr>
          <p:cNvPr id="500" name="Google Shape;500;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01" name="Google Shape;50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9"/>
        <p:cNvGrpSpPr/>
        <p:nvPr/>
      </p:nvGrpSpPr>
      <p:grpSpPr>
        <a:xfrm>
          <a:off x="0" y="0"/>
          <a:ext cx="0" cy="0"/>
          <a:chOff x="0" y="0"/>
          <a:chExt cx="0" cy="0"/>
        </a:xfrm>
      </p:grpSpPr>
      <p:sp>
        <p:nvSpPr>
          <p:cNvPr id="520" name="Google Shape;52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21" name="Google Shape;52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1"/>
        <p:cNvGrpSpPr/>
        <p:nvPr/>
      </p:nvGrpSpPr>
      <p:grpSpPr>
        <a:xfrm>
          <a:off x="0" y="0"/>
          <a:ext cx="0" cy="0"/>
          <a:chOff x="0" y="0"/>
          <a:chExt cx="0" cy="0"/>
        </a:xfrm>
      </p:grpSpPr>
      <p:sp>
        <p:nvSpPr>
          <p:cNvPr id="532" name="Google Shape;53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panose="020B0604020202020204"/>
              <a:buNone/>
            </a:pPr>
            <a:r>
              <a:rPr lang="en-US">
                <a:solidFill>
                  <a:schemeClr val="dk1"/>
                </a:solidFill>
              </a:rPr>
              <a:t>Anshul’s observations:</a:t>
            </a:r>
            <a:endParaRPr lang="en-US">
              <a:solidFill>
                <a:schemeClr val="dk1"/>
              </a:solidFill>
            </a:endParaRPr>
          </a:p>
          <a:p>
            <a:pPr marL="0" lvl="0" indent="0" algn="l" rtl="0">
              <a:spcBef>
                <a:spcPts val="0"/>
              </a:spcBef>
              <a:spcAft>
                <a:spcPts val="0"/>
              </a:spcAft>
              <a:buClr>
                <a:schemeClr val="dk1"/>
              </a:buClr>
              <a:buSzPts val="1100"/>
              <a:buFont typeface="Arial" panose="020B0604020202020204"/>
              <a:buNone/>
            </a:pPr>
            <a:endParaRPr>
              <a:solidFill>
                <a:schemeClr val="dk1"/>
              </a:solidFill>
            </a:endParaRPr>
          </a:p>
          <a:p>
            <a:pPr marL="0" lvl="0" indent="0" algn="l" rtl="0">
              <a:spcBef>
                <a:spcPts val="0"/>
              </a:spcBef>
              <a:spcAft>
                <a:spcPts val="0"/>
              </a:spcAft>
              <a:buClr>
                <a:schemeClr val="dk1"/>
              </a:buClr>
              <a:buSzPts val="1200"/>
              <a:buFont typeface="Calibri" panose="020F0502020204030204"/>
              <a:buNone/>
            </a:pPr>
            <a:r>
              <a:rPr lang="en-US">
                <a:solidFill>
                  <a:schemeClr val="dk1"/>
                </a:solidFill>
              </a:rPr>
              <a:t>Advantage Point 3 - “Less international regulation” - Can be elaborated further… </a:t>
            </a:r>
            <a:endParaRPr lang="en-US">
              <a:solidFill>
                <a:schemeClr val="dk1"/>
              </a:solidFill>
            </a:endParaRPr>
          </a:p>
          <a:p>
            <a:pPr marL="0" lvl="0" indent="0" algn="l" rtl="0">
              <a:spcBef>
                <a:spcPts val="0"/>
              </a:spcBef>
              <a:spcAft>
                <a:spcPts val="0"/>
              </a:spcAft>
              <a:buClr>
                <a:schemeClr val="dk1"/>
              </a:buClr>
              <a:buSzPts val="1200"/>
              <a:buFont typeface="Calibri" panose="020F0502020204030204"/>
              <a:buNone/>
            </a:pPr>
            <a:endParaRPr>
              <a:solidFill>
                <a:schemeClr val="dk1"/>
              </a:solidFill>
            </a:endParaRPr>
          </a:p>
          <a:p>
            <a:pPr marL="0" lvl="0" indent="0" algn="l" rtl="0">
              <a:spcBef>
                <a:spcPts val="0"/>
              </a:spcBef>
              <a:spcAft>
                <a:spcPts val="0"/>
              </a:spcAft>
              <a:buClr>
                <a:schemeClr val="dk1"/>
              </a:buClr>
              <a:buSzPts val="1200"/>
              <a:buFont typeface="Calibri" panose="020F0502020204030204"/>
              <a:buNone/>
            </a:pPr>
            <a:r>
              <a:rPr lang="en-US">
                <a:solidFill>
                  <a:schemeClr val="dk1"/>
                </a:solidFill>
              </a:rPr>
              <a:t>Disadvantages also are not very clear - </a:t>
            </a:r>
            <a:endParaRPr lang="en-US">
              <a:solidFill>
                <a:schemeClr val="dk1"/>
              </a:solidFill>
            </a:endParaRPr>
          </a:p>
          <a:p>
            <a:pPr marL="457200" lvl="0" indent="-298450" algn="l" rtl="0">
              <a:spcBef>
                <a:spcPts val="0"/>
              </a:spcBef>
              <a:spcAft>
                <a:spcPts val="0"/>
              </a:spcAft>
              <a:buClr>
                <a:schemeClr val="dk1"/>
              </a:buClr>
              <a:buSzPts val="1100"/>
              <a:buFont typeface="Calibri" panose="020F0502020204030204"/>
              <a:buAutoNum type="arabicParenR"/>
            </a:pPr>
            <a:r>
              <a:rPr lang="en-US">
                <a:solidFill>
                  <a:schemeClr val="dk1"/>
                </a:solidFill>
              </a:rPr>
              <a:t>Would the higher administrative cost result in less capital raised for the Co ? Need to added as speaking Points</a:t>
            </a:r>
            <a:endParaRPr lang="en-US">
              <a:solidFill>
                <a:schemeClr val="dk1"/>
              </a:solidFill>
            </a:endParaRPr>
          </a:p>
          <a:p>
            <a:pPr marL="457200" lvl="0" indent="-298450" algn="l" rtl="0">
              <a:spcBef>
                <a:spcPts val="0"/>
              </a:spcBef>
              <a:spcAft>
                <a:spcPts val="0"/>
              </a:spcAft>
              <a:buClr>
                <a:schemeClr val="dk1"/>
              </a:buClr>
              <a:buSzPts val="1100"/>
              <a:buFont typeface="Calibri" panose="020F0502020204030204"/>
              <a:buAutoNum type="arabicParenR"/>
            </a:pPr>
            <a:r>
              <a:rPr lang="en-US">
                <a:solidFill>
                  <a:schemeClr val="dk1"/>
                </a:solidFill>
              </a:rPr>
              <a:t>If a US investor is buying ADR, then why would he/she need to do FX transaction ? Need to added as speaking Points</a:t>
            </a:r>
            <a:endParaRPr lang="en-US">
              <a:solidFill>
                <a:schemeClr val="dk1"/>
              </a:solidFill>
            </a:endParaRPr>
          </a:p>
          <a:p>
            <a:pPr marL="457200" lvl="0" indent="-298450" algn="l" rtl="0">
              <a:spcBef>
                <a:spcPts val="0"/>
              </a:spcBef>
              <a:spcAft>
                <a:spcPts val="0"/>
              </a:spcAft>
              <a:buClr>
                <a:schemeClr val="dk1"/>
              </a:buClr>
              <a:buSzPts val="1100"/>
              <a:buFont typeface="Calibri" panose="020F0502020204030204"/>
              <a:buAutoNum type="arabicParenR"/>
            </a:pPr>
            <a:r>
              <a:rPr lang="en-US">
                <a:solidFill>
                  <a:schemeClr val="dk1"/>
                </a:solidFill>
              </a:rPr>
              <a:t>Transaction costs &amp; listing costs ? Need to added as speaking Points</a:t>
            </a:r>
            <a:endParaRPr lang="en-US">
              <a:solidFill>
                <a:schemeClr val="dk1"/>
              </a:solidFill>
            </a:endParaRPr>
          </a:p>
          <a:p>
            <a:pPr marL="0" lvl="0" indent="0" algn="l" rtl="0">
              <a:spcBef>
                <a:spcPts val="0"/>
              </a:spcBef>
              <a:spcAft>
                <a:spcPts val="0"/>
              </a:spcAft>
              <a:buNone/>
            </a:pPr>
            <a:endParaRPr lang="en-US">
              <a:solidFill>
                <a:schemeClr val="dk1"/>
              </a:solidFill>
            </a:endParaRPr>
          </a:p>
        </p:txBody>
      </p:sp>
      <p:sp>
        <p:nvSpPr>
          <p:cNvPr id="534" name="Google Shape;534;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2"/>
        <p:cNvGrpSpPr/>
        <p:nvPr/>
      </p:nvGrpSpPr>
      <p:grpSpPr>
        <a:xfrm>
          <a:off x="0" y="0"/>
          <a:ext cx="0" cy="0"/>
          <a:chOff x="0" y="0"/>
          <a:chExt cx="0" cy="0"/>
        </a:xfrm>
      </p:grpSpPr>
      <p:sp>
        <p:nvSpPr>
          <p:cNvPr id="543" name="Google Shape;54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44" name="Google Shape;54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52"/>
        <p:cNvGrpSpPr/>
        <p:nvPr/>
      </p:nvGrpSpPr>
      <p:grpSpPr>
        <a:xfrm>
          <a:off x="0" y="0"/>
          <a:ext cx="0" cy="0"/>
          <a:chOff x="0" y="0"/>
          <a:chExt cx="0" cy="0"/>
        </a:xfrm>
      </p:grpSpPr>
      <p:sp>
        <p:nvSpPr>
          <p:cNvPr id="553" name="Google Shape;55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54" name="Google Shape;55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76"/>
        <p:cNvGrpSpPr/>
        <p:nvPr/>
      </p:nvGrpSpPr>
      <p:grpSpPr>
        <a:xfrm>
          <a:off x="0" y="0"/>
          <a:ext cx="0" cy="0"/>
          <a:chOff x="0" y="0"/>
          <a:chExt cx="0" cy="0"/>
        </a:xfrm>
      </p:grpSpPr>
      <p:sp>
        <p:nvSpPr>
          <p:cNvPr id="577" name="Google Shape;577;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8" name="Google Shape;57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9"/>
        <p:cNvGrpSpPr/>
        <p:nvPr/>
      </p:nvGrpSpPr>
      <p:grpSpPr>
        <a:xfrm>
          <a:off x="0" y="0"/>
          <a:ext cx="0" cy="0"/>
          <a:chOff x="0" y="0"/>
          <a:chExt cx="0" cy="0"/>
        </a:xfrm>
      </p:grpSpPr>
      <p:sp>
        <p:nvSpPr>
          <p:cNvPr id="600" name="Google Shape;600;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1" name="Google Shape;60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1"/>
        <p:cNvGrpSpPr/>
        <p:nvPr/>
      </p:nvGrpSpPr>
      <p:grpSpPr>
        <a:xfrm>
          <a:off x="0" y="0"/>
          <a:ext cx="0" cy="0"/>
          <a:chOff x="0" y="0"/>
          <a:chExt cx="0" cy="0"/>
        </a:xfrm>
      </p:grpSpPr>
      <p:sp>
        <p:nvSpPr>
          <p:cNvPr id="612" name="Google Shape;61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3" name="Google Shape;61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8"/>
        <p:cNvGrpSpPr/>
        <p:nvPr/>
      </p:nvGrpSpPr>
      <p:grpSpPr>
        <a:xfrm>
          <a:off x="0" y="0"/>
          <a:ext cx="0" cy="0"/>
          <a:chOff x="0" y="0"/>
          <a:chExt cx="0" cy="0"/>
        </a:xfrm>
      </p:grpSpPr>
      <p:sp>
        <p:nvSpPr>
          <p:cNvPr id="619" name="Google Shape;619;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20" name="Google Shape;62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7"/>
        <p:cNvGrpSpPr/>
        <p:nvPr/>
      </p:nvGrpSpPr>
      <p:grpSpPr>
        <a:xfrm>
          <a:off x="0" y="0"/>
          <a:ext cx="0" cy="0"/>
          <a:chOff x="0" y="0"/>
          <a:chExt cx="0" cy="0"/>
        </a:xfrm>
      </p:grpSpPr>
      <p:sp>
        <p:nvSpPr>
          <p:cNvPr id="628" name="Google Shape;62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29" name="Google Shape;62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39"/>
        <p:cNvGrpSpPr/>
        <p:nvPr/>
      </p:nvGrpSpPr>
      <p:grpSpPr>
        <a:xfrm>
          <a:off x="0" y="0"/>
          <a:ext cx="0" cy="0"/>
          <a:chOff x="0" y="0"/>
          <a:chExt cx="0" cy="0"/>
        </a:xfrm>
      </p:grpSpPr>
      <p:sp>
        <p:nvSpPr>
          <p:cNvPr id="640" name="Google Shape;640;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1" name="Google Shape;64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61"/>
        <p:cNvGrpSpPr/>
        <p:nvPr/>
      </p:nvGrpSpPr>
      <p:grpSpPr>
        <a:xfrm>
          <a:off x="0" y="0"/>
          <a:ext cx="0" cy="0"/>
          <a:chOff x="0" y="0"/>
          <a:chExt cx="0" cy="0"/>
        </a:xfrm>
      </p:grpSpPr>
      <p:sp>
        <p:nvSpPr>
          <p:cNvPr id="662" name="Google Shape;66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63" name="Google Shape;66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7"/>
        <p:cNvGrpSpPr/>
        <p:nvPr/>
      </p:nvGrpSpPr>
      <p:grpSpPr>
        <a:xfrm>
          <a:off x="0" y="0"/>
          <a:ext cx="0" cy="0"/>
          <a:chOff x="0" y="0"/>
          <a:chExt cx="0" cy="0"/>
        </a:xfrm>
      </p:grpSpPr>
      <p:sp>
        <p:nvSpPr>
          <p:cNvPr id="678" name="Google Shape;678;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79" name="Google Shape;67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84"/>
        <p:cNvGrpSpPr/>
        <p:nvPr/>
      </p:nvGrpSpPr>
      <p:grpSpPr>
        <a:xfrm>
          <a:off x="0" y="0"/>
          <a:ext cx="0" cy="0"/>
          <a:chOff x="0" y="0"/>
          <a:chExt cx="0" cy="0"/>
        </a:xfrm>
      </p:grpSpPr>
      <p:sp>
        <p:nvSpPr>
          <p:cNvPr id="685" name="Google Shape;685;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6" name="Google Shape;68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12"/>
        <p:cNvGrpSpPr/>
        <p:nvPr/>
      </p:nvGrpSpPr>
      <p:grpSpPr>
        <a:xfrm>
          <a:off x="0" y="0"/>
          <a:ext cx="0" cy="0"/>
          <a:chOff x="0" y="0"/>
          <a:chExt cx="0" cy="0"/>
        </a:xfrm>
      </p:grpSpPr>
      <p:sp>
        <p:nvSpPr>
          <p:cNvPr id="713" name="Google Shape;713;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14" name="Google Shape;71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21"/>
        <p:cNvGrpSpPr/>
        <p:nvPr/>
      </p:nvGrpSpPr>
      <p:grpSpPr>
        <a:xfrm>
          <a:off x="0" y="0"/>
          <a:ext cx="0" cy="0"/>
          <a:chOff x="0" y="0"/>
          <a:chExt cx="0" cy="0"/>
        </a:xfrm>
      </p:grpSpPr>
      <p:sp>
        <p:nvSpPr>
          <p:cNvPr id="722" name="Google Shape;722;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23" name="Google Shape;72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7"/>
        <p:cNvGrpSpPr/>
        <p:nvPr/>
      </p:nvGrpSpPr>
      <p:grpSpPr>
        <a:xfrm>
          <a:off x="0" y="0"/>
          <a:ext cx="0" cy="0"/>
          <a:chOff x="0" y="0"/>
          <a:chExt cx="0" cy="0"/>
        </a:xfrm>
      </p:grpSpPr>
      <p:sp>
        <p:nvSpPr>
          <p:cNvPr id="748" name="Google Shape;748;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49" name="Google Shape;749;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61"/>
        <p:cNvGrpSpPr/>
        <p:nvPr/>
      </p:nvGrpSpPr>
      <p:grpSpPr>
        <a:xfrm>
          <a:off x="0" y="0"/>
          <a:ext cx="0" cy="0"/>
          <a:chOff x="0" y="0"/>
          <a:chExt cx="0" cy="0"/>
        </a:xfrm>
      </p:grpSpPr>
      <p:sp>
        <p:nvSpPr>
          <p:cNvPr id="762" name="Google Shape;76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63" name="Google Shape;76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95"/>
        <p:cNvGrpSpPr/>
        <p:nvPr/>
      </p:nvGrpSpPr>
      <p:grpSpPr>
        <a:xfrm>
          <a:off x="0" y="0"/>
          <a:ext cx="0" cy="0"/>
          <a:chOff x="0" y="0"/>
          <a:chExt cx="0" cy="0"/>
        </a:xfrm>
      </p:grpSpPr>
      <p:sp>
        <p:nvSpPr>
          <p:cNvPr id="796" name="Google Shape;796;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97" name="Google Shape;797;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7"/>
        <p:cNvGrpSpPr/>
        <p:nvPr/>
      </p:nvGrpSpPr>
      <p:grpSpPr>
        <a:xfrm>
          <a:off x="0" y="0"/>
          <a:ext cx="0" cy="0"/>
          <a:chOff x="0" y="0"/>
          <a:chExt cx="0" cy="0"/>
        </a:xfrm>
      </p:grpSpPr>
      <p:sp>
        <p:nvSpPr>
          <p:cNvPr id="808" name="Google Shape;808;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09" name="Google Shape;80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8"/>
        <p:cNvGrpSpPr/>
        <p:nvPr/>
      </p:nvGrpSpPr>
      <p:grpSpPr>
        <a:xfrm>
          <a:off x="0" y="0"/>
          <a:ext cx="0" cy="0"/>
          <a:chOff x="0" y="0"/>
          <a:chExt cx="0" cy="0"/>
        </a:xfrm>
      </p:grpSpPr>
      <p:sp>
        <p:nvSpPr>
          <p:cNvPr id="859" name="Google Shape;859;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0" name="Google Shape;860;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1"/>
        <p:cNvGrpSpPr/>
        <p:nvPr/>
      </p:nvGrpSpPr>
      <p:grpSpPr>
        <a:xfrm>
          <a:off x="0" y="0"/>
          <a:ext cx="0" cy="0"/>
          <a:chOff x="0" y="0"/>
          <a:chExt cx="0" cy="0"/>
        </a:xfrm>
      </p:grpSpPr>
      <p:sp>
        <p:nvSpPr>
          <p:cNvPr id="872" name="Google Shape;872;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73" name="Google Shape;873;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81"/>
        <p:cNvGrpSpPr/>
        <p:nvPr/>
      </p:nvGrpSpPr>
      <p:grpSpPr>
        <a:xfrm>
          <a:off x="0" y="0"/>
          <a:ext cx="0" cy="0"/>
          <a:chOff x="0" y="0"/>
          <a:chExt cx="0" cy="0"/>
        </a:xfrm>
      </p:grpSpPr>
      <p:sp>
        <p:nvSpPr>
          <p:cNvPr id="882" name="Google Shape;882;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3" name="Google Shape;883;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4"/>
        <p:cNvGrpSpPr/>
        <p:nvPr/>
      </p:nvGrpSpPr>
      <p:grpSpPr>
        <a:xfrm>
          <a:off x="0" y="0"/>
          <a:ext cx="0" cy="0"/>
          <a:chOff x="0" y="0"/>
          <a:chExt cx="0" cy="0"/>
        </a:xfrm>
      </p:grpSpPr>
      <p:sp>
        <p:nvSpPr>
          <p:cNvPr id="895" name="Google Shape;895;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96" name="Google Shape;89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06"/>
        <p:cNvGrpSpPr/>
        <p:nvPr/>
      </p:nvGrpSpPr>
      <p:grpSpPr>
        <a:xfrm>
          <a:off x="0" y="0"/>
          <a:ext cx="0" cy="0"/>
          <a:chOff x="0" y="0"/>
          <a:chExt cx="0" cy="0"/>
        </a:xfrm>
      </p:grpSpPr>
      <p:sp>
        <p:nvSpPr>
          <p:cNvPr id="907" name="Google Shape;907;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08" name="Google Shape;908;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p:cSld name="slide">
    <p:spTree>
      <p:nvGrpSpPr>
        <p:cNvPr id="1" name="Shape 15"/>
        <p:cNvGrpSpPr/>
        <p:nvPr/>
      </p:nvGrpSpPr>
      <p:grpSpPr>
        <a:xfrm>
          <a:off x="0" y="0"/>
          <a:ext cx="0" cy="0"/>
          <a:chOff x="0" y="0"/>
          <a:chExt cx="0" cy="0"/>
        </a:xfrm>
      </p:grpSpPr>
      <p:sp>
        <p:nvSpPr>
          <p:cNvPr id="16" name="Google Shape;16;p47"/>
          <p:cNvSpPr>
            <a:spLocks noGrp="1"/>
          </p:cNvSpPr>
          <p:nvPr>
            <p:ph type="pic" idx="2"/>
          </p:nvPr>
        </p:nvSpPr>
        <p:spPr>
          <a:xfrm>
            <a:off x="3978704" y="-174171"/>
            <a:ext cx="8412466" cy="7206342"/>
          </a:xfrm>
          <a:prstGeom prst="rect">
            <a:avLst/>
          </a:prstGeom>
          <a:solidFill>
            <a:srgbClr val="F2F2F2"/>
          </a:solidFill>
          <a:ln>
            <a:noFill/>
          </a:ln>
        </p:spPr>
      </p:sp>
      <p:sp>
        <p:nvSpPr>
          <p:cNvPr id="17" name="Google Shape;17;p47"/>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spTree>
      <p:nvGrpSpPr>
        <p:cNvPr id="1" name="Shape 18"/>
        <p:cNvGrpSpPr/>
        <p:nvPr/>
      </p:nvGrpSpPr>
      <p:grpSpPr>
        <a:xfrm>
          <a:off x="0" y="0"/>
          <a:ext cx="0" cy="0"/>
          <a:chOff x="0" y="0"/>
          <a:chExt cx="0" cy="0"/>
        </a:xfrm>
      </p:grpSpPr>
      <p:sp>
        <p:nvSpPr>
          <p:cNvPr id="19" name="Google Shape;19;p48"/>
          <p:cNvSpPr>
            <a:spLocks noGrp="1"/>
          </p:cNvSpPr>
          <p:nvPr>
            <p:ph type="pic" idx="2"/>
          </p:nvPr>
        </p:nvSpPr>
        <p:spPr>
          <a:xfrm>
            <a:off x="0" y="-1"/>
            <a:ext cx="12192000" cy="6857999"/>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2">
  <p:cSld name="Title - 22">
    <p:spTree>
      <p:nvGrpSpPr>
        <p:cNvPr id="1" name="Shape 20"/>
        <p:cNvGrpSpPr/>
        <p:nvPr/>
      </p:nvGrpSpPr>
      <p:grpSpPr>
        <a:xfrm>
          <a:off x="0" y="0"/>
          <a:ext cx="0" cy="0"/>
          <a:chOff x="0" y="0"/>
          <a:chExt cx="0" cy="0"/>
        </a:xfrm>
      </p:grpSpPr>
      <p:sp>
        <p:nvSpPr>
          <p:cNvPr id="21" name="Google Shape;21;p49"/>
          <p:cNvSpPr txBox="1"/>
          <p:nvPr/>
        </p:nvSpPr>
        <p:spPr>
          <a:xfrm>
            <a:off x="4320462" y="6408739"/>
            <a:ext cx="3431899" cy="30488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Private and Confidential</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9"/>
          <p:cNvSpPr txBox="1"/>
          <p:nvPr/>
        </p:nvSpPr>
        <p:spPr>
          <a:xfrm>
            <a:off x="10849294" y="6408739"/>
            <a:ext cx="1067078" cy="182563"/>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Google Shape;23;p49"/>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4" name="Google Shape;24;p49"/>
          <p:cNvSpPr txBox="1">
            <a:spLocks noGrp="1"/>
          </p:cNvSpPr>
          <p:nvPr>
            <p:ph type="title"/>
          </p:nvPr>
        </p:nvSpPr>
        <p:spPr>
          <a:xfrm>
            <a:off x="700550" y="404869"/>
            <a:ext cx="10515600" cy="716422"/>
          </a:xfrm>
          <a:prstGeom prst="rect">
            <a:avLst/>
          </a:prstGeom>
          <a:noFill/>
          <a:ln>
            <a:noFill/>
          </a:ln>
        </p:spPr>
        <p:txBody>
          <a:bodyPr spcFirstLastPara="1" wrap="square" lIns="0"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5" name="Google Shape;25;p49"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7_slide">
  <p:cSld name="27_slide">
    <p:spTree>
      <p:nvGrpSpPr>
        <p:cNvPr id="1" name="Shape 26"/>
        <p:cNvGrpSpPr/>
        <p:nvPr/>
      </p:nvGrpSpPr>
      <p:grpSpPr>
        <a:xfrm>
          <a:off x="0" y="0"/>
          <a:ext cx="0" cy="0"/>
          <a:chOff x="0" y="0"/>
          <a:chExt cx="0" cy="0"/>
        </a:xfrm>
      </p:grpSpPr>
      <p:sp>
        <p:nvSpPr>
          <p:cNvPr id="27" name="Google Shape;27;p50"/>
          <p:cNvSpPr>
            <a:spLocks noGrp="1"/>
          </p:cNvSpPr>
          <p:nvPr>
            <p:ph type="pic" idx="2"/>
          </p:nvPr>
        </p:nvSpPr>
        <p:spPr>
          <a:xfrm>
            <a:off x="1471886" y="1651649"/>
            <a:ext cx="1945814" cy="4111559"/>
          </a:xfrm>
          <a:prstGeom prst="rect">
            <a:avLst/>
          </a:prstGeom>
          <a:solidFill>
            <a:srgbClr val="F2F2F2"/>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8"/>
        <p:cNvGrpSpPr/>
        <p:nvPr/>
      </p:nvGrpSpPr>
      <p:grpSpPr>
        <a:xfrm>
          <a:off x="0" y="0"/>
          <a:ext cx="0" cy="0"/>
          <a:chOff x="0" y="0"/>
          <a:chExt cx="0" cy="0"/>
        </a:xfrm>
      </p:grpSpPr>
      <p:sp>
        <p:nvSpPr>
          <p:cNvPr id="29" name="Google Shape;29;p5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 name="Google Shape;31;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4"/>
        <p:cNvGrpSpPr/>
        <p:nvPr/>
      </p:nvGrpSpPr>
      <p:grpSpPr>
        <a:xfrm>
          <a:off x="0" y="0"/>
          <a:ext cx="0" cy="0"/>
          <a:chOff x="0" y="0"/>
          <a:chExt cx="0" cy="0"/>
        </a:xfrm>
      </p:grpSpPr>
      <p:sp>
        <p:nvSpPr>
          <p:cNvPr id="35" name="Google Shape;35;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5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6"/>
        <p:cNvGrpSpPr/>
        <p:nvPr/>
      </p:nvGrpSpPr>
      <p:grpSpPr>
        <a:xfrm>
          <a:off x="0" y="0"/>
          <a:ext cx="0" cy="0"/>
          <a:chOff x="0" y="0"/>
          <a:chExt cx="0" cy="0"/>
        </a:xfrm>
      </p:grpSpPr>
      <p:sp>
        <p:nvSpPr>
          <p:cNvPr id="47" name="Google Shape;47;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5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9" name="Google Shape;49;p5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3"/>
        <p:cNvGrpSpPr/>
        <p:nvPr/>
      </p:nvGrpSpPr>
      <p:grpSpPr>
        <a:xfrm>
          <a:off x="0" y="0"/>
          <a:ext cx="0" cy="0"/>
          <a:chOff x="0" y="0"/>
          <a:chExt cx="0" cy="0"/>
        </a:xfrm>
      </p:grpSpPr>
      <p:sp>
        <p:nvSpPr>
          <p:cNvPr id="54" name="Google Shape;54;p5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6" name="Google Shape;56;p5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7" name="Google Shape;57;p5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5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67"/>
        <p:cNvGrpSpPr/>
        <p:nvPr/>
      </p:nvGrpSpPr>
      <p:grpSpPr>
        <a:xfrm>
          <a:off x="0" y="0"/>
          <a:ext cx="0" cy="0"/>
          <a:chOff x="0" y="0"/>
          <a:chExt cx="0" cy="0"/>
        </a:xfrm>
      </p:grpSpPr>
      <p:sp>
        <p:nvSpPr>
          <p:cNvPr id="68" name="Google Shape;68;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71"/>
        <p:cNvGrpSpPr/>
        <p:nvPr/>
      </p:nvGrpSpPr>
      <p:grpSpPr>
        <a:xfrm>
          <a:off x="0" y="0"/>
          <a:ext cx="0" cy="0"/>
          <a:chOff x="0" y="0"/>
          <a:chExt cx="0" cy="0"/>
        </a:xfrm>
      </p:grpSpPr>
      <p:sp>
        <p:nvSpPr>
          <p:cNvPr id="72" name="Google Shape;72;p5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5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74" name="Google Shape;74;p5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5" name="Google Shape;75;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8"/>
        <p:cNvGrpSpPr/>
        <p:nvPr/>
      </p:nvGrpSpPr>
      <p:grpSpPr>
        <a:xfrm>
          <a:off x="0" y="0"/>
          <a:ext cx="0" cy="0"/>
          <a:chOff x="0" y="0"/>
          <a:chExt cx="0" cy="0"/>
        </a:xfrm>
      </p:grpSpPr>
      <p:sp>
        <p:nvSpPr>
          <p:cNvPr id="79" name="Google Shape;79;p5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9"/>
          <p:cNvSpPr>
            <a:spLocks noGrp="1"/>
          </p:cNvSpPr>
          <p:nvPr>
            <p:ph type="pic" idx="2"/>
          </p:nvPr>
        </p:nvSpPr>
        <p:spPr>
          <a:xfrm>
            <a:off x="5183188" y="987425"/>
            <a:ext cx="6172200" cy="4873625"/>
          </a:xfrm>
          <a:prstGeom prst="rect">
            <a:avLst/>
          </a:prstGeom>
          <a:noFill/>
          <a:ln>
            <a:noFill/>
          </a:ln>
        </p:spPr>
      </p:sp>
      <p:sp>
        <p:nvSpPr>
          <p:cNvPr id="81" name="Google Shape;81;p5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82" name="Google Shape;82;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5"/>
        <p:cNvGrpSpPr/>
        <p:nvPr/>
      </p:nvGrpSpPr>
      <p:grpSpPr>
        <a:xfrm>
          <a:off x="0" y="0"/>
          <a:ext cx="0" cy="0"/>
          <a:chOff x="0" y="0"/>
          <a:chExt cx="0" cy="0"/>
        </a:xfrm>
      </p:grpSpPr>
      <p:sp>
        <p:nvSpPr>
          <p:cNvPr id="86" name="Google Shape;86;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6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8" name="Google Shape;88;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91"/>
        <p:cNvGrpSpPr/>
        <p:nvPr/>
      </p:nvGrpSpPr>
      <p:grpSpPr>
        <a:xfrm>
          <a:off x="0" y="0"/>
          <a:ext cx="0" cy="0"/>
          <a:chOff x="0" y="0"/>
          <a:chExt cx="0" cy="0"/>
        </a:xfrm>
      </p:grpSpPr>
      <p:sp>
        <p:nvSpPr>
          <p:cNvPr id="92" name="Google Shape;92;p6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6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4" name="Google Shape;94;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2.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image" Target="../media/image16.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3.xml"/><Relationship Id="rId4" Type="http://schemas.openxmlformats.org/officeDocument/2006/relationships/image" Target="../media/image21.png"/><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3.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3.xml"/><Relationship Id="rId2" Type="http://schemas.openxmlformats.org/officeDocument/2006/relationships/image" Target="../media/image31.jpeg"/><Relationship Id="rId1" Type="http://schemas.openxmlformats.org/officeDocument/2006/relationships/image" Target="../media/image30.jpeg"/></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41.xml"/><Relationship Id="rId6"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34.jpeg"/><Relationship Id="rId3" Type="http://schemas.openxmlformats.org/officeDocument/2006/relationships/image" Target="../media/image33.jpeg"/><Relationship Id="rId2" Type="http://schemas.openxmlformats.org/officeDocument/2006/relationships/image" Target="../media/image26.png"/><Relationship Id="rId1" Type="http://schemas.openxmlformats.org/officeDocument/2006/relationships/image" Target="../media/image32.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3.xml"/><Relationship Id="rId2" Type="http://schemas.openxmlformats.org/officeDocument/2006/relationships/image" Target="../media/image36.png"/><Relationship Id="rId1" Type="http://schemas.openxmlformats.org/officeDocument/2006/relationships/image" Target="../media/image35.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image" Target="../media/image37.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xml"/><Relationship Id="rId1" Type="http://schemas.openxmlformats.org/officeDocument/2006/relationships/image" Target="../media/image38.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4.xml"/><Relationship Id="rId4" Type="http://schemas.openxmlformats.org/officeDocument/2006/relationships/hyperlink" Target="https://imarticus.org/" TargetMode="External"/><Relationship Id="rId3" Type="http://schemas.openxmlformats.org/officeDocument/2006/relationships/image" Target="../media/image1.png"/><Relationship Id="rId2" Type="http://schemas.openxmlformats.org/officeDocument/2006/relationships/image" Target="../media/image40.jpeg"/><Relationship Id="rId1"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1"/>
          <p:cNvPicPr preferRelativeResize="0">
            <a:picLocks noGrp="1"/>
          </p:cNvPicPr>
          <p:nvPr>
            <p:ph type="pic" idx="2"/>
          </p:nvPr>
        </p:nvPicPr>
        <p:blipFill rotWithShape="1">
          <a:blip r:embed="rId1"/>
          <a:srcRect/>
          <a:stretch>
            <a:fillRect/>
          </a:stretch>
        </p:blipFill>
        <p:spPr>
          <a:xfrm>
            <a:off x="1588" y="1"/>
            <a:ext cx="12190412" cy="6858000"/>
          </a:xfrm>
          <a:prstGeom prst="rect">
            <a:avLst/>
          </a:prstGeom>
          <a:solidFill>
            <a:srgbClr val="F2F2F2"/>
          </a:solidFill>
          <a:ln>
            <a:noFill/>
          </a:ln>
        </p:spPr>
      </p:pic>
      <p:sp>
        <p:nvSpPr>
          <p:cNvPr id="102" name="Google Shape;102;p1"/>
          <p:cNvSpPr/>
          <p:nvPr/>
        </p:nvSpPr>
        <p:spPr>
          <a:xfrm>
            <a:off x="1588" y="1"/>
            <a:ext cx="12190411" cy="6858000"/>
          </a:xfrm>
          <a:prstGeom prst="rect">
            <a:avLst/>
          </a:prstGeom>
          <a:gradFill>
            <a:gsLst>
              <a:gs pos="0">
                <a:srgbClr val="25B6C2">
                  <a:alpha val="20000"/>
                </a:srgbClr>
              </a:gs>
              <a:gs pos="2000">
                <a:srgbClr val="25B6C2">
                  <a:alpha val="20000"/>
                </a:srgbClr>
              </a:gs>
              <a:gs pos="100000">
                <a:srgbClr val="0692DB">
                  <a:alpha val="63921"/>
                </a:srgbClr>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03" name="Google Shape;103;p1"/>
          <p:cNvSpPr/>
          <p:nvPr/>
        </p:nvSpPr>
        <p:spPr>
          <a:xfrm>
            <a:off x="1587" y="4507667"/>
            <a:ext cx="12190411" cy="1609445"/>
          </a:xfrm>
          <a:prstGeom prst="rect">
            <a:avLst/>
          </a:prstGeom>
          <a:solidFill>
            <a:srgbClr val="D5DB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4" name="Google Shape;104;p1"/>
          <p:cNvSpPr txBox="1"/>
          <p:nvPr/>
        </p:nvSpPr>
        <p:spPr>
          <a:xfrm>
            <a:off x="3018080" y="4932140"/>
            <a:ext cx="893685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000000"/>
                </a:solidFill>
                <a:latin typeface="Arial" panose="020B0604020202020204"/>
                <a:ea typeface="Arial" panose="020B0604020202020204"/>
                <a:cs typeface="Arial" panose="020B0604020202020204"/>
                <a:sym typeface="Arial" panose="020B0604020202020204"/>
              </a:rPr>
              <a:t>FIXED INCOME SECURITIES – PART 1 </a:t>
            </a:r>
            <a:endParaRPr lang="en-US" sz="32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05" name="Google Shape;105;p1" descr="A picture containing text, clipart&#10;&#10;Description automatically generated"/>
          <p:cNvPicPr preferRelativeResize="0"/>
          <p:nvPr/>
        </p:nvPicPr>
        <p:blipFill rotWithShape="1">
          <a:blip r:embed="rId2"/>
          <a:srcRect/>
          <a:stretch>
            <a:fillRect/>
          </a:stretch>
        </p:blipFill>
        <p:spPr>
          <a:xfrm>
            <a:off x="9533468" y="804443"/>
            <a:ext cx="2421466" cy="491960"/>
          </a:xfrm>
          <a:prstGeom prst="rect">
            <a:avLst/>
          </a:prstGeom>
          <a:noFill/>
          <a:ln>
            <a:noFill/>
          </a:ln>
        </p:spPr>
      </p:pic>
      <p:grpSp>
        <p:nvGrpSpPr>
          <p:cNvPr id="106" name="Google Shape;106;p1"/>
          <p:cNvGrpSpPr/>
          <p:nvPr/>
        </p:nvGrpSpPr>
        <p:grpSpPr>
          <a:xfrm>
            <a:off x="406806" y="4225968"/>
            <a:ext cx="2217393" cy="2208699"/>
            <a:chOff x="406806" y="4225968"/>
            <a:chExt cx="2217393" cy="2208699"/>
          </a:xfrm>
        </p:grpSpPr>
        <p:sp>
          <p:nvSpPr>
            <p:cNvPr id="107" name="Google Shape;107;p1"/>
            <p:cNvSpPr/>
            <p:nvPr/>
          </p:nvSpPr>
          <p:spPr>
            <a:xfrm>
              <a:off x="406806" y="4225968"/>
              <a:ext cx="2217393" cy="2208699"/>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08" name="Google Shape;108;p1" descr="A silhouette of a city&#10;&#10;Description automatically generated with low confidence"/>
            <p:cNvPicPr preferRelativeResize="0"/>
            <p:nvPr/>
          </p:nvPicPr>
          <p:blipFill rotWithShape="1">
            <a:blip r:embed="rId3"/>
            <a:srcRect/>
            <a:stretch>
              <a:fillRect/>
            </a:stretch>
          </p:blipFill>
          <p:spPr>
            <a:xfrm>
              <a:off x="1071058" y="4841428"/>
              <a:ext cx="888889" cy="977778"/>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2"/>
          <p:cNvPicPr preferRelativeResize="0">
            <a:picLocks noGrp="1"/>
          </p:cNvPicPr>
          <p:nvPr>
            <p:ph type="pic" idx="2"/>
          </p:nvPr>
        </p:nvPicPr>
        <p:blipFill rotWithShape="1">
          <a:blip r:embed="rId1"/>
          <a:srcRect/>
          <a:stretch>
            <a:fillRect/>
          </a:stretch>
        </p:blipFill>
        <p:spPr>
          <a:xfrm>
            <a:off x="0" y="-1"/>
            <a:ext cx="12192000" cy="6857999"/>
          </a:xfrm>
          <a:prstGeom prst="rect">
            <a:avLst/>
          </a:prstGeom>
          <a:solidFill>
            <a:srgbClr val="F2F2F2"/>
          </a:solidFill>
          <a:ln>
            <a:noFill/>
          </a:ln>
        </p:spPr>
      </p:pic>
      <p:sp>
        <p:nvSpPr>
          <p:cNvPr id="114" name="Google Shape;114;p2"/>
          <p:cNvSpPr/>
          <p:nvPr/>
        </p:nvSpPr>
        <p:spPr>
          <a:xfrm>
            <a:off x="1588" y="-14288"/>
            <a:ext cx="12188825" cy="7591112"/>
          </a:xfrm>
          <a:prstGeom prst="rect">
            <a:avLst/>
          </a:prstGeom>
          <a:solidFill>
            <a:schemeClr val="lt1">
              <a:alpha val="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15" name="Google Shape;115;p2"/>
          <p:cNvSpPr/>
          <p:nvPr/>
        </p:nvSpPr>
        <p:spPr>
          <a:xfrm>
            <a:off x="1588" y="3190420"/>
            <a:ext cx="12188825" cy="2510293"/>
          </a:xfrm>
          <a:prstGeom prst="rect">
            <a:avLst/>
          </a:prstGeom>
          <a:gradFill>
            <a:gsLst>
              <a:gs pos="0">
                <a:srgbClr val="25B6C2">
                  <a:alpha val="49803"/>
                </a:srgbClr>
              </a:gs>
              <a:gs pos="13000">
                <a:srgbClr val="25B6C2">
                  <a:alpha val="49803"/>
                </a:srgbClr>
              </a:gs>
              <a:gs pos="100000">
                <a:srgbClr val="0692DB">
                  <a:alpha val="49803"/>
                </a:srgbClr>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16" name="Google Shape;116;p2"/>
          <p:cNvSpPr/>
          <p:nvPr/>
        </p:nvSpPr>
        <p:spPr>
          <a:xfrm>
            <a:off x="1588" y="3362964"/>
            <a:ext cx="12188825" cy="2128315"/>
          </a:xfrm>
          <a:prstGeom prst="rect">
            <a:avLst/>
          </a:prstGeom>
          <a:gradFill>
            <a:gsLst>
              <a:gs pos="0">
                <a:srgbClr val="25B6C2"/>
              </a:gs>
              <a:gs pos="13000">
                <a:srgbClr val="25B6C2"/>
              </a:gs>
              <a:gs pos="100000">
                <a:srgbClr val="0692DB"/>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17" name="Google Shape;117;p2"/>
          <p:cNvSpPr txBox="1"/>
          <p:nvPr/>
        </p:nvSpPr>
        <p:spPr>
          <a:xfrm>
            <a:off x="3841715" y="3436581"/>
            <a:ext cx="4508571"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a:solidFill>
                  <a:srgbClr val="FFFFFF"/>
                </a:solidFill>
                <a:latin typeface="Arial" panose="020B0604020202020204"/>
                <a:ea typeface="Arial" panose="020B0604020202020204"/>
                <a:cs typeface="Arial" panose="020B0604020202020204"/>
                <a:sym typeface="Arial" panose="020B0604020202020204"/>
              </a:rPr>
              <a:t>DISCLAIMER</a:t>
            </a:r>
            <a:endParaRPr sz="33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18" name="Google Shape;118;p2"/>
          <p:cNvSpPr txBox="1"/>
          <p:nvPr/>
        </p:nvSpPr>
        <p:spPr>
          <a:xfrm>
            <a:off x="442135" y="4060016"/>
            <a:ext cx="11307731"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Arial" panose="020B0604020202020204"/>
                <a:ea typeface="Arial" panose="020B0604020202020204"/>
                <a:cs typeface="Arial" panose="020B0604020202020204"/>
                <a:sym typeface="Arial" panose="020B0604020202020204"/>
              </a:rPr>
              <a:t>The training content and delivery of this presentation is confidential, and cannot be recorded, or copied and distributed to any third party, without the written consent of Imarticus Learning Pvt. Ltd.</a:t>
            </a:r>
            <a:endParaRPr lang="en-US" sz="24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19" name="Google Shape;119;p2" descr="A picture containing text, clipart&#10;&#10;Description automatically generated"/>
          <p:cNvPicPr preferRelativeResize="0"/>
          <p:nvPr/>
        </p:nvPicPr>
        <p:blipFill rotWithShape="1">
          <a:blip r:embed="rId2"/>
          <a:srcRect/>
          <a:stretch>
            <a:fillRect/>
          </a:stretch>
        </p:blipFill>
        <p:spPr>
          <a:xfrm>
            <a:off x="9533468" y="431910"/>
            <a:ext cx="2421466" cy="4919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2" name="Google Shape;131;p3"/>
          <p:cNvSpPr txBox="1"/>
          <p:nvPr/>
        </p:nvSpPr>
        <p:spPr>
          <a:xfrm>
            <a:off x="-7" y="1576032"/>
            <a:ext cx="12191998" cy="4519984"/>
          </a:xfrm>
          <a:prstGeom prst="rect">
            <a:avLst/>
          </a:prstGeom>
          <a:gradFill flip="none" rotWithShape="1">
            <a:gsLst>
              <a:gs pos="0">
                <a:schemeClr val="bg1"/>
              </a:gs>
              <a:gs pos="100000">
                <a:schemeClr val="accent3">
                  <a:lumMod val="20000"/>
                  <a:lumOff val="80000"/>
                </a:schemeClr>
              </a:gs>
            </a:gsLst>
            <a:lin ang="0" scaled="1"/>
            <a:tileRect/>
          </a:gradFill>
          <a:ln>
            <a:noFill/>
          </a:ln>
        </p:spPr>
        <p:txBody>
          <a:bodyPr spcFirstLastPara="1" wrap="square" lIns="91425" tIns="45700" rIns="91425" bIns="720000" anchor="ctr" anchorCtr="0">
            <a:noAutofit/>
          </a:bodyPr>
          <a:lstStyle/>
          <a:p>
            <a:pPr marL="285750" marR="0" lvl="0" indent="-158750" algn="l" rtl="0">
              <a:lnSpc>
                <a:spcPct val="100000"/>
              </a:lnSpc>
              <a:spcBef>
                <a:spcPts val="0"/>
              </a:spcBef>
              <a:spcAft>
                <a:spcPts val="0"/>
              </a:spcAft>
              <a:buClr>
                <a:schemeClr val="dk1"/>
              </a:buClr>
              <a:buSzPts val="2000"/>
              <a:buFont typeface="Arial" panose="020B0604020202020204"/>
              <a:buNone/>
            </a:pPr>
            <a:endParaRPr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3" name="Google Shape;132;p3"/>
          <p:cNvGrpSpPr/>
          <p:nvPr/>
        </p:nvGrpSpPr>
        <p:grpSpPr>
          <a:xfrm>
            <a:off x="6971322" y="1295401"/>
            <a:ext cx="4395635" cy="5562600"/>
            <a:chOff x="7546962" y="2023863"/>
            <a:chExt cx="3819995" cy="4834137"/>
          </a:xfrm>
        </p:grpSpPr>
        <p:sp>
          <p:nvSpPr>
            <p:cNvPr id="4" name="Google Shape;133;p3"/>
            <p:cNvSpPr/>
            <p:nvPr/>
          </p:nvSpPr>
          <p:spPr>
            <a:xfrm flipH="1">
              <a:off x="7546962" y="2023863"/>
              <a:ext cx="3819995" cy="4834137"/>
            </a:xfrm>
            <a:custGeom>
              <a:avLst/>
              <a:gdLst/>
              <a:ahLst/>
              <a:cxnLst/>
              <a:rect l="l" t="t" r="r" b="b"/>
              <a:pathLst>
                <a:path w="3819995" h="4834137" extrusionOk="0">
                  <a:moveTo>
                    <a:pt x="417961" y="4834122"/>
                  </a:moveTo>
                  <a:cubicBezTo>
                    <a:pt x="417961" y="4834122"/>
                    <a:pt x="680885" y="4215750"/>
                    <a:pt x="671152" y="3719115"/>
                  </a:cubicBezTo>
                  <a:cubicBezTo>
                    <a:pt x="661420" y="3222480"/>
                    <a:pt x="466656" y="2886514"/>
                    <a:pt x="203731" y="2389863"/>
                  </a:cubicBezTo>
                  <a:cubicBezTo>
                    <a:pt x="-59209" y="1893228"/>
                    <a:pt x="-209616" y="909676"/>
                    <a:pt x="671424" y="330266"/>
                  </a:cubicBezTo>
                  <a:cubicBezTo>
                    <a:pt x="1552449" y="-249144"/>
                    <a:pt x="2666239" y="54407"/>
                    <a:pt x="2969342" y="330266"/>
                  </a:cubicBezTo>
                  <a:cubicBezTo>
                    <a:pt x="3402682" y="724660"/>
                    <a:pt x="3509805" y="1299204"/>
                    <a:pt x="3504939" y="1430674"/>
                  </a:cubicBezTo>
                  <a:cubicBezTo>
                    <a:pt x="3500072" y="1562144"/>
                    <a:pt x="3363880" y="1620571"/>
                    <a:pt x="3505003" y="1825068"/>
                  </a:cubicBezTo>
                  <a:cubicBezTo>
                    <a:pt x="3588322" y="1945813"/>
                    <a:pt x="3710716" y="2110675"/>
                    <a:pt x="3796997" y="2225481"/>
                  </a:cubicBezTo>
                  <a:cubicBezTo>
                    <a:pt x="3845676" y="2290264"/>
                    <a:pt x="3813356" y="2383668"/>
                    <a:pt x="3735079" y="2404622"/>
                  </a:cubicBezTo>
                  <a:lnTo>
                    <a:pt x="3631574" y="2432315"/>
                  </a:lnTo>
                  <a:cubicBezTo>
                    <a:pt x="3588914" y="2443728"/>
                    <a:pt x="3563574" y="2487573"/>
                    <a:pt x="3575084" y="2530201"/>
                  </a:cubicBezTo>
                  <a:cubicBezTo>
                    <a:pt x="3590579" y="2587604"/>
                    <a:pt x="3609260" y="2661143"/>
                    <a:pt x="3612045" y="2691750"/>
                  </a:cubicBezTo>
                  <a:cubicBezTo>
                    <a:pt x="3616912" y="2745311"/>
                    <a:pt x="3480575" y="2837819"/>
                    <a:pt x="3480575" y="2837819"/>
                  </a:cubicBezTo>
                  <a:cubicBezTo>
                    <a:pt x="3480575" y="2837819"/>
                    <a:pt x="3592564" y="2891380"/>
                    <a:pt x="3539003" y="2964407"/>
                  </a:cubicBezTo>
                  <a:cubicBezTo>
                    <a:pt x="3485442" y="3037449"/>
                    <a:pt x="3431880" y="3047181"/>
                    <a:pt x="3451361" y="3154304"/>
                  </a:cubicBezTo>
                  <a:cubicBezTo>
                    <a:pt x="3470843" y="3261427"/>
                    <a:pt x="3577949" y="3495137"/>
                    <a:pt x="3144609" y="3514618"/>
                  </a:cubicBezTo>
                  <a:cubicBezTo>
                    <a:pt x="2711268" y="3534099"/>
                    <a:pt x="2414248" y="3529233"/>
                    <a:pt x="2511638" y="3982055"/>
                  </a:cubicBezTo>
                  <a:cubicBezTo>
                    <a:pt x="2609011" y="4434877"/>
                    <a:pt x="2677188" y="4834138"/>
                    <a:pt x="2677188" y="4834138"/>
                  </a:cubicBezTo>
                  <a:lnTo>
                    <a:pt x="417961" y="483413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5" name="Google Shape;134;p3"/>
            <p:cNvGrpSpPr/>
            <p:nvPr/>
          </p:nvGrpSpPr>
          <p:grpSpPr>
            <a:xfrm flipH="1">
              <a:off x="8165378" y="2023909"/>
              <a:ext cx="2941885" cy="3845608"/>
              <a:chOff x="12739148" y="1911090"/>
              <a:chExt cx="2941885" cy="3845608"/>
            </a:xfrm>
          </p:grpSpPr>
          <p:sp>
            <p:nvSpPr>
              <p:cNvPr id="7" name="Google Shape;135;p3"/>
              <p:cNvSpPr/>
              <p:nvPr/>
            </p:nvSpPr>
            <p:spPr>
              <a:xfrm>
                <a:off x="13879927" y="4285315"/>
                <a:ext cx="334061" cy="1471383"/>
              </a:xfrm>
              <a:custGeom>
                <a:avLst/>
                <a:gdLst/>
                <a:ahLst/>
                <a:cxnLst/>
                <a:rect l="l" t="t" r="r" b="b"/>
                <a:pathLst>
                  <a:path w="334061" h="1471383" extrusionOk="0">
                    <a:moveTo>
                      <a:pt x="263196" y="1435814"/>
                    </a:moveTo>
                    <a:cubicBezTo>
                      <a:pt x="263196" y="1455408"/>
                      <a:pt x="278900" y="1471383"/>
                      <a:pt x="298509" y="1471383"/>
                    </a:cubicBezTo>
                    <a:cubicBezTo>
                      <a:pt x="318086" y="1471383"/>
                      <a:pt x="334062" y="1455408"/>
                      <a:pt x="334062" y="1435814"/>
                    </a:cubicBezTo>
                    <a:cubicBezTo>
                      <a:pt x="334062" y="1419343"/>
                      <a:pt x="322728" y="1405752"/>
                      <a:pt x="307505" y="1401782"/>
                    </a:cubicBezTo>
                    <a:lnTo>
                      <a:pt x="307505" y="1048111"/>
                    </a:lnTo>
                    <a:lnTo>
                      <a:pt x="44581" y="785187"/>
                    </a:lnTo>
                    <a:lnTo>
                      <a:pt x="44581" y="69841"/>
                    </a:lnTo>
                    <a:cubicBezTo>
                      <a:pt x="59804" y="65823"/>
                      <a:pt x="71138" y="52040"/>
                      <a:pt x="71138" y="35585"/>
                    </a:cubicBezTo>
                    <a:cubicBezTo>
                      <a:pt x="71138" y="16008"/>
                      <a:pt x="55162" y="0"/>
                      <a:pt x="35585" y="0"/>
                    </a:cubicBezTo>
                    <a:cubicBezTo>
                      <a:pt x="15976" y="0"/>
                      <a:pt x="0" y="15991"/>
                      <a:pt x="0" y="35585"/>
                    </a:cubicBezTo>
                    <a:cubicBezTo>
                      <a:pt x="0" y="52136"/>
                      <a:pt x="11461" y="65983"/>
                      <a:pt x="26813" y="69921"/>
                    </a:cubicBezTo>
                    <a:lnTo>
                      <a:pt x="26813" y="792422"/>
                    </a:lnTo>
                    <a:lnTo>
                      <a:pt x="289721" y="1055347"/>
                    </a:lnTo>
                    <a:lnTo>
                      <a:pt x="289721" y="1401718"/>
                    </a:lnTo>
                    <a:cubicBezTo>
                      <a:pt x="274450" y="1405624"/>
                      <a:pt x="263196" y="1419279"/>
                      <a:pt x="263196" y="143581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Google Shape;136;p3"/>
              <p:cNvSpPr/>
              <p:nvPr/>
            </p:nvSpPr>
            <p:spPr>
              <a:xfrm>
                <a:off x="13319214" y="2045889"/>
                <a:ext cx="369534" cy="2311027"/>
              </a:xfrm>
              <a:custGeom>
                <a:avLst/>
                <a:gdLst/>
                <a:ahLst/>
                <a:cxnLst/>
                <a:rect l="l" t="t" r="r" b="b"/>
                <a:pathLst>
                  <a:path w="369534" h="2311027" extrusionOk="0">
                    <a:moveTo>
                      <a:pt x="194748" y="8452"/>
                    </a:moveTo>
                    <a:lnTo>
                      <a:pt x="194748" y="716691"/>
                    </a:lnTo>
                    <a:lnTo>
                      <a:pt x="211428" y="733355"/>
                    </a:lnTo>
                    <a:lnTo>
                      <a:pt x="209763" y="733355"/>
                    </a:lnTo>
                    <a:lnTo>
                      <a:pt x="209763" y="968874"/>
                    </a:lnTo>
                    <a:lnTo>
                      <a:pt x="69249" y="1109228"/>
                    </a:lnTo>
                    <a:lnTo>
                      <a:pt x="69249" y="1384558"/>
                    </a:lnTo>
                    <a:lnTo>
                      <a:pt x="160380" y="1475705"/>
                    </a:lnTo>
                    <a:cubicBezTo>
                      <a:pt x="158619" y="1479579"/>
                      <a:pt x="157594" y="1483853"/>
                      <a:pt x="157594" y="1488399"/>
                    </a:cubicBezTo>
                    <a:cubicBezTo>
                      <a:pt x="157594" y="1502438"/>
                      <a:pt x="166943" y="1513979"/>
                      <a:pt x="179717" y="1517693"/>
                    </a:cubicBezTo>
                    <a:lnTo>
                      <a:pt x="179717" y="1733715"/>
                    </a:lnTo>
                    <a:lnTo>
                      <a:pt x="19929" y="1893423"/>
                    </a:lnTo>
                    <a:lnTo>
                      <a:pt x="19929" y="2251448"/>
                    </a:lnTo>
                    <a:cubicBezTo>
                      <a:pt x="8292" y="2255850"/>
                      <a:pt x="0" y="2266991"/>
                      <a:pt x="0" y="2280213"/>
                    </a:cubicBezTo>
                    <a:cubicBezTo>
                      <a:pt x="0" y="2297133"/>
                      <a:pt x="13767" y="2311028"/>
                      <a:pt x="30831" y="2311028"/>
                    </a:cubicBezTo>
                    <a:cubicBezTo>
                      <a:pt x="47895" y="2311028"/>
                      <a:pt x="61645" y="2297133"/>
                      <a:pt x="61645" y="2280213"/>
                    </a:cubicBezTo>
                    <a:cubicBezTo>
                      <a:pt x="61645" y="2266991"/>
                      <a:pt x="53353" y="2255850"/>
                      <a:pt x="41716" y="2251448"/>
                    </a:cubicBezTo>
                    <a:lnTo>
                      <a:pt x="41716" y="1902291"/>
                    </a:lnTo>
                    <a:lnTo>
                      <a:pt x="179701" y="1764306"/>
                    </a:lnTo>
                    <a:lnTo>
                      <a:pt x="179701" y="2068113"/>
                    </a:lnTo>
                    <a:cubicBezTo>
                      <a:pt x="167663" y="2072323"/>
                      <a:pt x="159003" y="2083672"/>
                      <a:pt x="159003" y="2096927"/>
                    </a:cubicBezTo>
                    <a:cubicBezTo>
                      <a:pt x="159003" y="2114007"/>
                      <a:pt x="172754" y="2127901"/>
                      <a:pt x="189818" y="2127901"/>
                    </a:cubicBezTo>
                    <a:cubicBezTo>
                      <a:pt x="206722" y="2127901"/>
                      <a:pt x="220488" y="2114007"/>
                      <a:pt x="220488" y="2096927"/>
                    </a:cubicBezTo>
                    <a:cubicBezTo>
                      <a:pt x="220488" y="2084281"/>
                      <a:pt x="212645" y="2073283"/>
                      <a:pt x="201519" y="2068641"/>
                    </a:cubicBezTo>
                    <a:lnTo>
                      <a:pt x="201519" y="1742503"/>
                    </a:lnTo>
                    <a:lnTo>
                      <a:pt x="369535" y="1574472"/>
                    </a:lnTo>
                    <a:lnTo>
                      <a:pt x="369535" y="860695"/>
                    </a:lnTo>
                    <a:lnTo>
                      <a:pt x="216534" y="707534"/>
                    </a:lnTo>
                    <a:lnTo>
                      <a:pt x="216534" y="0"/>
                    </a:lnTo>
                    <a:cubicBezTo>
                      <a:pt x="209283" y="2721"/>
                      <a:pt x="202015" y="5619"/>
                      <a:pt x="194748" y="8452"/>
                    </a:cubicBezTo>
                    <a:close/>
                    <a:moveTo>
                      <a:pt x="231405" y="977726"/>
                    </a:moveTo>
                    <a:lnTo>
                      <a:pt x="231405" y="753348"/>
                    </a:lnTo>
                    <a:lnTo>
                      <a:pt x="347892" y="869835"/>
                    </a:lnTo>
                    <a:lnTo>
                      <a:pt x="347892" y="1565604"/>
                    </a:lnTo>
                    <a:lnTo>
                      <a:pt x="201519" y="1711897"/>
                    </a:lnTo>
                    <a:lnTo>
                      <a:pt x="201519" y="1516028"/>
                    </a:lnTo>
                    <a:cubicBezTo>
                      <a:pt x="211908" y="1511130"/>
                      <a:pt x="219224" y="1500709"/>
                      <a:pt x="219224" y="1488367"/>
                    </a:cubicBezTo>
                    <a:cubicBezTo>
                      <a:pt x="219224" y="1471303"/>
                      <a:pt x="205313" y="1457553"/>
                      <a:pt x="188393" y="1457553"/>
                    </a:cubicBezTo>
                    <a:cubicBezTo>
                      <a:pt x="183863" y="1457553"/>
                      <a:pt x="179605" y="1458577"/>
                      <a:pt x="175731" y="1460322"/>
                    </a:cubicBezTo>
                    <a:lnTo>
                      <a:pt x="91019" y="1375370"/>
                    </a:lnTo>
                    <a:lnTo>
                      <a:pt x="91019" y="1118080"/>
                    </a:lnTo>
                    <a:lnTo>
                      <a:pt x="231405" y="97772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 name="Google Shape;137;p3"/>
              <p:cNvSpPr/>
              <p:nvPr/>
            </p:nvSpPr>
            <p:spPr>
              <a:xfrm>
                <a:off x="13009276" y="2123798"/>
                <a:ext cx="435293" cy="2557304"/>
              </a:xfrm>
              <a:custGeom>
                <a:avLst/>
                <a:gdLst/>
                <a:ahLst/>
                <a:cxnLst/>
                <a:rect l="l" t="t" r="r" b="b"/>
                <a:pathLst>
                  <a:path w="435293" h="2557304" extrusionOk="0">
                    <a:moveTo>
                      <a:pt x="0" y="1130806"/>
                    </a:moveTo>
                    <a:lnTo>
                      <a:pt x="0" y="1415965"/>
                    </a:lnTo>
                    <a:lnTo>
                      <a:pt x="198366" y="1614475"/>
                    </a:lnTo>
                    <a:lnTo>
                      <a:pt x="198366" y="2264734"/>
                    </a:lnTo>
                    <a:lnTo>
                      <a:pt x="308850" y="2375218"/>
                    </a:lnTo>
                    <a:lnTo>
                      <a:pt x="308850" y="2498669"/>
                    </a:lnTo>
                    <a:cubicBezTo>
                      <a:pt x="298221" y="2503519"/>
                      <a:pt x="290825" y="2514132"/>
                      <a:pt x="290825" y="2526490"/>
                    </a:cubicBezTo>
                    <a:cubicBezTo>
                      <a:pt x="290825" y="2543554"/>
                      <a:pt x="304592" y="2557304"/>
                      <a:pt x="321640" y="2557304"/>
                    </a:cubicBezTo>
                    <a:cubicBezTo>
                      <a:pt x="338560" y="2557304"/>
                      <a:pt x="352310" y="2543554"/>
                      <a:pt x="352310" y="2526490"/>
                    </a:cubicBezTo>
                    <a:cubicBezTo>
                      <a:pt x="352310" y="2512739"/>
                      <a:pt x="343154" y="2501214"/>
                      <a:pt x="330652" y="2497340"/>
                    </a:cubicBezTo>
                    <a:lnTo>
                      <a:pt x="330652" y="2366238"/>
                    </a:lnTo>
                    <a:lnTo>
                      <a:pt x="220168" y="2255738"/>
                    </a:lnTo>
                    <a:lnTo>
                      <a:pt x="220168" y="1605335"/>
                    </a:lnTo>
                    <a:lnTo>
                      <a:pt x="21802" y="1407129"/>
                    </a:lnTo>
                    <a:lnTo>
                      <a:pt x="21802" y="1139658"/>
                    </a:lnTo>
                    <a:lnTo>
                      <a:pt x="435294" y="726167"/>
                    </a:lnTo>
                    <a:lnTo>
                      <a:pt x="435294" y="532876"/>
                    </a:lnTo>
                    <a:lnTo>
                      <a:pt x="346772" y="444050"/>
                    </a:lnTo>
                    <a:lnTo>
                      <a:pt x="346772" y="0"/>
                    </a:lnTo>
                    <a:cubicBezTo>
                      <a:pt x="339488" y="3602"/>
                      <a:pt x="332237" y="7331"/>
                      <a:pt x="324969" y="11029"/>
                    </a:cubicBezTo>
                    <a:lnTo>
                      <a:pt x="324969" y="453206"/>
                    </a:lnTo>
                    <a:lnTo>
                      <a:pt x="413459" y="541728"/>
                    </a:lnTo>
                    <a:lnTo>
                      <a:pt x="413459" y="717171"/>
                    </a:lnTo>
                    <a:lnTo>
                      <a:pt x="0" y="113080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Google Shape;138;p3"/>
              <p:cNvSpPr/>
              <p:nvPr/>
            </p:nvSpPr>
            <p:spPr>
              <a:xfrm>
                <a:off x="13724846" y="1911090"/>
                <a:ext cx="1956187" cy="3529331"/>
              </a:xfrm>
              <a:custGeom>
                <a:avLst/>
                <a:gdLst/>
                <a:ahLst/>
                <a:cxnLst/>
                <a:rect l="l" t="t" r="r" b="b"/>
                <a:pathLst>
                  <a:path w="1956187" h="3529331" extrusionOk="0">
                    <a:moveTo>
                      <a:pt x="1920715" y="548243"/>
                    </a:moveTo>
                    <a:lnTo>
                      <a:pt x="1920715" y="883249"/>
                    </a:lnTo>
                    <a:cubicBezTo>
                      <a:pt x="1901362" y="883249"/>
                      <a:pt x="1885403" y="899241"/>
                      <a:pt x="1885403" y="918834"/>
                    </a:cubicBezTo>
                    <a:cubicBezTo>
                      <a:pt x="1885403" y="927654"/>
                      <a:pt x="1888748" y="935626"/>
                      <a:pt x="1894079" y="941853"/>
                    </a:cubicBezTo>
                    <a:lnTo>
                      <a:pt x="1757518" y="1078398"/>
                    </a:lnTo>
                    <a:lnTo>
                      <a:pt x="1757518" y="968906"/>
                    </a:lnTo>
                    <a:cubicBezTo>
                      <a:pt x="1768099" y="962727"/>
                      <a:pt x="1775302" y="951394"/>
                      <a:pt x="1775302" y="938299"/>
                    </a:cubicBezTo>
                    <a:cubicBezTo>
                      <a:pt x="1775302" y="918706"/>
                      <a:pt x="1759327" y="902715"/>
                      <a:pt x="1739734" y="902715"/>
                    </a:cubicBezTo>
                    <a:cubicBezTo>
                      <a:pt x="1720140" y="902715"/>
                      <a:pt x="1704421" y="918706"/>
                      <a:pt x="1704421" y="938299"/>
                    </a:cubicBezTo>
                    <a:cubicBezTo>
                      <a:pt x="1704421" y="957893"/>
                      <a:pt x="1720140" y="973852"/>
                      <a:pt x="1739734" y="973852"/>
                    </a:cubicBezTo>
                    <a:lnTo>
                      <a:pt x="1739734" y="1096182"/>
                    </a:lnTo>
                    <a:lnTo>
                      <a:pt x="1565427" y="1270504"/>
                    </a:lnTo>
                    <a:cubicBezTo>
                      <a:pt x="1559457" y="1265990"/>
                      <a:pt x="1552125" y="1263221"/>
                      <a:pt x="1544105" y="1263221"/>
                    </a:cubicBezTo>
                    <a:cubicBezTo>
                      <a:pt x="1524512" y="1263221"/>
                      <a:pt x="1508552" y="1279196"/>
                      <a:pt x="1508552" y="1298774"/>
                    </a:cubicBezTo>
                    <a:cubicBezTo>
                      <a:pt x="1508552" y="1315358"/>
                      <a:pt x="1520622" y="1329556"/>
                      <a:pt x="1536630" y="1332998"/>
                    </a:cubicBezTo>
                    <a:lnTo>
                      <a:pt x="1536630" y="1462659"/>
                    </a:lnTo>
                    <a:lnTo>
                      <a:pt x="1279932" y="1719420"/>
                    </a:lnTo>
                    <a:lnTo>
                      <a:pt x="1080815" y="1520302"/>
                    </a:lnTo>
                    <a:cubicBezTo>
                      <a:pt x="1084048" y="1514940"/>
                      <a:pt x="1086017" y="1508745"/>
                      <a:pt x="1086017" y="1502038"/>
                    </a:cubicBezTo>
                    <a:cubicBezTo>
                      <a:pt x="1086017" y="1485406"/>
                      <a:pt x="1074444" y="1471847"/>
                      <a:pt x="1058964" y="1468102"/>
                    </a:cubicBezTo>
                    <a:lnTo>
                      <a:pt x="1058964" y="269119"/>
                    </a:lnTo>
                    <a:lnTo>
                      <a:pt x="963303" y="173538"/>
                    </a:lnTo>
                    <a:lnTo>
                      <a:pt x="963303" y="31007"/>
                    </a:lnTo>
                    <a:cubicBezTo>
                      <a:pt x="957380" y="30046"/>
                      <a:pt x="951473" y="29070"/>
                      <a:pt x="945503" y="28157"/>
                    </a:cubicBezTo>
                    <a:lnTo>
                      <a:pt x="945503" y="155770"/>
                    </a:lnTo>
                    <a:lnTo>
                      <a:pt x="799946" y="10309"/>
                    </a:lnTo>
                    <a:cubicBezTo>
                      <a:pt x="790870" y="9476"/>
                      <a:pt x="781761" y="8708"/>
                      <a:pt x="772621" y="7972"/>
                    </a:cubicBezTo>
                    <a:lnTo>
                      <a:pt x="945519" y="181094"/>
                    </a:lnTo>
                    <a:lnTo>
                      <a:pt x="945519" y="668572"/>
                    </a:lnTo>
                    <a:lnTo>
                      <a:pt x="827447" y="786644"/>
                    </a:lnTo>
                    <a:lnTo>
                      <a:pt x="827447" y="1392130"/>
                    </a:lnTo>
                    <a:cubicBezTo>
                      <a:pt x="826406" y="1391521"/>
                      <a:pt x="825366" y="1390897"/>
                      <a:pt x="824261" y="1390401"/>
                    </a:cubicBezTo>
                    <a:lnTo>
                      <a:pt x="824261" y="712753"/>
                    </a:lnTo>
                    <a:lnTo>
                      <a:pt x="618756" y="506783"/>
                    </a:lnTo>
                    <a:cubicBezTo>
                      <a:pt x="619861" y="503342"/>
                      <a:pt x="620613" y="499756"/>
                      <a:pt x="620613" y="495962"/>
                    </a:cubicBezTo>
                    <a:cubicBezTo>
                      <a:pt x="620613" y="482884"/>
                      <a:pt x="613394" y="471535"/>
                      <a:pt x="602829" y="465340"/>
                    </a:cubicBezTo>
                    <a:lnTo>
                      <a:pt x="602829" y="176"/>
                    </a:lnTo>
                    <a:cubicBezTo>
                      <a:pt x="595529" y="96"/>
                      <a:pt x="588246" y="16"/>
                      <a:pt x="580914" y="0"/>
                    </a:cubicBezTo>
                    <a:lnTo>
                      <a:pt x="580914" y="109716"/>
                    </a:lnTo>
                    <a:lnTo>
                      <a:pt x="375617" y="315333"/>
                    </a:lnTo>
                    <a:lnTo>
                      <a:pt x="375617" y="8644"/>
                    </a:lnTo>
                    <a:cubicBezTo>
                      <a:pt x="369695" y="9156"/>
                      <a:pt x="363756" y="9797"/>
                      <a:pt x="357833" y="10357"/>
                    </a:cubicBezTo>
                    <a:lnTo>
                      <a:pt x="357833" y="333149"/>
                    </a:lnTo>
                    <a:lnTo>
                      <a:pt x="268015" y="423112"/>
                    </a:lnTo>
                    <a:cubicBezTo>
                      <a:pt x="263677" y="421191"/>
                      <a:pt x="258890" y="420086"/>
                      <a:pt x="253816" y="420086"/>
                    </a:cubicBezTo>
                    <a:cubicBezTo>
                      <a:pt x="234223" y="420086"/>
                      <a:pt x="218247" y="436062"/>
                      <a:pt x="218247" y="455639"/>
                    </a:cubicBezTo>
                    <a:cubicBezTo>
                      <a:pt x="218247" y="471327"/>
                      <a:pt x="228572" y="484565"/>
                      <a:pt x="242739" y="489271"/>
                    </a:cubicBezTo>
                    <a:lnTo>
                      <a:pt x="242739" y="807261"/>
                    </a:lnTo>
                    <a:lnTo>
                      <a:pt x="543217" y="1107723"/>
                    </a:lnTo>
                    <a:cubicBezTo>
                      <a:pt x="540079" y="1112942"/>
                      <a:pt x="538142" y="1118993"/>
                      <a:pt x="538142" y="1125588"/>
                    </a:cubicBezTo>
                    <a:cubicBezTo>
                      <a:pt x="538142" y="1142092"/>
                      <a:pt x="549555" y="1155938"/>
                      <a:pt x="564699" y="1159908"/>
                    </a:cubicBezTo>
                    <a:lnTo>
                      <a:pt x="564699" y="1670037"/>
                    </a:lnTo>
                    <a:lnTo>
                      <a:pt x="51464" y="2183064"/>
                    </a:lnTo>
                    <a:cubicBezTo>
                      <a:pt x="46678" y="2180630"/>
                      <a:pt x="41332" y="2179110"/>
                      <a:pt x="35553" y="2179110"/>
                    </a:cubicBezTo>
                    <a:cubicBezTo>
                      <a:pt x="15959" y="2179110"/>
                      <a:pt x="0" y="2195085"/>
                      <a:pt x="0" y="2214166"/>
                    </a:cubicBezTo>
                    <a:cubicBezTo>
                      <a:pt x="0" y="2227244"/>
                      <a:pt x="7203" y="2238594"/>
                      <a:pt x="17768" y="2244773"/>
                    </a:cubicBezTo>
                    <a:lnTo>
                      <a:pt x="17768" y="3323106"/>
                    </a:lnTo>
                    <a:lnTo>
                      <a:pt x="166975" y="3472297"/>
                    </a:lnTo>
                    <a:cubicBezTo>
                      <a:pt x="162397" y="3478283"/>
                      <a:pt x="159579" y="3485663"/>
                      <a:pt x="159579" y="3493763"/>
                    </a:cubicBezTo>
                    <a:cubicBezTo>
                      <a:pt x="159579" y="3513356"/>
                      <a:pt x="175555" y="3529332"/>
                      <a:pt x="195132" y="3529332"/>
                    </a:cubicBezTo>
                    <a:cubicBezTo>
                      <a:pt x="214709" y="3529332"/>
                      <a:pt x="230445" y="3513356"/>
                      <a:pt x="230445" y="3493763"/>
                    </a:cubicBezTo>
                    <a:cubicBezTo>
                      <a:pt x="230445" y="3474169"/>
                      <a:pt x="214709" y="3458194"/>
                      <a:pt x="195132" y="3458194"/>
                    </a:cubicBezTo>
                    <a:cubicBezTo>
                      <a:pt x="190058" y="3458194"/>
                      <a:pt x="185255" y="3459298"/>
                      <a:pt x="180901" y="3461219"/>
                    </a:cubicBezTo>
                    <a:lnTo>
                      <a:pt x="35569" y="3315903"/>
                    </a:lnTo>
                    <a:lnTo>
                      <a:pt x="35569" y="2249767"/>
                    </a:lnTo>
                    <a:cubicBezTo>
                      <a:pt x="55162" y="2249767"/>
                      <a:pt x="70881" y="2233776"/>
                      <a:pt x="70881" y="2214182"/>
                    </a:cubicBezTo>
                    <a:cubicBezTo>
                      <a:pt x="70881" y="2207011"/>
                      <a:pt x="68656" y="2200288"/>
                      <a:pt x="64863" y="2194685"/>
                    </a:cubicBezTo>
                    <a:lnTo>
                      <a:pt x="564667" y="1695041"/>
                    </a:lnTo>
                    <a:lnTo>
                      <a:pt x="564667" y="2196622"/>
                    </a:lnTo>
                    <a:cubicBezTo>
                      <a:pt x="549523" y="2200592"/>
                      <a:pt x="538110" y="2214406"/>
                      <a:pt x="538110" y="2230926"/>
                    </a:cubicBezTo>
                    <a:cubicBezTo>
                      <a:pt x="538110" y="2237393"/>
                      <a:pt x="539983" y="2243316"/>
                      <a:pt x="543008" y="2248486"/>
                    </a:cubicBezTo>
                    <a:lnTo>
                      <a:pt x="304560" y="2487159"/>
                    </a:lnTo>
                    <a:lnTo>
                      <a:pt x="304560" y="2829657"/>
                    </a:lnTo>
                    <a:cubicBezTo>
                      <a:pt x="290985" y="2834603"/>
                      <a:pt x="281109" y="2847618"/>
                      <a:pt x="281109" y="2862985"/>
                    </a:cubicBezTo>
                    <a:cubicBezTo>
                      <a:pt x="281109" y="2882594"/>
                      <a:pt x="297100" y="2898570"/>
                      <a:pt x="316421" y="2898570"/>
                    </a:cubicBezTo>
                    <a:cubicBezTo>
                      <a:pt x="336015" y="2898570"/>
                      <a:pt x="351990" y="2882594"/>
                      <a:pt x="351990" y="2862985"/>
                    </a:cubicBezTo>
                    <a:cubicBezTo>
                      <a:pt x="351990" y="2845424"/>
                      <a:pt x="339120" y="2830874"/>
                      <a:pt x="322344" y="2828024"/>
                    </a:cubicBezTo>
                    <a:lnTo>
                      <a:pt x="322344" y="2494379"/>
                    </a:lnTo>
                    <a:lnTo>
                      <a:pt x="555799" y="2261148"/>
                    </a:lnTo>
                    <a:cubicBezTo>
                      <a:pt x="561017" y="2264142"/>
                      <a:pt x="566988" y="2265983"/>
                      <a:pt x="573407" y="2265983"/>
                    </a:cubicBezTo>
                    <a:cubicBezTo>
                      <a:pt x="593256" y="2265983"/>
                      <a:pt x="608976" y="2250519"/>
                      <a:pt x="608976" y="2230926"/>
                    </a:cubicBezTo>
                    <a:cubicBezTo>
                      <a:pt x="608976" y="2214438"/>
                      <a:pt x="597786" y="2200656"/>
                      <a:pt x="582419" y="2196654"/>
                    </a:cubicBezTo>
                    <a:lnTo>
                      <a:pt x="582419" y="1677272"/>
                    </a:lnTo>
                    <a:lnTo>
                      <a:pt x="745360" y="1514380"/>
                    </a:lnTo>
                    <a:lnTo>
                      <a:pt x="1115071" y="1884298"/>
                    </a:lnTo>
                    <a:lnTo>
                      <a:pt x="847536" y="2151913"/>
                    </a:lnTo>
                    <a:lnTo>
                      <a:pt x="847536" y="2514980"/>
                    </a:lnTo>
                    <a:cubicBezTo>
                      <a:pt x="835370" y="2520471"/>
                      <a:pt x="826918" y="2532509"/>
                      <a:pt x="826918" y="2546819"/>
                    </a:cubicBezTo>
                    <a:cubicBezTo>
                      <a:pt x="826918" y="2554535"/>
                      <a:pt x="829432" y="2561642"/>
                      <a:pt x="833578" y="2567485"/>
                    </a:cubicBezTo>
                    <a:lnTo>
                      <a:pt x="531483" y="2870060"/>
                    </a:lnTo>
                    <a:lnTo>
                      <a:pt x="531483" y="3123716"/>
                    </a:lnTo>
                    <a:cubicBezTo>
                      <a:pt x="520854" y="3129879"/>
                      <a:pt x="513715" y="3141260"/>
                      <a:pt x="513715" y="3154387"/>
                    </a:cubicBezTo>
                    <a:cubicBezTo>
                      <a:pt x="513715" y="3173964"/>
                      <a:pt x="529418" y="3189939"/>
                      <a:pt x="549267" y="3189939"/>
                    </a:cubicBezTo>
                    <a:cubicBezTo>
                      <a:pt x="568605" y="3189939"/>
                      <a:pt x="584580" y="3173964"/>
                      <a:pt x="584580" y="3154387"/>
                    </a:cubicBezTo>
                    <a:cubicBezTo>
                      <a:pt x="584580" y="3134809"/>
                      <a:pt x="568605" y="3118802"/>
                      <a:pt x="549267" y="3118802"/>
                    </a:cubicBezTo>
                    <a:lnTo>
                      <a:pt x="549267" y="2877280"/>
                    </a:lnTo>
                    <a:lnTo>
                      <a:pt x="847488" y="2579059"/>
                    </a:lnTo>
                    <a:cubicBezTo>
                      <a:pt x="851986" y="2581140"/>
                      <a:pt x="856933" y="2582388"/>
                      <a:pt x="862215" y="2582388"/>
                    </a:cubicBezTo>
                    <a:cubicBezTo>
                      <a:pt x="881808" y="2582388"/>
                      <a:pt x="897768" y="2566397"/>
                      <a:pt x="897768" y="2546803"/>
                    </a:cubicBezTo>
                    <a:cubicBezTo>
                      <a:pt x="897768" y="2528267"/>
                      <a:pt x="883425" y="2513604"/>
                      <a:pt x="865305" y="2512051"/>
                    </a:cubicBezTo>
                    <a:lnTo>
                      <a:pt x="865305" y="2159116"/>
                    </a:lnTo>
                    <a:lnTo>
                      <a:pt x="1126692" y="1897809"/>
                    </a:lnTo>
                    <a:lnTo>
                      <a:pt x="1126692" y="2636254"/>
                    </a:lnTo>
                    <a:lnTo>
                      <a:pt x="993941" y="2768764"/>
                    </a:lnTo>
                    <a:lnTo>
                      <a:pt x="993941" y="3279101"/>
                    </a:lnTo>
                    <a:cubicBezTo>
                      <a:pt x="978654" y="3283039"/>
                      <a:pt x="967401" y="3296886"/>
                      <a:pt x="967401" y="3313422"/>
                    </a:cubicBezTo>
                    <a:cubicBezTo>
                      <a:pt x="967401" y="3333031"/>
                      <a:pt x="983120" y="3348750"/>
                      <a:pt x="1002714" y="3348750"/>
                    </a:cubicBezTo>
                    <a:cubicBezTo>
                      <a:pt x="1022307" y="3348750"/>
                      <a:pt x="1038282" y="3333031"/>
                      <a:pt x="1038282" y="3313422"/>
                    </a:cubicBezTo>
                    <a:cubicBezTo>
                      <a:pt x="1038282" y="3296870"/>
                      <a:pt x="1026821" y="3283023"/>
                      <a:pt x="1011470" y="3279085"/>
                    </a:cubicBezTo>
                    <a:lnTo>
                      <a:pt x="1011470" y="2776496"/>
                    </a:lnTo>
                    <a:lnTo>
                      <a:pt x="1144477" y="2643489"/>
                    </a:lnTo>
                    <a:lnTo>
                      <a:pt x="1144477" y="1888716"/>
                    </a:lnTo>
                    <a:lnTo>
                      <a:pt x="1140138" y="1884378"/>
                    </a:lnTo>
                    <a:lnTo>
                      <a:pt x="1279917" y="1744632"/>
                    </a:lnTo>
                    <a:lnTo>
                      <a:pt x="1383950" y="1848505"/>
                    </a:lnTo>
                    <a:lnTo>
                      <a:pt x="1383950" y="2143269"/>
                    </a:lnTo>
                    <a:lnTo>
                      <a:pt x="1264869" y="2262349"/>
                    </a:lnTo>
                    <a:lnTo>
                      <a:pt x="1264869" y="2503199"/>
                    </a:lnTo>
                    <a:cubicBezTo>
                      <a:pt x="1248093" y="2506048"/>
                      <a:pt x="1235223" y="2520599"/>
                      <a:pt x="1235223" y="2538159"/>
                    </a:cubicBezTo>
                    <a:cubicBezTo>
                      <a:pt x="1235223" y="2557768"/>
                      <a:pt x="1251199" y="2573232"/>
                      <a:pt x="1270808" y="2573232"/>
                    </a:cubicBezTo>
                    <a:cubicBezTo>
                      <a:pt x="1290385" y="2573232"/>
                      <a:pt x="1306121" y="2557768"/>
                      <a:pt x="1306121" y="2538159"/>
                    </a:cubicBezTo>
                    <a:cubicBezTo>
                      <a:pt x="1306121" y="2522760"/>
                      <a:pt x="1296340" y="2509730"/>
                      <a:pt x="1282654" y="2504800"/>
                    </a:cubicBezTo>
                    <a:lnTo>
                      <a:pt x="1282654" y="2269584"/>
                    </a:lnTo>
                    <a:lnTo>
                      <a:pt x="1383934" y="2168304"/>
                    </a:lnTo>
                    <a:lnTo>
                      <a:pt x="1383934" y="2737934"/>
                    </a:lnTo>
                    <a:cubicBezTo>
                      <a:pt x="1367174" y="2740783"/>
                      <a:pt x="1354288" y="2755366"/>
                      <a:pt x="1354288" y="2772910"/>
                    </a:cubicBezTo>
                    <a:cubicBezTo>
                      <a:pt x="1354288" y="2792503"/>
                      <a:pt x="1370279" y="2807967"/>
                      <a:pt x="1389873" y="2807967"/>
                    </a:cubicBezTo>
                    <a:cubicBezTo>
                      <a:pt x="1409466" y="2807967"/>
                      <a:pt x="1425185" y="2792503"/>
                      <a:pt x="1425185" y="2772910"/>
                    </a:cubicBezTo>
                    <a:cubicBezTo>
                      <a:pt x="1425185" y="2757511"/>
                      <a:pt x="1415404" y="2744465"/>
                      <a:pt x="1401718" y="2739535"/>
                    </a:cubicBezTo>
                    <a:lnTo>
                      <a:pt x="1401718" y="2150520"/>
                    </a:lnTo>
                    <a:lnTo>
                      <a:pt x="1554334" y="1997904"/>
                    </a:lnTo>
                    <a:lnTo>
                      <a:pt x="1554334" y="1470279"/>
                    </a:lnTo>
                    <a:lnTo>
                      <a:pt x="1757438" y="1267239"/>
                    </a:lnTo>
                    <a:lnTo>
                      <a:pt x="1757438" y="1103401"/>
                    </a:lnTo>
                    <a:lnTo>
                      <a:pt x="1908709" y="952130"/>
                    </a:lnTo>
                    <a:cubicBezTo>
                      <a:pt x="1912455" y="953507"/>
                      <a:pt x="1916441" y="954371"/>
                      <a:pt x="1920635" y="954371"/>
                    </a:cubicBezTo>
                    <a:cubicBezTo>
                      <a:pt x="1940484" y="954371"/>
                      <a:pt x="1956188" y="938395"/>
                      <a:pt x="1956188" y="918818"/>
                    </a:cubicBezTo>
                    <a:cubicBezTo>
                      <a:pt x="1956188" y="905692"/>
                      <a:pt x="1949049" y="894311"/>
                      <a:pt x="1938420" y="888148"/>
                    </a:cubicBezTo>
                    <a:lnTo>
                      <a:pt x="1938420" y="572366"/>
                    </a:lnTo>
                    <a:cubicBezTo>
                      <a:pt x="1932705" y="564299"/>
                      <a:pt x="1926702" y="556279"/>
                      <a:pt x="1920715" y="548243"/>
                    </a:cubicBezTo>
                    <a:close/>
                    <a:moveTo>
                      <a:pt x="582451" y="1652269"/>
                    </a:moveTo>
                    <a:lnTo>
                      <a:pt x="582451" y="1159892"/>
                    </a:lnTo>
                    <a:cubicBezTo>
                      <a:pt x="597818" y="1155890"/>
                      <a:pt x="609008" y="1142076"/>
                      <a:pt x="609008" y="1125588"/>
                    </a:cubicBezTo>
                    <a:cubicBezTo>
                      <a:pt x="609008" y="1105995"/>
                      <a:pt x="593288" y="1090531"/>
                      <a:pt x="573439" y="1090531"/>
                    </a:cubicBezTo>
                    <a:cubicBezTo>
                      <a:pt x="567020" y="1090531"/>
                      <a:pt x="561065" y="1092356"/>
                      <a:pt x="555847" y="1095350"/>
                    </a:cubicBezTo>
                    <a:lnTo>
                      <a:pt x="260507" y="800010"/>
                    </a:lnTo>
                    <a:lnTo>
                      <a:pt x="260507" y="490536"/>
                    </a:lnTo>
                    <a:cubicBezTo>
                      <a:pt x="276851" y="487382"/>
                      <a:pt x="289113" y="472927"/>
                      <a:pt x="289113" y="455639"/>
                    </a:cubicBezTo>
                    <a:cubicBezTo>
                      <a:pt x="289113" y="447587"/>
                      <a:pt x="286359" y="440240"/>
                      <a:pt x="281877" y="434269"/>
                    </a:cubicBezTo>
                    <a:lnTo>
                      <a:pt x="357833" y="358313"/>
                    </a:lnTo>
                    <a:lnTo>
                      <a:pt x="357833" y="434093"/>
                    </a:lnTo>
                    <a:lnTo>
                      <a:pt x="673358" y="749362"/>
                    </a:lnTo>
                    <a:lnTo>
                      <a:pt x="673358" y="1404296"/>
                    </a:lnTo>
                    <a:cubicBezTo>
                      <a:pt x="658071" y="1408249"/>
                      <a:pt x="646801" y="1422096"/>
                      <a:pt x="646801" y="1438648"/>
                    </a:cubicBezTo>
                    <a:cubicBezTo>
                      <a:pt x="646801" y="1458225"/>
                      <a:pt x="662521" y="1474233"/>
                      <a:pt x="682114" y="1474233"/>
                    </a:cubicBezTo>
                    <a:cubicBezTo>
                      <a:pt x="688725" y="1474233"/>
                      <a:pt x="694872" y="1472296"/>
                      <a:pt x="700187" y="1469110"/>
                    </a:cubicBezTo>
                    <a:lnTo>
                      <a:pt x="732922" y="1501862"/>
                    </a:lnTo>
                    <a:lnTo>
                      <a:pt x="582451" y="1652269"/>
                    </a:lnTo>
                    <a:close/>
                    <a:moveTo>
                      <a:pt x="712625" y="1456560"/>
                    </a:moveTo>
                    <a:cubicBezTo>
                      <a:pt x="715746" y="1451278"/>
                      <a:pt x="717651" y="1445195"/>
                      <a:pt x="717651" y="1438648"/>
                    </a:cubicBezTo>
                    <a:cubicBezTo>
                      <a:pt x="717651" y="1422192"/>
                      <a:pt x="706318" y="1408409"/>
                      <a:pt x="691094" y="1404376"/>
                    </a:cubicBezTo>
                    <a:lnTo>
                      <a:pt x="691094" y="742143"/>
                    </a:lnTo>
                    <a:lnTo>
                      <a:pt x="375585" y="426361"/>
                    </a:lnTo>
                    <a:lnTo>
                      <a:pt x="375585" y="340529"/>
                    </a:lnTo>
                    <a:lnTo>
                      <a:pt x="585012" y="131102"/>
                    </a:lnTo>
                    <a:lnTo>
                      <a:pt x="585012" y="460378"/>
                    </a:lnTo>
                    <a:cubicBezTo>
                      <a:pt x="565419" y="460378"/>
                      <a:pt x="549700" y="476369"/>
                      <a:pt x="549700" y="495962"/>
                    </a:cubicBezTo>
                    <a:cubicBezTo>
                      <a:pt x="549700" y="515556"/>
                      <a:pt x="565435" y="531803"/>
                      <a:pt x="585012" y="531803"/>
                    </a:cubicBezTo>
                    <a:cubicBezTo>
                      <a:pt x="594313" y="531803"/>
                      <a:pt x="602733" y="528058"/>
                      <a:pt x="609088" y="522119"/>
                    </a:cubicBezTo>
                    <a:lnTo>
                      <a:pt x="806717" y="719956"/>
                    </a:lnTo>
                    <a:lnTo>
                      <a:pt x="806717" y="1387375"/>
                    </a:lnTo>
                    <a:cubicBezTo>
                      <a:pt x="788452" y="1388848"/>
                      <a:pt x="773950" y="1404023"/>
                      <a:pt x="773950" y="1422672"/>
                    </a:cubicBezTo>
                    <a:cubicBezTo>
                      <a:pt x="773950" y="1433189"/>
                      <a:pt x="778656" y="1442426"/>
                      <a:pt x="785955" y="1448797"/>
                    </a:cubicBezTo>
                    <a:lnTo>
                      <a:pt x="745392" y="1489344"/>
                    </a:lnTo>
                    <a:lnTo>
                      <a:pt x="712625" y="1456560"/>
                    </a:lnTo>
                    <a:close/>
                    <a:moveTo>
                      <a:pt x="1127605" y="1871780"/>
                    </a:moveTo>
                    <a:lnTo>
                      <a:pt x="757910" y="1501862"/>
                    </a:lnTo>
                    <a:lnTo>
                      <a:pt x="802731" y="1457056"/>
                    </a:lnTo>
                    <a:cubicBezTo>
                      <a:pt x="804940" y="1457473"/>
                      <a:pt x="807229" y="1457729"/>
                      <a:pt x="809566" y="1457729"/>
                    </a:cubicBezTo>
                    <a:cubicBezTo>
                      <a:pt x="829160" y="1457729"/>
                      <a:pt x="845151" y="1442265"/>
                      <a:pt x="845151" y="1422672"/>
                    </a:cubicBezTo>
                    <a:cubicBezTo>
                      <a:pt x="845151" y="1420191"/>
                      <a:pt x="844879" y="1417758"/>
                      <a:pt x="844399" y="1415421"/>
                    </a:cubicBezTo>
                    <a:lnTo>
                      <a:pt x="845263" y="1414556"/>
                    </a:lnTo>
                    <a:lnTo>
                      <a:pt x="845263" y="793831"/>
                    </a:lnTo>
                    <a:lnTo>
                      <a:pt x="963335" y="675791"/>
                    </a:lnTo>
                    <a:lnTo>
                      <a:pt x="963335" y="198878"/>
                    </a:lnTo>
                    <a:lnTo>
                      <a:pt x="1041196" y="276851"/>
                    </a:lnTo>
                    <a:lnTo>
                      <a:pt x="1041196" y="1468342"/>
                    </a:lnTo>
                    <a:cubicBezTo>
                      <a:pt x="1026181" y="1472344"/>
                      <a:pt x="1015168" y="1485694"/>
                      <a:pt x="1015168" y="1502038"/>
                    </a:cubicBezTo>
                    <a:cubicBezTo>
                      <a:pt x="1015168" y="1521647"/>
                      <a:pt x="1030871" y="1537622"/>
                      <a:pt x="1050464" y="1537622"/>
                    </a:cubicBezTo>
                    <a:cubicBezTo>
                      <a:pt x="1056835" y="1537622"/>
                      <a:pt x="1062726" y="1535798"/>
                      <a:pt x="1067912" y="1532852"/>
                    </a:cubicBezTo>
                    <a:lnTo>
                      <a:pt x="1267383" y="1732002"/>
                    </a:lnTo>
                    <a:lnTo>
                      <a:pt x="1127605" y="1871780"/>
                    </a:lnTo>
                    <a:close/>
                    <a:moveTo>
                      <a:pt x="1536630" y="1990637"/>
                    </a:moveTo>
                    <a:lnTo>
                      <a:pt x="1401798" y="2125468"/>
                    </a:lnTo>
                    <a:lnTo>
                      <a:pt x="1401798" y="1841286"/>
                    </a:lnTo>
                    <a:lnTo>
                      <a:pt x="1292562" y="1732050"/>
                    </a:lnTo>
                    <a:lnTo>
                      <a:pt x="1536630" y="1488047"/>
                    </a:lnTo>
                    <a:lnTo>
                      <a:pt x="1536630" y="1990637"/>
                    </a:lnTo>
                    <a:close/>
                    <a:moveTo>
                      <a:pt x="1739734" y="1259491"/>
                    </a:moveTo>
                    <a:lnTo>
                      <a:pt x="1554414" y="1444859"/>
                    </a:lnTo>
                    <a:lnTo>
                      <a:pt x="1554414" y="1332117"/>
                    </a:lnTo>
                    <a:cubicBezTo>
                      <a:pt x="1568965" y="1327667"/>
                      <a:pt x="1579674" y="1314333"/>
                      <a:pt x="1579674" y="1298774"/>
                    </a:cubicBezTo>
                    <a:cubicBezTo>
                      <a:pt x="1579674" y="1293635"/>
                      <a:pt x="1578522" y="1288785"/>
                      <a:pt x="1576553" y="1284367"/>
                    </a:cubicBezTo>
                    <a:lnTo>
                      <a:pt x="1739734" y="1121186"/>
                    </a:lnTo>
                    <a:lnTo>
                      <a:pt x="1739734" y="125949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Google Shape;139;p3"/>
              <p:cNvSpPr/>
              <p:nvPr/>
            </p:nvSpPr>
            <p:spPr>
              <a:xfrm>
                <a:off x="12739148" y="2570249"/>
                <a:ext cx="414467" cy="1525616"/>
              </a:xfrm>
              <a:custGeom>
                <a:avLst/>
                <a:gdLst/>
                <a:ahLst/>
                <a:cxnLst/>
                <a:rect l="l" t="t" r="r" b="b"/>
                <a:pathLst>
                  <a:path w="414467" h="1525616" extrusionOk="0">
                    <a:moveTo>
                      <a:pt x="35569" y="378259"/>
                    </a:moveTo>
                    <a:cubicBezTo>
                      <a:pt x="42084" y="378259"/>
                      <a:pt x="48087" y="376370"/>
                      <a:pt x="53305" y="373312"/>
                    </a:cubicBezTo>
                    <a:lnTo>
                      <a:pt x="127852" y="447860"/>
                    </a:lnTo>
                    <a:lnTo>
                      <a:pt x="127852" y="932361"/>
                    </a:lnTo>
                    <a:cubicBezTo>
                      <a:pt x="114086" y="937275"/>
                      <a:pt x="104129" y="950321"/>
                      <a:pt x="104129" y="965720"/>
                    </a:cubicBezTo>
                    <a:cubicBezTo>
                      <a:pt x="104129" y="985314"/>
                      <a:pt x="120105" y="1001305"/>
                      <a:pt x="139698" y="1001305"/>
                    </a:cubicBezTo>
                    <a:cubicBezTo>
                      <a:pt x="144468" y="1001305"/>
                      <a:pt x="148982" y="1000329"/>
                      <a:pt x="153112" y="998616"/>
                    </a:cubicBezTo>
                    <a:lnTo>
                      <a:pt x="370143" y="1210108"/>
                    </a:lnTo>
                    <a:lnTo>
                      <a:pt x="370143" y="1456176"/>
                    </a:lnTo>
                    <a:cubicBezTo>
                      <a:pt x="354856" y="1460018"/>
                      <a:pt x="343586" y="1473496"/>
                      <a:pt x="343586" y="1490064"/>
                    </a:cubicBezTo>
                    <a:cubicBezTo>
                      <a:pt x="343586" y="1509641"/>
                      <a:pt x="359322" y="1525617"/>
                      <a:pt x="378899" y="1525617"/>
                    </a:cubicBezTo>
                    <a:cubicBezTo>
                      <a:pt x="398492" y="1525617"/>
                      <a:pt x="414468" y="1509641"/>
                      <a:pt x="414468" y="1490064"/>
                    </a:cubicBezTo>
                    <a:cubicBezTo>
                      <a:pt x="414468" y="1473496"/>
                      <a:pt x="403006" y="1460002"/>
                      <a:pt x="387655" y="1456176"/>
                    </a:cubicBezTo>
                    <a:lnTo>
                      <a:pt x="387655" y="1202904"/>
                    </a:lnTo>
                    <a:lnTo>
                      <a:pt x="167215" y="987811"/>
                    </a:lnTo>
                    <a:cubicBezTo>
                      <a:pt x="172033" y="981712"/>
                      <a:pt x="175027" y="974108"/>
                      <a:pt x="175027" y="965736"/>
                    </a:cubicBezTo>
                    <a:cubicBezTo>
                      <a:pt x="175027" y="948176"/>
                      <a:pt x="162365" y="933625"/>
                      <a:pt x="145637" y="930776"/>
                    </a:cubicBezTo>
                    <a:lnTo>
                      <a:pt x="145637" y="440656"/>
                    </a:lnTo>
                    <a:lnTo>
                      <a:pt x="65855" y="360874"/>
                    </a:lnTo>
                    <a:cubicBezTo>
                      <a:pt x="68977" y="355640"/>
                      <a:pt x="70881" y="349637"/>
                      <a:pt x="70881" y="343202"/>
                    </a:cubicBezTo>
                    <a:cubicBezTo>
                      <a:pt x="70881" y="326954"/>
                      <a:pt x="59980" y="313332"/>
                      <a:pt x="45109" y="309122"/>
                    </a:cubicBezTo>
                    <a:lnTo>
                      <a:pt x="45109" y="0"/>
                    </a:lnTo>
                    <a:cubicBezTo>
                      <a:pt x="39042" y="7572"/>
                      <a:pt x="33184" y="15207"/>
                      <a:pt x="27325" y="22843"/>
                    </a:cubicBezTo>
                    <a:lnTo>
                      <a:pt x="27325" y="308706"/>
                    </a:lnTo>
                    <a:cubicBezTo>
                      <a:pt x="11702" y="312452"/>
                      <a:pt x="0" y="326458"/>
                      <a:pt x="0" y="343186"/>
                    </a:cubicBezTo>
                    <a:cubicBezTo>
                      <a:pt x="0" y="362283"/>
                      <a:pt x="15976" y="378259"/>
                      <a:pt x="35569" y="37825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6" name="Google Shape;140;p3"/>
            <p:cNvPicPr preferRelativeResize="0"/>
            <p:nvPr/>
          </p:nvPicPr>
          <p:blipFill rotWithShape="1">
            <a:blip r:embed="rId1"/>
            <a:srcRect/>
            <a:stretch>
              <a:fillRect/>
            </a:stretch>
          </p:blipFill>
          <p:spPr>
            <a:xfrm flipH="1">
              <a:off x="8545731" y="2560353"/>
              <a:ext cx="2287123" cy="1917349"/>
            </a:xfrm>
            <a:prstGeom prst="rect">
              <a:avLst/>
            </a:prstGeom>
            <a:noFill/>
            <a:ln>
              <a:noFill/>
            </a:ln>
          </p:spPr>
        </p:pic>
      </p:grpSp>
      <p:sp>
        <p:nvSpPr>
          <p:cNvPr id="124" name="Google Shape;124;p3"/>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2" name="Title 11"/>
          <p:cNvSpPr>
            <a:spLocks noGrp="1"/>
          </p:cNvSpPr>
          <p:nvPr>
            <p:ph type="title"/>
          </p:nvPr>
        </p:nvSpPr>
        <p:spPr>
          <a:xfrm>
            <a:off x="700550" y="404869"/>
            <a:ext cx="10515600" cy="716422"/>
          </a:xfrm>
        </p:spPr>
        <p:txBody>
          <a:bodyPr/>
          <a:lstStyle/>
          <a:p>
            <a:r>
              <a:rPr lang="en-US" dirty="0"/>
              <a:t>YOU ARE GOING TO LEARN…</a:t>
            </a:r>
            <a:endParaRPr lang="en-US" dirty="0"/>
          </a:p>
        </p:txBody>
      </p:sp>
      <p:sp>
        <p:nvSpPr>
          <p:cNvPr id="137" name="Google Shape;137;p3"/>
          <p:cNvSpPr txBox="1"/>
          <p:nvPr/>
        </p:nvSpPr>
        <p:spPr>
          <a:xfrm>
            <a:off x="700550" y="2406004"/>
            <a:ext cx="6190615" cy="286004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panose="020B0604020202020204"/>
              <a:buChar char="•"/>
            </a:pPr>
            <a:r>
              <a:rPr lang="en-US" sz="1800" kern="1200" dirty="0">
                <a:solidFill>
                  <a:schemeClr val="dk1"/>
                </a:solidFill>
              </a:rPr>
              <a:t>Fixed Income Securities</a:t>
            </a:r>
            <a:r>
              <a:rPr lang="en-IN" altLang="en-US" sz="1800" kern="1200" dirty="0">
                <a:solidFill>
                  <a:schemeClr val="dk1"/>
                </a:solidFill>
              </a:rPr>
              <a:t> &amp; Terminology</a:t>
            </a:r>
            <a:endParaRPr lang="en-US" sz="1800" kern="1200" dirty="0">
              <a:solidFill>
                <a:schemeClr val="dk1"/>
              </a:solidFill>
            </a:endParaRPr>
          </a:p>
          <a:p>
            <a:pPr marL="285750" marR="0" lvl="0" indent="-285750" algn="l" rtl="0">
              <a:spcBef>
                <a:spcPts val="0"/>
              </a:spcBef>
              <a:spcAft>
                <a:spcPts val="0"/>
              </a:spcAft>
              <a:buClr>
                <a:schemeClr val="dk1"/>
              </a:buClr>
              <a:buSzPts val="1800"/>
              <a:buFont typeface="Arial" panose="020B0604020202020204"/>
              <a:buChar char="•"/>
            </a:pPr>
            <a:r>
              <a:rPr lang="en-US" sz="1800" kern="1200" dirty="0">
                <a:solidFill>
                  <a:schemeClr val="dk1"/>
                </a:solidFill>
              </a:rPr>
              <a:t>Advantages of Fixed Income Products  </a:t>
            </a:r>
            <a:endParaRPr lang="en-US" sz="1800" kern="1200" dirty="0">
              <a:solidFill>
                <a:schemeClr val="dk1"/>
              </a:solidFill>
            </a:endParaRPr>
          </a:p>
          <a:p>
            <a:pPr marL="285750" marR="0" lvl="0" indent="-285750" algn="l" rtl="0">
              <a:spcBef>
                <a:spcPts val="0"/>
              </a:spcBef>
              <a:spcAft>
                <a:spcPts val="0"/>
              </a:spcAft>
              <a:buClr>
                <a:schemeClr val="dk1"/>
              </a:buClr>
              <a:buSzPts val="1800"/>
              <a:buFont typeface="Arial" panose="020B0604020202020204"/>
              <a:buChar char="•"/>
            </a:pPr>
            <a:r>
              <a:rPr lang="en-US" sz="1800" kern="1200" dirty="0">
                <a:solidFill>
                  <a:schemeClr val="dk1"/>
                </a:solidFill>
              </a:rPr>
              <a:t>Bonds and its Characteristics</a:t>
            </a:r>
            <a:endParaRPr lang="en-US" sz="1800" kern="1200" dirty="0">
              <a:solidFill>
                <a:schemeClr val="dk1"/>
              </a:solidFill>
            </a:endParaRPr>
          </a:p>
          <a:p>
            <a:pPr marL="285750" marR="0" lvl="0" indent="-285750" algn="l" rtl="0">
              <a:spcBef>
                <a:spcPts val="0"/>
              </a:spcBef>
              <a:spcAft>
                <a:spcPts val="0"/>
              </a:spcAft>
              <a:buClr>
                <a:schemeClr val="dk1"/>
              </a:buClr>
              <a:buSzPts val="1800"/>
              <a:buFont typeface="Arial" panose="020B0604020202020204"/>
              <a:buChar char="•"/>
            </a:pPr>
            <a:r>
              <a:rPr lang="en-US" sz="1800" kern="1200" dirty="0">
                <a:solidFill>
                  <a:schemeClr val="dk1"/>
                </a:solidFill>
              </a:rPr>
              <a:t>Types of Bonds</a:t>
            </a:r>
            <a:endParaRPr lang="en-US" sz="1800" kern="1200" dirty="0">
              <a:solidFill>
                <a:schemeClr val="dk1"/>
              </a:solidFill>
            </a:endParaRPr>
          </a:p>
          <a:p>
            <a:pPr marL="285750" marR="0" lvl="0" indent="-285750" algn="l" rtl="0">
              <a:spcBef>
                <a:spcPts val="0"/>
              </a:spcBef>
              <a:spcAft>
                <a:spcPts val="0"/>
              </a:spcAft>
              <a:buClr>
                <a:schemeClr val="dk1"/>
              </a:buClr>
              <a:buSzPts val="1800"/>
              <a:buFont typeface="Arial" panose="020B0604020202020204"/>
              <a:buChar char="•"/>
            </a:pPr>
            <a:r>
              <a:rPr lang="en-IN" altLang="en-US" sz="1800" kern="1200" dirty="0">
                <a:solidFill>
                  <a:schemeClr val="dk1"/>
                </a:solidFill>
              </a:rPr>
              <a:t>Benefits &amp; Risks involved in Bonds Investment</a:t>
            </a:r>
            <a:endParaRPr lang="en-IN" altLang="en-US" sz="1800" kern="1200" dirty="0">
              <a:solidFill>
                <a:schemeClr val="dk1"/>
              </a:solidFill>
            </a:endParaRPr>
          </a:p>
          <a:p>
            <a:pPr marL="285750" marR="0" lvl="0" indent="-285750" algn="l" rtl="0">
              <a:spcBef>
                <a:spcPts val="0"/>
              </a:spcBef>
              <a:spcAft>
                <a:spcPts val="0"/>
              </a:spcAft>
              <a:buClr>
                <a:schemeClr val="dk1"/>
              </a:buClr>
              <a:buSzPts val="1800"/>
              <a:buFont typeface="Arial" panose="020B0604020202020204"/>
              <a:buChar char="•"/>
            </a:pPr>
            <a:r>
              <a:rPr lang="en-IN" altLang="en-US" sz="1800" kern="1200" dirty="0">
                <a:solidFill>
                  <a:schemeClr val="dk1"/>
                </a:solidFill>
              </a:rPr>
              <a:t>Money Market Products &amp; types</a:t>
            </a:r>
            <a:endParaRPr lang="en-IN" altLang="en-US" sz="1800" kern="1200" dirty="0">
              <a:solidFill>
                <a:schemeClr val="dk1"/>
              </a:solidFill>
            </a:endParaRPr>
          </a:p>
          <a:p>
            <a:pPr marL="285750" marR="0" lvl="0" indent="-285750" algn="l" rtl="0">
              <a:spcBef>
                <a:spcPts val="0"/>
              </a:spcBef>
              <a:spcAft>
                <a:spcPts val="0"/>
              </a:spcAft>
              <a:buClr>
                <a:schemeClr val="dk1"/>
              </a:buClr>
              <a:buSzPts val="1800"/>
              <a:buFont typeface="Arial" panose="020B0604020202020204"/>
              <a:buChar char="•"/>
            </a:pPr>
            <a:r>
              <a:rPr lang="en-IN" altLang="en-US" sz="1800" kern="1200" dirty="0">
                <a:solidFill>
                  <a:schemeClr val="dk1"/>
                </a:solidFill>
              </a:rPr>
              <a:t>REPO &amp; Reverse REPO Agreements</a:t>
            </a:r>
            <a:endParaRPr lang="en-IN" altLang="en-US" sz="1800" kern="1200" dirty="0">
              <a:solidFill>
                <a:schemeClr val="dk1"/>
              </a:solidFill>
            </a:endParaRPr>
          </a:p>
          <a:p>
            <a:pPr marL="285750" marR="0" lvl="0" indent="-285750" algn="l" rtl="0">
              <a:spcBef>
                <a:spcPts val="0"/>
              </a:spcBef>
              <a:spcAft>
                <a:spcPts val="0"/>
              </a:spcAft>
              <a:buClr>
                <a:schemeClr val="dk1"/>
              </a:buClr>
              <a:buSzPts val="1800"/>
              <a:buFont typeface="Arial" panose="020B0604020202020204"/>
              <a:buChar char="•"/>
            </a:pPr>
            <a:r>
              <a:rPr lang="en-IN" altLang="en-US" sz="1800" kern="1200" dirty="0">
                <a:solidFill>
                  <a:schemeClr val="dk1"/>
                </a:solidFill>
              </a:rPr>
              <a:t>Commercial Paper</a:t>
            </a:r>
            <a:endParaRPr lang="en-IN" altLang="en-US" sz="1800" kern="1200" dirty="0">
              <a:solidFill>
                <a:schemeClr val="dk1"/>
              </a:solidFill>
            </a:endParaRPr>
          </a:p>
          <a:p>
            <a:pPr marL="285750" marR="0" lvl="0" indent="-285750" algn="l" rtl="0">
              <a:spcBef>
                <a:spcPts val="0"/>
              </a:spcBef>
              <a:spcAft>
                <a:spcPts val="0"/>
              </a:spcAft>
              <a:buClr>
                <a:schemeClr val="dk1"/>
              </a:buClr>
              <a:buSzPts val="1800"/>
              <a:buFont typeface="Arial" panose="020B0604020202020204"/>
              <a:buChar char="•"/>
            </a:pPr>
            <a:r>
              <a:rPr lang="en-IN" altLang="en-US" sz="1800" kern="1200" dirty="0">
                <a:solidFill>
                  <a:schemeClr val="dk1"/>
                </a:solidFill>
              </a:rPr>
              <a:t>Treasury Bills</a:t>
            </a:r>
            <a:endParaRPr lang="en-IN" altLang="en-US" sz="1800" kern="1200" dirty="0">
              <a:solidFill>
                <a:schemeClr val="dk1"/>
              </a:solidFill>
            </a:endParaRPr>
          </a:p>
          <a:p>
            <a:pPr marL="285750" marR="0" lvl="0" indent="-285750" algn="l" rtl="0">
              <a:spcBef>
                <a:spcPts val="0"/>
              </a:spcBef>
              <a:spcAft>
                <a:spcPts val="0"/>
              </a:spcAft>
              <a:buClr>
                <a:schemeClr val="dk1"/>
              </a:buClr>
              <a:buSzPts val="1800"/>
              <a:buFont typeface="Arial" panose="020B0604020202020204"/>
              <a:buChar char="•"/>
            </a:pPr>
            <a:r>
              <a:rPr lang="en-IN" altLang="en-US" sz="1800" kern="1200" dirty="0">
                <a:solidFill>
                  <a:schemeClr val="dk1"/>
                </a:solidFill>
              </a:rPr>
              <a:t>Certificate of Deposits</a:t>
            </a:r>
            <a:endParaRPr lang="en-IN" altLang="en-US" sz="1800" kern="1200"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4"/>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 name="Title 1"/>
          <p:cNvSpPr>
            <a:spLocks noGrp="1"/>
          </p:cNvSpPr>
          <p:nvPr>
            <p:ph type="title"/>
          </p:nvPr>
        </p:nvSpPr>
        <p:spPr>
          <a:xfrm>
            <a:off x="700550" y="404869"/>
            <a:ext cx="10515600" cy="716422"/>
          </a:xfrm>
        </p:spPr>
        <p:txBody>
          <a:bodyPr/>
          <a:lstStyle/>
          <a:p>
            <a:r>
              <a:rPr lang="en-US" dirty="0"/>
              <a:t>FIXED INCOME SECURITIES</a:t>
            </a:r>
            <a:endParaRPr lang="en-US" dirty="0"/>
          </a:p>
        </p:txBody>
      </p:sp>
      <p:grpSp>
        <p:nvGrpSpPr>
          <p:cNvPr id="5" name="Group 4"/>
          <p:cNvGrpSpPr/>
          <p:nvPr/>
        </p:nvGrpSpPr>
        <p:grpSpPr>
          <a:xfrm>
            <a:off x="700550" y="1468438"/>
            <a:ext cx="10972800" cy="1237425"/>
            <a:chOff x="700550" y="1468438"/>
            <a:chExt cx="10972800" cy="1237425"/>
          </a:xfrm>
        </p:grpSpPr>
        <p:grpSp>
          <p:nvGrpSpPr>
            <p:cNvPr id="3" name="Group 2"/>
            <p:cNvGrpSpPr/>
            <p:nvPr/>
          </p:nvGrpSpPr>
          <p:grpSpPr>
            <a:xfrm>
              <a:off x="700550" y="1468438"/>
              <a:ext cx="10972800" cy="1237425"/>
              <a:chOff x="692151" y="1257297"/>
              <a:chExt cx="11007724" cy="1237425"/>
            </a:xfrm>
          </p:grpSpPr>
          <p:sp>
            <p:nvSpPr>
              <p:cNvPr id="144" name="Google Shape;144;p4"/>
              <p:cNvSpPr/>
              <p:nvPr/>
            </p:nvSpPr>
            <p:spPr>
              <a:xfrm>
                <a:off x="692151" y="1257297"/>
                <a:ext cx="11007724" cy="1237425"/>
              </a:xfrm>
              <a:prstGeom prst="round2SameRect">
                <a:avLst>
                  <a:gd name="adj1" fmla="val 0"/>
                  <a:gd name="adj2" fmla="val 5834"/>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45700" rIns="45700" bIns="45700" anchor="t" anchorCtr="0">
                <a:noAutofit/>
              </a:bodyPr>
              <a:lstStyle/>
              <a:p>
                <a:pPr marL="228600" marR="0" lvl="0" indent="-158750" algn="l" rtl="0">
                  <a:spcBef>
                    <a:spcPts val="0"/>
                  </a:spcBef>
                  <a:spcAft>
                    <a:spcPts val="0"/>
                  </a:spcAft>
                  <a:buClr>
                    <a:schemeClr val="dk1"/>
                  </a:buClr>
                  <a:buSzPts val="1100"/>
                  <a:buFont typeface="Noto Sans Symbols"/>
                  <a:buNone/>
                </a:pPr>
                <a:endParaRPr sz="11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45" name="Google Shape;145;p4"/>
              <p:cNvSpPr/>
              <p:nvPr/>
            </p:nvSpPr>
            <p:spPr>
              <a:xfrm>
                <a:off x="692151" y="1342008"/>
                <a:ext cx="11007724" cy="1073201"/>
              </a:xfrm>
              <a:prstGeom prst="round2SameRect">
                <a:avLst>
                  <a:gd name="adj1" fmla="val 0"/>
                  <a:gd name="adj2" fmla="val 5834"/>
                </a:avLst>
              </a:prstGeom>
              <a:solidFill>
                <a:schemeClr val="lt1"/>
              </a:solidFill>
              <a:ln w="9525" cap="flat" cmpd="sng">
                <a:solidFill>
                  <a:schemeClr val="accent3"/>
                </a:solidFill>
                <a:prstDash val="solid"/>
                <a:miter lim="800000"/>
                <a:headEnd type="none" w="sm" len="sm"/>
                <a:tailEnd type="none" w="sm" len="sm"/>
              </a:ln>
            </p:spPr>
            <p:txBody>
              <a:bodyPr spcFirstLastPara="1" wrap="square" lIns="91425" tIns="45700" rIns="45700" bIns="45700" anchor="t" anchorCtr="0">
                <a:noAutofit/>
              </a:bodyPr>
              <a:lstStyle/>
              <a:p>
                <a:pPr marL="228600" marR="0" lvl="0" indent="-158750" algn="l" rtl="0">
                  <a:spcBef>
                    <a:spcPts val="0"/>
                  </a:spcBef>
                  <a:spcAft>
                    <a:spcPts val="0"/>
                  </a:spcAft>
                  <a:buClr>
                    <a:schemeClr val="dk1"/>
                  </a:buClr>
                  <a:buSzPts val="1100"/>
                  <a:buFont typeface="Noto Sans Symbols"/>
                  <a:buNone/>
                </a:pPr>
                <a:endParaRPr sz="11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grpSp>
        <p:sp>
          <p:nvSpPr>
            <p:cNvPr id="146" name="Google Shape;146;p4"/>
            <p:cNvSpPr txBox="1"/>
            <p:nvPr/>
          </p:nvSpPr>
          <p:spPr>
            <a:xfrm>
              <a:off x="1021316" y="1548561"/>
              <a:ext cx="10331268" cy="10771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kern="1200" dirty="0">
                  <a:solidFill>
                    <a:schemeClr val="dk1"/>
                  </a:solidFill>
                </a:rPr>
                <a:t>Fixed income securities, often referred to as debt securities,</a:t>
              </a:r>
              <a:r>
                <a:rPr lang="en-IN" altLang="en-US" sz="1600" kern="1200" dirty="0">
                  <a:solidFill>
                    <a:schemeClr val="dk1"/>
                  </a:solidFill>
                </a:rPr>
                <a:t> they</a:t>
              </a:r>
              <a:r>
                <a:rPr lang="en-US" sz="1600" kern="1200" dirty="0">
                  <a:solidFill>
                    <a:schemeClr val="dk1"/>
                  </a:solidFill>
                </a:rPr>
                <a:t> are financial instruments that represent a loan made by an investor to a borrower. When you invest in a fixed income security, you are essentially lending your money to the issuer (the borrower) in exchange for periodic interest payments and the return of the principal amount at maturity.</a:t>
              </a:r>
              <a:endParaRPr lang="en-US" sz="1600" kern="1200" dirty="0">
                <a:solidFill>
                  <a:schemeClr val="dk1"/>
                </a:solidFill>
              </a:endParaRPr>
            </a:p>
          </p:txBody>
        </p:sp>
      </p:grpSp>
      <p:sp>
        <p:nvSpPr>
          <p:cNvPr id="147" name="Google Shape;147;p4"/>
          <p:cNvSpPr/>
          <p:nvPr/>
        </p:nvSpPr>
        <p:spPr>
          <a:xfrm>
            <a:off x="2927082" y="2762018"/>
            <a:ext cx="651973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Here are the key terminologies of fixed income securities:</a:t>
            </a:r>
            <a:endPar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23" name="Group 22"/>
          <p:cNvGrpSpPr/>
          <p:nvPr/>
        </p:nvGrpSpPr>
        <p:grpSpPr>
          <a:xfrm>
            <a:off x="700550" y="3187504"/>
            <a:ext cx="10972799" cy="3024096"/>
            <a:chOff x="700550" y="3187504"/>
            <a:chExt cx="10972799" cy="3024096"/>
          </a:xfrm>
        </p:grpSpPr>
        <p:grpSp>
          <p:nvGrpSpPr>
            <p:cNvPr id="21" name="Group 20"/>
            <p:cNvGrpSpPr/>
            <p:nvPr/>
          </p:nvGrpSpPr>
          <p:grpSpPr>
            <a:xfrm>
              <a:off x="700550" y="3187504"/>
              <a:ext cx="5379718" cy="3024096"/>
              <a:chOff x="700550" y="3187504"/>
              <a:chExt cx="5379718" cy="3024096"/>
            </a:xfrm>
          </p:grpSpPr>
          <p:sp>
            <p:nvSpPr>
              <p:cNvPr id="149" name="Google Shape;149;p4"/>
              <p:cNvSpPr/>
              <p:nvPr/>
            </p:nvSpPr>
            <p:spPr>
              <a:xfrm rot="5400000">
                <a:off x="5136661" y="2938954"/>
                <a:ext cx="695057"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50" name="Google Shape;150;p4"/>
              <p:cNvSpPr/>
              <p:nvPr/>
            </p:nvSpPr>
            <p:spPr>
              <a:xfrm rot="16200000" flipH="1">
                <a:off x="949102" y="2938956"/>
                <a:ext cx="695054"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51" name="Google Shape;151;p4"/>
              <p:cNvSpPr/>
              <p:nvPr/>
            </p:nvSpPr>
            <p:spPr>
              <a:xfrm>
                <a:off x="964437" y="3265851"/>
                <a:ext cx="4842068" cy="616712"/>
              </a:xfrm>
              <a:prstGeom prst="roundRect">
                <a:avLst>
                  <a:gd name="adj" fmla="val 16667"/>
                </a:avLst>
              </a:prstGeom>
              <a:solidFill>
                <a:schemeClr val="accent3">
                  <a:lumMod val="20000"/>
                  <a:lumOff val="80000"/>
                </a:schemeClr>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52" name="Google Shape;152;p4"/>
              <p:cNvSpPr/>
              <p:nvPr/>
            </p:nvSpPr>
            <p:spPr>
              <a:xfrm rot="10800000" flipH="1">
                <a:off x="969375" y="3187505"/>
                <a:ext cx="4842068" cy="132727"/>
              </a:xfrm>
              <a:prstGeom prst="round2SameRect">
                <a:avLst>
                  <a:gd name="adj1" fmla="val 4094"/>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53" name="Google Shape;153;p4"/>
              <p:cNvSpPr/>
              <p:nvPr/>
            </p:nvSpPr>
            <p:spPr>
              <a:xfrm>
                <a:off x="964372" y="3946987"/>
                <a:ext cx="4842068" cy="2194560"/>
              </a:xfrm>
              <a:prstGeom prst="roundRect">
                <a:avLst>
                  <a:gd name="adj" fmla="val 1991"/>
                </a:avLst>
              </a:prstGeom>
              <a:solidFill>
                <a:schemeClr val="lt1"/>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dirty="0">
                  <a:solidFill>
                    <a:schemeClr val="accent2"/>
                  </a:solidFill>
                  <a:latin typeface="Arial" panose="020B0604020202020204"/>
                  <a:ea typeface="Arial" panose="020B0604020202020204"/>
                  <a:cs typeface="Arial" panose="020B0604020202020204"/>
                  <a:sym typeface="Arial" panose="020B0604020202020204"/>
                </a:endParaRPr>
              </a:p>
            </p:txBody>
          </p:sp>
          <p:sp>
            <p:nvSpPr>
              <p:cNvPr id="154" name="Google Shape;154;p4"/>
              <p:cNvSpPr/>
              <p:nvPr/>
            </p:nvSpPr>
            <p:spPr>
              <a:xfrm>
                <a:off x="966558" y="6121227"/>
                <a:ext cx="4842068" cy="90373"/>
              </a:xfrm>
              <a:prstGeom prst="round2SameRect">
                <a:avLst>
                  <a:gd name="adj1" fmla="val 4094"/>
                  <a:gd name="adj2" fmla="val 50000"/>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55" name="Google Shape;155;p4"/>
              <p:cNvSpPr/>
              <p:nvPr/>
            </p:nvSpPr>
            <p:spPr>
              <a:xfrm>
                <a:off x="1097195" y="3472464"/>
                <a:ext cx="4576552" cy="25038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kern="1200" dirty="0">
                    <a:solidFill>
                      <a:schemeClr val="dk1"/>
                    </a:solidFill>
                  </a:rPr>
                  <a:t>1.Face Value</a:t>
                </a:r>
                <a:r>
                  <a:rPr lang="en-IN" altLang="en-US" sz="1600" b="1" kern="1200" dirty="0">
                    <a:solidFill>
                      <a:schemeClr val="dk1"/>
                    </a:solidFill>
                  </a:rPr>
                  <a:t>/Par Value</a:t>
                </a:r>
                <a:r>
                  <a:rPr lang="en-US" sz="1600" b="1" kern="1200" dirty="0">
                    <a:solidFill>
                      <a:schemeClr val="dk1"/>
                    </a:solidFill>
                  </a:rPr>
                  <a:t>: </a:t>
                </a:r>
                <a:endParaRPr lang="en-US" sz="1600" b="1" kern="1200" dirty="0">
                  <a:solidFill>
                    <a:schemeClr val="dk1"/>
                  </a:solidFill>
                </a:endParaRPr>
              </a:p>
            </p:txBody>
          </p:sp>
          <p:sp>
            <p:nvSpPr>
              <p:cNvPr id="164" name="Google Shape;164;p4"/>
              <p:cNvSpPr txBox="1"/>
              <p:nvPr/>
            </p:nvSpPr>
            <p:spPr>
              <a:xfrm>
                <a:off x="1158100" y="4034429"/>
                <a:ext cx="4454612" cy="20620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kern="1200" dirty="0">
                    <a:solidFill>
                      <a:schemeClr val="dk1"/>
                    </a:solidFill>
                  </a:rPr>
                  <a:t>Fixed income securities have a </a:t>
                </a:r>
                <a:r>
                  <a:rPr lang="en-IN" altLang="en-US" sz="1600" kern="1200" dirty="0">
                    <a:solidFill>
                      <a:schemeClr val="dk1"/>
                    </a:solidFill>
                  </a:rPr>
                  <a:t>F</a:t>
                </a:r>
                <a:r>
                  <a:rPr lang="en-US" sz="1600" kern="1200" dirty="0">
                    <a:solidFill>
                      <a:schemeClr val="dk1"/>
                    </a:solidFill>
                  </a:rPr>
                  <a:t>ace value</a:t>
                </a:r>
                <a:r>
                  <a:rPr lang="en-IN" altLang="en-US" sz="1600" kern="1200" dirty="0">
                    <a:solidFill>
                      <a:schemeClr val="dk1"/>
                    </a:solidFill>
                  </a:rPr>
                  <a:t> / Par Value</a:t>
                </a:r>
                <a:r>
                  <a:rPr lang="en-US" sz="1600" kern="1200" dirty="0">
                    <a:solidFill>
                      <a:schemeClr val="dk1"/>
                    </a:solidFill>
                  </a:rPr>
                  <a:t>, which </a:t>
                </a:r>
                <a:r>
                  <a:rPr lang="en-IN" altLang="en-US" sz="1600" kern="1200" dirty="0">
                    <a:solidFill>
                      <a:schemeClr val="dk1"/>
                    </a:solidFill>
                  </a:rPr>
                  <a:t>is decided by the Issuer company and this Face/Par Value decides the number of Debt Instruments in circulation for a given Debt Amount that the company wants to raise</a:t>
                </a:r>
                <a:r>
                  <a:rPr lang="en-US" sz="1600" kern="1200" dirty="0">
                    <a:solidFill>
                      <a:schemeClr val="dk1"/>
                    </a:solidFill>
                  </a:rPr>
                  <a:t>. This </a:t>
                </a:r>
                <a:r>
                  <a:rPr lang="en-IN" altLang="en-US" sz="1600" kern="1200" dirty="0">
                    <a:solidFill>
                      <a:schemeClr val="dk1"/>
                    </a:solidFill>
                  </a:rPr>
                  <a:t>Face Value </a:t>
                </a:r>
                <a:r>
                  <a:rPr lang="en-US" sz="1600" kern="1200" dirty="0">
                    <a:solidFill>
                      <a:schemeClr val="dk1"/>
                    </a:solidFill>
                  </a:rPr>
                  <a:t>is the </a:t>
                </a:r>
                <a:r>
                  <a:rPr lang="en-IN" altLang="en-US" sz="1600" kern="1200" dirty="0">
                    <a:solidFill>
                      <a:schemeClr val="dk1"/>
                    </a:solidFill>
                  </a:rPr>
                  <a:t>basis for calculation of Interest/Coupon Am</a:t>
                </a:r>
                <a:r>
                  <a:rPr lang="en-US" sz="1600" kern="1200" dirty="0" err="1">
                    <a:solidFill>
                      <a:schemeClr val="dk1"/>
                    </a:solidFill>
                  </a:rPr>
                  <a:t>ount</a:t>
                </a:r>
                <a:r>
                  <a:rPr lang="en-US" sz="1600" kern="1200" dirty="0">
                    <a:solidFill>
                      <a:schemeClr val="dk1"/>
                    </a:solidFill>
                  </a:rPr>
                  <a:t> that will be </a:t>
                </a:r>
                <a:r>
                  <a:rPr lang="en-IN" altLang="en-US" sz="1600" kern="1200" dirty="0">
                    <a:solidFill>
                      <a:schemeClr val="dk1"/>
                    </a:solidFill>
                  </a:rPr>
                  <a:t>p</a:t>
                </a:r>
                <a:r>
                  <a:rPr lang="en-US" sz="1600" kern="1200" dirty="0">
                    <a:solidFill>
                      <a:schemeClr val="dk1"/>
                    </a:solidFill>
                  </a:rPr>
                  <a:t>aid to the investor.</a:t>
                </a:r>
                <a:endParaRPr lang="en-US" sz="1600" kern="1200" dirty="0">
                  <a:solidFill>
                    <a:schemeClr val="dk1"/>
                  </a:solidFill>
                </a:endParaRPr>
              </a:p>
            </p:txBody>
          </p:sp>
        </p:grpSp>
        <p:grpSp>
          <p:nvGrpSpPr>
            <p:cNvPr id="22" name="Group 21"/>
            <p:cNvGrpSpPr/>
            <p:nvPr/>
          </p:nvGrpSpPr>
          <p:grpSpPr>
            <a:xfrm>
              <a:off x="6293631" y="3187504"/>
              <a:ext cx="5379718" cy="3024096"/>
              <a:chOff x="6293631" y="3187504"/>
              <a:chExt cx="5379718" cy="3024096"/>
            </a:xfrm>
          </p:grpSpPr>
          <p:sp>
            <p:nvSpPr>
              <p:cNvPr id="11" name="Google Shape;149;p4"/>
              <p:cNvSpPr/>
              <p:nvPr/>
            </p:nvSpPr>
            <p:spPr>
              <a:xfrm rot="5400000">
                <a:off x="10729742" y="2938954"/>
                <a:ext cx="695057"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2" name="Google Shape;150;p4"/>
              <p:cNvSpPr/>
              <p:nvPr/>
            </p:nvSpPr>
            <p:spPr>
              <a:xfrm rot="16200000" flipH="1">
                <a:off x="6542182" y="2938957"/>
                <a:ext cx="695055"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3" name="Google Shape;151;p4"/>
              <p:cNvSpPr/>
              <p:nvPr/>
            </p:nvSpPr>
            <p:spPr>
              <a:xfrm>
                <a:off x="6557518" y="3265851"/>
                <a:ext cx="4842068" cy="616712"/>
              </a:xfrm>
              <a:prstGeom prst="roundRect">
                <a:avLst>
                  <a:gd name="adj" fmla="val 16667"/>
                </a:avLst>
              </a:prstGeom>
              <a:solidFill>
                <a:schemeClr val="accent3">
                  <a:lumMod val="20000"/>
                  <a:lumOff val="80000"/>
                </a:schemeClr>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4" name="Google Shape;152;p4"/>
              <p:cNvSpPr/>
              <p:nvPr/>
            </p:nvSpPr>
            <p:spPr>
              <a:xfrm rot="10800000" flipH="1">
                <a:off x="6562456" y="3187505"/>
                <a:ext cx="4842068" cy="132727"/>
              </a:xfrm>
              <a:prstGeom prst="round2SameRect">
                <a:avLst>
                  <a:gd name="adj1" fmla="val 4094"/>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5" name="Google Shape;153;p4"/>
              <p:cNvSpPr/>
              <p:nvPr/>
            </p:nvSpPr>
            <p:spPr>
              <a:xfrm>
                <a:off x="6557453" y="3946987"/>
                <a:ext cx="4842068" cy="2194560"/>
              </a:xfrm>
              <a:prstGeom prst="roundRect">
                <a:avLst>
                  <a:gd name="adj" fmla="val 1991"/>
                </a:avLst>
              </a:prstGeom>
              <a:solidFill>
                <a:schemeClr val="lt1"/>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dirty="0">
                  <a:solidFill>
                    <a:schemeClr val="accent2"/>
                  </a:solidFill>
                  <a:latin typeface="Arial" panose="020B0604020202020204"/>
                  <a:ea typeface="Arial" panose="020B0604020202020204"/>
                  <a:cs typeface="Arial" panose="020B0604020202020204"/>
                  <a:sym typeface="Arial" panose="020B0604020202020204"/>
                </a:endParaRPr>
              </a:p>
            </p:txBody>
          </p:sp>
          <p:sp>
            <p:nvSpPr>
              <p:cNvPr id="16" name="Google Shape;154;p4"/>
              <p:cNvSpPr/>
              <p:nvPr/>
            </p:nvSpPr>
            <p:spPr>
              <a:xfrm>
                <a:off x="6559639" y="6121227"/>
                <a:ext cx="4842068" cy="90373"/>
              </a:xfrm>
              <a:prstGeom prst="round2SameRect">
                <a:avLst>
                  <a:gd name="adj1" fmla="val 4094"/>
                  <a:gd name="adj2" fmla="val 50000"/>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7" name="Google Shape;155;p4"/>
              <p:cNvSpPr/>
              <p:nvPr/>
            </p:nvSpPr>
            <p:spPr>
              <a:xfrm>
                <a:off x="6690276" y="3472464"/>
                <a:ext cx="4576552" cy="25038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kern="1200" dirty="0">
                    <a:solidFill>
                      <a:schemeClr val="dk1"/>
                    </a:solidFill>
                  </a:rPr>
                  <a:t>2. Coupon Rate: </a:t>
                </a:r>
                <a:endParaRPr lang="en-US" sz="1600" b="1" kern="1200" dirty="0">
                  <a:solidFill>
                    <a:schemeClr val="dk1"/>
                  </a:solidFill>
                </a:endParaRPr>
              </a:p>
            </p:txBody>
          </p:sp>
          <p:sp>
            <p:nvSpPr>
              <p:cNvPr id="18" name="Google Shape;164;p4"/>
              <p:cNvSpPr txBox="1"/>
              <p:nvPr/>
            </p:nvSpPr>
            <p:spPr>
              <a:xfrm>
                <a:off x="6751181" y="4034429"/>
                <a:ext cx="4454612" cy="1815841"/>
              </a:xfrm>
              <a:prstGeom prst="rect">
                <a:avLst/>
              </a:prstGeom>
              <a:noFill/>
              <a:ln>
                <a:noFill/>
              </a:ln>
            </p:spPr>
            <p:txBody>
              <a:bodyPr spcFirstLastPara="1" wrap="square" lIns="91425" tIns="45700" rIns="91425" bIns="45700" anchor="t" anchorCtr="0">
                <a:spAutoFit/>
              </a:bodyPr>
              <a:lstStyle/>
              <a:p>
                <a:pPr lvl="0" algn="ctr"/>
                <a:r>
                  <a:rPr lang="en-US" sz="1600" kern="1200" dirty="0">
                    <a:solidFill>
                      <a:schemeClr val="dk1"/>
                    </a:solidFill>
                  </a:rPr>
                  <a:t>The coupon rate, also known as the interest rate, is the annual rate of interest that the issuer agrees to pay to the bondholder. It's expressed as a percentage of the face value. For example, a bond with a $1,000 face value and a 5% coupon rate will pay $50 in interest annually.</a:t>
                </a:r>
                <a:endParaRPr lang="en-US" sz="1600" kern="1200" dirty="0">
                  <a:solidFill>
                    <a:schemeClr val="dk1"/>
                  </a:solidFill>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20" name="Title 19"/>
          <p:cNvSpPr>
            <a:spLocks noGrp="1"/>
          </p:cNvSpPr>
          <p:nvPr>
            <p:ph type="title"/>
          </p:nvPr>
        </p:nvSpPr>
        <p:spPr/>
        <p:txBody>
          <a:bodyPr/>
          <a:lstStyle/>
          <a:p>
            <a:r>
              <a:rPr lang="en-US" dirty="0"/>
              <a:t>FIXED INCOME SECURITIES</a:t>
            </a:r>
            <a:endParaRPr lang="en-US" dirty="0"/>
          </a:p>
        </p:txBody>
      </p:sp>
      <p:grpSp>
        <p:nvGrpSpPr>
          <p:cNvPr id="61" name="Group 60"/>
          <p:cNvGrpSpPr/>
          <p:nvPr/>
        </p:nvGrpSpPr>
        <p:grpSpPr>
          <a:xfrm>
            <a:off x="700550" y="1468438"/>
            <a:ext cx="5379718" cy="2293232"/>
            <a:chOff x="700550" y="1468438"/>
            <a:chExt cx="5379718" cy="2293232"/>
          </a:xfrm>
        </p:grpSpPr>
        <p:sp>
          <p:nvSpPr>
            <p:cNvPr id="3" name="Google Shape;149;p4"/>
            <p:cNvSpPr/>
            <p:nvPr/>
          </p:nvSpPr>
          <p:spPr>
            <a:xfrm rot="5400000">
              <a:off x="5136661" y="1219888"/>
              <a:ext cx="695057"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4" name="Google Shape;150;p4"/>
            <p:cNvSpPr/>
            <p:nvPr/>
          </p:nvSpPr>
          <p:spPr>
            <a:xfrm rot="16200000" flipH="1">
              <a:off x="949102" y="1219890"/>
              <a:ext cx="695054"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5" name="Google Shape;151;p4"/>
            <p:cNvSpPr/>
            <p:nvPr/>
          </p:nvSpPr>
          <p:spPr>
            <a:xfrm>
              <a:off x="964437" y="1546785"/>
              <a:ext cx="4842068" cy="616712"/>
            </a:xfrm>
            <a:prstGeom prst="roundRect">
              <a:avLst>
                <a:gd name="adj" fmla="val 16667"/>
              </a:avLst>
            </a:prstGeom>
            <a:solidFill>
              <a:schemeClr val="accent3">
                <a:lumMod val="20000"/>
                <a:lumOff val="80000"/>
              </a:schemeClr>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6" name="Google Shape;152;p4"/>
            <p:cNvSpPr/>
            <p:nvPr/>
          </p:nvSpPr>
          <p:spPr>
            <a:xfrm rot="10800000" flipH="1">
              <a:off x="969375" y="1468439"/>
              <a:ext cx="4842068" cy="132727"/>
            </a:xfrm>
            <a:prstGeom prst="round2SameRect">
              <a:avLst>
                <a:gd name="adj1" fmla="val 4094"/>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7" name="Google Shape;153;p4"/>
            <p:cNvSpPr/>
            <p:nvPr/>
          </p:nvSpPr>
          <p:spPr>
            <a:xfrm>
              <a:off x="964372" y="2227921"/>
              <a:ext cx="4842068" cy="1463040"/>
            </a:xfrm>
            <a:prstGeom prst="roundRect">
              <a:avLst>
                <a:gd name="adj" fmla="val 1991"/>
              </a:avLst>
            </a:prstGeom>
            <a:solidFill>
              <a:schemeClr val="lt1"/>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dirty="0">
                <a:solidFill>
                  <a:schemeClr val="accent2"/>
                </a:solidFill>
                <a:latin typeface="Arial" panose="020B0604020202020204"/>
                <a:ea typeface="Arial" panose="020B0604020202020204"/>
                <a:cs typeface="Arial" panose="020B0604020202020204"/>
                <a:sym typeface="Arial" panose="020B0604020202020204"/>
              </a:endParaRPr>
            </a:p>
          </p:txBody>
        </p:sp>
        <p:sp>
          <p:nvSpPr>
            <p:cNvPr id="8" name="Google Shape;154;p4"/>
            <p:cNvSpPr/>
            <p:nvPr/>
          </p:nvSpPr>
          <p:spPr>
            <a:xfrm>
              <a:off x="966558" y="3671297"/>
              <a:ext cx="4842068" cy="90373"/>
            </a:xfrm>
            <a:prstGeom prst="round2SameRect">
              <a:avLst>
                <a:gd name="adj1" fmla="val 4094"/>
                <a:gd name="adj2" fmla="val 50000"/>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9" name="Google Shape;155;p4"/>
            <p:cNvSpPr/>
            <p:nvPr/>
          </p:nvSpPr>
          <p:spPr>
            <a:xfrm>
              <a:off x="1097195" y="1753398"/>
              <a:ext cx="4576552" cy="25038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kern="1200" dirty="0">
                  <a:solidFill>
                    <a:schemeClr val="dk1"/>
                  </a:solidFill>
                </a:rPr>
                <a:t>3. Maturity Date: </a:t>
              </a:r>
              <a:endParaRPr lang="en-US" sz="1600" b="1" kern="1200" dirty="0">
                <a:solidFill>
                  <a:schemeClr val="dk1"/>
                </a:solidFill>
              </a:endParaRPr>
            </a:p>
          </p:txBody>
        </p:sp>
        <p:sp>
          <p:nvSpPr>
            <p:cNvPr id="10" name="Google Shape;164;p4"/>
            <p:cNvSpPr txBox="1"/>
            <p:nvPr/>
          </p:nvSpPr>
          <p:spPr>
            <a:xfrm>
              <a:off x="1158100" y="2315363"/>
              <a:ext cx="4454612" cy="13233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kern="1200" dirty="0">
                  <a:solidFill>
                    <a:schemeClr val="dk1"/>
                  </a:solidFill>
                </a:rPr>
                <a:t>Fixed income securities have a specific maturity date when the issuer is obligated to repay the principal amount to the bondholder. Maturity dates can range from a few months to several decades.</a:t>
              </a:r>
              <a:endParaRPr lang="en-US" sz="1600" kern="1200" dirty="0">
                <a:solidFill>
                  <a:schemeClr val="dk1"/>
                </a:solidFill>
              </a:endParaRPr>
            </a:p>
          </p:txBody>
        </p:sp>
      </p:grpSp>
      <p:grpSp>
        <p:nvGrpSpPr>
          <p:cNvPr id="62" name="Group 61"/>
          <p:cNvGrpSpPr/>
          <p:nvPr/>
        </p:nvGrpSpPr>
        <p:grpSpPr>
          <a:xfrm>
            <a:off x="6293631" y="1468438"/>
            <a:ext cx="5379718" cy="2293232"/>
            <a:chOff x="6293631" y="1468438"/>
            <a:chExt cx="5379718" cy="2293232"/>
          </a:xfrm>
        </p:grpSpPr>
        <p:sp>
          <p:nvSpPr>
            <p:cNvPr id="12" name="Google Shape;149;p4"/>
            <p:cNvSpPr/>
            <p:nvPr/>
          </p:nvSpPr>
          <p:spPr>
            <a:xfrm rot="5400000">
              <a:off x="10729742" y="1219888"/>
              <a:ext cx="695057"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3" name="Google Shape;150;p4"/>
            <p:cNvSpPr/>
            <p:nvPr/>
          </p:nvSpPr>
          <p:spPr>
            <a:xfrm rot="16200000" flipH="1">
              <a:off x="6542182" y="1219891"/>
              <a:ext cx="695055"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4" name="Google Shape;151;p4"/>
            <p:cNvSpPr/>
            <p:nvPr/>
          </p:nvSpPr>
          <p:spPr>
            <a:xfrm>
              <a:off x="6557518" y="1546785"/>
              <a:ext cx="4842068" cy="616712"/>
            </a:xfrm>
            <a:prstGeom prst="roundRect">
              <a:avLst>
                <a:gd name="adj" fmla="val 16667"/>
              </a:avLst>
            </a:prstGeom>
            <a:solidFill>
              <a:schemeClr val="accent3">
                <a:lumMod val="20000"/>
                <a:lumOff val="80000"/>
              </a:schemeClr>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5" name="Google Shape;152;p4"/>
            <p:cNvSpPr/>
            <p:nvPr/>
          </p:nvSpPr>
          <p:spPr>
            <a:xfrm rot="10800000" flipH="1">
              <a:off x="6562456" y="1468439"/>
              <a:ext cx="4842068" cy="132727"/>
            </a:xfrm>
            <a:prstGeom prst="round2SameRect">
              <a:avLst>
                <a:gd name="adj1" fmla="val 4094"/>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6" name="Google Shape;153;p4"/>
            <p:cNvSpPr/>
            <p:nvPr/>
          </p:nvSpPr>
          <p:spPr>
            <a:xfrm>
              <a:off x="6557453" y="2227921"/>
              <a:ext cx="4842068" cy="1463040"/>
            </a:xfrm>
            <a:prstGeom prst="roundRect">
              <a:avLst>
                <a:gd name="adj" fmla="val 1991"/>
              </a:avLst>
            </a:prstGeom>
            <a:solidFill>
              <a:schemeClr val="lt1"/>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dirty="0">
                <a:solidFill>
                  <a:schemeClr val="accent2"/>
                </a:solidFill>
                <a:latin typeface="Arial" panose="020B0604020202020204"/>
                <a:ea typeface="Arial" panose="020B0604020202020204"/>
                <a:cs typeface="Arial" panose="020B0604020202020204"/>
                <a:sym typeface="Arial" panose="020B0604020202020204"/>
              </a:endParaRPr>
            </a:p>
          </p:txBody>
        </p:sp>
        <p:sp>
          <p:nvSpPr>
            <p:cNvPr id="17" name="Google Shape;154;p4"/>
            <p:cNvSpPr/>
            <p:nvPr/>
          </p:nvSpPr>
          <p:spPr>
            <a:xfrm>
              <a:off x="6559639" y="3671297"/>
              <a:ext cx="4842068" cy="90373"/>
            </a:xfrm>
            <a:prstGeom prst="round2SameRect">
              <a:avLst>
                <a:gd name="adj1" fmla="val 4094"/>
                <a:gd name="adj2" fmla="val 50000"/>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8" name="Google Shape;155;p4"/>
            <p:cNvSpPr/>
            <p:nvPr/>
          </p:nvSpPr>
          <p:spPr>
            <a:xfrm>
              <a:off x="6690276" y="1753398"/>
              <a:ext cx="4576552" cy="25038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kern="1200" dirty="0">
                  <a:solidFill>
                    <a:schemeClr val="dk1"/>
                  </a:solidFill>
                </a:rPr>
                <a:t>4. Coupon/Interest Payments Frequency: </a:t>
              </a:r>
              <a:endParaRPr lang="en-US" sz="1600" b="1" kern="1200" dirty="0">
                <a:solidFill>
                  <a:schemeClr val="dk1"/>
                </a:solidFill>
              </a:endParaRPr>
            </a:p>
          </p:txBody>
        </p:sp>
        <p:sp>
          <p:nvSpPr>
            <p:cNvPr id="19" name="Google Shape;164;p4"/>
            <p:cNvSpPr txBox="1"/>
            <p:nvPr/>
          </p:nvSpPr>
          <p:spPr>
            <a:xfrm>
              <a:off x="6751181" y="2315363"/>
              <a:ext cx="4454612" cy="1323399"/>
            </a:xfrm>
            <a:prstGeom prst="rect">
              <a:avLst/>
            </a:prstGeom>
            <a:noFill/>
            <a:ln>
              <a:noFill/>
            </a:ln>
          </p:spPr>
          <p:txBody>
            <a:bodyPr spcFirstLastPara="1" wrap="square" lIns="91425" tIns="45700" rIns="91425" bIns="45700" anchor="t" anchorCtr="0">
              <a:spAutoFit/>
            </a:bodyPr>
            <a:lstStyle/>
            <a:p>
              <a:pPr lvl="0" algn="ctr"/>
              <a:r>
                <a:rPr lang="en-US" sz="1600" kern="1200" dirty="0">
                  <a:solidFill>
                    <a:schemeClr val="dk1"/>
                  </a:solidFill>
                </a:rPr>
                <a:t>Debt Instruments holders receive periodic interest payments, typically semiannually or annually, throughout the life of the bond. These payments are based on the coupon rate and the face value.</a:t>
              </a:r>
              <a:endParaRPr lang="en-US" sz="1600" kern="1200" dirty="0">
                <a:solidFill>
                  <a:schemeClr val="dk1"/>
                </a:solidFill>
              </a:endParaRPr>
            </a:p>
          </p:txBody>
        </p:sp>
      </p:grpSp>
      <p:grpSp>
        <p:nvGrpSpPr>
          <p:cNvPr id="128" name="Group 127"/>
          <p:cNvGrpSpPr/>
          <p:nvPr/>
        </p:nvGrpSpPr>
        <p:grpSpPr>
          <a:xfrm>
            <a:off x="700550" y="3857580"/>
            <a:ext cx="5379718" cy="2496843"/>
            <a:chOff x="700550" y="3857580"/>
            <a:chExt cx="5379718" cy="2496843"/>
          </a:xfrm>
        </p:grpSpPr>
        <p:sp>
          <p:nvSpPr>
            <p:cNvPr id="44" name="Google Shape;149;p4"/>
            <p:cNvSpPr/>
            <p:nvPr/>
          </p:nvSpPr>
          <p:spPr>
            <a:xfrm rot="5400000">
              <a:off x="5136661" y="3609030"/>
              <a:ext cx="695057"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45" name="Google Shape;150;p4"/>
            <p:cNvSpPr/>
            <p:nvPr/>
          </p:nvSpPr>
          <p:spPr>
            <a:xfrm rot="16200000" flipH="1">
              <a:off x="949102" y="3609032"/>
              <a:ext cx="695054"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46" name="Google Shape;151;p4"/>
            <p:cNvSpPr/>
            <p:nvPr/>
          </p:nvSpPr>
          <p:spPr>
            <a:xfrm>
              <a:off x="964437" y="3935927"/>
              <a:ext cx="4842068" cy="616712"/>
            </a:xfrm>
            <a:prstGeom prst="roundRect">
              <a:avLst>
                <a:gd name="adj" fmla="val 16667"/>
              </a:avLst>
            </a:prstGeom>
            <a:solidFill>
              <a:schemeClr val="accent3">
                <a:lumMod val="20000"/>
                <a:lumOff val="80000"/>
              </a:schemeClr>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47" name="Google Shape;152;p4"/>
            <p:cNvSpPr/>
            <p:nvPr/>
          </p:nvSpPr>
          <p:spPr>
            <a:xfrm rot="10800000" flipH="1">
              <a:off x="969375" y="3857581"/>
              <a:ext cx="4842068" cy="132727"/>
            </a:xfrm>
            <a:prstGeom prst="round2SameRect">
              <a:avLst>
                <a:gd name="adj1" fmla="val 4094"/>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48" name="Google Shape;153;p4"/>
            <p:cNvSpPr/>
            <p:nvPr/>
          </p:nvSpPr>
          <p:spPr>
            <a:xfrm>
              <a:off x="964372" y="4617063"/>
              <a:ext cx="4842068" cy="1737360"/>
            </a:xfrm>
            <a:prstGeom prst="roundRect">
              <a:avLst>
                <a:gd name="adj" fmla="val 1991"/>
              </a:avLst>
            </a:prstGeom>
            <a:solidFill>
              <a:schemeClr val="lt1"/>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dirty="0">
                <a:solidFill>
                  <a:schemeClr val="accent2"/>
                </a:solidFill>
                <a:latin typeface="Arial" panose="020B0604020202020204"/>
                <a:ea typeface="Arial" panose="020B0604020202020204"/>
                <a:cs typeface="Arial" panose="020B0604020202020204"/>
                <a:sym typeface="Arial" panose="020B0604020202020204"/>
              </a:endParaRPr>
            </a:p>
          </p:txBody>
        </p:sp>
        <p:sp>
          <p:nvSpPr>
            <p:cNvPr id="49" name="Google Shape;154;p4"/>
            <p:cNvSpPr/>
            <p:nvPr/>
          </p:nvSpPr>
          <p:spPr>
            <a:xfrm>
              <a:off x="966558" y="6253221"/>
              <a:ext cx="4842068" cy="90373"/>
            </a:xfrm>
            <a:prstGeom prst="round2SameRect">
              <a:avLst>
                <a:gd name="adj1" fmla="val 4094"/>
                <a:gd name="adj2" fmla="val 50000"/>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50" name="Google Shape;155;p4"/>
            <p:cNvSpPr/>
            <p:nvPr/>
          </p:nvSpPr>
          <p:spPr>
            <a:xfrm>
              <a:off x="1097195" y="4142540"/>
              <a:ext cx="4576552" cy="25038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kern="1200" dirty="0">
                  <a:solidFill>
                    <a:schemeClr val="dk1"/>
                  </a:solidFill>
                </a:rPr>
                <a:t>5. Credit Quality: </a:t>
              </a:r>
              <a:endParaRPr lang="en-US" sz="1600" b="1" kern="1200" dirty="0">
                <a:solidFill>
                  <a:schemeClr val="dk1"/>
                </a:solidFill>
              </a:endParaRPr>
            </a:p>
          </p:txBody>
        </p:sp>
        <p:sp>
          <p:nvSpPr>
            <p:cNvPr id="51" name="Google Shape;164;p4"/>
            <p:cNvSpPr txBox="1"/>
            <p:nvPr/>
          </p:nvSpPr>
          <p:spPr>
            <a:xfrm>
              <a:off x="962844" y="4704505"/>
              <a:ext cx="4845124" cy="15696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kern="1200" dirty="0">
                  <a:solidFill>
                    <a:schemeClr val="dk1"/>
                  </a:solidFill>
                </a:rPr>
                <a:t>Fixed income securities are assigned credit ratings by credit rating agencies (e.g., Moody's, Standard &amp; Poor's etc.) to indicate the creditworthiness of the issuer. Higher-rated bonds are considered lower risk, while lower-rated bonds may carry higher risk but offer potentially higher returns.</a:t>
              </a:r>
              <a:endParaRPr lang="en-US" sz="1600" kern="1200" dirty="0">
                <a:solidFill>
                  <a:schemeClr val="dk1"/>
                </a:solidFill>
              </a:endParaRPr>
            </a:p>
          </p:txBody>
        </p:sp>
      </p:grpSp>
      <p:grpSp>
        <p:nvGrpSpPr>
          <p:cNvPr id="63" name="Group 62"/>
          <p:cNvGrpSpPr/>
          <p:nvPr/>
        </p:nvGrpSpPr>
        <p:grpSpPr>
          <a:xfrm>
            <a:off x="6293631" y="3857580"/>
            <a:ext cx="5379718" cy="2496843"/>
            <a:chOff x="6293631" y="3857580"/>
            <a:chExt cx="5379718" cy="2496843"/>
          </a:xfrm>
        </p:grpSpPr>
        <p:sp>
          <p:nvSpPr>
            <p:cNvPr id="53" name="Google Shape;149;p4"/>
            <p:cNvSpPr/>
            <p:nvPr/>
          </p:nvSpPr>
          <p:spPr>
            <a:xfrm rot="5400000">
              <a:off x="10729742" y="3609030"/>
              <a:ext cx="695057"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54" name="Google Shape;150;p4"/>
            <p:cNvSpPr/>
            <p:nvPr/>
          </p:nvSpPr>
          <p:spPr>
            <a:xfrm rot="16200000" flipH="1">
              <a:off x="6542182" y="3609033"/>
              <a:ext cx="695055"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55" name="Google Shape;151;p4"/>
            <p:cNvSpPr/>
            <p:nvPr/>
          </p:nvSpPr>
          <p:spPr>
            <a:xfrm>
              <a:off x="6557518" y="3935927"/>
              <a:ext cx="4842068" cy="616712"/>
            </a:xfrm>
            <a:prstGeom prst="roundRect">
              <a:avLst>
                <a:gd name="adj" fmla="val 16667"/>
              </a:avLst>
            </a:prstGeom>
            <a:solidFill>
              <a:schemeClr val="accent3">
                <a:lumMod val="20000"/>
                <a:lumOff val="80000"/>
              </a:schemeClr>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56" name="Google Shape;152;p4"/>
            <p:cNvSpPr/>
            <p:nvPr/>
          </p:nvSpPr>
          <p:spPr>
            <a:xfrm rot="10800000" flipH="1">
              <a:off x="6562456" y="3857581"/>
              <a:ext cx="4842068" cy="132727"/>
            </a:xfrm>
            <a:prstGeom prst="round2SameRect">
              <a:avLst>
                <a:gd name="adj1" fmla="val 4094"/>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57" name="Google Shape;153;p4"/>
            <p:cNvSpPr/>
            <p:nvPr/>
          </p:nvSpPr>
          <p:spPr>
            <a:xfrm>
              <a:off x="6557453" y="4617063"/>
              <a:ext cx="4842068" cy="1737360"/>
            </a:xfrm>
            <a:prstGeom prst="roundRect">
              <a:avLst>
                <a:gd name="adj" fmla="val 1991"/>
              </a:avLst>
            </a:prstGeom>
            <a:solidFill>
              <a:schemeClr val="lt1"/>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dirty="0">
                <a:solidFill>
                  <a:schemeClr val="accent2"/>
                </a:solidFill>
                <a:latin typeface="Arial" panose="020B0604020202020204"/>
                <a:ea typeface="Arial" panose="020B0604020202020204"/>
                <a:cs typeface="Arial" panose="020B0604020202020204"/>
                <a:sym typeface="Arial" panose="020B0604020202020204"/>
              </a:endParaRPr>
            </a:p>
          </p:txBody>
        </p:sp>
        <p:sp>
          <p:nvSpPr>
            <p:cNvPr id="58" name="Google Shape;154;p4"/>
            <p:cNvSpPr/>
            <p:nvPr/>
          </p:nvSpPr>
          <p:spPr>
            <a:xfrm>
              <a:off x="6559639" y="6253221"/>
              <a:ext cx="4842068" cy="90373"/>
            </a:xfrm>
            <a:prstGeom prst="round2SameRect">
              <a:avLst>
                <a:gd name="adj1" fmla="val 4094"/>
                <a:gd name="adj2" fmla="val 50000"/>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59" name="Google Shape;155;p4"/>
            <p:cNvSpPr/>
            <p:nvPr/>
          </p:nvSpPr>
          <p:spPr>
            <a:xfrm>
              <a:off x="6690276" y="4142540"/>
              <a:ext cx="4576552" cy="25038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kern="1200" dirty="0">
                  <a:solidFill>
                    <a:schemeClr val="dk1"/>
                  </a:solidFill>
                </a:rPr>
                <a:t>6. Market Price: </a:t>
              </a:r>
              <a:endParaRPr lang="en-US" sz="1600" b="1" kern="1200" dirty="0">
                <a:solidFill>
                  <a:schemeClr val="dk1"/>
                </a:solidFill>
              </a:endParaRPr>
            </a:p>
          </p:txBody>
        </p:sp>
        <p:sp>
          <p:nvSpPr>
            <p:cNvPr id="60" name="Google Shape;164;p4"/>
            <p:cNvSpPr txBox="1"/>
            <p:nvPr/>
          </p:nvSpPr>
          <p:spPr>
            <a:xfrm>
              <a:off x="6751181" y="4704505"/>
              <a:ext cx="4454612" cy="1323399"/>
            </a:xfrm>
            <a:prstGeom prst="rect">
              <a:avLst/>
            </a:prstGeom>
            <a:noFill/>
            <a:ln>
              <a:noFill/>
            </a:ln>
          </p:spPr>
          <p:txBody>
            <a:bodyPr spcFirstLastPara="1" wrap="square" lIns="91425" tIns="45700" rIns="91425" bIns="45700" anchor="t" anchorCtr="0">
              <a:spAutoFit/>
            </a:bodyPr>
            <a:lstStyle/>
            <a:p>
              <a:pPr lvl="0" algn="ctr"/>
              <a:r>
                <a:rPr lang="en-US" sz="1600" kern="1200" dirty="0">
                  <a:solidFill>
                    <a:schemeClr val="dk1"/>
                  </a:solidFill>
                </a:rPr>
                <a:t>The market price of a fixed income security can fluctuate based on changes in interest rates and the perceived credit risk of the issuer. If interest rates rise, the market price of existing bonds may fall, and vice versa.</a:t>
              </a:r>
              <a:endParaRPr lang="en-US" sz="1600" kern="1200" dirty="0">
                <a:solidFill>
                  <a:schemeClr val="dk1"/>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 name="Title 20"/>
          <p:cNvSpPr>
            <a:spLocks noGrp="1"/>
          </p:cNvSpPr>
          <p:nvPr>
            <p:ph type="title"/>
          </p:nvPr>
        </p:nvSpPr>
        <p:spPr/>
        <p:txBody>
          <a:bodyPr/>
          <a:lstStyle/>
          <a:p>
            <a:r>
              <a:rPr lang="en-US" dirty="0"/>
              <a:t>FIXED INCOME SECURITIES</a:t>
            </a:r>
            <a:endParaRPr lang="en-US" dirty="0"/>
          </a:p>
        </p:txBody>
      </p:sp>
      <p:grpSp>
        <p:nvGrpSpPr>
          <p:cNvPr id="44" name="Group 43"/>
          <p:cNvGrpSpPr/>
          <p:nvPr/>
        </p:nvGrpSpPr>
        <p:grpSpPr>
          <a:xfrm>
            <a:off x="700550" y="1468438"/>
            <a:ext cx="5379718" cy="2684228"/>
            <a:chOff x="700550" y="1468438"/>
            <a:chExt cx="5379718" cy="2684228"/>
          </a:xfrm>
        </p:grpSpPr>
        <p:sp>
          <p:nvSpPr>
            <p:cNvPr id="4" name="Google Shape;149;p4"/>
            <p:cNvSpPr/>
            <p:nvPr/>
          </p:nvSpPr>
          <p:spPr>
            <a:xfrm rot="5400000">
              <a:off x="5136661" y="1219888"/>
              <a:ext cx="695057"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5" name="Google Shape;150;p4"/>
            <p:cNvSpPr/>
            <p:nvPr/>
          </p:nvSpPr>
          <p:spPr>
            <a:xfrm rot="16200000" flipH="1">
              <a:off x="949102" y="1219890"/>
              <a:ext cx="695054"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6" name="Google Shape;151;p4"/>
            <p:cNvSpPr/>
            <p:nvPr/>
          </p:nvSpPr>
          <p:spPr>
            <a:xfrm>
              <a:off x="964437" y="1546785"/>
              <a:ext cx="4842068" cy="616712"/>
            </a:xfrm>
            <a:prstGeom prst="roundRect">
              <a:avLst>
                <a:gd name="adj" fmla="val 16667"/>
              </a:avLst>
            </a:prstGeom>
            <a:solidFill>
              <a:schemeClr val="accent3">
                <a:lumMod val="20000"/>
                <a:lumOff val="80000"/>
              </a:schemeClr>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7" name="Google Shape;152;p4"/>
            <p:cNvSpPr/>
            <p:nvPr/>
          </p:nvSpPr>
          <p:spPr>
            <a:xfrm rot="10800000" flipH="1">
              <a:off x="969375" y="1468439"/>
              <a:ext cx="4842068" cy="132727"/>
            </a:xfrm>
            <a:prstGeom prst="round2SameRect">
              <a:avLst>
                <a:gd name="adj1" fmla="val 4094"/>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8" name="Google Shape;153;p4"/>
            <p:cNvSpPr/>
            <p:nvPr/>
          </p:nvSpPr>
          <p:spPr>
            <a:xfrm>
              <a:off x="964372" y="2227921"/>
              <a:ext cx="4842068" cy="1828800"/>
            </a:xfrm>
            <a:prstGeom prst="roundRect">
              <a:avLst>
                <a:gd name="adj" fmla="val 1991"/>
              </a:avLst>
            </a:prstGeom>
            <a:solidFill>
              <a:schemeClr val="lt1"/>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dirty="0">
                <a:solidFill>
                  <a:schemeClr val="accent2"/>
                </a:solidFill>
                <a:latin typeface="Arial" panose="020B0604020202020204"/>
                <a:ea typeface="Arial" panose="020B0604020202020204"/>
                <a:cs typeface="Arial" panose="020B0604020202020204"/>
                <a:sym typeface="Arial" panose="020B0604020202020204"/>
              </a:endParaRPr>
            </a:p>
          </p:txBody>
        </p:sp>
        <p:sp>
          <p:nvSpPr>
            <p:cNvPr id="9" name="Google Shape;154;p4"/>
            <p:cNvSpPr/>
            <p:nvPr/>
          </p:nvSpPr>
          <p:spPr>
            <a:xfrm>
              <a:off x="966558" y="4062293"/>
              <a:ext cx="4842068" cy="90373"/>
            </a:xfrm>
            <a:prstGeom prst="round2SameRect">
              <a:avLst>
                <a:gd name="adj1" fmla="val 4094"/>
                <a:gd name="adj2" fmla="val 50000"/>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0" name="Google Shape;155;p4"/>
            <p:cNvSpPr/>
            <p:nvPr/>
          </p:nvSpPr>
          <p:spPr>
            <a:xfrm>
              <a:off x="1097195" y="1753398"/>
              <a:ext cx="4576552" cy="25038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kern="1200" dirty="0">
                  <a:solidFill>
                    <a:schemeClr val="dk1"/>
                  </a:solidFill>
                </a:rPr>
                <a:t>7. Yield: </a:t>
              </a:r>
              <a:endParaRPr lang="en-US" sz="1600" b="1" kern="1200" dirty="0">
                <a:solidFill>
                  <a:schemeClr val="dk1"/>
                </a:solidFill>
              </a:endParaRPr>
            </a:p>
          </p:txBody>
        </p:sp>
        <p:sp>
          <p:nvSpPr>
            <p:cNvPr id="11" name="Google Shape;164;p4"/>
            <p:cNvSpPr txBox="1"/>
            <p:nvPr/>
          </p:nvSpPr>
          <p:spPr>
            <a:xfrm>
              <a:off x="1158100" y="2267103"/>
              <a:ext cx="4454612" cy="15696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kern="1200" dirty="0">
                  <a:solidFill>
                    <a:schemeClr val="dk1"/>
                  </a:solidFill>
                </a:rPr>
                <a:t>Yield represents the return an investor can expect to earn from a fixed income security. It takes into account the coupon rate, the bond's market price, and the time remaining until maturity. Yield can be expressed as current yield or yield to maturity (YTM).</a:t>
              </a:r>
              <a:endParaRPr lang="en-US" sz="1600" kern="1200" dirty="0">
                <a:solidFill>
                  <a:schemeClr val="dk1"/>
                </a:solidFill>
              </a:endParaRPr>
            </a:p>
          </p:txBody>
        </p:sp>
      </p:grpSp>
      <p:grpSp>
        <p:nvGrpSpPr>
          <p:cNvPr id="45" name="Group 44"/>
          <p:cNvGrpSpPr/>
          <p:nvPr/>
        </p:nvGrpSpPr>
        <p:grpSpPr>
          <a:xfrm>
            <a:off x="6293631" y="1468438"/>
            <a:ext cx="5379718" cy="2684228"/>
            <a:chOff x="6293631" y="1468438"/>
            <a:chExt cx="5379718" cy="2684228"/>
          </a:xfrm>
        </p:grpSpPr>
        <p:sp>
          <p:nvSpPr>
            <p:cNvPr id="13" name="Google Shape;149;p4"/>
            <p:cNvSpPr/>
            <p:nvPr/>
          </p:nvSpPr>
          <p:spPr>
            <a:xfrm rot="5400000">
              <a:off x="10729742" y="1219888"/>
              <a:ext cx="695057"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4" name="Google Shape;150;p4"/>
            <p:cNvSpPr/>
            <p:nvPr/>
          </p:nvSpPr>
          <p:spPr>
            <a:xfrm rot="16200000" flipH="1">
              <a:off x="6542182" y="1219891"/>
              <a:ext cx="695055"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5" name="Google Shape;151;p4"/>
            <p:cNvSpPr/>
            <p:nvPr/>
          </p:nvSpPr>
          <p:spPr>
            <a:xfrm>
              <a:off x="6557518" y="1546785"/>
              <a:ext cx="4842068" cy="616712"/>
            </a:xfrm>
            <a:prstGeom prst="roundRect">
              <a:avLst>
                <a:gd name="adj" fmla="val 16667"/>
              </a:avLst>
            </a:prstGeom>
            <a:solidFill>
              <a:schemeClr val="accent3">
                <a:lumMod val="20000"/>
                <a:lumOff val="80000"/>
              </a:schemeClr>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6" name="Google Shape;152;p4"/>
            <p:cNvSpPr/>
            <p:nvPr/>
          </p:nvSpPr>
          <p:spPr>
            <a:xfrm rot="10800000" flipH="1">
              <a:off x="6562456" y="1468439"/>
              <a:ext cx="4842068" cy="132727"/>
            </a:xfrm>
            <a:prstGeom prst="round2SameRect">
              <a:avLst>
                <a:gd name="adj1" fmla="val 4094"/>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7" name="Google Shape;153;p4"/>
            <p:cNvSpPr/>
            <p:nvPr/>
          </p:nvSpPr>
          <p:spPr>
            <a:xfrm>
              <a:off x="6557453" y="2227921"/>
              <a:ext cx="4842068" cy="1828800"/>
            </a:xfrm>
            <a:prstGeom prst="roundRect">
              <a:avLst>
                <a:gd name="adj" fmla="val 1991"/>
              </a:avLst>
            </a:prstGeom>
            <a:solidFill>
              <a:schemeClr val="lt1"/>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dirty="0">
                <a:solidFill>
                  <a:schemeClr val="accent2"/>
                </a:solidFill>
                <a:latin typeface="Arial" panose="020B0604020202020204"/>
                <a:ea typeface="Arial" panose="020B0604020202020204"/>
                <a:cs typeface="Arial" panose="020B0604020202020204"/>
                <a:sym typeface="Arial" panose="020B0604020202020204"/>
              </a:endParaRPr>
            </a:p>
          </p:txBody>
        </p:sp>
        <p:sp>
          <p:nvSpPr>
            <p:cNvPr id="18" name="Google Shape;154;p4"/>
            <p:cNvSpPr/>
            <p:nvPr/>
          </p:nvSpPr>
          <p:spPr>
            <a:xfrm>
              <a:off x="6559639" y="4062293"/>
              <a:ext cx="4842068" cy="90373"/>
            </a:xfrm>
            <a:prstGeom prst="round2SameRect">
              <a:avLst>
                <a:gd name="adj1" fmla="val 4094"/>
                <a:gd name="adj2" fmla="val 50000"/>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19" name="Google Shape;155;p4"/>
            <p:cNvSpPr/>
            <p:nvPr/>
          </p:nvSpPr>
          <p:spPr>
            <a:xfrm>
              <a:off x="6690276" y="1753398"/>
              <a:ext cx="4576552" cy="25038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kern="1200" dirty="0">
                  <a:solidFill>
                    <a:schemeClr val="dk1"/>
                  </a:solidFill>
                </a:rPr>
                <a:t>8. Liquidity: </a:t>
              </a:r>
              <a:endParaRPr lang="en-US" sz="1600" b="1" kern="1200" dirty="0">
                <a:solidFill>
                  <a:schemeClr val="dk1"/>
                </a:solidFill>
              </a:endParaRPr>
            </a:p>
          </p:txBody>
        </p:sp>
        <p:sp>
          <p:nvSpPr>
            <p:cNvPr id="20" name="Google Shape;164;p4"/>
            <p:cNvSpPr txBox="1"/>
            <p:nvPr/>
          </p:nvSpPr>
          <p:spPr>
            <a:xfrm>
              <a:off x="6751181" y="2267103"/>
              <a:ext cx="4454612" cy="1815841"/>
            </a:xfrm>
            <a:prstGeom prst="rect">
              <a:avLst/>
            </a:prstGeom>
            <a:noFill/>
            <a:ln>
              <a:noFill/>
            </a:ln>
          </p:spPr>
          <p:txBody>
            <a:bodyPr spcFirstLastPara="1" wrap="square" lIns="91425" tIns="45700" rIns="91425" bIns="45700" anchor="t" anchorCtr="0">
              <a:spAutoFit/>
            </a:bodyPr>
            <a:lstStyle/>
            <a:p>
              <a:pPr lvl="0" algn="ctr"/>
              <a:r>
                <a:rPr lang="en-US" sz="1600" kern="1200" dirty="0">
                  <a:solidFill>
                    <a:schemeClr val="dk1"/>
                  </a:solidFill>
                </a:rPr>
                <a:t>The liquidity of fixed income securities varies depending upon the Issuer &amp; Rating of the Instrument. Government Bonds, Govt Agency Bonds and Highly rated Corporate bonds tend to be more liquid, meaning they can be easily bought or sold in the OTC - Bond Dealers Market &amp; Exchange Markets</a:t>
              </a:r>
              <a:endParaRPr lang="en-US" sz="1600" kern="1200" dirty="0">
                <a:solidFill>
                  <a:schemeClr val="dk1"/>
                </a:solidFill>
              </a:endParaRPr>
            </a:p>
          </p:txBody>
        </p:sp>
      </p:grpSp>
      <p:grpSp>
        <p:nvGrpSpPr>
          <p:cNvPr id="48" name="Group 47"/>
          <p:cNvGrpSpPr/>
          <p:nvPr/>
        </p:nvGrpSpPr>
        <p:grpSpPr>
          <a:xfrm>
            <a:off x="700550" y="4221976"/>
            <a:ext cx="5379718" cy="2188246"/>
            <a:chOff x="700550" y="4221976"/>
            <a:chExt cx="5379718" cy="2188246"/>
          </a:xfrm>
        </p:grpSpPr>
        <p:sp>
          <p:nvSpPr>
            <p:cNvPr id="26" name="Google Shape;149;p4"/>
            <p:cNvSpPr/>
            <p:nvPr/>
          </p:nvSpPr>
          <p:spPr>
            <a:xfrm rot="5400000">
              <a:off x="5136661" y="3973426"/>
              <a:ext cx="695057"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27" name="Google Shape;150;p4"/>
            <p:cNvSpPr/>
            <p:nvPr/>
          </p:nvSpPr>
          <p:spPr>
            <a:xfrm rot="16200000" flipH="1">
              <a:off x="949102" y="3973428"/>
              <a:ext cx="695054"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28" name="Google Shape;151;p4"/>
            <p:cNvSpPr/>
            <p:nvPr/>
          </p:nvSpPr>
          <p:spPr>
            <a:xfrm>
              <a:off x="964437" y="4300323"/>
              <a:ext cx="4842068" cy="616712"/>
            </a:xfrm>
            <a:prstGeom prst="roundRect">
              <a:avLst>
                <a:gd name="adj" fmla="val 16667"/>
              </a:avLst>
            </a:prstGeom>
            <a:solidFill>
              <a:schemeClr val="accent3">
                <a:lumMod val="20000"/>
                <a:lumOff val="80000"/>
              </a:schemeClr>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29" name="Google Shape;152;p4"/>
            <p:cNvSpPr/>
            <p:nvPr/>
          </p:nvSpPr>
          <p:spPr>
            <a:xfrm rot="10800000" flipH="1">
              <a:off x="969375" y="4221977"/>
              <a:ext cx="4842068" cy="132727"/>
            </a:xfrm>
            <a:prstGeom prst="round2SameRect">
              <a:avLst>
                <a:gd name="adj1" fmla="val 4094"/>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30" name="Google Shape;153;p4"/>
            <p:cNvSpPr/>
            <p:nvPr/>
          </p:nvSpPr>
          <p:spPr>
            <a:xfrm>
              <a:off x="964372" y="4981459"/>
              <a:ext cx="4842068" cy="1377718"/>
            </a:xfrm>
            <a:prstGeom prst="roundRect">
              <a:avLst>
                <a:gd name="adj" fmla="val 1991"/>
              </a:avLst>
            </a:prstGeom>
            <a:solidFill>
              <a:schemeClr val="lt1"/>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dirty="0">
                <a:solidFill>
                  <a:schemeClr val="accent2"/>
                </a:solidFill>
                <a:latin typeface="Arial" panose="020B0604020202020204"/>
                <a:ea typeface="Arial" panose="020B0604020202020204"/>
                <a:cs typeface="Arial" panose="020B0604020202020204"/>
                <a:sym typeface="Arial" panose="020B0604020202020204"/>
              </a:endParaRPr>
            </a:p>
          </p:txBody>
        </p:sp>
        <p:sp>
          <p:nvSpPr>
            <p:cNvPr id="31" name="Google Shape;154;p4"/>
            <p:cNvSpPr/>
            <p:nvPr/>
          </p:nvSpPr>
          <p:spPr>
            <a:xfrm>
              <a:off x="966558" y="6319849"/>
              <a:ext cx="4842068" cy="90373"/>
            </a:xfrm>
            <a:prstGeom prst="round2SameRect">
              <a:avLst>
                <a:gd name="adj1" fmla="val 4094"/>
                <a:gd name="adj2" fmla="val 50000"/>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32" name="Google Shape;155;p4"/>
            <p:cNvSpPr/>
            <p:nvPr/>
          </p:nvSpPr>
          <p:spPr>
            <a:xfrm>
              <a:off x="1097195" y="4506936"/>
              <a:ext cx="4576552" cy="25038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kern="1200" dirty="0">
                  <a:solidFill>
                    <a:schemeClr val="dk1"/>
                  </a:solidFill>
                </a:rPr>
                <a:t>9. Callability: </a:t>
              </a:r>
              <a:endParaRPr lang="en-US" sz="1600" b="1" kern="1200" dirty="0">
                <a:solidFill>
                  <a:schemeClr val="dk1"/>
                </a:solidFill>
              </a:endParaRPr>
            </a:p>
          </p:txBody>
        </p:sp>
        <p:sp>
          <p:nvSpPr>
            <p:cNvPr id="33" name="Google Shape;164;p4"/>
            <p:cNvSpPr txBox="1"/>
            <p:nvPr/>
          </p:nvSpPr>
          <p:spPr>
            <a:xfrm>
              <a:off x="1158100" y="5009909"/>
              <a:ext cx="4454612" cy="13233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kern="1200" dirty="0">
                  <a:solidFill>
                    <a:schemeClr val="dk1"/>
                  </a:solidFill>
                </a:rPr>
                <a:t>Bonds may have callable feature, meaning the issuer has the option to redeem the bonds before the stated maturity date. This allows issuers to take advantage of lower interest rates by refinancing their debt.</a:t>
              </a:r>
              <a:endParaRPr lang="en-US" sz="1600" kern="1200" dirty="0">
                <a:solidFill>
                  <a:schemeClr val="dk1"/>
                </a:solidFill>
              </a:endParaRPr>
            </a:p>
          </p:txBody>
        </p:sp>
      </p:grpSp>
      <p:grpSp>
        <p:nvGrpSpPr>
          <p:cNvPr id="49" name="Group 48"/>
          <p:cNvGrpSpPr/>
          <p:nvPr/>
        </p:nvGrpSpPr>
        <p:grpSpPr>
          <a:xfrm>
            <a:off x="6293631" y="4221976"/>
            <a:ext cx="5379718" cy="2188246"/>
            <a:chOff x="6293631" y="4221976"/>
            <a:chExt cx="5379718" cy="2188246"/>
          </a:xfrm>
        </p:grpSpPr>
        <p:sp>
          <p:nvSpPr>
            <p:cNvPr id="35" name="Google Shape;149;p4"/>
            <p:cNvSpPr/>
            <p:nvPr/>
          </p:nvSpPr>
          <p:spPr>
            <a:xfrm rot="5400000">
              <a:off x="10729742" y="3973426"/>
              <a:ext cx="695057"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36" name="Google Shape;150;p4"/>
            <p:cNvSpPr/>
            <p:nvPr/>
          </p:nvSpPr>
          <p:spPr>
            <a:xfrm rot="16200000" flipH="1">
              <a:off x="6542182" y="3973429"/>
              <a:ext cx="695055" cy="1192157"/>
            </a:xfrm>
            <a:custGeom>
              <a:avLst/>
              <a:gdLst/>
              <a:ahLst/>
              <a:cxnLst/>
              <a:rect l="l" t="t" r="r" b="b"/>
              <a:pathLst>
                <a:path w="1979309" h="1495285" extrusionOk="0">
                  <a:moveTo>
                    <a:pt x="0" y="175847"/>
                  </a:moveTo>
                  <a:cubicBezTo>
                    <a:pt x="343232" y="117231"/>
                    <a:pt x="416589" y="293566"/>
                    <a:pt x="1004296" y="0"/>
                  </a:cubicBezTo>
                  <a:cubicBezTo>
                    <a:pt x="1435134" y="271341"/>
                    <a:pt x="1662771" y="117231"/>
                    <a:pt x="1979309" y="175847"/>
                  </a:cubicBezTo>
                  <a:lnTo>
                    <a:pt x="1979309" y="1495285"/>
                  </a:lnTo>
                  <a:lnTo>
                    <a:pt x="0" y="1495285"/>
                  </a:lnTo>
                  <a:lnTo>
                    <a:pt x="0" y="175847"/>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37" name="Google Shape;151;p4"/>
            <p:cNvSpPr/>
            <p:nvPr/>
          </p:nvSpPr>
          <p:spPr>
            <a:xfrm>
              <a:off x="6557518" y="4300323"/>
              <a:ext cx="4842068" cy="616712"/>
            </a:xfrm>
            <a:prstGeom prst="roundRect">
              <a:avLst>
                <a:gd name="adj" fmla="val 16667"/>
              </a:avLst>
            </a:prstGeom>
            <a:solidFill>
              <a:schemeClr val="accent3">
                <a:lumMod val="20000"/>
                <a:lumOff val="80000"/>
              </a:schemeClr>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38" name="Google Shape;152;p4"/>
            <p:cNvSpPr/>
            <p:nvPr/>
          </p:nvSpPr>
          <p:spPr>
            <a:xfrm rot="10800000" flipH="1">
              <a:off x="6562456" y="4221977"/>
              <a:ext cx="4842068" cy="132727"/>
            </a:xfrm>
            <a:prstGeom prst="round2SameRect">
              <a:avLst>
                <a:gd name="adj1" fmla="val 4094"/>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39" name="Google Shape;153;p4"/>
            <p:cNvSpPr/>
            <p:nvPr/>
          </p:nvSpPr>
          <p:spPr>
            <a:xfrm>
              <a:off x="6557453" y="4981459"/>
              <a:ext cx="4842068" cy="1377718"/>
            </a:xfrm>
            <a:prstGeom prst="roundRect">
              <a:avLst>
                <a:gd name="adj" fmla="val 1991"/>
              </a:avLst>
            </a:prstGeom>
            <a:solidFill>
              <a:schemeClr val="lt1"/>
            </a:solidFill>
            <a:ln w="9525" cap="flat" cmpd="sng">
              <a:solidFill>
                <a:schemeClr val="accent3"/>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dirty="0">
                <a:solidFill>
                  <a:schemeClr val="accent2"/>
                </a:solidFill>
                <a:latin typeface="Arial" panose="020B0604020202020204"/>
                <a:ea typeface="Arial" panose="020B0604020202020204"/>
                <a:cs typeface="Arial" panose="020B0604020202020204"/>
                <a:sym typeface="Arial" panose="020B0604020202020204"/>
              </a:endParaRPr>
            </a:p>
          </p:txBody>
        </p:sp>
        <p:sp>
          <p:nvSpPr>
            <p:cNvPr id="40" name="Google Shape;154;p4"/>
            <p:cNvSpPr/>
            <p:nvPr/>
          </p:nvSpPr>
          <p:spPr>
            <a:xfrm>
              <a:off x="6559639" y="6319849"/>
              <a:ext cx="4842068" cy="90373"/>
            </a:xfrm>
            <a:prstGeom prst="round2SameRect">
              <a:avLst>
                <a:gd name="adj1" fmla="val 4094"/>
                <a:gd name="adj2" fmla="val 50000"/>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accent2"/>
                </a:solidFill>
                <a:latin typeface="Arial" panose="020B0604020202020204"/>
                <a:ea typeface="Arial" panose="020B0604020202020204"/>
                <a:cs typeface="Arial" panose="020B0604020202020204"/>
                <a:sym typeface="Arial" panose="020B0604020202020204"/>
              </a:endParaRPr>
            </a:p>
          </p:txBody>
        </p:sp>
        <p:sp>
          <p:nvSpPr>
            <p:cNvPr id="41" name="Google Shape;155;p4"/>
            <p:cNvSpPr/>
            <p:nvPr/>
          </p:nvSpPr>
          <p:spPr>
            <a:xfrm>
              <a:off x="6690276" y="4506936"/>
              <a:ext cx="4576552" cy="25038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kern="1200" dirty="0">
                  <a:solidFill>
                    <a:schemeClr val="dk1"/>
                  </a:solidFill>
                </a:rPr>
                <a:t>10. Use of Proceeds:</a:t>
              </a:r>
              <a:endParaRPr lang="en-US" sz="1600" b="1" kern="1200" dirty="0">
                <a:solidFill>
                  <a:schemeClr val="dk1"/>
                </a:solidFill>
              </a:endParaRPr>
            </a:p>
          </p:txBody>
        </p:sp>
        <p:sp>
          <p:nvSpPr>
            <p:cNvPr id="42" name="Google Shape;164;p4"/>
            <p:cNvSpPr txBox="1"/>
            <p:nvPr/>
          </p:nvSpPr>
          <p:spPr>
            <a:xfrm>
              <a:off x="6751181" y="5009909"/>
              <a:ext cx="4454612" cy="1077178"/>
            </a:xfrm>
            <a:prstGeom prst="rect">
              <a:avLst/>
            </a:prstGeom>
            <a:noFill/>
            <a:ln>
              <a:noFill/>
            </a:ln>
          </p:spPr>
          <p:txBody>
            <a:bodyPr spcFirstLastPara="1" wrap="square" lIns="91425" tIns="45700" rIns="91425" bIns="45700" anchor="t" anchorCtr="0">
              <a:spAutoFit/>
            </a:bodyPr>
            <a:lstStyle/>
            <a:p>
              <a:pPr lvl="0" algn="ctr"/>
              <a:r>
                <a:rPr lang="en-US" sz="1600" kern="1200" dirty="0">
                  <a:solidFill>
                    <a:schemeClr val="dk1"/>
                  </a:solidFill>
                </a:rPr>
                <a:t>Fixed income securities can serve different purposes for issuers, including raising capital for investments, financing operations, or refinancing existing debt.</a:t>
              </a:r>
              <a:endParaRPr lang="en-US" sz="1600" kern="1200" dirty="0">
                <a:solidFill>
                  <a:schemeClr val="dk1"/>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CAN ISSUE FIXED INCOME SECURITIES?</a:t>
            </a:r>
            <a:endParaRPr lang="en-US" dirty="0"/>
          </a:p>
        </p:txBody>
      </p:sp>
      <p:sp>
        <p:nvSpPr>
          <p:cNvPr id="263" name="Google Shape;263;p7"/>
          <p:cNvSpPr/>
          <p:nvPr/>
        </p:nvSpPr>
        <p:spPr>
          <a:xfrm>
            <a:off x="700550" y="3249291"/>
            <a:ext cx="4869427" cy="2743200"/>
          </a:xfrm>
          <a:prstGeom prst="roundRect">
            <a:avLst>
              <a:gd name="adj" fmla="val 6000"/>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264" name="Google Shape;264;p7"/>
          <p:cNvSpPr/>
          <p:nvPr/>
        </p:nvSpPr>
        <p:spPr>
          <a:xfrm>
            <a:off x="4303802" y="2405640"/>
            <a:ext cx="3687418" cy="437322"/>
          </a:xfrm>
          <a:prstGeom prst="roundRect">
            <a:avLst>
              <a:gd name="adj" fmla="val 16667"/>
            </a:avLst>
          </a:prstGeom>
          <a:solidFill>
            <a:schemeClr val="accent3"/>
          </a:solidFill>
          <a:ln>
            <a:solidFill>
              <a:schemeClr val="accent3"/>
            </a:solid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1. Governments: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265" name="Google Shape;265;p7"/>
          <p:cNvSpPr/>
          <p:nvPr/>
        </p:nvSpPr>
        <p:spPr>
          <a:xfrm>
            <a:off x="6803923" y="3249290"/>
            <a:ext cx="4869427" cy="2743200"/>
          </a:xfrm>
          <a:prstGeom prst="roundRect">
            <a:avLst>
              <a:gd name="adj" fmla="val 10032"/>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266" name="Google Shape;266;p7"/>
          <p:cNvSpPr/>
          <p:nvPr/>
        </p:nvSpPr>
        <p:spPr>
          <a:xfrm rot="16200000">
            <a:off x="5982954" y="-228816"/>
            <a:ext cx="372186" cy="6549884"/>
          </a:xfrm>
          <a:prstGeom prst="rightBrace">
            <a:avLst>
              <a:gd name="adj1" fmla="val 114126"/>
              <a:gd name="adj2" fmla="val 50000"/>
            </a:avLst>
          </a:prstGeom>
          <a:no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267" name="Google Shape;267;p7"/>
          <p:cNvSpPr txBox="1"/>
          <p:nvPr/>
        </p:nvSpPr>
        <p:spPr>
          <a:xfrm>
            <a:off x="868928" y="3466748"/>
            <a:ext cx="4532671" cy="23082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dirty="0">
                <a:solidFill>
                  <a:schemeClr val="tx1"/>
                </a:solidFill>
              </a:rPr>
              <a:t>Federal Governments: </a:t>
            </a:r>
            <a:endParaRPr lang="en-US" sz="1600" b="1" dirty="0">
              <a:solidFill>
                <a:schemeClr val="tx1"/>
              </a:solidFill>
            </a:endParaRPr>
          </a:p>
          <a:p>
            <a:pPr marL="0" marR="0" lvl="0" indent="0" algn="ctr" rtl="0">
              <a:spcBef>
                <a:spcPts val="0"/>
              </a:spcBef>
              <a:spcAft>
                <a:spcPts val="0"/>
              </a:spcAft>
              <a:buNone/>
            </a:pPr>
            <a:endParaRPr sz="1600" dirty="0">
              <a:solidFill>
                <a:schemeClr val="tx1"/>
              </a:solidFill>
            </a:endParaRPr>
          </a:p>
          <a:p>
            <a:pPr marL="0" marR="0" lvl="0" indent="0" algn="ctr" rtl="0">
              <a:spcBef>
                <a:spcPts val="0"/>
              </a:spcBef>
              <a:spcAft>
                <a:spcPts val="0"/>
              </a:spcAft>
              <a:buNone/>
            </a:pPr>
            <a:r>
              <a:rPr lang="en-US" sz="1600" dirty="0">
                <a:solidFill>
                  <a:schemeClr val="tx1"/>
                </a:solidFill>
              </a:rPr>
              <a:t>National governments issue bonds, often referred to as government bonds or sovereign bonds, to finance public spending or manage national debt. These bonds are considered some of the safest investments because they are backed by the full faith and credit of the government.</a:t>
            </a:r>
            <a:endParaRPr lang="en-US" sz="1600" dirty="0">
              <a:solidFill>
                <a:schemeClr val="tx1"/>
              </a:solidFill>
            </a:endParaRPr>
          </a:p>
        </p:txBody>
      </p:sp>
      <p:sp>
        <p:nvSpPr>
          <p:cNvPr id="268" name="Google Shape;268;p7"/>
          <p:cNvSpPr txBox="1"/>
          <p:nvPr/>
        </p:nvSpPr>
        <p:spPr>
          <a:xfrm>
            <a:off x="6972301" y="3466748"/>
            <a:ext cx="4532671" cy="23082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dirty="0">
                <a:solidFill>
                  <a:schemeClr val="tx1"/>
                </a:solidFill>
              </a:rPr>
              <a:t>State and Local Governments:</a:t>
            </a:r>
            <a:endParaRPr lang="en-US" sz="1600" b="1" dirty="0">
              <a:solidFill>
                <a:schemeClr val="tx1"/>
              </a:solidFill>
            </a:endParaRPr>
          </a:p>
          <a:p>
            <a:pPr marL="0" marR="0" lvl="0" indent="0" algn="ctr" rtl="0">
              <a:spcBef>
                <a:spcPts val="0"/>
              </a:spcBef>
              <a:spcAft>
                <a:spcPts val="0"/>
              </a:spcAft>
              <a:buNone/>
            </a:pPr>
            <a:endParaRPr sz="1600" dirty="0">
              <a:solidFill>
                <a:schemeClr val="tx1"/>
              </a:solidFill>
            </a:endParaRPr>
          </a:p>
          <a:p>
            <a:pPr marL="0" marR="0" lvl="0" indent="0" algn="ctr" rtl="0">
              <a:spcBef>
                <a:spcPts val="0"/>
              </a:spcBef>
              <a:spcAft>
                <a:spcPts val="0"/>
              </a:spcAft>
              <a:buNone/>
            </a:pPr>
            <a:r>
              <a:rPr lang="en-US" sz="1600" dirty="0">
                <a:solidFill>
                  <a:schemeClr val="tx1"/>
                </a:solidFill>
              </a:rPr>
              <a:t>State and local governments</a:t>
            </a:r>
            <a:r>
              <a:rPr lang="en-IN" altLang="en-US" sz="1600" dirty="0">
                <a:solidFill>
                  <a:schemeClr val="tx1"/>
                </a:solidFill>
              </a:rPr>
              <a:t> like Municipal Corporations</a:t>
            </a:r>
            <a:r>
              <a:rPr lang="en-US" sz="1600" dirty="0">
                <a:solidFill>
                  <a:schemeClr val="tx1"/>
                </a:solidFill>
              </a:rPr>
              <a:t> issue municipal bonds, also known as </a:t>
            </a:r>
            <a:r>
              <a:rPr lang="en-US" sz="1600" dirty="0" err="1">
                <a:solidFill>
                  <a:schemeClr val="tx1"/>
                </a:solidFill>
              </a:rPr>
              <a:t>munis</a:t>
            </a:r>
            <a:r>
              <a:rPr lang="en-US" sz="1600" dirty="0">
                <a:solidFill>
                  <a:schemeClr val="tx1"/>
                </a:solidFill>
              </a:rPr>
              <a:t>, to finance public infrastructure projects, schools, and other initiatives. Interest income from municipal bonds is often exempt from federal income taxes and, in some cases, state and local taxes.</a:t>
            </a:r>
            <a:endParaRPr lang="en-US" sz="1600" dirty="0">
              <a:solidFill>
                <a:schemeClr val="tx1"/>
              </a:solidFill>
            </a:endParaRPr>
          </a:p>
        </p:txBody>
      </p:sp>
      <p:sp>
        <p:nvSpPr>
          <p:cNvPr id="3" name="Google Shape;245;p22"/>
          <p:cNvSpPr/>
          <p:nvPr/>
        </p:nvSpPr>
        <p:spPr>
          <a:xfrm>
            <a:off x="0" y="1485900"/>
            <a:ext cx="12192000" cy="731520"/>
          </a:xfrm>
          <a:prstGeom prst="rect">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TextBox 3"/>
          <p:cNvSpPr txBox="1"/>
          <p:nvPr/>
        </p:nvSpPr>
        <p:spPr>
          <a:xfrm>
            <a:off x="700550" y="1559273"/>
            <a:ext cx="10972800" cy="58477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rPr>
              <a:t>Fixed income securities can be issued by a variety of entities, including governments, corporations, municipalities, and government-sponsored enterprises. Here are some of the key types of issuers of fixed income securities:</a:t>
            </a:r>
            <a:endParaRPr 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6" name="Google Shape;276;p8"/>
          <p:cNvSpPr/>
          <p:nvPr/>
        </p:nvSpPr>
        <p:spPr>
          <a:xfrm>
            <a:off x="700551" y="1485547"/>
            <a:ext cx="3438975" cy="4572000"/>
          </a:xfrm>
          <a:prstGeom prst="roundRect">
            <a:avLst>
              <a:gd name="adj" fmla="val 6601"/>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Arial" panose="020B0604020202020204"/>
              <a:ea typeface="Arial" panose="020B0604020202020204"/>
              <a:cs typeface="Arial" panose="020B0604020202020204"/>
              <a:sym typeface="Arial" panose="020B0604020202020204"/>
            </a:endParaRPr>
          </a:p>
        </p:txBody>
      </p:sp>
      <p:sp>
        <p:nvSpPr>
          <p:cNvPr id="282" name="Google Shape;282;p8"/>
          <p:cNvSpPr/>
          <p:nvPr/>
        </p:nvSpPr>
        <p:spPr>
          <a:xfrm>
            <a:off x="4467463" y="1485547"/>
            <a:ext cx="3438975" cy="4572000"/>
          </a:xfrm>
          <a:prstGeom prst="roundRect">
            <a:avLst>
              <a:gd name="adj" fmla="val 6601"/>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Arial" panose="020B0604020202020204"/>
              <a:ea typeface="Arial" panose="020B0604020202020204"/>
              <a:cs typeface="Arial" panose="020B0604020202020204"/>
              <a:sym typeface="Arial" panose="020B0604020202020204"/>
            </a:endParaRPr>
          </a:p>
        </p:txBody>
      </p:sp>
      <p:sp>
        <p:nvSpPr>
          <p:cNvPr id="288" name="Google Shape;288;p8"/>
          <p:cNvSpPr/>
          <p:nvPr/>
        </p:nvSpPr>
        <p:spPr>
          <a:xfrm>
            <a:off x="8234375" y="1485546"/>
            <a:ext cx="3438975" cy="4572000"/>
          </a:xfrm>
          <a:prstGeom prst="roundRect">
            <a:avLst>
              <a:gd name="adj" fmla="val 6601"/>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Arial" panose="020B0604020202020204"/>
              <a:ea typeface="Arial" panose="020B0604020202020204"/>
              <a:cs typeface="Arial" panose="020B0604020202020204"/>
              <a:sym typeface="Arial" panose="020B0604020202020204"/>
            </a:endParaRPr>
          </a:p>
        </p:txBody>
      </p:sp>
      <p:sp>
        <p:nvSpPr>
          <p:cNvPr id="2" name="Title 1"/>
          <p:cNvSpPr>
            <a:spLocks noGrp="1"/>
          </p:cNvSpPr>
          <p:nvPr>
            <p:ph type="title"/>
          </p:nvPr>
        </p:nvSpPr>
        <p:spPr>
          <a:xfrm>
            <a:off x="700550" y="404869"/>
            <a:ext cx="10515600" cy="716422"/>
          </a:xfrm>
        </p:spPr>
        <p:txBody>
          <a:bodyPr/>
          <a:lstStyle/>
          <a:p>
            <a:r>
              <a:rPr lang="en-US" dirty="0"/>
              <a:t>WHO CAN ISSUE FIXED INCOME SECURITIES?</a:t>
            </a:r>
            <a:endParaRPr lang="en-US" dirty="0"/>
          </a:p>
        </p:txBody>
      </p:sp>
      <p:sp>
        <p:nvSpPr>
          <p:cNvPr id="277" name="Google Shape;277;p8"/>
          <p:cNvSpPr/>
          <p:nvPr/>
        </p:nvSpPr>
        <p:spPr>
          <a:xfrm>
            <a:off x="912625" y="1639791"/>
            <a:ext cx="3014826" cy="622607"/>
          </a:xfrm>
          <a:prstGeom prst="roundRect">
            <a:avLst>
              <a:gd name="adj" fmla="val 16667"/>
            </a:avLst>
          </a:prstGeom>
          <a:solidFill>
            <a:schemeClr val="accent3"/>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algn="ctr"/>
            <a:r>
              <a:rPr lang="en-US" sz="1600" b="1" dirty="0">
                <a:solidFill>
                  <a:schemeClr val="bg1"/>
                </a:solidFill>
              </a:rPr>
              <a:t>2. Corporations: </a:t>
            </a:r>
            <a:endParaRPr lang="en-US" sz="1600" b="1" dirty="0">
              <a:solidFill>
                <a:schemeClr val="bg1"/>
              </a:solidFill>
            </a:endParaRPr>
          </a:p>
        </p:txBody>
      </p:sp>
      <p:sp>
        <p:nvSpPr>
          <p:cNvPr id="278" name="Google Shape;278;p8"/>
          <p:cNvSpPr txBox="1"/>
          <p:nvPr/>
        </p:nvSpPr>
        <p:spPr>
          <a:xfrm>
            <a:off x="865558" y="2383914"/>
            <a:ext cx="3108960" cy="35393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tx1"/>
                </a:solidFill>
                <a:latin typeface="Arial" panose="020B0604020202020204"/>
                <a:ea typeface="Arial" panose="020B0604020202020204"/>
                <a:cs typeface="Arial" panose="020B0604020202020204"/>
                <a:sym typeface="Arial" panose="020B0604020202020204"/>
              </a:rPr>
              <a:t>Companies issue </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Debt Instruments including Commercial Papers &amp; C</a:t>
            </a:r>
            <a:r>
              <a:rPr lang="en-US" sz="1600" dirty="0" err="1">
                <a:solidFill>
                  <a:schemeClr val="tx1"/>
                </a:solidFill>
                <a:latin typeface="Arial" panose="020B0604020202020204"/>
                <a:ea typeface="Arial" panose="020B0604020202020204"/>
                <a:cs typeface="Arial" panose="020B0604020202020204"/>
                <a:sym typeface="Arial" panose="020B0604020202020204"/>
              </a:rPr>
              <a:t>orporate</a:t>
            </a:r>
            <a:r>
              <a:rPr lang="en-US" sz="1600" dirty="0">
                <a:solidFill>
                  <a:schemeClr val="tx1"/>
                </a:solidFill>
                <a:latin typeface="Arial" panose="020B0604020202020204"/>
                <a:ea typeface="Arial" panose="020B0604020202020204"/>
                <a:cs typeface="Arial" panose="020B0604020202020204"/>
                <a:sym typeface="Arial" panose="020B0604020202020204"/>
              </a:rPr>
              <a:t> bonds to raise capital for various purposes, including expansion, research and development, debt refinancing, and working capital. Corporate bonds vary in credit quality, with some issued by highly rated companies (investment-grade) and others by lower-rated or riskier companies (high-yield or junk bonds).</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283" name="Google Shape;283;p8"/>
          <p:cNvSpPr/>
          <p:nvPr/>
        </p:nvSpPr>
        <p:spPr>
          <a:xfrm>
            <a:off x="4679537" y="1639791"/>
            <a:ext cx="3014826" cy="622607"/>
          </a:xfrm>
          <a:prstGeom prst="roundRect">
            <a:avLst>
              <a:gd name="adj" fmla="val 16055"/>
            </a:avLst>
          </a:prstGeom>
          <a:solidFill>
            <a:schemeClr val="accent3"/>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lvl="0" algn="ctr"/>
            <a:r>
              <a:rPr lang="en-US" sz="1600" b="1" dirty="0">
                <a:solidFill>
                  <a:schemeClr val="bg1"/>
                </a:solidFill>
              </a:rPr>
              <a:t>3. Government-Sponsored </a:t>
            </a:r>
            <a:endParaRPr lang="en-US" sz="1600" b="1" dirty="0">
              <a:solidFill>
                <a:schemeClr val="bg1"/>
              </a:solidFill>
            </a:endParaRPr>
          </a:p>
          <a:p>
            <a:pPr lvl="0" algn="ctr"/>
            <a:r>
              <a:rPr lang="en-US" sz="1600" b="1" dirty="0">
                <a:solidFill>
                  <a:schemeClr val="bg1"/>
                </a:solidFill>
              </a:rPr>
              <a:t>Enterprises (GSEs): </a:t>
            </a:r>
            <a:endParaRPr lang="en-US" sz="1600" b="1" dirty="0">
              <a:solidFill>
                <a:schemeClr val="bg1"/>
              </a:solidFill>
            </a:endParaRPr>
          </a:p>
        </p:txBody>
      </p:sp>
      <p:sp>
        <p:nvSpPr>
          <p:cNvPr id="284" name="Google Shape;284;p8"/>
          <p:cNvSpPr txBox="1"/>
          <p:nvPr/>
        </p:nvSpPr>
        <p:spPr>
          <a:xfrm>
            <a:off x="4632470" y="2383914"/>
            <a:ext cx="3108960" cy="28007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tx1"/>
                </a:solidFill>
                <a:latin typeface="Arial" panose="020B0604020202020204"/>
                <a:ea typeface="Arial" panose="020B0604020202020204"/>
                <a:cs typeface="Arial" panose="020B0604020202020204"/>
                <a:sym typeface="Arial" panose="020B0604020202020204"/>
              </a:rPr>
              <a:t>These are quasi-governmental entities created by the government to serve specific purposes in the housing and financial markets. Examples include</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 US Govt Sponsored Agencies like </a:t>
            </a:r>
            <a:r>
              <a:rPr lang="en-US" sz="1600" dirty="0">
                <a:solidFill>
                  <a:schemeClr val="tx1"/>
                </a:solidFill>
                <a:latin typeface="Arial" panose="020B0604020202020204"/>
                <a:ea typeface="Arial" panose="020B0604020202020204"/>
                <a:cs typeface="Arial" panose="020B0604020202020204"/>
                <a:sym typeface="Arial" panose="020B0604020202020204"/>
              </a:rPr>
              <a:t> Fannie Mae and Freddie Mac, which issue mortgage-backed securities (MBS) backed by pools of home mortgages.</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289" name="Google Shape;289;p8"/>
          <p:cNvSpPr/>
          <p:nvPr/>
        </p:nvSpPr>
        <p:spPr>
          <a:xfrm>
            <a:off x="8446449" y="1639791"/>
            <a:ext cx="3014826" cy="622607"/>
          </a:xfrm>
          <a:prstGeom prst="roundRect">
            <a:avLst>
              <a:gd name="adj" fmla="val 16667"/>
            </a:avLst>
          </a:prstGeom>
          <a:solidFill>
            <a:schemeClr val="accent3"/>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algn="ctr"/>
            <a:r>
              <a:rPr lang="en-US" sz="1600" b="1" dirty="0">
                <a:solidFill>
                  <a:schemeClr val="bg1"/>
                </a:solidFill>
              </a:rPr>
              <a:t>4. Supranational </a:t>
            </a:r>
            <a:endParaRPr lang="en-US" sz="1600" b="1" dirty="0">
              <a:solidFill>
                <a:schemeClr val="bg1"/>
              </a:solidFill>
            </a:endParaRPr>
          </a:p>
          <a:p>
            <a:pPr algn="ctr"/>
            <a:r>
              <a:rPr lang="en-US" sz="1600" b="1" dirty="0">
                <a:solidFill>
                  <a:schemeClr val="bg1"/>
                </a:solidFill>
              </a:rPr>
              <a:t>Organizations: </a:t>
            </a:r>
            <a:endParaRPr lang="en-US" sz="1600" b="1" dirty="0">
              <a:solidFill>
                <a:schemeClr val="bg1"/>
              </a:solidFill>
            </a:endParaRPr>
          </a:p>
        </p:txBody>
      </p:sp>
      <p:sp>
        <p:nvSpPr>
          <p:cNvPr id="290" name="Google Shape;290;p8"/>
          <p:cNvSpPr txBox="1"/>
          <p:nvPr/>
        </p:nvSpPr>
        <p:spPr>
          <a:xfrm>
            <a:off x="8399382" y="2383914"/>
            <a:ext cx="3108960" cy="20620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International organizations like the World Bank and the International Finance Corporation (IFC) issue bonds to fund development projects in member countries. These bonds are often referred to as supranational bonds.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3" name="Google Shape;276;p8"/>
          <p:cNvSpPr/>
          <p:nvPr/>
        </p:nvSpPr>
        <p:spPr>
          <a:xfrm>
            <a:off x="700551" y="1485547"/>
            <a:ext cx="3438975" cy="4572000"/>
          </a:xfrm>
          <a:prstGeom prst="roundRect">
            <a:avLst>
              <a:gd name="adj" fmla="val 6601"/>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Arial" panose="020B0604020202020204"/>
              <a:ea typeface="Arial" panose="020B0604020202020204"/>
              <a:cs typeface="Arial" panose="020B0604020202020204"/>
              <a:sym typeface="Arial" panose="020B0604020202020204"/>
            </a:endParaRPr>
          </a:p>
        </p:txBody>
      </p:sp>
      <p:sp>
        <p:nvSpPr>
          <p:cNvPr id="4" name="Google Shape;282;p8"/>
          <p:cNvSpPr/>
          <p:nvPr/>
        </p:nvSpPr>
        <p:spPr>
          <a:xfrm>
            <a:off x="4467463" y="1485547"/>
            <a:ext cx="3438975" cy="4572000"/>
          </a:xfrm>
          <a:prstGeom prst="roundRect">
            <a:avLst>
              <a:gd name="adj" fmla="val 6601"/>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Arial" panose="020B0604020202020204"/>
              <a:ea typeface="Arial" panose="020B0604020202020204"/>
              <a:cs typeface="Arial" panose="020B0604020202020204"/>
              <a:sym typeface="Arial" panose="020B0604020202020204"/>
            </a:endParaRPr>
          </a:p>
        </p:txBody>
      </p:sp>
      <p:sp>
        <p:nvSpPr>
          <p:cNvPr id="5" name="Google Shape;288;p8"/>
          <p:cNvSpPr/>
          <p:nvPr/>
        </p:nvSpPr>
        <p:spPr>
          <a:xfrm>
            <a:off x="8234375" y="1485546"/>
            <a:ext cx="3438975" cy="4572000"/>
          </a:xfrm>
          <a:prstGeom prst="roundRect">
            <a:avLst>
              <a:gd name="adj" fmla="val 6601"/>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rgbClr val="FFFFFF"/>
              </a:solidFill>
              <a:latin typeface="Arial" panose="020B0604020202020204"/>
              <a:ea typeface="Arial" panose="020B0604020202020204"/>
              <a:cs typeface="Arial" panose="020B0604020202020204"/>
              <a:sym typeface="Arial" panose="020B0604020202020204"/>
            </a:endParaRPr>
          </a:p>
        </p:txBody>
      </p:sp>
      <p:sp>
        <p:nvSpPr>
          <p:cNvPr id="6" name="Google Shape;277;p8"/>
          <p:cNvSpPr/>
          <p:nvPr/>
        </p:nvSpPr>
        <p:spPr>
          <a:xfrm>
            <a:off x="912625" y="1639791"/>
            <a:ext cx="3014826" cy="622607"/>
          </a:xfrm>
          <a:prstGeom prst="roundRect">
            <a:avLst>
              <a:gd name="adj" fmla="val 16667"/>
            </a:avLst>
          </a:prstGeom>
          <a:solidFill>
            <a:schemeClr val="accent3"/>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algn="ctr"/>
            <a:r>
              <a:rPr lang="en-US" sz="1600" b="1" dirty="0">
                <a:solidFill>
                  <a:schemeClr val="bg1"/>
                </a:solidFill>
              </a:rPr>
              <a:t>5. Financial Institutions: </a:t>
            </a:r>
            <a:endParaRPr lang="en-US" sz="1600" b="1" dirty="0">
              <a:solidFill>
                <a:schemeClr val="bg1"/>
              </a:solidFill>
            </a:endParaRPr>
          </a:p>
        </p:txBody>
      </p:sp>
      <p:sp>
        <p:nvSpPr>
          <p:cNvPr id="7" name="Google Shape;278;p8"/>
          <p:cNvSpPr txBox="1"/>
          <p:nvPr/>
        </p:nvSpPr>
        <p:spPr>
          <a:xfrm>
            <a:off x="865558" y="2383914"/>
            <a:ext cx="3108960" cy="15696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tx1"/>
                </a:solidFill>
                <a:latin typeface="Arial" panose="020B0604020202020204"/>
                <a:ea typeface="Arial" panose="020B0604020202020204"/>
                <a:cs typeface="Arial" panose="020B0604020202020204"/>
                <a:sym typeface="Arial" panose="020B0604020202020204"/>
              </a:rPr>
              <a:t>Banks and Financial institutions issue various fixed income securities, including certificates of deposit (CDs) and Bonds, to raise capital and manage their liquidity.</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8" name="Google Shape;283;p8"/>
          <p:cNvSpPr/>
          <p:nvPr/>
        </p:nvSpPr>
        <p:spPr>
          <a:xfrm>
            <a:off x="4679537" y="1639791"/>
            <a:ext cx="3014826" cy="622607"/>
          </a:xfrm>
          <a:prstGeom prst="roundRect">
            <a:avLst>
              <a:gd name="adj" fmla="val 16055"/>
            </a:avLst>
          </a:prstGeom>
          <a:solidFill>
            <a:schemeClr val="accent3"/>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lvl="0" algn="ctr"/>
            <a:r>
              <a:rPr lang="en-US" sz="1600" b="1" dirty="0">
                <a:solidFill>
                  <a:schemeClr val="bg1"/>
                </a:solidFill>
              </a:rPr>
              <a:t>6. Utilities: </a:t>
            </a:r>
            <a:endParaRPr lang="en-US" sz="1600" b="1" dirty="0">
              <a:solidFill>
                <a:schemeClr val="bg1"/>
              </a:solidFill>
            </a:endParaRPr>
          </a:p>
        </p:txBody>
      </p:sp>
      <p:sp>
        <p:nvSpPr>
          <p:cNvPr id="9" name="Google Shape;284;p8"/>
          <p:cNvSpPr txBox="1"/>
          <p:nvPr/>
        </p:nvSpPr>
        <p:spPr>
          <a:xfrm>
            <a:off x="4632470" y="2383914"/>
            <a:ext cx="3108960" cy="15696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tx1"/>
                </a:solidFill>
                <a:latin typeface="Arial" panose="020B0604020202020204"/>
                <a:ea typeface="Arial" panose="020B0604020202020204"/>
                <a:cs typeface="Arial" panose="020B0604020202020204"/>
                <a:sym typeface="Arial" panose="020B0604020202020204"/>
              </a:rPr>
              <a:t>Electric, gas, and water utilities may issue bonds to fund capital projects, such as building infrastructure or upgrading equipment. These bonds are often known as utility bonds.</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10" name="Google Shape;289;p8"/>
          <p:cNvSpPr/>
          <p:nvPr/>
        </p:nvSpPr>
        <p:spPr>
          <a:xfrm>
            <a:off x="8446449" y="1639791"/>
            <a:ext cx="3014826" cy="622607"/>
          </a:xfrm>
          <a:prstGeom prst="roundRect">
            <a:avLst>
              <a:gd name="adj" fmla="val 16667"/>
            </a:avLst>
          </a:prstGeom>
          <a:solidFill>
            <a:schemeClr val="accent3"/>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algn="ctr"/>
            <a:r>
              <a:rPr lang="en-US" sz="1600" b="1" dirty="0">
                <a:solidFill>
                  <a:schemeClr val="bg1"/>
                </a:solidFill>
              </a:rPr>
              <a:t>7. Other Entities: </a:t>
            </a:r>
            <a:endParaRPr lang="en-US" sz="1600" b="1" dirty="0">
              <a:solidFill>
                <a:schemeClr val="bg1"/>
              </a:solidFill>
            </a:endParaRPr>
          </a:p>
        </p:txBody>
      </p:sp>
      <p:sp>
        <p:nvSpPr>
          <p:cNvPr id="11" name="Google Shape;290;p8"/>
          <p:cNvSpPr txBox="1"/>
          <p:nvPr/>
        </p:nvSpPr>
        <p:spPr>
          <a:xfrm>
            <a:off x="8399382" y="2383914"/>
            <a:ext cx="3108960" cy="18158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Special purpose vehicles are used in structured finance to issue asset-backed securities (ABS), such as mortgage-backed securities (MBS) and collateralized debt obligations (CDOs).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12" name="Title 11"/>
          <p:cNvSpPr>
            <a:spLocks noGrp="1"/>
          </p:cNvSpPr>
          <p:nvPr>
            <p:ph type="title"/>
          </p:nvPr>
        </p:nvSpPr>
        <p:spPr/>
        <p:txBody>
          <a:bodyPr/>
          <a:lstStyle/>
          <a:p>
            <a:r>
              <a:rPr lang="en-US" dirty="0"/>
              <a:t>WHO CAN ISSUE FIXED INCOME SECURITIES?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ADVANTAGES OF FIXED INCOME SECURITIES</a:t>
            </a:r>
            <a:endParaRPr lang="en-US" dirty="0"/>
          </a:p>
        </p:txBody>
      </p:sp>
      <p:sp>
        <p:nvSpPr>
          <p:cNvPr id="321" name="Google Shape;321;p10"/>
          <p:cNvSpPr/>
          <p:nvPr/>
        </p:nvSpPr>
        <p:spPr>
          <a:xfrm>
            <a:off x="700550" y="1468437"/>
            <a:ext cx="10972800" cy="4709079"/>
          </a:xfrm>
          <a:prstGeom prst="roundRect">
            <a:avLst>
              <a:gd name="adj" fmla="val 2407"/>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322" name="Google Shape;322;p10"/>
          <p:cNvSpPr/>
          <p:nvPr/>
        </p:nvSpPr>
        <p:spPr>
          <a:xfrm>
            <a:off x="746270" y="1468437"/>
            <a:ext cx="10881360" cy="4709079"/>
          </a:xfrm>
          <a:prstGeom prst="roundRect">
            <a:avLst>
              <a:gd name="adj" fmla="val 2407"/>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panose="020B0604020202020204"/>
                <a:ea typeface="Arial" panose="020B0604020202020204"/>
                <a:cs typeface="Arial" panose="020B0604020202020204"/>
                <a:sym typeface="Arial" panose="020B0604020202020204"/>
              </a:rPr>
              <a:t>RSUs typically have a vesting period during which employees must remain with the company to receive the shares. This encourages employee retention.</a:t>
            </a:r>
            <a:endParaRPr lang="en-US" sz="18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11" name="Group 10"/>
          <p:cNvGrpSpPr/>
          <p:nvPr/>
        </p:nvGrpSpPr>
        <p:grpSpPr>
          <a:xfrm>
            <a:off x="746270" y="1630703"/>
            <a:ext cx="10835640" cy="927027"/>
            <a:chOff x="746270" y="1625754"/>
            <a:chExt cx="10835640" cy="927027"/>
          </a:xfrm>
        </p:grpSpPr>
        <p:sp>
          <p:nvSpPr>
            <p:cNvPr id="323" name="Google Shape;323;p10"/>
            <p:cNvSpPr/>
            <p:nvPr/>
          </p:nvSpPr>
          <p:spPr>
            <a:xfrm>
              <a:off x="746270" y="1625754"/>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1. Regular Income: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326" name="Google Shape;326;p10"/>
            <p:cNvSpPr txBox="1"/>
            <p:nvPr/>
          </p:nvSpPr>
          <p:spPr>
            <a:xfrm>
              <a:off x="791990" y="2060338"/>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Fixed income securities provide a predictable and regular stream of income in the form of interest payments. This income can be especially valuable for retirees or investors seeking stable cash flows.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0" name="Group 9"/>
          <p:cNvGrpSpPr/>
          <p:nvPr/>
        </p:nvGrpSpPr>
        <p:grpSpPr>
          <a:xfrm>
            <a:off x="746270" y="2701136"/>
            <a:ext cx="10835640" cy="927027"/>
            <a:chOff x="746270" y="2614113"/>
            <a:chExt cx="10835640" cy="927027"/>
          </a:xfrm>
        </p:grpSpPr>
        <p:sp>
          <p:nvSpPr>
            <p:cNvPr id="324" name="Google Shape;324;p10"/>
            <p:cNvSpPr/>
            <p:nvPr/>
          </p:nvSpPr>
          <p:spPr>
            <a:xfrm>
              <a:off x="746270" y="261411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2. Preservation of Capital: </a:t>
              </a:r>
              <a:endParaRPr lang="en-US"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327" name="Google Shape;327;p10"/>
            <p:cNvSpPr txBox="1"/>
            <p:nvPr/>
          </p:nvSpPr>
          <p:spPr>
            <a:xfrm>
              <a:off x="791990" y="3048697"/>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High-quality fixed income securities, such as U.S. Treasury bonds, are generally considered low-risk investments. They provide a high level of capital preservation, making them a safe haven for investors looking to protect their principal.</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9" name="Group 8"/>
          <p:cNvGrpSpPr/>
          <p:nvPr/>
        </p:nvGrpSpPr>
        <p:grpSpPr>
          <a:xfrm>
            <a:off x="746270" y="3771569"/>
            <a:ext cx="10835640" cy="1173248"/>
            <a:chOff x="746270" y="3848693"/>
            <a:chExt cx="10835640" cy="1173248"/>
          </a:xfrm>
        </p:grpSpPr>
        <p:sp>
          <p:nvSpPr>
            <p:cNvPr id="325" name="Google Shape;325;p10"/>
            <p:cNvSpPr/>
            <p:nvPr/>
          </p:nvSpPr>
          <p:spPr>
            <a:xfrm>
              <a:off x="746270" y="384869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3. Diversification: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328" name="Google Shape;328;p10"/>
            <p:cNvSpPr txBox="1"/>
            <p:nvPr/>
          </p:nvSpPr>
          <p:spPr>
            <a:xfrm>
              <a:off x="791990" y="4283277"/>
              <a:ext cx="10789920" cy="7386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Fixed income securities can be an effective way to diversify an investment portfolio. They often have a low correlation with equities, which means they may perform differently in various market conditions, potentially reducing overall portfolio risk.</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8" name="Group 7"/>
          <p:cNvGrpSpPr/>
          <p:nvPr/>
        </p:nvGrpSpPr>
        <p:grpSpPr>
          <a:xfrm>
            <a:off x="746270" y="5088223"/>
            <a:ext cx="10835640" cy="927027"/>
            <a:chOff x="746270" y="5083274"/>
            <a:chExt cx="10835640" cy="927027"/>
          </a:xfrm>
        </p:grpSpPr>
        <p:sp>
          <p:nvSpPr>
            <p:cNvPr id="329" name="Google Shape;329;p10"/>
            <p:cNvSpPr/>
            <p:nvPr/>
          </p:nvSpPr>
          <p:spPr>
            <a:xfrm>
              <a:off x="746270" y="5083274"/>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4</a:t>
              </a:r>
              <a:r>
                <a:rPr lang="en-US" sz="1800" b="1" dirty="0">
                  <a:solidFill>
                    <a:schemeClr val="bg1"/>
                  </a:solidFill>
                  <a:latin typeface="Arial" panose="020B0604020202020204"/>
                  <a:ea typeface="Arial" panose="020B0604020202020204"/>
                  <a:cs typeface="Arial" panose="020B0604020202020204"/>
                  <a:sym typeface="Arial" panose="020B0604020202020204"/>
                </a:rPr>
                <a:t>. </a:t>
              </a:r>
              <a:r>
                <a:rPr lang="en-IN" altLang="en-US" sz="1800" b="1" dirty="0">
                  <a:solidFill>
                    <a:schemeClr val="bg1"/>
                  </a:solidFill>
                  <a:effectLst>
                    <a:outerShdw blurRad="38100" dist="25400" dir="5400000" algn="ctr" rotWithShape="0">
                      <a:srgbClr val="6E747A">
                        <a:alpha val="43000"/>
                      </a:srgbClr>
                    </a:outerShdw>
                  </a:effectLst>
                  <a:latin typeface="Arial" panose="020B0604020202020204"/>
                  <a:ea typeface="Arial" panose="020B0604020202020204"/>
                  <a:cs typeface="Arial" panose="020B0604020202020204"/>
                  <a:sym typeface="Arial" panose="020B0604020202020204"/>
                </a:rPr>
                <a:t>Predictable Cashflows:</a:t>
              </a:r>
              <a:r>
                <a:rPr lang="en-US" sz="1800" b="1" dirty="0">
                  <a:solidFill>
                    <a:schemeClr val="bg1"/>
                  </a:solidFill>
                  <a:effectLst>
                    <a:outerShdw blurRad="38100" dist="25400" dir="5400000" algn="ctr" rotWithShape="0">
                      <a:srgbClr val="6E747A">
                        <a:alpha val="43000"/>
                      </a:srgbClr>
                    </a:outerShdw>
                  </a:effectLst>
                  <a:latin typeface="Arial" panose="020B0604020202020204"/>
                  <a:ea typeface="Arial" panose="020B0604020202020204"/>
                  <a:cs typeface="Arial" panose="020B0604020202020204"/>
                  <a:sym typeface="Arial" panose="020B0604020202020204"/>
                </a:rPr>
                <a:t> </a:t>
              </a:r>
              <a:endParaRPr lang="en-US" sz="1800" b="1" dirty="0">
                <a:solidFill>
                  <a:schemeClr val="bg1"/>
                </a:solidFill>
                <a:effectLst>
                  <a:outerShdw blurRad="38100" dist="25400" dir="5400000" algn="ctr" rotWithShape="0">
                    <a:srgbClr val="6E747A">
                      <a:alpha val="43000"/>
                    </a:srgbClr>
                  </a:outerShdw>
                </a:effectLst>
                <a:latin typeface="Arial" panose="020B0604020202020204"/>
                <a:ea typeface="Arial" panose="020B0604020202020204"/>
                <a:cs typeface="Arial" panose="020B0604020202020204"/>
                <a:sym typeface="Arial" panose="020B0604020202020204"/>
              </a:endParaRPr>
            </a:p>
          </p:txBody>
        </p:sp>
        <p:sp>
          <p:nvSpPr>
            <p:cNvPr id="330" name="Google Shape;330;p10"/>
            <p:cNvSpPr txBox="1"/>
            <p:nvPr/>
          </p:nvSpPr>
          <p:spPr>
            <a:xfrm>
              <a:off x="791990" y="5517858"/>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Bonds with fixed interest payments and maturity dates offer a level of predictability that can help investors manage risk. Knowing when interest will be received and when the principal will be repaid can aid in financial planning.</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2" name="Google Shape;321;p10"/>
          <p:cNvSpPr/>
          <p:nvPr/>
        </p:nvSpPr>
        <p:spPr>
          <a:xfrm>
            <a:off x="700550" y="1468437"/>
            <a:ext cx="10972800" cy="4709079"/>
          </a:xfrm>
          <a:prstGeom prst="roundRect">
            <a:avLst>
              <a:gd name="adj" fmla="val 2407"/>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Google Shape;322;p10"/>
          <p:cNvSpPr/>
          <p:nvPr/>
        </p:nvSpPr>
        <p:spPr>
          <a:xfrm>
            <a:off x="746270" y="1468437"/>
            <a:ext cx="10881360" cy="4709079"/>
          </a:xfrm>
          <a:prstGeom prst="roundRect">
            <a:avLst>
              <a:gd name="adj" fmla="val 2407"/>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panose="020B0604020202020204"/>
                <a:ea typeface="Arial" panose="020B0604020202020204"/>
                <a:cs typeface="Arial" panose="020B0604020202020204"/>
                <a:sym typeface="Arial" panose="020B0604020202020204"/>
              </a:rPr>
              <a:t>RSUs typically have a vesting period during which employees must remain with the company to receive the shares. This encourages employee retention.</a:t>
            </a:r>
            <a:endParaRPr lang="en-US" sz="18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4" name="Group 3"/>
          <p:cNvGrpSpPr/>
          <p:nvPr/>
        </p:nvGrpSpPr>
        <p:grpSpPr>
          <a:xfrm>
            <a:off x="746270" y="1630703"/>
            <a:ext cx="10835640" cy="927027"/>
            <a:chOff x="746270" y="1625754"/>
            <a:chExt cx="10835640" cy="927027"/>
          </a:xfrm>
        </p:grpSpPr>
        <p:sp>
          <p:nvSpPr>
            <p:cNvPr id="5" name="Google Shape;323;p10"/>
            <p:cNvSpPr/>
            <p:nvPr/>
          </p:nvSpPr>
          <p:spPr>
            <a:xfrm>
              <a:off x="746270" y="1625754"/>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5. Liquidity: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6" name="Google Shape;326;p10"/>
            <p:cNvSpPr txBox="1"/>
            <p:nvPr/>
          </p:nvSpPr>
          <p:spPr>
            <a:xfrm>
              <a:off x="791990" y="2060338"/>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Many fixed income securities, particularly government and corporate bonds, are highly liquid, meaning they can be easily bought and sold in the secondary market. This provides investors with flexibility in managing their portfolios.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7" name="Group 6"/>
          <p:cNvGrpSpPr/>
          <p:nvPr/>
        </p:nvGrpSpPr>
        <p:grpSpPr>
          <a:xfrm>
            <a:off x="746270" y="2701136"/>
            <a:ext cx="10835640" cy="927027"/>
            <a:chOff x="746270" y="2614113"/>
            <a:chExt cx="10835640" cy="927027"/>
          </a:xfrm>
        </p:grpSpPr>
        <p:sp>
          <p:nvSpPr>
            <p:cNvPr id="8" name="Google Shape;324;p10"/>
            <p:cNvSpPr/>
            <p:nvPr/>
          </p:nvSpPr>
          <p:spPr>
            <a:xfrm>
              <a:off x="746270" y="261411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6. Tax Advantages: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9" name="Google Shape;327;p10"/>
            <p:cNvSpPr txBox="1"/>
            <p:nvPr/>
          </p:nvSpPr>
          <p:spPr>
            <a:xfrm>
              <a:off x="791990" y="3048697"/>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Some fixed income securities, such as municipal bonds, offer tax advantages. Interest income from these bonds may be exempt from federal income taxes and, in some cases, state and local taxes.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0" name="Group 9"/>
          <p:cNvGrpSpPr/>
          <p:nvPr/>
        </p:nvGrpSpPr>
        <p:grpSpPr>
          <a:xfrm>
            <a:off x="746270" y="3771569"/>
            <a:ext cx="10835640" cy="1173248"/>
            <a:chOff x="746270" y="3848693"/>
            <a:chExt cx="10835640" cy="1173248"/>
          </a:xfrm>
        </p:grpSpPr>
        <p:sp>
          <p:nvSpPr>
            <p:cNvPr id="11" name="Google Shape;325;p10"/>
            <p:cNvSpPr/>
            <p:nvPr/>
          </p:nvSpPr>
          <p:spPr>
            <a:xfrm>
              <a:off x="746270" y="384869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7. Credit Quality Options: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2" name="Google Shape;328;p10"/>
            <p:cNvSpPr txBox="1"/>
            <p:nvPr/>
          </p:nvSpPr>
          <p:spPr>
            <a:xfrm>
              <a:off x="791990" y="4283277"/>
              <a:ext cx="10789920" cy="7386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Investors can choose fixed income securities with varying levels of credit risk based on their risk tolerance and return objectives. High-quality bonds offer lower yields but greater safety, while lower-rated bonds may provide higher yields with increased risk.</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3" name="Group 12"/>
          <p:cNvGrpSpPr/>
          <p:nvPr/>
        </p:nvGrpSpPr>
        <p:grpSpPr>
          <a:xfrm>
            <a:off x="746270" y="5088223"/>
            <a:ext cx="10835640" cy="927027"/>
            <a:chOff x="746270" y="5083274"/>
            <a:chExt cx="10835640" cy="927027"/>
          </a:xfrm>
        </p:grpSpPr>
        <p:sp>
          <p:nvSpPr>
            <p:cNvPr id="14" name="Google Shape;329;p10"/>
            <p:cNvSpPr/>
            <p:nvPr/>
          </p:nvSpPr>
          <p:spPr>
            <a:xfrm>
              <a:off x="746270" y="5083274"/>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8. Portfolio Stability: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5" name="Google Shape;330;p10"/>
            <p:cNvSpPr txBox="1"/>
            <p:nvPr/>
          </p:nvSpPr>
          <p:spPr>
            <a:xfrm>
              <a:off x="791990" y="5517858"/>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Fixed income securities can help stabilize a portfolio during periods of market volatility. When equity markets decline, the income from fixed income investments can offset losses.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16" name="Title 15"/>
          <p:cNvSpPr>
            <a:spLocks noGrp="1"/>
          </p:cNvSpPr>
          <p:nvPr>
            <p:ph type="title"/>
          </p:nvPr>
        </p:nvSpPr>
        <p:spPr/>
        <p:txBody>
          <a:bodyPr/>
          <a:lstStyle/>
          <a:p>
            <a:r>
              <a:rPr lang="en-US" dirty="0"/>
              <a:t>ADVANTAGES OF FIXED INCOME SECURITIES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2" name="Google Shape;321;p10"/>
          <p:cNvSpPr/>
          <p:nvPr/>
        </p:nvSpPr>
        <p:spPr>
          <a:xfrm>
            <a:off x="700550" y="1468437"/>
            <a:ext cx="10972800" cy="3429000"/>
          </a:xfrm>
          <a:prstGeom prst="roundRect">
            <a:avLst>
              <a:gd name="adj" fmla="val 2407"/>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Google Shape;322;p10"/>
          <p:cNvSpPr/>
          <p:nvPr/>
        </p:nvSpPr>
        <p:spPr>
          <a:xfrm>
            <a:off x="746270" y="1468438"/>
            <a:ext cx="10881360" cy="3429000"/>
          </a:xfrm>
          <a:prstGeom prst="roundRect">
            <a:avLst>
              <a:gd name="adj" fmla="val 2407"/>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panose="020B0604020202020204"/>
                <a:ea typeface="Arial" panose="020B0604020202020204"/>
                <a:cs typeface="Arial" panose="020B0604020202020204"/>
                <a:sym typeface="Arial" panose="020B0604020202020204"/>
              </a:rPr>
              <a:t>RSUs typically have a vesting period during which employees must remain with the company to receive the shares. This encourages employee retention.</a:t>
            </a:r>
            <a:endParaRPr lang="en-US" sz="18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4" name="Group 3"/>
          <p:cNvGrpSpPr/>
          <p:nvPr/>
        </p:nvGrpSpPr>
        <p:grpSpPr>
          <a:xfrm>
            <a:off x="746270" y="1630703"/>
            <a:ext cx="10835640" cy="927027"/>
            <a:chOff x="746270" y="1625754"/>
            <a:chExt cx="10835640" cy="927027"/>
          </a:xfrm>
        </p:grpSpPr>
        <p:sp>
          <p:nvSpPr>
            <p:cNvPr id="5" name="Google Shape;323;p10"/>
            <p:cNvSpPr/>
            <p:nvPr/>
          </p:nvSpPr>
          <p:spPr>
            <a:xfrm>
              <a:off x="746270" y="1625754"/>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9. Retirement Planning: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6" name="Google Shape;326;p10"/>
            <p:cNvSpPr txBox="1"/>
            <p:nvPr/>
          </p:nvSpPr>
          <p:spPr>
            <a:xfrm>
              <a:off x="791990" y="2060338"/>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Fixed income securities can be valuable tools for retirement planning. Investors can build a laddered portfolio of bonds with staggered maturities to create a predictable income stream during retirement.</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7" name="Group 6"/>
          <p:cNvGrpSpPr/>
          <p:nvPr/>
        </p:nvGrpSpPr>
        <p:grpSpPr>
          <a:xfrm>
            <a:off x="746270" y="2701136"/>
            <a:ext cx="10835640" cy="927027"/>
            <a:chOff x="746270" y="2614113"/>
            <a:chExt cx="10835640" cy="927027"/>
          </a:xfrm>
        </p:grpSpPr>
        <p:sp>
          <p:nvSpPr>
            <p:cNvPr id="8" name="Google Shape;324;p10"/>
            <p:cNvSpPr/>
            <p:nvPr/>
          </p:nvSpPr>
          <p:spPr>
            <a:xfrm>
              <a:off x="746270" y="261411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10. Inflation Protection: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9" name="Google Shape;327;p10"/>
            <p:cNvSpPr txBox="1"/>
            <p:nvPr/>
          </p:nvSpPr>
          <p:spPr>
            <a:xfrm>
              <a:off x="791990" y="3048697"/>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Some fixed income securities, such as Treasury Inflation-Protected Securities (TIPS), are designed to provide protection against inflation by adjusting their principal value with changes in the Consumer Price Index (CPI).</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0" name="Group 9"/>
          <p:cNvGrpSpPr/>
          <p:nvPr/>
        </p:nvGrpSpPr>
        <p:grpSpPr>
          <a:xfrm>
            <a:off x="746270" y="3771569"/>
            <a:ext cx="10835640" cy="927027"/>
            <a:chOff x="746270" y="3848693"/>
            <a:chExt cx="10835640" cy="927027"/>
          </a:xfrm>
        </p:grpSpPr>
        <p:sp>
          <p:nvSpPr>
            <p:cNvPr id="11" name="Google Shape;325;p10"/>
            <p:cNvSpPr/>
            <p:nvPr/>
          </p:nvSpPr>
          <p:spPr>
            <a:xfrm>
              <a:off x="746270" y="384869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11. Higher Claim on the Issuer’s Assets</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2" name="Google Shape;328;p10"/>
            <p:cNvSpPr txBox="1"/>
            <p:nvPr/>
          </p:nvSpPr>
          <p:spPr>
            <a:xfrm>
              <a:off x="791990" y="4283277"/>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Bondholders have a higher claim on a company's assets than equity shareholders in the event of bankruptcy. This can provide a degree of security, especially when investing in bonds issued by well-established companies.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16" name="Title 15"/>
          <p:cNvSpPr>
            <a:spLocks noGrp="1"/>
          </p:cNvSpPr>
          <p:nvPr>
            <p:ph type="title"/>
          </p:nvPr>
        </p:nvSpPr>
        <p:spPr/>
        <p:txBody>
          <a:bodyPr/>
          <a:lstStyle/>
          <a:p>
            <a:r>
              <a:rPr lang="en-US" dirty="0"/>
              <a:t>ADVANTAGES OF FIXED INCOME SECURITIES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16" name="Title 15"/>
          <p:cNvSpPr>
            <a:spLocks noGrp="1"/>
          </p:cNvSpPr>
          <p:nvPr>
            <p:ph type="title"/>
          </p:nvPr>
        </p:nvSpPr>
        <p:spPr/>
        <p:txBody>
          <a:bodyPr/>
          <a:lstStyle/>
          <a:p>
            <a:r>
              <a:rPr lang="en-US" dirty="0"/>
              <a:t>DISADVANTAGES OF FIXED INCOME</a:t>
            </a:r>
            <a:endParaRPr lang="en-US" dirty="0"/>
          </a:p>
        </p:txBody>
      </p:sp>
      <p:sp>
        <p:nvSpPr>
          <p:cNvPr id="2" name="Google Shape;321;p10"/>
          <p:cNvSpPr/>
          <p:nvPr/>
        </p:nvSpPr>
        <p:spPr>
          <a:xfrm>
            <a:off x="700550" y="1468437"/>
            <a:ext cx="10972800" cy="4709079"/>
          </a:xfrm>
          <a:prstGeom prst="roundRect">
            <a:avLst>
              <a:gd name="adj" fmla="val 2407"/>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Google Shape;322;p10"/>
          <p:cNvSpPr/>
          <p:nvPr/>
        </p:nvSpPr>
        <p:spPr>
          <a:xfrm>
            <a:off x="746270" y="1468437"/>
            <a:ext cx="10881360" cy="4709079"/>
          </a:xfrm>
          <a:prstGeom prst="roundRect">
            <a:avLst>
              <a:gd name="adj" fmla="val 240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panose="020B0604020202020204"/>
                <a:ea typeface="Arial" panose="020B0604020202020204"/>
                <a:cs typeface="Arial" panose="020B0604020202020204"/>
                <a:sym typeface="Arial" panose="020B0604020202020204"/>
              </a:rPr>
              <a:t>RSUs typically have a vesting period during which employees must remain with the company to receive the shares. This encourages employee retention.</a:t>
            </a:r>
            <a:endParaRPr lang="en-US" sz="18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20" name="Group 19"/>
          <p:cNvGrpSpPr/>
          <p:nvPr/>
        </p:nvGrpSpPr>
        <p:grpSpPr>
          <a:xfrm>
            <a:off x="746270" y="1630703"/>
            <a:ext cx="10835640" cy="927027"/>
            <a:chOff x="746270" y="1630703"/>
            <a:chExt cx="10835640" cy="927027"/>
          </a:xfrm>
        </p:grpSpPr>
        <p:sp>
          <p:nvSpPr>
            <p:cNvPr id="5" name="Google Shape;323;p10"/>
            <p:cNvSpPr/>
            <p:nvPr/>
          </p:nvSpPr>
          <p:spPr>
            <a:xfrm>
              <a:off x="746270" y="163070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1. Interest Rate Risk: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6" name="Google Shape;326;p10"/>
            <p:cNvSpPr txBox="1"/>
            <p:nvPr/>
          </p:nvSpPr>
          <p:spPr>
            <a:xfrm>
              <a:off x="791990" y="2065287"/>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Fixed income securities are sensitive to changes in interest rates. When interest rates rise, the market value of existing fixed income securities tends to fall, potentially leading to capital losses for investors who need to sell before maturity.</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9" name="Group 18"/>
          <p:cNvGrpSpPr/>
          <p:nvPr/>
        </p:nvGrpSpPr>
        <p:grpSpPr>
          <a:xfrm>
            <a:off x="746270" y="2701136"/>
            <a:ext cx="10835640" cy="1173248"/>
            <a:chOff x="746270" y="2701136"/>
            <a:chExt cx="10835640" cy="1173248"/>
          </a:xfrm>
        </p:grpSpPr>
        <p:sp>
          <p:nvSpPr>
            <p:cNvPr id="8" name="Google Shape;324;p10"/>
            <p:cNvSpPr/>
            <p:nvPr/>
          </p:nvSpPr>
          <p:spPr>
            <a:xfrm>
              <a:off x="746270" y="2701136"/>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2. Reinvestment Risk: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9" name="Google Shape;327;p10"/>
            <p:cNvSpPr txBox="1"/>
            <p:nvPr/>
          </p:nvSpPr>
          <p:spPr>
            <a:xfrm>
              <a:off x="791990" y="3135720"/>
              <a:ext cx="10789920" cy="7386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In a falling interest rate environment, investors may face reinvestment risk when their fixed income securities mature or when interest payments are received. They may have to reinvest their funds at lower interest rates, resulting in reduced income.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8" name="Group 17"/>
          <p:cNvGrpSpPr/>
          <p:nvPr/>
        </p:nvGrpSpPr>
        <p:grpSpPr>
          <a:xfrm>
            <a:off x="746270" y="4017790"/>
            <a:ext cx="10835640" cy="927027"/>
            <a:chOff x="746270" y="3771569"/>
            <a:chExt cx="10835640" cy="927027"/>
          </a:xfrm>
        </p:grpSpPr>
        <p:sp>
          <p:nvSpPr>
            <p:cNvPr id="11" name="Google Shape;325;p10"/>
            <p:cNvSpPr/>
            <p:nvPr/>
          </p:nvSpPr>
          <p:spPr>
            <a:xfrm>
              <a:off x="746270" y="3771569"/>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3. Credit Risk: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2" name="Google Shape;328;p10"/>
            <p:cNvSpPr txBox="1"/>
            <p:nvPr/>
          </p:nvSpPr>
          <p:spPr>
            <a:xfrm>
              <a:off x="791990" y="4206153"/>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The issuer's ability to make interest payments and repay the principal at maturity is a significant concern. Bonds issued by entities with lower credit ratings or in financial distress carry higher credit risk, increasing the chance of default.</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7" name="Group 16"/>
          <p:cNvGrpSpPr/>
          <p:nvPr/>
        </p:nvGrpSpPr>
        <p:grpSpPr>
          <a:xfrm>
            <a:off x="746270" y="5088223"/>
            <a:ext cx="10835640" cy="927027"/>
            <a:chOff x="746270" y="5088223"/>
            <a:chExt cx="10835640" cy="927027"/>
          </a:xfrm>
        </p:grpSpPr>
        <p:sp>
          <p:nvSpPr>
            <p:cNvPr id="14" name="Google Shape;329;p10"/>
            <p:cNvSpPr/>
            <p:nvPr/>
          </p:nvSpPr>
          <p:spPr>
            <a:xfrm>
              <a:off x="746270" y="508822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4. Inflation Risk: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5" name="Google Shape;330;p10"/>
            <p:cNvSpPr txBox="1"/>
            <p:nvPr/>
          </p:nvSpPr>
          <p:spPr>
            <a:xfrm>
              <a:off x="791990" y="5522807"/>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Fixed income securities with fixed interest payments may not keep pace with inflation, potentially eroding the purchasing power of future cash flows. This is especially relevant for bonds without inflation protection.</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16" name="Title 15"/>
          <p:cNvSpPr>
            <a:spLocks noGrp="1"/>
          </p:cNvSpPr>
          <p:nvPr>
            <p:ph type="title"/>
          </p:nvPr>
        </p:nvSpPr>
        <p:spPr/>
        <p:txBody>
          <a:bodyPr/>
          <a:lstStyle/>
          <a:p>
            <a:r>
              <a:rPr lang="en-US" dirty="0"/>
              <a:t>DISADVANTAGES OF FIXED INCOME</a:t>
            </a:r>
            <a:endParaRPr lang="en-US" dirty="0"/>
          </a:p>
        </p:txBody>
      </p:sp>
      <p:sp>
        <p:nvSpPr>
          <p:cNvPr id="2" name="Google Shape;321;p10"/>
          <p:cNvSpPr/>
          <p:nvPr/>
        </p:nvSpPr>
        <p:spPr>
          <a:xfrm>
            <a:off x="700550" y="1468437"/>
            <a:ext cx="10972800" cy="4709079"/>
          </a:xfrm>
          <a:prstGeom prst="roundRect">
            <a:avLst>
              <a:gd name="adj" fmla="val 2407"/>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Google Shape;322;p10"/>
          <p:cNvSpPr/>
          <p:nvPr/>
        </p:nvSpPr>
        <p:spPr>
          <a:xfrm>
            <a:off x="746270" y="1468437"/>
            <a:ext cx="10881360" cy="4709079"/>
          </a:xfrm>
          <a:prstGeom prst="roundRect">
            <a:avLst>
              <a:gd name="adj" fmla="val 240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panose="020B0604020202020204"/>
                <a:ea typeface="Arial" panose="020B0604020202020204"/>
                <a:cs typeface="Arial" panose="020B0604020202020204"/>
                <a:sym typeface="Arial" panose="020B0604020202020204"/>
              </a:rPr>
              <a:t>RSUs typically have a vesting period during which employees must remain with the company to receive the shares. This encourages employee retention.</a:t>
            </a:r>
            <a:endParaRPr lang="en-US" sz="18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4" name="Group 3"/>
          <p:cNvGrpSpPr/>
          <p:nvPr/>
        </p:nvGrpSpPr>
        <p:grpSpPr>
          <a:xfrm>
            <a:off x="746270" y="1630703"/>
            <a:ext cx="10835640" cy="927027"/>
            <a:chOff x="746270" y="1630703"/>
            <a:chExt cx="10835640" cy="927027"/>
          </a:xfrm>
        </p:grpSpPr>
        <p:sp>
          <p:nvSpPr>
            <p:cNvPr id="5" name="Google Shape;323;p10"/>
            <p:cNvSpPr/>
            <p:nvPr/>
          </p:nvSpPr>
          <p:spPr>
            <a:xfrm>
              <a:off x="746270" y="163070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5. Liquidity Risk: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6" name="Google Shape;326;p10"/>
            <p:cNvSpPr txBox="1"/>
            <p:nvPr/>
          </p:nvSpPr>
          <p:spPr>
            <a:xfrm>
              <a:off x="791990" y="2065287"/>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While many fixed income securities are liquid, others, particularly those with lower credit ratings, may have limited liquidity. This can result in wider bid-ask spreads and difficulty in selling at desired prices.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7" name="Group 6"/>
          <p:cNvGrpSpPr/>
          <p:nvPr/>
        </p:nvGrpSpPr>
        <p:grpSpPr>
          <a:xfrm>
            <a:off x="746270" y="2783210"/>
            <a:ext cx="10835640" cy="927027"/>
            <a:chOff x="746270" y="2701136"/>
            <a:chExt cx="10835640" cy="927027"/>
          </a:xfrm>
        </p:grpSpPr>
        <p:sp>
          <p:nvSpPr>
            <p:cNvPr id="8" name="Google Shape;324;p10"/>
            <p:cNvSpPr/>
            <p:nvPr/>
          </p:nvSpPr>
          <p:spPr>
            <a:xfrm>
              <a:off x="746270" y="2701136"/>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6. Callable Bonds: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9" name="Google Shape;327;p10"/>
            <p:cNvSpPr txBox="1"/>
            <p:nvPr/>
          </p:nvSpPr>
          <p:spPr>
            <a:xfrm>
              <a:off x="791990" y="3135720"/>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Bonds with call provisions give issuers the right to redeem the bonds before maturity. If a bond is called, investors may have to reinvest their funds at lower interest rates.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0" name="Group 9"/>
          <p:cNvGrpSpPr/>
          <p:nvPr/>
        </p:nvGrpSpPr>
        <p:grpSpPr>
          <a:xfrm>
            <a:off x="746270" y="3935717"/>
            <a:ext cx="10835640" cy="927027"/>
            <a:chOff x="746270" y="3771569"/>
            <a:chExt cx="10835640" cy="927027"/>
          </a:xfrm>
        </p:grpSpPr>
        <p:sp>
          <p:nvSpPr>
            <p:cNvPr id="11" name="Google Shape;325;p10"/>
            <p:cNvSpPr/>
            <p:nvPr/>
          </p:nvSpPr>
          <p:spPr>
            <a:xfrm>
              <a:off x="746270" y="3771569"/>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7. Market Risk: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2" name="Google Shape;328;p10"/>
            <p:cNvSpPr txBox="1"/>
            <p:nvPr/>
          </p:nvSpPr>
          <p:spPr>
            <a:xfrm>
              <a:off x="791990" y="4206153"/>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Fixed income markets can experience price volatility due to economic conditions, geopolitical events, or changes in investor sentiment. This can impact the market value of bonds.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3" name="Group 12"/>
          <p:cNvGrpSpPr/>
          <p:nvPr/>
        </p:nvGrpSpPr>
        <p:grpSpPr>
          <a:xfrm>
            <a:off x="746270" y="5088223"/>
            <a:ext cx="10835640" cy="927027"/>
            <a:chOff x="746270" y="5088223"/>
            <a:chExt cx="10835640" cy="927027"/>
          </a:xfrm>
        </p:grpSpPr>
        <p:sp>
          <p:nvSpPr>
            <p:cNvPr id="14" name="Google Shape;329;p10"/>
            <p:cNvSpPr/>
            <p:nvPr/>
          </p:nvSpPr>
          <p:spPr>
            <a:xfrm>
              <a:off x="746270" y="508822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8. Complexity: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5" name="Google Shape;330;p10"/>
            <p:cNvSpPr txBox="1"/>
            <p:nvPr/>
          </p:nvSpPr>
          <p:spPr>
            <a:xfrm>
              <a:off x="791990" y="5522807"/>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Some fixed income securities, such as structured products and complex derivatives, can be highly complex and difficult to understand. This complexity can lead to unexpected risks.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16" name="Title 15"/>
          <p:cNvSpPr>
            <a:spLocks noGrp="1"/>
          </p:cNvSpPr>
          <p:nvPr>
            <p:ph type="title"/>
          </p:nvPr>
        </p:nvSpPr>
        <p:spPr/>
        <p:txBody>
          <a:bodyPr/>
          <a:lstStyle/>
          <a:p>
            <a:r>
              <a:rPr lang="en-US" dirty="0"/>
              <a:t>DISADVANTAGES OF FIXED INCOME</a:t>
            </a:r>
            <a:endParaRPr lang="en-US" dirty="0"/>
          </a:p>
        </p:txBody>
      </p:sp>
      <p:sp>
        <p:nvSpPr>
          <p:cNvPr id="2" name="Google Shape;321;p10"/>
          <p:cNvSpPr/>
          <p:nvPr/>
        </p:nvSpPr>
        <p:spPr>
          <a:xfrm>
            <a:off x="700550" y="1468437"/>
            <a:ext cx="10972800" cy="3659148"/>
          </a:xfrm>
          <a:prstGeom prst="roundRect">
            <a:avLst>
              <a:gd name="adj" fmla="val 2407"/>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Google Shape;322;p10"/>
          <p:cNvSpPr/>
          <p:nvPr/>
        </p:nvSpPr>
        <p:spPr>
          <a:xfrm>
            <a:off x="746270" y="1468438"/>
            <a:ext cx="10881360" cy="3659148"/>
          </a:xfrm>
          <a:prstGeom prst="roundRect">
            <a:avLst>
              <a:gd name="adj" fmla="val 240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panose="020B0604020202020204"/>
                <a:ea typeface="Arial" panose="020B0604020202020204"/>
                <a:cs typeface="Arial" panose="020B0604020202020204"/>
                <a:sym typeface="Arial" panose="020B0604020202020204"/>
              </a:rPr>
              <a:t>RSUs typically have a vesting period during which employees must remain with the company to receive the shares. This encourages employee retention.</a:t>
            </a:r>
            <a:endParaRPr lang="en-US" sz="18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4" name="Group 3"/>
          <p:cNvGrpSpPr/>
          <p:nvPr/>
        </p:nvGrpSpPr>
        <p:grpSpPr>
          <a:xfrm>
            <a:off x="746270" y="1630703"/>
            <a:ext cx="10835640" cy="927027"/>
            <a:chOff x="746270" y="1630703"/>
            <a:chExt cx="10835640" cy="927027"/>
          </a:xfrm>
        </p:grpSpPr>
        <p:sp>
          <p:nvSpPr>
            <p:cNvPr id="5" name="Google Shape;323;p10"/>
            <p:cNvSpPr/>
            <p:nvPr/>
          </p:nvSpPr>
          <p:spPr>
            <a:xfrm>
              <a:off x="746270" y="163070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9. Taxation: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6" name="Google Shape;326;p10"/>
            <p:cNvSpPr txBox="1"/>
            <p:nvPr/>
          </p:nvSpPr>
          <p:spPr>
            <a:xfrm>
              <a:off x="791990" y="2065287"/>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Interest income from fixed income securities may be subject to income taxes at the federal, state, and local levels. The tax treatment can vary depending on the type of bond and the investor's tax situation.</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7" name="Group 6"/>
          <p:cNvGrpSpPr/>
          <p:nvPr/>
        </p:nvGrpSpPr>
        <p:grpSpPr>
          <a:xfrm>
            <a:off x="746270" y="2783210"/>
            <a:ext cx="10835640" cy="927027"/>
            <a:chOff x="746270" y="2701136"/>
            <a:chExt cx="10835640" cy="927027"/>
          </a:xfrm>
        </p:grpSpPr>
        <p:sp>
          <p:nvSpPr>
            <p:cNvPr id="8" name="Google Shape;324;p10"/>
            <p:cNvSpPr/>
            <p:nvPr/>
          </p:nvSpPr>
          <p:spPr>
            <a:xfrm>
              <a:off x="746270" y="2701136"/>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10. Limited Growth Potential: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9" name="Google Shape;327;p10"/>
            <p:cNvSpPr txBox="1"/>
            <p:nvPr/>
          </p:nvSpPr>
          <p:spPr>
            <a:xfrm>
              <a:off x="791990" y="3135720"/>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Unlike equities, fixed income securities do not provide direct ownership in a company and do not participate in the potential for capital appreciation to the same extent. The returns are primarily generated from interest payments.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0" name="Group 9"/>
          <p:cNvGrpSpPr/>
          <p:nvPr/>
        </p:nvGrpSpPr>
        <p:grpSpPr>
          <a:xfrm>
            <a:off x="746270" y="3935717"/>
            <a:ext cx="10835640" cy="927027"/>
            <a:chOff x="746270" y="3771569"/>
            <a:chExt cx="10835640" cy="927027"/>
          </a:xfrm>
        </p:grpSpPr>
        <p:sp>
          <p:nvSpPr>
            <p:cNvPr id="11" name="Google Shape;325;p10"/>
            <p:cNvSpPr/>
            <p:nvPr/>
          </p:nvSpPr>
          <p:spPr>
            <a:xfrm>
              <a:off x="746270" y="3771569"/>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11. Currency Risk: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2" name="Google Shape;328;p10"/>
            <p:cNvSpPr txBox="1"/>
            <p:nvPr/>
          </p:nvSpPr>
          <p:spPr>
            <a:xfrm>
              <a:off x="791990" y="4206153"/>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For investors holding foreign fixed income securities, fluctuations in exchange rates can impact returns when converting interest and principal payments back into their home currency.</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16" name="Title 15"/>
          <p:cNvSpPr>
            <a:spLocks noGrp="1"/>
          </p:cNvSpPr>
          <p:nvPr>
            <p:ph type="title"/>
          </p:nvPr>
        </p:nvSpPr>
        <p:spPr/>
        <p:txBody>
          <a:bodyPr/>
          <a:lstStyle/>
          <a:p>
            <a:r>
              <a:rPr lang="en-US" dirty="0"/>
              <a:t>DISADVANTAGES OF FIXED INCOME</a:t>
            </a:r>
            <a:endParaRPr lang="en-US" dirty="0"/>
          </a:p>
        </p:txBody>
      </p:sp>
      <p:sp>
        <p:nvSpPr>
          <p:cNvPr id="2" name="Google Shape;321;p10"/>
          <p:cNvSpPr/>
          <p:nvPr/>
        </p:nvSpPr>
        <p:spPr>
          <a:xfrm>
            <a:off x="700550" y="1468438"/>
            <a:ext cx="10972800" cy="2513253"/>
          </a:xfrm>
          <a:prstGeom prst="roundRect">
            <a:avLst>
              <a:gd name="adj" fmla="val 2407"/>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Google Shape;322;p10"/>
          <p:cNvSpPr/>
          <p:nvPr/>
        </p:nvSpPr>
        <p:spPr>
          <a:xfrm>
            <a:off x="746270" y="1468438"/>
            <a:ext cx="10881360" cy="2513253"/>
          </a:xfrm>
          <a:prstGeom prst="roundRect">
            <a:avLst>
              <a:gd name="adj" fmla="val 240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Arial" panose="020B0604020202020204"/>
                <a:ea typeface="Arial" panose="020B0604020202020204"/>
                <a:cs typeface="Arial" panose="020B0604020202020204"/>
                <a:sym typeface="Arial" panose="020B0604020202020204"/>
              </a:rPr>
              <a:t>RSUs typically have a vesting period during which employees must remain with the company to receive the shares. This encourages employee retention.</a:t>
            </a:r>
            <a:endParaRPr lang="en-US" sz="1800" dirty="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4" name="Group 3"/>
          <p:cNvGrpSpPr/>
          <p:nvPr/>
        </p:nvGrpSpPr>
        <p:grpSpPr>
          <a:xfrm>
            <a:off x="746270" y="1630703"/>
            <a:ext cx="10835640" cy="927027"/>
            <a:chOff x="746270" y="1630703"/>
            <a:chExt cx="10835640" cy="927027"/>
          </a:xfrm>
        </p:grpSpPr>
        <p:sp>
          <p:nvSpPr>
            <p:cNvPr id="5" name="Google Shape;323;p10"/>
            <p:cNvSpPr/>
            <p:nvPr/>
          </p:nvSpPr>
          <p:spPr>
            <a:xfrm>
              <a:off x="746270" y="1630703"/>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12. Default Risk: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6" name="Google Shape;326;p10"/>
            <p:cNvSpPr txBox="1"/>
            <p:nvPr/>
          </p:nvSpPr>
          <p:spPr>
            <a:xfrm>
              <a:off x="791990" y="2065287"/>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In extreme cases, an issuer may default on its obligations, leading to a loss of principal and unpaid interest for bondholders.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7" name="Group 6"/>
          <p:cNvGrpSpPr/>
          <p:nvPr/>
        </p:nvGrpSpPr>
        <p:grpSpPr>
          <a:xfrm>
            <a:off x="746270" y="2783210"/>
            <a:ext cx="10835640" cy="927027"/>
            <a:chOff x="746270" y="2701136"/>
            <a:chExt cx="10835640" cy="927027"/>
          </a:xfrm>
        </p:grpSpPr>
        <p:sp>
          <p:nvSpPr>
            <p:cNvPr id="8" name="Google Shape;324;p10"/>
            <p:cNvSpPr/>
            <p:nvPr/>
          </p:nvSpPr>
          <p:spPr>
            <a:xfrm>
              <a:off x="746270" y="2701136"/>
              <a:ext cx="546771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13. Low Yields in Low-Interest Environments: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9" name="Google Shape;327;p10"/>
            <p:cNvSpPr txBox="1"/>
            <p:nvPr/>
          </p:nvSpPr>
          <p:spPr>
            <a:xfrm>
              <a:off x="791990" y="3135720"/>
              <a:ext cx="1078992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In periods of historically low interest rates, fixed income securities may offer relatively low yields, potentially leading to reduced income for investors.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16"/>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8" name="Title 7"/>
          <p:cNvSpPr>
            <a:spLocks noGrp="1"/>
          </p:cNvSpPr>
          <p:nvPr>
            <p:ph type="title"/>
          </p:nvPr>
        </p:nvSpPr>
        <p:spPr/>
        <p:txBody>
          <a:bodyPr/>
          <a:lstStyle/>
          <a:p>
            <a:r>
              <a:rPr lang="en-US" dirty="0"/>
              <a:t>DID YOU KNOW?</a:t>
            </a:r>
            <a:endParaRPr lang="en-US" dirty="0"/>
          </a:p>
        </p:txBody>
      </p:sp>
      <p:grpSp>
        <p:nvGrpSpPr>
          <p:cNvPr id="7" name="Group 6"/>
          <p:cNvGrpSpPr/>
          <p:nvPr/>
        </p:nvGrpSpPr>
        <p:grpSpPr>
          <a:xfrm>
            <a:off x="1851877" y="2382838"/>
            <a:ext cx="2743200" cy="4475162"/>
            <a:chOff x="1851877" y="2382838"/>
            <a:chExt cx="2743200" cy="4475162"/>
          </a:xfrm>
        </p:grpSpPr>
        <p:sp>
          <p:nvSpPr>
            <p:cNvPr id="420" name="Google Shape;420;p16"/>
            <p:cNvSpPr/>
            <p:nvPr/>
          </p:nvSpPr>
          <p:spPr>
            <a:xfrm>
              <a:off x="3200617" y="4572000"/>
              <a:ext cx="45720" cy="2286000"/>
            </a:xfrm>
            <a:custGeom>
              <a:avLst/>
              <a:gdLst/>
              <a:ahLst/>
              <a:cxnLst/>
              <a:rect l="l" t="t" r="r" b="b"/>
              <a:pathLst>
                <a:path w="45719" h="1981200" extrusionOk="0">
                  <a:moveTo>
                    <a:pt x="45351" y="1980730"/>
                  </a:moveTo>
                  <a:lnTo>
                    <a:pt x="0" y="1980730"/>
                  </a:lnTo>
                  <a:lnTo>
                    <a:pt x="0" y="0"/>
                  </a:lnTo>
                  <a:lnTo>
                    <a:pt x="45351" y="0"/>
                  </a:lnTo>
                  <a:lnTo>
                    <a:pt x="45351" y="1980730"/>
                  </a:lnTo>
                  <a:close/>
                </a:path>
              </a:pathLst>
            </a:custGeom>
            <a:solidFill>
              <a:schemeClr val="accent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4" name="Group 3"/>
            <p:cNvGrpSpPr/>
            <p:nvPr/>
          </p:nvGrpSpPr>
          <p:grpSpPr>
            <a:xfrm>
              <a:off x="1851877" y="2382838"/>
              <a:ext cx="2743200" cy="2743200"/>
              <a:chOff x="1851877" y="2599175"/>
              <a:chExt cx="2743200" cy="2743200"/>
            </a:xfrm>
          </p:grpSpPr>
          <p:sp>
            <p:nvSpPr>
              <p:cNvPr id="422" name="Google Shape;422;p16"/>
              <p:cNvSpPr/>
              <p:nvPr/>
            </p:nvSpPr>
            <p:spPr>
              <a:xfrm>
                <a:off x="1851877" y="2599175"/>
                <a:ext cx="2743200" cy="2743200"/>
              </a:xfrm>
              <a:custGeom>
                <a:avLst/>
                <a:gdLst/>
                <a:ahLst/>
                <a:cxnLst/>
                <a:rect l="l" t="t" r="r" b="b"/>
                <a:pathLst>
                  <a:path w="3048635" h="2514600" extrusionOk="0">
                    <a:moveTo>
                      <a:pt x="1523873" y="0"/>
                    </a:moveTo>
                    <a:lnTo>
                      <a:pt x="1473782" y="677"/>
                    </a:lnTo>
                    <a:lnTo>
                      <a:pt x="1423841" y="2705"/>
                    </a:lnTo>
                    <a:lnTo>
                      <a:pt x="1374087" y="6075"/>
                    </a:lnTo>
                    <a:lnTo>
                      <a:pt x="1324559" y="10777"/>
                    </a:lnTo>
                    <a:lnTo>
                      <a:pt x="1275297" y="16805"/>
                    </a:lnTo>
                    <a:lnTo>
                      <a:pt x="1226340" y="24149"/>
                    </a:lnTo>
                    <a:lnTo>
                      <a:pt x="1177727" y="32800"/>
                    </a:lnTo>
                    <a:lnTo>
                      <a:pt x="1129496" y="42751"/>
                    </a:lnTo>
                    <a:lnTo>
                      <a:pt x="1081687" y="53993"/>
                    </a:lnTo>
                    <a:lnTo>
                      <a:pt x="1034339" y="66517"/>
                    </a:lnTo>
                    <a:lnTo>
                      <a:pt x="987491" y="80315"/>
                    </a:lnTo>
                    <a:lnTo>
                      <a:pt x="941182" y="95379"/>
                    </a:lnTo>
                    <a:lnTo>
                      <a:pt x="895450" y="111700"/>
                    </a:lnTo>
                    <a:lnTo>
                      <a:pt x="850336" y="129270"/>
                    </a:lnTo>
                    <a:lnTo>
                      <a:pt x="805877" y="148080"/>
                    </a:lnTo>
                    <a:lnTo>
                      <a:pt x="762114" y="168122"/>
                    </a:lnTo>
                    <a:lnTo>
                      <a:pt x="716280" y="190866"/>
                    </a:lnTo>
                    <a:lnTo>
                      <a:pt x="671535" y="214868"/>
                    </a:lnTo>
                    <a:lnTo>
                      <a:pt x="627912" y="240099"/>
                    </a:lnTo>
                    <a:lnTo>
                      <a:pt x="585446" y="266532"/>
                    </a:lnTo>
                    <a:lnTo>
                      <a:pt x="544168" y="294139"/>
                    </a:lnTo>
                    <a:lnTo>
                      <a:pt x="504113" y="322890"/>
                    </a:lnTo>
                    <a:lnTo>
                      <a:pt x="465313" y="352759"/>
                    </a:lnTo>
                    <a:lnTo>
                      <a:pt x="427803" y="383718"/>
                    </a:lnTo>
                    <a:lnTo>
                      <a:pt x="391614" y="415737"/>
                    </a:lnTo>
                    <a:lnTo>
                      <a:pt x="356782" y="448789"/>
                    </a:lnTo>
                    <a:lnTo>
                      <a:pt x="323337" y="482846"/>
                    </a:lnTo>
                    <a:lnTo>
                      <a:pt x="291315" y="517880"/>
                    </a:lnTo>
                    <a:lnTo>
                      <a:pt x="260748" y="553862"/>
                    </a:lnTo>
                    <a:lnTo>
                      <a:pt x="231670" y="590765"/>
                    </a:lnTo>
                    <a:lnTo>
                      <a:pt x="204114" y="628561"/>
                    </a:lnTo>
                    <a:lnTo>
                      <a:pt x="174413" y="673119"/>
                    </a:lnTo>
                    <a:lnTo>
                      <a:pt x="146970" y="718525"/>
                    </a:lnTo>
                    <a:lnTo>
                      <a:pt x="121806" y="764721"/>
                    </a:lnTo>
                    <a:lnTo>
                      <a:pt x="98940" y="811648"/>
                    </a:lnTo>
                    <a:lnTo>
                      <a:pt x="78394" y="859246"/>
                    </a:lnTo>
                    <a:lnTo>
                      <a:pt x="60188" y="907457"/>
                    </a:lnTo>
                    <a:lnTo>
                      <a:pt x="44343" y="956221"/>
                    </a:lnTo>
                    <a:lnTo>
                      <a:pt x="30880" y="1005479"/>
                    </a:lnTo>
                    <a:lnTo>
                      <a:pt x="19818" y="1055173"/>
                    </a:lnTo>
                    <a:lnTo>
                      <a:pt x="11178" y="1105243"/>
                    </a:lnTo>
                    <a:lnTo>
                      <a:pt x="4981" y="1155631"/>
                    </a:lnTo>
                    <a:lnTo>
                      <a:pt x="1248" y="1206277"/>
                    </a:lnTo>
                    <a:lnTo>
                      <a:pt x="0" y="1257122"/>
                    </a:lnTo>
                    <a:lnTo>
                      <a:pt x="1248" y="1307969"/>
                    </a:lnTo>
                    <a:lnTo>
                      <a:pt x="4981" y="1358617"/>
                    </a:lnTo>
                    <a:lnTo>
                      <a:pt x="11178" y="1409005"/>
                    </a:lnTo>
                    <a:lnTo>
                      <a:pt x="19818" y="1459076"/>
                    </a:lnTo>
                    <a:lnTo>
                      <a:pt x="30880" y="1508770"/>
                    </a:lnTo>
                    <a:lnTo>
                      <a:pt x="44343" y="1558028"/>
                    </a:lnTo>
                    <a:lnTo>
                      <a:pt x="60188" y="1606791"/>
                    </a:lnTo>
                    <a:lnTo>
                      <a:pt x="78394" y="1655001"/>
                    </a:lnTo>
                    <a:lnTo>
                      <a:pt x="98940" y="1702598"/>
                    </a:lnTo>
                    <a:lnTo>
                      <a:pt x="121806" y="1749524"/>
                    </a:lnTo>
                    <a:lnTo>
                      <a:pt x="146970" y="1795719"/>
                    </a:lnTo>
                    <a:lnTo>
                      <a:pt x="174413" y="1841125"/>
                    </a:lnTo>
                    <a:lnTo>
                      <a:pt x="204114" y="1885683"/>
                    </a:lnTo>
                    <a:lnTo>
                      <a:pt x="231670" y="1923478"/>
                    </a:lnTo>
                    <a:lnTo>
                      <a:pt x="260748" y="1960382"/>
                    </a:lnTo>
                    <a:lnTo>
                      <a:pt x="291315" y="1996365"/>
                    </a:lnTo>
                    <a:lnTo>
                      <a:pt x="323337" y="2031399"/>
                    </a:lnTo>
                    <a:lnTo>
                      <a:pt x="356782" y="2065457"/>
                    </a:lnTo>
                    <a:lnTo>
                      <a:pt x="391614" y="2098510"/>
                    </a:lnTo>
                    <a:lnTo>
                      <a:pt x="427803" y="2130530"/>
                    </a:lnTo>
                    <a:lnTo>
                      <a:pt x="465313" y="2161489"/>
                    </a:lnTo>
                    <a:lnTo>
                      <a:pt x="504113" y="2191358"/>
                    </a:lnTo>
                    <a:lnTo>
                      <a:pt x="544168" y="2220110"/>
                    </a:lnTo>
                    <a:lnTo>
                      <a:pt x="585446" y="2247717"/>
                    </a:lnTo>
                    <a:lnTo>
                      <a:pt x="627912" y="2274149"/>
                    </a:lnTo>
                    <a:lnTo>
                      <a:pt x="671535" y="2299380"/>
                    </a:lnTo>
                    <a:lnTo>
                      <a:pt x="716280" y="2323380"/>
                    </a:lnTo>
                    <a:lnTo>
                      <a:pt x="762114" y="2346121"/>
                    </a:lnTo>
                    <a:lnTo>
                      <a:pt x="805877" y="2366167"/>
                    </a:lnTo>
                    <a:lnTo>
                      <a:pt x="850337" y="2384989"/>
                    </a:lnTo>
                    <a:lnTo>
                      <a:pt x="895453" y="2402576"/>
                    </a:lnTo>
                    <a:lnTo>
                      <a:pt x="941187" y="2418920"/>
                    </a:lnTo>
                    <a:lnTo>
                      <a:pt x="987502" y="2434011"/>
                    </a:lnTo>
                    <a:lnTo>
                      <a:pt x="1034358" y="2447839"/>
                    </a:lnTo>
                    <a:lnTo>
                      <a:pt x="1081717" y="2460395"/>
                    </a:lnTo>
                    <a:lnTo>
                      <a:pt x="1129541" y="2471670"/>
                    </a:lnTo>
                    <a:lnTo>
                      <a:pt x="1177790" y="2481654"/>
                    </a:lnTo>
                    <a:lnTo>
                      <a:pt x="1226427" y="2490338"/>
                    </a:lnTo>
                    <a:lnTo>
                      <a:pt x="1275413" y="2497712"/>
                    </a:lnTo>
                    <a:lnTo>
                      <a:pt x="1324709" y="2503766"/>
                    </a:lnTo>
                    <a:lnTo>
                      <a:pt x="1374277" y="2508491"/>
                    </a:lnTo>
                    <a:lnTo>
                      <a:pt x="1424079" y="2511878"/>
                    </a:lnTo>
                    <a:lnTo>
                      <a:pt x="1474075" y="2513918"/>
                    </a:lnTo>
                    <a:lnTo>
                      <a:pt x="1524228" y="2514599"/>
                    </a:lnTo>
                    <a:lnTo>
                      <a:pt x="1574321" y="2513918"/>
                    </a:lnTo>
                    <a:lnTo>
                      <a:pt x="1624264" y="2511878"/>
                    </a:lnTo>
                    <a:lnTo>
                      <a:pt x="1674020" y="2508491"/>
                    </a:lnTo>
                    <a:lnTo>
                      <a:pt x="1723549" y="2503766"/>
                    </a:lnTo>
                    <a:lnTo>
                      <a:pt x="1772812" y="2497712"/>
                    </a:lnTo>
                    <a:lnTo>
                      <a:pt x="1821770" y="2490338"/>
                    </a:lnTo>
                    <a:lnTo>
                      <a:pt x="1870384" y="2481654"/>
                    </a:lnTo>
                    <a:lnTo>
                      <a:pt x="1918615" y="2471670"/>
                    </a:lnTo>
                    <a:lnTo>
                      <a:pt x="1966425" y="2460395"/>
                    </a:lnTo>
                    <a:lnTo>
                      <a:pt x="2013773" y="2447839"/>
                    </a:lnTo>
                    <a:lnTo>
                      <a:pt x="2060622" y="2434011"/>
                    </a:lnTo>
                    <a:lnTo>
                      <a:pt x="2106931" y="2418920"/>
                    </a:lnTo>
                    <a:lnTo>
                      <a:pt x="2152663" y="2402576"/>
                    </a:lnTo>
                    <a:lnTo>
                      <a:pt x="2197777" y="2384989"/>
                    </a:lnTo>
                    <a:lnTo>
                      <a:pt x="2242236" y="2366167"/>
                    </a:lnTo>
                    <a:lnTo>
                      <a:pt x="2286000" y="2346121"/>
                    </a:lnTo>
                    <a:lnTo>
                      <a:pt x="2331834" y="2323380"/>
                    </a:lnTo>
                    <a:lnTo>
                      <a:pt x="2376579" y="2299380"/>
                    </a:lnTo>
                    <a:lnTo>
                      <a:pt x="2420201" y="2274149"/>
                    </a:lnTo>
                    <a:lnTo>
                      <a:pt x="2462668" y="2247717"/>
                    </a:lnTo>
                    <a:lnTo>
                      <a:pt x="2503945" y="2220110"/>
                    </a:lnTo>
                    <a:lnTo>
                      <a:pt x="2544000" y="2191358"/>
                    </a:lnTo>
                    <a:lnTo>
                      <a:pt x="2582800" y="2161489"/>
                    </a:lnTo>
                    <a:lnTo>
                      <a:pt x="2620310" y="2130530"/>
                    </a:lnTo>
                    <a:lnTo>
                      <a:pt x="2656499" y="2098510"/>
                    </a:lnTo>
                    <a:lnTo>
                      <a:pt x="2691332" y="2065457"/>
                    </a:lnTo>
                    <a:lnTo>
                      <a:pt x="2724776" y="2031399"/>
                    </a:lnTo>
                    <a:lnTo>
                      <a:pt x="2756798" y="1996365"/>
                    </a:lnTo>
                    <a:lnTo>
                      <a:pt x="2787365" y="1960382"/>
                    </a:lnTo>
                    <a:lnTo>
                      <a:pt x="2816443" y="1923478"/>
                    </a:lnTo>
                    <a:lnTo>
                      <a:pt x="2843999" y="1885683"/>
                    </a:lnTo>
                    <a:lnTo>
                      <a:pt x="2873698" y="1841125"/>
                    </a:lnTo>
                    <a:lnTo>
                      <a:pt x="2901139" y="1795719"/>
                    </a:lnTo>
                    <a:lnTo>
                      <a:pt x="2926302" y="1749524"/>
                    </a:lnTo>
                    <a:lnTo>
                      <a:pt x="2949168" y="1702598"/>
                    </a:lnTo>
                    <a:lnTo>
                      <a:pt x="2969714" y="1655001"/>
                    </a:lnTo>
                    <a:lnTo>
                      <a:pt x="2987920" y="1606791"/>
                    </a:lnTo>
                    <a:lnTo>
                      <a:pt x="3003766" y="1558028"/>
                    </a:lnTo>
                    <a:lnTo>
                      <a:pt x="3017230" y="1508770"/>
                    </a:lnTo>
                    <a:lnTo>
                      <a:pt x="3028293" y="1459076"/>
                    </a:lnTo>
                    <a:lnTo>
                      <a:pt x="3036934" y="1409005"/>
                    </a:lnTo>
                    <a:lnTo>
                      <a:pt x="3043131" y="1358617"/>
                    </a:lnTo>
                    <a:lnTo>
                      <a:pt x="3046865" y="1307969"/>
                    </a:lnTo>
                    <a:lnTo>
                      <a:pt x="3048114" y="1257122"/>
                    </a:lnTo>
                    <a:lnTo>
                      <a:pt x="3046865" y="1206277"/>
                    </a:lnTo>
                    <a:lnTo>
                      <a:pt x="3043131" y="1155631"/>
                    </a:lnTo>
                    <a:lnTo>
                      <a:pt x="3036934" y="1105243"/>
                    </a:lnTo>
                    <a:lnTo>
                      <a:pt x="3028293" y="1055173"/>
                    </a:lnTo>
                    <a:lnTo>
                      <a:pt x="3017230" y="1005479"/>
                    </a:lnTo>
                    <a:lnTo>
                      <a:pt x="3003766" y="956221"/>
                    </a:lnTo>
                    <a:lnTo>
                      <a:pt x="2987920" y="907457"/>
                    </a:lnTo>
                    <a:lnTo>
                      <a:pt x="2969714" y="859246"/>
                    </a:lnTo>
                    <a:lnTo>
                      <a:pt x="2949168" y="811648"/>
                    </a:lnTo>
                    <a:lnTo>
                      <a:pt x="2926302" y="764721"/>
                    </a:lnTo>
                    <a:lnTo>
                      <a:pt x="2901139" y="718525"/>
                    </a:lnTo>
                    <a:lnTo>
                      <a:pt x="2873698" y="673119"/>
                    </a:lnTo>
                    <a:lnTo>
                      <a:pt x="2843999" y="628561"/>
                    </a:lnTo>
                    <a:lnTo>
                      <a:pt x="2816443" y="590765"/>
                    </a:lnTo>
                    <a:lnTo>
                      <a:pt x="2787365" y="553862"/>
                    </a:lnTo>
                    <a:lnTo>
                      <a:pt x="2756798" y="517880"/>
                    </a:lnTo>
                    <a:lnTo>
                      <a:pt x="2724776" y="482846"/>
                    </a:lnTo>
                    <a:lnTo>
                      <a:pt x="2691332" y="448789"/>
                    </a:lnTo>
                    <a:lnTo>
                      <a:pt x="2656499" y="415737"/>
                    </a:lnTo>
                    <a:lnTo>
                      <a:pt x="2620310" y="383718"/>
                    </a:lnTo>
                    <a:lnTo>
                      <a:pt x="2582800" y="352759"/>
                    </a:lnTo>
                    <a:lnTo>
                      <a:pt x="2544000" y="322890"/>
                    </a:lnTo>
                    <a:lnTo>
                      <a:pt x="2503945" y="294139"/>
                    </a:lnTo>
                    <a:lnTo>
                      <a:pt x="2462668" y="266532"/>
                    </a:lnTo>
                    <a:lnTo>
                      <a:pt x="2420201" y="240099"/>
                    </a:lnTo>
                    <a:lnTo>
                      <a:pt x="2376579" y="214868"/>
                    </a:lnTo>
                    <a:lnTo>
                      <a:pt x="2331834" y="190866"/>
                    </a:lnTo>
                    <a:lnTo>
                      <a:pt x="2286000" y="168122"/>
                    </a:lnTo>
                    <a:lnTo>
                      <a:pt x="2242236" y="148080"/>
                    </a:lnTo>
                    <a:lnTo>
                      <a:pt x="2197777" y="129270"/>
                    </a:lnTo>
                    <a:lnTo>
                      <a:pt x="2152660" y="111700"/>
                    </a:lnTo>
                    <a:lnTo>
                      <a:pt x="2106926" y="95379"/>
                    </a:lnTo>
                    <a:lnTo>
                      <a:pt x="2060611" y="80315"/>
                    </a:lnTo>
                    <a:lnTo>
                      <a:pt x="2013755" y="66517"/>
                    </a:lnTo>
                    <a:lnTo>
                      <a:pt x="1966395" y="53993"/>
                    </a:lnTo>
                    <a:lnTo>
                      <a:pt x="1918571" y="42751"/>
                    </a:lnTo>
                    <a:lnTo>
                      <a:pt x="1870321" y="32800"/>
                    </a:lnTo>
                    <a:lnTo>
                      <a:pt x="1821683" y="24149"/>
                    </a:lnTo>
                    <a:lnTo>
                      <a:pt x="1772696" y="16805"/>
                    </a:lnTo>
                    <a:lnTo>
                      <a:pt x="1723399" y="10777"/>
                    </a:lnTo>
                    <a:lnTo>
                      <a:pt x="1673829" y="6075"/>
                    </a:lnTo>
                    <a:lnTo>
                      <a:pt x="1624026" y="2705"/>
                    </a:lnTo>
                    <a:lnTo>
                      <a:pt x="1574028" y="677"/>
                    </a:lnTo>
                    <a:lnTo>
                      <a:pt x="1523873" y="0"/>
                    </a:lnTo>
                    <a:close/>
                  </a:path>
                </a:pathLst>
              </a:custGeom>
              <a:solidFill>
                <a:schemeClr val="accent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423" name="Google Shape;423;p16"/>
              <p:cNvSpPr txBox="1"/>
              <p:nvPr/>
            </p:nvSpPr>
            <p:spPr>
              <a:xfrm>
                <a:off x="2007138" y="3114900"/>
                <a:ext cx="2432678" cy="1711751"/>
              </a:xfrm>
              <a:prstGeom prst="rect">
                <a:avLst/>
              </a:prstGeom>
              <a:noFill/>
              <a:ln>
                <a:noFill/>
              </a:ln>
            </p:spPr>
            <p:txBody>
              <a:bodyPr spcFirstLastPara="1" wrap="square" lIns="0" tIns="12700" rIns="0" bIns="0" anchor="t" anchorCtr="0">
                <a:spAutoFit/>
              </a:bodyPr>
              <a:lstStyle/>
              <a:p>
                <a:pPr marL="12700" marR="5080" lvl="0" indent="0" algn="ctr" rtl="0">
                  <a:lnSpc>
                    <a:spcPct val="100000"/>
                  </a:lnSpc>
                  <a:spcBef>
                    <a:spcPts val="0"/>
                  </a:spcBef>
                  <a:spcAft>
                    <a:spcPts val="0"/>
                  </a:spcAft>
                  <a:buNone/>
                </a:pPr>
                <a:r>
                  <a:rPr lang="en-US" sz="2000" dirty="0">
                    <a:solidFill>
                      <a:srgbClr val="FFFFFF"/>
                    </a:solidFill>
                    <a:latin typeface="Arial" panose="020B0604020202020204"/>
                    <a:ea typeface="Arial" panose="020B0604020202020204"/>
                    <a:cs typeface="Arial" panose="020B0604020202020204"/>
                    <a:sym typeface="Arial" panose="020B0604020202020204"/>
                  </a:rPr>
                  <a:t>Global Traded  Stocks</a:t>
                </a:r>
                <a:endParaRPr sz="20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lnSpc>
                    <a:spcPct val="120000"/>
                  </a:lnSpc>
                  <a:spcBef>
                    <a:spcPts val="0"/>
                  </a:spcBef>
                  <a:spcAft>
                    <a:spcPts val="0"/>
                  </a:spcAft>
                  <a:buNone/>
                </a:pPr>
                <a:r>
                  <a:rPr lang="en-US" sz="3200" b="1" dirty="0">
                    <a:solidFill>
                      <a:srgbClr val="FFFFFF"/>
                    </a:solidFill>
                    <a:latin typeface="Arial" panose="020B0604020202020204"/>
                    <a:ea typeface="Arial" panose="020B0604020202020204"/>
                    <a:cs typeface="Arial" panose="020B0604020202020204"/>
                    <a:sym typeface="Arial" panose="020B0604020202020204"/>
                  </a:rPr>
                  <a:t>$70.1</a:t>
                </a:r>
                <a:endParaRPr sz="32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r>
                  <a:rPr lang="en-US" sz="3200" b="1" dirty="0">
                    <a:solidFill>
                      <a:srgbClr val="FFFFFF"/>
                    </a:solidFill>
                    <a:latin typeface="Arial" panose="020B0604020202020204"/>
                    <a:ea typeface="Arial" panose="020B0604020202020204"/>
                    <a:cs typeface="Arial" panose="020B0604020202020204"/>
                    <a:sym typeface="Arial" panose="020B0604020202020204"/>
                  </a:rPr>
                  <a:t>Trillion</a:t>
                </a:r>
                <a:endParaRPr sz="3200" dirty="0">
                  <a:solidFill>
                    <a:schemeClr val="dk1"/>
                  </a:solidFill>
                  <a:latin typeface="Arial" panose="020B0604020202020204"/>
                  <a:ea typeface="Arial" panose="020B0604020202020204"/>
                  <a:cs typeface="Arial" panose="020B0604020202020204"/>
                  <a:sym typeface="Arial" panose="020B0604020202020204"/>
                </a:endParaRPr>
              </a:p>
            </p:txBody>
          </p:sp>
        </p:grpSp>
      </p:grpSp>
      <p:grpSp>
        <p:nvGrpSpPr>
          <p:cNvPr id="3" name="Group 2"/>
          <p:cNvGrpSpPr/>
          <p:nvPr/>
        </p:nvGrpSpPr>
        <p:grpSpPr>
          <a:xfrm>
            <a:off x="5890706" y="1468438"/>
            <a:ext cx="3657600" cy="3657600"/>
            <a:chOff x="5890706" y="1388185"/>
            <a:chExt cx="3657600" cy="3657600"/>
          </a:xfrm>
        </p:grpSpPr>
        <p:sp>
          <p:nvSpPr>
            <p:cNvPr id="426" name="Google Shape;426;p16"/>
            <p:cNvSpPr/>
            <p:nvPr/>
          </p:nvSpPr>
          <p:spPr>
            <a:xfrm>
              <a:off x="5890706" y="1388185"/>
              <a:ext cx="3657600" cy="3657600"/>
            </a:xfrm>
            <a:custGeom>
              <a:avLst/>
              <a:gdLst/>
              <a:ahLst/>
              <a:cxnLst/>
              <a:rect l="l" t="t" r="r" b="b"/>
              <a:pathLst>
                <a:path w="3886200" h="3505835" extrusionOk="0">
                  <a:moveTo>
                    <a:pt x="1943290" y="0"/>
                  </a:moveTo>
                  <a:lnTo>
                    <a:pt x="1892147" y="606"/>
                  </a:lnTo>
                  <a:lnTo>
                    <a:pt x="1841122" y="2422"/>
                  </a:lnTo>
                  <a:lnTo>
                    <a:pt x="1790239" y="5440"/>
                  </a:lnTo>
                  <a:lnTo>
                    <a:pt x="1739524" y="9656"/>
                  </a:lnTo>
                  <a:lnTo>
                    <a:pt x="1689003" y="15063"/>
                  </a:lnTo>
                  <a:lnTo>
                    <a:pt x="1638701" y="21656"/>
                  </a:lnTo>
                  <a:lnTo>
                    <a:pt x="1588643" y="29427"/>
                  </a:lnTo>
                  <a:lnTo>
                    <a:pt x="1538854" y="38373"/>
                  </a:lnTo>
                  <a:lnTo>
                    <a:pt x="1489361" y="48485"/>
                  </a:lnTo>
                  <a:lnTo>
                    <a:pt x="1440187" y="59759"/>
                  </a:lnTo>
                  <a:lnTo>
                    <a:pt x="1391360" y="72189"/>
                  </a:lnTo>
                  <a:lnTo>
                    <a:pt x="1342903" y="85768"/>
                  </a:lnTo>
                  <a:lnTo>
                    <a:pt x="1294843" y="100491"/>
                  </a:lnTo>
                  <a:lnTo>
                    <a:pt x="1247205" y="116352"/>
                  </a:lnTo>
                  <a:lnTo>
                    <a:pt x="1200013" y="133345"/>
                  </a:lnTo>
                  <a:lnTo>
                    <a:pt x="1153294" y="151463"/>
                  </a:lnTo>
                  <a:lnTo>
                    <a:pt x="1107073" y="170701"/>
                  </a:lnTo>
                  <a:lnTo>
                    <a:pt x="1061376" y="191054"/>
                  </a:lnTo>
                  <a:lnTo>
                    <a:pt x="1016226" y="212514"/>
                  </a:lnTo>
                  <a:lnTo>
                    <a:pt x="971651" y="235077"/>
                  </a:lnTo>
                  <a:lnTo>
                    <a:pt x="925405" y="259907"/>
                  </a:lnTo>
                  <a:lnTo>
                    <a:pt x="880018" y="285843"/>
                  </a:lnTo>
                  <a:lnTo>
                    <a:pt x="835511" y="312864"/>
                  </a:lnTo>
                  <a:lnTo>
                    <a:pt x="791904" y="340950"/>
                  </a:lnTo>
                  <a:lnTo>
                    <a:pt x="749220" y="370082"/>
                  </a:lnTo>
                  <a:lnTo>
                    <a:pt x="707480" y="400240"/>
                  </a:lnTo>
                  <a:lnTo>
                    <a:pt x="666703" y="431403"/>
                  </a:lnTo>
                  <a:lnTo>
                    <a:pt x="626912" y="463552"/>
                  </a:lnTo>
                  <a:lnTo>
                    <a:pt x="588128" y="496667"/>
                  </a:lnTo>
                  <a:lnTo>
                    <a:pt x="550371" y="530729"/>
                  </a:lnTo>
                  <a:lnTo>
                    <a:pt x="513663" y="565717"/>
                  </a:lnTo>
                  <a:lnTo>
                    <a:pt x="478025" y="601612"/>
                  </a:lnTo>
                  <a:lnTo>
                    <a:pt x="443478" y="638393"/>
                  </a:lnTo>
                  <a:lnTo>
                    <a:pt x="410043" y="676041"/>
                  </a:lnTo>
                  <a:lnTo>
                    <a:pt x="377741" y="714537"/>
                  </a:lnTo>
                  <a:lnTo>
                    <a:pt x="346593" y="753859"/>
                  </a:lnTo>
                  <a:lnTo>
                    <a:pt x="316621" y="793989"/>
                  </a:lnTo>
                  <a:lnTo>
                    <a:pt x="287845" y="834906"/>
                  </a:lnTo>
                  <a:lnTo>
                    <a:pt x="260286" y="876592"/>
                  </a:lnTo>
                  <a:lnTo>
                    <a:pt x="232598" y="921318"/>
                  </a:lnTo>
                  <a:lnTo>
                    <a:pt x="206418" y="966673"/>
                  </a:lnTo>
                  <a:lnTo>
                    <a:pt x="181756" y="1012626"/>
                  </a:lnTo>
                  <a:lnTo>
                    <a:pt x="158621" y="1059147"/>
                  </a:lnTo>
                  <a:lnTo>
                    <a:pt x="137021" y="1106205"/>
                  </a:lnTo>
                  <a:lnTo>
                    <a:pt x="116966" y="1153769"/>
                  </a:lnTo>
                  <a:lnTo>
                    <a:pt x="98463" y="1201808"/>
                  </a:lnTo>
                  <a:lnTo>
                    <a:pt x="81523" y="1250292"/>
                  </a:lnTo>
                  <a:lnTo>
                    <a:pt x="66154" y="1299190"/>
                  </a:lnTo>
                  <a:lnTo>
                    <a:pt x="52365" y="1348472"/>
                  </a:lnTo>
                  <a:lnTo>
                    <a:pt x="40164" y="1398106"/>
                  </a:lnTo>
                  <a:lnTo>
                    <a:pt x="29562" y="1448062"/>
                  </a:lnTo>
                  <a:lnTo>
                    <a:pt x="20566" y="1498310"/>
                  </a:lnTo>
                  <a:lnTo>
                    <a:pt x="13186" y="1548818"/>
                  </a:lnTo>
                  <a:lnTo>
                    <a:pt x="7430" y="1599556"/>
                  </a:lnTo>
                  <a:lnTo>
                    <a:pt x="3308" y="1650492"/>
                  </a:lnTo>
                  <a:lnTo>
                    <a:pt x="828" y="1701598"/>
                  </a:lnTo>
                  <a:lnTo>
                    <a:pt x="0" y="1752841"/>
                  </a:lnTo>
                  <a:lnTo>
                    <a:pt x="828" y="1804082"/>
                  </a:lnTo>
                  <a:lnTo>
                    <a:pt x="3308" y="1855185"/>
                  </a:lnTo>
                  <a:lnTo>
                    <a:pt x="7430" y="1906121"/>
                  </a:lnTo>
                  <a:lnTo>
                    <a:pt x="13186" y="1956857"/>
                  </a:lnTo>
                  <a:lnTo>
                    <a:pt x="20566" y="2007364"/>
                  </a:lnTo>
                  <a:lnTo>
                    <a:pt x="29562" y="2057610"/>
                  </a:lnTo>
                  <a:lnTo>
                    <a:pt x="40164" y="2107566"/>
                  </a:lnTo>
                  <a:lnTo>
                    <a:pt x="52365" y="2157199"/>
                  </a:lnTo>
                  <a:lnTo>
                    <a:pt x="66154" y="2206480"/>
                  </a:lnTo>
                  <a:lnTo>
                    <a:pt x="81523" y="2255378"/>
                  </a:lnTo>
                  <a:lnTo>
                    <a:pt x="98463" y="2303862"/>
                  </a:lnTo>
                  <a:lnTo>
                    <a:pt x="116966" y="2351901"/>
                  </a:lnTo>
                  <a:lnTo>
                    <a:pt x="137021" y="2399464"/>
                  </a:lnTo>
                  <a:lnTo>
                    <a:pt x="158621" y="2446522"/>
                  </a:lnTo>
                  <a:lnTo>
                    <a:pt x="181756" y="2493043"/>
                  </a:lnTo>
                  <a:lnTo>
                    <a:pt x="206418" y="2538996"/>
                  </a:lnTo>
                  <a:lnTo>
                    <a:pt x="232598" y="2584351"/>
                  </a:lnTo>
                  <a:lnTo>
                    <a:pt x="260286" y="2629077"/>
                  </a:lnTo>
                  <a:lnTo>
                    <a:pt x="287845" y="2670762"/>
                  </a:lnTo>
                  <a:lnTo>
                    <a:pt x="316621" y="2711680"/>
                  </a:lnTo>
                  <a:lnTo>
                    <a:pt x="346593" y="2751810"/>
                  </a:lnTo>
                  <a:lnTo>
                    <a:pt x="377741" y="2791132"/>
                  </a:lnTo>
                  <a:lnTo>
                    <a:pt x="410043" y="2829628"/>
                  </a:lnTo>
                  <a:lnTo>
                    <a:pt x="443478" y="2867276"/>
                  </a:lnTo>
                  <a:lnTo>
                    <a:pt x="478025" y="2904057"/>
                  </a:lnTo>
                  <a:lnTo>
                    <a:pt x="513663" y="2939952"/>
                  </a:lnTo>
                  <a:lnTo>
                    <a:pt x="550371" y="2974940"/>
                  </a:lnTo>
                  <a:lnTo>
                    <a:pt x="588128" y="3009001"/>
                  </a:lnTo>
                  <a:lnTo>
                    <a:pt x="626912" y="3042117"/>
                  </a:lnTo>
                  <a:lnTo>
                    <a:pt x="666703" y="3074266"/>
                  </a:lnTo>
                  <a:lnTo>
                    <a:pt x="707480" y="3105429"/>
                  </a:lnTo>
                  <a:lnTo>
                    <a:pt x="749220" y="3135587"/>
                  </a:lnTo>
                  <a:lnTo>
                    <a:pt x="791904" y="3164718"/>
                  </a:lnTo>
                  <a:lnTo>
                    <a:pt x="835511" y="3192805"/>
                  </a:lnTo>
                  <a:lnTo>
                    <a:pt x="880018" y="3219826"/>
                  </a:lnTo>
                  <a:lnTo>
                    <a:pt x="925405" y="3245762"/>
                  </a:lnTo>
                  <a:lnTo>
                    <a:pt x="971651" y="3270592"/>
                  </a:lnTo>
                  <a:lnTo>
                    <a:pt x="1016226" y="3293155"/>
                  </a:lnTo>
                  <a:lnTo>
                    <a:pt x="1061376" y="3314615"/>
                  </a:lnTo>
                  <a:lnTo>
                    <a:pt x="1107073" y="3334967"/>
                  </a:lnTo>
                  <a:lnTo>
                    <a:pt x="1153294" y="3354206"/>
                  </a:lnTo>
                  <a:lnTo>
                    <a:pt x="1200013" y="3372324"/>
                  </a:lnTo>
                  <a:lnTo>
                    <a:pt x="1247205" y="3389317"/>
                  </a:lnTo>
                  <a:lnTo>
                    <a:pt x="1294843" y="3405177"/>
                  </a:lnTo>
                  <a:lnTo>
                    <a:pt x="1342903" y="3419901"/>
                  </a:lnTo>
                  <a:lnTo>
                    <a:pt x="1391360" y="3433480"/>
                  </a:lnTo>
                  <a:lnTo>
                    <a:pt x="1440187" y="3445910"/>
                  </a:lnTo>
                  <a:lnTo>
                    <a:pt x="1489361" y="3457184"/>
                  </a:lnTo>
                  <a:lnTo>
                    <a:pt x="1538854" y="3467296"/>
                  </a:lnTo>
                  <a:lnTo>
                    <a:pt x="1588643" y="3476241"/>
                  </a:lnTo>
                  <a:lnTo>
                    <a:pt x="1638701" y="3484013"/>
                  </a:lnTo>
                  <a:lnTo>
                    <a:pt x="1689003" y="3490606"/>
                  </a:lnTo>
                  <a:lnTo>
                    <a:pt x="1739524" y="3496013"/>
                  </a:lnTo>
                  <a:lnTo>
                    <a:pt x="1790239" y="3500229"/>
                  </a:lnTo>
                  <a:lnTo>
                    <a:pt x="1841122" y="3503247"/>
                  </a:lnTo>
                  <a:lnTo>
                    <a:pt x="1892147" y="3505063"/>
                  </a:lnTo>
                  <a:lnTo>
                    <a:pt x="1943290" y="3505669"/>
                  </a:lnTo>
                  <a:lnTo>
                    <a:pt x="1994380" y="3505063"/>
                  </a:lnTo>
                  <a:lnTo>
                    <a:pt x="2045358" y="3503247"/>
                  </a:lnTo>
                  <a:lnTo>
                    <a:pt x="2096199" y="3500229"/>
                  </a:lnTo>
                  <a:lnTo>
                    <a:pt x="2146876" y="3496013"/>
                  </a:lnTo>
                  <a:lnTo>
                    <a:pt x="2197364" y="3490606"/>
                  </a:lnTo>
                  <a:lnTo>
                    <a:pt x="2247637" y="3484013"/>
                  </a:lnTo>
                  <a:lnTo>
                    <a:pt x="2297670" y="3476241"/>
                  </a:lnTo>
                  <a:lnTo>
                    <a:pt x="2347437" y="3467296"/>
                  </a:lnTo>
                  <a:lnTo>
                    <a:pt x="2396912" y="3457184"/>
                  </a:lnTo>
                  <a:lnTo>
                    <a:pt x="2446070" y="3445910"/>
                  </a:lnTo>
                  <a:lnTo>
                    <a:pt x="2494885" y="3433480"/>
                  </a:lnTo>
                  <a:lnTo>
                    <a:pt x="2543332" y="3419901"/>
                  </a:lnTo>
                  <a:lnTo>
                    <a:pt x="2591385" y="3405177"/>
                  </a:lnTo>
                  <a:lnTo>
                    <a:pt x="2639017" y="3389317"/>
                  </a:lnTo>
                  <a:lnTo>
                    <a:pt x="2686204" y="3372324"/>
                  </a:lnTo>
                  <a:lnTo>
                    <a:pt x="2732920" y="3354206"/>
                  </a:lnTo>
                  <a:lnTo>
                    <a:pt x="2779140" y="3334967"/>
                  </a:lnTo>
                  <a:lnTo>
                    <a:pt x="2824837" y="3314615"/>
                  </a:lnTo>
                  <a:lnTo>
                    <a:pt x="2869985" y="3293155"/>
                  </a:lnTo>
                  <a:lnTo>
                    <a:pt x="2914561" y="3270592"/>
                  </a:lnTo>
                  <a:lnTo>
                    <a:pt x="2960807" y="3245762"/>
                  </a:lnTo>
                  <a:lnTo>
                    <a:pt x="3006194" y="3219826"/>
                  </a:lnTo>
                  <a:lnTo>
                    <a:pt x="3050701" y="3192805"/>
                  </a:lnTo>
                  <a:lnTo>
                    <a:pt x="3094307" y="3164718"/>
                  </a:lnTo>
                  <a:lnTo>
                    <a:pt x="3136991" y="3135587"/>
                  </a:lnTo>
                  <a:lnTo>
                    <a:pt x="3178732" y="3105429"/>
                  </a:lnTo>
                  <a:lnTo>
                    <a:pt x="3219508" y="3074266"/>
                  </a:lnTo>
                  <a:lnTo>
                    <a:pt x="3259299" y="3042117"/>
                  </a:lnTo>
                  <a:lnTo>
                    <a:pt x="3298084" y="3009001"/>
                  </a:lnTo>
                  <a:lnTo>
                    <a:pt x="3335840" y="2974940"/>
                  </a:lnTo>
                  <a:lnTo>
                    <a:pt x="3372548" y="2939952"/>
                  </a:lnTo>
                  <a:lnTo>
                    <a:pt x="3408187" y="2904057"/>
                  </a:lnTo>
                  <a:lnTo>
                    <a:pt x="3442734" y="2867276"/>
                  </a:lnTo>
                  <a:lnTo>
                    <a:pt x="3476169" y="2829628"/>
                  </a:lnTo>
                  <a:lnTo>
                    <a:pt x="3508471" y="2791132"/>
                  </a:lnTo>
                  <a:lnTo>
                    <a:pt x="3539619" y="2751810"/>
                  </a:lnTo>
                  <a:lnTo>
                    <a:pt x="3569591" y="2711680"/>
                  </a:lnTo>
                  <a:lnTo>
                    <a:pt x="3598367" y="2670762"/>
                  </a:lnTo>
                  <a:lnTo>
                    <a:pt x="3625926" y="2629077"/>
                  </a:lnTo>
                  <a:lnTo>
                    <a:pt x="3653614" y="2584351"/>
                  </a:lnTo>
                  <a:lnTo>
                    <a:pt x="3679793" y="2538996"/>
                  </a:lnTo>
                  <a:lnTo>
                    <a:pt x="3704454" y="2493043"/>
                  </a:lnTo>
                  <a:lnTo>
                    <a:pt x="3727589" y="2446522"/>
                  </a:lnTo>
                  <a:lnTo>
                    <a:pt x="3749188" y="2399464"/>
                  </a:lnTo>
                  <a:lnTo>
                    <a:pt x="3769243" y="2351901"/>
                  </a:lnTo>
                  <a:lnTo>
                    <a:pt x="3787744" y="2303862"/>
                  </a:lnTo>
                  <a:lnTo>
                    <a:pt x="3804683" y="2255378"/>
                  </a:lnTo>
                  <a:lnTo>
                    <a:pt x="3820052" y="2206480"/>
                  </a:lnTo>
                  <a:lnTo>
                    <a:pt x="3833840" y="2157199"/>
                  </a:lnTo>
                  <a:lnTo>
                    <a:pt x="3846039" y="2107566"/>
                  </a:lnTo>
                  <a:lnTo>
                    <a:pt x="3856640" y="2057610"/>
                  </a:lnTo>
                  <a:lnTo>
                    <a:pt x="3865635" y="2007364"/>
                  </a:lnTo>
                  <a:lnTo>
                    <a:pt x="3873015" y="1956857"/>
                  </a:lnTo>
                  <a:lnTo>
                    <a:pt x="3878770" y="1906121"/>
                  </a:lnTo>
                  <a:lnTo>
                    <a:pt x="3882891" y="1855185"/>
                  </a:lnTo>
                  <a:lnTo>
                    <a:pt x="3885371" y="1804082"/>
                  </a:lnTo>
                  <a:lnTo>
                    <a:pt x="3886200" y="1752841"/>
                  </a:lnTo>
                  <a:lnTo>
                    <a:pt x="3885371" y="1701598"/>
                  </a:lnTo>
                  <a:lnTo>
                    <a:pt x="3882891" y="1650492"/>
                  </a:lnTo>
                  <a:lnTo>
                    <a:pt x="3878770" y="1599556"/>
                  </a:lnTo>
                  <a:lnTo>
                    <a:pt x="3873015" y="1548818"/>
                  </a:lnTo>
                  <a:lnTo>
                    <a:pt x="3865635" y="1498310"/>
                  </a:lnTo>
                  <a:lnTo>
                    <a:pt x="3856640" y="1448062"/>
                  </a:lnTo>
                  <a:lnTo>
                    <a:pt x="3846039" y="1398106"/>
                  </a:lnTo>
                  <a:lnTo>
                    <a:pt x="3833840" y="1348472"/>
                  </a:lnTo>
                  <a:lnTo>
                    <a:pt x="3820052" y="1299190"/>
                  </a:lnTo>
                  <a:lnTo>
                    <a:pt x="3804683" y="1250292"/>
                  </a:lnTo>
                  <a:lnTo>
                    <a:pt x="3787744" y="1201808"/>
                  </a:lnTo>
                  <a:lnTo>
                    <a:pt x="3769243" y="1153769"/>
                  </a:lnTo>
                  <a:lnTo>
                    <a:pt x="3749188" y="1106205"/>
                  </a:lnTo>
                  <a:lnTo>
                    <a:pt x="3727589" y="1059147"/>
                  </a:lnTo>
                  <a:lnTo>
                    <a:pt x="3704454" y="1012626"/>
                  </a:lnTo>
                  <a:lnTo>
                    <a:pt x="3679793" y="966673"/>
                  </a:lnTo>
                  <a:lnTo>
                    <a:pt x="3653614" y="921318"/>
                  </a:lnTo>
                  <a:lnTo>
                    <a:pt x="3625926" y="876592"/>
                  </a:lnTo>
                  <a:lnTo>
                    <a:pt x="3598367" y="834906"/>
                  </a:lnTo>
                  <a:lnTo>
                    <a:pt x="3569591" y="793989"/>
                  </a:lnTo>
                  <a:lnTo>
                    <a:pt x="3539619" y="753859"/>
                  </a:lnTo>
                  <a:lnTo>
                    <a:pt x="3508471" y="714537"/>
                  </a:lnTo>
                  <a:lnTo>
                    <a:pt x="3476169" y="676041"/>
                  </a:lnTo>
                  <a:lnTo>
                    <a:pt x="3442734" y="638393"/>
                  </a:lnTo>
                  <a:lnTo>
                    <a:pt x="3408187" y="601612"/>
                  </a:lnTo>
                  <a:lnTo>
                    <a:pt x="3372548" y="565717"/>
                  </a:lnTo>
                  <a:lnTo>
                    <a:pt x="3335840" y="530729"/>
                  </a:lnTo>
                  <a:lnTo>
                    <a:pt x="3298084" y="496667"/>
                  </a:lnTo>
                  <a:lnTo>
                    <a:pt x="3259299" y="463552"/>
                  </a:lnTo>
                  <a:lnTo>
                    <a:pt x="3219508" y="431403"/>
                  </a:lnTo>
                  <a:lnTo>
                    <a:pt x="3178732" y="400240"/>
                  </a:lnTo>
                  <a:lnTo>
                    <a:pt x="3136991" y="370082"/>
                  </a:lnTo>
                  <a:lnTo>
                    <a:pt x="3094307" y="340950"/>
                  </a:lnTo>
                  <a:lnTo>
                    <a:pt x="3050701" y="312864"/>
                  </a:lnTo>
                  <a:lnTo>
                    <a:pt x="3006194" y="285843"/>
                  </a:lnTo>
                  <a:lnTo>
                    <a:pt x="2960807" y="259907"/>
                  </a:lnTo>
                  <a:lnTo>
                    <a:pt x="2914561" y="235077"/>
                  </a:lnTo>
                  <a:lnTo>
                    <a:pt x="2869985" y="212514"/>
                  </a:lnTo>
                  <a:lnTo>
                    <a:pt x="2824837" y="191054"/>
                  </a:lnTo>
                  <a:lnTo>
                    <a:pt x="2779140" y="170701"/>
                  </a:lnTo>
                  <a:lnTo>
                    <a:pt x="2732920" y="151463"/>
                  </a:lnTo>
                  <a:lnTo>
                    <a:pt x="2686204" y="133345"/>
                  </a:lnTo>
                  <a:lnTo>
                    <a:pt x="2639017" y="116352"/>
                  </a:lnTo>
                  <a:lnTo>
                    <a:pt x="2591385" y="100491"/>
                  </a:lnTo>
                  <a:lnTo>
                    <a:pt x="2543332" y="85768"/>
                  </a:lnTo>
                  <a:lnTo>
                    <a:pt x="2494885" y="72189"/>
                  </a:lnTo>
                  <a:lnTo>
                    <a:pt x="2446070" y="59759"/>
                  </a:lnTo>
                  <a:lnTo>
                    <a:pt x="2396912" y="48485"/>
                  </a:lnTo>
                  <a:lnTo>
                    <a:pt x="2347437" y="38373"/>
                  </a:lnTo>
                  <a:lnTo>
                    <a:pt x="2297670" y="29427"/>
                  </a:lnTo>
                  <a:lnTo>
                    <a:pt x="2247637" y="21656"/>
                  </a:lnTo>
                  <a:lnTo>
                    <a:pt x="2197364" y="15063"/>
                  </a:lnTo>
                  <a:lnTo>
                    <a:pt x="2146876" y="9656"/>
                  </a:lnTo>
                  <a:lnTo>
                    <a:pt x="2096199" y="5440"/>
                  </a:lnTo>
                  <a:lnTo>
                    <a:pt x="2045358" y="2422"/>
                  </a:lnTo>
                  <a:lnTo>
                    <a:pt x="1994380" y="606"/>
                  </a:lnTo>
                  <a:lnTo>
                    <a:pt x="1943290" y="0"/>
                  </a:lnTo>
                  <a:close/>
                </a:path>
              </a:pathLst>
            </a:custGeom>
            <a:solidFill>
              <a:schemeClr val="accent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2" name="Group 1"/>
            <p:cNvGrpSpPr/>
            <p:nvPr/>
          </p:nvGrpSpPr>
          <p:grpSpPr>
            <a:xfrm>
              <a:off x="6816537" y="2410230"/>
              <a:ext cx="1805939" cy="1613510"/>
              <a:chOff x="6816537" y="2182241"/>
              <a:chExt cx="1805939" cy="1613510"/>
            </a:xfrm>
          </p:grpSpPr>
          <p:sp>
            <p:nvSpPr>
              <p:cNvPr id="427" name="Google Shape;427;p16"/>
              <p:cNvSpPr txBox="1"/>
              <p:nvPr/>
            </p:nvSpPr>
            <p:spPr>
              <a:xfrm>
                <a:off x="6816537" y="2182241"/>
                <a:ext cx="1805939" cy="320601"/>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None/>
                </a:pPr>
                <a:r>
                  <a:rPr lang="en-US" sz="2000" dirty="0">
                    <a:solidFill>
                      <a:srgbClr val="FFFFFF"/>
                    </a:solidFill>
                    <a:latin typeface="Arial" panose="020B0604020202020204"/>
                    <a:ea typeface="Arial" panose="020B0604020202020204"/>
                    <a:cs typeface="Arial" panose="020B0604020202020204"/>
                    <a:sym typeface="Arial" panose="020B0604020202020204"/>
                  </a:rPr>
                  <a:t>Global Bonds</a:t>
                </a:r>
                <a:endParaRPr sz="20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28" name="Google Shape;428;p16"/>
              <p:cNvSpPr txBox="1"/>
              <p:nvPr/>
            </p:nvSpPr>
            <p:spPr>
              <a:xfrm>
                <a:off x="6823204" y="2798042"/>
                <a:ext cx="1792605" cy="997709"/>
              </a:xfrm>
              <a:prstGeom prst="rect">
                <a:avLst/>
              </a:prstGeom>
              <a:noFill/>
              <a:ln>
                <a:noFill/>
              </a:ln>
            </p:spPr>
            <p:txBody>
              <a:bodyPr spcFirstLastPara="1" wrap="square" lIns="0" tIns="12700" rIns="0" bIns="0" anchor="t" anchorCtr="0">
                <a:spAutoFit/>
              </a:bodyPr>
              <a:lstStyle/>
              <a:p>
                <a:pPr marL="1905" marR="0" lvl="0" indent="0" algn="ctr" rtl="0">
                  <a:lnSpc>
                    <a:spcPct val="100000"/>
                  </a:lnSpc>
                  <a:spcBef>
                    <a:spcPts val="0"/>
                  </a:spcBef>
                  <a:spcAft>
                    <a:spcPts val="0"/>
                  </a:spcAft>
                  <a:buNone/>
                </a:pPr>
                <a:r>
                  <a:rPr lang="en-US" sz="3200" b="1">
                    <a:solidFill>
                      <a:srgbClr val="FFFFFF"/>
                    </a:solidFill>
                    <a:latin typeface="Arial" panose="020B0604020202020204"/>
                    <a:ea typeface="Arial" panose="020B0604020202020204"/>
                    <a:cs typeface="Arial" panose="020B0604020202020204"/>
                    <a:sym typeface="Arial" panose="020B0604020202020204"/>
                  </a:rPr>
                  <a:t>$92.2</a:t>
                </a:r>
                <a:endParaRPr sz="3200">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r>
                  <a:rPr lang="en-US" sz="3200" b="1">
                    <a:solidFill>
                      <a:srgbClr val="FFFFFF"/>
                    </a:solidFill>
                    <a:latin typeface="Arial" panose="020B0604020202020204"/>
                    <a:ea typeface="Arial" panose="020B0604020202020204"/>
                    <a:cs typeface="Arial" panose="020B0604020202020204"/>
                    <a:sym typeface="Arial" panose="020B0604020202020204"/>
                  </a:rPr>
                  <a:t>Trillion</a:t>
                </a:r>
                <a:endParaRPr sz="3200">
                  <a:solidFill>
                    <a:schemeClr val="dk1"/>
                  </a:solidFill>
                  <a:latin typeface="Arial" panose="020B0604020202020204"/>
                  <a:ea typeface="Arial" panose="020B0604020202020204"/>
                  <a:cs typeface="Arial" panose="020B0604020202020204"/>
                  <a:sym typeface="Arial" panose="020B0604020202020204"/>
                </a:endParaRPr>
              </a:p>
            </p:txBody>
          </p:sp>
        </p:grpSp>
      </p:grpSp>
      <p:sp>
        <p:nvSpPr>
          <p:cNvPr id="431" name="Google Shape;431;p16"/>
          <p:cNvSpPr/>
          <p:nvPr/>
        </p:nvSpPr>
        <p:spPr>
          <a:xfrm>
            <a:off x="7696646" y="4876800"/>
            <a:ext cx="45720" cy="1981200"/>
          </a:xfrm>
          <a:custGeom>
            <a:avLst/>
            <a:gdLst/>
            <a:ahLst/>
            <a:cxnLst/>
            <a:rect l="l" t="t" r="r" b="b"/>
            <a:pathLst>
              <a:path w="45720" h="1981200" extrusionOk="0">
                <a:moveTo>
                  <a:pt x="45364" y="1980730"/>
                </a:moveTo>
                <a:lnTo>
                  <a:pt x="0" y="1980730"/>
                </a:lnTo>
                <a:lnTo>
                  <a:pt x="0" y="0"/>
                </a:lnTo>
                <a:lnTo>
                  <a:pt x="45364" y="0"/>
                </a:lnTo>
                <a:lnTo>
                  <a:pt x="45364" y="1980730"/>
                </a:lnTo>
                <a:close/>
              </a:path>
            </a:pathLst>
          </a:custGeom>
          <a:solidFill>
            <a:schemeClr val="accent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432" name="Google Shape;432;p16"/>
          <p:cNvSpPr txBox="1"/>
          <p:nvPr/>
        </p:nvSpPr>
        <p:spPr>
          <a:xfrm>
            <a:off x="4903801" y="3000489"/>
            <a:ext cx="678180" cy="13665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8800" dirty="0">
                <a:solidFill>
                  <a:srgbClr val="A5A5A5"/>
                </a:solidFill>
                <a:latin typeface="Arial" panose="020B0604020202020204"/>
                <a:ea typeface="Arial" panose="020B0604020202020204"/>
                <a:cs typeface="Arial" panose="020B0604020202020204"/>
                <a:sym typeface="Arial" panose="020B0604020202020204"/>
              </a:rPr>
              <a:t>&lt;</a:t>
            </a:r>
            <a:endParaRPr sz="88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33" name="Google Shape;433;p16"/>
          <p:cNvSpPr txBox="1"/>
          <p:nvPr/>
        </p:nvSpPr>
        <p:spPr>
          <a:xfrm>
            <a:off x="7912368" y="5236362"/>
            <a:ext cx="3192512" cy="751488"/>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None/>
            </a:pPr>
            <a:r>
              <a:rPr lang="en-US" sz="2400" b="1" dirty="0">
                <a:solidFill>
                  <a:srgbClr val="585858"/>
                </a:solidFill>
                <a:latin typeface="Arial" panose="020B0604020202020204"/>
                <a:ea typeface="Arial" panose="020B0604020202020204"/>
                <a:cs typeface="Arial" panose="020B0604020202020204"/>
                <a:sym typeface="Arial" panose="020B0604020202020204"/>
              </a:rPr>
              <a:t>US Bond Market:</a:t>
            </a:r>
            <a:endParaRPr sz="24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r>
              <a:rPr lang="en-US" sz="2400" b="1" dirty="0">
                <a:solidFill>
                  <a:srgbClr val="585858"/>
                </a:solidFill>
                <a:latin typeface="Arial" panose="020B0604020202020204"/>
                <a:ea typeface="Arial" panose="020B0604020202020204"/>
                <a:cs typeface="Arial" panose="020B0604020202020204"/>
                <a:sym typeface="Arial" panose="020B0604020202020204"/>
              </a:rPr>
              <a:t>$50 trillion</a:t>
            </a:r>
            <a:endParaRPr sz="24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34" name="Google Shape;434;p16"/>
          <p:cNvSpPr txBox="1"/>
          <p:nvPr/>
        </p:nvSpPr>
        <p:spPr>
          <a:xfrm>
            <a:off x="3542412" y="5236362"/>
            <a:ext cx="2939668" cy="751488"/>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None/>
            </a:pPr>
            <a:r>
              <a:rPr lang="en-US" sz="2400" b="1" dirty="0">
                <a:solidFill>
                  <a:srgbClr val="585858"/>
                </a:solidFill>
                <a:latin typeface="Arial" panose="020B0604020202020204"/>
                <a:ea typeface="Arial" panose="020B0604020202020204"/>
                <a:cs typeface="Arial" panose="020B0604020202020204"/>
                <a:sym typeface="Arial" panose="020B0604020202020204"/>
              </a:rPr>
              <a:t>US Equity Market:</a:t>
            </a:r>
            <a:endParaRPr sz="24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r>
              <a:rPr lang="en-US" sz="2400" b="1" dirty="0">
                <a:solidFill>
                  <a:srgbClr val="585858"/>
                </a:solidFill>
                <a:latin typeface="Arial" panose="020B0604020202020204"/>
                <a:ea typeface="Arial" panose="020B0604020202020204"/>
                <a:cs typeface="Arial" panose="020B0604020202020204"/>
                <a:sym typeface="Arial" panose="020B0604020202020204"/>
              </a:rPr>
              <a:t>$27 trillion</a:t>
            </a:r>
            <a:endParaRPr sz="2400"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FIXED INCOME  - MONEY MARKET – CMB </a:t>
            </a:r>
            <a:endParaRPr lang="en-US" dirty="0"/>
          </a:p>
        </p:txBody>
      </p:sp>
      <p:grpSp>
        <p:nvGrpSpPr>
          <p:cNvPr id="3" name="Group 2"/>
          <p:cNvGrpSpPr/>
          <p:nvPr/>
        </p:nvGrpSpPr>
        <p:grpSpPr>
          <a:xfrm>
            <a:off x="700550" y="1461331"/>
            <a:ext cx="10972800" cy="4634669"/>
            <a:chOff x="700550" y="1461331"/>
            <a:chExt cx="10972800" cy="4634669"/>
          </a:xfrm>
        </p:grpSpPr>
        <p:sp>
          <p:nvSpPr>
            <p:cNvPr id="441" name="Google Shape;441;p17"/>
            <p:cNvSpPr/>
            <p:nvPr/>
          </p:nvSpPr>
          <p:spPr>
            <a:xfrm>
              <a:off x="700550" y="1461331"/>
              <a:ext cx="10972800" cy="4634669"/>
            </a:xfrm>
            <a:prstGeom prst="roundRect">
              <a:avLst>
                <a:gd name="adj" fmla="val 7210"/>
              </a:avLst>
            </a:prstGeom>
            <a:solidFill>
              <a:schemeClr val="lt1"/>
            </a:solidFill>
            <a:ln w="1905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442" name="Google Shape;442;p17"/>
            <p:cNvGrpSpPr/>
            <p:nvPr/>
          </p:nvGrpSpPr>
          <p:grpSpPr>
            <a:xfrm>
              <a:off x="1484553" y="1461331"/>
              <a:ext cx="9404793" cy="709276"/>
              <a:chOff x="2248241" y="1461331"/>
              <a:chExt cx="7892368" cy="593497"/>
            </a:xfrm>
          </p:grpSpPr>
          <p:pic>
            <p:nvPicPr>
              <p:cNvPr id="443" name="Google Shape;443;p17" descr="Home salesman stretches holding black pen."/>
              <p:cNvPicPr preferRelativeResize="0"/>
              <p:nvPr/>
            </p:nvPicPr>
            <p:blipFill rotWithShape="1">
              <a:blip r:embed="rId1"/>
              <a:srcRect t="68680" b="17301"/>
              <a:stretch>
                <a:fillRect/>
              </a:stretch>
            </p:blipFill>
            <p:spPr>
              <a:xfrm>
                <a:off x="2248242" y="1461331"/>
                <a:ext cx="7892367" cy="593497"/>
              </a:xfrm>
              <a:custGeom>
                <a:avLst/>
                <a:gdLst/>
                <a:ahLst/>
                <a:cxnLst/>
                <a:rect l="l" t="t" r="r" b="b"/>
                <a:pathLst>
                  <a:path w="6282591" h="586695" extrusionOk="0">
                    <a:moveTo>
                      <a:pt x="2" y="0"/>
                    </a:moveTo>
                    <a:lnTo>
                      <a:pt x="3275966" y="0"/>
                    </a:lnTo>
                    <a:lnTo>
                      <a:pt x="6282591" y="0"/>
                    </a:lnTo>
                    <a:lnTo>
                      <a:pt x="6282591" y="293352"/>
                    </a:lnTo>
                    <a:lnTo>
                      <a:pt x="6259540" y="407532"/>
                    </a:lnTo>
                    <a:cubicBezTo>
                      <a:pt x="6215007" y="512819"/>
                      <a:pt x="6110753" y="586695"/>
                      <a:pt x="5989244" y="586695"/>
                    </a:cubicBezTo>
                    <a:lnTo>
                      <a:pt x="3275966" y="586695"/>
                    </a:lnTo>
                    <a:lnTo>
                      <a:pt x="562578" y="586695"/>
                    </a:lnTo>
                    <a:cubicBezTo>
                      <a:pt x="251874" y="586695"/>
                      <a:pt x="0" y="455359"/>
                      <a:pt x="0" y="293347"/>
                    </a:cubicBezTo>
                    <a:cubicBezTo>
                      <a:pt x="0" y="195565"/>
                      <a:pt x="2" y="97782"/>
                      <a:pt x="2" y="0"/>
                    </a:cubicBezTo>
                    <a:close/>
                  </a:path>
                </a:pathLst>
              </a:custGeom>
              <a:noFill/>
              <a:ln>
                <a:noFill/>
              </a:ln>
            </p:spPr>
          </p:pic>
          <p:sp>
            <p:nvSpPr>
              <p:cNvPr id="444" name="Google Shape;444;p17"/>
              <p:cNvSpPr/>
              <p:nvPr/>
            </p:nvSpPr>
            <p:spPr>
              <a:xfrm rot="10800000">
                <a:off x="2248241" y="1461331"/>
                <a:ext cx="7892368" cy="593497"/>
              </a:xfrm>
              <a:custGeom>
                <a:avLst/>
                <a:gdLst/>
                <a:ahLst/>
                <a:cxnLst/>
                <a:rect l="l" t="t" r="r" b="b"/>
                <a:pathLst>
                  <a:path w="6282592" h="586695" extrusionOk="0">
                    <a:moveTo>
                      <a:pt x="6282591" y="586695"/>
                    </a:moveTo>
                    <a:lnTo>
                      <a:pt x="3006626" y="586695"/>
                    </a:lnTo>
                    <a:lnTo>
                      <a:pt x="0" y="586695"/>
                    </a:lnTo>
                    <a:lnTo>
                      <a:pt x="0" y="293348"/>
                    </a:lnTo>
                    <a:cubicBezTo>
                      <a:pt x="0" y="131336"/>
                      <a:pt x="131336" y="0"/>
                      <a:pt x="293348" y="0"/>
                    </a:cubicBezTo>
                    <a:lnTo>
                      <a:pt x="3006626" y="0"/>
                    </a:lnTo>
                    <a:lnTo>
                      <a:pt x="5989244" y="0"/>
                    </a:lnTo>
                    <a:cubicBezTo>
                      <a:pt x="6151256" y="0"/>
                      <a:pt x="6282592" y="131336"/>
                      <a:pt x="6282592" y="293348"/>
                    </a:cubicBezTo>
                    <a:cubicBezTo>
                      <a:pt x="6282592" y="391130"/>
                      <a:pt x="6282591" y="488913"/>
                      <a:pt x="6282591" y="586695"/>
                    </a:cubicBezTo>
                    <a:close/>
                  </a:path>
                </a:pathLst>
              </a:custGeom>
              <a:solidFill>
                <a:schemeClr val="accent4">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445" name="Google Shape;445;p17"/>
              <p:cNvSpPr txBox="1"/>
              <p:nvPr/>
            </p:nvSpPr>
            <p:spPr>
              <a:xfrm>
                <a:off x="4166356" y="1642188"/>
                <a:ext cx="4056138" cy="2317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chemeClr val="bg1"/>
                    </a:solidFill>
                    <a:latin typeface="Arial" panose="020B0604020202020204"/>
                    <a:ea typeface="Arial" panose="020B0604020202020204"/>
                    <a:cs typeface="Arial" panose="020B0604020202020204"/>
                    <a:sym typeface="Arial" panose="020B0604020202020204"/>
                  </a:rPr>
                  <a:t>Cash Management Bill – CMB </a:t>
                </a:r>
                <a:endParaRPr lang="en-US" sz="1800" b="1" dirty="0">
                  <a:solidFill>
                    <a:schemeClr val="bg1"/>
                  </a:solidFill>
                  <a:latin typeface="Arial" panose="020B0604020202020204"/>
                  <a:ea typeface="Arial" panose="020B0604020202020204"/>
                  <a:cs typeface="Arial" panose="020B0604020202020204"/>
                  <a:sym typeface="Arial" panose="020B0604020202020204"/>
                </a:endParaRPr>
              </a:p>
            </p:txBody>
          </p:sp>
        </p:grpSp>
        <p:sp>
          <p:nvSpPr>
            <p:cNvPr id="446" name="Google Shape;446;p17"/>
            <p:cNvSpPr txBox="1"/>
            <p:nvPr/>
          </p:nvSpPr>
          <p:spPr>
            <a:xfrm>
              <a:off x="804291" y="2510647"/>
              <a:ext cx="10765319" cy="3200876"/>
            </a:xfrm>
            <a:prstGeom prst="rect">
              <a:avLst/>
            </a:prstGeom>
            <a:noFill/>
            <a:ln>
              <a:noFill/>
            </a:ln>
          </p:spPr>
          <p:txBody>
            <a:bodyPr spcFirstLastPara="1" wrap="square" lIns="91425" tIns="0" rIns="91425" bIns="0" anchor="t" anchorCtr="0">
              <a:spAutoFit/>
            </a:bodyPr>
            <a:lstStyle/>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Offered by the U.S. Treasury , CMB ‘s are a short-term security that is issued for a much shorter maturity period .</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They are issued for a period ranging anywhere between seven days to three months. CMBs can  be purchased </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in $100 increments.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6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CMB are different from T bills in way they are issued for a shorter period of less than 90 days where as T Bill are issued for a period of more than 90 days to less than 1 year.</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6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These securities are sold through auctions by the U.S. Treasury on its Treasury Direct website. The rates and </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yields during auctions are determined by the demand and their values fluctuate with interest rate changes and </a:t>
              </a:r>
              <a:br>
                <a:rPr lang="en-US" sz="1600" dirty="0">
                  <a:solidFill>
                    <a:schemeClr val="dk1"/>
                  </a:solidFill>
                  <a:latin typeface="Arial" panose="020B0604020202020204"/>
                  <a:ea typeface="Arial" panose="020B0604020202020204"/>
                  <a:cs typeface="Arial" panose="020B0604020202020204"/>
                  <a:sym typeface="Arial" panose="020B0604020202020204"/>
                </a:rPr>
              </a:br>
              <a:r>
                <a:rPr lang="en-US" sz="1600" dirty="0">
                  <a:solidFill>
                    <a:schemeClr val="dk1"/>
                  </a:solidFill>
                  <a:latin typeface="Arial" panose="020B0604020202020204"/>
                  <a:ea typeface="Arial" panose="020B0604020202020204"/>
                  <a:cs typeface="Arial" panose="020B0604020202020204"/>
                  <a:sym typeface="Arial" panose="020B0604020202020204"/>
                </a:rPr>
                <a:t>market demand.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6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Auctions are announced several days before they begin, with the amount to be auctioned and its maturity date. All auctions are open to the public and can be found on the Treasury's list of upcoming auctions.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 INCOME  - MONEY MARKET – T BILL</a:t>
            </a:r>
            <a:endParaRPr lang="en-US" dirty="0"/>
          </a:p>
        </p:txBody>
      </p:sp>
      <p:grpSp>
        <p:nvGrpSpPr>
          <p:cNvPr id="8" name="Group 7"/>
          <p:cNvGrpSpPr/>
          <p:nvPr/>
        </p:nvGrpSpPr>
        <p:grpSpPr>
          <a:xfrm>
            <a:off x="635088" y="1468438"/>
            <a:ext cx="4846320" cy="4572000"/>
            <a:chOff x="635088" y="1468438"/>
            <a:chExt cx="4846320" cy="4572000"/>
          </a:xfrm>
        </p:grpSpPr>
        <p:sp>
          <p:nvSpPr>
            <p:cNvPr id="454" name="Google Shape;454;p18"/>
            <p:cNvSpPr txBox="1"/>
            <p:nvPr/>
          </p:nvSpPr>
          <p:spPr>
            <a:xfrm>
              <a:off x="695447" y="1468438"/>
              <a:ext cx="4785961" cy="4572000"/>
            </a:xfrm>
            <a:prstGeom prst="rect">
              <a:avLst/>
            </a:prstGeom>
            <a:gradFill>
              <a:gsLst>
                <a:gs pos="0">
                  <a:schemeClr val="lt1"/>
                </a:gs>
                <a:gs pos="100000">
                  <a:schemeClr val="lt1"/>
                </a:gs>
              </a:gsLst>
              <a:lin ang="5400000" scaled="0"/>
            </a:gradFill>
            <a:ln w="9525" cap="flat" cmpd="sng">
              <a:solidFill>
                <a:schemeClr val="accent5"/>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55" name="Google Shape;455;p18"/>
            <p:cNvSpPr/>
            <p:nvPr/>
          </p:nvSpPr>
          <p:spPr>
            <a:xfrm>
              <a:off x="695447" y="1538132"/>
              <a:ext cx="4785961" cy="380911"/>
            </a:xfrm>
            <a:prstGeom prst="rect">
              <a:avLst/>
            </a:prstGeom>
            <a:solidFill>
              <a:schemeClr val="accent5"/>
            </a:solidFill>
            <a:ln w="9525" cap="flat" cmpd="sng">
              <a:solidFill>
                <a:schemeClr val="accent5"/>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l" rtl="0">
                <a:spcBef>
                  <a:spcPts val="0"/>
                </a:spcBef>
                <a:spcAft>
                  <a:spcPts val="0"/>
                </a:spcAft>
                <a:buNone/>
              </a:pPr>
              <a:r>
                <a:rPr lang="en-US" sz="1600" b="1">
                  <a:solidFill>
                    <a:schemeClr val="lt1"/>
                  </a:solidFill>
                  <a:latin typeface="Arial" panose="020B0604020202020204"/>
                  <a:ea typeface="Arial" panose="020B0604020202020204"/>
                  <a:cs typeface="Arial" panose="020B0604020202020204"/>
                  <a:sym typeface="Arial" panose="020B0604020202020204"/>
                </a:rPr>
                <a:t>Treasury Bill (T-Bill) </a:t>
              </a:r>
              <a:endParaRPr lang="en-US" sz="1600" b="1">
                <a:solidFill>
                  <a:schemeClr val="lt1"/>
                </a:solidFill>
                <a:latin typeface="Arial" panose="020B0604020202020204"/>
                <a:ea typeface="Arial" panose="020B0604020202020204"/>
                <a:cs typeface="Arial" panose="020B0604020202020204"/>
                <a:sym typeface="Arial" panose="020B0604020202020204"/>
              </a:endParaRPr>
            </a:p>
          </p:txBody>
        </p:sp>
        <p:pic>
          <p:nvPicPr>
            <p:cNvPr id="456" name="Google Shape;456;p18"/>
            <p:cNvPicPr preferRelativeResize="0"/>
            <p:nvPr/>
          </p:nvPicPr>
          <p:blipFill rotWithShape="1">
            <a:blip r:embed="rId1"/>
            <a:srcRect t="64561"/>
            <a:stretch>
              <a:fillRect/>
            </a:stretch>
          </p:blipFill>
          <p:spPr>
            <a:xfrm>
              <a:off x="635088" y="1714179"/>
              <a:ext cx="1622370" cy="382727"/>
            </a:xfrm>
            <a:prstGeom prst="rect">
              <a:avLst/>
            </a:prstGeom>
            <a:noFill/>
            <a:ln>
              <a:noFill/>
            </a:ln>
          </p:spPr>
        </p:pic>
      </p:grpSp>
      <p:sp>
        <p:nvSpPr>
          <p:cNvPr id="457" name="Google Shape;457;p18"/>
          <p:cNvSpPr txBox="1"/>
          <p:nvPr/>
        </p:nvSpPr>
        <p:spPr>
          <a:xfrm>
            <a:off x="787290" y="2034171"/>
            <a:ext cx="4602274" cy="3693319"/>
          </a:xfrm>
          <a:prstGeom prst="rect">
            <a:avLst/>
          </a:prstGeom>
          <a:noFill/>
          <a:ln>
            <a:noFill/>
          </a:ln>
        </p:spPr>
        <p:txBody>
          <a:bodyPr spcFirstLastPara="1" wrap="square" lIns="91425" tIns="0" rIns="91425" bIns="0" anchor="t" anchorCtr="0">
            <a:spAutoFit/>
          </a:bodyPr>
          <a:lstStyle/>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T-Bills are short-term debt obligations issued &amp; backed by the government. They are sold in denominations of face value of $1,000 and have a maturity of less than 1 year, such as a month, two months or six months.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T- Bills are discounted instruments in the sense they are issued at the discount &amp; redeemed at the par</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b="1" dirty="0">
                <a:solidFill>
                  <a:schemeClr val="dk1"/>
                </a:solidFill>
                <a:latin typeface="Arial" panose="020B0604020202020204"/>
                <a:ea typeface="Arial" panose="020B0604020202020204"/>
                <a:cs typeface="Arial" panose="020B0604020202020204"/>
                <a:sym typeface="Arial" panose="020B0604020202020204"/>
              </a:rPr>
              <a:t>Example: </a:t>
            </a:r>
            <a:r>
              <a:rPr lang="en-US" sz="1600" dirty="0">
                <a:solidFill>
                  <a:schemeClr val="dk1"/>
                </a:solidFill>
                <a:latin typeface="Arial" panose="020B0604020202020204"/>
                <a:ea typeface="Arial" panose="020B0604020202020204"/>
                <a:cs typeface="Arial" panose="020B0604020202020204"/>
                <a:sym typeface="Arial" panose="020B0604020202020204"/>
              </a:rPr>
              <a:t>A T-Bill from the US Government with a denomination or face value of $ 10,000 will be issued at a discounted price of $9800 for the duration of 3 months .Here the investors will pay $9,800 when issued &amp; will collect $10,000 at redemption after 3 months, thus effectively earning a return of $200.</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7" name="Group 6"/>
          <p:cNvGrpSpPr/>
          <p:nvPr/>
        </p:nvGrpSpPr>
        <p:grpSpPr>
          <a:xfrm>
            <a:off x="5625296" y="1468438"/>
            <a:ext cx="6019017" cy="4572000"/>
            <a:chOff x="5625296" y="1468438"/>
            <a:chExt cx="6019017" cy="4572000"/>
          </a:xfrm>
        </p:grpSpPr>
        <p:sp>
          <p:nvSpPr>
            <p:cNvPr id="459" name="Google Shape;459;p18"/>
            <p:cNvSpPr txBox="1"/>
            <p:nvPr/>
          </p:nvSpPr>
          <p:spPr>
            <a:xfrm>
              <a:off x="5700261" y="1468438"/>
              <a:ext cx="5944052" cy="4572000"/>
            </a:xfrm>
            <a:prstGeom prst="rect">
              <a:avLst/>
            </a:prstGeom>
            <a:gradFill>
              <a:gsLst>
                <a:gs pos="0">
                  <a:schemeClr val="lt1"/>
                </a:gs>
                <a:gs pos="100000">
                  <a:schemeClr val="lt1"/>
                </a:gs>
              </a:gsLst>
              <a:lin ang="5400000" scaled="0"/>
            </a:gradFill>
            <a:ln w="9525" cap="flat" cmpd="sng">
              <a:solidFill>
                <a:schemeClr val="accent3"/>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60" name="Google Shape;460;p18"/>
            <p:cNvSpPr/>
            <p:nvPr/>
          </p:nvSpPr>
          <p:spPr>
            <a:xfrm>
              <a:off x="5700261" y="1536380"/>
              <a:ext cx="5944052" cy="371330"/>
            </a:xfrm>
            <a:prstGeom prst="rect">
              <a:avLst/>
            </a:prstGeom>
            <a:solidFill>
              <a:schemeClr val="accent3"/>
            </a:solidFill>
            <a:ln w="9525" cap="flat" cmpd="sng">
              <a:solidFill>
                <a:schemeClr val="accent3"/>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l" rtl="0">
                <a:spcBef>
                  <a:spcPts val="0"/>
                </a:spcBef>
                <a:spcAft>
                  <a:spcPts val="0"/>
                </a:spcAft>
                <a:buNone/>
              </a:pPr>
              <a:r>
                <a:rPr lang="en-US" sz="1600" b="1" dirty="0">
                  <a:solidFill>
                    <a:schemeClr val="lt1"/>
                  </a:solidFill>
                  <a:latin typeface="Arial" panose="020B0604020202020204"/>
                  <a:ea typeface="Arial" panose="020B0604020202020204"/>
                  <a:cs typeface="Arial" panose="020B0604020202020204"/>
                  <a:sym typeface="Arial" panose="020B0604020202020204"/>
                </a:rPr>
                <a:t>T- Bills Primary Market Issue Process</a:t>
              </a:r>
              <a:endParaRPr lang="en-US" sz="1600" b="1" dirty="0">
                <a:solidFill>
                  <a:schemeClr val="lt1"/>
                </a:solidFill>
                <a:latin typeface="Arial" panose="020B0604020202020204"/>
                <a:ea typeface="Arial" panose="020B0604020202020204"/>
                <a:cs typeface="Arial" panose="020B0604020202020204"/>
                <a:sym typeface="Arial" panose="020B0604020202020204"/>
              </a:endParaRPr>
            </a:p>
          </p:txBody>
        </p:sp>
        <p:pic>
          <p:nvPicPr>
            <p:cNvPr id="461" name="Google Shape;461;p18"/>
            <p:cNvPicPr preferRelativeResize="0"/>
            <p:nvPr/>
          </p:nvPicPr>
          <p:blipFill rotWithShape="1">
            <a:blip r:embed="rId1"/>
            <a:srcRect t="64561"/>
            <a:stretch>
              <a:fillRect/>
            </a:stretch>
          </p:blipFill>
          <p:spPr>
            <a:xfrm>
              <a:off x="5625296" y="1707998"/>
              <a:ext cx="2014946" cy="373101"/>
            </a:xfrm>
            <a:prstGeom prst="rect">
              <a:avLst/>
            </a:prstGeom>
            <a:noFill/>
            <a:ln>
              <a:noFill/>
            </a:ln>
          </p:spPr>
        </p:pic>
      </p:grpSp>
      <p:sp>
        <p:nvSpPr>
          <p:cNvPr id="463" name="Google Shape;463;p18"/>
          <p:cNvSpPr txBox="1"/>
          <p:nvPr/>
        </p:nvSpPr>
        <p:spPr>
          <a:xfrm>
            <a:off x="5772738" y="2019941"/>
            <a:ext cx="5799098" cy="3693319"/>
          </a:xfrm>
          <a:prstGeom prst="rect">
            <a:avLst/>
          </a:prstGeom>
          <a:noFill/>
          <a:ln>
            <a:noFill/>
          </a:ln>
        </p:spPr>
        <p:txBody>
          <a:bodyPr spcFirstLastPara="1" wrap="square" lIns="91425" tIns="0" rIns="91425"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The securities are issued via a regularly scheduled auction process. Upon the Treasury’s announcement of the size of upcoming auction, tenders, or sealed bids are being solicited.</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600" b="1" dirty="0">
                <a:solidFill>
                  <a:schemeClr val="dk1"/>
                </a:solidFill>
                <a:latin typeface="Arial" panose="020B0604020202020204"/>
                <a:ea typeface="Arial" panose="020B0604020202020204"/>
                <a:cs typeface="Arial" panose="020B0604020202020204"/>
                <a:sym typeface="Arial" panose="020B0604020202020204"/>
              </a:rPr>
              <a:t>Bidders submit two types of bids: </a:t>
            </a:r>
            <a:endParaRPr lang="en-US" sz="1600" b="1"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spcBef>
                <a:spcPts val="0"/>
              </a:spcBef>
              <a:spcAft>
                <a:spcPts val="0"/>
              </a:spcAft>
              <a:buClr>
                <a:schemeClr val="dk1"/>
              </a:buClr>
              <a:buSzPts val="1600"/>
              <a:buFont typeface="Arial" panose="020B0604020202020204"/>
              <a:buChar char="•"/>
            </a:pPr>
            <a:r>
              <a:rPr lang="en-US" sz="1600" b="1" dirty="0">
                <a:solidFill>
                  <a:schemeClr val="dk1"/>
                </a:solidFill>
              </a:rPr>
              <a:t>Competitive Bidding</a:t>
            </a:r>
            <a:r>
              <a:rPr lang="en-US" sz="1600" dirty="0">
                <a:solidFill>
                  <a:schemeClr val="dk1"/>
                </a:solidFill>
                <a:latin typeface="Arial" panose="020B0604020202020204"/>
                <a:ea typeface="Arial" panose="020B0604020202020204"/>
                <a:cs typeface="Arial" panose="020B0604020202020204"/>
                <a:sym typeface="Arial" panose="020B0604020202020204"/>
              </a:rPr>
              <a:t>: The Competitive Bidder category includes commercial bank &amp; investment bank etc. and specifies the amount of the security that the bidder wants to buy  ( Quantity ) and the price that the bidder wants to pay and in terms of Yield.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spcBef>
                <a:spcPts val="0"/>
              </a:spcBef>
              <a:spcAft>
                <a:spcPts val="0"/>
              </a:spcAft>
              <a:buClr>
                <a:schemeClr val="dk1"/>
              </a:buClr>
              <a:buSzPts val="1600"/>
              <a:buFont typeface="Arial" panose="020B0604020202020204"/>
              <a:buChar char="•"/>
            </a:pPr>
            <a:r>
              <a:rPr lang="en-US" sz="1600" b="1" dirty="0">
                <a:solidFill>
                  <a:schemeClr val="dk1"/>
                </a:solidFill>
                <a:latin typeface="Arial" panose="020B0604020202020204"/>
                <a:ea typeface="Arial" panose="020B0604020202020204"/>
                <a:cs typeface="Arial" panose="020B0604020202020204"/>
                <a:sym typeface="Arial" panose="020B0604020202020204"/>
              </a:rPr>
              <a:t>Non-Competitive Bidding: </a:t>
            </a:r>
            <a:r>
              <a:rPr lang="en-US" sz="1600" dirty="0">
                <a:solidFill>
                  <a:schemeClr val="dk1"/>
                </a:solidFill>
                <a:latin typeface="Arial" panose="020B0604020202020204"/>
                <a:ea typeface="Arial" panose="020B0604020202020204"/>
                <a:cs typeface="Arial" panose="020B0604020202020204"/>
                <a:sym typeface="Arial" panose="020B0604020202020204"/>
              </a:rPr>
              <a:t>Non-competitive bidders are retail customers. They purchase low volumes and are not sophisticated enough to submit a bid. Limits on each non-competitive bid can be set. Direct purchases of Treasury securities by individuals are limited in many countries. In such cases they use the services of dealers.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FIXED INCOME  - MONEY MARKET – T BILL - BIDDING PROCESS</a:t>
            </a:r>
            <a:endParaRPr lang="en-US" dirty="0"/>
          </a:p>
        </p:txBody>
      </p:sp>
      <p:sp>
        <p:nvSpPr>
          <p:cNvPr id="471" name="Google Shape;471;p19"/>
          <p:cNvSpPr/>
          <p:nvPr/>
        </p:nvSpPr>
        <p:spPr>
          <a:xfrm>
            <a:off x="700550" y="1312665"/>
            <a:ext cx="10972800" cy="4719349"/>
          </a:xfrm>
          <a:prstGeom prst="roundRect">
            <a:avLst>
              <a:gd name="adj" fmla="val 2407"/>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472" name="Google Shape;472;p19"/>
          <p:cNvSpPr/>
          <p:nvPr/>
        </p:nvSpPr>
        <p:spPr>
          <a:xfrm>
            <a:off x="763532" y="1312665"/>
            <a:ext cx="10846836" cy="4719349"/>
          </a:xfrm>
          <a:prstGeom prst="roundRect">
            <a:avLst>
              <a:gd name="adj" fmla="val 240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473" name="Google Shape;473;p19"/>
          <p:cNvSpPr/>
          <p:nvPr/>
        </p:nvSpPr>
        <p:spPr>
          <a:xfrm>
            <a:off x="763532" y="1312665"/>
            <a:ext cx="10909818" cy="338514"/>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chemeClr val="lt1"/>
              </a:solidFill>
              <a:latin typeface="Arial" panose="020B0604020202020204"/>
              <a:ea typeface="Arial" panose="020B0604020202020204"/>
              <a:cs typeface="Arial" panose="020B0604020202020204"/>
              <a:sym typeface="Arial" panose="020B0604020202020204"/>
            </a:endParaRPr>
          </a:p>
        </p:txBody>
      </p:sp>
      <p:pic>
        <p:nvPicPr>
          <p:cNvPr id="475" name="Google Shape;475;p19"/>
          <p:cNvPicPr preferRelativeResize="0"/>
          <p:nvPr/>
        </p:nvPicPr>
        <p:blipFill rotWithShape="1">
          <a:blip r:embed="rId1"/>
          <a:srcRect l="1425" t="3985"/>
          <a:stretch>
            <a:fillRect/>
          </a:stretch>
        </p:blipFill>
        <p:spPr>
          <a:xfrm>
            <a:off x="1216829" y="3375659"/>
            <a:ext cx="4405684" cy="2404989"/>
          </a:xfrm>
          <a:prstGeom prst="rect">
            <a:avLst/>
          </a:prstGeom>
          <a:noFill/>
          <a:ln>
            <a:noFill/>
          </a:ln>
        </p:spPr>
      </p:pic>
      <p:sp>
        <p:nvSpPr>
          <p:cNvPr id="474" name="Google Shape;474;p19"/>
          <p:cNvSpPr txBox="1"/>
          <p:nvPr/>
        </p:nvSpPr>
        <p:spPr>
          <a:xfrm>
            <a:off x="813631" y="1777283"/>
            <a:ext cx="5212080" cy="1477328"/>
          </a:xfrm>
          <a:prstGeom prst="rect">
            <a:avLst/>
          </a:prstGeom>
          <a:noFill/>
          <a:ln>
            <a:noFill/>
          </a:ln>
        </p:spPr>
        <p:txBody>
          <a:bodyPr spcFirstLastPara="1" wrap="square" lIns="91425" tIns="0" rIns="91425"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Assume that the Federal Reserve wants to issues T-Bills worth $4 million. Each bid is for a minimum 1 T-Bill; Cap: $1 million; Floor: $985,000. All competitive tenders are ranked in order of the bid yield. The lowest competitive bid is accepted first. As a result, the highest bid prices are accepted until the issue is sold out fully.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76" name="Google Shape;476;p19"/>
          <p:cNvSpPr txBox="1"/>
          <p:nvPr/>
        </p:nvSpPr>
        <p:spPr>
          <a:xfrm>
            <a:off x="6348190" y="1777283"/>
            <a:ext cx="5212080" cy="1231106"/>
          </a:xfrm>
          <a:prstGeom prst="rect">
            <a:avLst/>
          </a:prstGeom>
          <a:noFill/>
          <a:ln>
            <a:noFill/>
          </a:ln>
        </p:spPr>
        <p:txBody>
          <a:bodyPr spcFirstLastPara="1" wrap="square" lIns="91425" tIns="0" rIns="91425"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The Fed will issue its T-Bills to Clients A, B, C, and D, as they have bid for the highest price and lowest Yield. The price of the securities in the auction is set based on whether the auction was a discriminatory or uniform auction process.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477" name="Google Shape;477;p19"/>
          <p:cNvPicPr preferRelativeResize="0"/>
          <p:nvPr/>
        </p:nvPicPr>
        <p:blipFill rotWithShape="1">
          <a:blip r:embed="rId2"/>
          <a:srcRect/>
          <a:stretch>
            <a:fillRect/>
          </a:stretch>
        </p:blipFill>
        <p:spPr>
          <a:xfrm>
            <a:off x="6348190" y="3375659"/>
            <a:ext cx="5212080" cy="901440"/>
          </a:xfrm>
          <a:prstGeom prst="rect">
            <a:avLst/>
          </a:prstGeom>
          <a:noFill/>
          <a:ln>
            <a:noFill/>
          </a:ln>
        </p:spPr>
      </p:pic>
      <p:cxnSp>
        <p:nvCxnSpPr>
          <p:cNvPr id="478" name="Google Shape;478;p19"/>
          <p:cNvCxnSpPr/>
          <p:nvPr/>
        </p:nvCxnSpPr>
        <p:spPr>
          <a:xfrm>
            <a:off x="6218441" y="1468838"/>
            <a:ext cx="0" cy="4563176"/>
          </a:xfrm>
          <a:prstGeom prst="straightConnector1">
            <a:avLst/>
          </a:prstGeom>
          <a:noFill/>
          <a:ln w="9525" cap="flat" cmpd="sng">
            <a:solidFill>
              <a:schemeClr val="accent5"/>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FIXED INCOME  - MONEY MARKET – REPURCHASE </a:t>
            </a:r>
            <a:br>
              <a:rPr lang="en-US" dirty="0"/>
            </a:br>
            <a:r>
              <a:rPr lang="en-US" dirty="0"/>
              <a:t>AGREEMENT (REPO) </a:t>
            </a:r>
            <a:endParaRPr lang="en-US" dirty="0"/>
          </a:p>
        </p:txBody>
      </p:sp>
      <p:grpSp>
        <p:nvGrpSpPr>
          <p:cNvPr id="3" name="Group 2"/>
          <p:cNvGrpSpPr/>
          <p:nvPr/>
        </p:nvGrpSpPr>
        <p:grpSpPr>
          <a:xfrm>
            <a:off x="700550" y="1524045"/>
            <a:ext cx="10992826" cy="910693"/>
            <a:chOff x="700550" y="1524045"/>
            <a:chExt cx="10992826" cy="910693"/>
          </a:xfrm>
        </p:grpSpPr>
        <p:sp>
          <p:nvSpPr>
            <p:cNvPr id="485" name="Google Shape;485;p20"/>
            <p:cNvSpPr txBox="1"/>
            <p:nvPr/>
          </p:nvSpPr>
          <p:spPr>
            <a:xfrm>
              <a:off x="1909296" y="1563893"/>
              <a:ext cx="978408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000000"/>
                  </a:solidFill>
                  <a:latin typeface="Arial" panose="020B0604020202020204"/>
                  <a:ea typeface="Arial" panose="020B0604020202020204"/>
                  <a:cs typeface="Arial" panose="020B0604020202020204"/>
                  <a:sym typeface="Arial" panose="020B0604020202020204"/>
                </a:rPr>
                <a:t>The REPO transaction represents a loan backed by securities. Repurchase agreement (REPO) is a fully collateralized loan in which the collateral consists of marketable securities. The participants in a REPO transaction are banks, money market funds, and non-financial institutions.</a:t>
              </a:r>
              <a:endParaRPr lang="en-US" sz="1600" dirty="0">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86" name="Google Shape;486;p20"/>
            <p:cNvGrpSpPr/>
            <p:nvPr/>
          </p:nvGrpSpPr>
          <p:grpSpPr>
            <a:xfrm>
              <a:off x="700550" y="1524045"/>
              <a:ext cx="1150376" cy="910693"/>
              <a:chOff x="2914911" y="4526540"/>
              <a:chExt cx="1391955" cy="1101938"/>
            </a:xfrm>
          </p:grpSpPr>
          <p:sp>
            <p:nvSpPr>
              <p:cNvPr id="487" name="Google Shape;487;p20"/>
              <p:cNvSpPr/>
              <p:nvPr/>
            </p:nvSpPr>
            <p:spPr>
              <a:xfrm rot="5400000">
                <a:off x="3059919" y="4381531"/>
                <a:ext cx="1101938" cy="1391955"/>
              </a:xfrm>
              <a:custGeom>
                <a:avLst/>
                <a:gdLst/>
                <a:ahLst/>
                <a:cxnLst/>
                <a:rect l="l" t="t" r="r" b="b"/>
                <a:pathLst>
                  <a:path w="1382775" h="1686674" extrusionOk="0">
                    <a:moveTo>
                      <a:pt x="0" y="995287"/>
                    </a:moveTo>
                    <a:cubicBezTo>
                      <a:pt x="0" y="708905"/>
                      <a:pt x="174119" y="463191"/>
                      <a:pt x="422268" y="358232"/>
                    </a:cubicBezTo>
                    <a:lnTo>
                      <a:pt x="512092" y="330350"/>
                    </a:lnTo>
                    <a:lnTo>
                      <a:pt x="703695" y="0"/>
                    </a:lnTo>
                    <a:lnTo>
                      <a:pt x="900702" y="339668"/>
                    </a:lnTo>
                    <a:lnTo>
                      <a:pt x="960507" y="358232"/>
                    </a:lnTo>
                    <a:cubicBezTo>
                      <a:pt x="1208656" y="463191"/>
                      <a:pt x="1382775" y="708905"/>
                      <a:pt x="1382775" y="995287"/>
                    </a:cubicBezTo>
                    <a:cubicBezTo>
                      <a:pt x="1382775" y="1377129"/>
                      <a:pt x="1073230" y="1686674"/>
                      <a:pt x="691388" y="1686674"/>
                    </a:cubicBezTo>
                    <a:cubicBezTo>
                      <a:pt x="309545" y="1686674"/>
                      <a:pt x="0" y="1377129"/>
                      <a:pt x="0" y="995287"/>
                    </a:cubicBezTo>
                    <a:close/>
                  </a:path>
                </a:pathLst>
              </a:custGeom>
              <a:solidFill>
                <a:schemeClr val="accent4"/>
              </a:solidFill>
              <a:ln>
                <a:noFill/>
              </a:ln>
            </p:spPr>
            <p:txBody>
              <a:bodyPr spcFirstLastPara="1" wrap="square" lIns="62000" tIns="31000" rIns="62000" bIns="31000" anchor="ctr" anchorCtr="0">
                <a:noAutofit/>
              </a:bodyPr>
              <a:lstStyle/>
              <a:p>
                <a:pPr marL="0" marR="0" lvl="0" indent="0" algn="ctr" rtl="0">
                  <a:spcBef>
                    <a:spcPts val="0"/>
                  </a:spcBef>
                  <a:spcAft>
                    <a:spcPts val="0"/>
                  </a:spcAft>
                  <a:buClr>
                    <a:schemeClr val="dk1"/>
                  </a:buClr>
                  <a:buSzPts val="1221"/>
                  <a:buFont typeface="Calibri" panose="020F0502020204030204"/>
                  <a:buNone/>
                </a:pPr>
                <a:endParaRPr sz="1220">
                  <a:solidFill>
                    <a:srgbClr val="000000"/>
                  </a:solidFill>
                  <a:latin typeface="Arial" panose="020B0604020202020204"/>
                  <a:ea typeface="Arial" panose="020B0604020202020204"/>
                  <a:cs typeface="Arial" panose="020B0604020202020204"/>
                  <a:sym typeface="Arial" panose="020B0604020202020204"/>
                </a:endParaRPr>
              </a:p>
            </p:txBody>
          </p:sp>
          <p:sp>
            <p:nvSpPr>
              <p:cNvPr id="488" name="Google Shape;488;p20"/>
              <p:cNvSpPr/>
              <p:nvPr/>
            </p:nvSpPr>
            <p:spPr>
              <a:xfrm>
                <a:off x="3030676" y="4640595"/>
                <a:ext cx="904928" cy="873828"/>
              </a:xfrm>
              <a:prstGeom prst="ellipse">
                <a:avLst/>
              </a:prstGeom>
              <a:solidFill>
                <a:schemeClr val="lt1"/>
              </a:solidFill>
              <a:ln>
                <a:noFill/>
              </a:ln>
              <a:effectLst>
                <a:outerShdw blurRad="127000" dist="1143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200"/>
                  <a:buFont typeface="Arial" panose="020B0604020202020204"/>
                  <a:buNone/>
                </a:pPr>
                <a:r>
                  <a:rPr lang="en-US" sz="3200" b="1">
                    <a:solidFill>
                      <a:srgbClr val="000000"/>
                    </a:solidFill>
                    <a:latin typeface="Arial" panose="020B0604020202020204"/>
                    <a:ea typeface="Arial" panose="020B0604020202020204"/>
                    <a:cs typeface="Arial" panose="020B0604020202020204"/>
                    <a:sym typeface="Arial" panose="020B0604020202020204"/>
                  </a:rPr>
                  <a:t>1</a:t>
                </a:r>
                <a:endParaRPr sz="3200" b="1">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4" name="Group 3"/>
          <p:cNvGrpSpPr/>
          <p:nvPr/>
        </p:nvGrpSpPr>
        <p:grpSpPr>
          <a:xfrm>
            <a:off x="700550" y="3079890"/>
            <a:ext cx="10992826" cy="910693"/>
            <a:chOff x="700550" y="3079890"/>
            <a:chExt cx="10992826" cy="910693"/>
          </a:xfrm>
        </p:grpSpPr>
        <p:sp>
          <p:nvSpPr>
            <p:cNvPr id="490" name="Google Shape;490;p20"/>
            <p:cNvSpPr txBox="1"/>
            <p:nvPr/>
          </p:nvSpPr>
          <p:spPr>
            <a:xfrm>
              <a:off x="1909296" y="3119738"/>
              <a:ext cx="978408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000000"/>
                  </a:solidFill>
                  <a:latin typeface="Arial" panose="020B0604020202020204"/>
                  <a:ea typeface="Arial" panose="020B0604020202020204"/>
                  <a:cs typeface="Arial" panose="020B0604020202020204"/>
                  <a:sym typeface="Arial" panose="020B0604020202020204"/>
                </a:rPr>
                <a:t>Under the repurchase agreement (REPO) the borrower who borrows a certain sum also  agree to sell the security to the Lender with an agreement that they will be repurchased at some specified date and price in the future.</a:t>
              </a:r>
              <a:endParaRPr lang="en-US" sz="1600">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91" name="Google Shape;491;p20"/>
            <p:cNvGrpSpPr/>
            <p:nvPr/>
          </p:nvGrpSpPr>
          <p:grpSpPr>
            <a:xfrm>
              <a:off x="700550" y="3079890"/>
              <a:ext cx="1150376" cy="910693"/>
              <a:chOff x="2914911" y="4526540"/>
              <a:chExt cx="1391955" cy="1101938"/>
            </a:xfrm>
          </p:grpSpPr>
          <p:sp>
            <p:nvSpPr>
              <p:cNvPr id="492" name="Google Shape;492;p20"/>
              <p:cNvSpPr/>
              <p:nvPr/>
            </p:nvSpPr>
            <p:spPr>
              <a:xfrm rot="5400000">
                <a:off x="3059919" y="4381531"/>
                <a:ext cx="1101938" cy="1391955"/>
              </a:xfrm>
              <a:custGeom>
                <a:avLst/>
                <a:gdLst/>
                <a:ahLst/>
                <a:cxnLst/>
                <a:rect l="l" t="t" r="r" b="b"/>
                <a:pathLst>
                  <a:path w="1382775" h="1686674" extrusionOk="0">
                    <a:moveTo>
                      <a:pt x="0" y="995287"/>
                    </a:moveTo>
                    <a:cubicBezTo>
                      <a:pt x="0" y="708905"/>
                      <a:pt x="174119" y="463191"/>
                      <a:pt x="422268" y="358232"/>
                    </a:cubicBezTo>
                    <a:lnTo>
                      <a:pt x="512092" y="330350"/>
                    </a:lnTo>
                    <a:lnTo>
                      <a:pt x="703695" y="0"/>
                    </a:lnTo>
                    <a:lnTo>
                      <a:pt x="900702" y="339668"/>
                    </a:lnTo>
                    <a:lnTo>
                      <a:pt x="960507" y="358232"/>
                    </a:lnTo>
                    <a:cubicBezTo>
                      <a:pt x="1208656" y="463191"/>
                      <a:pt x="1382775" y="708905"/>
                      <a:pt x="1382775" y="995287"/>
                    </a:cubicBezTo>
                    <a:cubicBezTo>
                      <a:pt x="1382775" y="1377129"/>
                      <a:pt x="1073230" y="1686674"/>
                      <a:pt x="691388" y="1686674"/>
                    </a:cubicBezTo>
                    <a:cubicBezTo>
                      <a:pt x="309545" y="1686674"/>
                      <a:pt x="0" y="1377129"/>
                      <a:pt x="0" y="995287"/>
                    </a:cubicBezTo>
                    <a:close/>
                  </a:path>
                </a:pathLst>
              </a:custGeom>
              <a:solidFill>
                <a:schemeClr val="accent5"/>
              </a:solidFill>
              <a:ln>
                <a:noFill/>
              </a:ln>
            </p:spPr>
            <p:txBody>
              <a:bodyPr spcFirstLastPara="1" wrap="square" lIns="62000" tIns="31000" rIns="62000" bIns="31000" anchor="ctr" anchorCtr="0">
                <a:noAutofit/>
              </a:bodyPr>
              <a:lstStyle/>
              <a:p>
                <a:pPr marL="0" marR="0" lvl="0" indent="0" algn="ctr" rtl="0">
                  <a:spcBef>
                    <a:spcPts val="0"/>
                  </a:spcBef>
                  <a:spcAft>
                    <a:spcPts val="0"/>
                  </a:spcAft>
                  <a:buClr>
                    <a:schemeClr val="dk1"/>
                  </a:buClr>
                  <a:buSzPts val="1221"/>
                  <a:buFont typeface="Calibri" panose="020F0502020204030204"/>
                  <a:buNone/>
                </a:pPr>
                <a:endParaRPr sz="1220">
                  <a:solidFill>
                    <a:srgbClr val="000000"/>
                  </a:solidFill>
                  <a:latin typeface="Arial" panose="020B0604020202020204"/>
                  <a:ea typeface="Arial" panose="020B0604020202020204"/>
                  <a:cs typeface="Arial" panose="020B0604020202020204"/>
                  <a:sym typeface="Arial" panose="020B0604020202020204"/>
                </a:endParaRPr>
              </a:p>
            </p:txBody>
          </p:sp>
          <p:sp>
            <p:nvSpPr>
              <p:cNvPr id="493" name="Google Shape;493;p20"/>
              <p:cNvSpPr/>
              <p:nvPr/>
            </p:nvSpPr>
            <p:spPr>
              <a:xfrm>
                <a:off x="3030676" y="4640595"/>
                <a:ext cx="904928" cy="873828"/>
              </a:xfrm>
              <a:prstGeom prst="ellipse">
                <a:avLst/>
              </a:prstGeom>
              <a:solidFill>
                <a:schemeClr val="lt1"/>
              </a:solidFill>
              <a:ln>
                <a:noFill/>
              </a:ln>
              <a:effectLst>
                <a:outerShdw blurRad="127000" dist="1143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3200"/>
                  <a:buFont typeface="Arial" panose="020B0604020202020204"/>
                  <a:buNone/>
                </a:pPr>
                <a:r>
                  <a:rPr lang="en-US" sz="3200" b="1">
                    <a:solidFill>
                      <a:schemeClr val="dk1"/>
                    </a:solidFill>
                    <a:latin typeface="Arial" panose="020B0604020202020204"/>
                    <a:ea typeface="Arial" panose="020B0604020202020204"/>
                    <a:cs typeface="Arial" panose="020B0604020202020204"/>
                    <a:sym typeface="Arial" panose="020B0604020202020204"/>
                  </a:rPr>
                  <a:t>2</a:t>
                </a:r>
                <a:endParaRPr sz="3200" b="1">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5" name="Group 4"/>
          <p:cNvGrpSpPr/>
          <p:nvPr/>
        </p:nvGrpSpPr>
        <p:grpSpPr>
          <a:xfrm>
            <a:off x="700550" y="4635735"/>
            <a:ext cx="10992826" cy="910693"/>
            <a:chOff x="700550" y="4635735"/>
            <a:chExt cx="10992826" cy="910693"/>
          </a:xfrm>
        </p:grpSpPr>
        <p:sp>
          <p:nvSpPr>
            <p:cNvPr id="495" name="Google Shape;495;p20"/>
            <p:cNvSpPr txBox="1"/>
            <p:nvPr/>
          </p:nvSpPr>
          <p:spPr>
            <a:xfrm>
              <a:off x="1909296" y="4675583"/>
              <a:ext cx="978408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000000"/>
                  </a:solidFill>
                  <a:latin typeface="Arial" panose="020B0604020202020204"/>
                  <a:ea typeface="Arial" panose="020B0604020202020204"/>
                  <a:cs typeface="Arial" panose="020B0604020202020204"/>
                  <a:sym typeface="Arial" panose="020B0604020202020204"/>
                </a:rPr>
                <a:t>The price difference between the sell &amp; buy act as a compensation or interest charged for the amount lent. In an alternate scenario Repo also can be constructed where they agree to pay a fixed % of interest. On default, the lender has a claim on the securities. </a:t>
              </a:r>
              <a:endParaRPr lang="en-US" sz="1600">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96" name="Google Shape;496;p20"/>
            <p:cNvGrpSpPr/>
            <p:nvPr/>
          </p:nvGrpSpPr>
          <p:grpSpPr>
            <a:xfrm>
              <a:off x="700550" y="4635735"/>
              <a:ext cx="1150376" cy="910693"/>
              <a:chOff x="2914911" y="4526540"/>
              <a:chExt cx="1391955" cy="1101938"/>
            </a:xfrm>
          </p:grpSpPr>
          <p:sp>
            <p:nvSpPr>
              <p:cNvPr id="497" name="Google Shape;497;p20"/>
              <p:cNvSpPr/>
              <p:nvPr/>
            </p:nvSpPr>
            <p:spPr>
              <a:xfrm rot="5400000">
                <a:off x="3059919" y="4381531"/>
                <a:ext cx="1101938" cy="1391955"/>
              </a:xfrm>
              <a:custGeom>
                <a:avLst/>
                <a:gdLst/>
                <a:ahLst/>
                <a:cxnLst/>
                <a:rect l="l" t="t" r="r" b="b"/>
                <a:pathLst>
                  <a:path w="1382775" h="1686674" extrusionOk="0">
                    <a:moveTo>
                      <a:pt x="0" y="995287"/>
                    </a:moveTo>
                    <a:cubicBezTo>
                      <a:pt x="0" y="708905"/>
                      <a:pt x="174119" y="463191"/>
                      <a:pt x="422268" y="358232"/>
                    </a:cubicBezTo>
                    <a:lnTo>
                      <a:pt x="512092" y="330350"/>
                    </a:lnTo>
                    <a:lnTo>
                      <a:pt x="703695" y="0"/>
                    </a:lnTo>
                    <a:lnTo>
                      <a:pt x="900702" y="339668"/>
                    </a:lnTo>
                    <a:lnTo>
                      <a:pt x="960507" y="358232"/>
                    </a:lnTo>
                    <a:cubicBezTo>
                      <a:pt x="1208656" y="463191"/>
                      <a:pt x="1382775" y="708905"/>
                      <a:pt x="1382775" y="995287"/>
                    </a:cubicBezTo>
                    <a:cubicBezTo>
                      <a:pt x="1382775" y="1377129"/>
                      <a:pt x="1073230" y="1686674"/>
                      <a:pt x="691388" y="1686674"/>
                    </a:cubicBezTo>
                    <a:cubicBezTo>
                      <a:pt x="309545" y="1686674"/>
                      <a:pt x="0" y="1377129"/>
                      <a:pt x="0" y="995287"/>
                    </a:cubicBezTo>
                    <a:close/>
                  </a:path>
                </a:pathLst>
              </a:custGeom>
              <a:solidFill>
                <a:schemeClr val="accent4"/>
              </a:solidFill>
              <a:ln>
                <a:noFill/>
              </a:ln>
            </p:spPr>
            <p:txBody>
              <a:bodyPr spcFirstLastPara="1" wrap="square" lIns="62000" tIns="31000" rIns="62000" bIns="31000" anchor="ctr" anchorCtr="0">
                <a:noAutofit/>
              </a:bodyPr>
              <a:lstStyle/>
              <a:p>
                <a:pPr marL="0" marR="0" lvl="0" indent="0" algn="ctr" rtl="0">
                  <a:spcBef>
                    <a:spcPts val="0"/>
                  </a:spcBef>
                  <a:spcAft>
                    <a:spcPts val="0"/>
                  </a:spcAft>
                  <a:buClr>
                    <a:schemeClr val="dk1"/>
                  </a:buClr>
                  <a:buSzPts val="1221"/>
                  <a:buFont typeface="Calibri" panose="020F0502020204030204"/>
                  <a:buNone/>
                </a:pPr>
                <a:endParaRPr sz="1220">
                  <a:solidFill>
                    <a:srgbClr val="000000"/>
                  </a:solidFill>
                  <a:latin typeface="Arial" panose="020B0604020202020204"/>
                  <a:ea typeface="Arial" panose="020B0604020202020204"/>
                  <a:cs typeface="Arial" panose="020B0604020202020204"/>
                  <a:sym typeface="Arial" panose="020B0604020202020204"/>
                </a:endParaRPr>
              </a:p>
            </p:txBody>
          </p:sp>
          <p:sp>
            <p:nvSpPr>
              <p:cNvPr id="498" name="Google Shape;498;p20"/>
              <p:cNvSpPr/>
              <p:nvPr/>
            </p:nvSpPr>
            <p:spPr>
              <a:xfrm>
                <a:off x="3030676" y="4640595"/>
                <a:ext cx="904928" cy="873828"/>
              </a:xfrm>
              <a:prstGeom prst="ellipse">
                <a:avLst/>
              </a:prstGeom>
              <a:solidFill>
                <a:schemeClr val="lt1"/>
              </a:solidFill>
              <a:ln>
                <a:noFill/>
              </a:ln>
              <a:effectLst>
                <a:outerShdw blurRad="127000" dist="1143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3200"/>
                  <a:buFont typeface="Arial" panose="020B0604020202020204"/>
                  <a:buNone/>
                </a:pPr>
                <a:r>
                  <a:rPr lang="en-US" sz="3200" b="1">
                    <a:solidFill>
                      <a:schemeClr val="dk1"/>
                    </a:solidFill>
                    <a:latin typeface="Arial" panose="020B0604020202020204"/>
                    <a:ea typeface="Arial" panose="020B0604020202020204"/>
                    <a:cs typeface="Arial" panose="020B0604020202020204"/>
                    <a:sym typeface="Arial" panose="020B0604020202020204"/>
                  </a:rPr>
                  <a:t>3</a:t>
                </a:r>
                <a:endParaRPr sz="3200" b="1">
                  <a:solidFill>
                    <a:srgbClr val="000000"/>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 INCOME  - MONEY MARKET – REPURCHASE </a:t>
            </a:r>
            <a:br>
              <a:rPr lang="en-US" dirty="0"/>
            </a:br>
            <a:r>
              <a:rPr lang="en-US" dirty="0"/>
              <a:t>AGREEMENT (REPO) </a:t>
            </a:r>
            <a:endParaRPr lang="en-US" dirty="0"/>
          </a:p>
        </p:txBody>
      </p:sp>
      <p:grpSp>
        <p:nvGrpSpPr>
          <p:cNvPr id="4" name="Group 3"/>
          <p:cNvGrpSpPr/>
          <p:nvPr/>
        </p:nvGrpSpPr>
        <p:grpSpPr>
          <a:xfrm>
            <a:off x="700550" y="1524045"/>
            <a:ext cx="10992826" cy="910693"/>
            <a:chOff x="700550" y="1524045"/>
            <a:chExt cx="10992826" cy="910693"/>
          </a:xfrm>
        </p:grpSpPr>
        <p:sp>
          <p:nvSpPr>
            <p:cNvPr id="5" name="Google Shape;485;p20"/>
            <p:cNvSpPr txBox="1"/>
            <p:nvPr/>
          </p:nvSpPr>
          <p:spPr>
            <a:xfrm>
              <a:off x="1909296" y="1687024"/>
              <a:ext cx="9784080" cy="584735"/>
            </a:xfrm>
            <a:prstGeom prst="rect">
              <a:avLst/>
            </a:prstGeom>
            <a:noFill/>
            <a:ln>
              <a:noFill/>
            </a:ln>
          </p:spPr>
          <p:txBody>
            <a:bodyPr spcFirstLastPara="1" wrap="square" lIns="91425" tIns="45700" rIns="91425" bIns="45700" anchor="ctr" anchorCtr="0">
              <a:spAutoFit/>
            </a:bodyPr>
            <a:lstStyle/>
            <a:p>
              <a:pPr lvl="0"/>
              <a:r>
                <a:rPr lang="en-US" sz="1600" dirty="0"/>
                <a:t>For the party selling the security it is a REPO; For the party on the other end of the transaction, (buying the security and agreeing to sell in the future) it is a reverse repurchase agreement.</a:t>
              </a:r>
              <a:endParaRPr lang="en-US" sz="1600" dirty="0"/>
            </a:p>
          </p:txBody>
        </p:sp>
        <p:grpSp>
          <p:nvGrpSpPr>
            <p:cNvPr id="6" name="Google Shape;486;p20"/>
            <p:cNvGrpSpPr/>
            <p:nvPr/>
          </p:nvGrpSpPr>
          <p:grpSpPr>
            <a:xfrm>
              <a:off x="700550" y="1524045"/>
              <a:ext cx="1150376" cy="910693"/>
              <a:chOff x="2914911" y="4526540"/>
              <a:chExt cx="1391955" cy="1101938"/>
            </a:xfrm>
          </p:grpSpPr>
          <p:sp>
            <p:nvSpPr>
              <p:cNvPr id="7" name="Google Shape;487;p20"/>
              <p:cNvSpPr/>
              <p:nvPr/>
            </p:nvSpPr>
            <p:spPr>
              <a:xfrm rot="5400000">
                <a:off x="3059919" y="4381531"/>
                <a:ext cx="1101938" cy="1391955"/>
              </a:xfrm>
              <a:custGeom>
                <a:avLst/>
                <a:gdLst/>
                <a:ahLst/>
                <a:cxnLst/>
                <a:rect l="l" t="t" r="r" b="b"/>
                <a:pathLst>
                  <a:path w="1382775" h="1686674" extrusionOk="0">
                    <a:moveTo>
                      <a:pt x="0" y="995287"/>
                    </a:moveTo>
                    <a:cubicBezTo>
                      <a:pt x="0" y="708905"/>
                      <a:pt x="174119" y="463191"/>
                      <a:pt x="422268" y="358232"/>
                    </a:cubicBezTo>
                    <a:lnTo>
                      <a:pt x="512092" y="330350"/>
                    </a:lnTo>
                    <a:lnTo>
                      <a:pt x="703695" y="0"/>
                    </a:lnTo>
                    <a:lnTo>
                      <a:pt x="900702" y="339668"/>
                    </a:lnTo>
                    <a:lnTo>
                      <a:pt x="960507" y="358232"/>
                    </a:lnTo>
                    <a:cubicBezTo>
                      <a:pt x="1208656" y="463191"/>
                      <a:pt x="1382775" y="708905"/>
                      <a:pt x="1382775" y="995287"/>
                    </a:cubicBezTo>
                    <a:cubicBezTo>
                      <a:pt x="1382775" y="1377129"/>
                      <a:pt x="1073230" y="1686674"/>
                      <a:pt x="691388" y="1686674"/>
                    </a:cubicBezTo>
                    <a:cubicBezTo>
                      <a:pt x="309545" y="1686674"/>
                      <a:pt x="0" y="1377129"/>
                      <a:pt x="0" y="995287"/>
                    </a:cubicBezTo>
                    <a:close/>
                  </a:path>
                </a:pathLst>
              </a:custGeom>
              <a:solidFill>
                <a:schemeClr val="accent4"/>
              </a:solidFill>
              <a:ln>
                <a:noFill/>
              </a:ln>
            </p:spPr>
            <p:txBody>
              <a:bodyPr spcFirstLastPara="1" wrap="square" lIns="62000" tIns="31000" rIns="62000" bIns="31000" anchor="ctr" anchorCtr="0">
                <a:noAutofit/>
              </a:bodyPr>
              <a:lstStyle/>
              <a:p>
                <a:pPr marL="0" marR="0" lvl="0" indent="0" algn="ctr" rtl="0">
                  <a:spcBef>
                    <a:spcPts val="0"/>
                  </a:spcBef>
                  <a:spcAft>
                    <a:spcPts val="0"/>
                  </a:spcAft>
                  <a:buClr>
                    <a:schemeClr val="dk1"/>
                  </a:buClr>
                  <a:buSzPts val="1221"/>
                  <a:buFont typeface="Calibri" panose="020F0502020204030204"/>
                  <a:buNone/>
                </a:pPr>
                <a:endParaRPr sz="1220">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Google Shape;488;p20"/>
              <p:cNvSpPr/>
              <p:nvPr/>
            </p:nvSpPr>
            <p:spPr>
              <a:xfrm>
                <a:off x="3030676" y="4640595"/>
                <a:ext cx="904928" cy="873828"/>
              </a:xfrm>
              <a:prstGeom prst="ellipse">
                <a:avLst/>
              </a:prstGeom>
              <a:solidFill>
                <a:schemeClr val="lt1"/>
              </a:solidFill>
              <a:ln>
                <a:noFill/>
              </a:ln>
              <a:effectLst>
                <a:outerShdw blurRad="127000" dist="1143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200"/>
                  <a:buFont typeface="Arial" panose="020B0604020202020204"/>
                  <a:buNone/>
                </a:pPr>
                <a:r>
                  <a:rPr lang="en-US" sz="3200" b="1" dirty="0">
                    <a:solidFill>
                      <a:srgbClr val="000000"/>
                    </a:solidFill>
                    <a:latin typeface="Arial" panose="020B0604020202020204"/>
                    <a:ea typeface="Arial" panose="020B0604020202020204"/>
                    <a:cs typeface="Arial" panose="020B0604020202020204"/>
                    <a:sym typeface="Arial" panose="020B0604020202020204"/>
                  </a:rPr>
                  <a:t>4</a:t>
                </a:r>
                <a:endParaRPr sz="3200" b="1" dirty="0">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9" name="Group 8"/>
          <p:cNvGrpSpPr/>
          <p:nvPr/>
        </p:nvGrpSpPr>
        <p:grpSpPr>
          <a:xfrm>
            <a:off x="700550" y="2996648"/>
            <a:ext cx="10992826" cy="1077178"/>
            <a:chOff x="700550" y="2996648"/>
            <a:chExt cx="10992826" cy="1077178"/>
          </a:xfrm>
        </p:grpSpPr>
        <p:sp>
          <p:nvSpPr>
            <p:cNvPr id="10" name="Google Shape;490;p20"/>
            <p:cNvSpPr txBox="1"/>
            <p:nvPr/>
          </p:nvSpPr>
          <p:spPr>
            <a:xfrm>
              <a:off x="1909296" y="2996648"/>
              <a:ext cx="9784080" cy="1077178"/>
            </a:xfrm>
            <a:prstGeom prst="rect">
              <a:avLst/>
            </a:prstGeom>
            <a:noFill/>
            <a:ln>
              <a:noFill/>
            </a:ln>
          </p:spPr>
          <p:txBody>
            <a:bodyPr spcFirstLastPara="1" wrap="square" lIns="91425" tIns="45700" rIns="91425" bIns="45700" anchor="ctr" anchorCtr="0">
              <a:spAutoFit/>
            </a:bodyPr>
            <a:lstStyle/>
            <a:p>
              <a:pPr lvl="0"/>
              <a:r>
                <a:rPr lang="en-US" sz="1600" dirty="0"/>
                <a:t>Basis of tenure, there are two types of REPO agreements: </a:t>
              </a:r>
              <a:endParaRPr lang="en-US" sz="1600" dirty="0"/>
            </a:p>
            <a:p>
              <a:pPr marL="285750" lvl="0" indent="-285750">
                <a:buSzPts val="1000"/>
                <a:buFont typeface="Arial" panose="020B0604020202020204"/>
                <a:buChar char="•"/>
              </a:pPr>
              <a:r>
                <a:rPr lang="en-US" sz="1600" b="1" dirty="0"/>
                <a:t>Open REPO: </a:t>
              </a:r>
              <a:r>
                <a:rPr lang="en-US" sz="1600" dirty="0"/>
                <a:t>There is no set maturity date, but renewed each day upon agreement of both counterparties. </a:t>
              </a:r>
              <a:endParaRPr lang="en-US" sz="1600" dirty="0"/>
            </a:p>
            <a:p>
              <a:pPr marL="285750" lvl="0" indent="-285750">
                <a:buSzPts val="1000"/>
                <a:buFont typeface="Arial" panose="020B0604020202020204"/>
                <a:buChar char="•"/>
              </a:pPr>
              <a:r>
                <a:rPr lang="en-US" sz="1600" b="1" dirty="0"/>
                <a:t>Term REPO: </a:t>
              </a:r>
              <a:r>
                <a:rPr lang="en-US" sz="1600" dirty="0"/>
                <a:t>It is a REPO with a maturity of more than one day.</a:t>
              </a:r>
              <a:endParaRPr lang="en-US" sz="1600" dirty="0"/>
            </a:p>
          </p:txBody>
        </p:sp>
        <p:grpSp>
          <p:nvGrpSpPr>
            <p:cNvPr id="11" name="Google Shape;491;p20"/>
            <p:cNvGrpSpPr/>
            <p:nvPr/>
          </p:nvGrpSpPr>
          <p:grpSpPr>
            <a:xfrm>
              <a:off x="700550" y="3079890"/>
              <a:ext cx="1150376" cy="910693"/>
              <a:chOff x="2914911" y="4526540"/>
              <a:chExt cx="1391955" cy="1101938"/>
            </a:xfrm>
          </p:grpSpPr>
          <p:sp>
            <p:nvSpPr>
              <p:cNvPr id="12" name="Google Shape;492;p20"/>
              <p:cNvSpPr/>
              <p:nvPr/>
            </p:nvSpPr>
            <p:spPr>
              <a:xfrm rot="5400000">
                <a:off x="3059919" y="4381531"/>
                <a:ext cx="1101938" cy="1391955"/>
              </a:xfrm>
              <a:custGeom>
                <a:avLst/>
                <a:gdLst/>
                <a:ahLst/>
                <a:cxnLst/>
                <a:rect l="l" t="t" r="r" b="b"/>
                <a:pathLst>
                  <a:path w="1382775" h="1686674" extrusionOk="0">
                    <a:moveTo>
                      <a:pt x="0" y="995287"/>
                    </a:moveTo>
                    <a:cubicBezTo>
                      <a:pt x="0" y="708905"/>
                      <a:pt x="174119" y="463191"/>
                      <a:pt x="422268" y="358232"/>
                    </a:cubicBezTo>
                    <a:lnTo>
                      <a:pt x="512092" y="330350"/>
                    </a:lnTo>
                    <a:lnTo>
                      <a:pt x="703695" y="0"/>
                    </a:lnTo>
                    <a:lnTo>
                      <a:pt x="900702" y="339668"/>
                    </a:lnTo>
                    <a:lnTo>
                      <a:pt x="960507" y="358232"/>
                    </a:lnTo>
                    <a:cubicBezTo>
                      <a:pt x="1208656" y="463191"/>
                      <a:pt x="1382775" y="708905"/>
                      <a:pt x="1382775" y="995287"/>
                    </a:cubicBezTo>
                    <a:cubicBezTo>
                      <a:pt x="1382775" y="1377129"/>
                      <a:pt x="1073230" y="1686674"/>
                      <a:pt x="691388" y="1686674"/>
                    </a:cubicBezTo>
                    <a:cubicBezTo>
                      <a:pt x="309545" y="1686674"/>
                      <a:pt x="0" y="1377129"/>
                      <a:pt x="0" y="995287"/>
                    </a:cubicBezTo>
                    <a:close/>
                  </a:path>
                </a:pathLst>
              </a:custGeom>
              <a:solidFill>
                <a:schemeClr val="accent5"/>
              </a:solidFill>
              <a:ln>
                <a:noFill/>
              </a:ln>
            </p:spPr>
            <p:txBody>
              <a:bodyPr spcFirstLastPara="1" wrap="square" lIns="62000" tIns="31000" rIns="62000" bIns="31000" anchor="ctr" anchorCtr="0">
                <a:noAutofit/>
              </a:bodyPr>
              <a:lstStyle/>
              <a:p>
                <a:pPr marL="0" marR="0" lvl="0" indent="0" algn="ctr" rtl="0">
                  <a:spcBef>
                    <a:spcPts val="0"/>
                  </a:spcBef>
                  <a:spcAft>
                    <a:spcPts val="0"/>
                  </a:spcAft>
                  <a:buClr>
                    <a:schemeClr val="dk1"/>
                  </a:buClr>
                  <a:buSzPts val="1221"/>
                  <a:buFont typeface="Calibri" panose="020F0502020204030204"/>
                  <a:buNone/>
                </a:pPr>
                <a:endParaRPr sz="1220">
                  <a:solidFill>
                    <a:srgbClr val="000000"/>
                  </a:solidFill>
                  <a:latin typeface="Arial" panose="020B0604020202020204"/>
                  <a:ea typeface="Arial" panose="020B0604020202020204"/>
                  <a:cs typeface="Arial" panose="020B0604020202020204"/>
                  <a:sym typeface="Arial" panose="020B0604020202020204"/>
                </a:endParaRPr>
              </a:p>
            </p:txBody>
          </p:sp>
          <p:sp>
            <p:nvSpPr>
              <p:cNvPr id="13" name="Google Shape;493;p20"/>
              <p:cNvSpPr/>
              <p:nvPr/>
            </p:nvSpPr>
            <p:spPr>
              <a:xfrm>
                <a:off x="3030676" y="4640595"/>
                <a:ext cx="904928" cy="873828"/>
              </a:xfrm>
              <a:prstGeom prst="ellipse">
                <a:avLst/>
              </a:prstGeom>
              <a:solidFill>
                <a:schemeClr val="lt1"/>
              </a:solidFill>
              <a:ln>
                <a:noFill/>
              </a:ln>
              <a:effectLst>
                <a:outerShdw blurRad="127000" dist="1143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3200"/>
                  <a:buFont typeface="Arial" panose="020B0604020202020204"/>
                  <a:buNone/>
                </a:pPr>
                <a:r>
                  <a:rPr lang="en-US" sz="3200" b="1" dirty="0">
                    <a:solidFill>
                      <a:schemeClr val="dk1"/>
                    </a:solidFill>
                    <a:latin typeface="Arial" panose="020B0604020202020204"/>
                    <a:ea typeface="Arial" panose="020B0604020202020204"/>
                    <a:cs typeface="Arial" panose="020B0604020202020204"/>
                    <a:sym typeface="Arial" panose="020B0604020202020204"/>
                  </a:rPr>
                  <a:t>5</a:t>
                </a:r>
                <a:endParaRPr sz="3200" b="1" dirty="0">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14" name="Group 13"/>
          <p:cNvGrpSpPr/>
          <p:nvPr/>
        </p:nvGrpSpPr>
        <p:grpSpPr>
          <a:xfrm>
            <a:off x="700550" y="4635735"/>
            <a:ext cx="10992826" cy="910693"/>
            <a:chOff x="700550" y="4635735"/>
            <a:chExt cx="10992826" cy="910693"/>
          </a:xfrm>
        </p:grpSpPr>
        <p:sp>
          <p:nvSpPr>
            <p:cNvPr id="15" name="Google Shape;495;p20"/>
            <p:cNvSpPr txBox="1"/>
            <p:nvPr/>
          </p:nvSpPr>
          <p:spPr>
            <a:xfrm>
              <a:off x="1909296" y="4798714"/>
              <a:ext cx="9784080" cy="584735"/>
            </a:xfrm>
            <a:prstGeom prst="rect">
              <a:avLst/>
            </a:prstGeom>
            <a:noFill/>
            <a:ln>
              <a:noFill/>
            </a:ln>
          </p:spPr>
          <p:txBody>
            <a:bodyPr spcFirstLastPara="1" wrap="square" lIns="91425" tIns="45700" rIns="91425" bIns="45700" anchor="ctr" anchorCtr="0">
              <a:spAutoFit/>
            </a:bodyPr>
            <a:lstStyle/>
            <a:p>
              <a:pPr lvl="0"/>
              <a:r>
                <a:rPr lang="en-US" sz="1600" dirty="0"/>
                <a:t>There is NO secondary market for REPOs. The transactions can amount to USD 10 million. Maturity can range from 1-15 days and for one, three, or six months.</a:t>
              </a:r>
              <a:endParaRPr lang="en-US" sz="1600" dirty="0"/>
            </a:p>
          </p:txBody>
        </p:sp>
        <p:grpSp>
          <p:nvGrpSpPr>
            <p:cNvPr id="16" name="Google Shape;496;p20"/>
            <p:cNvGrpSpPr/>
            <p:nvPr/>
          </p:nvGrpSpPr>
          <p:grpSpPr>
            <a:xfrm>
              <a:off x="700550" y="4635735"/>
              <a:ext cx="1150376" cy="910693"/>
              <a:chOff x="2914911" y="4526540"/>
              <a:chExt cx="1391955" cy="1101938"/>
            </a:xfrm>
          </p:grpSpPr>
          <p:sp>
            <p:nvSpPr>
              <p:cNvPr id="17" name="Google Shape;497;p20"/>
              <p:cNvSpPr/>
              <p:nvPr/>
            </p:nvSpPr>
            <p:spPr>
              <a:xfrm rot="5400000">
                <a:off x="3059919" y="4381531"/>
                <a:ext cx="1101938" cy="1391955"/>
              </a:xfrm>
              <a:custGeom>
                <a:avLst/>
                <a:gdLst/>
                <a:ahLst/>
                <a:cxnLst/>
                <a:rect l="l" t="t" r="r" b="b"/>
                <a:pathLst>
                  <a:path w="1382775" h="1686674" extrusionOk="0">
                    <a:moveTo>
                      <a:pt x="0" y="995287"/>
                    </a:moveTo>
                    <a:cubicBezTo>
                      <a:pt x="0" y="708905"/>
                      <a:pt x="174119" y="463191"/>
                      <a:pt x="422268" y="358232"/>
                    </a:cubicBezTo>
                    <a:lnTo>
                      <a:pt x="512092" y="330350"/>
                    </a:lnTo>
                    <a:lnTo>
                      <a:pt x="703695" y="0"/>
                    </a:lnTo>
                    <a:lnTo>
                      <a:pt x="900702" y="339668"/>
                    </a:lnTo>
                    <a:lnTo>
                      <a:pt x="960507" y="358232"/>
                    </a:lnTo>
                    <a:cubicBezTo>
                      <a:pt x="1208656" y="463191"/>
                      <a:pt x="1382775" y="708905"/>
                      <a:pt x="1382775" y="995287"/>
                    </a:cubicBezTo>
                    <a:cubicBezTo>
                      <a:pt x="1382775" y="1377129"/>
                      <a:pt x="1073230" y="1686674"/>
                      <a:pt x="691388" y="1686674"/>
                    </a:cubicBezTo>
                    <a:cubicBezTo>
                      <a:pt x="309545" y="1686674"/>
                      <a:pt x="0" y="1377129"/>
                      <a:pt x="0" y="995287"/>
                    </a:cubicBezTo>
                    <a:close/>
                  </a:path>
                </a:pathLst>
              </a:custGeom>
              <a:solidFill>
                <a:schemeClr val="accent4"/>
              </a:solidFill>
              <a:ln>
                <a:noFill/>
              </a:ln>
            </p:spPr>
            <p:txBody>
              <a:bodyPr spcFirstLastPara="1" wrap="square" lIns="62000" tIns="31000" rIns="62000" bIns="31000" anchor="ctr" anchorCtr="0">
                <a:noAutofit/>
              </a:bodyPr>
              <a:lstStyle/>
              <a:p>
                <a:pPr marL="0" marR="0" lvl="0" indent="0" algn="ctr" rtl="0">
                  <a:spcBef>
                    <a:spcPts val="0"/>
                  </a:spcBef>
                  <a:spcAft>
                    <a:spcPts val="0"/>
                  </a:spcAft>
                  <a:buClr>
                    <a:schemeClr val="dk1"/>
                  </a:buClr>
                  <a:buSzPts val="1221"/>
                  <a:buFont typeface="Calibri" panose="020F0502020204030204"/>
                  <a:buNone/>
                </a:pPr>
                <a:endParaRPr sz="1220">
                  <a:solidFill>
                    <a:srgbClr val="000000"/>
                  </a:solidFill>
                  <a:latin typeface="Arial" panose="020B0604020202020204"/>
                  <a:ea typeface="Arial" panose="020B0604020202020204"/>
                  <a:cs typeface="Arial" panose="020B0604020202020204"/>
                  <a:sym typeface="Arial" panose="020B0604020202020204"/>
                </a:endParaRPr>
              </a:p>
            </p:txBody>
          </p:sp>
          <p:sp>
            <p:nvSpPr>
              <p:cNvPr id="18" name="Google Shape;498;p20"/>
              <p:cNvSpPr/>
              <p:nvPr/>
            </p:nvSpPr>
            <p:spPr>
              <a:xfrm>
                <a:off x="3030676" y="4640595"/>
                <a:ext cx="904928" cy="873828"/>
              </a:xfrm>
              <a:prstGeom prst="ellipse">
                <a:avLst/>
              </a:prstGeom>
              <a:solidFill>
                <a:schemeClr val="lt1"/>
              </a:solidFill>
              <a:ln>
                <a:noFill/>
              </a:ln>
              <a:effectLst>
                <a:outerShdw blurRad="127000" dist="1143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3200"/>
                  <a:buFont typeface="Arial" panose="020B0604020202020204"/>
                  <a:buNone/>
                </a:pPr>
                <a:r>
                  <a:rPr lang="en-US" sz="3200" b="1" dirty="0">
                    <a:solidFill>
                      <a:schemeClr val="dk1"/>
                    </a:solidFill>
                    <a:latin typeface="Arial" panose="020B0604020202020204"/>
                    <a:ea typeface="Arial" panose="020B0604020202020204"/>
                    <a:cs typeface="Arial" panose="020B0604020202020204"/>
                    <a:sym typeface="Arial" panose="020B0604020202020204"/>
                  </a:rPr>
                  <a:t>6</a:t>
                </a:r>
                <a:endParaRPr sz="3200" b="1" dirty="0">
                  <a:solidFill>
                    <a:srgbClr val="000000"/>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FIXED INCOME  - MONEY MARKET – REPURCHASE </a:t>
            </a:r>
            <a:br>
              <a:rPr lang="en-US" dirty="0"/>
            </a:br>
            <a:r>
              <a:rPr lang="en-US" dirty="0"/>
              <a:t>AGREEMENT (REPO) </a:t>
            </a:r>
            <a:endParaRPr lang="en-US" dirty="0"/>
          </a:p>
        </p:txBody>
      </p:sp>
      <p:pic>
        <p:nvPicPr>
          <p:cNvPr id="524" name="Google Shape;524;p22"/>
          <p:cNvPicPr preferRelativeResize="0">
            <a:picLocks noChangeAspect="1"/>
          </p:cNvPicPr>
          <p:nvPr/>
        </p:nvPicPr>
        <p:blipFill rotWithShape="1">
          <a:blip r:embed="rId1"/>
          <a:stretch>
            <a:fillRect/>
          </a:stretch>
        </p:blipFill>
        <p:spPr>
          <a:xfrm>
            <a:off x="6785510" y="1487241"/>
            <a:ext cx="4912714" cy="2469928"/>
          </a:xfrm>
          <a:prstGeom prst="rect">
            <a:avLst/>
          </a:prstGeom>
          <a:noFill/>
          <a:ln>
            <a:noFill/>
          </a:ln>
          <a:effectLst>
            <a:outerShdw blurRad="127000" algn="tl" rotWithShape="0">
              <a:srgbClr val="000000">
                <a:alpha val="20000"/>
              </a:srgbClr>
            </a:outerShdw>
          </a:effectLst>
        </p:spPr>
      </p:pic>
      <p:grpSp>
        <p:nvGrpSpPr>
          <p:cNvPr id="3" name="Group 2"/>
          <p:cNvGrpSpPr/>
          <p:nvPr/>
        </p:nvGrpSpPr>
        <p:grpSpPr>
          <a:xfrm>
            <a:off x="700549" y="1487241"/>
            <a:ext cx="5943600" cy="4663440"/>
            <a:chOff x="700549" y="1487241"/>
            <a:chExt cx="5943600" cy="4663440"/>
          </a:xfrm>
        </p:grpSpPr>
        <p:sp>
          <p:nvSpPr>
            <p:cNvPr id="526" name="Google Shape;526;p22"/>
            <p:cNvSpPr/>
            <p:nvPr/>
          </p:nvSpPr>
          <p:spPr>
            <a:xfrm>
              <a:off x="700549" y="1487241"/>
              <a:ext cx="5943600" cy="4663440"/>
            </a:xfrm>
            <a:prstGeom prst="roundRect">
              <a:avLst>
                <a:gd name="adj" fmla="val 3860"/>
              </a:avLst>
            </a:prstGeom>
            <a:solidFill>
              <a:schemeClr val="accent3">
                <a:lumMod val="20000"/>
                <a:lumOff val="80000"/>
              </a:schemeClr>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1874520" marR="0" lvl="0" indent="0" algn="l" rtl="0">
                <a:spcBef>
                  <a:spcPts val="0"/>
                </a:spcBef>
                <a:spcAft>
                  <a:spcPts val="0"/>
                </a:spcAft>
                <a:buNone/>
              </a:pP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27" name="Google Shape;527;p22"/>
            <p:cNvSpPr txBox="1"/>
            <p:nvPr/>
          </p:nvSpPr>
          <p:spPr>
            <a:xfrm>
              <a:off x="807316" y="1602970"/>
              <a:ext cx="5730066" cy="44319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REPO and Reverse REPO Deals REPO deals are quoted on a yield basis. The rate is quoted as a simple interest yield on a 360 days basis. This is set upon initiation of the transaction and fixed for the term of REPO. REPO transactions have two legs: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6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b="1" dirty="0">
                  <a:solidFill>
                    <a:schemeClr val="dk1"/>
                  </a:solidFill>
                  <a:latin typeface="Arial" panose="020B0604020202020204"/>
                  <a:ea typeface="Arial" panose="020B0604020202020204"/>
                  <a:cs typeface="Arial" panose="020B0604020202020204"/>
                  <a:sym typeface="Arial" panose="020B0604020202020204"/>
                </a:rPr>
                <a:t>Leg 1 or Opening leg: </a:t>
              </a:r>
              <a:r>
                <a:rPr lang="en-US" sz="1600" dirty="0">
                  <a:solidFill>
                    <a:schemeClr val="dk1"/>
                  </a:solidFill>
                  <a:latin typeface="Arial" panose="020B0604020202020204"/>
                  <a:ea typeface="Arial" panose="020B0604020202020204"/>
                  <a:cs typeface="Arial" panose="020B0604020202020204"/>
                  <a:sym typeface="Arial" panose="020B0604020202020204"/>
                </a:rPr>
                <a:t>When cash is borrowed against collateral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b="1" dirty="0">
                  <a:solidFill>
                    <a:schemeClr val="dk1"/>
                  </a:solidFill>
                  <a:latin typeface="Arial" panose="020B0604020202020204"/>
                  <a:ea typeface="Arial" panose="020B0604020202020204"/>
                  <a:cs typeface="Arial" panose="020B0604020202020204"/>
                  <a:sym typeface="Arial" panose="020B0604020202020204"/>
                </a:rPr>
                <a:t>Leg 2 or Closing leg: </a:t>
              </a:r>
              <a:r>
                <a:rPr lang="en-US" sz="1600" dirty="0">
                  <a:solidFill>
                    <a:schemeClr val="dk1"/>
                  </a:solidFill>
                  <a:latin typeface="Arial" panose="020B0604020202020204"/>
                  <a:ea typeface="Arial" panose="020B0604020202020204"/>
                  <a:cs typeface="Arial" panose="020B0604020202020204"/>
                  <a:sym typeface="Arial" panose="020B0604020202020204"/>
                </a:rPr>
                <a:t>Where REPO  (repurchase ) transaction takes place, i.e. securities are repurchased by repaying REPO loan plus interest.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6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600" dirty="0">
                  <a:solidFill>
                    <a:schemeClr val="tx1"/>
                  </a:solidFill>
                  <a:latin typeface="Arial" panose="020B0604020202020204"/>
                  <a:ea typeface="Arial" panose="020B0604020202020204"/>
                  <a:cs typeface="Arial" panose="020B0604020202020204"/>
                  <a:sym typeface="Arial" panose="020B0604020202020204"/>
                </a:rPr>
                <a:t>In a </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Leg-2 of </a:t>
              </a:r>
              <a:r>
                <a:rPr lang="en-US" sz="1600" dirty="0">
                  <a:solidFill>
                    <a:schemeClr val="tx1"/>
                  </a:solidFill>
                  <a:latin typeface="Arial" panose="020B0604020202020204"/>
                  <a:ea typeface="Arial" panose="020B0604020202020204"/>
                  <a:cs typeface="Arial" panose="020B0604020202020204"/>
                  <a:sym typeface="Arial" panose="020B0604020202020204"/>
                </a:rPr>
                <a:t> REPO transaction, </a:t>
              </a:r>
              <a:r>
                <a:rPr lang="en-US" sz="1600" dirty="0" err="1">
                  <a:solidFill>
                    <a:schemeClr val="tx1"/>
                  </a:solidFill>
                  <a:latin typeface="Arial" panose="020B0604020202020204"/>
                  <a:ea typeface="Arial" panose="020B0604020202020204"/>
                  <a:cs typeface="Arial" panose="020B0604020202020204"/>
                  <a:sym typeface="Arial" panose="020B0604020202020204"/>
                </a:rPr>
                <a:t>th</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e </a:t>
              </a:r>
              <a:r>
                <a:rPr lang="en-US" sz="1600" dirty="0">
                  <a:solidFill>
                    <a:schemeClr val="tx1"/>
                  </a:solidFill>
                  <a:latin typeface="Arial" panose="020B0604020202020204"/>
                  <a:ea typeface="Arial" panose="020B0604020202020204"/>
                  <a:cs typeface="Arial" panose="020B0604020202020204"/>
                  <a:sym typeface="Arial" panose="020B0604020202020204"/>
                </a:rPr>
                <a:t>payment is calculated: </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600" b="1" dirty="0">
                  <a:solidFill>
                    <a:schemeClr val="tx1"/>
                  </a:solidFill>
                  <a:latin typeface="Arial" panose="020B0604020202020204"/>
                  <a:ea typeface="Arial" panose="020B0604020202020204"/>
                  <a:cs typeface="Arial" panose="020B0604020202020204"/>
                  <a:sym typeface="Arial" panose="020B0604020202020204"/>
                </a:rPr>
                <a:t>Reverse principal + Interest = Reverse Principal x (1 + (y x t / 360))</a:t>
              </a:r>
              <a:endParaRPr lang="en-US" sz="1600" b="1" dirty="0">
                <a:solidFill>
                  <a:schemeClr val="tx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600" b="1"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Where,</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 Y = Yield or Repo Rate and T = Maturity of the Reverse REPO.</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529" name="Google Shape;529;p22"/>
          <p:cNvSpPr/>
          <p:nvPr/>
        </p:nvSpPr>
        <p:spPr>
          <a:xfrm>
            <a:off x="6785510" y="4090415"/>
            <a:ext cx="4912714" cy="2060265"/>
          </a:xfrm>
          <a:prstGeom prst="round1Rect">
            <a:avLst>
              <a:gd name="adj" fmla="val 17058"/>
            </a:avLst>
          </a:prstGeom>
          <a:solidFill>
            <a:schemeClr val="accent4">
              <a:lumMod val="20000"/>
              <a:lumOff val="80000"/>
            </a:schemeClr>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30" name="Google Shape;530;p22"/>
          <p:cNvSpPr txBox="1"/>
          <p:nvPr/>
        </p:nvSpPr>
        <p:spPr>
          <a:xfrm>
            <a:off x="6910147" y="4213767"/>
            <a:ext cx="4663440" cy="18135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rPr>
              <a:t>Difference between REPO and Reverse REPO: </a:t>
            </a:r>
            <a:endParaRPr lang="en-US" sz="1600" b="1" dirty="0">
              <a:solidFill>
                <a:schemeClr val="dk1"/>
              </a:solidFill>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rPr>
              <a:t>Under Reverse REPO, the buyer of the security has the right to</a:t>
            </a:r>
            <a:r>
              <a:rPr lang="en-IN" altLang="en-US" sz="1600" dirty="0">
                <a:solidFill>
                  <a:schemeClr val="dk1"/>
                </a:solidFill>
              </a:rPr>
              <a:t> sell back/</a:t>
            </a:r>
            <a:r>
              <a:rPr lang="en-US" sz="1600" dirty="0">
                <a:solidFill>
                  <a:schemeClr val="dk1"/>
                </a:solidFill>
              </a:rPr>
              <a:t>surrender the security at a future date</a:t>
            </a:r>
            <a:r>
              <a:rPr lang="en-IN" altLang="en-US" sz="1600" dirty="0">
                <a:solidFill>
                  <a:schemeClr val="dk1"/>
                </a:solidFill>
              </a:rPr>
              <a:t> at a higher price.</a:t>
            </a:r>
            <a:endParaRPr lang="en-IN" altLang="en-US" sz="1600" dirty="0">
              <a:solidFill>
                <a:schemeClr val="dk1"/>
              </a:solidFill>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rPr>
              <a:t>Under REPO, the seller of the security has the right to repurchase the security at a future date </a:t>
            </a:r>
            <a:r>
              <a:rPr lang="en-IN" altLang="en-US" sz="1600" dirty="0">
                <a:solidFill>
                  <a:schemeClr val="dk1"/>
                </a:solidFill>
              </a:rPr>
              <a:t>at a higher price.</a:t>
            </a:r>
            <a:endParaRPr lang="en-IN" altLang="en-US" sz="1600" dirty="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23"/>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2" name="Title 1"/>
          <p:cNvSpPr>
            <a:spLocks noGrp="1"/>
          </p:cNvSpPr>
          <p:nvPr>
            <p:ph type="title"/>
          </p:nvPr>
        </p:nvSpPr>
        <p:spPr/>
        <p:txBody>
          <a:bodyPr/>
          <a:lstStyle/>
          <a:p>
            <a:r>
              <a:rPr lang="en-US" dirty="0"/>
              <a:t>FIXED INCOME  - MONEY MARKET – COMMERCIAL PAPER</a:t>
            </a:r>
            <a:endParaRPr lang="en-US" dirty="0"/>
          </a:p>
        </p:txBody>
      </p:sp>
      <p:grpSp>
        <p:nvGrpSpPr>
          <p:cNvPr id="3" name="Group 2"/>
          <p:cNvGrpSpPr/>
          <p:nvPr/>
        </p:nvGrpSpPr>
        <p:grpSpPr>
          <a:xfrm>
            <a:off x="700550" y="1477729"/>
            <a:ext cx="10972799" cy="4480560"/>
            <a:chOff x="700550" y="1477729"/>
            <a:chExt cx="10972799" cy="4480560"/>
          </a:xfrm>
        </p:grpSpPr>
        <p:sp>
          <p:nvSpPr>
            <p:cNvPr id="539" name="Google Shape;539;p23"/>
            <p:cNvSpPr/>
            <p:nvPr/>
          </p:nvSpPr>
          <p:spPr>
            <a:xfrm>
              <a:off x="700550" y="1477729"/>
              <a:ext cx="10972799" cy="4480560"/>
            </a:xfrm>
            <a:prstGeom prst="roundRect">
              <a:avLst>
                <a:gd name="adj" fmla="val 4691"/>
              </a:avLst>
            </a:prstGeom>
            <a:noFill/>
            <a:ln w="19050" cap="flat" cmpd="sng">
              <a:solidFill>
                <a:schemeClr val="accent4"/>
              </a:solidFill>
              <a:prstDash val="solid"/>
              <a:miter lim="800000"/>
              <a:headEnd type="none" w="sm" len="sm"/>
              <a:tailEnd type="none" w="sm" len="sm"/>
            </a:ln>
            <a:effectLst>
              <a:outerShdw blurRad="50800" dist="38100" dir="10800000" algn="r" rotWithShape="0">
                <a:srgbClr val="000000">
                  <a:alpha val="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40" name="Google Shape;540;p23"/>
            <p:cNvSpPr/>
            <p:nvPr/>
          </p:nvSpPr>
          <p:spPr>
            <a:xfrm>
              <a:off x="700550" y="1477729"/>
              <a:ext cx="10972799" cy="482176"/>
            </a:xfrm>
            <a:prstGeom prst="round2SameRect">
              <a:avLst>
                <a:gd name="adj1" fmla="val 50000"/>
                <a:gd name="adj2" fmla="val 0"/>
              </a:avLst>
            </a:prstGeom>
            <a:solidFill>
              <a:schemeClr val="accent4"/>
            </a:solidFill>
            <a:ln w="9525" cap="flat" cmpd="sng">
              <a:solidFill>
                <a:schemeClr val="accent4"/>
              </a:solidFill>
              <a:prstDash val="solid"/>
              <a:round/>
              <a:headEnd type="none" w="sm" len="sm"/>
              <a:tailEnd type="none" w="sm" len="sm"/>
            </a:ln>
          </p:spPr>
          <p:txBody>
            <a:bodyPr spcFirstLastPara="1" wrap="square" lIns="182875" tIns="45700" rIns="182875" bIns="45700" anchor="t" anchorCtr="0">
              <a:noAutofit/>
            </a:bodyPr>
            <a:lstStyle/>
            <a:p>
              <a:pPr marL="0" marR="0" lvl="0" indent="0" algn="ctr"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Commercial paper</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541" name="Google Shape;541;p23"/>
            <p:cNvSpPr txBox="1"/>
            <p:nvPr/>
          </p:nvSpPr>
          <p:spPr>
            <a:xfrm>
              <a:off x="791989" y="2090662"/>
              <a:ext cx="10789920" cy="3644075"/>
            </a:xfrm>
            <a:prstGeom prst="rect">
              <a:avLst/>
            </a:prstGeom>
            <a:noFill/>
            <a:ln>
              <a:noFill/>
            </a:ln>
          </p:spPr>
          <p:txBody>
            <a:bodyPr spcFirstLastPara="1" wrap="square" lIns="91425" tIns="0" rIns="91425" bIns="0" anchor="t" anchorCtr="0">
              <a:spAutoFit/>
            </a:bodyPr>
            <a:lstStyle/>
            <a:p>
              <a:pPr marL="0" marR="0" lvl="0" indent="0" algn="l" rtl="0">
                <a:spcBef>
                  <a:spcPts val="0"/>
                </a:spcBef>
                <a:spcAft>
                  <a:spcPts val="0"/>
                </a:spcAft>
                <a:buNone/>
              </a:pPr>
              <a:r>
                <a:rPr lang="en-US" sz="1600" dirty="0">
                  <a:solidFill>
                    <a:schemeClr val="dk1"/>
                  </a:solidFill>
                  <a:latin typeface="Arial" panose="020B0604020202020204"/>
                  <a:ea typeface="Arial" panose="020B0604020202020204"/>
                  <a:cs typeface="Arial" panose="020B0604020202020204"/>
                  <a:sym typeface="Arial" panose="020B0604020202020204"/>
                </a:rPr>
                <a:t>Commercial paper are unsecured promissory notes for a specified amount to be paid at a specified date. It is issued by large corporations to meet short-term debt requirements and they are issued at discount &amp; redeemed at par . The issuers are finance companies and banks, but also include corporations with strong credit, and even foreign corporations and sovereign issuers.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600"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lnSpc>
                  <a:spcPct val="140000"/>
                </a:lnSpc>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They are issued by large corporations at a discount for 1 to 270 days.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lnSpc>
                  <a:spcPct val="140000"/>
                </a:lnSpc>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The Yield is higher for commercial papers compared to T-Bills.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lnSpc>
                  <a:spcPct val="140000"/>
                </a:lnSpc>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The buyers include mutual funds, banks, insurance companies, and pension funds because commercial paper is usually sold in round lots of $100,000.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lnSpc>
                  <a:spcPct val="140000"/>
                </a:lnSpc>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Financial Corporations sell 2/3rd of total commercial paper, and sell their issues directly to the public.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lnSpc>
                  <a:spcPct val="140000"/>
                </a:lnSpc>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Corporations that borrow less frequently sell commercial papers, which are known as Industrial Papers, to paper dealers and charge a markup and sell to investors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pic>
        <p:nvPicPr>
          <p:cNvPr id="3" name="Picture Placeholder 2"/>
          <p:cNvPicPr preferRelativeResize="0">
            <a:picLocks noGrp="1"/>
          </p:cNvPicPr>
          <p:nvPr>
            <p:ph type="pic" idx="2"/>
          </p:nvPr>
        </p:nvPicPr>
        <p:blipFill rotWithShape="1">
          <a:blip r:embed="rId1"/>
          <a:srcRect l="544" t="2417" r="2379" b="2417"/>
          <a:stretch>
            <a:fillRect/>
          </a:stretch>
        </p:blipFill>
        <p:spPr>
          <a:xfrm>
            <a:off x="4024508" y="0"/>
            <a:ext cx="8166551" cy="6858000"/>
          </a:xfrm>
          <a:custGeom>
            <a:avLst/>
            <a:gdLst>
              <a:gd name="csX0" fmla="*/ 0 w 8166551"/>
              <a:gd name="csY0" fmla="*/ 0 h 6858000"/>
              <a:gd name="csX1" fmla="*/ 8166551 w 8166551"/>
              <a:gd name="csY1" fmla="*/ 0 h 6858000"/>
              <a:gd name="csX2" fmla="*/ 8166551 w 8166551"/>
              <a:gd name="csY2" fmla="*/ 6858000 h 6858000"/>
              <a:gd name="csX3" fmla="*/ 2073539 w 8166551"/>
              <a:gd name="csY3" fmla="*/ 6858000 h 6858000"/>
            </a:gdLst>
            <a:ahLst/>
            <a:cxnLst>
              <a:cxn ang="0">
                <a:pos x="csX0" y="csY0"/>
              </a:cxn>
              <a:cxn ang="0">
                <a:pos x="csX1" y="csY1"/>
              </a:cxn>
              <a:cxn ang="0">
                <a:pos x="csX2" y="csY2"/>
              </a:cxn>
              <a:cxn ang="0">
                <a:pos x="csX3" y="csY3"/>
              </a:cxn>
            </a:cxnLst>
            <a:rect l="l" t="t" r="r" b="b"/>
            <a:pathLst>
              <a:path w="8166551" h="6858000">
                <a:moveTo>
                  <a:pt x="0" y="0"/>
                </a:moveTo>
                <a:lnTo>
                  <a:pt x="8166551" y="0"/>
                </a:lnTo>
                <a:lnTo>
                  <a:pt x="8166551" y="6858000"/>
                </a:lnTo>
                <a:lnTo>
                  <a:pt x="2073539" y="6858000"/>
                </a:lnTo>
                <a:close/>
              </a:path>
            </a:pathLst>
          </a:custGeom>
          <a:solidFill>
            <a:srgbClr val="F2F2F2"/>
          </a:solidFill>
          <a:ln>
            <a:noFill/>
          </a:ln>
        </p:spPr>
      </p:pic>
      <p:sp>
        <p:nvSpPr>
          <p:cNvPr id="547" name="Google Shape;547;p24"/>
          <p:cNvSpPr/>
          <p:nvPr/>
        </p:nvSpPr>
        <p:spPr>
          <a:xfrm flipH="1">
            <a:off x="4024507" y="0"/>
            <a:ext cx="8166551" cy="6858000"/>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548" name="Google Shape;548;p24"/>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bg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549" name="Google Shape;549;p24"/>
          <p:cNvSpPr txBox="1"/>
          <p:nvPr/>
        </p:nvSpPr>
        <p:spPr>
          <a:xfrm>
            <a:off x="617538" y="3044279"/>
            <a:ext cx="7053813"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rgbClr val="FFFFFF"/>
                </a:solidFill>
                <a:latin typeface="Arial" panose="020B0604020202020204"/>
                <a:ea typeface="Arial" panose="020B0604020202020204"/>
                <a:cs typeface="Arial" panose="020B0604020202020204"/>
                <a:sym typeface="Arial" panose="020B0604020202020204"/>
              </a:rPr>
              <a:t>Fixed Income - Bonds</a:t>
            </a:r>
            <a:endParaRPr sz="4400" b="1">
              <a:solidFill>
                <a:srgbClr val="FFFFFF"/>
              </a:solidFill>
              <a:latin typeface="Arial" panose="020B0604020202020204"/>
              <a:ea typeface="Arial" panose="020B0604020202020204"/>
              <a:cs typeface="Arial" panose="020B0604020202020204"/>
              <a:sym typeface="Arial" panose="020B0604020202020204"/>
            </a:endParaRPr>
          </a:p>
        </p:txBody>
      </p:sp>
      <p:pic>
        <p:nvPicPr>
          <p:cNvPr id="551" name="Google Shape;551;p24" descr="A picture containing text, clipart&#10;&#10;Description automatically generated"/>
          <p:cNvPicPr preferRelativeResize="0"/>
          <p:nvPr/>
        </p:nvPicPr>
        <p:blipFill rotWithShape="1">
          <a:blip r:embed="rId2"/>
          <a:srcRect/>
          <a:stretch>
            <a:fillRect/>
          </a:stretch>
        </p:blipFill>
        <p:spPr>
          <a:xfrm>
            <a:off x="9533468" y="312483"/>
            <a:ext cx="2421466" cy="49196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 name="Title 4"/>
          <p:cNvSpPr>
            <a:spLocks noGrp="1"/>
          </p:cNvSpPr>
          <p:nvPr>
            <p:ph type="title"/>
          </p:nvPr>
        </p:nvSpPr>
        <p:spPr/>
        <p:txBody>
          <a:bodyPr/>
          <a:lstStyle/>
          <a:p>
            <a:r>
              <a:rPr lang="en-US" dirty="0"/>
              <a:t>BONDS</a:t>
            </a:r>
            <a:endParaRPr lang="en-US" dirty="0"/>
          </a:p>
        </p:txBody>
      </p:sp>
      <p:sp>
        <p:nvSpPr>
          <p:cNvPr id="560" name="Google Shape;560;p25"/>
          <p:cNvSpPr/>
          <p:nvPr/>
        </p:nvSpPr>
        <p:spPr>
          <a:xfrm>
            <a:off x="700550" y="1477357"/>
            <a:ext cx="10972800" cy="914400"/>
          </a:xfrm>
          <a:prstGeom prst="roundRect">
            <a:avLst>
              <a:gd name="adj" fmla="val 13799"/>
            </a:avLst>
          </a:prstGeom>
          <a:solidFill>
            <a:srgbClr val="FFFFFF"/>
          </a:solidFill>
          <a:ln w="9525" cap="rnd"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rgbClr val="FFFFFF"/>
              </a:solidFill>
              <a:latin typeface="Arial" panose="020B0604020202020204"/>
              <a:ea typeface="Arial" panose="020B0604020202020204"/>
              <a:cs typeface="Arial" panose="020B0604020202020204"/>
              <a:sym typeface="Arial" panose="020B0604020202020204"/>
            </a:endParaRPr>
          </a:p>
        </p:txBody>
      </p:sp>
      <p:sp>
        <p:nvSpPr>
          <p:cNvPr id="561" name="Google Shape;561;p25"/>
          <p:cNvSpPr txBox="1"/>
          <p:nvPr/>
        </p:nvSpPr>
        <p:spPr>
          <a:xfrm>
            <a:off x="804632" y="1568000"/>
            <a:ext cx="10764636" cy="733114"/>
          </a:xfrm>
          <a:prstGeom prst="rect">
            <a:avLst/>
          </a:prstGeom>
          <a:noFill/>
          <a:ln>
            <a:noFill/>
          </a:ln>
        </p:spPr>
        <p:txBody>
          <a:bodyPr spcFirstLastPara="1" wrap="square" lIns="0" tIns="0" rIns="0" bIns="0" anchor="t" anchorCtr="0">
            <a:noAutofit/>
          </a:bodyPr>
          <a:lstStyle/>
          <a:p>
            <a:pPr marL="0" marR="0" lvl="0" indent="-101600" algn="ctr" rtl="0">
              <a:spcBef>
                <a:spcPts val="0"/>
              </a:spcBef>
              <a:spcAft>
                <a:spcPts val="0"/>
              </a:spcAft>
              <a:buClr>
                <a:schemeClr val="dk1"/>
              </a:buClr>
              <a:buSzPts val="1600"/>
              <a:buFont typeface="Trebuchet MS" panose="020B0603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A </a:t>
            </a:r>
            <a:r>
              <a:rPr lang="en-US" sz="1600" b="1" dirty="0">
                <a:solidFill>
                  <a:schemeClr val="dk1"/>
                </a:solidFill>
                <a:latin typeface="Arial" panose="020B0604020202020204"/>
                <a:ea typeface="Arial" panose="020B0604020202020204"/>
                <a:cs typeface="Arial" panose="020B0604020202020204"/>
                <a:sym typeface="Arial" panose="020B0604020202020204"/>
              </a:rPr>
              <a:t>bond </a:t>
            </a:r>
            <a:r>
              <a:rPr lang="en-US" sz="1600" dirty="0">
                <a:solidFill>
                  <a:schemeClr val="dk1"/>
                </a:solidFill>
                <a:latin typeface="Arial" panose="020B0604020202020204"/>
                <a:ea typeface="Arial" panose="020B0604020202020204"/>
                <a:cs typeface="Arial" panose="020B0604020202020204"/>
                <a:sym typeface="Arial" panose="020B0604020202020204"/>
              </a:rPr>
              <a:t>is a fixed income security that represents a loan made by an investor to a borrower. When you purchase a bond, you are essentially lending your money to the issuer (which could be a government, corporation, or other entity) in exchange for periodic interest payments and the return of the bond's face value (or principal) at maturity.</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563" name="Google Shape;563;p25"/>
          <p:cNvSpPr/>
          <p:nvPr/>
        </p:nvSpPr>
        <p:spPr>
          <a:xfrm>
            <a:off x="4542910" y="2626516"/>
            <a:ext cx="32880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Arial" panose="020B0604020202020204"/>
                <a:ea typeface="Arial" panose="020B0604020202020204"/>
                <a:cs typeface="Arial" panose="020B0604020202020204"/>
                <a:sym typeface="Arial" panose="020B0604020202020204"/>
              </a:rPr>
              <a:t>Key Components of a Bond:</a:t>
            </a:r>
            <a:endParaRPr lang="en-US" sz="1800" b="1" dirty="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3" name="Group 2"/>
          <p:cNvGrpSpPr/>
          <p:nvPr/>
        </p:nvGrpSpPr>
        <p:grpSpPr>
          <a:xfrm>
            <a:off x="660400" y="4154513"/>
            <a:ext cx="11012950" cy="766968"/>
            <a:chOff x="660400" y="3927429"/>
            <a:chExt cx="11012950" cy="766968"/>
          </a:xfrm>
        </p:grpSpPr>
        <p:grpSp>
          <p:nvGrpSpPr>
            <p:cNvPr id="565" name="Google Shape;565;p25"/>
            <p:cNvGrpSpPr/>
            <p:nvPr/>
          </p:nvGrpSpPr>
          <p:grpSpPr>
            <a:xfrm>
              <a:off x="660400" y="3927429"/>
              <a:ext cx="998852" cy="766968"/>
              <a:chOff x="700550" y="2682647"/>
              <a:chExt cx="1427442" cy="1096060"/>
            </a:xfrm>
          </p:grpSpPr>
          <p:sp>
            <p:nvSpPr>
              <p:cNvPr id="566" name="Google Shape;566;p25"/>
              <p:cNvSpPr/>
              <p:nvPr/>
            </p:nvSpPr>
            <p:spPr>
              <a:xfrm>
                <a:off x="1426736" y="2937310"/>
                <a:ext cx="640366" cy="640366"/>
              </a:xfrm>
              <a:prstGeom prst="ellipse">
                <a:avLst/>
              </a:prstGeom>
              <a:solidFill>
                <a:schemeClr val="accent4"/>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1600" b="1" dirty="0">
                    <a:solidFill>
                      <a:schemeClr val="lt1"/>
                    </a:solidFill>
                    <a:latin typeface="Arial" panose="020B0604020202020204"/>
                    <a:ea typeface="Arial" panose="020B0604020202020204"/>
                    <a:cs typeface="Arial" panose="020B0604020202020204"/>
                    <a:sym typeface="Arial" panose="020B0604020202020204"/>
                  </a:rPr>
                  <a:t>02</a:t>
                </a:r>
                <a:endParaRPr sz="16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567" name="Google Shape;567;p25"/>
              <p:cNvSpPr/>
              <p:nvPr/>
            </p:nvSpPr>
            <p:spPr>
              <a:xfrm>
                <a:off x="700550" y="2682647"/>
                <a:ext cx="1427442" cy="1096060"/>
              </a:xfrm>
              <a:custGeom>
                <a:avLst/>
                <a:gdLst/>
                <a:ahLst/>
                <a:cxnLst/>
                <a:rect l="l" t="t" r="r" b="b"/>
                <a:pathLst>
                  <a:path w="1771834" h="1360502" extrusionOk="0">
                    <a:moveTo>
                      <a:pt x="1372151" y="0"/>
                    </a:moveTo>
                    <a:cubicBezTo>
                      <a:pt x="1452516" y="0"/>
                      <a:pt x="1517573" y="66936"/>
                      <a:pt x="1514020" y="149094"/>
                    </a:cubicBezTo>
                    <a:cubicBezTo>
                      <a:pt x="1510466" y="223163"/>
                      <a:pt x="1449782" y="282966"/>
                      <a:pt x="1375705" y="284749"/>
                    </a:cubicBezTo>
                    <a:cubicBezTo>
                      <a:pt x="1333883" y="285640"/>
                      <a:pt x="1296434" y="267808"/>
                      <a:pt x="1269645" y="240167"/>
                    </a:cubicBezTo>
                    <a:cubicBezTo>
                      <a:pt x="1241764" y="210680"/>
                      <a:pt x="1200762" y="198197"/>
                      <a:pt x="1162493" y="208005"/>
                    </a:cubicBezTo>
                    <a:cubicBezTo>
                      <a:pt x="924132" y="269591"/>
                      <a:pt x="750009" y="490970"/>
                      <a:pt x="761490" y="750753"/>
                    </a:cubicBezTo>
                    <a:cubicBezTo>
                      <a:pt x="773244" y="1024803"/>
                      <a:pt x="995476" y="1247137"/>
                      <a:pt x="1269645" y="1260512"/>
                    </a:cubicBezTo>
                    <a:cubicBezTo>
                      <a:pt x="1460989" y="1269985"/>
                      <a:pt x="1632046" y="1177633"/>
                      <a:pt x="1733431" y="1032946"/>
                    </a:cubicBezTo>
                    <a:lnTo>
                      <a:pt x="1771834" y="964587"/>
                    </a:lnTo>
                    <a:lnTo>
                      <a:pt x="1771834" y="1143266"/>
                    </a:lnTo>
                    <a:lnTo>
                      <a:pt x="1722647" y="1195072"/>
                    </a:lnTo>
                    <a:cubicBezTo>
                      <a:pt x="1610144" y="1297735"/>
                      <a:pt x="1460443" y="1360502"/>
                      <a:pt x="1296434" y="1360502"/>
                    </a:cubicBezTo>
                    <a:cubicBezTo>
                      <a:pt x="998210" y="1360502"/>
                      <a:pt x="747275" y="1153388"/>
                      <a:pt x="680305" y="875773"/>
                    </a:cubicBezTo>
                    <a:cubicBezTo>
                      <a:pt x="668824" y="827561"/>
                      <a:pt x="625909" y="794507"/>
                      <a:pt x="576706" y="794507"/>
                    </a:cubicBezTo>
                    <a:lnTo>
                      <a:pt x="48322" y="794507"/>
                    </a:lnTo>
                    <a:cubicBezTo>
                      <a:pt x="17980" y="794507"/>
                      <a:pt x="-5254" y="767758"/>
                      <a:pt x="1033" y="736487"/>
                    </a:cubicBezTo>
                    <a:cubicBezTo>
                      <a:pt x="5406" y="713241"/>
                      <a:pt x="27001" y="698083"/>
                      <a:pt x="49962" y="698083"/>
                    </a:cubicBezTo>
                    <a:lnTo>
                      <a:pt x="567959" y="698083"/>
                    </a:lnTo>
                    <a:cubicBezTo>
                      <a:pt x="619621" y="698083"/>
                      <a:pt x="663357" y="661463"/>
                      <a:pt x="673198" y="610640"/>
                    </a:cubicBezTo>
                    <a:cubicBezTo>
                      <a:pt x="721307" y="350857"/>
                      <a:pt x="927686" y="146419"/>
                      <a:pt x="1188187" y="101773"/>
                    </a:cubicBezTo>
                    <a:cubicBezTo>
                      <a:pt x="1216069" y="97315"/>
                      <a:pt x="1240944" y="81266"/>
                      <a:pt x="1257891" y="58020"/>
                    </a:cubicBezTo>
                    <a:cubicBezTo>
                      <a:pt x="1283860" y="23183"/>
                      <a:pt x="1324862" y="0"/>
                      <a:pt x="1372151" y="0"/>
                    </a:cubicBezTo>
                    <a:close/>
                  </a:path>
                </a:pathLst>
              </a:custGeom>
              <a:solidFill>
                <a:srgbClr val="D0CECE"/>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1600" b="1">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568" name="Google Shape;568;p25"/>
            <p:cNvSpPr/>
            <p:nvPr/>
          </p:nvSpPr>
          <p:spPr>
            <a:xfrm>
              <a:off x="1797830" y="4018546"/>
              <a:ext cx="9875520"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Arial" panose="020B0604020202020204"/>
                  <a:ea typeface="Arial" panose="020B0604020202020204"/>
                  <a:cs typeface="Arial" panose="020B0604020202020204"/>
                  <a:sym typeface="Arial" panose="020B0604020202020204"/>
                </a:rPr>
                <a:t>Coupon Rate: </a:t>
              </a:r>
              <a:r>
                <a:rPr lang="en-US" sz="1600">
                  <a:solidFill>
                    <a:schemeClr val="dk1"/>
                  </a:solidFill>
                  <a:latin typeface="Arial" panose="020B0604020202020204"/>
                  <a:ea typeface="Arial" panose="020B0604020202020204"/>
                  <a:cs typeface="Arial" panose="020B0604020202020204"/>
                  <a:sym typeface="Arial" panose="020B0604020202020204"/>
                </a:rPr>
                <a:t>The coupon rate, also known as the interest rate, is the annual rate at which the issuer agrees to pay interest to the bondholder. It's typically expressed as a percentage of the bond's face value.</a:t>
              </a:r>
              <a:endParaRPr lang="en-US" sz="16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2" name="Group 1"/>
          <p:cNvGrpSpPr/>
          <p:nvPr/>
        </p:nvGrpSpPr>
        <p:grpSpPr>
          <a:xfrm>
            <a:off x="700550" y="3074964"/>
            <a:ext cx="10972800" cy="766968"/>
            <a:chOff x="700550" y="2780928"/>
            <a:chExt cx="10972800" cy="766968"/>
          </a:xfrm>
        </p:grpSpPr>
        <p:sp>
          <p:nvSpPr>
            <p:cNvPr id="564" name="Google Shape;564;p25"/>
            <p:cNvSpPr/>
            <p:nvPr/>
          </p:nvSpPr>
          <p:spPr>
            <a:xfrm>
              <a:off x="1797830" y="2872025"/>
              <a:ext cx="987552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latin typeface="Arial" panose="020B0604020202020204"/>
                  <a:ea typeface="Arial" panose="020B0604020202020204"/>
                  <a:cs typeface="Arial" panose="020B0604020202020204"/>
                  <a:sym typeface="Arial" panose="020B0604020202020204"/>
                </a:rPr>
                <a:t>Face Value (Par Value): </a:t>
              </a:r>
              <a:r>
                <a:rPr lang="en-US" sz="1600" dirty="0">
                  <a:solidFill>
                    <a:schemeClr val="dk1"/>
                  </a:solidFill>
                  <a:latin typeface="Arial" panose="020B0604020202020204"/>
                  <a:ea typeface="Arial" panose="020B0604020202020204"/>
                  <a:cs typeface="Arial" panose="020B0604020202020204"/>
                  <a:sym typeface="Arial" panose="020B0604020202020204"/>
                </a:rPr>
                <a:t>This is the initial amount of money borrowed by the issuer, which will be repaid to the bondholder at the bond's maturity date.</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569" name="Google Shape;569;p25"/>
            <p:cNvGrpSpPr/>
            <p:nvPr/>
          </p:nvGrpSpPr>
          <p:grpSpPr>
            <a:xfrm>
              <a:off x="700550" y="2780928"/>
              <a:ext cx="998852" cy="766968"/>
              <a:chOff x="700550" y="1371600"/>
              <a:chExt cx="1427442" cy="1096060"/>
            </a:xfrm>
          </p:grpSpPr>
          <p:sp>
            <p:nvSpPr>
              <p:cNvPr id="570" name="Google Shape;570;p25"/>
              <p:cNvSpPr/>
              <p:nvPr/>
            </p:nvSpPr>
            <p:spPr>
              <a:xfrm>
                <a:off x="1426736" y="1662947"/>
                <a:ext cx="640366" cy="640366"/>
              </a:xfrm>
              <a:prstGeom prst="ellipse">
                <a:avLst/>
              </a:prstGeom>
              <a:solidFill>
                <a:schemeClr val="accent3"/>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1600" b="1" dirty="0">
                    <a:solidFill>
                      <a:schemeClr val="lt1"/>
                    </a:solidFill>
                    <a:latin typeface="Arial" panose="020B0604020202020204"/>
                    <a:ea typeface="Arial" panose="020B0604020202020204"/>
                    <a:cs typeface="Arial" panose="020B0604020202020204"/>
                    <a:sym typeface="Arial" panose="020B0604020202020204"/>
                  </a:rPr>
                  <a:t>01</a:t>
                </a:r>
                <a:endParaRPr sz="16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571" name="Google Shape;571;p25"/>
              <p:cNvSpPr/>
              <p:nvPr/>
            </p:nvSpPr>
            <p:spPr>
              <a:xfrm>
                <a:off x="700550" y="1371600"/>
                <a:ext cx="1427442" cy="1096060"/>
              </a:xfrm>
              <a:custGeom>
                <a:avLst/>
                <a:gdLst/>
                <a:ahLst/>
                <a:cxnLst/>
                <a:rect l="l" t="t" r="r" b="b"/>
                <a:pathLst>
                  <a:path w="1771834" h="1360502" extrusionOk="0">
                    <a:moveTo>
                      <a:pt x="1372151" y="0"/>
                    </a:moveTo>
                    <a:cubicBezTo>
                      <a:pt x="1452516" y="0"/>
                      <a:pt x="1517573" y="66936"/>
                      <a:pt x="1514020" y="149094"/>
                    </a:cubicBezTo>
                    <a:cubicBezTo>
                      <a:pt x="1510466" y="223163"/>
                      <a:pt x="1449782" y="282966"/>
                      <a:pt x="1375705" y="284749"/>
                    </a:cubicBezTo>
                    <a:cubicBezTo>
                      <a:pt x="1333883" y="285640"/>
                      <a:pt x="1296434" y="267808"/>
                      <a:pt x="1269645" y="240167"/>
                    </a:cubicBezTo>
                    <a:cubicBezTo>
                      <a:pt x="1241764" y="210680"/>
                      <a:pt x="1200762" y="198197"/>
                      <a:pt x="1162493" y="208005"/>
                    </a:cubicBezTo>
                    <a:cubicBezTo>
                      <a:pt x="924132" y="269591"/>
                      <a:pt x="750009" y="490970"/>
                      <a:pt x="761490" y="750753"/>
                    </a:cubicBezTo>
                    <a:cubicBezTo>
                      <a:pt x="773244" y="1024803"/>
                      <a:pt x="995476" y="1247137"/>
                      <a:pt x="1269645" y="1260512"/>
                    </a:cubicBezTo>
                    <a:cubicBezTo>
                      <a:pt x="1460989" y="1269985"/>
                      <a:pt x="1632046" y="1177633"/>
                      <a:pt x="1733431" y="1032946"/>
                    </a:cubicBezTo>
                    <a:lnTo>
                      <a:pt x="1771834" y="964587"/>
                    </a:lnTo>
                    <a:lnTo>
                      <a:pt x="1771834" y="1143266"/>
                    </a:lnTo>
                    <a:lnTo>
                      <a:pt x="1722647" y="1195072"/>
                    </a:lnTo>
                    <a:cubicBezTo>
                      <a:pt x="1610144" y="1297735"/>
                      <a:pt x="1460443" y="1360502"/>
                      <a:pt x="1296434" y="1360502"/>
                    </a:cubicBezTo>
                    <a:cubicBezTo>
                      <a:pt x="998210" y="1360502"/>
                      <a:pt x="747275" y="1153388"/>
                      <a:pt x="680305" y="875773"/>
                    </a:cubicBezTo>
                    <a:cubicBezTo>
                      <a:pt x="668824" y="827561"/>
                      <a:pt x="625909" y="794507"/>
                      <a:pt x="576706" y="794507"/>
                    </a:cubicBezTo>
                    <a:lnTo>
                      <a:pt x="48322" y="794507"/>
                    </a:lnTo>
                    <a:cubicBezTo>
                      <a:pt x="17980" y="794507"/>
                      <a:pt x="-5254" y="767758"/>
                      <a:pt x="1033" y="736487"/>
                    </a:cubicBezTo>
                    <a:cubicBezTo>
                      <a:pt x="5406" y="713241"/>
                      <a:pt x="27001" y="698083"/>
                      <a:pt x="49962" y="698083"/>
                    </a:cubicBezTo>
                    <a:lnTo>
                      <a:pt x="567959" y="698083"/>
                    </a:lnTo>
                    <a:cubicBezTo>
                      <a:pt x="619621" y="698083"/>
                      <a:pt x="663357" y="661463"/>
                      <a:pt x="673198" y="610640"/>
                    </a:cubicBezTo>
                    <a:cubicBezTo>
                      <a:pt x="721307" y="350857"/>
                      <a:pt x="927686" y="146419"/>
                      <a:pt x="1188187" y="101773"/>
                    </a:cubicBezTo>
                    <a:cubicBezTo>
                      <a:pt x="1216069" y="97315"/>
                      <a:pt x="1240944" y="81266"/>
                      <a:pt x="1257891" y="58020"/>
                    </a:cubicBezTo>
                    <a:cubicBezTo>
                      <a:pt x="1283860" y="23183"/>
                      <a:pt x="1324862" y="0"/>
                      <a:pt x="1372151" y="0"/>
                    </a:cubicBezTo>
                    <a:close/>
                  </a:path>
                </a:pathLst>
              </a:custGeom>
              <a:solidFill>
                <a:srgbClr val="D0CECE"/>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1600" b="1">
                  <a:solidFill>
                    <a:srgbClr val="FFFFFF"/>
                  </a:solidFill>
                  <a:latin typeface="Arial" panose="020B0604020202020204"/>
                  <a:ea typeface="Arial" panose="020B0604020202020204"/>
                  <a:cs typeface="Arial" panose="020B0604020202020204"/>
                  <a:sym typeface="Arial" panose="020B0604020202020204"/>
                </a:endParaRPr>
              </a:p>
            </p:txBody>
          </p:sp>
        </p:grpSp>
      </p:grpSp>
      <p:grpSp>
        <p:nvGrpSpPr>
          <p:cNvPr id="4" name="Group 3"/>
          <p:cNvGrpSpPr/>
          <p:nvPr/>
        </p:nvGrpSpPr>
        <p:grpSpPr>
          <a:xfrm>
            <a:off x="705593" y="5234061"/>
            <a:ext cx="10967757" cy="766968"/>
            <a:chOff x="705593" y="5234061"/>
            <a:chExt cx="10967757" cy="766968"/>
          </a:xfrm>
        </p:grpSpPr>
        <p:grpSp>
          <p:nvGrpSpPr>
            <p:cNvPr id="572" name="Google Shape;572;p25"/>
            <p:cNvGrpSpPr/>
            <p:nvPr/>
          </p:nvGrpSpPr>
          <p:grpSpPr>
            <a:xfrm>
              <a:off x="705593" y="5234061"/>
              <a:ext cx="998852" cy="766968"/>
              <a:chOff x="700550" y="2682647"/>
              <a:chExt cx="1427442" cy="1096060"/>
            </a:xfrm>
          </p:grpSpPr>
          <p:sp>
            <p:nvSpPr>
              <p:cNvPr id="573" name="Google Shape;573;p25"/>
              <p:cNvSpPr/>
              <p:nvPr/>
            </p:nvSpPr>
            <p:spPr>
              <a:xfrm>
                <a:off x="1426736" y="2937310"/>
                <a:ext cx="640366" cy="640366"/>
              </a:xfrm>
              <a:prstGeom prst="ellipse">
                <a:avLst/>
              </a:prstGeom>
              <a:solidFill>
                <a:schemeClr val="accent5"/>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1600" b="1" dirty="0">
                    <a:solidFill>
                      <a:schemeClr val="lt1"/>
                    </a:solidFill>
                    <a:latin typeface="Arial" panose="020B0604020202020204"/>
                    <a:ea typeface="Arial" panose="020B0604020202020204"/>
                    <a:cs typeface="Arial" panose="020B0604020202020204"/>
                    <a:sym typeface="Arial" panose="020B0604020202020204"/>
                  </a:rPr>
                  <a:t>03</a:t>
                </a:r>
                <a:endParaRPr sz="16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574" name="Google Shape;574;p25"/>
              <p:cNvSpPr/>
              <p:nvPr/>
            </p:nvSpPr>
            <p:spPr>
              <a:xfrm>
                <a:off x="700550" y="2682647"/>
                <a:ext cx="1427442" cy="1096060"/>
              </a:xfrm>
              <a:custGeom>
                <a:avLst/>
                <a:gdLst/>
                <a:ahLst/>
                <a:cxnLst/>
                <a:rect l="l" t="t" r="r" b="b"/>
                <a:pathLst>
                  <a:path w="1771834" h="1360502" extrusionOk="0">
                    <a:moveTo>
                      <a:pt x="1372151" y="0"/>
                    </a:moveTo>
                    <a:cubicBezTo>
                      <a:pt x="1452516" y="0"/>
                      <a:pt x="1517573" y="66936"/>
                      <a:pt x="1514020" y="149094"/>
                    </a:cubicBezTo>
                    <a:cubicBezTo>
                      <a:pt x="1510466" y="223163"/>
                      <a:pt x="1449782" y="282966"/>
                      <a:pt x="1375705" y="284749"/>
                    </a:cubicBezTo>
                    <a:cubicBezTo>
                      <a:pt x="1333883" y="285640"/>
                      <a:pt x="1296434" y="267808"/>
                      <a:pt x="1269645" y="240167"/>
                    </a:cubicBezTo>
                    <a:cubicBezTo>
                      <a:pt x="1241764" y="210680"/>
                      <a:pt x="1200762" y="198197"/>
                      <a:pt x="1162493" y="208005"/>
                    </a:cubicBezTo>
                    <a:cubicBezTo>
                      <a:pt x="924132" y="269591"/>
                      <a:pt x="750009" y="490970"/>
                      <a:pt x="761490" y="750753"/>
                    </a:cubicBezTo>
                    <a:cubicBezTo>
                      <a:pt x="773244" y="1024803"/>
                      <a:pt x="995476" y="1247137"/>
                      <a:pt x="1269645" y="1260512"/>
                    </a:cubicBezTo>
                    <a:cubicBezTo>
                      <a:pt x="1460989" y="1269985"/>
                      <a:pt x="1632046" y="1177633"/>
                      <a:pt x="1733431" y="1032946"/>
                    </a:cubicBezTo>
                    <a:lnTo>
                      <a:pt x="1771834" y="964587"/>
                    </a:lnTo>
                    <a:lnTo>
                      <a:pt x="1771834" y="1143266"/>
                    </a:lnTo>
                    <a:lnTo>
                      <a:pt x="1722647" y="1195072"/>
                    </a:lnTo>
                    <a:cubicBezTo>
                      <a:pt x="1610144" y="1297735"/>
                      <a:pt x="1460443" y="1360502"/>
                      <a:pt x="1296434" y="1360502"/>
                    </a:cubicBezTo>
                    <a:cubicBezTo>
                      <a:pt x="998210" y="1360502"/>
                      <a:pt x="747275" y="1153388"/>
                      <a:pt x="680305" y="875773"/>
                    </a:cubicBezTo>
                    <a:cubicBezTo>
                      <a:pt x="668824" y="827561"/>
                      <a:pt x="625909" y="794507"/>
                      <a:pt x="576706" y="794507"/>
                    </a:cubicBezTo>
                    <a:lnTo>
                      <a:pt x="48322" y="794507"/>
                    </a:lnTo>
                    <a:cubicBezTo>
                      <a:pt x="17980" y="794507"/>
                      <a:pt x="-5254" y="767758"/>
                      <a:pt x="1033" y="736487"/>
                    </a:cubicBezTo>
                    <a:cubicBezTo>
                      <a:pt x="5406" y="713241"/>
                      <a:pt x="27001" y="698083"/>
                      <a:pt x="49962" y="698083"/>
                    </a:cubicBezTo>
                    <a:lnTo>
                      <a:pt x="567959" y="698083"/>
                    </a:lnTo>
                    <a:cubicBezTo>
                      <a:pt x="619621" y="698083"/>
                      <a:pt x="663357" y="661463"/>
                      <a:pt x="673198" y="610640"/>
                    </a:cubicBezTo>
                    <a:cubicBezTo>
                      <a:pt x="721307" y="350857"/>
                      <a:pt x="927686" y="146419"/>
                      <a:pt x="1188187" y="101773"/>
                    </a:cubicBezTo>
                    <a:cubicBezTo>
                      <a:pt x="1216069" y="97315"/>
                      <a:pt x="1240944" y="81266"/>
                      <a:pt x="1257891" y="58020"/>
                    </a:cubicBezTo>
                    <a:cubicBezTo>
                      <a:pt x="1283860" y="23183"/>
                      <a:pt x="1324862" y="0"/>
                      <a:pt x="1372151" y="0"/>
                    </a:cubicBezTo>
                    <a:close/>
                  </a:path>
                </a:pathLst>
              </a:custGeom>
              <a:solidFill>
                <a:srgbClr val="D0CECE"/>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1600" b="1">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575" name="Google Shape;575;p25"/>
            <p:cNvSpPr/>
            <p:nvPr/>
          </p:nvSpPr>
          <p:spPr>
            <a:xfrm>
              <a:off x="1797830" y="5325158"/>
              <a:ext cx="987552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Arial" panose="020B0604020202020204"/>
                  <a:ea typeface="Arial" panose="020B0604020202020204"/>
                  <a:cs typeface="Arial" panose="020B0604020202020204"/>
                  <a:sym typeface="Arial" panose="020B0604020202020204"/>
                </a:rPr>
                <a:t>Maturity Date: </a:t>
              </a:r>
              <a:r>
                <a:rPr lang="en-US" sz="1600">
                  <a:solidFill>
                    <a:schemeClr val="dk1"/>
                  </a:solidFill>
                  <a:latin typeface="Arial" panose="020B0604020202020204"/>
                  <a:ea typeface="Arial" panose="020B0604020202020204"/>
                  <a:cs typeface="Arial" panose="020B0604020202020204"/>
                  <a:sym typeface="Arial" panose="020B0604020202020204"/>
                </a:rPr>
                <a:t>This is the date on which the issuer is obligated to repay the bond's face value to the bondholder. At maturity, the bond "matures," and the investor receives the principal amount.</a:t>
              </a:r>
              <a:endParaRPr lang="en-US" sz="16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17" name="Title 16"/>
          <p:cNvSpPr>
            <a:spLocks noGrp="1"/>
          </p:cNvSpPr>
          <p:nvPr>
            <p:ph type="title"/>
          </p:nvPr>
        </p:nvSpPr>
        <p:spPr/>
        <p:txBody>
          <a:bodyPr/>
          <a:lstStyle/>
          <a:p>
            <a:r>
              <a:rPr lang="en-US" dirty="0"/>
              <a:t>BONDS</a:t>
            </a:r>
            <a:endParaRPr lang="en-US" dirty="0"/>
          </a:p>
        </p:txBody>
      </p:sp>
      <p:grpSp>
        <p:nvGrpSpPr>
          <p:cNvPr id="2" name="Group 1"/>
          <p:cNvGrpSpPr/>
          <p:nvPr/>
        </p:nvGrpSpPr>
        <p:grpSpPr>
          <a:xfrm>
            <a:off x="660400" y="2362824"/>
            <a:ext cx="11012950" cy="830956"/>
            <a:chOff x="660400" y="3895436"/>
            <a:chExt cx="11012950" cy="830956"/>
          </a:xfrm>
        </p:grpSpPr>
        <p:grpSp>
          <p:nvGrpSpPr>
            <p:cNvPr id="3" name="Google Shape;565;p25"/>
            <p:cNvGrpSpPr/>
            <p:nvPr/>
          </p:nvGrpSpPr>
          <p:grpSpPr>
            <a:xfrm>
              <a:off x="660400" y="3927429"/>
              <a:ext cx="998852" cy="766968"/>
              <a:chOff x="700550" y="2682647"/>
              <a:chExt cx="1427442" cy="1096060"/>
            </a:xfrm>
          </p:grpSpPr>
          <p:sp>
            <p:nvSpPr>
              <p:cNvPr id="5" name="Google Shape;566;p25"/>
              <p:cNvSpPr/>
              <p:nvPr/>
            </p:nvSpPr>
            <p:spPr>
              <a:xfrm>
                <a:off x="1426736" y="2937310"/>
                <a:ext cx="640366" cy="640366"/>
              </a:xfrm>
              <a:prstGeom prst="ellipse">
                <a:avLst/>
              </a:prstGeom>
              <a:solidFill>
                <a:schemeClr val="accent4"/>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1600" b="1" dirty="0">
                    <a:solidFill>
                      <a:schemeClr val="lt1"/>
                    </a:solidFill>
                    <a:latin typeface="Arial" panose="020B0604020202020204"/>
                    <a:ea typeface="Arial" panose="020B0604020202020204"/>
                    <a:cs typeface="Arial" panose="020B0604020202020204"/>
                    <a:sym typeface="Arial" panose="020B0604020202020204"/>
                  </a:rPr>
                  <a:t>05</a:t>
                </a:r>
                <a:endParaRPr sz="16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6" name="Google Shape;567;p25"/>
              <p:cNvSpPr/>
              <p:nvPr/>
            </p:nvSpPr>
            <p:spPr>
              <a:xfrm>
                <a:off x="700550" y="2682647"/>
                <a:ext cx="1427442" cy="1096060"/>
              </a:xfrm>
              <a:custGeom>
                <a:avLst/>
                <a:gdLst/>
                <a:ahLst/>
                <a:cxnLst/>
                <a:rect l="l" t="t" r="r" b="b"/>
                <a:pathLst>
                  <a:path w="1771834" h="1360502" extrusionOk="0">
                    <a:moveTo>
                      <a:pt x="1372151" y="0"/>
                    </a:moveTo>
                    <a:cubicBezTo>
                      <a:pt x="1452516" y="0"/>
                      <a:pt x="1517573" y="66936"/>
                      <a:pt x="1514020" y="149094"/>
                    </a:cubicBezTo>
                    <a:cubicBezTo>
                      <a:pt x="1510466" y="223163"/>
                      <a:pt x="1449782" y="282966"/>
                      <a:pt x="1375705" y="284749"/>
                    </a:cubicBezTo>
                    <a:cubicBezTo>
                      <a:pt x="1333883" y="285640"/>
                      <a:pt x="1296434" y="267808"/>
                      <a:pt x="1269645" y="240167"/>
                    </a:cubicBezTo>
                    <a:cubicBezTo>
                      <a:pt x="1241764" y="210680"/>
                      <a:pt x="1200762" y="198197"/>
                      <a:pt x="1162493" y="208005"/>
                    </a:cubicBezTo>
                    <a:cubicBezTo>
                      <a:pt x="924132" y="269591"/>
                      <a:pt x="750009" y="490970"/>
                      <a:pt x="761490" y="750753"/>
                    </a:cubicBezTo>
                    <a:cubicBezTo>
                      <a:pt x="773244" y="1024803"/>
                      <a:pt x="995476" y="1247137"/>
                      <a:pt x="1269645" y="1260512"/>
                    </a:cubicBezTo>
                    <a:cubicBezTo>
                      <a:pt x="1460989" y="1269985"/>
                      <a:pt x="1632046" y="1177633"/>
                      <a:pt x="1733431" y="1032946"/>
                    </a:cubicBezTo>
                    <a:lnTo>
                      <a:pt x="1771834" y="964587"/>
                    </a:lnTo>
                    <a:lnTo>
                      <a:pt x="1771834" y="1143266"/>
                    </a:lnTo>
                    <a:lnTo>
                      <a:pt x="1722647" y="1195072"/>
                    </a:lnTo>
                    <a:cubicBezTo>
                      <a:pt x="1610144" y="1297735"/>
                      <a:pt x="1460443" y="1360502"/>
                      <a:pt x="1296434" y="1360502"/>
                    </a:cubicBezTo>
                    <a:cubicBezTo>
                      <a:pt x="998210" y="1360502"/>
                      <a:pt x="747275" y="1153388"/>
                      <a:pt x="680305" y="875773"/>
                    </a:cubicBezTo>
                    <a:cubicBezTo>
                      <a:pt x="668824" y="827561"/>
                      <a:pt x="625909" y="794507"/>
                      <a:pt x="576706" y="794507"/>
                    </a:cubicBezTo>
                    <a:lnTo>
                      <a:pt x="48322" y="794507"/>
                    </a:lnTo>
                    <a:cubicBezTo>
                      <a:pt x="17980" y="794507"/>
                      <a:pt x="-5254" y="767758"/>
                      <a:pt x="1033" y="736487"/>
                    </a:cubicBezTo>
                    <a:cubicBezTo>
                      <a:pt x="5406" y="713241"/>
                      <a:pt x="27001" y="698083"/>
                      <a:pt x="49962" y="698083"/>
                    </a:cubicBezTo>
                    <a:lnTo>
                      <a:pt x="567959" y="698083"/>
                    </a:lnTo>
                    <a:cubicBezTo>
                      <a:pt x="619621" y="698083"/>
                      <a:pt x="663357" y="661463"/>
                      <a:pt x="673198" y="610640"/>
                    </a:cubicBezTo>
                    <a:cubicBezTo>
                      <a:pt x="721307" y="350857"/>
                      <a:pt x="927686" y="146419"/>
                      <a:pt x="1188187" y="101773"/>
                    </a:cubicBezTo>
                    <a:cubicBezTo>
                      <a:pt x="1216069" y="97315"/>
                      <a:pt x="1240944" y="81266"/>
                      <a:pt x="1257891" y="58020"/>
                    </a:cubicBezTo>
                    <a:cubicBezTo>
                      <a:pt x="1283860" y="23183"/>
                      <a:pt x="1324862" y="0"/>
                      <a:pt x="1372151" y="0"/>
                    </a:cubicBezTo>
                    <a:close/>
                  </a:path>
                </a:pathLst>
              </a:custGeom>
              <a:solidFill>
                <a:srgbClr val="D0CECE"/>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1600" b="1">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4" name="Google Shape;568;p25"/>
            <p:cNvSpPr/>
            <p:nvPr/>
          </p:nvSpPr>
          <p:spPr>
            <a:xfrm>
              <a:off x="1797830" y="3895436"/>
              <a:ext cx="9875520" cy="830956"/>
            </a:xfrm>
            <a:prstGeom prst="rect">
              <a:avLst/>
            </a:prstGeom>
            <a:noFill/>
            <a:ln>
              <a:noFill/>
            </a:ln>
          </p:spPr>
          <p:txBody>
            <a:bodyPr spcFirstLastPara="1" wrap="square" lIns="91425" tIns="45700" rIns="91425" bIns="45700" anchor="ctr" anchorCtr="0">
              <a:spAutoFit/>
            </a:bodyPr>
            <a:lstStyle/>
            <a:p>
              <a:pPr lvl="0"/>
              <a:r>
                <a:rPr lang="en-US" sz="1600" b="1" dirty="0">
                  <a:solidFill>
                    <a:schemeClr val="dk1"/>
                  </a:solidFill>
                </a:rPr>
                <a:t>Yield: </a:t>
              </a:r>
              <a:r>
                <a:rPr lang="en-US" sz="1600" dirty="0">
                  <a:solidFill>
                    <a:schemeClr val="dk1"/>
                  </a:solidFill>
                </a:rPr>
                <a:t>The yield is the total return an investor can expect to earn from a bond. It takes into account the coupon rate, the bond's market price, and the time remaining until maturity. Yield can be expressed as the current yield or the yield to maturity (YTM).</a:t>
              </a:r>
              <a:endParaRPr lang="en-US" sz="1600" dirty="0">
                <a:solidFill>
                  <a:schemeClr val="dk1"/>
                </a:solidFill>
              </a:endParaRPr>
            </a:p>
          </p:txBody>
        </p:sp>
      </p:grpSp>
      <p:grpSp>
        <p:nvGrpSpPr>
          <p:cNvPr id="7" name="Group 6"/>
          <p:cNvGrpSpPr/>
          <p:nvPr/>
        </p:nvGrpSpPr>
        <p:grpSpPr>
          <a:xfrm>
            <a:off x="700550" y="1436445"/>
            <a:ext cx="10972800" cy="830956"/>
            <a:chOff x="700550" y="2748935"/>
            <a:chExt cx="10972800" cy="830956"/>
          </a:xfrm>
        </p:grpSpPr>
        <p:sp>
          <p:nvSpPr>
            <p:cNvPr id="8" name="Google Shape;564;p25"/>
            <p:cNvSpPr/>
            <p:nvPr/>
          </p:nvSpPr>
          <p:spPr>
            <a:xfrm>
              <a:off x="1797830" y="2748935"/>
              <a:ext cx="9875520" cy="830956"/>
            </a:xfrm>
            <a:prstGeom prst="rect">
              <a:avLst/>
            </a:prstGeom>
            <a:noFill/>
            <a:ln>
              <a:noFill/>
            </a:ln>
          </p:spPr>
          <p:txBody>
            <a:bodyPr spcFirstLastPara="1" wrap="square" lIns="91425" tIns="45700" rIns="91425" bIns="45700" anchor="ctr" anchorCtr="0">
              <a:spAutoFit/>
            </a:bodyPr>
            <a:lstStyle/>
            <a:p>
              <a:pPr lvl="0"/>
              <a:r>
                <a:rPr lang="en-US" sz="1600" b="1" dirty="0">
                  <a:solidFill>
                    <a:schemeClr val="dk1"/>
                  </a:solidFill>
                </a:rPr>
                <a:t>Interest Payments (Coupons): </a:t>
              </a:r>
              <a:r>
                <a:rPr lang="en-US" sz="1600" dirty="0">
                  <a:solidFill>
                    <a:schemeClr val="dk1"/>
                  </a:solidFill>
                </a:rPr>
                <a:t>Bondholders receive periodic interest payments, usually semi annually or annually, throughout the life of the bond. These payments are calculated based on the coupon rate and the bond's face value.</a:t>
              </a:r>
              <a:endParaRPr lang="en-US" sz="1600" dirty="0">
                <a:solidFill>
                  <a:schemeClr val="dk1"/>
                </a:solidFill>
              </a:endParaRPr>
            </a:p>
          </p:txBody>
        </p:sp>
        <p:grpSp>
          <p:nvGrpSpPr>
            <p:cNvPr id="9" name="Google Shape;569;p25"/>
            <p:cNvGrpSpPr/>
            <p:nvPr/>
          </p:nvGrpSpPr>
          <p:grpSpPr>
            <a:xfrm>
              <a:off x="700550" y="2780928"/>
              <a:ext cx="998852" cy="766968"/>
              <a:chOff x="700550" y="1371600"/>
              <a:chExt cx="1427442" cy="1096060"/>
            </a:xfrm>
          </p:grpSpPr>
          <p:sp>
            <p:nvSpPr>
              <p:cNvPr id="10" name="Google Shape;570;p25"/>
              <p:cNvSpPr/>
              <p:nvPr/>
            </p:nvSpPr>
            <p:spPr>
              <a:xfrm>
                <a:off x="1426736" y="1662947"/>
                <a:ext cx="640366" cy="640366"/>
              </a:xfrm>
              <a:prstGeom prst="ellipse">
                <a:avLst/>
              </a:prstGeom>
              <a:solidFill>
                <a:schemeClr val="accent3"/>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1600" b="1" dirty="0">
                    <a:solidFill>
                      <a:schemeClr val="lt1"/>
                    </a:solidFill>
                    <a:latin typeface="Arial" panose="020B0604020202020204"/>
                    <a:ea typeface="Arial" panose="020B0604020202020204"/>
                    <a:cs typeface="Arial" panose="020B0604020202020204"/>
                    <a:sym typeface="Arial" panose="020B0604020202020204"/>
                  </a:rPr>
                  <a:t>04</a:t>
                </a:r>
                <a:endParaRPr sz="16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1" name="Google Shape;571;p25"/>
              <p:cNvSpPr/>
              <p:nvPr/>
            </p:nvSpPr>
            <p:spPr>
              <a:xfrm>
                <a:off x="700550" y="1371600"/>
                <a:ext cx="1427442" cy="1096060"/>
              </a:xfrm>
              <a:custGeom>
                <a:avLst/>
                <a:gdLst/>
                <a:ahLst/>
                <a:cxnLst/>
                <a:rect l="l" t="t" r="r" b="b"/>
                <a:pathLst>
                  <a:path w="1771834" h="1360502" extrusionOk="0">
                    <a:moveTo>
                      <a:pt x="1372151" y="0"/>
                    </a:moveTo>
                    <a:cubicBezTo>
                      <a:pt x="1452516" y="0"/>
                      <a:pt x="1517573" y="66936"/>
                      <a:pt x="1514020" y="149094"/>
                    </a:cubicBezTo>
                    <a:cubicBezTo>
                      <a:pt x="1510466" y="223163"/>
                      <a:pt x="1449782" y="282966"/>
                      <a:pt x="1375705" y="284749"/>
                    </a:cubicBezTo>
                    <a:cubicBezTo>
                      <a:pt x="1333883" y="285640"/>
                      <a:pt x="1296434" y="267808"/>
                      <a:pt x="1269645" y="240167"/>
                    </a:cubicBezTo>
                    <a:cubicBezTo>
                      <a:pt x="1241764" y="210680"/>
                      <a:pt x="1200762" y="198197"/>
                      <a:pt x="1162493" y="208005"/>
                    </a:cubicBezTo>
                    <a:cubicBezTo>
                      <a:pt x="924132" y="269591"/>
                      <a:pt x="750009" y="490970"/>
                      <a:pt x="761490" y="750753"/>
                    </a:cubicBezTo>
                    <a:cubicBezTo>
                      <a:pt x="773244" y="1024803"/>
                      <a:pt x="995476" y="1247137"/>
                      <a:pt x="1269645" y="1260512"/>
                    </a:cubicBezTo>
                    <a:cubicBezTo>
                      <a:pt x="1460989" y="1269985"/>
                      <a:pt x="1632046" y="1177633"/>
                      <a:pt x="1733431" y="1032946"/>
                    </a:cubicBezTo>
                    <a:lnTo>
                      <a:pt x="1771834" y="964587"/>
                    </a:lnTo>
                    <a:lnTo>
                      <a:pt x="1771834" y="1143266"/>
                    </a:lnTo>
                    <a:lnTo>
                      <a:pt x="1722647" y="1195072"/>
                    </a:lnTo>
                    <a:cubicBezTo>
                      <a:pt x="1610144" y="1297735"/>
                      <a:pt x="1460443" y="1360502"/>
                      <a:pt x="1296434" y="1360502"/>
                    </a:cubicBezTo>
                    <a:cubicBezTo>
                      <a:pt x="998210" y="1360502"/>
                      <a:pt x="747275" y="1153388"/>
                      <a:pt x="680305" y="875773"/>
                    </a:cubicBezTo>
                    <a:cubicBezTo>
                      <a:pt x="668824" y="827561"/>
                      <a:pt x="625909" y="794507"/>
                      <a:pt x="576706" y="794507"/>
                    </a:cubicBezTo>
                    <a:lnTo>
                      <a:pt x="48322" y="794507"/>
                    </a:lnTo>
                    <a:cubicBezTo>
                      <a:pt x="17980" y="794507"/>
                      <a:pt x="-5254" y="767758"/>
                      <a:pt x="1033" y="736487"/>
                    </a:cubicBezTo>
                    <a:cubicBezTo>
                      <a:pt x="5406" y="713241"/>
                      <a:pt x="27001" y="698083"/>
                      <a:pt x="49962" y="698083"/>
                    </a:cubicBezTo>
                    <a:lnTo>
                      <a:pt x="567959" y="698083"/>
                    </a:lnTo>
                    <a:cubicBezTo>
                      <a:pt x="619621" y="698083"/>
                      <a:pt x="663357" y="661463"/>
                      <a:pt x="673198" y="610640"/>
                    </a:cubicBezTo>
                    <a:cubicBezTo>
                      <a:pt x="721307" y="350857"/>
                      <a:pt x="927686" y="146419"/>
                      <a:pt x="1188187" y="101773"/>
                    </a:cubicBezTo>
                    <a:cubicBezTo>
                      <a:pt x="1216069" y="97315"/>
                      <a:pt x="1240944" y="81266"/>
                      <a:pt x="1257891" y="58020"/>
                    </a:cubicBezTo>
                    <a:cubicBezTo>
                      <a:pt x="1283860" y="23183"/>
                      <a:pt x="1324862" y="0"/>
                      <a:pt x="1372151" y="0"/>
                    </a:cubicBezTo>
                    <a:close/>
                  </a:path>
                </a:pathLst>
              </a:custGeom>
              <a:solidFill>
                <a:srgbClr val="D0CECE"/>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1600" b="1">
                  <a:solidFill>
                    <a:srgbClr val="FFFFFF"/>
                  </a:solidFill>
                  <a:latin typeface="Arial" panose="020B0604020202020204"/>
                  <a:ea typeface="Arial" panose="020B0604020202020204"/>
                  <a:cs typeface="Arial" panose="020B0604020202020204"/>
                  <a:sym typeface="Arial" panose="020B0604020202020204"/>
                </a:endParaRPr>
              </a:p>
            </p:txBody>
          </p:sp>
        </p:grpSp>
      </p:grpSp>
      <p:grpSp>
        <p:nvGrpSpPr>
          <p:cNvPr id="12" name="Group 11"/>
          <p:cNvGrpSpPr/>
          <p:nvPr/>
        </p:nvGrpSpPr>
        <p:grpSpPr>
          <a:xfrm>
            <a:off x="705593" y="3289203"/>
            <a:ext cx="10967757" cy="830956"/>
            <a:chOff x="705593" y="5202068"/>
            <a:chExt cx="10967757" cy="830956"/>
          </a:xfrm>
        </p:grpSpPr>
        <p:grpSp>
          <p:nvGrpSpPr>
            <p:cNvPr id="13" name="Google Shape;572;p25"/>
            <p:cNvGrpSpPr/>
            <p:nvPr/>
          </p:nvGrpSpPr>
          <p:grpSpPr>
            <a:xfrm>
              <a:off x="705593" y="5234061"/>
              <a:ext cx="998852" cy="766968"/>
              <a:chOff x="700550" y="2682647"/>
              <a:chExt cx="1427442" cy="1096060"/>
            </a:xfrm>
          </p:grpSpPr>
          <p:sp>
            <p:nvSpPr>
              <p:cNvPr id="15" name="Google Shape;573;p25"/>
              <p:cNvSpPr/>
              <p:nvPr/>
            </p:nvSpPr>
            <p:spPr>
              <a:xfrm>
                <a:off x="1426736" y="2937310"/>
                <a:ext cx="640366" cy="640366"/>
              </a:xfrm>
              <a:prstGeom prst="ellipse">
                <a:avLst/>
              </a:prstGeom>
              <a:solidFill>
                <a:schemeClr val="accent5"/>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1600" b="1" dirty="0">
                    <a:solidFill>
                      <a:schemeClr val="lt1"/>
                    </a:solidFill>
                    <a:latin typeface="Arial" panose="020B0604020202020204"/>
                    <a:ea typeface="Arial" panose="020B0604020202020204"/>
                    <a:cs typeface="Arial" panose="020B0604020202020204"/>
                    <a:sym typeface="Arial" panose="020B0604020202020204"/>
                  </a:rPr>
                  <a:t>06</a:t>
                </a:r>
                <a:endParaRPr sz="16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6" name="Google Shape;574;p25"/>
              <p:cNvSpPr/>
              <p:nvPr/>
            </p:nvSpPr>
            <p:spPr>
              <a:xfrm>
                <a:off x="700550" y="2682647"/>
                <a:ext cx="1427442" cy="1096060"/>
              </a:xfrm>
              <a:custGeom>
                <a:avLst/>
                <a:gdLst/>
                <a:ahLst/>
                <a:cxnLst/>
                <a:rect l="l" t="t" r="r" b="b"/>
                <a:pathLst>
                  <a:path w="1771834" h="1360502" extrusionOk="0">
                    <a:moveTo>
                      <a:pt x="1372151" y="0"/>
                    </a:moveTo>
                    <a:cubicBezTo>
                      <a:pt x="1452516" y="0"/>
                      <a:pt x="1517573" y="66936"/>
                      <a:pt x="1514020" y="149094"/>
                    </a:cubicBezTo>
                    <a:cubicBezTo>
                      <a:pt x="1510466" y="223163"/>
                      <a:pt x="1449782" y="282966"/>
                      <a:pt x="1375705" y="284749"/>
                    </a:cubicBezTo>
                    <a:cubicBezTo>
                      <a:pt x="1333883" y="285640"/>
                      <a:pt x="1296434" y="267808"/>
                      <a:pt x="1269645" y="240167"/>
                    </a:cubicBezTo>
                    <a:cubicBezTo>
                      <a:pt x="1241764" y="210680"/>
                      <a:pt x="1200762" y="198197"/>
                      <a:pt x="1162493" y="208005"/>
                    </a:cubicBezTo>
                    <a:cubicBezTo>
                      <a:pt x="924132" y="269591"/>
                      <a:pt x="750009" y="490970"/>
                      <a:pt x="761490" y="750753"/>
                    </a:cubicBezTo>
                    <a:cubicBezTo>
                      <a:pt x="773244" y="1024803"/>
                      <a:pt x="995476" y="1247137"/>
                      <a:pt x="1269645" y="1260512"/>
                    </a:cubicBezTo>
                    <a:cubicBezTo>
                      <a:pt x="1460989" y="1269985"/>
                      <a:pt x="1632046" y="1177633"/>
                      <a:pt x="1733431" y="1032946"/>
                    </a:cubicBezTo>
                    <a:lnTo>
                      <a:pt x="1771834" y="964587"/>
                    </a:lnTo>
                    <a:lnTo>
                      <a:pt x="1771834" y="1143266"/>
                    </a:lnTo>
                    <a:lnTo>
                      <a:pt x="1722647" y="1195072"/>
                    </a:lnTo>
                    <a:cubicBezTo>
                      <a:pt x="1610144" y="1297735"/>
                      <a:pt x="1460443" y="1360502"/>
                      <a:pt x="1296434" y="1360502"/>
                    </a:cubicBezTo>
                    <a:cubicBezTo>
                      <a:pt x="998210" y="1360502"/>
                      <a:pt x="747275" y="1153388"/>
                      <a:pt x="680305" y="875773"/>
                    </a:cubicBezTo>
                    <a:cubicBezTo>
                      <a:pt x="668824" y="827561"/>
                      <a:pt x="625909" y="794507"/>
                      <a:pt x="576706" y="794507"/>
                    </a:cubicBezTo>
                    <a:lnTo>
                      <a:pt x="48322" y="794507"/>
                    </a:lnTo>
                    <a:cubicBezTo>
                      <a:pt x="17980" y="794507"/>
                      <a:pt x="-5254" y="767758"/>
                      <a:pt x="1033" y="736487"/>
                    </a:cubicBezTo>
                    <a:cubicBezTo>
                      <a:pt x="5406" y="713241"/>
                      <a:pt x="27001" y="698083"/>
                      <a:pt x="49962" y="698083"/>
                    </a:cubicBezTo>
                    <a:lnTo>
                      <a:pt x="567959" y="698083"/>
                    </a:lnTo>
                    <a:cubicBezTo>
                      <a:pt x="619621" y="698083"/>
                      <a:pt x="663357" y="661463"/>
                      <a:pt x="673198" y="610640"/>
                    </a:cubicBezTo>
                    <a:cubicBezTo>
                      <a:pt x="721307" y="350857"/>
                      <a:pt x="927686" y="146419"/>
                      <a:pt x="1188187" y="101773"/>
                    </a:cubicBezTo>
                    <a:cubicBezTo>
                      <a:pt x="1216069" y="97315"/>
                      <a:pt x="1240944" y="81266"/>
                      <a:pt x="1257891" y="58020"/>
                    </a:cubicBezTo>
                    <a:cubicBezTo>
                      <a:pt x="1283860" y="23183"/>
                      <a:pt x="1324862" y="0"/>
                      <a:pt x="1372151" y="0"/>
                    </a:cubicBezTo>
                    <a:close/>
                  </a:path>
                </a:pathLst>
              </a:custGeom>
              <a:solidFill>
                <a:srgbClr val="D0CECE"/>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1600" b="1">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14" name="Google Shape;575;p25"/>
            <p:cNvSpPr/>
            <p:nvPr/>
          </p:nvSpPr>
          <p:spPr>
            <a:xfrm>
              <a:off x="1797830" y="5202068"/>
              <a:ext cx="9875520" cy="830956"/>
            </a:xfrm>
            <a:prstGeom prst="rect">
              <a:avLst/>
            </a:prstGeom>
            <a:noFill/>
            <a:ln>
              <a:noFill/>
            </a:ln>
          </p:spPr>
          <p:txBody>
            <a:bodyPr spcFirstLastPara="1" wrap="square" lIns="91425" tIns="45700" rIns="91425" bIns="45700" anchor="ctr" anchorCtr="0">
              <a:spAutoFit/>
            </a:bodyPr>
            <a:lstStyle/>
            <a:p>
              <a:pPr lvl="0"/>
              <a:r>
                <a:rPr lang="en-US" sz="1600" b="1" dirty="0">
                  <a:solidFill>
                    <a:schemeClr val="dk1"/>
                  </a:solidFill>
                </a:rPr>
                <a:t>Market Price: </a:t>
              </a:r>
              <a:r>
                <a:rPr lang="en-US" sz="1600" dirty="0">
                  <a:solidFill>
                    <a:schemeClr val="dk1"/>
                  </a:solidFill>
                </a:rPr>
                <a:t>The market price of a bond can fluctuate based on changes in interest rates and the perceived credit risk of the issuer. If interest rates rise, the market price of existing bonds may fall, and vice versa.</a:t>
              </a:r>
              <a:endParaRPr lang="en-US" sz="1600" dirty="0">
                <a:solidFill>
                  <a:schemeClr val="dk1"/>
                </a:solidFill>
              </a:endParaRPr>
            </a:p>
          </p:txBody>
        </p:sp>
      </p:grpSp>
      <p:grpSp>
        <p:nvGrpSpPr>
          <p:cNvPr id="18" name="Group 17"/>
          <p:cNvGrpSpPr/>
          <p:nvPr/>
        </p:nvGrpSpPr>
        <p:grpSpPr>
          <a:xfrm>
            <a:off x="705593" y="4215582"/>
            <a:ext cx="10967757" cy="766968"/>
            <a:chOff x="705593" y="5234061"/>
            <a:chExt cx="10967757" cy="766968"/>
          </a:xfrm>
        </p:grpSpPr>
        <p:grpSp>
          <p:nvGrpSpPr>
            <p:cNvPr id="19" name="Google Shape;572;p25"/>
            <p:cNvGrpSpPr/>
            <p:nvPr/>
          </p:nvGrpSpPr>
          <p:grpSpPr>
            <a:xfrm>
              <a:off x="705593" y="5234061"/>
              <a:ext cx="998852" cy="766968"/>
              <a:chOff x="700550" y="2682647"/>
              <a:chExt cx="1427442" cy="1096060"/>
            </a:xfrm>
          </p:grpSpPr>
          <p:sp>
            <p:nvSpPr>
              <p:cNvPr id="21" name="Google Shape;573;p25"/>
              <p:cNvSpPr/>
              <p:nvPr/>
            </p:nvSpPr>
            <p:spPr>
              <a:xfrm>
                <a:off x="1426736" y="2937310"/>
                <a:ext cx="640366" cy="640366"/>
              </a:xfrm>
              <a:prstGeom prst="ellipse">
                <a:avLst/>
              </a:prstGeom>
              <a:solidFill>
                <a:schemeClr val="bg2"/>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1600" b="1" dirty="0">
                    <a:solidFill>
                      <a:schemeClr val="lt1"/>
                    </a:solidFill>
                    <a:latin typeface="Arial" panose="020B0604020202020204"/>
                    <a:ea typeface="Arial" panose="020B0604020202020204"/>
                    <a:cs typeface="Arial" panose="020B0604020202020204"/>
                    <a:sym typeface="Arial" panose="020B0604020202020204"/>
                  </a:rPr>
                  <a:t>07</a:t>
                </a:r>
                <a:endParaRPr sz="16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22" name="Google Shape;574;p25"/>
              <p:cNvSpPr/>
              <p:nvPr/>
            </p:nvSpPr>
            <p:spPr>
              <a:xfrm>
                <a:off x="700550" y="2682647"/>
                <a:ext cx="1427442" cy="1096060"/>
              </a:xfrm>
              <a:custGeom>
                <a:avLst/>
                <a:gdLst/>
                <a:ahLst/>
                <a:cxnLst/>
                <a:rect l="l" t="t" r="r" b="b"/>
                <a:pathLst>
                  <a:path w="1771834" h="1360502" extrusionOk="0">
                    <a:moveTo>
                      <a:pt x="1372151" y="0"/>
                    </a:moveTo>
                    <a:cubicBezTo>
                      <a:pt x="1452516" y="0"/>
                      <a:pt x="1517573" y="66936"/>
                      <a:pt x="1514020" y="149094"/>
                    </a:cubicBezTo>
                    <a:cubicBezTo>
                      <a:pt x="1510466" y="223163"/>
                      <a:pt x="1449782" y="282966"/>
                      <a:pt x="1375705" y="284749"/>
                    </a:cubicBezTo>
                    <a:cubicBezTo>
                      <a:pt x="1333883" y="285640"/>
                      <a:pt x="1296434" y="267808"/>
                      <a:pt x="1269645" y="240167"/>
                    </a:cubicBezTo>
                    <a:cubicBezTo>
                      <a:pt x="1241764" y="210680"/>
                      <a:pt x="1200762" y="198197"/>
                      <a:pt x="1162493" y="208005"/>
                    </a:cubicBezTo>
                    <a:cubicBezTo>
                      <a:pt x="924132" y="269591"/>
                      <a:pt x="750009" y="490970"/>
                      <a:pt x="761490" y="750753"/>
                    </a:cubicBezTo>
                    <a:cubicBezTo>
                      <a:pt x="773244" y="1024803"/>
                      <a:pt x="995476" y="1247137"/>
                      <a:pt x="1269645" y="1260512"/>
                    </a:cubicBezTo>
                    <a:cubicBezTo>
                      <a:pt x="1460989" y="1269985"/>
                      <a:pt x="1632046" y="1177633"/>
                      <a:pt x="1733431" y="1032946"/>
                    </a:cubicBezTo>
                    <a:lnTo>
                      <a:pt x="1771834" y="964587"/>
                    </a:lnTo>
                    <a:lnTo>
                      <a:pt x="1771834" y="1143266"/>
                    </a:lnTo>
                    <a:lnTo>
                      <a:pt x="1722647" y="1195072"/>
                    </a:lnTo>
                    <a:cubicBezTo>
                      <a:pt x="1610144" y="1297735"/>
                      <a:pt x="1460443" y="1360502"/>
                      <a:pt x="1296434" y="1360502"/>
                    </a:cubicBezTo>
                    <a:cubicBezTo>
                      <a:pt x="998210" y="1360502"/>
                      <a:pt x="747275" y="1153388"/>
                      <a:pt x="680305" y="875773"/>
                    </a:cubicBezTo>
                    <a:cubicBezTo>
                      <a:pt x="668824" y="827561"/>
                      <a:pt x="625909" y="794507"/>
                      <a:pt x="576706" y="794507"/>
                    </a:cubicBezTo>
                    <a:lnTo>
                      <a:pt x="48322" y="794507"/>
                    </a:lnTo>
                    <a:cubicBezTo>
                      <a:pt x="17980" y="794507"/>
                      <a:pt x="-5254" y="767758"/>
                      <a:pt x="1033" y="736487"/>
                    </a:cubicBezTo>
                    <a:cubicBezTo>
                      <a:pt x="5406" y="713241"/>
                      <a:pt x="27001" y="698083"/>
                      <a:pt x="49962" y="698083"/>
                    </a:cubicBezTo>
                    <a:lnTo>
                      <a:pt x="567959" y="698083"/>
                    </a:lnTo>
                    <a:cubicBezTo>
                      <a:pt x="619621" y="698083"/>
                      <a:pt x="663357" y="661463"/>
                      <a:pt x="673198" y="610640"/>
                    </a:cubicBezTo>
                    <a:cubicBezTo>
                      <a:pt x="721307" y="350857"/>
                      <a:pt x="927686" y="146419"/>
                      <a:pt x="1188187" y="101773"/>
                    </a:cubicBezTo>
                    <a:cubicBezTo>
                      <a:pt x="1216069" y="97315"/>
                      <a:pt x="1240944" y="81266"/>
                      <a:pt x="1257891" y="58020"/>
                    </a:cubicBezTo>
                    <a:cubicBezTo>
                      <a:pt x="1283860" y="23183"/>
                      <a:pt x="1324862" y="0"/>
                      <a:pt x="1372151" y="0"/>
                    </a:cubicBezTo>
                    <a:close/>
                  </a:path>
                </a:pathLst>
              </a:custGeom>
              <a:solidFill>
                <a:srgbClr val="D0CECE"/>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1600" b="1">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20" name="Google Shape;575;p25"/>
            <p:cNvSpPr/>
            <p:nvPr/>
          </p:nvSpPr>
          <p:spPr>
            <a:xfrm>
              <a:off x="1797830" y="5325178"/>
              <a:ext cx="9875520" cy="584735"/>
            </a:xfrm>
            <a:prstGeom prst="rect">
              <a:avLst/>
            </a:prstGeom>
            <a:noFill/>
            <a:ln>
              <a:noFill/>
            </a:ln>
          </p:spPr>
          <p:txBody>
            <a:bodyPr spcFirstLastPara="1" wrap="square" lIns="91425" tIns="45700" rIns="91425" bIns="45700" anchor="ctr" anchorCtr="0">
              <a:spAutoFit/>
            </a:bodyPr>
            <a:lstStyle/>
            <a:p>
              <a:pPr lvl="0"/>
              <a:r>
                <a:rPr lang="en-US" sz="1600" b="1" dirty="0">
                  <a:solidFill>
                    <a:schemeClr val="dk1"/>
                  </a:solidFill>
                </a:rPr>
                <a:t>Issuer: </a:t>
              </a:r>
              <a:r>
                <a:rPr lang="en-US" sz="1600" dirty="0">
                  <a:solidFill>
                    <a:schemeClr val="dk1"/>
                  </a:solidFill>
                </a:rPr>
                <a:t>This is the entity that borrows money by issuing the bond. It can be a government (in the case of government bonds), a corporation (for corporate bonds), or other entities.</a:t>
              </a:r>
              <a:endParaRPr lang="en-US" sz="1600" dirty="0">
                <a:solidFill>
                  <a:schemeClr val="dk1"/>
                </a:solidFill>
              </a:endParaRPr>
            </a:p>
          </p:txBody>
        </p:sp>
      </p:grpSp>
      <p:sp>
        <p:nvSpPr>
          <p:cNvPr id="23" name="Google Shape;245;p22"/>
          <p:cNvSpPr/>
          <p:nvPr/>
        </p:nvSpPr>
        <p:spPr>
          <a:xfrm>
            <a:off x="0" y="5077975"/>
            <a:ext cx="12192000" cy="1188720"/>
          </a:xfrm>
          <a:prstGeom prst="rect">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4" name="TextBox 23"/>
          <p:cNvSpPr txBox="1"/>
          <p:nvPr/>
        </p:nvSpPr>
        <p:spPr>
          <a:xfrm>
            <a:off x="700550" y="5133726"/>
            <a:ext cx="10972800" cy="1077218"/>
          </a:xfrm>
          <a:prstGeom prst="rect">
            <a:avLst/>
          </a:prstGeom>
          <a:noFill/>
        </p:spPr>
        <p:txBody>
          <a:bodyPr wrap="square">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rPr>
              <a:t>Bonds are commonly used by both governments and corporations to raise capital for various purposes, including financing projects, refinancing debt, or covering operating expenses. They are considered relatively lower-risk investments compared to stocks because they provide a predictable stream of income in the form of interest payments and the return of principal at maturity.</a:t>
            </a:r>
            <a:endParaRPr 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3" name="Title 2"/>
          <p:cNvSpPr>
            <a:spLocks noGrp="1"/>
          </p:cNvSpPr>
          <p:nvPr>
            <p:ph type="title"/>
          </p:nvPr>
        </p:nvSpPr>
        <p:spPr/>
        <p:txBody>
          <a:bodyPr/>
          <a:lstStyle/>
          <a:p>
            <a:r>
              <a:rPr lang="en-US" dirty="0"/>
              <a:t>CASH FLOW OF A BOND</a:t>
            </a:r>
            <a:endParaRPr lang="en-US" dirty="0"/>
          </a:p>
        </p:txBody>
      </p:sp>
      <p:sp>
        <p:nvSpPr>
          <p:cNvPr id="606" name="Google Shape;606;p27"/>
          <p:cNvSpPr/>
          <p:nvPr/>
        </p:nvSpPr>
        <p:spPr>
          <a:xfrm>
            <a:off x="700550" y="2124704"/>
            <a:ext cx="10972800" cy="4114800"/>
          </a:xfrm>
          <a:prstGeom prst="rect">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45700" bIns="45700" anchor="t" anchorCtr="0">
            <a:noAutofit/>
          </a:bodyPr>
          <a:lstStyle/>
          <a:p>
            <a:pPr marL="228600" marR="0" lvl="0" indent="-158750" algn="l" rtl="0">
              <a:spcBef>
                <a:spcPts val="0"/>
              </a:spcBef>
              <a:spcAft>
                <a:spcPts val="0"/>
              </a:spcAft>
              <a:buClr>
                <a:schemeClr val="dk1"/>
              </a:buClr>
              <a:buSzPts val="1100"/>
              <a:buFont typeface="Noto Sans Symbols"/>
              <a:buNone/>
            </a:pPr>
            <a:endParaRPr sz="1100" dirty="0">
              <a:solidFill>
                <a:schemeClr val="accent2"/>
              </a:solidFill>
              <a:latin typeface="Arial" panose="020B0604020202020204"/>
              <a:ea typeface="Arial" panose="020B0604020202020204"/>
              <a:cs typeface="Arial" panose="020B0604020202020204"/>
              <a:sym typeface="Arial" panose="020B0604020202020204"/>
            </a:endParaRPr>
          </a:p>
        </p:txBody>
      </p:sp>
      <p:sp>
        <p:nvSpPr>
          <p:cNvPr id="607" name="Google Shape;607;p27"/>
          <p:cNvSpPr/>
          <p:nvPr/>
        </p:nvSpPr>
        <p:spPr>
          <a:xfrm>
            <a:off x="700550" y="1468438"/>
            <a:ext cx="10972800" cy="440365"/>
          </a:xfrm>
          <a:prstGeom prst="round2SameRect">
            <a:avLst>
              <a:gd name="adj1" fmla="val 16667"/>
              <a:gd name="adj2" fmla="val 0"/>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121900" tIns="60950" rIns="121900" bIns="6095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Yield</a:t>
            </a:r>
            <a:endParaRPr lang="en-US" sz="1800" b="1">
              <a:solidFill>
                <a:schemeClr val="lt1"/>
              </a:solidFill>
              <a:latin typeface="Arial" panose="020B0604020202020204"/>
              <a:ea typeface="Arial" panose="020B0604020202020204"/>
              <a:cs typeface="Arial" panose="020B0604020202020204"/>
              <a:sym typeface="Arial" panose="020B0604020202020204"/>
            </a:endParaRPr>
          </a:p>
        </p:txBody>
      </p:sp>
      <p:pic>
        <p:nvPicPr>
          <p:cNvPr id="608" name="Google Shape;608;p27" descr="C:\Documents and Settings\asia\Desktop\shadow-2.png"/>
          <p:cNvPicPr preferRelativeResize="0"/>
          <p:nvPr/>
        </p:nvPicPr>
        <p:blipFill rotWithShape="1">
          <a:blip r:embed="rId1"/>
          <a:srcRect/>
          <a:stretch>
            <a:fillRect/>
          </a:stretch>
        </p:blipFill>
        <p:spPr>
          <a:xfrm>
            <a:off x="766658" y="1899976"/>
            <a:ext cx="10906692" cy="361465"/>
          </a:xfrm>
          <a:prstGeom prst="rect">
            <a:avLst/>
          </a:prstGeom>
          <a:noFill/>
          <a:ln>
            <a:noFill/>
          </a:ln>
        </p:spPr>
      </p:pic>
      <p:sp>
        <p:nvSpPr>
          <p:cNvPr id="609" name="Google Shape;609;p27"/>
          <p:cNvSpPr txBox="1"/>
          <p:nvPr/>
        </p:nvSpPr>
        <p:spPr>
          <a:xfrm>
            <a:off x="939804" y="2166188"/>
            <a:ext cx="2578563" cy="27984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altLang="en-US" sz="1600" b="1" dirty="0">
                <a:solidFill>
                  <a:schemeClr val="tx1"/>
                </a:solidFill>
                <a:latin typeface="Arial" panose="020B0604020202020204"/>
                <a:ea typeface="Arial" panose="020B0604020202020204"/>
                <a:cs typeface="Arial" panose="020B0604020202020204"/>
                <a:sym typeface="Arial" panose="020B0604020202020204"/>
              </a:rPr>
              <a:t>Example: </a:t>
            </a:r>
            <a:r>
              <a:rPr lang="en-US" sz="1600" b="1" dirty="0">
                <a:solidFill>
                  <a:schemeClr val="tx1"/>
                </a:solidFill>
                <a:latin typeface="Arial" panose="020B0604020202020204"/>
                <a:ea typeface="Arial" panose="020B0604020202020204"/>
                <a:cs typeface="Arial" panose="020B0604020202020204"/>
                <a:sym typeface="Arial" panose="020B0604020202020204"/>
              </a:rPr>
              <a:t>Bond Details: </a:t>
            </a:r>
            <a:endParaRPr lang="en-US" sz="1600" b="1" dirty="0">
              <a:solidFill>
                <a:schemeClr val="tx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pitchFamily="34" charset="0"/>
              <a:buChar char="•"/>
            </a:pPr>
            <a:r>
              <a:rPr lang="en-US" sz="1600" dirty="0">
                <a:solidFill>
                  <a:schemeClr val="tx1"/>
                </a:solidFill>
                <a:latin typeface="Arial" panose="020B0604020202020204"/>
                <a:ea typeface="Arial" panose="020B0604020202020204"/>
                <a:cs typeface="Arial" panose="020B0604020202020204"/>
                <a:sym typeface="Arial" panose="020B0604020202020204"/>
              </a:rPr>
              <a:t>Issuer:  XYZ Corporation</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 &amp; Par/</a:t>
            </a:r>
            <a:r>
              <a:rPr lang="en-US" sz="1600" dirty="0">
                <a:solidFill>
                  <a:schemeClr val="tx1"/>
                </a:solidFill>
                <a:latin typeface="Arial" panose="020B0604020202020204"/>
                <a:ea typeface="Arial" panose="020B0604020202020204"/>
                <a:cs typeface="Arial" panose="020B0604020202020204"/>
                <a:sym typeface="Arial" panose="020B0604020202020204"/>
              </a:rPr>
              <a:t>Face Value</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 of the Bond is </a:t>
            </a:r>
            <a:r>
              <a:rPr lang="en-US" sz="1600" dirty="0">
                <a:solidFill>
                  <a:schemeClr val="tx1"/>
                </a:solidFill>
                <a:latin typeface="Arial" panose="020B0604020202020204"/>
                <a:ea typeface="Arial" panose="020B0604020202020204"/>
                <a:cs typeface="Arial" panose="020B0604020202020204"/>
                <a:sym typeface="Arial" panose="020B0604020202020204"/>
              </a:rPr>
              <a:t>:  $</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1</a:t>
            </a:r>
            <a:r>
              <a:rPr lang="en-US" sz="1600" dirty="0">
                <a:solidFill>
                  <a:schemeClr val="tx1"/>
                </a:solidFill>
                <a:latin typeface="Arial" panose="020B0604020202020204"/>
                <a:ea typeface="Arial" panose="020B0604020202020204"/>
                <a:cs typeface="Arial" panose="020B0604020202020204"/>
                <a:sym typeface="Arial" panose="020B0604020202020204"/>
              </a:rPr>
              <a:t>,000</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IN" altLang="en-US" sz="1600" dirty="0">
                <a:solidFill>
                  <a:schemeClr val="tx1"/>
                </a:solidFill>
                <a:latin typeface="Arial" panose="020B0604020202020204"/>
                <a:ea typeface="Arial" panose="020B0604020202020204"/>
                <a:cs typeface="Arial" panose="020B0604020202020204"/>
                <a:sym typeface="Arial" panose="020B0604020202020204"/>
              </a:rPr>
              <a:t>Issue Price : $1,000</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tx1"/>
                </a:solidFill>
                <a:latin typeface="Arial" panose="020B0604020202020204"/>
                <a:ea typeface="Arial" panose="020B0604020202020204"/>
                <a:cs typeface="Arial" panose="020B0604020202020204"/>
                <a:sym typeface="Arial" panose="020B0604020202020204"/>
              </a:rPr>
              <a:t>Coupon Rate:  5% annually</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tx1"/>
                </a:solidFill>
                <a:latin typeface="Arial" panose="020B0604020202020204"/>
                <a:ea typeface="Arial" panose="020B0604020202020204"/>
                <a:cs typeface="Arial" panose="020B0604020202020204"/>
                <a:sym typeface="Arial" panose="020B0604020202020204"/>
              </a:rPr>
              <a:t>Maturity:  1</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2</a:t>
            </a:r>
            <a:r>
              <a:rPr lang="en-US" sz="1600" dirty="0">
                <a:solidFill>
                  <a:schemeClr val="tx1"/>
                </a:solidFill>
                <a:latin typeface="Arial" panose="020B0604020202020204"/>
                <a:ea typeface="Arial" panose="020B0604020202020204"/>
                <a:cs typeface="Arial" panose="020B0604020202020204"/>
                <a:sym typeface="Arial" panose="020B0604020202020204"/>
              </a:rPr>
              <a:t> years</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IN" altLang="en-US" sz="1600" dirty="0">
                <a:solidFill>
                  <a:schemeClr val="tx1"/>
                </a:solidFill>
                <a:latin typeface="Arial" panose="020B0604020202020204"/>
                <a:ea typeface="Arial" panose="020B0604020202020204"/>
                <a:cs typeface="Arial" panose="020B0604020202020204"/>
                <a:sym typeface="Arial" panose="020B0604020202020204"/>
              </a:rPr>
              <a:t>Redemption Price : $ 1000</a:t>
            </a:r>
            <a:endParaRPr lang="en-IN" altLang="en-US" sz="1600"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610" name="Google Shape;610;p27"/>
          <p:cNvSpPr txBox="1"/>
          <p:nvPr/>
        </p:nvSpPr>
        <p:spPr>
          <a:xfrm>
            <a:off x="4043662" y="2166188"/>
            <a:ext cx="7390434" cy="40297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latin typeface="Arial" panose="020B0604020202020204"/>
                <a:ea typeface="Arial" panose="020B0604020202020204"/>
                <a:cs typeface="Arial" panose="020B0604020202020204"/>
                <a:sym typeface="Arial" panose="020B0604020202020204"/>
              </a:rPr>
              <a:t>Cash Flows: </a:t>
            </a:r>
            <a:endParaRPr lang="en-US" sz="1600" b="1" dirty="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0"/>
              </a:spcBef>
              <a:spcAft>
                <a:spcPts val="0"/>
              </a:spcAft>
              <a:buClr>
                <a:schemeClr val="dk1"/>
              </a:buClr>
              <a:buSzPts val="1600"/>
              <a:buFont typeface="Calibri" panose="020F0502020204030204"/>
              <a:buAutoNum type="arabicPeriod"/>
            </a:pPr>
            <a:r>
              <a:rPr lang="en-US" sz="1600" b="1" dirty="0">
                <a:solidFill>
                  <a:schemeClr val="tx1"/>
                </a:solidFill>
                <a:latin typeface="Arial" panose="020B0604020202020204"/>
                <a:ea typeface="Arial" panose="020B0604020202020204"/>
                <a:cs typeface="Arial" panose="020B0604020202020204"/>
                <a:sym typeface="Arial" panose="020B0604020202020204"/>
              </a:rPr>
              <a:t>Purchase of Bond: </a:t>
            </a:r>
            <a:r>
              <a:rPr lang="en-US" sz="1600" dirty="0">
                <a:solidFill>
                  <a:schemeClr val="tx1"/>
                </a:solidFill>
                <a:latin typeface="Arial" panose="020B0604020202020204"/>
                <a:ea typeface="Arial" panose="020B0604020202020204"/>
                <a:cs typeface="Arial" panose="020B0604020202020204"/>
                <a:sym typeface="Arial" panose="020B0604020202020204"/>
              </a:rPr>
              <a:t>When you purchase the bond</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 in Primary Market at the time of Issue</a:t>
            </a:r>
            <a:r>
              <a:rPr lang="en-US" sz="1600" dirty="0">
                <a:solidFill>
                  <a:schemeClr val="tx1"/>
                </a:solidFill>
                <a:latin typeface="Arial" panose="020B0604020202020204"/>
                <a:ea typeface="Arial" panose="020B0604020202020204"/>
                <a:cs typeface="Arial" panose="020B0604020202020204"/>
                <a:sym typeface="Arial" panose="020B0604020202020204"/>
              </a:rPr>
              <a:t>, you pay the face value of $1,000 to XYZ Corporation.</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0"/>
              </a:spcBef>
              <a:spcAft>
                <a:spcPts val="0"/>
              </a:spcAft>
              <a:buClr>
                <a:schemeClr val="dk1"/>
              </a:buClr>
              <a:buSzPts val="1600"/>
              <a:buFont typeface="Calibri" panose="020F0502020204030204"/>
              <a:buAutoNum type="arabicPeriod"/>
            </a:pPr>
            <a:r>
              <a:rPr lang="en-US" sz="1600" b="1" dirty="0">
                <a:solidFill>
                  <a:schemeClr val="dk1"/>
                </a:solidFill>
                <a:latin typeface="Arial" panose="020B0604020202020204"/>
                <a:ea typeface="Arial" panose="020B0604020202020204"/>
                <a:cs typeface="Arial" panose="020B0604020202020204"/>
                <a:sym typeface="Arial" panose="020B0604020202020204"/>
              </a:rPr>
              <a:t>Year 1 - Interest Payment:  </a:t>
            </a:r>
            <a:r>
              <a:rPr lang="en-US" sz="1600" dirty="0">
                <a:solidFill>
                  <a:schemeClr val="dk1"/>
                </a:solidFill>
                <a:latin typeface="Arial" panose="020B0604020202020204"/>
                <a:ea typeface="Arial" panose="020B0604020202020204"/>
                <a:cs typeface="Arial" panose="020B0604020202020204"/>
                <a:sym typeface="Arial" panose="020B0604020202020204"/>
              </a:rPr>
              <a:t>Since the coupon rate is 5%, XYZ Corporation will pay you 5% of the face value as interest annually. In the first year, you will receive an interest payment of $50 (5% of $1,000).</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l" rtl="0">
              <a:spcBef>
                <a:spcPts val="0"/>
              </a:spcBef>
              <a:spcAft>
                <a:spcPts val="0"/>
              </a:spcAft>
              <a:buClr>
                <a:schemeClr val="dk1"/>
              </a:buClr>
              <a:buSzPts val="1600"/>
              <a:buFont typeface="Arial" panose="020B0604020202020204"/>
              <a:buChar char="•"/>
            </a:pPr>
            <a:r>
              <a:rPr lang="en-US" sz="1600" b="1" i="0" u="none" strike="noStrike" cap="none" dirty="0">
                <a:solidFill>
                  <a:schemeClr val="dk1"/>
                </a:solidFill>
                <a:latin typeface="Arial" panose="020B0604020202020204"/>
                <a:ea typeface="Arial" panose="020B0604020202020204"/>
                <a:cs typeface="Arial" panose="020B0604020202020204"/>
                <a:sym typeface="Arial" panose="020B0604020202020204"/>
              </a:rPr>
              <a:t>Cash Inflow:  </a:t>
            </a:r>
            <a:r>
              <a:rPr lang="en-US" sz="1600" b="0" i="0" u="none" strike="noStrike" cap="none" dirty="0">
                <a:solidFill>
                  <a:schemeClr val="dk1"/>
                </a:solidFill>
                <a:latin typeface="Arial" panose="020B0604020202020204"/>
                <a:ea typeface="Arial" panose="020B0604020202020204"/>
                <a:cs typeface="Arial" panose="020B0604020202020204"/>
                <a:sym typeface="Arial" panose="020B0604020202020204"/>
              </a:rPr>
              <a:t>$50 (Interest Payment)</a:t>
            </a:r>
            <a:endParaRPr lang="en-US" sz="1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0"/>
              </a:spcBef>
              <a:spcAft>
                <a:spcPts val="0"/>
              </a:spcAft>
              <a:buClr>
                <a:schemeClr val="dk1"/>
              </a:buClr>
              <a:buSzPts val="1600"/>
              <a:buFont typeface="Calibri" panose="020F0502020204030204"/>
              <a:buAutoNum type="arabicPeriod"/>
            </a:pPr>
            <a:r>
              <a:rPr lang="en-US" sz="1600" b="1" dirty="0">
                <a:solidFill>
                  <a:schemeClr val="dk1"/>
                </a:solidFill>
                <a:latin typeface="Arial" panose="020B0604020202020204"/>
                <a:ea typeface="Arial" panose="020B0604020202020204"/>
                <a:cs typeface="Arial" panose="020B0604020202020204"/>
                <a:sym typeface="Arial" panose="020B0604020202020204"/>
              </a:rPr>
              <a:t>Year 2 - Interest Payment: </a:t>
            </a:r>
            <a:r>
              <a:rPr lang="en-US" sz="1600" dirty="0">
                <a:solidFill>
                  <a:schemeClr val="dk1"/>
                </a:solidFill>
                <a:latin typeface="Arial" panose="020B0604020202020204"/>
                <a:ea typeface="Arial" panose="020B0604020202020204"/>
                <a:cs typeface="Arial" panose="020B0604020202020204"/>
                <a:sym typeface="Arial" panose="020B0604020202020204"/>
              </a:rPr>
              <a:t>In the second year, you will receive another interest payment of $50.</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l" rtl="0">
              <a:spcBef>
                <a:spcPts val="0"/>
              </a:spcBef>
              <a:spcAft>
                <a:spcPts val="0"/>
              </a:spcAft>
              <a:buClr>
                <a:schemeClr val="dk1"/>
              </a:buClr>
              <a:buSzPts val="1600"/>
              <a:buFont typeface="Arial" panose="020B0604020202020204"/>
              <a:buChar char="•"/>
            </a:pPr>
            <a:r>
              <a:rPr lang="en-US" sz="1600" b="1" i="0" u="none" strike="noStrike" cap="none" dirty="0">
                <a:solidFill>
                  <a:schemeClr val="dk1"/>
                </a:solidFill>
                <a:latin typeface="Arial" panose="020B0604020202020204"/>
                <a:ea typeface="Arial" panose="020B0604020202020204"/>
                <a:cs typeface="Arial" panose="020B0604020202020204"/>
                <a:sym typeface="Arial" panose="020B0604020202020204"/>
              </a:rPr>
              <a:t>Cash Inflow:  </a:t>
            </a:r>
            <a:r>
              <a:rPr lang="en-US" sz="1600" b="0" i="0" u="none" strike="noStrike" cap="none" dirty="0">
                <a:solidFill>
                  <a:schemeClr val="dk1"/>
                </a:solidFill>
                <a:latin typeface="Arial" panose="020B0604020202020204"/>
                <a:ea typeface="Arial" panose="020B0604020202020204"/>
                <a:cs typeface="Arial" panose="020B0604020202020204"/>
                <a:sym typeface="Arial" panose="020B0604020202020204"/>
              </a:rPr>
              <a:t>$50 (Interest Payment)</a:t>
            </a:r>
            <a:endParaRPr lang="en-US" sz="1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0"/>
              </a:spcBef>
              <a:spcAft>
                <a:spcPts val="0"/>
              </a:spcAft>
              <a:buClr>
                <a:schemeClr val="dk1"/>
              </a:buClr>
              <a:buSzPts val="1600"/>
              <a:buFont typeface="Calibri" panose="020F0502020204030204"/>
              <a:buAutoNum type="arabicPeriod"/>
            </a:pPr>
            <a:r>
              <a:rPr lang="en-US" sz="1600" b="1" dirty="0">
                <a:solidFill>
                  <a:schemeClr val="dk1"/>
                </a:solidFill>
                <a:latin typeface="Arial" panose="020B0604020202020204"/>
                <a:ea typeface="Arial" panose="020B0604020202020204"/>
                <a:cs typeface="Arial" panose="020B0604020202020204"/>
                <a:sym typeface="Arial" panose="020B0604020202020204"/>
              </a:rPr>
              <a:t>Years 3 to </a:t>
            </a:r>
            <a:r>
              <a:rPr lang="en-IN" altLang="en-US" sz="1600" b="1" dirty="0">
                <a:solidFill>
                  <a:schemeClr val="dk1"/>
                </a:solidFill>
                <a:latin typeface="Arial" panose="020B0604020202020204"/>
                <a:ea typeface="Arial" panose="020B0604020202020204"/>
                <a:cs typeface="Arial" panose="020B0604020202020204"/>
                <a:sym typeface="Arial" panose="020B0604020202020204"/>
              </a:rPr>
              <a:t>11</a:t>
            </a:r>
            <a:r>
              <a:rPr lang="en-US" sz="1600" b="1" dirty="0">
                <a:solidFill>
                  <a:schemeClr val="dk1"/>
                </a:solidFill>
                <a:latin typeface="Arial" panose="020B0604020202020204"/>
                <a:ea typeface="Arial" panose="020B0604020202020204"/>
                <a:cs typeface="Arial" panose="020B0604020202020204"/>
                <a:sym typeface="Arial" panose="020B0604020202020204"/>
              </a:rPr>
              <a:t> - Interest Payments: </a:t>
            </a:r>
            <a:r>
              <a:rPr lang="en-US" sz="1600" dirty="0">
                <a:solidFill>
                  <a:schemeClr val="dk1"/>
                </a:solidFill>
                <a:latin typeface="Arial" panose="020B0604020202020204"/>
                <a:ea typeface="Arial" panose="020B0604020202020204"/>
                <a:cs typeface="Arial" panose="020B0604020202020204"/>
                <a:sym typeface="Arial" panose="020B0604020202020204"/>
              </a:rPr>
              <a:t>For the remaining years until maturity, you will continue to receive annual interest payments of $50.</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l" rtl="0">
              <a:spcBef>
                <a:spcPts val="0"/>
              </a:spcBef>
              <a:spcAft>
                <a:spcPts val="0"/>
              </a:spcAft>
              <a:buClr>
                <a:schemeClr val="dk1"/>
              </a:buClr>
              <a:buSzPts val="1600"/>
              <a:buFont typeface="Arial" panose="020B0604020202020204"/>
              <a:buChar char="•"/>
            </a:pPr>
            <a:r>
              <a:rPr lang="en-US" sz="1600" b="1" i="0" u="none" strike="noStrike" cap="none" dirty="0">
                <a:solidFill>
                  <a:schemeClr val="dk1"/>
                </a:solidFill>
                <a:latin typeface="Arial" panose="020B0604020202020204"/>
                <a:ea typeface="Arial" panose="020B0604020202020204"/>
                <a:cs typeface="Arial" panose="020B0604020202020204"/>
                <a:sym typeface="Arial" panose="020B0604020202020204"/>
              </a:rPr>
              <a:t>Cash Inflow:  </a:t>
            </a:r>
            <a:r>
              <a:rPr lang="en-US" sz="1600" b="0" i="0" u="none" strike="noStrike" cap="none" dirty="0">
                <a:solidFill>
                  <a:schemeClr val="dk1"/>
                </a:solidFill>
                <a:latin typeface="Arial" panose="020B0604020202020204"/>
                <a:ea typeface="Arial" panose="020B0604020202020204"/>
                <a:cs typeface="Arial" panose="020B0604020202020204"/>
                <a:sym typeface="Arial" panose="020B0604020202020204"/>
              </a:rPr>
              <a:t>$50 (Interest Payment) each year from Year 3 to Year 9</a:t>
            </a:r>
            <a:endParaRPr lang="en-US" sz="1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0"/>
              </a:spcBef>
              <a:spcAft>
                <a:spcPts val="0"/>
              </a:spcAft>
              <a:buClr>
                <a:schemeClr val="dk1"/>
              </a:buClr>
              <a:buSzPts val="1600"/>
              <a:buFont typeface="Calibri" panose="020F0502020204030204"/>
              <a:buAutoNum type="arabicPeriod"/>
            </a:pPr>
            <a:r>
              <a:rPr lang="en-US" sz="1600" b="1" dirty="0">
                <a:solidFill>
                  <a:schemeClr val="tx1"/>
                </a:solidFill>
                <a:latin typeface="Arial" panose="020B0604020202020204"/>
                <a:ea typeface="Arial" panose="020B0604020202020204"/>
                <a:cs typeface="Arial" panose="020B0604020202020204"/>
                <a:sym typeface="Arial" panose="020B0604020202020204"/>
              </a:rPr>
              <a:t>Year 1</a:t>
            </a:r>
            <a:r>
              <a:rPr lang="en-IN" altLang="en-US" sz="1600" b="1" dirty="0">
                <a:solidFill>
                  <a:schemeClr val="tx1"/>
                </a:solidFill>
                <a:latin typeface="Arial" panose="020B0604020202020204"/>
                <a:ea typeface="Arial" panose="020B0604020202020204"/>
                <a:cs typeface="Arial" panose="020B0604020202020204"/>
                <a:sym typeface="Arial" panose="020B0604020202020204"/>
              </a:rPr>
              <a:t>2</a:t>
            </a:r>
            <a:r>
              <a:rPr lang="en-US" sz="1600" b="1" dirty="0">
                <a:solidFill>
                  <a:schemeClr val="tx1"/>
                </a:solidFill>
                <a:latin typeface="Arial" panose="020B0604020202020204"/>
                <a:ea typeface="Arial" panose="020B0604020202020204"/>
                <a:cs typeface="Arial" panose="020B0604020202020204"/>
                <a:sym typeface="Arial" panose="020B0604020202020204"/>
              </a:rPr>
              <a:t> - Maturity: </a:t>
            </a:r>
            <a:r>
              <a:rPr lang="en-US" sz="1600" dirty="0">
                <a:solidFill>
                  <a:schemeClr val="tx1"/>
                </a:solidFill>
                <a:latin typeface="Arial" panose="020B0604020202020204"/>
                <a:ea typeface="Arial" panose="020B0604020202020204"/>
                <a:cs typeface="Arial" panose="020B0604020202020204"/>
                <a:sym typeface="Arial" panose="020B0604020202020204"/>
              </a:rPr>
              <a:t>At the end of the 1</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2</a:t>
            </a:r>
            <a:r>
              <a:rPr lang="en-US" sz="1600" dirty="0">
                <a:solidFill>
                  <a:schemeClr val="tx1"/>
                </a:solidFill>
                <a:latin typeface="Arial" panose="020B0604020202020204"/>
                <a:ea typeface="Arial" panose="020B0604020202020204"/>
                <a:cs typeface="Arial" panose="020B0604020202020204"/>
                <a:sym typeface="Arial" panose="020B0604020202020204"/>
              </a:rPr>
              <a:t>th year, you will receive</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both  coupon amount of $50 and </a:t>
            </a:r>
            <a:r>
              <a:rPr lang="en-US" sz="1600" dirty="0">
                <a:solidFill>
                  <a:schemeClr val="tx1"/>
                </a:solidFill>
                <a:latin typeface="Arial" panose="020B0604020202020204"/>
                <a:ea typeface="Arial" panose="020B0604020202020204"/>
                <a:cs typeface="Arial" panose="020B0604020202020204"/>
                <a:sym typeface="Arial" panose="020B0604020202020204"/>
              </a:rPr>
              <a:t> the </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redemption price </a:t>
            </a:r>
            <a:r>
              <a:rPr lang="en-US" sz="1600" dirty="0">
                <a:solidFill>
                  <a:schemeClr val="tx1"/>
                </a:solidFill>
                <a:latin typeface="Arial" panose="020B0604020202020204"/>
                <a:ea typeface="Arial" panose="020B0604020202020204"/>
                <a:cs typeface="Arial" panose="020B0604020202020204"/>
                <a:sym typeface="Arial" panose="020B0604020202020204"/>
              </a:rPr>
              <a:t> of the bond, which is $1,000.</a:t>
            </a:r>
            <a:r>
              <a:rPr lang="en-IN" altLang="en-US" sz="1600" dirty="0">
                <a:solidFill>
                  <a:schemeClr val="tx1"/>
                </a:solidFill>
                <a:latin typeface="Arial" panose="020B0604020202020204"/>
                <a:ea typeface="Arial" panose="020B0604020202020204"/>
                <a:cs typeface="Arial" panose="020B0604020202020204"/>
                <a:sym typeface="Arial" panose="020B0604020202020204"/>
              </a:rPr>
              <a:t> </a:t>
            </a:r>
            <a:r>
              <a:rPr lang="en-IN" altLang="en-US" sz="1600" b="1" i="0" u="none" strike="noStrike" cap="none" dirty="0">
                <a:solidFill>
                  <a:schemeClr val="tx1"/>
                </a:solidFill>
                <a:latin typeface="Arial" panose="020B0604020202020204"/>
                <a:ea typeface="Arial" panose="020B0604020202020204"/>
                <a:cs typeface="Arial" panose="020B0604020202020204"/>
                <a:sym typeface="Arial" panose="020B0604020202020204"/>
              </a:rPr>
              <a:t>Total C</a:t>
            </a:r>
            <a:r>
              <a:rPr lang="en-US" sz="1600" b="1" i="0" u="none" strike="noStrike" cap="none" dirty="0">
                <a:solidFill>
                  <a:schemeClr val="tx1"/>
                </a:solidFill>
                <a:latin typeface="Arial" panose="020B0604020202020204"/>
                <a:ea typeface="Arial" panose="020B0604020202020204"/>
                <a:cs typeface="Arial" panose="020B0604020202020204"/>
                <a:sym typeface="Arial" panose="020B0604020202020204"/>
              </a:rPr>
              <a:t>ash Inflow:  </a:t>
            </a:r>
            <a:r>
              <a:rPr 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rPr>
              <a:t>$1,0</a:t>
            </a:r>
            <a:r>
              <a:rPr lang="en-IN" alt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rPr>
              <a:t>50</a:t>
            </a:r>
            <a:r>
              <a:rPr 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rPr>
              <a:t> (</a:t>
            </a:r>
            <a:r>
              <a:rPr lang="en-IN" alt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rPr>
              <a:t>Redemption Price + Interest</a:t>
            </a:r>
            <a:r>
              <a:rPr 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rPr>
              <a:t>)</a:t>
            </a:r>
            <a:endParaRPr 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5" name="Title 4"/>
          <p:cNvSpPr>
            <a:spLocks noGrp="1"/>
          </p:cNvSpPr>
          <p:nvPr>
            <p:ph type="title"/>
          </p:nvPr>
        </p:nvSpPr>
        <p:spPr/>
        <p:txBody>
          <a:bodyPr/>
          <a:lstStyle/>
          <a:p>
            <a:r>
              <a:rPr lang="en-US" dirty="0"/>
              <a:t>CASH FLOW OF A BOND</a:t>
            </a:r>
            <a:endParaRPr lang="en-US" dirty="0"/>
          </a:p>
        </p:txBody>
      </p:sp>
      <p:graphicFrame>
        <p:nvGraphicFramePr>
          <p:cNvPr id="2" name="Chart 1"/>
          <p:cNvGraphicFramePr/>
          <p:nvPr/>
        </p:nvGraphicFramePr>
        <p:xfrm>
          <a:off x="700550" y="2140639"/>
          <a:ext cx="10972800" cy="4045849"/>
        </p:xfrm>
        <a:graphic>
          <a:graphicData uri="http://schemas.openxmlformats.org/drawingml/2006/chart">
            <c:chart xmlns:c="http://schemas.openxmlformats.org/drawingml/2006/chart" xmlns:r="http://schemas.openxmlformats.org/officeDocument/2006/relationships" r:id="rId1"/>
          </a:graphicData>
        </a:graphic>
      </p:graphicFrame>
      <p:sp>
        <p:nvSpPr>
          <p:cNvPr id="3" name="Google Shape;245;p22"/>
          <p:cNvSpPr/>
          <p:nvPr/>
        </p:nvSpPr>
        <p:spPr>
          <a:xfrm>
            <a:off x="0" y="1485900"/>
            <a:ext cx="12192000" cy="457200"/>
          </a:xfrm>
          <a:prstGeom prst="rect">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TextBox 3"/>
          <p:cNvSpPr txBox="1"/>
          <p:nvPr/>
        </p:nvSpPr>
        <p:spPr>
          <a:xfrm>
            <a:off x="700550" y="1545223"/>
            <a:ext cx="10972800" cy="33718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600" b="1" i="0" u="none" strike="noStrike" cap="none" dirty="0">
                <a:solidFill>
                  <a:schemeClr val="tx1"/>
                </a:solidFill>
                <a:latin typeface="Arial" panose="020B0604020202020204"/>
                <a:ea typeface="Arial" panose="020B0604020202020204"/>
                <a:cs typeface="Arial" panose="020B0604020202020204"/>
                <a:sym typeface="Arial" panose="020B0604020202020204"/>
              </a:rPr>
              <a:t>The cash flows of a </a:t>
            </a:r>
            <a:r>
              <a:rPr lang="en-IN" altLang="en-US" sz="1600" b="1" i="0" u="none" strike="noStrike" cap="none" dirty="0">
                <a:solidFill>
                  <a:schemeClr val="tx1"/>
                </a:solidFill>
                <a:latin typeface="Arial" panose="020B0604020202020204"/>
                <a:ea typeface="Arial" panose="020B0604020202020204"/>
                <a:cs typeface="Arial" panose="020B0604020202020204"/>
                <a:sym typeface="Arial" panose="020B0604020202020204"/>
              </a:rPr>
              <a:t>5% coupon </a:t>
            </a:r>
            <a:r>
              <a:rPr lang="en-US" sz="1600" b="1" i="0" u="none" strike="noStrike" cap="none" dirty="0">
                <a:solidFill>
                  <a:schemeClr val="tx1"/>
                </a:solidFill>
                <a:latin typeface="Arial" panose="020B0604020202020204"/>
                <a:ea typeface="Arial" panose="020B0604020202020204"/>
                <a:cs typeface="Arial" panose="020B0604020202020204"/>
                <a:sym typeface="Arial" panose="020B0604020202020204"/>
              </a:rPr>
              <a:t>bond</a:t>
            </a:r>
            <a:r>
              <a:rPr lang="en-IN" altLang="en-US" sz="1600" b="1" i="0" u="none" strike="noStrike" cap="none" dirty="0">
                <a:solidFill>
                  <a:schemeClr val="tx1"/>
                </a:solidFill>
                <a:latin typeface="Arial" panose="020B0604020202020204"/>
                <a:ea typeface="Arial" panose="020B0604020202020204"/>
                <a:cs typeface="Arial" panose="020B0604020202020204"/>
                <a:sym typeface="Arial" panose="020B0604020202020204"/>
              </a:rPr>
              <a:t> having FV=1000 with a maturity of 12 years</a:t>
            </a:r>
            <a:r>
              <a:rPr lang="en-US" sz="1600" b="1" i="0" u="none" strike="noStrike" cap="none" dirty="0">
                <a:solidFill>
                  <a:schemeClr val="tx1"/>
                </a:solidFill>
                <a:latin typeface="Arial" panose="020B0604020202020204"/>
                <a:ea typeface="Arial" panose="020B0604020202020204"/>
                <a:cs typeface="Arial" panose="020B0604020202020204"/>
                <a:sym typeface="Arial" panose="020B0604020202020204"/>
              </a:rPr>
              <a:t> will look like:</a:t>
            </a:r>
            <a:endParaRPr lang="en-US" sz="1600" b="1"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CASH FLOW OF A BOND</a:t>
            </a:r>
            <a:endParaRPr lang="en-US" dirty="0"/>
          </a:p>
        </p:txBody>
      </p:sp>
      <p:sp>
        <p:nvSpPr>
          <p:cNvPr id="624" name="Google Shape;624;p29"/>
          <p:cNvSpPr/>
          <p:nvPr/>
        </p:nvSpPr>
        <p:spPr>
          <a:xfrm>
            <a:off x="700550" y="1489664"/>
            <a:ext cx="10972800" cy="3846443"/>
          </a:xfrm>
          <a:prstGeom prst="roundRect">
            <a:avLst>
              <a:gd name="adj" fmla="val 4781"/>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625" name="Google Shape;625;p29"/>
          <p:cNvSpPr/>
          <p:nvPr/>
        </p:nvSpPr>
        <p:spPr>
          <a:xfrm>
            <a:off x="821994" y="1612454"/>
            <a:ext cx="10729913" cy="3600863"/>
          </a:xfrm>
          <a:prstGeom prst="roundRect">
            <a:avLst>
              <a:gd name="adj" fmla="val 5107"/>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626" name="Google Shape;626;p29"/>
          <p:cNvSpPr txBox="1"/>
          <p:nvPr/>
        </p:nvSpPr>
        <p:spPr>
          <a:xfrm>
            <a:off x="1016699" y="2135633"/>
            <a:ext cx="10340502" cy="25520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tx1"/>
                </a:solidFill>
                <a:latin typeface="Arial" panose="020B0604020202020204"/>
                <a:ea typeface="Arial" panose="020B0604020202020204"/>
                <a:cs typeface="Arial" panose="020B0604020202020204"/>
                <a:sym typeface="Arial" panose="020B0604020202020204"/>
              </a:rPr>
              <a:t>Here's a summary of the cash flows for this bond over its 1</a:t>
            </a:r>
            <a:r>
              <a:rPr lang="en-IN" altLang="en-US" sz="2000" dirty="0">
                <a:solidFill>
                  <a:schemeClr val="tx1"/>
                </a:solidFill>
                <a:latin typeface="Arial" panose="020B0604020202020204"/>
                <a:ea typeface="Arial" panose="020B0604020202020204"/>
                <a:cs typeface="Arial" panose="020B0604020202020204"/>
                <a:sym typeface="Arial" panose="020B0604020202020204"/>
              </a:rPr>
              <a:t>2</a:t>
            </a:r>
            <a:r>
              <a:rPr lang="en-US" sz="2000" dirty="0">
                <a:solidFill>
                  <a:schemeClr val="tx1"/>
                </a:solidFill>
                <a:latin typeface="Arial" panose="020B0604020202020204"/>
                <a:ea typeface="Arial" panose="020B0604020202020204"/>
                <a:cs typeface="Arial" panose="020B0604020202020204"/>
                <a:sym typeface="Arial" panose="020B0604020202020204"/>
              </a:rPr>
              <a:t>-year life:</a:t>
            </a:r>
            <a:endParaRPr lang="en-US" sz="2000" dirty="0">
              <a:solidFill>
                <a:schemeClr val="tx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2000" dirty="0">
              <a:solidFill>
                <a:schemeClr val="tx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0"/>
              </a:spcBef>
              <a:spcAft>
                <a:spcPts val="0"/>
              </a:spcAft>
              <a:buClr>
                <a:schemeClr val="dk1"/>
              </a:buClr>
              <a:buSzPts val="1800"/>
              <a:buFont typeface="Calibri" panose="020F0502020204030204"/>
              <a:buAutoNum type="arabicPeriod"/>
            </a:pPr>
            <a:r>
              <a:rPr lang="en-US" sz="2000" b="1" dirty="0">
                <a:solidFill>
                  <a:schemeClr val="tx1"/>
                </a:solidFill>
                <a:latin typeface="Arial" panose="020B0604020202020204"/>
                <a:ea typeface="Arial" panose="020B0604020202020204"/>
                <a:cs typeface="Arial" panose="020B0604020202020204"/>
                <a:sym typeface="Arial" panose="020B0604020202020204"/>
              </a:rPr>
              <a:t>Total Interest Payments:  $50 x 1</a:t>
            </a:r>
            <a:r>
              <a:rPr lang="en-IN" altLang="en-US" sz="2000" b="1" dirty="0">
                <a:solidFill>
                  <a:schemeClr val="tx1"/>
                </a:solidFill>
                <a:latin typeface="Arial" panose="020B0604020202020204"/>
                <a:ea typeface="Arial" panose="020B0604020202020204"/>
                <a:cs typeface="Arial" panose="020B0604020202020204"/>
                <a:sym typeface="Arial" panose="020B0604020202020204"/>
              </a:rPr>
              <a:t>2 </a:t>
            </a:r>
            <a:r>
              <a:rPr lang="en-US" sz="2000" b="1" dirty="0">
                <a:solidFill>
                  <a:schemeClr val="tx1"/>
                </a:solidFill>
                <a:latin typeface="Arial" panose="020B0604020202020204"/>
                <a:ea typeface="Arial" panose="020B0604020202020204"/>
                <a:cs typeface="Arial" panose="020B0604020202020204"/>
                <a:sym typeface="Arial" panose="020B0604020202020204"/>
              </a:rPr>
              <a:t>years = $</a:t>
            </a:r>
            <a:r>
              <a:rPr lang="en-IN" altLang="en-US" sz="2000" b="1" dirty="0">
                <a:solidFill>
                  <a:schemeClr val="tx1"/>
                </a:solidFill>
                <a:latin typeface="Arial" panose="020B0604020202020204"/>
                <a:ea typeface="Arial" panose="020B0604020202020204"/>
                <a:cs typeface="Arial" panose="020B0604020202020204"/>
                <a:sym typeface="Arial" panose="020B0604020202020204"/>
              </a:rPr>
              <a:t>6</a:t>
            </a:r>
            <a:r>
              <a:rPr lang="en-US" sz="2000" b="1" dirty="0">
                <a:solidFill>
                  <a:schemeClr val="tx1"/>
                </a:solidFill>
                <a:latin typeface="Arial" panose="020B0604020202020204"/>
                <a:ea typeface="Arial" panose="020B0604020202020204"/>
                <a:cs typeface="Arial" panose="020B0604020202020204"/>
                <a:sym typeface="Arial" panose="020B0604020202020204"/>
              </a:rPr>
              <a:t>00</a:t>
            </a:r>
            <a:endParaRPr lang="en-US" sz="2000" b="1" dirty="0">
              <a:solidFill>
                <a:schemeClr val="tx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0"/>
              </a:spcBef>
              <a:spcAft>
                <a:spcPts val="0"/>
              </a:spcAft>
              <a:buClr>
                <a:schemeClr val="dk1"/>
              </a:buClr>
              <a:buSzPts val="1800"/>
              <a:buFont typeface="Calibri" panose="020F0502020204030204"/>
              <a:buAutoNum type="arabicPeriod"/>
            </a:pPr>
            <a:r>
              <a:rPr lang="en-US" sz="2000" b="1" dirty="0">
                <a:solidFill>
                  <a:schemeClr val="tx1"/>
                </a:solidFill>
                <a:latin typeface="Arial" panose="020B0604020202020204"/>
                <a:ea typeface="Arial" panose="020B0604020202020204"/>
                <a:cs typeface="Arial" panose="020B0604020202020204"/>
                <a:sym typeface="Arial" panose="020B0604020202020204"/>
              </a:rPr>
              <a:t>Return of Principal:  $1,000</a:t>
            </a:r>
            <a:endParaRPr lang="en-US" sz="2000" b="1" dirty="0">
              <a:solidFill>
                <a:schemeClr val="tx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2000" dirty="0">
                <a:solidFill>
                  <a:schemeClr val="tx1"/>
                </a:solidFill>
                <a:latin typeface="Arial" panose="020B0604020202020204"/>
                <a:ea typeface="Arial" panose="020B0604020202020204"/>
                <a:cs typeface="Arial" panose="020B0604020202020204"/>
                <a:sym typeface="Arial" panose="020B0604020202020204"/>
              </a:rPr>
              <a:t> </a:t>
            </a:r>
            <a:endParaRPr lang="en-US" sz="2000" dirty="0">
              <a:solidFill>
                <a:schemeClr val="tx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2000" dirty="0">
                <a:solidFill>
                  <a:schemeClr val="tx1"/>
                </a:solidFill>
                <a:latin typeface="Arial" panose="020B0604020202020204"/>
                <a:ea typeface="Arial" panose="020B0604020202020204"/>
                <a:cs typeface="Arial" panose="020B0604020202020204"/>
                <a:sym typeface="Arial" panose="020B0604020202020204"/>
              </a:rPr>
              <a:t>So, the total cash inflows you will receive from this bond over its life are $</a:t>
            </a:r>
            <a:r>
              <a:rPr lang="en-IN" altLang="en-US" sz="2000" dirty="0">
                <a:solidFill>
                  <a:schemeClr val="tx1"/>
                </a:solidFill>
                <a:latin typeface="Arial" panose="020B0604020202020204"/>
                <a:ea typeface="Arial" panose="020B0604020202020204"/>
                <a:cs typeface="Arial" panose="020B0604020202020204"/>
                <a:sym typeface="Arial" panose="020B0604020202020204"/>
              </a:rPr>
              <a:t>600</a:t>
            </a:r>
            <a:r>
              <a:rPr lang="en-US" sz="2000" dirty="0">
                <a:solidFill>
                  <a:schemeClr val="tx1"/>
                </a:solidFill>
                <a:latin typeface="Arial" panose="020B0604020202020204"/>
                <a:ea typeface="Arial" panose="020B0604020202020204"/>
                <a:cs typeface="Arial" panose="020B0604020202020204"/>
                <a:sym typeface="Arial" panose="020B0604020202020204"/>
              </a:rPr>
              <a:t> in interest payments and $1,000 at maturity, resulting in a total cash inflow of $1,</a:t>
            </a:r>
            <a:r>
              <a:rPr lang="en-IN" altLang="en-US" sz="2000" dirty="0">
                <a:solidFill>
                  <a:schemeClr val="tx1"/>
                </a:solidFill>
                <a:latin typeface="Arial" panose="020B0604020202020204"/>
                <a:ea typeface="Arial" panose="020B0604020202020204"/>
                <a:cs typeface="Arial" panose="020B0604020202020204"/>
                <a:sym typeface="Arial" panose="020B0604020202020204"/>
              </a:rPr>
              <a:t>600</a:t>
            </a:r>
            <a:r>
              <a:rPr lang="en-US" sz="2000" dirty="0">
                <a:solidFill>
                  <a:schemeClr val="tx1"/>
                </a:solidFill>
                <a:latin typeface="Arial" panose="020B0604020202020204"/>
                <a:ea typeface="Arial" panose="020B0604020202020204"/>
                <a:cs typeface="Arial" panose="020B0604020202020204"/>
                <a:sym typeface="Arial" panose="020B0604020202020204"/>
              </a:rPr>
              <a:t>. This represents the return you'll earn from investing in this bond.</a:t>
            </a:r>
            <a:endParaRPr lang="en-US" sz="2000" dirty="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BOND TYPES - GOVERNMENT BONDS</a:t>
            </a:r>
            <a:endParaRPr lang="en-US" dirty="0"/>
          </a:p>
        </p:txBody>
      </p:sp>
      <p:pic>
        <p:nvPicPr>
          <p:cNvPr id="636" name="Google Shape;636;p30"/>
          <p:cNvPicPr preferRelativeResize="0"/>
          <p:nvPr/>
        </p:nvPicPr>
        <p:blipFill rotWithShape="1">
          <a:blip r:embed="rId1"/>
          <a:srcRect/>
          <a:stretch>
            <a:fillRect/>
          </a:stretch>
        </p:blipFill>
        <p:spPr>
          <a:xfrm>
            <a:off x="2222108" y="2345737"/>
            <a:ext cx="6153480" cy="3177717"/>
          </a:xfrm>
          <a:prstGeom prst="rect">
            <a:avLst/>
          </a:prstGeom>
          <a:noFill/>
          <a:ln>
            <a:noFill/>
          </a:ln>
          <a:effectLst>
            <a:outerShdw blurRad="127000" algn="tl" rotWithShape="0">
              <a:srgbClr val="000000">
                <a:alpha val="20000"/>
              </a:srgbClr>
            </a:outerShdw>
          </a:effectLst>
        </p:spPr>
      </p:pic>
      <p:grpSp>
        <p:nvGrpSpPr>
          <p:cNvPr id="5" name="Group 4"/>
          <p:cNvGrpSpPr/>
          <p:nvPr/>
        </p:nvGrpSpPr>
        <p:grpSpPr>
          <a:xfrm>
            <a:off x="8322993" y="3694654"/>
            <a:ext cx="1828800" cy="1828800"/>
            <a:chOff x="8832298" y="3147922"/>
            <a:chExt cx="1828800" cy="1828800"/>
          </a:xfrm>
        </p:grpSpPr>
        <p:sp>
          <p:nvSpPr>
            <p:cNvPr id="637" name="Google Shape;637;p30"/>
            <p:cNvSpPr/>
            <p:nvPr/>
          </p:nvSpPr>
          <p:spPr>
            <a:xfrm>
              <a:off x="8832298" y="3147922"/>
              <a:ext cx="1828800" cy="1828800"/>
            </a:xfrm>
            <a:custGeom>
              <a:avLst/>
              <a:gdLst/>
              <a:ahLst/>
              <a:cxnLst/>
              <a:rect l="l" t="t" r="r" b="b"/>
              <a:pathLst>
                <a:path w="2195829" h="2131059" extrusionOk="0">
                  <a:moveTo>
                    <a:pt x="1098003" y="0"/>
                  </a:moveTo>
                  <a:lnTo>
                    <a:pt x="1045481" y="1218"/>
                  </a:lnTo>
                  <a:lnTo>
                    <a:pt x="993223" y="4858"/>
                  </a:lnTo>
                  <a:lnTo>
                    <a:pt x="941315" y="10894"/>
                  </a:lnTo>
                  <a:lnTo>
                    <a:pt x="889845" y="19303"/>
                  </a:lnTo>
                  <a:lnTo>
                    <a:pt x="838897" y="30060"/>
                  </a:lnTo>
                  <a:lnTo>
                    <a:pt x="788557" y="43142"/>
                  </a:lnTo>
                  <a:lnTo>
                    <a:pt x="738912" y="58522"/>
                  </a:lnTo>
                  <a:lnTo>
                    <a:pt x="690048" y="76179"/>
                  </a:lnTo>
                  <a:lnTo>
                    <a:pt x="642049" y="96086"/>
                  </a:lnTo>
                  <a:lnTo>
                    <a:pt x="595003" y="118220"/>
                  </a:lnTo>
                  <a:lnTo>
                    <a:pt x="548995" y="142557"/>
                  </a:lnTo>
                  <a:lnTo>
                    <a:pt x="504157" y="169091"/>
                  </a:lnTo>
                  <a:lnTo>
                    <a:pt x="460791" y="197597"/>
                  </a:lnTo>
                  <a:lnTo>
                    <a:pt x="418962" y="228012"/>
                  </a:lnTo>
                  <a:lnTo>
                    <a:pt x="378732" y="260272"/>
                  </a:lnTo>
                  <a:lnTo>
                    <a:pt x="340165" y="294314"/>
                  </a:lnTo>
                  <a:lnTo>
                    <a:pt x="303325" y="330074"/>
                  </a:lnTo>
                  <a:lnTo>
                    <a:pt x="268275" y="367489"/>
                  </a:lnTo>
                  <a:lnTo>
                    <a:pt x="235078" y="406496"/>
                  </a:lnTo>
                  <a:lnTo>
                    <a:pt x="203799" y="447032"/>
                  </a:lnTo>
                  <a:lnTo>
                    <a:pt x="174499" y="489032"/>
                  </a:lnTo>
                  <a:lnTo>
                    <a:pt x="147243" y="532434"/>
                  </a:lnTo>
                  <a:lnTo>
                    <a:pt x="122067" y="577147"/>
                  </a:lnTo>
                  <a:lnTo>
                    <a:pt x="99181" y="622862"/>
                  </a:lnTo>
                  <a:lnTo>
                    <a:pt x="78608" y="669494"/>
                  </a:lnTo>
                  <a:lnTo>
                    <a:pt x="60370" y="716956"/>
                  </a:lnTo>
                  <a:lnTo>
                    <a:pt x="44489" y="765164"/>
                  </a:lnTo>
                  <a:lnTo>
                    <a:pt x="30990" y="814031"/>
                  </a:lnTo>
                  <a:lnTo>
                    <a:pt x="19894" y="863470"/>
                  </a:lnTo>
                  <a:lnTo>
                    <a:pt x="11224" y="913397"/>
                  </a:lnTo>
                  <a:lnTo>
                    <a:pt x="5003" y="963724"/>
                  </a:lnTo>
                  <a:lnTo>
                    <a:pt x="1254" y="1014366"/>
                  </a:lnTo>
                  <a:lnTo>
                    <a:pt x="0" y="1065237"/>
                  </a:lnTo>
                  <a:lnTo>
                    <a:pt x="1254" y="1116108"/>
                  </a:lnTo>
                  <a:lnTo>
                    <a:pt x="5003" y="1166749"/>
                  </a:lnTo>
                  <a:lnTo>
                    <a:pt x="11224" y="1217071"/>
                  </a:lnTo>
                  <a:lnTo>
                    <a:pt x="19894" y="1266988"/>
                  </a:lnTo>
                  <a:lnTo>
                    <a:pt x="30990" y="1316411"/>
                  </a:lnTo>
                  <a:lnTo>
                    <a:pt x="44489" y="1365253"/>
                  </a:lnTo>
                  <a:lnTo>
                    <a:pt x="60370" y="1413427"/>
                  </a:lnTo>
                  <a:lnTo>
                    <a:pt x="78608" y="1460844"/>
                  </a:lnTo>
                  <a:lnTo>
                    <a:pt x="99181" y="1507418"/>
                  </a:lnTo>
                  <a:lnTo>
                    <a:pt x="122067" y="1553061"/>
                  </a:lnTo>
                  <a:lnTo>
                    <a:pt x="147243" y="1597685"/>
                  </a:lnTo>
                  <a:lnTo>
                    <a:pt x="174499" y="1641175"/>
                  </a:lnTo>
                  <a:lnTo>
                    <a:pt x="203799" y="1683248"/>
                  </a:lnTo>
                  <a:lnTo>
                    <a:pt x="235078" y="1723842"/>
                  </a:lnTo>
                  <a:lnTo>
                    <a:pt x="268275" y="1762894"/>
                  </a:lnTo>
                  <a:lnTo>
                    <a:pt x="303325" y="1800343"/>
                  </a:lnTo>
                  <a:lnTo>
                    <a:pt x="340165" y="1836128"/>
                  </a:lnTo>
                  <a:lnTo>
                    <a:pt x="378732" y="1870186"/>
                  </a:lnTo>
                  <a:lnTo>
                    <a:pt x="418962" y="1902456"/>
                  </a:lnTo>
                  <a:lnTo>
                    <a:pt x="460791" y="1932875"/>
                  </a:lnTo>
                  <a:lnTo>
                    <a:pt x="504157" y="1961383"/>
                  </a:lnTo>
                  <a:lnTo>
                    <a:pt x="548995" y="1987918"/>
                  </a:lnTo>
                  <a:lnTo>
                    <a:pt x="595003" y="2012255"/>
                  </a:lnTo>
                  <a:lnTo>
                    <a:pt x="642049" y="2034389"/>
                  </a:lnTo>
                  <a:lnTo>
                    <a:pt x="690048" y="2054296"/>
                  </a:lnTo>
                  <a:lnTo>
                    <a:pt x="738912" y="2071952"/>
                  </a:lnTo>
                  <a:lnTo>
                    <a:pt x="788557" y="2087333"/>
                  </a:lnTo>
                  <a:lnTo>
                    <a:pt x="838897" y="2100414"/>
                  </a:lnTo>
                  <a:lnTo>
                    <a:pt x="889845" y="2111172"/>
                  </a:lnTo>
                  <a:lnTo>
                    <a:pt x="941315" y="2119581"/>
                  </a:lnTo>
                  <a:lnTo>
                    <a:pt x="993223" y="2125617"/>
                  </a:lnTo>
                  <a:lnTo>
                    <a:pt x="1045481" y="2129257"/>
                  </a:lnTo>
                  <a:lnTo>
                    <a:pt x="1098003" y="2130475"/>
                  </a:lnTo>
                  <a:lnTo>
                    <a:pt x="1150435" y="2129257"/>
                  </a:lnTo>
                  <a:lnTo>
                    <a:pt x="1202618" y="2125617"/>
                  </a:lnTo>
                  <a:lnTo>
                    <a:pt x="1254465" y="2119581"/>
                  </a:lnTo>
                  <a:lnTo>
                    <a:pt x="1305889" y="2111172"/>
                  </a:lnTo>
                  <a:lnTo>
                    <a:pt x="1356801" y="2100414"/>
                  </a:lnTo>
                  <a:lnTo>
                    <a:pt x="1407116" y="2087333"/>
                  </a:lnTo>
                  <a:lnTo>
                    <a:pt x="1456744" y="2071952"/>
                  </a:lnTo>
                  <a:lnTo>
                    <a:pt x="1505598" y="2054296"/>
                  </a:lnTo>
                  <a:lnTo>
                    <a:pt x="1553592" y="2034389"/>
                  </a:lnTo>
                  <a:lnTo>
                    <a:pt x="1600636" y="2012255"/>
                  </a:lnTo>
                  <a:lnTo>
                    <a:pt x="1646643" y="1987918"/>
                  </a:lnTo>
                  <a:lnTo>
                    <a:pt x="1691482" y="1961383"/>
                  </a:lnTo>
                  <a:lnTo>
                    <a:pt x="1734848" y="1932875"/>
                  </a:lnTo>
                  <a:lnTo>
                    <a:pt x="1776677" y="1902456"/>
                  </a:lnTo>
                  <a:lnTo>
                    <a:pt x="1816907" y="1870186"/>
                  </a:lnTo>
                  <a:lnTo>
                    <a:pt x="1855473" y="1836128"/>
                  </a:lnTo>
                  <a:lnTo>
                    <a:pt x="1892313" y="1800343"/>
                  </a:lnTo>
                  <a:lnTo>
                    <a:pt x="1927363" y="1762894"/>
                  </a:lnTo>
                  <a:lnTo>
                    <a:pt x="1960560" y="1723842"/>
                  </a:lnTo>
                  <a:lnTo>
                    <a:pt x="1991840" y="1683248"/>
                  </a:lnTo>
                  <a:lnTo>
                    <a:pt x="2021139" y="1641175"/>
                  </a:lnTo>
                  <a:lnTo>
                    <a:pt x="2048395" y="1597685"/>
                  </a:lnTo>
                  <a:lnTo>
                    <a:pt x="2073571" y="1553061"/>
                  </a:lnTo>
                  <a:lnTo>
                    <a:pt x="2096457" y="1507418"/>
                  </a:lnTo>
                  <a:lnTo>
                    <a:pt x="2117031" y="1460844"/>
                  </a:lnTo>
                  <a:lnTo>
                    <a:pt x="2135269" y="1413427"/>
                  </a:lnTo>
                  <a:lnTo>
                    <a:pt x="2151149" y="1365253"/>
                  </a:lnTo>
                  <a:lnTo>
                    <a:pt x="2164649" y="1316411"/>
                  </a:lnTo>
                  <a:lnTo>
                    <a:pt x="2175744" y="1266988"/>
                  </a:lnTo>
                  <a:lnTo>
                    <a:pt x="2184414" y="1217071"/>
                  </a:lnTo>
                  <a:lnTo>
                    <a:pt x="2190635" y="1166749"/>
                  </a:lnTo>
                  <a:lnTo>
                    <a:pt x="2194384" y="1116108"/>
                  </a:lnTo>
                  <a:lnTo>
                    <a:pt x="2195639" y="1065237"/>
                  </a:lnTo>
                  <a:lnTo>
                    <a:pt x="2194384" y="1014366"/>
                  </a:lnTo>
                  <a:lnTo>
                    <a:pt x="2190635" y="963724"/>
                  </a:lnTo>
                  <a:lnTo>
                    <a:pt x="2184414" y="913397"/>
                  </a:lnTo>
                  <a:lnTo>
                    <a:pt x="2175744" y="863470"/>
                  </a:lnTo>
                  <a:lnTo>
                    <a:pt x="2164649" y="814031"/>
                  </a:lnTo>
                  <a:lnTo>
                    <a:pt x="2151149" y="765164"/>
                  </a:lnTo>
                  <a:lnTo>
                    <a:pt x="2135269" y="716956"/>
                  </a:lnTo>
                  <a:lnTo>
                    <a:pt x="2117031" y="669494"/>
                  </a:lnTo>
                  <a:lnTo>
                    <a:pt x="2096457" y="622862"/>
                  </a:lnTo>
                  <a:lnTo>
                    <a:pt x="2073571" y="577147"/>
                  </a:lnTo>
                  <a:lnTo>
                    <a:pt x="2048395" y="532434"/>
                  </a:lnTo>
                  <a:lnTo>
                    <a:pt x="2021139" y="489032"/>
                  </a:lnTo>
                  <a:lnTo>
                    <a:pt x="1991840" y="447032"/>
                  </a:lnTo>
                  <a:lnTo>
                    <a:pt x="1960560" y="406496"/>
                  </a:lnTo>
                  <a:lnTo>
                    <a:pt x="1927363" y="367489"/>
                  </a:lnTo>
                  <a:lnTo>
                    <a:pt x="1892313" y="330074"/>
                  </a:lnTo>
                  <a:lnTo>
                    <a:pt x="1855473" y="294314"/>
                  </a:lnTo>
                  <a:lnTo>
                    <a:pt x="1816907" y="260272"/>
                  </a:lnTo>
                  <a:lnTo>
                    <a:pt x="1776677" y="228012"/>
                  </a:lnTo>
                  <a:lnTo>
                    <a:pt x="1734848" y="197597"/>
                  </a:lnTo>
                  <a:lnTo>
                    <a:pt x="1691482" y="169091"/>
                  </a:lnTo>
                  <a:lnTo>
                    <a:pt x="1646643" y="142557"/>
                  </a:lnTo>
                  <a:lnTo>
                    <a:pt x="1600636" y="118220"/>
                  </a:lnTo>
                  <a:lnTo>
                    <a:pt x="1553592" y="96086"/>
                  </a:lnTo>
                  <a:lnTo>
                    <a:pt x="1505598" y="76179"/>
                  </a:lnTo>
                  <a:lnTo>
                    <a:pt x="1456744" y="58522"/>
                  </a:lnTo>
                  <a:lnTo>
                    <a:pt x="1407116" y="43142"/>
                  </a:lnTo>
                  <a:lnTo>
                    <a:pt x="1356801" y="30060"/>
                  </a:lnTo>
                  <a:lnTo>
                    <a:pt x="1305889" y="19303"/>
                  </a:lnTo>
                  <a:lnTo>
                    <a:pt x="1254465" y="10894"/>
                  </a:lnTo>
                  <a:lnTo>
                    <a:pt x="1202618" y="4858"/>
                  </a:lnTo>
                  <a:lnTo>
                    <a:pt x="1150435" y="1218"/>
                  </a:lnTo>
                  <a:lnTo>
                    <a:pt x="1098003" y="0"/>
                  </a:lnTo>
                  <a:close/>
                </a:path>
              </a:pathLst>
            </a:custGeom>
            <a:solidFill>
              <a:schemeClr val="accent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panose="020F050202020403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8" name="Google Shape;638;p30"/>
            <p:cNvSpPr txBox="1"/>
            <p:nvPr/>
          </p:nvSpPr>
          <p:spPr>
            <a:xfrm>
              <a:off x="9100002" y="3600657"/>
              <a:ext cx="1293393"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chemeClr val="lt1"/>
                  </a:solidFill>
                  <a:latin typeface="Arial" panose="020B0604020202020204"/>
                  <a:ea typeface="Arial" panose="020B0604020202020204"/>
                  <a:cs typeface="Arial" panose="020B0604020202020204"/>
                  <a:sym typeface="Arial" panose="020B0604020202020204"/>
                </a:rPr>
                <a:t>aka  Sovereign  Bonds</a:t>
              </a:r>
              <a:endParaRPr lang="en-US" sz="1800" dirty="0">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675" name="Google Shape;675;p32"/>
          <p:cNvSpPr txBox="1"/>
          <p:nvPr/>
        </p:nvSpPr>
        <p:spPr>
          <a:xfrm>
            <a:off x="700550" y="5651770"/>
            <a:ext cx="10972800" cy="534718"/>
          </a:xfrm>
          <a:prstGeom prst="roundRect">
            <a:avLst/>
          </a:prstGeom>
          <a:solidFill>
            <a:schemeClr val="accent3">
              <a:lumMod val="20000"/>
              <a:lumOff val="80000"/>
            </a:schemeClr>
          </a:solidFill>
          <a:ln>
            <a:noFill/>
          </a:ln>
        </p:spPr>
        <p:txBody>
          <a:bodyPr spcFirstLastPara="1" wrap="square" lIns="2194560" tIns="45700" rIns="91425" bIns="45700" anchor="ctr" anchorCtr="0">
            <a:noAutofit/>
          </a:bodyPr>
          <a:lstStyle/>
          <a:p>
            <a:pPr marL="0" marR="0" lvl="0" indent="0" algn="l" rtl="0">
              <a:spcBef>
                <a:spcPts val="0"/>
              </a:spcBef>
              <a:spcAft>
                <a:spcPts val="0"/>
              </a:spcAft>
              <a:buNone/>
            </a:pPr>
            <a:r>
              <a:rPr lang="en-US" sz="1800" dirty="0">
                <a:solidFill>
                  <a:schemeClr val="accent3"/>
                </a:solidFill>
                <a:latin typeface="Arial" panose="020B0604020202020204"/>
                <a:ea typeface="Arial" panose="020B0604020202020204"/>
                <a:cs typeface="Arial" panose="020B0604020202020204"/>
                <a:sym typeface="Arial" panose="020B0604020202020204"/>
              </a:rPr>
              <a:t>The US</a:t>
            </a:r>
            <a:r>
              <a:rPr lang="en-IN" altLang="en-US" sz="1800" dirty="0">
                <a:solidFill>
                  <a:schemeClr val="accent3"/>
                </a:solidFill>
                <a:latin typeface="Arial" panose="020B0604020202020204"/>
                <a:ea typeface="Arial" panose="020B0604020202020204"/>
                <a:cs typeface="Arial" panose="020B0604020202020204"/>
                <a:sym typeface="Arial" panose="020B0604020202020204"/>
              </a:rPr>
              <a:t> Treasury B</a:t>
            </a:r>
            <a:r>
              <a:rPr lang="en-US" sz="1800" dirty="0" err="1">
                <a:solidFill>
                  <a:schemeClr val="accent3"/>
                </a:solidFill>
                <a:latin typeface="Arial" panose="020B0604020202020204"/>
                <a:ea typeface="Arial" panose="020B0604020202020204"/>
                <a:cs typeface="Arial" panose="020B0604020202020204"/>
                <a:sym typeface="Arial" panose="020B0604020202020204"/>
              </a:rPr>
              <a:t>ond</a:t>
            </a:r>
            <a:r>
              <a:rPr lang="en-US" sz="1800" dirty="0">
                <a:solidFill>
                  <a:schemeClr val="accent3"/>
                </a:solidFill>
                <a:latin typeface="Arial" panose="020B0604020202020204"/>
                <a:ea typeface="Arial" panose="020B0604020202020204"/>
                <a:cs typeface="Arial" panose="020B0604020202020204"/>
                <a:sym typeface="Arial" panose="020B0604020202020204"/>
              </a:rPr>
              <a:t> market has daily trading volume of </a:t>
            </a:r>
            <a:r>
              <a:rPr lang="en-US" sz="1800" b="1" dirty="0">
                <a:solidFill>
                  <a:schemeClr val="accent3"/>
                </a:solidFill>
                <a:latin typeface="Arial" panose="020B0604020202020204"/>
                <a:ea typeface="Arial" panose="020B0604020202020204"/>
                <a:cs typeface="Arial" panose="020B0604020202020204"/>
                <a:sym typeface="Arial" panose="020B0604020202020204"/>
              </a:rPr>
              <a:t>$</a:t>
            </a:r>
            <a:r>
              <a:rPr lang="en-IN" altLang="en-US" sz="1800" b="1" dirty="0">
                <a:solidFill>
                  <a:schemeClr val="accent3"/>
                </a:solidFill>
                <a:latin typeface="Arial" panose="020B0604020202020204"/>
                <a:ea typeface="Arial" panose="020B0604020202020204"/>
                <a:cs typeface="Arial" panose="020B0604020202020204"/>
                <a:sym typeface="Arial" panose="020B0604020202020204"/>
              </a:rPr>
              <a:t>910</a:t>
            </a:r>
            <a:r>
              <a:rPr lang="en-US" sz="1800" b="1" dirty="0">
                <a:solidFill>
                  <a:schemeClr val="accent3"/>
                </a:solidFill>
                <a:latin typeface="Arial" panose="020B0604020202020204"/>
                <a:ea typeface="Arial" panose="020B0604020202020204"/>
                <a:cs typeface="Arial" panose="020B0604020202020204"/>
                <a:sym typeface="Arial" panose="020B0604020202020204"/>
              </a:rPr>
              <a:t> billion</a:t>
            </a:r>
            <a:r>
              <a:rPr lang="en-US" sz="1800" dirty="0">
                <a:solidFill>
                  <a:schemeClr val="accent3"/>
                </a:solidFill>
                <a:latin typeface="Arial" panose="020B0604020202020204"/>
                <a:ea typeface="Arial" panose="020B0604020202020204"/>
                <a:cs typeface="Arial" panose="020B0604020202020204"/>
                <a:sym typeface="Arial" panose="020B0604020202020204"/>
              </a:rPr>
              <a:t>.</a:t>
            </a:r>
            <a:endParaRPr lang="en-US" sz="1800" dirty="0">
              <a:solidFill>
                <a:schemeClr val="accent3"/>
              </a:solidFill>
              <a:latin typeface="Arial" panose="020B0604020202020204"/>
              <a:ea typeface="Arial" panose="020B0604020202020204"/>
              <a:cs typeface="Arial" panose="020B0604020202020204"/>
              <a:sym typeface="Arial" panose="020B0604020202020204"/>
            </a:endParaRPr>
          </a:p>
        </p:txBody>
      </p:sp>
      <p:sp>
        <p:nvSpPr>
          <p:cNvPr id="676" name="Google Shape;676;p32"/>
          <p:cNvSpPr/>
          <p:nvPr/>
        </p:nvSpPr>
        <p:spPr>
          <a:xfrm>
            <a:off x="700550" y="5651770"/>
            <a:ext cx="2003461" cy="534718"/>
          </a:xfrm>
          <a:prstGeom prst="round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bg1"/>
                </a:solidFill>
                <a:latin typeface="Arial" panose="020B0604020202020204"/>
                <a:ea typeface="Arial" panose="020B0604020202020204"/>
                <a:cs typeface="Arial" panose="020B0604020202020204"/>
                <a:sym typeface="Arial" panose="020B0604020202020204"/>
              </a:rPr>
              <a:t>Did You Know?</a:t>
            </a:r>
            <a:endParaRPr lang="en-US" sz="1800" b="1">
              <a:solidFill>
                <a:schemeClr val="bg1"/>
              </a:solidFill>
              <a:latin typeface="Arial" panose="020B0604020202020204"/>
              <a:ea typeface="Arial" panose="020B0604020202020204"/>
              <a:cs typeface="Arial" panose="020B0604020202020204"/>
              <a:sym typeface="Arial" panose="020B0604020202020204"/>
            </a:endParaRPr>
          </a:p>
        </p:txBody>
      </p:sp>
      <p:sp>
        <p:nvSpPr>
          <p:cNvPr id="3" name="Google Shape;245;p22"/>
          <p:cNvSpPr/>
          <p:nvPr/>
        </p:nvSpPr>
        <p:spPr>
          <a:xfrm>
            <a:off x="0" y="1485900"/>
            <a:ext cx="12192000" cy="731520"/>
          </a:xfrm>
          <a:prstGeom prst="rect">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TextBox 3"/>
          <p:cNvSpPr txBox="1"/>
          <p:nvPr/>
        </p:nvSpPr>
        <p:spPr>
          <a:xfrm>
            <a:off x="700550" y="1559273"/>
            <a:ext cx="10972800" cy="58477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600" i="0" u="none" strike="noStrike" cap="none" dirty="0">
                <a:solidFill>
                  <a:schemeClr val="tx1"/>
                </a:solidFill>
                <a:latin typeface="Arial" panose="020B0604020202020204"/>
                <a:ea typeface="Arial" panose="020B0604020202020204"/>
                <a:cs typeface="Arial" panose="020B0604020202020204"/>
                <a:sym typeface="Arial" panose="020B0604020202020204"/>
              </a:rPr>
              <a:t>A government bond is a bond issued by a national government, generally  with a promise to pay periodic interest payments and to repay the redemption value on the maturity date.</a:t>
            </a:r>
            <a:endParaRPr lang="en-US" sz="160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TREASURY BONDS</a:t>
            </a:r>
            <a:endParaRPr lang="en-US" dirty="0"/>
          </a:p>
        </p:txBody>
      </p:sp>
      <p:sp>
        <p:nvSpPr>
          <p:cNvPr id="645" name="Google Shape;645;p31"/>
          <p:cNvSpPr/>
          <p:nvPr/>
        </p:nvSpPr>
        <p:spPr>
          <a:xfrm>
            <a:off x="700550" y="1468438"/>
            <a:ext cx="10972800" cy="471805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646" name="Google Shape;646;p31"/>
          <p:cNvSpPr txBox="1"/>
          <p:nvPr/>
        </p:nvSpPr>
        <p:spPr>
          <a:xfrm>
            <a:off x="790282" y="1541463"/>
            <a:ext cx="10793337" cy="4572000"/>
          </a:xfrm>
          <a:prstGeom prst="rect">
            <a:avLst/>
          </a:prstGeom>
          <a:solidFill>
            <a:schemeClr val="lt1"/>
          </a:solidFill>
          <a:ln>
            <a:noFill/>
          </a:ln>
        </p:spPr>
        <p:txBody>
          <a:bodyPr spcFirstLastPara="1" wrap="square" lIns="182875" tIns="45700" rIns="182875" bIns="45700" anchor="t" anchorCtr="0">
            <a:noAutofit/>
          </a:bodyPr>
          <a:lstStyle/>
          <a:p>
            <a:pPr marL="0" marR="0" lvl="0" indent="0" algn="l" rtl="0">
              <a:lnSpc>
                <a:spcPct val="120000"/>
              </a:lnSpc>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pic>
        <p:nvPicPr>
          <p:cNvPr id="647" name="Google Shape;647;p31"/>
          <p:cNvPicPr preferRelativeResize="0"/>
          <p:nvPr/>
        </p:nvPicPr>
        <p:blipFill rotWithShape="1">
          <a:blip r:embed="rId1"/>
          <a:srcRect/>
          <a:stretch>
            <a:fillRect/>
          </a:stretch>
        </p:blipFill>
        <p:spPr>
          <a:xfrm>
            <a:off x="6780687" y="1759205"/>
            <a:ext cx="4593675" cy="4136517"/>
          </a:xfrm>
          <a:prstGeom prst="rect">
            <a:avLst/>
          </a:prstGeom>
          <a:noFill/>
          <a:ln>
            <a:noFill/>
          </a:ln>
          <a:effectLst>
            <a:outerShdw blurRad="127000" algn="tl" rotWithShape="0">
              <a:srgbClr val="000000">
                <a:alpha val="20000"/>
              </a:srgbClr>
            </a:outerShdw>
          </a:effectLst>
        </p:spPr>
      </p:pic>
      <p:sp>
        <p:nvSpPr>
          <p:cNvPr id="648" name="Google Shape;648;p31"/>
          <p:cNvSpPr txBox="1"/>
          <p:nvPr/>
        </p:nvSpPr>
        <p:spPr>
          <a:xfrm>
            <a:off x="999538" y="1759205"/>
            <a:ext cx="5607698" cy="4136517"/>
          </a:xfrm>
          <a:prstGeom prst="rect">
            <a:avLst/>
          </a:prstGeom>
          <a:noFill/>
          <a:ln>
            <a:noFill/>
          </a:ln>
        </p:spPr>
        <p:txBody>
          <a:bodyPr spcFirstLastPara="1" wrap="square" lIns="0" tIns="0" rIns="0" bIns="0" anchor="t" anchorCtr="0">
            <a:noAutofit/>
          </a:bodyPr>
          <a:lstStyle/>
          <a:p>
            <a:pPr marL="0" marR="0" lvl="0" indent="0" algn="l" rtl="0">
              <a:lnSpc>
                <a:spcPct val="120000"/>
              </a:lnSpc>
              <a:spcAft>
                <a:spcPts val="0"/>
              </a:spcAft>
              <a:buNone/>
            </a:pPr>
            <a:r>
              <a:rPr lang="en-US" sz="1600" b="1" dirty="0">
                <a:solidFill>
                  <a:schemeClr val="dk1"/>
                </a:solidFill>
                <a:latin typeface="Arial" panose="020B0604020202020204"/>
                <a:ea typeface="Arial" panose="020B0604020202020204"/>
                <a:cs typeface="Arial" panose="020B0604020202020204"/>
                <a:sym typeface="Arial" panose="020B0604020202020204"/>
              </a:rPr>
              <a:t>Treasury Bonds:</a:t>
            </a:r>
            <a:endParaRPr lang="en-US" sz="1600" b="1"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lnSpc>
                <a:spcPct val="120000"/>
              </a:lnSpc>
              <a:spcAft>
                <a:spcPts val="0"/>
              </a:spcAft>
              <a:buClr>
                <a:schemeClr val="accent3"/>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A Treasury Bond is a bond issued by the Government and are issued for a term of 20 to 30 years. These bonds pay a fixed rate of interest through out the life of the bond and the interest is paid on semi annual basis.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lnSpc>
                <a:spcPct val="120000"/>
              </a:lnSpc>
              <a:spcAft>
                <a:spcPts val="0"/>
              </a:spcAft>
              <a:buClr>
                <a:schemeClr val="accent3"/>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Non competitive sector can buy for a minimum of $100 and in the increments of $100. The maximum investment allowed is $10 million.</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lnSpc>
                <a:spcPct val="120000"/>
              </a:lnSpc>
              <a:spcAft>
                <a:spcPts val="0"/>
              </a:spcAft>
              <a:buClr>
                <a:schemeClr val="accent3"/>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The auction frequency  is 4 per year for the Original issues ( issued for the first time)  and 8 per year for the subsequent issues.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lnSpc>
                <a:spcPct val="120000"/>
              </a:lnSpc>
              <a:spcAft>
                <a:spcPts val="0"/>
              </a:spcAft>
              <a:buClr>
                <a:schemeClr val="accent3"/>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Investments in T bonds are exempted from the provincial or municipal taxes , however no such exemptions are available for the federal tax.</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3" name="Title 2"/>
          <p:cNvSpPr>
            <a:spLocks noGrp="1"/>
          </p:cNvSpPr>
          <p:nvPr>
            <p:ph type="title"/>
          </p:nvPr>
        </p:nvSpPr>
        <p:spPr>
          <a:xfrm>
            <a:off x="700550" y="404869"/>
            <a:ext cx="10515600" cy="716422"/>
          </a:xfrm>
        </p:spPr>
        <p:txBody>
          <a:bodyPr/>
          <a:lstStyle/>
          <a:p>
            <a:r>
              <a:rPr lang="en-US" dirty="0"/>
              <a:t>BOND TYPES - CORPORATE BONDS</a:t>
            </a:r>
            <a:endParaRPr lang="en-US" dirty="0"/>
          </a:p>
        </p:txBody>
      </p:sp>
      <p:pic>
        <p:nvPicPr>
          <p:cNvPr id="667" name="Google Shape;667;p32"/>
          <p:cNvPicPr preferRelativeResize="0">
            <a:picLocks noChangeAspect="1"/>
          </p:cNvPicPr>
          <p:nvPr/>
        </p:nvPicPr>
        <p:blipFill rotWithShape="1">
          <a:blip r:embed="rId1"/>
          <a:srcRect/>
          <a:stretch>
            <a:fillRect/>
          </a:stretch>
        </p:blipFill>
        <p:spPr>
          <a:xfrm>
            <a:off x="6634196" y="1753853"/>
            <a:ext cx="5039154" cy="3408218"/>
          </a:xfrm>
          <a:prstGeom prst="rect">
            <a:avLst/>
          </a:prstGeom>
          <a:noFill/>
          <a:ln>
            <a:noFill/>
          </a:ln>
        </p:spPr>
      </p:pic>
      <p:sp>
        <p:nvSpPr>
          <p:cNvPr id="671" name="Google Shape;671;p32"/>
          <p:cNvSpPr/>
          <p:nvPr/>
        </p:nvSpPr>
        <p:spPr>
          <a:xfrm>
            <a:off x="700550" y="1468437"/>
            <a:ext cx="5852160" cy="3979051"/>
          </a:xfrm>
          <a:prstGeom prst="round1Rect">
            <a:avLst>
              <a:gd name="adj" fmla="val 10927"/>
            </a:avLst>
          </a:prstGeom>
          <a:solidFill>
            <a:schemeClr val="accent3">
              <a:lumMod val="20000"/>
              <a:lumOff val="80000"/>
            </a:schemeClr>
          </a:solidFill>
          <a:ln>
            <a:noFill/>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672" name="Google Shape;672;p32"/>
          <p:cNvSpPr txBox="1"/>
          <p:nvPr/>
        </p:nvSpPr>
        <p:spPr>
          <a:xfrm>
            <a:off x="883430" y="1583623"/>
            <a:ext cx="5486400" cy="37486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10000"/>
              </a:lnSpc>
              <a:spcBef>
                <a:spcPts val="0"/>
              </a:spcBef>
              <a:spcAft>
                <a:spcPts val="0"/>
              </a:spcAft>
              <a:buClr>
                <a:schemeClr val="dk1"/>
              </a:buClr>
              <a:buSzPts val="1800"/>
              <a:buFont typeface="Arial" panose="020B0604020202020204"/>
              <a:buChar char="•"/>
            </a:pPr>
            <a:r>
              <a:rPr lang="en-US" sz="1800" dirty="0">
                <a:solidFill>
                  <a:schemeClr val="dk1"/>
                </a:solidFill>
                <a:latin typeface="Arial" panose="020B0604020202020204"/>
                <a:ea typeface="Arial" panose="020B0604020202020204"/>
                <a:cs typeface="Arial" panose="020B0604020202020204"/>
                <a:sym typeface="Arial" panose="020B0604020202020204"/>
              </a:rPr>
              <a:t>A corporate bond is a bond issue by a corporation.</a:t>
            </a:r>
            <a:endParaRPr lang="en-US" sz="18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10000"/>
              </a:lnSpc>
              <a:spcBef>
                <a:spcPts val="0"/>
              </a:spcBef>
              <a:spcAft>
                <a:spcPts val="0"/>
              </a:spcAft>
              <a:buClr>
                <a:schemeClr val="dk1"/>
              </a:buClr>
              <a:buSzPts val="1800"/>
              <a:buFont typeface="Arial" panose="020B0604020202020204"/>
              <a:buChar char="•"/>
            </a:pPr>
            <a:r>
              <a:rPr lang="en-US" sz="1800" dirty="0">
                <a:solidFill>
                  <a:schemeClr val="dk1"/>
                </a:solidFill>
                <a:latin typeface="Arial" panose="020B0604020202020204"/>
                <a:ea typeface="Arial" panose="020B0604020202020204"/>
                <a:cs typeface="Arial" panose="020B0604020202020204"/>
                <a:sym typeface="Arial" panose="020B0604020202020204"/>
              </a:rPr>
              <a:t>It is a bond that a corporation issues to raise money effectively in order to expand its business.</a:t>
            </a:r>
            <a:endParaRPr lang="en-US" sz="18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10000"/>
              </a:lnSpc>
              <a:spcBef>
                <a:spcPts val="0"/>
              </a:spcBef>
              <a:spcAft>
                <a:spcPts val="0"/>
              </a:spcAft>
              <a:buClr>
                <a:schemeClr val="dk1"/>
              </a:buClr>
              <a:buSzPts val="1800"/>
              <a:buFont typeface="Arial" panose="020B0604020202020204"/>
              <a:buChar char="•"/>
            </a:pPr>
            <a:r>
              <a:rPr lang="en-US" sz="1800" dirty="0">
                <a:solidFill>
                  <a:schemeClr val="dk1"/>
                </a:solidFill>
                <a:latin typeface="Arial" panose="020B0604020202020204"/>
                <a:ea typeface="Arial" panose="020B0604020202020204"/>
                <a:cs typeface="Arial" panose="020B0604020202020204"/>
                <a:sym typeface="Arial" panose="020B0604020202020204"/>
              </a:rPr>
              <a:t>The term  is usually applied to longer-  term debt instruments, generally with a  maturity date falling at least a year after  their issue date.</a:t>
            </a:r>
            <a:endParaRPr lang="en-US" sz="18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10000"/>
              </a:lnSpc>
              <a:spcBef>
                <a:spcPts val="0"/>
              </a:spcBef>
              <a:spcAft>
                <a:spcPts val="0"/>
              </a:spcAft>
              <a:buClr>
                <a:schemeClr val="dk1"/>
              </a:buClr>
              <a:buSzPts val="1800"/>
              <a:buFont typeface="Arial" panose="020B0604020202020204"/>
              <a:buChar char="•"/>
            </a:pPr>
            <a:r>
              <a:rPr lang="en-US" sz="1800" dirty="0">
                <a:solidFill>
                  <a:schemeClr val="dk1"/>
                </a:solidFill>
                <a:latin typeface="Arial" panose="020B0604020202020204"/>
                <a:ea typeface="Arial" panose="020B0604020202020204"/>
                <a:cs typeface="Arial" panose="020B0604020202020204"/>
                <a:sym typeface="Arial" panose="020B0604020202020204"/>
              </a:rPr>
              <a:t>Corporate bonds are often listed on  major exchanges (listed bonds) and  E</a:t>
            </a:r>
            <a:r>
              <a:rPr lang="en-IN" altLang="en-US" sz="1800" dirty="0" err="1">
                <a:solidFill>
                  <a:schemeClr val="dk1"/>
                </a:solidFill>
                <a:latin typeface="Arial" panose="020B0604020202020204"/>
                <a:ea typeface="Arial" panose="020B0604020202020204"/>
                <a:cs typeface="Arial" panose="020B0604020202020204"/>
                <a:sym typeface="Arial" panose="020B0604020202020204"/>
              </a:rPr>
              <a:t>lectronic</a:t>
            </a:r>
            <a:r>
              <a:rPr lang="en-IN" altLang="en-US" sz="1800" dirty="0">
                <a:solidFill>
                  <a:schemeClr val="dk1"/>
                </a:solidFill>
                <a:latin typeface="Arial" panose="020B0604020202020204"/>
                <a:ea typeface="Arial" panose="020B0604020202020204"/>
                <a:cs typeface="Arial" panose="020B0604020202020204"/>
                <a:sym typeface="Arial" panose="020B0604020202020204"/>
              </a:rPr>
              <a:t> Communication Networks</a:t>
            </a:r>
            <a:endParaRPr lang="en-US" sz="18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10000"/>
              </a:lnSpc>
              <a:spcBef>
                <a:spcPts val="0"/>
              </a:spcBef>
              <a:spcAft>
                <a:spcPts val="0"/>
              </a:spcAft>
              <a:buClr>
                <a:schemeClr val="dk1"/>
              </a:buClr>
              <a:buSzPts val="1800"/>
              <a:buFont typeface="Arial" panose="020B0604020202020204"/>
              <a:buChar char="•"/>
            </a:pPr>
            <a:r>
              <a:rPr lang="en-US" sz="1800" dirty="0">
                <a:solidFill>
                  <a:schemeClr val="dk1"/>
                </a:solidFill>
                <a:latin typeface="Arial" panose="020B0604020202020204"/>
                <a:ea typeface="Arial" panose="020B0604020202020204"/>
                <a:cs typeface="Arial" panose="020B0604020202020204"/>
                <a:sym typeface="Arial" panose="020B0604020202020204"/>
              </a:rPr>
              <a:t>The coupon (i.e. interest payment) is usually taxable.</a:t>
            </a:r>
            <a:endParaRPr lang="en-US" sz="18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4" name="Google Shape;675;p32"/>
          <p:cNvSpPr txBox="1"/>
          <p:nvPr/>
        </p:nvSpPr>
        <p:spPr>
          <a:xfrm>
            <a:off x="700550" y="5651770"/>
            <a:ext cx="10972800" cy="534718"/>
          </a:xfrm>
          <a:prstGeom prst="roundRect">
            <a:avLst/>
          </a:prstGeom>
          <a:solidFill>
            <a:schemeClr val="accent3">
              <a:lumMod val="20000"/>
              <a:lumOff val="80000"/>
            </a:schemeClr>
          </a:solidFill>
          <a:ln>
            <a:noFill/>
          </a:ln>
        </p:spPr>
        <p:txBody>
          <a:bodyPr spcFirstLastPara="1" wrap="square" lIns="2194560" tIns="45700" rIns="91425" bIns="45700" anchor="ctr" anchorCtr="0">
            <a:noAutofit/>
          </a:bodyPr>
          <a:lstStyle/>
          <a:p>
            <a:pPr marL="0" marR="0" lvl="0" indent="0" algn="l" rtl="0">
              <a:spcBef>
                <a:spcPts val="0"/>
              </a:spcBef>
              <a:spcAft>
                <a:spcPts val="0"/>
              </a:spcAft>
              <a:buNone/>
            </a:pPr>
            <a:r>
              <a:rPr lang="en-US" sz="1800" dirty="0">
                <a:solidFill>
                  <a:schemeClr val="accent3"/>
                </a:solidFill>
                <a:latin typeface="Arial" panose="020B0604020202020204"/>
                <a:ea typeface="Arial" panose="020B0604020202020204"/>
                <a:cs typeface="Arial" panose="020B0604020202020204"/>
                <a:sym typeface="Arial" panose="020B0604020202020204"/>
              </a:rPr>
              <a:t>The US corporate bond market has daily trading volume of </a:t>
            </a:r>
            <a:r>
              <a:rPr lang="en-US" sz="1800" b="1" dirty="0">
                <a:solidFill>
                  <a:schemeClr val="accent3"/>
                </a:solidFill>
                <a:latin typeface="Arial" panose="020B0604020202020204"/>
                <a:ea typeface="Arial" panose="020B0604020202020204"/>
                <a:cs typeface="Arial" panose="020B0604020202020204"/>
                <a:sym typeface="Arial" panose="020B0604020202020204"/>
              </a:rPr>
              <a:t>$ 36 Billion.</a:t>
            </a:r>
            <a:endParaRPr lang="en-US" sz="1800" b="1" dirty="0">
              <a:solidFill>
                <a:schemeClr val="accent3"/>
              </a:solidFill>
              <a:latin typeface="Arial" panose="020B0604020202020204"/>
              <a:ea typeface="Arial" panose="020B0604020202020204"/>
              <a:cs typeface="Arial" panose="020B0604020202020204"/>
              <a:sym typeface="Arial" panose="020B0604020202020204"/>
            </a:endParaRPr>
          </a:p>
        </p:txBody>
      </p:sp>
      <p:sp>
        <p:nvSpPr>
          <p:cNvPr id="5" name="Google Shape;676;p32"/>
          <p:cNvSpPr/>
          <p:nvPr/>
        </p:nvSpPr>
        <p:spPr>
          <a:xfrm>
            <a:off x="700550" y="5651770"/>
            <a:ext cx="2003461" cy="534718"/>
          </a:xfrm>
          <a:prstGeom prst="round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bg1"/>
                </a:solidFill>
                <a:latin typeface="Arial" panose="020B0604020202020204"/>
                <a:ea typeface="Arial" panose="020B0604020202020204"/>
                <a:cs typeface="Arial" panose="020B0604020202020204"/>
                <a:sym typeface="Arial" panose="020B0604020202020204"/>
              </a:rPr>
              <a:t>Did You Know?</a:t>
            </a:r>
            <a:endParaRPr lang="en-US" sz="1800" b="1">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FOREIGN CURRENCY BONDS</a:t>
            </a:r>
            <a:endParaRPr lang="en-US" dirty="0"/>
          </a:p>
        </p:txBody>
      </p:sp>
      <p:pic>
        <p:nvPicPr>
          <p:cNvPr id="682" name="Google Shape;682;p33"/>
          <p:cNvPicPr preferRelativeResize="0">
            <a:picLocks noChangeAspect="1"/>
          </p:cNvPicPr>
          <p:nvPr/>
        </p:nvPicPr>
        <p:blipFill rotWithShape="1">
          <a:blip r:embed="rId1"/>
          <a:srcRect/>
          <a:stretch>
            <a:fillRect/>
          </a:stretch>
        </p:blipFill>
        <p:spPr>
          <a:xfrm>
            <a:off x="700550" y="1484784"/>
            <a:ext cx="4393742" cy="4714406"/>
          </a:xfrm>
          <a:prstGeom prst="rect">
            <a:avLst/>
          </a:prstGeom>
          <a:noFill/>
          <a:ln>
            <a:noFill/>
          </a:ln>
          <a:effectLst>
            <a:outerShdw blurRad="190500" algn="tl" rotWithShape="0">
              <a:srgbClr val="000000">
                <a:alpha val="69803"/>
              </a:srgbClr>
            </a:outerShdw>
          </a:effectLst>
        </p:spPr>
      </p:pic>
      <p:sp>
        <p:nvSpPr>
          <p:cNvPr id="683" name="Google Shape;683;p33"/>
          <p:cNvSpPr/>
          <p:nvPr/>
        </p:nvSpPr>
        <p:spPr>
          <a:xfrm>
            <a:off x="6089515" y="2374135"/>
            <a:ext cx="5554798" cy="2935705"/>
          </a:xfrm>
          <a:prstGeom prst="roundRect">
            <a:avLst>
              <a:gd name="adj" fmla="val 14016"/>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dirty="0">
                <a:solidFill>
                  <a:schemeClr val="lt1"/>
                </a:solidFill>
                <a:latin typeface="Arial" panose="020B0604020202020204"/>
                <a:ea typeface="Arial" panose="020B0604020202020204"/>
                <a:cs typeface="Arial" panose="020B0604020202020204"/>
                <a:sym typeface="Arial" panose="020B0604020202020204"/>
              </a:rPr>
              <a:t>Foreign Currency Bond </a:t>
            </a:r>
            <a:r>
              <a:rPr lang="en-US" sz="2000" dirty="0">
                <a:solidFill>
                  <a:schemeClr val="lt1"/>
                </a:solidFill>
                <a:latin typeface="Arial" panose="020B0604020202020204"/>
                <a:ea typeface="Arial" panose="020B0604020202020204"/>
                <a:cs typeface="Arial" panose="020B0604020202020204"/>
                <a:sym typeface="Arial" panose="020B0604020202020204"/>
              </a:rPr>
              <a:t>are bonds which are issued by </a:t>
            </a:r>
            <a:r>
              <a:rPr lang="en-IN" altLang="en-US" sz="2000" dirty="0">
                <a:solidFill>
                  <a:schemeClr val="lt1"/>
                </a:solidFill>
                <a:latin typeface="Arial" panose="020B0604020202020204"/>
                <a:ea typeface="Arial" panose="020B0604020202020204"/>
                <a:cs typeface="Arial" panose="020B0604020202020204"/>
                <a:sym typeface="Arial" panose="020B0604020202020204"/>
              </a:rPr>
              <a:t>G</a:t>
            </a:r>
            <a:r>
              <a:rPr lang="en-US" sz="2000" dirty="0" err="1">
                <a:solidFill>
                  <a:schemeClr val="lt1"/>
                </a:solidFill>
                <a:latin typeface="Arial" panose="020B0604020202020204"/>
                <a:ea typeface="Arial" panose="020B0604020202020204"/>
                <a:cs typeface="Arial" panose="020B0604020202020204"/>
                <a:sym typeface="Arial" panose="020B0604020202020204"/>
              </a:rPr>
              <a:t>overnments</a:t>
            </a:r>
            <a:r>
              <a:rPr lang="en-IN" altLang="en-US" sz="2000" dirty="0">
                <a:solidFill>
                  <a:schemeClr val="lt1"/>
                </a:solidFill>
                <a:latin typeface="Arial" panose="020B0604020202020204"/>
                <a:ea typeface="Arial" panose="020B0604020202020204"/>
                <a:cs typeface="Arial" panose="020B0604020202020204"/>
                <a:sym typeface="Arial" panose="020B0604020202020204"/>
              </a:rPr>
              <a:t> </a:t>
            </a:r>
            <a:r>
              <a:rPr lang="en-US" sz="2000" dirty="0">
                <a:solidFill>
                  <a:schemeClr val="lt1"/>
                </a:solidFill>
                <a:latin typeface="Arial" panose="020B0604020202020204"/>
                <a:ea typeface="Arial" panose="020B0604020202020204"/>
                <a:cs typeface="Arial" panose="020B0604020202020204"/>
                <a:sym typeface="Arial" panose="020B0604020202020204"/>
              </a:rPr>
              <a:t>and large </a:t>
            </a:r>
            <a:r>
              <a:rPr lang="en-IN" altLang="en-US" sz="2000" dirty="0">
                <a:solidFill>
                  <a:schemeClr val="lt1"/>
                </a:solidFill>
                <a:latin typeface="Arial" panose="020B0604020202020204"/>
                <a:ea typeface="Arial" panose="020B0604020202020204"/>
                <a:cs typeface="Arial" panose="020B0604020202020204"/>
                <a:sym typeface="Arial" panose="020B0604020202020204"/>
              </a:rPr>
              <a:t>C</a:t>
            </a:r>
            <a:r>
              <a:rPr lang="en-US" sz="2000" dirty="0" err="1">
                <a:solidFill>
                  <a:schemeClr val="lt1"/>
                </a:solidFill>
                <a:latin typeface="Arial" panose="020B0604020202020204"/>
                <a:ea typeface="Arial" panose="020B0604020202020204"/>
                <a:cs typeface="Arial" panose="020B0604020202020204"/>
                <a:sym typeface="Arial" panose="020B0604020202020204"/>
              </a:rPr>
              <a:t>orporate</a:t>
            </a:r>
            <a:r>
              <a:rPr lang="en-US" sz="2000" dirty="0">
                <a:solidFill>
                  <a:schemeClr val="lt1"/>
                </a:solidFill>
                <a:latin typeface="Arial" panose="020B0604020202020204"/>
                <a:ea typeface="Arial" panose="020B0604020202020204"/>
                <a:cs typeface="Arial" panose="020B0604020202020204"/>
                <a:sym typeface="Arial" panose="020B0604020202020204"/>
              </a:rPr>
              <a:t> entities in a foreign country to raise  capital.</a:t>
            </a:r>
            <a:endParaRPr lang="en-US" sz="2000"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FOREIGN CURRENCY BONDS</a:t>
            </a:r>
            <a:endParaRPr lang="en-US" dirty="0"/>
          </a:p>
        </p:txBody>
      </p:sp>
      <p:pic>
        <p:nvPicPr>
          <p:cNvPr id="689" name="Google Shape;689;p34"/>
          <p:cNvPicPr preferRelativeResize="0">
            <a:picLocks noChangeAspect="1"/>
          </p:cNvPicPr>
          <p:nvPr/>
        </p:nvPicPr>
        <p:blipFill rotWithShape="1">
          <a:blip r:embed="rId1"/>
          <a:srcRect t="1803"/>
          <a:stretch>
            <a:fillRect/>
          </a:stretch>
        </p:blipFill>
        <p:spPr>
          <a:xfrm>
            <a:off x="7186430" y="1468438"/>
            <a:ext cx="3691370" cy="2748962"/>
          </a:xfrm>
          <a:prstGeom prst="rect">
            <a:avLst/>
          </a:prstGeom>
          <a:noFill/>
          <a:ln>
            <a:noFill/>
          </a:ln>
        </p:spPr>
      </p:pic>
      <p:sp>
        <p:nvSpPr>
          <p:cNvPr id="690" name="Google Shape;690;p34"/>
          <p:cNvSpPr/>
          <p:nvPr/>
        </p:nvSpPr>
        <p:spPr>
          <a:xfrm>
            <a:off x="700550" y="1468438"/>
            <a:ext cx="4870384" cy="2085524"/>
          </a:xfrm>
          <a:prstGeom prst="roundRect">
            <a:avLst>
              <a:gd name="adj" fmla="val 16667"/>
            </a:avLst>
          </a:prstGeom>
          <a:solidFill>
            <a:schemeClr val="accent3"/>
          </a:solidFill>
          <a:ln>
            <a:noFill/>
          </a:ln>
        </p:spPr>
        <p:txBody>
          <a:bodyPr spcFirstLastPara="1" wrap="square" lIns="91425" tIns="45700" rIns="91425" bIns="45700" anchor="ctr" anchorCtr="0">
            <a:noAutofit/>
          </a:bodyPr>
          <a:lstStyle/>
          <a:p>
            <a:pPr marL="285750" marR="0" lvl="0" indent="-285750" algn="l" rtl="0">
              <a:spcBef>
                <a:spcPts val="0"/>
              </a:spcBef>
              <a:spcAft>
                <a:spcPts val="0"/>
              </a:spcAft>
              <a:buClr>
                <a:schemeClr val="lt1"/>
              </a:buClr>
              <a:buSzPts val="1800"/>
              <a:buFont typeface="Arial" panose="020B0604020202020204"/>
              <a:buChar char="•"/>
            </a:pPr>
            <a:r>
              <a:rPr lang="en-US" sz="1800" dirty="0">
                <a:solidFill>
                  <a:schemeClr val="lt1"/>
                </a:solidFill>
                <a:latin typeface="Arial" panose="020B0604020202020204"/>
                <a:ea typeface="Arial" panose="020B0604020202020204"/>
                <a:cs typeface="Arial" panose="020B0604020202020204"/>
                <a:sym typeface="Arial" panose="020B0604020202020204"/>
              </a:rPr>
              <a:t>Issued in foreign currency to raise capital</a:t>
            </a:r>
            <a:endParaRPr lang="en-US" sz="1800" dirty="0">
              <a:solidFill>
                <a:schemeClr val="lt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lt1"/>
              </a:buClr>
              <a:buSzPts val="1800"/>
              <a:buFont typeface="Arial" panose="020B0604020202020204"/>
              <a:buChar char="•"/>
            </a:pPr>
            <a:r>
              <a:rPr lang="en-US" sz="1800" dirty="0">
                <a:solidFill>
                  <a:schemeClr val="lt1"/>
                </a:solidFill>
                <a:latin typeface="Arial" panose="020B0604020202020204"/>
                <a:ea typeface="Arial" panose="020B0604020202020204"/>
                <a:cs typeface="Arial" panose="020B0604020202020204"/>
                <a:sym typeface="Arial" panose="020B0604020202020204"/>
              </a:rPr>
              <a:t>Take advantage of differences in the  interest rates</a:t>
            </a:r>
            <a:r>
              <a:rPr lang="en-IN" altLang="en-US" sz="1800" dirty="0">
                <a:solidFill>
                  <a:schemeClr val="lt1"/>
                </a:solidFill>
                <a:latin typeface="Arial" panose="020B0604020202020204"/>
                <a:ea typeface="Arial" panose="020B0604020202020204"/>
                <a:cs typeface="Arial" panose="020B0604020202020204"/>
                <a:sym typeface="Arial" panose="020B0604020202020204"/>
              </a:rPr>
              <a:t>.</a:t>
            </a:r>
            <a:endParaRPr lang="en-IN" altLang="en-US" sz="1800" dirty="0">
              <a:solidFill>
                <a:schemeClr val="lt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lt1"/>
              </a:buClr>
              <a:buSzPts val="1800"/>
              <a:buFont typeface="Arial" panose="020B0604020202020204"/>
              <a:buChar char="•"/>
            </a:pPr>
            <a:r>
              <a:rPr lang="en-IN" altLang="en-US" sz="1800" dirty="0">
                <a:solidFill>
                  <a:schemeClr val="lt1"/>
                </a:solidFill>
                <a:latin typeface="Arial" panose="020B0604020202020204"/>
                <a:ea typeface="Arial" panose="020B0604020202020204"/>
                <a:cs typeface="Arial" panose="020B0604020202020204"/>
                <a:sym typeface="Arial" panose="020B0604020202020204"/>
              </a:rPr>
              <a:t>To raise desired Foreign Currency Capital</a:t>
            </a:r>
            <a:endParaRPr lang="en-US" sz="1800" dirty="0">
              <a:solidFill>
                <a:schemeClr val="lt1"/>
              </a:solidFill>
              <a:latin typeface="Arial" panose="020B0604020202020204"/>
              <a:ea typeface="Arial" panose="020B0604020202020204"/>
              <a:cs typeface="Arial" panose="020B0604020202020204"/>
              <a:sym typeface="Arial" panose="020B0604020202020204"/>
            </a:endParaRPr>
          </a:p>
          <a:p>
            <a:pPr marL="285750" marR="0" lvl="0" indent="-171450" algn="l" rtl="0">
              <a:spcBef>
                <a:spcPts val="0"/>
              </a:spcBef>
              <a:spcAft>
                <a:spcPts val="0"/>
              </a:spcAft>
              <a:buClr>
                <a:schemeClr val="dk1"/>
              </a:buClr>
              <a:buSzPts val="1800"/>
              <a:buFont typeface="Arial" panose="020B0604020202020204"/>
              <a:buNone/>
            </a:pPr>
            <a:endParaRPr sz="1800" dirty="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16" name="Group 15"/>
          <p:cNvGrpSpPr/>
          <p:nvPr/>
        </p:nvGrpSpPr>
        <p:grpSpPr>
          <a:xfrm>
            <a:off x="700550" y="4012139"/>
            <a:ext cx="4870384" cy="1679996"/>
            <a:chOff x="700550" y="3914859"/>
            <a:chExt cx="4870384" cy="1679996"/>
          </a:xfrm>
        </p:grpSpPr>
        <p:grpSp>
          <p:nvGrpSpPr>
            <p:cNvPr id="13" name="Group 12"/>
            <p:cNvGrpSpPr/>
            <p:nvPr/>
          </p:nvGrpSpPr>
          <p:grpSpPr>
            <a:xfrm>
              <a:off x="700550" y="3914859"/>
              <a:ext cx="4855828" cy="461684"/>
              <a:chOff x="700550" y="3914859"/>
              <a:chExt cx="4855828" cy="461684"/>
            </a:xfrm>
          </p:grpSpPr>
          <p:sp>
            <p:nvSpPr>
              <p:cNvPr id="692" name="Google Shape;692;p34"/>
              <p:cNvSpPr/>
              <p:nvPr/>
            </p:nvSpPr>
            <p:spPr>
              <a:xfrm>
                <a:off x="700550" y="3948105"/>
                <a:ext cx="2188247" cy="39519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Arial" panose="020B0604020202020204"/>
                    <a:ea typeface="Arial" panose="020B0604020202020204"/>
                    <a:cs typeface="Arial" panose="020B0604020202020204"/>
                    <a:sym typeface="Arial" panose="020B0604020202020204"/>
                  </a:rPr>
                  <a:t>Issued in US</a:t>
                </a:r>
                <a:endParaRPr sz="18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695" name="Google Shape;695;p34"/>
              <p:cNvSpPr/>
              <p:nvPr/>
            </p:nvSpPr>
            <p:spPr>
              <a:xfrm>
                <a:off x="3238950" y="3914859"/>
                <a:ext cx="2317428" cy="461684"/>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Arial" panose="020B0604020202020204"/>
                    <a:ea typeface="Arial" panose="020B0604020202020204"/>
                    <a:cs typeface="Arial" panose="020B0604020202020204"/>
                    <a:sym typeface="Arial" panose="020B0604020202020204"/>
                  </a:rPr>
                  <a:t>Yankees($)</a:t>
                </a:r>
                <a:r>
                  <a:rPr lang="en-IN" altLang="en-US" sz="1800" dirty="0">
                    <a:solidFill>
                      <a:schemeClr val="dk1"/>
                    </a:solidFill>
                    <a:latin typeface="Arial" panose="020B0604020202020204"/>
                    <a:ea typeface="Arial" panose="020B0604020202020204"/>
                    <a:cs typeface="Arial" panose="020B0604020202020204"/>
                    <a:sym typeface="Arial" panose="020B0604020202020204"/>
                  </a:rPr>
                  <a:t> Bonds</a:t>
                </a:r>
                <a:endParaRPr lang="en-IN" altLang="en-US" sz="18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698" name="Google Shape;698;p34"/>
              <p:cNvSpPr/>
              <p:nvPr/>
            </p:nvSpPr>
            <p:spPr>
              <a:xfrm>
                <a:off x="2933621" y="4092762"/>
                <a:ext cx="260505" cy="105878"/>
              </a:xfrm>
              <a:prstGeom prst="rightArrow">
                <a:avLst>
                  <a:gd name="adj1" fmla="val 50000"/>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14" name="Group 13"/>
            <p:cNvGrpSpPr/>
            <p:nvPr/>
          </p:nvGrpSpPr>
          <p:grpSpPr>
            <a:xfrm>
              <a:off x="700550" y="4557261"/>
              <a:ext cx="4870384" cy="461684"/>
              <a:chOff x="700550" y="4501381"/>
              <a:chExt cx="4870384" cy="461684"/>
            </a:xfrm>
          </p:grpSpPr>
          <p:sp>
            <p:nvSpPr>
              <p:cNvPr id="693" name="Google Shape;693;p34"/>
              <p:cNvSpPr/>
              <p:nvPr/>
            </p:nvSpPr>
            <p:spPr>
              <a:xfrm>
                <a:off x="700550" y="4534627"/>
                <a:ext cx="2188247" cy="39519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panose="020B0604020202020204"/>
                    <a:ea typeface="Arial" panose="020B0604020202020204"/>
                    <a:cs typeface="Arial" panose="020B0604020202020204"/>
                    <a:sym typeface="Arial" panose="020B0604020202020204"/>
                  </a:rPr>
                  <a:t>Issued in UK</a:t>
                </a: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696" name="Google Shape;696;p34"/>
              <p:cNvSpPr/>
              <p:nvPr/>
            </p:nvSpPr>
            <p:spPr>
              <a:xfrm>
                <a:off x="3253506" y="4501381"/>
                <a:ext cx="2317428" cy="461684"/>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Arial" panose="020B0604020202020204"/>
                    <a:ea typeface="Arial" panose="020B0604020202020204"/>
                    <a:cs typeface="Arial" panose="020B0604020202020204"/>
                    <a:sym typeface="Arial" panose="020B0604020202020204"/>
                  </a:rPr>
                  <a:t>Bulldogs(€)</a:t>
                </a:r>
                <a:r>
                  <a:rPr lang="en-IN" altLang="en-US" sz="1800" dirty="0">
                    <a:solidFill>
                      <a:schemeClr val="dk1"/>
                    </a:solidFill>
                    <a:latin typeface="Arial" panose="020B0604020202020204"/>
                    <a:ea typeface="Arial" panose="020B0604020202020204"/>
                    <a:cs typeface="Arial" panose="020B0604020202020204"/>
                    <a:sym typeface="Arial" panose="020B0604020202020204"/>
                  </a:rPr>
                  <a:t> Bonds</a:t>
                </a:r>
                <a:endParaRPr lang="en-IN" altLang="en-US" sz="18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699" name="Google Shape;699;p34"/>
              <p:cNvSpPr/>
              <p:nvPr/>
            </p:nvSpPr>
            <p:spPr>
              <a:xfrm>
                <a:off x="2933621" y="4679284"/>
                <a:ext cx="260505" cy="105878"/>
              </a:xfrm>
              <a:prstGeom prst="rightArrow">
                <a:avLst>
                  <a:gd name="adj1" fmla="val 50000"/>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15" name="Group 14"/>
            <p:cNvGrpSpPr/>
            <p:nvPr/>
          </p:nvGrpSpPr>
          <p:grpSpPr>
            <a:xfrm>
              <a:off x="700550" y="5199663"/>
              <a:ext cx="4855827" cy="395192"/>
              <a:chOff x="700550" y="5087903"/>
              <a:chExt cx="4855827" cy="395192"/>
            </a:xfrm>
          </p:grpSpPr>
          <p:sp>
            <p:nvSpPr>
              <p:cNvPr id="694" name="Google Shape;694;p34"/>
              <p:cNvSpPr/>
              <p:nvPr/>
            </p:nvSpPr>
            <p:spPr>
              <a:xfrm>
                <a:off x="700550" y="5087903"/>
                <a:ext cx="2188247" cy="39519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Arial" panose="020B0604020202020204"/>
                    <a:ea typeface="Arial" panose="020B0604020202020204"/>
                    <a:cs typeface="Arial" panose="020B0604020202020204"/>
                    <a:sym typeface="Arial" panose="020B0604020202020204"/>
                  </a:rPr>
                  <a:t>Issued in Japan</a:t>
                </a:r>
                <a:endParaRPr sz="18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697" name="Google Shape;697;p34"/>
              <p:cNvSpPr/>
              <p:nvPr/>
            </p:nvSpPr>
            <p:spPr>
              <a:xfrm>
                <a:off x="3238949" y="5087903"/>
                <a:ext cx="2317428" cy="395192"/>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Arial" panose="020B0604020202020204"/>
                    <a:ea typeface="Arial" panose="020B0604020202020204"/>
                    <a:cs typeface="Arial" panose="020B0604020202020204"/>
                    <a:sym typeface="Arial" panose="020B0604020202020204"/>
                  </a:rPr>
                  <a:t>Samurai(¥)</a:t>
                </a:r>
                <a:r>
                  <a:rPr lang="en-IN" altLang="en-US" sz="1800" dirty="0">
                    <a:solidFill>
                      <a:schemeClr val="dk1"/>
                    </a:solidFill>
                    <a:latin typeface="Arial" panose="020B0604020202020204"/>
                    <a:ea typeface="Arial" panose="020B0604020202020204"/>
                    <a:cs typeface="Arial" panose="020B0604020202020204"/>
                    <a:sym typeface="Arial" panose="020B0604020202020204"/>
                  </a:rPr>
                  <a:t> Bonds</a:t>
                </a:r>
                <a:endParaRPr lang="en-IN" altLang="en-US" sz="18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700" name="Google Shape;700;p34"/>
              <p:cNvSpPr/>
              <p:nvPr/>
            </p:nvSpPr>
            <p:spPr>
              <a:xfrm>
                <a:off x="2933621" y="5232560"/>
                <a:ext cx="260505" cy="105878"/>
              </a:xfrm>
              <a:prstGeom prst="rightArrow">
                <a:avLst>
                  <a:gd name="adj1" fmla="val 50000"/>
                  <a:gd name="adj2"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grpSp>
      <p:grpSp>
        <p:nvGrpSpPr>
          <p:cNvPr id="17" name="Group 16"/>
          <p:cNvGrpSpPr/>
          <p:nvPr/>
        </p:nvGrpSpPr>
        <p:grpSpPr>
          <a:xfrm>
            <a:off x="6371278" y="4517716"/>
            <a:ext cx="5321675" cy="1174419"/>
            <a:chOff x="6371278" y="4414838"/>
            <a:chExt cx="5321675" cy="1174419"/>
          </a:xfrm>
        </p:grpSpPr>
        <p:grpSp>
          <p:nvGrpSpPr>
            <p:cNvPr id="8" name="Group 7"/>
            <p:cNvGrpSpPr/>
            <p:nvPr/>
          </p:nvGrpSpPr>
          <p:grpSpPr>
            <a:xfrm>
              <a:off x="6371278" y="4414838"/>
              <a:ext cx="1523517" cy="1162176"/>
              <a:chOff x="5680614" y="4414838"/>
              <a:chExt cx="1523517" cy="1162176"/>
            </a:xfrm>
          </p:grpSpPr>
          <p:pic>
            <p:nvPicPr>
              <p:cNvPr id="702" name="Google Shape;702;p34"/>
              <p:cNvPicPr preferRelativeResize="0"/>
              <p:nvPr/>
            </p:nvPicPr>
            <p:blipFill rotWithShape="1">
              <a:blip r:embed="rId2"/>
              <a:srcRect/>
              <a:stretch>
                <a:fillRect/>
              </a:stretch>
            </p:blipFill>
            <p:spPr>
              <a:xfrm>
                <a:off x="5680614" y="4777092"/>
                <a:ext cx="1523517" cy="799922"/>
              </a:xfrm>
              <a:prstGeom prst="rect">
                <a:avLst/>
              </a:prstGeom>
              <a:noFill/>
              <a:ln>
                <a:noFill/>
              </a:ln>
            </p:spPr>
          </p:pic>
          <p:sp>
            <p:nvSpPr>
              <p:cNvPr id="709" name="Google Shape;709;p34"/>
              <p:cNvSpPr txBox="1"/>
              <p:nvPr/>
            </p:nvSpPr>
            <p:spPr>
              <a:xfrm>
                <a:off x="5807055" y="4414838"/>
                <a:ext cx="1270635"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1800"/>
                  <a:buFont typeface="Arial" panose="020B0604020202020204"/>
                  <a:buNone/>
                </a:pPr>
                <a:r>
                  <a:rPr lang="en-US" sz="1800" b="1" dirty="0">
                    <a:solidFill>
                      <a:schemeClr val="dk1"/>
                    </a:solidFill>
                    <a:latin typeface="Arial" panose="020B0604020202020204"/>
                    <a:ea typeface="Arial" panose="020B0604020202020204"/>
                    <a:cs typeface="Arial" panose="020B0604020202020204"/>
                    <a:sym typeface="Arial" panose="020B0604020202020204"/>
                  </a:rPr>
                  <a:t>Yankee ($)</a:t>
                </a:r>
                <a:endParaRPr sz="18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7" name="Group 6"/>
            <p:cNvGrpSpPr/>
            <p:nvPr/>
          </p:nvGrpSpPr>
          <p:grpSpPr>
            <a:xfrm>
              <a:off x="8270116" y="4414838"/>
              <a:ext cx="1523517" cy="1124012"/>
              <a:chOff x="7604828" y="4414838"/>
              <a:chExt cx="1523517" cy="1124012"/>
            </a:xfrm>
          </p:grpSpPr>
          <p:pic>
            <p:nvPicPr>
              <p:cNvPr id="703" name="Google Shape;703;p34"/>
              <p:cNvPicPr preferRelativeResize="0"/>
              <p:nvPr/>
            </p:nvPicPr>
            <p:blipFill rotWithShape="1">
              <a:blip r:embed="rId3"/>
              <a:srcRect/>
              <a:stretch>
                <a:fillRect/>
              </a:stretch>
            </p:blipFill>
            <p:spPr>
              <a:xfrm>
                <a:off x="7604828" y="4777092"/>
                <a:ext cx="1523517" cy="761758"/>
              </a:xfrm>
              <a:prstGeom prst="rect">
                <a:avLst/>
              </a:prstGeom>
              <a:noFill/>
              <a:ln>
                <a:noFill/>
              </a:ln>
            </p:spPr>
          </p:pic>
          <p:sp>
            <p:nvSpPr>
              <p:cNvPr id="710" name="Google Shape;710;p34"/>
              <p:cNvSpPr txBox="1"/>
              <p:nvPr/>
            </p:nvSpPr>
            <p:spPr>
              <a:xfrm>
                <a:off x="7658561" y="4414838"/>
                <a:ext cx="141605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1800"/>
                  <a:buFont typeface="Arial" panose="020B0604020202020204"/>
                  <a:buNone/>
                </a:pPr>
                <a:r>
                  <a:rPr lang="en-US" sz="1800" b="1" dirty="0">
                    <a:solidFill>
                      <a:schemeClr val="dk1"/>
                    </a:solidFill>
                    <a:latin typeface="Arial" panose="020B0604020202020204"/>
                    <a:ea typeface="Arial" panose="020B0604020202020204"/>
                    <a:cs typeface="Arial" panose="020B0604020202020204"/>
                    <a:sym typeface="Arial" panose="020B0604020202020204"/>
                  </a:rPr>
                  <a:t>Bulldogs(€)</a:t>
                </a:r>
                <a:endParaRPr sz="1800" dirty="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711" name="Google Shape;711;p34"/>
            <p:cNvSpPr txBox="1"/>
            <p:nvPr/>
          </p:nvSpPr>
          <p:spPr>
            <a:xfrm>
              <a:off x="10245471" y="4414838"/>
              <a:ext cx="1370965"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1800"/>
                <a:buFont typeface="Arial" panose="020B0604020202020204"/>
                <a:buNone/>
              </a:pPr>
              <a:r>
                <a:rPr lang="en-US" sz="1800" b="1" dirty="0">
                  <a:solidFill>
                    <a:schemeClr val="dk1"/>
                  </a:solidFill>
                  <a:latin typeface="Arial" panose="020B0604020202020204"/>
                  <a:ea typeface="Arial" panose="020B0604020202020204"/>
                  <a:cs typeface="Arial" panose="020B0604020202020204"/>
                  <a:sym typeface="Arial" panose="020B0604020202020204"/>
                </a:rPr>
                <a:t>Samurai(¥)</a:t>
              </a:r>
              <a:endParaRPr sz="1800" dirty="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5" name="Group 4"/>
            <p:cNvGrpSpPr/>
            <p:nvPr/>
          </p:nvGrpSpPr>
          <p:grpSpPr>
            <a:xfrm>
              <a:off x="10168953" y="4777092"/>
              <a:ext cx="1524000" cy="812165"/>
              <a:chOff x="9647637" y="4786097"/>
              <a:chExt cx="1524000" cy="812165"/>
            </a:xfrm>
          </p:grpSpPr>
          <p:sp>
            <p:nvSpPr>
              <p:cNvPr id="3" name="Google Shape;707;p34"/>
              <p:cNvSpPr/>
              <p:nvPr/>
            </p:nvSpPr>
            <p:spPr>
              <a:xfrm>
                <a:off x="9647637" y="4798695"/>
                <a:ext cx="1524000" cy="762000"/>
              </a:xfrm>
              <a:custGeom>
                <a:avLst/>
                <a:gdLst/>
                <a:ahLst/>
                <a:cxnLst/>
                <a:rect l="l" t="t" r="r" b="b"/>
                <a:pathLst>
                  <a:path w="1524000" h="762000" extrusionOk="0">
                    <a:moveTo>
                      <a:pt x="761758" y="761758"/>
                    </a:moveTo>
                    <a:lnTo>
                      <a:pt x="0" y="761758"/>
                    </a:lnTo>
                    <a:lnTo>
                      <a:pt x="0" y="0"/>
                    </a:lnTo>
                    <a:lnTo>
                      <a:pt x="1523517" y="0"/>
                    </a:lnTo>
                    <a:lnTo>
                      <a:pt x="1523517" y="761758"/>
                    </a:lnTo>
                    <a:lnTo>
                      <a:pt x="761758" y="76175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panose="020F0502020204030204"/>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pic>
            <p:nvPicPr>
              <p:cNvPr id="4" name="Google Shape;708;p34"/>
              <p:cNvPicPr preferRelativeResize="0"/>
              <p:nvPr/>
            </p:nvPicPr>
            <p:blipFill rotWithShape="1">
              <a:blip r:embed="rId4"/>
              <a:srcRect/>
              <a:stretch>
                <a:fillRect/>
              </a:stretch>
            </p:blipFill>
            <p:spPr>
              <a:xfrm>
                <a:off x="9800278" y="4786097"/>
                <a:ext cx="1218958" cy="812165"/>
              </a:xfrm>
              <a:prstGeom prst="rect">
                <a:avLst/>
              </a:prstGeom>
              <a:noFill/>
              <a:ln>
                <a:noFill/>
              </a:ln>
            </p:spPr>
          </p:pic>
        </p:gr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2" name="Title 1"/>
          <p:cNvSpPr>
            <a:spLocks noGrp="1"/>
          </p:cNvSpPr>
          <p:nvPr>
            <p:ph type="title"/>
          </p:nvPr>
        </p:nvSpPr>
        <p:spPr>
          <a:xfrm>
            <a:off x="700088" y="404813"/>
            <a:ext cx="10515600" cy="715962"/>
          </a:xfrm>
        </p:spPr>
        <p:txBody>
          <a:bodyPr/>
          <a:lstStyle/>
          <a:p>
            <a:r>
              <a:rPr lang="en-US" dirty="0"/>
              <a:t>FOREIGN CURRENCY BONDS</a:t>
            </a:r>
            <a:endParaRPr lang="en-US" dirty="0"/>
          </a:p>
        </p:txBody>
      </p:sp>
      <p:sp>
        <p:nvSpPr>
          <p:cNvPr id="719" name="Google Shape;719;p35"/>
          <p:cNvSpPr/>
          <p:nvPr/>
        </p:nvSpPr>
        <p:spPr>
          <a:xfrm>
            <a:off x="700089" y="1468438"/>
            <a:ext cx="6288540" cy="4240697"/>
          </a:xfrm>
          <a:prstGeom prst="roundRect">
            <a:avLst>
              <a:gd name="adj" fmla="val 8611"/>
            </a:avLst>
          </a:prstGeom>
          <a:solidFill>
            <a:schemeClr val="accent3">
              <a:lumMod val="20000"/>
              <a:lumOff val="80000"/>
              <a:alpha val="8196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tx1"/>
                </a:solidFill>
                <a:latin typeface="Arial" panose="020B0604020202020204"/>
                <a:ea typeface="Arial" panose="020B0604020202020204"/>
                <a:cs typeface="Arial" panose="020B0604020202020204"/>
                <a:sym typeface="Arial" panose="020B0604020202020204"/>
              </a:rPr>
              <a:t>Euro Bond</a:t>
            </a:r>
            <a:endParaRPr lang="en-US" sz="1800" b="1" dirty="0">
              <a:solidFill>
                <a:schemeClr val="tx1"/>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endParaRPr sz="1800" b="1" dirty="0">
              <a:solidFill>
                <a:schemeClr val="tx1"/>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r>
              <a:rPr lang="en-US" sz="1800" dirty="0">
                <a:solidFill>
                  <a:schemeClr val="tx1"/>
                </a:solidFill>
                <a:latin typeface="Arial" panose="020B0604020202020204"/>
                <a:ea typeface="Arial" panose="020B0604020202020204"/>
                <a:cs typeface="Arial" panose="020B0604020202020204"/>
                <a:sym typeface="Arial" panose="020B0604020202020204"/>
              </a:rPr>
              <a:t>A Euro bond is an international bond that is denominated in a currency not native to the country where it is issued. </a:t>
            </a:r>
            <a:endParaRPr lang="en-US" sz="1800" dirty="0">
              <a:solidFill>
                <a:schemeClr val="tx1"/>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r>
              <a:rPr lang="en-US" sz="1800" dirty="0">
                <a:solidFill>
                  <a:schemeClr val="tx1"/>
                </a:solidFill>
                <a:latin typeface="Arial" panose="020B0604020202020204"/>
                <a:ea typeface="Arial" panose="020B0604020202020204"/>
                <a:cs typeface="Arial" panose="020B0604020202020204"/>
                <a:sym typeface="Arial" panose="020B0604020202020204"/>
              </a:rPr>
              <a:t>Euro bonds are named after the currency they are denominated in. For example, Euroyen and Eurodollar bonds are denominated in Japanese yen and American dollars respectively. </a:t>
            </a:r>
            <a:endParaRPr lang="en-US" sz="1800" dirty="0">
              <a:solidFill>
                <a:schemeClr val="tx1"/>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endParaRPr sz="1800" dirty="0">
              <a:solidFill>
                <a:schemeClr val="tx1"/>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r>
              <a:rPr lang="en-US" sz="1800" dirty="0">
                <a:solidFill>
                  <a:schemeClr val="tx1"/>
                </a:solidFill>
                <a:latin typeface="Arial" panose="020B0604020202020204"/>
                <a:ea typeface="Arial" panose="020B0604020202020204"/>
                <a:cs typeface="Arial" panose="020B0604020202020204"/>
                <a:sym typeface="Arial" panose="020B0604020202020204"/>
              </a:rPr>
              <a:t>The first European Eurobonds were issued in 1963 by Italian motorway network </a:t>
            </a:r>
            <a:r>
              <a:rPr lang="en-US" sz="1800" dirty="0" err="1">
                <a:solidFill>
                  <a:schemeClr val="tx1"/>
                </a:solidFill>
                <a:latin typeface="Arial" panose="020B0604020202020204"/>
                <a:ea typeface="Arial" panose="020B0604020202020204"/>
                <a:cs typeface="Arial" panose="020B0604020202020204"/>
                <a:sym typeface="Arial" panose="020B0604020202020204"/>
              </a:rPr>
              <a:t>Autostrade</a:t>
            </a:r>
            <a:r>
              <a:rPr lang="en-US" sz="1800" dirty="0">
                <a:solidFill>
                  <a:schemeClr val="tx1"/>
                </a:solidFill>
                <a:latin typeface="Arial" panose="020B0604020202020204"/>
                <a:ea typeface="Arial" panose="020B0604020202020204"/>
                <a:cs typeface="Arial" panose="020B0604020202020204"/>
                <a:sym typeface="Arial" panose="020B0604020202020204"/>
              </a:rPr>
              <a:t>. The $15 million six year </a:t>
            </a:r>
            <a:r>
              <a:rPr lang="en-IN" altLang="en-US" sz="1800" dirty="0">
                <a:solidFill>
                  <a:schemeClr val="tx1"/>
                </a:solidFill>
                <a:latin typeface="Arial" panose="020B0604020202020204"/>
                <a:ea typeface="Arial" panose="020B0604020202020204"/>
                <a:cs typeface="Arial" panose="020B0604020202020204"/>
                <a:sym typeface="Arial" panose="020B0604020202020204"/>
              </a:rPr>
              <a:t>bonds</a:t>
            </a:r>
            <a:r>
              <a:rPr lang="en-US" sz="1800" dirty="0">
                <a:solidFill>
                  <a:schemeClr val="tx1"/>
                </a:solidFill>
                <a:latin typeface="Arial" panose="020B0604020202020204"/>
                <a:ea typeface="Arial" panose="020B0604020202020204"/>
                <a:cs typeface="Arial" panose="020B0604020202020204"/>
                <a:sym typeface="Arial" panose="020B0604020202020204"/>
              </a:rPr>
              <a:t> was arranged by London bankers S. G. Warburg.</a:t>
            </a:r>
            <a:endParaRPr lang="en-US" sz="1800" dirty="0">
              <a:solidFill>
                <a:schemeClr val="tx1"/>
              </a:solidFill>
              <a:latin typeface="Arial" panose="020B0604020202020204"/>
              <a:ea typeface="Arial" panose="020B0604020202020204"/>
              <a:cs typeface="Arial" panose="020B0604020202020204"/>
              <a:sym typeface="Arial" panose="020B0604020202020204"/>
            </a:endParaRPr>
          </a:p>
        </p:txBody>
      </p:sp>
      <p:pic>
        <p:nvPicPr>
          <p:cNvPr id="720" name="Google Shape;720;p35"/>
          <p:cNvPicPr preferRelativeResize="0"/>
          <p:nvPr/>
        </p:nvPicPr>
        <p:blipFill rotWithShape="1">
          <a:blip r:embed="rId1"/>
          <a:srcRect/>
          <a:stretch>
            <a:fillRect/>
          </a:stretch>
        </p:blipFill>
        <p:spPr>
          <a:xfrm>
            <a:off x="7300757" y="1468438"/>
            <a:ext cx="4407367" cy="424069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43" name="Google Shape;743;p36"/>
          <p:cNvSpPr/>
          <p:nvPr/>
        </p:nvSpPr>
        <p:spPr>
          <a:xfrm>
            <a:off x="8106023" y="1375112"/>
            <a:ext cx="3368687" cy="1118193"/>
          </a:xfrm>
          <a:prstGeom prst="roundRect">
            <a:avLst>
              <a:gd name="adj" fmla="val 15605"/>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729" name="Google Shape;729;p36"/>
          <p:cNvSpPr/>
          <p:nvPr/>
        </p:nvSpPr>
        <p:spPr>
          <a:xfrm>
            <a:off x="700550" y="1375112"/>
            <a:ext cx="3396012" cy="1122745"/>
          </a:xfrm>
          <a:prstGeom prst="roundRect">
            <a:avLst>
              <a:gd name="adj" fmla="val 15542"/>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736" name="Google Shape;736;p36"/>
          <p:cNvSpPr/>
          <p:nvPr/>
        </p:nvSpPr>
        <p:spPr>
          <a:xfrm>
            <a:off x="4403287" y="1375112"/>
            <a:ext cx="3393043" cy="1112224"/>
          </a:xfrm>
          <a:prstGeom prst="roundRect">
            <a:avLst>
              <a:gd name="adj" fmla="val 15689"/>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panose="020F0502020204030204"/>
              <a:buNone/>
            </a:pPr>
            <a:endParaRPr sz="12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744" name="Google Shape;744;p36"/>
          <p:cNvSpPr/>
          <p:nvPr/>
        </p:nvSpPr>
        <p:spPr>
          <a:xfrm>
            <a:off x="8106023" y="1828805"/>
            <a:ext cx="3566160" cy="4389120"/>
          </a:xfrm>
          <a:prstGeom prst="roundRect">
            <a:avLst>
              <a:gd name="adj" fmla="val 4893"/>
            </a:avLst>
          </a:prstGeom>
          <a:solidFill>
            <a:srgbClr val="FFFFFF"/>
          </a:solid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730" name="Google Shape;730;p36"/>
          <p:cNvSpPr/>
          <p:nvPr/>
        </p:nvSpPr>
        <p:spPr>
          <a:xfrm>
            <a:off x="700550" y="1828805"/>
            <a:ext cx="3566160" cy="4389120"/>
          </a:xfrm>
          <a:prstGeom prst="roundRect">
            <a:avLst>
              <a:gd name="adj" fmla="val 4893"/>
            </a:avLst>
          </a:prstGeom>
          <a:solidFill>
            <a:srgbClr val="FFFFFF"/>
          </a:solid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737" name="Google Shape;737;p36"/>
          <p:cNvSpPr/>
          <p:nvPr/>
        </p:nvSpPr>
        <p:spPr>
          <a:xfrm>
            <a:off x="4403287" y="1828805"/>
            <a:ext cx="3566160" cy="4389120"/>
          </a:xfrm>
          <a:prstGeom prst="roundRect">
            <a:avLst>
              <a:gd name="adj" fmla="val 4893"/>
            </a:avLst>
          </a:prstGeom>
          <a:solidFill>
            <a:srgbClr val="FFFFFF"/>
          </a:solid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2" name="Title 1"/>
          <p:cNvSpPr>
            <a:spLocks noGrp="1"/>
          </p:cNvSpPr>
          <p:nvPr>
            <p:ph type="title"/>
          </p:nvPr>
        </p:nvSpPr>
        <p:spPr>
          <a:xfrm>
            <a:off x="700550" y="404869"/>
            <a:ext cx="10515600" cy="716422"/>
          </a:xfrm>
        </p:spPr>
        <p:txBody>
          <a:bodyPr/>
          <a:lstStyle/>
          <a:p>
            <a:r>
              <a:rPr lang="en-US" dirty="0"/>
              <a:t>BONDS</a:t>
            </a:r>
            <a:endParaRPr lang="en-US" dirty="0"/>
          </a:p>
        </p:txBody>
      </p:sp>
      <p:sp>
        <p:nvSpPr>
          <p:cNvPr id="746" name="Google Shape;746;p36"/>
          <p:cNvSpPr txBox="1"/>
          <p:nvPr/>
        </p:nvSpPr>
        <p:spPr>
          <a:xfrm>
            <a:off x="8151743" y="1895145"/>
            <a:ext cx="3474720" cy="403183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A bond with an option to sell</a:t>
            </a:r>
            <a:r>
              <a:rPr lang="en-IN" altLang="en-US" sz="1600" dirty="0">
                <a:solidFill>
                  <a:schemeClr val="dk1"/>
                </a:solidFill>
                <a:latin typeface="Arial" panose="020B0604020202020204"/>
                <a:ea typeface="Arial" panose="020B0604020202020204"/>
                <a:cs typeface="Arial" panose="020B0604020202020204"/>
                <a:sym typeface="Arial" panose="020B0604020202020204"/>
              </a:rPr>
              <a:t> back</a:t>
            </a:r>
            <a:r>
              <a:rPr lang="en-US" sz="1600" dirty="0">
                <a:solidFill>
                  <a:schemeClr val="dk1"/>
                </a:solidFill>
                <a:latin typeface="Arial" panose="020B0604020202020204"/>
                <a:ea typeface="Arial" panose="020B0604020202020204"/>
                <a:cs typeface="Arial" panose="020B0604020202020204"/>
                <a:sym typeface="Arial" panose="020B0604020202020204"/>
              </a:rPr>
              <a:t> or put the bond to the issuer before maturity. The holder of the puttable bond has the right, but not the obligation, to demand early repayment of the principal.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It can be done so that the holder can sell it back to a company incase he thinks that the credit worthiness of the issuing company is falling or if the interest rate in the market is increasing and the investor can invest in a bond that pays higher interest rate.</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745" name="Google Shape;745;p36"/>
          <p:cNvSpPr txBox="1"/>
          <p:nvPr/>
        </p:nvSpPr>
        <p:spPr>
          <a:xfrm>
            <a:off x="8193514" y="1418843"/>
            <a:ext cx="303521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Puttable Bonds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732" name="Google Shape;732;p36"/>
          <p:cNvSpPr txBox="1"/>
          <p:nvPr/>
        </p:nvSpPr>
        <p:spPr>
          <a:xfrm>
            <a:off x="789710" y="1418843"/>
            <a:ext cx="303521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Floating Rate Notes</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731" name="Google Shape;731;p36"/>
          <p:cNvSpPr txBox="1"/>
          <p:nvPr/>
        </p:nvSpPr>
        <p:spPr>
          <a:xfrm>
            <a:off x="746270" y="1895145"/>
            <a:ext cx="3474720" cy="427805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A floating-rate note (FRN) aka Floaters is a debt instrument issued </a:t>
            </a:r>
            <a:r>
              <a:rPr lang="en-US" sz="1600" dirty="0" err="1">
                <a:solidFill>
                  <a:schemeClr val="dk1"/>
                </a:solidFill>
                <a:latin typeface="Arial" panose="020B0604020202020204"/>
                <a:ea typeface="Arial" panose="020B0604020202020204"/>
                <a:cs typeface="Arial" panose="020B0604020202020204"/>
                <a:sym typeface="Arial" panose="020B0604020202020204"/>
              </a:rPr>
              <a:t>fo</a:t>
            </a:r>
            <a:r>
              <a:rPr lang="en-US" sz="1600" dirty="0">
                <a:solidFill>
                  <a:schemeClr val="dk1"/>
                </a:solidFill>
                <a:latin typeface="Arial" panose="020B0604020202020204"/>
                <a:ea typeface="Arial" panose="020B0604020202020204"/>
                <a:cs typeface="Arial" panose="020B0604020202020204"/>
                <a:sym typeface="Arial" panose="020B0604020202020204"/>
              </a:rPr>
              <a:t> a period of 2 – 5 years .They pay a variable interest rate tied to a benchmark rate like US Treasury note rate, the Fed funds rate etc.</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FRN’s can be issued by financial institutions, governments, and corporations in maturities of two-to-five years.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Floating-rate notes have quarterly coupons, meaning that they pay interest four times a year, however the coupons can be also paid monthly, semiannually, or annually.</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738" name="Google Shape;738;p36"/>
          <p:cNvSpPr txBox="1"/>
          <p:nvPr/>
        </p:nvSpPr>
        <p:spPr>
          <a:xfrm>
            <a:off x="4485658" y="1418843"/>
            <a:ext cx="303521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lt1"/>
                </a:solidFill>
                <a:latin typeface="Arial" panose="020B0604020202020204"/>
                <a:ea typeface="Arial" panose="020B0604020202020204"/>
                <a:cs typeface="Arial" panose="020B0604020202020204"/>
                <a:sym typeface="Arial" panose="020B0604020202020204"/>
              </a:rPr>
              <a:t>Callable Bonds </a:t>
            </a:r>
            <a:endParaRPr lang="en-US" sz="18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739" name="Google Shape;739;p36"/>
          <p:cNvSpPr txBox="1"/>
          <p:nvPr/>
        </p:nvSpPr>
        <p:spPr>
          <a:xfrm>
            <a:off x="4449007" y="1895145"/>
            <a:ext cx="3474720" cy="304694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A callable bond is a bond that can be redeemed by the issuer prior to its maturity. Usually a premium is paid to the bond owner when the bond is called. These are also known as ‘redeemable bonds.’ </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600"/>
              <a:buFont typeface="Arial" panose="020B0604020202020204"/>
              <a:buChar char="•"/>
            </a:pPr>
            <a:r>
              <a:rPr lang="en-US" sz="1600" dirty="0">
                <a:solidFill>
                  <a:schemeClr val="dk1"/>
                </a:solidFill>
                <a:latin typeface="Arial" panose="020B0604020202020204"/>
                <a:ea typeface="Arial" panose="020B0604020202020204"/>
                <a:cs typeface="Arial" panose="020B0604020202020204"/>
                <a:sym typeface="Arial" panose="020B0604020202020204"/>
              </a:rPr>
              <a:t>A company can call back the bonds if the interest rate falls in the market , so that the bonds can be financed at a cheaper rate.</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effectLst>
                  <a:outerShdw blurRad="38100" dist="25400" dir="5400000" algn="ctr" rotWithShape="0">
                    <a:srgbClr val="6E747A">
                      <a:alpha val="43000"/>
                    </a:srgbClr>
                  </a:outerShdw>
                </a:effectLst>
              </a:rPr>
              <a:t>JUNK BONDS</a:t>
            </a:r>
            <a:r>
              <a:rPr lang="en-IN" altLang="en-US" dirty="0">
                <a:solidFill>
                  <a:schemeClr val="tx1"/>
                </a:solidFill>
                <a:effectLst>
                  <a:outerShdw blurRad="38100" dist="25400" dir="5400000" algn="ctr" rotWithShape="0">
                    <a:srgbClr val="6E747A">
                      <a:alpha val="43000"/>
                    </a:srgbClr>
                  </a:outerShdw>
                </a:effectLst>
              </a:rPr>
              <a:t> / HIGH YIELD BONDS</a:t>
            </a:r>
            <a:endParaRPr lang="en-US" dirty="0"/>
          </a:p>
        </p:txBody>
      </p:sp>
      <p:sp>
        <p:nvSpPr>
          <p:cNvPr id="3" name="Google Shape;675;p32"/>
          <p:cNvSpPr txBox="1"/>
          <p:nvPr/>
        </p:nvSpPr>
        <p:spPr>
          <a:xfrm>
            <a:off x="700550" y="5546408"/>
            <a:ext cx="10972800" cy="640080"/>
          </a:xfrm>
          <a:prstGeom prst="roundRect">
            <a:avLst/>
          </a:prstGeom>
          <a:solidFill>
            <a:schemeClr val="accent3">
              <a:lumMod val="20000"/>
              <a:lumOff val="80000"/>
            </a:schemeClr>
          </a:solidFill>
          <a:ln>
            <a:noFill/>
          </a:ln>
        </p:spPr>
        <p:txBody>
          <a:bodyPr spcFirstLastPara="1" wrap="square" lIns="91440" tIns="45700" rIns="91425" bIns="45700" anchor="ctr" anchorCtr="0">
            <a:noAutofit/>
          </a:bodyPr>
          <a:lstStyle/>
          <a:p>
            <a:pPr marL="0" marR="0" lvl="0" indent="0" algn="ctr" rtl="0">
              <a:spcBef>
                <a:spcPts val="0"/>
              </a:spcBef>
              <a:spcAft>
                <a:spcPts val="0"/>
              </a:spcAft>
              <a:buNone/>
            </a:pPr>
            <a:r>
              <a:rPr lang="en-US" sz="1600" dirty="0">
                <a:solidFill>
                  <a:schemeClr val="tx1"/>
                </a:solidFill>
                <a:latin typeface="Arial" panose="020B0604020202020204"/>
                <a:ea typeface="Arial" panose="020B0604020202020204"/>
                <a:cs typeface="Arial" panose="020B0604020202020204"/>
                <a:sym typeface="Arial" panose="020B0604020202020204"/>
              </a:rPr>
              <a:t>Junk bonds are Debt Instruments with a poor credit rating which carries significant credit risk, which affects the probability of repayment of the bonds.</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p:txBody>
      </p:sp>
      <p:grpSp>
        <p:nvGrpSpPr>
          <p:cNvPr id="7" name="Group 6"/>
          <p:cNvGrpSpPr/>
          <p:nvPr/>
        </p:nvGrpSpPr>
        <p:grpSpPr>
          <a:xfrm>
            <a:off x="1876563" y="1490227"/>
            <a:ext cx="8620776" cy="3767573"/>
            <a:chOff x="3023537" y="1490227"/>
            <a:chExt cx="8620776" cy="3767573"/>
          </a:xfrm>
        </p:grpSpPr>
        <p:pic>
          <p:nvPicPr>
            <p:cNvPr id="753" name="Google Shape;753;p37"/>
            <p:cNvPicPr preferRelativeResize="0"/>
            <p:nvPr/>
          </p:nvPicPr>
          <p:blipFill rotWithShape="1">
            <a:blip r:embed="rId1"/>
            <a:srcRect r="597" b="1850"/>
            <a:stretch>
              <a:fillRect/>
            </a:stretch>
          </p:blipFill>
          <p:spPr>
            <a:xfrm>
              <a:off x="3023537" y="1490227"/>
              <a:ext cx="5728198" cy="3767573"/>
            </a:xfrm>
            <a:prstGeom prst="rect">
              <a:avLst/>
            </a:prstGeom>
          </p:spPr>
        </p:pic>
        <p:grpSp>
          <p:nvGrpSpPr>
            <p:cNvPr id="4" name="Group 3"/>
            <p:cNvGrpSpPr/>
            <p:nvPr/>
          </p:nvGrpSpPr>
          <p:grpSpPr>
            <a:xfrm>
              <a:off x="8885542" y="2495114"/>
              <a:ext cx="2758771" cy="1828800"/>
              <a:chOff x="7902327" y="3147922"/>
              <a:chExt cx="2758771" cy="1828800"/>
            </a:xfrm>
          </p:grpSpPr>
          <p:sp>
            <p:nvSpPr>
              <p:cNvPr id="5" name="Google Shape;637;p30"/>
              <p:cNvSpPr/>
              <p:nvPr/>
            </p:nvSpPr>
            <p:spPr>
              <a:xfrm>
                <a:off x="7902327" y="3147922"/>
                <a:ext cx="2758771" cy="1828800"/>
              </a:xfrm>
              <a:custGeom>
                <a:avLst/>
                <a:gdLst/>
                <a:ahLst/>
                <a:cxnLst/>
                <a:rect l="l" t="t" r="r" b="b"/>
                <a:pathLst>
                  <a:path w="2195829" h="2131059" extrusionOk="0">
                    <a:moveTo>
                      <a:pt x="1098003" y="0"/>
                    </a:moveTo>
                    <a:lnTo>
                      <a:pt x="1045481" y="1218"/>
                    </a:lnTo>
                    <a:lnTo>
                      <a:pt x="993223" y="4858"/>
                    </a:lnTo>
                    <a:lnTo>
                      <a:pt x="941315" y="10894"/>
                    </a:lnTo>
                    <a:lnTo>
                      <a:pt x="889845" y="19303"/>
                    </a:lnTo>
                    <a:lnTo>
                      <a:pt x="838897" y="30060"/>
                    </a:lnTo>
                    <a:lnTo>
                      <a:pt x="788557" y="43142"/>
                    </a:lnTo>
                    <a:lnTo>
                      <a:pt x="738912" y="58522"/>
                    </a:lnTo>
                    <a:lnTo>
                      <a:pt x="690048" y="76179"/>
                    </a:lnTo>
                    <a:lnTo>
                      <a:pt x="642049" y="96086"/>
                    </a:lnTo>
                    <a:lnTo>
                      <a:pt x="595003" y="118220"/>
                    </a:lnTo>
                    <a:lnTo>
                      <a:pt x="548995" y="142557"/>
                    </a:lnTo>
                    <a:lnTo>
                      <a:pt x="504157" y="169091"/>
                    </a:lnTo>
                    <a:lnTo>
                      <a:pt x="460791" y="197597"/>
                    </a:lnTo>
                    <a:lnTo>
                      <a:pt x="418962" y="228012"/>
                    </a:lnTo>
                    <a:lnTo>
                      <a:pt x="378732" y="260272"/>
                    </a:lnTo>
                    <a:lnTo>
                      <a:pt x="340165" y="294314"/>
                    </a:lnTo>
                    <a:lnTo>
                      <a:pt x="303325" y="330074"/>
                    </a:lnTo>
                    <a:lnTo>
                      <a:pt x="268275" y="367489"/>
                    </a:lnTo>
                    <a:lnTo>
                      <a:pt x="235078" y="406496"/>
                    </a:lnTo>
                    <a:lnTo>
                      <a:pt x="203799" y="447032"/>
                    </a:lnTo>
                    <a:lnTo>
                      <a:pt x="174499" y="489032"/>
                    </a:lnTo>
                    <a:lnTo>
                      <a:pt x="147243" y="532434"/>
                    </a:lnTo>
                    <a:lnTo>
                      <a:pt x="122067" y="577147"/>
                    </a:lnTo>
                    <a:lnTo>
                      <a:pt x="99181" y="622862"/>
                    </a:lnTo>
                    <a:lnTo>
                      <a:pt x="78608" y="669494"/>
                    </a:lnTo>
                    <a:lnTo>
                      <a:pt x="60370" y="716956"/>
                    </a:lnTo>
                    <a:lnTo>
                      <a:pt x="44489" y="765164"/>
                    </a:lnTo>
                    <a:lnTo>
                      <a:pt x="30990" y="814031"/>
                    </a:lnTo>
                    <a:lnTo>
                      <a:pt x="19894" y="863470"/>
                    </a:lnTo>
                    <a:lnTo>
                      <a:pt x="11224" y="913397"/>
                    </a:lnTo>
                    <a:lnTo>
                      <a:pt x="5003" y="963724"/>
                    </a:lnTo>
                    <a:lnTo>
                      <a:pt x="1254" y="1014366"/>
                    </a:lnTo>
                    <a:lnTo>
                      <a:pt x="0" y="1065237"/>
                    </a:lnTo>
                    <a:lnTo>
                      <a:pt x="1254" y="1116108"/>
                    </a:lnTo>
                    <a:lnTo>
                      <a:pt x="5003" y="1166749"/>
                    </a:lnTo>
                    <a:lnTo>
                      <a:pt x="11224" y="1217071"/>
                    </a:lnTo>
                    <a:lnTo>
                      <a:pt x="19894" y="1266988"/>
                    </a:lnTo>
                    <a:lnTo>
                      <a:pt x="30990" y="1316411"/>
                    </a:lnTo>
                    <a:lnTo>
                      <a:pt x="44489" y="1365253"/>
                    </a:lnTo>
                    <a:lnTo>
                      <a:pt x="60370" y="1413427"/>
                    </a:lnTo>
                    <a:lnTo>
                      <a:pt x="78608" y="1460844"/>
                    </a:lnTo>
                    <a:lnTo>
                      <a:pt x="99181" y="1507418"/>
                    </a:lnTo>
                    <a:lnTo>
                      <a:pt x="122067" y="1553061"/>
                    </a:lnTo>
                    <a:lnTo>
                      <a:pt x="147243" y="1597685"/>
                    </a:lnTo>
                    <a:lnTo>
                      <a:pt x="174499" y="1641175"/>
                    </a:lnTo>
                    <a:lnTo>
                      <a:pt x="203799" y="1683248"/>
                    </a:lnTo>
                    <a:lnTo>
                      <a:pt x="235078" y="1723842"/>
                    </a:lnTo>
                    <a:lnTo>
                      <a:pt x="268275" y="1762894"/>
                    </a:lnTo>
                    <a:lnTo>
                      <a:pt x="303325" y="1800343"/>
                    </a:lnTo>
                    <a:lnTo>
                      <a:pt x="340165" y="1836128"/>
                    </a:lnTo>
                    <a:lnTo>
                      <a:pt x="378732" y="1870186"/>
                    </a:lnTo>
                    <a:lnTo>
                      <a:pt x="418962" y="1902456"/>
                    </a:lnTo>
                    <a:lnTo>
                      <a:pt x="460791" y="1932875"/>
                    </a:lnTo>
                    <a:lnTo>
                      <a:pt x="504157" y="1961383"/>
                    </a:lnTo>
                    <a:lnTo>
                      <a:pt x="548995" y="1987918"/>
                    </a:lnTo>
                    <a:lnTo>
                      <a:pt x="595003" y="2012255"/>
                    </a:lnTo>
                    <a:lnTo>
                      <a:pt x="642049" y="2034389"/>
                    </a:lnTo>
                    <a:lnTo>
                      <a:pt x="690048" y="2054296"/>
                    </a:lnTo>
                    <a:lnTo>
                      <a:pt x="738912" y="2071952"/>
                    </a:lnTo>
                    <a:lnTo>
                      <a:pt x="788557" y="2087333"/>
                    </a:lnTo>
                    <a:lnTo>
                      <a:pt x="838897" y="2100414"/>
                    </a:lnTo>
                    <a:lnTo>
                      <a:pt x="889845" y="2111172"/>
                    </a:lnTo>
                    <a:lnTo>
                      <a:pt x="941315" y="2119581"/>
                    </a:lnTo>
                    <a:lnTo>
                      <a:pt x="993223" y="2125617"/>
                    </a:lnTo>
                    <a:lnTo>
                      <a:pt x="1045481" y="2129257"/>
                    </a:lnTo>
                    <a:lnTo>
                      <a:pt x="1098003" y="2130475"/>
                    </a:lnTo>
                    <a:lnTo>
                      <a:pt x="1150435" y="2129257"/>
                    </a:lnTo>
                    <a:lnTo>
                      <a:pt x="1202618" y="2125617"/>
                    </a:lnTo>
                    <a:lnTo>
                      <a:pt x="1254465" y="2119581"/>
                    </a:lnTo>
                    <a:lnTo>
                      <a:pt x="1305889" y="2111172"/>
                    </a:lnTo>
                    <a:lnTo>
                      <a:pt x="1356801" y="2100414"/>
                    </a:lnTo>
                    <a:lnTo>
                      <a:pt x="1407116" y="2087333"/>
                    </a:lnTo>
                    <a:lnTo>
                      <a:pt x="1456744" y="2071952"/>
                    </a:lnTo>
                    <a:lnTo>
                      <a:pt x="1505598" y="2054296"/>
                    </a:lnTo>
                    <a:lnTo>
                      <a:pt x="1553592" y="2034389"/>
                    </a:lnTo>
                    <a:lnTo>
                      <a:pt x="1600636" y="2012255"/>
                    </a:lnTo>
                    <a:lnTo>
                      <a:pt x="1646643" y="1987918"/>
                    </a:lnTo>
                    <a:lnTo>
                      <a:pt x="1691482" y="1961383"/>
                    </a:lnTo>
                    <a:lnTo>
                      <a:pt x="1734848" y="1932875"/>
                    </a:lnTo>
                    <a:lnTo>
                      <a:pt x="1776677" y="1902456"/>
                    </a:lnTo>
                    <a:lnTo>
                      <a:pt x="1816907" y="1870186"/>
                    </a:lnTo>
                    <a:lnTo>
                      <a:pt x="1855473" y="1836128"/>
                    </a:lnTo>
                    <a:lnTo>
                      <a:pt x="1892313" y="1800343"/>
                    </a:lnTo>
                    <a:lnTo>
                      <a:pt x="1927363" y="1762894"/>
                    </a:lnTo>
                    <a:lnTo>
                      <a:pt x="1960560" y="1723842"/>
                    </a:lnTo>
                    <a:lnTo>
                      <a:pt x="1991840" y="1683248"/>
                    </a:lnTo>
                    <a:lnTo>
                      <a:pt x="2021139" y="1641175"/>
                    </a:lnTo>
                    <a:lnTo>
                      <a:pt x="2048395" y="1597685"/>
                    </a:lnTo>
                    <a:lnTo>
                      <a:pt x="2073571" y="1553061"/>
                    </a:lnTo>
                    <a:lnTo>
                      <a:pt x="2096457" y="1507418"/>
                    </a:lnTo>
                    <a:lnTo>
                      <a:pt x="2117031" y="1460844"/>
                    </a:lnTo>
                    <a:lnTo>
                      <a:pt x="2135269" y="1413427"/>
                    </a:lnTo>
                    <a:lnTo>
                      <a:pt x="2151149" y="1365253"/>
                    </a:lnTo>
                    <a:lnTo>
                      <a:pt x="2164649" y="1316411"/>
                    </a:lnTo>
                    <a:lnTo>
                      <a:pt x="2175744" y="1266988"/>
                    </a:lnTo>
                    <a:lnTo>
                      <a:pt x="2184414" y="1217071"/>
                    </a:lnTo>
                    <a:lnTo>
                      <a:pt x="2190635" y="1166749"/>
                    </a:lnTo>
                    <a:lnTo>
                      <a:pt x="2194384" y="1116108"/>
                    </a:lnTo>
                    <a:lnTo>
                      <a:pt x="2195639" y="1065237"/>
                    </a:lnTo>
                    <a:lnTo>
                      <a:pt x="2194384" y="1014366"/>
                    </a:lnTo>
                    <a:lnTo>
                      <a:pt x="2190635" y="963724"/>
                    </a:lnTo>
                    <a:lnTo>
                      <a:pt x="2184414" y="913397"/>
                    </a:lnTo>
                    <a:lnTo>
                      <a:pt x="2175744" y="863470"/>
                    </a:lnTo>
                    <a:lnTo>
                      <a:pt x="2164649" y="814031"/>
                    </a:lnTo>
                    <a:lnTo>
                      <a:pt x="2151149" y="765164"/>
                    </a:lnTo>
                    <a:lnTo>
                      <a:pt x="2135269" y="716956"/>
                    </a:lnTo>
                    <a:lnTo>
                      <a:pt x="2117031" y="669494"/>
                    </a:lnTo>
                    <a:lnTo>
                      <a:pt x="2096457" y="622862"/>
                    </a:lnTo>
                    <a:lnTo>
                      <a:pt x="2073571" y="577147"/>
                    </a:lnTo>
                    <a:lnTo>
                      <a:pt x="2048395" y="532434"/>
                    </a:lnTo>
                    <a:lnTo>
                      <a:pt x="2021139" y="489032"/>
                    </a:lnTo>
                    <a:lnTo>
                      <a:pt x="1991840" y="447032"/>
                    </a:lnTo>
                    <a:lnTo>
                      <a:pt x="1960560" y="406496"/>
                    </a:lnTo>
                    <a:lnTo>
                      <a:pt x="1927363" y="367489"/>
                    </a:lnTo>
                    <a:lnTo>
                      <a:pt x="1892313" y="330074"/>
                    </a:lnTo>
                    <a:lnTo>
                      <a:pt x="1855473" y="294314"/>
                    </a:lnTo>
                    <a:lnTo>
                      <a:pt x="1816907" y="260272"/>
                    </a:lnTo>
                    <a:lnTo>
                      <a:pt x="1776677" y="228012"/>
                    </a:lnTo>
                    <a:lnTo>
                      <a:pt x="1734848" y="197597"/>
                    </a:lnTo>
                    <a:lnTo>
                      <a:pt x="1691482" y="169091"/>
                    </a:lnTo>
                    <a:lnTo>
                      <a:pt x="1646643" y="142557"/>
                    </a:lnTo>
                    <a:lnTo>
                      <a:pt x="1600636" y="118220"/>
                    </a:lnTo>
                    <a:lnTo>
                      <a:pt x="1553592" y="96086"/>
                    </a:lnTo>
                    <a:lnTo>
                      <a:pt x="1505598" y="76179"/>
                    </a:lnTo>
                    <a:lnTo>
                      <a:pt x="1456744" y="58522"/>
                    </a:lnTo>
                    <a:lnTo>
                      <a:pt x="1407116" y="43142"/>
                    </a:lnTo>
                    <a:lnTo>
                      <a:pt x="1356801" y="30060"/>
                    </a:lnTo>
                    <a:lnTo>
                      <a:pt x="1305889" y="19303"/>
                    </a:lnTo>
                    <a:lnTo>
                      <a:pt x="1254465" y="10894"/>
                    </a:lnTo>
                    <a:lnTo>
                      <a:pt x="1202618" y="4858"/>
                    </a:lnTo>
                    <a:lnTo>
                      <a:pt x="1150435" y="1218"/>
                    </a:lnTo>
                    <a:lnTo>
                      <a:pt x="1098003" y="0"/>
                    </a:lnTo>
                    <a:close/>
                  </a:path>
                </a:pathLst>
              </a:custGeom>
              <a:solidFill>
                <a:schemeClr val="accent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panose="020F050202020403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Google Shape;638;p30"/>
              <p:cNvSpPr txBox="1"/>
              <p:nvPr/>
            </p:nvSpPr>
            <p:spPr>
              <a:xfrm>
                <a:off x="8128591" y="3523733"/>
                <a:ext cx="2306243" cy="10771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lt1"/>
                    </a:solidFill>
                    <a:latin typeface="Arial" panose="020B0604020202020204"/>
                    <a:ea typeface="Arial" panose="020B0604020202020204"/>
                    <a:cs typeface="Arial" panose="020B0604020202020204"/>
                    <a:sym typeface="Arial" panose="020B0604020202020204"/>
                  </a:rPr>
                  <a:t>The credit risk on  these bonds is high.</a:t>
                </a:r>
                <a:endParaRPr lang="en-US" sz="1600" dirty="0">
                  <a:solidFill>
                    <a:schemeClr val="lt1"/>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r>
                  <a:rPr lang="en-US" sz="1600" dirty="0">
                    <a:solidFill>
                      <a:schemeClr val="lt1"/>
                    </a:solidFill>
                    <a:latin typeface="Arial" panose="020B0604020202020204"/>
                    <a:ea typeface="Arial" panose="020B0604020202020204"/>
                    <a:cs typeface="Arial" panose="020B0604020202020204"/>
                    <a:sym typeface="Arial" panose="020B0604020202020204"/>
                  </a:rPr>
                  <a:t>Your high risk  provides a high coupon rate.</a:t>
                </a:r>
                <a:endParaRPr lang="en-US" sz="1600" dirty="0">
                  <a:solidFill>
                    <a:schemeClr val="lt1"/>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22" name="Rectangle: Rounded Corners 21"/>
          <p:cNvSpPr/>
          <p:nvPr/>
        </p:nvSpPr>
        <p:spPr>
          <a:xfrm>
            <a:off x="695399" y="1760707"/>
            <a:ext cx="5043919" cy="3219855"/>
          </a:xfrm>
          <a:prstGeom prst="roundRect">
            <a:avLst>
              <a:gd name="adj" fmla="val 4069"/>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0" name="Rectangle: Rounded Corners 19"/>
          <p:cNvSpPr/>
          <p:nvPr/>
        </p:nvSpPr>
        <p:spPr>
          <a:xfrm>
            <a:off x="6108970" y="1760707"/>
            <a:ext cx="5593708" cy="3219855"/>
          </a:xfrm>
          <a:prstGeom prst="roundRect">
            <a:avLst>
              <a:gd name="adj" fmla="val 4069"/>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 name="Title 2"/>
          <p:cNvSpPr>
            <a:spLocks noGrp="1"/>
          </p:cNvSpPr>
          <p:nvPr>
            <p:ph type="title"/>
          </p:nvPr>
        </p:nvSpPr>
        <p:spPr>
          <a:xfrm>
            <a:off x="700550" y="404869"/>
            <a:ext cx="10515600" cy="716422"/>
          </a:xfrm>
        </p:spPr>
        <p:txBody>
          <a:bodyPr/>
          <a:lstStyle/>
          <a:p>
            <a:r>
              <a:rPr lang="en-IN" altLang="en-US" dirty="0">
                <a:solidFill>
                  <a:schemeClr val="tx1"/>
                </a:solidFill>
                <a:effectLst>
                  <a:outerShdw blurRad="38100" dist="25400" dir="5400000" algn="ctr" rotWithShape="0">
                    <a:srgbClr val="6E747A">
                      <a:alpha val="43000"/>
                    </a:srgbClr>
                  </a:outerShdw>
                </a:effectLst>
              </a:rPr>
              <a:t>OPTIONALLY </a:t>
            </a:r>
            <a:r>
              <a:rPr lang="en-US" dirty="0">
                <a:solidFill>
                  <a:schemeClr val="tx1"/>
                </a:solidFill>
                <a:effectLst>
                  <a:outerShdw blurRad="38100" dist="25400" dir="5400000" algn="ctr" rotWithShape="0">
                    <a:srgbClr val="6E747A">
                      <a:alpha val="43000"/>
                    </a:srgbClr>
                  </a:outerShdw>
                </a:effectLst>
              </a:rPr>
              <a:t>CONVERTIBLE BONDS</a:t>
            </a:r>
            <a:endParaRPr lang="en-US" dirty="0"/>
          </a:p>
        </p:txBody>
      </p:sp>
      <p:grpSp>
        <p:nvGrpSpPr>
          <p:cNvPr id="23" name="Group 22"/>
          <p:cNvGrpSpPr/>
          <p:nvPr/>
        </p:nvGrpSpPr>
        <p:grpSpPr>
          <a:xfrm>
            <a:off x="885865" y="1863165"/>
            <a:ext cx="4662986" cy="3014938"/>
            <a:chOff x="700550" y="1487998"/>
            <a:chExt cx="4662986" cy="3014938"/>
          </a:xfrm>
        </p:grpSpPr>
        <p:pic>
          <p:nvPicPr>
            <p:cNvPr id="769" name="Google Shape;769;p38"/>
            <p:cNvPicPr preferRelativeResize="0"/>
            <p:nvPr/>
          </p:nvPicPr>
          <p:blipFill rotWithShape="1">
            <a:blip r:embed="rId1">
              <a:biLevel thresh="75000"/>
            </a:blip>
            <a:srcRect/>
            <a:stretch>
              <a:fillRect/>
            </a:stretch>
          </p:blipFill>
          <p:spPr>
            <a:xfrm>
              <a:off x="966435" y="2686850"/>
              <a:ext cx="980880" cy="863226"/>
            </a:xfrm>
            <a:prstGeom prst="rect">
              <a:avLst/>
            </a:prstGeom>
          </p:spPr>
        </p:pic>
        <p:pic>
          <p:nvPicPr>
            <p:cNvPr id="772" name="Google Shape;772;p38"/>
            <p:cNvPicPr preferRelativeResize="0"/>
            <p:nvPr/>
          </p:nvPicPr>
          <p:blipFill rotWithShape="1">
            <a:blip r:embed="rId2"/>
            <a:srcRect/>
            <a:stretch>
              <a:fillRect/>
            </a:stretch>
          </p:blipFill>
          <p:spPr>
            <a:xfrm>
              <a:off x="2680212" y="1912967"/>
              <a:ext cx="988466" cy="905916"/>
            </a:xfrm>
            <a:prstGeom prst="rect">
              <a:avLst/>
            </a:prstGeom>
            <a:noFill/>
            <a:ln>
              <a:noFill/>
            </a:ln>
          </p:spPr>
        </p:pic>
        <p:pic>
          <p:nvPicPr>
            <p:cNvPr id="773" name="Google Shape;773;p38"/>
            <p:cNvPicPr preferRelativeResize="0"/>
            <p:nvPr/>
          </p:nvPicPr>
          <p:blipFill rotWithShape="1">
            <a:blip r:embed="rId3"/>
            <a:srcRect/>
            <a:stretch>
              <a:fillRect/>
            </a:stretch>
          </p:blipFill>
          <p:spPr>
            <a:xfrm>
              <a:off x="2879247" y="3151564"/>
              <a:ext cx="590397" cy="590397"/>
            </a:xfrm>
            <a:prstGeom prst="rect">
              <a:avLst/>
            </a:prstGeom>
            <a:noFill/>
            <a:ln>
              <a:noFill/>
            </a:ln>
          </p:spPr>
        </p:pic>
        <p:sp>
          <p:nvSpPr>
            <p:cNvPr id="776" name="Google Shape;776;p38"/>
            <p:cNvSpPr txBox="1"/>
            <p:nvPr/>
          </p:nvSpPr>
          <p:spPr>
            <a:xfrm>
              <a:off x="700550" y="3764272"/>
              <a:ext cx="1512651" cy="738664"/>
            </a:xfrm>
            <a:prstGeom prst="rect">
              <a:avLst/>
            </a:prstGeom>
            <a:noFill/>
            <a:ln>
              <a:noFill/>
            </a:ln>
          </p:spPr>
          <p:txBody>
            <a:bodyPr spcFirstLastPara="1" wrap="square" lIns="0" tIns="0" rIns="0" bIns="0" anchor="t" anchorCtr="0">
              <a:spAutoFit/>
            </a:bodyPr>
            <a:lstStyle/>
            <a:p>
              <a:pPr marR="5080" lvl="0" algn="ctr" rtl="0">
                <a:lnSpc>
                  <a:spcPct val="100000"/>
                </a:lnSpc>
                <a:spcBef>
                  <a:spcPts val="0"/>
                </a:spcBef>
                <a:spcAft>
                  <a:spcPts val="0"/>
                </a:spcAft>
                <a:buClr>
                  <a:schemeClr val="dk1"/>
                </a:buClr>
                <a:buSzPts val="1600"/>
                <a:buFont typeface="Arial" panose="020B0604020202020204"/>
                <a:buNone/>
              </a:pPr>
              <a:r>
                <a:rPr lang="en-US" sz="1600" b="1" dirty="0">
                  <a:solidFill>
                    <a:schemeClr val="tx1"/>
                  </a:solidFill>
                  <a:latin typeface="Arial" panose="020B0604020202020204"/>
                  <a:ea typeface="Arial" panose="020B0604020202020204"/>
                  <a:cs typeface="Arial" panose="020B0604020202020204"/>
                  <a:sym typeface="Arial" panose="020B0604020202020204"/>
                </a:rPr>
                <a:t>XYZ Supermarket  Publicly Listed</a:t>
              </a:r>
              <a:endParaRPr sz="1600"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777" name="Google Shape;777;p38"/>
            <p:cNvSpPr txBox="1"/>
            <p:nvPr/>
          </p:nvSpPr>
          <p:spPr>
            <a:xfrm>
              <a:off x="2246615" y="1487998"/>
              <a:ext cx="1855660" cy="259045"/>
            </a:xfrm>
            <a:prstGeom prst="rect">
              <a:avLst/>
            </a:prstGeom>
            <a:noFill/>
            <a:ln>
              <a:noFill/>
            </a:ln>
          </p:spPr>
          <p:txBody>
            <a:bodyPr spcFirstLastPara="1" wrap="square" lIns="0" tIns="12700" rIns="0" bIns="0" anchor="t" anchorCtr="0">
              <a:spAutoFit/>
            </a:bodyPr>
            <a:lstStyle/>
            <a:p>
              <a:pPr marL="380365" marR="5080" lvl="0" indent="-368300" algn="ctr" rtl="0">
                <a:lnSpc>
                  <a:spcPct val="100000"/>
                </a:lnSpc>
                <a:spcBef>
                  <a:spcPts val="0"/>
                </a:spcBef>
                <a:spcAft>
                  <a:spcPts val="0"/>
                </a:spcAft>
                <a:buClr>
                  <a:schemeClr val="dk1"/>
                </a:buClr>
                <a:buSzPts val="1600"/>
                <a:buFont typeface="Arial" panose="020B0604020202020204"/>
                <a:buNone/>
              </a:pPr>
              <a:r>
                <a:rPr lang="en-US" sz="1600" b="1" dirty="0">
                  <a:solidFill>
                    <a:schemeClr val="tx1"/>
                  </a:solidFill>
                  <a:latin typeface="Arial" panose="020B0604020202020204"/>
                  <a:ea typeface="Arial" panose="020B0604020202020204"/>
                  <a:cs typeface="Arial" panose="020B0604020202020204"/>
                  <a:sym typeface="Arial" panose="020B0604020202020204"/>
                </a:rPr>
                <a:t>Convertible Bond</a:t>
              </a:r>
              <a:endParaRPr sz="1600"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794" name="Google Shape;794;p38"/>
            <p:cNvSpPr txBox="1"/>
            <p:nvPr/>
          </p:nvSpPr>
          <p:spPr>
            <a:xfrm>
              <a:off x="4369761" y="3764272"/>
              <a:ext cx="993775" cy="259045"/>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chemeClr val="dk1"/>
                </a:buClr>
                <a:buSzPts val="1600"/>
                <a:buFont typeface="Arial" panose="020B0604020202020204"/>
                <a:buNone/>
              </a:pPr>
              <a:r>
                <a:rPr lang="en-US" sz="1600" b="1" dirty="0">
                  <a:solidFill>
                    <a:schemeClr val="tx1"/>
                  </a:solidFill>
                  <a:latin typeface="Arial" panose="020B0604020202020204"/>
                  <a:ea typeface="Arial" panose="020B0604020202020204"/>
                  <a:cs typeface="Arial" panose="020B0604020202020204"/>
                  <a:sym typeface="Arial" panose="020B0604020202020204"/>
                </a:rPr>
                <a:t>Investor</a:t>
              </a:r>
              <a:endParaRPr sz="1600" dirty="0">
                <a:solidFill>
                  <a:schemeClr val="tx1"/>
                </a:solidFill>
                <a:latin typeface="Arial" panose="020B0604020202020204"/>
                <a:ea typeface="Arial" panose="020B0604020202020204"/>
                <a:cs typeface="Arial" panose="020B0604020202020204"/>
                <a:sym typeface="Arial" panose="020B0604020202020204"/>
              </a:endParaRPr>
            </a:p>
          </p:txBody>
        </p:sp>
        <p:pic>
          <p:nvPicPr>
            <p:cNvPr id="1026" name="Picture 2" descr="Manager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1574" y="2653389"/>
              <a:ext cx="930148" cy="930148"/>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p:cNvGrpSpPr/>
            <p:nvPr/>
          </p:nvGrpSpPr>
          <p:grpSpPr>
            <a:xfrm>
              <a:off x="2031445" y="2975080"/>
              <a:ext cx="2286000" cy="92216"/>
              <a:chOff x="4880610" y="2328672"/>
              <a:chExt cx="2705100" cy="92216"/>
            </a:xfrm>
          </p:grpSpPr>
          <p:cxnSp>
            <p:nvCxnSpPr>
              <p:cNvPr id="8" name="Straight Arrow Connector 7"/>
              <p:cNvCxnSpPr/>
              <p:nvPr/>
            </p:nvCxnSpPr>
            <p:spPr>
              <a:xfrm>
                <a:off x="4880610" y="2328672"/>
                <a:ext cx="2705100" cy="0"/>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4880610" y="2420888"/>
                <a:ext cx="2705100" cy="0"/>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793" name="Google Shape;793;p38"/>
          <p:cNvSpPr txBox="1"/>
          <p:nvPr/>
        </p:nvSpPr>
        <p:spPr>
          <a:xfrm>
            <a:off x="8250091" y="1536534"/>
            <a:ext cx="1311467" cy="476726"/>
          </a:xfrm>
          <a:prstGeom prst="roundRect">
            <a:avLst/>
          </a:prstGeom>
          <a:solidFill>
            <a:schemeClr val="accent3"/>
          </a:solidFill>
          <a:ln>
            <a:noFill/>
          </a:ln>
        </p:spPr>
        <p:txBody>
          <a:bodyPr spcFirstLastPara="1" wrap="square" lIns="91440" tIns="91440" rIns="91440" bIns="91440" anchor="t" anchorCtr="0">
            <a:spAutoFit/>
          </a:bodyPr>
          <a:lstStyle/>
          <a:p>
            <a:pPr marL="12700" marR="0" lvl="0" indent="0" algn="ctr" rtl="0">
              <a:lnSpc>
                <a:spcPct val="100000"/>
              </a:lnSpc>
              <a:spcBef>
                <a:spcPts val="0"/>
              </a:spcBef>
              <a:spcAft>
                <a:spcPts val="0"/>
              </a:spcAft>
              <a:buClr>
                <a:srgbClr val="FFFFFF"/>
              </a:buClr>
              <a:buSzPts val="1600"/>
              <a:buFont typeface="Arial" panose="020B0604020202020204"/>
              <a:buNone/>
            </a:pPr>
            <a:r>
              <a:rPr lang="en-US" sz="1600" b="1" dirty="0">
                <a:solidFill>
                  <a:srgbClr val="FFFFFF"/>
                </a:solidFill>
                <a:latin typeface="Arial" panose="020B0604020202020204"/>
                <a:ea typeface="Arial" panose="020B0604020202020204"/>
                <a:cs typeface="Arial" panose="020B0604020202020204"/>
                <a:sym typeface="Arial" panose="020B0604020202020204"/>
              </a:rPr>
              <a:t>LATER</a:t>
            </a:r>
            <a:endParaRPr sz="1600" b="1"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778" name="Google Shape;778;p38"/>
          <p:cNvPicPr preferRelativeResize="0"/>
          <p:nvPr/>
        </p:nvPicPr>
        <p:blipFill rotWithShape="1">
          <a:blip r:embed="rId5"/>
          <a:srcRect/>
          <a:stretch>
            <a:fillRect/>
          </a:stretch>
        </p:blipFill>
        <p:spPr>
          <a:xfrm>
            <a:off x="6201383" y="2335355"/>
            <a:ext cx="1726434" cy="1610402"/>
          </a:xfrm>
          <a:prstGeom prst="rect">
            <a:avLst/>
          </a:prstGeom>
          <a:noFill/>
          <a:ln>
            <a:noFill/>
          </a:ln>
        </p:spPr>
      </p:pic>
      <p:sp>
        <p:nvSpPr>
          <p:cNvPr id="779" name="Google Shape;779;p38"/>
          <p:cNvSpPr txBox="1"/>
          <p:nvPr/>
        </p:nvSpPr>
        <p:spPr>
          <a:xfrm>
            <a:off x="6201383" y="4092980"/>
            <a:ext cx="1726434" cy="259045"/>
          </a:xfrm>
          <a:prstGeom prst="rect">
            <a:avLst/>
          </a:prstGeom>
          <a:noFill/>
          <a:ln>
            <a:noFill/>
          </a:ln>
        </p:spPr>
        <p:txBody>
          <a:bodyPr spcFirstLastPara="1" wrap="square" lIns="0" tIns="12700" rIns="0" bIns="0" anchor="t" anchorCtr="0">
            <a:spAutoFit/>
          </a:bodyPr>
          <a:lstStyle/>
          <a:p>
            <a:pPr marL="379095" marR="5080" lvl="0" indent="-367030" algn="ctr" rtl="0">
              <a:lnSpc>
                <a:spcPct val="100000"/>
              </a:lnSpc>
              <a:spcBef>
                <a:spcPts val="0"/>
              </a:spcBef>
              <a:spcAft>
                <a:spcPts val="0"/>
              </a:spcAft>
              <a:buClr>
                <a:schemeClr val="dk1"/>
              </a:buClr>
              <a:buSzPts val="1600"/>
              <a:buFont typeface="Arial" panose="020B0604020202020204"/>
              <a:buNone/>
            </a:pPr>
            <a:r>
              <a:rPr lang="en-US" sz="1600" b="1" dirty="0">
                <a:solidFill>
                  <a:schemeClr val="tx1"/>
                </a:solidFill>
                <a:latin typeface="Arial" panose="020B0604020202020204"/>
                <a:ea typeface="Arial" panose="020B0604020202020204"/>
                <a:cs typeface="Arial" panose="020B0604020202020204"/>
                <a:sym typeface="Arial" panose="020B0604020202020204"/>
              </a:rPr>
              <a:t>Convertible Bond</a:t>
            </a:r>
            <a:endParaRPr sz="1600"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783" name="Google Shape;783;p38"/>
          <p:cNvSpPr txBox="1"/>
          <p:nvPr/>
        </p:nvSpPr>
        <p:spPr>
          <a:xfrm>
            <a:off x="8011214" y="2773816"/>
            <a:ext cx="2194560" cy="259045"/>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chemeClr val="dk1"/>
              </a:buClr>
              <a:buSzPts val="1600"/>
              <a:buFont typeface="Arial" panose="020B0604020202020204"/>
              <a:buNone/>
            </a:pPr>
            <a:r>
              <a:rPr lang="en-US" sz="1600" b="1" dirty="0">
                <a:solidFill>
                  <a:schemeClr val="tx1"/>
                </a:solidFill>
                <a:latin typeface="Arial" panose="020B0604020202020204"/>
                <a:ea typeface="Arial" panose="020B0604020202020204"/>
                <a:cs typeface="Arial" panose="020B0604020202020204"/>
                <a:sym typeface="Arial" panose="020B0604020202020204"/>
              </a:rPr>
              <a:t>Option to convert</a:t>
            </a:r>
            <a:endParaRPr sz="1600" dirty="0">
              <a:solidFill>
                <a:schemeClr val="tx1"/>
              </a:solidFill>
              <a:latin typeface="Arial" panose="020B0604020202020204"/>
              <a:ea typeface="Arial" panose="020B0604020202020204"/>
              <a:cs typeface="Arial" panose="020B0604020202020204"/>
              <a:sym typeface="Arial" panose="020B0604020202020204"/>
            </a:endParaRPr>
          </a:p>
        </p:txBody>
      </p:sp>
      <p:pic>
        <p:nvPicPr>
          <p:cNvPr id="784" name="Google Shape;784;p38"/>
          <p:cNvPicPr preferRelativeResize="0"/>
          <p:nvPr/>
        </p:nvPicPr>
        <p:blipFill rotWithShape="1">
          <a:blip r:embed="rId6"/>
          <a:srcRect/>
          <a:stretch>
            <a:fillRect/>
          </a:stretch>
        </p:blipFill>
        <p:spPr>
          <a:xfrm>
            <a:off x="10289171" y="2694206"/>
            <a:ext cx="1321094" cy="892700"/>
          </a:xfrm>
          <a:prstGeom prst="rect">
            <a:avLst/>
          </a:prstGeom>
          <a:noFill/>
          <a:ln>
            <a:noFill/>
          </a:ln>
        </p:spPr>
      </p:pic>
      <p:sp>
        <p:nvSpPr>
          <p:cNvPr id="785" name="Google Shape;785;p38"/>
          <p:cNvSpPr txBox="1"/>
          <p:nvPr/>
        </p:nvSpPr>
        <p:spPr>
          <a:xfrm>
            <a:off x="10558876" y="3799674"/>
            <a:ext cx="781685" cy="259045"/>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chemeClr val="dk1"/>
              </a:buClr>
              <a:buSzPts val="1600"/>
              <a:buFont typeface="Arial" panose="020B0604020202020204"/>
              <a:buNone/>
            </a:pPr>
            <a:r>
              <a:rPr lang="en-US" sz="1600" b="1" dirty="0">
                <a:solidFill>
                  <a:schemeClr val="tx1"/>
                </a:solidFill>
                <a:latin typeface="Arial" panose="020B0604020202020204"/>
                <a:ea typeface="Arial" panose="020B0604020202020204"/>
                <a:cs typeface="Arial" panose="020B0604020202020204"/>
                <a:sym typeface="Arial" panose="020B0604020202020204"/>
              </a:rPr>
              <a:t>Equity</a:t>
            </a:r>
            <a:endParaRPr sz="1600"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2" name="Text Box 0"/>
          <p:cNvSpPr txBox="1"/>
          <p:nvPr/>
        </p:nvSpPr>
        <p:spPr>
          <a:xfrm>
            <a:off x="8011214" y="3240607"/>
            <a:ext cx="2194560" cy="337185"/>
          </a:xfrm>
          <a:prstGeom prst="rect">
            <a:avLst/>
          </a:prstGeom>
          <a:noFill/>
        </p:spPr>
        <p:txBody>
          <a:bodyPr wrap="square" rtlCol="0" anchor="t">
            <a:spAutoFit/>
          </a:bodyPr>
          <a:lstStyle/>
          <a:p>
            <a:pPr marL="12700" marR="0" lvl="0" indent="0" algn="ctr" rtl="0">
              <a:lnSpc>
                <a:spcPct val="100000"/>
              </a:lnSpc>
              <a:spcBef>
                <a:spcPts val="0"/>
              </a:spcBef>
              <a:spcAft>
                <a:spcPts val="0"/>
              </a:spcAft>
              <a:buClr>
                <a:schemeClr val="dk1"/>
              </a:buClr>
              <a:buSzPts val="1600"/>
              <a:buFont typeface="Arial" panose="020B0604020202020204"/>
              <a:buNone/>
            </a:pPr>
            <a:r>
              <a:rPr lang="en-IN" altLang="en-US" sz="1600" b="1">
                <a:solidFill>
                  <a:schemeClr val="tx1"/>
                </a:solidFill>
                <a:sym typeface="Arial" panose="020B0604020202020204"/>
              </a:rPr>
              <a:t>in to Equity Shares </a:t>
            </a:r>
            <a:endParaRPr lang="en-IN" altLang="en-US" sz="1600" b="1">
              <a:solidFill>
                <a:schemeClr val="tx1"/>
              </a:solidFill>
              <a:sym typeface="Arial" panose="020B0604020202020204"/>
            </a:endParaRPr>
          </a:p>
        </p:txBody>
      </p:sp>
      <p:cxnSp>
        <p:nvCxnSpPr>
          <p:cNvPr id="19" name="Straight Arrow Connector 18"/>
          <p:cNvCxnSpPr/>
          <p:nvPr/>
        </p:nvCxnSpPr>
        <p:spPr>
          <a:xfrm>
            <a:off x="8011214" y="3140556"/>
            <a:ext cx="2194560" cy="0"/>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solidFill>
                  <a:schemeClr val="tx1"/>
                </a:solidFill>
                <a:effectLst>
                  <a:outerShdw blurRad="38100" dist="25400" dir="5400000" algn="ctr" rotWithShape="0">
                    <a:srgbClr val="6E747A">
                      <a:alpha val="43000"/>
                    </a:srgbClr>
                  </a:outerShdw>
                </a:effectLst>
              </a:rPr>
              <a:t>PERPETUAL</a:t>
            </a:r>
            <a:r>
              <a:rPr lang="en-IN" altLang="en-US" dirty="0">
                <a:solidFill>
                  <a:schemeClr val="tx1"/>
                </a:solidFill>
                <a:effectLst>
                  <a:outerShdw blurRad="38100" dist="25400" dir="5400000" algn="ctr" rotWithShape="0">
                    <a:srgbClr val="6E747A">
                      <a:alpha val="43000"/>
                    </a:srgbClr>
                  </a:outerShdw>
                </a:effectLst>
              </a:rPr>
              <a:t> / IRREDEEMABLE</a:t>
            </a:r>
            <a:r>
              <a:rPr lang="en-US" dirty="0">
                <a:solidFill>
                  <a:schemeClr val="tx1"/>
                </a:solidFill>
                <a:effectLst>
                  <a:outerShdw blurRad="38100" dist="25400" dir="5400000" algn="ctr" rotWithShape="0">
                    <a:srgbClr val="6E747A">
                      <a:alpha val="43000"/>
                    </a:srgbClr>
                  </a:outerShdw>
                </a:effectLst>
              </a:rPr>
              <a:t> BONDS</a:t>
            </a:r>
            <a:endParaRPr lang="en-US" dirty="0"/>
          </a:p>
        </p:txBody>
      </p:sp>
      <p:grpSp>
        <p:nvGrpSpPr>
          <p:cNvPr id="3" name="Group 2"/>
          <p:cNvGrpSpPr/>
          <p:nvPr/>
        </p:nvGrpSpPr>
        <p:grpSpPr>
          <a:xfrm>
            <a:off x="700550" y="1468438"/>
            <a:ext cx="5580246" cy="4174344"/>
            <a:chOff x="700550" y="1602878"/>
            <a:chExt cx="5580246" cy="4174344"/>
          </a:xfrm>
        </p:grpSpPr>
        <p:grpSp>
          <p:nvGrpSpPr>
            <p:cNvPr id="801" name="Google Shape;801;p39"/>
            <p:cNvGrpSpPr/>
            <p:nvPr/>
          </p:nvGrpSpPr>
          <p:grpSpPr>
            <a:xfrm>
              <a:off x="700550" y="1602878"/>
              <a:ext cx="5580246" cy="4174344"/>
              <a:chOff x="685800" y="1210991"/>
              <a:chExt cx="11010900" cy="5129988"/>
            </a:xfrm>
          </p:grpSpPr>
          <p:sp>
            <p:nvSpPr>
              <p:cNvPr id="802" name="Google Shape;802;p39"/>
              <p:cNvSpPr/>
              <p:nvPr/>
            </p:nvSpPr>
            <p:spPr>
              <a:xfrm>
                <a:off x="685800" y="1210991"/>
                <a:ext cx="11010900" cy="51299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803" name="Google Shape;803;p39"/>
              <p:cNvSpPr txBox="1"/>
              <p:nvPr/>
            </p:nvSpPr>
            <p:spPr>
              <a:xfrm>
                <a:off x="794582" y="1303766"/>
                <a:ext cx="10793338" cy="4944439"/>
              </a:xfrm>
              <a:prstGeom prst="rect">
                <a:avLst/>
              </a:prstGeom>
              <a:solidFill>
                <a:schemeClr val="lt1"/>
              </a:solidFill>
              <a:ln>
                <a:noFill/>
              </a:ln>
            </p:spPr>
            <p:txBody>
              <a:bodyPr spcFirstLastPara="1" wrap="square" lIns="182875" tIns="45700" rIns="182875" bIns="45700" anchor="t" anchorCtr="0">
                <a:noAutofit/>
              </a:bodyPr>
              <a:lstStyle/>
              <a:p>
                <a:pPr marL="0" marR="0" lvl="0" indent="0" algn="l" rtl="0">
                  <a:lnSpc>
                    <a:spcPct val="120000"/>
                  </a:lnSpc>
                  <a:spcBef>
                    <a:spcPts val="0"/>
                  </a:spcBef>
                  <a:spcAft>
                    <a:spcPts val="0"/>
                  </a:spcAft>
                  <a:buNone/>
                </a:pPr>
                <a:endParaRPr sz="16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804" name="Google Shape;804;p39"/>
            <p:cNvSpPr txBox="1"/>
            <p:nvPr/>
          </p:nvSpPr>
          <p:spPr>
            <a:xfrm>
              <a:off x="990620" y="2166576"/>
              <a:ext cx="5000106" cy="3046948"/>
            </a:xfrm>
            <a:prstGeom prst="rect">
              <a:avLst/>
            </a:prstGeom>
            <a:noFill/>
            <a:ln>
              <a:noFill/>
            </a:ln>
          </p:spPr>
          <p:txBody>
            <a:bodyPr spcFirstLastPara="1" wrap="square" lIns="91425" tIns="45700" rIns="91425" bIns="45700" anchor="t" anchorCtr="0">
              <a:spAutoFit/>
            </a:bodyPr>
            <a:lstStyle/>
            <a:p>
              <a:pPr marR="0" lvl="0" algn="l" rtl="0">
                <a:spcBef>
                  <a:spcPts val="0"/>
                </a:spcBef>
                <a:spcAft>
                  <a:spcPts val="0"/>
                </a:spcAft>
                <a:buClr>
                  <a:schemeClr val="dk1"/>
                </a:buClr>
                <a:buSzPts val="1600"/>
              </a:pPr>
              <a:r>
                <a:rPr lang="en-US" sz="1600" dirty="0">
                  <a:solidFill>
                    <a:schemeClr val="dk1"/>
                  </a:solidFill>
                  <a:latin typeface="Arial" panose="020B0604020202020204"/>
                  <a:ea typeface="Arial" panose="020B0604020202020204"/>
                  <a:cs typeface="Arial" panose="020B0604020202020204"/>
                  <a:sym typeface="Arial" panose="020B0604020202020204"/>
                </a:rPr>
                <a:t>Perpetual bond is a bond with no  maturity date. Interest will be paid  “forever”</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R="0" lvl="0" algn="l" rtl="0">
                <a:spcBef>
                  <a:spcPts val="0"/>
                </a:spcBef>
                <a:spcAft>
                  <a:spcPts val="0"/>
                </a:spcAft>
                <a:buClr>
                  <a:schemeClr val="dk1"/>
                </a:buClr>
                <a:buSzPts val="1600"/>
              </a:pP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R="0" lvl="0" algn="l" rtl="0">
                <a:spcBef>
                  <a:spcPts val="0"/>
                </a:spcBef>
                <a:spcAft>
                  <a:spcPts val="0"/>
                </a:spcAft>
                <a:buClr>
                  <a:schemeClr val="dk1"/>
                </a:buClr>
                <a:buSzPts val="1600"/>
              </a:pPr>
              <a:r>
                <a:rPr lang="en-IN" altLang="en-US" sz="1600" dirty="0">
                  <a:solidFill>
                    <a:schemeClr val="dk1"/>
                  </a:solidFill>
                  <a:latin typeface="Arial" panose="020B0604020202020204"/>
                  <a:ea typeface="Arial" panose="020B0604020202020204"/>
                  <a:cs typeface="Arial" panose="020B0604020202020204"/>
                  <a:sym typeface="Arial" panose="020B0604020202020204"/>
                </a:rPr>
                <a:t>Issuers makes </a:t>
              </a:r>
              <a:r>
                <a:rPr lang="en-US" sz="1600" dirty="0">
                  <a:solidFill>
                    <a:schemeClr val="dk1"/>
                  </a:solidFill>
                  <a:latin typeface="Arial" panose="020B0604020202020204"/>
                  <a:ea typeface="Arial" panose="020B0604020202020204"/>
                  <a:cs typeface="Arial" panose="020B0604020202020204"/>
                  <a:sym typeface="Arial" panose="020B0604020202020204"/>
                </a:rPr>
                <a:t>Interest payment as long as the  bond is held</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R="0" lvl="0" algn="l" rtl="0">
                <a:spcBef>
                  <a:spcPts val="0"/>
                </a:spcBef>
                <a:spcAft>
                  <a:spcPts val="0"/>
                </a:spcAft>
                <a:buClr>
                  <a:schemeClr val="dk1"/>
                </a:buClr>
                <a:buSzPts val="1600"/>
              </a:pP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R="0" lvl="0" algn="l" rtl="0">
                <a:spcBef>
                  <a:spcPts val="0"/>
                </a:spcBef>
                <a:spcAft>
                  <a:spcPts val="0"/>
                </a:spcAft>
                <a:buClr>
                  <a:schemeClr val="dk1"/>
                </a:buClr>
                <a:buSzPts val="1600"/>
              </a:pPr>
              <a:r>
                <a:rPr lang="en-US" sz="1600" dirty="0">
                  <a:solidFill>
                    <a:schemeClr val="dk1"/>
                  </a:solidFill>
                  <a:latin typeface="Arial" panose="020B0604020202020204"/>
                  <a:ea typeface="Arial" panose="020B0604020202020204"/>
                  <a:cs typeface="Arial" panose="020B0604020202020204"/>
                  <a:sym typeface="Arial" panose="020B0604020202020204"/>
                </a:rPr>
                <a:t>Issuers pay coupons on Perpetual  bonds forever, and they do not  have to redeem the principal.</a:t>
              </a:r>
              <a:endParaRPr sz="1600" dirty="0">
                <a:solidFill>
                  <a:schemeClr val="dk1"/>
                </a:solidFill>
                <a:latin typeface="Arial" panose="020B0604020202020204"/>
                <a:ea typeface="Arial" panose="020B0604020202020204"/>
                <a:cs typeface="Arial" panose="020B0604020202020204"/>
                <a:sym typeface="Arial" panose="020B0604020202020204"/>
              </a:endParaRPr>
            </a:p>
            <a:p>
              <a:pPr marL="283210" marR="0" lvl="1" indent="-285750" algn="l" rtl="0">
                <a:spcBef>
                  <a:spcPts val="0"/>
                </a:spcBef>
                <a:spcAft>
                  <a:spcPts val="0"/>
                </a:spcAft>
                <a:buClr>
                  <a:schemeClr val="dk1"/>
                </a:buClr>
                <a:buSzPts val="1600"/>
                <a:buFont typeface="Arial" panose="020B0604020202020204" pitchFamily="34" charset="0"/>
                <a:buChar char="•"/>
              </a:pPr>
              <a:r>
                <a:rPr lang="en-US" sz="1600" b="0" i="0" u="none" strike="noStrike" cap="none" dirty="0">
                  <a:solidFill>
                    <a:schemeClr val="dk1"/>
                  </a:solidFill>
                  <a:latin typeface="Arial" panose="020B0604020202020204"/>
                  <a:ea typeface="Arial" panose="020B0604020202020204"/>
                  <a:cs typeface="Arial" panose="020B0604020202020204"/>
                  <a:sym typeface="Arial" panose="020B0604020202020204"/>
                </a:rPr>
                <a:t>Predictable sources of income</a:t>
              </a:r>
              <a:endParaRPr lang="en-US" sz="1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83210" marR="0" lvl="1" indent="-285750" algn="l" rtl="0">
                <a:spcBef>
                  <a:spcPts val="0"/>
                </a:spcBef>
                <a:spcAft>
                  <a:spcPts val="0"/>
                </a:spcAft>
                <a:buClr>
                  <a:schemeClr val="dk1"/>
                </a:buClr>
                <a:buSzPts val="1600"/>
                <a:buFont typeface="Arial" panose="020B0604020202020204" pitchFamily="34" charset="0"/>
                <a:buChar char="•"/>
              </a:pPr>
              <a:r>
                <a:rPr lang="en-US" sz="1600" b="0" i="0" u="none" strike="noStrike" cap="none" dirty="0">
                  <a:solidFill>
                    <a:schemeClr val="dk1"/>
                  </a:solidFill>
                  <a:latin typeface="Arial" panose="020B0604020202020204"/>
                  <a:ea typeface="Arial" panose="020B0604020202020204"/>
                  <a:cs typeface="Arial" panose="020B0604020202020204"/>
                  <a:sym typeface="Arial" panose="020B0604020202020204"/>
                </a:rPr>
                <a:t>High credit risk</a:t>
              </a:r>
              <a:endParaRPr lang="en-US" sz="1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83210" marR="0" lvl="1" indent="-285750" algn="l" rtl="0">
                <a:spcBef>
                  <a:spcPts val="0"/>
                </a:spcBef>
                <a:spcAft>
                  <a:spcPts val="0"/>
                </a:spcAft>
                <a:buClr>
                  <a:schemeClr val="dk1"/>
                </a:buClr>
                <a:buSzPts val="1600"/>
                <a:buFont typeface="Arial" panose="020B0604020202020204" pitchFamily="34" charset="0"/>
                <a:buChar char="•"/>
              </a:pPr>
              <a:r>
                <a:rPr 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rPr>
                <a:t>If</a:t>
              </a:r>
              <a:r>
                <a:rPr lang="en-IN" alt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rPr>
                <a:t> market</a:t>
              </a:r>
              <a:r>
                <a:rPr 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rPr>
                <a:t> interest rates rise, bond </a:t>
              </a:r>
              <a:r>
                <a:rPr lang="en-IN" alt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rPr>
                <a:t>prices falls in value. </a:t>
              </a:r>
              <a:endParaRPr lang="en-IN" altLang="en-US" sz="16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grpSp>
      <p:pic>
        <p:nvPicPr>
          <p:cNvPr id="805" name="Google Shape;805;p39"/>
          <p:cNvPicPr preferRelativeResize="0"/>
          <p:nvPr/>
        </p:nvPicPr>
        <p:blipFill rotWithShape="1">
          <a:blip r:embed="rId1"/>
          <a:srcRect/>
          <a:stretch>
            <a:fillRect/>
          </a:stretch>
        </p:blipFill>
        <p:spPr>
          <a:xfrm>
            <a:off x="6845252" y="1468438"/>
            <a:ext cx="4435324" cy="2749966"/>
          </a:xfrm>
          <a:prstGeom prst="rect">
            <a:avLst/>
          </a:prstGeom>
          <a:noFill/>
          <a:ln>
            <a:noFill/>
          </a:ln>
        </p:spPr>
      </p:pic>
      <p:pic>
        <p:nvPicPr>
          <p:cNvPr id="806" name="Google Shape;806;p39"/>
          <p:cNvPicPr preferRelativeResize="0"/>
          <p:nvPr/>
        </p:nvPicPr>
        <p:blipFill rotWithShape="1">
          <a:blip r:embed="rId2"/>
          <a:srcRect/>
          <a:stretch>
            <a:fillRect/>
          </a:stretch>
        </p:blipFill>
        <p:spPr>
          <a:xfrm>
            <a:off x="8053903" y="4326078"/>
            <a:ext cx="2018022" cy="200304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9" name="Rectangle: Rounded Corners 8"/>
          <p:cNvSpPr/>
          <p:nvPr/>
        </p:nvSpPr>
        <p:spPr>
          <a:xfrm>
            <a:off x="5330757" y="3834384"/>
            <a:ext cx="6371921" cy="2352104"/>
          </a:xfrm>
          <a:prstGeom prst="roundRect">
            <a:avLst>
              <a:gd name="adj" fmla="val 4069"/>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1" name="Google Shape;793;p38"/>
          <p:cNvSpPr txBox="1"/>
          <p:nvPr/>
        </p:nvSpPr>
        <p:spPr>
          <a:xfrm>
            <a:off x="7582125" y="3613713"/>
            <a:ext cx="1869184" cy="476726"/>
          </a:xfrm>
          <a:prstGeom prst="roundRect">
            <a:avLst/>
          </a:prstGeom>
          <a:solidFill>
            <a:schemeClr val="accent3"/>
          </a:solidFill>
          <a:ln>
            <a:noFill/>
          </a:ln>
        </p:spPr>
        <p:txBody>
          <a:bodyPr spcFirstLastPara="1" wrap="square" lIns="91440" tIns="91440" rIns="91440" bIns="91440" anchor="t" anchorCtr="0">
            <a:spAutoFit/>
          </a:bodyPr>
          <a:lstStyle/>
          <a:p>
            <a:pPr marL="12700" marR="0" lvl="0" indent="0" algn="ctr" rtl="0">
              <a:lnSpc>
                <a:spcPct val="100000"/>
              </a:lnSpc>
              <a:spcBef>
                <a:spcPts val="0"/>
              </a:spcBef>
              <a:spcAft>
                <a:spcPts val="0"/>
              </a:spcAft>
              <a:buClr>
                <a:srgbClr val="FFFFFF"/>
              </a:buClr>
              <a:buSzPts val="1600"/>
              <a:buFont typeface="Arial" panose="020B0604020202020204"/>
              <a:buNone/>
            </a:pPr>
            <a:r>
              <a:rPr lang="en-US" sz="1600" b="1" dirty="0">
                <a:solidFill>
                  <a:srgbClr val="FFFFFF"/>
                </a:solidFill>
                <a:latin typeface="Arial" panose="020B0604020202020204"/>
                <a:ea typeface="Arial" panose="020B0604020202020204"/>
                <a:cs typeface="Arial" panose="020B0604020202020204"/>
                <a:sym typeface="Arial" panose="020B0604020202020204"/>
              </a:rPr>
              <a:t>ON MATURITY</a:t>
            </a:r>
            <a:endParaRPr lang="en-US" sz="1600" b="1" dirty="0">
              <a:solidFill>
                <a:srgbClr val="FFFFFF"/>
              </a:solidFill>
              <a:latin typeface="Arial" panose="020B0604020202020204"/>
              <a:ea typeface="Arial" panose="020B0604020202020204"/>
              <a:cs typeface="Arial" panose="020B0604020202020204"/>
              <a:sym typeface="Arial" panose="020B0604020202020204"/>
            </a:endParaRPr>
          </a:p>
        </p:txBody>
      </p:sp>
      <p:sp>
        <p:nvSpPr>
          <p:cNvPr id="2" name="Title 1"/>
          <p:cNvSpPr>
            <a:spLocks noGrp="1"/>
          </p:cNvSpPr>
          <p:nvPr>
            <p:ph type="title"/>
          </p:nvPr>
        </p:nvSpPr>
        <p:spPr>
          <a:xfrm>
            <a:off x="700550" y="404869"/>
            <a:ext cx="10515600" cy="716422"/>
          </a:xfrm>
        </p:spPr>
        <p:txBody>
          <a:bodyPr/>
          <a:lstStyle/>
          <a:p>
            <a:r>
              <a:rPr lang="en-US" dirty="0"/>
              <a:t>DEFERRED </a:t>
            </a:r>
            <a:r>
              <a:rPr lang="en-IN" altLang="en-US" dirty="0"/>
              <a:t>COUPON </a:t>
            </a:r>
            <a:r>
              <a:rPr lang="en-US" dirty="0"/>
              <a:t>BONDS</a:t>
            </a:r>
            <a:endParaRPr lang="en-US" dirty="0"/>
          </a:p>
        </p:txBody>
      </p:sp>
      <p:pic>
        <p:nvPicPr>
          <p:cNvPr id="817" name="Google Shape;817;p40"/>
          <p:cNvPicPr preferRelativeResize="0"/>
          <p:nvPr/>
        </p:nvPicPr>
        <p:blipFill rotWithShape="1">
          <a:blip r:embed="rId1"/>
          <a:srcRect/>
          <a:stretch>
            <a:fillRect/>
          </a:stretch>
        </p:blipFill>
        <p:spPr>
          <a:xfrm>
            <a:off x="8392872" y="1776781"/>
            <a:ext cx="748436" cy="686155"/>
          </a:xfrm>
          <a:prstGeom prst="rect">
            <a:avLst/>
          </a:prstGeom>
          <a:noFill/>
          <a:ln>
            <a:noFill/>
          </a:ln>
        </p:spPr>
      </p:pic>
      <p:sp>
        <p:nvSpPr>
          <p:cNvPr id="819" name="Google Shape;819;p40"/>
          <p:cNvSpPr txBox="1"/>
          <p:nvPr/>
        </p:nvSpPr>
        <p:spPr>
          <a:xfrm>
            <a:off x="8018801" y="1468438"/>
            <a:ext cx="1496578" cy="259045"/>
          </a:xfrm>
          <a:prstGeom prst="rect">
            <a:avLst/>
          </a:prstGeom>
          <a:noFill/>
          <a:ln>
            <a:noFill/>
          </a:ln>
        </p:spPr>
        <p:txBody>
          <a:bodyPr spcFirstLastPara="1" wrap="square" lIns="0" tIns="12700" rIns="0" bIns="0" anchor="t" anchorCtr="0">
            <a:spAutoFit/>
          </a:bodyPr>
          <a:lstStyle/>
          <a:p>
            <a:pPr marL="208280" marR="5080" lvl="0" indent="-196215" algn="ctr" rtl="0">
              <a:lnSpc>
                <a:spcPct val="100000"/>
              </a:lnSpc>
              <a:spcBef>
                <a:spcPts val="0"/>
              </a:spcBef>
              <a:spcAft>
                <a:spcPts val="0"/>
              </a:spcAft>
              <a:buClr>
                <a:schemeClr val="dk1"/>
              </a:buClr>
              <a:buSzPts val="1600"/>
              <a:buFont typeface="Arial" panose="020B0604020202020204"/>
              <a:buNone/>
            </a:pPr>
            <a:r>
              <a:rPr lang="en-US" sz="1600" b="1" dirty="0">
                <a:solidFill>
                  <a:schemeClr val="dk1"/>
                </a:solidFill>
                <a:latin typeface="Arial" panose="020B0604020202020204"/>
                <a:ea typeface="Arial" panose="020B0604020202020204"/>
                <a:cs typeface="Arial" panose="020B0604020202020204"/>
                <a:sym typeface="Arial" panose="020B0604020202020204"/>
              </a:rPr>
              <a:t>Deferred Bond</a:t>
            </a:r>
            <a:endParaRPr sz="1600"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821" name="Google Shape;821;p40"/>
          <p:cNvPicPr preferRelativeResize="0"/>
          <p:nvPr/>
        </p:nvPicPr>
        <p:blipFill rotWithShape="1">
          <a:blip r:embed="rId2"/>
          <a:srcRect/>
          <a:stretch>
            <a:fillRect/>
          </a:stretch>
        </p:blipFill>
        <p:spPr>
          <a:xfrm>
            <a:off x="8505553" y="2653748"/>
            <a:ext cx="523074" cy="523074"/>
          </a:xfrm>
          <a:prstGeom prst="rect">
            <a:avLst/>
          </a:prstGeom>
          <a:noFill/>
          <a:ln>
            <a:noFill/>
          </a:ln>
        </p:spPr>
      </p:pic>
      <p:sp>
        <p:nvSpPr>
          <p:cNvPr id="818" name="Google Shape;818;p40"/>
          <p:cNvSpPr txBox="1"/>
          <p:nvPr/>
        </p:nvSpPr>
        <p:spPr>
          <a:xfrm>
            <a:off x="5766035" y="3107957"/>
            <a:ext cx="1485900" cy="25904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1600"/>
              <a:buFont typeface="Arial" panose="020B0604020202020204"/>
              <a:buNone/>
            </a:pPr>
            <a:r>
              <a:rPr lang="en-US" sz="1600" b="1">
                <a:solidFill>
                  <a:schemeClr val="dk1"/>
                </a:solidFill>
                <a:latin typeface="Arial" panose="020B0604020202020204"/>
                <a:ea typeface="Arial" panose="020B0604020202020204"/>
                <a:cs typeface="Arial" panose="020B0604020202020204"/>
                <a:sym typeface="Arial" panose="020B0604020202020204"/>
              </a:rPr>
              <a:t>ABC Car Wash</a:t>
            </a:r>
            <a:endParaRPr sz="1600">
              <a:solidFill>
                <a:schemeClr val="dk1"/>
              </a:solidFill>
              <a:latin typeface="Arial" panose="020B0604020202020204"/>
              <a:ea typeface="Arial" panose="020B0604020202020204"/>
              <a:cs typeface="Arial" panose="020B0604020202020204"/>
              <a:sym typeface="Arial" panose="020B0604020202020204"/>
            </a:endParaRPr>
          </a:p>
        </p:txBody>
      </p:sp>
      <p:pic>
        <p:nvPicPr>
          <p:cNvPr id="824" name="Google Shape;824;p40"/>
          <p:cNvPicPr preferRelativeResize="0"/>
          <p:nvPr/>
        </p:nvPicPr>
        <p:blipFill rotWithShape="1">
          <a:blip r:embed="rId3"/>
          <a:srcRect/>
          <a:stretch>
            <a:fillRect/>
          </a:stretch>
        </p:blipFill>
        <p:spPr>
          <a:xfrm>
            <a:off x="5771350" y="1689519"/>
            <a:ext cx="1475270" cy="1337754"/>
          </a:xfrm>
          <a:prstGeom prst="rect">
            <a:avLst/>
          </a:prstGeom>
          <a:noFill/>
          <a:ln>
            <a:noFill/>
          </a:ln>
        </p:spPr>
      </p:pic>
      <p:sp>
        <p:nvSpPr>
          <p:cNvPr id="825" name="Google Shape;825;p40"/>
          <p:cNvSpPr txBox="1"/>
          <p:nvPr/>
        </p:nvSpPr>
        <p:spPr>
          <a:xfrm>
            <a:off x="8348943" y="3226118"/>
            <a:ext cx="836295" cy="258445"/>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chemeClr val="dk1"/>
              </a:buClr>
              <a:buSzPts val="1600"/>
              <a:buFont typeface="Arial" panose="020B0604020202020204"/>
              <a:buNone/>
            </a:pPr>
            <a:r>
              <a:rPr lang="en-US" sz="1600" b="1" dirty="0">
                <a:solidFill>
                  <a:schemeClr val="dk1"/>
                </a:solidFill>
                <a:latin typeface="Arial" panose="020B0604020202020204"/>
                <a:ea typeface="Arial" panose="020B0604020202020204"/>
                <a:cs typeface="Arial" panose="020B0604020202020204"/>
                <a:sym typeface="Arial" panose="020B0604020202020204"/>
              </a:rPr>
              <a:t>$</a:t>
            </a:r>
            <a:r>
              <a:rPr lang="en-IN" altLang="en-US" sz="1600" b="1" dirty="0">
                <a:solidFill>
                  <a:schemeClr val="dk1"/>
                </a:solidFill>
                <a:latin typeface="Arial" panose="020B0604020202020204"/>
                <a:ea typeface="Arial" panose="020B0604020202020204"/>
                <a:cs typeface="Arial" panose="020B0604020202020204"/>
                <a:sym typeface="Arial" panose="020B0604020202020204"/>
              </a:rPr>
              <a:t>10</a:t>
            </a:r>
            <a:r>
              <a:rPr lang="en-US" sz="1600" b="1" dirty="0">
                <a:solidFill>
                  <a:schemeClr val="dk1"/>
                </a:solidFill>
                <a:latin typeface="Arial" panose="020B0604020202020204"/>
                <a:ea typeface="Arial" panose="020B0604020202020204"/>
                <a:cs typeface="Arial" panose="020B0604020202020204"/>
                <a:sym typeface="Arial" panose="020B0604020202020204"/>
              </a:rPr>
              <a:t>00</a:t>
            </a:r>
            <a:endParaRPr sz="1600"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827" name="Google Shape;827;p40"/>
          <p:cNvSpPr txBox="1"/>
          <p:nvPr/>
        </p:nvSpPr>
        <p:spPr>
          <a:xfrm>
            <a:off x="5760720" y="5683377"/>
            <a:ext cx="1485900" cy="25904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1600"/>
              <a:buFont typeface="Arial" panose="020B0604020202020204"/>
              <a:buNone/>
            </a:pPr>
            <a:r>
              <a:rPr lang="en-US" sz="1600" b="1">
                <a:solidFill>
                  <a:schemeClr val="dk1"/>
                </a:solidFill>
                <a:latin typeface="Arial" panose="020B0604020202020204"/>
                <a:ea typeface="Arial" panose="020B0604020202020204"/>
                <a:cs typeface="Arial" panose="020B0604020202020204"/>
                <a:sym typeface="Arial" panose="020B0604020202020204"/>
              </a:rPr>
              <a:t>ABC Car Wash</a:t>
            </a:r>
            <a:endParaRPr sz="1600">
              <a:solidFill>
                <a:schemeClr val="dk1"/>
              </a:solidFill>
              <a:latin typeface="Arial" panose="020B0604020202020204"/>
              <a:ea typeface="Arial" panose="020B0604020202020204"/>
              <a:cs typeface="Arial" panose="020B0604020202020204"/>
              <a:sym typeface="Arial" panose="020B0604020202020204"/>
            </a:endParaRPr>
          </a:p>
        </p:txBody>
      </p:sp>
      <p:pic>
        <p:nvPicPr>
          <p:cNvPr id="834" name="Google Shape;834;p40"/>
          <p:cNvPicPr preferRelativeResize="0"/>
          <p:nvPr/>
        </p:nvPicPr>
        <p:blipFill rotWithShape="1">
          <a:blip r:embed="rId4"/>
          <a:srcRect/>
          <a:stretch>
            <a:fillRect/>
          </a:stretch>
        </p:blipFill>
        <p:spPr>
          <a:xfrm>
            <a:off x="5771350" y="4362298"/>
            <a:ext cx="1475270" cy="1337754"/>
          </a:xfrm>
          <a:prstGeom prst="rect">
            <a:avLst/>
          </a:prstGeom>
          <a:noFill/>
          <a:ln>
            <a:noFill/>
          </a:ln>
        </p:spPr>
      </p:pic>
      <p:sp>
        <p:nvSpPr>
          <p:cNvPr id="839" name="Google Shape;839;p40"/>
          <p:cNvSpPr txBox="1"/>
          <p:nvPr/>
        </p:nvSpPr>
        <p:spPr>
          <a:xfrm>
            <a:off x="7464425" y="4164521"/>
            <a:ext cx="2632075" cy="259045"/>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chemeClr val="dk1"/>
              </a:buClr>
              <a:buSzPts val="1600"/>
              <a:buFont typeface="Arial" panose="020B0604020202020204"/>
              <a:buNone/>
            </a:pPr>
            <a:r>
              <a:rPr lang="en-US" sz="1600" b="1" dirty="0">
                <a:solidFill>
                  <a:schemeClr val="dk1"/>
                </a:solidFill>
                <a:latin typeface="Arial" panose="020B0604020202020204"/>
                <a:ea typeface="Arial" panose="020B0604020202020204"/>
                <a:cs typeface="Arial" panose="020B0604020202020204"/>
                <a:sym typeface="Arial" panose="020B0604020202020204"/>
              </a:rPr>
              <a:t>$</a:t>
            </a:r>
            <a:r>
              <a:rPr lang="en-IN" altLang="en-US" sz="1600" b="1" dirty="0">
                <a:solidFill>
                  <a:schemeClr val="dk1"/>
                </a:solidFill>
                <a:latin typeface="Arial" panose="020B0604020202020204"/>
                <a:ea typeface="Arial" panose="020B0604020202020204"/>
                <a:cs typeface="Arial" panose="020B0604020202020204"/>
                <a:sym typeface="Arial" panose="020B0604020202020204"/>
              </a:rPr>
              <a:t>10</a:t>
            </a:r>
            <a:r>
              <a:rPr lang="en-US" sz="1600" b="1" dirty="0">
                <a:solidFill>
                  <a:schemeClr val="dk1"/>
                </a:solidFill>
                <a:latin typeface="Arial" panose="020B0604020202020204"/>
                <a:ea typeface="Arial" panose="020B0604020202020204"/>
                <a:cs typeface="Arial" panose="020B0604020202020204"/>
                <a:sym typeface="Arial" panose="020B0604020202020204"/>
              </a:rPr>
              <a:t>00</a:t>
            </a:r>
            <a:r>
              <a:rPr lang="en-IN" altLang="en-US" sz="1600" b="1" dirty="0">
                <a:solidFill>
                  <a:schemeClr val="dk1"/>
                </a:solidFill>
                <a:latin typeface="Arial" panose="020B0604020202020204"/>
                <a:ea typeface="Arial" panose="020B0604020202020204"/>
                <a:cs typeface="Arial" panose="020B0604020202020204"/>
                <a:sym typeface="Arial" panose="020B0604020202020204"/>
              </a:rPr>
              <a:t> +  Coupon/Interest  </a:t>
            </a:r>
            <a:endParaRPr lang="en-IN" altLang="en-US" sz="1600" b="1"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831" name="Google Shape;831;p40"/>
          <p:cNvPicPr preferRelativeResize="0"/>
          <p:nvPr/>
        </p:nvPicPr>
        <p:blipFill rotWithShape="1">
          <a:blip r:embed="rId2"/>
          <a:srcRect/>
          <a:stretch>
            <a:fillRect/>
          </a:stretch>
        </p:blipFill>
        <p:spPr>
          <a:xfrm>
            <a:off x="8490134" y="5300371"/>
            <a:ext cx="523074" cy="523074"/>
          </a:xfrm>
          <a:prstGeom prst="rect">
            <a:avLst/>
          </a:prstGeom>
          <a:noFill/>
          <a:ln>
            <a:noFill/>
          </a:ln>
        </p:spPr>
      </p:pic>
      <p:sp>
        <p:nvSpPr>
          <p:cNvPr id="835" name="Google Shape;835;p40"/>
          <p:cNvSpPr txBox="1"/>
          <p:nvPr/>
        </p:nvSpPr>
        <p:spPr>
          <a:xfrm>
            <a:off x="8404995" y="5836603"/>
            <a:ext cx="770255" cy="258445"/>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chemeClr val="dk1"/>
              </a:buClr>
              <a:buSzPts val="1600"/>
              <a:buFont typeface="Arial" panose="020B0604020202020204"/>
              <a:buNone/>
            </a:pPr>
            <a:r>
              <a:rPr lang="en-US" sz="1600" b="1" dirty="0">
                <a:solidFill>
                  <a:schemeClr val="dk1"/>
                </a:solidFill>
                <a:latin typeface="Arial" panose="020B0604020202020204"/>
                <a:ea typeface="Arial" panose="020B0604020202020204"/>
                <a:cs typeface="Arial" panose="020B0604020202020204"/>
                <a:sym typeface="Arial" panose="020B0604020202020204"/>
              </a:rPr>
              <a:t>$</a:t>
            </a:r>
            <a:r>
              <a:rPr lang="en-IN" altLang="en-US" sz="1600" b="1" dirty="0">
                <a:solidFill>
                  <a:schemeClr val="dk1"/>
                </a:solidFill>
                <a:latin typeface="Arial" panose="020B0604020202020204"/>
                <a:ea typeface="Arial" panose="020B0604020202020204"/>
                <a:cs typeface="Arial" panose="020B0604020202020204"/>
                <a:sym typeface="Arial" panose="020B0604020202020204"/>
              </a:rPr>
              <a:t>10</a:t>
            </a:r>
            <a:r>
              <a:rPr lang="en-US" sz="1600" b="1" dirty="0">
                <a:solidFill>
                  <a:schemeClr val="dk1"/>
                </a:solidFill>
                <a:latin typeface="Arial" panose="020B0604020202020204"/>
                <a:ea typeface="Arial" panose="020B0604020202020204"/>
                <a:cs typeface="Arial" panose="020B0604020202020204"/>
                <a:sym typeface="Arial" panose="020B0604020202020204"/>
              </a:rPr>
              <a:t>00</a:t>
            </a:r>
            <a:endParaRPr sz="1600" dirty="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836" name="Google Shape;836;p40"/>
          <p:cNvGrpSpPr/>
          <p:nvPr/>
        </p:nvGrpSpPr>
        <p:grpSpPr>
          <a:xfrm>
            <a:off x="8061725" y="4507370"/>
            <a:ext cx="1437474" cy="523074"/>
            <a:chOff x="5431675" y="4837328"/>
            <a:chExt cx="1437474" cy="523074"/>
          </a:xfrm>
        </p:grpSpPr>
        <p:pic>
          <p:nvPicPr>
            <p:cNvPr id="837" name="Google Shape;837;p40"/>
            <p:cNvPicPr preferRelativeResize="0"/>
            <p:nvPr/>
          </p:nvPicPr>
          <p:blipFill rotWithShape="1">
            <a:blip r:embed="rId2"/>
            <a:srcRect/>
            <a:stretch>
              <a:fillRect/>
            </a:stretch>
          </p:blipFill>
          <p:spPr>
            <a:xfrm>
              <a:off x="5431675" y="4837328"/>
              <a:ext cx="523074" cy="523074"/>
            </a:xfrm>
            <a:prstGeom prst="rect">
              <a:avLst/>
            </a:prstGeom>
            <a:noFill/>
            <a:ln>
              <a:noFill/>
            </a:ln>
          </p:spPr>
        </p:pic>
        <p:pic>
          <p:nvPicPr>
            <p:cNvPr id="838" name="Google Shape;838;p40"/>
            <p:cNvPicPr preferRelativeResize="0"/>
            <p:nvPr/>
          </p:nvPicPr>
          <p:blipFill rotWithShape="1">
            <a:blip r:embed="rId2"/>
            <a:srcRect/>
            <a:stretch>
              <a:fillRect/>
            </a:stretch>
          </p:blipFill>
          <p:spPr>
            <a:xfrm>
              <a:off x="6346075" y="4837328"/>
              <a:ext cx="523074" cy="523074"/>
            </a:xfrm>
            <a:prstGeom prst="rect">
              <a:avLst/>
            </a:prstGeom>
            <a:noFill/>
            <a:ln>
              <a:noFill/>
            </a:ln>
          </p:spPr>
        </p:pic>
      </p:grpSp>
      <p:sp>
        <p:nvSpPr>
          <p:cNvPr id="842" name="Google Shape;842;p40"/>
          <p:cNvSpPr/>
          <p:nvPr/>
        </p:nvSpPr>
        <p:spPr>
          <a:xfrm>
            <a:off x="8640445" y="4628572"/>
            <a:ext cx="280035" cy="280670"/>
          </a:xfrm>
          <a:custGeom>
            <a:avLst/>
            <a:gdLst/>
            <a:ahLst/>
            <a:cxnLst/>
            <a:rect l="l" t="t" r="r" b="b"/>
            <a:pathLst>
              <a:path w="280035" h="280670" extrusionOk="0">
                <a:moveTo>
                  <a:pt x="279730" y="95250"/>
                </a:moveTo>
                <a:lnTo>
                  <a:pt x="184683" y="95250"/>
                </a:lnTo>
                <a:lnTo>
                  <a:pt x="184683" y="0"/>
                </a:lnTo>
                <a:lnTo>
                  <a:pt x="95046" y="0"/>
                </a:lnTo>
                <a:lnTo>
                  <a:pt x="95046" y="95250"/>
                </a:lnTo>
                <a:lnTo>
                  <a:pt x="0" y="95250"/>
                </a:lnTo>
                <a:lnTo>
                  <a:pt x="0" y="185420"/>
                </a:lnTo>
                <a:lnTo>
                  <a:pt x="95046" y="185420"/>
                </a:lnTo>
                <a:lnTo>
                  <a:pt x="95046" y="280670"/>
                </a:lnTo>
                <a:lnTo>
                  <a:pt x="184683" y="280670"/>
                </a:lnTo>
                <a:lnTo>
                  <a:pt x="184683" y="185420"/>
                </a:lnTo>
                <a:lnTo>
                  <a:pt x="279730" y="185420"/>
                </a:lnTo>
                <a:lnTo>
                  <a:pt x="279730" y="95250"/>
                </a:lnTo>
                <a:close/>
              </a:path>
            </a:pathLst>
          </a:custGeom>
          <a:solidFill>
            <a:schemeClr val="accent3"/>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panose="020F0502020204030204"/>
              <a:buNone/>
            </a:pPr>
            <a:endParaRPr sz="1600">
              <a:solidFill>
                <a:schemeClr val="dk1"/>
              </a:solidFill>
              <a:latin typeface="Arial" panose="020B0604020202020204"/>
              <a:ea typeface="Arial" panose="020B0604020202020204"/>
              <a:cs typeface="Arial" panose="020B0604020202020204"/>
              <a:sym typeface="Arial" panose="020B0604020202020204"/>
            </a:endParaRPr>
          </a:p>
        </p:txBody>
      </p:sp>
      <p:sp>
        <p:nvSpPr>
          <p:cNvPr id="852" name="Google Shape;852;p40"/>
          <p:cNvSpPr txBox="1"/>
          <p:nvPr/>
        </p:nvSpPr>
        <p:spPr>
          <a:xfrm>
            <a:off x="10310274" y="5733060"/>
            <a:ext cx="895350" cy="259045"/>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chemeClr val="dk1"/>
              </a:buClr>
              <a:buSzPts val="1600"/>
              <a:buFont typeface="Arial" panose="020B0604020202020204"/>
              <a:buNone/>
            </a:pPr>
            <a:r>
              <a:rPr lang="en-US" sz="1600" b="1" dirty="0">
                <a:solidFill>
                  <a:schemeClr val="dk1"/>
                </a:solidFill>
                <a:latin typeface="Arial" panose="020B0604020202020204"/>
                <a:ea typeface="Arial" panose="020B0604020202020204"/>
                <a:cs typeface="Arial" panose="020B0604020202020204"/>
                <a:sym typeface="Arial" panose="020B0604020202020204"/>
              </a:rPr>
              <a:t>Investor</a:t>
            </a:r>
            <a:endParaRPr sz="1600" dirty="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5" name="Google Shape;801;p39"/>
          <p:cNvGrpSpPr/>
          <p:nvPr/>
        </p:nvGrpSpPr>
        <p:grpSpPr>
          <a:xfrm>
            <a:off x="700550" y="1468438"/>
            <a:ext cx="4056276" cy="4174344"/>
            <a:chOff x="685800" y="1210991"/>
            <a:chExt cx="11010900" cy="5129988"/>
          </a:xfrm>
        </p:grpSpPr>
        <p:sp>
          <p:nvSpPr>
            <p:cNvPr id="7" name="Google Shape;802;p39"/>
            <p:cNvSpPr/>
            <p:nvPr/>
          </p:nvSpPr>
          <p:spPr>
            <a:xfrm>
              <a:off x="685800" y="1210991"/>
              <a:ext cx="11010900" cy="51299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8" name="Google Shape;803;p39"/>
            <p:cNvSpPr txBox="1"/>
            <p:nvPr/>
          </p:nvSpPr>
          <p:spPr>
            <a:xfrm>
              <a:off x="854584" y="1303766"/>
              <a:ext cx="10673331" cy="4944439"/>
            </a:xfrm>
            <a:prstGeom prst="rect">
              <a:avLst/>
            </a:prstGeom>
            <a:solidFill>
              <a:schemeClr val="lt1"/>
            </a:solidFill>
            <a:ln>
              <a:noFill/>
            </a:ln>
          </p:spPr>
          <p:txBody>
            <a:bodyPr spcFirstLastPara="1" wrap="square" lIns="182875" tIns="45700" rIns="182875" bIns="45700" anchor="t" anchorCtr="0">
              <a:noAutofit/>
            </a:bodyPr>
            <a:lstStyle/>
            <a:p>
              <a:pPr marL="0" marR="0" lvl="0" indent="0" algn="l" rtl="0">
                <a:lnSpc>
                  <a:spcPct val="120000"/>
                </a:lnSpc>
                <a:spcBef>
                  <a:spcPts val="0"/>
                </a:spcBef>
                <a:spcAft>
                  <a:spcPts val="0"/>
                </a:spcAft>
                <a:buNone/>
              </a:pPr>
              <a:endParaRPr sz="16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6" name="Google Shape;804;p39"/>
          <p:cNvSpPr txBox="1"/>
          <p:nvPr/>
        </p:nvSpPr>
        <p:spPr>
          <a:xfrm>
            <a:off x="922708" y="2155247"/>
            <a:ext cx="3611960" cy="2800726"/>
          </a:xfrm>
          <a:prstGeom prst="rect">
            <a:avLst/>
          </a:prstGeom>
          <a:noFill/>
          <a:ln>
            <a:noFill/>
          </a:ln>
        </p:spPr>
        <p:txBody>
          <a:bodyPr spcFirstLastPara="1" wrap="square" lIns="91425" tIns="45700" rIns="91425" bIns="45700" anchor="t" anchorCtr="0">
            <a:spAutoFit/>
          </a:bodyPr>
          <a:lstStyle/>
          <a:p>
            <a:pPr marR="0" lvl="0" algn="l" rtl="0">
              <a:spcBef>
                <a:spcPts val="0"/>
              </a:spcBef>
              <a:spcAft>
                <a:spcPts val="0"/>
              </a:spcAft>
              <a:buClr>
                <a:schemeClr val="dk1"/>
              </a:buClr>
              <a:buSzPts val="1600"/>
            </a:pPr>
            <a:r>
              <a:rPr lang="en-US" sz="1600" dirty="0">
                <a:solidFill>
                  <a:schemeClr val="dk1"/>
                </a:solidFill>
                <a:latin typeface="Arial" panose="020B0604020202020204"/>
                <a:ea typeface="Arial" panose="020B0604020202020204"/>
                <a:cs typeface="Arial" panose="020B0604020202020204"/>
                <a:sym typeface="Arial" panose="020B0604020202020204"/>
              </a:rPr>
              <a:t>Deferred Coupon Bonds are those Bonds wherein Coupon Payments are deferred and paid only upon  maturity.</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R="0" lvl="0" algn="l" rtl="0">
              <a:spcBef>
                <a:spcPts val="0"/>
              </a:spcBef>
              <a:spcAft>
                <a:spcPts val="0"/>
              </a:spcAft>
              <a:buClr>
                <a:schemeClr val="dk1"/>
              </a:buClr>
              <a:buSzPts val="1600"/>
            </a:pP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R="0" lvl="0" algn="l" rtl="0">
              <a:spcBef>
                <a:spcPts val="0"/>
              </a:spcBef>
              <a:spcAft>
                <a:spcPts val="0"/>
              </a:spcAft>
              <a:buClr>
                <a:schemeClr val="dk1"/>
              </a:buClr>
              <a:buSzPts val="1600"/>
            </a:pPr>
            <a:r>
              <a:rPr lang="en-US" sz="1600" dirty="0">
                <a:solidFill>
                  <a:schemeClr val="dk1"/>
                </a:solidFill>
                <a:latin typeface="Arial" panose="020B0604020202020204"/>
                <a:ea typeface="Arial" panose="020B0604020202020204"/>
                <a:cs typeface="Arial" panose="020B0604020202020204"/>
                <a:sym typeface="Arial" panose="020B0604020202020204"/>
              </a:rPr>
              <a:t>Unlike most bonds, a deferred bond does not make periodic, or "coupon," payments over its lifetime.</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R="0" lvl="0" algn="l" rtl="0">
              <a:spcBef>
                <a:spcPts val="0"/>
              </a:spcBef>
              <a:spcAft>
                <a:spcPts val="0"/>
              </a:spcAft>
              <a:buClr>
                <a:schemeClr val="dk1"/>
              </a:buClr>
              <a:buSzPts val="1600"/>
            </a:pPr>
            <a:endParaRPr lang="en-US" sz="1600" dirty="0">
              <a:solidFill>
                <a:schemeClr val="dk1"/>
              </a:solidFill>
              <a:latin typeface="Arial" panose="020B0604020202020204"/>
              <a:ea typeface="Arial" panose="020B0604020202020204"/>
              <a:cs typeface="Arial" panose="020B0604020202020204"/>
              <a:sym typeface="Arial" panose="020B0604020202020204"/>
            </a:endParaRPr>
          </a:p>
          <a:p>
            <a:pPr marR="0" lvl="0" algn="l" rtl="0">
              <a:spcBef>
                <a:spcPts val="0"/>
              </a:spcBef>
              <a:spcAft>
                <a:spcPts val="0"/>
              </a:spcAft>
              <a:buClr>
                <a:schemeClr val="dk1"/>
              </a:buClr>
              <a:buSzPts val="1600"/>
            </a:pPr>
            <a:r>
              <a:rPr lang="en-US" sz="1600" dirty="0">
                <a:solidFill>
                  <a:schemeClr val="dk1"/>
                </a:solidFill>
                <a:latin typeface="Arial" panose="020B0604020202020204"/>
                <a:ea typeface="Arial" panose="020B0604020202020204"/>
                <a:cs typeface="Arial" panose="020B0604020202020204"/>
                <a:sym typeface="Arial" panose="020B0604020202020204"/>
              </a:rPr>
              <a:t>Instead, the interest  accrues and is paid out when the bond  expires/ matures.</a:t>
            </a:r>
            <a:endParaRPr lang="en-US" sz="1600" dirty="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14" name="Group 13"/>
          <p:cNvGrpSpPr/>
          <p:nvPr/>
        </p:nvGrpSpPr>
        <p:grpSpPr>
          <a:xfrm>
            <a:off x="7624090" y="5132953"/>
            <a:ext cx="2286000" cy="92216"/>
            <a:chOff x="2216760" y="3350247"/>
            <a:chExt cx="2286000" cy="92216"/>
          </a:xfrm>
        </p:grpSpPr>
        <p:cxnSp>
          <p:nvCxnSpPr>
            <p:cNvPr id="12" name="Straight Arrow Connector 11"/>
            <p:cNvCxnSpPr/>
            <p:nvPr/>
          </p:nvCxnSpPr>
          <p:spPr>
            <a:xfrm>
              <a:off x="2216760" y="3350247"/>
              <a:ext cx="2286000" cy="0"/>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2216760" y="3442463"/>
              <a:ext cx="2286000" cy="0"/>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
        <p:nvSpPr>
          <p:cNvPr id="851" name="Google Shape;851;p40"/>
          <p:cNvSpPr txBox="1"/>
          <p:nvPr/>
        </p:nvSpPr>
        <p:spPr>
          <a:xfrm>
            <a:off x="10293510" y="3054680"/>
            <a:ext cx="894080" cy="259045"/>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chemeClr val="dk1"/>
              </a:buClr>
              <a:buSzPts val="1600"/>
              <a:buFont typeface="Arial" panose="020B0604020202020204"/>
              <a:buNone/>
            </a:pPr>
            <a:r>
              <a:rPr lang="en-US" sz="1600" b="1" dirty="0">
                <a:solidFill>
                  <a:schemeClr val="dk1"/>
                </a:solidFill>
                <a:latin typeface="Arial" panose="020B0604020202020204"/>
                <a:ea typeface="Arial" panose="020B0604020202020204"/>
                <a:cs typeface="Arial" panose="020B0604020202020204"/>
                <a:sym typeface="Arial" panose="020B0604020202020204"/>
              </a:rPr>
              <a:t>Investor</a:t>
            </a:r>
            <a:endParaRPr sz="1600"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15" name="Picture 2" descr="Manager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75476" y="2011559"/>
            <a:ext cx="930148" cy="93014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Manager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92875" y="4632427"/>
            <a:ext cx="930148" cy="930148"/>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p:cNvGrpSpPr/>
          <p:nvPr/>
        </p:nvGrpSpPr>
        <p:grpSpPr>
          <a:xfrm>
            <a:off x="7620705" y="2512234"/>
            <a:ext cx="2286000" cy="92216"/>
            <a:chOff x="2216760" y="3350247"/>
            <a:chExt cx="2286000" cy="92216"/>
          </a:xfrm>
        </p:grpSpPr>
        <p:cxnSp>
          <p:nvCxnSpPr>
            <p:cNvPr id="18" name="Straight Arrow Connector 17"/>
            <p:cNvCxnSpPr/>
            <p:nvPr/>
          </p:nvCxnSpPr>
          <p:spPr>
            <a:xfrm>
              <a:off x="2216760" y="3350247"/>
              <a:ext cx="2286000" cy="0"/>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2216760" y="3442463"/>
              <a:ext cx="2286000" cy="0"/>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grpSp>
        <p:nvGrpSpPr>
          <p:cNvPr id="6" name="Group 5"/>
          <p:cNvGrpSpPr/>
          <p:nvPr/>
        </p:nvGrpSpPr>
        <p:grpSpPr>
          <a:xfrm>
            <a:off x="8199120" y="4343719"/>
            <a:ext cx="3445193" cy="1681162"/>
            <a:chOff x="2539047" y="1468439"/>
            <a:chExt cx="3445193" cy="1681162"/>
          </a:xfrm>
        </p:grpSpPr>
        <p:sp>
          <p:nvSpPr>
            <p:cNvPr id="7" name="Rectangle: Rounded Corners 6"/>
            <p:cNvSpPr/>
            <p:nvPr/>
          </p:nvSpPr>
          <p:spPr>
            <a:xfrm>
              <a:off x="2539047" y="1468439"/>
              <a:ext cx="3445193" cy="1681162"/>
            </a:xfrm>
            <a:prstGeom prst="roundRect">
              <a:avLst>
                <a:gd name="adj" fmla="val 13134"/>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8" name="Google Shape;867;p41"/>
            <p:cNvSpPr txBox="1"/>
            <p:nvPr/>
          </p:nvSpPr>
          <p:spPr>
            <a:xfrm>
              <a:off x="2723337" y="1893522"/>
              <a:ext cx="3076612" cy="830997"/>
            </a:xfrm>
            <a:prstGeom prst="rect">
              <a:avLst/>
            </a:prstGeom>
            <a:noFill/>
            <a:ln>
              <a:noFill/>
            </a:ln>
          </p:spPr>
          <p:txBody>
            <a:bodyPr spcFirstLastPara="1" wrap="square" lIns="0" tIns="0" rIns="0" bIns="0" anchor="t" anchorCtr="0">
              <a:spAutoFit/>
              <a:scene3d>
                <a:camera prst="orthographicFront"/>
                <a:lightRig rig="threePt" dir="t"/>
              </a:scene3d>
            </a:bodyPr>
            <a:lstStyle/>
            <a:p>
              <a:pPr marR="0" lvl="0" algn="l" rtl="0">
                <a:spcBef>
                  <a:spcPts val="0"/>
                </a:spcBef>
                <a:spcAft>
                  <a:spcPts val="0"/>
                </a:spcAft>
                <a:buClr>
                  <a:schemeClr val="dk1"/>
                </a:buClr>
                <a:buSzPts val="1800"/>
              </a:pPr>
              <a:r>
                <a:rPr lang="en-US" sz="1800" dirty="0">
                  <a:solidFill>
                    <a:schemeClr val="tx1"/>
                  </a:solidFill>
                  <a:latin typeface="Arial" panose="020B0604020202020204"/>
                  <a:ea typeface="Arial" panose="020B0604020202020204"/>
                  <a:cs typeface="Arial" panose="020B0604020202020204"/>
                  <a:sym typeface="Arial" panose="020B0604020202020204"/>
                </a:rPr>
                <a:t>Good for those who want to save money while accruing more interest</a:t>
              </a:r>
              <a:endParaRPr lang="en-US" sz="1800" dirty="0">
                <a:solidFill>
                  <a:schemeClr val="tx1"/>
                </a:solidFill>
                <a:latin typeface="Arial" panose="020B0604020202020204"/>
                <a:ea typeface="Arial" panose="020B0604020202020204"/>
                <a:cs typeface="Arial" panose="020B0604020202020204"/>
                <a:sym typeface="Arial" panose="020B0604020202020204"/>
              </a:endParaRPr>
            </a:p>
          </p:txBody>
        </p:sp>
      </p:grpSp>
      <p:sp>
        <p:nvSpPr>
          <p:cNvPr id="2" name="Title 1"/>
          <p:cNvSpPr>
            <a:spLocks noGrp="1"/>
          </p:cNvSpPr>
          <p:nvPr>
            <p:ph type="title"/>
          </p:nvPr>
        </p:nvSpPr>
        <p:spPr>
          <a:xfrm>
            <a:off x="700550" y="404869"/>
            <a:ext cx="10515600" cy="716422"/>
          </a:xfrm>
        </p:spPr>
        <p:txBody>
          <a:bodyPr/>
          <a:lstStyle/>
          <a:p>
            <a:r>
              <a:rPr lang="en-US" dirty="0"/>
              <a:t>DEFERRED BONDS</a:t>
            </a:r>
            <a:endParaRPr lang="en-US" dirty="0"/>
          </a:p>
        </p:txBody>
      </p:sp>
      <p:pic>
        <p:nvPicPr>
          <p:cNvPr id="863" name="Google Shape;863;p41"/>
          <p:cNvPicPr preferRelativeResize="0"/>
          <p:nvPr/>
        </p:nvPicPr>
        <p:blipFill rotWithShape="1">
          <a:blip r:embed="rId1"/>
          <a:srcRect/>
          <a:stretch>
            <a:fillRect/>
          </a:stretch>
        </p:blipFill>
        <p:spPr>
          <a:xfrm>
            <a:off x="8660994" y="1665256"/>
            <a:ext cx="2521445" cy="2390394"/>
          </a:xfrm>
          <a:prstGeom prst="rect">
            <a:avLst/>
          </a:prstGeom>
          <a:noFill/>
          <a:ln>
            <a:noFill/>
          </a:ln>
        </p:spPr>
      </p:pic>
      <p:pic>
        <p:nvPicPr>
          <p:cNvPr id="864" name="Google Shape;864;p41"/>
          <p:cNvPicPr preferRelativeResize="0"/>
          <p:nvPr/>
        </p:nvPicPr>
        <p:blipFill rotWithShape="1">
          <a:blip r:embed="rId2"/>
          <a:srcRect/>
          <a:stretch>
            <a:fillRect/>
          </a:stretch>
        </p:blipFill>
        <p:spPr>
          <a:xfrm>
            <a:off x="6845" y="3435845"/>
            <a:ext cx="4184256" cy="3421799"/>
          </a:xfrm>
          <a:prstGeom prst="rect">
            <a:avLst/>
          </a:prstGeom>
          <a:noFill/>
          <a:ln>
            <a:noFill/>
          </a:ln>
        </p:spPr>
      </p:pic>
      <p:grpSp>
        <p:nvGrpSpPr>
          <p:cNvPr id="5" name="Group 4"/>
          <p:cNvGrpSpPr/>
          <p:nvPr/>
        </p:nvGrpSpPr>
        <p:grpSpPr>
          <a:xfrm>
            <a:off x="695399" y="1468439"/>
            <a:ext cx="5288841" cy="1681162"/>
            <a:chOff x="695399" y="1468439"/>
            <a:chExt cx="5288841" cy="1681162"/>
          </a:xfrm>
        </p:grpSpPr>
        <p:sp>
          <p:nvSpPr>
            <p:cNvPr id="4" name="Rectangle: Rounded Corners 3"/>
            <p:cNvSpPr/>
            <p:nvPr/>
          </p:nvSpPr>
          <p:spPr>
            <a:xfrm>
              <a:off x="695399" y="1468439"/>
              <a:ext cx="5288841" cy="1681162"/>
            </a:xfrm>
            <a:prstGeom prst="roundRect">
              <a:avLst>
                <a:gd name="adj" fmla="val 13134"/>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867" name="Google Shape;867;p41"/>
            <p:cNvSpPr txBox="1"/>
            <p:nvPr/>
          </p:nvSpPr>
          <p:spPr>
            <a:xfrm>
              <a:off x="870939" y="1616523"/>
              <a:ext cx="4937760" cy="1384995"/>
            </a:xfrm>
            <a:prstGeom prst="rect">
              <a:avLst/>
            </a:prstGeom>
            <a:noFill/>
            <a:ln>
              <a:noFill/>
            </a:ln>
          </p:spPr>
          <p:txBody>
            <a:bodyPr spcFirstLastPara="1" wrap="square" lIns="0" tIns="0" rIns="0" bIns="0" anchor="t" anchorCtr="0">
              <a:spAutoFit/>
              <a:scene3d>
                <a:camera prst="orthographicFront"/>
                <a:lightRig rig="threePt" dir="t"/>
              </a:scene3d>
            </a:bodyPr>
            <a:lstStyle/>
            <a:p>
              <a:pPr marR="0" lvl="0" algn="l" rtl="0">
                <a:spcBef>
                  <a:spcPts val="0"/>
                </a:spcBef>
                <a:spcAft>
                  <a:spcPts val="0"/>
                </a:spcAft>
                <a:buClr>
                  <a:schemeClr val="dk1"/>
                </a:buClr>
                <a:buSzPts val="1800"/>
              </a:pPr>
              <a:r>
                <a:rPr lang="en-US" sz="1800" dirty="0">
                  <a:solidFill>
                    <a:schemeClr val="tx1"/>
                  </a:solidFill>
                  <a:latin typeface="Arial" panose="020B0604020202020204"/>
                  <a:ea typeface="Arial" panose="020B0604020202020204"/>
                  <a:cs typeface="Arial" panose="020B0604020202020204"/>
                  <a:sym typeface="Arial" panose="020B0604020202020204"/>
                </a:rPr>
                <a:t>No “periodic” interest</a:t>
              </a:r>
              <a:r>
                <a:rPr lang="en-IN" altLang="en-US" sz="1800" dirty="0">
                  <a:solidFill>
                    <a:schemeClr val="tx1"/>
                  </a:solidFill>
                  <a:latin typeface="Arial" panose="020B0604020202020204"/>
                  <a:ea typeface="Arial" panose="020B0604020202020204"/>
                  <a:cs typeface="Arial" panose="020B0604020202020204"/>
                  <a:sym typeface="Arial" panose="020B0604020202020204"/>
                </a:rPr>
                <a:t>/coupon is paid  each year.</a:t>
              </a:r>
              <a:endParaRPr lang="en-IN" altLang="en-US" sz="1800" dirty="0">
                <a:solidFill>
                  <a:schemeClr val="tx1"/>
                </a:solidFill>
                <a:latin typeface="Arial" panose="020B0604020202020204"/>
                <a:ea typeface="Arial" panose="020B0604020202020204"/>
                <a:cs typeface="Arial" panose="020B0604020202020204"/>
                <a:sym typeface="Arial" panose="020B0604020202020204"/>
              </a:endParaRPr>
            </a:p>
            <a:p>
              <a:pPr marR="0" lvl="0" algn="l" rtl="0">
                <a:spcBef>
                  <a:spcPts val="0"/>
                </a:spcBef>
                <a:spcAft>
                  <a:spcPts val="0"/>
                </a:spcAft>
                <a:buClr>
                  <a:schemeClr val="dk1"/>
                </a:buClr>
                <a:buSzPts val="1800"/>
              </a:pPr>
              <a:endParaRPr lang="en-US" sz="1800" dirty="0">
                <a:solidFill>
                  <a:schemeClr val="tx1"/>
                </a:solidFill>
                <a:effectLst>
                  <a:outerShdw blurRad="38100" dist="25400" dir="5400000" algn="ctr" rotWithShape="0">
                    <a:srgbClr val="6E747A">
                      <a:alpha val="43000"/>
                    </a:srgbClr>
                  </a:outerShdw>
                </a:effectLst>
                <a:latin typeface="Arial" panose="020B0604020202020204"/>
                <a:ea typeface="Arial" panose="020B0604020202020204"/>
                <a:cs typeface="Arial" panose="020B0604020202020204"/>
                <a:sym typeface="Arial" panose="020B0604020202020204"/>
              </a:endParaRPr>
            </a:p>
            <a:p>
              <a:pPr marR="0" lvl="0" algn="l" rtl="0">
                <a:spcBef>
                  <a:spcPts val="0"/>
                </a:spcBef>
                <a:spcAft>
                  <a:spcPts val="0"/>
                </a:spcAft>
                <a:buClr>
                  <a:schemeClr val="dk1"/>
                </a:buClr>
                <a:buSzPts val="1800"/>
              </a:pPr>
              <a:r>
                <a:rPr lang="en-IN" altLang="en-US" sz="1800" dirty="0">
                  <a:solidFill>
                    <a:schemeClr val="tx1"/>
                  </a:solidFill>
                  <a:latin typeface="Arial" panose="020B0604020202020204"/>
                  <a:ea typeface="Arial" panose="020B0604020202020204"/>
                  <a:cs typeface="Arial" panose="020B0604020202020204"/>
                  <a:sym typeface="Arial" panose="020B0604020202020204"/>
                </a:rPr>
                <a:t>All agreed coupons/interest amount accumulated (adjusted for time value) and is pa</a:t>
              </a:r>
              <a:r>
                <a:rPr lang="en-US" sz="1800" dirty="0">
                  <a:solidFill>
                    <a:schemeClr val="tx1"/>
                  </a:solidFill>
                  <a:latin typeface="Arial" panose="020B0604020202020204"/>
                  <a:ea typeface="Arial" panose="020B0604020202020204"/>
                  <a:cs typeface="Arial" panose="020B0604020202020204"/>
                  <a:sym typeface="Arial" panose="020B0604020202020204"/>
                </a:rPr>
                <a:t>id out </a:t>
              </a:r>
              <a:r>
                <a:rPr lang="en-IN" altLang="en-US" sz="1800" dirty="0">
                  <a:solidFill>
                    <a:schemeClr val="tx1"/>
                  </a:solidFill>
                  <a:latin typeface="Arial" panose="020B0604020202020204"/>
                  <a:ea typeface="Arial" panose="020B0604020202020204"/>
                  <a:cs typeface="Arial" panose="020B0604020202020204"/>
                  <a:sym typeface="Arial" panose="020B0604020202020204"/>
                </a:rPr>
                <a:t>on the date of maturity of </a:t>
              </a:r>
              <a:r>
                <a:rPr lang="en-US" sz="1800" dirty="0">
                  <a:solidFill>
                    <a:schemeClr val="tx1"/>
                  </a:solidFill>
                  <a:latin typeface="Arial" panose="020B0604020202020204"/>
                  <a:ea typeface="Arial" panose="020B0604020202020204"/>
                  <a:cs typeface="Arial" panose="020B0604020202020204"/>
                  <a:sym typeface="Arial" panose="020B0604020202020204"/>
                </a:rPr>
                <a:t>the bond</a:t>
              </a:r>
              <a:r>
                <a:rPr lang="en-IN" altLang="en-US" sz="1800" dirty="0">
                  <a:solidFill>
                    <a:schemeClr val="tx1"/>
                  </a:solidFill>
                  <a:latin typeface="Arial" panose="020B0604020202020204"/>
                  <a:ea typeface="Arial" panose="020B0604020202020204"/>
                  <a:cs typeface="Arial" panose="020B0604020202020204"/>
                  <a:sym typeface="Arial" panose="020B0604020202020204"/>
                </a:rPr>
                <a:t>.</a:t>
              </a:r>
              <a:endParaRPr lang="en-US" sz="1800" dirty="0">
                <a:solidFill>
                  <a:schemeClr val="tx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ZERO COUPON BONDS</a:t>
            </a:r>
            <a:endParaRPr lang="en-US" dirty="0"/>
          </a:p>
        </p:txBody>
      </p:sp>
      <p:pic>
        <p:nvPicPr>
          <p:cNvPr id="876" name="Google Shape;876;p42"/>
          <p:cNvPicPr preferRelativeResize="0"/>
          <p:nvPr/>
        </p:nvPicPr>
        <p:blipFill rotWithShape="1">
          <a:blip r:embed="rId1"/>
          <a:srcRect t="4862"/>
          <a:stretch>
            <a:fillRect/>
          </a:stretch>
        </p:blipFill>
        <p:spPr>
          <a:xfrm>
            <a:off x="3469588" y="3771460"/>
            <a:ext cx="5434724" cy="2303992"/>
          </a:xfrm>
          <a:prstGeom prst="rect">
            <a:avLst/>
          </a:prstGeom>
          <a:noFill/>
          <a:ln>
            <a:noFill/>
          </a:ln>
        </p:spPr>
      </p:pic>
      <p:sp>
        <p:nvSpPr>
          <p:cNvPr id="878" name="Google Shape;878;p42"/>
          <p:cNvSpPr txBox="1"/>
          <p:nvPr/>
        </p:nvSpPr>
        <p:spPr>
          <a:xfrm>
            <a:off x="700550" y="2371848"/>
            <a:ext cx="10972800" cy="1242643"/>
          </a:xfrm>
          <a:prstGeom prst="rect">
            <a:avLst/>
          </a:prstGeom>
          <a:noFill/>
          <a:ln>
            <a:noFill/>
          </a:ln>
        </p:spPr>
        <p:txBody>
          <a:bodyPr spcFirstLastPara="1" wrap="square" lIns="0" tIns="11425" rIns="0" bIns="0" anchor="t" anchorCtr="0">
            <a:spAutoFit/>
          </a:bodyPr>
          <a:lstStyle/>
          <a:p>
            <a:pPr marL="12065" marR="5080" lvl="0" algn="l" rtl="0">
              <a:lnSpc>
                <a:spcPct val="100000"/>
              </a:lnSpc>
              <a:spcBef>
                <a:spcPts val="0"/>
              </a:spcBef>
              <a:spcAft>
                <a:spcPts val="0"/>
              </a:spcAft>
              <a:buClr>
                <a:schemeClr val="dk1"/>
              </a:buClr>
              <a:buSzPts val="2000"/>
            </a:pPr>
            <a:r>
              <a:rPr lang="en-US" sz="1600" dirty="0">
                <a:solidFill>
                  <a:schemeClr val="tx1"/>
                </a:solidFill>
              </a:rPr>
              <a:t>It does not make periodic interest payments, or have so-called "coupons", hence the term zero-coupon bond.</a:t>
            </a:r>
            <a:endParaRPr lang="en-US" sz="1600" dirty="0">
              <a:solidFill>
                <a:schemeClr val="tx1"/>
              </a:solidFill>
            </a:endParaRPr>
          </a:p>
          <a:p>
            <a:pPr marL="12065" marR="5080" lvl="0" algn="l" rtl="0">
              <a:lnSpc>
                <a:spcPct val="100000"/>
              </a:lnSpc>
              <a:spcBef>
                <a:spcPts val="0"/>
              </a:spcBef>
              <a:spcAft>
                <a:spcPts val="0"/>
              </a:spcAft>
              <a:buClr>
                <a:schemeClr val="dk1"/>
              </a:buClr>
              <a:buSzPts val="2000"/>
            </a:pPr>
            <a:endParaRPr lang="en-US" sz="1600" dirty="0">
              <a:solidFill>
                <a:schemeClr val="tx1"/>
              </a:solidFill>
            </a:endParaRPr>
          </a:p>
          <a:p>
            <a:pPr marL="12065" marR="5080" lvl="0" algn="l" rtl="0">
              <a:lnSpc>
                <a:spcPct val="100000"/>
              </a:lnSpc>
              <a:spcBef>
                <a:spcPts val="0"/>
              </a:spcBef>
              <a:spcAft>
                <a:spcPts val="0"/>
              </a:spcAft>
              <a:buClr>
                <a:schemeClr val="dk1"/>
              </a:buClr>
              <a:buSzPts val="2000"/>
            </a:pPr>
            <a:r>
              <a:rPr lang="en-US" sz="1600" dirty="0">
                <a:solidFill>
                  <a:schemeClr val="tx1"/>
                </a:solidFill>
              </a:rPr>
              <a:t>When the bond reaches maturity, its investor receives its par (or face) value.</a:t>
            </a:r>
            <a:endParaRPr lang="en-US" sz="1600" dirty="0">
              <a:solidFill>
                <a:schemeClr val="tx1"/>
              </a:solidFill>
            </a:endParaRPr>
          </a:p>
          <a:p>
            <a:pPr marL="12065" marR="5080" lvl="0" algn="l" rtl="0">
              <a:lnSpc>
                <a:spcPct val="100000"/>
              </a:lnSpc>
              <a:spcBef>
                <a:spcPts val="0"/>
              </a:spcBef>
              <a:spcAft>
                <a:spcPts val="0"/>
              </a:spcAft>
              <a:buClr>
                <a:schemeClr val="dk1"/>
              </a:buClr>
              <a:buSzPts val="2000"/>
            </a:pPr>
            <a:endParaRPr lang="en-US" sz="1600" dirty="0">
              <a:solidFill>
                <a:schemeClr val="tx1"/>
              </a:solidFill>
            </a:endParaRPr>
          </a:p>
          <a:p>
            <a:pPr marL="12065" marR="5080" lvl="0" algn="l" rtl="0">
              <a:lnSpc>
                <a:spcPct val="100000"/>
              </a:lnSpc>
              <a:spcBef>
                <a:spcPts val="0"/>
              </a:spcBef>
              <a:spcAft>
                <a:spcPts val="0"/>
              </a:spcAft>
              <a:buClr>
                <a:schemeClr val="dk1"/>
              </a:buClr>
              <a:buSzPts val="2000"/>
            </a:pPr>
            <a:r>
              <a:rPr lang="en-US" sz="1600" dirty="0">
                <a:solidFill>
                  <a:schemeClr val="tx1"/>
                </a:solidFill>
              </a:rPr>
              <a:t>The difference between the purchase</a:t>
            </a:r>
            <a:r>
              <a:rPr lang="en-IN" altLang="en-US" sz="1600" dirty="0">
                <a:solidFill>
                  <a:schemeClr val="tx1"/>
                </a:solidFill>
              </a:rPr>
              <a:t> price</a:t>
            </a:r>
            <a:r>
              <a:rPr lang="en-US" sz="1600" dirty="0">
                <a:solidFill>
                  <a:schemeClr val="tx1"/>
                </a:solidFill>
              </a:rPr>
              <a:t> and redemption</a:t>
            </a:r>
            <a:r>
              <a:rPr lang="en-IN" altLang="en-US" sz="1600" dirty="0">
                <a:solidFill>
                  <a:schemeClr val="tx1"/>
                </a:solidFill>
              </a:rPr>
              <a:t> price</a:t>
            </a:r>
            <a:r>
              <a:rPr lang="en-US" sz="1600" dirty="0">
                <a:solidFill>
                  <a:schemeClr val="tx1"/>
                </a:solidFill>
              </a:rPr>
              <a:t> is the coupon </a:t>
            </a:r>
            <a:r>
              <a:rPr lang="en-IN" altLang="en-US" sz="1600" dirty="0">
                <a:solidFill>
                  <a:schemeClr val="tx1"/>
                </a:solidFill>
              </a:rPr>
              <a:t>income </a:t>
            </a:r>
            <a:r>
              <a:rPr lang="en-US" sz="1600" dirty="0">
                <a:solidFill>
                  <a:schemeClr val="tx1"/>
                </a:solidFill>
              </a:rPr>
              <a:t>amount</a:t>
            </a:r>
            <a:r>
              <a:rPr lang="en-IN" altLang="en-US" sz="1600" dirty="0">
                <a:solidFill>
                  <a:schemeClr val="tx1"/>
                </a:solidFill>
              </a:rPr>
              <a:t> for the Investors</a:t>
            </a:r>
            <a:r>
              <a:rPr lang="en-US" sz="1600" dirty="0">
                <a:solidFill>
                  <a:schemeClr val="tx1"/>
                </a:solidFill>
              </a:rPr>
              <a:t>.</a:t>
            </a:r>
            <a:endParaRPr lang="en-US" sz="1600" dirty="0">
              <a:solidFill>
                <a:schemeClr val="tx1"/>
              </a:solidFill>
            </a:endParaRPr>
          </a:p>
        </p:txBody>
      </p:sp>
      <p:sp>
        <p:nvSpPr>
          <p:cNvPr id="5" name="Google Shape;245;p22"/>
          <p:cNvSpPr/>
          <p:nvPr/>
        </p:nvSpPr>
        <p:spPr>
          <a:xfrm>
            <a:off x="0" y="1485900"/>
            <a:ext cx="12192000" cy="728980"/>
          </a:xfrm>
          <a:prstGeom prst="rect">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TextBox 5"/>
          <p:cNvSpPr txBox="1"/>
          <p:nvPr/>
        </p:nvSpPr>
        <p:spPr>
          <a:xfrm>
            <a:off x="700550" y="1558003"/>
            <a:ext cx="10972800" cy="58477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600" i="0" u="none" strike="noStrike" cap="none" dirty="0">
                <a:solidFill>
                  <a:schemeClr val="tx1"/>
                </a:solidFill>
                <a:latin typeface="Arial" panose="020B0604020202020204"/>
                <a:ea typeface="Arial" panose="020B0604020202020204"/>
                <a:cs typeface="Arial" panose="020B0604020202020204"/>
                <a:sym typeface="Arial" panose="020B0604020202020204"/>
              </a:rPr>
              <a:t>A zero-coupon bond is also called as Deep Discount Bond  and this bond </a:t>
            </a:r>
            <a:r>
              <a:rPr lang="en-US" sz="1600" i="0" u="none" strike="noStrike" cap="none" dirty="0" err="1">
                <a:solidFill>
                  <a:schemeClr val="tx1"/>
                </a:solidFill>
                <a:latin typeface="Arial" panose="020B0604020202020204"/>
                <a:ea typeface="Arial" panose="020B0604020202020204"/>
                <a:cs typeface="Arial" panose="020B0604020202020204"/>
                <a:sym typeface="Arial" panose="020B0604020202020204"/>
              </a:rPr>
              <a:t>isused</a:t>
            </a:r>
            <a:r>
              <a:rPr lang="en-US" sz="1600" i="0" u="none" strike="noStrike" cap="none" dirty="0">
                <a:solidFill>
                  <a:schemeClr val="tx1"/>
                </a:solidFill>
                <a:latin typeface="Arial" panose="020B0604020202020204"/>
                <a:ea typeface="Arial" panose="020B0604020202020204"/>
                <a:cs typeface="Arial" panose="020B0604020202020204"/>
                <a:sym typeface="Arial" panose="020B0604020202020204"/>
              </a:rPr>
              <a:t> at discounted price (issued at a discount to Par/Face Value) and this Bond is redeemed at the face value at the time of maturity (redeemed at par).</a:t>
            </a:r>
            <a:endParaRPr lang="en-US" sz="160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INFLATION INDEXED BONDS</a:t>
            </a:r>
            <a:endParaRPr lang="en-US" dirty="0"/>
          </a:p>
        </p:txBody>
      </p:sp>
      <p:pic>
        <p:nvPicPr>
          <p:cNvPr id="891" name="Google Shape;891;p43"/>
          <p:cNvPicPr preferRelativeResize="0"/>
          <p:nvPr/>
        </p:nvPicPr>
        <p:blipFill rotWithShape="1">
          <a:blip r:embed="rId1"/>
          <a:srcRect/>
          <a:stretch>
            <a:fillRect/>
          </a:stretch>
        </p:blipFill>
        <p:spPr>
          <a:xfrm>
            <a:off x="3601028" y="1488897"/>
            <a:ext cx="5171844" cy="3883654"/>
          </a:xfrm>
          <a:prstGeom prst="rect">
            <a:avLst/>
          </a:prstGeom>
          <a:noFill/>
          <a:ln>
            <a:noFill/>
          </a:ln>
        </p:spPr>
      </p:pic>
      <p:sp>
        <p:nvSpPr>
          <p:cNvPr id="893" name="Google Shape;893;p43"/>
          <p:cNvSpPr txBox="1"/>
          <p:nvPr/>
        </p:nvSpPr>
        <p:spPr>
          <a:xfrm>
            <a:off x="9720077" y="6504342"/>
            <a:ext cx="231140" cy="559753"/>
          </a:xfrm>
          <a:prstGeom prst="rect">
            <a:avLst/>
          </a:prstGeom>
          <a:noFill/>
          <a:ln>
            <a:noFill/>
          </a:ln>
        </p:spPr>
        <p:txBody>
          <a:bodyPr spcFirstLastPara="1" wrap="square" lIns="0" tIns="5700" rIns="0" bIns="0" anchor="t" anchorCtr="0">
            <a:spAutoFit/>
          </a:bodyPr>
          <a:lstStyle/>
          <a:p>
            <a:pPr marL="38100" marR="0" lvl="0" indent="0" algn="l" rtl="0">
              <a:spcBef>
                <a:spcPts val="0"/>
              </a:spcBef>
              <a:spcAft>
                <a:spcPts val="0"/>
              </a:spcAft>
              <a:buNone/>
            </a:pPr>
            <a:fld id="{00000000-1234-1234-1234-123412341234}" type="slidenum">
              <a:rPr lang="en-US" sz="1800">
                <a:solidFill>
                  <a:schemeClr val="dk1"/>
                </a:solidFill>
                <a:latin typeface="Calibri" panose="020F0502020204030204"/>
                <a:ea typeface="Calibri" panose="020F0502020204030204"/>
                <a:cs typeface="Calibri" panose="020F0502020204030204"/>
                <a:sym typeface="Calibri" panose="020F0502020204030204"/>
              </a:rPr>
            </a:fld>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Google Shape;675;p32"/>
          <p:cNvSpPr txBox="1"/>
          <p:nvPr/>
        </p:nvSpPr>
        <p:spPr>
          <a:xfrm>
            <a:off x="700550" y="5546408"/>
            <a:ext cx="10972800" cy="640080"/>
          </a:xfrm>
          <a:prstGeom prst="roundRect">
            <a:avLst/>
          </a:prstGeom>
          <a:solidFill>
            <a:schemeClr val="accent3">
              <a:lumMod val="20000"/>
              <a:lumOff val="80000"/>
            </a:schemeClr>
          </a:solidFill>
          <a:ln>
            <a:noFill/>
          </a:ln>
        </p:spPr>
        <p:txBody>
          <a:bodyPr spcFirstLastPara="1" wrap="square" lIns="91440" tIns="45700" rIns="91425" bIns="45700" anchor="ctr" anchorCtr="0">
            <a:noAutofit/>
          </a:bodyPr>
          <a:lstStyle/>
          <a:p>
            <a:pPr marL="0" marR="0" lvl="0" indent="0" algn="ctr" rtl="0">
              <a:spcBef>
                <a:spcPts val="0"/>
              </a:spcBef>
              <a:spcAft>
                <a:spcPts val="0"/>
              </a:spcAft>
              <a:buNone/>
            </a:pPr>
            <a:r>
              <a:rPr lang="en-US" sz="1600" dirty="0">
                <a:solidFill>
                  <a:schemeClr val="tx1"/>
                </a:solidFill>
                <a:latin typeface="Arial" panose="020B0604020202020204"/>
                <a:ea typeface="Arial" panose="020B0604020202020204"/>
                <a:cs typeface="Arial" panose="020B0604020202020204"/>
                <a:sym typeface="Arial" panose="020B0604020202020204"/>
              </a:rPr>
              <a:t>Inflation-indexed bonds are bonds where the principal/interest is  indexed to inflation like RPI (Retail Price Index). They are thus designed to  cut out the inflation risk of an investment.</a:t>
            </a:r>
            <a:endParaRPr lang="en-US" sz="1600" dirty="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2" name="Title 1"/>
          <p:cNvSpPr>
            <a:spLocks noGrp="1"/>
          </p:cNvSpPr>
          <p:nvPr>
            <p:ph type="title"/>
          </p:nvPr>
        </p:nvSpPr>
        <p:spPr>
          <a:xfrm>
            <a:off x="700550" y="404869"/>
            <a:ext cx="10515600" cy="716422"/>
          </a:xfrm>
        </p:spPr>
        <p:txBody>
          <a:bodyPr/>
          <a:lstStyle/>
          <a:p>
            <a:r>
              <a:rPr lang="en-US" dirty="0"/>
              <a:t>INFLATION INDEXED BONDS - EXAMPLE</a:t>
            </a:r>
            <a:endParaRPr lang="en-US" dirty="0"/>
          </a:p>
        </p:txBody>
      </p:sp>
      <p:graphicFrame>
        <p:nvGraphicFramePr>
          <p:cNvPr id="899" name="Google Shape;899;p44"/>
          <p:cNvGraphicFramePr/>
          <p:nvPr/>
        </p:nvGraphicFramePr>
        <p:xfrm>
          <a:off x="700550" y="1459475"/>
          <a:ext cx="10972800" cy="3840480"/>
        </p:xfrm>
        <a:graphic>
          <a:graphicData uri="http://schemas.openxmlformats.org/drawingml/2006/table">
            <a:tbl>
              <a:tblPr firstRow="1" bandRow="1">
                <a:noFill/>
                <a:tableStyleId>{4EAE1F60-2A2B-44DB-BF15-9D3A41893EC8}</a:tableStyleId>
              </a:tblPr>
              <a:tblGrid>
                <a:gridCol w="5486400"/>
                <a:gridCol w="5486400"/>
              </a:tblGrid>
              <a:tr h="548640">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b="1" u="none" strike="noStrike" cap="none" dirty="0">
                          <a:solidFill>
                            <a:schemeClr val="bg1"/>
                          </a:solidFill>
                          <a:latin typeface="Arial" panose="020B0604020202020204"/>
                          <a:ea typeface="Arial" panose="020B0604020202020204"/>
                          <a:cs typeface="Arial" panose="020B0604020202020204"/>
                          <a:sym typeface="Arial" panose="020B0604020202020204"/>
                        </a:rPr>
                        <a:t>End of the 1st year</a:t>
                      </a:r>
                      <a:endParaRPr sz="1600" u="none" strike="noStrike" cap="none" dirty="0">
                        <a:solidFill>
                          <a:schemeClr val="bg1"/>
                        </a:solidFill>
                        <a:latin typeface="Arial" panose="020B0604020202020204"/>
                        <a:ea typeface="Arial" panose="020B0604020202020204"/>
                        <a:cs typeface="Arial" panose="020B0604020202020204"/>
                        <a:sym typeface="Arial" panose="020B0604020202020204"/>
                      </a:endParaRPr>
                    </a:p>
                  </a:txBody>
                  <a:tcPr marT="91440" marB="91440" anchor="ctr">
                    <a:lnL w="12700" cap="flat" cmpd="sng" algn="ctr">
                      <a:solidFill>
                        <a:schemeClr val="accent3"/>
                      </a:solidFill>
                      <a:prstDash val="solid"/>
                      <a:round/>
                      <a:headEnd type="none" w="med" len="med"/>
                      <a:tailEnd type="none" w="med" len="med"/>
                    </a:lnL>
                    <a:lnR w="12700" cap="flat" cmpd="sng">
                      <a:noFill/>
                      <a:prstDash val="solid"/>
                      <a:round/>
                      <a:headEnd type="none" w="sm" len="sm"/>
                      <a:tailEnd type="none" w="sm" len="sm"/>
                    </a:lnR>
                    <a:lnT w="12700" cap="flat" cmpd="sng" algn="ctr">
                      <a:solidFill>
                        <a:schemeClr val="accent3"/>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accent3"/>
                    </a:solidFill>
                  </a:tcPr>
                </a:tc>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b="1" u="none" strike="noStrike" cap="none" dirty="0">
                          <a:solidFill>
                            <a:schemeClr val="bg1"/>
                          </a:solidFill>
                          <a:latin typeface="Arial" panose="020B0604020202020204"/>
                          <a:ea typeface="Arial" panose="020B0604020202020204"/>
                          <a:cs typeface="Arial" panose="020B0604020202020204"/>
                          <a:sym typeface="Arial" panose="020B0604020202020204"/>
                        </a:rPr>
                        <a:t>End of the 2nd year</a:t>
                      </a:r>
                      <a:endParaRPr sz="1600" u="none" strike="noStrike" cap="none" dirty="0">
                        <a:solidFill>
                          <a:schemeClr val="bg1"/>
                        </a:solidFill>
                        <a:latin typeface="Arial" panose="020B0604020202020204"/>
                        <a:ea typeface="Arial" panose="020B0604020202020204"/>
                        <a:cs typeface="Arial" panose="020B0604020202020204"/>
                        <a:sym typeface="Arial" panose="020B0604020202020204"/>
                      </a:endParaRPr>
                    </a:p>
                  </a:txBody>
                  <a:tcPr marT="91440" marB="91440" anchor="ctr">
                    <a:lnL w="12700" cap="flat" cmpd="sng">
                      <a:noFill/>
                      <a:prstDash val="solid"/>
                      <a:round/>
                      <a:headEnd type="none" w="sm" len="sm"/>
                      <a:tailEnd type="none" w="sm" len="sm"/>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noFill/>
                      <a:prstDash val="solid"/>
                      <a:round/>
                      <a:headEnd type="none" w="sm" len="sm"/>
                      <a:tailEnd type="none" w="sm" len="sm"/>
                    </a:lnB>
                    <a:lnTlToBr w="12700" cmpd="sng">
                      <a:noFill/>
                      <a:prstDash val="solid"/>
                    </a:lnTlToBr>
                    <a:lnBlToTr w="12700" cmpd="sng">
                      <a:noFill/>
                      <a:prstDash val="solid"/>
                    </a:lnBlToTr>
                    <a:solidFill>
                      <a:schemeClr val="accent3"/>
                    </a:solidFill>
                  </a:tcPr>
                </a:tc>
              </a:tr>
              <a:tr h="548640">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u="none" strike="noStrike" cap="none" dirty="0">
                          <a:latin typeface="Arial" panose="020B0604020202020204"/>
                          <a:ea typeface="Arial" panose="020B0604020202020204"/>
                          <a:cs typeface="Arial" panose="020B0604020202020204"/>
                          <a:sym typeface="Arial" panose="020B0604020202020204"/>
                        </a:rPr>
                        <a:t>Principal : Rs. 1000</a:t>
                      </a:r>
                      <a:endParaRPr sz="1600" u="none" strike="noStrike" cap="none" dirty="0">
                        <a:latin typeface="Arial" panose="020B0604020202020204"/>
                        <a:ea typeface="Arial" panose="020B0604020202020204"/>
                        <a:cs typeface="Arial" panose="020B0604020202020204"/>
                        <a:sym typeface="Arial" panose="020B0604020202020204"/>
                      </a:endParaRPr>
                    </a:p>
                  </a:txBody>
                  <a:tcPr marT="91440" marB="91440" anchor="ctr">
                    <a:lnL w="12700" cap="flat" cmpd="sng" algn="ctr">
                      <a:solidFill>
                        <a:schemeClr val="accent3"/>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u="none" strike="noStrike" cap="none" dirty="0">
                          <a:latin typeface="Arial" panose="020B0604020202020204"/>
                          <a:ea typeface="Arial" panose="020B0604020202020204"/>
                          <a:cs typeface="Arial" panose="020B0604020202020204"/>
                          <a:sym typeface="Arial" panose="020B0604020202020204"/>
                        </a:rPr>
                        <a:t>Principal : Rs. 1030</a:t>
                      </a:r>
                      <a:endParaRPr sz="1600" u="none" strike="noStrike" cap="none" dirty="0">
                        <a:latin typeface="Arial" panose="020B0604020202020204"/>
                        <a:ea typeface="Arial" panose="020B0604020202020204"/>
                        <a:cs typeface="Arial" panose="020B0604020202020204"/>
                        <a:sym typeface="Arial" panose="020B0604020202020204"/>
                      </a:endParaRPr>
                    </a:p>
                  </a:txBody>
                  <a:tcPr marT="91440" marB="91440" anchor="ctr">
                    <a:lnL w="12700" cap="flat" cmpd="sng">
                      <a:noFill/>
                      <a:prstDash val="solid"/>
                      <a:round/>
                      <a:headEnd type="none" w="sm" len="sm"/>
                      <a:tailEnd type="none" w="sm" len="sm"/>
                    </a:lnL>
                    <a:lnR w="12700" cap="flat" cmpd="sng" algn="ctr">
                      <a:solidFill>
                        <a:schemeClr val="accent3"/>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accent3">
                        <a:lumMod val="20000"/>
                        <a:lumOff val="80000"/>
                      </a:schemeClr>
                    </a:solidFill>
                  </a:tcPr>
                </a:tc>
              </a:tr>
              <a:tr h="548640">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u="none" strike="noStrike" cap="none" dirty="0">
                          <a:latin typeface="Arial" panose="020B0604020202020204"/>
                          <a:ea typeface="Arial" panose="020B0604020202020204"/>
                          <a:cs typeface="Arial" panose="020B0604020202020204"/>
                          <a:sym typeface="Arial" panose="020B0604020202020204"/>
                        </a:rPr>
                        <a:t>Inflation in the economy : 3 percent</a:t>
                      </a:r>
                      <a:endParaRPr sz="1600" u="none" strike="noStrike" cap="none" dirty="0">
                        <a:latin typeface="Arial" panose="020B0604020202020204"/>
                        <a:ea typeface="Arial" panose="020B0604020202020204"/>
                        <a:cs typeface="Arial" panose="020B0604020202020204"/>
                        <a:sym typeface="Arial" panose="020B0604020202020204"/>
                      </a:endParaRPr>
                    </a:p>
                  </a:txBody>
                  <a:tcPr marT="91440" marB="91440" anchor="ctr">
                    <a:lnL w="12700" cap="flat" cmpd="sng" algn="ctr">
                      <a:solidFill>
                        <a:schemeClr val="accent3"/>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u="none" strike="noStrike" cap="none" dirty="0">
                          <a:latin typeface="Arial" panose="020B0604020202020204"/>
                          <a:ea typeface="Arial" panose="020B0604020202020204"/>
                          <a:cs typeface="Arial" panose="020B0604020202020204"/>
                          <a:sym typeface="Arial" panose="020B0604020202020204"/>
                        </a:rPr>
                        <a:t>Inflation in the economy : 6 percent</a:t>
                      </a:r>
                      <a:endParaRPr sz="1600" u="none" strike="noStrike" cap="none" dirty="0">
                        <a:latin typeface="Arial" panose="020B0604020202020204"/>
                        <a:ea typeface="Arial" panose="020B0604020202020204"/>
                        <a:cs typeface="Arial" panose="020B0604020202020204"/>
                        <a:sym typeface="Arial" panose="020B0604020202020204"/>
                      </a:endParaRPr>
                    </a:p>
                  </a:txBody>
                  <a:tcPr marT="91440" marB="91440" anchor="ctr">
                    <a:lnL w="12700" cap="flat" cmpd="sng">
                      <a:noFill/>
                      <a:prstDash val="solid"/>
                      <a:round/>
                      <a:headEnd type="none" w="sm" len="sm"/>
                      <a:tailEnd type="none" w="sm" len="sm"/>
                    </a:lnL>
                    <a:lnR w="12700" cap="flat" cmpd="sng" algn="ctr">
                      <a:solidFill>
                        <a:schemeClr val="accent3"/>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r>
              <a:tr h="548640">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u="none" strike="noStrike" cap="none" dirty="0">
                          <a:latin typeface="Arial" panose="020B0604020202020204"/>
                          <a:ea typeface="Arial" panose="020B0604020202020204"/>
                          <a:cs typeface="Arial" panose="020B0604020202020204"/>
                          <a:sym typeface="Arial" panose="020B0604020202020204"/>
                        </a:rPr>
                        <a:t>Inflation accrual : Rs. 30</a:t>
                      </a:r>
                      <a:endParaRPr sz="1600" u="none" strike="noStrike" cap="none" dirty="0">
                        <a:latin typeface="Arial" panose="020B0604020202020204"/>
                        <a:ea typeface="Arial" panose="020B0604020202020204"/>
                        <a:cs typeface="Arial" panose="020B0604020202020204"/>
                        <a:sym typeface="Arial" panose="020B0604020202020204"/>
                      </a:endParaRPr>
                    </a:p>
                  </a:txBody>
                  <a:tcPr marT="91440" marB="91440" anchor="ctr">
                    <a:lnL w="12700" cap="flat" cmpd="sng" algn="ctr">
                      <a:solidFill>
                        <a:schemeClr val="accent3"/>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u="none" strike="noStrike" cap="none" dirty="0">
                          <a:latin typeface="Arial" panose="020B0604020202020204"/>
                          <a:ea typeface="Arial" panose="020B0604020202020204"/>
                          <a:cs typeface="Arial" panose="020B0604020202020204"/>
                          <a:sym typeface="Arial" panose="020B0604020202020204"/>
                        </a:rPr>
                        <a:t>Inflation accrual : Rs. 61.8</a:t>
                      </a:r>
                      <a:endParaRPr sz="1600" u="none" strike="noStrike" cap="none" dirty="0">
                        <a:latin typeface="Arial" panose="020B0604020202020204"/>
                        <a:ea typeface="Arial" panose="020B0604020202020204"/>
                        <a:cs typeface="Arial" panose="020B0604020202020204"/>
                        <a:sym typeface="Arial" panose="020B0604020202020204"/>
                      </a:endParaRPr>
                    </a:p>
                  </a:txBody>
                  <a:tcPr marT="91440" marB="91440" anchor="ctr">
                    <a:lnL w="12700" cap="flat" cmpd="sng">
                      <a:noFill/>
                      <a:prstDash val="solid"/>
                      <a:round/>
                      <a:headEnd type="none" w="sm" len="sm"/>
                      <a:tailEnd type="none" w="sm" len="sm"/>
                    </a:lnL>
                    <a:lnR w="12700" cap="flat" cmpd="sng" algn="ctr">
                      <a:solidFill>
                        <a:schemeClr val="accent3"/>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accent3">
                        <a:lumMod val="20000"/>
                        <a:lumOff val="80000"/>
                      </a:schemeClr>
                    </a:solidFill>
                  </a:tcPr>
                </a:tc>
              </a:tr>
              <a:tr h="548640">
                <a:tc>
                  <a:txBody>
                    <a:bodyPr/>
                    <a:lstStyle/>
                    <a:p>
                      <a:pPr marL="0" marR="848360" lvl="0" indent="0" algn="l" rtl="0">
                        <a:lnSpc>
                          <a:spcPct val="117000"/>
                        </a:lnSpc>
                        <a:spcBef>
                          <a:spcPts val="0"/>
                        </a:spcBef>
                        <a:spcAft>
                          <a:spcPts val="0"/>
                        </a:spcAft>
                        <a:buClr>
                          <a:schemeClr val="dk1"/>
                        </a:buClr>
                        <a:buSzPts val="1600"/>
                        <a:buFont typeface="Arial" panose="020B0604020202020204"/>
                        <a:buNone/>
                      </a:pPr>
                      <a:r>
                        <a:rPr lang="en-US" sz="1600" u="none" strike="noStrike" cap="none" dirty="0">
                          <a:latin typeface="Arial" panose="020B0604020202020204"/>
                          <a:ea typeface="Arial" panose="020B0604020202020204"/>
                          <a:cs typeface="Arial" panose="020B0604020202020204"/>
                          <a:sym typeface="Arial" panose="020B0604020202020204"/>
                        </a:rPr>
                        <a:t>Principal at the end of the first year :  Rs. 1030</a:t>
                      </a:r>
                      <a:endParaRPr sz="1600" u="none" strike="noStrike" cap="none" dirty="0">
                        <a:latin typeface="Arial" panose="020B0604020202020204"/>
                        <a:ea typeface="Arial" panose="020B0604020202020204"/>
                        <a:cs typeface="Arial" panose="020B0604020202020204"/>
                        <a:sym typeface="Arial" panose="020B0604020202020204"/>
                      </a:endParaRPr>
                    </a:p>
                  </a:txBody>
                  <a:tcPr marT="91440" marB="91440" anchor="ctr">
                    <a:lnL w="12700" cap="flat" cmpd="sng" algn="ctr">
                      <a:solidFill>
                        <a:schemeClr val="accent3"/>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848360" lvl="0" indent="0" algn="l" rtl="0">
                        <a:lnSpc>
                          <a:spcPct val="117000"/>
                        </a:lnSpc>
                        <a:spcBef>
                          <a:spcPts val="0"/>
                        </a:spcBef>
                        <a:spcAft>
                          <a:spcPts val="0"/>
                        </a:spcAft>
                        <a:buClr>
                          <a:schemeClr val="dk1"/>
                        </a:buClr>
                        <a:buSzPts val="1600"/>
                        <a:buFont typeface="Arial" panose="020B0604020202020204"/>
                        <a:buNone/>
                      </a:pPr>
                      <a:r>
                        <a:rPr lang="en-US"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t>Principal at the end of the 2nd year : Rs.1091.8</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T="91440" marB="91440" anchor="ctr">
                    <a:lnL w="12700" cap="flat" cmpd="sng">
                      <a:noFill/>
                      <a:prstDash val="solid"/>
                      <a:round/>
                      <a:headEnd type="none" w="sm" len="sm"/>
                      <a:tailEnd type="none" w="sm" len="sm"/>
                    </a:lnL>
                    <a:lnR w="12700" cap="flat" cmpd="sng" algn="ctr">
                      <a:solidFill>
                        <a:schemeClr val="accent3"/>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r>
              <a:tr h="548640">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b="1" u="none" strike="noStrike" cap="none" dirty="0">
                          <a:latin typeface="Arial" panose="020B0604020202020204"/>
                          <a:ea typeface="Arial" panose="020B0604020202020204"/>
                          <a:cs typeface="Arial" panose="020B0604020202020204"/>
                          <a:sym typeface="Arial" panose="020B0604020202020204"/>
                        </a:rPr>
                        <a:t>Promised rate of return : 3 percent</a:t>
                      </a:r>
                      <a:endParaRPr sz="1600" u="none" strike="noStrike" cap="none" dirty="0">
                        <a:latin typeface="Arial" panose="020B0604020202020204"/>
                        <a:ea typeface="Arial" panose="020B0604020202020204"/>
                        <a:cs typeface="Arial" panose="020B0604020202020204"/>
                        <a:sym typeface="Arial" panose="020B0604020202020204"/>
                      </a:endParaRPr>
                    </a:p>
                  </a:txBody>
                  <a:tcPr marT="91440" marB="91440" anchor="ctr">
                    <a:lnL w="12700" cap="flat" cmpd="sng" algn="ctr">
                      <a:solidFill>
                        <a:schemeClr val="accent3"/>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b="1" u="none" strike="noStrike" cap="none" dirty="0">
                          <a:latin typeface="Arial" panose="020B0604020202020204"/>
                          <a:ea typeface="Arial" panose="020B0604020202020204"/>
                          <a:cs typeface="Arial" panose="020B0604020202020204"/>
                          <a:sym typeface="Arial" panose="020B0604020202020204"/>
                        </a:rPr>
                        <a:t>Promised rate of interest : 3 percent</a:t>
                      </a:r>
                      <a:endParaRPr sz="1600" u="none" strike="noStrike" cap="none" dirty="0">
                        <a:latin typeface="Arial" panose="020B0604020202020204"/>
                        <a:ea typeface="Arial" panose="020B0604020202020204"/>
                        <a:cs typeface="Arial" panose="020B0604020202020204"/>
                        <a:sym typeface="Arial" panose="020B0604020202020204"/>
                      </a:endParaRPr>
                    </a:p>
                  </a:txBody>
                  <a:tcPr marT="91440" marB="91440" anchor="ctr">
                    <a:lnL w="12700" cap="flat" cmpd="sng">
                      <a:noFill/>
                      <a:prstDash val="solid"/>
                      <a:round/>
                      <a:headEnd type="none" w="sm" len="sm"/>
                      <a:tailEnd type="none" w="sm" len="sm"/>
                    </a:lnL>
                    <a:lnR w="12700" cap="flat" cmpd="sng" algn="ctr">
                      <a:solidFill>
                        <a:schemeClr val="accent3"/>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accent3">
                        <a:lumMod val="20000"/>
                        <a:lumOff val="80000"/>
                      </a:schemeClr>
                    </a:solidFill>
                  </a:tcPr>
                </a:tc>
              </a:tr>
              <a:tr h="548640">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u="none" strike="noStrike" cap="none" dirty="0">
                          <a:latin typeface="Arial" panose="020B0604020202020204"/>
                          <a:ea typeface="Arial" panose="020B0604020202020204"/>
                          <a:cs typeface="Arial" panose="020B0604020202020204"/>
                          <a:sym typeface="Arial" panose="020B0604020202020204"/>
                        </a:rPr>
                        <a:t>Interest : 1030 x 3/100: Rs 31</a:t>
                      </a:r>
                      <a:endParaRPr sz="1600" u="none" strike="noStrike" cap="none" dirty="0">
                        <a:latin typeface="Arial" panose="020B0604020202020204"/>
                        <a:ea typeface="Arial" panose="020B0604020202020204"/>
                        <a:cs typeface="Arial" panose="020B0604020202020204"/>
                        <a:sym typeface="Arial" panose="020B0604020202020204"/>
                      </a:endParaRPr>
                    </a:p>
                  </a:txBody>
                  <a:tcPr marT="91440" marB="91440" anchor="ctr">
                    <a:lnL w="12700" cap="flat" cmpd="sng" algn="ctr">
                      <a:solidFill>
                        <a:schemeClr val="accent3"/>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chemeClr val="dk1"/>
                        </a:buClr>
                        <a:buSzPts val="1600"/>
                        <a:buFont typeface="Arial" panose="020B0604020202020204"/>
                        <a:buNone/>
                      </a:pPr>
                      <a:r>
                        <a:rPr lang="en-US" sz="1600" u="none" strike="noStrike" cap="none" dirty="0">
                          <a:latin typeface="Arial" panose="020B0604020202020204"/>
                          <a:ea typeface="Arial" panose="020B0604020202020204"/>
                          <a:cs typeface="Arial" panose="020B0604020202020204"/>
                          <a:sym typeface="Arial" panose="020B0604020202020204"/>
                        </a:rPr>
                        <a:t>Interest : 1091.8 x 3/100: Rs. 32.7</a:t>
                      </a:r>
                      <a:endParaRPr sz="1600" u="none" strike="noStrike" cap="none" dirty="0">
                        <a:latin typeface="Arial" panose="020B0604020202020204"/>
                        <a:ea typeface="Arial" panose="020B0604020202020204"/>
                        <a:cs typeface="Arial" panose="020B0604020202020204"/>
                        <a:sym typeface="Arial" panose="020B0604020202020204"/>
                      </a:endParaRPr>
                    </a:p>
                  </a:txBody>
                  <a:tcPr marT="91440" marB="91440" anchor="ctr">
                    <a:lnL w="12700" cap="flat" cmpd="sng">
                      <a:noFill/>
                      <a:prstDash val="solid"/>
                      <a:round/>
                      <a:headEnd type="none" w="sm" len="sm"/>
                      <a:tailEnd type="none" w="sm" len="sm"/>
                    </a:lnL>
                    <a:lnR w="12700" cap="flat" cmpd="sng" algn="ctr">
                      <a:solidFill>
                        <a:schemeClr val="accent3"/>
                      </a:solidFill>
                      <a:prstDash val="solid"/>
                      <a:round/>
                      <a:headEnd type="none" w="med" len="med"/>
                      <a:tailEnd type="none" w="med" len="med"/>
                    </a:lnR>
                    <a:lnT w="12700" cap="flat" cmpd="sng">
                      <a:noFill/>
                      <a:prstDash val="solid"/>
                      <a:round/>
                      <a:headEnd type="none" w="sm" len="sm"/>
                      <a:tailEnd type="none" w="sm" len="sm"/>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3" name="Google Shape;245;p22"/>
          <p:cNvSpPr/>
          <p:nvPr/>
        </p:nvSpPr>
        <p:spPr>
          <a:xfrm>
            <a:off x="0" y="5457508"/>
            <a:ext cx="12192000" cy="728980"/>
          </a:xfrm>
          <a:prstGeom prst="rect">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TextBox 3"/>
          <p:cNvSpPr txBox="1"/>
          <p:nvPr/>
        </p:nvSpPr>
        <p:spPr>
          <a:xfrm>
            <a:off x="700550" y="5529611"/>
            <a:ext cx="10972800" cy="58477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600" b="1" i="0" u="none" strike="noStrike" cap="none" dirty="0">
                <a:solidFill>
                  <a:schemeClr val="tx1"/>
                </a:solidFill>
                <a:latin typeface="Arial" panose="020B0604020202020204"/>
                <a:ea typeface="Arial" panose="020B0604020202020204"/>
                <a:cs typeface="Arial" panose="020B0604020202020204"/>
                <a:sym typeface="Arial" panose="020B0604020202020204"/>
              </a:rPr>
              <a:t>Note: </a:t>
            </a:r>
            <a:r>
              <a:rPr lang="en-US" sz="1600" i="0" u="none" strike="noStrike" cap="none" dirty="0">
                <a:solidFill>
                  <a:schemeClr val="tx1"/>
                </a:solidFill>
                <a:latin typeface="Arial" panose="020B0604020202020204"/>
                <a:ea typeface="Arial" panose="020B0604020202020204"/>
                <a:cs typeface="Arial" panose="020B0604020202020204"/>
                <a:sym typeface="Arial" panose="020B0604020202020204"/>
              </a:rPr>
              <a:t>The inflation component  is adjusted in the principal &amp; interest is paid on this adjusted Principal Amount. At the time of redemption, adjusted principal or  the face value, whichever is higher, would be paid.</a:t>
            </a:r>
            <a:endParaRPr lang="en-US" sz="160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grpSp>
        <p:nvGrpSpPr>
          <p:cNvPr id="910" name="Google Shape;910;p45"/>
          <p:cNvGrpSpPr/>
          <p:nvPr/>
        </p:nvGrpSpPr>
        <p:grpSpPr>
          <a:xfrm>
            <a:off x="4820748" y="531121"/>
            <a:ext cx="7371252" cy="6326878"/>
            <a:chOff x="4820748" y="531121"/>
            <a:chExt cx="7371252" cy="6326878"/>
          </a:xfrm>
        </p:grpSpPr>
        <p:sp>
          <p:nvSpPr>
            <p:cNvPr id="911" name="Google Shape;911;p45"/>
            <p:cNvSpPr/>
            <p:nvPr/>
          </p:nvSpPr>
          <p:spPr>
            <a:xfrm>
              <a:off x="4820748" y="531121"/>
              <a:ext cx="7371252" cy="6326878"/>
            </a:xfrm>
            <a:custGeom>
              <a:avLst/>
              <a:gdLst/>
              <a:ahLst/>
              <a:cxnLst/>
              <a:rect l="l" t="t" r="r" b="b"/>
              <a:pathLst>
                <a:path w="7371252" h="6326878" extrusionOk="0">
                  <a:moveTo>
                    <a:pt x="4069070" y="0"/>
                  </a:moveTo>
                  <a:cubicBezTo>
                    <a:pt x="5403395" y="0"/>
                    <a:pt x="6587716" y="642250"/>
                    <a:pt x="7329760" y="1634481"/>
                  </a:cubicBezTo>
                  <a:lnTo>
                    <a:pt x="7371252" y="1692828"/>
                  </a:lnTo>
                  <a:lnTo>
                    <a:pt x="7371252" y="6326878"/>
                  </a:lnTo>
                  <a:lnTo>
                    <a:pt x="683876" y="6326878"/>
                  </a:lnTo>
                  <a:lnTo>
                    <a:pt x="589093" y="6179031"/>
                  </a:lnTo>
                  <a:cubicBezTo>
                    <a:pt x="215270" y="5563799"/>
                    <a:pt x="0" y="4841574"/>
                    <a:pt x="0" y="4069070"/>
                  </a:cubicBezTo>
                  <a:cubicBezTo>
                    <a:pt x="0" y="1821785"/>
                    <a:pt x="1821785" y="0"/>
                    <a:pt x="4069070" y="0"/>
                  </a:cubicBezTo>
                  <a:close/>
                </a:path>
              </a:pathLst>
            </a:custGeom>
            <a:solidFill>
              <a:srgbClr val="E0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panose="020F050202020403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cxnSp>
          <p:nvCxnSpPr>
            <p:cNvPr id="912" name="Google Shape;912;p45"/>
            <p:cNvCxnSpPr/>
            <p:nvPr/>
          </p:nvCxnSpPr>
          <p:spPr>
            <a:xfrm>
              <a:off x="11883463" y="4050043"/>
              <a:ext cx="0" cy="1986517"/>
            </a:xfrm>
            <a:prstGeom prst="straightConnector1">
              <a:avLst/>
            </a:prstGeom>
            <a:noFill/>
            <a:ln w="9525" cap="flat" cmpd="sng">
              <a:solidFill>
                <a:srgbClr val="7F7F7F"/>
              </a:solidFill>
              <a:prstDash val="solid"/>
              <a:miter lim="800000"/>
              <a:headEnd type="none" w="sm" len="sm"/>
              <a:tailEnd type="none" w="sm" len="sm"/>
            </a:ln>
          </p:spPr>
        </p:cxnSp>
      </p:grpSp>
      <p:grpSp>
        <p:nvGrpSpPr>
          <p:cNvPr id="913" name="Google Shape;913;p45"/>
          <p:cNvGrpSpPr/>
          <p:nvPr/>
        </p:nvGrpSpPr>
        <p:grpSpPr>
          <a:xfrm>
            <a:off x="0" y="0"/>
            <a:ext cx="3264675" cy="3483123"/>
            <a:chOff x="0" y="0"/>
            <a:chExt cx="3264675" cy="3483123"/>
          </a:xfrm>
        </p:grpSpPr>
        <p:sp>
          <p:nvSpPr>
            <p:cNvPr id="914" name="Google Shape;914;p45"/>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blipFill rotWithShape="1">
              <a:blip r:embed="rId1"/>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panose="020F050202020403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15" name="Google Shape;915;p45"/>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panose="020F050202020403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916" name="Google Shape;916;p45"/>
          <p:cNvSpPr/>
          <p:nvPr/>
        </p:nvSpPr>
        <p:spPr>
          <a:xfrm>
            <a:off x="745108" y="855691"/>
            <a:ext cx="5471182" cy="5471187"/>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panose="020F050202020403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917" name="Google Shape;917;p45" descr="A person in a suit shaking hands with another person&#10;&#10;Description automatically generated"/>
          <p:cNvPicPr preferRelativeResize="0"/>
          <p:nvPr/>
        </p:nvPicPr>
        <p:blipFill rotWithShape="1">
          <a:blip r:embed="rId2"/>
          <a:srcRect l="17301" t="951" r="17301" b="950"/>
          <a:stretch>
            <a:fillRect/>
          </a:stretch>
        </p:blipFill>
        <p:spPr>
          <a:xfrm>
            <a:off x="665986" y="855691"/>
            <a:ext cx="5471182" cy="5471187"/>
          </a:xfrm>
          <a:custGeom>
            <a:avLst/>
            <a:gdLst/>
            <a:ahLst/>
            <a:cxnLst/>
            <a:rect l="l" t="t" r="r" b="b"/>
            <a:pathLst>
              <a:path w="5471182" h="5471188" extrusionOk="0">
                <a:moveTo>
                  <a:pt x="2735591" y="0"/>
                </a:moveTo>
                <a:cubicBezTo>
                  <a:pt x="4246416" y="0"/>
                  <a:pt x="5471182" y="1224767"/>
                  <a:pt x="5471182" y="2735594"/>
                </a:cubicBezTo>
                <a:cubicBezTo>
                  <a:pt x="5471182" y="4246421"/>
                  <a:pt x="4246416" y="5471188"/>
                  <a:pt x="2735591" y="5471188"/>
                </a:cubicBezTo>
                <a:cubicBezTo>
                  <a:pt x="1224766" y="5471188"/>
                  <a:pt x="0" y="4246421"/>
                  <a:pt x="0" y="2735594"/>
                </a:cubicBezTo>
                <a:cubicBezTo>
                  <a:pt x="0" y="1224767"/>
                  <a:pt x="1224766" y="0"/>
                  <a:pt x="2735591" y="0"/>
                </a:cubicBezTo>
                <a:close/>
              </a:path>
            </a:pathLst>
          </a:custGeom>
          <a:noFill/>
          <a:ln>
            <a:noFill/>
          </a:ln>
        </p:spPr>
      </p:pic>
      <p:sp>
        <p:nvSpPr>
          <p:cNvPr id="918" name="Google Shape;918;p45"/>
          <p:cNvSpPr/>
          <p:nvPr/>
        </p:nvSpPr>
        <p:spPr>
          <a:xfrm>
            <a:off x="853414" y="855691"/>
            <a:ext cx="5471183" cy="5471187"/>
          </a:xfrm>
          <a:prstGeom prst="ellipse">
            <a:avLst/>
          </a:prstGeom>
          <a:noFill/>
          <a:ln w="127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panose="020F050202020403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19" name="Google Shape;919;p45"/>
          <p:cNvSpPr txBox="1"/>
          <p:nvPr/>
        </p:nvSpPr>
        <p:spPr>
          <a:xfrm>
            <a:off x="6803154" y="3472867"/>
            <a:ext cx="488524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AC6D1"/>
              </a:buClr>
              <a:buSzPts val="4800"/>
              <a:buFont typeface="Arial" panose="020B0604020202020204"/>
              <a:buNone/>
            </a:pPr>
            <a:r>
              <a:rPr lang="en-US" sz="4800" b="1" i="0" u="none" strike="noStrike" cap="none">
                <a:solidFill>
                  <a:srgbClr val="2AC6D1"/>
                </a:solidFill>
                <a:latin typeface="Arial" panose="020B0604020202020204"/>
                <a:ea typeface="Arial" panose="020B0604020202020204"/>
                <a:cs typeface="Arial" panose="020B0604020202020204"/>
                <a:sym typeface="Arial" panose="020B0604020202020204"/>
              </a:rPr>
              <a:t>THANK YOU !!!</a:t>
            </a:r>
            <a:endParaRPr sz="20600" b="1" i="0" u="none" strike="noStrike" cap="none">
              <a:solidFill>
                <a:srgbClr val="2AC6D1"/>
              </a:solidFill>
              <a:latin typeface="Arial" panose="020B0604020202020204"/>
              <a:ea typeface="Arial" panose="020B0604020202020204"/>
              <a:cs typeface="Arial" panose="020B0604020202020204"/>
              <a:sym typeface="Arial" panose="020B0604020202020204"/>
            </a:endParaRPr>
          </a:p>
        </p:txBody>
      </p:sp>
      <p:pic>
        <p:nvPicPr>
          <p:cNvPr id="920" name="Google Shape;920;p45" descr="Text&#10;&#10;Description automatically generated"/>
          <p:cNvPicPr preferRelativeResize="0"/>
          <p:nvPr/>
        </p:nvPicPr>
        <p:blipFill rotWithShape="1">
          <a:blip r:embed="rId3"/>
          <a:srcRect l="6879" t="8371" r="6879" b="8371"/>
          <a:stretch>
            <a:fillRect/>
          </a:stretch>
        </p:blipFill>
        <p:spPr>
          <a:xfrm>
            <a:off x="7828034" y="2437493"/>
            <a:ext cx="2835486" cy="830997"/>
          </a:xfrm>
          <a:prstGeom prst="rect">
            <a:avLst/>
          </a:prstGeom>
          <a:noFill/>
          <a:ln>
            <a:noFill/>
          </a:ln>
        </p:spPr>
      </p:pic>
      <p:sp>
        <p:nvSpPr>
          <p:cNvPr id="921" name="Google Shape;921;p45"/>
          <p:cNvSpPr txBox="1"/>
          <p:nvPr/>
        </p:nvSpPr>
        <p:spPr>
          <a:xfrm>
            <a:off x="7693241" y="5502350"/>
            <a:ext cx="319788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2"/>
                </a:solidFill>
                <a:latin typeface="Arial" panose="020B0604020202020204"/>
                <a:ea typeface="Arial" panose="020B0604020202020204"/>
                <a:cs typeface="Arial" panose="020B0604020202020204"/>
                <a:sym typeface="Arial" panose="020B0604020202020204"/>
              </a:rPr>
              <a:t>Contact us today!</a:t>
            </a:r>
            <a:br>
              <a:rPr lang="en-US" sz="2000" b="1">
                <a:solidFill>
                  <a:schemeClr val="dk2"/>
                </a:solidFill>
                <a:latin typeface="Arial" panose="020B0604020202020204"/>
                <a:ea typeface="Arial" panose="020B0604020202020204"/>
                <a:cs typeface="Arial" panose="020B0604020202020204"/>
                <a:sym typeface="Arial" panose="020B0604020202020204"/>
              </a:rPr>
            </a:br>
            <a:r>
              <a:rPr lang="en-US" sz="2000" u="sng">
                <a:solidFill>
                  <a:schemeClr val="dk2"/>
                </a:solidFill>
                <a:latin typeface="Arial" panose="020B0604020202020204"/>
                <a:ea typeface="Arial" panose="020B0604020202020204"/>
                <a:cs typeface="Arial" panose="020B0604020202020204"/>
                <a:sym typeface="Arial" panose="020B0604020202020204"/>
                <a:hlinkClick r:id="rId4"/>
              </a:rPr>
              <a:t>https://imarticus.org/</a:t>
            </a:r>
            <a:endParaRPr sz="2000">
              <a:solidFill>
                <a:schemeClr val="dk2"/>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E34855"/>
      </a:accent1>
      <a:accent2>
        <a:srgbClr val="F97700"/>
      </a:accent2>
      <a:accent3>
        <a:srgbClr val="4BC7A0"/>
      </a:accent3>
      <a:accent4>
        <a:srgbClr val="2AC6D1"/>
      </a:accent4>
      <a:accent5>
        <a:srgbClr val="5B9BD5"/>
      </a:accent5>
      <a:accent6>
        <a:srgbClr val="DD5148"/>
      </a:accent6>
      <a:hlink>
        <a:srgbClr val="333A45"/>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30215</Words>
  <Application>WPS Presentation</Application>
  <PresentationFormat>Widescreen</PresentationFormat>
  <Paragraphs>630</Paragraphs>
  <Slides>46</Slides>
  <Notes>46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46</vt:i4>
      </vt:variant>
    </vt:vector>
  </HeadingPairs>
  <TitlesOfParts>
    <vt:vector size="57" baseType="lpstr">
      <vt:lpstr>Arial</vt:lpstr>
      <vt:lpstr>SimSun</vt:lpstr>
      <vt:lpstr>Wingdings</vt:lpstr>
      <vt:lpstr>Arial</vt:lpstr>
      <vt:lpstr>Calibri</vt:lpstr>
      <vt:lpstr>Noto Sans Symbols</vt:lpstr>
      <vt:lpstr>Microsoft YaHei</vt:lpstr>
      <vt:lpstr>Arial Unicode MS</vt:lpstr>
      <vt:lpstr>Trebuchet MS</vt:lpstr>
      <vt:lpstr>Segoe Print</vt:lpstr>
      <vt:lpstr>Office Theme</vt:lpstr>
      <vt:lpstr>PowerPoint 演示文稿</vt:lpstr>
      <vt:lpstr>PowerPoint 演示文稿</vt:lpstr>
      <vt:lpstr>YOU ARE GOING TO LEARN…</vt:lpstr>
      <vt:lpstr>FIXED INCOME SECURITIES</vt:lpstr>
      <vt:lpstr>FIXED INCOME SECURITIES</vt:lpstr>
      <vt:lpstr>FIXED INCOME SECURITIES</vt:lpstr>
      <vt:lpstr>WHO CAN ISSUE FIXED INCOME SECURITIES?</vt:lpstr>
      <vt:lpstr>WHO CAN ISSUE FIXED INCOME SECURITIES?</vt:lpstr>
      <vt:lpstr>WHO CAN ISSUE FIXED INCOME SECURITIES?</vt:lpstr>
      <vt:lpstr>ADVANTAGES OF FIXED INCOME SECURITIES</vt:lpstr>
      <vt:lpstr>ADVANTAGES OF FIXED INCOME SECURITIES</vt:lpstr>
      <vt:lpstr>ADVANTAGES OF FIXED INCOME SECURITIES</vt:lpstr>
      <vt:lpstr>DISADVANTAGES OF FIXED INCOME</vt:lpstr>
      <vt:lpstr>DISADVANTAGES OF FIXED INCOME</vt:lpstr>
      <vt:lpstr>DISADVANTAGES OF FIXED INCOME</vt:lpstr>
      <vt:lpstr>DISADVANTAGES OF FIXED INCOME</vt:lpstr>
      <vt:lpstr>DID YOU KNOW?</vt:lpstr>
      <vt:lpstr>FIXED INCOME  - MONEY MARKET – CMB </vt:lpstr>
      <vt:lpstr>FIXED INCOME  - MONEY MARKET – T BILL</vt:lpstr>
      <vt:lpstr>FIXED INCOME  - MONEY MARKET – T BILL - BIDDING PROCESS</vt:lpstr>
      <vt:lpstr>FIXED INCOME  - MONEY MARKET – REPURCHASE  AGREEMENT (REPO) </vt:lpstr>
      <vt:lpstr>FIXED INCOME  - MONEY MARKET – REPURCHASE  AGREEMENT (REPO) </vt:lpstr>
      <vt:lpstr>FIXED INCOME  - MONEY MARKET – REPURCHASE  AGREEMENT (REPO) </vt:lpstr>
      <vt:lpstr>FIXED INCOME  - MONEY MARKET – COMMERCIAL PAPER</vt:lpstr>
      <vt:lpstr>PowerPoint 演示文稿</vt:lpstr>
      <vt:lpstr>BONDS</vt:lpstr>
      <vt:lpstr>BONDS</vt:lpstr>
      <vt:lpstr>CASH FLOW OF A BOND</vt:lpstr>
      <vt:lpstr>CASH FLOW OF A BOND</vt:lpstr>
      <vt:lpstr>CASH FLOW OF A BOND</vt:lpstr>
      <vt:lpstr>BOND TYPES - GOVERNMENT BONDS</vt:lpstr>
      <vt:lpstr>TREASURY BONDS</vt:lpstr>
      <vt:lpstr>BOND TYPES - CORPORATE BONDS</vt:lpstr>
      <vt:lpstr>FOREIGN CURRENCY BONDS</vt:lpstr>
      <vt:lpstr>FOREIGN CURRENCY BONDS</vt:lpstr>
      <vt:lpstr>FOREIGN CURRENCY BONDS</vt:lpstr>
      <vt:lpstr>BONDS</vt:lpstr>
      <vt:lpstr>JUNK BONDS / HIGH YIELD BONDS</vt:lpstr>
      <vt:lpstr>OPTIONALLY CONVERTIBLE BONDS</vt:lpstr>
      <vt:lpstr>PERPETUAL / IRREDEEMABLE BONDS</vt:lpstr>
      <vt:lpstr>DEFERRED COUPON BONDS</vt:lpstr>
      <vt:lpstr>DEFERRED BONDS</vt:lpstr>
      <vt:lpstr>ZERO COUPON BONDS</vt:lpstr>
      <vt:lpstr>INFLATION INDEXED BONDS</vt:lpstr>
      <vt:lpstr>INFLATION INDEXED BONDS - EXAMPLE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Arokia Dass</dc:creator>
  <cp:lastModifiedBy>Ravi Kumar</cp:lastModifiedBy>
  <cp:revision>17</cp:revision>
  <dcterms:created xsi:type="dcterms:W3CDTF">2025-08-19T16:59:00Z</dcterms:created>
  <dcterms:modified xsi:type="dcterms:W3CDTF">2026-03-16T18:24:07Z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6F1A977D3A0B450495618536029F66D3_13</vt:lpwstr>
  </property>
  <property fmtid="{D5CDD505-2E9C-101B-9397-08002B2CF9AE}" pid="3" name="KSOProductBuildVer">
    <vt:lpwstr>1033-12.2.0.23196</vt:lpwstr>
  </property>
</Properties>
</file>