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Lst>
  <p:notesMasterIdLst>
    <p:notesMasterId r:id="rId6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notesMaster" Target="notesMasters/notesMaster1.xml"/><Relationship Id="rId64" Type="http://schemas.openxmlformats.org/officeDocument/2006/relationships/presProps" Target="presProps.xml"/><Relationship Id="rId65" Type="http://schemas.openxmlformats.org/officeDocument/2006/relationships/viewProps" Target="viewProps.xml"/><Relationship Id="rId66" Type="http://schemas.openxmlformats.org/officeDocument/2006/relationships/theme" Target="theme/theme1.xml"/><Relationship Id="rId6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1E3A5F"/>
          </a:solidFill>
          <a:ln/>
        </p:spPr>
      </p:sp>
      <p:sp>
        <p:nvSpPr>
          <p:cNvPr id="3" name="Shape 1"/>
          <p:cNvSpPr/>
          <p:nvPr/>
        </p:nvSpPr>
        <p:spPr>
          <a:xfrm>
            <a:off x="0" y="0"/>
            <a:ext cx="109728" cy="6858000"/>
          </a:xfrm>
          <a:prstGeom prst="rect">
            <a:avLst/>
          </a:prstGeom>
          <a:solidFill>
            <a:srgbClr val="B8860B"/>
          </a:solidFill>
          <a:ln/>
        </p:spPr>
      </p:sp>
      <p:sp>
        <p:nvSpPr>
          <p:cNvPr id="4" name="Text 2"/>
          <p:cNvSpPr/>
          <p:nvPr/>
        </p:nvSpPr>
        <p:spPr>
          <a:xfrm>
            <a:off x="365760" y="1097280"/>
            <a:ext cx="11430000" cy="2743200"/>
          </a:xfrm>
          <a:prstGeom prst="rect">
            <a:avLst/>
          </a:prstGeom>
          <a:noFill/>
          <a:ln/>
        </p:spPr>
        <p:txBody>
          <a:bodyPr wrap="square" rtlCol="0" anchor="ctr"/>
          <a:lstStyle/>
          <a:p>
            <a:pPr algn="ctr" indent="0" marL="0">
              <a:buNone/>
            </a:pPr>
            <a:r>
              <a:rPr lang="en-US" sz="3200" b="1" dirty="0">
                <a:solidFill>
                  <a:srgbClr val="FFFFFF"/>
                </a:solidFill>
                <a:latin typeface="Calibri" pitchFamily="34" charset="0"/>
                <a:ea typeface="Calibri" pitchFamily="34" charset="-122"/>
                <a:cs typeface="Calibri" pitchFamily="34" charset="-120"/>
              </a:rPr>
              <a:t>"One equity trade. One small mistake. ₹120 crores delayed."</a:t>
            </a:r>
            <a:endParaRPr lang="en-US" sz="3200" dirty="0"/>
          </a:p>
        </p:txBody>
      </p:sp>
      <p:sp>
        <p:nvSpPr>
          <p:cNvPr id="5" name="Shape 3"/>
          <p:cNvSpPr/>
          <p:nvPr/>
        </p:nvSpPr>
        <p:spPr>
          <a:xfrm>
            <a:off x="1828800" y="4023360"/>
            <a:ext cx="8229600" cy="0"/>
          </a:xfrm>
          <a:prstGeom prst="line">
            <a:avLst/>
          </a:prstGeom>
          <a:noFill/>
          <a:ln w="19050">
            <a:solidFill>
              <a:srgbClr val="B8860B"/>
            </a:solidFill>
            <a:prstDash val="solid"/>
          </a:ln>
        </p:spPr>
      </p:sp>
      <p:sp>
        <p:nvSpPr>
          <p:cNvPr id="6" name="Text 4"/>
          <p:cNvSpPr/>
          <p:nvPr/>
        </p:nvSpPr>
        <p:spPr>
          <a:xfrm>
            <a:off x="365760" y="4206240"/>
            <a:ext cx="11430000" cy="548640"/>
          </a:xfrm>
          <a:prstGeom prst="rect">
            <a:avLst/>
          </a:prstGeom>
          <a:noFill/>
          <a:ln/>
        </p:spPr>
        <p:txBody>
          <a:bodyPr wrap="square" rtlCol="0" anchor="ctr"/>
          <a:lstStyle/>
          <a:p>
            <a:pPr algn="ctr" indent="0" marL="0">
              <a:buNone/>
            </a:pPr>
            <a:r>
              <a:rPr lang="en-US" sz="1600" dirty="0">
                <a:solidFill>
                  <a:srgbClr val="CADCFC"/>
                </a:solidFill>
                <a:latin typeface="Calibri" pitchFamily="34" charset="0"/>
                <a:ea typeface="Calibri" pitchFamily="34" charset="-122"/>
                <a:cs typeface="Calibri" pitchFamily="34" charset="-120"/>
              </a:rPr>
              <a:t>Every transaction in every financial market depends on people who understand how the system works — end to end.</a:t>
            </a:r>
            <a:endParaRPr lang="en-US" sz="1600" dirty="0"/>
          </a:p>
        </p:txBody>
      </p:sp>
      <p:sp>
        <p:nvSpPr>
          <p:cNvPr id="7" name="Text 5"/>
          <p:cNvSpPr/>
          <p:nvPr/>
        </p:nvSpPr>
        <p:spPr>
          <a:xfrm>
            <a:off x="365760" y="6217920"/>
            <a:ext cx="11430000" cy="365760"/>
          </a:xfrm>
          <a:prstGeom prst="rect">
            <a:avLst/>
          </a:prstGeom>
          <a:noFill/>
          <a:ln/>
        </p:spPr>
        <p:txBody>
          <a:bodyPr wrap="square" rtlCol="0" anchor="ctr"/>
          <a:lstStyle/>
          <a:p>
            <a:pPr algn="ctr" indent="0" marL="0">
              <a:buNone/>
            </a:pPr>
            <a:r>
              <a:rPr lang="en-US" sz="1100" b="1" dirty="0">
                <a:solidFill>
                  <a:srgbClr val="B8860B"/>
                </a:solidFill>
                <a:latin typeface="Calibri" pitchFamily="34" charset="0"/>
                <a:ea typeface="Calibri" pitchFamily="34" charset="-122"/>
                <a:cs typeface="Calibri" pitchFamily="34" charset="-120"/>
              </a:rPr>
              <a:t>CIBOP  ·  Introduction to Financial Markets  ·  Module 1</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1E3A5F"/>
          </a:solidFill>
          <a:ln/>
        </p:spPr>
      </p:sp>
      <p:sp>
        <p:nvSpPr>
          <p:cNvPr id="3" name="Shape 1"/>
          <p:cNvSpPr/>
          <p:nvPr/>
        </p:nvSpPr>
        <p:spPr>
          <a:xfrm>
            <a:off x="0" y="0"/>
            <a:ext cx="12192000" cy="73152"/>
          </a:xfrm>
          <a:prstGeom prst="rect">
            <a:avLst/>
          </a:prstGeom>
          <a:solidFill>
            <a:srgbClr val="B8860B"/>
          </a:solidFill>
          <a:ln/>
        </p:spPr>
      </p:sp>
      <p:sp>
        <p:nvSpPr>
          <p:cNvPr id="4" name="Shape 2"/>
          <p:cNvSpPr/>
          <p:nvPr/>
        </p:nvSpPr>
        <p:spPr>
          <a:xfrm>
            <a:off x="0" y="6784848"/>
            <a:ext cx="12192000" cy="73152"/>
          </a:xfrm>
          <a:prstGeom prst="rect">
            <a:avLst/>
          </a:prstGeom>
          <a:solidFill>
            <a:srgbClr val="B8860B"/>
          </a:solidFill>
          <a:ln/>
        </p:spPr>
      </p:sp>
      <p:sp>
        <p:nvSpPr>
          <p:cNvPr id="5" name="Shape 3"/>
          <p:cNvSpPr/>
          <p:nvPr/>
        </p:nvSpPr>
        <p:spPr>
          <a:xfrm>
            <a:off x="0" y="73152"/>
            <a:ext cx="1828800" cy="347472"/>
          </a:xfrm>
          <a:prstGeom prst="rect">
            <a:avLst/>
          </a:prstGeom>
          <a:solidFill>
            <a:srgbClr val="B8860B"/>
          </a:solidFill>
          <a:ln/>
        </p:spPr>
      </p:sp>
      <p:sp>
        <p:nvSpPr>
          <p:cNvPr id="6" name="Text 4"/>
          <p:cNvSpPr/>
          <p:nvPr/>
        </p:nvSpPr>
        <p:spPr>
          <a:xfrm>
            <a:off x="0" y="73152"/>
            <a:ext cx="1828800" cy="347472"/>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QUICK RECAP</a:t>
            </a:r>
            <a:endParaRPr lang="en-US" sz="1000" dirty="0"/>
          </a:p>
        </p:txBody>
      </p:sp>
      <p:sp>
        <p:nvSpPr>
          <p:cNvPr id="7" name="Shape 5"/>
          <p:cNvSpPr/>
          <p:nvPr/>
        </p:nvSpPr>
        <p:spPr>
          <a:xfrm>
            <a:off x="10360152" y="73152"/>
            <a:ext cx="1828800" cy="347472"/>
          </a:xfrm>
          <a:prstGeom prst="rect">
            <a:avLst/>
          </a:prstGeom>
          <a:solidFill>
            <a:srgbClr val="005F5F"/>
          </a:solidFill>
          <a:ln/>
        </p:spPr>
      </p:sp>
      <p:sp>
        <p:nvSpPr>
          <p:cNvPr id="8" name="Text 6"/>
          <p:cNvSpPr/>
          <p:nvPr/>
        </p:nvSpPr>
        <p:spPr>
          <a:xfrm>
            <a:off x="10360152" y="73152"/>
            <a:ext cx="1828800" cy="347472"/>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D1.1</a:t>
            </a:r>
            <a:endParaRPr lang="en-US" sz="1000" dirty="0"/>
          </a:p>
        </p:txBody>
      </p:sp>
      <p:sp>
        <p:nvSpPr>
          <p:cNvPr id="9" name="Text 7"/>
          <p:cNvSpPr/>
          <p:nvPr/>
        </p:nvSpPr>
        <p:spPr>
          <a:xfrm>
            <a:off x="8686800" y="1097280"/>
            <a:ext cx="3200400" cy="4572000"/>
          </a:xfrm>
          <a:prstGeom prst="rect">
            <a:avLst/>
          </a:prstGeom>
          <a:noFill/>
          <a:ln/>
        </p:spPr>
        <p:txBody>
          <a:bodyPr wrap="square" rtlCol="0" anchor="ctr"/>
          <a:lstStyle/>
          <a:p>
            <a:pPr algn="ctr" indent="0" marL="0">
              <a:buNone/>
            </a:pPr>
            <a:r>
              <a:rPr lang="en-US" sz="20000" b="1" dirty="0">
                <a:solidFill>
                  <a:srgbClr val="2E4A6E"/>
                </a:solidFill>
                <a:latin typeface="Calibri" pitchFamily="34" charset="0"/>
                <a:ea typeface="Calibri" pitchFamily="34" charset="-122"/>
                <a:cs typeface="Calibri" pitchFamily="34" charset="-120"/>
              </a:rPr>
              <a:t>?</a:t>
            </a:r>
            <a:endParaRPr lang="en-US" sz="20000" dirty="0"/>
          </a:p>
        </p:txBody>
      </p:sp>
      <p:sp>
        <p:nvSpPr>
          <p:cNvPr id="10" name="Text 8"/>
          <p:cNvSpPr/>
          <p:nvPr/>
        </p:nvSpPr>
        <p:spPr>
          <a:xfrm>
            <a:off x="365760" y="548640"/>
            <a:ext cx="8229600" cy="457200"/>
          </a:xfrm>
          <a:prstGeom prst="rect">
            <a:avLst/>
          </a:prstGeom>
          <a:noFill/>
          <a:ln/>
        </p:spPr>
        <p:txBody>
          <a:bodyPr wrap="square" rtlCol="0" anchor="ctr"/>
          <a:lstStyle/>
          <a:p>
            <a:pPr indent="0" marL="0">
              <a:buNone/>
            </a:pPr>
            <a:r>
              <a:rPr lang="en-US" sz="1400" b="1" dirty="0">
                <a:solidFill>
                  <a:srgbClr val="B8860B"/>
                </a:solidFill>
                <a:latin typeface="Calibri" pitchFamily="34" charset="0"/>
                <a:ea typeface="Calibri" pitchFamily="34" charset="-122"/>
                <a:cs typeface="Calibri" pitchFamily="34" charset="-120"/>
              </a:rPr>
              <a:t>D1.1  —  The Financial System</a:t>
            </a:r>
            <a:endParaRPr lang="en-US" sz="1400" dirty="0"/>
          </a:p>
        </p:txBody>
      </p:sp>
      <p:sp>
        <p:nvSpPr>
          <p:cNvPr id="11" name="Text 9"/>
          <p:cNvSpPr/>
          <p:nvPr/>
        </p:nvSpPr>
        <p:spPr>
          <a:xfrm>
            <a:off x="365760" y="1280160"/>
            <a:ext cx="8229600" cy="3474720"/>
          </a:xfrm>
          <a:prstGeom prst="rect">
            <a:avLst/>
          </a:prstGeom>
          <a:noFill/>
          <a:ln/>
        </p:spPr>
        <p:txBody>
          <a:bodyPr wrap="square"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"If every household in India decided to keep their savings in a jar under the bed — what exactly would break first?"</a:t>
            </a:r>
            <a:endParaRPr lang="en-US" sz="2600" dirty="0"/>
          </a:p>
        </p:txBody>
      </p:sp>
      <p:sp>
        <p:nvSpPr>
          <p:cNvPr id="12" name="Shape 10"/>
          <p:cNvSpPr/>
          <p:nvPr/>
        </p:nvSpPr>
        <p:spPr>
          <a:xfrm>
            <a:off x="365760" y="5029200"/>
            <a:ext cx="8229600" cy="731520"/>
          </a:xfrm>
          <a:prstGeom prst="rect">
            <a:avLst/>
          </a:prstGeom>
          <a:solidFill>
            <a:srgbClr val="2E4A6E"/>
          </a:solidFill>
          <a:ln/>
        </p:spPr>
      </p:sp>
      <p:sp>
        <p:nvSpPr>
          <p:cNvPr id="13" name="Text 11"/>
          <p:cNvSpPr/>
          <p:nvPr/>
        </p:nvSpPr>
        <p:spPr>
          <a:xfrm>
            <a:off x="365760" y="5029200"/>
            <a:ext cx="8229600" cy="731520"/>
          </a:xfrm>
          <a:prstGeom prst="rect">
            <a:avLst/>
          </a:prstGeom>
          <a:noFill/>
          <a:ln/>
        </p:spPr>
        <p:txBody>
          <a:bodyPr wrap="square" rtlCol="0" anchor="ctr"/>
          <a:lstStyle/>
          <a:p>
            <a:pPr algn="l" indent="0" marL="0">
              <a:buNone/>
            </a:pPr>
            <a:r>
              <a:rPr lang="en-US" sz="1100" i="1" dirty="0">
                <a:solidFill>
                  <a:srgbClr val="CADCFC"/>
                </a:solidFill>
                <a:latin typeface="Calibri" pitchFamily="34" charset="0"/>
                <a:ea typeface="Calibri" pitchFamily="34" charset="-122"/>
                <a:cs typeface="Calibri" pitchFamily="34" charset="-120"/>
              </a:rPr>
              <a:t>📹  From: D1.1 · Video 1 — What Is a Financial System? (EAR: IDENTIFY)</a:t>
            </a:r>
            <a:endParaRPr lang="en-US" sz="1100" dirty="0"/>
          </a:p>
        </p:txBody>
      </p:sp>
      <p:sp>
        <p:nvSpPr>
          <p:cNvPr id="14" name="Text 12"/>
          <p:cNvSpPr/>
          <p:nvPr/>
        </p:nvSpPr>
        <p:spPr>
          <a:xfrm>
            <a:off x="0" y="6601968"/>
            <a:ext cx="12192000" cy="182880"/>
          </a:xfrm>
          <a:prstGeom prst="rect">
            <a:avLst/>
          </a:prstGeom>
          <a:noFill/>
          <a:ln/>
        </p:spPr>
        <p:txBody>
          <a:bodyPr wrap="square" rtlCol="0" anchor="ctr"/>
          <a:lstStyle/>
          <a:p>
            <a:pPr algn="ctr" indent="0" marL="0">
              <a:buNone/>
            </a:pPr>
            <a:r>
              <a:rPr lang="en-US" sz="800" dirty="0">
                <a:solidFill>
                  <a:srgbClr val="AAAAAA"/>
                </a:solidFill>
                <a:latin typeface="Calibri" pitchFamily="34" charset="0"/>
                <a:ea typeface="Calibri" pitchFamily="34" charset="-122"/>
                <a:cs typeface="Calibri" pitchFamily="34" charset="-120"/>
              </a:rPr>
              <a:t>CIBOP · Module 1 · D1.1</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4F6FA"/>
          </a:solidFill>
          <a:ln/>
        </p:spPr>
      </p:sp>
      <p:sp>
        <p:nvSpPr>
          <p:cNvPr id="3" name="Shape 1"/>
          <p:cNvSpPr/>
          <p:nvPr/>
        </p:nvSpPr>
        <p:spPr>
          <a:xfrm>
            <a:off x="0" y="0"/>
            <a:ext cx="12192000" cy="73152"/>
          </a:xfrm>
          <a:prstGeom prst="rect">
            <a:avLst/>
          </a:prstGeom>
          <a:solidFill>
            <a:srgbClr val="1E3A5F"/>
          </a:solidFill>
          <a:ln/>
        </p:spPr>
      </p:sp>
      <p:sp>
        <p:nvSpPr>
          <p:cNvPr id="4" name="Shape 2"/>
          <p:cNvSpPr/>
          <p:nvPr/>
        </p:nvSpPr>
        <p:spPr>
          <a:xfrm>
            <a:off x="0" y="6784848"/>
            <a:ext cx="12192000" cy="73152"/>
          </a:xfrm>
          <a:prstGeom prst="rect">
            <a:avLst/>
          </a:prstGeom>
          <a:solidFill>
            <a:srgbClr val="005F5F"/>
          </a:solidFill>
          <a:ln/>
        </p:spPr>
      </p:sp>
      <p:sp>
        <p:nvSpPr>
          <p:cNvPr id="5" name="Shape 3"/>
          <p:cNvSpPr/>
          <p:nvPr/>
        </p:nvSpPr>
        <p:spPr>
          <a:xfrm>
            <a:off x="0" y="73152"/>
            <a:ext cx="1828800" cy="347472"/>
          </a:xfrm>
          <a:prstGeom prst="rect">
            <a:avLst/>
          </a:prstGeom>
          <a:solidFill>
            <a:srgbClr val="C0392B"/>
          </a:solidFill>
          <a:ln/>
        </p:spPr>
      </p:sp>
      <p:sp>
        <p:nvSpPr>
          <p:cNvPr id="6" name="Text 4"/>
          <p:cNvSpPr/>
          <p:nvPr/>
        </p:nvSpPr>
        <p:spPr>
          <a:xfrm>
            <a:off x="0" y="73152"/>
            <a:ext cx="1828800" cy="347472"/>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SCENARIO</a:t>
            </a:r>
            <a:endParaRPr lang="en-US" sz="1000" dirty="0"/>
          </a:p>
        </p:txBody>
      </p:sp>
      <p:sp>
        <p:nvSpPr>
          <p:cNvPr id="7" name="Shape 5"/>
          <p:cNvSpPr/>
          <p:nvPr/>
        </p:nvSpPr>
        <p:spPr>
          <a:xfrm>
            <a:off x="10360152" y="73152"/>
            <a:ext cx="1828800" cy="347472"/>
          </a:xfrm>
          <a:prstGeom prst="rect">
            <a:avLst/>
          </a:prstGeom>
          <a:solidFill>
            <a:srgbClr val="005F5F"/>
          </a:solidFill>
          <a:ln/>
        </p:spPr>
      </p:sp>
      <p:sp>
        <p:nvSpPr>
          <p:cNvPr id="8" name="Text 6"/>
          <p:cNvSpPr/>
          <p:nvPr/>
        </p:nvSpPr>
        <p:spPr>
          <a:xfrm>
            <a:off x="10360152" y="73152"/>
            <a:ext cx="1828800" cy="347472"/>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D1.1</a:t>
            </a:r>
            <a:endParaRPr lang="en-US" sz="1000" dirty="0"/>
          </a:p>
        </p:txBody>
      </p:sp>
      <p:sp>
        <p:nvSpPr>
          <p:cNvPr id="9" name="Shape 7"/>
          <p:cNvSpPr/>
          <p:nvPr/>
        </p:nvSpPr>
        <p:spPr>
          <a:xfrm>
            <a:off x="0" y="420624"/>
            <a:ext cx="12192000" cy="914400"/>
          </a:xfrm>
          <a:prstGeom prst="rect">
            <a:avLst/>
          </a:prstGeom>
          <a:solidFill>
            <a:srgbClr val="1E3A5F"/>
          </a:solidFill>
          <a:ln/>
        </p:spPr>
      </p:sp>
      <p:sp>
        <p:nvSpPr>
          <p:cNvPr id="10" name="Text 8"/>
          <p:cNvSpPr/>
          <p:nvPr/>
        </p:nvSpPr>
        <p:spPr>
          <a:xfrm>
            <a:off x="365760" y="420624"/>
            <a:ext cx="11430000" cy="914400"/>
          </a:xfrm>
          <a:prstGeom prst="rect">
            <a:avLst/>
          </a:prstGeom>
          <a:noFill/>
          <a:ln/>
        </p:spPr>
        <p:txBody>
          <a:bodyPr wrap="square"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India 1991: What Happens When the Financial System Fails?</a:t>
            </a:r>
            <a:endParaRPr lang="en-US" sz="2000" dirty="0"/>
          </a:p>
        </p:txBody>
      </p:sp>
      <p:sp>
        <p:nvSpPr>
          <p:cNvPr id="11" name="Text 9"/>
          <p:cNvSpPr/>
          <p:nvPr/>
        </p:nvSpPr>
        <p:spPr>
          <a:xfrm>
            <a:off x="365760" y="1554480"/>
            <a:ext cx="7498080" cy="2926080"/>
          </a:xfrm>
          <a:prstGeom prst="rect">
            <a:avLst/>
          </a:prstGeom>
          <a:noFill/>
          <a:ln/>
        </p:spPr>
        <p:txBody>
          <a:bodyPr wrap="square" rtlCol="0" anchor="ctr"/>
          <a:lstStyle/>
          <a:p>
            <a:pPr indent="0" marL="0">
              <a:buNone/>
            </a:pPr>
            <a:r>
              <a:rPr lang="en-US" sz="1400" dirty="0">
                <a:solidFill>
                  <a:srgbClr val="1A1A1A"/>
                </a:solidFill>
                <a:latin typeface="Calibri" pitchFamily="34" charset="0"/>
                <a:ea typeface="Calibri" pitchFamily="34" charset="-122"/>
                <a:cs typeface="Calibri" pitchFamily="34" charset="-120"/>
              </a:rPr>
              <a:t>In 1991, India's foreign exchange reserves fell to just $1.2 billion — barely 3 weeks of import cover. The financial system was unable to channel global capital into India efficiently. The government had to pledge 67 tonnes of gold to the Bank of England as collateral to avoid default.</a:t>
            </a:r>
            <a:endParaRPr lang="en-US" sz="1400" dirty="0"/>
          </a:p>
          <a:p>
            <a:pPr indent="0" marL="0">
              <a:buNone/>
            </a:pPr>
            <a:endParaRPr lang="en-US" sz="1400" dirty="0"/>
          </a:p>
          <a:p>
            <a:pPr indent="0" marL="0">
              <a:buNone/>
            </a:pPr>
            <a:r>
              <a:rPr lang="en-US" sz="1400" dirty="0">
                <a:solidFill>
                  <a:srgbClr val="1A1A1A"/>
                </a:solidFill>
                <a:latin typeface="Calibri" pitchFamily="34" charset="0"/>
                <a:ea typeface="Calibri" pitchFamily="34" charset="-122"/>
                <a:cs typeface="Calibri" pitchFamily="34" charset="-120"/>
              </a:rPr>
              <a:t>The financial system had failed to perform its core function: channelling savings into investment at national scale.</a:t>
            </a:r>
            <a:endParaRPr lang="en-US" sz="1400" dirty="0"/>
          </a:p>
        </p:txBody>
      </p:sp>
      <p:sp>
        <p:nvSpPr>
          <p:cNvPr id="12" name="Shape 10"/>
          <p:cNvSpPr/>
          <p:nvPr/>
        </p:nvSpPr>
        <p:spPr>
          <a:xfrm>
            <a:off x="8046720" y="1554480"/>
            <a:ext cx="3931920" cy="2926080"/>
          </a:xfrm>
          <a:prstGeom prst="rect">
            <a:avLst/>
          </a:prstGeom>
          <a:solidFill>
            <a:srgbClr val="D5E3F0"/>
          </a:solidFill>
          <a:ln w="12700">
            <a:solidFill>
              <a:srgbClr val="1E3A5F"/>
            </a:solidFill>
            <a:prstDash val="solid"/>
          </a:ln>
        </p:spPr>
      </p:sp>
      <p:sp>
        <p:nvSpPr>
          <p:cNvPr id="13" name="Text 11"/>
          <p:cNvSpPr/>
          <p:nvPr/>
        </p:nvSpPr>
        <p:spPr>
          <a:xfrm>
            <a:off x="8046720" y="1554480"/>
            <a:ext cx="3931920" cy="2926080"/>
          </a:xfrm>
          <a:prstGeom prst="rect">
            <a:avLst/>
          </a:prstGeom>
          <a:noFill/>
          <a:ln/>
        </p:spPr>
        <p:txBody>
          <a:bodyPr wrap="square" rtlCol="0" anchor="t"/>
          <a:lstStyle/>
          <a:p>
            <a:pPr indent="0" marL="0">
              <a:buNone/>
            </a:pPr>
            <a:r>
              <a:rPr lang="en-US" sz="1300" dirty="0">
                <a:solidFill>
                  <a:srgbClr val="1E3A5F"/>
                </a:solidFill>
                <a:latin typeface="Calibri" pitchFamily="34" charset="0"/>
                <a:ea typeface="Calibri" pitchFamily="34" charset="-122"/>
                <a:cs typeface="Calibri" pitchFamily="34" charset="-120"/>
              </a:rPr>
              <a:t>KEY NUMBERS:</a:t>
            </a:r>
            <a:endParaRPr lang="en-US" sz="1300" dirty="0"/>
          </a:p>
          <a:p>
            <a:pPr indent="0" marL="0">
              <a:buNone/>
            </a:pPr>
            <a:endParaRPr lang="en-US" sz="1300" dirty="0"/>
          </a:p>
          <a:p>
            <a:pPr indent="0" marL="0">
              <a:buNone/>
            </a:pPr>
            <a:r>
              <a:rPr lang="en-US" sz="1300" dirty="0">
                <a:solidFill>
                  <a:srgbClr val="1E3A5F"/>
                </a:solidFill>
                <a:latin typeface="Calibri" pitchFamily="34" charset="0"/>
                <a:ea typeface="Calibri" pitchFamily="34" charset="-122"/>
                <a:cs typeface="Calibri" pitchFamily="34" charset="-120"/>
              </a:rPr>
              <a:t>$1.2 Bn</a:t>
            </a:r>
            <a:endParaRPr lang="en-US" sz="1300" dirty="0"/>
          </a:p>
          <a:p>
            <a:pPr indent="0" marL="0">
              <a:buNone/>
            </a:pPr>
            <a:r>
              <a:rPr lang="en-US" sz="1300" dirty="0">
                <a:solidFill>
                  <a:srgbClr val="1E3A5F"/>
                </a:solidFill>
                <a:latin typeface="Calibri" pitchFamily="34" charset="0"/>
                <a:ea typeface="Calibri" pitchFamily="34" charset="-122"/>
                <a:cs typeface="Calibri" pitchFamily="34" charset="-120"/>
              </a:rPr>
              <a:t>FX reserves (Jun 1991)</a:t>
            </a:r>
            <a:endParaRPr lang="en-US" sz="1300" dirty="0"/>
          </a:p>
          <a:p>
            <a:pPr indent="0" marL="0">
              <a:buNone/>
            </a:pPr>
            <a:endParaRPr lang="en-US" sz="1300" dirty="0"/>
          </a:p>
          <a:p>
            <a:pPr indent="0" marL="0">
              <a:buNone/>
            </a:pPr>
            <a:r>
              <a:rPr lang="en-US" sz="1300" dirty="0">
                <a:solidFill>
                  <a:srgbClr val="1E3A5F"/>
                </a:solidFill>
                <a:latin typeface="Calibri" pitchFamily="34" charset="0"/>
                <a:ea typeface="Calibri" pitchFamily="34" charset="-122"/>
                <a:cs typeface="Calibri" pitchFamily="34" charset="-120"/>
              </a:rPr>
              <a:t>3 weeks</a:t>
            </a:r>
            <a:endParaRPr lang="en-US" sz="1300" dirty="0"/>
          </a:p>
          <a:p>
            <a:pPr indent="0" marL="0">
              <a:buNone/>
            </a:pPr>
            <a:r>
              <a:rPr lang="en-US" sz="1300" dirty="0">
                <a:solidFill>
                  <a:srgbClr val="1E3A5F"/>
                </a:solidFill>
                <a:latin typeface="Calibri" pitchFamily="34" charset="0"/>
                <a:ea typeface="Calibri" pitchFamily="34" charset="-122"/>
                <a:cs typeface="Calibri" pitchFamily="34" charset="-120"/>
              </a:rPr>
              <a:t>of import cover</a:t>
            </a:r>
            <a:endParaRPr lang="en-US" sz="1300" dirty="0"/>
          </a:p>
          <a:p>
            <a:pPr indent="0" marL="0">
              <a:buNone/>
            </a:pPr>
            <a:endParaRPr lang="en-US" sz="1300" dirty="0"/>
          </a:p>
          <a:p>
            <a:pPr indent="0" marL="0">
              <a:buNone/>
            </a:pPr>
            <a:r>
              <a:rPr lang="en-US" sz="1300" dirty="0">
                <a:solidFill>
                  <a:srgbClr val="1E3A5F"/>
                </a:solidFill>
                <a:latin typeface="Calibri" pitchFamily="34" charset="0"/>
                <a:ea typeface="Calibri" pitchFamily="34" charset="-122"/>
                <a:cs typeface="Calibri" pitchFamily="34" charset="-120"/>
              </a:rPr>
              <a:t>67 tonnes</a:t>
            </a:r>
            <a:endParaRPr lang="en-US" sz="1300" dirty="0"/>
          </a:p>
          <a:p>
            <a:pPr indent="0" marL="0">
              <a:buNone/>
            </a:pPr>
            <a:r>
              <a:rPr lang="en-US" sz="1300" dirty="0">
                <a:solidFill>
                  <a:srgbClr val="1E3A5F"/>
                </a:solidFill>
                <a:latin typeface="Calibri" pitchFamily="34" charset="0"/>
                <a:ea typeface="Calibri" pitchFamily="34" charset="-122"/>
                <a:cs typeface="Calibri" pitchFamily="34" charset="-120"/>
              </a:rPr>
              <a:t>gold pledged</a:t>
            </a:r>
            <a:endParaRPr lang="en-US" sz="1300" dirty="0"/>
          </a:p>
          <a:p>
            <a:pPr indent="0" marL="0">
              <a:buNone/>
            </a:pPr>
            <a:endParaRPr lang="en-US" sz="1300" dirty="0"/>
          </a:p>
          <a:p>
            <a:pPr indent="0" marL="0">
              <a:buNone/>
            </a:pPr>
            <a:r>
              <a:rPr lang="en-US" sz="1300" dirty="0">
                <a:solidFill>
                  <a:srgbClr val="1E3A5F"/>
                </a:solidFill>
                <a:latin typeface="Calibri" pitchFamily="34" charset="0"/>
                <a:ea typeface="Calibri" pitchFamily="34" charset="-122"/>
                <a:cs typeface="Calibri" pitchFamily="34" charset="-120"/>
              </a:rPr>
              <a:t>18%</a:t>
            </a:r>
            <a:endParaRPr lang="en-US" sz="1300" dirty="0"/>
          </a:p>
          <a:p>
            <a:pPr indent="0" marL="0">
              <a:buNone/>
            </a:pPr>
            <a:r>
              <a:rPr lang="en-US" sz="1300" dirty="0">
                <a:solidFill>
                  <a:srgbClr val="1E3A5F"/>
                </a:solidFill>
                <a:latin typeface="Calibri" pitchFamily="34" charset="0"/>
                <a:ea typeface="Calibri" pitchFamily="34" charset="-122"/>
                <a:cs typeface="Calibri" pitchFamily="34" charset="-120"/>
              </a:rPr>
              <a:t>Interest rates post-reform</a:t>
            </a:r>
            <a:endParaRPr lang="en-US" sz="1300" dirty="0"/>
          </a:p>
        </p:txBody>
      </p:sp>
      <p:sp>
        <p:nvSpPr>
          <p:cNvPr id="14" name="Shape 12"/>
          <p:cNvSpPr/>
          <p:nvPr/>
        </p:nvSpPr>
        <p:spPr>
          <a:xfrm>
            <a:off x="0" y="4663440"/>
            <a:ext cx="12192000" cy="1097280"/>
          </a:xfrm>
          <a:prstGeom prst="rect">
            <a:avLst/>
          </a:prstGeom>
          <a:solidFill>
            <a:srgbClr val="005F5F"/>
          </a:solidFill>
          <a:ln/>
        </p:spPr>
      </p:sp>
      <p:sp>
        <p:nvSpPr>
          <p:cNvPr id="15" name="Text 13"/>
          <p:cNvSpPr/>
          <p:nvPr/>
        </p:nvSpPr>
        <p:spPr>
          <a:xfrm>
            <a:off x="365760" y="4663440"/>
            <a:ext cx="11430000" cy="1097280"/>
          </a:xfrm>
          <a:prstGeom prst="rect">
            <a:avLst/>
          </a:prstGeom>
          <a:noFill/>
          <a:ln/>
        </p:spPr>
        <p:txBody>
          <a:bodyPr wrap="square"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  If the financial system exists to channel savings into investment — what went wrong in 1991, and what structural change would have prevented it?</a:t>
            </a:r>
            <a:endParaRPr lang="en-US" sz="1600" dirty="0"/>
          </a:p>
        </p:txBody>
      </p:sp>
      <p:sp>
        <p:nvSpPr>
          <p:cNvPr id="16" name="Text 14"/>
          <p:cNvSpPr/>
          <p:nvPr/>
        </p:nvSpPr>
        <p:spPr>
          <a:xfrm>
            <a:off x="0" y="6601968"/>
            <a:ext cx="12192000" cy="182880"/>
          </a:xfrm>
          <a:prstGeom prst="rect">
            <a:avLst/>
          </a:prstGeom>
          <a:noFill/>
          <a:ln/>
        </p:spPr>
        <p:txBody>
          <a:bodyPr wrap="square" rtlCol="0" anchor="ctr"/>
          <a:lstStyle/>
          <a:p>
            <a:pPr algn="ctr" indent="0" marL="0">
              <a:buNone/>
            </a:pPr>
            <a:r>
              <a:rPr lang="en-US" sz="800" dirty="0">
                <a:solidFill>
                  <a:srgbClr val="AAAAAA"/>
                </a:solidFill>
                <a:latin typeface="Calibri" pitchFamily="34" charset="0"/>
                <a:ea typeface="Calibri" pitchFamily="34" charset="-122"/>
                <a:cs typeface="Calibri" pitchFamily="34" charset="-120"/>
              </a:rPr>
              <a:t>CIBOP · Module 1 · D1.1</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4F6FA"/>
          </a:solidFill>
          <a:ln/>
        </p:spPr>
      </p:sp>
      <p:sp>
        <p:nvSpPr>
          <p:cNvPr id="3" name="Shape 1"/>
          <p:cNvSpPr/>
          <p:nvPr/>
        </p:nvSpPr>
        <p:spPr>
          <a:xfrm>
            <a:off x="0" y="0"/>
            <a:ext cx="12192000" cy="73152"/>
          </a:xfrm>
          <a:prstGeom prst="rect">
            <a:avLst/>
          </a:prstGeom>
          <a:solidFill>
            <a:srgbClr val="005F5F"/>
          </a:solidFill>
          <a:ln/>
        </p:spPr>
      </p:sp>
      <p:sp>
        <p:nvSpPr>
          <p:cNvPr id="4" name="Shape 2"/>
          <p:cNvSpPr/>
          <p:nvPr/>
        </p:nvSpPr>
        <p:spPr>
          <a:xfrm>
            <a:off x="0" y="6784848"/>
            <a:ext cx="12192000" cy="73152"/>
          </a:xfrm>
          <a:prstGeom prst="rect">
            <a:avLst/>
          </a:prstGeom>
          <a:solidFill>
            <a:srgbClr val="1E3A5F"/>
          </a:solidFill>
          <a:ln/>
        </p:spPr>
      </p:sp>
      <p:sp>
        <p:nvSpPr>
          <p:cNvPr id="5" name="Shape 3"/>
          <p:cNvSpPr/>
          <p:nvPr/>
        </p:nvSpPr>
        <p:spPr>
          <a:xfrm>
            <a:off x="0" y="73152"/>
            <a:ext cx="1828800" cy="347472"/>
          </a:xfrm>
          <a:prstGeom prst="rect">
            <a:avLst/>
          </a:prstGeom>
          <a:solidFill>
            <a:srgbClr val="005F5F"/>
          </a:solidFill>
          <a:ln/>
        </p:spPr>
      </p:sp>
      <p:sp>
        <p:nvSpPr>
          <p:cNvPr id="6" name="Text 4"/>
          <p:cNvSpPr/>
          <p:nvPr/>
        </p:nvSpPr>
        <p:spPr>
          <a:xfrm>
            <a:off x="0" y="73152"/>
            <a:ext cx="1828800" cy="347472"/>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KEY CONCEPT</a:t>
            </a:r>
            <a:endParaRPr lang="en-US" sz="1000" dirty="0"/>
          </a:p>
        </p:txBody>
      </p:sp>
      <p:sp>
        <p:nvSpPr>
          <p:cNvPr id="7" name="Shape 5"/>
          <p:cNvSpPr/>
          <p:nvPr/>
        </p:nvSpPr>
        <p:spPr>
          <a:xfrm>
            <a:off x="10360152" y="73152"/>
            <a:ext cx="1828800" cy="347472"/>
          </a:xfrm>
          <a:prstGeom prst="rect">
            <a:avLst/>
          </a:prstGeom>
          <a:solidFill>
            <a:srgbClr val="005F5F"/>
          </a:solidFill>
          <a:ln/>
        </p:spPr>
      </p:sp>
      <p:sp>
        <p:nvSpPr>
          <p:cNvPr id="8" name="Text 6"/>
          <p:cNvSpPr/>
          <p:nvPr/>
        </p:nvSpPr>
        <p:spPr>
          <a:xfrm>
            <a:off x="10360152" y="73152"/>
            <a:ext cx="1828800" cy="347472"/>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D1.1</a:t>
            </a:r>
            <a:endParaRPr lang="en-US" sz="1000" dirty="0"/>
          </a:p>
        </p:txBody>
      </p:sp>
      <p:sp>
        <p:nvSpPr>
          <p:cNvPr id="9" name="Text 7"/>
          <p:cNvSpPr/>
          <p:nvPr/>
        </p:nvSpPr>
        <p:spPr>
          <a:xfrm>
            <a:off x="274320" y="502920"/>
            <a:ext cx="11430000" cy="640080"/>
          </a:xfrm>
          <a:prstGeom prst="rect">
            <a:avLst/>
          </a:prstGeom>
          <a:noFill/>
          <a:ln/>
        </p:spPr>
        <p:txBody>
          <a:bodyPr wrap="square" rtlCol="0" anchor="ctr"/>
          <a:lstStyle/>
          <a:p>
            <a:pPr indent="0" marL="0">
              <a:buNone/>
            </a:pPr>
            <a:r>
              <a:rPr lang="en-US" sz="2200" b="1" dirty="0">
                <a:solidFill>
                  <a:srgbClr val="1E3A5F"/>
                </a:solidFill>
                <a:latin typeface="Calibri" pitchFamily="34" charset="0"/>
                <a:ea typeface="Calibri" pitchFamily="34" charset="-122"/>
                <a:cs typeface="Calibri" pitchFamily="34" charset="-120"/>
              </a:rPr>
              <a:t>The Financial System: Three-Layer Architecture</a:t>
            </a:r>
            <a:endParaRPr lang="en-US" sz="22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274320" y="1280160"/>
          <a:ext cx="11612880" cy="4389120"/>
        </p:xfrm>
        <a:graphic>
          <a:graphicData uri="http://schemas.openxmlformats.org/drawingml/2006/table">
            <a:tbl>
              <a:tblPr/>
              <a:tblGrid>
                <a:gridCol w="2903220"/>
                <a:gridCol w="2903220"/>
                <a:gridCol w="2903220"/>
                <a:gridCol w="2903220"/>
              </a:tblGrid>
              <a:tr h="731520">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LAYER</a:t>
                      </a:r>
                      <a:endParaRPr lang="en-US" sz="12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1E3A5F"/>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WHO / WHAT</a:t>
                      </a:r>
                      <a:endParaRPr lang="en-US" sz="12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1E3A5F"/>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ROLE</a:t>
                      </a:r>
                      <a:endParaRPr lang="en-US" sz="12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1E3A5F"/>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EXAMPLE</a:t>
                      </a:r>
                      <a:endParaRPr lang="en-US" sz="12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1E3A5F"/>
                    </a:solidFill>
                  </a:tcPr>
                </a:tc>
              </a:tr>
              <a:tr h="731520">
                <a:tc>
                  <a:txBody>
                    <a:bodyPr/>
                    <a:lstStyle/>
                    <a:p>
                      <a:pPr indent="0" marL="0">
                        <a:buNone/>
                      </a:pPr>
                      <a:r>
                        <a:rPr lang="en-US" sz="1100" dirty="0">
                          <a:solidFill>
                            <a:srgbClr val="1A1A1A"/>
                          </a:solidFill>
                          <a:latin typeface="Calibri" pitchFamily="34" charset="0"/>
                          <a:ea typeface="Calibri" pitchFamily="34" charset="-122"/>
                          <a:cs typeface="Calibri" pitchFamily="34" charset="-120"/>
                        </a:rPr>
                        <a:t>Surplus Units</a:t>
                      </a:r>
                      <a:endParaRPr lang="en-US" sz="11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FFFFFF"/>
                    </a:solidFill>
                  </a:tcPr>
                </a:tc>
                <a:tc>
                  <a:txBody>
                    <a:bodyPr/>
                    <a:lstStyle/>
                    <a:p>
                      <a:pPr indent="0" marL="0">
                        <a:buNone/>
                      </a:pPr>
                      <a:r>
                        <a:rPr lang="en-US" sz="1100" dirty="0">
                          <a:solidFill>
                            <a:srgbClr val="1A1A1A"/>
                          </a:solidFill>
                          <a:latin typeface="Calibri" pitchFamily="34" charset="0"/>
                          <a:ea typeface="Calibri" pitchFamily="34" charset="-122"/>
                          <a:cs typeface="Calibri" pitchFamily="34" charset="-120"/>
                        </a:rPr>
                        <a:t>Households, profitable companies</a:t>
                      </a:r>
                      <a:endParaRPr lang="en-US" sz="11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FFFFFF"/>
                    </a:solidFill>
                  </a:tcPr>
                </a:tc>
                <a:tc>
                  <a:txBody>
                    <a:bodyPr/>
                    <a:lstStyle/>
                    <a:p>
                      <a:pPr indent="0" marL="0">
                        <a:buNone/>
                      </a:pPr>
                      <a:r>
                        <a:rPr lang="en-US" sz="1100" dirty="0">
                          <a:solidFill>
                            <a:srgbClr val="1A1A1A"/>
                          </a:solidFill>
                          <a:latin typeface="Calibri" pitchFamily="34" charset="0"/>
                          <a:ea typeface="Calibri" pitchFamily="34" charset="-122"/>
                          <a:cs typeface="Calibri" pitchFamily="34" charset="-120"/>
                        </a:rPr>
                        <a:t>Provide savings and capital</a:t>
                      </a:r>
                      <a:endParaRPr lang="en-US" sz="11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FFFFFF"/>
                    </a:solidFill>
                  </a:tcPr>
                </a:tc>
                <a:tc>
                  <a:txBody>
                    <a:bodyPr/>
                    <a:lstStyle/>
                    <a:p>
                      <a:pPr indent="0" marL="0">
                        <a:buNone/>
                      </a:pPr>
                      <a:r>
                        <a:rPr lang="en-US" sz="1100" dirty="0">
                          <a:solidFill>
                            <a:srgbClr val="1A1A1A"/>
                          </a:solidFill>
                          <a:latin typeface="Calibri" pitchFamily="34" charset="0"/>
                          <a:ea typeface="Calibri" pitchFamily="34" charset="-122"/>
                          <a:cs typeface="Calibri" pitchFamily="34" charset="-120"/>
                        </a:rPr>
                        <a:t>A salaried employee investing ₹5,000/month in SIP</a:t>
                      </a:r>
                      <a:endParaRPr lang="en-US" sz="11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FFFFFF"/>
                    </a:solidFill>
                  </a:tcPr>
                </a:tc>
              </a:tr>
              <a:tr h="731520">
                <a:tc>
                  <a:txBody>
                    <a:bodyPr/>
                    <a:lstStyle/>
                    <a:p>
                      <a:pPr indent="0" marL="0">
                        <a:buNone/>
                      </a:pPr>
                      <a:r>
                        <a:rPr lang="en-US" sz="1100" dirty="0">
                          <a:solidFill>
                            <a:srgbClr val="1A1A1A"/>
                          </a:solidFill>
                          <a:latin typeface="Calibri" pitchFamily="34" charset="0"/>
                          <a:ea typeface="Calibri" pitchFamily="34" charset="-122"/>
                          <a:cs typeface="Calibri" pitchFamily="34" charset="-120"/>
                        </a:rPr>
                        <a:t>Financial System</a:t>
                      </a:r>
                      <a:endParaRPr lang="en-US" sz="11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D5E3F0"/>
                    </a:solidFill>
                  </a:tcPr>
                </a:tc>
                <a:tc>
                  <a:txBody>
                    <a:bodyPr/>
                    <a:lstStyle/>
                    <a:p>
                      <a:pPr indent="0" marL="0">
                        <a:buNone/>
                      </a:pPr>
                      <a:r>
                        <a:rPr lang="en-US" sz="1100" dirty="0">
                          <a:solidFill>
                            <a:srgbClr val="1A1A1A"/>
                          </a:solidFill>
                          <a:latin typeface="Calibri" pitchFamily="34" charset="0"/>
                          <a:ea typeface="Calibri" pitchFamily="34" charset="-122"/>
                          <a:cs typeface="Calibri" pitchFamily="34" charset="-120"/>
                        </a:rPr>
                        <a:t>Banks, exchanges, instruments, regulators</a:t>
                      </a:r>
                      <a:endParaRPr lang="en-US" sz="11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D5E3F0"/>
                    </a:solidFill>
                  </a:tcPr>
                </a:tc>
                <a:tc>
                  <a:txBody>
                    <a:bodyPr/>
                    <a:lstStyle/>
                    <a:p>
                      <a:pPr indent="0" marL="0">
                        <a:buNone/>
                      </a:pPr>
                      <a:r>
                        <a:rPr lang="en-US" sz="1100" dirty="0">
                          <a:solidFill>
                            <a:srgbClr val="1A1A1A"/>
                          </a:solidFill>
                          <a:latin typeface="Calibri" pitchFamily="34" charset="0"/>
                          <a:ea typeface="Calibri" pitchFamily="34" charset="-122"/>
                          <a:cs typeface="Calibri" pitchFamily="34" charset="-120"/>
                        </a:rPr>
                        <a:t>Channel, transform and price capital flows</a:t>
                      </a:r>
                      <a:endParaRPr lang="en-US" sz="11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D5E3F0"/>
                    </a:solidFill>
                  </a:tcPr>
                </a:tc>
                <a:tc>
                  <a:txBody>
                    <a:bodyPr/>
                    <a:lstStyle/>
                    <a:p>
                      <a:pPr indent="0" marL="0">
                        <a:buNone/>
                      </a:pPr>
                      <a:r>
                        <a:rPr lang="en-US" sz="1100" dirty="0">
                          <a:solidFill>
                            <a:srgbClr val="1A1A1A"/>
                          </a:solidFill>
                          <a:latin typeface="Calibri" pitchFamily="34" charset="0"/>
                          <a:ea typeface="Calibri" pitchFamily="34" charset="-122"/>
                          <a:cs typeface="Calibri" pitchFamily="34" charset="-120"/>
                        </a:rPr>
                        <a:t>NSE matching buyer and seller; SBI lending depositor funds</a:t>
                      </a:r>
                      <a:endParaRPr lang="en-US" sz="11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D5E3F0"/>
                    </a:solidFill>
                  </a:tcPr>
                </a:tc>
              </a:tr>
              <a:tr h="731520">
                <a:tc>
                  <a:txBody>
                    <a:bodyPr/>
                    <a:lstStyle/>
                    <a:p>
                      <a:pPr indent="0" marL="0">
                        <a:buNone/>
                      </a:pPr>
                      <a:r>
                        <a:rPr lang="en-US" sz="1100" dirty="0">
                          <a:solidFill>
                            <a:srgbClr val="1A1A1A"/>
                          </a:solidFill>
                          <a:latin typeface="Calibri" pitchFamily="34" charset="0"/>
                          <a:ea typeface="Calibri" pitchFamily="34" charset="-122"/>
                          <a:cs typeface="Calibri" pitchFamily="34" charset="-120"/>
                        </a:rPr>
                        <a:t>Deficit Units</a:t>
                      </a:r>
                      <a:endParaRPr lang="en-US" sz="11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FFFFFF"/>
                    </a:solidFill>
                  </a:tcPr>
                </a:tc>
                <a:tc>
                  <a:txBody>
                    <a:bodyPr/>
                    <a:lstStyle/>
                    <a:p>
                      <a:pPr indent="0" marL="0">
                        <a:buNone/>
                      </a:pPr>
                      <a:r>
                        <a:rPr lang="en-US" sz="1100" dirty="0">
                          <a:solidFill>
                            <a:srgbClr val="1A1A1A"/>
                          </a:solidFill>
                          <a:latin typeface="Calibri" pitchFamily="34" charset="0"/>
                          <a:ea typeface="Calibri" pitchFamily="34" charset="-122"/>
                          <a:cs typeface="Calibri" pitchFamily="34" charset="-120"/>
                        </a:rPr>
                        <a:t>Businesses, governments, infrastructure projects</a:t>
                      </a:r>
                      <a:endParaRPr lang="en-US" sz="11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FFFFFF"/>
                    </a:solidFill>
                  </a:tcPr>
                </a:tc>
                <a:tc>
                  <a:txBody>
                    <a:bodyPr/>
                    <a:lstStyle/>
                    <a:p>
                      <a:pPr indent="0" marL="0">
                        <a:buNone/>
                      </a:pPr>
                      <a:r>
                        <a:rPr lang="en-US" sz="1100" dirty="0">
                          <a:solidFill>
                            <a:srgbClr val="1A1A1A"/>
                          </a:solidFill>
                          <a:latin typeface="Calibri" pitchFamily="34" charset="0"/>
                          <a:ea typeface="Calibri" pitchFamily="34" charset="-122"/>
                          <a:cs typeface="Calibri" pitchFamily="34" charset="-120"/>
                        </a:rPr>
                        <a:t>Deploy capital for productive use</a:t>
                      </a:r>
                      <a:endParaRPr lang="en-US" sz="11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FFFFFF"/>
                    </a:solidFill>
                  </a:tcPr>
                </a:tc>
                <a:tc>
                  <a:txBody>
                    <a:bodyPr/>
                    <a:lstStyle/>
                    <a:p>
                      <a:pPr indent="0" marL="0">
                        <a:buNone/>
                      </a:pPr>
                      <a:r>
                        <a:rPr lang="en-US" sz="1100" dirty="0">
                          <a:solidFill>
                            <a:srgbClr val="1A1A1A"/>
                          </a:solidFill>
                          <a:latin typeface="Calibri" pitchFamily="34" charset="0"/>
                          <a:ea typeface="Calibri" pitchFamily="34" charset="-122"/>
                          <a:cs typeface="Calibri" pitchFamily="34" charset="-120"/>
                        </a:rPr>
                        <a:t>NHAI issuing bonds to fund highway construction</a:t>
                      </a:r>
                      <a:endParaRPr lang="en-US" sz="11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FFFFFF"/>
                    </a:solidFill>
                  </a:tcPr>
                </a:tc>
              </a:tr>
              <a:tr h="731520">
                <a:tc>
                  <a:txBody>
                    <a:bodyPr/>
                    <a:lstStyle/>
                    <a:p>
                      <a:pPr indent="0" marL="0">
                        <a:buNone/>
                      </a:pPr>
                      <a:r>
                        <a:rPr lang="en-US" sz="1100" dirty="0">
                          <a:solidFill>
                            <a:srgbClr val="1A1A1A"/>
                          </a:solidFill>
                          <a:latin typeface="Calibri" pitchFamily="34" charset="0"/>
                          <a:ea typeface="Calibri" pitchFamily="34" charset="-122"/>
                          <a:cs typeface="Calibri" pitchFamily="34" charset="-120"/>
                        </a:rPr>
                        <a:t>Direct Finance</a:t>
                      </a:r>
                      <a:endParaRPr lang="en-US" sz="11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D5E3F0"/>
                    </a:solidFill>
                  </a:tcPr>
                </a:tc>
                <a:tc>
                  <a:txBody>
                    <a:bodyPr/>
                    <a:lstStyle/>
                    <a:p>
                      <a:pPr indent="0" marL="0">
                        <a:buNone/>
                      </a:pPr>
                      <a:r>
                        <a:rPr lang="en-US" sz="1100" dirty="0">
                          <a:solidFill>
                            <a:srgbClr val="1A1A1A"/>
                          </a:solidFill>
                          <a:latin typeface="Calibri" pitchFamily="34" charset="0"/>
                          <a:ea typeface="Calibri" pitchFamily="34" charset="-122"/>
                          <a:cs typeface="Calibri" pitchFamily="34" charset="-120"/>
                        </a:rPr>
                        <a:t>Issuer → Investor (no intermediary)</a:t>
                      </a:r>
                      <a:endParaRPr lang="en-US" sz="11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D5E3F0"/>
                    </a:solidFill>
                  </a:tcPr>
                </a:tc>
                <a:tc>
                  <a:txBody>
                    <a:bodyPr/>
                    <a:lstStyle/>
                    <a:p>
                      <a:pPr indent="0" marL="0">
                        <a:buNone/>
                      </a:pPr>
                      <a:r>
                        <a:rPr lang="en-US" sz="1100" dirty="0">
                          <a:solidFill>
                            <a:srgbClr val="1A1A1A"/>
                          </a:solidFill>
                          <a:latin typeface="Calibri" pitchFamily="34" charset="0"/>
                          <a:ea typeface="Calibri" pitchFamily="34" charset="-122"/>
                          <a:cs typeface="Calibri" pitchFamily="34" charset="-120"/>
                        </a:rPr>
                        <a:t>Issuer raises capital directly</a:t>
                      </a:r>
                      <a:endParaRPr lang="en-US" sz="11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D5E3F0"/>
                    </a:solidFill>
                  </a:tcPr>
                </a:tc>
                <a:tc>
                  <a:txBody>
                    <a:bodyPr/>
                    <a:lstStyle/>
                    <a:p>
                      <a:pPr indent="0" marL="0">
                        <a:buNone/>
                      </a:pPr>
                      <a:r>
                        <a:rPr lang="en-US" sz="1100" dirty="0">
                          <a:solidFill>
                            <a:srgbClr val="1A1A1A"/>
                          </a:solidFill>
                          <a:latin typeface="Calibri" pitchFamily="34" charset="0"/>
                          <a:ea typeface="Calibri" pitchFamily="34" charset="-122"/>
                          <a:cs typeface="Calibri" pitchFamily="34" charset="-120"/>
                        </a:rPr>
                        <a:t>Reliance Industries IPO — investor funds go to company</a:t>
                      </a:r>
                      <a:endParaRPr lang="en-US" sz="11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D5E3F0"/>
                    </a:solidFill>
                  </a:tcPr>
                </a:tc>
              </a:tr>
              <a:tr h="731520">
                <a:tc>
                  <a:txBody>
                    <a:bodyPr/>
                    <a:lstStyle/>
                    <a:p>
                      <a:pPr indent="0" marL="0">
                        <a:buNone/>
                      </a:pPr>
                      <a:r>
                        <a:rPr lang="en-US" sz="1100" dirty="0">
                          <a:solidFill>
                            <a:srgbClr val="1A1A1A"/>
                          </a:solidFill>
                          <a:latin typeface="Calibri" pitchFamily="34" charset="0"/>
                          <a:ea typeface="Calibri" pitchFamily="34" charset="-122"/>
                          <a:cs typeface="Calibri" pitchFamily="34" charset="-120"/>
                        </a:rPr>
                        <a:t>Indirect Finance</a:t>
                      </a:r>
                      <a:endParaRPr lang="en-US" sz="11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FFFFFF"/>
                    </a:solidFill>
                  </a:tcPr>
                </a:tc>
                <a:tc>
                  <a:txBody>
                    <a:bodyPr/>
                    <a:lstStyle/>
                    <a:p>
                      <a:pPr indent="0" marL="0">
                        <a:buNone/>
                      </a:pPr>
                      <a:r>
                        <a:rPr lang="en-US" sz="1100" dirty="0">
                          <a:solidFill>
                            <a:srgbClr val="1A1A1A"/>
                          </a:solidFill>
                          <a:latin typeface="Calibri" pitchFamily="34" charset="0"/>
                          <a:ea typeface="Calibri" pitchFamily="34" charset="-122"/>
                          <a:cs typeface="Calibri" pitchFamily="34" charset="-120"/>
                        </a:rPr>
                        <a:t>Issuer → Bank → Investor</a:t>
                      </a:r>
                      <a:endParaRPr lang="en-US" sz="11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FFFFFF"/>
                    </a:solidFill>
                  </a:tcPr>
                </a:tc>
                <a:tc>
                  <a:txBody>
                    <a:bodyPr/>
                    <a:lstStyle/>
                    <a:p>
                      <a:pPr indent="0" marL="0">
                        <a:buNone/>
                      </a:pPr>
                      <a:r>
                        <a:rPr lang="en-US" sz="1100" dirty="0">
                          <a:solidFill>
                            <a:srgbClr val="1A1A1A"/>
                          </a:solidFill>
                          <a:latin typeface="Calibri" pitchFamily="34" charset="0"/>
                          <a:ea typeface="Calibri" pitchFamily="34" charset="-122"/>
                          <a:cs typeface="Calibri" pitchFamily="34" charset="-120"/>
                        </a:rPr>
                        <a:t>Bank intermediates and transforms risk</a:t>
                      </a:r>
                      <a:endParaRPr lang="en-US" sz="11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FFFFFF"/>
                    </a:solidFill>
                  </a:tcPr>
                </a:tc>
                <a:tc>
                  <a:txBody>
                    <a:bodyPr/>
                    <a:lstStyle/>
                    <a:p>
                      <a:pPr indent="0" marL="0">
                        <a:buNone/>
                      </a:pPr>
                      <a:r>
                        <a:rPr lang="en-US" sz="1100" dirty="0">
                          <a:solidFill>
                            <a:srgbClr val="1A1A1A"/>
                          </a:solidFill>
                          <a:latin typeface="Calibri" pitchFamily="34" charset="0"/>
                          <a:ea typeface="Calibri" pitchFamily="34" charset="-122"/>
                          <a:cs typeface="Calibri" pitchFamily="34" charset="-120"/>
                        </a:rPr>
                        <a:t>HDFC Bank loan — funded by depositor savings</a:t>
                      </a:r>
                      <a:endParaRPr lang="en-US" sz="11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FFFFFF"/>
                    </a:solidFill>
                  </a:tcPr>
                </a:tc>
              </a:tr>
            </a:tbl>
          </a:graphicData>
        </a:graphic>
      </p:graphicFrame>
      <p:sp>
        <p:nvSpPr>
          <p:cNvPr id="11" name="Text 8"/>
          <p:cNvSpPr/>
          <p:nvPr/>
        </p:nvSpPr>
        <p:spPr>
          <a:xfrm>
            <a:off x="274320" y="6126480"/>
            <a:ext cx="11612880" cy="365760"/>
          </a:xfrm>
          <a:prstGeom prst="rect">
            <a:avLst/>
          </a:prstGeom>
          <a:noFill/>
          <a:ln/>
        </p:spPr>
        <p:txBody>
          <a:bodyPr wrap="square" rtlCol="0" anchor="ctr"/>
          <a:lstStyle/>
          <a:p>
            <a:pPr indent="0" marL="0">
              <a:buNone/>
            </a:pPr>
            <a:r>
              <a:rPr lang="en-US" sz="1000" dirty="0">
                <a:solidFill>
                  <a:srgbClr val="005F5F"/>
                </a:solidFill>
                <a:latin typeface="Calibri" pitchFamily="34" charset="0"/>
                <a:ea typeface="Calibri" pitchFamily="34" charset="-122"/>
                <a:cs typeface="Calibri" pitchFamily="34" charset="-120"/>
              </a:rPr>
              <a:t>⚡  In operations, you identify which type of finance each transaction represents — it determines settlement workflow, documentation, and regulatory treatment.</a:t>
            </a:r>
            <a:endParaRPr lang="en-US" sz="1000" dirty="0"/>
          </a:p>
        </p:txBody>
      </p:sp>
      <p:sp>
        <p:nvSpPr>
          <p:cNvPr id="12" name="Text 9"/>
          <p:cNvSpPr/>
          <p:nvPr/>
        </p:nvSpPr>
        <p:spPr>
          <a:xfrm>
            <a:off x="0" y="6601968"/>
            <a:ext cx="12192000" cy="182880"/>
          </a:xfrm>
          <a:prstGeom prst="rect">
            <a:avLst/>
          </a:prstGeom>
          <a:noFill/>
          <a:ln/>
        </p:spPr>
        <p:txBody>
          <a:bodyPr wrap="square" rtlCol="0" anchor="ctr"/>
          <a:lstStyle/>
          <a:p>
            <a:pPr algn="ctr" indent="0" marL="0">
              <a:buNone/>
            </a:pPr>
            <a:r>
              <a:rPr lang="en-US" sz="800" dirty="0">
                <a:solidFill>
                  <a:srgbClr val="AAAAAA"/>
                </a:solidFill>
                <a:latin typeface="Calibri" pitchFamily="34" charset="0"/>
                <a:ea typeface="Calibri" pitchFamily="34" charset="-122"/>
                <a:cs typeface="Calibri" pitchFamily="34" charset="-120"/>
              </a:rPr>
              <a:t>CIBOP · Module 1 · D1.1</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4F6FA"/>
          </a:solidFill>
          <a:ln/>
        </p:spPr>
      </p:sp>
      <p:sp>
        <p:nvSpPr>
          <p:cNvPr id="3" name="Shape 1"/>
          <p:cNvSpPr/>
          <p:nvPr/>
        </p:nvSpPr>
        <p:spPr>
          <a:xfrm>
            <a:off x="0" y="0"/>
            <a:ext cx="12192000" cy="73152"/>
          </a:xfrm>
          <a:prstGeom prst="rect">
            <a:avLst/>
          </a:prstGeom>
          <a:solidFill>
            <a:srgbClr val="1E3A5F"/>
          </a:solidFill>
          <a:ln/>
        </p:spPr>
      </p:sp>
      <p:sp>
        <p:nvSpPr>
          <p:cNvPr id="4" name="Shape 2"/>
          <p:cNvSpPr/>
          <p:nvPr/>
        </p:nvSpPr>
        <p:spPr>
          <a:xfrm>
            <a:off x="0" y="6784848"/>
            <a:ext cx="12192000" cy="73152"/>
          </a:xfrm>
          <a:prstGeom prst="rect">
            <a:avLst/>
          </a:prstGeom>
          <a:solidFill>
            <a:srgbClr val="B8860B"/>
          </a:solidFill>
          <a:ln/>
        </p:spPr>
      </p:sp>
      <p:sp>
        <p:nvSpPr>
          <p:cNvPr id="5" name="Shape 3"/>
          <p:cNvSpPr/>
          <p:nvPr/>
        </p:nvSpPr>
        <p:spPr>
          <a:xfrm>
            <a:off x="0" y="73152"/>
            <a:ext cx="1828800" cy="347472"/>
          </a:xfrm>
          <a:prstGeom prst="rect">
            <a:avLst/>
          </a:prstGeom>
          <a:solidFill>
            <a:srgbClr val="B8860B"/>
          </a:solidFill>
          <a:ln/>
        </p:spPr>
      </p:sp>
      <p:sp>
        <p:nvSpPr>
          <p:cNvPr id="6" name="Text 4"/>
          <p:cNvSpPr/>
          <p:nvPr/>
        </p:nvSpPr>
        <p:spPr>
          <a:xfrm>
            <a:off x="0" y="73152"/>
            <a:ext cx="1828800" cy="347472"/>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GOING DEEPER</a:t>
            </a:r>
            <a:endParaRPr lang="en-US" sz="1000" dirty="0"/>
          </a:p>
        </p:txBody>
      </p:sp>
      <p:sp>
        <p:nvSpPr>
          <p:cNvPr id="7" name="Shape 5"/>
          <p:cNvSpPr/>
          <p:nvPr/>
        </p:nvSpPr>
        <p:spPr>
          <a:xfrm>
            <a:off x="10360152" y="73152"/>
            <a:ext cx="1828800" cy="347472"/>
          </a:xfrm>
          <a:prstGeom prst="rect">
            <a:avLst/>
          </a:prstGeom>
          <a:solidFill>
            <a:srgbClr val="005F5F"/>
          </a:solidFill>
          <a:ln/>
        </p:spPr>
      </p:sp>
      <p:sp>
        <p:nvSpPr>
          <p:cNvPr id="8" name="Text 6"/>
          <p:cNvSpPr/>
          <p:nvPr/>
        </p:nvSpPr>
        <p:spPr>
          <a:xfrm>
            <a:off x="10360152" y="73152"/>
            <a:ext cx="1828800" cy="347472"/>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D1.1</a:t>
            </a:r>
            <a:endParaRPr lang="en-US" sz="1000" dirty="0"/>
          </a:p>
        </p:txBody>
      </p:sp>
      <p:sp>
        <p:nvSpPr>
          <p:cNvPr id="9" name="Text 7"/>
          <p:cNvSpPr/>
          <p:nvPr/>
        </p:nvSpPr>
        <p:spPr>
          <a:xfrm>
            <a:off x="274320" y="502920"/>
            <a:ext cx="11612880" cy="640080"/>
          </a:xfrm>
          <a:prstGeom prst="rect">
            <a:avLst/>
          </a:prstGeom>
          <a:noFill/>
          <a:ln/>
        </p:spPr>
        <p:txBody>
          <a:bodyPr wrap="square" rtlCol="0" anchor="ctr"/>
          <a:lstStyle/>
          <a:p>
            <a:pPr indent="0" marL="0">
              <a:buNone/>
            </a:pPr>
            <a:r>
              <a:rPr lang="en-US" sz="2200" b="1" dirty="0">
                <a:solidFill>
                  <a:srgbClr val="1E3A5F"/>
                </a:solidFill>
                <a:latin typeface="Calibri" pitchFamily="34" charset="0"/>
                <a:ea typeface="Calibri" pitchFamily="34" charset="-122"/>
                <a:cs typeface="Calibri" pitchFamily="34" charset="-120"/>
              </a:rPr>
              <a:t>Four Things Most People Get Wrong About Financial Systems</a:t>
            </a:r>
            <a:endParaRPr lang="en-US" sz="2200" dirty="0"/>
          </a:p>
        </p:txBody>
      </p:sp>
      <p:sp>
        <p:nvSpPr>
          <p:cNvPr id="10" name="Shape 8"/>
          <p:cNvSpPr/>
          <p:nvPr/>
        </p:nvSpPr>
        <p:spPr>
          <a:xfrm>
            <a:off x="274320" y="1280160"/>
            <a:ext cx="5669280" cy="2377440"/>
          </a:xfrm>
          <a:prstGeom prst="rect">
            <a:avLst/>
          </a:prstGeom>
          <a:solidFill>
            <a:srgbClr val="D5E3F0"/>
          </a:solidFill>
          <a:ln w="6350">
            <a:solidFill>
              <a:srgbClr val="AAAAAA"/>
            </a:solidFill>
            <a:prstDash val="solid"/>
          </a:ln>
        </p:spPr>
      </p:sp>
      <p:sp>
        <p:nvSpPr>
          <p:cNvPr id="11" name="Shape 9"/>
          <p:cNvSpPr/>
          <p:nvPr/>
        </p:nvSpPr>
        <p:spPr>
          <a:xfrm>
            <a:off x="365760" y="1371600"/>
            <a:ext cx="457200" cy="457200"/>
          </a:xfrm>
          <a:prstGeom prst="ellipse">
            <a:avLst/>
          </a:prstGeom>
          <a:solidFill>
            <a:srgbClr val="1E3A5F"/>
          </a:solidFill>
          <a:ln/>
        </p:spPr>
      </p:sp>
      <p:sp>
        <p:nvSpPr>
          <p:cNvPr id="12" name="Text 10"/>
          <p:cNvSpPr/>
          <p:nvPr/>
        </p:nvSpPr>
        <p:spPr>
          <a:xfrm>
            <a:off x="365760" y="1371600"/>
            <a:ext cx="457200" cy="45720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3" name="Text 11"/>
          <p:cNvSpPr/>
          <p:nvPr/>
        </p:nvSpPr>
        <p:spPr>
          <a:xfrm>
            <a:off x="914400" y="1371600"/>
            <a:ext cx="4892040" cy="457200"/>
          </a:xfrm>
          <a:prstGeom prst="rect">
            <a:avLst/>
          </a:prstGeom>
          <a:noFill/>
          <a:ln/>
        </p:spPr>
        <p:txBody>
          <a:bodyPr wrap="square" rtlCol="0" anchor="ctr"/>
          <a:lstStyle/>
          <a:p>
            <a:pPr indent="0" marL="0">
              <a:buNone/>
            </a:pPr>
            <a:r>
              <a:rPr lang="en-US" sz="1300" b="1" dirty="0">
                <a:solidFill>
                  <a:srgbClr val="1A1A1A"/>
                </a:solidFill>
                <a:latin typeface="Calibri" pitchFamily="34" charset="0"/>
                <a:ea typeface="Calibri" pitchFamily="34" charset="-122"/>
                <a:cs typeface="Calibri" pitchFamily="34" charset="-120"/>
              </a:rPr>
              <a:t>It Is Not Just Stock Markets</a:t>
            </a:r>
            <a:endParaRPr lang="en-US" sz="1300" dirty="0"/>
          </a:p>
        </p:txBody>
      </p:sp>
      <p:sp>
        <p:nvSpPr>
          <p:cNvPr id="14" name="Text 12"/>
          <p:cNvSpPr/>
          <p:nvPr/>
        </p:nvSpPr>
        <p:spPr>
          <a:xfrm>
            <a:off x="411480" y="1874520"/>
            <a:ext cx="5394960" cy="1645920"/>
          </a:xfrm>
          <a:prstGeom prst="rect">
            <a:avLst/>
          </a:prstGeom>
          <a:noFill/>
          <a:ln/>
        </p:spPr>
        <p:txBody>
          <a:bodyPr wrap="square" rtlCol="0" anchor="ctr"/>
          <a:lstStyle/>
          <a:p>
            <a:pPr indent="0" marL="0">
              <a:buNone/>
            </a:pPr>
            <a:r>
              <a:rPr lang="en-US" sz="1100" dirty="0">
                <a:solidFill>
                  <a:srgbClr val="1A1A1A"/>
                </a:solidFill>
                <a:latin typeface="Calibri" pitchFamily="34" charset="0"/>
                <a:ea typeface="Calibri" pitchFamily="34" charset="-122"/>
                <a:cs typeface="Calibri" pitchFamily="34" charset="-120"/>
              </a:rPr>
              <a:t>Most people equate financial systems with stock markets. But banking, bond markets, insurance, FX, and money markets are all components. A country can have a functioning financial system without a stock exchange.</a:t>
            </a:r>
            <a:endParaRPr lang="en-US" sz="1100" dirty="0"/>
          </a:p>
        </p:txBody>
      </p:sp>
      <p:sp>
        <p:nvSpPr>
          <p:cNvPr id="15" name="Shape 13"/>
          <p:cNvSpPr/>
          <p:nvPr/>
        </p:nvSpPr>
        <p:spPr>
          <a:xfrm>
            <a:off x="6126480" y="1280160"/>
            <a:ext cx="5669280" cy="2377440"/>
          </a:xfrm>
          <a:prstGeom prst="rect">
            <a:avLst/>
          </a:prstGeom>
          <a:solidFill>
            <a:srgbClr val="D4EFEF"/>
          </a:solidFill>
          <a:ln w="6350">
            <a:solidFill>
              <a:srgbClr val="AAAAAA"/>
            </a:solidFill>
            <a:prstDash val="solid"/>
          </a:ln>
        </p:spPr>
      </p:sp>
      <p:sp>
        <p:nvSpPr>
          <p:cNvPr id="16" name="Shape 14"/>
          <p:cNvSpPr/>
          <p:nvPr/>
        </p:nvSpPr>
        <p:spPr>
          <a:xfrm>
            <a:off x="6217920" y="1371600"/>
            <a:ext cx="457200" cy="457200"/>
          </a:xfrm>
          <a:prstGeom prst="ellipse">
            <a:avLst/>
          </a:prstGeom>
          <a:solidFill>
            <a:srgbClr val="005F5F"/>
          </a:solidFill>
          <a:ln/>
        </p:spPr>
      </p:sp>
      <p:sp>
        <p:nvSpPr>
          <p:cNvPr id="17" name="Text 15"/>
          <p:cNvSpPr/>
          <p:nvPr/>
        </p:nvSpPr>
        <p:spPr>
          <a:xfrm>
            <a:off x="6217920" y="1371600"/>
            <a:ext cx="457200" cy="45720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8" name="Text 16"/>
          <p:cNvSpPr/>
          <p:nvPr/>
        </p:nvSpPr>
        <p:spPr>
          <a:xfrm>
            <a:off x="6766560" y="1371600"/>
            <a:ext cx="4892040" cy="457200"/>
          </a:xfrm>
          <a:prstGeom prst="rect">
            <a:avLst/>
          </a:prstGeom>
          <a:noFill/>
          <a:ln/>
        </p:spPr>
        <p:txBody>
          <a:bodyPr wrap="square" rtlCol="0" anchor="ctr"/>
          <a:lstStyle/>
          <a:p>
            <a:pPr indent="0" marL="0">
              <a:buNone/>
            </a:pPr>
            <a:r>
              <a:rPr lang="en-US" sz="1300" b="1" dirty="0">
                <a:solidFill>
                  <a:srgbClr val="1A1A1A"/>
                </a:solidFill>
                <a:latin typeface="Calibri" pitchFamily="34" charset="0"/>
                <a:ea typeface="Calibri" pitchFamily="34" charset="-122"/>
                <a:cs typeface="Calibri" pitchFamily="34" charset="-120"/>
              </a:rPr>
              <a:t>Risk Is Not Eliminated — It Is Redistributed</a:t>
            </a:r>
            <a:endParaRPr lang="en-US" sz="1300" dirty="0"/>
          </a:p>
        </p:txBody>
      </p:sp>
      <p:sp>
        <p:nvSpPr>
          <p:cNvPr id="19" name="Text 17"/>
          <p:cNvSpPr/>
          <p:nvPr/>
        </p:nvSpPr>
        <p:spPr>
          <a:xfrm>
            <a:off x="6263640" y="1874520"/>
            <a:ext cx="5394960" cy="1645920"/>
          </a:xfrm>
          <a:prstGeom prst="rect">
            <a:avLst/>
          </a:prstGeom>
          <a:noFill/>
          <a:ln/>
        </p:spPr>
        <p:txBody>
          <a:bodyPr wrap="square" rtlCol="0" anchor="ctr"/>
          <a:lstStyle/>
          <a:p>
            <a:pPr indent="0" marL="0">
              <a:buNone/>
            </a:pPr>
            <a:r>
              <a:rPr lang="en-US" sz="1100" dirty="0">
                <a:solidFill>
                  <a:srgbClr val="1A1A1A"/>
                </a:solidFill>
                <a:latin typeface="Calibri" pitchFamily="34" charset="0"/>
                <a:ea typeface="Calibri" pitchFamily="34" charset="-122"/>
                <a:cs typeface="Calibri" pitchFamily="34" charset="-120"/>
              </a:rPr>
              <a:t>Financial systems do not remove risk. They redistribute it to those best able to bear it. Banks absorb credit risk from depositors. Insurers absorb actuarial risk from policyholders. Risk redistribution IS the product.</a:t>
            </a:r>
            <a:endParaRPr lang="en-US" sz="1100" dirty="0"/>
          </a:p>
        </p:txBody>
      </p:sp>
      <p:sp>
        <p:nvSpPr>
          <p:cNvPr id="20" name="Shape 18"/>
          <p:cNvSpPr/>
          <p:nvPr/>
        </p:nvSpPr>
        <p:spPr>
          <a:xfrm>
            <a:off x="274320" y="3840480"/>
            <a:ext cx="5669280" cy="2377440"/>
          </a:xfrm>
          <a:prstGeom prst="rect">
            <a:avLst/>
          </a:prstGeom>
          <a:solidFill>
            <a:srgbClr val="FEF9E7"/>
          </a:solidFill>
          <a:ln w="6350">
            <a:solidFill>
              <a:srgbClr val="AAAAAA"/>
            </a:solidFill>
            <a:prstDash val="solid"/>
          </a:ln>
        </p:spPr>
      </p:sp>
      <p:sp>
        <p:nvSpPr>
          <p:cNvPr id="21" name="Shape 19"/>
          <p:cNvSpPr/>
          <p:nvPr/>
        </p:nvSpPr>
        <p:spPr>
          <a:xfrm>
            <a:off x="365760" y="3931920"/>
            <a:ext cx="457200" cy="457200"/>
          </a:xfrm>
          <a:prstGeom prst="ellipse">
            <a:avLst/>
          </a:prstGeom>
          <a:solidFill>
            <a:srgbClr val="B8860B"/>
          </a:solidFill>
          <a:ln/>
        </p:spPr>
      </p:sp>
      <p:sp>
        <p:nvSpPr>
          <p:cNvPr id="22" name="Text 20"/>
          <p:cNvSpPr/>
          <p:nvPr/>
        </p:nvSpPr>
        <p:spPr>
          <a:xfrm>
            <a:off x="365760" y="3931920"/>
            <a:ext cx="457200" cy="45720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23" name="Text 21"/>
          <p:cNvSpPr/>
          <p:nvPr/>
        </p:nvSpPr>
        <p:spPr>
          <a:xfrm>
            <a:off x="914400" y="3931920"/>
            <a:ext cx="4892040" cy="457200"/>
          </a:xfrm>
          <a:prstGeom prst="rect">
            <a:avLst/>
          </a:prstGeom>
          <a:noFill/>
          <a:ln/>
        </p:spPr>
        <p:txBody>
          <a:bodyPr wrap="square" rtlCol="0" anchor="ctr"/>
          <a:lstStyle/>
          <a:p>
            <a:pPr indent="0" marL="0">
              <a:buNone/>
            </a:pPr>
            <a:r>
              <a:rPr lang="en-US" sz="1300" b="1" dirty="0">
                <a:solidFill>
                  <a:srgbClr val="1A1A1A"/>
                </a:solidFill>
                <a:latin typeface="Calibri" pitchFamily="34" charset="0"/>
                <a:ea typeface="Calibri" pitchFamily="34" charset="-122"/>
                <a:cs typeface="Calibri" pitchFamily="34" charset="-120"/>
              </a:rPr>
              <a:t>Indirect Finance Dominates Emerging Markets</a:t>
            </a:r>
            <a:endParaRPr lang="en-US" sz="1300" dirty="0"/>
          </a:p>
        </p:txBody>
      </p:sp>
      <p:sp>
        <p:nvSpPr>
          <p:cNvPr id="24" name="Text 22"/>
          <p:cNvSpPr/>
          <p:nvPr/>
        </p:nvSpPr>
        <p:spPr>
          <a:xfrm>
            <a:off x="411480" y="4434840"/>
            <a:ext cx="5394960" cy="1645920"/>
          </a:xfrm>
          <a:prstGeom prst="rect">
            <a:avLst/>
          </a:prstGeom>
          <a:noFill/>
          <a:ln/>
        </p:spPr>
        <p:txBody>
          <a:bodyPr wrap="square" rtlCol="0" anchor="ctr"/>
          <a:lstStyle/>
          <a:p>
            <a:pPr indent="0" marL="0">
              <a:buNone/>
            </a:pPr>
            <a:r>
              <a:rPr lang="en-US" sz="1100" dirty="0">
                <a:solidFill>
                  <a:srgbClr val="1A1A1A"/>
                </a:solidFill>
                <a:latin typeface="Calibri" pitchFamily="34" charset="0"/>
                <a:ea typeface="Calibri" pitchFamily="34" charset="-122"/>
                <a:cs typeface="Calibri" pitchFamily="34" charset="-120"/>
              </a:rPr>
              <a:t>In India, over 60% of household savings flow through banks (indirect finance), not capital markets. The capital market depth ratio (market cap / GDP) is a key indicator of financial system maturity.</a:t>
            </a:r>
            <a:endParaRPr lang="en-US" sz="1100" dirty="0"/>
          </a:p>
        </p:txBody>
      </p:sp>
      <p:sp>
        <p:nvSpPr>
          <p:cNvPr id="25" name="Shape 23"/>
          <p:cNvSpPr/>
          <p:nvPr/>
        </p:nvSpPr>
        <p:spPr>
          <a:xfrm>
            <a:off x="6126480" y="3840480"/>
            <a:ext cx="5669280" cy="2377440"/>
          </a:xfrm>
          <a:prstGeom prst="rect">
            <a:avLst/>
          </a:prstGeom>
          <a:solidFill>
            <a:srgbClr val="D5E3F0"/>
          </a:solidFill>
          <a:ln w="6350">
            <a:solidFill>
              <a:srgbClr val="AAAAAA"/>
            </a:solidFill>
            <a:prstDash val="solid"/>
          </a:ln>
        </p:spPr>
      </p:sp>
      <p:sp>
        <p:nvSpPr>
          <p:cNvPr id="26" name="Shape 24"/>
          <p:cNvSpPr/>
          <p:nvPr/>
        </p:nvSpPr>
        <p:spPr>
          <a:xfrm>
            <a:off x="6217920" y="3931920"/>
            <a:ext cx="457200" cy="457200"/>
          </a:xfrm>
          <a:prstGeom prst="ellipse">
            <a:avLst/>
          </a:prstGeom>
          <a:solidFill>
            <a:srgbClr val="1E3A5F"/>
          </a:solidFill>
          <a:ln/>
        </p:spPr>
      </p:sp>
      <p:sp>
        <p:nvSpPr>
          <p:cNvPr id="27" name="Text 25"/>
          <p:cNvSpPr/>
          <p:nvPr/>
        </p:nvSpPr>
        <p:spPr>
          <a:xfrm>
            <a:off x="6217920" y="3931920"/>
            <a:ext cx="457200" cy="45720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28" name="Text 26"/>
          <p:cNvSpPr/>
          <p:nvPr/>
        </p:nvSpPr>
        <p:spPr>
          <a:xfrm>
            <a:off x="6766560" y="3931920"/>
            <a:ext cx="4892040" cy="457200"/>
          </a:xfrm>
          <a:prstGeom prst="rect">
            <a:avLst/>
          </a:prstGeom>
          <a:noFill/>
          <a:ln/>
        </p:spPr>
        <p:txBody>
          <a:bodyPr wrap="square" rtlCol="0" anchor="ctr"/>
          <a:lstStyle/>
          <a:p>
            <a:pPr indent="0" marL="0">
              <a:buNone/>
            </a:pPr>
            <a:r>
              <a:rPr lang="en-US" sz="1300" b="1" dirty="0">
                <a:solidFill>
                  <a:srgbClr val="1A1A1A"/>
                </a:solidFill>
                <a:latin typeface="Calibri" pitchFamily="34" charset="0"/>
                <a:ea typeface="Calibri" pitchFamily="34" charset="-122"/>
                <a:cs typeface="Calibri" pitchFamily="34" charset="-120"/>
              </a:rPr>
              <a:t>Operations Is the Financial System's Nervous System</a:t>
            </a:r>
            <a:endParaRPr lang="en-US" sz="1300" dirty="0"/>
          </a:p>
        </p:txBody>
      </p:sp>
      <p:sp>
        <p:nvSpPr>
          <p:cNvPr id="29" name="Text 27"/>
          <p:cNvSpPr/>
          <p:nvPr/>
        </p:nvSpPr>
        <p:spPr>
          <a:xfrm>
            <a:off x="6263640" y="4434840"/>
            <a:ext cx="5394960" cy="1645920"/>
          </a:xfrm>
          <a:prstGeom prst="rect">
            <a:avLst/>
          </a:prstGeom>
          <a:noFill/>
          <a:ln/>
        </p:spPr>
        <p:txBody>
          <a:bodyPr wrap="square" rtlCol="0" anchor="ctr"/>
          <a:lstStyle/>
          <a:p>
            <a:pPr indent="0" marL="0">
              <a:buNone/>
            </a:pPr>
            <a:r>
              <a:rPr lang="en-US" sz="1100" dirty="0">
                <a:solidFill>
                  <a:srgbClr val="1A1A1A"/>
                </a:solidFill>
                <a:latin typeface="Calibri" pitchFamily="34" charset="0"/>
                <a:ea typeface="Calibri" pitchFamily="34" charset="-122"/>
                <a:cs typeface="Calibri" pitchFamily="34" charset="-120"/>
              </a:rPr>
              <a:t>Traders initiate transactions. The financial system processes them. Operations executes, confirms, settles, and reconciles every single one. Without operations, the financial system generates trades it cannot complete.</a:t>
            </a:r>
            <a:endParaRPr lang="en-US" sz="1100" dirty="0"/>
          </a:p>
        </p:txBody>
      </p:sp>
      <p:sp>
        <p:nvSpPr>
          <p:cNvPr id="30" name="Text 28"/>
          <p:cNvSpPr/>
          <p:nvPr/>
        </p:nvSpPr>
        <p:spPr>
          <a:xfrm>
            <a:off x="0" y="6601968"/>
            <a:ext cx="12192000" cy="182880"/>
          </a:xfrm>
          <a:prstGeom prst="rect">
            <a:avLst/>
          </a:prstGeom>
          <a:noFill/>
          <a:ln/>
        </p:spPr>
        <p:txBody>
          <a:bodyPr wrap="square" rtlCol="0" anchor="ctr"/>
          <a:lstStyle/>
          <a:p>
            <a:pPr algn="ctr" indent="0" marL="0">
              <a:buNone/>
            </a:pPr>
            <a:r>
              <a:rPr lang="en-US" sz="800" dirty="0">
                <a:solidFill>
                  <a:srgbClr val="AAAAAA"/>
                </a:solidFill>
                <a:latin typeface="Calibri" pitchFamily="34" charset="0"/>
                <a:ea typeface="Calibri" pitchFamily="34" charset="-122"/>
                <a:cs typeface="Calibri" pitchFamily="34" charset="-120"/>
              </a:rPr>
              <a:t>CIBOP · Module 1 · D1.1</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005F5F"/>
          </a:solidFill>
          <a:ln/>
        </p:spPr>
      </p:sp>
      <p:sp>
        <p:nvSpPr>
          <p:cNvPr id="3" name="Shape 1"/>
          <p:cNvSpPr/>
          <p:nvPr/>
        </p:nvSpPr>
        <p:spPr>
          <a:xfrm>
            <a:off x="0" y="0"/>
            <a:ext cx="12192000" cy="73152"/>
          </a:xfrm>
          <a:prstGeom prst="rect">
            <a:avLst/>
          </a:prstGeom>
          <a:solidFill>
            <a:srgbClr val="B8860B"/>
          </a:solidFill>
          <a:ln/>
        </p:spPr>
      </p:sp>
      <p:sp>
        <p:nvSpPr>
          <p:cNvPr id="4" name="Shape 2"/>
          <p:cNvSpPr/>
          <p:nvPr/>
        </p:nvSpPr>
        <p:spPr>
          <a:xfrm>
            <a:off x="0" y="6784848"/>
            <a:ext cx="12192000" cy="73152"/>
          </a:xfrm>
          <a:prstGeom prst="rect">
            <a:avLst/>
          </a:prstGeom>
          <a:solidFill>
            <a:srgbClr val="B8860B"/>
          </a:solidFill>
          <a:ln/>
        </p:spPr>
      </p:sp>
      <p:sp>
        <p:nvSpPr>
          <p:cNvPr id="5" name="Shape 3"/>
          <p:cNvSpPr/>
          <p:nvPr/>
        </p:nvSpPr>
        <p:spPr>
          <a:xfrm>
            <a:off x="0" y="73152"/>
            <a:ext cx="1828800" cy="347472"/>
          </a:xfrm>
          <a:prstGeom prst="rect">
            <a:avLst/>
          </a:prstGeom>
          <a:solidFill>
            <a:srgbClr val="B8860B"/>
          </a:solidFill>
          <a:ln/>
        </p:spPr>
      </p:sp>
      <p:sp>
        <p:nvSpPr>
          <p:cNvPr id="6" name="Text 4"/>
          <p:cNvSpPr/>
          <p:nvPr/>
        </p:nvSpPr>
        <p:spPr>
          <a:xfrm>
            <a:off x="0" y="73152"/>
            <a:ext cx="1828800" cy="347472"/>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THINK &amp; DISCUSS</a:t>
            </a:r>
            <a:endParaRPr lang="en-US" sz="1000" dirty="0"/>
          </a:p>
        </p:txBody>
      </p:sp>
      <p:sp>
        <p:nvSpPr>
          <p:cNvPr id="7" name="Shape 5"/>
          <p:cNvSpPr/>
          <p:nvPr/>
        </p:nvSpPr>
        <p:spPr>
          <a:xfrm>
            <a:off x="10360152" y="73152"/>
            <a:ext cx="1828800" cy="347472"/>
          </a:xfrm>
          <a:prstGeom prst="rect">
            <a:avLst/>
          </a:prstGeom>
          <a:solidFill>
            <a:srgbClr val="005F5F"/>
          </a:solidFill>
          <a:ln/>
        </p:spPr>
      </p:sp>
      <p:sp>
        <p:nvSpPr>
          <p:cNvPr id="8" name="Text 6"/>
          <p:cNvSpPr/>
          <p:nvPr/>
        </p:nvSpPr>
        <p:spPr>
          <a:xfrm>
            <a:off x="10360152" y="73152"/>
            <a:ext cx="1828800" cy="347472"/>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D1.1</a:t>
            </a:r>
            <a:endParaRPr lang="en-US" sz="1000" dirty="0"/>
          </a:p>
        </p:txBody>
      </p:sp>
      <p:sp>
        <p:nvSpPr>
          <p:cNvPr id="9" name="Shape 7"/>
          <p:cNvSpPr/>
          <p:nvPr/>
        </p:nvSpPr>
        <p:spPr>
          <a:xfrm>
            <a:off x="365760" y="914400"/>
            <a:ext cx="11155680" cy="3840480"/>
          </a:xfrm>
          <a:prstGeom prst="rect">
            <a:avLst/>
          </a:prstGeom>
          <a:solidFill>
            <a:srgbClr val="004444"/>
          </a:solidFill>
          <a:ln w="12700">
            <a:solidFill>
              <a:srgbClr val="B8860B"/>
            </a:solidFill>
            <a:prstDash val="solid"/>
          </a:ln>
        </p:spPr>
      </p:sp>
      <p:sp>
        <p:nvSpPr>
          <p:cNvPr id="10" name="Text 8"/>
          <p:cNvSpPr/>
          <p:nvPr/>
        </p:nvSpPr>
        <p:spPr>
          <a:xfrm>
            <a:off x="9144000" y="548640"/>
            <a:ext cx="2926080" cy="457200"/>
          </a:xfrm>
          <a:prstGeom prst="rect">
            <a:avLst/>
          </a:prstGeom>
          <a:noFill/>
          <a:ln/>
        </p:spPr>
        <p:txBody>
          <a:bodyPr wrap="square" rtlCol="0" anchor="ctr"/>
          <a:lstStyle/>
          <a:p>
            <a:pPr algn="r" indent="0" marL="0">
              <a:buNone/>
            </a:pPr>
            <a:r>
              <a:rPr lang="en-US" sz="1400" b="1" dirty="0">
                <a:solidFill>
                  <a:srgbClr val="B8860B"/>
                </a:solidFill>
                <a:latin typeface="Calibri" pitchFamily="34" charset="0"/>
                <a:ea typeface="Calibri" pitchFamily="34" charset="-122"/>
                <a:cs typeface="Calibri" pitchFamily="34" charset="-120"/>
              </a:rPr>
              <a:t>🕐  2 MINUTES</a:t>
            </a:r>
            <a:endParaRPr lang="en-US" sz="1400" dirty="0"/>
          </a:p>
        </p:txBody>
      </p:sp>
      <p:sp>
        <p:nvSpPr>
          <p:cNvPr id="11" name="Text 9"/>
          <p:cNvSpPr/>
          <p:nvPr/>
        </p:nvSpPr>
        <p:spPr>
          <a:xfrm>
            <a:off x="640080" y="1188720"/>
            <a:ext cx="10607040" cy="3108960"/>
          </a:xfrm>
          <a:prstGeom prst="rect">
            <a:avLst/>
          </a:prstGeom>
          <a:noFill/>
          <a:ln/>
        </p:spPr>
        <p:txBody>
          <a:bodyPr wrap="square"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 country with a highly developed stock market but a poorly functioning banking system — is its financial system strong or weak? Defend your answer."</a:t>
            </a:r>
            <a:endParaRPr lang="en-US" sz="2000" dirty="0"/>
          </a:p>
        </p:txBody>
      </p:sp>
      <p:sp>
        <p:nvSpPr>
          <p:cNvPr id="12" name="Shape 10"/>
          <p:cNvSpPr/>
          <p:nvPr/>
        </p:nvSpPr>
        <p:spPr>
          <a:xfrm>
            <a:off x="0" y="5029200"/>
            <a:ext cx="12192000" cy="914400"/>
          </a:xfrm>
          <a:prstGeom prst="rect">
            <a:avLst/>
          </a:prstGeom>
          <a:solidFill>
            <a:srgbClr val="003333"/>
          </a:solidFill>
          <a:ln/>
        </p:spPr>
      </p:sp>
      <p:sp>
        <p:nvSpPr>
          <p:cNvPr id="13" name="Text 11"/>
          <p:cNvSpPr/>
          <p:nvPr/>
        </p:nvSpPr>
        <p:spPr>
          <a:xfrm>
            <a:off x="365760" y="5029200"/>
            <a:ext cx="11430000" cy="914400"/>
          </a:xfrm>
          <a:prstGeom prst="rect">
            <a:avLst/>
          </a:prstGeom>
          <a:noFill/>
          <a:ln/>
        </p:spPr>
        <p:txBody>
          <a:bodyPr wrap="square" rtlCol="0" anchor="ctr"/>
          <a:lstStyle/>
          <a:p>
            <a:pPr indent="0" marL="0">
              <a:buNone/>
            </a:pPr>
            <a:r>
              <a:rPr lang="en-US" sz="1400" dirty="0">
                <a:solidFill>
                  <a:srgbClr val="CADCFC"/>
                </a:solidFill>
                <a:latin typeface="Calibri" pitchFamily="34" charset="0"/>
                <a:ea typeface="Calibri" pitchFamily="34" charset="-122"/>
                <a:cs typeface="Calibri" pitchFamily="34" charset="-120"/>
              </a:rPr>
              <a:t>💡  Hint: Think about which type of finance most businesses (especially SMEs) depend on, and what happens to capital allocation when banks fail.</a:t>
            </a:r>
            <a:endParaRPr lang="en-US" sz="1400" dirty="0"/>
          </a:p>
        </p:txBody>
      </p:sp>
      <p:sp>
        <p:nvSpPr>
          <p:cNvPr id="14" name="Text 12"/>
          <p:cNvSpPr/>
          <p:nvPr/>
        </p:nvSpPr>
        <p:spPr>
          <a:xfrm>
            <a:off x="0" y="6601968"/>
            <a:ext cx="12192000" cy="182880"/>
          </a:xfrm>
          <a:prstGeom prst="rect">
            <a:avLst/>
          </a:prstGeom>
          <a:noFill/>
          <a:ln/>
        </p:spPr>
        <p:txBody>
          <a:bodyPr wrap="square" rtlCol="0" anchor="ctr"/>
          <a:lstStyle/>
          <a:p>
            <a:pPr algn="ctr" indent="0" marL="0">
              <a:buNone/>
            </a:pPr>
            <a:r>
              <a:rPr lang="en-US" sz="800" dirty="0">
                <a:solidFill>
                  <a:srgbClr val="AAAAAA"/>
                </a:solidFill>
                <a:latin typeface="Calibri" pitchFamily="34" charset="0"/>
                <a:ea typeface="Calibri" pitchFamily="34" charset="-122"/>
                <a:cs typeface="Calibri" pitchFamily="34" charset="-120"/>
              </a:rPr>
              <a:t>CIBOP · Module 1 · D1.1</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4F6FA"/>
          </a:solidFill>
          <a:ln/>
        </p:spPr>
      </p:sp>
      <p:sp>
        <p:nvSpPr>
          <p:cNvPr id="3" name="Shape 1"/>
          <p:cNvSpPr/>
          <p:nvPr/>
        </p:nvSpPr>
        <p:spPr>
          <a:xfrm>
            <a:off x="0" y="0"/>
            <a:ext cx="12192000" cy="73152"/>
          </a:xfrm>
          <a:prstGeom prst="rect">
            <a:avLst/>
          </a:prstGeom>
          <a:solidFill>
            <a:srgbClr val="B8860B"/>
          </a:solidFill>
          <a:ln/>
        </p:spPr>
      </p:sp>
      <p:sp>
        <p:nvSpPr>
          <p:cNvPr id="4" name="Shape 2"/>
          <p:cNvSpPr/>
          <p:nvPr/>
        </p:nvSpPr>
        <p:spPr>
          <a:xfrm>
            <a:off x="0" y="6784848"/>
            <a:ext cx="12192000" cy="73152"/>
          </a:xfrm>
          <a:prstGeom prst="rect">
            <a:avLst/>
          </a:prstGeom>
          <a:solidFill>
            <a:srgbClr val="1E3A5F"/>
          </a:solidFill>
          <a:ln/>
        </p:spPr>
      </p:sp>
      <p:sp>
        <p:nvSpPr>
          <p:cNvPr id="5" name="Shape 3"/>
          <p:cNvSpPr/>
          <p:nvPr/>
        </p:nvSpPr>
        <p:spPr>
          <a:xfrm>
            <a:off x="0" y="73152"/>
            <a:ext cx="1828800" cy="347472"/>
          </a:xfrm>
          <a:prstGeom prst="rect">
            <a:avLst/>
          </a:prstGeom>
          <a:solidFill>
            <a:srgbClr val="B8860B"/>
          </a:solidFill>
          <a:ln/>
        </p:spPr>
      </p:sp>
      <p:sp>
        <p:nvSpPr>
          <p:cNvPr id="6" name="Text 4"/>
          <p:cNvSpPr/>
          <p:nvPr/>
        </p:nvSpPr>
        <p:spPr>
          <a:xfrm>
            <a:off x="0" y="73152"/>
            <a:ext cx="1828800" cy="347472"/>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INTERVIEW READY</a:t>
            </a:r>
            <a:endParaRPr lang="en-US" sz="1000" dirty="0"/>
          </a:p>
        </p:txBody>
      </p:sp>
      <p:sp>
        <p:nvSpPr>
          <p:cNvPr id="7" name="Shape 5"/>
          <p:cNvSpPr/>
          <p:nvPr/>
        </p:nvSpPr>
        <p:spPr>
          <a:xfrm>
            <a:off x="10360152" y="73152"/>
            <a:ext cx="1828800" cy="347472"/>
          </a:xfrm>
          <a:prstGeom prst="rect">
            <a:avLst/>
          </a:prstGeom>
          <a:solidFill>
            <a:srgbClr val="005F5F"/>
          </a:solidFill>
          <a:ln/>
        </p:spPr>
      </p:sp>
      <p:sp>
        <p:nvSpPr>
          <p:cNvPr id="8" name="Text 6"/>
          <p:cNvSpPr/>
          <p:nvPr/>
        </p:nvSpPr>
        <p:spPr>
          <a:xfrm>
            <a:off x="10360152" y="73152"/>
            <a:ext cx="1828800" cy="347472"/>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D1.1</a:t>
            </a:r>
            <a:endParaRPr lang="en-US" sz="1000" dirty="0"/>
          </a:p>
        </p:txBody>
      </p:sp>
      <p:sp>
        <p:nvSpPr>
          <p:cNvPr id="9" name="Shape 7"/>
          <p:cNvSpPr/>
          <p:nvPr/>
        </p:nvSpPr>
        <p:spPr>
          <a:xfrm>
            <a:off x="0" y="420624"/>
            <a:ext cx="12192000" cy="1371600"/>
          </a:xfrm>
          <a:prstGeom prst="rect">
            <a:avLst/>
          </a:prstGeom>
          <a:solidFill>
            <a:srgbClr val="1E3A5F"/>
          </a:solidFill>
          <a:ln/>
        </p:spPr>
      </p:sp>
      <p:sp>
        <p:nvSpPr>
          <p:cNvPr id="10" name="Text 8"/>
          <p:cNvSpPr/>
          <p:nvPr/>
        </p:nvSpPr>
        <p:spPr>
          <a:xfrm>
            <a:off x="365760" y="502920"/>
            <a:ext cx="11430000" cy="365760"/>
          </a:xfrm>
          <a:prstGeom prst="rect">
            <a:avLst/>
          </a:prstGeom>
          <a:noFill/>
          <a:ln/>
        </p:spPr>
        <p:txBody>
          <a:bodyPr wrap="square" rtlCol="0" anchor="ctr"/>
          <a:lstStyle/>
          <a:p>
            <a:pPr indent="0" marL="0">
              <a:buNone/>
            </a:pPr>
            <a:r>
              <a:rPr lang="en-US" sz="1200" b="1" dirty="0">
                <a:solidFill>
                  <a:srgbClr val="B8860B"/>
                </a:solidFill>
                <a:latin typeface="Calibri" pitchFamily="34" charset="0"/>
                <a:ea typeface="Calibri" pitchFamily="34" charset="-122"/>
                <a:cs typeface="Calibri" pitchFamily="34" charset="-120"/>
              </a:rPr>
              <a:t>💼  Interview Question:</a:t>
            </a:r>
            <a:endParaRPr lang="en-US" sz="1200" dirty="0"/>
          </a:p>
        </p:txBody>
      </p:sp>
      <p:sp>
        <p:nvSpPr>
          <p:cNvPr id="11" name="Text 9"/>
          <p:cNvSpPr/>
          <p:nvPr/>
        </p:nvSpPr>
        <p:spPr>
          <a:xfrm>
            <a:off x="365760" y="914400"/>
            <a:ext cx="11430000" cy="822960"/>
          </a:xfrm>
          <a:prstGeom prst="rect">
            <a:avLst/>
          </a:prstGeom>
          <a:noFill/>
          <a:ln/>
        </p:spPr>
        <p:txBody>
          <a:bodyPr wrap="square"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"Explain how a financial system works and why it is important for economic growth."</a:t>
            </a:r>
            <a:endParaRPr lang="en-US" sz="1700" dirty="0"/>
          </a:p>
        </p:txBody>
      </p:sp>
      <p:sp>
        <p:nvSpPr>
          <p:cNvPr id="12" name="Text 10"/>
          <p:cNvSpPr/>
          <p:nvPr/>
        </p:nvSpPr>
        <p:spPr>
          <a:xfrm>
            <a:off x="365760" y="1965960"/>
            <a:ext cx="11430000" cy="365760"/>
          </a:xfrm>
          <a:prstGeom prst="rect">
            <a:avLst/>
          </a:prstGeom>
          <a:noFill/>
          <a:ln/>
        </p:spPr>
        <p:txBody>
          <a:bodyPr wrap="square" rtlCol="0" anchor="ctr"/>
          <a:lstStyle/>
          <a:p>
            <a:pPr indent="0" marL="0">
              <a:buNone/>
            </a:pPr>
            <a:r>
              <a:rPr lang="en-US" sz="1200" b="1" dirty="0">
                <a:solidFill>
                  <a:srgbClr val="005F5F"/>
                </a:solidFill>
                <a:latin typeface="Calibri" pitchFamily="34" charset="0"/>
                <a:ea typeface="Calibri" pitchFamily="34" charset="-122"/>
                <a:cs typeface="Calibri" pitchFamily="34" charset="-120"/>
              </a:rPr>
              <a:t>STRONG ANSWER FRAMEWORK  (4 points):</a:t>
            </a:r>
            <a:endParaRPr lang="en-US" sz="1200" dirty="0"/>
          </a:p>
        </p:txBody>
      </p:sp>
      <p:sp>
        <p:nvSpPr>
          <p:cNvPr id="13" name="Shape 11"/>
          <p:cNvSpPr/>
          <p:nvPr/>
        </p:nvSpPr>
        <p:spPr>
          <a:xfrm>
            <a:off x="274320" y="2423160"/>
            <a:ext cx="457200" cy="640080"/>
          </a:xfrm>
          <a:prstGeom prst="rect">
            <a:avLst/>
          </a:prstGeom>
          <a:solidFill>
            <a:srgbClr val="1E3A5F"/>
          </a:solidFill>
          <a:ln/>
        </p:spPr>
      </p:sp>
      <p:sp>
        <p:nvSpPr>
          <p:cNvPr id="14" name="Text 12"/>
          <p:cNvSpPr/>
          <p:nvPr/>
        </p:nvSpPr>
        <p:spPr>
          <a:xfrm>
            <a:off x="274320" y="2423160"/>
            <a:ext cx="457200" cy="64008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5" name="Shape 13"/>
          <p:cNvSpPr/>
          <p:nvPr/>
        </p:nvSpPr>
        <p:spPr>
          <a:xfrm>
            <a:off x="822960" y="2423160"/>
            <a:ext cx="11064240" cy="640080"/>
          </a:xfrm>
          <a:prstGeom prst="rect">
            <a:avLst/>
          </a:prstGeom>
          <a:solidFill>
            <a:srgbClr val="D5E3F0"/>
          </a:solidFill>
          <a:ln w="6350">
            <a:solidFill>
              <a:srgbClr val="AAAAAA"/>
            </a:solidFill>
            <a:prstDash val="solid"/>
          </a:ln>
        </p:spPr>
      </p:sp>
      <p:sp>
        <p:nvSpPr>
          <p:cNvPr id="16" name="Text 14"/>
          <p:cNvSpPr/>
          <p:nvPr/>
        </p:nvSpPr>
        <p:spPr>
          <a:xfrm>
            <a:off x="914400" y="2423160"/>
            <a:ext cx="10881360" cy="640080"/>
          </a:xfrm>
          <a:prstGeom prst="rect">
            <a:avLst/>
          </a:prstGeom>
          <a:noFill/>
          <a:ln/>
        </p:spPr>
        <p:txBody>
          <a:bodyPr wrap="square" rtlCol="0" anchor="ctr"/>
          <a:lstStyle/>
          <a:p>
            <a:pPr indent="0" marL="0">
              <a:buNone/>
            </a:pPr>
            <a:r>
              <a:rPr lang="en-US" sz="1300" dirty="0">
                <a:solidFill>
                  <a:srgbClr val="1A1A1A"/>
                </a:solidFill>
                <a:latin typeface="Calibri" pitchFamily="34" charset="0"/>
                <a:ea typeface="Calibri" pitchFamily="34" charset="-122"/>
                <a:cs typeface="Calibri" pitchFamily="34" charset="-120"/>
              </a:rPr>
              <a:t>A financial system channels savings from surplus units (households, firms with excess capital) to deficit units (businesses, governments) that need funds for productive investment.</a:t>
            </a:r>
            <a:endParaRPr lang="en-US" sz="1300" dirty="0"/>
          </a:p>
        </p:txBody>
      </p:sp>
      <p:sp>
        <p:nvSpPr>
          <p:cNvPr id="17" name="Shape 15"/>
          <p:cNvSpPr/>
          <p:nvPr/>
        </p:nvSpPr>
        <p:spPr>
          <a:xfrm>
            <a:off x="274320" y="3337560"/>
            <a:ext cx="457200" cy="640080"/>
          </a:xfrm>
          <a:prstGeom prst="rect">
            <a:avLst/>
          </a:prstGeom>
          <a:solidFill>
            <a:srgbClr val="1E3A5F"/>
          </a:solidFill>
          <a:ln/>
        </p:spPr>
      </p:sp>
      <p:sp>
        <p:nvSpPr>
          <p:cNvPr id="18" name="Text 16"/>
          <p:cNvSpPr/>
          <p:nvPr/>
        </p:nvSpPr>
        <p:spPr>
          <a:xfrm>
            <a:off x="274320" y="3337560"/>
            <a:ext cx="457200" cy="64008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9" name="Shape 17"/>
          <p:cNvSpPr/>
          <p:nvPr/>
        </p:nvSpPr>
        <p:spPr>
          <a:xfrm>
            <a:off x="822960" y="3337560"/>
            <a:ext cx="11064240" cy="640080"/>
          </a:xfrm>
          <a:prstGeom prst="rect">
            <a:avLst/>
          </a:prstGeom>
          <a:solidFill>
            <a:srgbClr val="FFFFFF"/>
          </a:solidFill>
          <a:ln w="6350">
            <a:solidFill>
              <a:srgbClr val="AAAAAA"/>
            </a:solidFill>
            <a:prstDash val="solid"/>
          </a:ln>
        </p:spPr>
      </p:sp>
      <p:sp>
        <p:nvSpPr>
          <p:cNvPr id="20" name="Text 18"/>
          <p:cNvSpPr/>
          <p:nvPr/>
        </p:nvSpPr>
        <p:spPr>
          <a:xfrm>
            <a:off x="914400" y="3337560"/>
            <a:ext cx="10881360" cy="640080"/>
          </a:xfrm>
          <a:prstGeom prst="rect">
            <a:avLst/>
          </a:prstGeom>
          <a:noFill/>
          <a:ln/>
        </p:spPr>
        <p:txBody>
          <a:bodyPr wrap="square" rtlCol="0" anchor="ctr"/>
          <a:lstStyle/>
          <a:p>
            <a:pPr indent="0" marL="0">
              <a:buNone/>
            </a:pPr>
            <a:r>
              <a:rPr lang="en-US" sz="1300" dirty="0">
                <a:solidFill>
                  <a:srgbClr val="1A1A1A"/>
                </a:solidFill>
                <a:latin typeface="Calibri" pitchFamily="34" charset="0"/>
                <a:ea typeface="Calibri" pitchFamily="34" charset="-122"/>
                <a:cs typeface="Calibri" pitchFamily="34" charset="-120"/>
              </a:rPr>
              <a:t>It does this through two routes: direct finance (issuer sells securities directly to investors — IPOs, bonds) and indirect finance (banks intermediate between depositors and borrowers).</a:t>
            </a:r>
            <a:endParaRPr lang="en-US" sz="1300" dirty="0"/>
          </a:p>
        </p:txBody>
      </p:sp>
      <p:sp>
        <p:nvSpPr>
          <p:cNvPr id="21" name="Shape 19"/>
          <p:cNvSpPr/>
          <p:nvPr/>
        </p:nvSpPr>
        <p:spPr>
          <a:xfrm>
            <a:off x="274320" y="4251960"/>
            <a:ext cx="457200" cy="640080"/>
          </a:xfrm>
          <a:prstGeom prst="rect">
            <a:avLst/>
          </a:prstGeom>
          <a:solidFill>
            <a:srgbClr val="1E3A5F"/>
          </a:solidFill>
          <a:ln/>
        </p:spPr>
      </p:sp>
      <p:sp>
        <p:nvSpPr>
          <p:cNvPr id="22" name="Text 20"/>
          <p:cNvSpPr/>
          <p:nvPr/>
        </p:nvSpPr>
        <p:spPr>
          <a:xfrm>
            <a:off x="274320" y="4251960"/>
            <a:ext cx="457200" cy="64008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3" name="Shape 21"/>
          <p:cNvSpPr/>
          <p:nvPr/>
        </p:nvSpPr>
        <p:spPr>
          <a:xfrm>
            <a:off x="822960" y="4251960"/>
            <a:ext cx="11064240" cy="640080"/>
          </a:xfrm>
          <a:prstGeom prst="rect">
            <a:avLst/>
          </a:prstGeom>
          <a:solidFill>
            <a:srgbClr val="D5E3F0"/>
          </a:solidFill>
          <a:ln w="6350">
            <a:solidFill>
              <a:srgbClr val="AAAAAA"/>
            </a:solidFill>
            <a:prstDash val="solid"/>
          </a:ln>
        </p:spPr>
      </p:sp>
      <p:sp>
        <p:nvSpPr>
          <p:cNvPr id="24" name="Text 22"/>
          <p:cNvSpPr/>
          <p:nvPr/>
        </p:nvSpPr>
        <p:spPr>
          <a:xfrm>
            <a:off x="914400" y="4251960"/>
            <a:ext cx="10881360" cy="640080"/>
          </a:xfrm>
          <a:prstGeom prst="rect">
            <a:avLst/>
          </a:prstGeom>
          <a:noFill/>
          <a:ln/>
        </p:spPr>
        <p:txBody>
          <a:bodyPr wrap="square" rtlCol="0" anchor="ctr"/>
          <a:lstStyle/>
          <a:p>
            <a:pPr indent="0" marL="0">
              <a:buNone/>
            </a:pPr>
            <a:r>
              <a:rPr lang="en-US" sz="1300" dirty="0">
                <a:solidFill>
                  <a:srgbClr val="1A1A1A"/>
                </a:solidFill>
                <a:latin typeface="Calibri" pitchFamily="34" charset="0"/>
                <a:ea typeface="Calibri" pitchFamily="34" charset="-122"/>
                <a:cs typeface="Calibri" pitchFamily="34" charset="-120"/>
              </a:rPr>
              <a:t>Without an efficient financial system, capital remains idle. Projects go unfunded, businesses cannot scale, and economic growth slows. The 1991 India crisis demonstrates what happens when the system cannot function.</a:t>
            </a:r>
            <a:endParaRPr lang="en-US" sz="1300" dirty="0"/>
          </a:p>
        </p:txBody>
      </p:sp>
      <p:sp>
        <p:nvSpPr>
          <p:cNvPr id="25" name="Shape 23"/>
          <p:cNvSpPr/>
          <p:nvPr/>
        </p:nvSpPr>
        <p:spPr>
          <a:xfrm>
            <a:off x="274320" y="5166360"/>
            <a:ext cx="457200" cy="640080"/>
          </a:xfrm>
          <a:prstGeom prst="rect">
            <a:avLst/>
          </a:prstGeom>
          <a:solidFill>
            <a:srgbClr val="1E3A5F"/>
          </a:solidFill>
          <a:ln/>
        </p:spPr>
      </p:sp>
      <p:sp>
        <p:nvSpPr>
          <p:cNvPr id="26" name="Text 24"/>
          <p:cNvSpPr/>
          <p:nvPr/>
        </p:nvSpPr>
        <p:spPr>
          <a:xfrm>
            <a:off x="274320" y="5166360"/>
            <a:ext cx="457200" cy="64008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7" name="Shape 25"/>
          <p:cNvSpPr/>
          <p:nvPr/>
        </p:nvSpPr>
        <p:spPr>
          <a:xfrm>
            <a:off x="822960" y="5166360"/>
            <a:ext cx="11064240" cy="640080"/>
          </a:xfrm>
          <a:prstGeom prst="rect">
            <a:avLst/>
          </a:prstGeom>
          <a:solidFill>
            <a:srgbClr val="FFFFFF"/>
          </a:solidFill>
          <a:ln w="6350">
            <a:solidFill>
              <a:srgbClr val="AAAAAA"/>
            </a:solidFill>
            <a:prstDash val="solid"/>
          </a:ln>
        </p:spPr>
      </p:sp>
      <p:sp>
        <p:nvSpPr>
          <p:cNvPr id="28" name="Text 26"/>
          <p:cNvSpPr/>
          <p:nvPr/>
        </p:nvSpPr>
        <p:spPr>
          <a:xfrm>
            <a:off x="914400" y="5166360"/>
            <a:ext cx="10881360" cy="640080"/>
          </a:xfrm>
          <a:prstGeom prst="rect">
            <a:avLst/>
          </a:prstGeom>
          <a:noFill/>
          <a:ln/>
        </p:spPr>
        <p:txBody>
          <a:bodyPr wrap="square" rtlCol="0" anchor="ctr"/>
          <a:lstStyle/>
          <a:p>
            <a:pPr indent="0" marL="0">
              <a:buNone/>
            </a:pPr>
            <a:r>
              <a:rPr lang="en-US" sz="1300" dirty="0">
                <a:solidFill>
                  <a:srgbClr val="1A1A1A"/>
                </a:solidFill>
                <a:latin typeface="Calibri" pitchFamily="34" charset="0"/>
                <a:ea typeface="Calibri" pitchFamily="34" charset="-122"/>
                <a:cs typeface="Calibri" pitchFamily="34" charset="-120"/>
              </a:rPr>
              <a:t>In operations, we are a critical part of this system — every trade we settle, every custody record we maintain, and every reconciliation we complete ensures the financial system's plumbing continues to flow.</a:t>
            </a:r>
            <a:endParaRPr lang="en-US" sz="1300" dirty="0"/>
          </a:p>
        </p:txBody>
      </p:sp>
      <p:sp>
        <p:nvSpPr>
          <p:cNvPr id="29" name="Text 27"/>
          <p:cNvSpPr/>
          <p:nvPr/>
        </p:nvSpPr>
        <p:spPr>
          <a:xfrm>
            <a:off x="0" y="6601968"/>
            <a:ext cx="12192000" cy="182880"/>
          </a:xfrm>
          <a:prstGeom prst="rect">
            <a:avLst/>
          </a:prstGeom>
          <a:noFill/>
          <a:ln/>
        </p:spPr>
        <p:txBody>
          <a:bodyPr wrap="square" rtlCol="0" anchor="ctr"/>
          <a:lstStyle/>
          <a:p>
            <a:pPr algn="ctr" indent="0" marL="0">
              <a:buNone/>
            </a:pPr>
            <a:r>
              <a:rPr lang="en-US" sz="800" dirty="0">
                <a:solidFill>
                  <a:srgbClr val="AAAAAA"/>
                </a:solidFill>
                <a:latin typeface="Calibri" pitchFamily="34" charset="0"/>
                <a:ea typeface="Calibri" pitchFamily="34" charset="-122"/>
                <a:cs typeface="Calibri" pitchFamily="34" charset="-120"/>
              </a:rPr>
              <a:t>CIBOP · Module 1 · D1.1</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1E3A5F"/>
          </a:solidFill>
          <a:ln/>
        </p:spPr>
      </p:sp>
      <p:sp>
        <p:nvSpPr>
          <p:cNvPr id="3" name="Shape 1"/>
          <p:cNvSpPr/>
          <p:nvPr/>
        </p:nvSpPr>
        <p:spPr>
          <a:xfrm>
            <a:off x="0" y="0"/>
            <a:ext cx="12192000" cy="73152"/>
          </a:xfrm>
          <a:prstGeom prst="rect">
            <a:avLst/>
          </a:prstGeom>
          <a:solidFill>
            <a:srgbClr val="B8860B"/>
          </a:solidFill>
          <a:ln/>
        </p:spPr>
      </p:sp>
      <p:sp>
        <p:nvSpPr>
          <p:cNvPr id="4" name="Shape 2"/>
          <p:cNvSpPr/>
          <p:nvPr/>
        </p:nvSpPr>
        <p:spPr>
          <a:xfrm>
            <a:off x="0" y="6784848"/>
            <a:ext cx="12192000" cy="73152"/>
          </a:xfrm>
          <a:prstGeom prst="rect">
            <a:avLst/>
          </a:prstGeom>
          <a:solidFill>
            <a:srgbClr val="B8860B"/>
          </a:solidFill>
          <a:ln/>
        </p:spPr>
      </p:sp>
      <p:sp>
        <p:nvSpPr>
          <p:cNvPr id="5" name="Shape 3"/>
          <p:cNvSpPr/>
          <p:nvPr/>
        </p:nvSpPr>
        <p:spPr>
          <a:xfrm>
            <a:off x="0" y="73152"/>
            <a:ext cx="1828800" cy="347472"/>
          </a:xfrm>
          <a:prstGeom prst="rect">
            <a:avLst/>
          </a:prstGeom>
          <a:solidFill>
            <a:srgbClr val="B8860B"/>
          </a:solidFill>
          <a:ln/>
        </p:spPr>
      </p:sp>
      <p:sp>
        <p:nvSpPr>
          <p:cNvPr id="6" name="Text 4"/>
          <p:cNvSpPr/>
          <p:nvPr/>
        </p:nvSpPr>
        <p:spPr>
          <a:xfrm>
            <a:off x="0" y="73152"/>
            <a:ext cx="1828800" cy="347472"/>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QUICK RECAP</a:t>
            </a:r>
            <a:endParaRPr lang="en-US" sz="1000" dirty="0"/>
          </a:p>
        </p:txBody>
      </p:sp>
      <p:sp>
        <p:nvSpPr>
          <p:cNvPr id="7" name="Shape 5"/>
          <p:cNvSpPr/>
          <p:nvPr/>
        </p:nvSpPr>
        <p:spPr>
          <a:xfrm>
            <a:off x="10360152" y="73152"/>
            <a:ext cx="1828800" cy="347472"/>
          </a:xfrm>
          <a:prstGeom prst="rect">
            <a:avLst/>
          </a:prstGeom>
          <a:solidFill>
            <a:srgbClr val="005F5F"/>
          </a:solidFill>
          <a:ln/>
        </p:spPr>
      </p:sp>
      <p:sp>
        <p:nvSpPr>
          <p:cNvPr id="8" name="Text 6"/>
          <p:cNvSpPr/>
          <p:nvPr/>
        </p:nvSpPr>
        <p:spPr>
          <a:xfrm>
            <a:off x="10360152" y="73152"/>
            <a:ext cx="1828800" cy="347472"/>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D1.2</a:t>
            </a:r>
            <a:endParaRPr lang="en-US" sz="1000" dirty="0"/>
          </a:p>
        </p:txBody>
      </p:sp>
      <p:sp>
        <p:nvSpPr>
          <p:cNvPr id="9" name="Text 7"/>
          <p:cNvSpPr/>
          <p:nvPr/>
        </p:nvSpPr>
        <p:spPr>
          <a:xfrm>
            <a:off x="8686800" y="1097280"/>
            <a:ext cx="3200400" cy="4572000"/>
          </a:xfrm>
          <a:prstGeom prst="rect">
            <a:avLst/>
          </a:prstGeom>
          <a:noFill/>
          <a:ln/>
        </p:spPr>
        <p:txBody>
          <a:bodyPr wrap="square" rtlCol="0" anchor="ctr"/>
          <a:lstStyle/>
          <a:p>
            <a:pPr algn="ctr" indent="0" marL="0">
              <a:buNone/>
            </a:pPr>
            <a:r>
              <a:rPr lang="en-US" sz="20000" b="1" dirty="0">
                <a:solidFill>
                  <a:srgbClr val="2E4A6E"/>
                </a:solidFill>
                <a:latin typeface="Calibri" pitchFamily="34" charset="0"/>
                <a:ea typeface="Calibri" pitchFamily="34" charset="-122"/>
                <a:cs typeface="Calibri" pitchFamily="34" charset="-120"/>
              </a:rPr>
              <a:t>?</a:t>
            </a:r>
            <a:endParaRPr lang="en-US" sz="20000" dirty="0"/>
          </a:p>
        </p:txBody>
      </p:sp>
      <p:sp>
        <p:nvSpPr>
          <p:cNvPr id="10" name="Text 8"/>
          <p:cNvSpPr/>
          <p:nvPr/>
        </p:nvSpPr>
        <p:spPr>
          <a:xfrm>
            <a:off x="365760" y="548640"/>
            <a:ext cx="8229600" cy="457200"/>
          </a:xfrm>
          <a:prstGeom prst="rect">
            <a:avLst/>
          </a:prstGeom>
          <a:noFill/>
          <a:ln/>
        </p:spPr>
        <p:txBody>
          <a:bodyPr wrap="square" rtlCol="0" anchor="ctr"/>
          <a:lstStyle/>
          <a:p>
            <a:pPr indent="0" marL="0">
              <a:buNone/>
            </a:pPr>
            <a:r>
              <a:rPr lang="en-US" sz="1400" b="1" dirty="0">
                <a:solidFill>
                  <a:srgbClr val="B8860B"/>
                </a:solidFill>
                <a:latin typeface="Calibri" pitchFamily="34" charset="0"/>
                <a:ea typeface="Calibri" pitchFamily="34" charset="-122"/>
                <a:cs typeface="Calibri" pitchFamily="34" charset="-120"/>
              </a:rPr>
              <a:t>D1.2  —  Components of the Financial System</a:t>
            </a:r>
            <a:endParaRPr lang="en-US" sz="1400" dirty="0"/>
          </a:p>
        </p:txBody>
      </p:sp>
      <p:sp>
        <p:nvSpPr>
          <p:cNvPr id="11" name="Text 9"/>
          <p:cNvSpPr/>
          <p:nvPr/>
        </p:nvSpPr>
        <p:spPr>
          <a:xfrm>
            <a:off x="365760" y="1280160"/>
            <a:ext cx="8229600" cy="3474720"/>
          </a:xfrm>
          <a:prstGeom prst="rect">
            <a:avLst/>
          </a:prstGeom>
          <a:noFill/>
          <a:ln/>
        </p:spPr>
        <p:txBody>
          <a:bodyPr wrap="square"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"Your coffee order has more components than a financial system — discuss."</a:t>
            </a:r>
            <a:endParaRPr lang="en-US" sz="2600" dirty="0"/>
          </a:p>
        </p:txBody>
      </p:sp>
      <p:sp>
        <p:nvSpPr>
          <p:cNvPr id="12" name="Shape 10"/>
          <p:cNvSpPr/>
          <p:nvPr/>
        </p:nvSpPr>
        <p:spPr>
          <a:xfrm>
            <a:off x="365760" y="5029200"/>
            <a:ext cx="8229600" cy="731520"/>
          </a:xfrm>
          <a:prstGeom prst="rect">
            <a:avLst/>
          </a:prstGeom>
          <a:solidFill>
            <a:srgbClr val="2E4A6E"/>
          </a:solidFill>
          <a:ln/>
        </p:spPr>
      </p:sp>
      <p:sp>
        <p:nvSpPr>
          <p:cNvPr id="13" name="Text 11"/>
          <p:cNvSpPr/>
          <p:nvPr/>
        </p:nvSpPr>
        <p:spPr>
          <a:xfrm>
            <a:off x="365760" y="5029200"/>
            <a:ext cx="8229600" cy="731520"/>
          </a:xfrm>
          <a:prstGeom prst="rect">
            <a:avLst/>
          </a:prstGeom>
          <a:noFill/>
          <a:ln/>
        </p:spPr>
        <p:txBody>
          <a:bodyPr wrap="square" rtlCol="0" anchor="ctr"/>
          <a:lstStyle/>
          <a:p>
            <a:pPr algn="l" indent="0" marL="0">
              <a:buNone/>
            </a:pPr>
            <a:r>
              <a:rPr lang="en-US" sz="1100" i="1" dirty="0">
                <a:solidFill>
                  <a:srgbClr val="CADCFC"/>
                </a:solidFill>
                <a:latin typeface="Calibri" pitchFamily="34" charset="0"/>
                <a:ea typeface="Calibri" pitchFamily="34" charset="-122"/>
                <a:cs typeface="Calibri" pitchFamily="34" charset="-120"/>
              </a:rPr>
              <a:t>📹  From: D1.2 · Video 1 — The Five Components (EAR: CLASSIFY)</a:t>
            </a:r>
            <a:endParaRPr lang="en-US" sz="1100" dirty="0"/>
          </a:p>
        </p:txBody>
      </p:sp>
      <p:sp>
        <p:nvSpPr>
          <p:cNvPr id="14" name="Text 12"/>
          <p:cNvSpPr/>
          <p:nvPr/>
        </p:nvSpPr>
        <p:spPr>
          <a:xfrm>
            <a:off x="0" y="6601968"/>
            <a:ext cx="12192000" cy="182880"/>
          </a:xfrm>
          <a:prstGeom prst="rect">
            <a:avLst/>
          </a:prstGeom>
          <a:noFill/>
          <a:ln/>
        </p:spPr>
        <p:txBody>
          <a:bodyPr wrap="square" rtlCol="0" anchor="ctr"/>
          <a:lstStyle/>
          <a:p>
            <a:pPr algn="ctr" indent="0" marL="0">
              <a:buNone/>
            </a:pPr>
            <a:r>
              <a:rPr lang="en-US" sz="800" dirty="0">
                <a:solidFill>
                  <a:srgbClr val="AAAAAA"/>
                </a:solidFill>
                <a:latin typeface="Calibri" pitchFamily="34" charset="0"/>
                <a:ea typeface="Calibri" pitchFamily="34" charset="-122"/>
                <a:cs typeface="Calibri" pitchFamily="34" charset="-120"/>
              </a:rPr>
              <a:t>CIBOP · Module 1 · D1.2</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4F6FA"/>
          </a:solidFill>
          <a:ln/>
        </p:spPr>
      </p:sp>
      <p:sp>
        <p:nvSpPr>
          <p:cNvPr id="3" name="Shape 1"/>
          <p:cNvSpPr/>
          <p:nvPr/>
        </p:nvSpPr>
        <p:spPr>
          <a:xfrm>
            <a:off x="0" y="0"/>
            <a:ext cx="12192000" cy="73152"/>
          </a:xfrm>
          <a:prstGeom prst="rect">
            <a:avLst/>
          </a:prstGeom>
          <a:solidFill>
            <a:srgbClr val="1E3A5F"/>
          </a:solidFill>
          <a:ln/>
        </p:spPr>
      </p:sp>
      <p:sp>
        <p:nvSpPr>
          <p:cNvPr id="4" name="Shape 2"/>
          <p:cNvSpPr/>
          <p:nvPr/>
        </p:nvSpPr>
        <p:spPr>
          <a:xfrm>
            <a:off x="0" y="6784848"/>
            <a:ext cx="12192000" cy="73152"/>
          </a:xfrm>
          <a:prstGeom prst="rect">
            <a:avLst/>
          </a:prstGeom>
          <a:solidFill>
            <a:srgbClr val="005F5F"/>
          </a:solidFill>
          <a:ln/>
        </p:spPr>
      </p:sp>
      <p:sp>
        <p:nvSpPr>
          <p:cNvPr id="5" name="Shape 3"/>
          <p:cNvSpPr/>
          <p:nvPr/>
        </p:nvSpPr>
        <p:spPr>
          <a:xfrm>
            <a:off x="0" y="73152"/>
            <a:ext cx="1828800" cy="347472"/>
          </a:xfrm>
          <a:prstGeom prst="rect">
            <a:avLst/>
          </a:prstGeom>
          <a:solidFill>
            <a:srgbClr val="C0392B"/>
          </a:solidFill>
          <a:ln/>
        </p:spPr>
      </p:sp>
      <p:sp>
        <p:nvSpPr>
          <p:cNvPr id="6" name="Text 4"/>
          <p:cNvSpPr/>
          <p:nvPr/>
        </p:nvSpPr>
        <p:spPr>
          <a:xfrm>
            <a:off x="0" y="73152"/>
            <a:ext cx="1828800" cy="347472"/>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SCENARIO</a:t>
            </a:r>
            <a:endParaRPr lang="en-US" sz="1000" dirty="0"/>
          </a:p>
        </p:txBody>
      </p:sp>
      <p:sp>
        <p:nvSpPr>
          <p:cNvPr id="7" name="Shape 5"/>
          <p:cNvSpPr/>
          <p:nvPr/>
        </p:nvSpPr>
        <p:spPr>
          <a:xfrm>
            <a:off x="10360152" y="73152"/>
            <a:ext cx="1828800" cy="347472"/>
          </a:xfrm>
          <a:prstGeom prst="rect">
            <a:avLst/>
          </a:prstGeom>
          <a:solidFill>
            <a:srgbClr val="005F5F"/>
          </a:solidFill>
          <a:ln/>
        </p:spPr>
      </p:sp>
      <p:sp>
        <p:nvSpPr>
          <p:cNvPr id="8" name="Text 6"/>
          <p:cNvSpPr/>
          <p:nvPr/>
        </p:nvSpPr>
        <p:spPr>
          <a:xfrm>
            <a:off x="10360152" y="73152"/>
            <a:ext cx="1828800" cy="347472"/>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D1.2</a:t>
            </a:r>
            <a:endParaRPr lang="en-US" sz="1000" dirty="0"/>
          </a:p>
        </p:txBody>
      </p:sp>
      <p:sp>
        <p:nvSpPr>
          <p:cNvPr id="9" name="Shape 7"/>
          <p:cNvSpPr/>
          <p:nvPr/>
        </p:nvSpPr>
        <p:spPr>
          <a:xfrm>
            <a:off x="0" y="420624"/>
            <a:ext cx="12192000" cy="914400"/>
          </a:xfrm>
          <a:prstGeom prst="rect">
            <a:avLst/>
          </a:prstGeom>
          <a:solidFill>
            <a:srgbClr val="1E3A5F"/>
          </a:solidFill>
          <a:ln/>
        </p:spPr>
      </p:sp>
      <p:sp>
        <p:nvSpPr>
          <p:cNvPr id="10" name="Text 8"/>
          <p:cNvSpPr/>
          <p:nvPr/>
        </p:nvSpPr>
        <p:spPr>
          <a:xfrm>
            <a:off x="365760" y="420624"/>
            <a:ext cx="11430000" cy="914400"/>
          </a:xfrm>
          <a:prstGeom prst="rect">
            <a:avLst/>
          </a:prstGeom>
          <a:noFill/>
          <a:ln/>
        </p:spPr>
        <p:txBody>
          <a:bodyPr wrap="square"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NSE Trading Halt 2021: When One Component Fails, the Whole System Pauses</a:t>
            </a:r>
            <a:endParaRPr lang="en-US" sz="2000" dirty="0"/>
          </a:p>
        </p:txBody>
      </p:sp>
      <p:sp>
        <p:nvSpPr>
          <p:cNvPr id="11" name="Text 9"/>
          <p:cNvSpPr/>
          <p:nvPr/>
        </p:nvSpPr>
        <p:spPr>
          <a:xfrm>
            <a:off x="365760" y="1554480"/>
            <a:ext cx="7498080" cy="2926080"/>
          </a:xfrm>
          <a:prstGeom prst="rect">
            <a:avLst/>
          </a:prstGeom>
          <a:noFill/>
          <a:ln/>
        </p:spPr>
        <p:txBody>
          <a:bodyPr wrap="square" rtlCol="0" anchor="ctr"/>
          <a:lstStyle/>
          <a:p>
            <a:pPr indent="0" marL="0">
              <a:buNone/>
            </a:pPr>
            <a:r>
              <a:rPr lang="en-US" sz="1400" dirty="0">
                <a:solidFill>
                  <a:srgbClr val="1A1A1A"/>
                </a:solidFill>
                <a:latin typeface="Calibri" pitchFamily="34" charset="0"/>
                <a:ea typeface="Calibri" pitchFamily="34" charset="-122"/>
                <a:cs typeface="Calibri" pitchFamily="34" charset="-120"/>
              </a:rPr>
              <a:t>On 24 February 2021, the National Stock Exchange of India halted trading for nearly four hours due to a technical failure in its telecom connectivity — a failure in the Financial Services component of the system.</a:t>
            </a:r>
            <a:endParaRPr lang="en-US" sz="1400" dirty="0"/>
          </a:p>
          <a:p>
            <a:pPr indent="0" marL="0">
              <a:buNone/>
            </a:pPr>
            <a:endParaRPr lang="en-US" sz="1400" dirty="0"/>
          </a:p>
          <a:p>
            <a:pPr indent="0" marL="0">
              <a:buNone/>
            </a:pPr>
            <a:r>
              <a:rPr lang="en-US" sz="1400" dirty="0">
                <a:solidFill>
                  <a:srgbClr val="1A1A1A"/>
                </a:solidFill>
                <a:latin typeface="Calibri" pitchFamily="34" charset="0"/>
                <a:ea typeface="Calibri" pitchFamily="34" charset="-122"/>
                <a:cs typeface="Calibri" pitchFamily="34" charset="-120"/>
              </a:rPr>
              <a:t>Despite all other components (participants, instruments, regulators, markets) being fully functional, the entire market stopped. ₹600 crore in trades were potentially delayed.</a:t>
            </a:r>
            <a:endParaRPr lang="en-US" sz="1400" dirty="0"/>
          </a:p>
        </p:txBody>
      </p:sp>
      <p:sp>
        <p:nvSpPr>
          <p:cNvPr id="12" name="Shape 10"/>
          <p:cNvSpPr/>
          <p:nvPr/>
        </p:nvSpPr>
        <p:spPr>
          <a:xfrm>
            <a:off x="8046720" y="1554480"/>
            <a:ext cx="3931920" cy="2926080"/>
          </a:xfrm>
          <a:prstGeom prst="rect">
            <a:avLst/>
          </a:prstGeom>
          <a:solidFill>
            <a:srgbClr val="D5E3F0"/>
          </a:solidFill>
          <a:ln w="12700">
            <a:solidFill>
              <a:srgbClr val="1E3A5F"/>
            </a:solidFill>
            <a:prstDash val="solid"/>
          </a:ln>
        </p:spPr>
      </p:sp>
      <p:sp>
        <p:nvSpPr>
          <p:cNvPr id="13" name="Text 11"/>
          <p:cNvSpPr/>
          <p:nvPr/>
        </p:nvSpPr>
        <p:spPr>
          <a:xfrm>
            <a:off x="8046720" y="1554480"/>
            <a:ext cx="3931920" cy="2926080"/>
          </a:xfrm>
          <a:prstGeom prst="rect">
            <a:avLst/>
          </a:prstGeom>
          <a:noFill/>
          <a:ln/>
        </p:spPr>
        <p:txBody>
          <a:bodyPr wrap="square" rtlCol="0" anchor="t"/>
          <a:lstStyle/>
          <a:p>
            <a:pPr indent="0" marL="0">
              <a:buNone/>
            </a:pPr>
            <a:r>
              <a:rPr lang="en-US" sz="1300" dirty="0">
                <a:solidFill>
                  <a:srgbClr val="1E3A5F"/>
                </a:solidFill>
                <a:latin typeface="Calibri" pitchFamily="34" charset="0"/>
                <a:ea typeface="Calibri" pitchFamily="34" charset="-122"/>
                <a:cs typeface="Calibri" pitchFamily="34" charset="-120"/>
              </a:rPr>
              <a:t>IMPACT:</a:t>
            </a:r>
            <a:endParaRPr lang="en-US" sz="1300" dirty="0"/>
          </a:p>
          <a:p>
            <a:pPr indent="0" marL="0">
              <a:buNone/>
            </a:pPr>
            <a:endParaRPr lang="en-US" sz="1300" dirty="0"/>
          </a:p>
          <a:p>
            <a:pPr indent="0" marL="0">
              <a:buNone/>
            </a:pPr>
            <a:r>
              <a:rPr lang="en-US" sz="1300" dirty="0">
                <a:solidFill>
                  <a:srgbClr val="1E3A5F"/>
                </a:solidFill>
                <a:latin typeface="Calibri" pitchFamily="34" charset="0"/>
                <a:ea typeface="Calibri" pitchFamily="34" charset="-122"/>
                <a:cs typeface="Calibri" pitchFamily="34" charset="-120"/>
              </a:rPr>
              <a:t>~4 hours</a:t>
            </a:r>
            <a:endParaRPr lang="en-US" sz="1300" dirty="0"/>
          </a:p>
          <a:p>
            <a:pPr indent="0" marL="0">
              <a:buNone/>
            </a:pPr>
            <a:r>
              <a:rPr lang="en-US" sz="1300" dirty="0">
                <a:solidFill>
                  <a:srgbClr val="1E3A5F"/>
                </a:solidFill>
                <a:latin typeface="Calibri" pitchFamily="34" charset="0"/>
                <a:ea typeface="Calibri" pitchFamily="34" charset="-122"/>
                <a:cs typeface="Calibri" pitchFamily="34" charset="-120"/>
              </a:rPr>
              <a:t>trading halt</a:t>
            </a:r>
            <a:endParaRPr lang="en-US" sz="1300" dirty="0"/>
          </a:p>
          <a:p>
            <a:pPr indent="0" marL="0">
              <a:buNone/>
            </a:pPr>
            <a:endParaRPr lang="en-US" sz="1300" dirty="0"/>
          </a:p>
          <a:p>
            <a:pPr indent="0" marL="0">
              <a:buNone/>
            </a:pPr>
            <a:r>
              <a:rPr lang="en-US" sz="1300" dirty="0">
                <a:solidFill>
                  <a:srgbClr val="1E3A5F"/>
                </a:solidFill>
                <a:latin typeface="Calibri" pitchFamily="34" charset="0"/>
                <a:ea typeface="Calibri" pitchFamily="34" charset="-122"/>
                <a:cs typeface="Calibri" pitchFamily="34" charset="-120"/>
              </a:rPr>
              <a:t>₹600 Cr</a:t>
            </a:r>
            <a:endParaRPr lang="en-US" sz="1300" dirty="0"/>
          </a:p>
          <a:p>
            <a:pPr indent="0" marL="0">
              <a:buNone/>
            </a:pPr>
            <a:r>
              <a:rPr lang="en-US" sz="1300" dirty="0">
                <a:solidFill>
                  <a:srgbClr val="1E3A5F"/>
                </a:solidFill>
                <a:latin typeface="Calibri" pitchFamily="34" charset="0"/>
                <a:ea typeface="Calibri" pitchFamily="34" charset="-122"/>
                <a:cs typeface="Calibri" pitchFamily="34" charset="-120"/>
              </a:rPr>
              <a:t>affected trades</a:t>
            </a:r>
            <a:endParaRPr lang="en-US" sz="1300" dirty="0"/>
          </a:p>
          <a:p>
            <a:pPr indent="0" marL="0">
              <a:buNone/>
            </a:pPr>
            <a:endParaRPr lang="en-US" sz="1300" dirty="0"/>
          </a:p>
          <a:p>
            <a:pPr indent="0" marL="0">
              <a:buNone/>
            </a:pPr>
            <a:r>
              <a:rPr lang="en-US" sz="1300" dirty="0">
                <a:solidFill>
                  <a:srgbClr val="1E3A5F"/>
                </a:solidFill>
                <a:latin typeface="Calibri" pitchFamily="34" charset="0"/>
                <a:ea typeface="Calibri" pitchFamily="34" charset="-122"/>
                <a:cs typeface="Calibri" pitchFamily="34" charset="-120"/>
              </a:rPr>
              <a:t>24 Feb 2021</a:t>
            </a:r>
            <a:endParaRPr lang="en-US" sz="1300" dirty="0"/>
          </a:p>
          <a:p>
            <a:pPr indent="0" marL="0">
              <a:buNone/>
            </a:pPr>
            <a:endParaRPr lang="en-US" sz="1300" dirty="0"/>
          </a:p>
          <a:p>
            <a:pPr indent="0" marL="0">
              <a:buNone/>
            </a:pPr>
            <a:r>
              <a:rPr lang="en-US" sz="1300" dirty="0">
                <a:solidFill>
                  <a:srgbClr val="1E3A5F"/>
                </a:solidFill>
                <a:latin typeface="Calibri" pitchFamily="34" charset="0"/>
                <a:ea typeface="Calibri" pitchFamily="34" charset="-122"/>
                <a:cs typeface="Calibri" pitchFamily="34" charset="-120"/>
              </a:rPr>
              <a:t>SEBI ordered</a:t>
            </a:r>
            <a:endParaRPr lang="en-US" sz="1300" dirty="0"/>
          </a:p>
          <a:p>
            <a:pPr indent="0" marL="0">
              <a:buNone/>
            </a:pPr>
            <a:r>
              <a:rPr lang="en-US" sz="1300" dirty="0">
                <a:solidFill>
                  <a:srgbClr val="1E3A5F"/>
                </a:solidFill>
                <a:latin typeface="Calibri" pitchFamily="34" charset="0"/>
                <a:ea typeface="Calibri" pitchFamily="34" charset="-122"/>
                <a:cs typeface="Calibri" pitchFamily="34" charset="-120"/>
              </a:rPr>
              <a:t>detailed report</a:t>
            </a:r>
            <a:endParaRPr lang="en-US" sz="1300" dirty="0"/>
          </a:p>
          <a:p>
            <a:pPr indent="0" marL="0">
              <a:buNone/>
            </a:pPr>
            <a:endParaRPr lang="en-US" sz="1300" dirty="0"/>
          </a:p>
          <a:p>
            <a:pPr indent="0" marL="0">
              <a:buNone/>
            </a:pPr>
            <a:r>
              <a:rPr lang="en-US" sz="1300" dirty="0">
                <a:solidFill>
                  <a:srgbClr val="1E3A5F"/>
                </a:solidFill>
                <a:latin typeface="Calibri" pitchFamily="34" charset="0"/>
                <a:ea typeface="Calibri" pitchFamily="34" charset="-122"/>
                <a:cs typeface="Calibri" pitchFamily="34" charset="-120"/>
              </a:rPr>
              <a:t>NSE fined</a:t>
            </a:r>
            <a:endParaRPr lang="en-US" sz="1300" dirty="0"/>
          </a:p>
          <a:p>
            <a:pPr indent="0" marL="0">
              <a:buNone/>
            </a:pPr>
            <a:r>
              <a:rPr lang="en-US" sz="1300" dirty="0">
                <a:solidFill>
                  <a:srgbClr val="1E3A5F"/>
                </a:solidFill>
                <a:latin typeface="Calibri" pitchFamily="34" charset="0"/>
                <a:ea typeface="Calibri" pitchFamily="34" charset="-122"/>
                <a:cs typeface="Calibri" pitchFamily="34" charset="-120"/>
              </a:rPr>
              <a:t>₹100 Cr</a:t>
            </a:r>
            <a:endParaRPr lang="en-US" sz="1300" dirty="0"/>
          </a:p>
        </p:txBody>
      </p:sp>
      <p:sp>
        <p:nvSpPr>
          <p:cNvPr id="14" name="Shape 12"/>
          <p:cNvSpPr/>
          <p:nvPr/>
        </p:nvSpPr>
        <p:spPr>
          <a:xfrm>
            <a:off x="0" y="4663440"/>
            <a:ext cx="12192000" cy="1097280"/>
          </a:xfrm>
          <a:prstGeom prst="rect">
            <a:avLst/>
          </a:prstGeom>
          <a:solidFill>
            <a:srgbClr val="005F5F"/>
          </a:solidFill>
          <a:ln/>
        </p:spPr>
      </p:sp>
      <p:sp>
        <p:nvSpPr>
          <p:cNvPr id="15" name="Text 13"/>
          <p:cNvSpPr/>
          <p:nvPr/>
        </p:nvSpPr>
        <p:spPr>
          <a:xfrm>
            <a:off x="365760" y="4663440"/>
            <a:ext cx="11430000" cy="1097280"/>
          </a:xfrm>
          <a:prstGeom prst="rect">
            <a:avLst/>
          </a:prstGeom>
          <a:noFill/>
          <a:ln/>
        </p:spPr>
        <p:txBody>
          <a:bodyPr wrap="square"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  Which of the five components failed in the NSE 2021 outage? What is the interdependency lesson for operations professionals?</a:t>
            </a:r>
            <a:endParaRPr lang="en-US" sz="1600" dirty="0"/>
          </a:p>
        </p:txBody>
      </p:sp>
      <p:sp>
        <p:nvSpPr>
          <p:cNvPr id="16" name="Text 14"/>
          <p:cNvSpPr/>
          <p:nvPr/>
        </p:nvSpPr>
        <p:spPr>
          <a:xfrm>
            <a:off x="0" y="6601968"/>
            <a:ext cx="12192000" cy="182880"/>
          </a:xfrm>
          <a:prstGeom prst="rect">
            <a:avLst/>
          </a:prstGeom>
          <a:noFill/>
          <a:ln/>
        </p:spPr>
        <p:txBody>
          <a:bodyPr wrap="square" rtlCol="0" anchor="ctr"/>
          <a:lstStyle/>
          <a:p>
            <a:pPr algn="ctr" indent="0" marL="0">
              <a:buNone/>
            </a:pPr>
            <a:r>
              <a:rPr lang="en-US" sz="800" dirty="0">
                <a:solidFill>
                  <a:srgbClr val="AAAAAA"/>
                </a:solidFill>
                <a:latin typeface="Calibri" pitchFamily="34" charset="0"/>
                <a:ea typeface="Calibri" pitchFamily="34" charset="-122"/>
                <a:cs typeface="Calibri" pitchFamily="34" charset="-120"/>
              </a:rPr>
              <a:t>CIBOP · Module 1 · D1.2</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4F6FA"/>
          </a:solidFill>
          <a:ln/>
        </p:spPr>
      </p:sp>
      <p:sp>
        <p:nvSpPr>
          <p:cNvPr id="3" name="Shape 1"/>
          <p:cNvSpPr/>
          <p:nvPr/>
        </p:nvSpPr>
        <p:spPr>
          <a:xfrm>
            <a:off x="0" y="0"/>
            <a:ext cx="12192000" cy="73152"/>
          </a:xfrm>
          <a:prstGeom prst="rect">
            <a:avLst/>
          </a:prstGeom>
          <a:solidFill>
            <a:srgbClr val="005F5F"/>
          </a:solidFill>
          <a:ln/>
        </p:spPr>
      </p:sp>
      <p:sp>
        <p:nvSpPr>
          <p:cNvPr id="4" name="Shape 2"/>
          <p:cNvSpPr/>
          <p:nvPr/>
        </p:nvSpPr>
        <p:spPr>
          <a:xfrm>
            <a:off x="0" y="6784848"/>
            <a:ext cx="12192000" cy="73152"/>
          </a:xfrm>
          <a:prstGeom prst="rect">
            <a:avLst/>
          </a:prstGeom>
          <a:solidFill>
            <a:srgbClr val="1E3A5F"/>
          </a:solidFill>
          <a:ln/>
        </p:spPr>
      </p:sp>
      <p:sp>
        <p:nvSpPr>
          <p:cNvPr id="5" name="Shape 3"/>
          <p:cNvSpPr/>
          <p:nvPr/>
        </p:nvSpPr>
        <p:spPr>
          <a:xfrm>
            <a:off x="0" y="73152"/>
            <a:ext cx="1828800" cy="347472"/>
          </a:xfrm>
          <a:prstGeom prst="rect">
            <a:avLst/>
          </a:prstGeom>
          <a:solidFill>
            <a:srgbClr val="005F5F"/>
          </a:solidFill>
          <a:ln/>
        </p:spPr>
      </p:sp>
      <p:sp>
        <p:nvSpPr>
          <p:cNvPr id="6" name="Text 4"/>
          <p:cNvSpPr/>
          <p:nvPr/>
        </p:nvSpPr>
        <p:spPr>
          <a:xfrm>
            <a:off x="0" y="73152"/>
            <a:ext cx="1828800" cy="347472"/>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KEY CONCEPT</a:t>
            </a:r>
            <a:endParaRPr lang="en-US" sz="1000" dirty="0"/>
          </a:p>
        </p:txBody>
      </p:sp>
      <p:sp>
        <p:nvSpPr>
          <p:cNvPr id="7" name="Shape 5"/>
          <p:cNvSpPr/>
          <p:nvPr/>
        </p:nvSpPr>
        <p:spPr>
          <a:xfrm>
            <a:off x="10360152" y="73152"/>
            <a:ext cx="1828800" cy="347472"/>
          </a:xfrm>
          <a:prstGeom prst="rect">
            <a:avLst/>
          </a:prstGeom>
          <a:solidFill>
            <a:srgbClr val="005F5F"/>
          </a:solidFill>
          <a:ln/>
        </p:spPr>
      </p:sp>
      <p:sp>
        <p:nvSpPr>
          <p:cNvPr id="8" name="Text 6"/>
          <p:cNvSpPr/>
          <p:nvPr/>
        </p:nvSpPr>
        <p:spPr>
          <a:xfrm>
            <a:off x="10360152" y="73152"/>
            <a:ext cx="1828800" cy="347472"/>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D1.2</a:t>
            </a:r>
            <a:endParaRPr lang="en-US" sz="1000" dirty="0"/>
          </a:p>
        </p:txBody>
      </p:sp>
      <p:sp>
        <p:nvSpPr>
          <p:cNvPr id="9" name="Text 7"/>
          <p:cNvSpPr/>
          <p:nvPr/>
        </p:nvSpPr>
        <p:spPr>
          <a:xfrm>
            <a:off x="274320" y="502920"/>
            <a:ext cx="11430000" cy="640080"/>
          </a:xfrm>
          <a:prstGeom prst="rect">
            <a:avLst/>
          </a:prstGeom>
          <a:noFill/>
          <a:ln/>
        </p:spPr>
        <p:txBody>
          <a:bodyPr wrap="square" rtlCol="0" anchor="ctr"/>
          <a:lstStyle/>
          <a:p>
            <a:pPr indent="0" marL="0">
              <a:buNone/>
            </a:pPr>
            <a:r>
              <a:rPr lang="en-US" sz="2200" b="1" dirty="0">
                <a:solidFill>
                  <a:srgbClr val="1E3A5F"/>
                </a:solidFill>
                <a:latin typeface="Calibri" pitchFamily="34" charset="0"/>
                <a:ea typeface="Calibri" pitchFamily="34" charset="-122"/>
                <a:cs typeface="Calibri" pitchFamily="34" charset="-120"/>
              </a:rPr>
              <a:t>The Five Components — Definitions, Examples, and Operations Relevance</a:t>
            </a:r>
            <a:endParaRPr lang="en-US" sz="22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274320" y="1280160"/>
          <a:ext cx="11612880" cy="4389120"/>
        </p:xfrm>
        <a:graphic>
          <a:graphicData uri="http://schemas.openxmlformats.org/drawingml/2006/table">
            <a:tbl>
              <a:tblPr/>
              <a:tblGrid>
                <a:gridCol w="2903220"/>
                <a:gridCol w="2903220"/>
                <a:gridCol w="2903220"/>
                <a:gridCol w="2903220"/>
              </a:tblGrid>
              <a:tr h="731520">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COMPONENT</a:t>
                      </a:r>
                      <a:endParaRPr lang="en-US" sz="12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1E3A5F"/>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DEFINITION</a:t>
                      </a:r>
                      <a:endParaRPr lang="en-US" sz="12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1E3A5F"/>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INDIA EXAMPLES</a:t>
                      </a:r>
                      <a:endParaRPr lang="en-US" sz="12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1E3A5F"/>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OPERATIONS TOUCHPOINT</a:t>
                      </a:r>
                      <a:endParaRPr lang="en-US" sz="12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1E3A5F"/>
                    </a:solidFill>
                  </a:tcPr>
                </a:tc>
              </a:tr>
              <a:tr h="731520">
                <a:tc>
                  <a:txBody>
                    <a:bodyPr/>
                    <a:lstStyle/>
                    <a:p>
                      <a:pPr indent="0" marL="0">
                        <a:buNone/>
                      </a:pPr>
                      <a:r>
                        <a:rPr lang="en-US" sz="1100" dirty="0">
                          <a:solidFill>
                            <a:srgbClr val="1A1A1A"/>
                          </a:solidFill>
                          <a:latin typeface="Calibri" pitchFamily="34" charset="0"/>
                          <a:ea typeface="Calibri" pitchFamily="34" charset="-122"/>
                          <a:cs typeface="Calibri" pitchFamily="34" charset="-120"/>
                        </a:rPr>
                        <a:t>Financial Participants</a:t>
                      </a:r>
                      <a:endParaRPr lang="en-US" sz="11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FFFFFF"/>
                    </a:solidFill>
                  </a:tcPr>
                </a:tc>
                <a:tc>
                  <a:txBody>
                    <a:bodyPr/>
                    <a:lstStyle/>
                    <a:p>
                      <a:pPr indent="0" marL="0">
                        <a:buNone/>
                      </a:pPr>
                      <a:r>
                        <a:rPr lang="en-US" sz="1100" dirty="0">
                          <a:solidFill>
                            <a:srgbClr val="1A1A1A"/>
                          </a:solidFill>
                          <a:latin typeface="Calibri" pitchFamily="34" charset="0"/>
                          <a:ea typeface="Calibri" pitchFamily="34" charset="-122"/>
                          <a:cs typeface="Calibri" pitchFamily="34" charset="-120"/>
                        </a:rPr>
                        <a:t>Entities that transact within the system</a:t>
                      </a:r>
                      <a:endParaRPr lang="en-US" sz="11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FFFFFF"/>
                    </a:solidFill>
                  </a:tcPr>
                </a:tc>
                <a:tc>
                  <a:txBody>
                    <a:bodyPr/>
                    <a:lstStyle/>
                    <a:p>
                      <a:pPr indent="0" marL="0">
                        <a:buNone/>
                      </a:pPr>
                      <a:r>
                        <a:rPr lang="en-US" sz="1100" dirty="0">
                          <a:solidFill>
                            <a:srgbClr val="1A1A1A"/>
                          </a:solidFill>
                          <a:latin typeface="Calibri" pitchFamily="34" charset="0"/>
                          <a:ea typeface="Calibri" pitchFamily="34" charset="-122"/>
                          <a:cs typeface="Calibri" pitchFamily="34" charset="-120"/>
                        </a:rPr>
                        <a:t>Banks, MFs, FPIs, retail investors</a:t>
                      </a:r>
                      <a:endParaRPr lang="en-US" sz="11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FFFFFF"/>
                    </a:solidFill>
                  </a:tcPr>
                </a:tc>
                <a:tc>
                  <a:txBody>
                    <a:bodyPr/>
                    <a:lstStyle/>
                    <a:p>
                      <a:pPr indent="0" marL="0">
                        <a:buNone/>
                      </a:pPr>
                      <a:r>
                        <a:rPr lang="en-US" sz="1100" dirty="0">
                          <a:solidFill>
                            <a:srgbClr val="1A1A1A"/>
                          </a:solidFill>
                          <a:latin typeface="Calibri" pitchFamily="34" charset="0"/>
                          <a:ea typeface="Calibri" pitchFamily="34" charset="-122"/>
                          <a:cs typeface="Calibri" pitchFamily="34" charset="-120"/>
                        </a:rPr>
                        <a:t>Counterparty identification, KYC, limits</a:t>
                      </a:r>
                      <a:endParaRPr lang="en-US" sz="11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FFFFFF"/>
                    </a:solidFill>
                  </a:tcPr>
                </a:tc>
              </a:tr>
              <a:tr h="731520">
                <a:tc>
                  <a:txBody>
                    <a:bodyPr/>
                    <a:lstStyle/>
                    <a:p>
                      <a:pPr indent="0" marL="0">
                        <a:buNone/>
                      </a:pPr>
                      <a:r>
                        <a:rPr lang="en-US" sz="1100" dirty="0">
                          <a:solidFill>
                            <a:srgbClr val="1A1A1A"/>
                          </a:solidFill>
                          <a:latin typeface="Calibri" pitchFamily="34" charset="0"/>
                          <a:ea typeface="Calibri" pitchFamily="34" charset="-122"/>
                          <a:cs typeface="Calibri" pitchFamily="34" charset="-120"/>
                        </a:rPr>
                        <a:t>Financial Markets</a:t>
                      </a:r>
                      <a:endParaRPr lang="en-US" sz="11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D5E3F0"/>
                    </a:solidFill>
                  </a:tcPr>
                </a:tc>
                <a:tc>
                  <a:txBody>
                    <a:bodyPr/>
                    <a:lstStyle/>
                    <a:p>
                      <a:pPr indent="0" marL="0">
                        <a:buNone/>
                      </a:pPr>
                      <a:r>
                        <a:rPr lang="en-US" sz="1100" dirty="0">
                          <a:solidFill>
                            <a:srgbClr val="1A1A1A"/>
                          </a:solidFill>
                          <a:latin typeface="Calibri" pitchFamily="34" charset="0"/>
                          <a:ea typeface="Calibri" pitchFamily="34" charset="-122"/>
                          <a:cs typeface="Calibri" pitchFamily="34" charset="-120"/>
                        </a:rPr>
                        <a:t>Organised venues for trading</a:t>
                      </a:r>
                      <a:endParaRPr lang="en-US" sz="11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D5E3F0"/>
                    </a:solidFill>
                  </a:tcPr>
                </a:tc>
                <a:tc>
                  <a:txBody>
                    <a:bodyPr/>
                    <a:lstStyle/>
                    <a:p>
                      <a:pPr indent="0" marL="0">
                        <a:buNone/>
                      </a:pPr>
                      <a:r>
                        <a:rPr lang="en-US" sz="1100" dirty="0">
                          <a:solidFill>
                            <a:srgbClr val="1A1A1A"/>
                          </a:solidFill>
                          <a:latin typeface="Calibri" pitchFamily="34" charset="0"/>
                          <a:ea typeface="Calibri" pitchFamily="34" charset="-122"/>
                          <a:cs typeface="Calibri" pitchFamily="34" charset="-120"/>
                        </a:rPr>
                        <a:t>NSE, BSE, NDS-OM, FIMMDA</a:t>
                      </a:r>
                      <a:endParaRPr lang="en-US" sz="11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D5E3F0"/>
                    </a:solidFill>
                  </a:tcPr>
                </a:tc>
                <a:tc>
                  <a:txBody>
                    <a:bodyPr/>
                    <a:lstStyle/>
                    <a:p>
                      <a:pPr indent="0" marL="0">
                        <a:buNone/>
                      </a:pPr>
                      <a:r>
                        <a:rPr lang="en-US" sz="1100" dirty="0">
                          <a:solidFill>
                            <a:srgbClr val="1A1A1A"/>
                          </a:solidFill>
                          <a:latin typeface="Calibri" pitchFamily="34" charset="0"/>
                          <a:ea typeface="Calibri" pitchFamily="34" charset="-122"/>
                          <a:cs typeface="Calibri" pitchFamily="34" charset="-120"/>
                        </a:rPr>
                        <a:t>Exchange connectivity, trade capture</a:t>
                      </a:r>
                      <a:endParaRPr lang="en-US" sz="11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D5E3F0"/>
                    </a:solidFill>
                  </a:tcPr>
                </a:tc>
              </a:tr>
              <a:tr h="731520">
                <a:tc>
                  <a:txBody>
                    <a:bodyPr/>
                    <a:lstStyle/>
                    <a:p>
                      <a:pPr indent="0" marL="0">
                        <a:buNone/>
                      </a:pPr>
                      <a:r>
                        <a:rPr lang="en-US" sz="1100" dirty="0">
                          <a:solidFill>
                            <a:srgbClr val="1A1A1A"/>
                          </a:solidFill>
                          <a:latin typeface="Calibri" pitchFamily="34" charset="0"/>
                          <a:ea typeface="Calibri" pitchFamily="34" charset="-122"/>
                          <a:cs typeface="Calibri" pitchFamily="34" charset="-120"/>
                        </a:rPr>
                        <a:t>Financial Instruments</a:t>
                      </a:r>
                      <a:endParaRPr lang="en-US" sz="11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FFFFFF"/>
                    </a:solidFill>
                  </a:tcPr>
                </a:tc>
                <a:tc>
                  <a:txBody>
                    <a:bodyPr/>
                    <a:lstStyle/>
                    <a:p>
                      <a:pPr indent="0" marL="0">
                        <a:buNone/>
                      </a:pPr>
                      <a:r>
                        <a:rPr lang="en-US" sz="1100" dirty="0">
                          <a:solidFill>
                            <a:srgbClr val="1A1A1A"/>
                          </a:solidFill>
                          <a:latin typeface="Calibri" pitchFamily="34" charset="0"/>
                          <a:ea typeface="Calibri" pitchFamily="34" charset="-122"/>
                          <a:cs typeface="Calibri" pitchFamily="34" charset="-120"/>
                        </a:rPr>
                        <a:t>Contracts that create financial claims</a:t>
                      </a:r>
                      <a:endParaRPr lang="en-US" sz="11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FFFFFF"/>
                    </a:solidFill>
                  </a:tcPr>
                </a:tc>
                <a:tc>
                  <a:txBody>
                    <a:bodyPr/>
                    <a:lstStyle/>
                    <a:p>
                      <a:pPr indent="0" marL="0">
                        <a:buNone/>
                      </a:pPr>
                      <a:r>
                        <a:rPr lang="en-US" sz="1100" dirty="0">
                          <a:solidFill>
                            <a:srgbClr val="1A1A1A"/>
                          </a:solidFill>
                          <a:latin typeface="Calibri" pitchFamily="34" charset="0"/>
                          <a:ea typeface="Calibri" pitchFamily="34" charset="-122"/>
                          <a:cs typeface="Calibri" pitchFamily="34" charset="-120"/>
                        </a:rPr>
                        <a:t>Shares, G-Secs, NCDs, Futures</a:t>
                      </a:r>
                      <a:endParaRPr lang="en-US" sz="11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FFFFFF"/>
                    </a:solidFill>
                  </a:tcPr>
                </a:tc>
                <a:tc>
                  <a:txBody>
                    <a:bodyPr/>
                    <a:lstStyle/>
                    <a:p>
                      <a:pPr indent="0" marL="0">
                        <a:buNone/>
                      </a:pPr>
                      <a:r>
                        <a:rPr lang="en-US" sz="1100" dirty="0">
                          <a:solidFill>
                            <a:srgbClr val="1A1A1A"/>
                          </a:solidFill>
                          <a:latin typeface="Calibri" pitchFamily="34" charset="0"/>
                          <a:ea typeface="Calibri" pitchFamily="34" charset="-122"/>
                          <a:cs typeface="Calibri" pitchFamily="34" charset="-120"/>
                        </a:rPr>
                        <a:t>Instrument master data, settlement type</a:t>
                      </a:r>
                      <a:endParaRPr lang="en-US" sz="11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FFFFFF"/>
                    </a:solidFill>
                  </a:tcPr>
                </a:tc>
              </a:tr>
              <a:tr h="731520">
                <a:tc>
                  <a:txBody>
                    <a:bodyPr/>
                    <a:lstStyle/>
                    <a:p>
                      <a:pPr indent="0" marL="0">
                        <a:buNone/>
                      </a:pPr>
                      <a:r>
                        <a:rPr lang="en-US" sz="1100" dirty="0">
                          <a:solidFill>
                            <a:srgbClr val="1A1A1A"/>
                          </a:solidFill>
                          <a:latin typeface="Calibri" pitchFamily="34" charset="0"/>
                          <a:ea typeface="Calibri" pitchFamily="34" charset="-122"/>
                          <a:cs typeface="Calibri" pitchFamily="34" charset="-120"/>
                        </a:rPr>
                        <a:t>Regulators</a:t>
                      </a:r>
                      <a:endParaRPr lang="en-US" sz="11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D5E3F0"/>
                    </a:solidFill>
                  </a:tcPr>
                </a:tc>
                <a:tc>
                  <a:txBody>
                    <a:bodyPr/>
                    <a:lstStyle/>
                    <a:p>
                      <a:pPr indent="0" marL="0">
                        <a:buNone/>
                      </a:pPr>
                      <a:r>
                        <a:rPr lang="en-US" sz="1100" dirty="0">
                          <a:solidFill>
                            <a:srgbClr val="1A1A1A"/>
                          </a:solidFill>
                          <a:latin typeface="Calibri" pitchFamily="34" charset="0"/>
                          <a:ea typeface="Calibri" pitchFamily="34" charset="-122"/>
                          <a:cs typeface="Calibri" pitchFamily="34" charset="-120"/>
                        </a:rPr>
                        <a:t>Authorities setting and enforcing rules</a:t>
                      </a:r>
                      <a:endParaRPr lang="en-US" sz="11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D5E3F0"/>
                    </a:solidFill>
                  </a:tcPr>
                </a:tc>
                <a:tc>
                  <a:txBody>
                    <a:bodyPr/>
                    <a:lstStyle/>
                    <a:p>
                      <a:pPr indent="0" marL="0">
                        <a:buNone/>
                      </a:pPr>
                      <a:r>
                        <a:rPr lang="en-US" sz="1100" dirty="0">
                          <a:solidFill>
                            <a:srgbClr val="1A1A1A"/>
                          </a:solidFill>
                          <a:latin typeface="Calibri" pitchFamily="34" charset="0"/>
                          <a:ea typeface="Calibri" pitchFamily="34" charset="-122"/>
                          <a:cs typeface="Calibri" pitchFamily="34" charset="-120"/>
                        </a:rPr>
                        <a:t>SEBI, RBI, IRDAI, PFRDA</a:t>
                      </a:r>
                      <a:endParaRPr lang="en-US" sz="11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D5E3F0"/>
                    </a:solidFill>
                  </a:tcPr>
                </a:tc>
                <a:tc>
                  <a:txBody>
                    <a:bodyPr/>
                    <a:lstStyle/>
                    <a:p>
                      <a:pPr indent="0" marL="0">
                        <a:buNone/>
                      </a:pPr>
                      <a:r>
                        <a:rPr lang="en-US" sz="1100" dirty="0">
                          <a:solidFill>
                            <a:srgbClr val="1A1A1A"/>
                          </a:solidFill>
                          <a:latin typeface="Calibri" pitchFamily="34" charset="0"/>
                          <a:ea typeface="Calibri" pitchFamily="34" charset="-122"/>
                          <a:cs typeface="Calibri" pitchFamily="34" charset="-120"/>
                        </a:rPr>
                        <a:t>Regulatory reporting, compliance controls</a:t>
                      </a:r>
                      <a:endParaRPr lang="en-US" sz="11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D5E3F0"/>
                    </a:solidFill>
                  </a:tcPr>
                </a:tc>
              </a:tr>
              <a:tr h="731520">
                <a:tc>
                  <a:txBody>
                    <a:bodyPr/>
                    <a:lstStyle/>
                    <a:p>
                      <a:pPr indent="0" marL="0">
                        <a:buNone/>
                      </a:pPr>
                      <a:r>
                        <a:rPr lang="en-US" sz="1100" dirty="0">
                          <a:solidFill>
                            <a:srgbClr val="1A1A1A"/>
                          </a:solidFill>
                          <a:latin typeface="Calibri" pitchFamily="34" charset="0"/>
                          <a:ea typeface="Calibri" pitchFamily="34" charset="-122"/>
                          <a:cs typeface="Calibri" pitchFamily="34" charset="-120"/>
                        </a:rPr>
                        <a:t>Financial Services</a:t>
                      </a:r>
                      <a:endParaRPr lang="en-US" sz="11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FFFFFF"/>
                    </a:solidFill>
                  </a:tcPr>
                </a:tc>
                <a:tc>
                  <a:txBody>
                    <a:bodyPr/>
                    <a:lstStyle/>
                    <a:p>
                      <a:pPr indent="0" marL="0">
                        <a:buNone/>
                      </a:pPr>
                      <a:r>
                        <a:rPr lang="en-US" sz="1100" dirty="0">
                          <a:solidFill>
                            <a:srgbClr val="1A1A1A"/>
                          </a:solidFill>
                          <a:latin typeface="Calibri" pitchFamily="34" charset="0"/>
                          <a:ea typeface="Calibri" pitchFamily="34" charset="-122"/>
                          <a:cs typeface="Calibri" pitchFamily="34" charset="-120"/>
                        </a:rPr>
                        <a:t>Supporting infrastructure</a:t>
                      </a:r>
                      <a:endParaRPr lang="en-US" sz="11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FFFFFF"/>
                    </a:solidFill>
                  </a:tcPr>
                </a:tc>
                <a:tc>
                  <a:txBody>
                    <a:bodyPr/>
                    <a:lstStyle/>
                    <a:p>
                      <a:pPr indent="0" marL="0">
                        <a:buNone/>
                      </a:pPr>
                      <a:r>
                        <a:rPr lang="en-US" sz="1100" dirty="0">
                          <a:solidFill>
                            <a:srgbClr val="1A1A1A"/>
                          </a:solidFill>
                          <a:latin typeface="Calibri" pitchFamily="34" charset="0"/>
                          <a:ea typeface="Calibri" pitchFamily="34" charset="-122"/>
                          <a:cs typeface="Calibri" pitchFamily="34" charset="-120"/>
                        </a:rPr>
                        <a:t>NSCCL (clearing), NSDL/CDSL (custody)</a:t>
                      </a:r>
                      <a:endParaRPr lang="en-US" sz="11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FFFFFF"/>
                    </a:solidFill>
                  </a:tcPr>
                </a:tc>
                <a:tc>
                  <a:txBody>
                    <a:bodyPr/>
                    <a:lstStyle/>
                    <a:p>
                      <a:pPr indent="0" marL="0">
                        <a:buNone/>
                      </a:pPr>
                      <a:r>
                        <a:rPr lang="en-US" sz="1100" dirty="0">
                          <a:solidFill>
                            <a:srgbClr val="1A1A1A"/>
                          </a:solidFill>
                          <a:latin typeface="Calibri" pitchFamily="34" charset="0"/>
                          <a:ea typeface="Calibri" pitchFamily="34" charset="-122"/>
                          <a:cs typeface="Calibri" pitchFamily="34" charset="-120"/>
                        </a:rPr>
                        <a:t>Settlement instruction, demat credits</a:t>
                      </a:r>
                      <a:endParaRPr lang="en-US" sz="11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FFFFFF"/>
                    </a:solidFill>
                  </a:tcPr>
                </a:tc>
              </a:tr>
            </a:tbl>
          </a:graphicData>
        </a:graphic>
      </p:graphicFrame>
      <p:sp>
        <p:nvSpPr>
          <p:cNvPr id="11" name="Text 8"/>
          <p:cNvSpPr/>
          <p:nvPr/>
        </p:nvSpPr>
        <p:spPr>
          <a:xfrm>
            <a:off x="274320" y="6126480"/>
            <a:ext cx="11612880" cy="365760"/>
          </a:xfrm>
          <a:prstGeom prst="rect">
            <a:avLst/>
          </a:prstGeom>
          <a:noFill/>
          <a:ln/>
        </p:spPr>
        <p:txBody>
          <a:bodyPr wrap="square" rtlCol="0" anchor="ctr"/>
          <a:lstStyle/>
          <a:p>
            <a:pPr indent="0" marL="0">
              <a:buNone/>
            </a:pPr>
            <a:r>
              <a:rPr lang="en-US" sz="1000" dirty="0">
                <a:solidFill>
                  <a:srgbClr val="005F5F"/>
                </a:solidFill>
                <a:latin typeface="Calibri" pitchFamily="34" charset="0"/>
                <a:ea typeface="Calibri" pitchFamily="34" charset="-122"/>
                <a:cs typeface="Calibri" pitchFamily="34" charset="-120"/>
              </a:rPr>
              <a:t>⚡  Every operations workflow touches at least 3 of these 5 components per transaction.</a:t>
            </a:r>
            <a:endParaRPr lang="en-US" sz="1000" dirty="0"/>
          </a:p>
        </p:txBody>
      </p:sp>
      <p:sp>
        <p:nvSpPr>
          <p:cNvPr id="12" name="Text 9"/>
          <p:cNvSpPr/>
          <p:nvPr/>
        </p:nvSpPr>
        <p:spPr>
          <a:xfrm>
            <a:off x="0" y="6601968"/>
            <a:ext cx="12192000" cy="182880"/>
          </a:xfrm>
          <a:prstGeom prst="rect">
            <a:avLst/>
          </a:prstGeom>
          <a:noFill/>
          <a:ln/>
        </p:spPr>
        <p:txBody>
          <a:bodyPr wrap="square" rtlCol="0" anchor="ctr"/>
          <a:lstStyle/>
          <a:p>
            <a:pPr algn="ctr" indent="0" marL="0">
              <a:buNone/>
            </a:pPr>
            <a:r>
              <a:rPr lang="en-US" sz="800" dirty="0">
                <a:solidFill>
                  <a:srgbClr val="AAAAAA"/>
                </a:solidFill>
                <a:latin typeface="Calibri" pitchFamily="34" charset="0"/>
                <a:ea typeface="Calibri" pitchFamily="34" charset="-122"/>
                <a:cs typeface="Calibri" pitchFamily="34" charset="-120"/>
              </a:rPr>
              <a:t>CIBOP · Module 1 · D1.2</a:t>
            </a:r>
            <a:endParaRPr lang="en-US" sz="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4F6FA"/>
          </a:solidFill>
          <a:ln/>
        </p:spPr>
      </p:sp>
      <p:sp>
        <p:nvSpPr>
          <p:cNvPr id="3" name="Shape 1"/>
          <p:cNvSpPr/>
          <p:nvPr/>
        </p:nvSpPr>
        <p:spPr>
          <a:xfrm>
            <a:off x="0" y="0"/>
            <a:ext cx="12192000" cy="73152"/>
          </a:xfrm>
          <a:prstGeom prst="rect">
            <a:avLst/>
          </a:prstGeom>
          <a:solidFill>
            <a:srgbClr val="1E3A5F"/>
          </a:solidFill>
          <a:ln/>
        </p:spPr>
      </p:sp>
      <p:sp>
        <p:nvSpPr>
          <p:cNvPr id="4" name="Shape 2"/>
          <p:cNvSpPr/>
          <p:nvPr/>
        </p:nvSpPr>
        <p:spPr>
          <a:xfrm>
            <a:off x="0" y="6784848"/>
            <a:ext cx="12192000" cy="73152"/>
          </a:xfrm>
          <a:prstGeom prst="rect">
            <a:avLst/>
          </a:prstGeom>
          <a:solidFill>
            <a:srgbClr val="B8860B"/>
          </a:solidFill>
          <a:ln/>
        </p:spPr>
      </p:sp>
      <p:sp>
        <p:nvSpPr>
          <p:cNvPr id="5" name="Shape 3"/>
          <p:cNvSpPr/>
          <p:nvPr/>
        </p:nvSpPr>
        <p:spPr>
          <a:xfrm>
            <a:off x="0" y="73152"/>
            <a:ext cx="1828800" cy="347472"/>
          </a:xfrm>
          <a:prstGeom prst="rect">
            <a:avLst/>
          </a:prstGeom>
          <a:solidFill>
            <a:srgbClr val="B8860B"/>
          </a:solidFill>
          <a:ln/>
        </p:spPr>
      </p:sp>
      <p:sp>
        <p:nvSpPr>
          <p:cNvPr id="6" name="Text 4"/>
          <p:cNvSpPr/>
          <p:nvPr/>
        </p:nvSpPr>
        <p:spPr>
          <a:xfrm>
            <a:off x="0" y="73152"/>
            <a:ext cx="1828800" cy="347472"/>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GOING DEEPER</a:t>
            </a:r>
            <a:endParaRPr lang="en-US" sz="1000" dirty="0"/>
          </a:p>
        </p:txBody>
      </p:sp>
      <p:sp>
        <p:nvSpPr>
          <p:cNvPr id="7" name="Shape 5"/>
          <p:cNvSpPr/>
          <p:nvPr/>
        </p:nvSpPr>
        <p:spPr>
          <a:xfrm>
            <a:off x="10360152" y="73152"/>
            <a:ext cx="1828800" cy="347472"/>
          </a:xfrm>
          <a:prstGeom prst="rect">
            <a:avLst/>
          </a:prstGeom>
          <a:solidFill>
            <a:srgbClr val="005F5F"/>
          </a:solidFill>
          <a:ln/>
        </p:spPr>
      </p:sp>
      <p:sp>
        <p:nvSpPr>
          <p:cNvPr id="8" name="Text 6"/>
          <p:cNvSpPr/>
          <p:nvPr/>
        </p:nvSpPr>
        <p:spPr>
          <a:xfrm>
            <a:off x="10360152" y="73152"/>
            <a:ext cx="1828800" cy="347472"/>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D1.2</a:t>
            </a:r>
            <a:endParaRPr lang="en-US" sz="1000" dirty="0"/>
          </a:p>
        </p:txBody>
      </p:sp>
      <p:sp>
        <p:nvSpPr>
          <p:cNvPr id="9" name="Text 7"/>
          <p:cNvSpPr/>
          <p:nvPr/>
        </p:nvSpPr>
        <p:spPr>
          <a:xfrm>
            <a:off x="274320" y="502920"/>
            <a:ext cx="11612880" cy="640080"/>
          </a:xfrm>
          <a:prstGeom prst="rect">
            <a:avLst/>
          </a:prstGeom>
          <a:noFill/>
          <a:ln/>
        </p:spPr>
        <p:txBody>
          <a:bodyPr wrap="square" rtlCol="0" anchor="ctr"/>
          <a:lstStyle/>
          <a:p>
            <a:pPr indent="0" marL="0">
              <a:buNone/>
            </a:pPr>
            <a:r>
              <a:rPr lang="en-US" sz="2200" b="1" dirty="0">
                <a:solidFill>
                  <a:srgbClr val="1E3A5F"/>
                </a:solidFill>
                <a:latin typeface="Calibri" pitchFamily="34" charset="0"/>
                <a:ea typeface="Calibri" pitchFamily="34" charset="-122"/>
                <a:cs typeface="Calibri" pitchFamily="34" charset="-120"/>
              </a:rPr>
              <a:t>Four Insights About How the Five Components Interconnect</a:t>
            </a:r>
            <a:endParaRPr lang="en-US" sz="2200" dirty="0"/>
          </a:p>
        </p:txBody>
      </p:sp>
      <p:sp>
        <p:nvSpPr>
          <p:cNvPr id="10" name="Shape 8"/>
          <p:cNvSpPr/>
          <p:nvPr/>
        </p:nvSpPr>
        <p:spPr>
          <a:xfrm>
            <a:off x="274320" y="1280160"/>
            <a:ext cx="5669280" cy="2377440"/>
          </a:xfrm>
          <a:prstGeom prst="rect">
            <a:avLst/>
          </a:prstGeom>
          <a:solidFill>
            <a:srgbClr val="D5E3F0"/>
          </a:solidFill>
          <a:ln w="6350">
            <a:solidFill>
              <a:srgbClr val="AAAAAA"/>
            </a:solidFill>
            <a:prstDash val="solid"/>
          </a:ln>
        </p:spPr>
      </p:sp>
      <p:sp>
        <p:nvSpPr>
          <p:cNvPr id="11" name="Shape 9"/>
          <p:cNvSpPr/>
          <p:nvPr/>
        </p:nvSpPr>
        <p:spPr>
          <a:xfrm>
            <a:off x="365760" y="1371600"/>
            <a:ext cx="457200" cy="457200"/>
          </a:xfrm>
          <a:prstGeom prst="ellipse">
            <a:avLst/>
          </a:prstGeom>
          <a:solidFill>
            <a:srgbClr val="1E3A5F"/>
          </a:solidFill>
          <a:ln/>
        </p:spPr>
      </p:sp>
      <p:sp>
        <p:nvSpPr>
          <p:cNvPr id="12" name="Text 10"/>
          <p:cNvSpPr/>
          <p:nvPr/>
        </p:nvSpPr>
        <p:spPr>
          <a:xfrm>
            <a:off x="365760" y="1371600"/>
            <a:ext cx="457200" cy="45720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3" name="Text 11"/>
          <p:cNvSpPr/>
          <p:nvPr/>
        </p:nvSpPr>
        <p:spPr>
          <a:xfrm>
            <a:off x="914400" y="1371600"/>
            <a:ext cx="4892040" cy="457200"/>
          </a:xfrm>
          <a:prstGeom prst="rect">
            <a:avLst/>
          </a:prstGeom>
          <a:noFill/>
          <a:ln/>
        </p:spPr>
        <p:txBody>
          <a:bodyPr wrap="square" rtlCol="0" anchor="ctr"/>
          <a:lstStyle/>
          <a:p>
            <a:pPr indent="0" marL="0">
              <a:buNone/>
            </a:pPr>
            <a:r>
              <a:rPr lang="en-US" sz="1300" b="1" dirty="0">
                <a:solidFill>
                  <a:srgbClr val="1A1A1A"/>
                </a:solidFill>
                <a:latin typeface="Calibri" pitchFamily="34" charset="0"/>
                <a:ea typeface="Calibri" pitchFamily="34" charset="-122"/>
                <a:cs typeface="Calibri" pitchFamily="34" charset="-120"/>
              </a:rPr>
              <a:t>A Regulator Cannot Function Without Markets to Regulate</a:t>
            </a:r>
            <a:endParaRPr lang="en-US" sz="1300" dirty="0"/>
          </a:p>
        </p:txBody>
      </p:sp>
      <p:sp>
        <p:nvSpPr>
          <p:cNvPr id="14" name="Text 12"/>
          <p:cNvSpPr/>
          <p:nvPr/>
        </p:nvSpPr>
        <p:spPr>
          <a:xfrm>
            <a:off x="411480" y="1874520"/>
            <a:ext cx="5394960" cy="1645920"/>
          </a:xfrm>
          <a:prstGeom prst="rect">
            <a:avLst/>
          </a:prstGeom>
          <a:noFill/>
          <a:ln/>
        </p:spPr>
        <p:txBody>
          <a:bodyPr wrap="square" rtlCol="0" anchor="ctr"/>
          <a:lstStyle/>
          <a:p>
            <a:pPr indent="0" marL="0">
              <a:buNone/>
            </a:pPr>
            <a:r>
              <a:rPr lang="en-US" sz="1100" dirty="0">
                <a:solidFill>
                  <a:srgbClr val="1A1A1A"/>
                </a:solidFill>
                <a:latin typeface="Calibri" pitchFamily="34" charset="0"/>
                <a:ea typeface="Calibri" pitchFamily="34" charset="-122"/>
                <a:cs typeface="Calibri" pitchFamily="34" charset="-120"/>
              </a:rPr>
              <a:t>SEBI exists because NSE and BSE exist. If markets close, SEBI's surveillance powers have no subject to operate on. Regulatory strength is a function of market activity, not the other way around.</a:t>
            </a:r>
            <a:endParaRPr lang="en-US" sz="1100" dirty="0"/>
          </a:p>
        </p:txBody>
      </p:sp>
      <p:sp>
        <p:nvSpPr>
          <p:cNvPr id="15" name="Shape 13"/>
          <p:cNvSpPr/>
          <p:nvPr/>
        </p:nvSpPr>
        <p:spPr>
          <a:xfrm>
            <a:off x="6126480" y="1280160"/>
            <a:ext cx="5669280" cy="2377440"/>
          </a:xfrm>
          <a:prstGeom prst="rect">
            <a:avLst/>
          </a:prstGeom>
          <a:solidFill>
            <a:srgbClr val="D4EFEF"/>
          </a:solidFill>
          <a:ln w="6350">
            <a:solidFill>
              <a:srgbClr val="AAAAAA"/>
            </a:solidFill>
            <a:prstDash val="solid"/>
          </a:ln>
        </p:spPr>
      </p:sp>
      <p:sp>
        <p:nvSpPr>
          <p:cNvPr id="16" name="Shape 14"/>
          <p:cNvSpPr/>
          <p:nvPr/>
        </p:nvSpPr>
        <p:spPr>
          <a:xfrm>
            <a:off x="6217920" y="1371600"/>
            <a:ext cx="457200" cy="457200"/>
          </a:xfrm>
          <a:prstGeom prst="ellipse">
            <a:avLst/>
          </a:prstGeom>
          <a:solidFill>
            <a:srgbClr val="005F5F"/>
          </a:solidFill>
          <a:ln/>
        </p:spPr>
      </p:sp>
      <p:sp>
        <p:nvSpPr>
          <p:cNvPr id="17" name="Text 15"/>
          <p:cNvSpPr/>
          <p:nvPr/>
        </p:nvSpPr>
        <p:spPr>
          <a:xfrm>
            <a:off x="6217920" y="1371600"/>
            <a:ext cx="457200" cy="45720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8" name="Text 16"/>
          <p:cNvSpPr/>
          <p:nvPr/>
        </p:nvSpPr>
        <p:spPr>
          <a:xfrm>
            <a:off x="6766560" y="1371600"/>
            <a:ext cx="4892040" cy="457200"/>
          </a:xfrm>
          <a:prstGeom prst="rect">
            <a:avLst/>
          </a:prstGeom>
          <a:noFill/>
          <a:ln/>
        </p:spPr>
        <p:txBody>
          <a:bodyPr wrap="square" rtlCol="0" anchor="ctr"/>
          <a:lstStyle/>
          <a:p>
            <a:pPr indent="0" marL="0">
              <a:buNone/>
            </a:pPr>
            <a:r>
              <a:rPr lang="en-US" sz="1300" b="1" dirty="0">
                <a:solidFill>
                  <a:srgbClr val="1A1A1A"/>
                </a:solidFill>
                <a:latin typeface="Calibri" pitchFamily="34" charset="0"/>
                <a:ea typeface="Calibri" pitchFamily="34" charset="-122"/>
                <a:cs typeface="Calibri" pitchFamily="34" charset="-120"/>
              </a:rPr>
              <a:t>Financial Instruments Are the Language of Contracts</a:t>
            </a:r>
            <a:endParaRPr lang="en-US" sz="1300" dirty="0"/>
          </a:p>
        </p:txBody>
      </p:sp>
      <p:sp>
        <p:nvSpPr>
          <p:cNvPr id="19" name="Text 17"/>
          <p:cNvSpPr/>
          <p:nvPr/>
        </p:nvSpPr>
        <p:spPr>
          <a:xfrm>
            <a:off x="6263640" y="1874520"/>
            <a:ext cx="5394960" cy="1645920"/>
          </a:xfrm>
          <a:prstGeom prst="rect">
            <a:avLst/>
          </a:prstGeom>
          <a:noFill/>
          <a:ln/>
        </p:spPr>
        <p:txBody>
          <a:bodyPr wrap="square" rtlCol="0" anchor="ctr"/>
          <a:lstStyle/>
          <a:p>
            <a:pPr indent="0" marL="0">
              <a:buNone/>
            </a:pPr>
            <a:r>
              <a:rPr lang="en-US" sz="1100" dirty="0">
                <a:solidFill>
                  <a:srgbClr val="1A1A1A"/>
                </a:solidFill>
                <a:latin typeface="Calibri" pitchFamily="34" charset="0"/>
                <a:ea typeface="Calibri" pitchFamily="34" charset="-122"/>
                <a:cs typeface="Calibri" pitchFamily="34" charset="-120"/>
              </a:rPr>
              <a:t>Every instrument is a standardised legal contract. A share certificate (even digital) encodes ownership rights. A bond encodes payment obligations. Standardisation by exchanges reduces legal friction and speeds settlement.</a:t>
            </a:r>
            <a:endParaRPr lang="en-US" sz="1100" dirty="0"/>
          </a:p>
        </p:txBody>
      </p:sp>
      <p:sp>
        <p:nvSpPr>
          <p:cNvPr id="20" name="Shape 18"/>
          <p:cNvSpPr/>
          <p:nvPr/>
        </p:nvSpPr>
        <p:spPr>
          <a:xfrm>
            <a:off x="274320" y="3840480"/>
            <a:ext cx="5669280" cy="2377440"/>
          </a:xfrm>
          <a:prstGeom prst="rect">
            <a:avLst/>
          </a:prstGeom>
          <a:solidFill>
            <a:srgbClr val="FEF9E7"/>
          </a:solidFill>
          <a:ln w="6350">
            <a:solidFill>
              <a:srgbClr val="AAAAAA"/>
            </a:solidFill>
            <a:prstDash val="solid"/>
          </a:ln>
        </p:spPr>
      </p:sp>
      <p:sp>
        <p:nvSpPr>
          <p:cNvPr id="21" name="Shape 19"/>
          <p:cNvSpPr/>
          <p:nvPr/>
        </p:nvSpPr>
        <p:spPr>
          <a:xfrm>
            <a:off x="365760" y="3931920"/>
            <a:ext cx="457200" cy="457200"/>
          </a:xfrm>
          <a:prstGeom prst="ellipse">
            <a:avLst/>
          </a:prstGeom>
          <a:solidFill>
            <a:srgbClr val="B8860B"/>
          </a:solidFill>
          <a:ln/>
        </p:spPr>
      </p:sp>
      <p:sp>
        <p:nvSpPr>
          <p:cNvPr id="22" name="Text 20"/>
          <p:cNvSpPr/>
          <p:nvPr/>
        </p:nvSpPr>
        <p:spPr>
          <a:xfrm>
            <a:off x="365760" y="3931920"/>
            <a:ext cx="457200" cy="45720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23" name="Text 21"/>
          <p:cNvSpPr/>
          <p:nvPr/>
        </p:nvSpPr>
        <p:spPr>
          <a:xfrm>
            <a:off x="914400" y="3931920"/>
            <a:ext cx="4892040" cy="457200"/>
          </a:xfrm>
          <a:prstGeom prst="rect">
            <a:avLst/>
          </a:prstGeom>
          <a:noFill/>
          <a:ln/>
        </p:spPr>
        <p:txBody>
          <a:bodyPr wrap="square" rtlCol="0" anchor="ctr"/>
          <a:lstStyle/>
          <a:p>
            <a:pPr indent="0" marL="0">
              <a:buNone/>
            </a:pPr>
            <a:r>
              <a:rPr lang="en-US" sz="1300" b="1" dirty="0">
                <a:solidFill>
                  <a:srgbClr val="1A1A1A"/>
                </a:solidFill>
                <a:latin typeface="Calibri" pitchFamily="34" charset="0"/>
                <a:ea typeface="Calibri" pitchFamily="34" charset="-122"/>
                <a:cs typeface="Calibri" pitchFamily="34" charset="-120"/>
              </a:rPr>
              <a:t>Services Are the Least Glamorous But Most Critical</a:t>
            </a:r>
            <a:endParaRPr lang="en-US" sz="1300" dirty="0"/>
          </a:p>
        </p:txBody>
      </p:sp>
      <p:sp>
        <p:nvSpPr>
          <p:cNvPr id="24" name="Text 22"/>
          <p:cNvSpPr/>
          <p:nvPr/>
        </p:nvSpPr>
        <p:spPr>
          <a:xfrm>
            <a:off x="411480" y="4434840"/>
            <a:ext cx="5394960" cy="1645920"/>
          </a:xfrm>
          <a:prstGeom prst="rect">
            <a:avLst/>
          </a:prstGeom>
          <a:noFill/>
          <a:ln/>
        </p:spPr>
        <p:txBody>
          <a:bodyPr wrap="square" rtlCol="0" anchor="ctr"/>
          <a:lstStyle/>
          <a:p>
            <a:pPr indent="0" marL="0">
              <a:buNone/>
            </a:pPr>
            <a:r>
              <a:rPr lang="en-US" sz="1100" dirty="0">
                <a:solidFill>
                  <a:srgbClr val="1A1A1A"/>
                </a:solidFill>
                <a:latin typeface="Calibri" pitchFamily="34" charset="0"/>
                <a:ea typeface="Calibri" pitchFamily="34" charset="-122"/>
                <a:cs typeface="Calibri" pitchFamily="34" charset="-120"/>
              </a:rPr>
              <a:t>No one IPOs a clearing corporation. But without NSCCL, no equity trade in India would settle with certainty. The NSE 2021 outage proved that services failures cascade immediately into market failures.</a:t>
            </a:r>
            <a:endParaRPr lang="en-US" sz="1100" dirty="0"/>
          </a:p>
        </p:txBody>
      </p:sp>
      <p:sp>
        <p:nvSpPr>
          <p:cNvPr id="25" name="Shape 23"/>
          <p:cNvSpPr/>
          <p:nvPr/>
        </p:nvSpPr>
        <p:spPr>
          <a:xfrm>
            <a:off x="6126480" y="3840480"/>
            <a:ext cx="5669280" cy="2377440"/>
          </a:xfrm>
          <a:prstGeom prst="rect">
            <a:avLst/>
          </a:prstGeom>
          <a:solidFill>
            <a:srgbClr val="D5E3F0"/>
          </a:solidFill>
          <a:ln w="6350">
            <a:solidFill>
              <a:srgbClr val="AAAAAA"/>
            </a:solidFill>
            <a:prstDash val="solid"/>
          </a:ln>
        </p:spPr>
      </p:sp>
      <p:sp>
        <p:nvSpPr>
          <p:cNvPr id="26" name="Shape 24"/>
          <p:cNvSpPr/>
          <p:nvPr/>
        </p:nvSpPr>
        <p:spPr>
          <a:xfrm>
            <a:off x="6217920" y="3931920"/>
            <a:ext cx="457200" cy="457200"/>
          </a:xfrm>
          <a:prstGeom prst="ellipse">
            <a:avLst/>
          </a:prstGeom>
          <a:solidFill>
            <a:srgbClr val="1E3A5F"/>
          </a:solidFill>
          <a:ln/>
        </p:spPr>
      </p:sp>
      <p:sp>
        <p:nvSpPr>
          <p:cNvPr id="27" name="Text 25"/>
          <p:cNvSpPr/>
          <p:nvPr/>
        </p:nvSpPr>
        <p:spPr>
          <a:xfrm>
            <a:off x="6217920" y="3931920"/>
            <a:ext cx="457200" cy="45720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28" name="Text 26"/>
          <p:cNvSpPr/>
          <p:nvPr/>
        </p:nvSpPr>
        <p:spPr>
          <a:xfrm>
            <a:off x="6766560" y="3931920"/>
            <a:ext cx="4892040" cy="457200"/>
          </a:xfrm>
          <a:prstGeom prst="rect">
            <a:avLst/>
          </a:prstGeom>
          <a:noFill/>
          <a:ln/>
        </p:spPr>
        <p:txBody>
          <a:bodyPr wrap="square" rtlCol="0" anchor="ctr"/>
          <a:lstStyle/>
          <a:p>
            <a:pPr indent="0" marL="0">
              <a:buNone/>
            </a:pPr>
            <a:r>
              <a:rPr lang="en-US" sz="1300" b="1" dirty="0">
                <a:solidFill>
                  <a:srgbClr val="1A1A1A"/>
                </a:solidFill>
                <a:latin typeface="Calibri" pitchFamily="34" charset="0"/>
                <a:ea typeface="Calibri" pitchFamily="34" charset="-122"/>
                <a:cs typeface="Calibri" pitchFamily="34" charset="-120"/>
              </a:rPr>
              <a:t>Participants Drive Liquidity, Not the Exchange</a:t>
            </a:r>
            <a:endParaRPr lang="en-US" sz="1300" dirty="0"/>
          </a:p>
        </p:txBody>
      </p:sp>
      <p:sp>
        <p:nvSpPr>
          <p:cNvPr id="29" name="Text 27"/>
          <p:cNvSpPr/>
          <p:nvPr/>
        </p:nvSpPr>
        <p:spPr>
          <a:xfrm>
            <a:off x="6263640" y="4434840"/>
            <a:ext cx="5394960" cy="1645920"/>
          </a:xfrm>
          <a:prstGeom prst="rect">
            <a:avLst/>
          </a:prstGeom>
          <a:noFill/>
          <a:ln/>
        </p:spPr>
        <p:txBody>
          <a:bodyPr wrap="square" rtlCol="0" anchor="ctr"/>
          <a:lstStyle/>
          <a:p>
            <a:pPr indent="0" marL="0">
              <a:buNone/>
            </a:pPr>
            <a:r>
              <a:rPr lang="en-US" sz="1100" dirty="0">
                <a:solidFill>
                  <a:srgbClr val="1A1A1A"/>
                </a:solidFill>
                <a:latin typeface="Calibri" pitchFamily="34" charset="0"/>
                <a:ea typeface="Calibri" pitchFamily="34" charset="-122"/>
                <a:cs typeface="Calibri" pitchFamily="34" charset="-120"/>
              </a:rPr>
              <a:t>NSE provides the venue. It is the participants — the buyers and sellers — who create liquidity. An exchange with one participant is just an expensive computer system. This is why participant diversity is a regulatory policy priority.</a:t>
            </a:r>
            <a:endParaRPr lang="en-US" sz="1100" dirty="0"/>
          </a:p>
        </p:txBody>
      </p:sp>
      <p:sp>
        <p:nvSpPr>
          <p:cNvPr id="30" name="Text 28"/>
          <p:cNvSpPr/>
          <p:nvPr/>
        </p:nvSpPr>
        <p:spPr>
          <a:xfrm>
            <a:off x="0" y="6601968"/>
            <a:ext cx="12192000" cy="182880"/>
          </a:xfrm>
          <a:prstGeom prst="rect">
            <a:avLst/>
          </a:prstGeom>
          <a:noFill/>
          <a:ln/>
        </p:spPr>
        <p:txBody>
          <a:bodyPr wrap="square" rtlCol="0" anchor="ctr"/>
          <a:lstStyle/>
          <a:p>
            <a:pPr algn="ctr" indent="0" marL="0">
              <a:buNone/>
            </a:pPr>
            <a:r>
              <a:rPr lang="en-US" sz="800" dirty="0">
                <a:solidFill>
                  <a:srgbClr val="AAAAAA"/>
                </a:solidFill>
                <a:latin typeface="Calibri" pitchFamily="34" charset="0"/>
                <a:ea typeface="Calibri" pitchFamily="34" charset="-122"/>
                <a:cs typeface="Calibri" pitchFamily="34" charset="-120"/>
              </a:rPr>
              <a:t>CIBOP · Module 1 · D1.2</a:t>
            </a:r>
            <a:endParaRPr lang="en-US" sz="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005F5F"/>
          </a:solidFill>
          <a:ln/>
        </p:spPr>
      </p:sp>
      <p:sp>
        <p:nvSpPr>
          <p:cNvPr id="3" name="Shape 1"/>
          <p:cNvSpPr/>
          <p:nvPr/>
        </p:nvSpPr>
        <p:spPr>
          <a:xfrm>
            <a:off x="0" y="0"/>
            <a:ext cx="12192000" cy="73152"/>
          </a:xfrm>
          <a:prstGeom prst="rect">
            <a:avLst/>
          </a:prstGeom>
          <a:solidFill>
            <a:srgbClr val="B8860B"/>
          </a:solidFill>
          <a:ln/>
        </p:spPr>
      </p:sp>
      <p:sp>
        <p:nvSpPr>
          <p:cNvPr id="4" name="Shape 2"/>
          <p:cNvSpPr/>
          <p:nvPr/>
        </p:nvSpPr>
        <p:spPr>
          <a:xfrm>
            <a:off x="0" y="6784848"/>
            <a:ext cx="12192000" cy="73152"/>
          </a:xfrm>
          <a:prstGeom prst="rect">
            <a:avLst/>
          </a:prstGeom>
          <a:solidFill>
            <a:srgbClr val="B8860B"/>
          </a:solidFill>
          <a:ln/>
        </p:spPr>
      </p:sp>
      <p:sp>
        <p:nvSpPr>
          <p:cNvPr id="5" name="Shape 3"/>
          <p:cNvSpPr/>
          <p:nvPr/>
        </p:nvSpPr>
        <p:spPr>
          <a:xfrm>
            <a:off x="0" y="73152"/>
            <a:ext cx="1828800" cy="347472"/>
          </a:xfrm>
          <a:prstGeom prst="rect">
            <a:avLst/>
          </a:prstGeom>
          <a:solidFill>
            <a:srgbClr val="B8860B"/>
          </a:solidFill>
          <a:ln/>
        </p:spPr>
      </p:sp>
      <p:sp>
        <p:nvSpPr>
          <p:cNvPr id="6" name="Text 4"/>
          <p:cNvSpPr/>
          <p:nvPr/>
        </p:nvSpPr>
        <p:spPr>
          <a:xfrm>
            <a:off x="0" y="73152"/>
            <a:ext cx="1828800" cy="347472"/>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THINK &amp; DISCUSS</a:t>
            </a:r>
            <a:endParaRPr lang="en-US" sz="1000" dirty="0"/>
          </a:p>
        </p:txBody>
      </p:sp>
      <p:sp>
        <p:nvSpPr>
          <p:cNvPr id="7" name="Shape 5"/>
          <p:cNvSpPr/>
          <p:nvPr/>
        </p:nvSpPr>
        <p:spPr>
          <a:xfrm>
            <a:off x="10360152" y="73152"/>
            <a:ext cx="1828800" cy="347472"/>
          </a:xfrm>
          <a:prstGeom prst="rect">
            <a:avLst/>
          </a:prstGeom>
          <a:solidFill>
            <a:srgbClr val="005F5F"/>
          </a:solidFill>
          <a:ln/>
        </p:spPr>
      </p:sp>
      <p:sp>
        <p:nvSpPr>
          <p:cNvPr id="8" name="Text 6"/>
          <p:cNvSpPr/>
          <p:nvPr/>
        </p:nvSpPr>
        <p:spPr>
          <a:xfrm>
            <a:off x="10360152" y="73152"/>
            <a:ext cx="1828800" cy="347472"/>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D1.2</a:t>
            </a:r>
            <a:endParaRPr lang="en-US" sz="1000" dirty="0"/>
          </a:p>
        </p:txBody>
      </p:sp>
      <p:sp>
        <p:nvSpPr>
          <p:cNvPr id="9" name="Shape 7"/>
          <p:cNvSpPr/>
          <p:nvPr/>
        </p:nvSpPr>
        <p:spPr>
          <a:xfrm>
            <a:off x="365760" y="914400"/>
            <a:ext cx="11155680" cy="3840480"/>
          </a:xfrm>
          <a:prstGeom prst="rect">
            <a:avLst/>
          </a:prstGeom>
          <a:solidFill>
            <a:srgbClr val="004444"/>
          </a:solidFill>
          <a:ln w="12700">
            <a:solidFill>
              <a:srgbClr val="B8860B"/>
            </a:solidFill>
            <a:prstDash val="solid"/>
          </a:ln>
        </p:spPr>
      </p:sp>
      <p:sp>
        <p:nvSpPr>
          <p:cNvPr id="10" name="Text 8"/>
          <p:cNvSpPr/>
          <p:nvPr/>
        </p:nvSpPr>
        <p:spPr>
          <a:xfrm>
            <a:off x="9144000" y="548640"/>
            <a:ext cx="2926080" cy="457200"/>
          </a:xfrm>
          <a:prstGeom prst="rect">
            <a:avLst/>
          </a:prstGeom>
          <a:noFill/>
          <a:ln/>
        </p:spPr>
        <p:txBody>
          <a:bodyPr wrap="square" rtlCol="0" anchor="ctr"/>
          <a:lstStyle/>
          <a:p>
            <a:pPr algn="r" indent="0" marL="0">
              <a:buNone/>
            </a:pPr>
            <a:r>
              <a:rPr lang="en-US" sz="1400" b="1" dirty="0">
                <a:solidFill>
                  <a:srgbClr val="B8860B"/>
                </a:solidFill>
                <a:latin typeface="Calibri" pitchFamily="34" charset="0"/>
                <a:ea typeface="Calibri" pitchFamily="34" charset="-122"/>
                <a:cs typeface="Calibri" pitchFamily="34" charset="-120"/>
              </a:rPr>
              <a:t>🕐  2 MINUTES</a:t>
            </a:r>
            <a:endParaRPr lang="en-US" sz="1400" dirty="0"/>
          </a:p>
        </p:txBody>
      </p:sp>
      <p:sp>
        <p:nvSpPr>
          <p:cNvPr id="11" name="Text 9"/>
          <p:cNvSpPr/>
          <p:nvPr/>
        </p:nvSpPr>
        <p:spPr>
          <a:xfrm>
            <a:off x="640080" y="1188720"/>
            <a:ext cx="10607040" cy="3108960"/>
          </a:xfrm>
          <a:prstGeom prst="rect">
            <a:avLst/>
          </a:prstGeom>
          <a:noFill/>
          <a:ln/>
        </p:spPr>
        <p:txBody>
          <a:bodyPr wrap="square"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"If SEBI (the regulator) ceased to exist tomorrow, which of the other four components would be MOST immediately affected — and why?"</a:t>
            </a:r>
            <a:endParaRPr lang="en-US" sz="2000" dirty="0"/>
          </a:p>
        </p:txBody>
      </p:sp>
      <p:sp>
        <p:nvSpPr>
          <p:cNvPr id="12" name="Shape 10"/>
          <p:cNvSpPr/>
          <p:nvPr/>
        </p:nvSpPr>
        <p:spPr>
          <a:xfrm>
            <a:off x="0" y="5029200"/>
            <a:ext cx="12192000" cy="914400"/>
          </a:xfrm>
          <a:prstGeom prst="rect">
            <a:avLst/>
          </a:prstGeom>
          <a:solidFill>
            <a:srgbClr val="003333"/>
          </a:solidFill>
          <a:ln/>
        </p:spPr>
      </p:sp>
      <p:sp>
        <p:nvSpPr>
          <p:cNvPr id="13" name="Text 11"/>
          <p:cNvSpPr/>
          <p:nvPr/>
        </p:nvSpPr>
        <p:spPr>
          <a:xfrm>
            <a:off x="365760" y="5029200"/>
            <a:ext cx="11430000" cy="914400"/>
          </a:xfrm>
          <a:prstGeom prst="rect">
            <a:avLst/>
          </a:prstGeom>
          <a:noFill/>
          <a:ln/>
        </p:spPr>
        <p:txBody>
          <a:bodyPr wrap="square" rtlCol="0" anchor="ctr"/>
          <a:lstStyle/>
          <a:p>
            <a:pPr indent="0" marL="0">
              <a:buNone/>
            </a:pPr>
            <a:r>
              <a:rPr lang="en-US" sz="1400" dirty="0">
                <a:solidFill>
                  <a:srgbClr val="CADCFC"/>
                </a:solidFill>
                <a:latin typeface="Calibri" pitchFamily="34" charset="0"/>
                <a:ea typeface="Calibri" pitchFamily="34" charset="-122"/>
                <a:cs typeface="Calibri" pitchFamily="34" charset="-120"/>
              </a:rPr>
              <a:t>💡  Hint: Think about investor confidence, disclosure requirements, and who enforces rules against market manipulation and insider trading.</a:t>
            </a:r>
            <a:endParaRPr lang="en-US" sz="1400" dirty="0"/>
          </a:p>
        </p:txBody>
      </p:sp>
      <p:sp>
        <p:nvSpPr>
          <p:cNvPr id="14" name="Text 12"/>
          <p:cNvSpPr/>
          <p:nvPr/>
        </p:nvSpPr>
        <p:spPr>
          <a:xfrm>
            <a:off x="0" y="6601968"/>
            <a:ext cx="12192000" cy="182880"/>
          </a:xfrm>
          <a:prstGeom prst="rect">
            <a:avLst/>
          </a:prstGeom>
          <a:noFill/>
          <a:ln/>
        </p:spPr>
        <p:txBody>
          <a:bodyPr wrap="square" rtlCol="0" anchor="ctr"/>
          <a:lstStyle/>
          <a:p>
            <a:pPr algn="ctr" indent="0" marL="0">
              <a:buNone/>
            </a:pPr>
            <a:r>
              <a:rPr lang="en-US" sz="800" dirty="0">
                <a:solidFill>
                  <a:srgbClr val="AAAAAA"/>
                </a:solidFill>
                <a:latin typeface="Calibri" pitchFamily="34" charset="0"/>
                <a:ea typeface="Calibri" pitchFamily="34" charset="-122"/>
                <a:cs typeface="Calibri" pitchFamily="34" charset="-120"/>
              </a:rPr>
              <a:t>CIBOP · Module 1 · D1.2</a:t>
            </a:r>
            <a:endParaRPr lang="en-US" sz="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4F6FA"/>
          </a:solidFill>
          <a:ln/>
        </p:spPr>
      </p:sp>
      <p:sp>
        <p:nvSpPr>
          <p:cNvPr id="3" name="Shape 1"/>
          <p:cNvSpPr/>
          <p:nvPr/>
        </p:nvSpPr>
        <p:spPr>
          <a:xfrm>
            <a:off x="0" y="0"/>
            <a:ext cx="12192000" cy="73152"/>
          </a:xfrm>
          <a:prstGeom prst="rect">
            <a:avLst/>
          </a:prstGeom>
          <a:solidFill>
            <a:srgbClr val="B8860B"/>
          </a:solidFill>
          <a:ln/>
        </p:spPr>
      </p:sp>
      <p:sp>
        <p:nvSpPr>
          <p:cNvPr id="4" name="Shape 2"/>
          <p:cNvSpPr/>
          <p:nvPr/>
        </p:nvSpPr>
        <p:spPr>
          <a:xfrm>
            <a:off x="0" y="6784848"/>
            <a:ext cx="12192000" cy="73152"/>
          </a:xfrm>
          <a:prstGeom prst="rect">
            <a:avLst/>
          </a:prstGeom>
          <a:solidFill>
            <a:srgbClr val="1E3A5F"/>
          </a:solidFill>
          <a:ln/>
        </p:spPr>
      </p:sp>
      <p:sp>
        <p:nvSpPr>
          <p:cNvPr id="5" name="Shape 3"/>
          <p:cNvSpPr/>
          <p:nvPr/>
        </p:nvSpPr>
        <p:spPr>
          <a:xfrm>
            <a:off x="0" y="73152"/>
            <a:ext cx="1828800" cy="347472"/>
          </a:xfrm>
          <a:prstGeom prst="rect">
            <a:avLst/>
          </a:prstGeom>
          <a:solidFill>
            <a:srgbClr val="B8860B"/>
          </a:solidFill>
          <a:ln/>
        </p:spPr>
      </p:sp>
      <p:sp>
        <p:nvSpPr>
          <p:cNvPr id="6" name="Text 4"/>
          <p:cNvSpPr/>
          <p:nvPr/>
        </p:nvSpPr>
        <p:spPr>
          <a:xfrm>
            <a:off x="0" y="73152"/>
            <a:ext cx="1828800" cy="347472"/>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INTERVIEW READY</a:t>
            </a:r>
            <a:endParaRPr lang="en-US" sz="1000" dirty="0"/>
          </a:p>
        </p:txBody>
      </p:sp>
      <p:sp>
        <p:nvSpPr>
          <p:cNvPr id="7" name="Shape 5"/>
          <p:cNvSpPr/>
          <p:nvPr/>
        </p:nvSpPr>
        <p:spPr>
          <a:xfrm>
            <a:off x="10360152" y="73152"/>
            <a:ext cx="1828800" cy="347472"/>
          </a:xfrm>
          <a:prstGeom prst="rect">
            <a:avLst/>
          </a:prstGeom>
          <a:solidFill>
            <a:srgbClr val="005F5F"/>
          </a:solidFill>
          <a:ln/>
        </p:spPr>
      </p:sp>
      <p:sp>
        <p:nvSpPr>
          <p:cNvPr id="8" name="Text 6"/>
          <p:cNvSpPr/>
          <p:nvPr/>
        </p:nvSpPr>
        <p:spPr>
          <a:xfrm>
            <a:off x="10360152" y="73152"/>
            <a:ext cx="1828800" cy="347472"/>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D1.2</a:t>
            </a:r>
            <a:endParaRPr lang="en-US" sz="1000" dirty="0"/>
          </a:p>
        </p:txBody>
      </p:sp>
      <p:sp>
        <p:nvSpPr>
          <p:cNvPr id="9" name="Shape 7"/>
          <p:cNvSpPr/>
          <p:nvPr/>
        </p:nvSpPr>
        <p:spPr>
          <a:xfrm>
            <a:off x="0" y="420624"/>
            <a:ext cx="12192000" cy="1371600"/>
          </a:xfrm>
          <a:prstGeom prst="rect">
            <a:avLst/>
          </a:prstGeom>
          <a:solidFill>
            <a:srgbClr val="1E3A5F"/>
          </a:solidFill>
          <a:ln/>
        </p:spPr>
      </p:sp>
      <p:sp>
        <p:nvSpPr>
          <p:cNvPr id="10" name="Text 8"/>
          <p:cNvSpPr/>
          <p:nvPr/>
        </p:nvSpPr>
        <p:spPr>
          <a:xfrm>
            <a:off x="365760" y="502920"/>
            <a:ext cx="11430000" cy="365760"/>
          </a:xfrm>
          <a:prstGeom prst="rect">
            <a:avLst/>
          </a:prstGeom>
          <a:noFill/>
          <a:ln/>
        </p:spPr>
        <p:txBody>
          <a:bodyPr wrap="square" rtlCol="0" anchor="ctr"/>
          <a:lstStyle/>
          <a:p>
            <a:pPr indent="0" marL="0">
              <a:buNone/>
            </a:pPr>
            <a:r>
              <a:rPr lang="en-US" sz="1200" b="1" dirty="0">
                <a:solidFill>
                  <a:srgbClr val="B8860B"/>
                </a:solidFill>
                <a:latin typeface="Calibri" pitchFamily="34" charset="0"/>
                <a:ea typeface="Calibri" pitchFamily="34" charset="-122"/>
                <a:cs typeface="Calibri" pitchFamily="34" charset="-120"/>
              </a:rPr>
              <a:t>💼  Interview Question:</a:t>
            </a:r>
            <a:endParaRPr lang="en-US" sz="1200" dirty="0"/>
          </a:p>
        </p:txBody>
      </p:sp>
      <p:sp>
        <p:nvSpPr>
          <p:cNvPr id="11" name="Text 9"/>
          <p:cNvSpPr/>
          <p:nvPr/>
        </p:nvSpPr>
        <p:spPr>
          <a:xfrm>
            <a:off x="365760" y="914400"/>
            <a:ext cx="11430000" cy="822960"/>
          </a:xfrm>
          <a:prstGeom prst="rect">
            <a:avLst/>
          </a:prstGeom>
          <a:noFill/>
          <a:ln/>
        </p:spPr>
        <p:txBody>
          <a:bodyPr wrap="square"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"What are the five components of a financial system and how do they interact?"</a:t>
            </a:r>
            <a:endParaRPr lang="en-US" sz="1700" dirty="0"/>
          </a:p>
        </p:txBody>
      </p:sp>
      <p:sp>
        <p:nvSpPr>
          <p:cNvPr id="12" name="Text 10"/>
          <p:cNvSpPr/>
          <p:nvPr/>
        </p:nvSpPr>
        <p:spPr>
          <a:xfrm>
            <a:off x="365760" y="1965960"/>
            <a:ext cx="11430000" cy="365760"/>
          </a:xfrm>
          <a:prstGeom prst="rect">
            <a:avLst/>
          </a:prstGeom>
          <a:noFill/>
          <a:ln/>
        </p:spPr>
        <p:txBody>
          <a:bodyPr wrap="square" rtlCol="0" anchor="ctr"/>
          <a:lstStyle/>
          <a:p>
            <a:pPr indent="0" marL="0">
              <a:buNone/>
            </a:pPr>
            <a:r>
              <a:rPr lang="en-US" sz="1200" b="1" dirty="0">
                <a:solidFill>
                  <a:srgbClr val="005F5F"/>
                </a:solidFill>
                <a:latin typeface="Calibri" pitchFamily="34" charset="0"/>
                <a:ea typeface="Calibri" pitchFamily="34" charset="-122"/>
                <a:cs typeface="Calibri" pitchFamily="34" charset="-120"/>
              </a:rPr>
              <a:t>STRONG ANSWER FRAMEWORK  (4 points):</a:t>
            </a:r>
            <a:endParaRPr lang="en-US" sz="1200" dirty="0"/>
          </a:p>
        </p:txBody>
      </p:sp>
      <p:sp>
        <p:nvSpPr>
          <p:cNvPr id="13" name="Shape 11"/>
          <p:cNvSpPr/>
          <p:nvPr/>
        </p:nvSpPr>
        <p:spPr>
          <a:xfrm>
            <a:off x="274320" y="2423160"/>
            <a:ext cx="457200" cy="640080"/>
          </a:xfrm>
          <a:prstGeom prst="rect">
            <a:avLst/>
          </a:prstGeom>
          <a:solidFill>
            <a:srgbClr val="1E3A5F"/>
          </a:solidFill>
          <a:ln/>
        </p:spPr>
      </p:sp>
      <p:sp>
        <p:nvSpPr>
          <p:cNvPr id="14" name="Text 12"/>
          <p:cNvSpPr/>
          <p:nvPr/>
        </p:nvSpPr>
        <p:spPr>
          <a:xfrm>
            <a:off x="274320" y="2423160"/>
            <a:ext cx="457200" cy="64008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5" name="Shape 13"/>
          <p:cNvSpPr/>
          <p:nvPr/>
        </p:nvSpPr>
        <p:spPr>
          <a:xfrm>
            <a:off x="822960" y="2423160"/>
            <a:ext cx="11064240" cy="640080"/>
          </a:xfrm>
          <a:prstGeom prst="rect">
            <a:avLst/>
          </a:prstGeom>
          <a:solidFill>
            <a:srgbClr val="D5E3F0"/>
          </a:solidFill>
          <a:ln w="6350">
            <a:solidFill>
              <a:srgbClr val="AAAAAA"/>
            </a:solidFill>
            <a:prstDash val="solid"/>
          </a:ln>
        </p:spPr>
      </p:sp>
      <p:sp>
        <p:nvSpPr>
          <p:cNvPr id="16" name="Text 14"/>
          <p:cNvSpPr/>
          <p:nvPr/>
        </p:nvSpPr>
        <p:spPr>
          <a:xfrm>
            <a:off x="914400" y="2423160"/>
            <a:ext cx="10881360" cy="640080"/>
          </a:xfrm>
          <a:prstGeom prst="rect">
            <a:avLst/>
          </a:prstGeom>
          <a:noFill/>
          <a:ln/>
        </p:spPr>
        <p:txBody>
          <a:bodyPr wrap="square" rtlCol="0" anchor="ctr"/>
          <a:lstStyle/>
          <a:p>
            <a:pPr indent="0" marL="0">
              <a:buNone/>
            </a:pPr>
            <a:r>
              <a:rPr lang="en-US" sz="1300" dirty="0">
                <a:solidFill>
                  <a:srgbClr val="1A1A1A"/>
                </a:solidFill>
                <a:latin typeface="Calibri" pitchFamily="34" charset="0"/>
                <a:ea typeface="Calibri" pitchFamily="34" charset="-122"/>
                <a:cs typeface="Calibri" pitchFamily="34" charset="-120"/>
              </a:rPr>
              <a:t>The five components are: Financial Participants (who transacts), Financial Markets (where they transact), Financial Instruments (what they exchange), Regulators (the rules that govern them), and Financial Services (the supporting infrastructure).</a:t>
            </a:r>
            <a:endParaRPr lang="en-US" sz="1300" dirty="0"/>
          </a:p>
        </p:txBody>
      </p:sp>
      <p:sp>
        <p:nvSpPr>
          <p:cNvPr id="17" name="Shape 15"/>
          <p:cNvSpPr/>
          <p:nvPr/>
        </p:nvSpPr>
        <p:spPr>
          <a:xfrm>
            <a:off x="274320" y="3337560"/>
            <a:ext cx="457200" cy="640080"/>
          </a:xfrm>
          <a:prstGeom prst="rect">
            <a:avLst/>
          </a:prstGeom>
          <a:solidFill>
            <a:srgbClr val="1E3A5F"/>
          </a:solidFill>
          <a:ln/>
        </p:spPr>
      </p:sp>
      <p:sp>
        <p:nvSpPr>
          <p:cNvPr id="18" name="Text 16"/>
          <p:cNvSpPr/>
          <p:nvPr/>
        </p:nvSpPr>
        <p:spPr>
          <a:xfrm>
            <a:off x="274320" y="3337560"/>
            <a:ext cx="457200" cy="64008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9" name="Shape 17"/>
          <p:cNvSpPr/>
          <p:nvPr/>
        </p:nvSpPr>
        <p:spPr>
          <a:xfrm>
            <a:off x="822960" y="3337560"/>
            <a:ext cx="11064240" cy="640080"/>
          </a:xfrm>
          <a:prstGeom prst="rect">
            <a:avLst/>
          </a:prstGeom>
          <a:solidFill>
            <a:srgbClr val="FFFFFF"/>
          </a:solidFill>
          <a:ln w="6350">
            <a:solidFill>
              <a:srgbClr val="AAAAAA"/>
            </a:solidFill>
            <a:prstDash val="solid"/>
          </a:ln>
        </p:spPr>
      </p:sp>
      <p:sp>
        <p:nvSpPr>
          <p:cNvPr id="20" name="Text 18"/>
          <p:cNvSpPr/>
          <p:nvPr/>
        </p:nvSpPr>
        <p:spPr>
          <a:xfrm>
            <a:off x="914400" y="3337560"/>
            <a:ext cx="10881360" cy="640080"/>
          </a:xfrm>
          <a:prstGeom prst="rect">
            <a:avLst/>
          </a:prstGeom>
          <a:noFill/>
          <a:ln/>
        </p:spPr>
        <p:txBody>
          <a:bodyPr wrap="square" rtlCol="0" anchor="ctr"/>
          <a:lstStyle/>
          <a:p>
            <a:pPr indent="0" marL="0">
              <a:buNone/>
            </a:pPr>
            <a:r>
              <a:rPr lang="en-US" sz="1300" dirty="0">
                <a:solidFill>
                  <a:srgbClr val="1A1A1A"/>
                </a:solidFill>
                <a:latin typeface="Calibri" pitchFamily="34" charset="0"/>
                <a:ea typeface="Calibri" pitchFamily="34" charset="-122"/>
                <a:cs typeface="Calibri" pitchFamily="34" charset="-120"/>
              </a:rPr>
              <a:t>Each component is interdependent. Instruments are standardised by exchanges (markets). Trading is done by participants. Settlement is delivered by services (clearing corps, depositories). Regulators oversee all layers.</a:t>
            </a:r>
            <a:endParaRPr lang="en-US" sz="1300" dirty="0"/>
          </a:p>
        </p:txBody>
      </p:sp>
      <p:sp>
        <p:nvSpPr>
          <p:cNvPr id="21" name="Shape 19"/>
          <p:cNvSpPr/>
          <p:nvPr/>
        </p:nvSpPr>
        <p:spPr>
          <a:xfrm>
            <a:off x="274320" y="4251960"/>
            <a:ext cx="457200" cy="640080"/>
          </a:xfrm>
          <a:prstGeom prst="rect">
            <a:avLst/>
          </a:prstGeom>
          <a:solidFill>
            <a:srgbClr val="1E3A5F"/>
          </a:solidFill>
          <a:ln/>
        </p:spPr>
      </p:sp>
      <p:sp>
        <p:nvSpPr>
          <p:cNvPr id="22" name="Text 20"/>
          <p:cNvSpPr/>
          <p:nvPr/>
        </p:nvSpPr>
        <p:spPr>
          <a:xfrm>
            <a:off x="274320" y="4251960"/>
            <a:ext cx="457200" cy="64008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3" name="Shape 21"/>
          <p:cNvSpPr/>
          <p:nvPr/>
        </p:nvSpPr>
        <p:spPr>
          <a:xfrm>
            <a:off x="822960" y="4251960"/>
            <a:ext cx="11064240" cy="640080"/>
          </a:xfrm>
          <a:prstGeom prst="rect">
            <a:avLst/>
          </a:prstGeom>
          <a:solidFill>
            <a:srgbClr val="D5E3F0"/>
          </a:solidFill>
          <a:ln w="6350">
            <a:solidFill>
              <a:srgbClr val="AAAAAA"/>
            </a:solidFill>
            <a:prstDash val="solid"/>
          </a:ln>
        </p:spPr>
      </p:sp>
      <p:sp>
        <p:nvSpPr>
          <p:cNvPr id="24" name="Text 22"/>
          <p:cNvSpPr/>
          <p:nvPr/>
        </p:nvSpPr>
        <p:spPr>
          <a:xfrm>
            <a:off x="914400" y="4251960"/>
            <a:ext cx="10881360" cy="640080"/>
          </a:xfrm>
          <a:prstGeom prst="rect">
            <a:avLst/>
          </a:prstGeom>
          <a:noFill/>
          <a:ln/>
        </p:spPr>
        <p:txBody>
          <a:bodyPr wrap="square" rtlCol="0" anchor="ctr"/>
          <a:lstStyle/>
          <a:p>
            <a:pPr indent="0" marL="0">
              <a:buNone/>
            </a:pPr>
            <a:r>
              <a:rPr lang="en-US" sz="1300" dirty="0">
                <a:solidFill>
                  <a:srgbClr val="1A1A1A"/>
                </a:solidFill>
                <a:latin typeface="Calibri" pitchFamily="34" charset="0"/>
                <a:ea typeface="Calibri" pitchFamily="34" charset="-122"/>
                <a:cs typeface="Calibri" pitchFamily="34" charset="-120"/>
              </a:rPr>
              <a:t>A failure in any single component cascades through the others — the NSE 2021 connectivity outage halted all trading despite every other component being fully functional.</a:t>
            </a:r>
            <a:endParaRPr lang="en-US" sz="1300" dirty="0"/>
          </a:p>
        </p:txBody>
      </p:sp>
      <p:sp>
        <p:nvSpPr>
          <p:cNvPr id="25" name="Shape 23"/>
          <p:cNvSpPr/>
          <p:nvPr/>
        </p:nvSpPr>
        <p:spPr>
          <a:xfrm>
            <a:off x="274320" y="5166360"/>
            <a:ext cx="457200" cy="640080"/>
          </a:xfrm>
          <a:prstGeom prst="rect">
            <a:avLst/>
          </a:prstGeom>
          <a:solidFill>
            <a:srgbClr val="1E3A5F"/>
          </a:solidFill>
          <a:ln/>
        </p:spPr>
      </p:sp>
      <p:sp>
        <p:nvSpPr>
          <p:cNvPr id="26" name="Text 24"/>
          <p:cNvSpPr/>
          <p:nvPr/>
        </p:nvSpPr>
        <p:spPr>
          <a:xfrm>
            <a:off x="274320" y="5166360"/>
            <a:ext cx="457200" cy="64008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7" name="Shape 25"/>
          <p:cNvSpPr/>
          <p:nvPr/>
        </p:nvSpPr>
        <p:spPr>
          <a:xfrm>
            <a:off x="822960" y="5166360"/>
            <a:ext cx="11064240" cy="640080"/>
          </a:xfrm>
          <a:prstGeom prst="rect">
            <a:avLst/>
          </a:prstGeom>
          <a:solidFill>
            <a:srgbClr val="FFFFFF"/>
          </a:solidFill>
          <a:ln w="6350">
            <a:solidFill>
              <a:srgbClr val="AAAAAA"/>
            </a:solidFill>
            <a:prstDash val="solid"/>
          </a:ln>
        </p:spPr>
      </p:sp>
      <p:sp>
        <p:nvSpPr>
          <p:cNvPr id="28" name="Text 26"/>
          <p:cNvSpPr/>
          <p:nvPr/>
        </p:nvSpPr>
        <p:spPr>
          <a:xfrm>
            <a:off x="914400" y="5166360"/>
            <a:ext cx="10881360" cy="640080"/>
          </a:xfrm>
          <a:prstGeom prst="rect">
            <a:avLst/>
          </a:prstGeom>
          <a:noFill/>
          <a:ln/>
        </p:spPr>
        <p:txBody>
          <a:bodyPr wrap="square" rtlCol="0" anchor="ctr"/>
          <a:lstStyle/>
          <a:p>
            <a:pPr indent="0" marL="0">
              <a:buNone/>
            </a:pPr>
            <a:r>
              <a:rPr lang="en-US" sz="1300" dirty="0">
                <a:solidFill>
                  <a:srgbClr val="1A1A1A"/>
                </a:solidFill>
                <a:latin typeface="Calibri" pitchFamily="34" charset="0"/>
                <a:ea typeface="Calibri" pitchFamily="34" charset="-122"/>
                <a:cs typeface="Calibri" pitchFamily="34" charset="-120"/>
              </a:rPr>
              <a:t>In operations, we sit within the financial services component — delivering clearing, settlement, custody, and reporting that make every transaction complete. We are the component that closes the loop.</a:t>
            </a:r>
            <a:endParaRPr lang="en-US" sz="1300" dirty="0"/>
          </a:p>
        </p:txBody>
      </p:sp>
      <p:sp>
        <p:nvSpPr>
          <p:cNvPr id="29" name="Text 27"/>
          <p:cNvSpPr/>
          <p:nvPr/>
        </p:nvSpPr>
        <p:spPr>
          <a:xfrm>
            <a:off x="0" y="6601968"/>
            <a:ext cx="12192000" cy="182880"/>
          </a:xfrm>
          <a:prstGeom prst="rect">
            <a:avLst/>
          </a:prstGeom>
          <a:noFill/>
          <a:ln/>
        </p:spPr>
        <p:txBody>
          <a:bodyPr wrap="square" rtlCol="0" anchor="ctr"/>
          <a:lstStyle/>
          <a:p>
            <a:pPr algn="ctr" indent="0" marL="0">
              <a:buNone/>
            </a:pPr>
            <a:r>
              <a:rPr lang="en-US" sz="800" dirty="0">
                <a:solidFill>
                  <a:srgbClr val="AAAAAA"/>
                </a:solidFill>
                <a:latin typeface="Calibri" pitchFamily="34" charset="0"/>
                <a:ea typeface="Calibri" pitchFamily="34" charset="-122"/>
                <a:cs typeface="Calibri" pitchFamily="34" charset="-120"/>
              </a:rPr>
              <a:t>CIBOP · Module 1 · D1.2</a:t>
            </a:r>
            <a:endParaRPr lang="en-US" sz="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1E3A5F"/>
          </a:solidFill>
          <a:ln/>
        </p:spPr>
      </p:sp>
      <p:sp>
        <p:nvSpPr>
          <p:cNvPr id="3" name="Shape 1"/>
          <p:cNvSpPr/>
          <p:nvPr/>
        </p:nvSpPr>
        <p:spPr>
          <a:xfrm>
            <a:off x="0" y="0"/>
            <a:ext cx="12192000" cy="73152"/>
          </a:xfrm>
          <a:prstGeom prst="rect">
            <a:avLst/>
          </a:prstGeom>
          <a:solidFill>
            <a:srgbClr val="B8860B"/>
          </a:solidFill>
          <a:ln/>
        </p:spPr>
      </p:sp>
      <p:sp>
        <p:nvSpPr>
          <p:cNvPr id="4" name="Shape 2"/>
          <p:cNvSpPr/>
          <p:nvPr/>
        </p:nvSpPr>
        <p:spPr>
          <a:xfrm>
            <a:off x="0" y="6784848"/>
            <a:ext cx="12192000" cy="73152"/>
          </a:xfrm>
          <a:prstGeom prst="rect">
            <a:avLst/>
          </a:prstGeom>
          <a:solidFill>
            <a:srgbClr val="B8860B"/>
          </a:solidFill>
          <a:ln/>
        </p:spPr>
      </p:sp>
      <p:sp>
        <p:nvSpPr>
          <p:cNvPr id="5" name="Shape 3"/>
          <p:cNvSpPr/>
          <p:nvPr/>
        </p:nvSpPr>
        <p:spPr>
          <a:xfrm>
            <a:off x="0" y="73152"/>
            <a:ext cx="1828800" cy="347472"/>
          </a:xfrm>
          <a:prstGeom prst="rect">
            <a:avLst/>
          </a:prstGeom>
          <a:solidFill>
            <a:srgbClr val="B8860B"/>
          </a:solidFill>
          <a:ln/>
        </p:spPr>
      </p:sp>
      <p:sp>
        <p:nvSpPr>
          <p:cNvPr id="6" name="Text 4"/>
          <p:cNvSpPr/>
          <p:nvPr/>
        </p:nvSpPr>
        <p:spPr>
          <a:xfrm>
            <a:off x="0" y="73152"/>
            <a:ext cx="1828800" cy="347472"/>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QUICK RECAP</a:t>
            </a:r>
            <a:endParaRPr lang="en-US" sz="1000" dirty="0"/>
          </a:p>
        </p:txBody>
      </p:sp>
      <p:sp>
        <p:nvSpPr>
          <p:cNvPr id="7" name="Shape 5"/>
          <p:cNvSpPr/>
          <p:nvPr/>
        </p:nvSpPr>
        <p:spPr>
          <a:xfrm>
            <a:off x="10360152" y="73152"/>
            <a:ext cx="1828800" cy="347472"/>
          </a:xfrm>
          <a:prstGeom prst="rect">
            <a:avLst/>
          </a:prstGeom>
          <a:solidFill>
            <a:srgbClr val="005F5F"/>
          </a:solidFill>
          <a:ln/>
        </p:spPr>
      </p:sp>
      <p:sp>
        <p:nvSpPr>
          <p:cNvPr id="8" name="Text 6"/>
          <p:cNvSpPr/>
          <p:nvPr/>
        </p:nvSpPr>
        <p:spPr>
          <a:xfrm>
            <a:off x="10360152" y="73152"/>
            <a:ext cx="1828800" cy="347472"/>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D1.3</a:t>
            </a:r>
            <a:endParaRPr lang="en-US" sz="1000" dirty="0"/>
          </a:p>
        </p:txBody>
      </p:sp>
      <p:sp>
        <p:nvSpPr>
          <p:cNvPr id="9" name="Text 7"/>
          <p:cNvSpPr/>
          <p:nvPr/>
        </p:nvSpPr>
        <p:spPr>
          <a:xfrm>
            <a:off x="8686800" y="1097280"/>
            <a:ext cx="3200400" cy="4572000"/>
          </a:xfrm>
          <a:prstGeom prst="rect">
            <a:avLst/>
          </a:prstGeom>
          <a:noFill/>
          <a:ln/>
        </p:spPr>
        <p:txBody>
          <a:bodyPr wrap="square" rtlCol="0" anchor="ctr"/>
          <a:lstStyle/>
          <a:p>
            <a:pPr algn="ctr" indent="0" marL="0">
              <a:buNone/>
            </a:pPr>
            <a:r>
              <a:rPr lang="en-US" sz="20000" b="1" dirty="0">
                <a:solidFill>
                  <a:srgbClr val="2E4A6E"/>
                </a:solidFill>
                <a:latin typeface="Calibri" pitchFamily="34" charset="0"/>
                <a:ea typeface="Calibri" pitchFamily="34" charset="-122"/>
                <a:cs typeface="Calibri" pitchFamily="34" charset="-120"/>
              </a:rPr>
              <a:t>?</a:t>
            </a:r>
            <a:endParaRPr lang="en-US" sz="20000" dirty="0"/>
          </a:p>
        </p:txBody>
      </p:sp>
      <p:sp>
        <p:nvSpPr>
          <p:cNvPr id="10" name="Text 8"/>
          <p:cNvSpPr/>
          <p:nvPr/>
        </p:nvSpPr>
        <p:spPr>
          <a:xfrm>
            <a:off x="365760" y="548640"/>
            <a:ext cx="8229600" cy="457200"/>
          </a:xfrm>
          <a:prstGeom prst="rect">
            <a:avLst/>
          </a:prstGeom>
          <a:noFill/>
          <a:ln/>
        </p:spPr>
        <p:txBody>
          <a:bodyPr wrap="square" rtlCol="0" anchor="ctr"/>
          <a:lstStyle/>
          <a:p>
            <a:pPr indent="0" marL="0">
              <a:buNone/>
            </a:pPr>
            <a:r>
              <a:rPr lang="en-US" sz="1400" b="1" dirty="0">
                <a:solidFill>
                  <a:srgbClr val="B8860B"/>
                </a:solidFill>
                <a:latin typeface="Calibri" pitchFamily="34" charset="0"/>
                <a:ea typeface="Calibri" pitchFamily="34" charset="-122"/>
                <a:cs typeface="Calibri" pitchFamily="34" charset="-120"/>
              </a:rPr>
              <a:t>D1.3  —  Features of Financial Markets</a:t>
            </a:r>
            <a:endParaRPr lang="en-US" sz="1400" dirty="0"/>
          </a:p>
        </p:txBody>
      </p:sp>
      <p:sp>
        <p:nvSpPr>
          <p:cNvPr id="11" name="Text 9"/>
          <p:cNvSpPr/>
          <p:nvPr/>
        </p:nvSpPr>
        <p:spPr>
          <a:xfrm>
            <a:off x="365760" y="1280160"/>
            <a:ext cx="8229600" cy="3474720"/>
          </a:xfrm>
          <a:prstGeom prst="rect">
            <a:avLst/>
          </a:prstGeom>
          <a:noFill/>
          <a:ln/>
        </p:spPr>
        <p:txBody>
          <a:bodyPr wrap="square"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"Price discovery makes it sound like prices are hiding somewhere. Where are they hiding — and why do they emerge only in organised markets?"</a:t>
            </a:r>
            <a:endParaRPr lang="en-US" sz="2600" dirty="0"/>
          </a:p>
        </p:txBody>
      </p:sp>
      <p:sp>
        <p:nvSpPr>
          <p:cNvPr id="12" name="Shape 10"/>
          <p:cNvSpPr/>
          <p:nvPr/>
        </p:nvSpPr>
        <p:spPr>
          <a:xfrm>
            <a:off x="365760" y="5029200"/>
            <a:ext cx="8229600" cy="731520"/>
          </a:xfrm>
          <a:prstGeom prst="rect">
            <a:avLst/>
          </a:prstGeom>
          <a:solidFill>
            <a:srgbClr val="2E4A6E"/>
          </a:solidFill>
          <a:ln/>
        </p:spPr>
      </p:sp>
      <p:sp>
        <p:nvSpPr>
          <p:cNvPr id="13" name="Text 11"/>
          <p:cNvSpPr/>
          <p:nvPr/>
        </p:nvSpPr>
        <p:spPr>
          <a:xfrm>
            <a:off x="365760" y="5029200"/>
            <a:ext cx="8229600" cy="731520"/>
          </a:xfrm>
          <a:prstGeom prst="rect">
            <a:avLst/>
          </a:prstGeom>
          <a:noFill/>
          <a:ln/>
        </p:spPr>
        <p:txBody>
          <a:bodyPr wrap="square" rtlCol="0" anchor="ctr"/>
          <a:lstStyle/>
          <a:p>
            <a:pPr algn="l" indent="0" marL="0">
              <a:buNone/>
            </a:pPr>
            <a:r>
              <a:rPr lang="en-US" sz="1100" i="1" dirty="0">
                <a:solidFill>
                  <a:srgbClr val="CADCFC"/>
                </a:solidFill>
                <a:latin typeface="Calibri" pitchFamily="34" charset="0"/>
                <a:ea typeface="Calibri" pitchFamily="34" charset="-122"/>
                <a:cs typeface="Calibri" pitchFamily="34" charset="-120"/>
              </a:rPr>
              <a:t>📹  From: D1.3 · Video 1 — Liquidity, Price Discovery &amp; Accessibility (EAR: IDENTIFY)</a:t>
            </a:r>
            <a:endParaRPr lang="en-US" sz="1100" dirty="0"/>
          </a:p>
        </p:txBody>
      </p:sp>
      <p:sp>
        <p:nvSpPr>
          <p:cNvPr id="14" name="Text 12"/>
          <p:cNvSpPr/>
          <p:nvPr/>
        </p:nvSpPr>
        <p:spPr>
          <a:xfrm>
            <a:off x="0" y="6601968"/>
            <a:ext cx="12192000" cy="182880"/>
          </a:xfrm>
          <a:prstGeom prst="rect">
            <a:avLst/>
          </a:prstGeom>
          <a:noFill/>
          <a:ln/>
        </p:spPr>
        <p:txBody>
          <a:bodyPr wrap="square" rtlCol="0" anchor="ctr"/>
          <a:lstStyle/>
          <a:p>
            <a:pPr algn="ctr" indent="0" marL="0">
              <a:buNone/>
            </a:pPr>
            <a:r>
              <a:rPr lang="en-US" sz="800" dirty="0">
                <a:solidFill>
                  <a:srgbClr val="AAAAAA"/>
                </a:solidFill>
                <a:latin typeface="Calibri" pitchFamily="34" charset="0"/>
                <a:ea typeface="Calibri" pitchFamily="34" charset="-122"/>
                <a:cs typeface="Calibri" pitchFamily="34" charset="-120"/>
              </a:rPr>
              <a:t>CIBOP · Module 1 · D1.3</a:t>
            </a:r>
            <a:endParaRPr lang="en-US" sz="8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4F6FA"/>
          </a:solidFill>
          <a:ln/>
        </p:spPr>
      </p:sp>
      <p:sp>
        <p:nvSpPr>
          <p:cNvPr id="3" name="Shape 1"/>
          <p:cNvSpPr/>
          <p:nvPr/>
        </p:nvSpPr>
        <p:spPr>
          <a:xfrm>
            <a:off x="0" y="0"/>
            <a:ext cx="12192000" cy="73152"/>
          </a:xfrm>
          <a:prstGeom prst="rect">
            <a:avLst/>
          </a:prstGeom>
          <a:solidFill>
            <a:srgbClr val="1E3A5F"/>
          </a:solidFill>
          <a:ln/>
        </p:spPr>
      </p:sp>
      <p:sp>
        <p:nvSpPr>
          <p:cNvPr id="4" name="Shape 2"/>
          <p:cNvSpPr/>
          <p:nvPr/>
        </p:nvSpPr>
        <p:spPr>
          <a:xfrm>
            <a:off x="0" y="6784848"/>
            <a:ext cx="12192000" cy="73152"/>
          </a:xfrm>
          <a:prstGeom prst="rect">
            <a:avLst/>
          </a:prstGeom>
          <a:solidFill>
            <a:srgbClr val="005F5F"/>
          </a:solidFill>
          <a:ln/>
        </p:spPr>
      </p:sp>
      <p:sp>
        <p:nvSpPr>
          <p:cNvPr id="5" name="Shape 3"/>
          <p:cNvSpPr/>
          <p:nvPr/>
        </p:nvSpPr>
        <p:spPr>
          <a:xfrm>
            <a:off x="0" y="73152"/>
            <a:ext cx="1828800" cy="347472"/>
          </a:xfrm>
          <a:prstGeom prst="rect">
            <a:avLst/>
          </a:prstGeom>
          <a:solidFill>
            <a:srgbClr val="C0392B"/>
          </a:solidFill>
          <a:ln/>
        </p:spPr>
      </p:sp>
      <p:sp>
        <p:nvSpPr>
          <p:cNvPr id="6" name="Text 4"/>
          <p:cNvSpPr/>
          <p:nvPr/>
        </p:nvSpPr>
        <p:spPr>
          <a:xfrm>
            <a:off x="0" y="73152"/>
            <a:ext cx="1828800" cy="347472"/>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SCENARIO</a:t>
            </a:r>
            <a:endParaRPr lang="en-US" sz="1000" dirty="0"/>
          </a:p>
        </p:txBody>
      </p:sp>
      <p:sp>
        <p:nvSpPr>
          <p:cNvPr id="7" name="Shape 5"/>
          <p:cNvSpPr/>
          <p:nvPr/>
        </p:nvSpPr>
        <p:spPr>
          <a:xfrm>
            <a:off x="10360152" y="73152"/>
            <a:ext cx="1828800" cy="347472"/>
          </a:xfrm>
          <a:prstGeom prst="rect">
            <a:avLst/>
          </a:prstGeom>
          <a:solidFill>
            <a:srgbClr val="005F5F"/>
          </a:solidFill>
          <a:ln/>
        </p:spPr>
      </p:sp>
      <p:sp>
        <p:nvSpPr>
          <p:cNvPr id="8" name="Text 6"/>
          <p:cNvSpPr/>
          <p:nvPr/>
        </p:nvSpPr>
        <p:spPr>
          <a:xfrm>
            <a:off x="10360152" y="73152"/>
            <a:ext cx="1828800" cy="347472"/>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D1.3</a:t>
            </a:r>
            <a:endParaRPr lang="en-US" sz="1000" dirty="0"/>
          </a:p>
        </p:txBody>
      </p:sp>
      <p:sp>
        <p:nvSpPr>
          <p:cNvPr id="9" name="Shape 7"/>
          <p:cNvSpPr/>
          <p:nvPr/>
        </p:nvSpPr>
        <p:spPr>
          <a:xfrm>
            <a:off x="0" y="420624"/>
            <a:ext cx="12192000" cy="914400"/>
          </a:xfrm>
          <a:prstGeom prst="rect">
            <a:avLst/>
          </a:prstGeom>
          <a:solidFill>
            <a:srgbClr val="1E3A5F"/>
          </a:solidFill>
          <a:ln/>
        </p:spPr>
      </p:sp>
      <p:sp>
        <p:nvSpPr>
          <p:cNvPr id="10" name="Text 8"/>
          <p:cNvSpPr/>
          <p:nvPr/>
        </p:nvSpPr>
        <p:spPr>
          <a:xfrm>
            <a:off x="365760" y="420624"/>
            <a:ext cx="11430000" cy="914400"/>
          </a:xfrm>
          <a:prstGeom prst="rect">
            <a:avLst/>
          </a:prstGeom>
          <a:noFill/>
          <a:ln/>
        </p:spPr>
        <p:txBody>
          <a:bodyPr wrap="square"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Satyam 2009: When Transparency Fails, Price Discovery Breaks Down</a:t>
            </a:r>
            <a:endParaRPr lang="en-US" sz="2000" dirty="0"/>
          </a:p>
        </p:txBody>
      </p:sp>
      <p:sp>
        <p:nvSpPr>
          <p:cNvPr id="11" name="Text 9"/>
          <p:cNvSpPr/>
          <p:nvPr/>
        </p:nvSpPr>
        <p:spPr>
          <a:xfrm>
            <a:off x="365760" y="1554480"/>
            <a:ext cx="7498080" cy="2926080"/>
          </a:xfrm>
          <a:prstGeom prst="rect">
            <a:avLst/>
          </a:prstGeom>
          <a:noFill/>
          <a:ln/>
        </p:spPr>
        <p:txBody>
          <a:bodyPr wrap="square" rtlCol="0" anchor="ctr"/>
          <a:lstStyle/>
          <a:p>
            <a:pPr indent="0" marL="0">
              <a:buNone/>
            </a:pPr>
            <a:r>
              <a:rPr lang="en-US" sz="1400" dirty="0">
                <a:solidFill>
                  <a:srgbClr val="1A1A1A"/>
                </a:solidFill>
                <a:latin typeface="Calibri" pitchFamily="34" charset="0"/>
                <a:ea typeface="Calibri" pitchFamily="34" charset="-122"/>
                <a:cs typeface="Calibri" pitchFamily="34" charset="-120"/>
              </a:rPr>
              <a:t>In January 2009, Satyam Computers' chairman Ramalinga Raju confessed to falsifying ₹7,136 crore in cash balances. The share price crashed 78% in a single day — from ₹179 to ₹39.</a:t>
            </a:r>
            <a:endParaRPr lang="en-US" sz="1400" dirty="0"/>
          </a:p>
          <a:p>
            <a:pPr indent="0" marL="0">
              <a:buNone/>
            </a:pPr>
            <a:endParaRPr lang="en-US" sz="1400" dirty="0"/>
          </a:p>
          <a:p>
            <a:pPr indent="0" marL="0">
              <a:buNone/>
            </a:pPr>
            <a:r>
              <a:rPr lang="en-US" sz="1400" dirty="0">
                <a:solidFill>
                  <a:srgbClr val="1A1A1A"/>
                </a:solidFill>
                <a:latin typeface="Calibri" pitchFamily="34" charset="0"/>
                <a:ea typeface="Calibri" pitchFamily="34" charset="-122"/>
                <a:cs typeface="Calibri" pitchFamily="34" charset="-120"/>
              </a:rPr>
              <a:t>The market had been pricing Satyam as a healthy company for years because disclosed financial data was fraudulent. Price discovery requires accurate information. When disclosure fails, prices are "discovered" from false data — and the eventual correction is violent.</a:t>
            </a:r>
            <a:endParaRPr lang="en-US" sz="1400" dirty="0"/>
          </a:p>
        </p:txBody>
      </p:sp>
      <p:sp>
        <p:nvSpPr>
          <p:cNvPr id="12" name="Shape 10"/>
          <p:cNvSpPr/>
          <p:nvPr/>
        </p:nvSpPr>
        <p:spPr>
          <a:xfrm>
            <a:off x="8046720" y="1554480"/>
            <a:ext cx="3931920" cy="2926080"/>
          </a:xfrm>
          <a:prstGeom prst="rect">
            <a:avLst/>
          </a:prstGeom>
          <a:solidFill>
            <a:srgbClr val="D5E3F0"/>
          </a:solidFill>
          <a:ln w="12700">
            <a:solidFill>
              <a:srgbClr val="1E3A5F"/>
            </a:solidFill>
            <a:prstDash val="solid"/>
          </a:ln>
        </p:spPr>
      </p:sp>
      <p:sp>
        <p:nvSpPr>
          <p:cNvPr id="13" name="Text 11"/>
          <p:cNvSpPr/>
          <p:nvPr/>
        </p:nvSpPr>
        <p:spPr>
          <a:xfrm>
            <a:off x="8046720" y="1554480"/>
            <a:ext cx="3931920" cy="2926080"/>
          </a:xfrm>
          <a:prstGeom prst="rect">
            <a:avLst/>
          </a:prstGeom>
          <a:noFill/>
          <a:ln/>
        </p:spPr>
        <p:txBody>
          <a:bodyPr wrap="square" rtlCol="0" anchor="t"/>
          <a:lstStyle/>
          <a:p>
            <a:pPr indent="0" marL="0">
              <a:buNone/>
            </a:pPr>
            <a:r>
              <a:rPr lang="en-US" sz="1300" dirty="0">
                <a:solidFill>
                  <a:srgbClr val="1E3A5F"/>
                </a:solidFill>
                <a:latin typeface="Calibri" pitchFamily="34" charset="0"/>
                <a:ea typeface="Calibri" pitchFamily="34" charset="-122"/>
                <a:cs typeface="Calibri" pitchFamily="34" charset="-120"/>
              </a:rPr>
              <a:t>SATYAM NUMBERS:</a:t>
            </a:r>
            <a:endParaRPr lang="en-US" sz="1300" dirty="0"/>
          </a:p>
          <a:p>
            <a:pPr indent="0" marL="0">
              <a:buNone/>
            </a:pPr>
            <a:endParaRPr lang="en-US" sz="1300" dirty="0"/>
          </a:p>
          <a:p>
            <a:pPr indent="0" marL="0">
              <a:buNone/>
            </a:pPr>
            <a:r>
              <a:rPr lang="en-US" sz="1300" dirty="0">
                <a:solidFill>
                  <a:srgbClr val="1E3A5F"/>
                </a:solidFill>
                <a:latin typeface="Calibri" pitchFamily="34" charset="0"/>
                <a:ea typeface="Calibri" pitchFamily="34" charset="-122"/>
                <a:cs typeface="Calibri" pitchFamily="34" charset="-120"/>
              </a:rPr>
              <a:t>₹7,136 Cr</a:t>
            </a:r>
            <a:endParaRPr lang="en-US" sz="1300" dirty="0"/>
          </a:p>
          <a:p>
            <a:pPr indent="0" marL="0">
              <a:buNone/>
            </a:pPr>
            <a:r>
              <a:rPr lang="en-US" sz="1300" dirty="0">
                <a:solidFill>
                  <a:srgbClr val="1E3A5F"/>
                </a:solidFill>
                <a:latin typeface="Calibri" pitchFamily="34" charset="0"/>
                <a:ea typeface="Calibri" pitchFamily="34" charset="-122"/>
                <a:cs typeface="Calibri" pitchFamily="34" charset="-120"/>
              </a:rPr>
              <a:t>falsified cash</a:t>
            </a:r>
            <a:endParaRPr lang="en-US" sz="1300" dirty="0"/>
          </a:p>
          <a:p>
            <a:pPr indent="0" marL="0">
              <a:buNone/>
            </a:pPr>
            <a:endParaRPr lang="en-US" sz="1300" dirty="0"/>
          </a:p>
          <a:p>
            <a:pPr indent="0" marL="0">
              <a:buNone/>
            </a:pPr>
            <a:r>
              <a:rPr lang="en-US" sz="1300" dirty="0">
                <a:solidFill>
                  <a:srgbClr val="1E3A5F"/>
                </a:solidFill>
                <a:latin typeface="Calibri" pitchFamily="34" charset="0"/>
                <a:ea typeface="Calibri" pitchFamily="34" charset="-122"/>
                <a:cs typeface="Calibri" pitchFamily="34" charset="-120"/>
              </a:rPr>
              <a:t>78%</a:t>
            </a:r>
            <a:endParaRPr lang="en-US" sz="1300" dirty="0"/>
          </a:p>
          <a:p>
            <a:pPr indent="0" marL="0">
              <a:buNone/>
            </a:pPr>
            <a:r>
              <a:rPr lang="en-US" sz="1300" dirty="0">
                <a:solidFill>
                  <a:srgbClr val="1E3A5F"/>
                </a:solidFill>
                <a:latin typeface="Calibri" pitchFamily="34" charset="0"/>
                <a:ea typeface="Calibri" pitchFamily="34" charset="-122"/>
                <a:cs typeface="Calibri" pitchFamily="34" charset="-120"/>
              </a:rPr>
              <a:t>share price drop</a:t>
            </a:r>
            <a:endParaRPr lang="en-US" sz="1300" dirty="0"/>
          </a:p>
          <a:p>
            <a:pPr indent="0" marL="0">
              <a:buNone/>
            </a:pPr>
            <a:endParaRPr lang="en-US" sz="1300" dirty="0"/>
          </a:p>
          <a:p>
            <a:pPr indent="0" marL="0">
              <a:buNone/>
            </a:pPr>
            <a:r>
              <a:rPr lang="en-US" sz="1300" dirty="0">
                <a:solidFill>
                  <a:srgbClr val="1E3A5F"/>
                </a:solidFill>
                <a:latin typeface="Calibri" pitchFamily="34" charset="0"/>
                <a:ea typeface="Calibri" pitchFamily="34" charset="-122"/>
                <a:cs typeface="Calibri" pitchFamily="34" charset="-120"/>
              </a:rPr>
              <a:t>4 Jan 2009</a:t>
            </a:r>
            <a:endParaRPr lang="en-US" sz="1300" dirty="0"/>
          </a:p>
          <a:p>
            <a:pPr indent="0" marL="0">
              <a:buNone/>
            </a:pPr>
            <a:r>
              <a:rPr lang="en-US" sz="1300" dirty="0">
                <a:solidFill>
                  <a:srgbClr val="1E3A5F"/>
                </a:solidFill>
                <a:latin typeface="Calibri" pitchFamily="34" charset="0"/>
                <a:ea typeface="Calibri" pitchFamily="34" charset="-122"/>
                <a:cs typeface="Calibri" pitchFamily="34" charset="-120"/>
              </a:rPr>
              <a:t>day of confession</a:t>
            </a:r>
            <a:endParaRPr lang="en-US" sz="1300" dirty="0"/>
          </a:p>
          <a:p>
            <a:pPr indent="0" marL="0">
              <a:buNone/>
            </a:pPr>
            <a:endParaRPr lang="en-US" sz="1300" dirty="0"/>
          </a:p>
          <a:p>
            <a:pPr indent="0" marL="0">
              <a:buNone/>
            </a:pPr>
            <a:r>
              <a:rPr lang="en-US" sz="1300" dirty="0">
                <a:solidFill>
                  <a:srgbClr val="1E3A5F"/>
                </a:solidFill>
                <a:latin typeface="Calibri" pitchFamily="34" charset="0"/>
                <a:ea typeface="Calibri" pitchFamily="34" charset="-122"/>
                <a:cs typeface="Calibri" pitchFamily="34" charset="-120"/>
              </a:rPr>
              <a:t>~53,000</a:t>
            </a:r>
            <a:endParaRPr lang="en-US" sz="1300" dirty="0"/>
          </a:p>
          <a:p>
            <a:pPr indent="0" marL="0">
              <a:buNone/>
            </a:pPr>
            <a:r>
              <a:rPr lang="en-US" sz="1300" dirty="0">
                <a:solidFill>
                  <a:srgbClr val="1E3A5F"/>
                </a:solidFill>
                <a:latin typeface="Calibri" pitchFamily="34" charset="0"/>
                <a:ea typeface="Calibri" pitchFamily="34" charset="-122"/>
                <a:cs typeface="Calibri" pitchFamily="34" charset="-120"/>
              </a:rPr>
              <a:t>employees affected</a:t>
            </a:r>
            <a:endParaRPr lang="en-US" sz="1300" dirty="0"/>
          </a:p>
          <a:p>
            <a:pPr indent="0" marL="0">
              <a:buNone/>
            </a:pPr>
            <a:endParaRPr lang="en-US" sz="1300" dirty="0"/>
          </a:p>
          <a:p>
            <a:pPr indent="0" marL="0">
              <a:buNone/>
            </a:pPr>
            <a:r>
              <a:rPr lang="en-US" sz="1300" dirty="0">
                <a:solidFill>
                  <a:srgbClr val="1E3A5F"/>
                </a:solidFill>
                <a:latin typeface="Calibri" pitchFamily="34" charset="0"/>
                <a:ea typeface="Calibri" pitchFamily="34" charset="-122"/>
                <a:cs typeface="Calibri" pitchFamily="34" charset="-120"/>
              </a:rPr>
              <a:t>SEBI</a:t>
            </a:r>
            <a:endParaRPr lang="en-US" sz="1300" dirty="0"/>
          </a:p>
          <a:p>
            <a:pPr indent="0" marL="0">
              <a:buNone/>
            </a:pPr>
            <a:r>
              <a:rPr lang="en-US" sz="1300" dirty="0">
                <a:solidFill>
                  <a:srgbClr val="1E3A5F"/>
                </a:solidFill>
                <a:latin typeface="Calibri" pitchFamily="34" charset="0"/>
                <a:ea typeface="Calibri" pitchFamily="34" charset="-122"/>
                <a:cs typeface="Calibri" pitchFamily="34" charset="-120"/>
              </a:rPr>
              <a:t>heavily investigated</a:t>
            </a:r>
            <a:endParaRPr lang="en-US" sz="1300" dirty="0"/>
          </a:p>
        </p:txBody>
      </p:sp>
      <p:sp>
        <p:nvSpPr>
          <p:cNvPr id="14" name="Shape 12"/>
          <p:cNvSpPr/>
          <p:nvPr/>
        </p:nvSpPr>
        <p:spPr>
          <a:xfrm>
            <a:off x="0" y="4663440"/>
            <a:ext cx="12192000" cy="1097280"/>
          </a:xfrm>
          <a:prstGeom prst="rect">
            <a:avLst/>
          </a:prstGeom>
          <a:solidFill>
            <a:srgbClr val="005F5F"/>
          </a:solidFill>
          <a:ln/>
        </p:spPr>
      </p:sp>
      <p:sp>
        <p:nvSpPr>
          <p:cNvPr id="15" name="Text 13"/>
          <p:cNvSpPr/>
          <p:nvPr/>
        </p:nvSpPr>
        <p:spPr>
          <a:xfrm>
            <a:off x="365760" y="4663440"/>
            <a:ext cx="11430000" cy="1097280"/>
          </a:xfrm>
          <a:prstGeom prst="rect">
            <a:avLst/>
          </a:prstGeom>
          <a:noFill/>
          <a:ln/>
        </p:spPr>
        <p:txBody>
          <a:bodyPr wrap="square"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  Which two market features were most critically compromised in the Satyam case: liquidity, price discovery, or transparency? What is the regulator's role in preventing this?</a:t>
            </a:r>
            <a:endParaRPr lang="en-US" sz="1600" dirty="0"/>
          </a:p>
        </p:txBody>
      </p:sp>
      <p:sp>
        <p:nvSpPr>
          <p:cNvPr id="16" name="Text 14"/>
          <p:cNvSpPr/>
          <p:nvPr/>
        </p:nvSpPr>
        <p:spPr>
          <a:xfrm>
            <a:off x="0" y="6601968"/>
            <a:ext cx="12192000" cy="182880"/>
          </a:xfrm>
          <a:prstGeom prst="rect">
            <a:avLst/>
          </a:prstGeom>
          <a:noFill/>
          <a:ln/>
        </p:spPr>
        <p:txBody>
          <a:bodyPr wrap="square" rtlCol="0" anchor="ctr"/>
          <a:lstStyle/>
          <a:p>
            <a:pPr algn="ctr" indent="0" marL="0">
              <a:buNone/>
            </a:pPr>
            <a:r>
              <a:rPr lang="en-US" sz="800" dirty="0">
                <a:solidFill>
                  <a:srgbClr val="AAAAAA"/>
                </a:solidFill>
                <a:latin typeface="Calibri" pitchFamily="34" charset="0"/>
                <a:ea typeface="Calibri" pitchFamily="34" charset="-122"/>
                <a:cs typeface="Calibri" pitchFamily="34" charset="-120"/>
              </a:rPr>
              <a:t>CIBOP · Module 1 · D1.3</a:t>
            </a:r>
            <a:endParaRPr lang="en-US" sz="8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4F6FA"/>
          </a:solidFill>
          <a:ln/>
        </p:spPr>
      </p:sp>
      <p:sp>
        <p:nvSpPr>
          <p:cNvPr id="3" name="Shape 1"/>
          <p:cNvSpPr/>
          <p:nvPr/>
        </p:nvSpPr>
        <p:spPr>
          <a:xfrm>
            <a:off x="0" y="0"/>
            <a:ext cx="12192000" cy="73152"/>
          </a:xfrm>
          <a:prstGeom prst="rect">
            <a:avLst/>
          </a:prstGeom>
          <a:solidFill>
            <a:srgbClr val="005F5F"/>
          </a:solidFill>
          <a:ln/>
        </p:spPr>
      </p:sp>
      <p:sp>
        <p:nvSpPr>
          <p:cNvPr id="4" name="Shape 2"/>
          <p:cNvSpPr/>
          <p:nvPr/>
        </p:nvSpPr>
        <p:spPr>
          <a:xfrm>
            <a:off x="0" y="6784848"/>
            <a:ext cx="12192000" cy="73152"/>
          </a:xfrm>
          <a:prstGeom prst="rect">
            <a:avLst/>
          </a:prstGeom>
          <a:solidFill>
            <a:srgbClr val="1E3A5F"/>
          </a:solidFill>
          <a:ln/>
        </p:spPr>
      </p:sp>
      <p:sp>
        <p:nvSpPr>
          <p:cNvPr id="5" name="Shape 3"/>
          <p:cNvSpPr/>
          <p:nvPr/>
        </p:nvSpPr>
        <p:spPr>
          <a:xfrm>
            <a:off x="0" y="73152"/>
            <a:ext cx="1828800" cy="347472"/>
          </a:xfrm>
          <a:prstGeom prst="rect">
            <a:avLst/>
          </a:prstGeom>
          <a:solidFill>
            <a:srgbClr val="005F5F"/>
          </a:solidFill>
          <a:ln/>
        </p:spPr>
      </p:sp>
      <p:sp>
        <p:nvSpPr>
          <p:cNvPr id="6" name="Text 4"/>
          <p:cNvSpPr/>
          <p:nvPr/>
        </p:nvSpPr>
        <p:spPr>
          <a:xfrm>
            <a:off x="0" y="73152"/>
            <a:ext cx="1828800" cy="347472"/>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KEY CONCEPT</a:t>
            </a:r>
            <a:endParaRPr lang="en-US" sz="1000" dirty="0"/>
          </a:p>
        </p:txBody>
      </p:sp>
      <p:sp>
        <p:nvSpPr>
          <p:cNvPr id="7" name="Shape 5"/>
          <p:cNvSpPr/>
          <p:nvPr/>
        </p:nvSpPr>
        <p:spPr>
          <a:xfrm>
            <a:off x="10360152" y="73152"/>
            <a:ext cx="1828800" cy="347472"/>
          </a:xfrm>
          <a:prstGeom prst="rect">
            <a:avLst/>
          </a:prstGeom>
          <a:solidFill>
            <a:srgbClr val="005F5F"/>
          </a:solidFill>
          <a:ln/>
        </p:spPr>
      </p:sp>
      <p:sp>
        <p:nvSpPr>
          <p:cNvPr id="8" name="Text 6"/>
          <p:cNvSpPr/>
          <p:nvPr/>
        </p:nvSpPr>
        <p:spPr>
          <a:xfrm>
            <a:off x="10360152" y="73152"/>
            <a:ext cx="1828800" cy="347472"/>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D1.3</a:t>
            </a:r>
            <a:endParaRPr lang="en-US" sz="1000" dirty="0"/>
          </a:p>
        </p:txBody>
      </p:sp>
      <p:sp>
        <p:nvSpPr>
          <p:cNvPr id="9" name="Text 7"/>
          <p:cNvSpPr/>
          <p:nvPr/>
        </p:nvSpPr>
        <p:spPr>
          <a:xfrm>
            <a:off x="274320" y="502920"/>
            <a:ext cx="11430000" cy="640080"/>
          </a:xfrm>
          <a:prstGeom prst="rect">
            <a:avLst/>
          </a:prstGeom>
          <a:noFill/>
          <a:ln/>
        </p:spPr>
        <p:txBody>
          <a:bodyPr wrap="square" rtlCol="0" anchor="ctr"/>
          <a:lstStyle/>
          <a:p>
            <a:pPr indent="0" marL="0">
              <a:buNone/>
            </a:pPr>
            <a:r>
              <a:rPr lang="en-US" sz="2200" b="1" dirty="0">
                <a:solidFill>
                  <a:srgbClr val="1E3A5F"/>
                </a:solidFill>
                <a:latin typeface="Calibri" pitchFamily="34" charset="0"/>
                <a:ea typeface="Calibri" pitchFamily="34" charset="-122"/>
                <a:cs typeface="Calibri" pitchFamily="34" charset="-120"/>
              </a:rPr>
              <a:t>Five Core Features of Well-Functioning Financial Markets</a:t>
            </a:r>
            <a:endParaRPr lang="en-US" sz="22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274320" y="1280160"/>
          <a:ext cx="11612880" cy="4389120"/>
        </p:xfrm>
        <a:graphic>
          <a:graphicData uri="http://schemas.openxmlformats.org/drawingml/2006/table">
            <a:tbl>
              <a:tblPr/>
              <a:tblGrid>
                <a:gridCol w="2903220"/>
                <a:gridCol w="2903220"/>
                <a:gridCol w="2903220"/>
                <a:gridCol w="2903220"/>
              </a:tblGrid>
              <a:tr h="731520">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FEATURE</a:t>
                      </a:r>
                      <a:endParaRPr lang="en-US" sz="12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1E3A5F"/>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DEFINITION</a:t>
                      </a:r>
                      <a:endParaRPr lang="en-US" sz="12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1E3A5F"/>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WHY IT MATTERS</a:t>
                      </a:r>
                      <a:endParaRPr lang="en-US" sz="12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1E3A5F"/>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FAILURE CONSEQUENCE</a:t>
                      </a:r>
                      <a:endParaRPr lang="en-US" sz="12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1E3A5F"/>
                    </a:solidFill>
                  </a:tcPr>
                </a:tc>
              </a:tr>
              <a:tr h="731520">
                <a:tc>
                  <a:txBody>
                    <a:bodyPr/>
                    <a:lstStyle/>
                    <a:p>
                      <a:pPr indent="0" marL="0">
                        <a:buNone/>
                      </a:pPr>
                      <a:r>
                        <a:rPr lang="en-US" sz="1100" dirty="0">
                          <a:solidFill>
                            <a:srgbClr val="1A1A1A"/>
                          </a:solidFill>
                          <a:latin typeface="Calibri" pitchFamily="34" charset="0"/>
                          <a:ea typeface="Calibri" pitchFamily="34" charset="-122"/>
                          <a:cs typeface="Calibri" pitchFamily="34" charset="-120"/>
                        </a:rPr>
                        <a:t>Liquidity</a:t>
                      </a:r>
                      <a:endParaRPr lang="en-US" sz="11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FFFFFF"/>
                    </a:solidFill>
                  </a:tcPr>
                </a:tc>
                <a:tc>
                  <a:txBody>
                    <a:bodyPr/>
                    <a:lstStyle/>
                    <a:p>
                      <a:pPr indent="0" marL="0">
                        <a:buNone/>
                      </a:pPr>
                      <a:r>
                        <a:rPr lang="en-US" sz="1100" dirty="0">
                          <a:solidFill>
                            <a:srgbClr val="1A1A1A"/>
                          </a:solidFill>
                          <a:latin typeface="Calibri" pitchFamily="34" charset="0"/>
                          <a:ea typeface="Calibri" pitchFamily="34" charset="-122"/>
                          <a:cs typeface="Calibri" pitchFamily="34" charset="-120"/>
                        </a:rPr>
                        <a:t>Ability to buy/sell quickly at fair price with minimal impact</a:t>
                      </a:r>
                      <a:endParaRPr lang="en-US" sz="11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FFFFFF"/>
                    </a:solidFill>
                  </a:tcPr>
                </a:tc>
                <a:tc>
                  <a:txBody>
                    <a:bodyPr/>
                    <a:lstStyle/>
                    <a:p>
                      <a:pPr indent="0" marL="0">
                        <a:buNone/>
                      </a:pPr>
                      <a:r>
                        <a:rPr lang="en-US" sz="1100" dirty="0">
                          <a:solidFill>
                            <a:srgbClr val="1A1A1A"/>
                          </a:solidFill>
                          <a:latin typeface="Calibri" pitchFamily="34" charset="0"/>
                          <a:ea typeface="Calibri" pitchFamily="34" charset="-122"/>
                          <a:cs typeface="Calibri" pitchFamily="34" charset="-120"/>
                        </a:rPr>
                        <a:t>Enables investor confidence to enter and exit</a:t>
                      </a:r>
                      <a:endParaRPr lang="en-US" sz="11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FFFFFF"/>
                    </a:solidFill>
                  </a:tcPr>
                </a:tc>
                <a:tc>
                  <a:txBody>
                    <a:bodyPr/>
                    <a:lstStyle/>
                    <a:p>
                      <a:pPr indent="0" marL="0">
                        <a:buNone/>
                      </a:pPr>
                      <a:r>
                        <a:rPr lang="en-US" sz="1100" dirty="0">
                          <a:solidFill>
                            <a:srgbClr val="1A1A1A"/>
                          </a:solidFill>
                          <a:latin typeface="Calibri" pitchFamily="34" charset="0"/>
                          <a:ea typeface="Calibri" pitchFamily="34" charset="-122"/>
                          <a:cs typeface="Calibri" pitchFamily="34" charset="-120"/>
                        </a:rPr>
                        <a:t>Market freeze, panic selling, price collapse (2008 crisis)</a:t>
                      </a:r>
                      <a:endParaRPr lang="en-US" sz="11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FFFFFF"/>
                    </a:solidFill>
                  </a:tcPr>
                </a:tc>
              </a:tr>
              <a:tr h="731520">
                <a:tc>
                  <a:txBody>
                    <a:bodyPr/>
                    <a:lstStyle/>
                    <a:p>
                      <a:pPr indent="0" marL="0">
                        <a:buNone/>
                      </a:pPr>
                      <a:r>
                        <a:rPr lang="en-US" sz="1100" dirty="0">
                          <a:solidFill>
                            <a:srgbClr val="1A1A1A"/>
                          </a:solidFill>
                          <a:latin typeface="Calibri" pitchFamily="34" charset="0"/>
                          <a:ea typeface="Calibri" pitchFamily="34" charset="-122"/>
                          <a:cs typeface="Calibri" pitchFamily="34" charset="-120"/>
                        </a:rPr>
                        <a:t>Price Discovery</a:t>
                      </a:r>
                      <a:endParaRPr lang="en-US" sz="11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D5E3F0"/>
                    </a:solidFill>
                  </a:tcPr>
                </a:tc>
                <a:tc>
                  <a:txBody>
                    <a:bodyPr/>
                    <a:lstStyle/>
                    <a:p>
                      <a:pPr indent="0" marL="0">
                        <a:buNone/>
                      </a:pPr>
                      <a:r>
                        <a:rPr lang="en-US" sz="1100" dirty="0">
                          <a:solidFill>
                            <a:srgbClr val="1A1A1A"/>
                          </a:solidFill>
                          <a:latin typeface="Calibri" pitchFamily="34" charset="0"/>
                          <a:ea typeface="Calibri" pitchFamily="34" charset="-122"/>
                          <a:cs typeface="Calibri" pitchFamily="34" charset="-120"/>
                        </a:rPr>
                        <a:t>Mechanism by which supply and demand determine fair value</a:t>
                      </a:r>
                      <a:endParaRPr lang="en-US" sz="11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D5E3F0"/>
                    </a:solidFill>
                  </a:tcPr>
                </a:tc>
                <a:tc>
                  <a:txBody>
                    <a:bodyPr/>
                    <a:lstStyle/>
                    <a:p>
                      <a:pPr indent="0" marL="0">
                        <a:buNone/>
                      </a:pPr>
                      <a:r>
                        <a:rPr lang="en-US" sz="1100" dirty="0">
                          <a:solidFill>
                            <a:srgbClr val="1A1A1A"/>
                          </a:solidFill>
                          <a:latin typeface="Calibri" pitchFamily="34" charset="0"/>
                          <a:ea typeface="Calibri" pitchFamily="34" charset="-122"/>
                          <a:cs typeface="Calibri" pitchFamily="34" charset="-120"/>
                        </a:rPr>
                        <a:t>Ensures prices reflect all available information</a:t>
                      </a:r>
                      <a:endParaRPr lang="en-US" sz="11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D5E3F0"/>
                    </a:solidFill>
                  </a:tcPr>
                </a:tc>
                <a:tc>
                  <a:txBody>
                    <a:bodyPr/>
                    <a:lstStyle/>
                    <a:p>
                      <a:pPr indent="0" marL="0">
                        <a:buNone/>
                      </a:pPr>
                      <a:r>
                        <a:rPr lang="en-US" sz="1100" dirty="0">
                          <a:solidFill>
                            <a:srgbClr val="1A1A1A"/>
                          </a:solidFill>
                          <a:latin typeface="Calibri" pitchFamily="34" charset="0"/>
                          <a:ea typeface="Calibri" pitchFamily="34" charset="-122"/>
                          <a:cs typeface="Calibri" pitchFamily="34" charset="-120"/>
                        </a:rPr>
                        <a:t>Mispriced assets, fraudulent valuations (Satyam)</a:t>
                      </a:r>
                      <a:endParaRPr lang="en-US" sz="11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D5E3F0"/>
                    </a:solidFill>
                  </a:tcPr>
                </a:tc>
              </a:tr>
              <a:tr h="731520">
                <a:tc>
                  <a:txBody>
                    <a:bodyPr/>
                    <a:lstStyle/>
                    <a:p>
                      <a:pPr indent="0" marL="0">
                        <a:buNone/>
                      </a:pPr>
                      <a:r>
                        <a:rPr lang="en-US" sz="1100" dirty="0">
                          <a:solidFill>
                            <a:srgbClr val="1A1A1A"/>
                          </a:solidFill>
                          <a:latin typeface="Calibri" pitchFamily="34" charset="0"/>
                          <a:ea typeface="Calibri" pitchFamily="34" charset="-122"/>
                          <a:cs typeface="Calibri" pitchFamily="34" charset="-120"/>
                        </a:rPr>
                        <a:t>Accessibility</a:t>
                      </a:r>
                      <a:endParaRPr lang="en-US" sz="11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FFFFFF"/>
                    </a:solidFill>
                  </a:tcPr>
                </a:tc>
                <a:tc>
                  <a:txBody>
                    <a:bodyPr/>
                    <a:lstStyle/>
                    <a:p>
                      <a:pPr indent="0" marL="0">
                        <a:buNone/>
                      </a:pPr>
                      <a:r>
                        <a:rPr lang="en-US" sz="1100" dirty="0">
                          <a:solidFill>
                            <a:srgbClr val="1A1A1A"/>
                          </a:solidFill>
                          <a:latin typeface="Calibri" pitchFamily="34" charset="0"/>
                          <a:ea typeface="Calibri" pitchFamily="34" charset="-122"/>
                          <a:cs typeface="Calibri" pitchFamily="34" charset="-120"/>
                        </a:rPr>
                        <a:t>Low barriers to participation for eligible investors</a:t>
                      </a:r>
                      <a:endParaRPr lang="en-US" sz="11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FFFFFF"/>
                    </a:solidFill>
                  </a:tcPr>
                </a:tc>
                <a:tc>
                  <a:txBody>
                    <a:bodyPr/>
                    <a:lstStyle/>
                    <a:p>
                      <a:pPr indent="0" marL="0">
                        <a:buNone/>
                      </a:pPr>
                      <a:r>
                        <a:rPr lang="en-US" sz="1100" dirty="0">
                          <a:solidFill>
                            <a:srgbClr val="1A1A1A"/>
                          </a:solidFill>
                          <a:latin typeface="Calibri" pitchFamily="34" charset="0"/>
                          <a:ea typeface="Calibri" pitchFamily="34" charset="-122"/>
                          <a:cs typeface="Calibri" pitchFamily="34" charset="-120"/>
                        </a:rPr>
                        <a:t>Broadens investor base, improves liquidity</a:t>
                      </a:r>
                      <a:endParaRPr lang="en-US" sz="11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FFFFFF"/>
                    </a:solidFill>
                  </a:tcPr>
                </a:tc>
                <a:tc>
                  <a:txBody>
                    <a:bodyPr/>
                    <a:lstStyle/>
                    <a:p>
                      <a:pPr indent="0" marL="0">
                        <a:buNone/>
                      </a:pPr>
                      <a:r>
                        <a:rPr lang="en-US" sz="1100" dirty="0">
                          <a:solidFill>
                            <a:srgbClr val="1A1A1A"/>
                          </a:solidFill>
                          <a:latin typeface="Calibri" pitchFamily="34" charset="0"/>
                          <a:ea typeface="Calibri" pitchFamily="34" charset="-122"/>
                          <a:cs typeface="Calibri" pitchFamily="34" charset="-120"/>
                        </a:rPr>
                        <a:t>Concentrated markets, manipulation risk</a:t>
                      </a:r>
                      <a:endParaRPr lang="en-US" sz="11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FFFFFF"/>
                    </a:solidFill>
                  </a:tcPr>
                </a:tc>
              </a:tr>
              <a:tr h="731520">
                <a:tc>
                  <a:txBody>
                    <a:bodyPr/>
                    <a:lstStyle/>
                    <a:p>
                      <a:pPr indent="0" marL="0">
                        <a:buNone/>
                      </a:pPr>
                      <a:r>
                        <a:rPr lang="en-US" sz="1100" dirty="0">
                          <a:solidFill>
                            <a:srgbClr val="1A1A1A"/>
                          </a:solidFill>
                          <a:latin typeface="Calibri" pitchFamily="34" charset="0"/>
                          <a:ea typeface="Calibri" pitchFamily="34" charset="-122"/>
                          <a:cs typeface="Calibri" pitchFamily="34" charset="-120"/>
                        </a:rPr>
                        <a:t>Transparency</a:t>
                      </a:r>
                      <a:endParaRPr lang="en-US" sz="11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D5E3F0"/>
                    </a:solidFill>
                  </a:tcPr>
                </a:tc>
                <a:tc>
                  <a:txBody>
                    <a:bodyPr/>
                    <a:lstStyle/>
                    <a:p>
                      <a:pPr indent="0" marL="0">
                        <a:buNone/>
                      </a:pPr>
                      <a:r>
                        <a:rPr lang="en-US" sz="1100" dirty="0">
                          <a:solidFill>
                            <a:srgbClr val="1A1A1A"/>
                          </a:solidFill>
                          <a:latin typeface="Calibri" pitchFamily="34" charset="0"/>
                          <a:ea typeface="Calibri" pitchFamily="34" charset="-122"/>
                          <a:cs typeface="Calibri" pitchFamily="34" charset="-120"/>
                        </a:rPr>
                        <a:t>Accurate information available to all participants equally</a:t>
                      </a:r>
                      <a:endParaRPr lang="en-US" sz="11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D5E3F0"/>
                    </a:solidFill>
                  </a:tcPr>
                </a:tc>
                <a:tc>
                  <a:txBody>
                    <a:bodyPr/>
                    <a:lstStyle/>
                    <a:p>
                      <a:pPr indent="0" marL="0">
                        <a:buNone/>
                      </a:pPr>
                      <a:r>
                        <a:rPr lang="en-US" sz="1100" dirty="0">
                          <a:solidFill>
                            <a:srgbClr val="1A1A1A"/>
                          </a:solidFill>
                          <a:latin typeface="Calibri" pitchFamily="34" charset="0"/>
                          <a:ea typeface="Calibri" pitchFamily="34" charset="-122"/>
                          <a:cs typeface="Calibri" pitchFamily="34" charset="-120"/>
                        </a:rPr>
                        <a:t>Prevents information asymmetry and insider advantage</a:t>
                      </a:r>
                      <a:endParaRPr lang="en-US" sz="11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D5E3F0"/>
                    </a:solidFill>
                  </a:tcPr>
                </a:tc>
                <a:tc>
                  <a:txBody>
                    <a:bodyPr/>
                    <a:lstStyle/>
                    <a:p>
                      <a:pPr indent="0" marL="0">
                        <a:buNone/>
                      </a:pPr>
                      <a:r>
                        <a:rPr lang="en-US" sz="1100" dirty="0">
                          <a:solidFill>
                            <a:srgbClr val="1A1A1A"/>
                          </a:solidFill>
                          <a:latin typeface="Calibri" pitchFamily="34" charset="0"/>
                          <a:ea typeface="Calibri" pitchFamily="34" charset="-122"/>
                          <a:cs typeface="Calibri" pitchFamily="34" charset="-120"/>
                        </a:rPr>
                        <a:t>Insider trading, fraud, loss of trust</a:t>
                      </a:r>
                      <a:endParaRPr lang="en-US" sz="11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D5E3F0"/>
                    </a:solidFill>
                  </a:tcPr>
                </a:tc>
              </a:tr>
              <a:tr h="731520">
                <a:tc>
                  <a:txBody>
                    <a:bodyPr/>
                    <a:lstStyle/>
                    <a:p>
                      <a:pPr indent="0" marL="0">
                        <a:buNone/>
                      </a:pPr>
                      <a:r>
                        <a:rPr lang="en-US" sz="1100" dirty="0">
                          <a:solidFill>
                            <a:srgbClr val="1A1A1A"/>
                          </a:solidFill>
                          <a:latin typeface="Calibri" pitchFamily="34" charset="0"/>
                          <a:ea typeface="Calibri" pitchFamily="34" charset="-122"/>
                          <a:cs typeface="Calibri" pitchFamily="34" charset="-120"/>
                        </a:rPr>
                        <a:t>Regulation</a:t>
                      </a:r>
                      <a:endParaRPr lang="en-US" sz="11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FFFFFF"/>
                    </a:solidFill>
                  </a:tcPr>
                </a:tc>
                <a:tc>
                  <a:txBody>
                    <a:bodyPr/>
                    <a:lstStyle/>
                    <a:p>
                      <a:pPr indent="0" marL="0">
                        <a:buNone/>
                      </a:pPr>
                      <a:r>
                        <a:rPr lang="en-US" sz="1100" dirty="0">
                          <a:solidFill>
                            <a:srgbClr val="1A1A1A"/>
                          </a:solidFill>
                          <a:latin typeface="Calibri" pitchFamily="34" charset="0"/>
                          <a:ea typeface="Calibri" pitchFamily="34" charset="-122"/>
                          <a:cs typeface="Calibri" pitchFamily="34" charset="-120"/>
                        </a:rPr>
                        <a:t>Enforceable rules governing market conduct</a:t>
                      </a:r>
                      <a:endParaRPr lang="en-US" sz="11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FFFFFF"/>
                    </a:solidFill>
                  </a:tcPr>
                </a:tc>
                <a:tc>
                  <a:txBody>
                    <a:bodyPr/>
                    <a:lstStyle/>
                    <a:p>
                      <a:pPr indent="0" marL="0">
                        <a:buNone/>
                      </a:pPr>
                      <a:r>
                        <a:rPr lang="en-US" sz="1100" dirty="0">
                          <a:solidFill>
                            <a:srgbClr val="1A1A1A"/>
                          </a:solidFill>
                          <a:latin typeface="Calibri" pitchFamily="34" charset="0"/>
                          <a:ea typeface="Calibri" pitchFamily="34" charset="-122"/>
                          <a:cs typeface="Calibri" pitchFamily="34" charset="-120"/>
                        </a:rPr>
                        <a:t>Maintains integrity, investor protection</a:t>
                      </a:r>
                      <a:endParaRPr lang="en-US" sz="11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FFFFFF"/>
                    </a:solidFill>
                  </a:tcPr>
                </a:tc>
                <a:tc>
                  <a:txBody>
                    <a:bodyPr/>
                    <a:lstStyle/>
                    <a:p>
                      <a:pPr indent="0" marL="0">
                        <a:buNone/>
                      </a:pPr>
                      <a:r>
                        <a:rPr lang="en-US" sz="1100" dirty="0">
                          <a:solidFill>
                            <a:srgbClr val="1A1A1A"/>
                          </a:solidFill>
                          <a:latin typeface="Calibri" pitchFamily="34" charset="0"/>
                          <a:ea typeface="Calibri" pitchFamily="34" charset="-122"/>
                          <a:cs typeface="Calibri" pitchFamily="34" charset="-120"/>
                        </a:rPr>
                        <a:t>Manipulation, systemic risk, investor loss</a:t>
                      </a:r>
                      <a:endParaRPr lang="en-US" sz="11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FFFFFF"/>
                    </a:solidFill>
                  </a:tcPr>
                </a:tc>
              </a:tr>
            </a:tbl>
          </a:graphicData>
        </a:graphic>
      </p:graphicFrame>
      <p:sp>
        <p:nvSpPr>
          <p:cNvPr id="11" name="Text 8"/>
          <p:cNvSpPr/>
          <p:nvPr/>
        </p:nvSpPr>
        <p:spPr>
          <a:xfrm>
            <a:off x="274320" y="6126480"/>
            <a:ext cx="11612880" cy="365760"/>
          </a:xfrm>
          <a:prstGeom prst="rect">
            <a:avLst/>
          </a:prstGeom>
          <a:noFill/>
          <a:ln/>
        </p:spPr>
        <p:txBody>
          <a:bodyPr wrap="square" rtlCol="0" anchor="ctr"/>
          <a:lstStyle/>
          <a:p>
            <a:pPr indent="0" marL="0">
              <a:buNone/>
            </a:pPr>
            <a:r>
              <a:rPr lang="en-US" sz="1000" dirty="0">
                <a:solidFill>
                  <a:srgbClr val="005F5F"/>
                </a:solidFill>
                <a:latin typeface="Calibri" pitchFamily="34" charset="0"/>
                <a:ea typeface="Calibri" pitchFamily="34" charset="-122"/>
                <a:cs typeface="Calibri" pitchFamily="34" charset="-120"/>
              </a:rPr>
              <a:t>⚡  Operations professionals contribute to transparency through accurate trade reporting, and to regulation through timely regulatory submissions.</a:t>
            </a:r>
            <a:endParaRPr lang="en-US" sz="1000" dirty="0"/>
          </a:p>
        </p:txBody>
      </p:sp>
      <p:sp>
        <p:nvSpPr>
          <p:cNvPr id="12" name="Text 9"/>
          <p:cNvSpPr/>
          <p:nvPr/>
        </p:nvSpPr>
        <p:spPr>
          <a:xfrm>
            <a:off x="0" y="6601968"/>
            <a:ext cx="12192000" cy="182880"/>
          </a:xfrm>
          <a:prstGeom prst="rect">
            <a:avLst/>
          </a:prstGeom>
          <a:noFill/>
          <a:ln/>
        </p:spPr>
        <p:txBody>
          <a:bodyPr wrap="square" rtlCol="0" anchor="ctr"/>
          <a:lstStyle/>
          <a:p>
            <a:pPr algn="ctr" indent="0" marL="0">
              <a:buNone/>
            </a:pPr>
            <a:r>
              <a:rPr lang="en-US" sz="800" dirty="0">
                <a:solidFill>
                  <a:srgbClr val="AAAAAA"/>
                </a:solidFill>
                <a:latin typeface="Calibri" pitchFamily="34" charset="0"/>
                <a:ea typeface="Calibri" pitchFamily="34" charset="-122"/>
                <a:cs typeface="Calibri" pitchFamily="34" charset="-120"/>
              </a:rPr>
              <a:t>CIBOP · Module 1 · D1.3</a:t>
            </a:r>
            <a:endParaRPr lang="en-US" sz="8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4F6FA"/>
          </a:solidFill>
          <a:ln/>
        </p:spPr>
      </p:sp>
      <p:sp>
        <p:nvSpPr>
          <p:cNvPr id="3" name="Shape 1"/>
          <p:cNvSpPr/>
          <p:nvPr/>
        </p:nvSpPr>
        <p:spPr>
          <a:xfrm>
            <a:off x="0" y="0"/>
            <a:ext cx="12192000" cy="73152"/>
          </a:xfrm>
          <a:prstGeom prst="rect">
            <a:avLst/>
          </a:prstGeom>
          <a:solidFill>
            <a:srgbClr val="1E3A5F"/>
          </a:solidFill>
          <a:ln/>
        </p:spPr>
      </p:sp>
      <p:sp>
        <p:nvSpPr>
          <p:cNvPr id="4" name="Shape 2"/>
          <p:cNvSpPr/>
          <p:nvPr/>
        </p:nvSpPr>
        <p:spPr>
          <a:xfrm>
            <a:off x="0" y="6784848"/>
            <a:ext cx="12192000" cy="73152"/>
          </a:xfrm>
          <a:prstGeom prst="rect">
            <a:avLst/>
          </a:prstGeom>
          <a:solidFill>
            <a:srgbClr val="B8860B"/>
          </a:solidFill>
          <a:ln/>
        </p:spPr>
      </p:sp>
      <p:sp>
        <p:nvSpPr>
          <p:cNvPr id="5" name="Shape 3"/>
          <p:cNvSpPr/>
          <p:nvPr/>
        </p:nvSpPr>
        <p:spPr>
          <a:xfrm>
            <a:off x="0" y="73152"/>
            <a:ext cx="1828800" cy="347472"/>
          </a:xfrm>
          <a:prstGeom prst="rect">
            <a:avLst/>
          </a:prstGeom>
          <a:solidFill>
            <a:srgbClr val="B8860B"/>
          </a:solidFill>
          <a:ln/>
        </p:spPr>
      </p:sp>
      <p:sp>
        <p:nvSpPr>
          <p:cNvPr id="6" name="Text 4"/>
          <p:cNvSpPr/>
          <p:nvPr/>
        </p:nvSpPr>
        <p:spPr>
          <a:xfrm>
            <a:off x="0" y="73152"/>
            <a:ext cx="1828800" cy="347472"/>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GOING DEEPER</a:t>
            </a:r>
            <a:endParaRPr lang="en-US" sz="1000" dirty="0"/>
          </a:p>
        </p:txBody>
      </p:sp>
      <p:sp>
        <p:nvSpPr>
          <p:cNvPr id="7" name="Shape 5"/>
          <p:cNvSpPr/>
          <p:nvPr/>
        </p:nvSpPr>
        <p:spPr>
          <a:xfrm>
            <a:off x="10360152" y="73152"/>
            <a:ext cx="1828800" cy="347472"/>
          </a:xfrm>
          <a:prstGeom prst="rect">
            <a:avLst/>
          </a:prstGeom>
          <a:solidFill>
            <a:srgbClr val="005F5F"/>
          </a:solidFill>
          <a:ln/>
        </p:spPr>
      </p:sp>
      <p:sp>
        <p:nvSpPr>
          <p:cNvPr id="8" name="Text 6"/>
          <p:cNvSpPr/>
          <p:nvPr/>
        </p:nvSpPr>
        <p:spPr>
          <a:xfrm>
            <a:off x="10360152" y="73152"/>
            <a:ext cx="1828800" cy="347472"/>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D1.3</a:t>
            </a:r>
            <a:endParaRPr lang="en-US" sz="1000" dirty="0"/>
          </a:p>
        </p:txBody>
      </p:sp>
      <p:sp>
        <p:nvSpPr>
          <p:cNvPr id="9" name="Text 7"/>
          <p:cNvSpPr/>
          <p:nvPr/>
        </p:nvSpPr>
        <p:spPr>
          <a:xfrm>
            <a:off x="274320" y="502920"/>
            <a:ext cx="11612880" cy="640080"/>
          </a:xfrm>
          <a:prstGeom prst="rect">
            <a:avLst/>
          </a:prstGeom>
          <a:noFill/>
          <a:ln/>
        </p:spPr>
        <p:txBody>
          <a:bodyPr wrap="square" rtlCol="0" anchor="ctr"/>
          <a:lstStyle/>
          <a:p>
            <a:pPr indent="0" marL="0">
              <a:buNone/>
            </a:pPr>
            <a:r>
              <a:rPr lang="en-US" sz="2200" b="1" dirty="0">
                <a:solidFill>
                  <a:srgbClr val="1E3A5F"/>
                </a:solidFill>
                <a:latin typeface="Calibri" pitchFamily="34" charset="0"/>
                <a:ea typeface="Calibri" pitchFamily="34" charset="-122"/>
                <a:cs typeface="Calibri" pitchFamily="34" charset="-120"/>
              </a:rPr>
              <a:t>Four Deeper Insights on Market Features</a:t>
            </a:r>
            <a:endParaRPr lang="en-US" sz="2200" dirty="0"/>
          </a:p>
        </p:txBody>
      </p:sp>
      <p:sp>
        <p:nvSpPr>
          <p:cNvPr id="10" name="Shape 8"/>
          <p:cNvSpPr/>
          <p:nvPr/>
        </p:nvSpPr>
        <p:spPr>
          <a:xfrm>
            <a:off x="274320" y="1280160"/>
            <a:ext cx="5669280" cy="2377440"/>
          </a:xfrm>
          <a:prstGeom prst="rect">
            <a:avLst/>
          </a:prstGeom>
          <a:solidFill>
            <a:srgbClr val="D5E3F0"/>
          </a:solidFill>
          <a:ln w="6350">
            <a:solidFill>
              <a:srgbClr val="AAAAAA"/>
            </a:solidFill>
            <a:prstDash val="solid"/>
          </a:ln>
        </p:spPr>
      </p:sp>
      <p:sp>
        <p:nvSpPr>
          <p:cNvPr id="11" name="Shape 9"/>
          <p:cNvSpPr/>
          <p:nvPr/>
        </p:nvSpPr>
        <p:spPr>
          <a:xfrm>
            <a:off x="365760" y="1371600"/>
            <a:ext cx="457200" cy="457200"/>
          </a:xfrm>
          <a:prstGeom prst="ellipse">
            <a:avLst/>
          </a:prstGeom>
          <a:solidFill>
            <a:srgbClr val="1E3A5F"/>
          </a:solidFill>
          <a:ln/>
        </p:spPr>
      </p:sp>
      <p:sp>
        <p:nvSpPr>
          <p:cNvPr id="12" name="Text 10"/>
          <p:cNvSpPr/>
          <p:nvPr/>
        </p:nvSpPr>
        <p:spPr>
          <a:xfrm>
            <a:off x="365760" y="1371600"/>
            <a:ext cx="457200" cy="45720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3" name="Text 11"/>
          <p:cNvSpPr/>
          <p:nvPr/>
        </p:nvSpPr>
        <p:spPr>
          <a:xfrm>
            <a:off x="914400" y="1371600"/>
            <a:ext cx="4892040" cy="457200"/>
          </a:xfrm>
          <a:prstGeom prst="rect">
            <a:avLst/>
          </a:prstGeom>
          <a:noFill/>
          <a:ln/>
        </p:spPr>
        <p:txBody>
          <a:bodyPr wrap="square" rtlCol="0" anchor="ctr"/>
          <a:lstStyle/>
          <a:p>
            <a:pPr indent="0" marL="0">
              <a:buNone/>
            </a:pPr>
            <a:r>
              <a:rPr lang="en-US" sz="1300" b="1" dirty="0">
                <a:solidFill>
                  <a:srgbClr val="1A1A1A"/>
                </a:solidFill>
                <a:latin typeface="Calibri" pitchFamily="34" charset="0"/>
                <a:ea typeface="Calibri" pitchFamily="34" charset="-122"/>
                <a:cs typeface="Calibri" pitchFamily="34" charset="-120"/>
              </a:rPr>
              <a:t>Liquidity and Price Discovery Are Circular</a:t>
            </a:r>
            <a:endParaRPr lang="en-US" sz="1300" dirty="0"/>
          </a:p>
        </p:txBody>
      </p:sp>
      <p:sp>
        <p:nvSpPr>
          <p:cNvPr id="14" name="Text 12"/>
          <p:cNvSpPr/>
          <p:nvPr/>
        </p:nvSpPr>
        <p:spPr>
          <a:xfrm>
            <a:off x="411480" y="1874520"/>
            <a:ext cx="5394960" cy="1645920"/>
          </a:xfrm>
          <a:prstGeom prst="rect">
            <a:avLst/>
          </a:prstGeom>
          <a:noFill/>
          <a:ln/>
        </p:spPr>
        <p:txBody>
          <a:bodyPr wrap="square" rtlCol="0" anchor="ctr"/>
          <a:lstStyle/>
          <a:p>
            <a:pPr indent="0" marL="0">
              <a:buNone/>
            </a:pPr>
            <a:r>
              <a:rPr lang="en-US" sz="1100" dirty="0">
                <a:solidFill>
                  <a:srgbClr val="1A1A1A"/>
                </a:solidFill>
                <a:latin typeface="Calibri" pitchFamily="34" charset="0"/>
                <a:ea typeface="Calibri" pitchFamily="34" charset="-122"/>
                <a:cs typeface="Calibri" pitchFamily="34" charset="-120"/>
              </a:rPr>
              <a:t>Deep liquidity improves price discovery (more orders = better information). Better price discovery improves liquidity (accurate prices attract more participants). When one breaks down, both deteriorate simultaneously.</a:t>
            </a:r>
            <a:endParaRPr lang="en-US" sz="1100" dirty="0"/>
          </a:p>
        </p:txBody>
      </p:sp>
      <p:sp>
        <p:nvSpPr>
          <p:cNvPr id="15" name="Shape 13"/>
          <p:cNvSpPr/>
          <p:nvPr/>
        </p:nvSpPr>
        <p:spPr>
          <a:xfrm>
            <a:off x="6126480" y="1280160"/>
            <a:ext cx="5669280" cy="2377440"/>
          </a:xfrm>
          <a:prstGeom prst="rect">
            <a:avLst/>
          </a:prstGeom>
          <a:solidFill>
            <a:srgbClr val="D4EFEF"/>
          </a:solidFill>
          <a:ln w="6350">
            <a:solidFill>
              <a:srgbClr val="AAAAAA"/>
            </a:solidFill>
            <a:prstDash val="solid"/>
          </a:ln>
        </p:spPr>
      </p:sp>
      <p:sp>
        <p:nvSpPr>
          <p:cNvPr id="16" name="Shape 14"/>
          <p:cNvSpPr/>
          <p:nvPr/>
        </p:nvSpPr>
        <p:spPr>
          <a:xfrm>
            <a:off x="6217920" y="1371600"/>
            <a:ext cx="457200" cy="457200"/>
          </a:xfrm>
          <a:prstGeom prst="ellipse">
            <a:avLst/>
          </a:prstGeom>
          <a:solidFill>
            <a:srgbClr val="005F5F"/>
          </a:solidFill>
          <a:ln/>
        </p:spPr>
      </p:sp>
      <p:sp>
        <p:nvSpPr>
          <p:cNvPr id="17" name="Text 15"/>
          <p:cNvSpPr/>
          <p:nvPr/>
        </p:nvSpPr>
        <p:spPr>
          <a:xfrm>
            <a:off x="6217920" y="1371600"/>
            <a:ext cx="457200" cy="45720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8" name="Text 16"/>
          <p:cNvSpPr/>
          <p:nvPr/>
        </p:nvSpPr>
        <p:spPr>
          <a:xfrm>
            <a:off x="6766560" y="1371600"/>
            <a:ext cx="4892040" cy="457200"/>
          </a:xfrm>
          <a:prstGeom prst="rect">
            <a:avLst/>
          </a:prstGeom>
          <a:noFill/>
          <a:ln/>
        </p:spPr>
        <p:txBody>
          <a:bodyPr wrap="square" rtlCol="0" anchor="ctr"/>
          <a:lstStyle/>
          <a:p>
            <a:pPr indent="0" marL="0">
              <a:buNone/>
            </a:pPr>
            <a:r>
              <a:rPr lang="en-US" sz="1300" b="1" dirty="0">
                <a:solidFill>
                  <a:srgbClr val="1A1A1A"/>
                </a:solidFill>
                <a:latin typeface="Calibri" pitchFamily="34" charset="0"/>
                <a:ea typeface="Calibri" pitchFamily="34" charset="-122"/>
                <a:cs typeface="Calibri" pitchFamily="34" charset="-120"/>
              </a:rPr>
              <a:t>Pre-Trade and Post-Trade Transparency Are Both Required</a:t>
            </a:r>
            <a:endParaRPr lang="en-US" sz="1300" dirty="0"/>
          </a:p>
        </p:txBody>
      </p:sp>
      <p:sp>
        <p:nvSpPr>
          <p:cNvPr id="19" name="Text 17"/>
          <p:cNvSpPr/>
          <p:nvPr/>
        </p:nvSpPr>
        <p:spPr>
          <a:xfrm>
            <a:off x="6263640" y="1874520"/>
            <a:ext cx="5394960" cy="1645920"/>
          </a:xfrm>
          <a:prstGeom prst="rect">
            <a:avLst/>
          </a:prstGeom>
          <a:noFill/>
          <a:ln/>
        </p:spPr>
        <p:txBody>
          <a:bodyPr wrap="square" rtlCol="0" anchor="ctr"/>
          <a:lstStyle/>
          <a:p>
            <a:pPr indent="0" marL="0">
              <a:buNone/>
            </a:pPr>
            <a:r>
              <a:rPr lang="en-US" sz="1100" dirty="0">
                <a:solidFill>
                  <a:srgbClr val="1A1A1A"/>
                </a:solidFill>
                <a:latin typeface="Calibri" pitchFamily="34" charset="0"/>
                <a:ea typeface="Calibri" pitchFamily="34" charset="-122"/>
                <a:cs typeface="Calibri" pitchFamily="34" charset="-120"/>
              </a:rPr>
              <a:t>Pre-trade transparency (visible order books) prevents information asymmetry before a trade. Post-trade transparency (published trade data) allows the market to verify that executed prices were fair. Both are SEBI-mandated.</a:t>
            </a:r>
            <a:endParaRPr lang="en-US" sz="1100" dirty="0"/>
          </a:p>
        </p:txBody>
      </p:sp>
      <p:sp>
        <p:nvSpPr>
          <p:cNvPr id="20" name="Shape 18"/>
          <p:cNvSpPr/>
          <p:nvPr/>
        </p:nvSpPr>
        <p:spPr>
          <a:xfrm>
            <a:off x="274320" y="3840480"/>
            <a:ext cx="5669280" cy="2377440"/>
          </a:xfrm>
          <a:prstGeom prst="rect">
            <a:avLst/>
          </a:prstGeom>
          <a:solidFill>
            <a:srgbClr val="FEF9E7"/>
          </a:solidFill>
          <a:ln w="6350">
            <a:solidFill>
              <a:srgbClr val="AAAAAA"/>
            </a:solidFill>
            <a:prstDash val="solid"/>
          </a:ln>
        </p:spPr>
      </p:sp>
      <p:sp>
        <p:nvSpPr>
          <p:cNvPr id="21" name="Shape 19"/>
          <p:cNvSpPr/>
          <p:nvPr/>
        </p:nvSpPr>
        <p:spPr>
          <a:xfrm>
            <a:off x="365760" y="3931920"/>
            <a:ext cx="457200" cy="457200"/>
          </a:xfrm>
          <a:prstGeom prst="ellipse">
            <a:avLst/>
          </a:prstGeom>
          <a:solidFill>
            <a:srgbClr val="B8860B"/>
          </a:solidFill>
          <a:ln/>
        </p:spPr>
      </p:sp>
      <p:sp>
        <p:nvSpPr>
          <p:cNvPr id="22" name="Text 20"/>
          <p:cNvSpPr/>
          <p:nvPr/>
        </p:nvSpPr>
        <p:spPr>
          <a:xfrm>
            <a:off x="365760" y="3931920"/>
            <a:ext cx="457200" cy="45720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23" name="Text 21"/>
          <p:cNvSpPr/>
          <p:nvPr/>
        </p:nvSpPr>
        <p:spPr>
          <a:xfrm>
            <a:off x="914400" y="3931920"/>
            <a:ext cx="4892040" cy="457200"/>
          </a:xfrm>
          <a:prstGeom prst="rect">
            <a:avLst/>
          </a:prstGeom>
          <a:noFill/>
          <a:ln/>
        </p:spPr>
        <p:txBody>
          <a:bodyPr wrap="square" rtlCol="0" anchor="ctr"/>
          <a:lstStyle/>
          <a:p>
            <a:pPr indent="0" marL="0">
              <a:buNone/>
            </a:pPr>
            <a:r>
              <a:rPr lang="en-US" sz="1300" b="1" dirty="0">
                <a:solidFill>
                  <a:srgbClr val="1A1A1A"/>
                </a:solidFill>
                <a:latin typeface="Calibri" pitchFamily="34" charset="0"/>
                <a:ea typeface="Calibri" pitchFamily="34" charset="-122"/>
                <a:cs typeface="Calibri" pitchFamily="34" charset="-120"/>
              </a:rPr>
              <a:t>Regulation Is Not the Enemy of Market Efficiency</a:t>
            </a:r>
            <a:endParaRPr lang="en-US" sz="1300" dirty="0"/>
          </a:p>
        </p:txBody>
      </p:sp>
      <p:sp>
        <p:nvSpPr>
          <p:cNvPr id="24" name="Text 22"/>
          <p:cNvSpPr/>
          <p:nvPr/>
        </p:nvSpPr>
        <p:spPr>
          <a:xfrm>
            <a:off x="411480" y="4434840"/>
            <a:ext cx="5394960" cy="1645920"/>
          </a:xfrm>
          <a:prstGeom prst="rect">
            <a:avLst/>
          </a:prstGeom>
          <a:noFill/>
          <a:ln/>
        </p:spPr>
        <p:txBody>
          <a:bodyPr wrap="square" rtlCol="0" anchor="ctr"/>
          <a:lstStyle/>
          <a:p>
            <a:pPr indent="0" marL="0">
              <a:buNone/>
            </a:pPr>
            <a:r>
              <a:rPr lang="en-US" sz="1100" dirty="0">
                <a:solidFill>
                  <a:srgbClr val="1A1A1A"/>
                </a:solidFill>
                <a:latin typeface="Calibri" pitchFamily="34" charset="0"/>
                <a:ea typeface="Calibri" pitchFamily="34" charset="-122"/>
                <a:cs typeface="Calibri" pitchFamily="34" charset="-120"/>
              </a:rPr>
              <a:t>The intuition that less regulation = more efficient markets is empirically false. Well-designed regulation enforces the information standards that make price discovery possible. The 2008 crisis was partly a regulatory failure in structured products.</a:t>
            </a:r>
            <a:endParaRPr lang="en-US" sz="1100" dirty="0"/>
          </a:p>
        </p:txBody>
      </p:sp>
      <p:sp>
        <p:nvSpPr>
          <p:cNvPr id="25" name="Shape 23"/>
          <p:cNvSpPr/>
          <p:nvPr/>
        </p:nvSpPr>
        <p:spPr>
          <a:xfrm>
            <a:off x="6126480" y="3840480"/>
            <a:ext cx="5669280" cy="2377440"/>
          </a:xfrm>
          <a:prstGeom prst="rect">
            <a:avLst/>
          </a:prstGeom>
          <a:solidFill>
            <a:srgbClr val="D5E3F0"/>
          </a:solidFill>
          <a:ln w="6350">
            <a:solidFill>
              <a:srgbClr val="AAAAAA"/>
            </a:solidFill>
            <a:prstDash val="solid"/>
          </a:ln>
        </p:spPr>
      </p:sp>
      <p:sp>
        <p:nvSpPr>
          <p:cNvPr id="26" name="Shape 24"/>
          <p:cNvSpPr/>
          <p:nvPr/>
        </p:nvSpPr>
        <p:spPr>
          <a:xfrm>
            <a:off x="6217920" y="3931920"/>
            <a:ext cx="457200" cy="457200"/>
          </a:xfrm>
          <a:prstGeom prst="ellipse">
            <a:avLst/>
          </a:prstGeom>
          <a:solidFill>
            <a:srgbClr val="1E3A5F"/>
          </a:solidFill>
          <a:ln/>
        </p:spPr>
      </p:sp>
      <p:sp>
        <p:nvSpPr>
          <p:cNvPr id="27" name="Text 25"/>
          <p:cNvSpPr/>
          <p:nvPr/>
        </p:nvSpPr>
        <p:spPr>
          <a:xfrm>
            <a:off x="6217920" y="3931920"/>
            <a:ext cx="457200" cy="45720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28" name="Text 26"/>
          <p:cNvSpPr/>
          <p:nvPr/>
        </p:nvSpPr>
        <p:spPr>
          <a:xfrm>
            <a:off x="6766560" y="3931920"/>
            <a:ext cx="4892040" cy="457200"/>
          </a:xfrm>
          <a:prstGeom prst="rect">
            <a:avLst/>
          </a:prstGeom>
          <a:noFill/>
          <a:ln/>
        </p:spPr>
        <p:txBody>
          <a:bodyPr wrap="square" rtlCol="0" anchor="ctr"/>
          <a:lstStyle/>
          <a:p>
            <a:pPr indent="0" marL="0">
              <a:buNone/>
            </a:pPr>
            <a:r>
              <a:rPr lang="en-US" sz="1300" b="1" dirty="0">
                <a:solidFill>
                  <a:srgbClr val="1A1A1A"/>
                </a:solidFill>
                <a:latin typeface="Calibri" pitchFamily="34" charset="0"/>
                <a:ea typeface="Calibri" pitchFamily="34" charset="-122"/>
                <a:cs typeface="Calibri" pitchFamily="34" charset="-120"/>
              </a:rPr>
              <a:t>Accessibility Has Expanded Dramatically with Technology</a:t>
            </a:r>
            <a:endParaRPr lang="en-US" sz="1300" dirty="0"/>
          </a:p>
        </p:txBody>
      </p:sp>
      <p:sp>
        <p:nvSpPr>
          <p:cNvPr id="29" name="Text 27"/>
          <p:cNvSpPr/>
          <p:nvPr/>
        </p:nvSpPr>
        <p:spPr>
          <a:xfrm>
            <a:off x="6263640" y="4434840"/>
            <a:ext cx="5394960" cy="1645920"/>
          </a:xfrm>
          <a:prstGeom prst="rect">
            <a:avLst/>
          </a:prstGeom>
          <a:noFill/>
          <a:ln/>
        </p:spPr>
        <p:txBody>
          <a:bodyPr wrap="square" rtlCol="0" anchor="ctr"/>
          <a:lstStyle/>
          <a:p>
            <a:pPr indent="0" marL="0">
              <a:buNone/>
            </a:pPr>
            <a:r>
              <a:rPr lang="en-US" sz="1100" dirty="0">
                <a:solidFill>
                  <a:srgbClr val="1A1A1A"/>
                </a:solidFill>
                <a:latin typeface="Calibri" pitchFamily="34" charset="0"/>
                <a:ea typeface="Calibri" pitchFamily="34" charset="-122"/>
                <a:cs typeface="Calibri" pitchFamily="34" charset="-120"/>
              </a:rPr>
              <a:t>Digital KYC, zero-brokerage platforms, and UPI-linked investing have reduced barriers for Indian retail investors dramatically. NSE active investors grew from ~2 Cr in 2019 to ~9 Cr by 2023 — driven by accessibility improvements.</a:t>
            </a:r>
            <a:endParaRPr lang="en-US" sz="1100" dirty="0"/>
          </a:p>
        </p:txBody>
      </p:sp>
      <p:sp>
        <p:nvSpPr>
          <p:cNvPr id="30" name="Text 28"/>
          <p:cNvSpPr/>
          <p:nvPr/>
        </p:nvSpPr>
        <p:spPr>
          <a:xfrm>
            <a:off x="0" y="6601968"/>
            <a:ext cx="12192000" cy="182880"/>
          </a:xfrm>
          <a:prstGeom prst="rect">
            <a:avLst/>
          </a:prstGeom>
          <a:noFill/>
          <a:ln/>
        </p:spPr>
        <p:txBody>
          <a:bodyPr wrap="square" rtlCol="0" anchor="ctr"/>
          <a:lstStyle/>
          <a:p>
            <a:pPr algn="ctr" indent="0" marL="0">
              <a:buNone/>
            </a:pPr>
            <a:r>
              <a:rPr lang="en-US" sz="800" dirty="0">
                <a:solidFill>
                  <a:srgbClr val="AAAAAA"/>
                </a:solidFill>
                <a:latin typeface="Calibri" pitchFamily="34" charset="0"/>
                <a:ea typeface="Calibri" pitchFamily="34" charset="-122"/>
                <a:cs typeface="Calibri" pitchFamily="34" charset="-120"/>
              </a:rPr>
              <a:t>CIBOP · Module 1 · D1.3</a:t>
            </a:r>
            <a:endParaRPr lang="en-US" sz="8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005F5F"/>
          </a:solidFill>
          <a:ln/>
        </p:spPr>
      </p:sp>
      <p:sp>
        <p:nvSpPr>
          <p:cNvPr id="3" name="Shape 1"/>
          <p:cNvSpPr/>
          <p:nvPr/>
        </p:nvSpPr>
        <p:spPr>
          <a:xfrm>
            <a:off x="0" y="0"/>
            <a:ext cx="12192000" cy="73152"/>
          </a:xfrm>
          <a:prstGeom prst="rect">
            <a:avLst/>
          </a:prstGeom>
          <a:solidFill>
            <a:srgbClr val="B8860B"/>
          </a:solidFill>
          <a:ln/>
        </p:spPr>
      </p:sp>
      <p:sp>
        <p:nvSpPr>
          <p:cNvPr id="4" name="Shape 2"/>
          <p:cNvSpPr/>
          <p:nvPr/>
        </p:nvSpPr>
        <p:spPr>
          <a:xfrm>
            <a:off x="0" y="6784848"/>
            <a:ext cx="12192000" cy="73152"/>
          </a:xfrm>
          <a:prstGeom prst="rect">
            <a:avLst/>
          </a:prstGeom>
          <a:solidFill>
            <a:srgbClr val="B8860B"/>
          </a:solidFill>
          <a:ln/>
        </p:spPr>
      </p:sp>
      <p:sp>
        <p:nvSpPr>
          <p:cNvPr id="5" name="Shape 3"/>
          <p:cNvSpPr/>
          <p:nvPr/>
        </p:nvSpPr>
        <p:spPr>
          <a:xfrm>
            <a:off x="0" y="73152"/>
            <a:ext cx="1828800" cy="347472"/>
          </a:xfrm>
          <a:prstGeom prst="rect">
            <a:avLst/>
          </a:prstGeom>
          <a:solidFill>
            <a:srgbClr val="B8860B"/>
          </a:solidFill>
          <a:ln/>
        </p:spPr>
      </p:sp>
      <p:sp>
        <p:nvSpPr>
          <p:cNvPr id="6" name="Text 4"/>
          <p:cNvSpPr/>
          <p:nvPr/>
        </p:nvSpPr>
        <p:spPr>
          <a:xfrm>
            <a:off x="0" y="73152"/>
            <a:ext cx="1828800" cy="347472"/>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THINK &amp; DISCUSS</a:t>
            </a:r>
            <a:endParaRPr lang="en-US" sz="1000" dirty="0"/>
          </a:p>
        </p:txBody>
      </p:sp>
      <p:sp>
        <p:nvSpPr>
          <p:cNvPr id="7" name="Shape 5"/>
          <p:cNvSpPr/>
          <p:nvPr/>
        </p:nvSpPr>
        <p:spPr>
          <a:xfrm>
            <a:off x="10360152" y="73152"/>
            <a:ext cx="1828800" cy="347472"/>
          </a:xfrm>
          <a:prstGeom prst="rect">
            <a:avLst/>
          </a:prstGeom>
          <a:solidFill>
            <a:srgbClr val="005F5F"/>
          </a:solidFill>
          <a:ln/>
        </p:spPr>
      </p:sp>
      <p:sp>
        <p:nvSpPr>
          <p:cNvPr id="8" name="Text 6"/>
          <p:cNvSpPr/>
          <p:nvPr/>
        </p:nvSpPr>
        <p:spPr>
          <a:xfrm>
            <a:off x="10360152" y="73152"/>
            <a:ext cx="1828800" cy="347472"/>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D1.3</a:t>
            </a:r>
            <a:endParaRPr lang="en-US" sz="1000" dirty="0"/>
          </a:p>
        </p:txBody>
      </p:sp>
      <p:sp>
        <p:nvSpPr>
          <p:cNvPr id="9" name="Shape 7"/>
          <p:cNvSpPr/>
          <p:nvPr/>
        </p:nvSpPr>
        <p:spPr>
          <a:xfrm>
            <a:off x="365760" y="914400"/>
            <a:ext cx="11155680" cy="3840480"/>
          </a:xfrm>
          <a:prstGeom prst="rect">
            <a:avLst/>
          </a:prstGeom>
          <a:solidFill>
            <a:srgbClr val="004444"/>
          </a:solidFill>
          <a:ln w="12700">
            <a:solidFill>
              <a:srgbClr val="B8860B"/>
            </a:solidFill>
            <a:prstDash val="solid"/>
          </a:ln>
        </p:spPr>
      </p:sp>
      <p:sp>
        <p:nvSpPr>
          <p:cNvPr id="10" name="Text 8"/>
          <p:cNvSpPr/>
          <p:nvPr/>
        </p:nvSpPr>
        <p:spPr>
          <a:xfrm>
            <a:off x="9144000" y="548640"/>
            <a:ext cx="2926080" cy="457200"/>
          </a:xfrm>
          <a:prstGeom prst="rect">
            <a:avLst/>
          </a:prstGeom>
          <a:noFill/>
          <a:ln/>
        </p:spPr>
        <p:txBody>
          <a:bodyPr wrap="square" rtlCol="0" anchor="ctr"/>
          <a:lstStyle/>
          <a:p>
            <a:pPr algn="r" indent="0" marL="0">
              <a:buNone/>
            </a:pPr>
            <a:r>
              <a:rPr lang="en-US" sz="1400" b="1" dirty="0">
                <a:solidFill>
                  <a:srgbClr val="B8860B"/>
                </a:solidFill>
                <a:latin typeface="Calibri" pitchFamily="34" charset="0"/>
                <a:ea typeface="Calibri" pitchFamily="34" charset="-122"/>
                <a:cs typeface="Calibri" pitchFamily="34" charset="-120"/>
              </a:rPr>
              <a:t>🕐  2 MINUTES</a:t>
            </a:r>
            <a:endParaRPr lang="en-US" sz="1400" dirty="0"/>
          </a:p>
        </p:txBody>
      </p:sp>
      <p:sp>
        <p:nvSpPr>
          <p:cNvPr id="11" name="Text 9"/>
          <p:cNvSpPr/>
          <p:nvPr/>
        </p:nvSpPr>
        <p:spPr>
          <a:xfrm>
            <a:off x="640080" y="1188720"/>
            <a:ext cx="10607040" cy="3108960"/>
          </a:xfrm>
          <a:prstGeom prst="rect">
            <a:avLst/>
          </a:prstGeom>
          <a:noFill/>
          <a:ln/>
        </p:spPr>
        <p:txBody>
          <a:bodyPr wrap="square"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"Can a market have high liquidity but low transparency? Can it have high transparency but low liquidity? Give a real example for each scenario."</a:t>
            </a:r>
            <a:endParaRPr lang="en-US" sz="2000" dirty="0"/>
          </a:p>
        </p:txBody>
      </p:sp>
      <p:sp>
        <p:nvSpPr>
          <p:cNvPr id="12" name="Shape 10"/>
          <p:cNvSpPr/>
          <p:nvPr/>
        </p:nvSpPr>
        <p:spPr>
          <a:xfrm>
            <a:off x="0" y="5029200"/>
            <a:ext cx="12192000" cy="914400"/>
          </a:xfrm>
          <a:prstGeom prst="rect">
            <a:avLst/>
          </a:prstGeom>
          <a:solidFill>
            <a:srgbClr val="003333"/>
          </a:solidFill>
          <a:ln/>
        </p:spPr>
      </p:sp>
      <p:sp>
        <p:nvSpPr>
          <p:cNvPr id="13" name="Text 11"/>
          <p:cNvSpPr/>
          <p:nvPr/>
        </p:nvSpPr>
        <p:spPr>
          <a:xfrm>
            <a:off x="365760" y="5029200"/>
            <a:ext cx="11430000" cy="914400"/>
          </a:xfrm>
          <a:prstGeom prst="rect">
            <a:avLst/>
          </a:prstGeom>
          <a:noFill/>
          <a:ln/>
        </p:spPr>
        <p:txBody>
          <a:bodyPr wrap="square" rtlCol="0" anchor="ctr"/>
          <a:lstStyle/>
          <a:p>
            <a:pPr indent="0" marL="0">
              <a:buNone/>
            </a:pPr>
            <a:r>
              <a:rPr lang="en-US" sz="1400" dirty="0">
                <a:solidFill>
                  <a:srgbClr val="CADCFC"/>
                </a:solidFill>
                <a:latin typeface="Calibri" pitchFamily="34" charset="0"/>
                <a:ea typeface="Calibri" pitchFamily="34" charset="-122"/>
                <a:cs typeface="Calibri" pitchFamily="34" charset="-120"/>
              </a:rPr>
              <a:t>💡  Hint: Think about dark pools (high liquidity, low transparency) and illiquid government bonds (public prices, low trading volume).</a:t>
            </a:r>
            <a:endParaRPr lang="en-US" sz="1400" dirty="0"/>
          </a:p>
        </p:txBody>
      </p:sp>
      <p:sp>
        <p:nvSpPr>
          <p:cNvPr id="14" name="Text 12"/>
          <p:cNvSpPr/>
          <p:nvPr/>
        </p:nvSpPr>
        <p:spPr>
          <a:xfrm>
            <a:off x="0" y="6601968"/>
            <a:ext cx="12192000" cy="182880"/>
          </a:xfrm>
          <a:prstGeom prst="rect">
            <a:avLst/>
          </a:prstGeom>
          <a:noFill/>
          <a:ln/>
        </p:spPr>
        <p:txBody>
          <a:bodyPr wrap="square" rtlCol="0" anchor="ctr"/>
          <a:lstStyle/>
          <a:p>
            <a:pPr algn="ctr" indent="0" marL="0">
              <a:buNone/>
            </a:pPr>
            <a:r>
              <a:rPr lang="en-US" sz="800" dirty="0">
                <a:solidFill>
                  <a:srgbClr val="AAAAAA"/>
                </a:solidFill>
                <a:latin typeface="Calibri" pitchFamily="34" charset="0"/>
                <a:ea typeface="Calibri" pitchFamily="34" charset="-122"/>
                <a:cs typeface="Calibri" pitchFamily="34" charset="-120"/>
              </a:rPr>
              <a:t>CIBOP · Module 1 · D1.3</a:t>
            </a:r>
            <a:endParaRPr lang="en-US" sz="8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4F6FA"/>
          </a:solidFill>
          <a:ln/>
        </p:spPr>
      </p:sp>
      <p:sp>
        <p:nvSpPr>
          <p:cNvPr id="3" name="Shape 1"/>
          <p:cNvSpPr/>
          <p:nvPr/>
        </p:nvSpPr>
        <p:spPr>
          <a:xfrm>
            <a:off x="0" y="0"/>
            <a:ext cx="12192000" cy="73152"/>
          </a:xfrm>
          <a:prstGeom prst="rect">
            <a:avLst/>
          </a:prstGeom>
          <a:solidFill>
            <a:srgbClr val="B8860B"/>
          </a:solidFill>
          <a:ln/>
        </p:spPr>
      </p:sp>
      <p:sp>
        <p:nvSpPr>
          <p:cNvPr id="4" name="Shape 2"/>
          <p:cNvSpPr/>
          <p:nvPr/>
        </p:nvSpPr>
        <p:spPr>
          <a:xfrm>
            <a:off x="0" y="6784848"/>
            <a:ext cx="12192000" cy="73152"/>
          </a:xfrm>
          <a:prstGeom prst="rect">
            <a:avLst/>
          </a:prstGeom>
          <a:solidFill>
            <a:srgbClr val="1E3A5F"/>
          </a:solidFill>
          <a:ln/>
        </p:spPr>
      </p:sp>
      <p:sp>
        <p:nvSpPr>
          <p:cNvPr id="5" name="Shape 3"/>
          <p:cNvSpPr/>
          <p:nvPr/>
        </p:nvSpPr>
        <p:spPr>
          <a:xfrm>
            <a:off x="0" y="73152"/>
            <a:ext cx="1828800" cy="347472"/>
          </a:xfrm>
          <a:prstGeom prst="rect">
            <a:avLst/>
          </a:prstGeom>
          <a:solidFill>
            <a:srgbClr val="B8860B"/>
          </a:solidFill>
          <a:ln/>
        </p:spPr>
      </p:sp>
      <p:sp>
        <p:nvSpPr>
          <p:cNvPr id="6" name="Text 4"/>
          <p:cNvSpPr/>
          <p:nvPr/>
        </p:nvSpPr>
        <p:spPr>
          <a:xfrm>
            <a:off x="0" y="73152"/>
            <a:ext cx="1828800" cy="347472"/>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INTERVIEW READY</a:t>
            </a:r>
            <a:endParaRPr lang="en-US" sz="1000" dirty="0"/>
          </a:p>
        </p:txBody>
      </p:sp>
      <p:sp>
        <p:nvSpPr>
          <p:cNvPr id="7" name="Shape 5"/>
          <p:cNvSpPr/>
          <p:nvPr/>
        </p:nvSpPr>
        <p:spPr>
          <a:xfrm>
            <a:off x="10360152" y="73152"/>
            <a:ext cx="1828800" cy="347472"/>
          </a:xfrm>
          <a:prstGeom prst="rect">
            <a:avLst/>
          </a:prstGeom>
          <a:solidFill>
            <a:srgbClr val="005F5F"/>
          </a:solidFill>
          <a:ln/>
        </p:spPr>
      </p:sp>
      <p:sp>
        <p:nvSpPr>
          <p:cNvPr id="8" name="Text 6"/>
          <p:cNvSpPr/>
          <p:nvPr/>
        </p:nvSpPr>
        <p:spPr>
          <a:xfrm>
            <a:off x="10360152" y="73152"/>
            <a:ext cx="1828800" cy="347472"/>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D1.3</a:t>
            </a:r>
            <a:endParaRPr lang="en-US" sz="1000" dirty="0"/>
          </a:p>
        </p:txBody>
      </p:sp>
      <p:sp>
        <p:nvSpPr>
          <p:cNvPr id="9" name="Shape 7"/>
          <p:cNvSpPr/>
          <p:nvPr/>
        </p:nvSpPr>
        <p:spPr>
          <a:xfrm>
            <a:off x="0" y="420624"/>
            <a:ext cx="12192000" cy="1371600"/>
          </a:xfrm>
          <a:prstGeom prst="rect">
            <a:avLst/>
          </a:prstGeom>
          <a:solidFill>
            <a:srgbClr val="1E3A5F"/>
          </a:solidFill>
          <a:ln/>
        </p:spPr>
      </p:sp>
      <p:sp>
        <p:nvSpPr>
          <p:cNvPr id="10" name="Text 8"/>
          <p:cNvSpPr/>
          <p:nvPr/>
        </p:nvSpPr>
        <p:spPr>
          <a:xfrm>
            <a:off x="365760" y="502920"/>
            <a:ext cx="11430000" cy="365760"/>
          </a:xfrm>
          <a:prstGeom prst="rect">
            <a:avLst/>
          </a:prstGeom>
          <a:noFill/>
          <a:ln/>
        </p:spPr>
        <p:txBody>
          <a:bodyPr wrap="square" rtlCol="0" anchor="ctr"/>
          <a:lstStyle/>
          <a:p>
            <a:pPr indent="0" marL="0">
              <a:buNone/>
            </a:pPr>
            <a:r>
              <a:rPr lang="en-US" sz="1200" b="1" dirty="0">
                <a:solidFill>
                  <a:srgbClr val="B8860B"/>
                </a:solidFill>
                <a:latin typeface="Calibri" pitchFamily="34" charset="0"/>
                <a:ea typeface="Calibri" pitchFamily="34" charset="-122"/>
                <a:cs typeface="Calibri" pitchFamily="34" charset="-120"/>
              </a:rPr>
              <a:t>💼  Interview Question:</a:t>
            </a:r>
            <a:endParaRPr lang="en-US" sz="1200" dirty="0"/>
          </a:p>
        </p:txBody>
      </p:sp>
      <p:sp>
        <p:nvSpPr>
          <p:cNvPr id="11" name="Text 9"/>
          <p:cNvSpPr/>
          <p:nvPr/>
        </p:nvSpPr>
        <p:spPr>
          <a:xfrm>
            <a:off x="365760" y="914400"/>
            <a:ext cx="11430000" cy="822960"/>
          </a:xfrm>
          <a:prstGeom prst="rect">
            <a:avLst/>
          </a:prstGeom>
          <a:noFill/>
          <a:ln/>
        </p:spPr>
        <p:txBody>
          <a:bodyPr wrap="square"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"What are the key features of a well-functioning financial market and why do they matter?"</a:t>
            </a:r>
            <a:endParaRPr lang="en-US" sz="1700" dirty="0"/>
          </a:p>
        </p:txBody>
      </p:sp>
      <p:sp>
        <p:nvSpPr>
          <p:cNvPr id="12" name="Text 10"/>
          <p:cNvSpPr/>
          <p:nvPr/>
        </p:nvSpPr>
        <p:spPr>
          <a:xfrm>
            <a:off x="365760" y="1965960"/>
            <a:ext cx="11430000" cy="365760"/>
          </a:xfrm>
          <a:prstGeom prst="rect">
            <a:avLst/>
          </a:prstGeom>
          <a:noFill/>
          <a:ln/>
        </p:spPr>
        <p:txBody>
          <a:bodyPr wrap="square" rtlCol="0" anchor="ctr"/>
          <a:lstStyle/>
          <a:p>
            <a:pPr indent="0" marL="0">
              <a:buNone/>
            </a:pPr>
            <a:r>
              <a:rPr lang="en-US" sz="1200" b="1" dirty="0">
                <a:solidFill>
                  <a:srgbClr val="005F5F"/>
                </a:solidFill>
                <a:latin typeface="Calibri" pitchFamily="34" charset="0"/>
                <a:ea typeface="Calibri" pitchFamily="34" charset="-122"/>
                <a:cs typeface="Calibri" pitchFamily="34" charset="-120"/>
              </a:rPr>
              <a:t>STRONG ANSWER FRAMEWORK  (4 points):</a:t>
            </a:r>
            <a:endParaRPr lang="en-US" sz="1200" dirty="0"/>
          </a:p>
        </p:txBody>
      </p:sp>
      <p:sp>
        <p:nvSpPr>
          <p:cNvPr id="13" name="Shape 11"/>
          <p:cNvSpPr/>
          <p:nvPr/>
        </p:nvSpPr>
        <p:spPr>
          <a:xfrm>
            <a:off x="274320" y="2423160"/>
            <a:ext cx="457200" cy="640080"/>
          </a:xfrm>
          <a:prstGeom prst="rect">
            <a:avLst/>
          </a:prstGeom>
          <a:solidFill>
            <a:srgbClr val="1E3A5F"/>
          </a:solidFill>
          <a:ln/>
        </p:spPr>
      </p:sp>
      <p:sp>
        <p:nvSpPr>
          <p:cNvPr id="14" name="Text 12"/>
          <p:cNvSpPr/>
          <p:nvPr/>
        </p:nvSpPr>
        <p:spPr>
          <a:xfrm>
            <a:off x="274320" y="2423160"/>
            <a:ext cx="457200" cy="64008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5" name="Shape 13"/>
          <p:cNvSpPr/>
          <p:nvPr/>
        </p:nvSpPr>
        <p:spPr>
          <a:xfrm>
            <a:off x="822960" y="2423160"/>
            <a:ext cx="11064240" cy="640080"/>
          </a:xfrm>
          <a:prstGeom prst="rect">
            <a:avLst/>
          </a:prstGeom>
          <a:solidFill>
            <a:srgbClr val="D5E3F0"/>
          </a:solidFill>
          <a:ln w="6350">
            <a:solidFill>
              <a:srgbClr val="AAAAAA"/>
            </a:solidFill>
            <a:prstDash val="solid"/>
          </a:ln>
        </p:spPr>
      </p:sp>
      <p:sp>
        <p:nvSpPr>
          <p:cNvPr id="16" name="Text 14"/>
          <p:cNvSpPr/>
          <p:nvPr/>
        </p:nvSpPr>
        <p:spPr>
          <a:xfrm>
            <a:off x="914400" y="2423160"/>
            <a:ext cx="10881360" cy="640080"/>
          </a:xfrm>
          <a:prstGeom prst="rect">
            <a:avLst/>
          </a:prstGeom>
          <a:noFill/>
          <a:ln/>
        </p:spPr>
        <p:txBody>
          <a:bodyPr wrap="square" rtlCol="0" anchor="ctr"/>
          <a:lstStyle/>
          <a:p>
            <a:pPr indent="0" marL="0">
              <a:buNone/>
            </a:pPr>
            <a:r>
              <a:rPr lang="en-US" sz="1300" dirty="0">
                <a:solidFill>
                  <a:srgbClr val="1A1A1A"/>
                </a:solidFill>
                <a:latin typeface="Calibri" pitchFamily="34" charset="0"/>
                <a:ea typeface="Calibri" pitchFamily="34" charset="-122"/>
                <a:cs typeface="Calibri" pitchFamily="34" charset="-120"/>
              </a:rPr>
              <a:t>Five key features: liquidity (ability to trade quickly at fair price), price discovery (prices reflecting all available information), accessibility (low barriers for eligible investors), transparency (information equality), and regulation (enforceable conduct rules).</a:t>
            </a:r>
            <a:endParaRPr lang="en-US" sz="1300" dirty="0"/>
          </a:p>
        </p:txBody>
      </p:sp>
      <p:sp>
        <p:nvSpPr>
          <p:cNvPr id="17" name="Shape 15"/>
          <p:cNvSpPr/>
          <p:nvPr/>
        </p:nvSpPr>
        <p:spPr>
          <a:xfrm>
            <a:off x="274320" y="3337560"/>
            <a:ext cx="457200" cy="640080"/>
          </a:xfrm>
          <a:prstGeom prst="rect">
            <a:avLst/>
          </a:prstGeom>
          <a:solidFill>
            <a:srgbClr val="1E3A5F"/>
          </a:solidFill>
          <a:ln/>
        </p:spPr>
      </p:sp>
      <p:sp>
        <p:nvSpPr>
          <p:cNvPr id="18" name="Text 16"/>
          <p:cNvSpPr/>
          <p:nvPr/>
        </p:nvSpPr>
        <p:spPr>
          <a:xfrm>
            <a:off x="274320" y="3337560"/>
            <a:ext cx="457200" cy="64008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9" name="Shape 17"/>
          <p:cNvSpPr/>
          <p:nvPr/>
        </p:nvSpPr>
        <p:spPr>
          <a:xfrm>
            <a:off x="822960" y="3337560"/>
            <a:ext cx="11064240" cy="640080"/>
          </a:xfrm>
          <a:prstGeom prst="rect">
            <a:avLst/>
          </a:prstGeom>
          <a:solidFill>
            <a:srgbClr val="FFFFFF"/>
          </a:solidFill>
          <a:ln w="6350">
            <a:solidFill>
              <a:srgbClr val="AAAAAA"/>
            </a:solidFill>
            <a:prstDash val="solid"/>
          </a:ln>
        </p:spPr>
      </p:sp>
      <p:sp>
        <p:nvSpPr>
          <p:cNvPr id="20" name="Text 18"/>
          <p:cNvSpPr/>
          <p:nvPr/>
        </p:nvSpPr>
        <p:spPr>
          <a:xfrm>
            <a:off x="914400" y="3337560"/>
            <a:ext cx="10881360" cy="640080"/>
          </a:xfrm>
          <a:prstGeom prst="rect">
            <a:avLst/>
          </a:prstGeom>
          <a:noFill/>
          <a:ln/>
        </p:spPr>
        <p:txBody>
          <a:bodyPr wrap="square" rtlCol="0" anchor="ctr"/>
          <a:lstStyle/>
          <a:p>
            <a:pPr indent="0" marL="0">
              <a:buNone/>
            </a:pPr>
            <a:r>
              <a:rPr lang="en-US" sz="1300" dirty="0">
                <a:solidFill>
                  <a:srgbClr val="1A1A1A"/>
                </a:solidFill>
                <a:latin typeface="Calibri" pitchFamily="34" charset="0"/>
                <a:ea typeface="Calibri" pitchFamily="34" charset="-122"/>
                <a:cs typeface="Calibri" pitchFamily="34" charset="-120"/>
              </a:rPr>
              <a:t>These features are interdependent. Transparency supports accurate price discovery. Liquidity enables accessibility. Regulation enforces transparency and protects all participants.</a:t>
            </a:r>
            <a:endParaRPr lang="en-US" sz="1300" dirty="0"/>
          </a:p>
        </p:txBody>
      </p:sp>
      <p:sp>
        <p:nvSpPr>
          <p:cNvPr id="21" name="Shape 19"/>
          <p:cNvSpPr/>
          <p:nvPr/>
        </p:nvSpPr>
        <p:spPr>
          <a:xfrm>
            <a:off x="274320" y="4251960"/>
            <a:ext cx="457200" cy="640080"/>
          </a:xfrm>
          <a:prstGeom prst="rect">
            <a:avLst/>
          </a:prstGeom>
          <a:solidFill>
            <a:srgbClr val="1E3A5F"/>
          </a:solidFill>
          <a:ln/>
        </p:spPr>
      </p:sp>
      <p:sp>
        <p:nvSpPr>
          <p:cNvPr id="22" name="Text 20"/>
          <p:cNvSpPr/>
          <p:nvPr/>
        </p:nvSpPr>
        <p:spPr>
          <a:xfrm>
            <a:off x="274320" y="4251960"/>
            <a:ext cx="457200" cy="64008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3" name="Shape 21"/>
          <p:cNvSpPr/>
          <p:nvPr/>
        </p:nvSpPr>
        <p:spPr>
          <a:xfrm>
            <a:off x="822960" y="4251960"/>
            <a:ext cx="11064240" cy="640080"/>
          </a:xfrm>
          <a:prstGeom prst="rect">
            <a:avLst/>
          </a:prstGeom>
          <a:solidFill>
            <a:srgbClr val="D5E3F0"/>
          </a:solidFill>
          <a:ln w="6350">
            <a:solidFill>
              <a:srgbClr val="AAAAAA"/>
            </a:solidFill>
            <a:prstDash val="solid"/>
          </a:ln>
        </p:spPr>
      </p:sp>
      <p:sp>
        <p:nvSpPr>
          <p:cNvPr id="24" name="Text 22"/>
          <p:cNvSpPr/>
          <p:nvPr/>
        </p:nvSpPr>
        <p:spPr>
          <a:xfrm>
            <a:off x="914400" y="4251960"/>
            <a:ext cx="10881360" cy="640080"/>
          </a:xfrm>
          <a:prstGeom prst="rect">
            <a:avLst/>
          </a:prstGeom>
          <a:noFill/>
          <a:ln/>
        </p:spPr>
        <p:txBody>
          <a:bodyPr wrap="square" rtlCol="0" anchor="ctr"/>
          <a:lstStyle/>
          <a:p>
            <a:pPr indent="0" marL="0">
              <a:buNone/>
            </a:pPr>
            <a:r>
              <a:rPr lang="en-US" sz="1300" dirty="0">
                <a:solidFill>
                  <a:srgbClr val="1A1A1A"/>
                </a:solidFill>
                <a:latin typeface="Calibri" pitchFamily="34" charset="0"/>
                <a:ea typeface="Calibri" pitchFamily="34" charset="-122"/>
                <a:cs typeface="Calibri" pitchFamily="34" charset="-120"/>
              </a:rPr>
              <a:t>When features break down — as in the Satyam fraud (transparency failure) or the 2008 credit crisis (liquidity failure) — market confidence collapses and the economic damage extends far beyond the original fault.</a:t>
            </a:r>
            <a:endParaRPr lang="en-US" sz="1300" dirty="0"/>
          </a:p>
        </p:txBody>
      </p:sp>
      <p:sp>
        <p:nvSpPr>
          <p:cNvPr id="25" name="Shape 23"/>
          <p:cNvSpPr/>
          <p:nvPr/>
        </p:nvSpPr>
        <p:spPr>
          <a:xfrm>
            <a:off x="274320" y="5166360"/>
            <a:ext cx="457200" cy="640080"/>
          </a:xfrm>
          <a:prstGeom prst="rect">
            <a:avLst/>
          </a:prstGeom>
          <a:solidFill>
            <a:srgbClr val="1E3A5F"/>
          </a:solidFill>
          <a:ln/>
        </p:spPr>
      </p:sp>
      <p:sp>
        <p:nvSpPr>
          <p:cNvPr id="26" name="Text 24"/>
          <p:cNvSpPr/>
          <p:nvPr/>
        </p:nvSpPr>
        <p:spPr>
          <a:xfrm>
            <a:off x="274320" y="5166360"/>
            <a:ext cx="457200" cy="64008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7" name="Shape 25"/>
          <p:cNvSpPr/>
          <p:nvPr/>
        </p:nvSpPr>
        <p:spPr>
          <a:xfrm>
            <a:off x="822960" y="5166360"/>
            <a:ext cx="11064240" cy="640080"/>
          </a:xfrm>
          <a:prstGeom prst="rect">
            <a:avLst/>
          </a:prstGeom>
          <a:solidFill>
            <a:srgbClr val="FFFFFF"/>
          </a:solidFill>
          <a:ln w="6350">
            <a:solidFill>
              <a:srgbClr val="AAAAAA"/>
            </a:solidFill>
            <a:prstDash val="solid"/>
          </a:ln>
        </p:spPr>
      </p:sp>
      <p:sp>
        <p:nvSpPr>
          <p:cNvPr id="28" name="Text 26"/>
          <p:cNvSpPr/>
          <p:nvPr/>
        </p:nvSpPr>
        <p:spPr>
          <a:xfrm>
            <a:off x="914400" y="5166360"/>
            <a:ext cx="10881360" cy="640080"/>
          </a:xfrm>
          <a:prstGeom prst="rect">
            <a:avLst/>
          </a:prstGeom>
          <a:noFill/>
          <a:ln/>
        </p:spPr>
        <p:txBody>
          <a:bodyPr wrap="square" rtlCol="0" anchor="ctr"/>
          <a:lstStyle/>
          <a:p>
            <a:pPr indent="0" marL="0">
              <a:buNone/>
            </a:pPr>
            <a:r>
              <a:rPr lang="en-US" sz="1300" dirty="0">
                <a:solidFill>
                  <a:srgbClr val="1A1A1A"/>
                </a:solidFill>
                <a:latin typeface="Calibri" pitchFamily="34" charset="0"/>
                <a:ea typeface="Calibri" pitchFamily="34" charset="-122"/>
                <a:cs typeface="Calibri" pitchFamily="34" charset="-120"/>
              </a:rPr>
              <a:t>In operations, we contribute to transparency through accurate trade reporting and to regulation through timely submission of regulatory data — making us an active part of market integrity, not just a back-office function.</a:t>
            </a:r>
            <a:endParaRPr lang="en-US" sz="1300" dirty="0"/>
          </a:p>
        </p:txBody>
      </p:sp>
      <p:sp>
        <p:nvSpPr>
          <p:cNvPr id="29" name="Text 27"/>
          <p:cNvSpPr/>
          <p:nvPr/>
        </p:nvSpPr>
        <p:spPr>
          <a:xfrm>
            <a:off x="0" y="6601968"/>
            <a:ext cx="12192000" cy="182880"/>
          </a:xfrm>
          <a:prstGeom prst="rect">
            <a:avLst/>
          </a:prstGeom>
          <a:noFill/>
          <a:ln/>
        </p:spPr>
        <p:txBody>
          <a:bodyPr wrap="square" rtlCol="0" anchor="ctr"/>
          <a:lstStyle/>
          <a:p>
            <a:pPr algn="ctr" indent="0" marL="0">
              <a:buNone/>
            </a:pPr>
            <a:r>
              <a:rPr lang="en-US" sz="800" dirty="0">
                <a:solidFill>
                  <a:srgbClr val="AAAAAA"/>
                </a:solidFill>
                <a:latin typeface="Calibri" pitchFamily="34" charset="0"/>
                <a:ea typeface="Calibri" pitchFamily="34" charset="-122"/>
                <a:cs typeface="Calibri" pitchFamily="34" charset="-120"/>
              </a:rPr>
              <a:t>CIBOP · Module 1 · D1.3</a:t>
            </a:r>
            <a:endParaRPr lang="en-US" sz="8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1E3A5F"/>
          </a:solidFill>
          <a:ln/>
        </p:spPr>
      </p:sp>
      <p:sp>
        <p:nvSpPr>
          <p:cNvPr id="3" name="Shape 1"/>
          <p:cNvSpPr/>
          <p:nvPr/>
        </p:nvSpPr>
        <p:spPr>
          <a:xfrm>
            <a:off x="0" y="0"/>
            <a:ext cx="12192000" cy="73152"/>
          </a:xfrm>
          <a:prstGeom prst="rect">
            <a:avLst/>
          </a:prstGeom>
          <a:solidFill>
            <a:srgbClr val="B8860B"/>
          </a:solidFill>
          <a:ln/>
        </p:spPr>
      </p:sp>
      <p:sp>
        <p:nvSpPr>
          <p:cNvPr id="4" name="Shape 2"/>
          <p:cNvSpPr/>
          <p:nvPr/>
        </p:nvSpPr>
        <p:spPr>
          <a:xfrm>
            <a:off x="0" y="6784848"/>
            <a:ext cx="12192000" cy="73152"/>
          </a:xfrm>
          <a:prstGeom prst="rect">
            <a:avLst/>
          </a:prstGeom>
          <a:solidFill>
            <a:srgbClr val="B8860B"/>
          </a:solidFill>
          <a:ln/>
        </p:spPr>
      </p:sp>
      <p:sp>
        <p:nvSpPr>
          <p:cNvPr id="5" name="Shape 3"/>
          <p:cNvSpPr/>
          <p:nvPr/>
        </p:nvSpPr>
        <p:spPr>
          <a:xfrm>
            <a:off x="0" y="73152"/>
            <a:ext cx="1828800" cy="347472"/>
          </a:xfrm>
          <a:prstGeom prst="rect">
            <a:avLst/>
          </a:prstGeom>
          <a:solidFill>
            <a:srgbClr val="B8860B"/>
          </a:solidFill>
          <a:ln/>
        </p:spPr>
      </p:sp>
      <p:sp>
        <p:nvSpPr>
          <p:cNvPr id="6" name="Text 4"/>
          <p:cNvSpPr/>
          <p:nvPr/>
        </p:nvSpPr>
        <p:spPr>
          <a:xfrm>
            <a:off x="0" y="73152"/>
            <a:ext cx="1828800" cy="347472"/>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QUICK RECAP</a:t>
            </a:r>
            <a:endParaRPr lang="en-US" sz="1000" dirty="0"/>
          </a:p>
        </p:txBody>
      </p:sp>
      <p:sp>
        <p:nvSpPr>
          <p:cNvPr id="7" name="Shape 5"/>
          <p:cNvSpPr/>
          <p:nvPr/>
        </p:nvSpPr>
        <p:spPr>
          <a:xfrm>
            <a:off x="10360152" y="73152"/>
            <a:ext cx="1828800" cy="347472"/>
          </a:xfrm>
          <a:prstGeom prst="rect">
            <a:avLst/>
          </a:prstGeom>
          <a:solidFill>
            <a:srgbClr val="005F5F"/>
          </a:solidFill>
          <a:ln/>
        </p:spPr>
      </p:sp>
      <p:sp>
        <p:nvSpPr>
          <p:cNvPr id="8" name="Text 6"/>
          <p:cNvSpPr/>
          <p:nvPr/>
        </p:nvSpPr>
        <p:spPr>
          <a:xfrm>
            <a:off x="10360152" y="73152"/>
            <a:ext cx="1828800" cy="347472"/>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D1.4</a:t>
            </a:r>
            <a:endParaRPr lang="en-US" sz="1000" dirty="0"/>
          </a:p>
        </p:txBody>
      </p:sp>
      <p:sp>
        <p:nvSpPr>
          <p:cNvPr id="9" name="Text 7"/>
          <p:cNvSpPr/>
          <p:nvPr/>
        </p:nvSpPr>
        <p:spPr>
          <a:xfrm>
            <a:off x="8686800" y="1097280"/>
            <a:ext cx="3200400" cy="4572000"/>
          </a:xfrm>
          <a:prstGeom prst="rect">
            <a:avLst/>
          </a:prstGeom>
          <a:noFill/>
          <a:ln/>
        </p:spPr>
        <p:txBody>
          <a:bodyPr wrap="square" rtlCol="0" anchor="ctr"/>
          <a:lstStyle/>
          <a:p>
            <a:pPr algn="ctr" indent="0" marL="0">
              <a:buNone/>
            </a:pPr>
            <a:r>
              <a:rPr lang="en-US" sz="20000" b="1" dirty="0">
                <a:solidFill>
                  <a:srgbClr val="2E4A6E"/>
                </a:solidFill>
                <a:latin typeface="Calibri" pitchFamily="34" charset="0"/>
                <a:ea typeface="Calibri" pitchFamily="34" charset="-122"/>
                <a:cs typeface="Calibri" pitchFamily="34" charset="-120"/>
              </a:rPr>
              <a:t>?</a:t>
            </a:r>
            <a:endParaRPr lang="en-US" sz="20000" dirty="0"/>
          </a:p>
        </p:txBody>
      </p:sp>
      <p:sp>
        <p:nvSpPr>
          <p:cNvPr id="10" name="Text 8"/>
          <p:cNvSpPr/>
          <p:nvPr/>
        </p:nvSpPr>
        <p:spPr>
          <a:xfrm>
            <a:off x="365760" y="548640"/>
            <a:ext cx="8229600" cy="457200"/>
          </a:xfrm>
          <a:prstGeom prst="rect">
            <a:avLst/>
          </a:prstGeom>
          <a:noFill/>
          <a:ln/>
        </p:spPr>
        <p:txBody>
          <a:bodyPr wrap="square" rtlCol="0" anchor="ctr"/>
          <a:lstStyle/>
          <a:p>
            <a:pPr indent="0" marL="0">
              <a:buNone/>
            </a:pPr>
            <a:r>
              <a:rPr lang="en-US" sz="1400" b="1" dirty="0">
                <a:solidFill>
                  <a:srgbClr val="B8860B"/>
                </a:solidFill>
                <a:latin typeface="Calibri" pitchFamily="34" charset="0"/>
                <a:ea typeface="Calibri" pitchFamily="34" charset="-122"/>
                <a:cs typeface="Calibri" pitchFamily="34" charset="-120"/>
              </a:rPr>
              <a:t>D1.4  —  Types of Financial Markets</a:t>
            </a:r>
            <a:endParaRPr lang="en-US" sz="1400" dirty="0"/>
          </a:p>
        </p:txBody>
      </p:sp>
      <p:sp>
        <p:nvSpPr>
          <p:cNvPr id="11" name="Text 9"/>
          <p:cNvSpPr/>
          <p:nvPr/>
        </p:nvSpPr>
        <p:spPr>
          <a:xfrm>
            <a:off x="365760" y="1280160"/>
            <a:ext cx="8229600" cy="3474720"/>
          </a:xfrm>
          <a:prstGeom prst="rect">
            <a:avLst/>
          </a:prstGeom>
          <a:noFill/>
          <a:ln/>
        </p:spPr>
        <p:txBody>
          <a:bodyPr wrap="square"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"I buy Reliance shares on NSE — Reliance gets my money. True or False? And why does your answer have enormous implications for how markets work?"</a:t>
            </a:r>
            <a:endParaRPr lang="en-US" sz="2600" dirty="0"/>
          </a:p>
        </p:txBody>
      </p:sp>
      <p:sp>
        <p:nvSpPr>
          <p:cNvPr id="12" name="Shape 10"/>
          <p:cNvSpPr/>
          <p:nvPr/>
        </p:nvSpPr>
        <p:spPr>
          <a:xfrm>
            <a:off x="365760" y="5029200"/>
            <a:ext cx="8229600" cy="731520"/>
          </a:xfrm>
          <a:prstGeom prst="rect">
            <a:avLst/>
          </a:prstGeom>
          <a:solidFill>
            <a:srgbClr val="2E4A6E"/>
          </a:solidFill>
          <a:ln/>
        </p:spPr>
      </p:sp>
      <p:sp>
        <p:nvSpPr>
          <p:cNvPr id="13" name="Text 11"/>
          <p:cNvSpPr/>
          <p:nvPr/>
        </p:nvSpPr>
        <p:spPr>
          <a:xfrm>
            <a:off x="365760" y="5029200"/>
            <a:ext cx="8229600" cy="731520"/>
          </a:xfrm>
          <a:prstGeom prst="rect">
            <a:avLst/>
          </a:prstGeom>
          <a:noFill/>
          <a:ln/>
        </p:spPr>
        <p:txBody>
          <a:bodyPr wrap="square" rtlCol="0" anchor="ctr"/>
          <a:lstStyle/>
          <a:p>
            <a:pPr algn="l" indent="0" marL="0">
              <a:buNone/>
            </a:pPr>
            <a:r>
              <a:rPr lang="en-US" sz="1100" i="1" dirty="0">
                <a:solidFill>
                  <a:srgbClr val="CADCFC"/>
                </a:solidFill>
                <a:latin typeface="Calibri" pitchFamily="34" charset="0"/>
                <a:ea typeface="Calibri" pitchFamily="34" charset="-122"/>
                <a:cs typeface="Calibri" pitchFamily="34" charset="-120"/>
              </a:rPr>
              <a:t>📹  From: D1.4 · Video 2 — Primary vs Secondary Markets (EAR: DIFFERENTIATE)</a:t>
            </a:r>
            <a:endParaRPr lang="en-US" sz="1100" dirty="0"/>
          </a:p>
        </p:txBody>
      </p:sp>
      <p:sp>
        <p:nvSpPr>
          <p:cNvPr id="14" name="Text 12"/>
          <p:cNvSpPr/>
          <p:nvPr/>
        </p:nvSpPr>
        <p:spPr>
          <a:xfrm>
            <a:off x="0" y="6601968"/>
            <a:ext cx="12192000" cy="182880"/>
          </a:xfrm>
          <a:prstGeom prst="rect">
            <a:avLst/>
          </a:prstGeom>
          <a:noFill/>
          <a:ln/>
        </p:spPr>
        <p:txBody>
          <a:bodyPr wrap="square" rtlCol="0" anchor="ctr"/>
          <a:lstStyle/>
          <a:p>
            <a:pPr algn="ctr" indent="0" marL="0">
              <a:buNone/>
            </a:pPr>
            <a:r>
              <a:rPr lang="en-US" sz="800" dirty="0">
                <a:solidFill>
                  <a:srgbClr val="AAAAAA"/>
                </a:solidFill>
                <a:latin typeface="Calibri" pitchFamily="34" charset="0"/>
                <a:ea typeface="Calibri" pitchFamily="34" charset="-122"/>
                <a:cs typeface="Calibri" pitchFamily="34" charset="-120"/>
              </a:rPr>
              <a:t>CIBOP · Module 1 · D1.4</a:t>
            </a:r>
            <a:endParaRPr lang="en-US" sz="8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4F6FA"/>
          </a:solidFill>
          <a:ln/>
        </p:spPr>
      </p:sp>
      <p:sp>
        <p:nvSpPr>
          <p:cNvPr id="3" name="Shape 1"/>
          <p:cNvSpPr/>
          <p:nvPr/>
        </p:nvSpPr>
        <p:spPr>
          <a:xfrm>
            <a:off x="0" y="0"/>
            <a:ext cx="12192000" cy="73152"/>
          </a:xfrm>
          <a:prstGeom prst="rect">
            <a:avLst/>
          </a:prstGeom>
          <a:solidFill>
            <a:srgbClr val="1E3A5F"/>
          </a:solidFill>
          <a:ln/>
        </p:spPr>
      </p:sp>
      <p:sp>
        <p:nvSpPr>
          <p:cNvPr id="4" name="Shape 2"/>
          <p:cNvSpPr/>
          <p:nvPr/>
        </p:nvSpPr>
        <p:spPr>
          <a:xfrm>
            <a:off x="0" y="6784848"/>
            <a:ext cx="12192000" cy="73152"/>
          </a:xfrm>
          <a:prstGeom prst="rect">
            <a:avLst/>
          </a:prstGeom>
          <a:solidFill>
            <a:srgbClr val="005F5F"/>
          </a:solidFill>
          <a:ln/>
        </p:spPr>
      </p:sp>
      <p:sp>
        <p:nvSpPr>
          <p:cNvPr id="5" name="Shape 3"/>
          <p:cNvSpPr/>
          <p:nvPr/>
        </p:nvSpPr>
        <p:spPr>
          <a:xfrm>
            <a:off x="0" y="73152"/>
            <a:ext cx="1828800" cy="347472"/>
          </a:xfrm>
          <a:prstGeom prst="rect">
            <a:avLst/>
          </a:prstGeom>
          <a:solidFill>
            <a:srgbClr val="C0392B"/>
          </a:solidFill>
          <a:ln/>
        </p:spPr>
      </p:sp>
      <p:sp>
        <p:nvSpPr>
          <p:cNvPr id="6" name="Text 4"/>
          <p:cNvSpPr/>
          <p:nvPr/>
        </p:nvSpPr>
        <p:spPr>
          <a:xfrm>
            <a:off x="0" y="73152"/>
            <a:ext cx="1828800" cy="347472"/>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SCENARIO</a:t>
            </a:r>
            <a:endParaRPr lang="en-US" sz="1000" dirty="0"/>
          </a:p>
        </p:txBody>
      </p:sp>
      <p:sp>
        <p:nvSpPr>
          <p:cNvPr id="7" name="Shape 5"/>
          <p:cNvSpPr/>
          <p:nvPr/>
        </p:nvSpPr>
        <p:spPr>
          <a:xfrm>
            <a:off x="10360152" y="73152"/>
            <a:ext cx="1828800" cy="347472"/>
          </a:xfrm>
          <a:prstGeom prst="rect">
            <a:avLst/>
          </a:prstGeom>
          <a:solidFill>
            <a:srgbClr val="005F5F"/>
          </a:solidFill>
          <a:ln/>
        </p:spPr>
      </p:sp>
      <p:sp>
        <p:nvSpPr>
          <p:cNvPr id="8" name="Text 6"/>
          <p:cNvSpPr/>
          <p:nvPr/>
        </p:nvSpPr>
        <p:spPr>
          <a:xfrm>
            <a:off x="10360152" y="73152"/>
            <a:ext cx="1828800" cy="347472"/>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D1.4</a:t>
            </a:r>
            <a:endParaRPr lang="en-US" sz="1000" dirty="0"/>
          </a:p>
        </p:txBody>
      </p:sp>
      <p:sp>
        <p:nvSpPr>
          <p:cNvPr id="9" name="Shape 7"/>
          <p:cNvSpPr/>
          <p:nvPr/>
        </p:nvSpPr>
        <p:spPr>
          <a:xfrm>
            <a:off x="0" y="420624"/>
            <a:ext cx="12192000" cy="914400"/>
          </a:xfrm>
          <a:prstGeom prst="rect">
            <a:avLst/>
          </a:prstGeom>
          <a:solidFill>
            <a:srgbClr val="1E3A5F"/>
          </a:solidFill>
          <a:ln/>
        </p:spPr>
      </p:sp>
      <p:sp>
        <p:nvSpPr>
          <p:cNvPr id="10" name="Text 8"/>
          <p:cNvSpPr/>
          <p:nvPr/>
        </p:nvSpPr>
        <p:spPr>
          <a:xfrm>
            <a:off x="365760" y="420624"/>
            <a:ext cx="11430000" cy="914400"/>
          </a:xfrm>
          <a:prstGeom prst="rect">
            <a:avLst/>
          </a:prstGeom>
          <a:noFill/>
          <a:ln/>
        </p:spPr>
        <p:txBody>
          <a:bodyPr wrap="square"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Paytm IPO 2021: ₹18,300 Cr Raised — Then the Secondary Market Decided Otherwise</a:t>
            </a:r>
            <a:endParaRPr lang="en-US" sz="2000" dirty="0"/>
          </a:p>
        </p:txBody>
      </p:sp>
      <p:sp>
        <p:nvSpPr>
          <p:cNvPr id="11" name="Text 9"/>
          <p:cNvSpPr/>
          <p:nvPr/>
        </p:nvSpPr>
        <p:spPr>
          <a:xfrm>
            <a:off x="365760" y="1554480"/>
            <a:ext cx="7498080" cy="2926080"/>
          </a:xfrm>
          <a:prstGeom prst="rect">
            <a:avLst/>
          </a:prstGeom>
          <a:noFill/>
          <a:ln/>
        </p:spPr>
        <p:txBody>
          <a:bodyPr wrap="square" rtlCol="0" anchor="ctr"/>
          <a:lstStyle/>
          <a:p>
            <a:pPr indent="0" marL="0">
              <a:buNone/>
            </a:pPr>
            <a:r>
              <a:rPr lang="en-US" sz="1400" dirty="0">
                <a:solidFill>
                  <a:srgbClr val="1A1A1A"/>
                </a:solidFill>
                <a:latin typeface="Calibri" pitchFamily="34" charset="0"/>
                <a:ea typeface="Calibri" pitchFamily="34" charset="-122"/>
                <a:cs typeface="Calibri" pitchFamily="34" charset="-120"/>
              </a:rPr>
              <a:t>Paytm's IPO in November 2021 raised ₹18,300 crore at ₹2,150 per share — making it India's largest IPO at the time. The primary market had spoken. Paytm received the funds.</a:t>
            </a:r>
            <a:endParaRPr lang="en-US" sz="1400" dirty="0"/>
          </a:p>
          <a:p>
            <a:pPr indent="0" marL="0">
              <a:buNone/>
            </a:pPr>
            <a:endParaRPr lang="en-US" sz="1400" dirty="0"/>
          </a:p>
          <a:p>
            <a:pPr indent="0" marL="0">
              <a:buNone/>
            </a:pPr>
            <a:r>
              <a:rPr lang="en-US" sz="1400" dirty="0">
                <a:solidFill>
                  <a:srgbClr val="1A1A1A"/>
                </a:solidFill>
                <a:latin typeface="Calibri" pitchFamily="34" charset="0"/>
                <a:ea typeface="Calibri" pitchFamily="34" charset="-122"/>
                <a:cs typeface="Calibri" pitchFamily="34" charset="-120"/>
              </a:rPr>
              <a:t>By December 2022, Paytm's secondary market price had fallen to ₹440 — a 79% decline. The secondary market had re-evaluated the company on fundamentals. Paytm's bank account was unchanged — but its investor base had suffered enormous losses.</a:t>
            </a:r>
            <a:endParaRPr lang="en-US" sz="1400" dirty="0"/>
          </a:p>
        </p:txBody>
      </p:sp>
      <p:sp>
        <p:nvSpPr>
          <p:cNvPr id="12" name="Shape 10"/>
          <p:cNvSpPr/>
          <p:nvPr/>
        </p:nvSpPr>
        <p:spPr>
          <a:xfrm>
            <a:off x="8046720" y="1554480"/>
            <a:ext cx="3931920" cy="2926080"/>
          </a:xfrm>
          <a:prstGeom prst="rect">
            <a:avLst/>
          </a:prstGeom>
          <a:solidFill>
            <a:srgbClr val="D5E3F0"/>
          </a:solidFill>
          <a:ln w="12700">
            <a:solidFill>
              <a:srgbClr val="1E3A5F"/>
            </a:solidFill>
            <a:prstDash val="solid"/>
          </a:ln>
        </p:spPr>
      </p:sp>
      <p:sp>
        <p:nvSpPr>
          <p:cNvPr id="13" name="Text 11"/>
          <p:cNvSpPr/>
          <p:nvPr/>
        </p:nvSpPr>
        <p:spPr>
          <a:xfrm>
            <a:off x="8046720" y="1554480"/>
            <a:ext cx="3931920" cy="2926080"/>
          </a:xfrm>
          <a:prstGeom prst="rect">
            <a:avLst/>
          </a:prstGeom>
          <a:noFill/>
          <a:ln/>
        </p:spPr>
        <p:txBody>
          <a:bodyPr wrap="square" rtlCol="0" anchor="t"/>
          <a:lstStyle/>
          <a:p>
            <a:pPr indent="0" marL="0">
              <a:buNone/>
            </a:pPr>
            <a:r>
              <a:rPr lang="en-US" sz="1300" dirty="0">
                <a:solidFill>
                  <a:srgbClr val="1E3A5F"/>
                </a:solidFill>
                <a:latin typeface="Calibri" pitchFamily="34" charset="0"/>
                <a:ea typeface="Calibri" pitchFamily="34" charset="-122"/>
                <a:cs typeface="Calibri" pitchFamily="34" charset="-120"/>
              </a:rPr>
              <a:t>PAYTM NUMBERS:</a:t>
            </a:r>
            <a:endParaRPr lang="en-US" sz="1300" dirty="0"/>
          </a:p>
          <a:p>
            <a:pPr indent="0" marL="0">
              <a:buNone/>
            </a:pPr>
            <a:endParaRPr lang="en-US" sz="1300" dirty="0"/>
          </a:p>
          <a:p>
            <a:pPr indent="0" marL="0">
              <a:buNone/>
            </a:pPr>
            <a:r>
              <a:rPr lang="en-US" sz="1300" dirty="0">
                <a:solidFill>
                  <a:srgbClr val="1E3A5F"/>
                </a:solidFill>
                <a:latin typeface="Calibri" pitchFamily="34" charset="0"/>
                <a:ea typeface="Calibri" pitchFamily="34" charset="-122"/>
                <a:cs typeface="Calibri" pitchFamily="34" charset="-120"/>
              </a:rPr>
              <a:t>₹18,300 Cr</a:t>
            </a:r>
            <a:endParaRPr lang="en-US" sz="1300" dirty="0"/>
          </a:p>
          <a:p>
            <a:pPr indent="0" marL="0">
              <a:buNone/>
            </a:pPr>
            <a:r>
              <a:rPr lang="en-US" sz="1300" dirty="0">
                <a:solidFill>
                  <a:srgbClr val="1E3A5F"/>
                </a:solidFill>
                <a:latin typeface="Calibri" pitchFamily="34" charset="0"/>
                <a:ea typeface="Calibri" pitchFamily="34" charset="-122"/>
                <a:cs typeface="Calibri" pitchFamily="34" charset="-120"/>
              </a:rPr>
              <a:t>IPO proceeds</a:t>
            </a:r>
            <a:endParaRPr lang="en-US" sz="1300" dirty="0"/>
          </a:p>
          <a:p>
            <a:pPr indent="0" marL="0">
              <a:buNone/>
            </a:pPr>
            <a:endParaRPr lang="en-US" sz="1300" dirty="0"/>
          </a:p>
          <a:p>
            <a:pPr indent="0" marL="0">
              <a:buNone/>
            </a:pPr>
            <a:r>
              <a:rPr lang="en-US" sz="1300" dirty="0">
                <a:solidFill>
                  <a:srgbClr val="1E3A5F"/>
                </a:solidFill>
                <a:latin typeface="Calibri" pitchFamily="34" charset="0"/>
                <a:ea typeface="Calibri" pitchFamily="34" charset="-122"/>
                <a:cs typeface="Calibri" pitchFamily="34" charset="-120"/>
              </a:rPr>
              <a:t>₹2,150</a:t>
            </a:r>
            <a:endParaRPr lang="en-US" sz="1300" dirty="0"/>
          </a:p>
          <a:p>
            <a:pPr indent="0" marL="0">
              <a:buNone/>
            </a:pPr>
            <a:r>
              <a:rPr lang="en-US" sz="1300" dirty="0">
                <a:solidFill>
                  <a:srgbClr val="1E3A5F"/>
                </a:solidFill>
                <a:latin typeface="Calibri" pitchFamily="34" charset="0"/>
                <a:ea typeface="Calibri" pitchFamily="34" charset="-122"/>
                <a:cs typeface="Calibri" pitchFamily="34" charset="-120"/>
              </a:rPr>
              <a:t>IPO price</a:t>
            </a:r>
            <a:endParaRPr lang="en-US" sz="1300" dirty="0"/>
          </a:p>
          <a:p>
            <a:pPr indent="0" marL="0">
              <a:buNone/>
            </a:pPr>
            <a:endParaRPr lang="en-US" sz="1300" dirty="0"/>
          </a:p>
          <a:p>
            <a:pPr indent="0" marL="0">
              <a:buNone/>
            </a:pPr>
            <a:r>
              <a:rPr lang="en-US" sz="1300" dirty="0">
                <a:solidFill>
                  <a:srgbClr val="1E3A5F"/>
                </a:solidFill>
                <a:latin typeface="Calibri" pitchFamily="34" charset="0"/>
                <a:ea typeface="Calibri" pitchFamily="34" charset="-122"/>
                <a:cs typeface="Calibri" pitchFamily="34" charset="-120"/>
              </a:rPr>
              <a:t>₹440</a:t>
            </a:r>
            <a:endParaRPr lang="en-US" sz="1300" dirty="0"/>
          </a:p>
          <a:p>
            <a:pPr indent="0" marL="0">
              <a:buNone/>
            </a:pPr>
            <a:r>
              <a:rPr lang="en-US" sz="1300" dirty="0">
                <a:solidFill>
                  <a:srgbClr val="1E3A5F"/>
                </a:solidFill>
                <a:latin typeface="Calibri" pitchFamily="34" charset="0"/>
                <a:ea typeface="Calibri" pitchFamily="34" charset="-122"/>
                <a:cs typeface="Calibri" pitchFamily="34" charset="-120"/>
              </a:rPr>
              <a:t>Dec 2022 price</a:t>
            </a:r>
            <a:endParaRPr lang="en-US" sz="1300" dirty="0"/>
          </a:p>
          <a:p>
            <a:pPr indent="0" marL="0">
              <a:buNone/>
            </a:pPr>
            <a:endParaRPr lang="en-US" sz="1300" dirty="0"/>
          </a:p>
          <a:p>
            <a:pPr indent="0" marL="0">
              <a:buNone/>
            </a:pPr>
            <a:r>
              <a:rPr lang="en-US" sz="1300" dirty="0">
                <a:solidFill>
                  <a:srgbClr val="1E3A5F"/>
                </a:solidFill>
                <a:latin typeface="Calibri" pitchFamily="34" charset="0"/>
                <a:ea typeface="Calibri" pitchFamily="34" charset="-122"/>
                <a:cs typeface="Calibri" pitchFamily="34" charset="-120"/>
              </a:rPr>
              <a:t>79%</a:t>
            </a:r>
            <a:endParaRPr lang="en-US" sz="1300" dirty="0"/>
          </a:p>
          <a:p>
            <a:pPr indent="0" marL="0">
              <a:buNone/>
            </a:pPr>
            <a:r>
              <a:rPr lang="en-US" sz="1300" dirty="0">
                <a:solidFill>
                  <a:srgbClr val="1E3A5F"/>
                </a:solidFill>
                <a:latin typeface="Calibri" pitchFamily="34" charset="0"/>
                <a:ea typeface="Calibri" pitchFamily="34" charset="-122"/>
                <a:cs typeface="Calibri" pitchFamily="34" charset="-120"/>
              </a:rPr>
              <a:t>value decline</a:t>
            </a:r>
            <a:endParaRPr lang="en-US" sz="1300" dirty="0"/>
          </a:p>
          <a:p>
            <a:pPr indent="0" marL="0">
              <a:buNone/>
            </a:pPr>
            <a:endParaRPr lang="en-US" sz="1300" dirty="0"/>
          </a:p>
          <a:p>
            <a:pPr indent="0" marL="0">
              <a:buNone/>
            </a:pPr>
            <a:r>
              <a:rPr lang="en-US" sz="1300" dirty="0">
                <a:solidFill>
                  <a:srgbClr val="1E3A5F"/>
                </a:solidFill>
                <a:latin typeface="Calibri" pitchFamily="34" charset="0"/>
                <a:ea typeface="Calibri" pitchFamily="34" charset="-122"/>
                <a:cs typeface="Calibri" pitchFamily="34" charset="-120"/>
              </a:rPr>
              <a:t>Future FPO/</a:t>
            </a:r>
            <a:endParaRPr lang="en-US" sz="1300" dirty="0"/>
          </a:p>
          <a:p>
            <a:pPr indent="0" marL="0">
              <a:buNone/>
            </a:pPr>
            <a:r>
              <a:rPr lang="en-US" sz="1300" dirty="0">
                <a:solidFill>
                  <a:srgbClr val="1E3A5F"/>
                </a:solidFill>
                <a:latin typeface="Calibri" pitchFamily="34" charset="0"/>
                <a:ea typeface="Calibri" pitchFamily="34" charset="-122"/>
                <a:cs typeface="Calibri" pitchFamily="34" charset="-120"/>
              </a:rPr>
              <a:t>Bonus shares</a:t>
            </a:r>
            <a:endParaRPr lang="en-US" sz="1300" dirty="0"/>
          </a:p>
          <a:p>
            <a:pPr indent="0" marL="0">
              <a:buNone/>
            </a:pPr>
            <a:r>
              <a:rPr lang="en-US" sz="1300" dirty="0">
                <a:solidFill>
                  <a:srgbClr val="1E3A5F"/>
                </a:solidFill>
                <a:latin typeface="Calibri" pitchFamily="34" charset="0"/>
                <a:ea typeface="Calibri" pitchFamily="34" charset="-122"/>
                <a:cs typeface="Calibri" pitchFamily="34" charset="-120"/>
              </a:rPr>
              <a:t>affected</a:t>
            </a:r>
            <a:endParaRPr lang="en-US" sz="1300" dirty="0"/>
          </a:p>
        </p:txBody>
      </p:sp>
      <p:sp>
        <p:nvSpPr>
          <p:cNvPr id="14" name="Shape 12"/>
          <p:cNvSpPr/>
          <p:nvPr/>
        </p:nvSpPr>
        <p:spPr>
          <a:xfrm>
            <a:off x="0" y="4663440"/>
            <a:ext cx="12192000" cy="1097280"/>
          </a:xfrm>
          <a:prstGeom prst="rect">
            <a:avLst/>
          </a:prstGeom>
          <a:solidFill>
            <a:srgbClr val="005F5F"/>
          </a:solidFill>
          <a:ln/>
        </p:spPr>
      </p:sp>
      <p:sp>
        <p:nvSpPr>
          <p:cNvPr id="15" name="Text 13"/>
          <p:cNvSpPr/>
          <p:nvPr/>
        </p:nvSpPr>
        <p:spPr>
          <a:xfrm>
            <a:off x="365760" y="4663440"/>
            <a:ext cx="11430000" cy="1097280"/>
          </a:xfrm>
          <a:prstGeom prst="rect">
            <a:avLst/>
          </a:prstGeom>
          <a:noFill/>
          <a:ln/>
        </p:spPr>
        <p:txBody>
          <a:bodyPr wrap="square"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  If Paytm already has the ₹18,300 crore it raised in the IPO — why does the secondary market price matter to the company at all? When does it matter?</a:t>
            </a:r>
            <a:endParaRPr lang="en-US" sz="1600" dirty="0"/>
          </a:p>
        </p:txBody>
      </p:sp>
      <p:sp>
        <p:nvSpPr>
          <p:cNvPr id="16" name="Text 14"/>
          <p:cNvSpPr/>
          <p:nvPr/>
        </p:nvSpPr>
        <p:spPr>
          <a:xfrm>
            <a:off x="0" y="6601968"/>
            <a:ext cx="12192000" cy="182880"/>
          </a:xfrm>
          <a:prstGeom prst="rect">
            <a:avLst/>
          </a:prstGeom>
          <a:noFill/>
          <a:ln/>
        </p:spPr>
        <p:txBody>
          <a:bodyPr wrap="square" rtlCol="0" anchor="ctr"/>
          <a:lstStyle/>
          <a:p>
            <a:pPr algn="ctr" indent="0" marL="0">
              <a:buNone/>
            </a:pPr>
            <a:r>
              <a:rPr lang="en-US" sz="800" dirty="0">
                <a:solidFill>
                  <a:srgbClr val="AAAAAA"/>
                </a:solidFill>
                <a:latin typeface="Calibri" pitchFamily="34" charset="0"/>
                <a:ea typeface="Calibri" pitchFamily="34" charset="-122"/>
                <a:cs typeface="Calibri" pitchFamily="34" charset="-120"/>
              </a:rPr>
              <a:t>CIBOP · Module 1 · D1.4</a:t>
            </a:r>
            <a:endParaRPr lang="en-US" sz="8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4F6FA"/>
          </a:solidFill>
          <a:ln/>
        </p:spPr>
      </p:sp>
      <p:sp>
        <p:nvSpPr>
          <p:cNvPr id="3" name="Shape 1"/>
          <p:cNvSpPr/>
          <p:nvPr/>
        </p:nvSpPr>
        <p:spPr>
          <a:xfrm>
            <a:off x="0" y="0"/>
            <a:ext cx="12192000" cy="73152"/>
          </a:xfrm>
          <a:prstGeom prst="rect">
            <a:avLst/>
          </a:prstGeom>
          <a:solidFill>
            <a:srgbClr val="005F5F"/>
          </a:solidFill>
          <a:ln/>
        </p:spPr>
      </p:sp>
      <p:sp>
        <p:nvSpPr>
          <p:cNvPr id="4" name="Shape 2"/>
          <p:cNvSpPr/>
          <p:nvPr/>
        </p:nvSpPr>
        <p:spPr>
          <a:xfrm>
            <a:off x="0" y="6784848"/>
            <a:ext cx="12192000" cy="73152"/>
          </a:xfrm>
          <a:prstGeom prst="rect">
            <a:avLst/>
          </a:prstGeom>
          <a:solidFill>
            <a:srgbClr val="1E3A5F"/>
          </a:solidFill>
          <a:ln/>
        </p:spPr>
      </p:sp>
      <p:sp>
        <p:nvSpPr>
          <p:cNvPr id="5" name="Shape 3"/>
          <p:cNvSpPr/>
          <p:nvPr/>
        </p:nvSpPr>
        <p:spPr>
          <a:xfrm>
            <a:off x="0" y="73152"/>
            <a:ext cx="1828800" cy="347472"/>
          </a:xfrm>
          <a:prstGeom prst="rect">
            <a:avLst/>
          </a:prstGeom>
          <a:solidFill>
            <a:srgbClr val="005F5F"/>
          </a:solidFill>
          <a:ln/>
        </p:spPr>
      </p:sp>
      <p:sp>
        <p:nvSpPr>
          <p:cNvPr id="6" name="Text 4"/>
          <p:cNvSpPr/>
          <p:nvPr/>
        </p:nvSpPr>
        <p:spPr>
          <a:xfrm>
            <a:off x="0" y="73152"/>
            <a:ext cx="1828800" cy="347472"/>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KEY CONCEPT</a:t>
            </a:r>
            <a:endParaRPr lang="en-US" sz="1000" dirty="0"/>
          </a:p>
        </p:txBody>
      </p:sp>
      <p:sp>
        <p:nvSpPr>
          <p:cNvPr id="7" name="Shape 5"/>
          <p:cNvSpPr/>
          <p:nvPr/>
        </p:nvSpPr>
        <p:spPr>
          <a:xfrm>
            <a:off x="10360152" y="73152"/>
            <a:ext cx="1828800" cy="347472"/>
          </a:xfrm>
          <a:prstGeom prst="rect">
            <a:avLst/>
          </a:prstGeom>
          <a:solidFill>
            <a:srgbClr val="005F5F"/>
          </a:solidFill>
          <a:ln/>
        </p:spPr>
      </p:sp>
      <p:sp>
        <p:nvSpPr>
          <p:cNvPr id="8" name="Text 6"/>
          <p:cNvSpPr/>
          <p:nvPr/>
        </p:nvSpPr>
        <p:spPr>
          <a:xfrm>
            <a:off x="10360152" y="73152"/>
            <a:ext cx="1828800" cy="347472"/>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D1.4</a:t>
            </a:r>
            <a:endParaRPr lang="en-US" sz="1000" dirty="0"/>
          </a:p>
        </p:txBody>
      </p:sp>
      <p:sp>
        <p:nvSpPr>
          <p:cNvPr id="9" name="Text 7"/>
          <p:cNvSpPr/>
          <p:nvPr/>
        </p:nvSpPr>
        <p:spPr>
          <a:xfrm>
            <a:off x="274320" y="502920"/>
            <a:ext cx="11430000" cy="640080"/>
          </a:xfrm>
          <a:prstGeom prst="rect">
            <a:avLst/>
          </a:prstGeom>
          <a:noFill/>
          <a:ln/>
        </p:spPr>
        <p:txBody>
          <a:bodyPr wrap="square" rtlCol="0" anchor="ctr"/>
          <a:lstStyle/>
          <a:p>
            <a:pPr indent="0" marL="0">
              <a:buNone/>
            </a:pPr>
            <a:r>
              <a:rPr lang="en-US" sz="2200" b="1" dirty="0">
                <a:solidFill>
                  <a:srgbClr val="1E3A5F"/>
                </a:solidFill>
                <a:latin typeface="Calibri" pitchFamily="34" charset="0"/>
                <a:ea typeface="Calibri" pitchFamily="34" charset="-122"/>
                <a:cs typeface="Calibri" pitchFamily="34" charset="-120"/>
              </a:rPr>
              <a:t>Financial Market Classification: The Full Framework</a:t>
            </a:r>
            <a:endParaRPr lang="en-US" sz="2200" dirty="0"/>
          </a:p>
        </p:txBody>
      </p:sp>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274320" y="1280160"/>
          <a:ext cx="11612880" cy="4389120"/>
        </p:xfrm>
        <a:graphic>
          <a:graphicData uri="http://schemas.openxmlformats.org/drawingml/2006/table">
            <a:tbl>
              <a:tblPr/>
              <a:tblGrid>
                <a:gridCol w="2903220"/>
                <a:gridCol w="2903220"/>
                <a:gridCol w="2903220"/>
                <a:gridCol w="2903220"/>
              </a:tblGrid>
              <a:tr h="627017">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CLASSIFICATION</a:t>
                      </a:r>
                      <a:endParaRPr lang="en-US" sz="12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1E3A5F"/>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CATEGORY</a:t>
                      </a:r>
                      <a:endParaRPr lang="en-US" sz="12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1E3A5F"/>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KEY FEATURE</a:t>
                      </a:r>
                      <a:endParaRPr lang="en-US" sz="12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1E3A5F"/>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INDIA EXAMPLE</a:t>
                      </a:r>
                      <a:endParaRPr lang="en-US" sz="12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1E3A5F"/>
                    </a:solidFill>
                  </a:tcPr>
                </a:tc>
              </a:tr>
              <a:tr h="627017">
                <a:tc>
                  <a:txBody>
                    <a:bodyPr/>
                    <a:lstStyle/>
                    <a:p>
                      <a:pPr indent="0" marL="0">
                        <a:buNone/>
                      </a:pPr>
                      <a:r>
                        <a:rPr lang="en-US" sz="1100" dirty="0">
                          <a:solidFill>
                            <a:srgbClr val="1A1A1A"/>
                          </a:solidFill>
                          <a:latin typeface="Calibri" pitchFamily="34" charset="0"/>
                          <a:ea typeface="Calibri" pitchFamily="34" charset="-122"/>
                          <a:cs typeface="Calibri" pitchFamily="34" charset="-120"/>
                        </a:rPr>
                        <a:t>By Maturity</a:t>
                      </a:r>
                      <a:endParaRPr lang="en-US" sz="11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FFFFFF"/>
                    </a:solidFill>
                  </a:tcPr>
                </a:tc>
                <a:tc>
                  <a:txBody>
                    <a:bodyPr/>
                    <a:lstStyle/>
                    <a:p>
                      <a:pPr indent="0" marL="0">
                        <a:buNone/>
                      </a:pPr>
                      <a:r>
                        <a:rPr lang="en-US" sz="1100" dirty="0">
                          <a:solidFill>
                            <a:srgbClr val="1A1A1A"/>
                          </a:solidFill>
                          <a:latin typeface="Calibri" pitchFamily="34" charset="0"/>
                          <a:ea typeface="Calibri" pitchFamily="34" charset="-122"/>
                          <a:cs typeface="Calibri" pitchFamily="34" charset="-120"/>
                        </a:rPr>
                        <a:t>Money Market (&lt; 1 year)</a:t>
                      </a:r>
                      <a:endParaRPr lang="en-US" sz="11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FFFFFF"/>
                    </a:solidFill>
                  </a:tcPr>
                </a:tc>
                <a:tc>
                  <a:txBody>
                    <a:bodyPr/>
                    <a:lstStyle/>
                    <a:p>
                      <a:pPr indent="0" marL="0">
                        <a:buNone/>
                      </a:pPr>
                      <a:r>
                        <a:rPr lang="en-US" sz="1100" dirty="0">
                          <a:solidFill>
                            <a:srgbClr val="1A1A1A"/>
                          </a:solidFill>
                          <a:latin typeface="Calibri" pitchFamily="34" charset="0"/>
                          <a:ea typeface="Calibri" pitchFamily="34" charset="-122"/>
                          <a:cs typeface="Calibri" pitchFamily="34" charset="-120"/>
                        </a:rPr>
                        <a:t>Short-term liquidity management</a:t>
                      </a:r>
                      <a:endParaRPr lang="en-US" sz="11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FFFFFF"/>
                    </a:solidFill>
                  </a:tcPr>
                </a:tc>
                <a:tc>
                  <a:txBody>
                    <a:bodyPr/>
                    <a:lstStyle/>
                    <a:p>
                      <a:pPr indent="0" marL="0">
                        <a:buNone/>
                      </a:pPr>
                      <a:r>
                        <a:rPr lang="en-US" sz="1100" dirty="0">
                          <a:solidFill>
                            <a:srgbClr val="1A1A1A"/>
                          </a:solidFill>
                          <a:latin typeface="Calibri" pitchFamily="34" charset="0"/>
                          <a:ea typeface="Calibri" pitchFamily="34" charset="-122"/>
                          <a:cs typeface="Calibri" pitchFamily="34" charset="-120"/>
                        </a:rPr>
                        <a:t>T-Bills (91/182/364 day), Call Money</a:t>
                      </a:r>
                      <a:endParaRPr lang="en-US" sz="11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FFFFFF"/>
                    </a:solidFill>
                  </a:tcPr>
                </a:tc>
              </a:tr>
              <a:tr h="627017">
                <a:tc>
                  <a:txBody>
                    <a:bodyPr/>
                    <a:lstStyle/>
                    <a:p>
                      <a:pPr indent="0" marL="0">
                        <a:buNone/>
                      </a:pPr>
                      <a:r>
                        <a:rPr lang="en-US" sz="1100" dirty="0">
                          <a:solidFill>
                            <a:srgbClr val="1A1A1A"/>
                          </a:solidFill>
                          <a:latin typeface="Calibri" pitchFamily="34" charset="0"/>
                          <a:ea typeface="Calibri" pitchFamily="34" charset="-122"/>
                          <a:cs typeface="Calibri" pitchFamily="34" charset="-120"/>
                        </a:rPr>
                        <a:t>By Maturity</a:t>
                      </a:r>
                      <a:endParaRPr lang="en-US" sz="11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D5E3F0"/>
                    </a:solidFill>
                  </a:tcPr>
                </a:tc>
                <a:tc>
                  <a:txBody>
                    <a:bodyPr/>
                    <a:lstStyle/>
                    <a:p>
                      <a:pPr indent="0" marL="0">
                        <a:buNone/>
                      </a:pPr>
                      <a:r>
                        <a:rPr lang="en-US" sz="1100" dirty="0">
                          <a:solidFill>
                            <a:srgbClr val="1A1A1A"/>
                          </a:solidFill>
                          <a:latin typeface="Calibri" pitchFamily="34" charset="0"/>
                          <a:ea typeface="Calibri" pitchFamily="34" charset="-122"/>
                          <a:cs typeface="Calibri" pitchFamily="34" charset="-120"/>
                        </a:rPr>
                        <a:t>Capital Market (&gt; 1 year)</a:t>
                      </a:r>
                      <a:endParaRPr lang="en-US" sz="11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D5E3F0"/>
                    </a:solidFill>
                  </a:tcPr>
                </a:tc>
                <a:tc>
                  <a:txBody>
                    <a:bodyPr/>
                    <a:lstStyle/>
                    <a:p>
                      <a:pPr indent="0" marL="0">
                        <a:buNone/>
                      </a:pPr>
                      <a:r>
                        <a:rPr lang="en-US" sz="1100" dirty="0">
                          <a:solidFill>
                            <a:srgbClr val="1A1A1A"/>
                          </a:solidFill>
                          <a:latin typeface="Calibri" pitchFamily="34" charset="0"/>
                          <a:ea typeface="Calibri" pitchFamily="34" charset="-122"/>
                          <a:cs typeface="Calibri" pitchFamily="34" charset="-120"/>
                        </a:rPr>
                        <a:t>Long-term investment and financing</a:t>
                      </a:r>
                      <a:endParaRPr lang="en-US" sz="11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D5E3F0"/>
                    </a:solidFill>
                  </a:tcPr>
                </a:tc>
                <a:tc>
                  <a:txBody>
                    <a:bodyPr/>
                    <a:lstStyle/>
                    <a:p>
                      <a:pPr indent="0" marL="0">
                        <a:buNone/>
                      </a:pPr>
                      <a:r>
                        <a:rPr lang="en-US" sz="1100" dirty="0">
                          <a:solidFill>
                            <a:srgbClr val="1A1A1A"/>
                          </a:solidFill>
                          <a:latin typeface="Calibri" pitchFamily="34" charset="0"/>
                          <a:ea typeface="Calibri" pitchFamily="34" charset="-122"/>
                          <a:cs typeface="Calibri" pitchFamily="34" charset="-120"/>
                        </a:rPr>
                        <a:t>NSE equity, G-Secs (10yr), NCDs</a:t>
                      </a:r>
                      <a:endParaRPr lang="en-US" sz="11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D5E3F0"/>
                    </a:solidFill>
                  </a:tcPr>
                </a:tc>
              </a:tr>
              <a:tr h="627017">
                <a:tc>
                  <a:txBody>
                    <a:bodyPr/>
                    <a:lstStyle/>
                    <a:p>
                      <a:pPr indent="0" marL="0">
                        <a:buNone/>
                      </a:pPr>
                      <a:r>
                        <a:rPr lang="en-US" sz="1100" dirty="0">
                          <a:solidFill>
                            <a:srgbClr val="1A1A1A"/>
                          </a:solidFill>
                          <a:latin typeface="Calibri" pitchFamily="34" charset="0"/>
                          <a:ea typeface="Calibri" pitchFamily="34" charset="-122"/>
                          <a:cs typeface="Calibri" pitchFamily="34" charset="-120"/>
                        </a:rPr>
                        <a:t>By Stage</a:t>
                      </a:r>
                      <a:endParaRPr lang="en-US" sz="11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FFFFFF"/>
                    </a:solidFill>
                  </a:tcPr>
                </a:tc>
                <a:tc>
                  <a:txBody>
                    <a:bodyPr/>
                    <a:lstStyle/>
                    <a:p>
                      <a:pPr indent="0" marL="0">
                        <a:buNone/>
                      </a:pPr>
                      <a:r>
                        <a:rPr lang="en-US" sz="1100" dirty="0">
                          <a:solidFill>
                            <a:srgbClr val="1A1A1A"/>
                          </a:solidFill>
                          <a:latin typeface="Calibri" pitchFamily="34" charset="0"/>
                          <a:ea typeface="Calibri" pitchFamily="34" charset="-122"/>
                          <a:cs typeface="Calibri" pitchFamily="34" charset="-120"/>
                        </a:rPr>
                        <a:t>Primary Market</a:t>
                      </a:r>
                      <a:endParaRPr lang="en-US" sz="11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FFFFFF"/>
                    </a:solidFill>
                  </a:tcPr>
                </a:tc>
                <a:tc>
                  <a:txBody>
                    <a:bodyPr/>
                    <a:lstStyle/>
                    <a:p>
                      <a:pPr indent="0" marL="0">
                        <a:buNone/>
                      </a:pPr>
                      <a:r>
                        <a:rPr lang="en-US" sz="1100" dirty="0">
                          <a:solidFill>
                            <a:srgbClr val="1A1A1A"/>
                          </a:solidFill>
                          <a:latin typeface="Calibri" pitchFamily="34" charset="0"/>
                          <a:ea typeface="Calibri" pitchFamily="34" charset="-122"/>
                          <a:cs typeface="Calibri" pitchFamily="34" charset="-120"/>
                        </a:rPr>
                        <a:t>New securities issued; issuer receives funds</a:t>
                      </a:r>
                      <a:endParaRPr lang="en-US" sz="11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FFFFFF"/>
                    </a:solidFill>
                  </a:tcPr>
                </a:tc>
                <a:tc>
                  <a:txBody>
                    <a:bodyPr/>
                    <a:lstStyle/>
                    <a:p>
                      <a:pPr indent="0" marL="0">
                        <a:buNone/>
                      </a:pPr>
                      <a:r>
                        <a:rPr lang="en-US" sz="1100" dirty="0">
                          <a:solidFill>
                            <a:srgbClr val="1A1A1A"/>
                          </a:solidFill>
                          <a:latin typeface="Calibri" pitchFamily="34" charset="0"/>
                          <a:ea typeface="Calibri" pitchFamily="34" charset="-122"/>
                          <a:cs typeface="Calibri" pitchFamily="34" charset="-120"/>
                        </a:rPr>
                        <a:t>Paytm IPO, government G-Sec auction</a:t>
                      </a:r>
                      <a:endParaRPr lang="en-US" sz="11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FFFFFF"/>
                    </a:solidFill>
                  </a:tcPr>
                </a:tc>
              </a:tr>
              <a:tr h="627017">
                <a:tc>
                  <a:txBody>
                    <a:bodyPr/>
                    <a:lstStyle/>
                    <a:p>
                      <a:pPr indent="0" marL="0">
                        <a:buNone/>
                      </a:pPr>
                      <a:r>
                        <a:rPr lang="en-US" sz="1100" dirty="0">
                          <a:solidFill>
                            <a:srgbClr val="1A1A1A"/>
                          </a:solidFill>
                          <a:latin typeface="Calibri" pitchFamily="34" charset="0"/>
                          <a:ea typeface="Calibri" pitchFamily="34" charset="-122"/>
                          <a:cs typeface="Calibri" pitchFamily="34" charset="-120"/>
                        </a:rPr>
                        <a:t>By Stage</a:t>
                      </a:r>
                      <a:endParaRPr lang="en-US" sz="11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D5E3F0"/>
                    </a:solidFill>
                  </a:tcPr>
                </a:tc>
                <a:tc>
                  <a:txBody>
                    <a:bodyPr/>
                    <a:lstStyle/>
                    <a:p>
                      <a:pPr indent="0" marL="0">
                        <a:buNone/>
                      </a:pPr>
                      <a:r>
                        <a:rPr lang="en-US" sz="1100" dirty="0">
                          <a:solidFill>
                            <a:srgbClr val="1A1A1A"/>
                          </a:solidFill>
                          <a:latin typeface="Calibri" pitchFamily="34" charset="0"/>
                          <a:ea typeface="Calibri" pitchFamily="34" charset="-122"/>
                          <a:cs typeface="Calibri" pitchFamily="34" charset="-120"/>
                        </a:rPr>
                        <a:t>Secondary Market</a:t>
                      </a:r>
                      <a:endParaRPr lang="en-US" sz="11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D5E3F0"/>
                    </a:solidFill>
                  </a:tcPr>
                </a:tc>
                <a:tc>
                  <a:txBody>
                    <a:bodyPr/>
                    <a:lstStyle/>
                    <a:p>
                      <a:pPr indent="0" marL="0">
                        <a:buNone/>
                      </a:pPr>
                      <a:r>
                        <a:rPr lang="en-US" sz="1100" dirty="0">
                          <a:solidFill>
                            <a:srgbClr val="1A1A1A"/>
                          </a:solidFill>
                          <a:latin typeface="Calibri" pitchFamily="34" charset="0"/>
                          <a:ea typeface="Calibri" pitchFamily="34" charset="-122"/>
                          <a:cs typeface="Calibri" pitchFamily="34" charset="-120"/>
                        </a:rPr>
                        <a:t>Existing securities trade between investors</a:t>
                      </a:r>
                      <a:endParaRPr lang="en-US" sz="11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D5E3F0"/>
                    </a:solidFill>
                  </a:tcPr>
                </a:tc>
                <a:tc>
                  <a:txBody>
                    <a:bodyPr/>
                    <a:lstStyle/>
                    <a:p>
                      <a:pPr indent="0" marL="0">
                        <a:buNone/>
                      </a:pPr>
                      <a:r>
                        <a:rPr lang="en-US" sz="1100" dirty="0">
                          <a:solidFill>
                            <a:srgbClr val="1A1A1A"/>
                          </a:solidFill>
                          <a:latin typeface="Calibri" pitchFamily="34" charset="0"/>
                          <a:ea typeface="Calibri" pitchFamily="34" charset="-122"/>
                          <a:cs typeface="Calibri" pitchFamily="34" charset="-120"/>
                        </a:rPr>
                        <a:t>NSE/BSE daily equity trading</a:t>
                      </a:r>
                      <a:endParaRPr lang="en-US" sz="11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D5E3F0"/>
                    </a:solidFill>
                  </a:tcPr>
                </a:tc>
              </a:tr>
              <a:tr h="627017">
                <a:tc>
                  <a:txBody>
                    <a:bodyPr/>
                    <a:lstStyle/>
                    <a:p>
                      <a:pPr indent="0" marL="0">
                        <a:buNone/>
                      </a:pPr>
                      <a:r>
                        <a:rPr lang="en-US" sz="1100" dirty="0">
                          <a:solidFill>
                            <a:srgbClr val="1A1A1A"/>
                          </a:solidFill>
                          <a:latin typeface="Calibri" pitchFamily="34" charset="0"/>
                          <a:ea typeface="Calibri" pitchFamily="34" charset="-122"/>
                          <a:cs typeface="Calibri" pitchFamily="34" charset="-120"/>
                        </a:rPr>
                        <a:t>By Structure</a:t>
                      </a:r>
                      <a:endParaRPr lang="en-US" sz="11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FFFFFF"/>
                    </a:solidFill>
                  </a:tcPr>
                </a:tc>
                <a:tc>
                  <a:txBody>
                    <a:bodyPr/>
                    <a:lstStyle/>
                    <a:p>
                      <a:pPr indent="0" marL="0">
                        <a:buNone/>
                      </a:pPr>
                      <a:r>
                        <a:rPr lang="en-US" sz="1100" dirty="0">
                          <a:solidFill>
                            <a:srgbClr val="1A1A1A"/>
                          </a:solidFill>
                          <a:latin typeface="Calibri" pitchFamily="34" charset="0"/>
                          <a:ea typeface="Calibri" pitchFamily="34" charset="-122"/>
                          <a:cs typeface="Calibri" pitchFamily="34" charset="-120"/>
                        </a:rPr>
                        <a:t>Exchange-traded</a:t>
                      </a:r>
                      <a:endParaRPr lang="en-US" sz="11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FFFFFF"/>
                    </a:solidFill>
                  </a:tcPr>
                </a:tc>
                <a:tc>
                  <a:txBody>
                    <a:bodyPr/>
                    <a:lstStyle/>
                    <a:p>
                      <a:pPr indent="0" marL="0">
                        <a:buNone/>
                      </a:pPr>
                      <a:r>
                        <a:rPr lang="en-US" sz="1100" dirty="0">
                          <a:solidFill>
                            <a:srgbClr val="1A1A1A"/>
                          </a:solidFill>
                          <a:latin typeface="Calibri" pitchFamily="34" charset="0"/>
                          <a:ea typeface="Calibri" pitchFamily="34" charset="-122"/>
                          <a:cs typeface="Calibri" pitchFamily="34" charset="-120"/>
                        </a:rPr>
                        <a:t>Organised, regulated, transparent venue</a:t>
                      </a:r>
                      <a:endParaRPr lang="en-US" sz="11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FFFFFF"/>
                    </a:solidFill>
                  </a:tcPr>
                </a:tc>
                <a:tc>
                  <a:txBody>
                    <a:bodyPr/>
                    <a:lstStyle/>
                    <a:p>
                      <a:pPr indent="0" marL="0">
                        <a:buNone/>
                      </a:pPr>
                      <a:r>
                        <a:rPr lang="en-US" sz="1100" dirty="0">
                          <a:solidFill>
                            <a:srgbClr val="1A1A1A"/>
                          </a:solidFill>
                          <a:latin typeface="Calibri" pitchFamily="34" charset="0"/>
                          <a:ea typeface="Calibri" pitchFamily="34" charset="-122"/>
                          <a:cs typeface="Calibri" pitchFamily="34" charset="-120"/>
                        </a:rPr>
                        <a:t>NSE equity, BSE derivatives</a:t>
                      </a:r>
                      <a:endParaRPr lang="en-US" sz="11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FFFFFF"/>
                    </a:solidFill>
                  </a:tcPr>
                </a:tc>
              </a:tr>
              <a:tr h="627017">
                <a:tc>
                  <a:txBody>
                    <a:bodyPr/>
                    <a:lstStyle/>
                    <a:p>
                      <a:pPr indent="0" marL="0">
                        <a:buNone/>
                      </a:pPr>
                      <a:r>
                        <a:rPr lang="en-US" sz="1100" dirty="0">
                          <a:solidFill>
                            <a:srgbClr val="1A1A1A"/>
                          </a:solidFill>
                          <a:latin typeface="Calibri" pitchFamily="34" charset="0"/>
                          <a:ea typeface="Calibri" pitchFamily="34" charset="-122"/>
                          <a:cs typeface="Calibri" pitchFamily="34" charset="-120"/>
                        </a:rPr>
                        <a:t>By Structure</a:t>
                      </a:r>
                      <a:endParaRPr lang="en-US" sz="11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D5E3F0"/>
                    </a:solidFill>
                  </a:tcPr>
                </a:tc>
                <a:tc>
                  <a:txBody>
                    <a:bodyPr/>
                    <a:lstStyle/>
                    <a:p>
                      <a:pPr indent="0" marL="0">
                        <a:buNone/>
                      </a:pPr>
                      <a:r>
                        <a:rPr lang="en-US" sz="1100" dirty="0">
                          <a:solidFill>
                            <a:srgbClr val="1A1A1A"/>
                          </a:solidFill>
                          <a:latin typeface="Calibri" pitchFamily="34" charset="0"/>
                          <a:ea typeface="Calibri" pitchFamily="34" charset="-122"/>
                          <a:cs typeface="Calibri" pitchFamily="34" charset="-120"/>
                        </a:rPr>
                        <a:t>OTC (Over-the-Counter)</a:t>
                      </a:r>
                      <a:endParaRPr lang="en-US" sz="11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D5E3F0"/>
                    </a:solidFill>
                  </a:tcPr>
                </a:tc>
                <a:tc>
                  <a:txBody>
                    <a:bodyPr/>
                    <a:lstStyle/>
                    <a:p>
                      <a:pPr indent="0" marL="0">
                        <a:buNone/>
                      </a:pPr>
                      <a:r>
                        <a:rPr lang="en-US" sz="1100" dirty="0">
                          <a:solidFill>
                            <a:srgbClr val="1A1A1A"/>
                          </a:solidFill>
                          <a:latin typeface="Calibri" pitchFamily="34" charset="0"/>
                          <a:ea typeface="Calibri" pitchFamily="34" charset="-122"/>
                          <a:cs typeface="Calibri" pitchFamily="34" charset="-120"/>
                        </a:rPr>
                        <a:t>Bilateral, dealer-quoted, off-exchange</a:t>
                      </a:r>
                      <a:endParaRPr lang="en-US" sz="11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D5E3F0"/>
                    </a:solidFill>
                  </a:tcPr>
                </a:tc>
                <a:tc>
                  <a:txBody>
                    <a:bodyPr/>
                    <a:lstStyle/>
                    <a:p>
                      <a:pPr indent="0" marL="0">
                        <a:buNone/>
                      </a:pPr>
                      <a:r>
                        <a:rPr lang="en-US" sz="1100" dirty="0">
                          <a:solidFill>
                            <a:srgbClr val="1A1A1A"/>
                          </a:solidFill>
                          <a:latin typeface="Calibri" pitchFamily="34" charset="0"/>
                          <a:ea typeface="Calibri" pitchFamily="34" charset="-122"/>
                          <a:cs typeface="Calibri" pitchFamily="34" charset="-120"/>
                        </a:rPr>
                        <a:t>FX spot, OTC bonds, interest rate swaps</a:t>
                      </a:r>
                      <a:endParaRPr lang="en-US" sz="11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D5E3F0"/>
                    </a:solidFill>
                  </a:tcPr>
                </a:tc>
              </a:tr>
            </a:tbl>
          </a:graphicData>
        </a:graphic>
      </p:graphicFrame>
      <p:sp>
        <p:nvSpPr>
          <p:cNvPr id="11" name="Text 8"/>
          <p:cNvSpPr/>
          <p:nvPr/>
        </p:nvSpPr>
        <p:spPr>
          <a:xfrm>
            <a:off x="274320" y="6126480"/>
            <a:ext cx="11612880" cy="365760"/>
          </a:xfrm>
          <a:prstGeom prst="rect">
            <a:avLst/>
          </a:prstGeom>
          <a:noFill/>
          <a:ln/>
        </p:spPr>
        <p:txBody>
          <a:bodyPr wrap="square" rtlCol="0" anchor="ctr"/>
          <a:lstStyle/>
          <a:p>
            <a:pPr indent="0" marL="0">
              <a:buNone/>
            </a:pPr>
            <a:r>
              <a:rPr lang="en-US" sz="1000" dirty="0">
                <a:solidFill>
                  <a:srgbClr val="005F5F"/>
                </a:solidFill>
                <a:latin typeface="Calibri" pitchFamily="34" charset="0"/>
                <a:ea typeface="Calibri" pitchFamily="34" charset="-122"/>
                <a:cs typeface="Calibri" pitchFamily="34" charset="-120"/>
              </a:rPr>
              <a:t>⚡  Every transaction you process belongs to a specific quadrant of this framework — it determines settlement cycle, counterparty type, and regulatory reporting.</a:t>
            </a:r>
            <a:endParaRPr lang="en-US" sz="1000" dirty="0"/>
          </a:p>
        </p:txBody>
      </p:sp>
      <p:sp>
        <p:nvSpPr>
          <p:cNvPr id="12" name="Text 9"/>
          <p:cNvSpPr/>
          <p:nvPr/>
        </p:nvSpPr>
        <p:spPr>
          <a:xfrm>
            <a:off x="0" y="6601968"/>
            <a:ext cx="12192000" cy="182880"/>
          </a:xfrm>
          <a:prstGeom prst="rect">
            <a:avLst/>
          </a:prstGeom>
          <a:noFill/>
          <a:ln/>
        </p:spPr>
        <p:txBody>
          <a:bodyPr wrap="square" rtlCol="0" anchor="ctr"/>
          <a:lstStyle/>
          <a:p>
            <a:pPr algn="ctr" indent="0" marL="0">
              <a:buNone/>
            </a:pPr>
            <a:r>
              <a:rPr lang="en-US" sz="800" dirty="0">
                <a:solidFill>
                  <a:srgbClr val="AAAAAA"/>
                </a:solidFill>
                <a:latin typeface="Calibri" pitchFamily="34" charset="0"/>
                <a:ea typeface="Calibri" pitchFamily="34" charset="-122"/>
                <a:cs typeface="Calibri" pitchFamily="34" charset="-120"/>
              </a:rPr>
              <a:t>CIBOP · Module 1 · D1.4</a:t>
            </a:r>
            <a:endParaRPr lang="en-US" sz="8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4F6FA"/>
          </a:solidFill>
          <a:ln/>
        </p:spPr>
      </p:sp>
      <p:sp>
        <p:nvSpPr>
          <p:cNvPr id="3" name="Shape 1"/>
          <p:cNvSpPr/>
          <p:nvPr/>
        </p:nvSpPr>
        <p:spPr>
          <a:xfrm>
            <a:off x="0" y="0"/>
            <a:ext cx="12192000" cy="73152"/>
          </a:xfrm>
          <a:prstGeom prst="rect">
            <a:avLst/>
          </a:prstGeom>
          <a:solidFill>
            <a:srgbClr val="1E3A5F"/>
          </a:solidFill>
          <a:ln/>
        </p:spPr>
      </p:sp>
      <p:sp>
        <p:nvSpPr>
          <p:cNvPr id="4" name="Shape 2"/>
          <p:cNvSpPr/>
          <p:nvPr/>
        </p:nvSpPr>
        <p:spPr>
          <a:xfrm>
            <a:off x="0" y="6784848"/>
            <a:ext cx="12192000" cy="73152"/>
          </a:xfrm>
          <a:prstGeom prst="rect">
            <a:avLst/>
          </a:prstGeom>
          <a:solidFill>
            <a:srgbClr val="B8860B"/>
          </a:solidFill>
          <a:ln/>
        </p:spPr>
      </p:sp>
      <p:sp>
        <p:nvSpPr>
          <p:cNvPr id="5" name="Shape 3"/>
          <p:cNvSpPr/>
          <p:nvPr/>
        </p:nvSpPr>
        <p:spPr>
          <a:xfrm>
            <a:off x="0" y="73152"/>
            <a:ext cx="1828800" cy="347472"/>
          </a:xfrm>
          <a:prstGeom prst="rect">
            <a:avLst/>
          </a:prstGeom>
          <a:solidFill>
            <a:srgbClr val="B8860B"/>
          </a:solidFill>
          <a:ln/>
        </p:spPr>
      </p:sp>
      <p:sp>
        <p:nvSpPr>
          <p:cNvPr id="6" name="Text 4"/>
          <p:cNvSpPr/>
          <p:nvPr/>
        </p:nvSpPr>
        <p:spPr>
          <a:xfrm>
            <a:off x="0" y="73152"/>
            <a:ext cx="1828800" cy="347472"/>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GOING DEEPER</a:t>
            </a:r>
            <a:endParaRPr lang="en-US" sz="1000" dirty="0"/>
          </a:p>
        </p:txBody>
      </p:sp>
      <p:sp>
        <p:nvSpPr>
          <p:cNvPr id="7" name="Shape 5"/>
          <p:cNvSpPr/>
          <p:nvPr/>
        </p:nvSpPr>
        <p:spPr>
          <a:xfrm>
            <a:off x="10360152" y="73152"/>
            <a:ext cx="1828800" cy="347472"/>
          </a:xfrm>
          <a:prstGeom prst="rect">
            <a:avLst/>
          </a:prstGeom>
          <a:solidFill>
            <a:srgbClr val="005F5F"/>
          </a:solidFill>
          <a:ln/>
        </p:spPr>
      </p:sp>
      <p:sp>
        <p:nvSpPr>
          <p:cNvPr id="8" name="Text 6"/>
          <p:cNvSpPr/>
          <p:nvPr/>
        </p:nvSpPr>
        <p:spPr>
          <a:xfrm>
            <a:off x="10360152" y="73152"/>
            <a:ext cx="1828800" cy="347472"/>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D1.4</a:t>
            </a:r>
            <a:endParaRPr lang="en-US" sz="1000" dirty="0"/>
          </a:p>
        </p:txBody>
      </p:sp>
      <p:sp>
        <p:nvSpPr>
          <p:cNvPr id="9" name="Text 7"/>
          <p:cNvSpPr/>
          <p:nvPr/>
        </p:nvSpPr>
        <p:spPr>
          <a:xfrm>
            <a:off x="274320" y="502920"/>
            <a:ext cx="11612880" cy="640080"/>
          </a:xfrm>
          <a:prstGeom prst="rect">
            <a:avLst/>
          </a:prstGeom>
          <a:noFill/>
          <a:ln/>
        </p:spPr>
        <p:txBody>
          <a:bodyPr wrap="square" rtlCol="0" anchor="ctr"/>
          <a:lstStyle/>
          <a:p>
            <a:pPr indent="0" marL="0">
              <a:buNone/>
            </a:pPr>
            <a:r>
              <a:rPr lang="en-US" sz="2200" b="1" dirty="0">
                <a:solidFill>
                  <a:srgbClr val="1E3A5F"/>
                </a:solidFill>
                <a:latin typeface="Calibri" pitchFamily="34" charset="0"/>
                <a:ea typeface="Calibri" pitchFamily="34" charset="-122"/>
                <a:cs typeface="Calibri" pitchFamily="34" charset="-120"/>
              </a:rPr>
              <a:t>Four Insights About Market Classification</a:t>
            </a:r>
            <a:endParaRPr lang="en-US" sz="2200" dirty="0"/>
          </a:p>
        </p:txBody>
      </p:sp>
      <p:sp>
        <p:nvSpPr>
          <p:cNvPr id="10" name="Shape 8"/>
          <p:cNvSpPr/>
          <p:nvPr/>
        </p:nvSpPr>
        <p:spPr>
          <a:xfrm>
            <a:off x="274320" y="1280160"/>
            <a:ext cx="5669280" cy="2377440"/>
          </a:xfrm>
          <a:prstGeom prst="rect">
            <a:avLst/>
          </a:prstGeom>
          <a:solidFill>
            <a:srgbClr val="D5E3F0"/>
          </a:solidFill>
          <a:ln w="6350">
            <a:solidFill>
              <a:srgbClr val="AAAAAA"/>
            </a:solidFill>
            <a:prstDash val="solid"/>
          </a:ln>
        </p:spPr>
      </p:sp>
      <p:sp>
        <p:nvSpPr>
          <p:cNvPr id="11" name="Shape 9"/>
          <p:cNvSpPr/>
          <p:nvPr/>
        </p:nvSpPr>
        <p:spPr>
          <a:xfrm>
            <a:off x="365760" y="1371600"/>
            <a:ext cx="457200" cy="457200"/>
          </a:xfrm>
          <a:prstGeom prst="ellipse">
            <a:avLst/>
          </a:prstGeom>
          <a:solidFill>
            <a:srgbClr val="1E3A5F"/>
          </a:solidFill>
          <a:ln/>
        </p:spPr>
      </p:sp>
      <p:sp>
        <p:nvSpPr>
          <p:cNvPr id="12" name="Text 10"/>
          <p:cNvSpPr/>
          <p:nvPr/>
        </p:nvSpPr>
        <p:spPr>
          <a:xfrm>
            <a:off x="365760" y="1371600"/>
            <a:ext cx="457200" cy="45720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3" name="Text 11"/>
          <p:cNvSpPr/>
          <p:nvPr/>
        </p:nvSpPr>
        <p:spPr>
          <a:xfrm>
            <a:off x="914400" y="1371600"/>
            <a:ext cx="4892040" cy="457200"/>
          </a:xfrm>
          <a:prstGeom prst="rect">
            <a:avLst/>
          </a:prstGeom>
          <a:noFill/>
          <a:ln/>
        </p:spPr>
        <p:txBody>
          <a:bodyPr wrap="square" rtlCol="0" anchor="ctr"/>
          <a:lstStyle/>
          <a:p>
            <a:pPr indent="0" marL="0">
              <a:buNone/>
            </a:pPr>
            <a:r>
              <a:rPr lang="en-US" sz="1300" b="1" dirty="0">
                <a:solidFill>
                  <a:srgbClr val="1A1A1A"/>
                </a:solidFill>
                <a:latin typeface="Calibri" pitchFamily="34" charset="0"/>
                <a:ea typeface="Calibri" pitchFamily="34" charset="-122"/>
                <a:cs typeface="Calibri" pitchFamily="34" charset="-120"/>
              </a:rPr>
              <a:t>The Primary-Secondary Distinction Matters for Operations</a:t>
            </a:r>
            <a:endParaRPr lang="en-US" sz="1300" dirty="0"/>
          </a:p>
        </p:txBody>
      </p:sp>
      <p:sp>
        <p:nvSpPr>
          <p:cNvPr id="14" name="Text 12"/>
          <p:cNvSpPr/>
          <p:nvPr/>
        </p:nvSpPr>
        <p:spPr>
          <a:xfrm>
            <a:off x="411480" y="1874520"/>
            <a:ext cx="5394960" cy="1645920"/>
          </a:xfrm>
          <a:prstGeom prst="rect">
            <a:avLst/>
          </a:prstGeom>
          <a:noFill/>
          <a:ln/>
        </p:spPr>
        <p:txBody>
          <a:bodyPr wrap="square" rtlCol="0" anchor="ctr"/>
          <a:lstStyle/>
          <a:p>
            <a:pPr indent="0" marL="0">
              <a:buNone/>
            </a:pPr>
            <a:r>
              <a:rPr lang="en-US" sz="1100" dirty="0">
                <a:solidFill>
                  <a:srgbClr val="1A1A1A"/>
                </a:solidFill>
                <a:latin typeface="Calibri" pitchFamily="34" charset="0"/>
                <a:ea typeface="Calibri" pitchFamily="34" charset="-122"/>
                <a:cs typeface="Calibri" pitchFamily="34" charset="-120"/>
              </a:rPr>
              <a:t>Primary market settlements (IPO allotment, G-Sec auction) have different workflows from secondary market settlements. Primary uses allotment registers; secondary uses exchange confirmation files. Know which you are processing.</a:t>
            </a:r>
            <a:endParaRPr lang="en-US" sz="1100" dirty="0"/>
          </a:p>
        </p:txBody>
      </p:sp>
      <p:sp>
        <p:nvSpPr>
          <p:cNvPr id="15" name="Shape 13"/>
          <p:cNvSpPr/>
          <p:nvPr/>
        </p:nvSpPr>
        <p:spPr>
          <a:xfrm>
            <a:off x="6126480" y="1280160"/>
            <a:ext cx="5669280" cy="2377440"/>
          </a:xfrm>
          <a:prstGeom prst="rect">
            <a:avLst/>
          </a:prstGeom>
          <a:solidFill>
            <a:srgbClr val="D4EFEF"/>
          </a:solidFill>
          <a:ln w="6350">
            <a:solidFill>
              <a:srgbClr val="AAAAAA"/>
            </a:solidFill>
            <a:prstDash val="solid"/>
          </a:ln>
        </p:spPr>
      </p:sp>
      <p:sp>
        <p:nvSpPr>
          <p:cNvPr id="16" name="Shape 14"/>
          <p:cNvSpPr/>
          <p:nvPr/>
        </p:nvSpPr>
        <p:spPr>
          <a:xfrm>
            <a:off x="6217920" y="1371600"/>
            <a:ext cx="457200" cy="457200"/>
          </a:xfrm>
          <a:prstGeom prst="ellipse">
            <a:avLst/>
          </a:prstGeom>
          <a:solidFill>
            <a:srgbClr val="005F5F"/>
          </a:solidFill>
          <a:ln/>
        </p:spPr>
      </p:sp>
      <p:sp>
        <p:nvSpPr>
          <p:cNvPr id="17" name="Text 15"/>
          <p:cNvSpPr/>
          <p:nvPr/>
        </p:nvSpPr>
        <p:spPr>
          <a:xfrm>
            <a:off x="6217920" y="1371600"/>
            <a:ext cx="457200" cy="45720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8" name="Text 16"/>
          <p:cNvSpPr/>
          <p:nvPr/>
        </p:nvSpPr>
        <p:spPr>
          <a:xfrm>
            <a:off x="6766560" y="1371600"/>
            <a:ext cx="4892040" cy="457200"/>
          </a:xfrm>
          <a:prstGeom prst="rect">
            <a:avLst/>
          </a:prstGeom>
          <a:noFill/>
          <a:ln/>
        </p:spPr>
        <p:txBody>
          <a:bodyPr wrap="square" rtlCol="0" anchor="ctr"/>
          <a:lstStyle/>
          <a:p>
            <a:pPr indent="0" marL="0">
              <a:buNone/>
            </a:pPr>
            <a:r>
              <a:rPr lang="en-US" sz="1300" b="1" dirty="0">
                <a:solidFill>
                  <a:srgbClr val="1A1A1A"/>
                </a:solidFill>
                <a:latin typeface="Calibri" pitchFamily="34" charset="0"/>
                <a:ea typeface="Calibri" pitchFamily="34" charset="-122"/>
                <a:cs typeface="Calibri" pitchFamily="34" charset="-120"/>
              </a:rPr>
              <a:t>Money Markets Are Invisible But Massive</a:t>
            </a:r>
            <a:endParaRPr lang="en-US" sz="1300" dirty="0"/>
          </a:p>
        </p:txBody>
      </p:sp>
      <p:sp>
        <p:nvSpPr>
          <p:cNvPr id="19" name="Text 17"/>
          <p:cNvSpPr/>
          <p:nvPr/>
        </p:nvSpPr>
        <p:spPr>
          <a:xfrm>
            <a:off x="6263640" y="1874520"/>
            <a:ext cx="5394960" cy="1645920"/>
          </a:xfrm>
          <a:prstGeom prst="rect">
            <a:avLst/>
          </a:prstGeom>
          <a:noFill/>
          <a:ln/>
        </p:spPr>
        <p:txBody>
          <a:bodyPr wrap="square" rtlCol="0" anchor="ctr"/>
          <a:lstStyle/>
          <a:p>
            <a:pPr indent="0" marL="0">
              <a:buNone/>
            </a:pPr>
            <a:r>
              <a:rPr lang="en-US" sz="1100" dirty="0">
                <a:solidFill>
                  <a:srgbClr val="1A1A1A"/>
                </a:solidFill>
                <a:latin typeface="Calibri" pitchFamily="34" charset="0"/>
                <a:ea typeface="Calibri" pitchFamily="34" charset="-122"/>
                <a:cs typeface="Calibri" pitchFamily="34" charset="-120"/>
              </a:rPr>
              <a:t>The money market rarely makes news — but daily call money volumes in India exceed ₹1 lakh crore. Interbank overnight lending (call money, CBLO) is how banks manage their daily liquidity — and RBI conducts monetary policy through this market.</a:t>
            </a:r>
            <a:endParaRPr lang="en-US" sz="1100" dirty="0"/>
          </a:p>
        </p:txBody>
      </p:sp>
      <p:sp>
        <p:nvSpPr>
          <p:cNvPr id="20" name="Shape 18"/>
          <p:cNvSpPr/>
          <p:nvPr/>
        </p:nvSpPr>
        <p:spPr>
          <a:xfrm>
            <a:off x="274320" y="3840480"/>
            <a:ext cx="5669280" cy="2377440"/>
          </a:xfrm>
          <a:prstGeom prst="rect">
            <a:avLst/>
          </a:prstGeom>
          <a:solidFill>
            <a:srgbClr val="FEF9E7"/>
          </a:solidFill>
          <a:ln w="6350">
            <a:solidFill>
              <a:srgbClr val="AAAAAA"/>
            </a:solidFill>
            <a:prstDash val="solid"/>
          </a:ln>
        </p:spPr>
      </p:sp>
      <p:sp>
        <p:nvSpPr>
          <p:cNvPr id="21" name="Shape 19"/>
          <p:cNvSpPr/>
          <p:nvPr/>
        </p:nvSpPr>
        <p:spPr>
          <a:xfrm>
            <a:off x="365760" y="3931920"/>
            <a:ext cx="457200" cy="457200"/>
          </a:xfrm>
          <a:prstGeom prst="ellipse">
            <a:avLst/>
          </a:prstGeom>
          <a:solidFill>
            <a:srgbClr val="B8860B"/>
          </a:solidFill>
          <a:ln/>
        </p:spPr>
      </p:sp>
      <p:sp>
        <p:nvSpPr>
          <p:cNvPr id="22" name="Text 20"/>
          <p:cNvSpPr/>
          <p:nvPr/>
        </p:nvSpPr>
        <p:spPr>
          <a:xfrm>
            <a:off x="365760" y="3931920"/>
            <a:ext cx="457200" cy="45720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23" name="Text 21"/>
          <p:cNvSpPr/>
          <p:nvPr/>
        </p:nvSpPr>
        <p:spPr>
          <a:xfrm>
            <a:off x="914400" y="3931920"/>
            <a:ext cx="4892040" cy="457200"/>
          </a:xfrm>
          <a:prstGeom prst="rect">
            <a:avLst/>
          </a:prstGeom>
          <a:noFill/>
          <a:ln/>
        </p:spPr>
        <p:txBody>
          <a:bodyPr wrap="square" rtlCol="0" anchor="ctr"/>
          <a:lstStyle/>
          <a:p>
            <a:pPr indent="0" marL="0">
              <a:buNone/>
            </a:pPr>
            <a:r>
              <a:rPr lang="en-US" sz="1300" b="1" dirty="0">
                <a:solidFill>
                  <a:srgbClr val="1A1A1A"/>
                </a:solidFill>
                <a:latin typeface="Calibri" pitchFamily="34" charset="0"/>
                <a:ea typeface="Calibri" pitchFamily="34" charset="-122"/>
                <a:cs typeface="Calibri" pitchFamily="34" charset="-120"/>
              </a:rPr>
              <a:t>The Secondary Market Price Matters Even to the Issuer</a:t>
            </a:r>
            <a:endParaRPr lang="en-US" sz="1300" dirty="0"/>
          </a:p>
        </p:txBody>
      </p:sp>
      <p:sp>
        <p:nvSpPr>
          <p:cNvPr id="24" name="Text 22"/>
          <p:cNvSpPr/>
          <p:nvPr/>
        </p:nvSpPr>
        <p:spPr>
          <a:xfrm>
            <a:off x="411480" y="4434840"/>
            <a:ext cx="5394960" cy="1645920"/>
          </a:xfrm>
          <a:prstGeom prst="rect">
            <a:avLst/>
          </a:prstGeom>
          <a:noFill/>
          <a:ln/>
        </p:spPr>
        <p:txBody>
          <a:bodyPr wrap="square" rtlCol="0" anchor="ctr"/>
          <a:lstStyle/>
          <a:p>
            <a:pPr indent="0" marL="0">
              <a:buNone/>
            </a:pPr>
            <a:r>
              <a:rPr lang="en-US" sz="1100" dirty="0">
                <a:solidFill>
                  <a:srgbClr val="1A1A1A"/>
                </a:solidFill>
                <a:latin typeface="Calibri" pitchFamily="34" charset="0"/>
                <a:ea typeface="Calibri" pitchFamily="34" charset="-122"/>
                <a:cs typeface="Calibri" pitchFamily="34" charset="-120"/>
              </a:rPr>
              <a:t>Paytm received ₹18,300 crore from the IPO. But a low secondary market price: (a) prevents future equity raises at reasonable valuations, (b) erodes ESOP value for employees, (c) signals to the market that the IPO was mispriced. Secondary price IS the company's ongoing cost of capital.</a:t>
            </a:r>
            <a:endParaRPr lang="en-US" sz="1100" dirty="0"/>
          </a:p>
        </p:txBody>
      </p:sp>
      <p:sp>
        <p:nvSpPr>
          <p:cNvPr id="25" name="Shape 23"/>
          <p:cNvSpPr/>
          <p:nvPr/>
        </p:nvSpPr>
        <p:spPr>
          <a:xfrm>
            <a:off x="6126480" y="3840480"/>
            <a:ext cx="5669280" cy="2377440"/>
          </a:xfrm>
          <a:prstGeom prst="rect">
            <a:avLst/>
          </a:prstGeom>
          <a:solidFill>
            <a:srgbClr val="D5E3F0"/>
          </a:solidFill>
          <a:ln w="6350">
            <a:solidFill>
              <a:srgbClr val="AAAAAA"/>
            </a:solidFill>
            <a:prstDash val="solid"/>
          </a:ln>
        </p:spPr>
      </p:sp>
      <p:sp>
        <p:nvSpPr>
          <p:cNvPr id="26" name="Shape 24"/>
          <p:cNvSpPr/>
          <p:nvPr/>
        </p:nvSpPr>
        <p:spPr>
          <a:xfrm>
            <a:off x="6217920" y="3931920"/>
            <a:ext cx="457200" cy="457200"/>
          </a:xfrm>
          <a:prstGeom prst="ellipse">
            <a:avLst/>
          </a:prstGeom>
          <a:solidFill>
            <a:srgbClr val="1E3A5F"/>
          </a:solidFill>
          <a:ln/>
        </p:spPr>
      </p:sp>
      <p:sp>
        <p:nvSpPr>
          <p:cNvPr id="27" name="Text 25"/>
          <p:cNvSpPr/>
          <p:nvPr/>
        </p:nvSpPr>
        <p:spPr>
          <a:xfrm>
            <a:off x="6217920" y="3931920"/>
            <a:ext cx="457200" cy="45720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28" name="Text 26"/>
          <p:cNvSpPr/>
          <p:nvPr/>
        </p:nvSpPr>
        <p:spPr>
          <a:xfrm>
            <a:off x="6766560" y="3931920"/>
            <a:ext cx="4892040" cy="457200"/>
          </a:xfrm>
          <a:prstGeom prst="rect">
            <a:avLst/>
          </a:prstGeom>
          <a:noFill/>
          <a:ln/>
        </p:spPr>
        <p:txBody>
          <a:bodyPr wrap="square" rtlCol="0" anchor="ctr"/>
          <a:lstStyle/>
          <a:p>
            <a:pPr indent="0" marL="0">
              <a:buNone/>
            </a:pPr>
            <a:r>
              <a:rPr lang="en-US" sz="1300" b="1" dirty="0">
                <a:solidFill>
                  <a:srgbClr val="1A1A1A"/>
                </a:solidFill>
                <a:latin typeface="Calibri" pitchFamily="34" charset="0"/>
                <a:ea typeface="Calibri" pitchFamily="34" charset="-122"/>
                <a:cs typeface="Calibri" pitchFamily="34" charset="-120"/>
              </a:rPr>
              <a:t>OTC Markets Are Larger Than Exchange Markets Globally</a:t>
            </a:r>
            <a:endParaRPr lang="en-US" sz="1300" dirty="0"/>
          </a:p>
        </p:txBody>
      </p:sp>
      <p:sp>
        <p:nvSpPr>
          <p:cNvPr id="29" name="Text 27"/>
          <p:cNvSpPr/>
          <p:nvPr/>
        </p:nvSpPr>
        <p:spPr>
          <a:xfrm>
            <a:off x="6263640" y="4434840"/>
            <a:ext cx="5394960" cy="1645920"/>
          </a:xfrm>
          <a:prstGeom prst="rect">
            <a:avLst/>
          </a:prstGeom>
          <a:noFill/>
          <a:ln/>
        </p:spPr>
        <p:txBody>
          <a:bodyPr wrap="square" rtlCol="0" anchor="ctr"/>
          <a:lstStyle/>
          <a:p>
            <a:pPr indent="0" marL="0">
              <a:buNone/>
            </a:pPr>
            <a:r>
              <a:rPr lang="en-US" sz="1100" dirty="0">
                <a:solidFill>
                  <a:srgbClr val="1A1A1A"/>
                </a:solidFill>
                <a:latin typeface="Calibri" pitchFamily="34" charset="0"/>
                <a:ea typeface="Calibri" pitchFamily="34" charset="-122"/>
                <a:cs typeface="Calibri" pitchFamily="34" charset="-120"/>
              </a:rPr>
              <a:t>Despite their relative invisibility, OTC derivative notional outstanding globally exceeds $600 trillion — dwarfing exchange-traded volumes. India's FX and bond markets are predominantly OTC. Operations in these markets requires bilateral confirmation rather than exchange-based settlement.</a:t>
            </a:r>
            <a:endParaRPr lang="en-US" sz="1100" dirty="0"/>
          </a:p>
        </p:txBody>
      </p:sp>
      <p:sp>
        <p:nvSpPr>
          <p:cNvPr id="30" name="Text 28"/>
          <p:cNvSpPr/>
          <p:nvPr/>
        </p:nvSpPr>
        <p:spPr>
          <a:xfrm>
            <a:off x="0" y="6601968"/>
            <a:ext cx="12192000" cy="182880"/>
          </a:xfrm>
          <a:prstGeom prst="rect">
            <a:avLst/>
          </a:prstGeom>
          <a:noFill/>
          <a:ln/>
        </p:spPr>
        <p:txBody>
          <a:bodyPr wrap="square" rtlCol="0" anchor="ctr"/>
          <a:lstStyle/>
          <a:p>
            <a:pPr algn="ctr" indent="0" marL="0">
              <a:buNone/>
            </a:pPr>
            <a:r>
              <a:rPr lang="en-US" sz="800" dirty="0">
                <a:solidFill>
                  <a:srgbClr val="AAAAAA"/>
                </a:solidFill>
                <a:latin typeface="Calibri" pitchFamily="34" charset="0"/>
                <a:ea typeface="Calibri" pitchFamily="34" charset="-122"/>
                <a:cs typeface="Calibri" pitchFamily="34" charset="-120"/>
              </a:rPr>
              <a:t>CIBOP · Module 1 · D1.4</a:t>
            </a:r>
            <a:endParaRPr lang="en-US" sz="8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005F5F"/>
          </a:solidFill>
          <a:ln/>
        </p:spPr>
      </p:sp>
      <p:sp>
        <p:nvSpPr>
          <p:cNvPr id="3" name="Shape 1"/>
          <p:cNvSpPr/>
          <p:nvPr/>
        </p:nvSpPr>
        <p:spPr>
          <a:xfrm>
            <a:off x="0" y="0"/>
            <a:ext cx="12192000" cy="73152"/>
          </a:xfrm>
          <a:prstGeom prst="rect">
            <a:avLst/>
          </a:prstGeom>
          <a:solidFill>
            <a:srgbClr val="B8860B"/>
          </a:solidFill>
          <a:ln/>
        </p:spPr>
      </p:sp>
      <p:sp>
        <p:nvSpPr>
          <p:cNvPr id="4" name="Shape 2"/>
          <p:cNvSpPr/>
          <p:nvPr/>
        </p:nvSpPr>
        <p:spPr>
          <a:xfrm>
            <a:off x="0" y="6784848"/>
            <a:ext cx="12192000" cy="73152"/>
          </a:xfrm>
          <a:prstGeom prst="rect">
            <a:avLst/>
          </a:prstGeom>
          <a:solidFill>
            <a:srgbClr val="B8860B"/>
          </a:solidFill>
          <a:ln/>
        </p:spPr>
      </p:sp>
      <p:sp>
        <p:nvSpPr>
          <p:cNvPr id="5" name="Shape 3"/>
          <p:cNvSpPr/>
          <p:nvPr/>
        </p:nvSpPr>
        <p:spPr>
          <a:xfrm>
            <a:off x="0" y="73152"/>
            <a:ext cx="1828800" cy="347472"/>
          </a:xfrm>
          <a:prstGeom prst="rect">
            <a:avLst/>
          </a:prstGeom>
          <a:solidFill>
            <a:srgbClr val="B8860B"/>
          </a:solidFill>
          <a:ln/>
        </p:spPr>
      </p:sp>
      <p:sp>
        <p:nvSpPr>
          <p:cNvPr id="6" name="Text 4"/>
          <p:cNvSpPr/>
          <p:nvPr/>
        </p:nvSpPr>
        <p:spPr>
          <a:xfrm>
            <a:off x="0" y="73152"/>
            <a:ext cx="1828800" cy="347472"/>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THINK &amp; DISCUSS</a:t>
            </a:r>
            <a:endParaRPr lang="en-US" sz="1000" dirty="0"/>
          </a:p>
        </p:txBody>
      </p:sp>
      <p:sp>
        <p:nvSpPr>
          <p:cNvPr id="7" name="Shape 5"/>
          <p:cNvSpPr/>
          <p:nvPr/>
        </p:nvSpPr>
        <p:spPr>
          <a:xfrm>
            <a:off x="10360152" y="73152"/>
            <a:ext cx="1828800" cy="347472"/>
          </a:xfrm>
          <a:prstGeom prst="rect">
            <a:avLst/>
          </a:prstGeom>
          <a:solidFill>
            <a:srgbClr val="005F5F"/>
          </a:solidFill>
          <a:ln/>
        </p:spPr>
      </p:sp>
      <p:sp>
        <p:nvSpPr>
          <p:cNvPr id="8" name="Text 6"/>
          <p:cNvSpPr/>
          <p:nvPr/>
        </p:nvSpPr>
        <p:spPr>
          <a:xfrm>
            <a:off x="10360152" y="73152"/>
            <a:ext cx="1828800" cy="347472"/>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D1.4</a:t>
            </a:r>
            <a:endParaRPr lang="en-US" sz="1000" dirty="0"/>
          </a:p>
        </p:txBody>
      </p:sp>
      <p:sp>
        <p:nvSpPr>
          <p:cNvPr id="9" name="Shape 7"/>
          <p:cNvSpPr/>
          <p:nvPr/>
        </p:nvSpPr>
        <p:spPr>
          <a:xfrm>
            <a:off x="365760" y="914400"/>
            <a:ext cx="11155680" cy="3840480"/>
          </a:xfrm>
          <a:prstGeom prst="rect">
            <a:avLst/>
          </a:prstGeom>
          <a:solidFill>
            <a:srgbClr val="004444"/>
          </a:solidFill>
          <a:ln w="12700">
            <a:solidFill>
              <a:srgbClr val="B8860B"/>
            </a:solidFill>
            <a:prstDash val="solid"/>
          </a:ln>
        </p:spPr>
      </p:sp>
      <p:sp>
        <p:nvSpPr>
          <p:cNvPr id="10" name="Text 8"/>
          <p:cNvSpPr/>
          <p:nvPr/>
        </p:nvSpPr>
        <p:spPr>
          <a:xfrm>
            <a:off x="9144000" y="548640"/>
            <a:ext cx="2926080" cy="457200"/>
          </a:xfrm>
          <a:prstGeom prst="rect">
            <a:avLst/>
          </a:prstGeom>
          <a:noFill/>
          <a:ln/>
        </p:spPr>
        <p:txBody>
          <a:bodyPr wrap="square" rtlCol="0" anchor="ctr"/>
          <a:lstStyle/>
          <a:p>
            <a:pPr algn="r" indent="0" marL="0">
              <a:buNone/>
            </a:pPr>
            <a:r>
              <a:rPr lang="en-US" sz="1400" b="1" dirty="0">
                <a:solidFill>
                  <a:srgbClr val="B8860B"/>
                </a:solidFill>
                <a:latin typeface="Calibri" pitchFamily="34" charset="0"/>
                <a:ea typeface="Calibri" pitchFamily="34" charset="-122"/>
                <a:cs typeface="Calibri" pitchFamily="34" charset="-120"/>
              </a:rPr>
              <a:t>🕐  2 MINUTES</a:t>
            </a:r>
            <a:endParaRPr lang="en-US" sz="1400" dirty="0"/>
          </a:p>
        </p:txBody>
      </p:sp>
      <p:sp>
        <p:nvSpPr>
          <p:cNvPr id="11" name="Text 9"/>
          <p:cNvSpPr/>
          <p:nvPr/>
        </p:nvSpPr>
        <p:spPr>
          <a:xfrm>
            <a:off x="640080" y="1188720"/>
            <a:ext cx="10607040" cy="3108960"/>
          </a:xfrm>
          <a:prstGeom prst="rect">
            <a:avLst/>
          </a:prstGeom>
          <a:noFill/>
          <a:ln/>
        </p:spPr>
        <p:txBody>
          <a:bodyPr wrap="square"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"Why would a company CARE about its secondary market share price after its IPO is complete? It has already received the money. Convince your partner why the secondary price matters."</a:t>
            </a:r>
            <a:endParaRPr lang="en-US" sz="2000" dirty="0"/>
          </a:p>
        </p:txBody>
      </p:sp>
      <p:sp>
        <p:nvSpPr>
          <p:cNvPr id="12" name="Shape 10"/>
          <p:cNvSpPr/>
          <p:nvPr/>
        </p:nvSpPr>
        <p:spPr>
          <a:xfrm>
            <a:off x="0" y="5029200"/>
            <a:ext cx="12192000" cy="914400"/>
          </a:xfrm>
          <a:prstGeom prst="rect">
            <a:avLst/>
          </a:prstGeom>
          <a:solidFill>
            <a:srgbClr val="003333"/>
          </a:solidFill>
          <a:ln/>
        </p:spPr>
      </p:sp>
      <p:sp>
        <p:nvSpPr>
          <p:cNvPr id="13" name="Text 11"/>
          <p:cNvSpPr/>
          <p:nvPr/>
        </p:nvSpPr>
        <p:spPr>
          <a:xfrm>
            <a:off x="365760" y="5029200"/>
            <a:ext cx="11430000" cy="914400"/>
          </a:xfrm>
          <a:prstGeom prst="rect">
            <a:avLst/>
          </a:prstGeom>
          <a:noFill/>
          <a:ln/>
        </p:spPr>
        <p:txBody>
          <a:bodyPr wrap="square" rtlCol="0" anchor="ctr"/>
          <a:lstStyle/>
          <a:p>
            <a:pPr indent="0" marL="0">
              <a:buNone/>
            </a:pPr>
            <a:r>
              <a:rPr lang="en-US" sz="1400" dirty="0">
                <a:solidFill>
                  <a:srgbClr val="CADCFC"/>
                </a:solidFill>
                <a:latin typeface="Calibri" pitchFamily="34" charset="0"/>
                <a:ea typeface="Calibri" pitchFamily="34" charset="-122"/>
                <a:cs typeface="Calibri" pitchFamily="34" charset="-120"/>
              </a:rPr>
              <a:t>💡  Hint: Think about employee stock options, future fundraising, acquisition currency, and management incentives.</a:t>
            </a:r>
            <a:endParaRPr lang="en-US" sz="1400" dirty="0"/>
          </a:p>
        </p:txBody>
      </p:sp>
      <p:sp>
        <p:nvSpPr>
          <p:cNvPr id="14" name="Text 12"/>
          <p:cNvSpPr/>
          <p:nvPr/>
        </p:nvSpPr>
        <p:spPr>
          <a:xfrm>
            <a:off x="0" y="6601968"/>
            <a:ext cx="12192000" cy="182880"/>
          </a:xfrm>
          <a:prstGeom prst="rect">
            <a:avLst/>
          </a:prstGeom>
          <a:noFill/>
          <a:ln/>
        </p:spPr>
        <p:txBody>
          <a:bodyPr wrap="square" rtlCol="0" anchor="ctr"/>
          <a:lstStyle/>
          <a:p>
            <a:pPr algn="ctr" indent="0" marL="0">
              <a:buNone/>
            </a:pPr>
            <a:r>
              <a:rPr lang="en-US" sz="800" dirty="0">
                <a:solidFill>
                  <a:srgbClr val="AAAAAA"/>
                </a:solidFill>
                <a:latin typeface="Calibri" pitchFamily="34" charset="0"/>
                <a:ea typeface="Calibri" pitchFamily="34" charset="-122"/>
                <a:cs typeface="Calibri" pitchFamily="34" charset="-120"/>
              </a:rPr>
              <a:t>CIBOP · Module 1 · D1.4</a:t>
            </a:r>
            <a:endParaRPr lang="en-US" sz="8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4F6FA"/>
          </a:solidFill>
          <a:ln/>
        </p:spPr>
      </p:sp>
      <p:sp>
        <p:nvSpPr>
          <p:cNvPr id="3" name="Shape 1"/>
          <p:cNvSpPr/>
          <p:nvPr/>
        </p:nvSpPr>
        <p:spPr>
          <a:xfrm>
            <a:off x="0" y="0"/>
            <a:ext cx="12192000" cy="73152"/>
          </a:xfrm>
          <a:prstGeom prst="rect">
            <a:avLst/>
          </a:prstGeom>
          <a:solidFill>
            <a:srgbClr val="B8860B"/>
          </a:solidFill>
          <a:ln/>
        </p:spPr>
      </p:sp>
      <p:sp>
        <p:nvSpPr>
          <p:cNvPr id="4" name="Shape 2"/>
          <p:cNvSpPr/>
          <p:nvPr/>
        </p:nvSpPr>
        <p:spPr>
          <a:xfrm>
            <a:off x="0" y="6784848"/>
            <a:ext cx="12192000" cy="73152"/>
          </a:xfrm>
          <a:prstGeom prst="rect">
            <a:avLst/>
          </a:prstGeom>
          <a:solidFill>
            <a:srgbClr val="1E3A5F"/>
          </a:solidFill>
          <a:ln/>
        </p:spPr>
      </p:sp>
      <p:sp>
        <p:nvSpPr>
          <p:cNvPr id="5" name="Shape 3"/>
          <p:cNvSpPr/>
          <p:nvPr/>
        </p:nvSpPr>
        <p:spPr>
          <a:xfrm>
            <a:off x="0" y="73152"/>
            <a:ext cx="1828800" cy="347472"/>
          </a:xfrm>
          <a:prstGeom prst="rect">
            <a:avLst/>
          </a:prstGeom>
          <a:solidFill>
            <a:srgbClr val="B8860B"/>
          </a:solidFill>
          <a:ln/>
        </p:spPr>
      </p:sp>
      <p:sp>
        <p:nvSpPr>
          <p:cNvPr id="6" name="Text 4"/>
          <p:cNvSpPr/>
          <p:nvPr/>
        </p:nvSpPr>
        <p:spPr>
          <a:xfrm>
            <a:off x="0" y="73152"/>
            <a:ext cx="1828800" cy="347472"/>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INTERVIEW READY</a:t>
            </a:r>
            <a:endParaRPr lang="en-US" sz="1000" dirty="0"/>
          </a:p>
        </p:txBody>
      </p:sp>
      <p:sp>
        <p:nvSpPr>
          <p:cNvPr id="7" name="Shape 5"/>
          <p:cNvSpPr/>
          <p:nvPr/>
        </p:nvSpPr>
        <p:spPr>
          <a:xfrm>
            <a:off x="10360152" y="73152"/>
            <a:ext cx="1828800" cy="347472"/>
          </a:xfrm>
          <a:prstGeom prst="rect">
            <a:avLst/>
          </a:prstGeom>
          <a:solidFill>
            <a:srgbClr val="005F5F"/>
          </a:solidFill>
          <a:ln/>
        </p:spPr>
      </p:sp>
      <p:sp>
        <p:nvSpPr>
          <p:cNvPr id="8" name="Text 6"/>
          <p:cNvSpPr/>
          <p:nvPr/>
        </p:nvSpPr>
        <p:spPr>
          <a:xfrm>
            <a:off x="10360152" y="73152"/>
            <a:ext cx="1828800" cy="347472"/>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D1.4</a:t>
            </a:r>
            <a:endParaRPr lang="en-US" sz="1000" dirty="0"/>
          </a:p>
        </p:txBody>
      </p:sp>
      <p:sp>
        <p:nvSpPr>
          <p:cNvPr id="9" name="Shape 7"/>
          <p:cNvSpPr/>
          <p:nvPr/>
        </p:nvSpPr>
        <p:spPr>
          <a:xfrm>
            <a:off x="0" y="420624"/>
            <a:ext cx="12192000" cy="1371600"/>
          </a:xfrm>
          <a:prstGeom prst="rect">
            <a:avLst/>
          </a:prstGeom>
          <a:solidFill>
            <a:srgbClr val="1E3A5F"/>
          </a:solidFill>
          <a:ln/>
        </p:spPr>
      </p:sp>
      <p:sp>
        <p:nvSpPr>
          <p:cNvPr id="10" name="Text 8"/>
          <p:cNvSpPr/>
          <p:nvPr/>
        </p:nvSpPr>
        <p:spPr>
          <a:xfrm>
            <a:off x="365760" y="502920"/>
            <a:ext cx="11430000" cy="365760"/>
          </a:xfrm>
          <a:prstGeom prst="rect">
            <a:avLst/>
          </a:prstGeom>
          <a:noFill/>
          <a:ln/>
        </p:spPr>
        <p:txBody>
          <a:bodyPr wrap="square" rtlCol="0" anchor="ctr"/>
          <a:lstStyle/>
          <a:p>
            <a:pPr indent="0" marL="0">
              <a:buNone/>
            </a:pPr>
            <a:r>
              <a:rPr lang="en-US" sz="1200" b="1" dirty="0">
                <a:solidFill>
                  <a:srgbClr val="B8860B"/>
                </a:solidFill>
                <a:latin typeface="Calibri" pitchFamily="34" charset="0"/>
                <a:ea typeface="Calibri" pitchFamily="34" charset="-122"/>
                <a:cs typeface="Calibri" pitchFamily="34" charset="-120"/>
              </a:rPr>
              <a:t>💼  Interview Question:</a:t>
            </a:r>
            <a:endParaRPr lang="en-US" sz="1200" dirty="0"/>
          </a:p>
        </p:txBody>
      </p:sp>
      <p:sp>
        <p:nvSpPr>
          <p:cNvPr id="11" name="Text 9"/>
          <p:cNvSpPr/>
          <p:nvPr/>
        </p:nvSpPr>
        <p:spPr>
          <a:xfrm>
            <a:off x="365760" y="914400"/>
            <a:ext cx="11430000" cy="822960"/>
          </a:xfrm>
          <a:prstGeom prst="rect">
            <a:avLst/>
          </a:prstGeom>
          <a:noFill/>
          <a:ln/>
        </p:spPr>
        <p:txBody>
          <a:bodyPr wrap="square"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"Explain the difference between primary and secondary markets, and between money markets and capital markets."</a:t>
            </a:r>
            <a:endParaRPr lang="en-US" sz="1700" dirty="0"/>
          </a:p>
        </p:txBody>
      </p:sp>
      <p:sp>
        <p:nvSpPr>
          <p:cNvPr id="12" name="Text 10"/>
          <p:cNvSpPr/>
          <p:nvPr/>
        </p:nvSpPr>
        <p:spPr>
          <a:xfrm>
            <a:off x="365760" y="1965960"/>
            <a:ext cx="11430000" cy="365760"/>
          </a:xfrm>
          <a:prstGeom prst="rect">
            <a:avLst/>
          </a:prstGeom>
          <a:noFill/>
          <a:ln/>
        </p:spPr>
        <p:txBody>
          <a:bodyPr wrap="square" rtlCol="0" anchor="ctr"/>
          <a:lstStyle/>
          <a:p>
            <a:pPr indent="0" marL="0">
              <a:buNone/>
            </a:pPr>
            <a:r>
              <a:rPr lang="en-US" sz="1200" b="1" dirty="0">
                <a:solidFill>
                  <a:srgbClr val="005F5F"/>
                </a:solidFill>
                <a:latin typeface="Calibri" pitchFamily="34" charset="0"/>
                <a:ea typeface="Calibri" pitchFamily="34" charset="-122"/>
                <a:cs typeface="Calibri" pitchFamily="34" charset="-120"/>
              </a:rPr>
              <a:t>STRONG ANSWER FRAMEWORK  (4 points):</a:t>
            </a:r>
            <a:endParaRPr lang="en-US" sz="1200" dirty="0"/>
          </a:p>
        </p:txBody>
      </p:sp>
      <p:sp>
        <p:nvSpPr>
          <p:cNvPr id="13" name="Shape 11"/>
          <p:cNvSpPr/>
          <p:nvPr/>
        </p:nvSpPr>
        <p:spPr>
          <a:xfrm>
            <a:off x="274320" y="2423160"/>
            <a:ext cx="457200" cy="640080"/>
          </a:xfrm>
          <a:prstGeom prst="rect">
            <a:avLst/>
          </a:prstGeom>
          <a:solidFill>
            <a:srgbClr val="1E3A5F"/>
          </a:solidFill>
          <a:ln/>
        </p:spPr>
      </p:sp>
      <p:sp>
        <p:nvSpPr>
          <p:cNvPr id="14" name="Text 12"/>
          <p:cNvSpPr/>
          <p:nvPr/>
        </p:nvSpPr>
        <p:spPr>
          <a:xfrm>
            <a:off x="274320" y="2423160"/>
            <a:ext cx="457200" cy="64008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5" name="Shape 13"/>
          <p:cNvSpPr/>
          <p:nvPr/>
        </p:nvSpPr>
        <p:spPr>
          <a:xfrm>
            <a:off x="822960" y="2423160"/>
            <a:ext cx="11064240" cy="640080"/>
          </a:xfrm>
          <a:prstGeom prst="rect">
            <a:avLst/>
          </a:prstGeom>
          <a:solidFill>
            <a:srgbClr val="D5E3F0"/>
          </a:solidFill>
          <a:ln w="6350">
            <a:solidFill>
              <a:srgbClr val="AAAAAA"/>
            </a:solidFill>
            <a:prstDash val="solid"/>
          </a:ln>
        </p:spPr>
      </p:sp>
      <p:sp>
        <p:nvSpPr>
          <p:cNvPr id="16" name="Text 14"/>
          <p:cNvSpPr/>
          <p:nvPr/>
        </p:nvSpPr>
        <p:spPr>
          <a:xfrm>
            <a:off x="914400" y="2423160"/>
            <a:ext cx="10881360" cy="640080"/>
          </a:xfrm>
          <a:prstGeom prst="rect">
            <a:avLst/>
          </a:prstGeom>
          <a:noFill/>
          <a:ln/>
        </p:spPr>
        <p:txBody>
          <a:bodyPr wrap="square" rtlCol="0" anchor="ctr"/>
          <a:lstStyle/>
          <a:p>
            <a:pPr indent="0" marL="0">
              <a:buNone/>
            </a:pPr>
            <a:r>
              <a:rPr lang="en-US" sz="1300" dirty="0">
                <a:solidFill>
                  <a:srgbClr val="1A1A1A"/>
                </a:solidFill>
                <a:latin typeface="Calibri" pitchFamily="34" charset="0"/>
                <a:ea typeface="Calibri" pitchFamily="34" charset="-122"/>
                <a:cs typeface="Calibri" pitchFamily="34" charset="-120"/>
              </a:rPr>
              <a:t>Primary market: new securities are issued and the issuer receives the proceeds (IPO, FPO, bond issuance). Secondary market: existing securities trade between investors — the issuer receives nothing but the price signals its ongoing cost of capital.</a:t>
            </a:r>
            <a:endParaRPr lang="en-US" sz="1300" dirty="0"/>
          </a:p>
        </p:txBody>
      </p:sp>
      <p:sp>
        <p:nvSpPr>
          <p:cNvPr id="17" name="Shape 15"/>
          <p:cNvSpPr/>
          <p:nvPr/>
        </p:nvSpPr>
        <p:spPr>
          <a:xfrm>
            <a:off x="274320" y="3337560"/>
            <a:ext cx="457200" cy="640080"/>
          </a:xfrm>
          <a:prstGeom prst="rect">
            <a:avLst/>
          </a:prstGeom>
          <a:solidFill>
            <a:srgbClr val="1E3A5F"/>
          </a:solidFill>
          <a:ln/>
        </p:spPr>
      </p:sp>
      <p:sp>
        <p:nvSpPr>
          <p:cNvPr id="18" name="Text 16"/>
          <p:cNvSpPr/>
          <p:nvPr/>
        </p:nvSpPr>
        <p:spPr>
          <a:xfrm>
            <a:off x="274320" y="3337560"/>
            <a:ext cx="457200" cy="64008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9" name="Shape 17"/>
          <p:cNvSpPr/>
          <p:nvPr/>
        </p:nvSpPr>
        <p:spPr>
          <a:xfrm>
            <a:off x="822960" y="3337560"/>
            <a:ext cx="11064240" cy="640080"/>
          </a:xfrm>
          <a:prstGeom prst="rect">
            <a:avLst/>
          </a:prstGeom>
          <a:solidFill>
            <a:srgbClr val="FFFFFF"/>
          </a:solidFill>
          <a:ln w="6350">
            <a:solidFill>
              <a:srgbClr val="AAAAAA"/>
            </a:solidFill>
            <a:prstDash val="solid"/>
          </a:ln>
        </p:spPr>
      </p:sp>
      <p:sp>
        <p:nvSpPr>
          <p:cNvPr id="20" name="Text 18"/>
          <p:cNvSpPr/>
          <p:nvPr/>
        </p:nvSpPr>
        <p:spPr>
          <a:xfrm>
            <a:off x="914400" y="3337560"/>
            <a:ext cx="10881360" cy="640080"/>
          </a:xfrm>
          <a:prstGeom prst="rect">
            <a:avLst/>
          </a:prstGeom>
          <a:noFill/>
          <a:ln/>
        </p:spPr>
        <p:txBody>
          <a:bodyPr wrap="square" rtlCol="0" anchor="ctr"/>
          <a:lstStyle/>
          <a:p>
            <a:pPr indent="0" marL="0">
              <a:buNone/>
            </a:pPr>
            <a:r>
              <a:rPr lang="en-US" sz="1300" dirty="0">
                <a:solidFill>
                  <a:srgbClr val="1A1A1A"/>
                </a:solidFill>
                <a:latin typeface="Calibri" pitchFamily="34" charset="0"/>
                <a:ea typeface="Calibri" pitchFamily="34" charset="-122"/>
                <a:cs typeface="Calibri" pitchFamily="34" charset="-120"/>
              </a:rPr>
              <a:t>Money market: instruments with maturities under one year — T-Bills, Commercial Paper, CDs, call money — used for short-term liquidity management. Capital market: long-dated instruments — equities, bonds over one year — for long-term investment and financing.</a:t>
            </a:r>
            <a:endParaRPr lang="en-US" sz="1300" dirty="0"/>
          </a:p>
        </p:txBody>
      </p:sp>
      <p:sp>
        <p:nvSpPr>
          <p:cNvPr id="21" name="Shape 19"/>
          <p:cNvSpPr/>
          <p:nvPr/>
        </p:nvSpPr>
        <p:spPr>
          <a:xfrm>
            <a:off x="274320" y="4251960"/>
            <a:ext cx="457200" cy="640080"/>
          </a:xfrm>
          <a:prstGeom prst="rect">
            <a:avLst/>
          </a:prstGeom>
          <a:solidFill>
            <a:srgbClr val="1E3A5F"/>
          </a:solidFill>
          <a:ln/>
        </p:spPr>
      </p:sp>
      <p:sp>
        <p:nvSpPr>
          <p:cNvPr id="22" name="Text 20"/>
          <p:cNvSpPr/>
          <p:nvPr/>
        </p:nvSpPr>
        <p:spPr>
          <a:xfrm>
            <a:off x="274320" y="4251960"/>
            <a:ext cx="457200" cy="64008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3" name="Shape 21"/>
          <p:cNvSpPr/>
          <p:nvPr/>
        </p:nvSpPr>
        <p:spPr>
          <a:xfrm>
            <a:off x="822960" y="4251960"/>
            <a:ext cx="11064240" cy="640080"/>
          </a:xfrm>
          <a:prstGeom prst="rect">
            <a:avLst/>
          </a:prstGeom>
          <a:solidFill>
            <a:srgbClr val="D5E3F0"/>
          </a:solidFill>
          <a:ln w="6350">
            <a:solidFill>
              <a:srgbClr val="AAAAAA"/>
            </a:solidFill>
            <a:prstDash val="solid"/>
          </a:ln>
        </p:spPr>
      </p:sp>
      <p:sp>
        <p:nvSpPr>
          <p:cNvPr id="24" name="Text 22"/>
          <p:cNvSpPr/>
          <p:nvPr/>
        </p:nvSpPr>
        <p:spPr>
          <a:xfrm>
            <a:off x="914400" y="4251960"/>
            <a:ext cx="10881360" cy="640080"/>
          </a:xfrm>
          <a:prstGeom prst="rect">
            <a:avLst/>
          </a:prstGeom>
          <a:noFill/>
          <a:ln/>
        </p:spPr>
        <p:txBody>
          <a:bodyPr wrap="square" rtlCol="0" anchor="ctr"/>
          <a:lstStyle/>
          <a:p>
            <a:pPr indent="0" marL="0">
              <a:buNone/>
            </a:pPr>
            <a:r>
              <a:rPr lang="en-US" sz="1300" dirty="0">
                <a:solidFill>
                  <a:srgbClr val="1A1A1A"/>
                </a:solidFill>
                <a:latin typeface="Calibri" pitchFamily="34" charset="0"/>
                <a:ea typeface="Calibri" pitchFamily="34" charset="-122"/>
                <a:cs typeface="Calibri" pitchFamily="34" charset="-120"/>
              </a:rPr>
              <a:t>These two classifications are independent — a primary market transaction can be money market (new T-Bill auction) or capital market (new IPO). A secondary market transaction can also be in either segment.</a:t>
            </a:r>
            <a:endParaRPr lang="en-US" sz="1300" dirty="0"/>
          </a:p>
        </p:txBody>
      </p:sp>
      <p:sp>
        <p:nvSpPr>
          <p:cNvPr id="25" name="Shape 23"/>
          <p:cNvSpPr/>
          <p:nvPr/>
        </p:nvSpPr>
        <p:spPr>
          <a:xfrm>
            <a:off x="274320" y="5166360"/>
            <a:ext cx="457200" cy="640080"/>
          </a:xfrm>
          <a:prstGeom prst="rect">
            <a:avLst/>
          </a:prstGeom>
          <a:solidFill>
            <a:srgbClr val="1E3A5F"/>
          </a:solidFill>
          <a:ln/>
        </p:spPr>
      </p:sp>
      <p:sp>
        <p:nvSpPr>
          <p:cNvPr id="26" name="Text 24"/>
          <p:cNvSpPr/>
          <p:nvPr/>
        </p:nvSpPr>
        <p:spPr>
          <a:xfrm>
            <a:off x="274320" y="5166360"/>
            <a:ext cx="457200" cy="64008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7" name="Shape 25"/>
          <p:cNvSpPr/>
          <p:nvPr/>
        </p:nvSpPr>
        <p:spPr>
          <a:xfrm>
            <a:off x="822960" y="5166360"/>
            <a:ext cx="11064240" cy="640080"/>
          </a:xfrm>
          <a:prstGeom prst="rect">
            <a:avLst/>
          </a:prstGeom>
          <a:solidFill>
            <a:srgbClr val="FFFFFF"/>
          </a:solidFill>
          <a:ln w="6350">
            <a:solidFill>
              <a:srgbClr val="AAAAAA"/>
            </a:solidFill>
            <a:prstDash val="solid"/>
          </a:ln>
        </p:spPr>
      </p:sp>
      <p:sp>
        <p:nvSpPr>
          <p:cNvPr id="28" name="Text 26"/>
          <p:cNvSpPr/>
          <p:nvPr/>
        </p:nvSpPr>
        <p:spPr>
          <a:xfrm>
            <a:off x="914400" y="5166360"/>
            <a:ext cx="10881360" cy="640080"/>
          </a:xfrm>
          <a:prstGeom prst="rect">
            <a:avLst/>
          </a:prstGeom>
          <a:noFill/>
          <a:ln/>
        </p:spPr>
        <p:txBody>
          <a:bodyPr wrap="square" rtlCol="0" anchor="ctr"/>
          <a:lstStyle/>
          <a:p>
            <a:pPr indent="0" marL="0">
              <a:buNone/>
            </a:pPr>
            <a:r>
              <a:rPr lang="en-US" sz="1300" dirty="0">
                <a:solidFill>
                  <a:srgbClr val="1A1A1A"/>
                </a:solidFill>
                <a:latin typeface="Calibri" pitchFamily="34" charset="0"/>
                <a:ea typeface="Calibri" pitchFamily="34" charset="-122"/>
                <a:cs typeface="Calibri" pitchFamily="34" charset="-120"/>
              </a:rPr>
              <a:t>In operations, understanding market type determines our workflow: primary market allotments use different settlement instructions from secondary exchange trades; money market instruments settle on different cycles from equity trades.</a:t>
            </a:r>
            <a:endParaRPr lang="en-US" sz="1300" dirty="0"/>
          </a:p>
        </p:txBody>
      </p:sp>
      <p:sp>
        <p:nvSpPr>
          <p:cNvPr id="29" name="Text 27"/>
          <p:cNvSpPr/>
          <p:nvPr/>
        </p:nvSpPr>
        <p:spPr>
          <a:xfrm>
            <a:off x="0" y="6601968"/>
            <a:ext cx="12192000" cy="182880"/>
          </a:xfrm>
          <a:prstGeom prst="rect">
            <a:avLst/>
          </a:prstGeom>
          <a:noFill/>
          <a:ln/>
        </p:spPr>
        <p:txBody>
          <a:bodyPr wrap="square" rtlCol="0" anchor="ctr"/>
          <a:lstStyle/>
          <a:p>
            <a:pPr algn="ctr" indent="0" marL="0">
              <a:buNone/>
            </a:pPr>
            <a:r>
              <a:rPr lang="en-US" sz="800" dirty="0">
                <a:solidFill>
                  <a:srgbClr val="AAAAAA"/>
                </a:solidFill>
                <a:latin typeface="Calibri" pitchFamily="34" charset="0"/>
                <a:ea typeface="Calibri" pitchFamily="34" charset="-122"/>
                <a:cs typeface="Calibri" pitchFamily="34" charset="-120"/>
              </a:rPr>
              <a:t>CIBOP · Module 1 · D1.4</a:t>
            </a:r>
            <a:endParaRPr lang="en-US" sz="8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1E3A5F"/>
          </a:solidFill>
          <a:ln/>
        </p:spPr>
      </p:sp>
      <p:sp>
        <p:nvSpPr>
          <p:cNvPr id="3" name="Shape 1"/>
          <p:cNvSpPr/>
          <p:nvPr/>
        </p:nvSpPr>
        <p:spPr>
          <a:xfrm>
            <a:off x="0" y="0"/>
            <a:ext cx="12192000" cy="73152"/>
          </a:xfrm>
          <a:prstGeom prst="rect">
            <a:avLst/>
          </a:prstGeom>
          <a:solidFill>
            <a:srgbClr val="B8860B"/>
          </a:solidFill>
          <a:ln/>
        </p:spPr>
      </p:sp>
      <p:sp>
        <p:nvSpPr>
          <p:cNvPr id="4" name="Shape 2"/>
          <p:cNvSpPr/>
          <p:nvPr/>
        </p:nvSpPr>
        <p:spPr>
          <a:xfrm>
            <a:off x="0" y="6784848"/>
            <a:ext cx="12192000" cy="73152"/>
          </a:xfrm>
          <a:prstGeom prst="rect">
            <a:avLst/>
          </a:prstGeom>
          <a:solidFill>
            <a:srgbClr val="B8860B"/>
          </a:solidFill>
          <a:ln/>
        </p:spPr>
      </p:sp>
      <p:sp>
        <p:nvSpPr>
          <p:cNvPr id="5" name="Shape 3"/>
          <p:cNvSpPr/>
          <p:nvPr/>
        </p:nvSpPr>
        <p:spPr>
          <a:xfrm>
            <a:off x="0" y="73152"/>
            <a:ext cx="1828800" cy="347472"/>
          </a:xfrm>
          <a:prstGeom prst="rect">
            <a:avLst/>
          </a:prstGeom>
          <a:solidFill>
            <a:srgbClr val="B8860B"/>
          </a:solidFill>
          <a:ln/>
        </p:spPr>
      </p:sp>
      <p:sp>
        <p:nvSpPr>
          <p:cNvPr id="6" name="Text 4"/>
          <p:cNvSpPr/>
          <p:nvPr/>
        </p:nvSpPr>
        <p:spPr>
          <a:xfrm>
            <a:off x="0" y="73152"/>
            <a:ext cx="1828800" cy="347472"/>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QUICK RECAP</a:t>
            </a:r>
            <a:endParaRPr lang="en-US" sz="1000" dirty="0"/>
          </a:p>
        </p:txBody>
      </p:sp>
      <p:sp>
        <p:nvSpPr>
          <p:cNvPr id="7" name="Shape 5"/>
          <p:cNvSpPr/>
          <p:nvPr/>
        </p:nvSpPr>
        <p:spPr>
          <a:xfrm>
            <a:off x="10360152" y="73152"/>
            <a:ext cx="1828800" cy="347472"/>
          </a:xfrm>
          <a:prstGeom prst="rect">
            <a:avLst/>
          </a:prstGeom>
          <a:solidFill>
            <a:srgbClr val="005F5F"/>
          </a:solidFill>
          <a:ln/>
        </p:spPr>
      </p:sp>
      <p:sp>
        <p:nvSpPr>
          <p:cNvPr id="8" name="Text 6"/>
          <p:cNvSpPr/>
          <p:nvPr/>
        </p:nvSpPr>
        <p:spPr>
          <a:xfrm>
            <a:off x="10360152" y="73152"/>
            <a:ext cx="1828800" cy="347472"/>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D1.5</a:t>
            </a:r>
            <a:endParaRPr lang="en-US" sz="1000" dirty="0"/>
          </a:p>
        </p:txBody>
      </p:sp>
      <p:sp>
        <p:nvSpPr>
          <p:cNvPr id="9" name="Text 7"/>
          <p:cNvSpPr/>
          <p:nvPr/>
        </p:nvSpPr>
        <p:spPr>
          <a:xfrm>
            <a:off x="8686800" y="1097280"/>
            <a:ext cx="3200400" cy="4572000"/>
          </a:xfrm>
          <a:prstGeom prst="rect">
            <a:avLst/>
          </a:prstGeom>
          <a:noFill/>
          <a:ln/>
        </p:spPr>
        <p:txBody>
          <a:bodyPr wrap="square" rtlCol="0" anchor="ctr"/>
          <a:lstStyle/>
          <a:p>
            <a:pPr algn="ctr" indent="0" marL="0">
              <a:buNone/>
            </a:pPr>
            <a:r>
              <a:rPr lang="en-US" sz="20000" b="1" dirty="0">
                <a:solidFill>
                  <a:srgbClr val="2E4A6E"/>
                </a:solidFill>
                <a:latin typeface="Calibri" pitchFamily="34" charset="0"/>
                <a:ea typeface="Calibri" pitchFamily="34" charset="-122"/>
                <a:cs typeface="Calibri" pitchFamily="34" charset="-120"/>
              </a:rPr>
              <a:t>?</a:t>
            </a:r>
            <a:endParaRPr lang="en-US" sz="20000" dirty="0"/>
          </a:p>
        </p:txBody>
      </p:sp>
      <p:sp>
        <p:nvSpPr>
          <p:cNvPr id="10" name="Text 8"/>
          <p:cNvSpPr/>
          <p:nvPr/>
        </p:nvSpPr>
        <p:spPr>
          <a:xfrm>
            <a:off x="365760" y="548640"/>
            <a:ext cx="8229600" cy="457200"/>
          </a:xfrm>
          <a:prstGeom prst="rect">
            <a:avLst/>
          </a:prstGeom>
          <a:noFill/>
          <a:ln/>
        </p:spPr>
        <p:txBody>
          <a:bodyPr wrap="square" rtlCol="0" anchor="ctr"/>
          <a:lstStyle/>
          <a:p>
            <a:pPr indent="0" marL="0">
              <a:buNone/>
            </a:pPr>
            <a:r>
              <a:rPr lang="en-US" sz="1400" b="1" dirty="0">
                <a:solidFill>
                  <a:srgbClr val="B8860B"/>
                </a:solidFill>
                <a:latin typeface="Calibri" pitchFamily="34" charset="0"/>
                <a:ea typeface="Calibri" pitchFamily="34" charset="-122"/>
                <a:cs typeface="Calibri" pitchFamily="34" charset="-120"/>
              </a:rPr>
              <a:t>D1.5  —  Capital Markets</a:t>
            </a:r>
            <a:endParaRPr lang="en-US" sz="1400" dirty="0"/>
          </a:p>
        </p:txBody>
      </p:sp>
      <p:sp>
        <p:nvSpPr>
          <p:cNvPr id="11" name="Text 9"/>
          <p:cNvSpPr/>
          <p:nvPr/>
        </p:nvSpPr>
        <p:spPr>
          <a:xfrm>
            <a:off x="365760" y="1280160"/>
            <a:ext cx="8229600" cy="3474720"/>
          </a:xfrm>
          <a:prstGeom prst="rect">
            <a:avLst/>
          </a:prstGeom>
          <a:noFill/>
          <a:ln/>
        </p:spPr>
        <p:txBody>
          <a:bodyPr wrap="square"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"Capital markets let borrowers skip banks. So what are banks for?"</a:t>
            </a:r>
            <a:endParaRPr lang="en-US" sz="2600" dirty="0"/>
          </a:p>
        </p:txBody>
      </p:sp>
      <p:sp>
        <p:nvSpPr>
          <p:cNvPr id="12" name="Shape 10"/>
          <p:cNvSpPr/>
          <p:nvPr/>
        </p:nvSpPr>
        <p:spPr>
          <a:xfrm>
            <a:off x="365760" y="5029200"/>
            <a:ext cx="8229600" cy="731520"/>
          </a:xfrm>
          <a:prstGeom prst="rect">
            <a:avLst/>
          </a:prstGeom>
          <a:solidFill>
            <a:srgbClr val="2E4A6E"/>
          </a:solidFill>
          <a:ln/>
        </p:spPr>
      </p:sp>
      <p:sp>
        <p:nvSpPr>
          <p:cNvPr id="13" name="Text 11"/>
          <p:cNvSpPr/>
          <p:nvPr/>
        </p:nvSpPr>
        <p:spPr>
          <a:xfrm>
            <a:off x="365760" y="5029200"/>
            <a:ext cx="8229600" cy="731520"/>
          </a:xfrm>
          <a:prstGeom prst="rect">
            <a:avLst/>
          </a:prstGeom>
          <a:noFill/>
          <a:ln/>
        </p:spPr>
        <p:txBody>
          <a:bodyPr wrap="square" rtlCol="0" anchor="ctr"/>
          <a:lstStyle/>
          <a:p>
            <a:pPr algn="l" indent="0" marL="0">
              <a:buNone/>
            </a:pPr>
            <a:r>
              <a:rPr lang="en-US" sz="1100" i="1" dirty="0">
                <a:solidFill>
                  <a:srgbClr val="CADCFC"/>
                </a:solidFill>
                <a:latin typeface="Calibri" pitchFamily="34" charset="0"/>
                <a:ea typeface="Calibri" pitchFamily="34" charset="-122"/>
                <a:cs typeface="Calibri" pitchFamily="34" charset="-120"/>
              </a:rPr>
              <a:t>📹  From: D1.5 · Video 1 — What Capital Markets Do (EAR: EXPLAIN)</a:t>
            </a:r>
            <a:endParaRPr lang="en-US" sz="1100" dirty="0"/>
          </a:p>
        </p:txBody>
      </p:sp>
      <p:sp>
        <p:nvSpPr>
          <p:cNvPr id="14" name="Text 12"/>
          <p:cNvSpPr/>
          <p:nvPr/>
        </p:nvSpPr>
        <p:spPr>
          <a:xfrm>
            <a:off x="0" y="6601968"/>
            <a:ext cx="12192000" cy="182880"/>
          </a:xfrm>
          <a:prstGeom prst="rect">
            <a:avLst/>
          </a:prstGeom>
          <a:noFill/>
          <a:ln/>
        </p:spPr>
        <p:txBody>
          <a:bodyPr wrap="square" rtlCol="0" anchor="ctr"/>
          <a:lstStyle/>
          <a:p>
            <a:pPr algn="ctr" indent="0" marL="0">
              <a:buNone/>
            </a:pPr>
            <a:r>
              <a:rPr lang="en-US" sz="800" dirty="0">
                <a:solidFill>
                  <a:srgbClr val="AAAAAA"/>
                </a:solidFill>
                <a:latin typeface="Calibri" pitchFamily="34" charset="0"/>
                <a:ea typeface="Calibri" pitchFamily="34" charset="-122"/>
                <a:cs typeface="Calibri" pitchFamily="34" charset="-120"/>
              </a:rPr>
              <a:t>CIBOP · Module 1 · D1.5</a:t>
            </a:r>
            <a:endParaRPr lang="en-US" sz="8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4F6FA"/>
          </a:solidFill>
          <a:ln/>
        </p:spPr>
      </p:sp>
      <p:sp>
        <p:nvSpPr>
          <p:cNvPr id="3" name="Shape 1"/>
          <p:cNvSpPr/>
          <p:nvPr/>
        </p:nvSpPr>
        <p:spPr>
          <a:xfrm>
            <a:off x="0" y="0"/>
            <a:ext cx="12192000" cy="73152"/>
          </a:xfrm>
          <a:prstGeom prst="rect">
            <a:avLst/>
          </a:prstGeom>
          <a:solidFill>
            <a:srgbClr val="1E3A5F"/>
          </a:solidFill>
          <a:ln/>
        </p:spPr>
      </p:sp>
      <p:sp>
        <p:nvSpPr>
          <p:cNvPr id="4" name="Shape 2"/>
          <p:cNvSpPr/>
          <p:nvPr/>
        </p:nvSpPr>
        <p:spPr>
          <a:xfrm>
            <a:off x="0" y="6784848"/>
            <a:ext cx="12192000" cy="73152"/>
          </a:xfrm>
          <a:prstGeom prst="rect">
            <a:avLst/>
          </a:prstGeom>
          <a:solidFill>
            <a:srgbClr val="005F5F"/>
          </a:solidFill>
          <a:ln/>
        </p:spPr>
      </p:sp>
      <p:sp>
        <p:nvSpPr>
          <p:cNvPr id="5" name="Shape 3"/>
          <p:cNvSpPr/>
          <p:nvPr/>
        </p:nvSpPr>
        <p:spPr>
          <a:xfrm>
            <a:off x="0" y="73152"/>
            <a:ext cx="1828800" cy="347472"/>
          </a:xfrm>
          <a:prstGeom prst="rect">
            <a:avLst/>
          </a:prstGeom>
          <a:solidFill>
            <a:srgbClr val="C0392B"/>
          </a:solidFill>
          <a:ln/>
        </p:spPr>
      </p:sp>
      <p:sp>
        <p:nvSpPr>
          <p:cNvPr id="6" name="Text 4"/>
          <p:cNvSpPr/>
          <p:nvPr/>
        </p:nvSpPr>
        <p:spPr>
          <a:xfrm>
            <a:off x="0" y="73152"/>
            <a:ext cx="1828800" cy="347472"/>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SCENARIO</a:t>
            </a:r>
            <a:endParaRPr lang="en-US" sz="1000" dirty="0"/>
          </a:p>
        </p:txBody>
      </p:sp>
      <p:sp>
        <p:nvSpPr>
          <p:cNvPr id="7" name="Shape 5"/>
          <p:cNvSpPr/>
          <p:nvPr/>
        </p:nvSpPr>
        <p:spPr>
          <a:xfrm>
            <a:off x="10360152" y="73152"/>
            <a:ext cx="1828800" cy="347472"/>
          </a:xfrm>
          <a:prstGeom prst="rect">
            <a:avLst/>
          </a:prstGeom>
          <a:solidFill>
            <a:srgbClr val="005F5F"/>
          </a:solidFill>
          <a:ln/>
        </p:spPr>
      </p:sp>
      <p:sp>
        <p:nvSpPr>
          <p:cNvPr id="8" name="Text 6"/>
          <p:cNvSpPr/>
          <p:nvPr/>
        </p:nvSpPr>
        <p:spPr>
          <a:xfrm>
            <a:off x="10360152" y="73152"/>
            <a:ext cx="1828800" cy="347472"/>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D1.5</a:t>
            </a:r>
            <a:endParaRPr lang="en-US" sz="1000" dirty="0"/>
          </a:p>
        </p:txBody>
      </p:sp>
      <p:sp>
        <p:nvSpPr>
          <p:cNvPr id="9" name="Shape 7"/>
          <p:cNvSpPr/>
          <p:nvPr/>
        </p:nvSpPr>
        <p:spPr>
          <a:xfrm>
            <a:off x="0" y="420624"/>
            <a:ext cx="12192000" cy="914400"/>
          </a:xfrm>
          <a:prstGeom prst="rect">
            <a:avLst/>
          </a:prstGeom>
          <a:solidFill>
            <a:srgbClr val="1E3A5F"/>
          </a:solidFill>
          <a:ln/>
        </p:spPr>
      </p:sp>
      <p:sp>
        <p:nvSpPr>
          <p:cNvPr id="10" name="Text 8"/>
          <p:cNvSpPr/>
          <p:nvPr/>
        </p:nvSpPr>
        <p:spPr>
          <a:xfrm>
            <a:off x="365760" y="420624"/>
            <a:ext cx="11430000" cy="914400"/>
          </a:xfrm>
          <a:prstGeom prst="rect">
            <a:avLst/>
          </a:prstGeom>
          <a:noFill/>
          <a:ln/>
        </p:spPr>
        <p:txBody>
          <a:bodyPr wrap="square"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NHAI Raises ₹5,000 Cr via Bonds: Infrastructure Funded by Your Retirement</a:t>
            </a:r>
            <a:endParaRPr lang="en-US" sz="2000" dirty="0"/>
          </a:p>
        </p:txBody>
      </p:sp>
      <p:sp>
        <p:nvSpPr>
          <p:cNvPr id="11" name="Text 9"/>
          <p:cNvSpPr/>
          <p:nvPr/>
        </p:nvSpPr>
        <p:spPr>
          <a:xfrm>
            <a:off x="365760" y="1554480"/>
            <a:ext cx="7498080" cy="2926080"/>
          </a:xfrm>
          <a:prstGeom prst="rect">
            <a:avLst/>
          </a:prstGeom>
          <a:noFill/>
          <a:ln/>
        </p:spPr>
        <p:txBody>
          <a:bodyPr wrap="square" rtlCol="0" anchor="ctr"/>
          <a:lstStyle/>
          <a:p>
            <a:pPr indent="0" marL="0">
              <a:buNone/>
            </a:pPr>
            <a:r>
              <a:rPr lang="en-US" sz="1400" dirty="0">
                <a:solidFill>
                  <a:srgbClr val="1A1A1A"/>
                </a:solidFill>
                <a:latin typeface="Calibri" pitchFamily="34" charset="0"/>
                <a:ea typeface="Calibri" pitchFamily="34" charset="-122"/>
                <a:cs typeface="Calibri" pitchFamily="34" charset="-120"/>
              </a:rPr>
              <a:t>The National Highways Authority of India (NHAI) regularly taps the capital markets by issuing long-dated bonds. In a 2022 issuance, NHAI raised ₹5,000 crore through 15-year bonds at 7.35% yield — subscribed predominantly by insurance companies and pension funds.</a:t>
            </a:r>
            <a:endParaRPr lang="en-US" sz="1400" dirty="0"/>
          </a:p>
          <a:p>
            <a:pPr indent="0" marL="0">
              <a:buNone/>
            </a:pPr>
            <a:endParaRPr lang="en-US" sz="1400" dirty="0"/>
          </a:p>
          <a:p>
            <a:pPr indent="0" marL="0">
              <a:buNone/>
            </a:pPr>
            <a:r>
              <a:rPr lang="en-US" sz="1400" dirty="0">
                <a:solidFill>
                  <a:srgbClr val="1A1A1A"/>
                </a:solidFill>
                <a:latin typeface="Calibri" pitchFamily="34" charset="0"/>
                <a:ea typeface="Calibri" pitchFamily="34" charset="-122"/>
                <a:cs typeface="Calibri" pitchFamily="34" charset="-120"/>
              </a:rPr>
              <a:t>The connection: your LIC premium or EPFO contribution flows into institutional funds, which buy NHAI bonds, which fund highway construction, which reduces transport costs, which helps the economy grow, which protects your retirement income.</a:t>
            </a:r>
            <a:endParaRPr lang="en-US" sz="1400" dirty="0"/>
          </a:p>
        </p:txBody>
      </p:sp>
      <p:sp>
        <p:nvSpPr>
          <p:cNvPr id="12" name="Shape 10"/>
          <p:cNvSpPr/>
          <p:nvPr/>
        </p:nvSpPr>
        <p:spPr>
          <a:xfrm>
            <a:off x="8046720" y="1554480"/>
            <a:ext cx="3931920" cy="2926080"/>
          </a:xfrm>
          <a:prstGeom prst="rect">
            <a:avLst/>
          </a:prstGeom>
          <a:solidFill>
            <a:srgbClr val="D5E3F0"/>
          </a:solidFill>
          <a:ln w="12700">
            <a:solidFill>
              <a:srgbClr val="1E3A5F"/>
            </a:solidFill>
            <a:prstDash val="solid"/>
          </a:ln>
        </p:spPr>
      </p:sp>
      <p:sp>
        <p:nvSpPr>
          <p:cNvPr id="13" name="Text 11"/>
          <p:cNvSpPr/>
          <p:nvPr/>
        </p:nvSpPr>
        <p:spPr>
          <a:xfrm>
            <a:off x="8046720" y="1554480"/>
            <a:ext cx="3931920" cy="2926080"/>
          </a:xfrm>
          <a:prstGeom prst="rect">
            <a:avLst/>
          </a:prstGeom>
          <a:noFill/>
          <a:ln/>
        </p:spPr>
        <p:txBody>
          <a:bodyPr wrap="square" rtlCol="0" anchor="t"/>
          <a:lstStyle/>
          <a:p>
            <a:pPr indent="0" marL="0">
              <a:buNone/>
            </a:pPr>
            <a:r>
              <a:rPr lang="en-US" sz="1300" dirty="0">
                <a:solidFill>
                  <a:srgbClr val="1E3A5F"/>
                </a:solidFill>
                <a:latin typeface="Calibri" pitchFamily="34" charset="0"/>
                <a:ea typeface="Calibri" pitchFamily="34" charset="-122"/>
                <a:cs typeface="Calibri" pitchFamily="34" charset="-120"/>
              </a:rPr>
              <a:t>NHAI 2022:</a:t>
            </a:r>
            <a:endParaRPr lang="en-US" sz="1300" dirty="0"/>
          </a:p>
          <a:p>
            <a:pPr indent="0" marL="0">
              <a:buNone/>
            </a:pPr>
            <a:endParaRPr lang="en-US" sz="1300" dirty="0"/>
          </a:p>
          <a:p>
            <a:pPr indent="0" marL="0">
              <a:buNone/>
            </a:pPr>
            <a:r>
              <a:rPr lang="en-US" sz="1300" dirty="0">
                <a:solidFill>
                  <a:srgbClr val="1E3A5F"/>
                </a:solidFill>
                <a:latin typeface="Calibri" pitchFamily="34" charset="0"/>
                <a:ea typeface="Calibri" pitchFamily="34" charset="-122"/>
                <a:cs typeface="Calibri" pitchFamily="34" charset="-120"/>
              </a:rPr>
              <a:t>₹5,000 Cr</a:t>
            </a:r>
            <a:endParaRPr lang="en-US" sz="1300" dirty="0"/>
          </a:p>
          <a:p>
            <a:pPr indent="0" marL="0">
              <a:buNone/>
            </a:pPr>
            <a:r>
              <a:rPr lang="en-US" sz="1300" dirty="0">
                <a:solidFill>
                  <a:srgbClr val="1E3A5F"/>
                </a:solidFill>
                <a:latin typeface="Calibri" pitchFamily="34" charset="0"/>
                <a:ea typeface="Calibri" pitchFamily="34" charset="-122"/>
                <a:cs typeface="Calibri" pitchFamily="34" charset="-120"/>
              </a:rPr>
              <a:t>bond issuance</a:t>
            </a:r>
            <a:endParaRPr lang="en-US" sz="1300" dirty="0"/>
          </a:p>
          <a:p>
            <a:pPr indent="0" marL="0">
              <a:buNone/>
            </a:pPr>
            <a:endParaRPr lang="en-US" sz="1300" dirty="0"/>
          </a:p>
          <a:p>
            <a:pPr indent="0" marL="0">
              <a:buNone/>
            </a:pPr>
            <a:r>
              <a:rPr lang="en-US" sz="1300" dirty="0">
                <a:solidFill>
                  <a:srgbClr val="1E3A5F"/>
                </a:solidFill>
                <a:latin typeface="Calibri" pitchFamily="34" charset="0"/>
                <a:ea typeface="Calibri" pitchFamily="34" charset="-122"/>
                <a:cs typeface="Calibri" pitchFamily="34" charset="-120"/>
              </a:rPr>
              <a:t>15 years</a:t>
            </a:r>
            <a:endParaRPr lang="en-US" sz="1300" dirty="0"/>
          </a:p>
          <a:p>
            <a:pPr indent="0" marL="0">
              <a:buNone/>
            </a:pPr>
            <a:r>
              <a:rPr lang="en-US" sz="1300" dirty="0">
                <a:solidFill>
                  <a:srgbClr val="1E3A5F"/>
                </a:solidFill>
                <a:latin typeface="Calibri" pitchFamily="34" charset="0"/>
                <a:ea typeface="Calibri" pitchFamily="34" charset="-122"/>
                <a:cs typeface="Calibri" pitchFamily="34" charset="-120"/>
              </a:rPr>
              <a:t>maturity</a:t>
            </a:r>
            <a:endParaRPr lang="en-US" sz="1300" dirty="0"/>
          </a:p>
          <a:p>
            <a:pPr indent="0" marL="0">
              <a:buNone/>
            </a:pPr>
            <a:endParaRPr lang="en-US" sz="1300" dirty="0"/>
          </a:p>
          <a:p>
            <a:pPr indent="0" marL="0">
              <a:buNone/>
            </a:pPr>
            <a:r>
              <a:rPr lang="en-US" sz="1300" dirty="0">
                <a:solidFill>
                  <a:srgbClr val="1E3A5F"/>
                </a:solidFill>
                <a:latin typeface="Calibri" pitchFamily="34" charset="0"/>
                <a:ea typeface="Calibri" pitchFamily="34" charset="-122"/>
                <a:cs typeface="Calibri" pitchFamily="34" charset="-120"/>
              </a:rPr>
              <a:t>7.35%</a:t>
            </a:r>
            <a:endParaRPr lang="en-US" sz="1300" dirty="0"/>
          </a:p>
          <a:p>
            <a:pPr indent="0" marL="0">
              <a:buNone/>
            </a:pPr>
            <a:r>
              <a:rPr lang="en-US" sz="1300" dirty="0">
                <a:solidFill>
                  <a:srgbClr val="1E3A5F"/>
                </a:solidFill>
                <a:latin typeface="Calibri" pitchFamily="34" charset="0"/>
                <a:ea typeface="Calibri" pitchFamily="34" charset="-122"/>
                <a:cs typeface="Calibri" pitchFamily="34" charset="-120"/>
              </a:rPr>
              <a:t>yield</a:t>
            </a:r>
            <a:endParaRPr lang="en-US" sz="1300" dirty="0"/>
          </a:p>
          <a:p>
            <a:pPr indent="0" marL="0">
              <a:buNone/>
            </a:pPr>
            <a:endParaRPr lang="en-US" sz="1300" dirty="0"/>
          </a:p>
          <a:p>
            <a:pPr indent="0" marL="0">
              <a:buNone/>
            </a:pPr>
            <a:r>
              <a:rPr lang="en-US" sz="1300" dirty="0">
                <a:solidFill>
                  <a:srgbClr val="1E3A5F"/>
                </a:solidFill>
                <a:latin typeface="Calibri" pitchFamily="34" charset="0"/>
                <a:ea typeface="Calibri" pitchFamily="34" charset="-122"/>
                <a:cs typeface="Calibri" pitchFamily="34" charset="-120"/>
              </a:rPr>
              <a:t>Subscribed by</a:t>
            </a:r>
            <a:endParaRPr lang="en-US" sz="1300" dirty="0"/>
          </a:p>
          <a:p>
            <a:pPr indent="0" marL="0">
              <a:buNone/>
            </a:pPr>
            <a:r>
              <a:rPr lang="en-US" sz="1300" dirty="0">
                <a:solidFill>
                  <a:srgbClr val="1E3A5F"/>
                </a:solidFill>
                <a:latin typeface="Calibri" pitchFamily="34" charset="0"/>
                <a:ea typeface="Calibri" pitchFamily="34" charset="-122"/>
                <a:cs typeface="Calibri" pitchFamily="34" charset="-120"/>
              </a:rPr>
              <a:t>LIC, EPFO,</a:t>
            </a:r>
            <a:endParaRPr lang="en-US" sz="1300" dirty="0"/>
          </a:p>
          <a:p>
            <a:pPr indent="0" marL="0">
              <a:buNone/>
            </a:pPr>
            <a:r>
              <a:rPr lang="en-US" sz="1300" dirty="0">
                <a:solidFill>
                  <a:srgbClr val="1E3A5F"/>
                </a:solidFill>
                <a:latin typeface="Calibri" pitchFamily="34" charset="0"/>
                <a:ea typeface="Calibri" pitchFamily="34" charset="-122"/>
                <a:cs typeface="Calibri" pitchFamily="34" charset="-120"/>
              </a:rPr>
              <a:t>Mutual Funds</a:t>
            </a:r>
            <a:endParaRPr lang="en-US" sz="1300" dirty="0"/>
          </a:p>
          <a:p>
            <a:pPr indent="0" marL="0">
              <a:buNone/>
            </a:pPr>
            <a:endParaRPr lang="en-US" sz="1300" dirty="0"/>
          </a:p>
          <a:p>
            <a:pPr indent="0" marL="0">
              <a:buNone/>
            </a:pPr>
            <a:r>
              <a:rPr lang="en-US" sz="1300" dirty="0">
                <a:solidFill>
                  <a:srgbClr val="1E3A5F"/>
                </a:solidFill>
                <a:latin typeface="Calibri" pitchFamily="34" charset="0"/>
                <a:ea typeface="Calibri" pitchFamily="34" charset="-122"/>
                <a:cs typeface="Calibri" pitchFamily="34" charset="-120"/>
              </a:rPr>
              <a:t>Funds 200+ km</a:t>
            </a:r>
            <a:endParaRPr lang="en-US" sz="1300" dirty="0"/>
          </a:p>
          <a:p>
            <a:pPr indent="0" marL="0">
              <a:buNone/>
            </a:pPr>
            <a:r>
              <a:rPr lang="en-US" sz="1300" dirty="0">
                <a:solidFill>
                  <a:srgbClr val="1E3A5F"/>
                </a:solidFill>
                <a:latin typeface="Calibri" pitchFamily="34" charset="0"/>
                <a:ea typeface="Calibri" pitchFamily="34" charset="-122"/>
                <a:cs typeface="Calibri" pitchFamily="34" charset="-120"/>
              </a:rPr>
              <a:t>highway</a:t>
            </a:r>
            <a:endParaRPr lang="en-US" sz="1300" dirty="0"/>
          </a:p>
        </p:txBody>
      </p:sp>
      <p:sp>
        <p:nvSpPr>
          <p:cNvPr id="14" name="Shape 12"/>
          <p:cNvSpPr/>
          <p:nvPr/>
        </p:nvSpPr>
        <p:spPr>
          <a:xfrm>
            <a:off x="0" y="4663440"/>
            <a:ext cx="12192000" cy="1097280"/>
          </a:xfrm>
          <a:prstGeom prst="rect">
            <a:avLst/>
          </a:prstGeom>
          <a:solidFill>
            <a:srgbClr val="005F5F"/>
          </a:solidFill>
          <a:ln/>
        </p:spPr>
      </p:sp>
      <p:sp>
        <p:nvSpPr>
          <p:cNvPr id="15" name="Text 13"/>
          <p:cNvSpPr/>
          <p:nvPr/>
        </p:nvSpPr>
        <p:spPr>
          <a:xfrm>
            <a:off x="365760" y="4663440"/>
            <a:ext cx="11430000" cy="1097280"/>
          </a:xfrm>
          <a:prstGeom prst="rect">
            <a:avLst/>
          </a:prstGeom>
          <a:noFill/>
          <a:ln/>
        </p:spPr>
        <p:txBody>
          <a:bodyPr wrap="square"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  Trace the full capital flow: from a working professional's EPFO contribution to a new highway in Maharashtra. What is each institution's role in the chain?</a:t>
            </a:r>
            <a:endParaRPr lang="en-US" sz="1600" dirty="0"/>
          </a:p>
        </p:txBody>
      </p:sp>
      <p:sp>
        <p:nvSpPr>
          <p:cNvPr id="16" name="Text 14"/>
          <p:cNvSpPr/>
          <p:nvPr/>
        </p:nvSpPr>
        <p:spPr>
          <a:xfrm>
            <a:off x="0" y="6601968"/>
            <a:ext cx="12192000" cy="182880"/>
          </a:xfrm>
          <a:prstGeom prst="rect">
            <a:avLst/>
          </a:prstGeom>
          <a:noFill/>
          <a:ln/>
        </p:spPr>
        <p:txBody>
          <a:bodyPr wrap="square" rtlCol="0" anchor="ctr"/>
          <a:lstStyle/>
          <a:p>
            <a:pPr algn="ctr" indent="0" marL="0">
              <a:buNone/>
            </a:pPr>
            <a:r>
              <a:rPr lang="en-US" sz="800" dirty="0">
                <a:solidFill>
                  <a:srgbClr val="AAAAAA"/>
                </a:solidFill>
                <a:latin typeface="Calibri" pitchFamily="34" charset="0"/>
                <a:ea typeface="Calibri" pitchFamily="34" charset="-122"/>
                <a:cs typeface="Calibri" pitchFamily="34" charset="-120"/>
              </a:rPr>
              <a:t>CIBOP · Module 1 · D1.5</a:t>
            </a:r>
            <a:endParaRPr lang="en-US" sz="8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4F6FA"/>
          </a:solidFill>
          <a:ln/>
        </p:spPr>
      </p:sp>
      <p:sp>
        <p:nvSpPr>
          <p:cNvPr id="3" name="Shape 1"/>
          <p:cNvSpPr/>
          <p:nvPr/>
        </p:nvSpPr>
        <p:spPr>
          <a:xfrm>
            <a:off x="0" y="0"/>
            <a:ext cx="12192000" cy="73152"/>
          </a:xfrm>
          <a:prstGeom prst="rect">
            <a:avLst/>
          </a:prstGeom>
          <a:solidFill>
            <a:srgbClr val="005F5F"/>
          </a:solidFill>
          <a:ln/>
        </p:spPr>
      </p:sp>
      <p:sp>
        <p:nvSpPr>
          <p:cNvPr id="4" name="Shape 2"/>
          <p:cNvSpPr/>
          <p:nvPr/>
        </p:nvSpPr>
        <p:spPr>
          <a:xfrm>
            <a:off x="0" y="6784848"/>
            <a:ext cx="12192000" cy="73152"/>
          </a:xfrm>
          <a:prstGeom prst="rect">
            <a:avLst/>
          </a:prstGeom>
          <a:solidFill>
            <a:srgbClr val="1E3A5F"/>
          </a:solidFill>
          <a:ln/>
        </p:spPr>
      </p:sp>
      <p:sp>
        <p:nvSpPr>
          <p:cNvPr id="5" name="Shape 3"/>
          <p:cNvSpPr/>
          <p:nvPr/>
        </p:nvSpPr>
        <p:spPr>
          <a:xfrm>
            <a:off x="0" y="73152"/>
            <a:ext cx="1828800" cy="347472"/>
          </a:xfrm>
          <a:prstGeom prst="rect">
            <a:avLst/>
          </a:prstGeom>
          <a:solidFill>
            <a:srgbClr val="005F5F"/>
          </a:solidFill>
          <a:ln/>
        </p:spPr>
      </p:sp>
      <p:sp>
        <p:nvSpPr>
          <p:cNvPr id="6" name="Text 4"/>
          <p:cNvSpPr/>
          <p:nvPr/>
        </p:nvSpPr>
        <p:spPr>
          <a:xfrm>
            <a:off x="0" y="73152"/>
            <a:ext cx="1828800" cy="347472"/>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KEY CONCEPT</a:t>
            </a:r>
            <a:endParaRPr lang="en-US" sz="1000" dirty="0"/>
          </a:p>
        </p:txBody>
      </p:sp>
      <p:sp>
        <p:nvSpPr>
          <p:cNvPr id="7" name="Shape 5"/>
          <p:cNvSpPr/>
          <p:nvPr/>
        </p:nvSpPr>
        <p:spPr>
          <a:xfrm>
            <a:off x="10360152" y="73152"/>
            <a:ext cx="1828800" cy="347472"/>
          </a:xfrm>
          <a:prstGeom prst="rect">
            <a:avLst/>
          </a:prstGeom>
          <a:solidFill>
            <a:srgbClr val="005F5F"/>
          </a:solidFill>
          <a:ln/>
        </p:spPr>
      </p:sp>
      <p:sp>
        <p:nvSpPr>
          <p:cNvPr id="8" name="Text 6"/>
          <p:cNvSpPr/>
          <p:nvPr/>
        </p:nvSpPr>
        <p:spPr>
          <a:xfrm>
            <a:off x="10360152" y="73152"/>
            <a:ext cx="1828800" cy="347472"/>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D1.5</a:t>
            </a:r>
            <a:endParaRPr lang="en-US" sz="1000" dirty="0"/>
          </a:p>
        </p:txBody>
      </p:sp>
      <p:sp>
        <p:nvSpPr>
          <p:cNvPr id="9" name="Text 7"/>
          <p:cNvSpPr/>
          <p:nvPr/>
        </p:nvSpPr>
        <p:spPr>
          <a:xfrm>
            <a:off x="274320" y="502920"/>
            <a:ext cx="11430000" cy="640080"/>
          </a:xfrm>
          <a:prstGeom prst="rect">
            <a:avLst/>
          </a:prstGeom>
          <a:noFill/>
          <a:ln/>
        </p:spPr>
        <p:txBody>
          <a:bodyPr wrap="square" rtlCol="0" anchor="ctr"/>
          <a:lstStyle/>
          <a:p>
            <a:pPr indent="0" marL="0">
              <a:buNone/>
            </a:pPr>
            <a:r>
              <a:rPr lang="en-US" sz="2200" b="1" dirty="0">
                <a:solidFill>
                  <a:srgbClr val="1E3A5F"/>
                </a:solidFill>
                <a:latin typeface="Calibri" pitchFamily="34" charset="0"/>
                <a:ea typeface="Calibri" pitchFamily="34" charset="-122"/>
                <a:cs typeface="Calibri" pitchFamily="34" charset="-120"/>
              </a:rPr>
              <a:t>Equity Capital Markets vs Debt Capital Markets: Key Comparisons</a:t>
            </a:r>
            <a:endParaRPr lang="en-US" sz="2200" dirty="0"/>
          </a:p>
        </p:txBody>
      </p:sp>
      <p:graphicFrame>
        <p:nvGraphicFramePr>
          <p:cNvPr id="29" name="Table 0"/>
          <p:cNvGraphicFramePr>
            <a:graphicFrameLocks noGrp="1"/>
          </p:cNvGraphicFramePr>
          <p:nvPr>
            <p:extLst>
              <p:ext uri="{D42A27DB-BD31-4B8C-83A1-F6EECF244321}">
                <p14:modId xmlns:p14="http://schemas.microsoft.com/office/powerpoint/2010/main" val="1579011935"/>
              </p:ext>
            </p:extLst>
          </p:nvPr>
        </p:nvGraphicFramePr>
        <p:xfrm>
          <a:off x="274320" y="1280160"/>
          <a:ext cx="11612880" cy="4389120"/>
        </p:xfrm>
        <a:graphic>
          <a:graphicData uri="http://schemas.openxmlformats.org/drawingml/2006/table">
            <a:tbl>
              <a:tblPr/>
              <a:tblGrid>
                <a:gridCol w="3870960"/>
                <a:gridCol w="3870960"/>
                <a:gridCol w="3870960"/>
              </a:tblGrid>
              <a:tr h="487680">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DIMENSION</a:t>
                      </a:r>
                      <a:endParaRPr lang="en-US" sz="12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1E3A5F"/>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EQUITY CAPITAL MARKET</a:t>
                      </a:r>
                      <a:endParaRPr lang="en-US" sz="12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1E3A5F"/>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DEBT CAPITAL MARKET</a:t>
                      </a:r>
                      <a:endParaRPr lang="en-US" sz="12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1E3A5F"/>
                    </a:solidFill>
                  </a:tcPr>
                </a:tc>
              </a:tr>
              <a:tr h="487680">
                <a:tc>
                  <a:txBody>
                    <a:bodyPr/>
                    <a:lstStyle/>
                    <a:p>
                      <a:pPr indent="0" marL="0">
                        <a:buNone/>
                      </a:pPr>
                      <a:r>
                        <a:rPr lang="en-US" sz="1100" dirty="0">
                          <a:solidFill>
                            <a:srgbClr val="1A1A1A"/>
                          </a:solidFill>
                          <a:latin typeface="Calibri" pitchFamily="34" charset="0"/>
                          <a:ea typeface="Calibri" pitchFamily="34" charset="-122"/>
                          <a:cs typeface="Calibri" pitchFamily="34" charset="-120"/>
                        </a:rPr>
                        <a:t>Instrument</a:t>
                      </a:r>
                      <a:endParaRPr lang="en-US" sz="11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FFFFFF"/>
                    </a:solidFill>
                  </a:tcPr>
                </a:tc>
                <a:tc>
                  <a:txBody>
                    <a:bodyPr/>
                    <a:lstStyle/>
                    <a:p>
                      <a:pPr indent="0" marL="0">
                        <a:buNone/>
                      </a:pPr>
                      <a:r>
                        <a:rPr lang="en-US" sz="1100" dirty="0">
                          <a:solidFill>
                            <a:srgbClr val="1A1A1A"/>
                          </a:solidFill>
                          <a:latin typeface="Calibri" pitchFamily="34" charset="0"/>
                          <a:ea typeface="Calibri" pitchFamily="34" charset="-122"/>
                          <a:cs typeface="Calibri" pitchFamily="34" charset="-120"/>
                        </a:rPr>
                        <a:t>Shares, ADRs, GDRs</a:t>
                      </a:r>
                      <a:endParaRPr lang="en-US" sz="11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FFFFFF"/>
                    </a:solidFill>
                  </a:tcPr>
                </a:tc>
                <a:tc>
                  <a:txBody>
                    <a:bodyPr/>
                    <a:lstStyle/>
                    <a:p>
                      <a:pPr indent="0" marL="0">
                        <a:buNone/>
                      </a:pPr>
                      <a:r>
                        <a:rPr lang="en-US" sz="1100" dirty="0">
                          <a:solidFill>
                            <a:srgbClr val="1A1A1A"/>
                          </a:solidFill>
                          <a:latin typeface="Calibri" pitchFamily="34" charset="0"/>
                          <a:ea typeface="Calibri" pitchFamily="34" charset="-122"/>
                          <a:cs typeface="Calibri" pitchFamily="34" charset="-120"/>
                        </a:rPr>
                        <a:t>Bonds, NCDs, G-Secs, CPs, CDs</a:t>
                      </a:r>
                      <a:endParaRPr lang="en-US" sz="11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FFFFFF"/>
                    </a:solidFill>
                  </a:tcPr>
                </a:tc>
              </a:tr>
              <a:tr h="487680">
                <a:tc>
                  <a:txBody>
                    <a:bodyPr/>
                    <a:lstStyle/>
                    <a:p>
                      <a:pPr indent="0" marL="0">
                        <a:buNone/>
                      </a:pPr>
                      <a:r>
                        <a:rPr lang="en-US" sz="1100" dirty="0">
                          <a:solidFill>
                            <a:srgbClr val="1A1A1A"/>
                          </a:solidFill>
                          <a:latin typeface="Calibri" pitchFamily="34" charset="0"/>
                          <a:ea typeface="Calibri" pitchFamily="34" charset="-122"/>
                          <a:cs typeface="Calibri" pitchFamily="34" charset="-120"/>
                        </a:rPr>
                        <a:t>Issuer Types</a:t>
                      </a:r>
                      <a:endParaRPr lang="en-US" sz="11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D5E3F0"/>
                    </a:solidFill>
                  </a:tcPr>
                </a:tc>
                <a:tc>
                  <a:txBody>
                    <a:bodyPr/>
                    <a:lstStyle/>
                    <a:p>
                      <a:pPr indent="0" marL="0">
                        <a:buNone/>
                      </a:pPr>
                      <a:r>
                        <a:rPr lang="en-US" sz="1100" dirty="0">
                          <a:solidFill>
                            <a:srgbClr val="1A1A1A"/>
                          </a:solidFill>
                          <a:latin typeface="Calibri" pitchFamily="34" charset="0"/>
                          <a:ea typeface="Calibri" pitchFamily="34" charset="-122"/>
                          <a:cs typeface="Calibri" pitchFamily="34" charset="-120"/>
                        </a:rPr>
                        <a:t>Companies (listed/to be listed)</a:t>
                      </a:r>
                      <a:endParaRPr lang="en-US" sz="11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D5E3F0"/>
                    </a:solidFill>
                  </a:tcPr>
                </a:tc>
                <a:tc>
                  <a:txBody>
                    <a:bodyPr/>
                    <a:lstStyle/>
                    <a:p>
                      <a:pPr indent="0" marL="0">
                        <a:buNone/>
                      </a:pPr>
                      <a:r>
                        <a:rPr lang="en-US" sz="1100" dirty="0">
                          <a:solidFill>
                            <a:srgbClr val="1A1A1A"/>
                          </a:solidFill>
                          <a:latin typeface="Calibri" pitchFamily="34" charset="0"/>
                          <a:ea typeface="Calibri" pitchFamily="34" charset="-122"/>
                          <a:cs typeface="Calibri" pitchFamily="34" charset="-120"/>
                        </a:rPr>
                        <a:t>Companies, governments, financial institutions</a:t>
                      </a:r>
                      <a:endParaRPr lang="en-US" sz="11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D5E3F0"/>
                    </a:solidFill>
                  </a:tcPr>
                </a:tc>
              </a:tr>
              <a:tr h="487680">
                <a:tc>
                  <a:txBody>
                    <a:bodyPr/>
                    <a:lstStyle/>
                    <a:p>
                      <a:pPr indent="0" marL="0">
                        <a:buNone/>
                      </a:pPr>
                      <a:r>
                        <a:rPr lang="en-US" sz="1100" dirty="0">
                          <a:solidFill>
                            <a:srgbClr val="1A1A1A"/>
                          </a:solidFill>
                          <a:latin typeface="Calibri" pitchFamily="34" charset="0"/>
                          <a:ea typeface="Calibri" pitchFamily="34" charset="-122"/>
                          <a:cs typeface="Calibri" pitchFamily="34" charset="-120"/>
                        </a:rPr>
                        <a:t>Investor Claim</a:t>
                      </a:r>
                      <a:endParaRPr lang="en-US" sz="11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FFFFFF"/>
                    </a:solidFill>
                  </a:tcPr>
                </a:tc>
                <a:tc>
                  <a:txBody>
                    <a:bodyPr/>
                    <a:lstStyle/>
                    <a:p>
                      <a:pPr indent="0" marL="0">
                        <a:buNone/>
                      </a:pPr>
                      <a:r>
                        <a:rPr lang="en-US" sz="1100" dirty="0">
                          <a:solidFill>
                            <a:srgbClr val="1A1A1A"/>
                          </a:solidFill>
                          <a:latin typeface="Calibri" pitchFamily="34" charset="0"/>
                          <a:ea typeface="Calibri" pitchFamily="34" charset="-122"/>
                          <a:cs typeface="Calibri" pitchFamily="34" charset="-120"/>
                        </a:rPr>
                        <a:t>Ownership — proportional residual claim</a:t>
                      </a:r>
                      <a:endParaRPr lang="en-US" sz="11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FFFFFF"/>
                    </a:solidFill>
                  </a:tcPr>
                </a:tc>
                <a:tc>
                  <a:txBody>
                    <a:bodyPr/>
                    <a:lstStyle/>
                    <a:p>
                      <a:pPr indent="0" marL="0">
                        <a:buNone/>
                      </a:pPr>
                      <a:r>
                        <a:rPr lang="en-US" sz="1100" dirty="0">
                          <a:solidFill>
                            <a:srgbClr val="1A1A1A"/>
                          </a:solidFill>
                          <a:latin typeface="Calibri" pitchFamily="34" charset="0"/>
                          <a:ea typeface="Calibri" pitchFamily="34" charset="-122"/>
                          <a:cs typeface="Calibri" pitchFamily="34" charset="-120"/>
                        </a:rPr>
                        <a:t>Creditor — fixed coupon + principal repayment</a:t>
                      </a:r>
                      <a:endParaRPr lang="en-US" sz="11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FFFFFF"/>
                    </a:solidFill>
                  </a:tcPr>
                </a:tc>
              </a:tr>
              <a:tr h="487680">
                <a:tc>
                  <a:txBody>
                    <a:bodyPr/>
                    <a:lstStyle/>
                    <a:p>
                      <a:pPr indent="0" marL="0">
                        <a:buNone/>
                      </a:pPr>
                      <a:r>
                        <a:rPr lang="en-US" sz="1100" dirty="0">
                          <a:solidFill>
                            <a:srgbClr val="1A1A1A"/>
                          </a:solidFill>
                          <a:latin typeface="Calibri" pitchFamily="34" charset="0"/>
                          <a:ea typeface="Calibri" pitchFamily="34" charset="-122"/>
                          <a:cs typeface="Calibri" pitchFamily="34" charset="-120"/>
                        </a:rPr>
                        <a:t>Return Profile</a:t>
                      </a:r>
                      <a:endParaRPr lang="en-US" sz="11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D5E3F0"/>
                    </a:solidFill>
                  </a:tcPr>
                </a:tc>
                <a:tc>
                  <a:txBody>
                    <a:bodyPr/>
                    <a:lstStyle/>
                    <a:p>
                      <a:pPr indent="0" marL="0">
                        <a:buNone/>
                      </a:pPr>
                      <a:r>
                        <a:rPr lang="en-US" sz="1100" dirty="0">
                          <a:solidFill>
                            <a:srgbClr val="1A1A1A"/>
                          </a:solidFill>
                          <a:latin typeface="Calibri" pitchFamily="34" charset="0"/>
                          <a:ea typeface="Calibri" pitchFamily="34" charset="-122"/>
                          <a:cs typeface="Calibri" pitchFamily="34" charset="-120"/>
                        </a:rPr>
                        <a:t>Variable — dividends + capital gains</a:t>
                      </a:r>
                      <a:endParaRPr lang="en-US" sz="11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D5E3F0"/>
                    </a:solidFill>
                  </a:tcPr>
                </a:tc>
                <a:tc>
                  <a:txBody>
                    <a:bodyPr/>
                    <a:lstStyle/>
                    <a:p>
                      <a:pPr indent="0" marL="0">
                        <a:buNone/>
                      </a:pPr>
                      <a:r>
                        <a:rPr lang="en-US" sz="1100" dirty="0">
                          <a:solidFill>
                            <a:srgbClr val="1A1A1A"/>
                          </a:solidFill>
                          <a:latin typeface="Calibri" pitchFamily="34" charset="0"/>
                          <a:ea typeface="Calibri" pitchFamily="34" charset="-122"/>
                          <a:cs typeface="Calibri" pitchFamily="34" charset="-120"/>
                        </a:rPr>
                        <a:t>Fixed — coupon payments at defined intervals</a:t>
                      </a:r>
                      <a:endParaRPr lang="en-US" sz="11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D5E3F0"/>
                    </a:solidFill>
                  </a:tcPr>
                </a:tc>
              </a:tr>
              <a:tr h="487680">
                <a:tc>
                  <a:txBody>
                    <a:bodyPr/>
                    <a:lstStyle/>
                    <a:p>
                      <a:pPr indent="0" marL="0">
                        <a:buNone/>
                      </a:pPr>
                      <a:r>
                        <a:rPr lang="en-US" sz="1100" dirty="0">
                          <a:solidFill>
                            <a:srgbClr val="1A1A1A"/>
                          </a:solidFill>
                          <a:latin typeface="Calibri" pitchFamily="34" charset="0"/>
                          <a:ea typeface="Calibri" pitchFamily="34" charset="-122"/>
                          <a:cs typeface="Calibri" pitchFamily="34" charset="-120"/>
                        </a:rPr>
                        <a:t>Risk Profile</a:t>
                      </a:r>
                      <a:endParaRPr lang="en-US" sz="11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FFFFFF"/>
                    </a:solidFill>
                  </a:tcPr>
                </a:tc>
                <a:tc>
                  <a:txBody>
                    <a:bodyPr/>
                    <a:lstStyle/>
                    <a:p>
                      <a:pPr indent="0" marL="0">
                        <a:buNone/>
                      </a:pPr>
                      <a:r>
                        <a:rPr lang="en-US" sz="1100" dirty="0">
                          <a:solidFill>
                            <a:srgbClr val="1A1A1A"/>
                          </a:solidFill>
                          <a:latin typeface="Calibri" pitchFamily="34" charset="0"/>
                          <a:ea typeface="Calibri" pitchFamily="34" charset="-122"/>
                          <a:cs typeface="Calibri" pitchFamily="34" charset="-120"/>
                        </a:rPr>
                        <a:t>Higher risk — no guaranteed return, last in insolvency</a:t>
                      </a:r>
                      <a:endParaRPr lang="en-US" sz="11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FFFFFF"/>
                    </a:solidFill>
                  </a:tcPr>
                </a:tc>
                <a:tc>
                  <a:txBody>
                    <a:bodyPr/>
                    <a:lstStyle/>
                    <a:p>
                      <a:pPr indent="0" marL="0">
                        <a:buNone/>
                      </a:pPr>
                      <a:r>
                        <a:rPr lang="en-US" sz="1100" dirty="0">
                          <a:solidFill>
                            <a:srgbClr val="1A1A1A"/>
                          </a:solidFill>
                          <a:latin typeface="Calibri" pitchFamily="34" charset="0"/>
                          <a:ea typeface="Calibri" pitchFamily="34" charset="-122"/>
                          <a:cs typeface="Calibri" pitchFamily="34" charset="-120"/>
                        </a:rPr>
                        <a:t>Lower risk — senior to equity, fixed income</a:t>
                      </a:r>
                      <a:endParaRPr lang="en-US" sz="11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FFFFFF"/>
                    </a:solidFill>
                  </a:tcPr>
                </a:tc>
              </a:tr>
              <a:tr h="487680">
                <a:tc>
                  <a:txBody>
                    <a:bodyPr/>
                    <a:lstStyle/>
                    <a:p>
                      <a:pPr indent="0" marL="0">
                        <a:buNone/>
                      </a:pPr>
                      <a:r>
                        <a:rPr lang="en-US" sz="1100" dirty="0">
                          <a:solidFill>
                            <a:srgbClr val="1A1A1A"/>
                          </a:solidFill>
                          <a:latin typeface="Calibri" pitchFamily="34" charset="0"/>
                          <a:ea typeface="Calibri" pitchFamily="34" charset="-122"/>
                          <a:cs typeface="Calibri" pitchFamily="34" charset="-120"/>
                        </a:rPr>
                        <a:t>India Venue</a:t>
                      </a:r>
                      <a:endParaRPr lang="en-US" sz="11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D5E3F0"/>
                    </a:solidFill>
                  </a:tcPr>
                </a:tc>
                <a:tc>
                  <a:txBody>
                    <a:bodyPr/>
                    <a:lstStyle/>
                    <a:p>
                      <a:pPr indent="0" marL="0">
                        <a:buNone/>
                      </a:pPr>
                      <a:r>
                        <a:rPr lang="en-US" sz="1100" dirty="0">
                          <a:solidFill>
                            <a:srgbClr val="1A1A1A"/>
                          </a:solidFill>
                          <a:latin typeface="Calibri" pitchFamily="34" charset="0"/>
                          <a:ea typeface="Calibri" pitchFamily="34" charset="-122"/>
                          <a:cs typeface="Calibri" pitchFamily="34" charset="-120"/>
                        </a:rPr>
                        <a:t>NSE/BSE equity segments</a:t>
                      </a:r>
                      <a:endParaRPr lang="en-US" sz="11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D5E3F0"/>
                    </a:solidFill>
                  </a:tcPr>
                </a:tc>
                <a:tc>
                  <a:txBody>
                    <a:bodyPr/>
                    <a:lstStyle/>
                    <a:p>
                      <a:pPr indent="0" marL="0">
                        <a:buNone/>
                      </a:pPr>
                      <a:r>
                        <a:rPr lang="en-US" sz="1100" dirty="0">
                          <a:solidFill>
                            <a:srgbClr val="1A1A1A"/>
                          </a:solidFill>
                          <a:latin typeface="Calibri" pitchFamily="34" charset="0"/>
                          <a:ea typeface="Calibri" pitchFamily="34" charset="-122"/>
                          <a:cs typeface="Calibri" pitchFamily="34" charset="-120"/>
                        </a:rPr>
                        <a:t>NDS-OM (G-Secs), FIMMDA/BSE Debt (corporate)</a:t>
                      </a:r>
                      <a:endParaRPr lang="en-US" sz="11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D5E3F0"/>
                    </a:solidFill>
                  </a:tcPr>
                </a:tc>
              </a:tr>
              <a:tr h="487680">
                <a:tc>
                  <a:txBody>
                    <a:bodyPr/>
                    <a:lstStyle/>
                    <a:p>
                      <a:pPr indent="0" marL="0">
                        <a:buNone/>
                      </a:pPr>
                      <a:r>
                        <a:rPr lang="en-US" sz="1100" dirty="0">
                          <a:solidFill>
                            <a:srgbClr val="1A1A1A"/>
                          </a:solidFill>
                          <a:latin typeface="Calibri" pitchFamily="34" charset="0"/>
                          <a:ea typeface="Calibri" pitchFamily="34" charset="-122"/>
                          <a:cs typeface="Calibri" pitchFamily="34" charset="-120"/>
                        </a:rPr>
                        <a:t>Settlement Cycle</a:t>
                      </a:r>
                      <a:endParaRPr lang="en-US" sz="11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FFFFFF"/>
                    </a:solidFill>
                  </a:tcPr>
                </a:tc>
                <a:tc>
                  <a:txBody>
                    <a:bodyPr/>
                    <a:lstStyle/>
                    <a:p>
                      <a:pPr indent="0" marL="0">
                        <a:buNone/>
                      </a:pPr>
                      <a:r>
                        <a:rPr lang="en-US" sz="1100" dirty="0">
                          <a:solidFill>
                            <a:srgbClr val="1A1A1A"/>
                          </a:solidFill>
                          <a:latin typeface="Calibri" pitchFamily="34" charset="0"/>
                          <a:ea typeface="Calibri" pitchFamily="34" charset="-122"/>
                          <a:cs typeface="Calibri" pitchFamily="34" charset="-120"/>
                        </a:rPr>
                        <a:t>T+1 for equities</a:t>
                      </a:r>
                      <a:endParaRPr lang="en-US" sz="11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FFFFFF"/>
                    </a:solidFill>
                  </a:tcPr>
                </a:tc>
                <a:tc>
                  <a:txBody>
                    <a:bodyPr/>
                    <a:lstStyle/>
                    <a:p>
                      <a:pPr indent="0" marL="0">
                        <a:buNone/>
                      </a:pPr>
                      <a:r>
                        <a:rPr lang="en-US" sz="1100" dirty="0">
                          <a:solidFill>
                            <a:srgbClr val="1A1A1A"/>
                          </a:solidFill>
                          <a:latin typeface="Calibri" pitchFamily="34" charset="0"/>
                          <a:ea typeface="Calibri" pitchFamily="34" charset="-122"/>
                          <a:cs typeface="Calibri" pitchFamily="34" charset="-120"/>
                        </a:rPr>
                        <a:t>T+1 or T+2 depending on instrument and market</a:t>
                      </a:r>
                      <a:endParaRPr lang="en-US" sz="11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FFFFFF"/>
                    </a:solidFill>
                  </a:tcPr>
                </a:tc>
              </a:tr>
              <a:tr h="487680">
                <a:tc>
                  <a:txBody>
                    <a:bodyPr/>
                    <a:lstStyle/>
                    <a:p>
                      <a:pPr indent="0" marL="0">
                        <a:buNone/>
                      </a:pPr>
                      <a:r>
                        <a:rPr lang="en-US" sz="1100" dirty="0">
                          <a:solidFill>
                            <a:srgbClr val="1A1A1A"/>
                          </a:solidFill>
                          <a:latin typeface="Calibri" pitchFamily="34" charset="0"/>
                          <a:ea typeface="Calibri" pitchFamily="34" charset="-122"/>
                          <a:cs typeface="Calibri" pitchFamily="34" charset="-120"/>
                        </a:rPr>
                        <a:t>Typical Investor</a:t>
                      </a:r>
                      <a:endParaRPr lang="en-US" sz="11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D5E3F0"/>
                    </a:solidFill>
                  </a:tcPr>
                </a:tc>
                <a:tc>
                  <a:txBody>
                    <a:bodyPr/>
                    <a:lstStyle/>
                    <a:p>
                      <a:pPr indent="0" marL="0">
                        <a:buNone/>
                      </a:pPr>
                      <a:r>
                        <a:rPr lang="en-US" sz="1100" dirty="0">
                          <a:solidFill>
                            <a:srgbClr val="1A1A1A"/>
                          </a:solidFill>
                          <a:latin typeface="Calibri" pitchFamily="34" charset="0"/>
                          <a:ea typeface="Calibri" pitchFamily="34" charset="-122"/>
                          <a:cs typeface="Calibri" pitchFamily="34" charset="-120"/>
                        </a:rPr>
                        <a:t>Retail, growth MFs, HNIs</a:t>
                      </a:r>
                      <a:endParaRPr lang="en-US" sz="11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D5E3F0"/>
                    </a:solidFill>
                  </a:tcPr>
                </a:tc>
                <a:tc>
                  <a:txBody>
                    <a:bodyPr/>
                    <a:lstStyle/>
                    <a:p>
                      <a:pPr indent="0" marL="0">
                        <a:buNone/>
                      </a:pPr>
                      <a:r>
                        <a:rPr lang="en-US" sz="1100" dirty="0">
                          <a:solidFill>
                            <a:srgbClr val="1A1A1A"/>
                          </a:solidFill>
                          <a:latin typeface="Calibri" pitchFamily="34" charset="0"/>
                          <a:ea typeface="Calibri" pitchFamily="34" charset="-122"/>
                          <a:cs typeface="Calibri" pitchFamily="34" charset="-120"/>
                        </a:rPr>
                        <a:t>Pension funds, insurance companies, banks</a:t>
                      </a:r>
                      <a:endParaRPr lang="en-US" sz="11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D5E3F0"/>
                    </a:solidFill>
                  </a:tcPr>
                </a:tc>
              </a:tr>
            </a:tbl>
          </a:graphicData>
        </a:graphic>
      </p:graphicFrame>
      <p:sp>
        <p:nvSpPr>
          <p:cNvPr id="11" name="Text 8"/>
          <p:cNvSpPr/>
          <p:nvPr/>
        </p:nvSpPr>
        <p:spPr>
          <a:xfrm>
            <a:off x="274320" y="6126480"/>
            <a:ext cx="11612880" cy="365760"/>
          </a:xfrm>
          <a:prstGeom prst="rect">
            <a:avLst/>
          </a:prstGeom>
          <a:noFill/>
          <a:ln/>
        </p:spPr>
        <p:txBody>
          <a:bodyPr wrap="square" rtlCol="0" anchor="ctr"/>
          <a:lstStyle/>
          <a:p>
            <a:pPr indent="0" marL="0">
              <a:buNone/>
            </a:pPr>
            <a:r>
              <a:rPr lang="en-US" sz="1000" dirty="0">
                <a:solidFill>
                  <a:srgbClr val="005F5F"/>
                </a:solidFill>
                <a:latin typeface="Calibri" pitchFamily="34" charset="0"/>
                <a:ea typeface="Calibri" pitchFamily="34" charset="-122"/>
                <a:cs typeface="Calibri" pitchFamily="34" charset="-120"/>
              </a:rPr>
              <a:t>⚡  Settlement cycle, instrument master data, and corporate action processing differ significantly between ECM and DCM workflows.</a:t>
            </a:r>
            <a:endParaRPr lang="en-US" sz="1000" dirty="0"/>
          </a:p>
        </p:txBody>
      </p:sp>
      <p:sp>
        <p:nvSpPr>
          <p:cNvPr id="12" name="Text 9"/>
          <p:cNvSpPr/>
          <p:nvPr/>
        </p:nvSpPr>
        <p:spPr>
          <a:xfrm>
            <a:off x="0" y="6601968"/>
            <a:ext cx="12192000" cy="182880"/>
          </a:xfrm>
          <a:prstGeom prst="rect">
            <a:avLst/>
          </a:prstGeom>
          <a:noFill/>
          <a:ln/>
        </p:spPr>
        <p:txBody>
          <a:bodyPr wrap="square" rtlCol="0" anchor="ctr"/>
          <a:lstStyle/>
          <a:p>
            <a:pPr algn="ctr" indent="0" marL="0">
              <a:buNone/>
            </a:pPr>
            <a:r>
              <a:rPr lang="en-US" sz="800" dirty="0">
                <a:solidFill>
                  <a:srgbClr val="AAAAAA"/>
                </a:solidFill>
                <a:latin typeface="Calibri" pitchFamily="34" charset="0"/>
                <a:ea typeface="Calibri" pitchFamily="34" charset="-122"/>
                <a:cs typeface="Calibri" pitchFamily="34" charset="-120"/>
              </a:rPr>
              <a:t>CIBOP · Module 1 · D1.5</a:t>
            </a:r>
            <a:endParaRPr lang="en-US" sz="8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4F6FA"/>
          </a:solidFill>
          <a:ln/>
        </p:spPr>
      </p:sp>
      <p:sp>
        <p:nvSpPr>
          <p:cNvPr id="3" name="Shape 1"/>
          <p:cNvSpPr/>
          <p:nvPr/>
        </p:nvSpPr>
        <p:spPr>
          <a:xfrm>
            <a:off x="0" y="0"/>
            <a:ext cx="12192000" cy="73152"/>
          </a:xfrm>
          <a:prstGeom prst="rect">
            <a:avLst/>
          </a:prstGeom>
          <a:solidFill>
            <a:srgbClr val="1E3A5F"/>
          </a:solidFill>
          <a:ln/>
        </p:spPr>
      </p:sp>
      <p:sp>
        <p:nvSpPr>
          <p:cNvPr id="4" name="Shape 2"/>
          <p:cNvSpPr/>
          <p:nvPr/>
        </p:nvSpPr>
        <p:spPr>
          <a:xfrm>
            <a:off x="0" y="6784848"/>
            <a:ext cx="12192000" cy="73152"/>
          </a:xfrm>
          <a:prstGeom prst="rect">
            <a:avLst/>
          </a:prstGeom>
          <a:solidFill>
            <a:srgbClr val="B8860B"/>
          </a:solidFill>
          <a:ln/>
        </p:spPr>
      </p:sp>
      <p:sp>
        <p:nvSpPr>
          <p:cNvPr id="5" name="Shape 3"/>
          <p:cNvSpPr/>
          <p:nvPr/>
        </p:nvSpPr>
        <p:spPr>
          <a:xfrm>
            <a:off x="0" y="73152"/>
            <a:ext cx="1828800" cy="347472"/>
          </a:xfrm>
          <a:prstGeom prst="rect">
            <a:avLst/>
          </a:prstGeom>
          <a:solidFill>
            <a:srgbClr val="B8860B"/>
          </a:solidFill>
          <a:ln/>
        </p:spPr>
      </p:sp>
      <p:sp>
        <p:nvSpPr>
          <p:cNvPr id="6" name="Text 4"/>
          <p:cNvSpPr/>
          <p:nvPr/>
        </p:nvSpPr>
        <p:spPr>
          <a:xfrm>
            <a:off x="0" y="73152"/>
            <a:ext cx="1828800" cy="347472"/>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GOING DEEPER</a:t>
            </a:r>
            <a:endParaRPr lang="en-US" sz="1000" dirty="0"/>
          </a:p>
        </p:txBody>
      </p:sp>
      <p:sp>
        <p:nvSpPr>
          <p:cNvPr id="7" name="Shape 5"/>
          <p:cNvSpPr/>
          <p:nvPr/>
        </p:nvSpPr>
        <p:spPr>
          <a:xfrm>
            <a:off x="10360152" y="73152"/>
            <a:ext cx="1828800" cy="347472"/>
          </a:xfrm>
          <a:prstGeom prst="rect">
            <a:avLst/>
          </a:prstGeom>
          <a:solidFill>
            <a:srgbClr val="005F5F"/>
          </a:solidFill>
          <a:ln/>
        </p:spPr>
      </p:sp>
      <p:sp>
        <p:nvSpPr>
          <p:cNvPr id="8" name="Text 6"/>
          <p:cNvSpPr/>
          <p:nvPr/>
        </p:nvSpPr>
        <p:spPr>
          <a:xfrm>
            <a:off x="10360152" y="73152"/>
            <a:ext cx="1828800" cy="347472"/>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D1.5</a:t>
            </a:r>
            <a:endParaRPr lang="en-US" sz="1000" dirty="0"/>
          </a:p>
        </p:txBody>
      </p:sp>
      <p:sp>
        <p:nvSpPr>
          <p:cNvPr id="9" name="Text 7"/>
          <p:cNvSpPr/>
          <p:nvPr/>
        </p:nvSpPr>
        <p:spPr>
          <a:xfrm>
            <a:off x="274320" y="502920"/>
            <a:ext cx="11612880" cy="640080"/>
          </a:xfrm>
          <a:prstGeom prst="rect">
            <a:avLst/>
          </a:prstGeom>
          <a:noFill/>
          <a:ln/>
        </p:spPr>
        <p:txBody>
          <a:bodyPr wrap="square" rtlCol="0" anchor="ctr"/>
          <a:lstStyle/>
          <a:p>
            <a:pPr indent="0" marL="0">
              <a:buNone/>
            </a:pPr>
            <a:r>
              <a:rPr lang="en-US" sz="2200" b="1" dirty="0">
                <a:solidFill>
                  <a:srgbClr val="1E3A5F"/>
                </a:solidFill>
                <a:latin typeface="Calibri" pitchFamily="34" charset="0"/>
                <a:ea typeface="Calibri" pitchFamily="34" charset="-122"/>
                <a:cs typeface="Calibri" pitchFamily="34" charset="-120"/>
              </a:rPr>
              <a:t>Four Deeper Insights on Capital Markets</a:t>
            </a:r>
            <a:endParaRPr lang="en-US" sz="2200" dirty="0"/>
          </a:p>
        </p:txBody>
      </p:sp>
      <p:sp>
        <p:nvSpPr>
          <p:cNvPr id="10" name="Shape 8"/>
          <p:cNvSpPr/>
          <p:nvPr/>
        </p:nvSpPr>
        <p:spPr>
          <a:xfrm>
            <a:off x="274320" y="1280160"/>
            <a:ext cx="5669280" cy="2377440"/>
          </a:xfrm>
          <a:prstGeom prst="rect">
            <a:avLst/>
          </a:prstGeom>
          <a:solidFill>
            <a:srgbClr val="D5E3F0"/>
          </a:solidFill>
          <a:ln w="6350">
            <a:solidFill>
              <a:srgbClr val="AAAAAA"/>
            </a:solidFill>
            <a:prstDash val="solid"/>
          </a:ln>
        </p:spPr>
      </p:sp>
      <p:sp>
        <p:nvSpPr>
          <p:cNvPr id="11" name="Shape 9"/>
          <p:cNvSpPr/>
          <p:nvPr/>
        </p:nvSpPr>
        <p:spPr>
          <a:xfrm>
            <a:off x="365760" y="1371600"/>
            <a:ext cx="457200" cy="457200"/>
          </a:xfrm>
          <a:prstGeom prst="ellipse">
            <a:avLst/>
          </a:prstGeom>
          <a:solidFill>
            <a:srgbClr val="1E3A5F"/>
          </a:solidFill>
          <a:ln/>
        </p:spPr>
      </p:sp>
      <p:sp>
        <p:nvSpPr>
          <p:cNvPr id="12" name="Text 10"/>
          <p:cNvSpPr/>
          <p:nvPr/>
        </p:nvSpPr>
        <p:spPr>
          <a:xfrm>
            <a:off x="365760" y="1371600"/>
            <a:ext cx="457200" cy="45720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3" name="Text 11"/>
          <p:cNvSpPr/>
          <p:nvPr/>
        </p:nvSpPr>
        <p:spPr>
          <a:xfrm>
            <a:off x="914400" y="1371600"/>
            <a:ext cx="4892040" cy="457200"/>
          </a:xfrm>
          <a:prstGeom prst="rect">
            <a:avLst/>
          </a:prstGeom>
          <a:noFill/>
          <a:ln/>
        </p:spPr>
        <p:txBody>
          <a:bodyPr wrap="square" rtlCol="0" anchor="ctr"/>
          <a:lstStyle/>
          <a:p>
            <a:pPr indent="0" marL="0">
              <a:buNone/>
            </a:pPr>
            <a:r>
              <a:rPr lang="en-US" sz="1300" b="1" dirty="0">
                <a:solidFill>
                  <a:srgbClr val="1A1A1A"/>
                </a:solidFill>
                <a:latin typeface="Calibri" pitchFamily="34" charset="0"/>
                <a:ea typeface="Calibri" pitchFamily="34" charset="-122"/>
                <a:cs typeface="Calibri" pitchFamily="34" charset="-120"/>
              </a:rPr>
              <a:t>Equity Capital Markets Are the Highest-Profile, Not the Largest</a:t>
            </a:r>
            <a:endParaRPr lang="en-US" sz="1300" dirty="0"/>
          </a:p>
        </p:txBody>
      </p:sp>
      <p:sp>
        <p:nvSpPr>
          <p:cNvPr id="14" name="Text 12"/>
          <p:cNvSpPr/>
          <p:nvPr/>
        </p:nvSpPr>
        <p:spPr>
          <a:xfrm>
            <a:off x="411480" y="1874520"/>
            <a:ext cx="5394960" cy="1645920"/>
          </a:xfrm>
          <a:prstGeom prst="rect">
            <a:avLst/>
          </a:prstGeom>
          <a:noFill/>
          <a:ln/>
        </p:spPr>
        <p:txBody>
          <a:bodyPr wrap="square" rtlCol="0" anchor="ctr"/>
          <a:lstStyle/>
          <a:p>
            <a:pPr indent="0" marL="0">
              <a:buNone/>
            </a:pPr>
            <a:r>
              <a:rPr lang="en-US" sz="1100" dirty="0">
                <a:solidFill>
                  <a:srgbClr val="1A1A1A"/>
                </a:solidFill>
                <a:latin typeface="Calibri" pitchFamily="34" charset="0"/>
                <a:ea typeface="Calibri" pitchFamily="34" charset="-122"/>
                <a:cs typeface="Calibri" pitchFamily="34" charset="-120"/>
              </a:rPr>
              <a:t>IPOs generate enormous publicity. But by volume, India's government bond market (G-Sec) is vastly larger than the equity market. Daily G-Sec turnover on NDS-OM often exceeds NSE equity volumes. Debt capital markets are the silent backbone.</a:t>
            </a:r>
            <a:endParaRPr lang="en-US" sz="1100" dirty="0"/>
          </a:p>
        </p:txBody>
      </p:sp>
      <p:sp>
        <p:nvSpPr>
          <p:cNvPr id="15" name="Shape 13"/>
          <p:cNvSpPr/>
          <p:nvPr/>
        </p:nvSpPr>
        <p:spPr>
          <a:xfrm>
            <a:off x="6126480" y="1280160"/>
            <a:ext cx="5669280" cy="2377440"/>
          </a:xfrm>
          <a:prstGeom prst="rect">
            <a:avLst/>
          </a:prstGeom>
          <a:solidFill>
            <a:srgbClr val="D4EFEF"/>
          </a:solidFill>
          <a:ln w="6350">
            <a:solidFill>
              <a:srgbClr val="AAAAAA"/>
            </a:solidFill>
            <a:prstDash val="solid"/>
          </a:ln>
        </p:spPr>
      </p:sp>
      <p:sp>
        <p:nvSpPr>
          <p:cNvPr id="16" name="Shape 14"/>
          <p:cNvSpPr/>
          <p:nvPr/>
        </p:nvSpPr>
        <p:spPr>
          <a:xfrm>
            <a:off x="6217920" y="1371600"/>
            <a:ext cx="457200" cy="457200"/>
          </a:xfrm>
          <a:prstGeom prst="ellipse">
            <a:avLst/>
          </a:prstGeom>
          <a:solidFill>
            <a:srgbClr val="005F5F"/>
          </a:solidFill>
          <a:ln/>
        </p:spPr>
      </p:sp>
      <p:sp>
        <p:nvSpPr>
          <p:cNvPr id="17" name="Text 15"/>
          <p:cNvSpPr/>
          <p:nvPr/>
        </p:nvSpPr>
        <p:spPr>
          <a:xfrm>
            <a:off x="6217920" y="1371600"/>
            <a:ext cx="457200" cy="45720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8" name="Text 16"/>
          <p:cNvSpPr/>
          <p:nvPr/>
        </p:nvSpPr>
        <p:spPr>
          <a:xfrm>
            <a:off x="6766560" y="1371600"/>
            <a:ext cx="4892040" cy="457200"/>
          </a:xfrm>
          <a:prstGeom prst="rect">
            <a:avLst/>
          </a:prstGeom>
          <a:noFill/>
          <a:ln/>
        </p:spPr>
        <p:txBody>
          <a:bodyPr wrap="square" rtlCol="0" anchor="ctr"/>
          <a:lstStyle/>
          <a:p>
            <a:pPr indent="0" marL="0">
              <a:buNone/>
            </a:pPr>
            <a:r>
              <a:rPr lang="en-US" sz="1300" b="1" dirty="0">
                <a:solidFill>
                  <a:srgbClr val="1A1A1A"/>
                </a:solidFill>
                <a:latin typeface="Calibri" pitchFamily="34" charset="0"/>
                <a:ea typeface="Calibri" pitchFamily="34" charset="-122"/>
                <a:cs typeface="Calibri" pitchFamily="34" charset="-120"/>
              </a:rPr>
              <a:t>The Yield Curve Is the Economy's Most Important Signal</a:t>
            </a:r>
            <a:endParaRPr lang="en-US" sz="1300" dirty="0"/>
          </a:p>
        </p:txBody>
      </p:sp>
      <p:sp>
        <p:nvSpPr>
          <p:cNvPr id="19" name="Text 17"/>
          <p:cNvSpPr/>
          <p:nvPr/>
        </p:nvSpPr>
        <p:spPr>
          <a:xfrm>
            <a:off x="6263640" y="1874520"/>
            <a:ext cx="5394960" cy="1645920"/>
          </a:xfrm>
          <a:prstGeom prst="rect">
            <a:avLst/>
          </a:prstGeom>
          <a:noFill/>
          <a:ln/>
        </p:spPr>
        <p:txBody>
          <a:bodyPr wrap="square" rtlCol="0" anchor="ctr"/>
          <a:lstStyle/>
          <a:p>
            <a:pPr indent="0" marL="0">
              <a:buNone/>
            </a:pPr>
            <a:r>
              <a:rPr lang="en-US" sz="1100" dirty="0">
                <a:solidFill>
                  <a:srgbClr val="1A1A1A"/>
                </a:solidFill>
                <a:latin typeface="Calibri" pitchFamily="34" charset="0"/>
                <a:ea typeface="Calibri" pitchFamily="34" charset="-122"/>
                <a:cs typeface="Calibri" pitchFamily="34" charset="-120"/>
              </a:rPr>
              <a:t>The yield on long-term G-Secs (the risk-free rate) is the benchmark for pricing all other capital market instruments. Every corporate bond is priced as "G-Sec yield + credit spread." When the yield curve inverts, it often signals recession.</a:t>
            </a:r>
            <a:endParaRPr lang="en-US" sz="1100" dirty="0"/>
          </a:p>
        </p:txBody>
      </p:sp>
      <p:sp>
        <p:nvSpPr>
          <p:cNvPr id="20" name="Shape 18"/>
          <p:cNvSpPr/>
          <p:nvPr/>
        </p:nvSpPr>
        <p:spPr>
          <a:xfrm>
            <a:off x="274320" y="3840480"/>
            <a:ext cx="5669280" cy="2377440"/>
          </a:xfrm>
          <a:prstGeom prst="rect">
            <a:avLst/>
          </a:prstGeom>
          <a:solidFill>
            <a:srgbClr val="FEF9E7"/>
          </a:solidFill>
          <a:ln w="6350">
            <a:solidFill>
              <a:srgbClr val="AAAAAA"/>
            </a:solidFill>
            <a:prstDash val="solid"/>
          </a:ln>
        </p:spPr>
      </p:sp>
      <p:sp>
        <p:nvSpPr>
          <p:cNvPr id="21" name="Shape 19"/>
          <p:cNvSpPr/>
          <p:nvPr/>
        </p:nvSpPr>
        <p:spPr>
          <a:xfrm>
            <a:off x="365760" y="3931920"/>
            <a:ext cx="457200" cy="457200"/>
          </a:xfrm>
          <a:prstGeom prst="ellipse">
            <a:avLst/>
          </a:prstGeom>
          <a:solidFill>
            <a:srgbClr val="B8860B"/>
          </a:solidFill>
          <a:ln/>
        </p:spPr>
      </p:sp>
      <p:sp>
        <p:nvSpPr>
          <p:cNvPr id="22" name="Text 20"/>
          <p:cNvSpPr/>
          <p:nvPr/>
        </p:nvSpPr>
        <p:spPr>
          <a:xfrm>
            <a:off x="365760" y="3931920"/>
            <a:ext cx="457200" cy="45720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23" name="Text 21"/>
          <p:cNvSpPr/>
          <p:nvPr/>
        </p:nvSpPr>
        <p:spPr>
          <a:xfrm>
            <a:off x="914400" y="3931920"/>
            <a:ext cx="4892040" cy="457200"/>
          </a:xfrm>
          <a:prstGeom prst="rect">
            <a:avLst/>
          </a:prstGeom>
          <a:noFill/>
          <a:ln/>
        </p:spPr>
        <p:txBody>
          <a:bodyPr wrap="square" rtlCol="0" anchor="ctr"/>
          <a:lstStyle/>
          <a:p>
            <a:pPr indent="0" marL="0">
              <a:buNone/>
            </a:pPr>
            <a:r>
              <a:rPr lang="en-US" sz="1300" b="1" dirty="0">
                <a:solidFill>
                  <a:srgbClr val="1A1A1A"/>
                </a:solidFill>
                <a:latin typeface="Calibri" pitchFamily="34" charset="0"/>
                <a:ea typeface="Calibri" pitchFamily="34" charset="-122"/>
                <a:cs typeface="Calibri" pitchFamily="34" charset="-120"/>
              </a:rPr>
              <a:t>Indian Retail Investors Are Under-Allocated to Debt</a:t>
            </a:r>
            <a:endParaRPr lang="en-US" sz="1300" dirty="0"/>
          </a:p>
        </p:txBody>
      </p:sp>
      <p:sp>
        <p:nvSpPr>
          <p:cNvPr id="24" name="Text 22"/>
          <p:cNvSpPr/>
          <p:nvPr/>
        </p:nvSpPr>
        <p:spPr>
          <a:xfrm>
            <a:off x="411480" y="4434840"/>
            <a:ext cx="5394960" cy="1645920"/>
          </a:xfrm>
          <a:prstGeom prst="rect">
            <a:avLst/>
          </a:prstGeom>
          <a:noFill/>
          <a:ln/>
        </p:spPr>
        <p:txBody>
          <a:bodyPr wrap="square" rtlCol="0" anchor="ctr"/>
          <a:lstStyle/>
          <a:p>
            <a:pPr indent="0" marL="0">
              <a:buNone/>
            </a:pPr>
            <a:r>
              <a:rPr lang="en-US" sz="1100" dirty="0">
                <a:solidFill>
                  <a:srgbClr val="1A1A1A"/>
                </a:solidFill>
                <a:latin typeface="Calibri" pitchFamily="34" charset="0"/>
                <a:ea typeface="Calibri" pitchFamily="34" charset="-122"/>
                <a:cs typeface="Calibri" pitchFamily="34" charset="-120"/>
              </a:rPr>
              <a:t>Indian retail investors hold &lt;5% of their financial assets in bonds vs. 60-70% globally. This is partly accessibility (bonds trade in large lots), partly knowledge gap, and partly equity market returns that have been strong. Deepening retail debt participation is a stated SEBI policy objective.</a:t>
            </a:r>
            <a:endParaRPr lang="en-US" sz="1100" dirty="0"/>
          </a:p>
        </p:txBody>
      </p:sp>
      <p:sp>
        <p:nvSpPr>
          <p:cNvPr id="25" name="Shape 23"/>
          <p:cNvSpPr/>
          <p:nvPr/>
        </p:nvSpPr>
        <p:spPr>
          <a:xfrm>
            <a:off x="6126480" y="3840480"/>
            <a:ext cx="5669280" cy="2377440"/>
          </a:xfrm>
          <a:prstGeom prst="rect">
            <a:avLst/>
          </a:prstGeom>
          <a:solidFill>
            <a:srgbClr val="D5E3F0"/>
          </a:solidFill>
          <a:ln w="6350">
            <a:solidFill>
              <a:srgbClr val="AAAAAA"/>
            </a:solidFill>
            <a:prstDash val="solid"/>
          </a:ln>
        </p:spPr>
      </p:sp>
      <p:sp>
        <p:nvSpPr>
          <p:cNvPr id="26" name="Shape 24"/>
          <p:cNvSpPr/>
          <p:nvPr/>
        </p:nvSpPr>
        <p:spPr>
          <a:xfrm>
            <a:off x="6217920" y="3931920"/>
            <a:ext cx="457200" cy="457200"/>
          </a:xfrm>
          <a:prstGeom prst="ellipse">
            <a:avLst/>
          </a:prstGeom>
          <a:solidFill>
            <a:srgbClr val="1E3A5F"/>
          </a:solidFill>
          <a:ln/>
        </p:spPr>
      </p:sp>
      <p:sp>
        <p:nvSpPr>
          <p:cNvPr id="27" name="Text 25"/>
          <p:cNvSpPr/>
          <p:nvPr/>
        </p:nvSpPr>
        <p:spPr>
          <a:xfrm>
            <a:off x="6217920" y="3931920"/>
            <a:ext cx="457200" cy="45720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28" name="Text 26"/>
          <p:cNvSpPr/>
          <p:nvPr/>
        </p:nvSpPr>
        <p:spPr>
          <a:xfrm>
            <a:off x="6766560" y="3931920"/>
            <a:ext cx="4892040" cy="457200"/>
          </a:xfrm>
          <a:prstGeom prst="rect">
            <a:avLst/>
          </a:prstGeom>
          <a:noFill/>
          <a:ln/>
        </p:spPr>
        <p:txBody>
          <a:bodyPr wrap="square" rtlCol="0" anchor="ctr"/>
          <a:lstStyle/>
          <a:p>
            <a:pPr indent="0" marL="0">
              <a:buNone/>
            </a:pPr>
            <a:r>
              <a:rPr lang="en-US" sz="1300" b="1" dirty="0">
                <a:solidFill>
                  <a:srgbClr val="1A1A1A"/>
                </a:solidFill>
                <a:latin typeface="Calibri" pitchFamily="34" charset="0"/>
                <a:ea typeface="Calibri" pitchFamily="34" charset="-122"/>
                <a:cs typeface="Calibri" pitchFamily="34" charset="-120"/>
              </a:rPr>
              <a:t>Operations in ECM and DCM Follow Different Playbooks</a:t>
            </a:r>
            <a:endParaRPr lang="en-US" sz="1300" dirty="0"/>
          </a:p>
        </p:txBody>
      </p:sp>
      <p:sp>
        <p:nvSpPr>
          <p:cNvPr id="29" name="Text 27"/>
          <p:cNvSpPr/>
          <p:nvPr/>
        </p:nvSpPr>
        <p:spPr>
          <a:xfrm>
            <a:off x="6263640" y="4434840"/>
            <a:ext cx="5394960" cy="1645920"/>
          </a:xfrm>
          <a:prstGeom prst="rect">
            <a:avLst/>
          </a:prstGeom>
          <a:noFill/>
          <a:ln/>
        </p:spPr>
        <p:txBody>
          <a:bodyPr wrap="square" rtlCol="0" anchor="ctr"/>
          <a:lstStyle/>
          <a:p>
            <a:pPr indent="0" marL="0">
              <a:buNone/>
            </a:pPr>
            <a:r>
              <a:rPr lang="en-US" sz="1100" dirty="0">
                <a:solidFill>
                  <a:srgbClr val="1A1A1A"/>
                </a:solidFill>
                <a:latin typeface="Calibri" pitchFamily="34" charset="0"/>
                <a:ea typeface="Calibri" pitchFamily="34" charset="-122"/>
                <a:cs typeface="Calibri" pitchFamily="34" charset="-120"/>
              </a:rPr>
              <a:t>An IPO allotment creates demat credits directly. A G-Sec trade on NDS-OM settles through CCIL. An NCD on BSE Debt settles through BSE Clearing. Each has its own confirmation format, settlement cycle, and failure resolution process.</a:t>
            </a:r>
            <a:endParaRPr lang="en-US" sz="1100" dirty="0"/>
          </a:p>
        </p:txBody>
      </p:sp>
      <p:sp>
        <p:nvSpPr>
          <p:cNvPr id="30" name="Text 28"/>
          <p:cNvSpPr/>
          <p:nvPr/>
        </p:nvSpPr>
        <p:spPr>
          <a:xfrm>
            <a:off x="0" y="6601968"/>
            <a:ext cx="12192000" cy="182880"/>
          </a:xfrm>
          <a:prstGeom prst="rect">
            <a:avLst/>
          </a:prstGeom>
          <a:noFill/>
          <a:ln/>
        </p:spPr>
        <p:txBody>
          <a:bodyPr wrap="square" rtlCol="0" anchor="ctr"/>
          <a:lstStyle/>
          <a:p>
            <a:pPr algn="ctr" indent="0" marL="0">
              <a:buNone/>
            </a:pPr>
            <a:r>
              <a:rPr lang="en-US" sz="800" dirty="0">
                <a:solidFill>
                  <a:srgbClr val="AAAAAA"/>
                </a:solidFill>
                <a:latin typeface="Calibri" pitchFamily="34" charset="0"/>
                <a:ea typeface="Calibri" pitchFamily="34" charset="-122"/>
                <a:cs typeface="Calibri" pitchFamily="34" charset="-120"/>
              </a:rPr>
              <a:t>CIBOP · Module 1 · D1.5</a:t>
            </a:r>
            <a:endParaRPr lang="en-US" sz="8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005F5F"/>
          </a:solidFill>
          <a:ln/>
        </p:spPr>
      </p:sp>
      <p:sp>
        <p:nvSpPr>
          <p:cNvPr id="3" name="Shape 1"/>
          <p:cNvSpPr/>
          <p:nvPr/>
        </p:nvSpPr>
        <p:spPr>
          <a:xfrm>
            <a:off x="0" y="0"/>
            <a:ext cx="12192000" cy="73152"/>
          </a:xfrm>
          <a:prstGeom prst="rect">
            <a:avLst/>
          </a:prstGeom>
          <a:solidFill>
            <a:srgbClr val="B8860B"/>
          </a:solidFill>
          <a:ln/>
        </p:spPr>
      </p:sp>
      <p:sp>
        <p:nvSpPr>
          <p:cNvPr id="4" name="Shape 2"/>
          <p:cNvSpPr/>
          <p:nvPr/>
        </p:nvSpPr>
        <p:spPr>
          <a:xfrm>
            <a:off x="0" y="6784848"/>
            <a:ext cx="12192000" cy="73152"/>
          </a:xfrm>
          <a:prstGeom prst="rect">
            <a:avLst/>
          </a:prstGeom>
          <a:solidFill>
            <a:srgbClr val="B8860B"/>
          </a:solidFill>
          <a:ln/>
        </p:spPr>
      </p:sp>
      <p:sp>
        <p:nvSpPr>
          <p:cNvPr id="5" name="Shape 3"/>
          <p:cNvSpPr/>
          <p:nvPr/>
        </p:nvSpPr>
        <p:spPr>
          <a:xfrm>
            <a:off x="0" y="73152"/>
            <a:ext cx="1828800" cy="347472"/>
          </a:xfrm>
          <a:prstGeom prst="rect">
            <a:avLst/>
          </a:prstGeom>
          <a:solidFill>
            <a:srgbClr val="B8860B"/>
          </a:solidFill>
          <a:ln/>
        </p:spPr>
      </p:sp>
      <p:sp>
        <p:nvSpPr>
          <p:cNvPr id="6" name="Text 4"/>
          <p:cNvSpPr/>
          <p:nvPr/>
        </p:nvSpPr>
        <p:spPr>
          <a:xfrm>
            <a:off x="0" y="73152"/>
            <a:ext cx="1828800" cy="347472"/>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THINK &amp; DISCUSS</a:t>
            </a:r>
            <a:endParaRPr lang="en-US" sz="1000" dirty="0"/>
          </a:p>
        </p:txBody>
      </p:sp>
      <p:sp>
        <p:nvSpPr>
          <p:cNvPr id="7" name="Shape 5"/>
          <p:cNvSpPr/>
          <p:nvPr/>
        </p:nvSpPr>
        <p:spPr>
          <a:xfrm>
            <a:off x="10360152" y="73152"/>
            <a:ext cx="1828800" cy="347472"/>
          </a:xfrm>
          <a:prstGeom prst="rect">
            <a:avLst/>
          </a:prstGeom>
          <a:solidFill>
            <a:srgbClr val="005F5F"/>
          </a:solidFill>
          <a:ln/>
        </p:spPr>
      </p:sp>
      <p:sp>
        <p:nvSpPr>
          <p:cNvPr id="8" name="Text 6"/>
          <p:cNvSpPr/>
          <p:nvPr/>
        </p:nvSpPr>
        <p:spPr>
          <a:xfrm>
            <a:off x="10360152" y="73152"/>
            <a:ext cx="1828800" cy="347472"/>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D1.5</a:t>
            </a:r>
            <a:endParaRPr lang="en-US" sz="1000" dirty="0"/>
          </a:p>
        </p:txBody>
      </p:sp>
      <p:sp>
        <p:nvSpPr>
          <p:cNvPr id="9" name="Shape 7"/>
          <p:cNvSpPr/>
          <p:nvPr/>
        </p:nvSpPr>
        <p:spPr>
          <a:xfrm>
            <a:off x="365760" y="914400"/>
            <a:ext cx="11155680" cy="3840480"/>
          </a:xfrm>
          <a:prstGeom prst="rect">
            <a:avLst/>
          </a:prstGeom>
          <a:solidFill>
            <a:srgbClr val="004444"/>
          </a:solidFill>
          <a:ln w="12700">
            <a:solidFill>
              <a:srgbClr val="B8860B"/>
            </a:solidFill>
            <a:prstDash val="solid"/>
          </a:ln>
        </p:spPr>
      </p:sp>
      <p:sp>
        <p:nvSpPr>
          <p:cNvPr id="10" name="Text 8"/>
          <p:cNvSpPr/>
          <p:nvPr/>
        </p:nvSpPr>
        <p:spPr>
          <a:xfrm>
            <a:off x="9144000" y="548640"/>
            <a:ext cx="2926080" cy="457200"/>
          </a:xfrm>
          <a:prstGeom prst="rect">
            <a:avLst/>
          </a:prstGeom>
          <a:noFill/>
          <a:ln/>
        </p:spPr>
        <p:txBody>
          <a:bodyPr wrap="square" rtlCol="0" anchor="ctr"/>
          <a:lstStyle/>
          <a:p>
            <a:pPr algn="r" indent="0" marL="0">
              <a:buNone/>
            </a:pPr>
            <a:r>
              <a:rPr lang="en-US" sz="1400" b="1" dirty="0">
                <a:solidFill>
                  <a:srgbClr val="B8860B"/>
                </a:solidFill>
                <a:latin typeface="Calibri" pitchFamily="34" charset="0"/>
                <a:ea typeface="Calibri" pitchFamily="34" charset="-122"/>
                <a:cs typeface="Calibri" pitchFamily="34" charset="-120"/>
              </a:rPr>
              <a:t>🕐  2 MINUTES</a:t>
            </a:r>
            <a:endParaRPr lang="en-US" sz="1400" dirty="0"/>
          </a:p>
        </p:txBody>
      </p:sp>
      <p:sp>
        <p:nvSpPr>
          <p:cNvPr id="11" name="Text 9"/>
          <p:cNvSpPr/>
          <p:nvPr/>
        </p:nvSpPr>
        <p:spPr>
          <a:xfrm>
            <a:off x="640080" y="1188720"/>
            <a:ext cx="10607040" cy="3108960"/>
          </a:xfrm>
          <a:prstGeom prst="rect">
            <a:avLst/>
          </a:prstGeom>
          <a:noFill/>
          <a:ln/>
        </p:spPr>
        <p:txBody>
          <a:bodyPr wrap="square"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 startup founder says: 'We don't need the capital markets — we'll just get a bank loan.' Under what circumstances is she right? Under what circumstances is she missing something important?"</a:t>
            </a:r>
            <a:endParaRPr lang="en-US" sz="2000" dirty="0"/>
          </a:p>
        </p:txBody>
      </p:sp>
      <p:sp>
        <p:nvSpPr>
          <p:cNvPr id="12" name="Shape 10"/>
          <p:cNvSpPr/>
          <p:nvPr/>
        </p:nvSpPr>
        <p:spPr>
          <a:xfrm>
            <a:off x="0" y="5029200"/>
            <a:ext cx="12192000" cy="914400"/>
          </a:xfrm>
          <a:prstGeom prst="rect">
            <a:avLst/>
          </a:prstGeom>
          <a:solidFill>
            <a:srgbClr val="003333"/>
          </a:solidFill>
          <a:ln/>
        </p:spPr>
      </p:sp>
      <p:sp>
        <p:nvSpPr>
          <p:cNvPr id="13" name="Text 11"/>
          <p:cNvSpPr/>
          <p:nvPr/>
        </p:nvSpPr>
        <p:spPr>
          <a:xfrm>
            <a:off x="365760" y="5029200"/>
            <a:ext cx="11430000" cy="914400"/>
          </a:xfrm>
          <a:prstGeom prst="rect">
            <a:avLst/>
          </a:prstGeom>
          <a:noFill/>
          <a:ln/>
        </p:spPr>
        <p:txBody>
          <a:bodyPr wrap="square" rtlCol="0" anchor="ctr"/>
          <a:lstStyle/>
          <a:p>
            <a:pPr indent="0" marL="0">
              <a:buNone/>
            </a:pPr>
            <a:r>
              <a:rPr lang="en-US" sz="1400" dirty="0">
                <a:solidFill>
                  <a:srgbClr val="CADCFC"/>
                </a:solidFill>
                <a:latin typeface="Calibri" pitchFamily="34" charset="0"/>
                <a:ea typeface="Calibri" pitchFamily="34" charset="-122"/>
                <a:cs typeface="Calibri" pitchFamily="34" charset="-120"/>
              </a:rPr>
              <a:t>💡  Hint: Think about loan size limits, collateral requirements, cost of borrowing, and what happens when a company grows to ₹10,000+ crore in funding needs.</a:t>
            </a:r>
            <a:endParaRPr lang="en-US" sz="1400" dirty="0"/>
          </a:p>
        </p:txBody>
      </p:sp>
      <p:sp>
        <p:nvSpPr>
          <p:cNvPr id="14" name="Text 12"/>
          <p:cNvSpPr/>
          <p:nvPr/>
        </p:nvSpPr>
        <p:spPr>
          <a:xfrm>
            <a:off x="0" y="6601968"/>
            <a:ext cx="12192000" cy="182880"/>
          </a:xfrm>
          <a:prstGeom prst="rect">
            <a:avLst/>
          </a:prstGeom>
          <a:noFill/>
          <a:ln/>
        </p:spPr>
        <p:txBody>
          <a:bodyPr wrap="square" rtlCol="0" anchor="ctr"/>
          <a:lstStyle/>
          <a:p>
            <a:pPr algn="ctr" indent="0" marL="0">
              <a:buNone/>
            </a:pPr>
            <a:r>
              <a:rPr lang="en-US" sz="800" dirty="0">
                <a:solidFill>
                  <a:srgbClr val="AAAAAA"/>
                </a:solidFill>
                <a:latin typeface="Calibri" pitchFamily="34" charset="0"/>
                <a:ea typeface="Calibri" pitchFamily="34" charset="-122"/>
                <a:cs typeface="Calibri" pitchFamily="34" charset="-120"/>
              </a:rPr>
              <a:t>CIBOP · Module 1 · D1.5</a:t>
            </a:r>
            <a:endParaRPr lang="en-US" sz="8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4F6FA"/>
          </a:solidFill>
          <a:ln/>
        </p:spPr>
      </p:sp>
      <p:sp>
        <p:nvSpPr>
          <p:cNvPr id="3" name="Shape 1"/>
          <p:cNvSpPr/>
          <p:nvPr/>
        </p:nvSpPr>
        <p:spPr>
          <a:xfrm>
            <a:off x="0" y="0"/>
            <a:ext cx="12192000" cy="73152"/>
          </a:xfrm>
          <a:prstGeom prst="rect">
            <a:avLst/>
          </a:prstGeom>
          <a:solidFill>
            <a:srgbClr val="B8860B"/>
          </a:solidFill>
          <a:ln/>
        </p:spPr>
      </p:sp>
      <p:sp>
        <p:nvSpPr>
          <p:cNvPr id="4" name="Shape 2"/>
          <p:cNvSpPr/>
          <p:nvPr/>
        </p:nvSpPr>
        <p:spPr>
          <a:xfrm>
            <a:off x="0" y="6784848"/>
            <a:ext cx="12192000" cy="73152"/>
          </a:xfrm>
          <a:prstGeom prst="rect">
            <a:avLst/>
          </a:prstGeom>
          <a:solidFill>
            <a:srgbClr val="1E3A5F"/>
          </a:solidFill>
          <a:ln/>
        </p:spPr>
      </p:sp>
      <p:sp>
        <p:nvSpPr>
          <p:cNvPr id="5" name="Shape 3"/>
          <p:cNvSpPr/>
          <p:nvPr/>
        </p:nvSpPr>
        <p:spPr>
          <a:xfrm>
            <a:off x="0" y="73152"/>
            <a:ext cx="1828800" cy="347472"/>
          </a:xfrm>
          <a:prstGeom prst="rect">
            <a:avLst/>
          </a:prstGeom>
          <a:solidFill>
            <a:srgbClr val="B8860B"/>
          </a:solidFill>
          <a:ln/>
        </p:spPr>
      </p:sp>
      <p:sp>
        <p:nvSpPr>
          <p:cNvPr id="6" name="Text 4"/>
          <p:cNvSpPr/>
          <p:nvPr/>
        </p:nvSpPr>
        <p:spPr>
          <a:xfrm>
            <a:off x="0" y="73152"/>
            <a:ext cx="1828800" cy="347472"/>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INTERVIEW READY</a:t>
            </a:r>
            <a:endParaRPr lang="en-US" sz="1000" dirty="0"/>
          </a:p>
        </p:txBody>
      </p:sp>
      <p:sp>
        <p:nvSpPr>
          <p:cNvPr id="7" name="Shape 5"/>
          <p:cNvSpPr/>
          <p:nvPr/>
        </p:nvSpPr>
        <p:spPr>
          <a:xfrm>
            <a:off x="10360152" y="73152"/>
            <a:ext cx="1828800" cy="347472"/>
          </a:xfrm>
          <a:prstGeom prst="rect">
            <a:avLst/>
          </a:prstGeom>
          <a:solidFill>
            <a:srgbClr val="005F5F"/>
          </a:solidFill>
          <a:ln/>
        </p:spPr>
      </p:sp>
      <p:sp>
        <p:nvSpPr>
          <p:cNvPr id="8" name="Text 6"/>
          <p:cNvSpPr/>
          <p:nvPr/>
        </p:nvSpPr>
        <p:spPr>
          <a:xfrm>
            <a:off x="10360152" y="73152"/>
            <a:ext cx="1828800" cy="347472"/>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D1.5</a:t>
            </a:r>
            <a:endParaRPr lang="en-US" sz="1000" dirty="0"/>
          </a:p>
        </p:txBody>
      </p:sp>
      <p:sp>
        <p:nvSpPr>
          <p:cNvPr id="9" name="Shape 7"/>
          <p:cNvSpPr/>
          <p:nvPr/>
        </p:nvSpPr>
        <p:spPr>
          <a:xfrm>
            <a:off x="0" y="420624"/>
            <a:ext cx="12192000" cy="1371600"/>
          </a:xfrm>
          <a:prstGeom prst="rect">
            <a:avLst/>
          </a:prstGeom>
          <a:solidFill>
            <a:srgbClr val="1E3A5F"/>
          </a:solidFill>
          <a:ln/>
        </p:spPr>
      </p:sp>
      <p:sp>
        <p:nvSpPr>
          <p:cNvPr id="10" name="Text 8"/>
          <p:cNvSpPr/>
          <p:nvPr/>
        </p:nvSpPr>
        <p:spPr>
          <a:xfrm>
            <a:off x="365760" y="502920"/>
            <a:ext cx="11430000" cy="365760"/>
          </a:xfrm>
          <a:prstGeom prst="rect">
            <a:avLst/>
          </a:prstGeom>
          <a:noFill/>
          <a:ln/>
        </p:spPr>
        <p:txBody>
          <a:bodyPr wrap="square" rtlCol="0" anchor="ctr"/>
          <a:lstStyle/>
          <a:p>
            <a:pPr indent="0" marL="0">
              <a:buNone/>
            </a:pPr>
            <a:r>
              <a:rPr lang="en-US" sz="1200" b="1" dirty="0">
                <a:solidFill>
                  <a:srgbClr val="B8860B"/>
                </a:solidFill>
                <a:latin typeface="Calibri" pitchFamily="34" charset="0"/>
                <a:ea typeface="Calibri" pitchFamily="34" charset="-122"/>
                <a:cs typeface="Calibri" pitchFamily="34" charset="-120"/>
              </a:rPr>
              <a:t>💼  Interview Question:</a:t>
            </a:r>
            <a:endParaRPr lang="en-US" sz="1200" dirty="0"/>
          </a:p>
        </p:txBody>
      </p:sp>
      <p:sp>
        <p:nvSpPr>
          <p:cNvPr id="11" name="Text 9"/>
          <p:cNvSpPr/>
          <p:nvPr/>
        </p:nvSpPr>
        <p:spPr>
          <a:xfrm>
            <a:off x="365760" y="914400"/>
            <a:ext cx="11430000" cy="822960"/>
          </a:xfrm>
          <a:prstGeom prst="rect">
            <a:avLst/>
          </a:prstGeom>
          <a:noFill/>
          <a:ln/>
        </p:spPr>
        <p:txBody>
          <a:bodyPr wrap="square"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"Explain the role of capital markets in the economy and the difference between equity and debt capital markets."</a:t>
            </a:r>
            <a:endParaRPr lang="en-US" sz="1700" dirty="0"/>
          </a:p>
        </p:txBody>
      </p:sp>
      <p:sp>
        <p:nvSpPr>
          <p:cNvPr id="12" name="Text 10"/>
          <p:cNvSpPr/>
          <p:nvPr/>
        </p:nvSpPr>
        <p:spPr>
          <a:xfrm>
            <a:off x="365760" y="1965960"/>
            <a:ext cx="11430000" cy="365760"/>
          </a:xfrm>
          <a:prstGeom prst="rect">
            <a:avLst/>
          </a:prstGeom>
          <a:noFill/>
          <a:ln/>
        </p:spPr>
        <p:txBody>
          <a:bodyPr wrap="square" rtlCol="0" anchor="ctr"/>
          <a:lstStyle/>
          <a:p>
            <a:pPr indent="0" marL="0">
              <a:buNone/>
            </a:pPr>
            <a:r>
              <a:rPr lang="en-US" sz="1200" b="1" dirty="0">
                <a:solidFill>
                  <a:srgbClr val="005F5F"/>
                </a:solidFill>
                <a:latin typeface="Calibri" pitchFamily="34" charset="0"/>
                <a:ea typeface="Calibri" pitchFamily="34" charset="-122"/>
                <a:cs typeface="Calibri" pitchFamily="34" charset="-120"/>
              </a:rPr>
              <a:t>STRONG ANSWER FRAMEWORK  (4 points):</a:t>
            </a:r>
            <a:endParaRPr lang="en-US" sz="1200" dirty="0"/>
          </a:p>
        </p:txBody>
      </p:sp>
      <p:sp>
        <p:nvSpPr>
          <p:cNvPr id="13" name="Shape 11"/>
          <p:cNvSpPr/>
          <p:nvPr/>
        </p:nvSpPr>
        <p:spPr>
          <a:xfrm>
            <a:off x="274320" y="2423160"/>
            <a:ext cx="457200" cy="640080"/>
          </a:xfrm>
          <a:prstGeom prst="rect">
            <a:avLst/>
          </a:prstGeom>
          <a:solidFill>
            <a:srgbClr val="1E3A5F"/>
          </a:solidFill>
          <a:ln/>
        </p:spPr>
      </p:sp>
      <p:sp>
        <p:nvSpPr>
          <p:cNvPr id="14" name="Text 12"/>
          <p:cNvSpPr/>
          <p:nvPr/>
        </p:nvSpPr>
        <p:spPr>
          <a:xfrm>
            <a:off x="274320" y="2423160"/>
            <a:ext cx="457200" cy="64008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5" name="Shape 13"/>
          <p:cNvSpPr/>
          <p:nvPr/>
        </p:nvSpPr>
        <p:spPr>
          <a:xfrm>
            <a:off x="822960" y="2423160"/>
            <a:ext cx="11064240" cy="640080"/>
          </a:xfrm>
          <a:prstGeom prst="rect">
            <a:avLst/>
          </a:prstGeom>
          <a:solidFill>
            <a:srgbClr val="D5E3F0"/>
          </a:solidFill>
          <a:ln w="6350">
            <a:solidFill>
              <a:srgbClr val="AAAAAA"/>
            </a:solidFill>
            <a:prstDash val="solid"/>
          </a:ln>
        </p:spPr>
      </p:sp>
      <p:sp>
        <p:nvSpPr>
          <p:cNvPr id="16" name="Text 14"/>
          <p:cNvSpPr/>
          <p:nvPr/>
        </p:nvSpPr>
        <p:spPr>
          <a:xfrm>
            <a:off x="914400" y="2423160"/>
            <a:ext cx="10881360" cy="640080"/>
          </a:xfrm>
          <a:prstGeom prst="rect">
            <a:avLst/>
          </a:prstGeom>
          <a:noFill/>
          <a:ln/>
        </p:spPr>
        <p:txBody>
          <a:bodyPr wrap="square" rtlCol="0" anchor="ctr"/>
          <a:lstStyle/>
          <a:p>
            <a:pPr indent="0" marL="0">
              <a:buNone/>
            </a:pPr>
            <a:r>
              <a:rPr lang="en-US" sz="1300" dirty="0">
                <a:solidFill>
                  <a:srgbClr val="1A1A1A"/>
                </a:solidFill>
                <a:latin typeface="Calibri" pitchFamily="34" charset="0"/>
                <a:ea typeface="Calibri" pitchFamily="34" charset="-122"/>
                <a:cs typeface="Calibri" pitchFamily="34" charset="-120"/>
              </a:rPr>
              <a:t>Capital markets channel long-term savings from investors to issuers who need funds for productive investment — companies raising equity or debt, governments funding deficits and infrastructure.</a:t>
            </a:r>
            <a:endParaRPr lang="en-US" sz="1300" dirty="0"/>
          </a:p>
        </p:txBody>
      </p:sp>
      <p:sp>
        <p:nvSpPr>
          <p:cNvPr id="17" name="Shape 15"/>
          <p:cNvSpPr/>
          <p:nvPr/>
        </p:nvSpPr>
        <p:spPr>
          <a:xfrm>
            <a:off x="274320" y="3337560"/>
            <a:ext cx="457200" cy="640080"/>
          </a:xfrm>
          <a:prstGeom prst="rect">
            <a:avLst/>
          </a:prstGeom>
          <a:solidFill>
            <a:srgbClr val="1E3A5F"/>
          </a:solidFill>
          <a:ln/>
        </p:spPr>
      </p:sp>
      <p:sp>
        <p:nvSpPr>
          <p:cNvPr id="18" name="Text 16"/>
          <p:cNvSpPr/>
          <p:nvPr/>
        </p:nvSpPr>
        <p:spPr>
          <a:xfrm>
            <a:off x="274320" y="3337560"/>
            <a:ext cx="457200" cy="64008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9" name="Shape 17"/>
          <p:cNvSpPr/>
          <p:nvPr/>
        </p:nvSpPr>
        <p:spPr>
          <a:xfrm>
            <a:off x="822960" y="3337560"/>
            <a:ext cx="11064240" cy="640080"/>
          </a:xfrm>
          <a:prstGeom prst="rect">
            <a:avLst/>
          </a:prstGeom>
          <a:solidFill>
            <a:srgbClr val="FFFFFF"/>
          </a:solidFill>
          <a:ln w="6350">
            <a:solidFill>
              <a:srgbClr val="AAAAAA"/>
            </a:solidFill>
            <a:prstDash val="solid"/>
          </a:ln>
        </p:spPr>
      </p:sp>
      <p:sp>
        <p:nvSpPr>
          <p:cNvPr id="20" name="Text 18"/>
          <p:cNvSpPr/>
          <p:nvPr/>
        </p:nvSpPr>
        <p:spPr>
          <a:xfrm>
            <a:off x="914400" y="3337560"/>
            <a:ext cx="10881360" cy="640080"/>
          </a:xfrm>
          <a:prstGeom prst="rect">
            <a:avLst/>
          </a:prstGeom>
          <a:noFill/>
          <a:ln/>
        </p:spPr>
        <p:txBody>
          <a:bodyPr wrap="square" rtlCol="0" anchor="ctr"/>
          <a:lstStyle/>
          <a:p>
            <a:pPr indent="0" marL="0">
              <a:buNone/>
            </a:pPr>
            <a:r>
              <a:rPr lang="en-US" sz="1300" dirty="0">
                <a:solidFill>
                  <a:srgbClr val="1A1A1A"/>
                </a:solidFill>
                <a:latin typeface="Calibri" pitchFamily="34" charset="0"/>
                <a:ea typeface="Calibri" pitchFamily="34" charset="-122"/>
                <a:cs typeface="Calibri" pitchFamily="34" charset="-120"/>
              </a:rPr>
              <a:t>Equity capital markets allow companies to raise permanent capital by issuing shares. Investors become owners with variable returns. No repayment obligation. Settlement on T+1 in India.</a:t>
            </a:r>
            <a:endParaRPr lang="en-US" sz="1300" dirty="0"/>
          </a:p>
        </p:txBody>
      </p:sp>
      <p:sp>
        <p:nvSpPr>
          <p:cNvPr id="21" name="Shape 19"/>
          <p:cNvSpPr/>
          <p:nvPr/>
        </p:nvSpPr>
        <p:spPr>
          <a:xfrm>
            <a:off x="274320" y="4251960"/>
            <a:ext cx="457200" cy="640080"/>
          </a:xfrm>
          <a:prstGeom prst="rect">
            <a:avLst/>
          </a:prstGeom>
          <a:solidFill>
            <a:srgbClr val="1E3A5F"/>
          </a:solidFill>
          <a:ln/>
        </p:spPr>
      </p:sp>
      <p:sp>
        <p:nvSpPr>
          <p:cNvPr id="22" name="Text 20"/>
          <p:cNvSpPr/>
          <p:nvPr/>
        </p:nvSpPr>
        <p:spPr>
          <a:xfrm>
            <a:off x="274320" y="4251960"/>
            <a:ext cx="457200" cy="64008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3" name="Shape 21"/>
          <p:cNvSpPr/>
          <p:nvPr/>
        </p:nvSpPr>
        <p:spPr>
          <a:xfrm>
            <a:off x="822960" y="4251960"/>
            <a:ext cx="11064240" cy="640080"/>
          </a:xfrm>
          <a:prstGeom prst="rect">
            <a:avLst/>
          </a:prstGeom>
          <a:solidFill>
            <a:srgbClr val="D5E3F0"/>
          </a:solidFill>
          <a:ln w="6350">
            <a:solidFill>
              <a:srgbClr val="AAAAAA"/>
            </a:solidFill>
            <a:prstDash val="solid"/>
          </a:ln>
        </p:spPr>
      </p:sp>
      <p:sp>
        <p:nvSpPr>
          <p:cNvPr id="24" name="Text 22"/>
          <p:cNvSpPr/>
          <p:nvPr/>
        </p:nvSpPr>
        <p:spPr>
          <a:xfrm>
            <a:off x="914400" y="4251960"/>
            <a:ext cx="10881360" cy="640080"/>
          </a:xfrm>
          <a:prstGeom prst="rect">
            <a:avLst/>
          </a:prstGeom>
          <a:noFill/>
          <a:ln/>
        </p:spPr>
        <p:txBody>
          <a:bodyPr wrap="square" rtlCol="0" anchor="ctr"/>
          <a:lstStyle/>
          <a:p>
            <a:pPr indent="0" marL="0">
              <a:buNone/>
            </a:pPr>
            <a:r>
              <a:rPr lang="en-US" sz="1300" dirty="0">
                <a:solidFill>
                  <a:srgbClr val="1A1A1A"/>
                </a:solidFill>
                <a:latin typeface="Calibri" pitchFamily="34" charset="0"/>
                <a:ea typeface="Calibri" pitchFamily="34" charset="-122"/>
                <a:cs typeface="Calibri" pitchFamily="34" charset="-120"/>
              </a:rPr>
              <a:t>Debt capital markets allow companies and governments to borrow by issuing bonds. Investors become creditors with fixed returns and defined maturity. G-Secs settle on T+1 through CCIL/NDS-OM.</a:t>
            </a:r>
            <a:endParaRPr lang="en-US" sz="1300" dirty="0"/>
          </a:p>
        </p:txBody>
      </p:sp>
      <p:sp>
        <p:nvSpPr>
          <p:cNvPr id="25" name="Shape 23"/>
          <p:cNvSpPr/>
          <p:nvPr/>
        </p:nvSpPr>
        <p:spPr>
          <a:xfrm>
            <a:off x="274320" y="5166360"/>
            <a:ext cx="457200" cy="640080"/>
          </a:xfrm>
          <a:prstGeom prst="rect">
            <a:avLst/>
          </a:prstGeom>
          <a:solidFill>
            <a:srgbClr val="1E3A5F"/>
          </a:solidFill>
          <a:ln/>
        </p:spPr>
      </p:sp>
      <p:sp>
        <p:nvSpPr>
          <p:cNvPr id="26" name="Text 24"/>
          <p:cNvSpPr/>
          <p:nvPr/>
        </p:nvSpPr>
        <p:spPr>
          <a:xfrm>
            <a:off x="274320" y="5166360"/>
            <a:ext cx="457200" cy="64008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7" name="Shape 25"/>
          <p:cNvSpPr/>
          <p:nvPr/>
        </p:nvSpPr>
        <p:spPr>
          <a:xfrm>
            <a:off x="822960" y="5166360"/>
            <a:ext cx="11064240" cy="640080"/>
          </a:xfrm>
          <a:prstGeom prst="rect">
            <a:avLst/>
          </a:prstGeom>
          <a:solidFill>
            <a:srgbClr val="FFFFFF"/>
          </a:solidFill>
          <a:ln w="6350">
            <a:solidFill>
              <a:srgbClr val="AAAAAA"/>
            </a:solidFill>
            <a:prstDash val="solid"/>
          </a:ln>
        </p:spPr>
      </p:sp>
      <p:sp>
        <p:nvSpPr>
          <p:cNvPr id="28" name="Text 26"/>
          <p:cNvSpPr/>
          <p:nvPr/>
        </p:nvSpPr>
        <p:spPr>
          <a:xfrm>
            <a:off x="914400" y="5166360"/>
            <a:ext cx="10881360" cy="640080"/>
          </a:xfrm>
          <a:prstGeom prst="rect">
            <a:avLst/>
          </a:prstGeom>
          <a:noFill/>
          <a:ln/>
        </p:spPr>
        <p:txBody>
          <a:bodyPr wrap="square" rtlCol="0" anchor="ctr"/>
          <a:lstStyle/>
          <a:p>
            <a:pPr indent="0" marL="0">
              <a:buNone/>
            </a:pPr>
            <a:r>
              <a:rPr lang="en-US" sz="1300" dirty="0">
                <a:solidFill>
                  <a:srgbClr val="1A1A1A"/>
                </a:solidFill>
                <a:latin typeface="Calibri" pitchFamily="34" charset="0"/>
                <a:ea typeface="Calibri" pitchFamily="34" charset="-122"/>
                <a:cs typeface="Calibri" pitchFamily="34" charset="-120"/>
              </a:rPr>
              <a:t>In operations, ECM and DCM transactions follow different settlement workflows, instrument documentation, and corporate action processes. Knowing which market a transaction belongs to determines the entire operations pathway.</a:t>
            </a:r>
            <a:endParaRPr lang="en-US" sz="1300" dirty="0"/>
          </a:p>
        </p:txBody>
      </p:sp>
      <p:sp>
        <p:nvSpPr>
          <p:cNvPr id="29" name="Text 27"/>
          <p:cNvSpPr/>
          <p:nvPr/>
        </p:nvSpPr>
        <p:spPr>
          <a:xfrm>
            <a:off x="0" y="6601968"/>
            <a:ext cx="12192000" cy="182880"/>
          </a:xfrm>
          <a:prstGeom prst="rect">
            <a:avLst/>
          </a:prstGeom>
          <a:noFill/>
          <a:ln/>
        </p:spPr>
        <p:txBody>
          <a:bodyPr wrap="square" rtlCol="0" anchor="ctr"/>
          <a:lstStyle/>
          <a:p>
            <a:pPr algn="ctr" indent="0" marL="0">
              <a:buNone/>
            </a:pPr>
            <a:r>
              <a:rPr lang="en-US" sz="800" dirty="0">
                <a:solidFill>
                  <a:srgbClr val="AAAAAA"/>
                </a:solidFill>
                <a:latin typeface="Calibri" pitchFamily="34" charset="0"/>
                <a:ea typeface="Calibri" pitchFamily="34" charset="-122"/>
                <a:cs typeface="Calibri" pitchFamily="34" charset="-120"/>
              </a:rPr>
              <a:t>CIBOP · Module 1 · D1.5</a:t>
            </a:r>
            <a:endParaRPr lang="en-US" sz="8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1E3A5F"/>
          </a:solidFill>
          <a:ln/>
        </p:spPr>
      </p:sp>
      <p:sp>
        <p:nvSpPr>
          <p:cNvPr id="3" name="Shape 1"/>
          <p:cNvSpPr/>
          <p:nvPr/>
        </p:nvSpPr>
        <p:spPr>
          <a:xfrm>
            <a:off x="0" y="0"/>
            <a:ext cx="12192000" cy="73152"/>
          </a:xfrm>
          <a:prstGeom prst="rect">
            <a:avLst/>
          </a:prstGeom>
          <a:solidFill>
            <a:srgbClr val="B8860B"/>
          </a:solidFill>
          <a:ln/>
        </p:spPr>
      </p:sp>
      <p:sp>
        <p:nvSpPr>
          <p:cNvPr id="4" name="Shape 2"/>
          <p:cNvSpPr/>
          <p:nvPr/>
        </p:nvSpPr>
        <p:spPr>
          <a:xfrm>
            <a:off x="0" y="6784848"/>
            <a:ext cx="12192000" cy="73152"/>
          </a:xfrm>
          <a:prstGeom prst="rect">
            <a:avLst/>
          </a:prstGeom>
          <a:solidFill>
            <a:srgbClr val="B8860B"/>
          </a:solidFill>
          <a:ln/>
        </p:spPr>
      </p:sp>
      <p:sp>
        <p:nvSpPr>
          <p:cNvPr id="5" name="Shape 3"/>
          <p:cNvSpPr/>
          <p:nvPr/>
        </p:nvSpPr>
        <p:spPr>
          <a:xfrm>
            <a:off x="0" y="73152"/>
            <a:ext cx="1828800" cy="347472"/>
          </a:xfrm>
          <a:prstGeom prst="rect">
            <a:avLst/>
          </a:prstGeom>
          <a:solidFill>
            <a:srgbClr val="B8860B"/>
          </a:solidFill>
          <a:ln/>
        </p:spPr>
      </p:sp>
      <p:sp>
        <p:nvSpPr>
          <p:cNvPr id="6" name="Text 4"/>
          <p:cNvSpPr/>
          <p:nvPr/>
        </p:nvSpPr>
        <p:spPr>
          <a:xfrm>
            <a:off x="0" y="73152"/>
            <a:ext cx="1828800" cy="347472"/>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QUICK RECAP</a:t>
            </a:r>
            <a:endParaRPr lang="en-US" sz="1000" dirty="0"/>
          </a:p>
        </p:txBody>
      </p:sp>
      <p:sp>
        <p:nvSpPr>
          <p:cNvPr id="7" name="Shape 5"/>
          <p:cNvSpPr/>
          <p:nvPr/>
        </p:nvSpPr>
        <p:spPr>
          <a:xfrm>
            <a:off x="10360152" y="73152"/>
            <a:ext cx="1828800" cy="347472"/>
          </a:xfrm>
          <a:prstGeom prst="rect">
            <a:avLst/>
          </a:prstGeom>
          <a:solidFill>
            <a:srgbClr val="005F5F"/>
          </a:solidFill>
          <a:ln/>
        </p:spPr>
      </p:sp>
      <p:sp>
        <p:nvSpPr>
          <p:cNvPr id="8" name="Text 6"/>
          <p:cNvSpPr/>
          <p:nvPr/>
        </p:nvSpPr>
        <p:spPr>
          <a:xfrm>
            <a:off x="10360152" y="73152"/>
            <a:ext cx="1828800" cy="347472"/>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D1.6</a:t>
            </a:r>
            <a:endParaRPr lang="en-US" sz="1000" dirty="0"/>
          </a:p>
        </p:txBody>
      </p:sp>
      <p:sp>
        <p:nvSpPr>
          <p:cNvPr id="9" name="Text 7"/>
          <p:cNvSpPr/>
          <p:nvPr/>
        </p:nvSpPr>
        <p:spPr>
          <a:xfrm>
            <a:off x="8686800" y="1097280"/>
            <a:ext cx="3200400" cy="4572000"/>
          </a:xfrm>
          <a:prstGeom prst="rect">
            <a:avLst/>
          </a:prstGeom>
          <a:noFill/>
          <a:ln/>
        </p:spPr>
        <p:txBody>
          <a:bodyPr wrap="square" rtlCol="0" anchor="ctr"/>
          <a:lstStyle/>
          <a:p>
            <a:pPr algn="ctr" indent="0" marL="0">
              <a:buNone/>
            </a:pPr>
            <a:r>
              <a:rPr lang="en-US" sz="20000" b="1" dirty="0">
                <a:solidFill>
                  <a:srgbClr val="2E4A6E"/>
                </a:solidFill>
                <a:latin typeface="Calibri" pitchFamily="34" charset="0"/>
                <a:ea typeface="Calibri" pitchFamily="34" charset="-122"/>
                <a:cs typeface="Calibri" pitchFamily="34" charset="-120"/>
              </a:rPr>
              <a:t>?</a:t>
            </a:r>
            <a:endParaRPr lang="en-US" sz="20000" dirty="0"/>
          </a:p>
        </p:txBody>
      </p:sp>
      <p:sp>
        <p:nvSpPr>
          <p:cNvPr id="10" name="Text 8"/>
          <p:cNvSpPr/>
          <p:nvPr/>
        </p:nvSpPr>
        <p:spPr>
          <a:xfrm>
            <a:off x="365760" y="548640"/>
            <a:ext cx="8229600" cy="457200"/>
          </a:xfrm>
          <a:prstGeom prst="rect">
            <a:avLst/>
          </a:prstGeom>
          <a:noFill/>
          <a:ln/>
        </p:spPr>
        <p:txBody>
          <a:bodyPr wrap="square" rtlCol="0" anchor="ctr"/>
          <a:lstStyle/>
          <a:p>
            <a:pPr indent="0" marL="0">
              <a:buNone/>
            </a:pPr>
            <a:r>
              <a:rPr lang="en-US" sz="1400" b="1" dirty="0">
                <a:solidFill>
                  <a:srgbClr val="B8860B"/>
                </a:solidFill>
                <a:latin typeface="Calibri" pitchFamily="34" charset="0"/>
                <a:ea typeface="Calibri" pitchFamily="34" charset="-122"/>
                <a:cs typeface="Calibri" pitchFamily="34" charset="-120"/>
              </a:rPr>
              <a:t>D1.6  —  Market Microstructure</a:t>
            </a:r>
            <a:endParaRPr lang="en-US" sz="1400" dirty="0"/>
          </a:p>
        </p:txBody>
      </p:sp>
      <p:sp>
        <p:nvSpPr>
          <p:cNvPr id="11" name="Text 9"/>
          <p:cNvSpPr/>
          <p:nvPr/>
        </p:nvSpPr>
        <p:spPr>
          <a:xfrm>
            <a:off x="365760" y="1280160"/>
            <a:ext cx="8229600" cy="3474720"/>
          </a:xfrm>
          <a:prstGeom prst="rect">
            <a:avLst/>
          </a:prstGeom>
          <a:noFill/>
          <a:ln/>
        </p:spPr>
        <p:txBody>
          <a:bodyPr wrap="square"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"A market maker is just making up prices." "They are QUOTING prices." Who is right — and why does the distinction matter for every FX trade your firm executes?"</a:t>
            </a:r>
            <a:endParaRPr lang="en-US" sz="2600" dirty="0"/>
          </a:p>
        </p:txBody>
      </p:sp>
      <p:sp>
        <p:nvSpPr>
          <p:cNvPr id="12" name="Shape 10"/>
          <p:cNvSpPr/>
          <p:nvPr/>
        </p:nvSpPr>
        <p:spPr>
          <a:xfrm>
            <a:off x="365760" y="5029200"/>
            <a:ext cx="8229600" cy="731520"/>
          </a:xfrm>
          <a:prstGeom prst="rect">
            <a:avLst/>
          </a:prstGeom>
          <a:solidFill>
            <a:srgbClr val="2E4A6E"/>
          </a:solidFill>
          <a:ln/>
        </p:spPr>
      </p:sp>
      <p:sp>
        <p:nvSpPr>
          <p:cNvPr id="13" name="Text 11"/>
          <p:cNvSpPr/>
          <p:nvPr/>
        </p:nvSpPr>
        <p:spPr>
          <a:xfrm>
            <a:off x="365760" y="5029200"/>
            <a:ext cx="8229600" cy="731520"/>
          </a:xfrm>
          <a:prstGeom prst="rect">
            <a:avLst/>
          </a:prstGeom>
          <a:noFill/>
          <a:ln/>
        </p:spPr>
        <p:txBody>
          <a:bodyPr wrap="square" rtlCol="0" anchor="ctr"/>
          <a:lstStyle/>
          <a:p>
            <a:pPr algn="l" indent="0" marL="0">
              <a:buNone/>
            </a:pPr>
            <a:r>
              <a:rPr lang="en-US" sz="1100" i="1" dirty="0">
                <a:solidFill>
                  <a:srgbClr val="CADCFC"/>
                </a:solidFill>
                <a:latin typeface="Calibri" pitchFamily="34" charset="0"/>
                <a:ea typeface="Calibri" pitchFamily="34" charset="-122"/>
                <a:cs typeface="Calibri" pitchFamily="34" charset="-120"/>
              </a:rPr>
              <a:t>📹  From: D1.6 · Video 1 — Order-Driven vs Quote-Driven (EAR: DIFFERENTIATE)</a:t>
            </a:r>
            <a:endParaRPr lang="en-US" sz="1100" dirty="0"/>
          </a:p>
        </p:txBody>
      </p:sp>
      <p:sp>
        <p:nvSpPr>
          <p:cNvPr id="14" name="Text 12"/>
          <p:cNvSpPr/>
          <p:nvPr/>
        </p:nvSpPr>
        <p:spPr>
          <a:xfrm>
            <a:off x="0" y="6601968"/>
            <a:ext cx="12192000" cy="182880"/>
          </a:xfrm>
          <a:prstGeom prst="rect">
            <a:avLst/>
          </a:prstGeom>
          <a:noFill/>
          <a:ln/>
        </p:spPr>
        <p:txBody>
          <a:bodyPr wrap="square" rtlCol="0" anchor="ctr"/>
          <a:lstStyle/>
          <a:p>
            <a:pPr algn="ctr" indent="0" marL="0">
              <a:buNone/>
            </a:pPr>
            <a:r>
              <a:rPr lang="en-US" sz="800" dirty="0">
                <a:solidFill>
                  <a:srgbClr val="AAAAAA"/>
                </a:solidFill>
                <a:latin typeface="Calibri" pitchFamily="34" charset="0"/>
                <a:ea typeface="Calibri" pitchFamily="34" charset="-122"/>
                <a:cs typeface="Calibri" pitchFamily="34" charset="-120"/>
              </a:rPr>
              <a:t>CIBOP · Module 1 · D1.6</a:t>
            </a:r>
            <a:endParaRPr lang="en-US" sz="8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4F6FA"/>
          </a:solidFill>
          <a:ln/>
        </p:spPr>
      </p:sp>
      <p:sp>
        <p:nvSpPr>
          <p:cNvPr id="3" name="Shape 1"/>
          <p:cNvSpPr/>
          <p:nvPr/>
        </p:nvSpPr>
        <p:spPr>
          <a:xfrm>
            <a:off x="0" y="0"/>
            <a:ext cx="12192000" cy="73152"/>
          </a:xfrm>
          <a:prstGeom prst="rect">
            <a:avLst/>
          </a:prstGeom>
          <a:solidFill>
            <a:srgbClr val="1E3A5F"/>
          </a:solidFill>
          <a:ln/>
        </p:spPr>
      </p:sp>
      <p:sp>
        <p:nvSpPr>
          <p:cNvPr id="4" name="Shape 2"/>
          <p:cNvSpPr/>
          <p:nvPr/>
        </p:nvSpPr>
        <p:spPr>
          <a:xfrm>
            <a:off x="0" y="6784848"/>
            <a:ext cx="12192000" cy="73152"/>
          </a:xfrm>
          <a:prstGeom prst="rect">
            <a:avLst/>
          </a:prstGeom>
          <a:solidFill>
            <a:srgbClr val="005F5F"/>
          </a:solidFill>
          <a:ln/>
        </p:spPr>
      </p:sp>
      <p:sp>
        <p:nvSpPr>
          <p:cNvPr id="5" name="Shape 3"/>
          <p:cNvSpPr/>
          <p:nvPr/>
        </p:nvSpPr>
        <p:spPr>
          <a:xfrm>
            <a:off x="0" y="73152"/>
            <a:ext cx="1828800" cy="347472"/>
          </a:xfrm>
          <a:prstGeom prst="rect">
            <a:avLst/>
          </a:prstGeom>
          <a:solidFill>
            <a:srgbClr val="C0392B"/>
          </a:solidFill>
          <a:ln/>
        </p:spPr>
      </p:sp>
      <p:sp>
        <p:nvSpPr>
          <p:cNvPr id="6" name="Text 4"/>
          <p:cNvSpPr/>
          <p:nvPr/>
        </p:nvSpPr>
        <p:spPr>
          <a:xfrm>
            <a:off x="0" y="73152"/>
            <a:ext cx="1828800" cy="347472"/>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SCENARIO</a:t>
            </a:r>
            <a:endParaRPr lang="en-US" sz="1000" dirty="0"/>
          </a:p>
        </p:txBody>
      </p:sp>
      <p:sp>
        <p:nvSpPr>
          <p:cNvPr id="7" name="Shape 5"/>
          <p:cNvSpPr/>
          <p:nvPr/>
        </p:nvSpPr>
        <p:spPr>
          <a:xfrm>
            <a:off x="10360152" y="73152"/>
            <a:ext cx="1828800" cy="347472"/>
          </a:xfrm>
          <a:prstGeom prst="rect">
            <a:avLst/>
          </a:prstGeom>
          <a:solidFill>
            <a:srgbClr val="005F5F"/>
          </a:solidFill>
          <a:ln/>
        </p:spPr>
      </p:sp>
      <p:sp>
        <p:nvSpPr>
          <p:cNvPr id="8" name="Text 6"/>
          <p:cNvSpPr/>
          <p:nvPr/>
        </p:nvSpPr>
        <p:spPr>
          <a:xfrm>
            <a:off x="10360152" y="73152"/>
            <a:ext cx="1828800" cy="347472"/>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D1.6</a:t>
            </a:r>
            <a:endParaRPr lang="en-US" sz="1000" dirty="0"/>
          </a:p>
        </p:txBody>
      </p:sp>
      <p:sp>
        <p:nvSpPr>
          <p:cNvPr id="9" name="Shape 7"/>
          <p:cNvSpPr/>
          <p:nvPr/>
        </p:nvSpPr>
        <p:spPr>
          <a:xfrm>
            <a:off x="0" y="420624"/>
            <a:ext cx="12192000" cy="914400"/>
          </a:xfrm>
          <a:prstGeom prst="rect">
            <a:avLst/>
          </a:prstGeom>
          <a:solidFill>
            <a:srgbClr val="1E3A5F"/>
          </a:solidFill>
          <a:ln/>
        </p:spPr>
      </p:sp>
      <p:sp>
        <p:nvSpPr>
          <p:cNvPr id="10" name="Text 8"/>
          <p:cNvSpPr/>
          <p:nvPr/>
        </p:nvSpPr>
        <p:spPr>
          <a:xfrm>
            <a:off x="365760" y="420624"/>
            <a:ext cx="11430000" cy="914400"/>
          </a:xfrm>
          <a:prstGeom prst="rect">
            <a:avLst/>
          </a:prstGeom>
          <a:noFill/>
          <a:ln/>
        </p:spPr>
        <p:txBody>
          <a:bodyPr wrap="square"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The Flash Crash of 2010: When Order-Driven Markets Fail Without Market Makers</a:t>
            </a:r>
            <a:endParaRPr lang="en-US" sz="2000" dirty="0"/>
          </a:p>
        </p:txBody>
      </p:sp>
      <p:sp>
        <p:nvSpPr>
          <p:cNvPr id="11" name="Text 9"/>
          <p:cNvSpPr/>
          <p:nvPr/>
        </p:nvSpPr>
        <p:spPr>
          <a:xfrm>
            <a:off x="365760" y="1554480"/>
            <a:ext cx="7498080" cy="2926080"/>
          </a:xfrm>
          <a:prstGeom prst="rect">
            <a:avLst/>
          </a:prstGeom>
          <a:noFill/>
          <a:ln/>
        </p:spPr>
        <p:txBody>
          <a:bodyPr wrap="square" rtlCol="0" anchor="ctr"/>
          <a:lstStyle/>
          <a:p>
            <a:pPr indent="0" marL="0">
              <a:buNone/>
            </a:pPr>
            <a:r>
              <a:rPr lang="en-US" sz="1400" dirty="0">
                <a:solidFill>
                  <a:srgbClr val="1A1A1A"/>
                </a:solidFill>
                <a:latin typeface="Calibri" pitchFamily="34" charset="0"/>
                <a:ea typeface="Calibri" pitchFamily="34" charset="-122"/>
                <a:cs typeface="Calibri" pitchFamily="34" charset="-120"/>
              </a:rPr>
              <a:t>On May 6, 2010, the US equity market — a predominantly order-driven system — experienced a "flash crash." The Dow Jones Index fell nearly 1,000 points (9%) in minutes, then recovered within 20 minutes.</a:t>
            </a:r>
            <a:endParaRPr lang="en-US" sz="1400" dirty="0"/>
          </a:p>
          <a:p>
            <a:pPr indent="0" marL="0">
              <a:buNone/>
            </a:pPr>
            <a:endParaRPr lang="en-US" sz="1400" dirty="0"/>
          </a:p>
          <a:p>
            <a:pPr indent="0" marL="0">
              <a:buNone/>
            </a:pPr>
            <a:r>
              <a:rPr lang="en-US" sz="1400" dirty="0">
                <a:solidFill>
                  <a:srgbClr val="1A1A1A"/>
                </a:solidFill>
                <a:latin typeface="Calibri" pitchFamily="34" charset="0"/>
                <a:ea typeface="Calibri" pitchFamily="34" charset="-122"/>
                <a:cs typeface="Calibri" pitchFamily="34" charset="-120"/>
              </a:rPr>
              <a:t>Cause: high-frequency algorithmic traders withdrew their orders simultaneously, removing liquidity from the order book. With no market makers obligated to provide two-way quotes, prices fell to absurd levels — some stocks traded at $0.01, others at $100,000.</a:t>
            </a:r>
            <a:endParaRPr lang="en-US" sz="1400" dirty="0"/>
          </a:p>
        </p:txBody>
      </p:sp>
      <p:sp>
        <p:nvSpPr>
          <p:cNvPr id="12" name="Shape 10"/>
          <p:cNvSpPr/>
          <p:nvPr/>
        </p:nvSpPr>
        <p:spPr>
          <a:xfrm>
            <a:off x="8046720" y="1554480"/>
            <a:ext cx="3931920" cy="2926080"/>
          </a:xfrm>
          <a:prstGeom prst="rect">
            <a:avLst/>
          </a:prstGeom>
          <a:solidFill>
            <a:srgbClr val="D5E3F0"/>
          </a:solidFill>
          <a:ln w="12700">
            <a:solidFill>
              <a:srgbClr val="1E3A5F"/>
            </a:solidFill>
            <a:prstDash val="solid"/>
          </a:ln>
        </p:spPr>
      </p:sp>
      <p:sp>
        <p:nvSpPr>
          <p:cNvPr id="13" name="Text 11"/>
          <p:cNvSpPr/>
          <p:nvPr/>
        </p:nvSpPr>
        <p:spPr>
          <a:xfrm>
            <a:off x="8046720" y="1554480"/>
            <a:ext cx="3931920" cy="2926080"/>
          </a:xfrm>
          <a:prstGeom prst="rect">
            <a:avLst/>
          </a:prstGeom>
          <a:noFill/>
          <a:ln/>
        </p:spPr>
        <p:txBody>
          <a:bodyPr wrap="square" rtlCol="0" anchor="t"/>
          <a:lstStyle/>
          <a:p>
            <a:pPr indent="0" marL="0">
              <a:buNone/>
            </a:pPr>
            <a:r>
              <a:rPr lang="en-US" sz="1300" dirty="0">
                <a:solidFill>
                  <a:srgbClr val="1E3A5F"/>
                </a:solidFill>
                <a:latin typeface="Calibri" pitchFamily="34" charset="0"/>
                <a:ea typeface="Calibri" pitchFamily="34" charset="-122"/>
                <a:cs typeface="Calibri" pitchFamily="34" charset="-120"/>
              </a:rPr>
              <a:t>FLASH CRASH:</a:t>
            </a:r>
            <a:endParaRPr lang="en-US" sz="1300" dirty="0"/>
          </a:p>
          <a:p>
            <a:pPr indent="0" marL="0">
              <a:buNone/>
            </a:pPr>
            <a:endParaRPr lang="en-US" sz="1300" dirty="0"/>
          </a:p>
          <a:p>
            <a:pPr indent="0" marL="0">
              <a:buNone/>
            </a:pPr>
            <a:r>
              <a:rPr lang="en-US" sz="1300" dirty="0">
                <a:solidFill>
                  <a:srgbClr val="1E3A5F"/>
                </a:solidFill>
                <a:latin typeface="Calibri" pitchFamily="34" charset="0"/>
                <a:ea typeface="Calibri" pitchFamily="34" charset="-122"/>
                <a:cs typeface="Calibri" pitchFamily="34" charset="-120"/>
              </a:rPr>
              <a:t>~1,000 pts</a:t>
            </a:r>
            <a:endParaRPr lang="en-US" sz="1300" dirty="0"/>
          </a:p>
          <a:p>
            <a:pPr indent="0" marL="0">
              <a:buNone/>
            </a:pPr>
            <a:r>
              <a:rPr lang="en-US" sz="1300" dirty="0">
                <a:solidFill>
                  <a:srgbClr val="1E3A5F"/>
                </a:solidFill>
                <a:latin typeface="Calibri" pitchFamily="34" charset="0"/>
                <a:ea typeface="Calibri" pitchFamily="34" charset="-122"/>
                <a:cs typeface="Calibri" pitchFamily="34" charset="-120"/>
              </a:rPr>
              <a:t>Dow fall in minutes</a:t>
            </a:r>
            <a:endParaRPr lang="en-US" sz="1300" dirty="0"/>
          </a:p>
          <a:p>
            <a:pPr indent="0" marL="0">
              <a:buNone/>
            </a:pPr>
            <a:endParaRPr lang="en-US" sz="1300" dirty="0"/>
          </a:p>
          <a:p>
            <a:pPr indent="0" marL="0">
              <a:buNone/>
            </a:pPr>
            <a:r>
              <a:rPr lang="en-US" sz="1300" dirty="0">
                <a:solidFill>
                  <a:srgbClr val="1E3A5F"/>
                </a:solidFill>
                <a:latin typeface="Calibri" pitchFamily="34" charset="0"/>
                <a:ea typeface="Calibri" pitchFamily="34" charset="-122"/>
                <a:cs typeface="Calibri" pitchFamily="34" charset="-120"/>
              </a:rPr>
              <a:t>May 6, 2010</a:t>
            </a:r>
            <a:endParaRPr lang="en-US" sz="1300" dirty="0"/>
          </a:p>
          <a:p>
            <a:pPr indent="0" marL="0">
              <a:buNone/>
            </a:pPr>
            <a:endParaRPr lang="en-US" sz="1300" dirty="0"/>
          </a:p>
          <a:p>
            <a:pPr indent="0" marL="0">
              <a:buNone/>
            </a:pPr>
            <a:r>
              <a:rPr lang="en-US" sz="1300" dirty="0">
                <a:solidFill>
                  <a:srgbClr val="1E3A5F"/>
                </a:solidFill>
                <a:latin typeface="Calibri" pitchFamily="34" charset="0"/>
                <a:ea typeface="Calibri" pitchFamily="34" charset="-122"/>
                <a:cs typeface="Calibri" pitchFamily="34" charset="-120"/>
              </a:rPr>
              <a:t>$1 trillion</a:t>
            </a:r>
            <a:endParaRPr lang="en-US" sz="1300" dirty="0"/>
          </a:p>
          <a:p>
            <a:pPr indent="0" marL="0">
              <a:buNone/>
            </a:pPr>
            <a:r>
              <a:rPr lang="en-US" sz="1300" dirty="0">
                <a:solidFill>
                  <a:srgbClr val="1E3A5F"/>
                </a:solidFill>
                <a:latin typeface="Calibri" pitchFamily="34" charset="0"/>
                <a:ea typeface="Calibri" pitchFamily="34" charset="-122"/>
                <a:cs typeface="Calibri" pitchFamily="34" charset="-120"/>
              </a:rPr>
              <a:t>market cap lost</a:t>
            </a:r>
            <a:endParaRPr lang="en-US" sz="1300" dirty="0"/>
          </a:p>
          <a:p>
            <a:pPr indent="0" marL="0">
              <a:buNone/>
            </a:pPr>
            <a:r>
              <a:rPr lang="en-US" sz="1300" dirty="0">
                <a:solidFill>
                  <a:srgbClr val="1E3A5F"/>
                </a:solidFill>
                <a:latin typeface="Calibri" pitchFamily="34" charset="0"/>
                <a:ea typeface="Calibri" pitchFamily="34" charset="-122"/>
                <a:cs typeface="Calibri" pitchFamily="34" charset="-120"/>
              </a:rPr>
              <a:t>(temporarily)</a:t>
            </a:r>
            <a:endParaRPr lang="en-US" sz="1300" dirty="0"/>
          </a:p>
          <a:p>
            <a:pPr indent="0" marL="0">
              <a:buNone/>
            </a:pPr>
            <a:endParaRPr lang="en-US" sz="1300" dirty="0"/>
          </a:p>
          <a:p>
            <a:pPr indent="0" marL="0">
              <a:buNone/>
            </a:pPr>
            <a:r>
              <a:rPr lang="en-US" sz="1300" dirty="0">
                <a:solidFill>
                  <a:srgbClr val="1E3A5F"/>
                </a:solidFill>
                <a:latin typeface="Calibri" pitchFamily="34" charset="0"/>
                <a:ea typeface="Calibri" pitchFamily="34" charset="-122"/>
                <a:cs typeface="Calibri" pitchFamily="34" charset="-120"/>
              </a:rPr>
              <a:t>20 min</a:t>
            </a:r>
            <a:endParaRPr lang="en-US" sz="1300" dirty="0"/>
          </a:p>
          <a:p>
            <a:pPr indent="0" marL="0">
              <a:buNone/>
            </a:pPr>
            <a:r>
              <a:rPr lang="en-US" sz="1300" dirty="0">
                <a:solidFill>
                  <a:srgbClr val="1E3A5F"/>
                </a:solidFill>
                <a:latin typeface="Calibri" pitchFamily="34" charset="0"/>
                <a:ea typeface="Calibri" pitchFamily="34" charset="-122"/>
                <a:cs typeface="Calibri" pitchFamily="34" charset="-120"/>
              </a:rPr>
              <a:t>recovery time</a:t>
            </a:r>
            <a:endParaRPr lang="en-US" sz="1300" dirty="0"/>
          </a:p>
          <a:p>
            <a:pPr indent="0" marL="0">
              <a:buNone/>
            </a:pPr>
            <a:endParaRPr lang="en-US" sz="1300" dirty="0"/>
          </a:p>
          <a:p>
            <a:pPr indent="0" marL="0">
              <a:buNone/>
            </a:pPr>
            <a:r>
              <a:rPr lang="en-US" sz="1300" dirty="0">
                <a:solidFill>
                  <a:srgbClr val="1E3A5F"/>
                </a:solidFill>
                <a:latin typeface="Calibri" pitchFamily="34" charset="0"/>
                <a:ea typeface="Calibri" pitchFamily="34" charset="-122"/>
                <a:cs typeface="Calibri" pitchFamily="34" charset="-120"/>
              </a:rPr>
              <a:t>HFT withdrawal</a:t>
            </a:r>
            <a:endParaRPr lang="en-US" sz="1300" dirty="0"/>
          </a:p>
          <a:p>
            <a:pPr indent="0" marL="0">
              <a:buNone/>
            </a:pPr>
            <a:r>
              <a:rPr lang="en-US" sz="1300" dirty="0">
                <a:solidFill>
                  <a:srgbClr val="1E3A5F"/>
                </a:solidFill>
                <a:latin typeface="Calibri" pitchFamily="34" charset="0"/>
                <a:ea typeface="Calibri" pitchFamily="34" charset="-122"/>
                <a:cs typeface="Calibri" pitchFamily="34" charset="-120"/>
              </a:rPr>
              <a:t>caused vacuum</a:t>
            </a:r>
            <a:endParaRPr lang="en-US" sz="1300" dirty="0"/>
          </a:p>
        </p:txBody>
      </p:sp>
      <p:sp>
        <p:nvSpPr>
          <p:cNvPr id="14" name="Shape 12"/>
          <p:cNvSpPr/>
          <p:nvPr/>
        </p:nvSpPr>
        <p:spPr>
          <a:xfrm>
            <a:off x="0" y="4663440"/>
            <a:ext cx="12192000" cy="1097280"/>
          </a:xfrm>
          <a:prstGeom prst="rect">
            <a:avLst/>
          </a:prstGeom>
          <a:solidFill>
            <a:srgbClr val="005F5F"/>
          </a:solidFill>
          <a:ln/>
        </p:spPr>
      </p:sp>
      <p:sp>
        <p:nvSpPr>
          <p:cNvPr id="15" name="Text 13"/>
          <p:cNvSpPr/>
          <p:nvPr/>
        </p:nvSpPr>
        <p:spPr>
          <a:xfrm>
            <a:off x="365760" y="4663440"/>
            <a:ext cx="11430000" cy="1097280"/>
          </a:xfrm>
          <a:prstGeom prst="rect">
            <a:avLst/>
          </a:prstGeom>
          <a:noFill/>
          <a:ln/>
        </p:spPr>
        <p:txBody>
          <a:bodyPr wrap="square"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  The 2010 Flash Crash happened in an order-driven market without market maker obligations. What does this suggest about the trade-off between order-driven transparency and quote-driven liquidity guarantees?</a:t>
            </a:r>
            <a:endParaRPr lang="en-US" sz="1600" dirty="0"/>
          </a:p>
        </p:txBody>
      </p:sp>
      <p:sp>
        <p:nvSpPr>
          <p:cNvPr id="16" name="Text 14"/>
          <p:cNvSpPr/>
          <p:nvPr/>
        </p:nvSpPr>
        <p:spPr>
          <a:xfrm>
            <a:off x="0" y="6601968"/>
            <a:ext cx="12192000" cy="182880"/>
          </a:xfrm>
          <a:prstGeom prst="rect">
            <a:avLst/>
          </a:prstGeom>
          <a:noFill/>
          <a:ln/>
        </p:spPr>
        <p:txBody>
          <a:bodyPr wrap="square" rtlCol="0" anchor="ctr"/>
          <a:lstStyle/>
          <a:p>
            <a:pPr algn="ctr" indent="0" marL="0">
              <a:buNone/>
            </a:pPr>
            <a:r>
              <a:rPr lang="en-US" sz="800" dirty="0">
                <a:solidFill>
                  <a:srgbClr val="AAAAAA"/>
                </a:solidFill>
                <a:latin typeface="Calibri" pitchFamily="34" charset="0"/>
                <a:ea typeface="Calibri" pitchFamily="34" charset="-122"/>
                <a:cs typeface="Calibri" pitchFamily="34" charset="-120"/>
              </a:rPr>
              <a:t>CIBOP · Module 1 · D1.6</a:t>
            </a:r>
            <a:endParaRPr lang="en-US" sz="8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4F6FA"/>
          </a:solidFill>
          <a:ln/>
        </p:spPr>
      </p:sp>
      <p:sp>
        <p:nvSpPr>
          <p:cNvPr id="3" name="Shape 1"/>
          <p:cNvSpPr/>
          <p:nvPr/>
        </p:nvSpPr>
        <p:spPr>
          <a:xfrm>
            <a:off x="0" y="0"/>
            <a:ext cx="12192000" cy="73152"/>
          </a:xfrm>
          <a:prstGeom prst="rect">
            <a:avLst/>
          </a:prstGeom>
          <a:solidFill>
            <a:srgbClr val="005F5F"/>
          </a:solidFill>
          <a:ln/>
        </p:spPr>
      </p:sp>
      <p:sp>
        <p:nvSpPr>
          <p:cNvPr id="4" name="Shape 2"/>
          <p:cNvSpPr/>
          <p:nvPr/>
        </p:nvSpPr>
        <p:spPr>
          <a:xfrm>
            <a:off x="0" y="6784848"/>
            <a:ext cx="12192000" cy="73152"/>
          </a:xfrm>
          <a:prstGeom prst="rect">
            <a:avLst/>
          </a:prstGeom>
          <a:solidFill>
            <a:srgbClr val="1E3A5F"/>
          </a:solidFill>
          <a:ln/>
        </p:spPr>
      </p:sp>
      <p:sp>
        <p:nvSpPr>
          <p:cNvPr id="5" name="Shape 3"/>
          <p:cNvSpPr/>
          <p:nvPr/>
        </p:nvSpPr>
        <p:spPr>
          <a:xfrm>
            <a:off x="0" y="73152"/>
            <a:ext cx="1828800" cy="347472"/>
          </a:xfrm>
          <a:prstGeom prst="rect">
            <a:avLst/>
          </a:prstGeom>
          <a:solidFill>
            <a:srgbClr val="005F5F"/>
          </a:solidFill>
          <a:ln/>
        </p:spPr>
      </p:sp>
      <p:sp>
        <p:nvSpPr>
          <p:cNvPr id="6" name="Text 4"/>
          <p:cNvSpPr/>
          <p:nvPr/>
        </p:nvSpPr>
        <p:spPr>
          <a:xfrm>
            <a:off x="0" y="73152"/>
            <a:ext cx="1828800" cy="347472"/>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KEY CONCEPT</a:t>
            </a:r>
            <a:endParaRPr lang="en-US" sz="1000" dirty="0"/>
          </a:p>
        </p:txBody>
      </p:sp>
      <p:sp>
        <p:nvSpPr>
          <p:cNvPr id="7" name="Shape 5"/>
          <p:cNvSpPr/>
          <p:nvPr/>
        </p:nvSpPr>
        <p:spPr>
          <a:xfrm>
            <a:off x="10360152" y="73152"/>
            <a:ext cx="1828800" cy="347472"/>
          </a:xfrm>
          <a:prstGeom prst="rect">
            <a:avLst/>
          </a:prstGeom>
          <a:solidFill>
            <a:srgbClr val="005F5F"/>
          </a:solidFill>
          <a:ln/>
        </p:spPr>
      </p:sp>
      <p:sp>
        <p:nvSpPr>
          <p:cNvPr id="8" name="Text 6"/>
          <p:cNvSpPr/>
          <p:nvPr/>
        </p:nvSpPr>
        <p:spPr>
          <a:xfrm>
            <a:off x="10360152" y="73152"/>
            <a:ext cx="1828800" cy="347472"/>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D1.6</a:t>
            </a:r>
            <a:endParaRPr lang="en-US" sz="1000" dirty="0"/>
          </a:p>
        </p:txBody>
      </p:sp>
      <p:sp>
        <p:nvSpPr>
          <p:cNvPr id="9" name="Text 7"/>
          <p:cNvSpPr/>
          <p:nvPr/>
        </p:nvSpPr>
        <p:spPr>
          <a:xfrm>
            <a:off x="274320" y="502920"/>
            <a:ext cx="11430000" cy="640080"/>
          </a:xfrm>
          <a:prstGeom prst="rect">
            <a:avLst/>
          </a:prstGeom>
          <a:noFill/>
          <a:ln/>
        </p:spPr>
        <p:txBody>
          <a:bodyPr wrap="square" rtlCol="0" anchor="ctr"/>
          <a:lstStyle/>
          <a:p>
            <a:pPr indent="0" marL="0">
              <a:buNone/>
            </a:pPr>
            <a:r>
              <a:rPr lang="en-US" sz="2200" b="1" dirty="0">
                <a:solidFill>
                  <a:srgbClr val="1E3A5F"/>
                </a:solidFill>
                <a:latin typeface="Calibri" pitchFamily="34" charset="0"/>
                <a:ea typeface="Calibri" pitchFamily="34" charset="-122"/>
                <a:cs typeface="Calibri" pitchFamily="34" charset="-120"/>
              </a:rPr>
              <a:t>Order-Driven vs Quote-Driven vs Hybrid: Full Comparison</a:t>
            </a:r>
            <a:endParaRPr lang="en-US" sz="2200" dirty="0"/>
          </a:p>
        </p:txBody>
      </p:sp>
      <p:graphicFrame>
        <p:nvGraphicFramePr>
          <p:cNvPr id="35" name="Table 0"/>
          <p:cNvGraphicFramePr>
            <a:graphicFrameLocks noGrp="1"/>
          </p:cNvGraphicFramePr>
          <p:nvPr>
            <p:extLst>
              <p:ext uri="{D42A27DB-BD31-4B8C-83A1-F6EECF244321}">
                <p14:modId xmlns:p14="http://schemas.microsoft.com/office/powerpoint/2010/main" val="1579011935"/>
              </p:ext>
            </p:extLst>
          </p:nvPr>
        </p:nvGraphicFramePr>
        <p:xfrm>
          <a:off x="274320" y="1280160"/>
          <a:ext cx="11612880" cy="4389120"/>
        </p:xfrm>
        <a:graphic>
          <a:graphicData uri="http://schemas.openxmlformats.org/drawingml/2006/table">
            <a:tbl>
              <a:tblPr/>
              <a:tblGrid>
                <a:gridCol w="2903220"/>
                <a:gridCol w="2903220"/>
                <a:gridCol w="2903220"/>
                <a:gridCol w="2903220"/>
              </a:tblGrid>
              <a:tr h="548640">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FEATURE</a:t>
                      </a:r>
                      <a:endParaRPr lang="en-US" sz="12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1E3A5F"/>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ORDER-DRIVEN</a:t>
                      </a:r>
                      <a:endParaRPr lang="en-US" sz="12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1E3A5F"/>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QUOTE-DRIVEN</a:t>
                      </a:r>
                      <a:endParaRPr lang="en-US" sz="12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1E3A5F"/>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HYBRID</a:t>
                      </a:r>
                      <a:endParaRPr lang="en-US" sz="12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1E3A5F"/>
                    </a:solidFill>
                  </a:tcPr>
                </a:tc>
              </a:tr>
              <a:tr h="548640">
                <a:tc>
                  <a:txBody>
                    <a:bodyPr/>
                    <a:lstStyle/>
                    <a:p>
                      <a:pPr indent="0" marL="0">
                        <a:buNone/>
                      </a:pPr>
                      <a:r>
                        <a:rPr lang="en-US" sz="1100" dirty="0">
                          <a:solidFill>
                            <a:srgbClr val="1A1A1A"/>
                          </a:solidFill>
                          <a:latin typeface="Calibri" pitchFamily="34" charset="0"/>
                          <a:ea typeface="Calibri" pitchFamily="34" charset="-122"/>
                          <a:cs typeface="Calibri" pitchFamily="34" charset="-120"/>
                        </a:rPr>
                        <a:t>Price Formation</a:t>
                      </a:r>
                      <a:endParaRPr lang="en-US" sz="11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FFFFFF"/>
                    </a:solidFill>
                  </a:tcPr>
                </a:tc>
                <a:tc>
                  <a:txBody>
                    <a:bodyPr/>
                    <a:lstStyle/>
                    <a:p>
                      <a:pPr indent="0" marL="0">
                        <a:buNone/>
                      </a:pPr>
                      <a:r>
                        <a:rPr lang="en-US" sz="1100" dirty="0">
                          <a:solidFill>
                            <a:srgbClr val="1A1A1A"/>
                          </a:solidFill>
                          <a:latin typeface="Calibri" pitchFamily="34" charset="0"/>
                          <a:ea typeface="Calibri" pitchFamily="34" charset="-122"/>
                          <a:cs typeface="Calibri" pitchFamily="34" charset="-120"/>
                        </a:rPr>
                        <a:t>Matching of buyer/seller orders</a:t>
                      </a:r>
                      <a:endParaRPr lang="en-US" sz="11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FFFFFF"/>
                    </a:solidFill>
                  </a:tcPr>
                </a:tc>
                <a:tc>
                  <a:txBody>
                    <a:bodyPr/>
                    <a:lstStyle/>
                    <a:p>
                      <a:pPr indent="0" marL="0">
                        <a:buNone/>
                      </a:pPr>
                      <a:r>
                        <a:rPr lang="en-US" sz="1100" dirty="0">
                          <a:solidFill>
                            <a:srgbClr val="1A1A1A"/>
                          </a:solidFill>
                          <a:latin typeface="Calibri" pitchFamily="34" charset="0"/>
                          <a:ea typeface="Calibri" pitchFamily="34" charset="-122"/>
                          <a:cs typeface="Calibri" pitchFamily="34" charset="-120"/>
                        </a:rPr>
                        <a:t>Dealer posts bid/ask quote</a:t>
                      </a:r>
                      <a:endParaRPr lang="en-US" sz="11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FFFFFF"/>
                    </a:solidFill>
                  </a:tcPr>
                </a:tc>
                <a:tc>
                  <a:txBody>
                    <a:bodyPr/>
                    <a:lstStyle/>
                    <a:p>
                      <a:pPr indent="0" marL="0">
                        <a:buNone/>
                      </a:pPr>
                      <a:r>
                        <a:rPr lang="en-US" sz="1100" dirty="0">
                          <a:solidFill>
                            <a:srgbClr val="1A1A1A"/>
                          </a:solidFill>
                          <a:latin typeface="Calibri" pitchFamily="34" charset="0"/>
                          <a:ea typeface="Calibri" pitchFamily="34" charset="-122"/>
                          <a:cs typeface="Calibri" pitchFamily="34" charset="-120"/>
                        </a:rPr>
                        <a:t>Order book + designated market maker</a:t>
                      </a:r>
                      <a:endParaRPr lang="en-US" sz="11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FFFFFF"/>
                    </a:solidFill>
                  </a:tcPr>
                </a:tc>
              </a:tr>
              <a:tr h="548640">
                <a:tc>
                  <a:txBody>
                    <a:bodyPr/>
                    <a:lstStyle/>
                    <a:p>
                      <a:pPr indent="0" marL="0">
                        <a:buNone/>
                      </a:pPr>
                      <a:r>
                        <a:rPr lang="en-US" sz="1100" dirty="0">
                          <a:solidFill>
                            <a:srgbClr val="1A1A1A"/>
                          </a:solidFill>
                          <a:latin typeface="Calibri" pitchFamily="34" charset="0"/>
                          <a:ea typeface="Calibri" pitchFamily="34" charset="-122"/>
                          <a:cs typeface="Calibri" pitchFamily="34" charset="-120"/>
                        </a:rPr>
                        <a:t>Intermediary Role</a:t>
                      </a:r>
                      <a:endParaRPr lang="en-US" sz="11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D5E3F0"/>
                    </a:solidFill>
                  </a:tcPr>
                </a:tc>
                <a:tc>
                  <a:txBody>
                    <a:bodyPr/>
                    <a:lstStyle/>
                    <a:p>
                      <a:pPr indent="0" marL="0">
                        <a:buNone/>
                      </a:pPr>
                      <a:r>
                        <a:rPr lang="en-US" sz="1100" dirty="0">
                          <a:solidFill>
                            <a:srgbClr val="1A1A1A"/>
                          </a:solidFill>
                          <a:latin typeface="Calibri" pitchFamily="34" charset="0"/>
                          <a:ea typeface="Calibri" pitchFamily="34" charset="-122"/>
                          <a:cs typeface="Calibri" pitchFamily="34" charset="-120"/>
                        </a:rPr>
                        <a:t>None — buyers and sellers match directly</a:t>
                      </a:r>
                      <a:endParaRPr lang="en-US" sz="11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D5E3F0"/>
                    </a:solidFill>
                  </a:tcPr>
                </a:tc>
                <a:tc>
                  <a:txBody>
                    <a:bodyPr/>
                    <a:lstStyle/>
                    <a:p>
                      <a:pPr indent="0" marL="0">
                        <a:buNone/>
                      </a:pPr>
                      <a:r>
                        <a:rPr lang="en-US" sz="1100" dirty="0">
                          <a:solidFill>
                            <a:srgbClr val="1A1A1A"/>
                          </a:solidFill>
                          <a:latin typeface="Calibri" pitchFamily="34" charset="0"/>
                          <a:ea typeface="Calibri" pitchFamily="34" charset="-122"/>
                          <a:cs typeface="Calibri" pitchFamily="34" charset="-120"/>
                        </a:rPr>
                        <a:t>Dealer as mandatory counterparty</a:t>
                      </a:r>
                      <a:endParaRPr lang="en-US" sz="11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D5E3F0"/>
                    </a:solidFill>
                  </a:tcPr>
                </a:tc>
                <a:tc>
                  <a:txBody>
                    <a:bodyPr/>
                    <a:lstStyle/>
                    <a:p>
                      <a:pPr indent="0" marL="0">
                        <a:buNone/>
                      </a:pPr>
                      <a:r>
                        <a:rPr lang="en-US" sz="1100" dirty="0">
                          <a:solidFill>
                            <a:srgbClr val="1A1A1A"/>
                          </a:solidFill>
                          <a:latin typeface="Calibri" pitchFamily="34" charset="0"/>
                          <a:ea typeface="Calibri" pitchFamily="34" charset="-122"/>
                          <a:cs typeface="Calibri" pitchFamily="34" charset="-120"/>
                        </a:rPr>
                        <a:t>Exchange + appointed market makers</a:t>
                      </a:r>
                      <a:endParaRPr lang="en-US" sz="11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D5E3F0"/>
                    </a:solidFill>
                  </a:tcPr>
                </a:tc>
              </a:tr>
              <a:tr h="548640">
                <a:tc>
                  <a:txBody>
                    <a:bodyPr/>
                    <a:lstStyle/>
                    <a:p>
                      <a:pPr indent="0" marL="0">
                        <a:buNone/>
                      </a:pPr>
                      <a:r>
                        <a:rPr lang="en-US" sz="1100" dirty="0">
                          <a:solidFill>
                            <a:srgbClr val="1A1A1A"/>
                          </a:solidFill>
                          <a:latin typeface="Calibri" pitchFamily="34" charset="0"/>
                          <a:ea typeface="Calibri" pitchFamily="34" charset="-122"/>
                          <a:cs typeface="Calibri" pitchFamily="34" charset="-120"/>
                        </a:rPr>
                        <a:t>Pre-Trade Transparency</a:t>
                      </a:r>
                      <a:endParaRPr lang="en-US" sz="11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FFFFFF"/>
                    </a:solidFill>
                  </a:tcPr>
                </a:tc>
                <a:tc>
                  <a:txBody>
                    <a:bodyPr/>
                    <a:lstStyle/>
                    <a:p>
                      <a:pPr indent="0" marL="0">
                        <a:buNone/>
                      </a:pPr>
                      <a:r>
                        <a:rPr lang="en-US" sz="1100" dirty="0">
                          <a:solidFill>
                            <a:srgbClr val="1A1A1A"/>
                          </a:solidFill>
                          <a:latin typeface="Calibri" pitchFamily="34" charset="0"/>
                          <a:ea typeface="Calibri" pitchFamily="34" charset="-122"/>
                          <a:cs typeface="Calibri" pitchFamily="34" charset="-120"/>
                        </a:rPr>
                        <a:t>High — order book visible to all</a:t>
                      </a:r>
                      <a:endParaRPr lang="en-US" sz="11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FFFFFF"/>
                    </a:solidFill>
                  </a:tcPr>
                </a:tc>
                <a:tc>
                  <a:txBody>
                    <a:bodyPr/>
                    <a:lstStyle/>
                    <a:p>
                      <a:pPr indent="0" marL="0">
                        <a:buNone/>
                      </a:pPr>
                      <a:r>
                        <a:rPr lang="en-US" sz="1100" dirty="0">
                          <a:solidFill>
                            <a:srgbClr val="1A1A1A"/>
                          </a:solidFill>
                          <a:latin typeface="Calibri" pitchFamily="34" charset="0"/>
                          <a:ea typeface="Calibri" pitchFamily="34" charset="-122"/>
                          <a:cs typeface="Calibri" pitchFamily="34" charset="-120"/>
                        </a:rPr>
                        <a:t>Low — dealer quotes, not public depth</a:t>
                      </a:r>
                      <a:endParaRPr lang="en-US" sz="11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FFFFFF"/>
                    </a:solidFill>
                  </a:tcPr>
                </a:tc>
                <a:tc>
                  <a:txBody>
                    <a:bodyPr/>
                    <a:lstStyle/>
                    <a:p>
                      <a:pPr indent="0" marL="0">
                        <a:buNone/>
                      </a:pPr>
                      <a:r>
                        <a:rPr lang="en-US" sz="1100" dirty="0">
                          <a:solidFill>
                            <a:srgbClr val="1A1A1A"/>
                          </a:solidFill>
                          <a:latin typeface="Calibri" pitchFamily="34" charset="0"/>
                          <a:ea typeface="Calibri" pitchFamily="34" charset="-122"/>
                          <a:cs typeface="Calibri" pitchFamily="34" charset="-120"/>
                        </a:rPr>
                        <a:t>High for order book; limited for MM quotes</a:t>
                      </a:r>
                      <a:endParaRPr lang="en-US" sz="11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FFFFFF"/>
                    </a:solidFill>
                  </a:tcPr>
                </a:tc>
              </a:tr>
              <a:tr h="548640">
                <a:tc>
                  <a:txBody>
                    <a:bodyPr/>
                    <a:lstStyle/>
                    <a:p>
                      <a:pPr indent="0" marL="0">
                        <a:buNone/>
                      </a:pPr>
                      <a:r>
                        <a:rPr lang="en-US" sz="1100" dirty="0">
                          <a:solidFill>
                            <a:srgbClr val="1A1A1A"/>
                          </a:solidFill>
                          <a:latin typeface="Calibri" pitchFamily="34" charset="0"/>
                          <a:ea typeface="Calibri" pitchFamily="34" charset="-122"/>
                          <a:cs typeface="Calibri" pitchFamily="34" charset="-120"/>
                        </a:rPr>
                        <a:t>Liquidity Guarantee</a:t>
                      </a:r>
                      <a:endParaRPr lang="en-US" sz="11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D5E3F0"/>
                    </a:solidFill>
                  </a:tcPr>
                </a:tc>
                <a:tc>
                  <a:txBody>
                    <a:bodyPr/>
                    <a:lstStyle/>
                    <a:p>
                      <a:pPr indent="0" marL="0">
                        <a:buNone/>
                      </a:pPr>
                      <a:r>
                        <a:rPr lang="en-US" sz="1100" dirty="0">
                          <a:solidFill>
                            <a:srgbClr val="1A1A1A"/>
                          </a:solidFill>
                          <a:latin typeface="Calibri" pitchFamily="34" charset="0"/>
                          <a:ea typeface="Calibri" pitchFamily="34" charset="-122"/>
                          <a:cs typeface="Calibri" pitchFamily="34" charset="-120"/>
                        </a:rPr>
                        <a:t>No — depends on natural order flow</a:t>
                      </a:r>
                      <a:endParaRPr lang="en-US" sz="11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D5E3F0"/>
                    </a:solidFill>
                  </a:tcPr>
                </a:tc>
                <a:tc>
                  <a:txBody>
                    <a:bodyPr/>
                    <a:lstStyle/>
                    <a:p>
                      <a:pPr indent="0" marL="0">
                        <a:buNone/>
                      </a:pPr>
                      <a:r>
                        <a:rPr lang="en-US" sz="1100" dirty="0">
                          <a:solidFill>
                            <a:srgbClr val="1A1A1A"/>
                          </a:solidFill>
                          <a:latin typeface="Calibri" pitchFamily="34" charset="0"/>
                          <a:ea typeface="Calibri" pitchFamily="34" charset="-122"/>
                          <a:cs typeface="Calibri" pitchFamily="34" charset="-120"/>
                        </a:rPr>
                        <a:t>Yes — dealer obliged to quote continuously</a:t>
                      </a:r>
                      <a:endParaRPr lang="en-US" sz="11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D5E3F0"/>
                    </a:solidFill>
                  </a:tcPr>
                </a:tc>
                <a:tc>
                  <a:txBody>
                    <a:bodyPr/>
                    <a:lstStyle/>
                    <a:p>
                      <a:pPr indent="0" marL="0">
                        <a:buNone/>
                      </a:pPr>
                      <a:r>
                        <a:rPr lang="en-US" sz="1100" dirty="0">
                          <a:solidFill>
                            <a:srgbClr val="1A1A1A"/>
                          </a:solidFill>
                          <a:latin typeface="Calibri" pitchFamily="34" charset="0"/>
                          <a:ea typeface="Calibri" pitchFamily="34" charset="-122"/>
                          <a:cs typeface="Calibri" pitchFamily="34" charset="-120"/>
                        </a:rPr>
                        <a:t>Partial — MM covers illiquid segments only</a:t>
                      </a:r>
                      <a:endParaRPr lang="en-US" sz="11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D5E3F0"/>
                    </a:solidFill>
                  </a:tcPr>
                </a:tc>
              </a:tr>
              <a:tr h="548640">
                <a:tc>
                  <a:txBody>
                    <a:bodyPr/>
                    <a:lstStyle/>
                    <a:p>
                      <a:pPr indent="0" marL="0">
                        <a:buNone/>
                      </a:pPr>
                      <a:r>
                        <a:rPr lang="en-US" sz="1100" dirty="0">
                          <a:solidFill>
                            <a:srgbClr val="1A1A1A"/>
                          </a:solidFill>
                          <a:latin typeface="Calibri" pitchFamily="34" charset="0"/>
                          <a:ea typeface="Calibri" pitchFamily="34" charset="-122"/>
                          <a:cs typeface="Calibri" pitchFamily="34" charset="-120"/>
                        </a:rPr>
                        <a:t>Revenue Model</a:t>
                      </a:r>
                      <a:endParaRPr lang="en-US" sz="11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FFFFFF"/>
                    </a:solidFill>
                  </a:tcPr>
                </a:tc>
                <a:tc>
                  <a:txBody>
                    <a:bodyPr/>
                    <a:lstStyle/>
                    <a:p>
                      <a:pPr indent="0" marL="0">
                        <a:buNone/>
                      </a:pPr>
                      <a:r>
                        <a:rPr lang="en-US" sz="1100" dirty="0">
                          <a:solidFill>
                            <a:srgbClr val="1A1A1A"/>
                          </a:solidFill>
                          <a:latin typeface="Calibri" pitchFamily="34" charset="0"/>
                          <a:ea typeface="Calibri" pitchFamily="34" charset="-122"/>
                          <a:cs typeface="Calibri" pitchFamily="34" charset="-120"/>
                        </a:rPr>
                        <a:t>Exchange earns transaction fees</a:t>
                      </a:r>
                      <a:endParaRPr lang="en-US" sz="11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FFFFFF"/>
                    </a:solidFill>
                  </a:tcPr>
                </a:tc>
                <a:tc>
                  <a:txBody>
                    <a:bodyPr/>
                    <a:lstStyle/>
                    <a:p>
                      <a:pPr indent="0" marL="0">
                        <a:buNone/>
                      </a:pPr>
                      <a:r>
                        <a:rPr lang="en-US" sz="1100" dirty="0">
                          <a:solidFill>
                            <a:srgbClr val="1A1A1A"/>
                          </a:solidFill>
                          <a:latin typeface="Calibri" pitchFamily="34" charset="0"/>
                          <a:ea typeface="Calibri" pitchFamily="34" charset="-122"/>
                          <a:cs typeface="Calibri" pitchFamily="34" charset="-120"/>
                        </a:rPr>
                        <a:t>Dealer earns bid-ask spread</a:t>
                      </a:r>
                      <a:endParaRPr lang="en-US" sz="11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FFFFFF"/>
                    </a:solidFill>
                  </a:tcPr>
                </a:tc>
                <a:tc>
                  <a:txBody>
                    <a:bodyPr/>
                    <a:lstStyle/>
                    <a:p>
                      <a:pPr indent="0" marL="0">
                        <a:buNone/>
                      </a:pPr>
                      <a:r>
                        <a:rPr lang="en-US" sz="1100" dirty="0">
                          <a:solidFill>
                            <a:srgbClr val="1A1A1A"/>
                          </a:solidFill>
                          <a:latin typeface="Calibri" pitchFamily="34" charset="0"/>
                          <a:ea typeface="Calibri" pitchFamily="34" charset="-122"/>
                          <a:cs typeface="Calibri" pitchFamily="34" charset="-120"/>
                        </a:rPr>
                        <a:t>Both</a:t>
                      </a:r>
                      <a:endParaRPr lang="en-US" sz="11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FFFFFF"/>
                    </a:solidFill>
                  </a:tcPr>
                </a:tc>
              </a:tr>
              <a:tr h="548640">
                <a:tc>
                  <a:txBody>
                    <a:bodyPr/>
                    <a:lstStyle/>
                    <a:p>
                      <a:pPr indent="0" marL="0">
                        <a:buNone/>
                      </a:pPr>
                      <a:r>
                        <a:rPr lang="en-US" sz="1100" dirty="0">
                          <a:solidFill>
                            <a:srgbClr val="1A1A1A"/>
                          </a:solidFill>
                          <a:latin typeface="Calibri" pitchFamily="34" charset="0"/>
                          <a:ea typeface="Calibri" pitchFamily="34" charset="-122"/>
                          <a:cs typeface="Calibri" pitchFamily="34" charset="-120"/>
                        </a:rPr>
                        <a:t>India Examples</a:t>
                      </a:r>
                      <a:endParaRPr lang="en-US" sz="11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D5E3F0"/>
                    </a:solidFill>
                  </a:tcPr>
                </a:tc>
                <a:tc>
                  <a:txBody>
                    <a:bodyPr/>
                    <a:lstStyle/>
                    <a:p>
                      <a:pPr indent="0" marL="0">
                        <a:buNone/>
                      </a:pPr>
                      <a:r>
                        <a:rPr lang="en-US" sz="1100" dirty="0">
                          <a:solidFill>
                            <a:srgbClr val="1A1A1A"/>
                          </a:solidFill>
                          <a:latin typeface="Calibri" pitchFamily="34" charset="0"/>
                          <a:ea typeface="Calibri" pitchFamily="34" charset="-122"/>
                          <a:cs typeface="Calibri" pitchFamily="34" charset="-120"/>
                        </a:rPr>
                        <a:t>NSE Equity (CLOB)</a:t>
                      </a:r>
                      <a:endParaRPr lang="en-US" sz="11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D5E3F0"/>
                    </a:solidFill>
                  </a:tcPr>
                </a:tc>
                <a:tc>
                  <a:txBody>
                    <a:bodyPr/>
                    <a:lstStyle/>
                    <a:p>
                      <a:pPr indent="0" marL="0">
                        <a:buNone/>
                      </a:pPr>
                      <a:r>
                        <a:rPr lang="en-US" sz="1100" dirty="0">
                          <a:solidFill>
                            <a:srgbClr val="1A1A1A"/>
                          </a:solidFill>
                          <a:latin typeface="Calibri" pitchFamily="34" charset="0"/>
                          <a:ea typeface="Calibri" pitchFamily="34" charset="-122"/>
                          <a:cs typeface="Calibri" pitchFamily="34" charset="-120"/>
                        </a:rPr>
                        <a:t>FX (USD/INR), OTC bonds</a:t>
                      </a:r>
                      <a:endParaRPr lang="en-US" sz="11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D5E3F0"/>
                    </a:solidFill>
                  </a:tcPr>
                </a:tc>
                <a:tc>
                  <a:txBody>
                    <a:bodyPr/>
                    <a:lstStyle/>
                    <a:p>
                      <a:pPr indent="0" marL="0">
                        <a:buNone/>
                      </a:pPr>
                      <a:r>
                        <a:rPr lang="en-US" sz="1100" dirty="0">
                          <a:solidFill>
                            <a:srgbClr val="1A1A1A"/>
                          </a:solidFill>
                          <a:latin typeface="Calibri" pitchFamily="34" charset="0"/>
                          <a:ea typeface="Calibri" pitchFamily="34" charset="-122"/>
                          <a:cs typeface="Calibri" pitchFamily="34" charset="-120"/>
                        </a:rPr>
                        <a:t>NSE SME, ETFs with market makers</a:t>
                      </a:r>
                      <a:endParaRPr lang="en-US" sz="11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D5E3F0"/>
                    </a:solidFill>
                  </a:tcPr>
                </a:tc>
              </a:tr>
              <a:tr h="548640">
                <a:tc>
                  <a:txBody>
                    <a:bodyPr/>
                    <a:lstStyle/>
                    <a:p>
                      <a:pPr indent="0" marL="0">
                        <a:buNone/>
                      </a:pPr>
                      <a:r>
                        <a:rPr lang="en-US" sz="1100" dirty="0">
                          <a:solidFill>
                            <a:srgbClr val="1A1A1A"/>
                          </a:solidFill>
                          <a:latin typeface="Calibri" pitchFamily="34" charset="0"/>
                          <a:ea typeface="Calibri" pitchFamily="34" charset="-122"/>
                          <a:cs typeface="Calibri" pitchFamily="34" charset="-120"/>
                        </a:rPr>
                        <a:t>Operations Impact</a:t>
                      </a:r>
                      <a:endParaRPr lang="en-US" sz="11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FFFFFF"/>
                    </a:solidFill>
                  </a:tcPr>
                </a:tc>
                <a:tc>
                  <a:txBody>
                    <a:bodyPr/>
                    <a:lstStyle/>
                    <a:p>
                      <a:pPr indent="0" marL="0">
                        <a:buNone/>
                      </a:pPr>
                      <a:r>
                        <a:rPr lang="en-US" sz="1100" dirty="0">
                          <a:solidFill>
                            <a:srgbClr val="1A1A1A"/>
                          </a:solidFill>
                          <a:latin typeface="Calibri" pitchFamily="34" charset="0"/>
                          <a:ea typeface="Calibri" pitchFamily="34" charset="-122"/>
                          <a:cs typeface="Calibri" pitchFamily="34" charset="-120"/>
                        </a:rPr>
                        <a:t>Exchange confirmation, T+1 settlement</a:t>
                      </a:r>
                      <a:endParaRPr lang="en-US" sz="11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FFFFFF"/>
                    </a:solidFill>
                  </a:tcPr>
                </a:tc>
                <a:tc>
                  <a:txBody>
                    <a:bodyPr/>
                    <a:lstStyle/>
                    <a:p>
                      <a:pPr indent="0" marL="0">
                        <a:buNone/>
                      </a:pPr>
                      <a:r>
                        <a:rPr lang="en-US" sz="1100" dirty="0">
                          <a:solidFill>
                            <a:srgbClr val="1A1A1A"/>
                          </a:solidFill>
                          <a:latin typeface="Calibri" pitchFamily="34" charset="0"/>
                          <a:ea typeface="Calibri" pitchFamily="34" charset="-122"/>
                          <a:cs typeface="Calibri" pitchFamily="34" charset="-120"/>
                        </a:rPr>
                        <a:t>Bilateral confirmation, credit line check</a:t>
                      </a:r>
                      <a:endParaRPr lang="en-US" sz="11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FFFFFF"/>
                    </a:solidFill>
                  </a:tcPr>
                </a:tc>
                <a:tc>
                  <a:txBody>
                    <a:bodyPr/>
                    <a:lstStyle/>
                    <a:p>
                      <a:pPr indent="0" marL="0">
                        <a:buNone/>
                      </a:pPr>
                      <a:r>
                        <a:rPr lang="en-US" sz="1100" dirty="0">
                          <a:solidFill>
                            <a:srgbClr val="1A1A1A"/>
                          </a:solidFill>
                          <a:latin typeface="Calibri" pitchFamily="34" charset="0"/>
                          <a:ea typeface="Calibri" pitchFamily="34" charset="-122"/>
                          <a:cs typeface="Calibri" pitchFamily="34" charset="-120"/>
                        </a:rPr>
                        <a:t>Both workflows depending on segment</a:t>
                      </a:r>
                      <a:endParaRPr lang="en-US" sz="11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FFFFFF"/>
                    </a:solidFill>
                  </a:tcPr>
                </a:tc>
              </a:tr>
            </a:tbl>
          </a:graphicData>
        </a:graphic>
      </p:graphicFrame>
      <p:sp>
        <p:nvSpPr>
          <p:cNvPr id="11" name="Text 8"/>
          <p:cNvSpPr/>
          <p:nvPr/>
        </p:nvSpPr>
        <p:spPr>
          <a:xfrm>
            <a:off x="274320" y="6126480"/>
            <a:ext cx="11612880" cy="365760"/>
          </a:xfrm>
          <a:prstGeom prst="rect">
            <a:avLst/>
          </a:prstGeom>
          <a:noFill/>
          <a:ln/>
        </p:spPr>
        <p:txBody>
          <a:bodyPr wrap="square" rtlCol="0" anchor="ctr"/>
          <a:lstStyle/>
          <a:p>
            <a:pPr indent="0" marL="0">
              <a:buNone/>
            </a:pPr>
            <a:r>
              <a:rPr lang="en-US" sz="1000" dirty="0">
                <a:solidFill>
                  <a:srgbClr val="005F5F"/>
                </a:solidFill>
                <a:latin typeface="Calibri" pitchFamily="34" charset="0"/>
                <a:ea typeface="Calibri" pitchFamily="34" charset="-122"/>
                <a:cs typeface="Calibri" pitchFamily="34" charset="-120"/>
              </a:rPr>
              <a:t>⚡  The mechanism determines whether settlement instructions go to the clearing corporation (order-driven) or are bilaterally agreed with the dealer (quote-driven).</a:t>
            </a:r>
            <a:endParaRPr lang="en-US" sz="1000" dirty="0"/>
          </a:p>
        </p:txBody>
      </p:sp>
      <p:sp>
        <p:nvSpPr>
          <p:cNvPr id="12" name="Text 9"/>
          <p:cNvSpPr/>
          <p:nvPr/>
        </p:nvSpPr>
        <p:spPr>
          <a:xfrm>
            <a:off x="0" y="6601968"/>
            <a:ext cx="12192000" cy="182880"/>
          </a:xfrm>
          <a:prstGeom prst="rect">
            <a:avLst/>
          </a:prstGeom>
          <a:noFill/>
          <a:ln/>
        </p:spPr>
        <p:txBody>
          <a:bodyPr wrap="square" rtlCol="0" anchor="ctr"/>
          <a:lstStyle/>
          <a:p>
            <a:pPr algn="ctr" indent="0" marL="0">
              <a:buNone/>
            </a:pPr>
            <a:r>
              <a:rPr lang="en-US" sz="800" dirty="0">
                <a:solidFill>
                  <a:srgbClr val="AAAAAA"/>
                </a:solidFill>
                <a:latin typeface="Calibri" pitchFamily="34" charset="0"/>
                <a:ea typeface="Calibri" pitchFamily="34" charset="-122"/>
                <a:cs typeface="Calibri" pitchFamily="34" charset="-120"/>
              </a:rPr>
              <a:t>CIBOP · Module 1 · D1.6</a:t>
            </a:r>
            <a:endParaRPr lang="en-US" sz="8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4F6FA"/>
          </a:solidFill>
          <a:ln/>
        </p:spPr>
      </p:sp>
      <p:sp>
        <p:nvSpPr>
          <p:cNvPr id="3" name="Shape 1"/>
          <p:cNvSpPr/>
          <p:nvPr/>
        </p:nvSpPr>
        <p:spPr>
          <a:xfrm>
            <a:off x="0" y="0"/>
            <a:ext cx="12192000" cy="73152"/>
          </a:xfrm>
          <a:prstGeom prst="rect">
            <a:avLst/>
          </a:prstGeom>
          <a:solidFill>
            <a:srgbClr val="1E3A5F"/>
          </a:solidFill>
          <a:ln/>
        </p:spPr>
      </p:sp>
      <p:sp>
        <p:nvSpPr>
          <p:cNvPr id="4" name="Shape 2"/>
          <p:cNvSpPr/>
          <p:nvPr/>
        </p:nvSpPr>
        <p:spPr>
          <a:xfrm>
            <a:off x="0" y="6784848"/>
            <a:ext cx="12192000" cy="73152"/>
          </a:xfrm>
          <a:prstGeom prst="rect">
            <a:avLst/>
          </a:prstGeom>
          <a:solidFill>
            <a:srgbClr val="B8860B"/>
          </a:solidFill>
          <a:ln/>
        </p:spPr>
      </p:sp>
      <p:sp>
        <p:nvSpPr>
          <p:cNvPr id="5" name="Shape 3"/>
          <p:cNvSpPr/>
          <p:nvPr/>
        </p:nvSpPr>
        <p:spPr>
          <a:xfrm>
            <a:off x="0" y="73152"/>
            <a:ext cx="1828800" cy="347472"/>
          </a:xfrm>
          <a:prstGeom prst="rect">
            <a:avLst/>
          </a:prstGeom>
          <a:solidFill>
            <a:srgbClr val="B8860B"/>
          </a:solidFill>
          <a:ln/>
        </p:spPr>
      </p:sp>
      <p:sp>
        <p:nvSpPr>
          <p:cNvPr id="6" name="Text 4"/>
          <p:cNvSpPr/>
          <p:nvPr/>
        </p:nvSpPr>
        <p:spPr>
          <a:xfrm>
            <a:off x="0" y="73152"/>
            <a:ext cx="1828800" cy="347472"/>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GOING DEEPER</a:t>
            </a:r>
            <a:endParaRPr lang="en-US" sz="1000" dirty="0"/>
          </a:p>
        </p:txBody>
      </p:sp>
      <p:sp>
        <p:nvSpPr>
          <p:cNvPr id="7" name="Shape 5"/>
          <p:cNvSpPr/>
          <p:nvPr/>
        </p:nvSpPr>
        <p:spPr>
          <a:xfrm>
            <a:off x="10360152" y="73152"/>
            <a:ext cx="1828800" cy="347472"/>
          </a:xfrm>
          <a:prstGeom prst="rect">
            <a:avLst/>
          </a:prstGeom>
          <a:solidFill>
            <a:srgbClr val="005F5F"/>
          </a:solidFill>
          <a:ln/>
        </p:spPr>
      </p:sp>
      <p:sp>
        <p:nvSpPr>
          <p:cNvPr id="8" name="Text 6"/>
          <p:cNvSpPr/>
          <p:nvPr/>
        </p:nvSpPr>
        <p:spPr>
          <a:xfrm>
            <a:off x="10360152" y="73152"/>
            <a:ext cx="1828800" cy="347472"/>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D1.6</a:t>
            </a:r>
            <a:endParaRPr lang="en-US" sz="1000" dirty="0"/>
          </a:p>
        </p:txBody>
      </p:sp>
      <p:sp>
        <p:nvSpPr>
          <p:cNvPr id="9" name="Text 7"/>
          <p:cNvSpPr/>
          <p:nvPr/>
        </p:nvSpPr>
        <p:spPr>
          <a:xfrm>
            <a:off x="274320" y="502920"/>
            <a:ext cx="11612880" cy="640080"/>
          </a:xfrm>
          <a:prstGeom prst="rect">
            <a:avLst/>
          </a:prstGeom>
          <a:noFill/>
          <a:ln/>
        </p:spPr>
        <p:txBody>
          <a:bodyPr wrap="square" rtlCol="0" anchor="ctr"/>
          <a:lstStyle/>
          <a:p>
            <a:pPr indent="0" marL="0">
              <a:buNone/>
            </a:pPr>
            <a:r>
              <a:rPr lang="en-US" sz="2200" b="1" dirty="0">
                <a:solidFill>
                  <a:srgbClr val="1E3A5F"/>
                </a:solidFill>
                <a:latin typeface="Calibri" pitchFamily="34" charset="0"/>
                <a:ea typeface="Calibri" pitchFamily="34" charset="-122"/>
                <a:cs typeface="Calibri" pitchFamily="34" charset="-120"/>
              </a:rPr>
              <a:t>Four Insights on Market Microstructure</a:t>
            </a:r>
            <a:endParaRPr lang="en-US" sz="2200" dirty="0"/>
          </a:p>
        </p:txBody>
      </p:sp>
      <p:sp>
        <p:nvSpPr>
          <p:cNvPr id="10" name="Shape 8"/>
          <p:cNvSpPr/>
          <p:nvPr/>
        </p:nvSpPr>
        <p:spPr>
          <a:xfrm>
            <a:off x="274320" y="1280160"/>
            <a:ext cx="5669280" cy="2377440"/>
          </a:xfrm>
          <a:prstGeom prst="rect">
            <a:avLst/>
          </a:prstGeom>
          <a:solidFill>
            <a:srgbClr val="D5E3F0"/>
          </a:solidFill>
          <a:ln w="6350">
            <a:solidFill>
              <a:srgbClr val="AAAAAA"/>
            </a:solidFill>
            <a:prstDash val="solid"/>
          </a:ln>
        </p:spPr>
      </p:sp>
      <p:sp>
        <p:nvSpPr>
          <p:cNvPr id="11" name="Shape 9"/>
          <p:cNvSpPr/>
          <p:nvPr/>
        </p:nvSpPr>
        <p:spPr>
          <a:xfrm>
            <a:off x="365760" y="1371600"/>
            <a:ext cx="457200" cy="457200"/>
          </a:xfrm>
          <a:prstGeom prst="ellipse">
            <a:avLst/>
          </a:prstGeom>
          <a:solidFill>
            <a:srgbClr val="1E3A5F"/>
          </a:solidFill>
          <a:ln/>
        </p:spPr>
      </p:sp>
      <p:sp>
        <p:nvSpPr>
          <p:cNvPr id="12" name="Text 10"/>
          <p:cNvSpPr/>
          <p:nvPr/>
        </p:nvSpPr>
        <p:spPr>
          <a:xfrm>
            <a:off x="365760" y="1371600"/>
            <a:ext cx="457200" cy="45720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3" name="Text 11"/>
          <p:cNvSpPr/>
          <p:nvPr/>
        </p:nvSpPr>
        <p:spPr>
          <a:xfrm>
            <a:off x="914400" y="1371600"/>
            <a:ext cx="4892040" cy="457200"/>
          </a:xfrm>
          <a:prstGeom prst="rect">
            <a:avLst/>
          </a:prstGeom>
          <a:noFill/>
          <a:ln/>
        </p:spPr>
        <p:txBody>
          <a:bodyPr wrap="square" rtlCol="0" anchor="ctr"/>
          <a:lstStyle/>
          <a:p>
            <a:pPr indent="0" marL="0">
              <a:buNone/>
            </a:pPr>
            <a:r>
              <a:rPr lang="en-US" sz="1300" b="1" dirty="0">
                <a:solidFill>
                  <a:srgbClr val="1A1A1A"/>
                </a:solidFill>
                <a:latin typeface="Calibri" pitchFamily="34" charset="0"/>
                <a:ea typeface="Calibri" pitchFamily="34" charset="-122"/>
                <a:cs typeface="Calibri" pitchFamily="34" charset="-120"/>
              </a:rPr>
              <a:t>Order Books Are Not Just Prices — They Are Information</a:t>
            </a:r>
            <a:endParaRPr lang="en-US" sz="1300" dirty="0"/>
          </a:p>
        </p:txBody>
      </p:sp>
      <p:sp>
        <p:nvSpPr>
          <p:cNvPr id="14" name="Text 12"/>
          <p:cNvSpPr/>
          <p:nvPr/>
        </p:nvSpPr>
        <p:spPr>
          <a:xfrm>
            <a:off x="411480" y="1874520"/>
            <a:ext cx="5394960" cy="1645920"/>
          </a:xfrm>
          <a:prstGeom prst="rect">
            <a:avLst/>
          </a:prstGeom>
          <a:noFill/>
          <a:ln/>
        </p:spPr>
        <p:txBody>
          <a:bodyPr wrap="square" rtlCol="0" anchor="ctr"/>
          <a:lstStyle/>
          <a:p>
            <a:pPr indent="0" marL="0">
              <a:buNone/>
            </a:pPr>
            <a:r>
              <a:rPr lang="en-US" sz="1100" dirty="0">
                <a:solidFill>
                  <a:srgbClr val="1A1A1A"/>
                </a:solidFill>
                <a:latin typeface="Calibri" pitchFamily="34" charset="0"/>
                <a:ea typeface="Calibri" pitchFamily="34" charset="-122"/>
                <a:cs typeface="Calibri" pitchFamily="34" charset="-120"/>
              </a:rPr>
              <a:t>The full depth of an order book (not just best bid/ask, but all layers) reveals where large buyers and sellers sit. Institutional investors and HFT algorithms read this depth to infer market sentiment and potential price movements. Operations teams handle the settlement of all those layers.</a:t>
            </a:r>
            <a:endParaRPr lang="en-US" sz="1100" dirty="0"/>
          </a:p>
        </p:txBody>
      </p:sp>
      <p:sp>
        <p:nvSpPr>
          <p:cNvPr id="15" name="Shape 13"/>
          <p:cNvSpPr/>
          <p:nvPr/>
        </p:nvSpPr>
        <p:spPr>
          <a:xfrm>
            <a:off x="6126480" y="1280160"/>
            <a:ext cx="5669280" cy="2377440"/>
          </a:xfrm>
          <a:prstGeom prst="rect">
            <a:avLst/>
          </a:prstGeom>
          <a:solidFill>
            <a:srgbClr val="D4EFEF"/>
          </a:solidFill>
          <a:ln w="6350">
            <a:solidFill>
              <a:srgbClr val="AAAAAA"/>
            </a:solidFill>
            <a:prstDash val="solid"/>
          </a:ln>
        </p:spPr>
      </p:sp>
      <p:sp>
        <p:nvSpPr>
          <p:cNvPr id="16" name="Shape 14"/>
          <p:cNvSpPr/>
          <p:nvPr/>
        </p:nvSpPr>
        <p:spPr>
          <a:xfrm>
            <a:off x="6217920" y="1371600"/>
            <a:ext cx="457200" cy="457200"/>
          </a:xfrm>
          <a:prstGeom prst="ellipse">
            <a:avLst/>
          </a:prstGeom>
          <a:solidFill>
            <a:srgbClr val="005F5F"/>
          </a:solidFill>
          <a:ln/>
        </p:spPr>
      </p:sp>
      <p:sp>
        <p:nvSpPr>
          <p:cNvPr id="17" name="Text 15"/>
          <p:cNvSpPr/>
          <p:nvPr/>
        </p:nvSpPr>
        <p:spPr>
          <a:xfrm>
            <a:off x="6217920" y="1371600"/>
            <a:ext cx="457200" cy="45720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8" name="Text 16"/>
          <p:cNvSpPr/>
          <p:nvPr/>
        </p:nvSpPr>
        <p:spPr>
          <a:xfrm>
            <a:off x="6766560" y="1371600"/>
            <a:ext cx="4892040" cy="457200"/>
          </a:xfrm>
          <a:prstGeom prst="rect">
            <a:avLst/>
          </a:prstGeom>
          <a:noFill/>
          <a:ln/>
        </p:spPr>
        <p:txBody>
          <a:bodyPr wrap="square" rtlCol="0" anchor="ctr"/>
          <a:lstStyle/>
          <a:p>
            <a:pPr indent="0" marL="0">
              <a:buNone/>
            </a:pPr>
            <a:r>
              <a:rPr lang="en-US" sz="1300" b="1" dirty="0">
                <a:solidFill>
                  <a:srgbClr val="1A1A1A"/>
                </a:solidFill>
                <a:latin typeface="Calibri" pitchFamily="34" charset="0"/>
                <a:ea typeface="Calibri" pitchFamily="34" charset="-122"/>
                <a:cs typeface="Calibri" pitchFamily="34" charset="-120"/>
              </a:rPr>
              <a:t>The Bid-Ask Spread Is Not Random — It Is Priced Risk</a:t>
            </a:r>
            <a:endParaRPr lang="en-US" sz="1300" dirty="0"/>
          </a:p>
        </p:txBody>
      </p:sp>
      <p:sp>
        <p:nvSpPr>
          <p:cNvPr id="19" name="Text 17"/>
          <p:cNvSpPr/>
          <p:nvPr/>
        </p:nvSpPr>
        <p:spPr>
          <a:xfrm>
            <a:off x="6263640" y="1874520"/>
            <a:ext cx="5394960" cy="1645920"/>
          </a:xfrm>
          <a:prstGeom prst="rect">
            <a:avLst/>
          </a:prstGeom>
          <a:noFill/>
          <a:ln/>
        </p:spPr>
        <p:txBody>
          <a:bodyPr wrap="square" rtlCol="0" anchor="ctr"/>
          <a:lstStyle/>
          <a:p>
            <a:pPr indent="0" marL="0">
              <a:buNone/>
            </a:pPr>
            <a:r>
              <a:rPr lang="en-US" sz="1100" dirty="0">
                <a:solidFill>
                  <a:srgbClr val="1A1A1A"/>
                </a:solidFill>
                <a:latin typeface="Calibri" pitchFamily="34" charset="0"/>
                <a:ea typeface="Calibri" pitchFamily="34" charset="-122"/>
                <a:cs typeface="Calibri" pitchFamily="34" charset="-120"/>
              </a:rPr>
              <a:t>A market maker's spread reflects: inventory risk (they may hold the stock overnight), adverse selection risk (counterparty might know more than them), and operational costs. Wide spreads in a stock indicate a market maker who is worried. Narrow spreads indicate confidence.</a:t>
            </a:r>
            <a:endParaRPr lang="en-US" sz="1100" dirty="0"/>
          </a:p>
        </p:txBody>
      </p:sp>
      <p:sp>
        <p:nvSpPr>
          <p:cNvPr id="20" name="Shape 18"/>
          <p:cNvSpPr/>
          <p:nvPr/>
        </p:nvSpPr>
        <p:spPr>
          <a:xfrm>
            <a:off x="274320" y="3840480"/>
            <a:ext cx="5669280" cy="2377440"/>
          </a:xfrm>
          <a:prstGeom prst="rect">
            <a:avLst/>
          </a:prstGeom>
          <a:solidFill>
            <a:srgbClr val="FEF9E7"/>
          </a:solidFill>
          <a:ln w="6350">
            <a:solidFill>
              <a:srgbClr val="AAAAAA"/>
            </a:solidFill>
            <a:prstDash val="solid"/>
          </a:ln>
        </p:spPr>
      </p:sp>
      <p:sp>
        <p:nvSpPr>
          <p:cNvPr id="21" name="Shape 19"/>
          <p:cNvSpPr/>
          <p:nvPr/>
        </p:nvSpPr>
        <p:spPr>
          <a:xfrm>
            <a:off x="365760" y="3931920"/>
            <a:ext cx="457200" cy="457200"/>
          </a:xfrm>
          <a:prstGeom prst="ellipse">
            <a:avLst/>
          </a:prstGeom>
          <a:solidFill>
            <a:srgbClr val="B8860B"/>
          </a:solidFill>
          <a:ln/>
        </p:spPr>
      </p:sp>
      <p:sp>
        <p:nvSpPr>
          <p:cNvPr id="22" name="Text 20"/>
          <p:cNvSpPr/>
          <p:nvPr/>
        </p:nvSpPr>
        <p:spPr>
          <a:xfrm>
            <a:off x="365760" y="3931920"/>
            <a:ext cx="457200" cy="45720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23" name="Text 21"/>
          <p:cNvSpPr/>
          <p:nvPr/>
        </p:nvSpPr>
        <p:spPr>
          <a:xfrm>
            <a:off x="914400" y="3931920"/>
            <a:ext cx="4892040" cy="457200"/>
          </a:xfrm>
          <a:prstGeom prst="rect">
            <a:avLst/>
          </a:prstGeom>
          <a:noFill/>
          <a:ln/>
        </p:spPr>
        <p:txBody>
          <a:bodyPr wrap="square" rtlCol="0" anchor="ctr"/>
          <a:lstStyle/>
          <a:p>
            <a:pPr indent="0" marL="0">
              <a:buNone/>
            </a:pPr>
            <a:r>
              <a:rPr lang="en-US" sz="1300" b="1" dirty="0">
                <a:solidFill>
                  <a:srgbClr val="1A1A1A"/>
                </a:solidFill>
                <a:latin typeface="Calibri" pitchFamily="34" charset="0"/>
                <a:ea typeface="Calibri" pitchFamily="34" charset="-122"/>
                <a:cs typeface="Calibri" pitchFamily="34" charset="-120"/>
              </a:rPr>
              <a:t>Hybrid Models Are Pragmatic, Not Ideal</a:t>
            </a:r>
            <a:endParaRPr lang="en-US" sz="1300" dirty="0"/>
          </a:p>
        </p:txBody>
      </p:sp>
      <p:sp>
        <p:nvSpPr>
          <p:cNvPr id="24" name="Text 22"/>
          <p:cNvSpPr/>
          <p:nvPr/>
        </p:nvSpPr>
        <p:spPr>
          <a:xfrm>
            <a:off x="411480" y="4434840"/>
            <a:ext cx="5394960" cy="1645920"/>
          </a:xfrm>
          <a:prstGeom prst="rect">
            <a:avLst/>
          </a:prstGeom>
          <a:noFill/>
          <a:ln/>
        </p:spPr>
        <p:txBody>
          <a:bodyPr wrap="square" rtlCol="0" anchor="ctr"/>
          <a:lstStyle/>
          <a:p>
            <a:pPr indent="0" marL="0">
              <a:buNone/>
            </a:pPr>
            <a:r>
              <a:rPr lang="en-US" sz="1100" dirty="0">
                <a:solidFill>
                  <a:srgbClr val="1A1A1A"/>
                </a:solidFill>
                <a:latin typeface="Calibri" pitchFamily="34" charset="0"/>
                <a:ea typeface="Calibri" pitchFamily="34" charset="-122"/>
                <a:cs typeface="Calibri" pitchFamily="34" charset="-120"/>
              </a:rPr>
              <a:t>No exchange transitions to hybrid voluntarily — they do it because illiquid stocks cannot attract natural order flow. Hybrid models are a pragmatic response to market failure. Understanding which stocks have market makers is essential for operations teams pricing impact of large orders.</a:t>
            </a:r>
            <a:endParaRPr lang="en-US" sz="1100" dirty="0"/>
          </a:p>
        </p:txBody>
      </p:sp>
      <p:sp>
        <p:nvSpPr>
          <p:cNvPr id="25" name="Shape 23"/>
          <p:cNvSpPr/>
          <p:nvPr/>
        </p:nvSpPr>
        <p:spPr>
          <a:xfrm>
            <a:off x="6126480" y="3840480"/>
            <a:ext cx="5669280" cy="2377440"/>
          </a:xfrm>
          <a:prstGeom prst="rect">
            <a:avLst/>
          </a:prstGeom>
          <a:solidFill>
            <a:srgbClr val="D5E3F0"/>
          </a:solidFill>
          <a:ln w="6350">
            <a:solidFill>
              <a:srgbClr val="AAAAAA"/>
            </a:solidFill>
            <a:prstDash val="solid"/>
          </a:ln>
        </p:spPr>
      </p:sp>
      <p:sp>
        <p:nvSpPr>
          <p:cNvPr id="26" name="Shape 24"/>
          <p:cNvSpPr/>
          <p:nvPr/>
        </p:nvSpPr>
        <p:spPr>
          <a:xfrm>
            <a:off x="6217920" y="3931920"/>
            <a:ext cx="457200" cy="457200"/>
          </a:xfrm>
          <a:prstGeom prst="ellipse">
            <a:avLst/>
          </a:prstGeom>
          <a:solidFill>
            <a:srgbClr val="1E3A5F"/>
          </a:solidFill>
          <a:ln/>
        </p:spPr>
      </p:sp>
      <p:sp>
        <p:nvSpPr>
          <p:cNvPr id="27" name="Text 25"/>
          <p:cNvSpPr/>
          <p:nvPr/>
        </p:nvSpPr>
        <p:spPr>
          <a:xfrm>
            <a:off x="6217920" y="3931920"/>
            <a:ext cx="457200" cy="45720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28" name="Text 26"/>
          <p:cNvSpPr/>
          <p:nvPr/>
        </p:nvSpPr>
        <p:spPr>
          <a:xfrm>
            <a:off x="6766560" y="3931920"/>
            <a:ext cx="4892040" cy="457200"/>
          </a:xfrm>
          <a:prstGeom prst="rect">
            <a:avLst/>
          </a:prstGeom>
          <a:noFill/>
          <a:ln/>
        </p:spPr>
        <p:txBody>
          <a:bodyPr wrap="square" rtlCol="0" anchor="ctr"/>
          <a:lstStyle/>
          <a:p>
            <a:pPr indent="0" marL="0">
              <a:buNone/>
            </a:pPr>
            <a:r>
              <a:rPr lang="en-US" sz="1300" b="1" dirty="0">
                <a:solidFill>
                  <a:srgbClr val="1A1A1A"/>
                </a:solidFill>
                <a:latin typeface="Calibri" pitchFamily="34" charset="0"/>
                <a:ea typeface="Calibri" pitchFamily="34" charset="-122"/>
                <a:cs typeface="Calibri" pitchFamily="34" charset="-120"/>
              </a:rPr>
              <a:t>FX Is Predominantly Quote-Driven — Including USD/INR</a:t>
            </a:r>
            <a:endParaRPr lang="en-US" sz="1300" dirty="0"/>
          </a:p>
        </p:txBody>
      </p:sp>
      <p:sp>
        <p:nvSpPr>
          <p:cNvPr id="29" name="Text 27"/>
          <p:cNvSpPr/>
          <p:nvPr/>
        </p:nvSpPr>
        <p:spPr>
          <a:xfrm>
            <a:off x="6263640" y="4434840"/>
            <a:ext cx="5394960" cy="1645920"/>
          </a:xfrm>
          <a:prstGeom prst="rect">
            <a:avLst/>
          </a:prstGeom>
          <a:noFill/>
          <a:ln/>
        </p:spPr>
        <p:txBody>
          <a:bodyPr wrap="square" rtlCol="0" anchor="ctr"/>
          <a:lstStyle/>
          <a:p>
            <a:pPr indent="0" marL="0">
              <a:buNone/>
            </a:pPr>
            <a:r>
              <a:rPr lang="en-US" sz="1100" dirty="0">
                <a:solidFill>
                  <a:srgbClr val="1A1A1A"/>
                </a:solidFill>
                <a:latin typeface="Calibri" pitchFamily="34" charset="0"/>
                <a:ea typeface="Calibri" pitchFamily="34" charset="-122"/>
                <a:cs typeface="Calibri" pitchFamily="34" charset="-120"/>
              </a:rPr>
              <a:t>India's FX market (USD/INR and cross-currency pairs) is primarily quote-driven. Banks post rates; corporates and institutions deal against them. This means every FX settlement involves bilateral counterparty risk — not clearing corporation novation. This is a material operational difference from equity settlement.</a:t>
            </a:r>
            <a:endParaRPr lang="en-US" sz="1100" dirty="0"/>
          </a:p>
        </p:txBody>
      </p:sp>
      <p:sp>
        <p:nvSpPr>
          <p:cNvPr id="30" name="Text 28"/>
          <p:cNvSpPr/>
          <p:nvPr/>
        </p:nvSpPr>
        <p:spPr>
          <a:xfrm>
            <a:off x="0" y="6601968"/>
            <a:ext cx="12192000" cy="182880"/>
          </a:xfrm>
          <a:prstGeom prst="rect">
            <a:avLst/>
          </a:prstGeom>
          <a:noFill/>
          <a:ln/>
        </p:spPr>
        <p:txBody>
          <a:bodyPr wrap="square" rtlCol="0" anchor="ctr"/>
          <a:lstStyle/>
          <a:p>
            <a:pPr algn="ctr" indent="0" marL="0">
              <a:buNone/>
            </a:pPr>
            <a:r>
              <a:rPr lang="en-US" sz="800" dirty="0">
                <a:solidFill>
                  <a:srgbClr val="AAAAAA"/>
                </a:solidFill>
                <a:latin typeface="Calibri" pitchFamily="34" charset="0"/>
                <a:ea typeface="Calibri" pitchFamily="34" charset="-122"/>
                <a:cs typeface="Calibri" pitchFamily="34" charset="-120"/>
              </a:rPr>
              <a:t>CIBOP · Module 1 · D1.6</a:t>
            </a:r>
            <a:endParaRPr lang="en-US" sz="8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005F5F"/>
          </a:solidFill>
          <a:ln/>
        </p:spPr>
      </p:sp>
      <p:sp>
        <p:nvSpPr>
          <p:cNvPr id="3" name="Shape 1"/>
          <p:cNvSpPr/>
          <p:nvPr/>
        </p:nvSpPr>
        <p:spPr>
          <a:xfrm>
            <a:off x="0" y="0"/>
            <a:ext cx="12192000" cy="73152"/>
          </a:xfrm>
          <a:prstGeom prst="rect">
            <a:avLst/>
          </a:prstGeom>
          <a:solidFill>
            <a:srgbClr val="B8860B"/>
          </a:solidFill>
          <a:ln/>
        </p:spPr>
      </p:sp>
      <p:sp>
        <p:nvSpPr>
          <p:cNvPr id="4" name="Shape 2"/>
          <p:cNvSpPr/>
          <p:nvPr/>
        </p:nvSpPr>
        <p:spPr>
          <a:xfrm>
            <a:off x="0" y="6784848"/>
            <a:ext cx="12192000" cy="73152"/>
          </a:xfrm>
          <a:prstGeom prst="rect">
            <a:avLst/>
          </a:prstGeom>
          <a:solidFill>
            <a:srgbClr val="B8860B"/>
          </a:solidFill>
          <a:ln/>
        </p:spPr>
      </p:sp>
      <p:sp>
        <p:nvSpPr>
          <p:cNvPr id="5" name="Shape 3"/>
          <p:cNvSpPr/>
          <p:nvPr/>
        </p:nvSpPr>
        <p:spPr>
          <a:xfrm>
            <a:off x="0" y="73152"/>
            <a:ext cx="1828800" cy="347472"/>
          </a:xfrm>
          <a:prstGeom prst="rect">
            <a:avLst/>
          </a:prstGeom>
          <a:solidFill>
            <a:srgbClr val="B8860B"/>
          </a:solidFill>
          <a:ln/>
        </p:spPr>
      </p:sp>
      <p:sp>
        <p:nvSpPr>
          <p:cNvPr id="6" name="Text 4"/>
          <p:cNvSpPr/>
          <p:nvPr/>
        </p:nvSpPr>
        <p:spPr>
          <a:xfrm>
            <a:off x="0" y="73152"/>
            <a:ext cx="1828800" cy="347472"/>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THINK &amp; DISCUSS</a:t>
            </a:r>
            <a:endParaRPr lang="en-US" sz="1000" dirty="0"/>
          </a:p>
        </p:txBody>
      </p:sp>
      <p:sp>
        <p:nvSpPr>
          <p:cNvPr id="7" name="Shape 5"/>
          <p:cNvSpPr/>
          <p:nvPr/>
        </p:nvSpPr>
        <p:spPr>
          <a:xfrm>
            <a:off x="10360152" y="73152"/>
            <a:ext cx="1828800" cy="347472"/>
          </a:xfrm>
          <a:prstGeom prst="rect">
            <a:avLst/>
          </a:prstGeom>
          <a:solidFill>
            <a:srgbClr val="005F5F"/>
          </a:solidFill>
          <a:ln/>
        </p:spPr>
      </p:sp>
      <p:sp>
        <p:nvSpPr>
          <p:cNvPr id="8" name="Text 6"/>
          <p:cNvSpPr/>
          <p:nvPr/>
        </p:nvSpPr>
        <p:spPr>
          <a:xfrm>
            <a:off x="10360152" y="73152"/>
            <a:ext cx="1828800" cy="347472"/>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D1.6</a:t>
            </a:r>
            <a:endParaRPr lang="en-US" sz="1000" dirty="0"/>
          </a:p>
        </p:txBody>
      </p:sp>
      <p:sp>
        <p:nvSpPr>
          <p:cNvPr id="9" name="Shape 7"/>
          <p:cNvSpPr/>
          <p:nvPr/>
        </p:nvSpPr>
        <p:spPr>
          <a:xfrm>
            <a:off x="365760" y="914400"/>
            <a:ext cx="11155680" cy="3840480"/>
          </a:xfrm>
          <a:prstGeom prst="rect">
            <a:avLst/>
          </a:prstGeom>
          <a:solidFill>
            <a:srgbClr val="004444"/>
          </a:solidFill>
          <a:ln w="12700">
            <a:solidFill>
              <a:srgbClr val="B8860B"/>
            </a:solidFill>
            <a:prstDash val="solid"/>
          </a:ln>
        </p:spPr>
      </p:sp>
      <p:sp>
        <p:nvSpPr>
          <p:cNvPr id="10" name="Text 8"/>
          <p:cNvSpPr/>
          <p:nvPr/>
        </p:nvSpPr>
        <p:spPr>
          <a:xfrm>
            <a:off x="9144000" y="548640"/>
            <a:ext cx="2926080" cy="457200"/>
          </a:xfrm>
          <a:prstGeom prst="rect">
            <a:avLst/>
          </a:prstGeom>
          <a:noFill/>
          <a:ln/>
        </p:spPr>
        <p:txBody>
          <a:bodyPr wrap="square" rtlCol="0" anchor="ctr"/>
          <a:lstStyle/>
          <a:p>
            <a:pPr algn="r" indent="0" marL="0">
              <a:buNone/>
            </a:pPr>
            <a:r>
              <a:rPr lang="en-US" sz="1400" b="1" dirty="0">
                <a:solidFill>
                  <a:srgbClr val="B8860B"/>
                </a:solidFill>
                <a:latin typeface="Calibri" pitchFamily="34" charset="0"/>
                <a:ea typeface="Calibri" pitchFamily="34" charset="-122"/>
                <a:cs typeface="Calibri" pitchFamily="34" charset="-120"/>
              </a:rPr>
              <a:t>🕐  2 MINUTES</a:t>
            </a:r>
            <a:endParaRPr lang="en-US" sz="1400" dirty="0"/>
          </a:p>
        </p:txBody>
      </p:sp>
      <p:sp>
        <p:nvSpPr>
          <p:cNvPr id="11" name="Text 9"/>
          <p:cNvSpPr/>
          <p:nvPr/>
        </p:nvSpPr>
        <p:spPr>
          <a:xfrm>
            <a:off x="640080" y="1188720"/>
            <a:ext cx="10607040" cy="3108960"/>
          </a:xfrm>
          <a:prstGeom prst="rect">
            <a:avLst/>
          </a:prstGeom>
          <a:noFill/>
          <a:ln/>
        </p:spPr>
        <p:txBody>
          <a:bodyPr wrap="square"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"After the 2010 Flash Crash, some regulators proposed requiring all stocks to have designated market makers. Others said this would reduce transparency. Which side do you support — and under what conditions?"</a:t>
            </a:r>
            <a:endParaRPr lang="en-US" sz="2000" dirty="0"/>
          </a:p>
        </p:txBody>
      </p:sp>
      <p:sp>
        <p:nvSpPr>
          <p:cNvPr id="12" name="Shape 10"/>
          <p:cNvSpPr/>
          <p:nvPr/>
        </p:nvSpPr>
        <p:spPr>
          <a:xfrm>
            <a:off x="0" y="5029200"/>
            <a:ext cx="12192000" cy="914400"/>
          </a:xfrm>
          <a:prstGeom prst="rect">
            <a:avLst/>
          </a:prstGeom>
          <a:solidFill>
            <a:srgbClr val="003333"/>
          </a:solidFill>
          <a:ln/>
        </p:spPr>
      </p:sp>
      <p:sp>
        <p:nvSpPr>
          <p:cNvPr id="13" name="Text 11"/>
          <p:cNvSpPr/>
          <p:nvPr/>
        </p:nvSpPr>
        <p:spPr>
          <a:xfrm>
            <a:off x="365760" y="5029200"/>
            <a:ext cx="11430000" cy="914400"/>
          </a:xfrm>
          <a:prstGeom prst="rect">
            <a:avLst/>
          </a:prstGeom>
          <a:noFill/>
          <a:ln/>
        </p:spPr>
        <p:txBody>
          <a:bodyPr wrap="square" rtlCol="0" anchor="ctr"/>
          <a:lstStyle/>
          <a:p>
            <a:pPr indent="0" marL="0">
              <a:buNone/>
            </a:pPr>
            <a:r>
              <a:rPr lang="en-US" sz="1400" dirty="0">
                <a:solidFill>
                  <a:srgbClr val="CADCFC"/>
                </a:solidFill>
                <a:latin typeface="Calibri" pitchFamily="34" charset="0"/>
                <a:ea typeface="Calibri" pitchFamily="34" charset="-122"/>
                <a:cs typeface="Calibri" pitchFamily="34" charset="-120"/>
              </a:rPr>
              <a:t>💡  Hint: Consider the trade-off: market makers provide liquidity guarantees but reduce the "pure" price discovery of an order-driven system. When does each matter more?</a:t>
            </a:r>
            <a:endParaRPr lang="en-US" sz="1400" dirty="0"/>
          </a:p>
        </p:txBody>
      </p:sp>
      <p:sp>
        <p:nvSpPr>
          <p:cNvPr id="14" name="Text 12"/>
          <p:cNvSpPr/>
          <p:nvPr/>
        </p:nvSpPr>
        <p:spPr>
          <a:xfrm>
            <a:off x="0" y="6601968"/>
            <a:ext cx="12192000" cy="182880"/>
          </a:xfrm>
          <a:prstGeom prst="rect">
            <a:avLst/>
          </a:prstGeom>
          <a:noFill/>
          <a:ln/>
        </p:spPr>
        <p:txBody>
          <a:bodyPr wrap="square" rtlCol="0" anchor="ctr"/>
          <a:lstStyle/>
          <a:p>
            <a:pPr algn="ctr" indent="0" marL="0">
              <a:buNone/>
            </a:pPr>
            <a:r>
              <a:rPr lang="en-US" sz="800" dirty="0">
                <a:solidFill>
                  <a:srgbClr val="AAAAAA"/>
                </a:solidFill>
                <a:latin typeface="Calibri" pitchFamily="34" charset="0"/>
                <a:ea typeface="Calibri" pitchFamily="34" charset="-122"/>
                <a:cs typeface="Calibri" pitchFamily="34" charset="-120"/>
              </a:rPr>
              <a:t>CIBOP · Module 1 · D1.6</a:t>
            </a:r>
            <a:endParaRPr lang="en-US" sz="8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4F6FA"/>
          </a:solidFill>
          <a:ln/>
        </p:spPr>
      </p:sp>
      <p:sp>
        <p:nvSpPr>
          <p:cNvPr id="3" name="Shape 1"/>
          <p:cNvSpPr/>
          <p:nvPr/>
        </p:nvSpPr>
        <p:spPr>
          <a:xfrm>
            <a:off x="0" y="0"/>
            <a:ext cx="12192000" cy="73152"/>
          </a:xfrm>
          <a:prstGeom prst="rect">
            <a:avLst/>
          </a:prstGeom>
          <a:solidFill>
            <a:srgbClr val="B8860B"/>
          </a:solidFill>
          <a:ln/>
        </p:spPr>
      </p:sp>
      <p:sp>
        <p:nvSpPr>
          <p:cNvPr id="4" name="Shape 2"/>
          <p:cNvSpPr/>
          <p:nvPr/>
        </p:nvSpPr>
        <p:spPr>
          <a:xfrm>
            <a:off x="0" y="6784848"/>
            <a:ext cx="12192000" cy="73152"/>
          </a:xfrm>
          <a:prstGeom prst="rect">
            <a:avLst/>
          </a:prstGeom>
          <a:solidFill>
            <a:srgbClr val="1E3A5F"/>
          </a:solidFill>
          <a:ln/>
        </p:spPr>
      </p:sp>
      <p:sp>
        <p:nvSpPr>
          <p:cNvPr id="5" name="Shape 3"/>
          <p:cNvSpPr/>
          <p:nvPr/>
        </p:nvSpPr>
        <p:spPr>
          <a:xfrm>
            <a:off x="0" y="73152"/>
            <a:ext cx="1828800" cy="347472"/>
          </a:xfrm>
          <a:prstGeom prst="rect">
            <a:avLst/>
          </a:prstGeom>
          <a:solidFill>
            <a:srgbClr val="B8860B"/>
          </a:solidFill>
          <a:ln/>
        </p:spPr>
      </p:sp>
      <p:sp>
        <p:nvSpPr>
          <p:cNvPr id="6" name="Text 4"/>
          <p:cNvSpPr/>
          <p:nvPr/>
        </p:nvSpPr>
        <p:spPr>
          <a:xfrm>
            <a:off x="0" y="73152"/>
            <a:ext cx="1828800" cy="347472"/>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INTERVIEW READY</a:t>
            </a:r>
            <a:endParaRPr lang="en-US" sz="1000" dirty="0"/>
          </a:p>
        </p:txBody>
      </p:sp>
      <p:sp>
        <p:nvSpPr>
          <p:cNvPr id="7" name="Shape 5"/>
          <p:cNvSpPr/>
          <p:nvPr/>
        </p:nvSpPr>
        <p:spPr>
          <a:xfrm>
            <a:off x="10360152" y="73152"/>
            <a:ext cx="1828800" cy="347472"/>
          </a:xfrm>
          <a:prstGeom prst="rect">
            <a:avLst/>
          </a:prstGeom>
          <a:solidFill>
            <a:srgbClr val="005F5F"/>
          </a:solidFill>
          <a:ln/>
        </p:spPr>
      </p:sp>
      <p:sp>
        <p:nvSpPr>
          <p:cNvPr id="8" name="Text 6"/>
          <p:cNvSpPr/>
          <p:nvPr/>
        </p:nvSpPr>
        <p:spPr>
          <a:xfrm>
            <a:off x="10360152" y="73152"/>
            <a:ext cx="1828800" cy="347472"/>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D1.6</a:t>
            </a:r>
            <a:endParaRPr lang="en-US" sz="1000" dirty="0"/>
          </a:p>
        </p:txBody>
      </p:sp>
      <p:sp>
        <p:nvSpPr>
          <p:cNvPr id="9" name="Shape 7"/>
          <p:cNvSpPr/>
          <p:nvPr/>
        </p:nvSpPr>
        <p:spPr>
          <a:xfrm>
            <a:off x="0" y="420624"/>
            <a:ext cx="12192000" cy="1371600"/>
          </a:xfrm>
          <a:prstGeom prst="rect">
            <a:avLst/>
          </a:prstGeom>
          <a:solidFill>
            <a:srgbClr val="1E3A5F"/>
          </a:solidFill>
          <a:ln/>
        </p:spPr>
      </p:sp>
      <p:sp>
        <p:nvSpPr>
          <p:cNvPr id="10" name="Text 8"/>
          <p:cNvSpPr/>
          <p:nvPr/>
        </p:nvSpPr>
        <p:spPr>
          <a:xfrm>
            <a:off x="365760" y="502920"/>
            <a:ext cx="11430000" cy="365760"/>
          </a:xfrm>
          <a:prstGeom prst="rect">
            <a:avLst/>
          </a:prstGeom>
          <a:noFill/>
          <a:ln/>
        </p:spPr>
        <p:txBody>
          <a:bodyPr wrap="square" rtlCol="0" anchor="ctr"/>
          <a:lstStyle/>
          <a:p>
            <a:pPr indent="0" marL="0">
              <a:buNone/>
            </a:pPr>
            <a:r>
              <a:rPr lang="en-US" sz="1200" b="1" dirty="0">
                <a:solidFill>
                  <a:srgbClr val="B8860B"/>
                </a:solidFill>
                <a:latin typeface="Calibri" pitchFamily="34" charset="0"/>
                <a:ea typeface="Calibri" pitchFamily="34" charset="-122"/>
                <a:cs typeface="Calibri" pitchFamily="34" charset="-120"/>
              </a:rPr>
              <a:t>💼  Interview Question:</a:t>
            </a:r>
            <a:endParaRPr lang="en-US" sz="1200" dirty="0"/>
          </a:p>
        </p:txBody>
      </p:sp>
      <p:sp>
        <p:nvSpPr>
          <p:cNvPr id="11" name="Text 9"/>
          <p:cNvSpPr/>
          <p:nvPr/>
        </p:nvSpPr>
        <p:spPr>
          <a:xfrm>
            <a:off x="365760" y="914400"/>
            <a:ext cx="11430000" cy="822960"/>
          </a:xfrm>
          <a:prstGeom prst="rect">
            <a:avLst/>
          </a:prstGeom>
          <a:noFill/>
          <a:ln/>
        </p:spPr>
        <p:txBody>
          <a:bodyPr wrap="square"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"What is the difference between an order-driven market and a quote-driven market? Where does each apply in Indian financial markets?"</a:t>
            </a:r>
            <a:endParaRPr lang="en-US" sz="1700" dirty="0"/>
          </a:p>
        </p:txBody>
      </p:sp>
      <p:sp>
        <p:nvSpPr>
          <p:cNvPr id="12" name="Text 10"/>
          <p:cNvSpPr/>
          <p:nvPr/>
        </p:nvSpPr>
        <p:spPr>
          <a:xfrm>
            <a:off x="365760" y="1965960"/>
            <a:ext cx="11430000" cy="365760"/>
          </a:xfrm>
          <a:prstGeom prst="rect">
            <a:avLst/>
          </a:prstGeom>
          <a:noFill/>
          <a:ln/>
        </p:spPr>
        <p:txBody>
          <a:bodyPr wrap="square" rtlCol="0" anchor="ctr"/>
          <a:lstStyle/>
          <a:p>
            <a:pPr indent="0" marL="0">
              <a:buNone/>
            </a:pPr>
            <a:r>
              <a:rPr lang="en-US" sz="1200" b="1" dirty="0">
                <a:solidFill>
                  <a:srgbClr val="005F5F"/>
                </a:solidFill>
                <a:latin typeface="Calibri" pitchFamily="34" charset="0"/>
                <a:ea typeface="Calibri" pitchFamily="34" charset="-122"/>
                <a:cs typeface="Calibri" pitchFamily="34" charset="-120"/>
              </a:rPr>
              <a:t>STRONG ANSWER FRAMEWORK  (4 points):</a:t>
            </a:r>
            <a:endParaRPr lang="en-US" sz="1200" dirty="0"/>
          </a:p>
        </p:txBody>
      </p:sp>
      <p:sp>
        <p:nvSpPr>
          <p:cNvPr id="13" name="Shape 11"/>
          <p:cNvSpPr/>
          <p:nvPr/>
        </p:nvSpPr>
        <p:spPr>
          <a:xfrm>
            <a:off x="274320" y="2423160"/>
            <a:ext cx="457200" cy="640080"/>
          </a:xfrm>
          <a:prstGeom prst="rect">
            <a:avLst/>
          </a:prstGeom>
          <a:solidFill>
            <a:srgbClr val="1E3A5F"/>
          </a:solidFill>
          <a:ln/>
        </p:spPr>
      </p:sp>
      <p:sp>
        <p:nvSpPr>
          <p:cNvPr id="14" name="Text 12"/>
          <p:cNvSpPr/>
          <p:nvPr/>
        </p:nvSpPr>
        <p:spPr>
          <a:xfrm>
            <a:off x="274320" y="2423160"/>
            <a:ext cx="457200" cy="64008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5" name="Shape 13"/>
          <p:cNvSpPr/>
          <p:nvPr/>
        </p:nvSpPr>
        <p:spPr>
          <a:xfrm>
            <a:off x="822960" y="2423160"/>
            <a:ext cx="11064240" cy="640080"/>
          </a:xfrm>
          <a:prstGeom prst="rect">
            <a:avLst/>
          </a:prstGeom>
          <a:solidFill>
            <a:srgbClr val="D5E3F0"/>
          </a:solidFill>
          <a:ln w="6350">
            <a:solidFill>
              <a:srgbClr val="AAAAAA"/>
            </a:solidFill>
            <a:prstDash val="solid"/>
          </a:ln>
        </p:spPr>
      </p:sp>
      <p:sp>
        <p:nvSpPr>
          <p:cNvPr id="16" name="Text 14"/>
          <p:cNvSpPr/>
          <p:nvPr/>
        </p:nvSpPr>
        <p:spPr>
          <a:xfrm>
            <a:off x="914400" y="2423160"/>
            <a:ext cx="10881360" cy="640080"/>
          </a:xfrm>
          <a:prstGeom prst="rect">
            <a:avLst/>
          </a:prstGeom>
          <a:noFill/>
          <a:ln/>
        </p:spPr>
        <p:txBody>
          <a:bodyPr wrap="square" rtlCol="0" anchor="ctr"/>
          <a:lstStyle/>
          <a:p>
            <a:pPr indent="0" marL="0">
              <a:buNone/>
            </a:pPr>
            <a:r>
              <a:rPr lang="en-US" sz="1300" dirty="0">
                <a:solidFill>
                  <a:srgbClr val="1A1A1A"/>
                </a:solidFill>
                <a:latin typeface="Calibri" pitchFamily="34" charset="0"/>
                <a:ea typeface="Calibri" pitchFamily="34" charset="-122"/>
                <a:cs typeface="Calibri" pitchFamily="34" charset="-120"/>
              </a:rPr>
              <a:t>An order-driven market matches buyers and sellers through a central order book — price emerges from the intersection of supply and demand. No intermediary. NSE's equity cash segment is the prime example in India.</a:t>
            </a:r>
            <a:endParaRPr lang="en-US" sz="1300" dirty="0"/>
          </a:p>
        </p:txBody>
      </p:sp>
      <p:sp>
        <p:nvSpPr>
          <p:cNvPr id="17" name="Shape 15"/>
          <p:cNvSpPr/>
          <p:nvPr/>
        </p:nvSpPr>
        <p:spPr>
          <a:xfrm>
            <a:off x="274320" y="3337560"/>
            <a:ext cx="457200" cy="640080"/>
          </a:xfrm>
          <a:prstGeom prst="rect">
            <a:avLst/>
          </a:prstGeom>
          <a:solidFill>
            <a:srgbClr val="1E3A5F"/>
          </a:solidFill>
          <a:ln/>
        </p:spPr>
      </p:sp>
      <p:sp>
        <p:nvSpPr>
          <p:cNvPr id="18" name="Text 16"/>
          <p:cNvSpPr/>
          <p:nvPr/>
        </p:nvSpPr>
        <p:spPr>
          <a:xfrm>
            <a:off x="274320" y="3337560"/>
            <a:ext cx="457200" cy="64008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9" name="Shape 17"/>
          <p:cNvSpPr/>
          <p:nvPr/>
        </p:nvSpPr>
        <p:spPr>
          <a:xfrm>
            <a:off x="822960" y="3337560"/>
            <a:ext cx="11064240" cy="640080"/>
          </a:xfrm>
          <a:prstGeom prst="rect">
            <a:avLst/>
          </a:prstGeom>
          <a:solidFill>
            <a:srgbClr val="FFFFFF"/>
          </a:solidFill>
          <a:ln w="6350">
            <a:solidFill>
              <a:srgbClr val="AAAAAA"/>
            </a:solidFill>
            <a:prstDash val="solid"/>
          </a:ln>
        </p:spPr>
      </p:sp>
      <p:sp>
        <p:nvSpPr>
          <p:cNvPr id="20" name="Text 18"/>
          <p:cNvSpPr/>
          <p:nvPr/>
        </p:nvSpPr>
        <p:spPr>
          <a:xfrm>
            <a:off x="914400" y="3337560"/>
            <a:ext cx="10881360" cy="640080"/>
          </a:xfrm>
          <a:prstGeom prst="rect">
            <a:avLst/>
          </a:prstGeom>
          <a:noFill/>
          <a:ln/>
        </p:spPr>
        <p:txBody>
          <a:bodyPr wrap="square" rtlCol="0" anchor="ctr"/>
          <a:lstStyle/>
          <a:p>
            <a:pPr indent="0" marL="0">
              <a:buNone/>
            </a:pPr>
            <a:r>
              <a:rPr lang="en-US" sz="1300" dirty="0">
                <a:solidFill>
                  <a:srgbClr val="1A1A1A"/>
                </a:solidFill>
                <a:latin typeface="Calibri" pitchFamily="34" charset="0"/>
                <a:ea typeface="Calibri" pitchFamily="34" charset="-122"/>
                <a:cs typeface="Calibri" pitchFamily="34" charset="-120"/>
              </a:rPr>
              <a:t>A quote-driven market has a dealer (market maker) who posts bid and ask prices and acts as counterparty to all trades. India's FX market (USD/INR) and OTC bond markets are predominantly quote-driven.</a:t>
            </a:r>
            <a:endParaRPr lang="en-US" sz="1300" dirty="0"/>
          </a:p>
        </p:txBody>
      </p:sp>
      <p:sp>
        <p:nvSpPr>
          <p:cNvPr id="21" name="Shape 19"/>
          <p:cNvSpPr/>
          <p:nvPr/>
        </p:nvSpPr>
        <p:spPr>
          <a:xfrm>
            <a:off x="274320" y="4251960"/>
            <a:ext cx="457200" cy="640080"/>
          </a:xfrm>
          <a:prstGeom prst="rect">
            <a:avLst/>
          </a:prstGeom>
          <a:solidFill>
            <a:srgbClr val="1E3A5F"/>
          </a:solidFill>
          <a:ln/>
        </p:spPr>
      </p:sp>
      <p:sp>
        <p:nvSpPr>
          <p:cNvPr id="22" name="Text 20"/>
          <p:cNvSpPr/>
          <p:nvPr/>
        </p:nvSpPr>
        <p:spPr>
          <a:xfrm>
            <a:off x="274320" y="4251960"/>
            <a:ext cx="457200" cy="64008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3" name="Shape 21"/>
          <p:cNvSpPr/>
          <p:nvPr/>
        </p:nvSpPr>
        <p:spPr>
          <a:xfrm>
            <a:off x="822960" y="4251960"/>
            <a:ext cx="11064240" cy="640080"/>
          </a:xfrm>
          <a:prstGeom prst="rect">
            <a:avLst/>
          </a:prstGeom>
          <a:solidFill>
            <a:srgbClr val="D5E3F0"/>
          </a:solidFill>
          <a:ln w="6350">
            <a:solidFill>
              <a:srgbClr val="AAAAAA"/>
            </a:solidFill>
            <a:prstDash val="solid"/>
          </a:ln>
        </p:spPr>
      </p:sp>
      <p:sp>
        <p:nvSpPr>
          <p:cNvPr id="24" name="Text 22"/>
          <p:cNvSpPr/>
          <p:nvPr/>
        </p:nvSpPr>
        <p:spPr>
          <a:xfrm>
            <a:off x="914400" y="4251960"/>
            <a:ext cx="10881360" cy="640080"/>
          </a:xfrm>
          <a:prstGeom prst="rect">
            <a:avLst/>
          </a:prstGeom>
          <a:noFill/>
          <a:ln/>
        </p:spPr>
        <p:txBody>
          <a:bodyPr wrap="square" rtlCol="0" anchor="ctr"/>
          <a:lstStyle/>
          <a:p>
            <a:pPr indent="0" marL="0">
              <a:buNone/>
            </a:pPr>
            <a:r>
              <a:rPr lang="en-US" sz="1300" dirty="0">
                <a:solidFill>
                  <a:srgbClr val="1A1A1A"/>
                </a:solidFill>
                <a:latin typeface="Calibri" pitchFamily="34" charset="0"/>
                <a:ea typeface="Calibri" pitchFamily="34" charset="-122"/>
                <a:cs typeface="Calibri" pitchFamily="34" charset="-120"/>
              </a:rPr>
              <a:t>Hybrid markets combine both — NSE uses designated market makers for illiquid segments (SME stocks, ETFs) while maintaining a central order book for the main market.</a:t>
            </a:r>
            <a:endParaRPr lang="en-US" sz="1300" dirty="0"/>
          </a:p>
        </p:txBody>
      </p:sp>
      <p:sp>
        <p:nvSpPr>
          <p:cNvPr id="25" name="Shape 23"/>
          <p:cNvSpPr/>
          <p:nvPr/>
        </p:nvSpPr>
        <p:spPr>
          <a:xfrm>
            <a:off x="274320" y="5166360"/>
            <a:ext cx="457200" cy="640080"/>
          </a:xfrm>
          <a:prstGeom prst="rect">
            <a:avLst/>
          </a:prstGeom>
          <a:solidFill>
            <a:srgbClr val="1E3A5F"/>
          </a:solidFill>
          <a:ln/>
        </p:spPr>
      </p:sp>
      <p:sp>
        <p:nvSpPr>
          <p:cNvPr id="26" name="Text 24"/>
          <p:cNvSpPr/>
          <p:nvPr/>
        </p:nvSpPr>
        <p:spPr>
          <a:xfrm>
            <a:off x="274320" y="5166360"/>
            <a:ext cx="457200" cy="64008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7" name="Shape 25"/>
          <p:cNvSpPr/>
          <p:nvPr/>
        </p:nvSpPr>
        <p:spPr>
          <a:xfrm>
            <a:off x="822960" y="5166360"/>
            <a:ext cx="11064240" cy="640080"/>
          </a:xfrm>
          <a:prstGeom prst="rect">
            <a:avLst/>
          </a:prstGeom>
          <a:solidFill>
            <a:srgbClr val="FFFFFF"/>
          </a:solidFill>
          <a:ln w="6350">
            <a:solidFill>
              <a:srgbClr val="AAAAAA"/>
            </a:solidFill>
            <a:prstDash val="solid"/>
          </a:ln>
        </p:spPr>
      </p:sp>
      <p:sp>
        <p:nvSpPr>
          <p:cNvPr id="28" name="Text 26"/>
          <p:cNvSpPr/>
          <p:nvPr/>
        </p:nvSpPr>
        <p:spPr>
          <a:xfrm>
            <a:off x="914400" y="5166360"/>
            <a:ext cx="10881360" cy="640080"/>
          </a:xfrm>
          <a:prstGeom prst="rect">
            <a:avLst/>
          </a:prstGeom>
          <a:noFill/>
          <a:ln/>
        </p:spPr>
        <p:txBody>
          <a:bodyPr wrap="square" rtlCol="0" anchor="ctr"/>
          <a:lstStyle/>
          <a:p>
            <a:pPr indent="0" marL="0">
              <a:buNone/>
            </a:pPr>
            <a:r>
              <a:rPr lang="en-US" sz="1300" dirty="0">
                <a:solidFill>
                  <a:srgbClr val="1A1A1A"/>
                </a:solidFill>
                <a:latin typeface="Calibri" pitchFamily="34" charset="0"/>
                <a:ea typeface="Calibri" pitchFamily="34" charset="-122"/>
                <a:cs typeface="Calibri" pitchFamily="34" charset="-120"/>
              </a:rPr>
              <a:t>For operations, the mechanism determines the settlement path: order-driven trades settle via NSCCL (clearing corporation novation); quote-driven OTC trades settle bilaterally with the dealer as counterparty, requiring separate documentation and credit line management.</a:t>
            </a:r>
            <a:endParaRPr lang="en-US" sz="1300" dirty="0"/>
          </a:p>
        </p:txBody>
      </p:sp>
      <p:sp>
        <p:nvSpPr>
          <p:cNvPr id="29" name="Text 27"/>
          <p:cNvSpPr/>
          <p:nvPr/>
        </p:nvSpPr>
        <p:spPr>
          <a:xfrm>
            <a:off x="0" y="6601968"/>
            <a:ext cx="12192000" cy="182880"/>
          </a:xfrm>
          <a:prstGeom prst="rect">
            <a:avLst/>
          </a:prstGeom>
          <a:noFill/>
          <a:ln/>
        </p:spPr>
        <p:txBody>
          <a:bodyPr wrap="square" rtlCol="0" anchor="ctr"/>
          <a:lstStyle/>
          <a:p>
            <a:pPr algn="ctr" indent="0" marL="0">
              <a:buNone/>
            </a:pPr>
            <a:r>
              <a:rPr lang="en-US" sz="800" dirty="0">
                <a:solidFill>
                  <a:srgbClr val="AAAAAA"/>
                </a:solidFill>
                <a:latin typeface="Calibri" pitchFamily="34" charset="0"/>
                <a:ea typeface="Calibri" pitchFamily="34" charset="-122"/>
                <a:cs typeface="Calibri" pitchFamily="34" charset="-120"/>
              </a:rPr>
              <a:t>CIBOP · Module 1 · D1.6</a:t>
            </a:r>
            <a:endParaRPr lang="en-US" sz="8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1E3A5F"/>
          </a:solidFill>
          <a:ln/>
        </p:spPr>
      </p:sp>
      <p:sp>
        <p:nvSpPr>
          <p:cNvPr id="3" name="Shape 1"/>
          <p:cNvSpPr/>
          <p:nvPr/>
        </p:nvSpPr>
        <p:spPr>
          <a:xfrm>
            <a:off x="0" y="0"/>
            <a:ext cx="12192000" cy="73152"/>
          </a:xfrm>
          <a:prstGeom prst="rect">
            <a:avLst/>
          </a:prstGeom>
          <a:solidFill>
            <a:srgbClr val="B8860B"/>
          </a:solidFill>
          <a:ln/>
        </p:spPr>
      </p:sp>
      <p:sp>
        <p:nvSpPr>
          <p:cNvPr id="4" name="Shape 2"/>
          <p:cNvSpPr/>
          <p:nvPr/>
        </p:nvSpPr>
        <p:spPr>
          <a:xfrm>
            <a:off x="0" y="6784848"/>
            <a:ext cx="12192000" cy="73152"/>
          </a:xfrm>
          <a:prstGeom prst="rect">
            <a:avLst/>
          </a:prstGeom>
          <a:solidFill>
            <a:srgbClr val="B8860B"/>
          </a:solidFill>
          <a:ln/>
        </p:spPr>
      </p:sp>
      <p:sp>
        <p:nvSpPr>
          <p:cNvPr id="5" name="Shape 3"/>
          <p:cNvSpPr/>
          <p:nvPr/>
        </p:nvSpPr>
        <p:spPr>
          <a:xfrm>
            <a:off x="0" y="73152"/>
            <a:ext cx="1828800" cy="347472"/>
          </a:xfrm>
          <a:prstGeom prst="rect">
            <a:avLst/>
          </a:prstGeom>
          <a:solidFill>
            <a:srgbClr val="B8860B"/>
          </a:solidFill>
          <a:ln/>
        </p:spPr>
      </p:sp>
      <p:sp>
        <p:nvSpPr>
          <p:cNvPr id="6" name="Text 4"/>
          <p:cNvSpPr/>
          <p:nvPr/>
        </p:nvSpPr>
        <p:spPr>
          <a:xfrm>
            <a:off x="0" y="73152"/>
            <a:ext cx="1828800" cy="347472"/>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QUICK RECAP</a:t>
            </a:r>
            <a:endParaRPr lang="en-US" sz="1000" dirty="0"/>
          </a:p>
        </p:txBody>
      </p:sp>
      <p:sp>
        <p:nvSpPr>
          <p:cNvPr id="7" name="Shape 5"/>
          <p:cNvSpPr/>
          <p:nvPr/>
        </p:nvSpPr>
        <p:spPr>
          <a:xfrm>
            <a:off x="10360152" y="73152"/>
            <a:ext cx="1828800" cy="347472"/>
          </a:xfrm>
          <a:prstGeom prst="rect">
            <a:avLst/>
          </a:prstGeom>
          <a:solidFill>
            <a:srgbClr val="005F5F"/>
          </a:solidFill>
          <a:ln/>
        </p:spPr>
      </p:sp>
      <p:sp>
        <p:nvSpPr>
          <p:cNvPr id="8" name="Text 6"/>
          <p:cNvSpPr/>
          <p:nvPr/>
        </p:nvSpPr>
        <p:spPr>
          <a:xfrm>
            <a:off x="10360152" y="73152"/>
            <a:ext cx="1828800" cy="347472"/>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D1.7</a:t>
            </a:r>
            <a:endParaRPr lang="en-US" sz="1000" dirty="0"/>
          </a:p>
        </p:txBody>
      </p:sp>
      <p:sp>
        <p:nvSpPr>
          <p:cNvPr id="9" name="Text 7"/>
          <p:cNvSpPr/>
          <p:nvPr/>
        </p:nvSpPr>
        <p:spPr>
          <a:xfrm>
            <a:off x="8686800" y="1097280"/>
            <a:ext cx="3200400" cy="4572000"/>
          </a:xfrm>
          <a:prstGeom prst="rect">
            <a:avLst/>
          </a:prstGeom>
          <a:noFill/>
          <a:ln/>
        </p:spPr>
        <p:txBody>
          <a:bodyPr wrap="square" rtlCol="0" anchor="ctr"/>
          <a:lstStyle/>
          <a:p>
            <a:pPr algn="ctr" indent="0" marL="0">
              <a:buNone/>
            </a:pPr>
            <a:r>
              <a:rPr lang="en-US" sz="20000" b="1" dirty="0">
                <a:solidFill>
                  <a:srgbClr val="2E4A6E"/>
                </a:solidFill>
                <a:latin typeface="Calibri" pitchFamily="34" charset="0"/>
                <a:ea typeface="Calibri" pitchFamily="34" charset="-122"/>
                <a:cs typeface="Calibri" pitchFamily="34" charset="-120"/>
              </a:rPr>
              <a:t>?</a:t>
            </a:r>
            <a:endParaRPr lang="en-US" sz="20000" dirty="0"/>
          </a:p>
        </p:txBody>
      </p:sp>
      <p:sp>
        <p:nvSpPr>
          <p:cNvPr id="10" name="Text 8"/>
          <p:cNvSpPr/>
          <p:nvPr/>
        </p:nvSpPr>
        <p:spPr>
          <a:xfrm>
            <a:off x="365760" y="548640"/>
            <a:ext cx="8229600" cy="457200"/>
          </a:xfrm>
          <a:prstGeom prst="rect">
            <a:avLst/>
          </a:prstGeom>
          <a:noFill/>
          <a:ln/>
        </p:spPr>
        <p:txBody>
          <a:bodyPr wrap="square" rtlCol="0" anchor="ctr"/>
          <a:lstStyle/>
          <a:p>
            <a:pPr indent="0" marL="0">
              <a:buNone/>
            </a:pPr>
            <a:r>
              <a:rPr lang="en-US" sz="1400" b="1" dirty="0">
                <a:solidFill>
                  <a:srgbClr val="B8860B"/>
                </a:solidFill>
                <a:latin typeface="Calibri" pitchFamily="34" charset="0"/>
                <a:ea typeface="Calibri" pitchFamily="34" charset="-122"/>
                <a:cs typeface="Calibri" pitchFamily="34" charset="-120"/>
              </a:rPr>
              <a:t>D1.7  —  Issuers and Investors</a:t>
            </a:r>
            <a:endParaRPr lang="en-US" sz="1400" dirty="0"/>
          </a:p>
        </p:txBody>
      </p:sp>
      <p:sp>
        <p:nvSpPr>
          <p:cNvPr id="11" name="Text 9"/>
          <p:cNvSpPr/>
          <p:nvPr/>
        </p:nvSpPr>
        <p:spPr>
          <a:xfrm>
            <a:off x="365760" y="1280160"/>
            <a:ext cx="8229600" cy="3474720"/>
          </a:xfrm>
          <a:prstGeom prst="rect">
            <a:avLst/>
          </a:prstGeom>
          <a:noFill/>
          <a:ln/>
        </p:spPr>
        <p:txBody>
          <a:bodyPr wrap="square"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"The government borrows money from citizens and pays them interest. That's actually... really normal. So why does it feel different when a company does the same thing?"</a:t>
            </a:r>
            <a:endParaRPr lang="en-US" sz="2600" dirty="0"/>
          </a:p>
        </p:txBody>
      </p:sp>
      <p:sp>
        <p:nvSpPr>
          <p:cNvPr id="12" name="Shape 10"/>
          <p:cNvSpPr/>
          <p:nvPr/>
        </p:nvSpPr>
        <p:spPr>
          <a:xfrm>
            <a:off x="365760" y="5029200"/>
            <a:ext cx="8229600" cy="731520"/>
          </a:xfrm>
          <a:prstGeom prst="rect">
            <a:avLst/>
          </a:prstGeom>
          <a:solidFill>
            <a:srgbClr val="2E4A6E"/>
          </a:solidFill>
          <a:ln/>
        </p:spPr>
      </p:sp>
      <p:sp>
        <p:nvSpPr>
          <p:cNvPr id="13" name="Text 11"/>
          <p:cNvSpPr/>
          <p:nvPr/>
        </p:nvSpPr>
        <p:spPr>
          <a:xfrm>
            <a:off x="365760" y="5029200"/>
            <a:ext cx="8229600" cy="731520"/>
          </a:xfrm>
          <a:prstGeom prst="rect">
            <a:avLst/>
          </a:prstGeom>
          <a:noFill/>
          <a:ln/>
        </p:spPr>
        <p:txBody>
          <a:bodyPr wrap="square" rtlCol="0" anchor="ctr"/>
          <a:lstStyle/>
          <a:p>
            <a:pPr algn="l" indent="0" marL="0">
              <a:buNone/>
            </a:pPr>
            <a:r>
              <a:rPr lang="en-US" sz="1100" i="1" dirty="0">
                <a:solidFill>
                  <a:srgbClr val="CADCFC"/>
                </a:solidFill>
                <a:latin typeface="Calibri" pitchFamily="34" charset="0"/>
                <a:ea typeface="Calibri" pitchFamily="34" charset="-122"/>
                <a:cs typeface="Calibri" pitchFamily="34" charset="-120"/>
              </a:rPr>
              <a:t>📹  From: D1.7 · Video 1 — Who Are the Issuers? (EAR: CLASSIFY)</a:t>
            </a:r>
            <a:endParaRPr lang="en-US" sz="1100" dirty="0"/>
          </a:p>
        </p:txBody>
      </p:sp>
      <p:sp>
        <p:nvSpPr>
          <p:cNvPr id="14" name="Text 12"/>
          <p:cNvSpPr/>
          <p:nvPr/>
        </p:nvSpPr>
        <p:spPr>
          <a:xfrm>
            <a:off x="0" y="6601968"/>
            <a:ext cx="12192000" cy="182880"/>
          </a:xfrm>
          <a:prstGeom prst="rect">
            <a:avLst/>
          </a:prstGeom>
          <a:noFill/>
          <a:ln/>
        </p:spPr>
        <p:txBody>
          <a:bodyPr wrap="square" rtlCol="0" anchor="ctr"/>
          <a:lstStyle/>
          <a:p>
            <a:pPr algn="ctr" indent="0" marL="0">
              <a:buNone/>
            </a:pPr>
            <a:r>
              <a:rPr lang="en-US" sz="800" dirty="0">
                <a:solidFill>
                  <a:srgbClr val="AAAAAA"/>
                </a:solidFill>
                <a:latin typeface="Calibri" pitchFamily="34" charset="0"/>
                <a:ea typeface="Calibri" pitchFamily="34" charset="-122"/>
                <a:cs typeface="Calibri" pitchFamily="34" charset="-120"/>
              </a:rPr>
              <a:t>CIBOP · Module 1 · D1.7</a:t>
            </a:r>
            <a:endParaRPr lang="en-US" sz="8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4F6FA"/>
          </a:solidFill>
          <a:ln/>
        </p:spPr>
      </p:sp>
      <p:sp>
        <p:nvSpPr>
          <p:cNvPr id="3" name="Shape 1"/>
          <p:cNvSpPr/>
          <p:nvPr/>
        </p:nvSpPr>
        <p:spPr>
          <a:xfrm>
            <a:off x="0" y="0"/>
            <a:ext cx="12192000" cy="73152"/>
          </a:xfrm>
          <a:prstGeom prst="rect">
            <a:avLst/>
          </a:prstGeom>
          <a:solidFill>
            <a:srgbClr val="1E3A5F"/>
          </a:solidFill>
          <a:ln/>
        </p:spPr>
      </p:sp>
      <p:sp>
        <p:nvSpPr>
          <p:cNvPr id="4" name="Shape 2"/>
          <p:cNvSpPr/>
          <p:nvPr/>
        </p:nvSpPr>
        <p:spPr>
          <a:xfrm>
            <a:off x="0" y="6784848"/>
            <a:ext cx="12192000" cy="73152"/>
          </a:xfrm>
          <a:prstGeom prst="rect">
            <a:avLst/>
          </a:prstGeom>
          <a:solidFill>
            <a:srgbClr val="005F5F"/>
          </a:solidFill>
          <a:ln/>
        </p:spPr>
      </p:sp>
      <p:sp>
        <p:nvSpPr>
          <p:cNvPr id="5" name="Shape 3"/>
          <p:cNvSpPr/>
          <p:nvPr/>
        </p:nvSpPr>
        <p:spPr>
          <a:xfrm>
            <a:off x="0" y="73152"/>
            <a:ext cx="1828800" cy="347472"/>
          </a:xfrm>
          <a:prstGeom prst="rect">
            <a:avLst/>
          </a:prstGeom>
          <a:solidFill>
            <a:srgbClr val="C0392B"/>
          </a:solidFill>
          <a:ln/>
        </p:spPr>
      </p:sp>
      <p:sp>
        <p:nvSpPr>
          <p:cNvPr id="6" name="Text 4"/>
          <p:cNvSpPr/>
          <p:nvPr/>
        </p:nvSpPr>
        <p:spPr>
          <a:xfrm>
            <a:off x="0" y="73152"/>
            <a:ext cx="1828800" cy="347472"/>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SCENARIO</a:t>
            </a:r>
            <a:endParaRPr lang="en-US" sz="1000" dirty="0"/>
          </a:p>
        </p:txBody>
      </p:sp>
      <p:sp>
        <p:nvSpPr>
          <p:cNvPr id="7" name="Shape 5"/>
          <p:cNvSpPr/>
          <p:nvPr/>
        </p:nvSpPr>
        <p:spPr>
          <a:xfrm>
            <a:off x="10360152" y="73152"/>
            <a:ext cx="1828800" cy="347472"/>
          </a:xfrm>
          <a:prstGeom prst="rect">
            <a:avLst/>
          </a:prstGeom>
          <a:solidFill>
            <a:srgbClr val="005F5F"/>
          </a:solidFill>
          <a:ln/>
        </p:spPr>
      </p:sp>
      <p:sp>
        <p:nvSpPr>
          <p:cNvPr id="8" name="Text 6"/>
          <p:cNvSpPr/>
          <p:nvPr/>
        </p:nvSpPr>
        <p:spPr>
          <a:xfrm>
            <a:off x="10360152" y="73152"/>
            <a:ext cx="1828800" cy="347472"/>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D1.7</a:t>
            </a:r>
            <a:endParaRPr lang="en-US" sz="1000" dirty="0"/>
          </a:p>
        </p:txBody>
      </p:sp>
      <p:sp>
        <p:nvSpPr>
          <p:cNvPr id="9" name="Shape 7"/>
          <p:cNvSpPr/>
          <p:nvPr/>
        </p:nvSpPr>
        <p:spPr>
          <a:xfrm>
            <a:off x="0" y="420624"/>
            <a:ext cx="12192000" cy="914400"/>
          </a:xfrm>
          <a:prstGeom prst="rect">
            <a:avLst/>
          </a:prstGeom>
          <a:solidFill>
            <a:srgbClr val="1E3A5F"/>
          </a:solidFill>
          <a:ln/>
        </p:spPr>
      </p:sp>
      <p:sp>
        <p:nvSpPr>
          <p:cNvPr id="10" name="Text 8"/>
          <p:cNvSpPr/>
          <p:nvPr/>
        </p:nvSpPr>
        <p:spPr>
          <a:xfrm>
            <a:off x="365760" y="420624"/>
            <a:ext cx="11430000" cy="914400"/>
          </a:xfrm>
          <a:prstGeom prst="rect">
            <a:avLst/>
          </a:prstGeom>
          <a:noFill/>
          <a:ln/>
        </p:spPr>
        <p:txBody>
          <a:bodyPr wrap="square"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LIC IPO 2022: India's Largest Issuer Becomes Its Largest IPO</a:t>
            </a:r>
            <a:endParaRPr lang="en-US" sz="2000" dirty="0"/>
          </a:p>
        </p:txBody>
      </p:sp>
      <p:sp>
        <p:nvSpPr>
          <p:cNvPr id="11" name="Text 9"/>
          <p:cNvSpPr/>
          <p:nvPr/>
        </p:nvSpPr>
        <p:spPr>
          <a:xfrm>
            <a:off x="365760" y="1554480"/>
            <a:ext cx="7498080" cy="2926080"/>
          </a:xfrm>
          <a:prstGeom prst="rect">
            <a:avLst/>
          </a:prstGeom>
          <a:noFill/>
          <a:ln/>
        </p:spPr>
        <p:txBody>
          <a:bodyPr wrap="square" rtlCol="0" anchor="ctr"/>
          <a:lstStyle/>
          <a:p>
            <a:pPr indent="0" marL="0">
              <a:buNone/>
            </a:pPr>
            <a:r>
              <a:rPr lang="en-US" sz="1400" dirty="0">
                <a:solidFill>
                  <a:srgbClr val="1A1A1A"/>
                </a:solidFill>
                <a:latin typeface="Calibri" pitchFamily="34" charset="0"/>
                <a:ea typeface="Calibri" pitchFamily="34" charset="-122"/>
                <a:cs typeface="Calibri" pitchFamily="34" charset="-120"/>
              </a:rPr>
              <a:t>In May 2022, Life Insurance Corporation of India launched its IPO — the largest in Indian history at ₹20,557 crore. LIC simultaneously occupied three roles: it was a PARTICIPANT (institutional investor with ₹40+ lakh crore AUM), it was an ISSUER (issuing shares to public investors), and its policyholders were RETAIL INVESTORS buying the IPO.</a:t>
            </a:r>
            <a:endParaRPr lang="en-US" sz="1400" dirty="0"/>
          </a:p>
          <a:p>
            <a:pPr indent="0" marL="0">
              <a:buNone/>
            </a:pPr>
            <a:endParaRPr lang="en-US" sz="1400" dirty="0"/>
          </a:p>
          <a:p>
            <a:pPr indent="0" marL="0">
              <a:buNone/>
            </a:pPr>
            <a:r>
              <a:rPr lang="en-US" sz="1400" dirty="0">
                <a:solidFill>
                  <a:srgbClr val="1A1A1A"/>
                </a:solidFill>
                <a:latin typeface="Calibri" pitchFamily="34" charset="0"/>
                <a:ea typeface="Calibri" pitchFamily="34" charset="-122"/>
                <a:cs typeface="Calibri" pitchFamily="34" charset="-120"/>
              </a:rPr>
              <a:t>For operations teams, the LIC IPO involved: allotment processing for 73 lakh applicants, demat credit across NSDL and CDSL, refund processing, and trading commencement on NSE and BSE simultaneously.</a:t>
            </a:r>
            <a:endParaRPr lang="en-US" sz="1400" dirty="0"/>
          </a:p>
        </p:txBody>
      </p:sp>
      <p:sp>
        <p:nvSpPr>
          <p:cNvPr id="12" name="Shape 10"/>
          <p:cNvSpPr/>
          <p:nvPr/>
        </p:nvSpPr>
        <p:spPr>
          <a:xfrm>
            <a:off x="8046720" y="1554480"/>
            <a:ext cx="3931920" cy="2926080"/>
          </a:xfrm>
          <a:prstGeom prst="rect">
            <a:avLst/>
          </a:prstGeom>
          <a:solidFill>
            <a:srgbClr val="D5E3F0"/>
          </a:solidFill>
          <a:ln w="12700">
            <a:solidFill>
              <a:srgbClr val="1E3A5F"/>
            </a:solidFill>
            <a:prstDash val="solid"/>
          </a:ln>
        </p:spPr>
      </p:sp>
      <p:sp>
        <p:nvSpPr>
          <p:cNvPr id="13" name="Text 11"/>
          <p:cNvSpPr/>
          <p:nvPr/>
        </p:nvSpPr>
        <p:spPr>
          <a:xfrm>
            <a:off x="8046720" y="1554480"/>
            <a:ext cx="3931920" cy="2926080"/>
          </a:xfrm>
          <a:prstGeom prst="rect">
            <a:avLst/>
          </a:prstGeom>
          <a:noFill/>
          <a:ln/>
        </p:spPr>
        <p:txBody>
          <a:bodyPr wrap="square" rtlCol="0" anchor="t"/>
          <a:lstStyle/>
          <a:p>
            <a:pPr indent="0" marL="0">
              <a:buNone/>
            </a:pPr>
            <a:r>
              <a:rPr lang="en-US" sz="1300" dirty="0">
                <a:solidFill>
                  <a:srgbClr val="1E3A5F"/>
                </a:solidFill>
                <a:latin typeface="Calibri" pitchFamily="34" charset="0"/>
                <a:ea typeface="Calibri" pitchFamily="34" charset="-122"/>
                <a:cs typeface="Calibri" pitchFamily="34" charset="-120"/>
              </a:rPr>
              <a:t>LIC IPO 2022:</a:t>
            </a:r>
            <a:endParaRPr lang="en-US" sz="1300" dirty="0"/>
          </a:p>
          <a:p>
            <a:pPr indent="0" marL="0">
              <a:buNone/>
            </a:pPr>
            <a:endParaRPr lang="en-US" sz="1300" dirty="0"/>
          </a:p>
          <a:p>
            <a:pPr indent="0" marL="0">
              <a:buNone/>
            </a:pPr>
            <a:r>
              <a:rPr lang="en-US" sz="1300" dirty="0">
                <a:solidFill>
                  <a:srgbClr val="1E3A5F"/>
                </a:solidFill>
                <a:latin typeface="Calibri" pitchFamily="34" charset="0"/>
                <a:ea typeface="Calibri" pitchFamily="34" charset="-122"/>
                <a:cs typeface="Calibri" pitchFamily="34" charset="-120"/>
              </a:rPr>
              <a:t>₹20,557 Cr</a:t>
            </a:r>
            <a:endParaRPr lang="en-US" sz="1300" dirty="0"/>
          </a:p>
          <a:p>
            <a:pPr indent="0" marL="0">
              <a:buNone/>
            </a:pPr>
            <a:r>
              <a:rPr lang="en-US" sz="1300" dirty="0">
                <a:solidFill>
                  <a:srgbClr val="1E3A5F"/>
                </a:solidFill>
                <a:latin typeface="Calibri" pitchFamily="34" charset="0"/>
                <a:ea typeface="Calibri" pitchFamily="34" charset="-122"/>
                <a:cs typeface="Calibri" pitchFamily="34" charset="-120"/>
              </a:rPr>
              <a:t>IPO size</a:t>
            </a:r>
            <a:endParaRPr lang="en-US" sz="1300" dirty="0"/>
          </a:p>
          <a:p>
            <a:pPr indent="0" marL="0">
              <a:buNone/>
            </a:pPr>
            <a:endParaRPr lang="en-US" sz="1300" dirty="0"/>
          </a:p>
          <a:p>
            <a:pPr indent="0" marL="0">
              <a:buNone/>
            </a:pPr>
            <a:r>
              <a:rPr lang="en-US" sz="1300" dirty="0">
                <a:solidFill>
                  <a:srgbClr val="1E3A5F"/>
                </a:solidFill>
                <a:latin typeface="Calibri" pitchFamily="34" charset="0"/>
                <a:ea typeface="Calibri" pitchFamily="34" charset="-122"/>
                <a:cs typeface="Calibri" pitchFamily="34" charset="-120"/>
              </a:rPr>
              <a:t>73 lakh</a:t>
            </a:r>
            <a:endParaRPr lang="en-US" sz="1300" dirty="0"/>
          </a:p>
          <a:p>
            <a:pPr indent="0" marL="0">
              <a:buNone/>
            </a:pPr>
            <a:r>
              <a:rPr lang="en-US" sz="1300" dirty="0">
                <a:solidFill>
                  <a:srgbClr val="1E3A5F"/>
                </a:solidFill>
                <a:latin typeface="Calibri" pitchFamily="34" charset="0"/>
                <a:ea typeface="Calibri" pitchFamily="34" charset="-122"/>
                <a:cs typeface="Calibri" pitchFamily="34" charset="-120"/>
              </a:rPr>
              <a:t>applicants</a:t>
            </a:r>
            <a:endParaRPr lang="en-US" sz="1300" dirty="0"/>
          </a:p>
          <a:p>
            <a:pPr indent="0" marL="0">
              <a:buNone/>
            </a:pPr>
            <a:endParaRPr lang="en-US" sz="1300" dirty="0"/>
          </a:p>
          <a:p>
            <a:pPr indent="0" marL="0">
              <a:buNone/>
            </a:pPr>
            <a:r>
              <a:rPr lang="en-US" sz="1300" dirty="0">
                <a:solidFill>
                  <a:srgbClr val="1E3A5F"/>
                </a:solidFill>
                <a:latin typeface="Calibri" pitchFamily="34" charset="0"/>
                <a:ea typeface="Calibri" pitchFamily="34" charset="-122"/>
                <a:cs typeface="Calibri" pitchFamily="34" charset="-120"/>
              </a:rPr>
              <a:t>May 2022</a:t>
            </a:r>
            <a:endParaRPr lang="en-US" sz="1300" dirty="0"/>
          </a:p>
          <a:p>
            <a:pPr indent="0" marL="0">
              <a:buNone/>
            </a:pPr>
            <a:endParaRPr lang="en-US" sz="1300" dirty="0"/>
          </a:p>
          <a:p>
            <a:pPr indent="0" marL="0">
              <a:buNone/>
            </a:pPr>
            <a:r>
              <a:rPr lang="en-US" sz="1300" dirty="0">
                <a:solidFill>
                  <a:srgbClr val="1E3A5F"/>
                </a:solidFill>
                <a:latin typeface="Calibri" pitchFamily="34" charset="0"/>
                <a:ea typeface="Calibri" pitchFamily="34" charset="-122"/>
                <a:cs typeface="Calibri" pitchFamily="34" charset="-120"/>
              </a:rPr>
              <a:t>ₚ10 face value</a:t>
            </a:r>
            <a:endParaRPr lang="en-US" sz="1300" dirty="0"/>
          </a:p>
          <a:p>
            <a:pPr indent="0" marL="0">
              <a:buNone/>
            </a:pPr>
            <a:endParaRPr lang="en-US" sz="1300" dirty="0"/>
          </a:p>
          <a:p>
            <a:pPr indent="0" marL="0">
              <a:buNone/>
            </a:pPr>
            <a:r>
              <a:rPr lang="en-US" sz="1300" dirty="0">
                <a:solidFill>
                  <a:srgbClr val="1E3A5F"/>
                </a:solidFill>
                <a:latin typeface="Calibri" pitchFamily="34" charset="0"/>
                <a:ea typeface="Calibri" pitchFamily="34" charset="-122"/>
                <a:cs typeface="Calibri" pitchFamily="34" charset="-120"/>
              </a:rPr>
              <a:t>Govt retained</a:t>
            </a:r>
            <a:endParaRPr lang="en-US" sz="1300" dirty="0"/>
          </a:p>
          <a:p>
            <a:pPr indent="0" marL="0">
              <a:buNone/>
            </a:pPr>
            <a:r>
              <a:rPr lang="en-US" sz="1300" dirty="0">
                <a:solidFill>
                  <a:srgbClr val="1E3A5F"/>
                </a:solidFill>
                <a:latin typeface="Calibri" pitchFamily="34" charset="0"/>
                <a:ea typeface="Calibri" pitchFamily="34" charset="-122"/>
                <a:cs typeface="Calibri" pitchFamily="34" charset="-120"/>
              </a:rPr>
              <a:t>96.5% stake</a:t>
            </a:r>
            <a:endParaRPr lang="en-US" sz="1300" dirty="0"/>
          </a:p>
          <a:p>
            <a:pPr indent="0" marL="0">
              <a:buNone/>
            </a:pPr>
            <a:endParaRPr lang="en-US" sz="1300" dirty="0"/>
          </a:p>
          <a:p>
            <a:pPr indent="0" marL="0">
              <a:buNone/>
            </a:pPr>
            <a:r>
              <a:rPr lang="en-US" sz="1300" dirty="0">
                <a:solidFill>
                  <a:srgbClr val="1E3A5F"/>
                </a:solidFill>
                <a:latin typeface="Calibri" pitchFamily="34" charset="0"/>
                <a:ea typeface="Calibri" pitchFamily="34" charset="-122"/>
                <a:cs typeface="Calibri" pitchFamily="34" charset="-120"/>
              </a:rPr>
              <a:t>Largest Indian</a:t>
            </a:r>
            <a:endParaRPr lang="en-US" sz="1300" dirty="0"/>
          </a:p>
          <a:p>
            <a:pPr indent="0" marL="0">
              <a:buNone/>
            </a:pPr>
            <a:r>
              <a:rPr lang="en-US" sz="1300" dirty="0">
                <a:solidFill>
                  <a:srgbClr val="1E3A5F"/>
                </a:solidFill>
                <a:latin typeface="Calibri" pitchFamily="34" charset="0"/>
                <a:ea typeface="Calibri" pitchFamily="34" charset="-122"/>
                <a:cs typeface="Calibri" pitchFamily="34" charset="-120"/>
              </a:rPr>
              <a:t>IPO ever</a:t>
            </a:r>
            <a:endParaRPr lang="en-US" sz="1300" dirty="0"/>
          </a:p>
        </p:txBody>
      </p:sp>
      <p:sp>
        <p:nvSpPr>
          <p:cNvPr id="14" name="Shape 12"/>
          <p:cNvSpPr/>
          <p:nvPr/>
        </p:nvSpPr>
        <p:spPr>
          <a:xfrm>
            <a:off x="0" y="4663440"/>
            <a:ext cx="12192000" cy="1097280"/>
          </a:xfrm>
          <a:prstGeom prst="rect">
            <a:avLst/>
          </a:prstGeom>
          <a:solidFill>
            <a:srgbClr val="005F5F"/>
          </a:solidFill>
          <a:ln/>
        </p:spPr>
      </p:sp>
      <p:sp>
        <p:nvSpPr>
          <p:cNvPr id="15" name="Text 13"/>
          <p:cNvSpPr/>
          <p:nvPr/>
        </p:nvSpPr>
        <p:spPr>
          <a:xfrm>
            <a:off x="365760" y="4663440"/>
            <a:ext cx="11430000" cy="1097280"/>
          </a:xfrm>
          <a:prstGeom prst="rect">
            <a:avLst/>
          </a:prstGeom>
          <a:noFill/>
          <a:ln/>
        </p:spPr>
        <p:txBody>
          <a:bodyPr wrap="square"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  In the LIC IPO, LIC was simultaneously an issuer AND one of the largest institutional investors in India. How does this dual role create potential conflicts — and how does regulation manage them?</a:t>
            </a:r>
            <a:endParaRPr lang="en-US" sz="1600" dirty="0"/>
          </a:p>
        </p:txBody>
      </p:sp>
      <p:sp>
        <p:nvSpPr>
          <p:cNvPr id="16" name="Text 14"/>
          <p:cNvSpPr/>
          <p:nvPr/>
        </p:nvSpPr>
        <p:spPr>
          <a:xfrm>
            <a:off x="0" y="6601968"/>
            <a:ext cx="12192000" cy="182880"/>
          </a:xfrm>
          <a:prstGeom prst="rect">
            <a:avLst/>
          </a:prstGeom>
          <a:noFill/>
          <a:ln/>
        </p:spPr>
        <p:txBody>
          <a:bodyPr wrap="square" rtlCol="0" anchor="ctr"/>
          <a:lstStyle/>
          <a:p>
            <a:pPr algn="ctr" indent="0" marL="0">
              <a:buNone/>
            </a:pPr>
            <a:r>
              <a:rPr lang="en-US" sz="800" dirty="0">
                <a:solidFill>
                  <a:srgbClr val="AAAAAA"/>
                </a:solidFill>
                <a:latin typeface="Calibri" pitchFamily="34" charset="0"/>
                <a:ea typeface="Calibri" pitchFamily="34" charset="-122"/>
                <a:cs typeface="Calibri" pitchFamily="34" charset="-120"/>
              </a:rPr>
              <a:t>CIBOP · Module 1 · D1.7</a:t>
            </a:r>
            <a:endParaRPr lang="en-US" sz="8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4F6FA"/>
          </a:solidFill>
          <a:ln/>
        </p:spPr>
      </p:sp>
      <p:sp>
        <p:nvSpPr>
          <p:cNvPr id="3" name="Shape 1"/>
          <p:cNvSpPr/>
          <p:nvPr/>
        </p:nvSpPr>
        <p:spPr>
          <a:xfrm>
            <a:off x="0" y="0"/>
            <a:ext cx="12192000" cy="73152"/>
          </a:xfrm>
          <a:prstGeom prst="rect">
            <a:avLst/>
          </a:prstGeom>
          <a:solidFill>
            <a:srgbClr val="005F5F"/>
          </a:solidFill>
          <a:ln/>
        </p:spPr>
      </p:sp>
      <p:sp>
        <p:nvSpPr>
          <p:cNvPr id="4" name="Shape 2"/>
          <p:cNvSpPr/>
          <p:nvPr/>
        </p:nvSpPr>
        <p:spPr>
          <a:xfrm>
            <a:off x="0" y="6784848"/>
            <a:ext cx="12192000" cy="73152"/>
          </a:xfrm>
          <a:prstGeom prst="rect">
            <a:avLst/>
          </a:prstGeom>
          <a:solidFill>
            <a:srgbClr val="1E3A5F"/>
          </a:solidFill>
          <a:ln/>
        </p:spPr>
      </p:sp>
      <p:sp>
        <p:nvSpPr>
          <p:cNvPr id="5" name="Shape 3"/>
          <p:cNvSpPr/>
          <p:nvPr/>
        </p:nvSpPr>
        <p:spPr>
          <a:xfrm>
            <a:off x="0" y="73152"/>
            <a:ext cx="1828800" cy="347472"/>
          </a:xfrm>
          <a:prstGeom prst="rect">
            <a:avLst/>
          </a:prstGeom>
          <a:solidFill>
            <a:srgbClr val="005F5F"/>
          </a:solidFill>
          <a:ln/>
        </p:spPr>
      </p:sp>
      <p:sp>
        <p:nvSpPr>
          <p:cNvPr id="6" name="Text 4"/>
          <p:cNvSpPr/>
          <p:nvPr/>
        </p:nvSpPr>
        <p:spPr>
          <a:xfrm>
            <a:off x="0" y="73152"/>
            <a:ext cx="1828800" cy="347472"/>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KEY CONCEPT</a:t>
            </a:r>
            <a:endParaRPr lang="en-US" sz="1000" dirty="0"/>
          </a:p>
        </p:txBody>
      </p:sp>
      <p:sp>
        <p:nvSpPr>
          <p:cNvPr id="7" name="Shape 5"/>
          <p:cNvSpPr/>
          <p:nvPr/>
        </p:nvSpPr>
        <p:spPr>
          <a:xfrm>
            <a:off x="10360152" y="73152"/>
            <a:ext cx="1828800" cy="347472"/>
          </a:xfrm>
          <a:prstGeom prst="rect">
            <a:avLst/>
          </a:prstGeom>
          <a:solidFill>
            <a:srgbClr val="005F5F"/>
          </a:solidFill>
          <a:ln/>
        </p:spPr>
      </p:sp>
      <p:sp>
        <p:nvSpPr>
          <p:cNvPr id="8" name="Text 6"/>
          <p:cNvSpPr/>
          <p:nvPr/>
        </p:nvSpPr>
        <p:spPr>
          <a:xfrm>
            <a:off x="10360152" y="73152"/>
            <a:ext cx="1828800" cy="347472"/>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D1.7</a:t>
            </a:r>
            <a:endParaRPr lang="en-US" sz="1000" dirty="0"/>
          </a:p>
        </p:txBody>
      </p:sp>
      <p:sp>
        <p:nvSpPr>
          <p:cNvPr id="9" name="Text 7"/>
          <p:cNvSpPr/>
          <p:nvPr/>
        </p:nvSpPr>
        <p:spPr>
          <a:xfrm>
            <a:off x="274320" y="502920"/>
            <a:ext cx="11430000" cy="640080"/>
          </a:xfrm>
          <a:prstGeom prst="rect">
            <a:avLst/>
          </a:prstGeom>
          <a:noFill/>
          <a:ln/>
        </p:spPr>
        <p:txBody>
          <a:bodyPr wrap="square" rtlCol="0" anchor="ctr"/>
          <a:lstStyle/>
          <a:p>
            <a:pPr indent="0" marL="0">
              <a:buNone/>
            </a:pPr>
            <a:r>
              <a:rPr lang="en-US" sz="2200" b="1" dirty="0">
                <a:solidFill>
                  <a:srgbClr val="1E3A5F"/>
                </a:solidFill>
                <a:latin typeface="Calibri" pitchFamily="34" charset="0"/>
                <a:ea typeface="Calibri" pitchFamily="34" charset="-122"/>
                <a:cs typeface="Calibri" pitchFamily="34" charset="-120"/>
              </a:rPr>
              <a:t>Issuer and Investor Classification Framework</a:t>
            </a:r>
            <a:endParaRPr lang="en-US" sz="2200" dirty="0"/>
          </a:p>
        </p:txBody>
      </p:sp>
      <p:graphicFrame>
        <p:nvGraphicFramePr>
          <p:cNvPr id="41" name="Table 0"/>
          <p:cNvGraphicFramePr>
            <a:graphicFrameLocks noGrp="1"/>
          </p:cNvGraphicFramePr>
          <p:nvPr>
            <p:extLst>
              <p:ext uri="{D42A27DB-BD31-4B8C-83A1-F6EECF244321}">
                <p14:modId xmlns:p14="http://schemas.microsoft.com/office/powerpoint/2010/main" val="1579011935"/>
              </p:ext>
            </p:extLst>
          </p:nvPr>
        </p:nvGraphicFramePr>
        <p:xfrm>
          <a:off x="274320" y="1280160"/>
          <a:ext cx="11612880" cy="4389120"/>
        </p:xfrm>
        <a:graphic>
          <a:graphicData uri="http://schemas.openxmlformats.org/drawingml/2006/table">
            <a:tbl>
              <a:tblPr/>
              <a:tblGrid>
                <a:gridCol w="2903220"/>
                <a:gridCol w="2903220"/>
                <a:gridCol w="2903220"/>
                <a:gridCol w="2903220"/>
              </a:tblGrid>
              <a:tr h="548640">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CATEGORY</a:t>
                      </a:r>
                      <a:endParaRPr lang="en-US" sz="12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1E3A5F"/>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TYPE</a:t>
                      </a:r>
                      <a:endParaRPr lang="en-US" sz="12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1E3A5F"/>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INSTRUMENTS ISSUED/HELD</a:t>
                      </a:r>
                      <a:endParaRPr lang="en-US" sz="12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1E3A5F"/>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INDIA EXAMPLES</a:t>
                      </a:r>
                      <a:endParaRPr lang="en-US" sz="12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1E3A5F"/>
                    </a:solidFill>
                  </a:tcPr>
                </a:tc>
              </a:tr>
              <a:tr h="548640">
                <a:tc>
                  <a:txBody>
                    <a:bodyPr/>
                    <a:lstStyle/>
                    <a:p>
                      <a:pPr indent="0" marL="0">
                        <a:buNone/>
                      </a:pPr>
                      <a:r>
                        <a:rPr lang="en-US" sz="1100" dirty="0">
                          <a:solidFill>
                            <a:srgbClr val="1A1A1A"/>
                          </a:solidFill>
                          <a:latin typeface="Calibri" pitchFamily="34" charset="0"/>
                          <a:ea typeface="Calibri" pitchFamily="34" charset="-122"/>
                          <a:cs typeface="Calibri" pitchFamily="34" charset="-120"/>
                        </a:rPr>
                        <a:t>ISSUERS</a:t>
                      </a:r>
                      <a:endParaRPr lang="en-US" sz="11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FFFFFF"/>
                    </a:solidFill>
                  </a:tcPr>
                </a:tc>
                <a:tc>
                  <a:txBody>
                    <a:bodyPr/>
                    <a:lstStyle/>
                    <a:p>
                      <a:pPr indent="0" marL="0">
                        <a:buNone/>
                      </a:pPr>
                      <a:r>
                        <a:rPr lang="en-US" sz="1100" dirty="0">
                          <a:solidFill>
                            <a:srgbClr val="1A1A1A"/>
                          </a:solidFill>
                          <a:latin typeface="Calibri" pitchFamily="34" charset="0"/>
                          <a:ea typeface="Calibri" pitchFamily="34" charset="-122"/>
                          <a:cs typeface="Calibri" pitchFamily="34" charset="-120"/>
                        </a:rPr>
                        <a:t>Central Government</a:t>
                      </a:r>
                      <a:endParaRPr lang="en-US" sz="11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FFFFFF"/>
                    </a:solidFill>
                  </a:tcPr>
                </a:tc>
                <a:tc>
                  <a:txBody>
                    <a:bodyPr/>
                    <a:lstStyle/>
                    <a:p>
                      <a:pPr indent="0" marL="0">
                        <a:buNone/>
                      </a:pPr>
                      <a:r>
                        <a:rPr lang="en-US" sz="1100" dirty="0">
                          <a:solidFill>
                            <a:srgbClr val="1A1A1A"/>
                          </a:solidFill>
                          <a:latin typeface="Calibri" pitchFamily="34" charset="0"/>
                          <a:ea typeface="Calibri" pitchFamily="34" charset="-122"/>
                          <a:cs typeface="Calibri" pitchFamily="34" charset="-120"/>
                        </a:rPr>
                        <a:t>G-Secs (2–40yr), T-Bills (91/182/364d)</a:t>
                      </a:r>
                      <a:endParaRPr lang="en-US" sz="11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FFFFFF"/>
                    </a:solidFill>
                  </a:tcPr>
                </a:tc>
                <a:tc>
                  <a:txBody>
                    <a:bodyPr/>
                    <a:lstStyle/>
                    <a:p>
                      <a:pPr indent="0" marL="0">
                        <a:buNone/>
                      </a:pPr>
                      <a:r>
                        <a:rPr lang="en-US" sz="1100" dirty="0">
                          <a:solidFill>
                            <a:srgbClr val="1A1A1A"/>
                          </a:solidFill>
                          <a:latin typeface="Calibri" pitchFamily="34" charset="0"/>
                          <a:ea typeface="Calibri" pitchFamily="34" charset="-122"/>
                          <a:cs typeface="Calibri" pitchFamily="34" charset="-120"/>
                        </a:rPr>
                        <a:t>Ministry of Finance (via RBI)</a:t>
                      </a:r>
                      <a:endParaRPr lang="en-US" sz="11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FFFFFF"/>
                    </a:solidFill>
                  </a:tcPr>
                </a:tc>
              </a:tr>
              <a:tr h="548640">
                <a:tc>
                  <a:txBody>
                    <a:bodyPr/>
                    <a:lstStyle/>
                    <a:p>
                      <a:pPr indent="0" marL="0">
                        <a:buNone/>
                      </a:pPr>
                      <a:r>
                        <a:rPr lang="en-US" sz="1100" dirty="0">
                          <a:solidFill>
                            <a:srgbClr val="1A1A1A"/>
                          </a:solidFill>
                          <a:latin typeface="Calibri" pitchFamily="34" charset="0"/>
                          <a:ea typeface="Calibri" pitchFamily="34" charset="-122"/>
                          <a:cs typeface="Calibri" pitchFamily="34" charset="-120"/>
                        </a:rPr>
                        <a:t>ISSUERS</a:t>
                      </a:r>
                      <a:endParaRPr lang="en-US" sz="11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D5E3F0"/>
                    </a:solidFill>
                  </a:tcPr>
                </a:tc>
                <a:tc>
                  <a:txBody>
                    <a:bodyPr/>
                    <a:lstStyle/>
                    <a:p>
                      <a:pPr indent="0" marL="0">
                        <a:buNone/>
                      </a:pPr>
                      <a:r>
                        <a:rPr lang="en-US" sz="1100" dirty="0">
                          <a:solidFill>
                            <a:srgbClr val="1A1A1A"/>
                          </a:solidFill>
                          <a:latin typeface="Calibri" pitchFamily="34" charset="0"/>
                          <a:ea typeface="Calibri" pitchFamily="34" charset="-122"/>
                          <a:cs typeface="Calibri" pitchFamily="34" charset="-120"/>
                        </a:rPr>
                        <a:t>State Governments</a:t>
                      </a:r>
                      <a:endParaRPr lang="en-US" sz="11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D5E3F0"/>
                    </a:solidFill>
                  </a:tcPr>
                </a:tc>
                <a:tc>
                  <a:txBody>
                    <a:bodyPr/>
                    <a:lstStyle/>
                    <a:p>
                      <a:pPr indent="0" marL="0">
                        <a:buNone/>
                      </a:pPr>
                      <a:r>
                        <a:rPr lang="en-US" sz="1100" dirty="0">
                          <a:solidFill>
                            <a:srgbClr val="1A1A1A"/>
                          </a:solidFill>
                          <a:latin typeface="Calibri" pitchFamily="34" charset="0"/>
                          <a:ea typeface="Calibri" pitchFamily="34" charset="-122"/>
                          <a:cs typeface="Calibri" pitchFamily="34" charset="-120"/>
                        </a:rPr>
                        <a:t>State Development Loans (SDLs)</a:t>
                      </a:r>
                      <a:endParaRPr lang="en-US" sz="11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D5E3F0"/>
                    </a:solidFill>
                  </a:tcPr>
                </a:tc>
                <a:tc>
                  <a:txBody>
                    <a:bodyPr/>
                    <a:lstStyle/>
                    <a:p>
                      <a:pPr indent="0" marL="0">
                        <a:buNone/>
                      </a:pPr>
                      <a:r>
                        <a:rPr lang="en-US" sz="1100" dirty="0">
                          <a:solidFill>
                            <a:srgbClr val="1A1A1A"/>
                          </a:solidFill>
                          <a:latin typeface="Calibri" pitchFamily="34" charset="0"/>
                          <a:ea typeface="Calibri" pitchFamily="34" charset="-122"/>
                          <a:cs typeface="Calibri" pitchFamily="34" charset="-120"/>
                        </a:rPr>
                        <a:t>Maharashtra SDL, Karnataka SDL</a:t>
                      </a:r>
                      <a:endParaRPr lang="en-US" sz="11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D5E3F0"/>
                    </a:solidFill>
                  </a:tcPr>
                </a:tc>
              </a:tr>
              <a:tr h="548640">
                <a:tc>
                  <a:txBody>
                    <a:bodyPr/>
                    <a:lstStyle/>
                    <a:p>
                      <a:pPr indent="0" marL="0">
                        <a:buNone/>
                      </a:pPr>
                      <a:r>
                        <a:rPr lang="en-US" sz="1100" dirty="0">
                          <a:solidFill>
                            <a:srgbClr val="1A1A1A"/>
                          </a:solidFill>
                          <a:latin typeface="Calibri" pitchFamily="34" charset="0"/>
                          <a:ea typeface="Calibri" pitchFamily="34" charset="-122"/>
                          <a:cs typeface="Calibri" pitchFamily="34" charset="-120"/>
                        </a:rPr>
                        <a:t>ISSUERS</a:t>
                      </a:r>
                      <a:endParaRPr lang="en-US" sz="11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FFFFFF"/>
                    </a:solidFill>
                  </a:tcPr>
                </a:tc>
                <a:tc>
                  <a:txBody>
                    <a:bodyPr/>
                    <a:lstStyle/>
                    <a:p>
                      <a:pPr indent="0" marL="0">
                        <a:buNone/>
                      </a:pPr>
                      <a:r>
                        <a:rPr lang="en-US" sz="1100" dirty="0">
                          <a:solidFill>
                            <a:srgbClr val="1A1A1A"/>
                          </a:solidFill>
                          <a:latin typeface="Calibri" pitchFamily="34" charset="0"/>
                          <a:ea typeface="Calibri" pitchFamily="34" charset="-122"/>
                          <a:cs typeface="Calibri" pitchFamily="34" charset="-120"/>
                        </a:rPr>
                        <a:t>Corporates (Listed)</a:t>
                      </a:r>
                      <a:endParaRPr lang="en-US" sz="11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FFFFFF"/>
                    </a:solidFill>
                  </a:tcPr>
                </a:tc>
                <a:tc>
                  <a:txBody>
                    <a:bodyPr/>
                    <a:lstStyle/>
                    <a:p>
                      <a:pPr indent="0" marL="0">
                        <a:buNone/>
                      </a:pPr>
                      <a:r>
                        <a:rPr lang="en-US" sz="1100" dirty="0">
                          <a:solidFill>
                            <a:srgbClr val="1A1A1A"/>
                          </a:solidFill>
                          <a:latin typeface="Calibri" pitchFamily="34" charset="0"/>
                          <a:ea typeface="Calibri" pitchFamily="34" charset="-122"/>
                          <a:cs typeface="Calibri" pitchFamily="34" charset="-120"/>
                        </a:rPr>
                        <a:t>Equity shares, NCDs, CPs</a:t>
                      </a:r>
                      <a:endParaRPr lang="en-US" sz="11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FFFFFF"/>
                    </a:solidFill>
                  </a:tcPr>
                </a:tc>
                <a:tc>
                  <a:txBody>
                    <a:bodyPr/>
                    <a:lstStyle/>
                    <a:p>
                      <a:pPr indent="0" marL="0">
                        <a:buNone/>
                      </a:pPr>
                      <a:r>
                        <a:rPr lang="en-US" sz="1100" dirty="0">
                          <a:solidFill>
                            <a:srgbClr val="1A1A1A"/>
                          </a:solidFill>
                          <a:latin typeface="Calibri" pitchFamily="34" charset="0"/>
                          <a:ea typeface="Calibri" pitchFamily="34" charset="-122"/>
                          <a:cs typeface="Calibri" pitchFamily="34" charset="-120"/>
                        </a:rPr>
                        <a:t>TCS IPO, Reliance NCD</a:t>
                      </a:r>
                      <a:endParaRPr lang="en-US" sz="11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FFFFFF"/>
                    </a:solidFill>
                  </a:tcPr>
                </a:tc>
              </a:tr>
              <a:tr h="548640">
                <a:tc>
                  <a:txBody>
                    <a:bodyPr/>
                    <a:lstStyle/>
                    <a:p>
                      <a:pPr indent="0" marL="0">
                        <a:buNone/>
                      </a:pPr>
                      <a:r>
                        <a:rPr lang="en-US" sz="1100" dirty="0">
                          <a:solidFill>
                            <a:srgbClr val="1A1A1A"/>
                          </a:solidFill>
                          <a:latin typeface="Calibri" pitchFamily="34" charset="0"/>
                          <a:ea typeface="Calibri" pitchFamily="34" charset="-122"/>
                          <a:cs typeface="Calibri" pitchFamily="34" charset="-120"/>
                        </a:rPr>
                        <a:t>ISSUERS</a:t>
                      </a:r>
                      <a:endParaRPr lang="en-US" sz="11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D5E3F0"/>
                    </a:solidFill>
                  </a:tcPr>
                </a:tc>
                <a:tc>
                  <a:txBody>
                    <a:bodyPr/>
                    <a:lstStyle/>
                    <a:p>
                      <a:pPr indent="0" marL="0">
                        <a:buNone/>
                      </a:pPr>
                      <a:r>
                        <a:rPr lang="en-US" sz="1100" dirty="0">
                          <a:solidFill>
                            <a:srgbClr val="1A1A1A"/>
                          </a:solidFill>
                          <a:latin typeface="Calibri" pitchFamily="34" charset="0"/>
                          <a:ea typeface="Calibri" pitchFamily="34" charset="-122"/>
                          <a:cs typeface="Calibri" pitchFamily="34" charset="-120"/>
                        </a:rPr>
                        <a:t>Financial Institutions</a:t>
                      </a:r>
                      <a:endParaRPr lang="en-US" sz="11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D5E3F0"/>
                    </a:solidFill>
                  </a:tcPr>
                </a:tc>
                <a:tc>
                  <a:txBody>
                    <a:bodyPr/>
                    <a:lstStyle/>
                    <a:p>
                      <a:pPr indent="0" marL="0">
                        <a:buNone/>
                      </a:pPr>
                      <a:r>
                        <a:rPr lang="en-US" sz="1100" dirty="0">
                          <a:solidFill>
                            <a:srgbClr val="1A1A1A"/>
                          </a:solidFill>
                          <a:latin typeface="Calibri" pitchFamily="34" charset="0"/>
                          <a:ea typeface="Calibri" pitchFamily="34" charset="-122"/>
                          <a:cs typeface="Calibri" pitchFamily="34" charset="-120"/>
                        </a:rPr>
                        <a:t>Bonds, CDs, Tier 1/Tier 2 capital</a:t>
                      </a:r>
                      <a:endParaRPr lang="en-US" sz="11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D5E3F0"/>
                    </a:solidFill>
                  </a:tcPr>
                </a:tc>
                <a:tc>
                  <a:txBody>
                    <a:bodyPr/>
                    <a:lstStyle/>
                    <a:p>
                      <a:pPr indent="0" marL="0">
                        <a:buNone/>
                      </a:pPr>
                      <a:r>
                        <a:rPr lang="en-US" sz="1100" dirty="0">
                          <a:solidFill>
                            <a:srgbClr val="1A1A1A"/>
                          </a:solidFill>
                          <a:latin typeface="Calibri" pitchFamily="34" charset="0"/>
                          <a:ea typeface="Calibri" pitchFamily="34" charset="-122"/>
                          <a:cs typeface="Calibri" pitchFamily="34" charset="-120"/>
                        </a:rPr>
                        <a:t>SBI AT1 bond, HDFC CD</a:t>
                      </a:r>
                      <a:endParaRPr lang="en-US" sz="11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D5E3F0"/>
                    </a:solidFill>
                  </a:tcPr>
                </a:tc>
              </a:tr>
              <a:tr h="548640">
                <a:tc>
                  <a:txBody>
                    <a:bodyPr/>
                    <a:lstStyle/>
                    <a:p>
                      <a:pPr indent="0" marL="0">
                        <a:buNone/>
                      </a:pPr>
                      <a:r>
                        <a:rPr lang="en-US" sz="1100" dirty="0">
                          <a:solidFill>
                            <a:srgbClr val="1A1A1A"/>
                          </a:solidFill>
                          <a:latin typeface="Calibri" pitchFamily="34" charset="0"/>
                          <a:ea typeface="Calibri" pitchFamily="34" charset="-122"/>
                          <a:cs typeface="Calibri" pitchFamily="34" charset="-120"/>
                        </a:rPr>
                        <a:t>INVESTORS</a:t>
                      </a:r>
                      <a:endParaRPr lang="en-US" sz="11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FFFFFF"/>
                    </a:solidFill>
                  </a:tcPr>
                </a:tc>
                <a:tc>
                  <a:txBody>
                    <a:bodyPr/>
                    <a:lstStyle/>
                    <a:p>
                      <a:pPr indent="0" marL="0">
                        <a:buNone/>
                      </a:pPr>
                      <a:r>
                        <a:rPr lang="en-US" sz="1100" dirty="0">
                          <a:solidFill>
                            <a:srgbClr val="1A1A1A"/>
                          </a:solidFill>
                          <a:latin typeface="Calibri" pitchFamily="34" charset="0"/>
                          <a:ea typeface="Calibri" pitchFamily="34" charset="-122"/>
                          <a:cs typeface="Calibri" pitchFamily="34" charset="-120"/>
                        </a:rPr>
                        <a:t>Retail / HNI</a:t>
                      </a:r>
                      <a:endParaRPr lang="en-US" sz="11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FFFFFF"/>
                    </a:solidFill>
                  </a:tcPr>
                </a:tc>
                <a:tc>
                  <a:txBody>
                    <a:bodyPr/>
                    <a:lstStyle/>
                    <a:p>
                      <a:pPr indent="0" marL="0">
                        <a:buNone/>
                      </a:pPr>
                      <a:r>
                        <a:rPr lang="en-US" sz="1100" dirty="0">
                          <a:solidFill>
                            <a:srgbClr val="1A1A1A"/>
                          </a:solidFill>
                          <a:latin typeface="Calibri" pitchFamily="34" charset="0"/>
                          <a:ea typeface="Calibri" pitchFamily="34" charset="-122"/>
                          <a:cs typeface="Calibri" pitchFamily="34" charset="-120"/>
                        </a:rPr>
                        <a:t>Equity, bonds, MF units</a:t>
                      </a:r>
                      <a:endParaRPr lang="en-US" sz="11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FFFFFF"/>
                    </a:solidFill>
                  </a:tcPr>
                </a:tc>
                <a:tc>
                  <a:txBody>
                    <a:bodyPr/>
                    <a:lstStyle/>
                    <a:p>
                      <a:pPr indent="0" marL="0">
                        <a:buNone/>
                      </a:pPr>
                      <a:r>
                        <a:rPr lang="en-US" sz="1100" dirty="0">
                          <a:solidFill>
                            <a:srgbClr val="1A1A1A"/>
                          </a:solidFill>
                          <a:latin typeface="Calibri" pitchFamily="34" charset="0"/>
                          <a:ea typeface="Calibri" pitchFamily="34" charset="-122"/>
                          <a:cs typeface="Calibri" pitchFamily="34" charset="-120"/>
                        </a:rPr>
                        <a:t>Individual NSE investors</a:t>
                      </a:r>
                      <a:endParaRPr lang="en-US" sz="11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FFFFFF"/>
                    </a:solidFill>
                  </a:tcPr>
                </a:tc>
              </a:tr>
              <a:tr h="548640">
                <a:tc>
                  <a:txBody>
                    <a:bodyPr/>
                    <a:lstStyle/>
                    <a:p>
                      <a:pPr indent="0" marL="0">
                        <a:buNone/>
                      </a:pPr>
                      <a:r>
                        <a:rPr lang="en-US" sz="1100" dirty="0">
                          <a:solidFill>
                            <a:srgbClr val="1A1A1A"/>
                          </a:solidFill>
                          <a:latin typeface="Calibri" pitchFamily="34" charset="0"/>
                          <a:ea typeface="Calibri" pitchFamily="34" charset="-122"/>
                          <a:cs typeface="Calibri" pitchFamily="34" charset="-120"/>
                        </a:rPr>
                        <a:t>INVESTORS</a:t>
                      </a:r>
                      <a:endParaRPr lang="en-US" sz="11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D5E3F0"/>
                    </a:solidFill>
                  </a:tcPr>
                </a:tc>
                <a:tc>
                  <a:txBody>
                    <a:bodyPr/>
                    <a:lstStyle/>
                    <a:p>
                      <a:pPr indent="0" marL="0">
                        <a:buNone/>
                      </a:pPr>
                      <a:r>
                        <a:rPr lang="en-US" sz="1100" dirty="0">
                          <a:solidFill>
                            <a:srgbClr val="1A1A1A"/>
                          </a:solidFill>
                          <a:latin typeface="Calibri" pitchFamily="34" charset="0"/>
                          <a:ea typeface="Calibri" pitchFamily="34" charset="-122"/>
                          <a:cs typeface="Calibri" pitchFamily="34" charset="-120"/>
                        </a:rPr>
                        <a:t>Domestic Institutional</a:t>
                      </a:r>
                      <a:endParaRPr lang="en-US" sz="11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D5E3F0"/>
                    </a:solidFill>
                  </a:tcPr>
                </a:tc>
                <a:tc>
                  <a:txBody>
                    <a:bodyPr/>
                    <a:lstStyle/>
                    <a:p>
                      <a:pPr indent="0" marL="0">
                        <a:buNone/>
                      </a:pPr>
                      <a:r>
                        <a:rPr lang="en-US" sz="1100" dirty="0">
                          <a:solidFill>
                            <a:srgbClr val="1A1A1A"/>
                          </a:solidFill>
                          <a:latin typeface="Calibri" pitchFamily="34" charset="0"/>
                          <a:ea typeface="Calibri" pitchFamily="34" charset="-122"/>
                          <a:cs typeface="Calibri" pitchFamily="34" charset="-120"/>
                        </a:rPr>
                        <a:t>All instruments + derivatives</a:t>
                      </a:r>
                      <a:endParaRPr lang="en-US" sz="11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D5E3F0"/>
                    </a:solidFill>
                  </a:tcPr>
                </a:tc>
                <a:tc>
                  <a:txBody>
                    <a:bodyPr/>
                    <a:lstStyle/>
                    <a:p>
                      <a:pPr indent="0" marL="0">
                        <a:buNone/>
                      </a:pPr>
                      <a:r>
                        <a:rPr lang="en-US" sz="1100" dirty="0">
                          <a:solidFill>
                            <a:srgbClr val="1A1A1A"/>
                          </a:solidFill>
                          <a:latin typeface="Calibri" pitchFamily="34" charset="0"/>
                          <a:ea typeface="Calibri" pitchFamily="34" charset="-122"/>
                          <a:cs typeface="Calibri" pitchFamily="34" charset="-120"/>
                        </a:rPr>
                        <a:t>LIC, HDFC MF, Kotak MF</a:t>
                      </a:r>
                      <a:endParaRPr lang="en-US" sz="11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D5E3F0"/>
                    </a:solidFill>
                  </a:tcPr>
                </a:tc>
              </a:tr>
              <a:tr h="548640">
                <a:tc>
                  <a:txBody>
                    <a:bodyPr/>
                    <a:lstStyle/>
                    <a:p>
                      <a:pPr indent="0" marL="0">
                        <a:buNone/>
                      </a:pPr>
                      <a:r>
                        <a:rPr lang="en-US" sz="1100" dirty="0">
                          <a:solidFill>
                            <a:srgbClr val="1A1A1A"/>
                          </a:solidFill>
                          <a:latin typeface="Calibri" pitchFamily="34" charset="0"/>
                          <a:ea typeface="Calibri" pitchFamily="34" charset="-122"/>
                          <a:cs typeface="Calibri" pitchFamily="34" charset="-120"/>
                        </a:rPr>
                        <a:t>INVESTORS</a:t>
                      </a:r>
                      <a:endParaRPr lang="en-US" sz="11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FFFFFF"/>
                    </a:solidFill>
                  </a:tcPr>
                </a:tc>
                <a:tc>
                  <a:txBody>
                    <a:bodyPr/>
                    <a:lstStyle/>
                    <a:p>
                      <a:pPr indent="0" marL="0">
                        <a:buNone/>
                      </a:pPr>
                      <a:r>
                        <a:rPr lang="en-US" sz="1100" dirty="0">
                          <a:solidFill>
                            <a:srgbClr val="1A1A1A"/>
                          </a:solidFill>
                          <a:latin typeface="Calibri" pitchFamily="34" charset="0"/>
                          <a:ea typeface="Calibri" pitchFamily="34" charset="-122"/>
                          <a:cs typeface="Calibri" pitchFamily="34" charset="-120"/>
                        </a:rPr>
                        <a:t>Foreign Portfolio Investors</a:t>
                      </a:r>
                      <a:endParaRPr lang="en-US" sz="11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FFFFFF"/>
                    </a:solidFill>
                  </a:tcPr>
                </a:tc>
                <a:tc>
                  <a:txBody>
                    <a:bodyPr/>
                    <a:lstStyle/>
                    <a:p>
                      <a:pPr indent="0" marL="0">
                        <a:buNone/>
                      </a:pPr>
                      <a:r>
                        <a:rPr lang="en-US" sz="1100" dirty="0">
                          <a:solidFill>
                            <a:srgbClr val="1A1A1A"/>
                          </a:solidFill>
                          <a:latin typeface="Calibri" pitchFamily="34" charset="0"/>
                          <a:ea typeface="Calibri" pitchFamily="34" charset="-122"/>
                          <a:cs typeface="Calibri" pitchFamily="34" charset="-120"/>
                        </a:rPr>
                        <a:t>Equities, bonds (within SEBI limits)</a:t>
                      </a:r>
                      <a:endParaRPr lang="en-US" sz="11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FFFFFF"/>
                    </a:solidFill>
                  </a:tcPr>
                </a:tc>
                <a:tc>
                  <a:txBody>
                    <a:bodyPr/>
                    <a:lstStyle/>
                    <a:p>
                      <a:pPr indent="0" marL="0">
                        <a:buNone/>
                      </a:pPr>
                      <a:r>
                        <a:rPr lang="en-US" sz="1100" dirty="0">
                          <a:solidFill>
                            <a:srgbClr val="1A1A1A"/>
                          </a:solidFill>
                          <a:latin typeface="Calibri" pitchFamily="34" charset="0"/>
                          <a:ea typeface="Calibri" pitchFamily="34" charset="-122"/>
                          <a:cs typeface="Calibri" pitchFamily="34" charset="-120"/>
                        </a:rPr>
                        <a:t>BlackRock, Vanguard, GIC Singapore</a:t>
                      </a:r>
                      <a:endParaRPr lang="en-US" sz="11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FFFFFF"/>
                    </a:solidFill>
                  </a:tcPr>
                </a:tc>
              </a:tr>
            </a:tbl>
          </a:graphicData>
        </a:graphic>
      </p:graphicFrame>
      <p:sp>
        <p:nvSpPr>
          <p:cNvPr id="11" name="Text 8"/>
          <p:cNvSpPr/>
          <p:nvPr/>
        </p:nvSpPr>
        <p:spPr>
          <a:xfrm>
            <a:off x="274320" y="6126480"/>
            <a:ext cx="11612880" cy="365760"/>
          </a:xfrm>
          <a:prstGeom prst="rect">
            <a:avLst/>
          </a:prstGeom>
          <a:noFill/>
          <a:ln/>
        </p:spPr>
        <p:txBody>
          <a:bodyPr wrap="square" rtlCol="0" anchor="ctr"/>
          <a:lstStyle/>
          <a:p>
            <a:pPr indent="0" marL="0">
              <a:buNone/>
            </a:pPr>
            <a:r>
              <a:rPr lang="en-US" sz="1000" dirty="0">
                <a:solidFill>
                  <a:srgbClr val="005F5F"/>
                </a:solidFill>
                <a:latin typeface="Calibri" pitchFamily="34" charset="0"/>
                <a:ea typeface="Calibri" pitchFamily="34" charset="-122"/>
                <a:cs typeface="Calibri" pitchFamily="34" charset="-120"/>
              </a:rPr>
              <a:t>⚡  In a single day's operations, you may process transactions where LIC is both selling G-Secs (as investor unwinding a position) and your firm is settling an IPO allotment where LIC is the issuer.</a:t>
            </a:r>
            <a:endParaRPr lang="en-US" sz="1000" dirty="0"/>
          </a:p>
        </p:txBody>
      </p:sp>
      <p:sp>
        <p:nvSpPr>
          <p:cNvPr id="12" name="Text 9"/>
          <p:cNvSpPr/>
          <p:nvPr/>
        </p:nvSpPr>
        <p:spPr>
          <a:xfrm>
            <a:off x="0" y="6601968"/>
            <a:ext cx="12192000" cy="182880"/>
          </a:xfrm>
          <a:prstGeom prst="rect">
            <a:avLst/>
          </a:prstGeom>
          <a:noFill/>
          <a:ln/>
        </p:spPr>
        <p:txBody>
          <a:bodyPr wrap="square" rtlCol="0" anchor="ctr"/>
          <a:lstStyle/>
          <a:p>
            <a:pPr algn="ctr" indent="0" marL="0">
              <a:buNone/>
            </a:pPr>
            <a:r>
              <a:rPr lang="en-US" sz="800" dirty="0">
                <a:solidFill>
                  <a:srgbClr val="AAAAAA"/>
                </a:solidFill>
                <a:latin typeface="Calibri" pitchFamily="34" charset="0"/>
                <a:ea typeface="Calibri" pitchFamily="34" charset="-122"/>
                <a:cs typeface="Calibri" pitchFamily="34" charset="-120"/>
              </a:rPr>
              <a:t>CIBOP · Module 1 · D1.7</a:t>
            </a:r>
            <a:endParaRPr lang="en-US" sz="8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4F6FA"/>
          </a:solidFill>
          <a:ln/>
        </p:spPr>
      </p:sp>
      <p:sp>
        <p:nvSpPr>
          <p:cNvPr id="3" name="Shape 1"/>
          <p:cNvSpPr/>
          <p:nvPr/>
        </p:nvSpPr>
        <p:spPr>
          <a:xfrm>
            <a:off x="0" y="0"/>
            <a:ext cx="12192000" cy="73152"/>
          </a:xfrm>
          <a:prstGeom prst="rect">
            <a:avLst/>
          </a:prstGeom>
          <a:solidFill>
            <a:srgbClr val="1E3A5F"/>
          </a:solidFill>
          <a:ln/>
        </p:spPr>
      </p:sp>
      <p:sp>
        <p:nvSpPr>
          <p:cNvPr id="4" name="Shape 2"/>
          <p:cNvSpPr/>
          <p:nvPr/>
        </p:nvSpPr>
        <p:spPr>
          <a:xfrm>
            <a:off x="0" y="6784848"/>
            <a:ext cx="12192000" cy="73152"/>
          </a:xfrm>
          <a:prstGeom prst="rect">
            <a:avLst/>
          </a:prstGeom>
          <a:solidFill>
            <a:srgbClr val="B8860B"/>
          </a:solidFill>
          <a:ln/>
        </p:spPr>
      </p:sp>
      <p:sp>
        <p:nvSpPr>
          <p:cNvPr id="5" name="Shape 3"/>
          <p:cNvSpPr/>
          <p:nvPr/>
        </p:nvSpPr>
        <p:spPr>
          <a:xfrm>
            <a:off x="0" y="73152"/>
            <a:ext cx="1828800" cy="347472"/>
          </a:xfrm>
          <a:prstGeom prst="rect">
            <a:avLst/>
          </a:prstGeom>
          <a:solidFill>
            <a:srgbClr val="B8860B"/>
          </a:solidFill>
          <a:ln/>
        </p:spPr>
      </p:sp>
      <p:sp>
        <p:nvSpPr>
          <p:cNvPr id="6" name="Text 4"/>
          <p:cNvSpPr/>
          <p:nvPr/>
        </p:nvSpPr>
        <p:spPr>
          <a:xfrm>
            <a:off x="0" y="73152"/>
            <a:ext cx="1828800" cy="347472"/>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GOING DEEPER</a:t>
            </a:r>
            <a:endParaRPr lang="en-US" sz="1000" dirty="0"/>
          </a:p>
        </p:txBody>
      </p:sp>
      <p:sp>
        <p:nvSpPr>
          <p:cNvPr id="7" name="Shape 5"/>
          <p:cNvSpPr/>
          <p:nvPr/>
        </p:nvSpPr>
        <p:spPr>
          <a:xfrm>
            <a:off x="10360152" y="73152"/>
            <a:ext cx="1828800" cy="347472"/>
          </a:xfrm>
          <a:prstGeom prst="rect">
            <a:avLst/>
          </a:prstGeom>
          <a:solidFill>
            <a:srgbClr val="005F5F"/>
          </a:solidFill>
          <a:ln/>
        </p:spPr>
      </p:sp>
      <p:sp>
        <p:nvSpPr>
          <p:cNvPr id="8" name="Text 6"/>
          <p:cNvSpPr/>
          <p:nvPr/>
        </p:nvSpPr>
        <p:spPr>
          <a:xfrm>
            <a:off x="10360152" y="73152"/>
            <a:ext cx="1828800" cy="347472"/>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D1.7</a:t>
            </a:r>
            <a:endParaRPr lang="en-US" sz="1000" dirty="0"/>
          </a:p>
        </p:txBody>
      </p:sp>
      <p:sp>
        <p:nvSpPr>
          <p:cNvPr id="9" name="Text 7"/>
          <p:cNvSpPr/>
          <p:nvPr/>
        </p:nvSpPr>
        <p:spPr>
          <a:xfrm>
            <a:off x="274320" y="502920"/>
            <a:ext cx="11612880" cy="640080"/>
          </a:xfrm>
          <a:prstGeom prst="rect">
            <a:avLst/>
          </a:prstGeom>
          <a:noFill/>
          <a:ln/>
        </p:spPr>
        <p:txBody>
          <a:bodyPr wrap="square" rtlCol="0" anchor="ctr"/>
          <a:lstStyle/>
          <a:p>
            <a:pPr indent="0" marL="0">
              <a:buNone/>
            </a:pPr>
            <a:r>
              <a:rPr lang="en-US" sz="2200" b="1" dirty="0">
                <a:solidFill>
                  <a:srgbClr val="1E3A5F"/>
                </a:solidFill>
                <a:latin typeface="Calibri" pitchFamily="34" charset="0"/>
                <a:ea typeface="Calibri" pitchFamily="34" charset="-122"/>
                <a:cs typeface="Calibri" pitchFamily="34" charset="-120"/>
              </a:rPr>
              <a:t>Four Insights on Issuers and Investors</a:t>
            </a:r>
            <a:endParaRPr lang="en-US" sz="2200" dirty="0"/>
          </a:p>
        </p:txBody>
      </p:sp>
      <p:sp>
        <p:nvSpPr>
          <p:cNvPr id="10" name="Shape 8"/>
          <p:cNvSpPr/>
          <p:nvPr/>
        </p:nvSpPr>
        <p:spPr>
          <a:xfrm>
            <a:off x="274320" y="1280160"/>
            <a:ext cx="5669280" cy="2377440"/>
          </a:xfrm>
          <a:prstGeom prst="rect">
            <a:avLst/>
          </a:prstGeom>
          <a:solidFill>
            <a:srgbClr val="D5E3F0"/>
          </a:solidFill>
          <a:ln w="6350">
            <a:solidFill>
              <a:srgbClr val="AAAAAA"/>
            </a:solidFill>
            <a:prstDash val="solid"/>
          </a:ln>
        </p:spPr>
      </p:sp>
      <p:sp>
        <p:nvSpPr>
          <p:cNvPr id="11" name="Shape 9"/>
          <p:cNvSpPr/>
          <p:nvPr/>
        </p:nvSpPr>
        <p:spPr>
          <a:xfrm>
            <a:off x="365760" y="1371600"/>
            <a:ext cx="457200" cy="457200"/>
          </a:xfrm>
          <a:prstGeom prst="ellipse">
            <a:avLst/>
          </a:prstGeom>
          <a:solidFill>
            <a:srgbClr val="1E3A5F"/>
          </a:solidFill>
          <a:ln/>
        </p:spPr>
      </p:sp>
      <p:sp>
        <p:nvSpPr>
          <p:cNvPr id="12" name="Text 10"/>
          <p:cNvSpPr/>
          <p:nvPr/>
        </p:nvSpPr>
        <p:spPr>
          <a:xfrm>
            <a:off x="365760" y="1371600"/>
            <a:ext cx="457200" cy="45720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3" name="Text 11"/>
          <p:cNvSpPr/>
          <p:nvPr/>
        </p:nvSpPr>
        <p:spPr>
          <a:xfrm>
            <a:off x="914400" y="1371600"/>
            <a:ext cx="4892040" cy="457200"/>
          </a:xfrm>
          <a:prstGeom prst="rect">
            <a:avLst/>
          </a:prstGeom>
          <a:noFill/>
          <a:ln/>
        </p:spPr>
        <p:txBody>
          <a:bodyPr wrap="square" rtlCol="0" anchor="ctr"/>
          <a:lstStyle/>
          <a:p>
            <a:pPr indent="0" marL="0">
              <a:buNone/>
            </a:pPr>
            <a:r>
              <a:rPr lang="en-US" sz="1300" b="1" dirty="0">
                <a:solidFill>
                  <a:srgbClr val="1A1A1A"/>
                </a:solidFill>
                <a:latin typeface="Calibri" pitchFamily="34" charset="0"/>
                <a:ea typeface="Calibri" pitchFamily="34" charset="-122"/>
                <a:cs typeface="Calibri" pitchFamily="34" charset="-120"/>
              </a:rPr>
              <a:t>FPIs Are the Most Sensitive Indicator of Market Health</a:t>
            </a:r>
            <a:endParaRPr lang="en-US" sz="1300" dirty="0"/>
          </a:p>
        </p:txBody>
      </p:sp>
      <p:sp>
        <p:nvSpPr>
          <p:cNvPr id="14" name="Text 12"/>
          <p:cNvSpPr/>
          <p:nvPr/>
        </p:nvSpPr>
        <p:spPr>
          <a:xfrm>
            <a:off x="411480" y="1874520"/>
            <a:ext cx="5394960" cy="1645920"/>
          </a:xfrm>
          <a:prstGeom prst="rect">
            <a:avLst/>
          </a:prstGeom>
          <a:noFill/>
          <a:ln/>
        </p:spPr>
        <p:txBody>
          <a:bodyPr wrap="square" rtlCol="0" anchor="ctr"/>
          <a:lstStyle/>
          <a:p>
            <a:pPr indent="0" marL="0">
              <a:buNone/>
            </a:pPr>
            <a:r>
              <a:rPr lang="en-US" sz="1100" dirty="0">
                <a:solidFill>
                  <a:srgbClr val="1A1A1A"/>
                </a:solidFill>
                <a:latin typeface="Calibri" pitchFamily="34" charset="0"/>
                <a:ea typeface="Calibri" pitchFamily="34" charset="-122"/>
                <a:cs typeface="Calibri" pitchFamily="34" charset="-120"/>
              </a:rPr>
              <a:t>Foreign Portfolio Investors can enter and exit Indian markets quickly. Large FPI outflows (as seen in 2022 when the rupee fell sharply) signal both market stress and potential settlement pressure. Operations teams must handle FPI settlement with custodians under strict timelines.</a:t>
            </a:r>
            <a:endParaRPr lang="en-US" sz="1100" dirty="0"/>
          </a:p>
        </p:txBody>
      </p:sp>
      <p:sp>
        <p:nvSpPr>
          <p:cNvPr id="15" name="Shape 13"/>
          <p:cNvSpPr/>
          <p:nvPr/>
        </p:nvSpPr>
        <p:spPr>
          <a:xfrm>
            <a:off x="6126480" y="1280160"/>
            <a:ext cx="5669280" cy="2377440"/>
          </a:xfrm>
          <a:prstGeom prst="rect">
            <a:avLst/>
          </a:prstGeom>
          <a:solidFill>
            <a:srgbClr val="D4EFEF"/>
          </a:solidFill>
          <a:ln w="6350">
            <a:solidFill>
              <a:srgbClr val="AAAAAA"/>
            </a:solidFill>
            <a:prstDash val="solid"/>
          </a:ln>
        </p:spPr>
      </p:sp>
      <p:sp>
        <p:nvSpPr>
          <p:cNvPr id="16" name="Shape 14"/>
          <p:cNvSpPr/>
          <p:nvPr/>
        </p:nvSpPr>
        <p:spPr>
          <a:xfrm>
            <a:off x="6217920" y="1371600"/>
            <a:ext cx="457200" cy="457200"/>
          </a:xfrm>
          <a:prstGeom prst="ellipse">
            <a:avLst/>
          </a:prstGeom>
          <a:solidFill>
            <a:srgbClr val="005F5F"/>
          </a:solidFill>
          <a:ln/>
        </p:spPr>
      </p:sp>
      <p:sp>
        <p:nvSpPr>
          <p:cNvPr id="17" name="Text 15"/>
          <p:cNvSpPr/>
          <p:nvPr/>
        </p:nvSpPr>
        <p:spPr>
          <a:xfrm>
            <a:off x="6217920" y="1371600"/>
            <a:ext cx="457200" cy="45720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8" name="Text 16"/>
          <p:cNvSpPr/>
          <p:nvPr/>
        </p:nvSpPr>
        <p:spPr>
          <a:xfrm>
            <a:off x="6766560" y="1371600"/>
            <a:ext cx="4892040" cy="457200"/>
          </a:xfrm>
          <a:prstGeom prst="rect">
            <a:avLst/>
          </a:prstGeom>
          <a:noFill/>
          <a:ln/>
        </p:spPr>
        <p:txBody>
          <a:bodyPr wrap="square" rtlCol="0" anchor="ctr"/>
          <a:lstStyle/>
          <a:p>
            <a:pPr indent="0" marL="0">
              <a:buNone/>
            </a:pPr>
            <a:r>
              <a:rPr lang="en-US" sz="1300" b="1" dirty="0">
                <a:solidFill>
                  <a:srgbClr val="1A1A1A"/>
                </a:solidFill>
                <a:latin typeface="Calibri" pitchFamily="34" charset="0"/>
                <a:ea typeface="Calibri" pitchFamily="34" charset="-122"/>
                <a:cs typeface="Calibri" pitchFamily="34" charset="-120"/>
              </a:rPr>
              <a:t>Institutional Investors Have Different Settlement Mechanics</a:t>
            </a:r>
            <a:endParaRPr lang="en-US" sz="1300" dirty="0"/>
          </a:p>
        </p:txBody>
      </p:sp>
      <p:sp>
        <p:nvSpPr>
          <p:cNvPr id="19" name="Text 17"/>
          <p:cNvSpPr/>
          <p:nvPr/>
        </p:nvSpPr>
        <p:spPr>
          <a:xfrm>
            <a:off x="6263640" y="1874520"/>
            <a:ext cx="5394960" cy="1645920"/>
          </a:xfrm>
          <a:prstGeom prst="rect">
            <a:avLst/>
          </a:prstGeom>
          <a:noFill/>
          <a:ln/>
        </p:spPr>
        <p:txBody>
          <a:bodyPr wrap="square" rtlCol="0" anchor="ctr"/>
          <a:lstStyle/>
          <a:p>
            <a:pPr indent="0" marL="0">
              <a:buNone/>
            </a:pPr>
            <a:r>
              <a:rPr lang="en-US" sz="1100" dirty="0">
                <a:solidFill>
                  <a:srgbClr val="1A1A1A"/>
                </a:solidFill>
                <a:latin typeface="Calibri" pitchFamily="34" charset="0"/>
                <a:ea typeface="Calibri" pitchFamily="34" charset="-122"/>
                <a:cs typeface="Calibri" pitchFamily="34" charset="-120"/>
              </a:rPr>
              <a:t>When LIC buys ₹500 crore of G-Secs, the settlement does not go through a retail demat account. It routes through their custodian bank to CCIL. Operations must know counterparty type to route settlement instructions correctly.</a:t>
            </a:r>
            <a:endParaRPr lang="en-US" sz="1100" dirty="0"/>
          </a:p>
        </p:txBody>
      </p:sp>
      <p:sp>
        <p:nvSpPr>
          <p:cNvPr id="20" name="Shape 18"/>
          <p:cNvSpPr/>
          <p:nvPr/>
        </p:nvSpPr>
        <p:spPr>
          <a:xfrm>
            <a:off x="274320" y="3840480"/>
            <a:ext cx="5669280" cy="2377440"/>
          </a:xfrm>
          <a:prstGeom prst="rect">
            <a:avLst/>
          </a:prstGeom>
          <a:solidFill>
            <a:srgbClr val="FEF9E7"/>
          </a:solidFill>
          <a:ln w="6350">
            <a:solidFill>
              <a:srgbClr val="AAAAAA"/>
            </a:solidFill>
            <a:prstDash val="solid"/>
          </a:ln>
        </p:spPr>
      </p:sp>
      <p:sp>
        <p:nvSpPr>
          <p:cNvPr id="21" name="Shape 19"/>
          <p:cNvSpPr/>
          <p:nvPr/>
        </p:nvSpPr>
        <p:spPr>
          <a:xfrm>
            <a:off x="365760" y="3931920"/>
            <a:ext cx="457200" cy="457200"/>
          </a:xfrm>
          <a:prstGeom prst="ellipse">
            <a:avLst/>
          </a:prstGeom>
          <a:solidFill>
            <a:srgbClr val="B8860B"/>
          </a:solidFill>
          <a:ln/>
        </p:spPr>
      </p:sp>
      <p:sp>
        <p:nvSpPr>
          <p:cNvPr id="22" name="Text 20"/>
          <p:cNvSpPr/>
          <p:nvPr/>
        </p:nvSpPr>
        <p:spPr>
          <a:xfrm>
            <a:off x="365760" y="3931920"/>
            <a:ext cx="457200" cy="45720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23" name="Text 21"/>
          <p:cNvSpPr/>
          <p:nvPr/>
        </p:nvSpPr>
        <p:spPr>
          <a:xfrm>
            <a:off x="914400" y="3931920"/>
            <a:ext cx="4892040" cy="457200"/>
          </a:xfrm>
          <a:prstGeom prst="rect">
            <a:avLst/>
          </a:prstGeom>
          <a:noFill/>
          <a:ln/>
        </p:spPr>
        <p:txBody>
          <a:bodyPr wrap="square" rtlCol="0" anchor="ctr"/>
          <a:lstStyle/>
          <a:p>
            <a:pPr indent="0" marL="0">
              <a:buNone/>
            </a:pPr>
            <a:r>
              <a:rPr lang="en-US" sz="1300" b="1" dirty="0">
                <a:solidFill>
                  <a:srgbClr val="1A1A1A"/>
                </a:solidFill>
                <a:latin typeface="Calibri" pitchFamily="34" charset="0"/>
                <a:ea typeface="Calibri" pitchFamily="34" charset="-122"/>
                <a:cs typeface="Calibri" pitchFamily="34" charset="-120"/>
              </a:rPr>
              <a:t>The Government Is the Lowest-Risk Issuer (By Convention)</a:t>
            </a:r>
            <a:endParaRPr lang="en-US" sz="1300" dirty="0"/>
          </a:p>
        </p:txBody>
      </p:sp>
      <p:sp>
        <p:nvSpPr>
          <p:cNvPr id="24" name="Text 22"/>
          <p:cNvSpPr/>
          <p:nvPr/>
        </p:nvSpPr>
        <p:spPr>
          <a:xfrm>
            <a:off x="411480" y="4434840"/>
            <a:ext cx="5394960" cy="1645920"/>
          </a:xfrm>
          <a:prstGeom prst="rect">
            <a:avLst/>
          </a:prstGeom>
          <a:noFill/>
          <a:ln/>
        </p:spPr>
        <p:txBody>
          <a:bodyPr wrap="square" rtlCol="0" anchor="ctr"/>
          <a:lstStyle/>
          <a:p>
            <a:pPr indent="0" marL="0">
              <a:buNone/>
            </a:pPr>
            <a:r>
              <a:rPr lang="en-US" sz="1100" dirty="0">
                <a:solidFill>
                  <a:srgbClr val="1A1A1A"/>
                </a:solidFill>
                <a:latin typeface="Calibri" pitchFamily="34" charset="0"/>
                <a:ea typeface="Calibri" pitchFamily="34" charset="-122"/>
                <a:cs typeface="Calibri" pitchFamily="34" charset="-120"/>
              </a:rPr>
              <a:t>Government bonds are called "risk-free" in India — meaning RBI guarantees repayment. Every other credit instrument is priced as "G-Sec yield + credit spread." This is why G-Sec yield is the foundation of all Indian fixed income pricing.</a:t>
            </a:r>
            <a:endParaRPr lang="en-US" sz="1100" dirty="0"/>
          </a:p>
        </p:txBody>
      </p:sp>
      <p:sp>
        <p:nvSpPr>
          <p:cNvPr id="25" name="Shape 23"/>
          <p:cNvSpPr/>
          <p:nvPr/>
        </p:nvSpPr>
        <p:spPr>
          <a:xfrm>
            <a:off x="6126480" y="3840480"/>
            <a:ext cx="5669280" cy="2377440"/>
          </a:xfrm>
          <a:prstGeom prst="rect">
            <a:avLst/>
          </a:prstGeom>
          <a:solidFill>
            <a:srgbClr val="D5E3F0"/>
          </a:solidFill>
          <a:ln w="6350">
            <a:solidFill>
              <a:srgbClr val="AAAAAA"/>
            </a:solidFill>
            <a:prstDash val="solid"/>
          </a:ln>
        </p:spPr>
      </p:sp>
      <p:sp>
        <p:nvSpPr>
          <p:cNvPr id="26" name="Shape 24"/>
          <p:cNvSpPr/>
          <p:nvPr/>
        </p:nvSpPr>
        <p:spPr>
          <a:xfrm>
            <a:off x="6217920" y="3931920"/>
            <a:ext cx="457200" cy="457200"/>
          </a:xfrm>
          <a:prstGeom prst="ellipse">
            <a:avLst/>
          </a:prstGeom>
          <a:solidFill>
            <a:srgbClr val="1E3A5F"/>
          </a:solidFill>
          <a:ln/>
        </p:spPr>
      </p:sp>
      <p:sp>
        <p:nvSpPr>
          <p:cNvPr id="27" name="Text 25"/>
          <p:cNvSpPr/>
          <p:nvPr/>
        </p:nvSpPr>
        <p:spPr>
          <a:xfrm>
            <a:off x="6217920" y="3931920"/>
            <a:ext cx="457200" cy="45720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28" name="Text 26"/>
          <p:cNvSpPr/>
          <p:nvPr/>
        </p:nvSpPr>
        <p:spPr>
          <a:xfrm>
            <a:off x="6766560" y="3931920"/>
            <a:ext cx="4892040" cy="457200"/>
          </a:xfrm>
          <a:prstGeom prst="rect">
            <a:avLst/>
          </a:prstGeom>
          <a:noFill/>
          <a:ln/>
        </p:spPr>
        <p:txBody>
          <a:bodyPr wrap="square" rtlCol="0" anchor="ctr"/>
          <a:lstStyle/>
          <a:p>
            <a:pPr indent="0" marL="0">
              <a:buNone/>
            </a:pPr>
            <a:r>
              <a:rPr lang="en-US" sz="1300" b="1" dirty="0">
                <a:solidFill>
                  <a:srgbClr val="1A1A1A"/>
                </a:solidFill>
                <a:latin typeface="Calibri" pitchFamily="34" charset="0"/>
                <a:ea typeface="Calibri" pitchFamily="34" charset="-122"/>
                <a:cs typeface="Calibri" pitchFamily="34" charset="-120"/>
              </a:rPr>
              <a:t>Retail Investors Are the Beneficiaries of Market Infrastructure</a:t>
            </a:r>
            <a:endParaRPr lang="en-US" sz="1300" dirty="0"/>
          </a:p>
        </p:txBody>
      </p:sp>
      <p:sp>
        <p:nvSpPr>
          <p:cNvPr id="29" name="Text 27"/>
          <p:cNvSpPr/>
          <p:nvPr/>
        </p:nvSpPr>
        <p:spPr>
          <a:xfrm>
            <a:off x="6263640" y="4434840"/>
            <a:ext cx="5394960" cy="1645920"/>
          </a:xfrm>
          <a:prstGeom prst="rect">
            <a:avLst/>
          </a:prstGeom>
          <a:noFill/>
          <a:ln/>
        </p:spPr>
        <p:txBody>
          <a:bodyPr wrap="square" rtlCol="0" anchor="ctr"/>
          <a:lstStyle/>
          <a:p>
            <a:pPr indent="0" marL="0">
              <a:buNone/>
            </a:pPr>
            <a:r>
              <a:rPr lang="en-US" sz="1100" dirty="0">
                <a:solidFill>
                  <a:srgbClr val="1A1A1A"/>
                </a:solidFill>
                <a:latin typeface="Calibri" pitchFamily="34" charset="0"/>
                <a:ea typeface="Calibri" pitchFamily="34" charset="-122"/>
                <a:cs typeface="Calibri" pitchFamily="34" charset="-120"/>
              </a:rPr>
              <a:t>The entire market infrastructure — SEBI regulations, exchange listing requirements, depository safekeeping — exists primarily to protect retail investors who lack the scale to negotiate bilateral protections. Every operations control serves their interests.</a:t>
            </a:r>
            <a:endParaRPr lang="en-US" sz="1100" dirty="0"/>
          </a:p>
        </p:txBody>
      </p:sp>
      <p:sp>
        <p:nvSpPr>
          <p:cNvPr id="30" name="Text 28"/>
          <p:cNvSpPr/>
          <p:nvPr/>
        </p:nvSpPr>
        <p:spPr>
          <a:xfrm>
            <a:off x="0" y="6601968"/>
            <a:ext cx="12192000" cy="182880"/>
          </a:xfrm>
          <a:prstGeom prst="rect">
            <a:avLst/>
          </a:prstGeom>
          <a:noFill/>
          <a:ln/>
        </p:spPr>
        <p:txBody>
          <a:bodyPr wrap="square" rtlCol="0" anchor="ctr"/>
          <a:lstStyle/>
          <a:p>
            <a:pPr algn="ctr" indent="0" marL="0">
              <a:buNone/>
            </a:pPr>
            <a:r>
              <a:rPr lang="en-US" sz="800" dirty="0">
                <a:solidFill>
                  <a:srgbClr val="AAAAAA"/>
                </a:solidFill>
                <a:latin typeface="Calibri" pitchFamily="34" charset="0"/>
                <a:ea typeface="Calibri" pitchFamily="34" charset="-122"/>
                <a:cs typeface="Calibri" pitchFamily="34" charset="-120"/>
              </a:rPr>
              <a:t>CIBOP · Module 1 · D1.7</a:t>
            </a:r>
            <a:endParaRPr lang="en-US" sz="8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005F5F"/>
          </a:solidFill>
          <a:ln/>
        </p:spPr>
      </p:sp>
      <p:sp>
        <p:nvSpPr>
          <p:cNvPr id="3" name="Shape 1"/>
          <p:cNvSpPr/>
          <p:nvPr/>
        </p:nvSpPr>
        <p:spPr>
          <a:xfrm>
            <a:off x="0" y="0"/>
            <a:ext cx="12192000" cy="73152"/>
          </a:xfrm>
          <a:prstGeom prst="rect">
            <a:avLst/>
          </a:prstGeom>
          <a:solidFill>
            <a:srgbClr val="B8860B"/>
          </a:solidFill>
          <a:ln/>
        </p:spPr>
      </p:sp>
      <p:sp>
        <p:nvSpPr>
          <p:cNvPr id="4" name="Shape 2"/>
          <p:cNvSpPr/>
          <p:nvPr/>
        </p:nvSpPr>
        <p:spPr>
          <a:xfrm>
            <a:off x="0" y="6784848"/>
            <a:ext cx="12192000" cy="73152"/>
          </a:xfrm>
          <a:prstGeom prst="rect">
            <a:avLst/>
          </a:prstGeom>
          <a:solidFill>
            <a:srgbClr val="B8860B"/>
          </a:solidFill>
          <a:ln/>
        </p:spPr>
      </p:sp>
      <p:sp>
        <p:nvSpPr>
          <p:cNvPr id="5" name="Shape 3"/>
          <p:cNvSpPr/>
          <p:nvPr/>
        </p:nvSpPr>
        <p:spPr>
          <a:xfrm>
            <a:off x="0" y="73152"/>
            <a:ext cx="1828800" cy="347472"/>
          </a:xfrm>
          <a:prstGeom prst="rect">
            <a:avLst/>
          </a:prstGeom>
          <a:solidFill>
            <a:srgbClr val="B8860B"/>
          </a:solidFill>
          <a:ln/>
        </p:spPr>
      </p:sp>
      <p:sp>
        <p:nvSpPr>
          <p:cNvPr id="6" name="Text 4"/>
          <p:cNvSpPr/>
          <p:nvPr/>
        </p:nvSpPr>
        <p:spPr>
          <a:xfrm>
            <a:off x="0" y="73152"/>
            <a:ext cx="1828800" cy="347472"/>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THINK &amp; DISCUSS</a:t>
            </a:r>
            <a:endParaRPr lang="en-US" sz="1000" dirty="0"/>
          </a:p>
        </p:txBody>
      </p:sp>
      <p:sp>
        <p:nvSpPr>
          <p:cNvPr id="7" name="Shape 5"/>
          <p:cNvSpPr/>
          <p:nvPr/>
        </p:nvSpPr>
        <p:spPr>
          <a:xfrm>
            <a:off x="10360152" y="73152"/>
            <a:ext cx="1828800" cy="347472"/>
          </a:xfrm>
          <a:prstGeom prst="rect">
            <a:avLst/>
          </a:prstGeom>
          <a:solidFill>
            <a:srgbClr val="005F5F"/>
          </a:solidFill>
          <a:ln/>
        </p:spPr>
      </p:sp>
      <p:sp>
        <p:nvSpPr>
          <p:cNvPr id="8" name="Text 6"/>
          <p:cNvSpPr/>
          <p:nvPr/>
        </p:nvSpPr>
        <p:spPr>
          <a:xfrm>
            <a:off x="10360152" y="73152"/>
            <a:ext cx="1828800" cy="347472"/>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D1.7</a:t>
            </a:r>
            <a:endParaRPr lang="en-US" sz="1000" dirty="0"/>
          </a:p>
        </p:txBody>
      </p:sp>
      <p:sp>
        <p:nvSpPr>
          <p:cNvPr id="9" name="Shape 7"/>
          <p:cNvSpPr/>
          <p:nvPr/>
        </p:nvSpPr>
        <p:spPr>
          <a:xfrm>
            <a:off x="365760" y="914400"/>
            <a:ext cx="11155680" cy="3840480"/>
          </a:xfrm>
          <a:prstGeom prst="rect">
            <a:avLst/>
          </a:prstGeom>
          <a:solidFill>
            <a:srgbClr val="004444"/>
          </a:solidFill>
          <a:ln w="12700">
            <a:solidFill>
              <a:srgbClr val="B8860B"/>
            </a:solidFill>
            <a:prstDash val="solid"/>
          </a:ln>
        </p:spPr>
      </p:sp>
      <p:sp>
        <p:nvSpPr>
          <p:cNvPr id="10" name="Text 8"/>
          <p:cNvSpPr/>
          <p:nvPr/>
        </p:nvSpPr>
        <p:spPr>
          <a:xfrm>
            <a:off x="9144000" y="548640"/>
            <a:ext cx="2926080" cy="457200"/>
          </a:xfrm>
          <a:prstGeom prst="rect">
            <a:avLst/>
          </a:prstGeom>
          <a:noFill/>
          <a:ln/>
        </p:spPr>
        <p:txBody>
          <a:bodyPr wrap="square" rtlCol="0" anchor="ctr"/>
          <a:lstStyle/>
          <a:p>
            <a:pPr algn="r" indent="0" marL="0">
              <a:buNone/>
            </a:pPr>
            <a:r>
              <a:rPr lang="en-US" sz="1400" b="1" dirty="0">
                <a:solidFill>
                  <a:srgbClr val="B8860B"/>
                </a:solidFill>
                <a:latin typeface="Calibri" pitchFamily="34" charset="0"/>
                <a:ea typeface="Calibri" pitchFamily="34" charset="-122"/>
                <a:cs typeface="Calibri" pitchFamily="34" charset="-120"/>
              </a:rPr>
              <a:t>🕐  2 MINUTES</a:t>
            </a:r>
            <a:endParaRPr lang="en-US" sz="1400" dirty="0"/>
          </a:p>
        </p:txBody>
      </p:sp>
      <p:sp>
        <p:nvSpPr>
          <p:cNvPr id="11" name="Text 9"/>
          <p:cNvSpPr/>
          <p:nvPr/>
        </p:nvSpPr>
        <p:spPr>
          <a:xfrm>
            <a:off x="640080" y="1188720"/>
            <a:ext cx="10607040" cy="3108960"/>
          </a:xfrm>
          <a:prstGeom prst="rect">
            <a:avLst/>
          </a:prstGeom>
          <a:noFill/>
          <a:ln/>
        </p:spPr>
        <p:txBody>
          <a:bodyPr wrap="square"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 foreign hedge fund (FPI) owns 8% of a mid-cap Indian IT company and decides to sell the entire position in one day. Walk through the implications for: (1) the share price, (2) the settlement system, (3) the depository, and (4) the regulator."</a:t>
            </a:r>
            <a:endParaRPr lang="en-US" sz="2000" dirty="0"/>
          </a:p>
        </p:txBody>
      </p:sp>
      <p:sp>
        <p:nvSpPr>
          <p:cNvPr id="12" name="Shape 10"/>
          <p:cNvSpPr/>
          <p:nvPr/>
        </p:nvSpPr>
        <p:spPr>
          <a:xfrm>
            <a:off x="0" y="5029200"/>
            <a:ext cx="12192000" cy="914400"/>
          </a:xfrm>
          <a:prstGeom prst="rect">
            <a:avLst/>
          </a:prstGeom>
          <a:solidFill>
            <a:srgbClr val="003333"/>
          </a:solidFill>
          <a:ln/>
        </p:spPr>
      </p:sp>
      <p:sp>
        <p:nvSpPr>
          <p:cNvPr id="13" name="Text 11"/>
          <p:cNvSpPr/>
          <p:nvPr/>
        </p:nvSpPr>
        <p:spPr>
          <a:xfrm>
            <a:off x="365760" y="5029200"/>
            <a:ext cx="11430000" cy="914400"/>
          </a:xfrm>
          <a:prstGeom prst="rect">
            <a:avLst/>
          </a:prstGeom>
          <a:noFill/>
          <a:ln/>
        </p:spPr>
        <p:txBody>
          <a:bodyPr wrap="square" rtlCol="0" anchor="ctr"/>
          <a:lstStyle/>
          <a:p>
            <a:pPr indent="0" marL="0">
              <a:buNone/>
            </a:pPr>
            <a:r>
              <a:rPr lang="en-US" sz="1400" dirty="0">
                <a:solidFill>
                  <a:srgbClr val="CADCFC"/>
                </a:solidFill>
                <a:latin typeface="Calibri" pitchFamily="34" charset="0"/>
                <a:ea typeface="Calibri" pitchFamily="34" charset="-122"/>
                <a:cs typeface="Calibri" pitchFamily="34" charset="-120"/>
              </a:rPr>
              <a:t>💡  Hint: Think about market impact, block deal windows, custodian settlement obligations, NSDL demat debit, and SEBI reporting requirements for bulk deals.</a:t>
            </a:r>
            <a:endParaRPr lang="en-US" sz="1400" dirty="0"/>
          </a:p>
        </p:txBody>
      </p:sp>
      <p:sp>
        <p:nvSpPr>
          <p:cNvPr id="14" name="Text 12"/>
          <p:cNvSpPr/>
          <p:nvPr/>
        </p:nvSpPr>
        <p:spPr>
          <a:xfrm>
            <a:off x="0" y="6601968"/>
            <a:ext cx="12192000" cy="182880"/>
          </a:xfrm>
          <a:prstGeom prst="rect">
            <a:avLst/>
          </a:prstGeom>
          <a:noFill/>
          <a:ln/>
        </p:spPr>
        <p:txBody>
          <a:bodyPr wrap="square" rtlCol="0" anchor="ctr"/>
          <a:lstStyle/>
          <a:p>
            <a:pPr algn="ctr" indent="0" marL="0">
              <a:buNone/>
            </a:pPr>
            <a:r>
              <a:rPr lang="en-US" sz="800" dirty="0">
                <a:solidFill>
                  <a:srgbClr val="AAAAAA"/>
                </a:solidFill>
                <a:latin typeface="Calibri" pitchFamily="34" charset="0"/>
                <a:ea typeface="Calibri" pitchFamily="34" charset="-122"/>
                <a:cs typeface="Calibri" pitchFamily="34" charset="-120"/>
              </a:rPr>
              <a:t>CIBOP · Module 1 · D1.7</a:t>
            </a:r>
            <a:endParaRPr lang="en-US" sz="8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4F6FA"/>
          </a:solidFill>
          <a:ln/>
        </p:spPr>
      </p:sp>
      <p:sp>
        <p:nvSpPr>
          <p:cNvPr id="3" name="Shape 1"/>
          <p:cNvSpPr/>
          <p:nvPr/>
        </p:nvSpPr>
        <p:spPr>
          <a:xfrm>
            <a:off x="0" y="0"/>
            <a:ext cx="12192000" cy="73152"/>
          </a:xfrm>
          <a:prstGeom prst="rect">
            <a:avLst/>
          </a:prstGeom>
          <a:solidFill>
            <a:srgbClr val="B8860B"/>
          </a:solidFill>
          <a:ln/>
        </p:spPr>
      </p:sp>
      <p:sp>
        <p:nvSpPr>
          <p:cNvPr id="4" name="Shape 2"/>
          <p:cNvSpPr/>
          <p:nvPr/>
        </p:nvSpPr>
        <p:spPr>
          <a:xfrm>
            <a:off x="0" y="6784848"/>
            <a:ext cx="12192000" cy="73152"/>
          </a:xfrm>
          <a:prstGeom prst="rect">
            <a:avLst/>
          </a:prstGeom>
          <a:solidFill>
            <a:srgbClr val="1E3A5F"/>
          </a:solidFill>
          <a:ln/>
        </p:spPr>
      </p:sp>
      <p:sp>
        <p:nvSpPr>
          <p:cNvPr id="5" name="Shape 3"/>
          <p:cNvSpPr/>
          <p:nvPr/>
        </p:nvSpPr>
        <p:spPr>
          <a:xfrm>
            <a:off x="0" y="73152"/>
            <a:ext cx="1828800" cy="347472"/>
          </a:xfrm>
          <a:prstGeom prst="rect">
            <a:avLst/>
          </a:prstGeom>
          <a:solidFill>
            <a:srgbClr val="B8860B"/>
          </a:solidFill>
          <a:ln/>
        </p:spPr>
      </p:sp>
      <p:sp>
        <p:nvSpPr>
          <p:cNvPr id="6" name="Text 4"/>
          <p:cNvSpPr/>
          <p:nvPr/>
        </p:nvSpPr>
        <p:spPr>
          <a:xfrm>
            <a:off x="0" y="73152"/>
            <a:ext cx="1828800" cy="347472"/>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INTERVIEW READY</a:t>
            </a:r>
            <a:endParaRPr lang="en-US" sz="1000" dirty="0"/>
          </a:p>
        </p:txBody>
      </p:sp>
      <p:sp>
        <p:nvSpPr>
          <p:cNvPr id="7" name="Shape 5"/>
          <p:cNvSpPr/>
          <p:nvPr/>
        </p:nvSpPr>
        <p:spPr>
          <a:xfrm>
            <a:off x="10360152" y="73152"/>
            <a:ext cx="1828800" cy="347472"/>
          </a:xfrm>
          <a:prstGeom prst="rect">
            <a:avLst/>
          </a:prstGeom>
          <a:solidFill>
            <a:srgbClr val="005F5F"/>
          </a:solidFill>
          <a:ln/>
        </p:spPr>
      </p:sp>
      <p:sp>
        <p:nvSpPr>
          <p:cNvPr id="8" name="Text 6"/>
          <p:cNvSpPr/>
          <p:nvPr/>
        </p:nvSpPr>
        <p:spPr>
          <a:xfrm>
            <a:off x="10360152" y="73152"/>
            <a:ext cx="1828800" cy="347472"/>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D1.7</a:t>
            </a:r>
            <a:endParaRPr lang="en-US" sz="1000" dirty="0"/>
          </a:p>
        </p:txBody>
      </p:sp>
      <p:sp>
        <p:nvSpPr>
          <p:cNvPr id="9" name="Shape 7"/>
          <p:cNvSpPr/>
          <p:nvPr/>
        </p:nvSpPr>
        <p:spPr>
          <a:xfrm>
            <a:off x="0" y="420624"/>
            <a:ext cx="12192000" cy="1371600"/>
          </a:xfrm>
          <a:prstGeom prst="rect">
            <a:avLst/>
          </a:prstGeom>
          <a:solidFill>
            <a:srgbClr val="1E3A5F"/>
          </a:solidFill>
          <a:ln/>
        </p:spPr>
      </p:sp>
      <p:sp>
        <p:nvSpPr>
          <p:cNvPr id="10" name="Text 8"/>
          <p:cNvSpPr/>
          <p:nvPr/>
        </p:nvSpPr>
        <p:spPr>
          <a:xfrm>
            <a:off x="365760" y="502920"/>
            <a:ext cx="11430000" cy="365760"/>
          </a:xfrm>
          <a:prstGeom prst="rect">
            <a:avLst/>
          </a:prstGeom>
          <a:noFill/>
          <a:ln/>
        </p:spPr>
        <p:txBody>
          <a:bodyPr wrap="square" rtlCol="0" anchor="ctr"/>
          <a:lstStyle/>
          <a:p>
            <a:pPr indent="0" marL="0">
              <a:buNone/>
            </a:pPr>
            <a:r>
              <a:rPr lang="en-US" sz="1200" b="1" dirty="0">
                <a:solidFill>
                  <a:srgbClr val="B8860B"/>
                </a:solidFill>
                <a:latin typeface="Calibri" pitchFamily="34" charset="0"/>
                <a:ea typeface="Calibri" pitchFamily="34" charset="-122"/>
                <a:cs typeface="Calibri" pitchFamily="34" charset="-120"/>
              </a:rPr>
              <a:t>💼  Interview Question:</a:t>
            </a:r>
            <a:endParaRPr lang="en-US" sz="1200" dirty="0"/>
          </a:p>
        </p:txBody>
      </p:sp>
      <p:sp>
        <p:nvSpPr>
          <p:cNvPr id="11" name="Text 9"/>
          <p:cNvSpPr/>
          <p:nvPr/>
        </p:nvSpPr>
        <p:spPr>
          <a:xfrm>
            <a:off x="365760" y="914400"/>
            <a:ext cx="11430000" cy="822960"/>
          </a:xfrm>
          <a:prstGeom prst="rect">
            <a:avLst/>
          </a:prstGeom>
          <a:noFill/>
          <a:ln/>
        </p:spPr>
        <p:txBody>
          <a:bodyPr wrap="square"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"Who are the main issuers and investors in Indian financial markets?"</a:t>
            </a:r>
            <a:endParaRPr lang="en-US" sz="1700" dirty="0"/>
          </a:p>
        </p:txBody>
      </p:sp>
      <p:sp>
        <p:nvSpPr>
          <p:cNvPr id="12" name="Text 10"/>
          <p:cNvSpPr/>
          <p:nvPr/>
        </p:nvSpPr>
        <p:spPr>
          <a:xfrm>
            <a:off x="365760" y="1965960"/>
            <a:ext cx="11430000" cy="365760"/>
          </a:xfrm>
          <a:prstGeom prst="rect">
            <a:avLst/>
          </a:prstGeom>
          <a:noFill/>
          <a:ln/>
        </p:spPr>
        <p:txBody>
          <a:bodyPr wrap="square" rtlCol="0" anchor="ctr"/>
          <a:lstStyle/>
          <a:p>
            <a:pPr indent="0" marL="0">
              <a:buNone/>
            </a:pPr>
            <a:r>
              <a:rPr lang="en-US" sz="1200" b="1" dirty="0">
                <a:solidFill>
                  <a:srgbClr val="005F5F"/>
                </a:solidFill>
                <a:latin typeface="Calibri" pitchFamily="34" charset="0"/>
                <a:ea typeface="Calibri" pitchFamily="34" charset="-122"/>
                <a:cs typeface="Calibri" pitchFamily="34" charset="-120"/>
              </a:rPr>
              <a:t>STRONG ANSWER FRAMEWORK  (4 points):</a:t>
            </a:r>
            <a:endParaRPr lang="en-US" sz="1200" dirty="0"/>
          </a:p>
        </p:txBody>
      </p:sp>
      <p:sp>
        <p:nvSpPr>
          <p:cNvPr id="13" name="Shape 11"/>
          <p:cNvSpPr/>
          <p:nvPr/>
        </p:nvSpPr>
        <p:spPr>
          <a:xfrm>
            <a:off x="274320" y="2423160"/>
            <a:ext cx="457200" cy="640080"/>
          </a:xfrm>
          <a:prstGeom prst="rect">
            <a:avLst/>
          </a:prstGeom>
          <a:solidFill>
            <a:srgbClr val="1E3A5F"/>
          </a:solidFill>
          <a:ln/>
        </p:spPr>
      </p:sp>
      <p:sp>
        <p:nvSpPr>
          <p:cNvPr id="14" name="Text 12"/>
          <p:cNvSpPr/>
          <p:nvPr/>
        </p:nvSpPr>
        <p:spPr>
          <a:xfrm>
            <a:off x="274320" y="2423160"/>
            <a:ext cx="457200" cy="64008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5" name="Shape 13"/>
          <p:cNvSpPr/>
          <p:nvPr/>
        </p:nvSpPr>
        <p:spPr>
          <a:xfrm>
            <a:off x="822960" y="2423160"/>
            <a:ext cx="11064240" cy="640080"/>
          </a:xfrm>
          <a:prstGeom prst="rect">
            <a:avLst/>
          </a:prstGeom>
          <a:solidFill>
            <a:srgbClr val="D5E3F0"/>
          </a:solidFill>
          <a:ln w="6350">
            <a:solidFill>
              <a:srgbClr val="AAAAAA"/>
            </a:solidFill>
            <a:prstDash val="solid"/>
          </a:ln>
        </p:spPr>
      </p:sp>
      <p:sp>
        <p:nvSpPr>
          <p:cNvPr id="16" name="Text 14"/>
          <p:cNvSpPr/>
          <p:nvPr/>
        </p:nvSpPr>
        <p:spPr>
          <a:xfrm>
            <a:off x="914400" y="2423160"/>
            <a:ext cx="10881360" cy="640080"/>
          </a:xfrm>
          <a:prstGeom prst="rect">
            <a:avLst/>
          </a:prstGeom>
          <a:noFill/>
          <a:ln/>
        </p:spPr>
        <p:txBody>
          <a:bodyPr wrap="square" rtlCol="0" anchor="ctr"/>
          <a:lstStyle/>
          <a:p>
            <a:pPr indent="0" marL="0">
              <a:buNone/>
            </a:pPr>
            <a:r>
              <a:rPr lang="en-US" sz="1300" dirty="0">
                <a:solidFill>
                  <a:srgbClr val="1A1A1A"/>
                </a:solidFill>
                <a:latin typeface="Calibri" pitchFamily="34" charset="0"/>
                <a:ea typeface="Calibri" pitchFamily="34" charset="-122"/>
                <a:cs typeface="Calibri" pitchFamily="34" charset="-120"/>
              </a:rPr>
              <a:t>Main issuers: Central Government (G-Secs, T-Bills), state governments (SDLs), corporates (equity shares, NCDs, CPs), and financial institutions (bonds, CDs). Each issues to fund different needs and through different regulatory frameworks.</a:t>
            </a:r>
            <a:endParaRPr lang="en-US" sz="1300" dirty="0"/>
          </a:p>
        </p:txBody>
      </p:sp>
      <p:sp>
        <p:nvSpPr>
          <p:cNvPr id="17" name="Shape 15"/>
          <p:cNvSpPr/>
          <p:nvPr/>
        </p:nvSpPr>
        <p:spPr>
          <a:xfrm>
            <a:off x="274320" y="3337560"/>
            <a:ext cx="457200" cy="640080"/>
          </a:xfrm>
          <a:prstGeom prst="rect">
            <a:avLst/>
          </a:prstGeom>
          <a:solidFill>
            <a:srgbClr val="1E3A5F"/>
          </a:solidFill>
          <a:ln/>
        </p:spPr>
      </p:sp>
      <p:sp>
        <p:nvSpPr>
          <p:cNvPr id="18" name="Text 16"/>
          <p:cNvSpPr/>
          <p:nvPr/>
        </p:nvSpPr>
        <p:spPr>
          <a:xfrm>
            <a:off x="274320" y="3337560"/>
            <a:ext cx="457200" cy="64008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9" name="Shape 17"/>
          <p:cNvSpPr/>
          <p:nvPr/>
        </p:nvSpPr>
        <p:spPr>
          <a:xfrm>
            <a:off x="822960" y="3337560"/>
            <a:ext cx="11064240" cy="640080"/>
          </a:xfrm>
          <a:prstGeom prst="rect">
            <a:avLst/>
          </a:prstGeom>
          <a:solidFill>
            <a:srgbClr val="FFFFFF"/>
          </a:solidFill>
          <a:ln w="6350">
            <a:solidFill>
              <a:srgbClr val="AAAAAA"/>
            </a:solidFill>
            <a:prstDash val="solid"/>
          </a:ln>
        </p:spPr>
      </p:sp>
      <p:sp>
        <p:nvSpPr>
          <p:cNvPr id="20" name="Text 18"/>
          <p:cNvSpPr/>
          <p:nvPr/>
        </p:nvSpPr>
        <p:spPr>
          <a:xfrm>
            <a:off x="914400" y="3337560"/>
            <a:ext cx="10881360" cy="640080"/>
          </a:xfrm>
          <a:prstGeom prst="rect">
            <a:avLst/>
          </a:prstGeom>
          <a:noFill/>
          <a:ln/>
        </p:spPr>
        <p:txBody>
          <a:bodyPr wrap="square" rtlCol="0" anchor="ctr"/>
          <a:lstStyle/>
          <a:p>
            <a:pPr indent="0" marL="0">
              <a:buNone/>
            </a:pPr>
            <a:r>
              <a:rPr lang="en-US" sz="1300" dirty="0">
                <a:solidFill>
                  <a:srgbClr val="1A1A1A"/>
                </a:solidFill>
                <a:latin typeface="Calibri" pitchFamily="34" charset="0"/>
                <a:ea typeface="Calibri" pitchFamily="34" charset="-122"/>
                <a:cs typeface="Calibri" pitchFamily="34" charset="-120"/>
              </a:rPr>
              <a:t>Main investors: retail investors (individuals), domestic institutional investors (LIC, mutual funds, pension funds), and foreign portfolio investors (FPIs registered with SEBI).</a:t>
            </a:r>
            <a:endParaRPr lang="en-US" sz="1300" dirty="0"/>
          </a:p>
        </p:txBody>
      </p:sp>
      <p:sp>
        <p:nvSpPr>
          <p:cNvPr id="21" name="Shape 19"/>
          <p:cNvSpPr/>
          <p:nvPr/>
        </p:nvSpPr>
        <p:spPr>
          <a:xfrm>
            <a:off x="274320" y="4251960"/>
            <a:ext cx="457200" cy="640080"/>
          </a:xfrm>
          <a:prstGeom prst="rect">
            <a:avLst/>
          </a:prstGeom>
          <a:solidFill>
            <a:srgbClr val="1E3A5F"/>
          </a:solidFill>
          <a:ln/>
        </p:spPr>
      </p:sp>
      <p:sp>
        <p:nvSpPr>
          <p:cNvPr id="22" name="Text 20"/>
          <p:cNvSpPr/>
          <p:nvPr/>
        </p:nvSpPr>
        <p:spPr>
          <a:xfrm>
            <a:off x="274320" y="4251960"/>
            <a:ext cx="457200" cy="64008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3" name="Shape 21"/>
          <p:cNvSpPr/>
          <p:nvPr/>
        </p:nvSpPr>
        <p:spPr>
          <a:xfrm>
            <a:off x="822960" y="4251960"/>
            <a:ext cx="11064240" cy="640080"/>
          </a:xfrm>
          <a:prstGeom prst="rect">
            <a:avLst/>
          </a:prstGeom>
          <a:solidFill>
            <a:srgbClr val="D5E3F0"/>
          </a:solidFill>
          <a:ln w="6350">
            <a:solidFill>
              <a:srgbClr val="AAAAAA"/>
            </a:solidFill>
            <a:prstDash val="solid"/>
          </a:ln>
        </p:spPr>
      </p:sp>
      <p:sp>
        <p:nvSpPr>
          <p:cNvPr id="24" name="Text 22"/>
          <p:cNvSpPr/>
          <p:nvPr/>
        </p:nvSpPr>
        <p:spPr>
          <a:xfrm>
            <a:off x="914400" y="4251960"/>
            <a:ext cx="10881360" cy="640080"/>
          </a:xfrm>
          <a:prstGeom prst="rect">
            <a:avLst/>
          </a:prstGeom>
          <a:noFill/>
          <a:ln/>
        </p:spPr>
        <p:txBody>
          <a:bodyPr wrap="square" rtlCol="0" anchor="ctr"/>
          <a:lstStyle/>
          <a:p>
            <a:pPr indent="0" marL="0">
              <a:buNone/>
            </a:pPr>
            <a:r>
              <a:rPr lang="en-US" sz="1300" dirty="0">
                <a:solidFill>
                  <a:srgbClr val="1A1A1A"/>
                </a:solidFill>
                <a:latin typeface="Calibri" pitchFamily="34" charset="0"/>
                <a:ea typeface="Calibri" pitchFamily="34" charset="-122"/>
                <a:cs typeface="Calibri" pitchFamily="34" charset="-120"/>
              </a:rPr>
              <a:t>Each investor category has different regulatory treatment: retail investors get strong protections; FPIs must use registered custodians; institutional investors have position limits and disclosure requirements.</a:t>
            </a:r>
            <a:endParaRPr lang="en-US" sz="1300" dirty="0"/>
          </a:p>
        </p:txBody>
      </p:sp>
      <p:sp>
        <p:nvSpPr>
          <p:cNvPr id="25" name="Shape 23"/>
          <p:cNvSpPr/>
          <p:nvPr/>
        </p:nvSpPr>
        <p:spPr>
          <a:xfrm>
            <a:off x="274320" y="5166360"/>
            <a:ext cx="457200" cy="640080"/>
          </a:xfrm>
          <a:prstGeom prst="rect">
            <a:avLst/>
          </a:prstGeom>
          <a:solidFill>
            <a:srgbClr val="1E3A5F"/>
          </a:solidFill>
          <a:ln/>
        </p:spPr>
      </p:sp>
      <p:sp>
        <p:nvSpPr>
          <p:cNvPr id="26" name="Text 24"/>
          <p:cNvSpPr/>
          <p:nvPr/>
        </p:nvSpPr>
        <p:spPr>
          <a:xfrm>
            <a:off x="274320" y="5166360"/>
            <a:ext cx="457200" cy="64008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7" name="Shape 25"/>
          <p:cNvSpPr/>
          <p:nvPr/>
        </p:nvSpPr>
        <p:spPr>
          <a:xfrm>
            <a:off x="822960" y="5166360"/>
            <a:ext cx="11064240" cy="640080"/>
          </a:xfrm>
          <a:prstGeom prst="rect">
            <a:avLst/>
          </a:prstGeom>
          <a:solidFill>
            <a:srgbClr val="FFFFFF"/>
          </a:solidFill>
          <a:ln w="6350">
            <a:solidFill>
              <a:srgbClr val="AAAAAA"/>
            </a:solidFill>
            <a:prstDash val="solid"/>
          </a:ln>
        </p:spPr>
      </p:sp>
      <p:sp>
        <p:nvSpPr>
          <p:cNvPr id="28" name="Text 26"/>
          <p:cNvSpPr/>
          <p:nvPr/>
        </p:nvSpPr>
        <p:spPr>
          <a:xfrm>
            <a:off x="914400" y="5166360"/>
            <a:ext cx="10881360" cy="640080"/>
          </a:xfrm>
          <a:prstGeom prst="rect">
            <a:avLst/>
          </a:prstGeom>
          <a:noFill/>
          <a:ln/>
        </p:spPr>
        <p:txBody>
          <a:bodyPr wrap="square" rtlCol="0" anchor="ctr"/>
          <a:lstStyle/>
          <a:p>
            <a:pPr indent="0" marL="0">
              <a:buNone/>
            </a:pPr>
            <a:r>
              <a:rPr lang="en-US" sz="1300" dirty="0">
                <a:solidFill>
                  <a:srgbClr val="1A1A1A"/>
                </a:solidFill>
                <a:latin typeface="Calibri" pitchFamily="34" charset="0"/>
                <a:ea typeface="Calibri" pitchFamily="34" charset="-122"/>
                <a:cs typeface="Calibri" pitchFamily="34" charset="-120"/>
              </a:rPr>
              <a:t>In operations, knowing the investor category determines the settlement route — retail trades settle through the exchange and depository directly; institutional trades route through custodians; FPI settlements involve custodian reporting to SEBI.</a:t>
            </a:r>
            <a:endParaRPr lang="en-US" sz="1300" dirty="0"/>
          </a:p>
        </p:txBody>
      </p:sp>
      <p:sp>
        <p:nvSpPr>
          <p:cNvPr id="29" name="Text 27"/>
          <p:cNvSpPr/>
          <p:nvPr/>
        </p:nvSpPr>
        <p:spPr>
          <a:xfrm>
            <a:off x="0" y="6601968"/>
            <a:ext cx="12192000" cy="182880"/>
          </a:xfrm>
          <a:prstGeom prst="rect">
            <a:avLst/>
          </a:prstGeom>
          <a:noFill/>
          <a:ln/>
        </p:spPr>
        <p:txBody>
          <a:bodyPr wrap="square" rtlCol="0" anchor="ctr"/>
          <a:lstStyle/>
          <a:p>
            <a:pPr algn="ctr" indent="0" marL="0">
              <a:buNone/>
            </a:pPr>
            <a:r>
              <a:rPr lang="en-US" sz="800" dirty="0">
                <a:solidFill>
                  <a:srgbClr val="AAAAAA"/>
                </a:solidFill>
                <a:latin typeface="Calibri" pitchFamily="34" charset="0"/>
                <a:ea typeface="Calibri" pitchFamily="34" charset="-122"/>
                <a:cs typeface="Calibri" pitchFamily="34" charset="-120"/>
              </a:rPr>
              <a:t>CIBOP · Module 1 · D1.7</a:t>
            </a:r>
            <a:endParaRPr lang="en-US" sz="8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1E3A5F"/>
          </a:solidFill>
          <a:ln/>
        </p:spPr>
      </p:sp>
      <p:sp>
        <p:nvSpPr>
          <p:cNvPr id="3" name="Shape 1"/>
          <p:cNvSpPr/>
          <p:nvPr/>
        </p:nvSpPr>
        <p:spPr>
          <a:xfrm>
            <a:off x="0" y="0"/>
            <a:ext cx="12192000" cy="73152"/>
          </a:xfrm>
          <a:prstGeom prst="rect">
            <a:avLst/>
          </a:prstGeom>
          <a:solidFill>
            <a:srgbClr val="B8860B"/>
          </a:solidFill>
          <a:ln/>
        </p:spPr>
      </p:sp>
      <p:sp>
        <p:nvSpPr>
          <p:cNvPr id="4" name="Shape 2"/>
          <p:cNvSpPr/>
          <p:nvPr/>
        </p:nvSpPr>
        <p:spPr>
          <a:xfrm>
            <a:off x="0" y="6784848"/>
            <a:ext cx="12192000" cy="73152"/>
          </a:xfrm>
          <a:prstGeom prst="rect">
            <a:avLst/>
          </a:prstGeom>
          <a:solidFill>
            <a:srgbClr val="B8860B"/>
          </a:solidFill>
          <a:ln/>
        </p:spPr>
      </p:sp>
      <p:sp>
        <p:nvSpPr>
          <p:cNvPr id="5" name="Shape 3"/>
          <p:cNvSpPr/>
          <p:nvPr/>
        </p:nvSpPr>
        <p:spPr>
          <a:xfrm>
            <a:off x="0" y="73152"/>
            <a:ext cx="1828800" cy="347472"/>
          </a:xfrm>
          <a:prstGeom prst="rect">
            <a:avLst/>
          </a:prstGeom>
          <a:solidFill>
            <a:srgbClr val="B8860B"/>
          </a:solidFill>
          <a:ln/>
        </p:spPr>
      </p:sp>
      <p:sp>
        <p:nvSpPr>
          <p:cNvPr id="6" name="Text 4"/>
          <p:cNvSpPr/>
          <p:nvPr/>
        </p:nvSpPr>
        <p:spPr>
          <a:xfrm>
            <a:off x="0" y="73152"/>
            <a:ext cx="1828800" cy="347472"/>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QUICK RECAP</a:t>
            </a:r>
            <a:endParaRPr lang="en-US" sz="1000" dirty="0"/>
          </a:p>
        </p:txBody>
      </p:sp>
      <p:sp>
        <p:nvSpPr>
          <p:cNvPr id="7" name="Shape 5"/>
          <p:cNvSpPr/>
          <p:nvPr/>
        </p:nvSpPr>
        <p:spPr>
          <a:xfrm>
            <a:off x="10360152" y="73152"/>
            <a:ext cx="1828800" cy="347472"/>
          </a:xfrm>
          <a:prstGeom prst="rect">
            <a:avLst/>
          </a:prstGeom>
          <a:solidFill>
            <a:srgbClr val="005F5F"/>
          </a:solidFill>
          <a:ln/>
        </p:spPr>
      </p:sp>
      <p:sp>
        <p:nvSpPr>
          <p:cNvPr id="8" name="Text 6"/>
          <p:cNvSpPr/>
          <p:nvPr/>
        </p:nvSpPr>
        <p:spPr>
          <a:xfrm>
            <a:off x="10360152" y="73152"/>
            <a:ext cx="1828800" cy="347472"/>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D1.8</a:t>
            </a:r>
            <a:endParaRPr lang="en-US" sz="1000" dirty="0"/>
          </a:p>
        </p:txBody>
      </p:sp>
      <p:sp>
        <p:nvSpPr>
          <p:cNvPr id="9" name="Text 7"/>
          <p:cNvSpPr/>
          <p:nvPr/>
        </p:nvSpPr>
        <p:spPr>
          <a:xfrm>
            <a:off x="8686800" y="1097280"/>
            <a:ext cx="3200400" cy="4572000"/>
          </a:xfrm>
          <a:prstGeom prst="rect">
            <a:avLst/>
          </a:prstGeom>
          <a:noFill/>
          <a:ln/>
        </p:spPr>
        <p:txBody>
          <a:bodyPr wrap="square" rtlCol="0" anchor="ctr"/>
          <a:lstStyle/>
          <a:p>
            <a:pPr algn="ctr" indent="0" marL="0">
              <a:buNone/>
            </a:pPr>
            <a:r>
              <a:rPr lang="en-US" sz="20000" b="1" dirty="0">
                <a:solidFill>
                  <a:srgbClr val="2E4A6E"/>
                </a:solidFill>
                <a:latin typeface="Calibri" pitchFamily="34" charset="0"/>
                <a:ea typeface="Calibri" pitchFamily="34" charset="-122"/>
                <a:cs typeface="Calibri" pitchFamily="34" charset="-120"/>
              </a:rPr>
              <a:t>?</a:t>
            </a:r>
            <a:endParaRPr lang="en-US" sz="20000" dirty="0"/>
          </a:p>
        </p:txBody>
      </p:sp>
      <p:sp>
        <p:nvSpPr>
          <p:cNvPr id="10" name="Text 8"/>
          <p:cNvSpPr/>
          <p:nvPr/>
        </p:nvSpPr>
        <p:spPr>
          <a:xfrm>
            <a:off x="365760" y="548640"/>
            <a:ext cx="8229600" cy="457200"/>
          </a:xfrm>
          <a:prstGeom prst="rect">
            <a:avLst/>
          </a:prstGeom>
          <a:noFill/>
          <a:ln/>
        </p:spPr>
        <p:txBody>
          <a:bodyPr wrap="square" rtlCol="0" anchor="ctr"/>
          <a:lstStyle/>
          <a:p>
            <a:pPr indent="0" marL="0">
              <a:buNone/>
            </a:pPr>
            <a:r>
              <a:rPr lang="en-US" sz="1400" b="1" dirty="0">
                <a:solidFill>
                  <a:srgbClr val="B8860B"/>
                </a:solidFill>
                <a:latin typeface="Calibri" pitchFamily="34" charset="0"/>
                <a:ea typeface="Calibri" pitchFamily="34" charset="-122"/>
                <a:cs typeface="Calibri" pitchFamily="34" charset="-120"/>
              </a:rPr>
              <a:t>D1.8  —  Brokers, Dealers and Stock Exchanges</a:t>
            </a:r>
            <a:endParaRPr lang="en-US" sz="1400" dirty="0"/>
          </a:p>
        </p:txBody>
      </p:sp>
      <p:sp>
        <p:nvSpPr>
          <p:cNvPr id="11" name="Text 9"/>
          <p:cNvSpPr/>
          <p:nvPr/>
        </p:nvSpPr>
        <p:spPr>
          <a:xfrm>
            <a:off x="365760" y="1280160"/>
            <a:ext cx="8229600" cy="3474720"/>
          </a:xfrm>
          <a:prstGeom prst="rect">
            <a:avLst/>
          </a:prstGeom>
          <a:noFill/>
          <a:ln/>
        </p:spPr>
        <p:txBody>
          <a:bodyPr wrap="square"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"Imagine calling 500 people to find a buyer for your shares. That was stock trading before exchanges. What exactly changed — and what didn't?"</a:t>
            </a:r>
            <a:endParaRPr lang="en-US" sz="2600" dirty="0"/>
          </a:p>
        </p:txBody>
      </p:sp>
      <p:sp>
        <p:nvSpPr>
          <p:cNvPr id="12" name="Shape 10"/>
          <p:cNvSpPr/>
          <p:nvPr/>
        </p:nvSpPr>
        <p:spPr>
          <a:xfrm>
            <a:off x="365760" y="5029200"/>
            <a:ext cx="8229600" cy="731520"/>
          </a:xfrm>
          <a:prstGeom prst="rect">
            <a:avLst/>
          </a:prstGeom>
          <a:solidFill>
            <a:srgbClr val="2E4A6E"/>
          </a:solidFill>
          <a:ln/>
        </p:spPr>
      </p:sp>
      <p:sp>
        <p:nvSpPr>
          <p:cNvPr id="13" name="Text 11"/>
          <p:cNvSpPr/>
          <p:nvPr/>
        </p:nvSpPr>
        <p:spPr>
          <a:xfrm>
            <a:off x="365760" y="5029200"/>
            <a:ext cx="8229600" cy="731520"/>
          </a:xfrm>
          <a:prstGeom prst="rect">
            <a:avLst/>
          </a:prstGeom>
          <a:noFill/>
          <a:ln/>
        </p:spPr>
        <p:txBody>
          <a:bodyPr wrap="square" rtlCol="0" anchor="ctr"/>
          <a:lstStyle/>
          <a:p>
            <a:pPr algn="l" indent="0" marL="0">
              <a:buNone/>
            </a:pPr>
            <a:r>
              <a:rPr lang="en-US" sz="1100" i="1" dirty="0">
                <a:solidFill>
                  <a:srgbClr val="CADCFC"/>
                </a:solidFill>
                <a:latin typeface="Calibri" pitchFamily="34" charset="0"/>
                <a:ea typeface="Calibri" pitchFamily="34" charset="-122"/>
                <a:cs typeface="Calibri" pitchFamily="34" charset="-120"/>
              </a:rPr>
              <a:t>📹  From: D1.8 · Video 2 — Role of Stock Exchange (EAR: EXPLAIN)</a:t>
            </a:r>
            <a:endParaRPr lang="en-US" sz="1100" dirty="0"/>
          </a:p>
        </p:txBody>
      </p:sp>
      <p:sp>
        <p:nvSpPr>
          <p:cNvPr id="14" name="Text 12"/>
          <p:cNvSpPr/>
          <p:nvPr/>
        </p:nvSpPr>
        <p:spPr>
          <a:xfrm>
            <a:off x="0" y="6601968"/>
            <a:ext cx="12192000" cy="182880"/>
          </a:xfrm>
          <a:prstGeom prst="rect">
            <a:avLst/>
          </a:prstGeom>
          <a:noFill/>
          <a:ln/>
        </p:spPr>
        <p:txBody>
          <a:bodyPr wrap="square" rtlCol="0" anchor="ctr"/>
          <a:lstStyle/>
          <a:p>
            <a:pPr algn="ctr" indent="0" marL="0">
              <a:buNone/>
            </a:pPr>
            <a:r>
              <a:rPr lang="en-US" sz="800" dirty="0">
                <a:solidFill>
                  <a:srgbClr val="AAAAAA"/>
                </a:solidFill>
                <a:latin typeface="Calibri" pitchFamily="34" charset="0"/>
                <a:ea typeface="Calibri" pitchFamily="34" charset="-122"/>
                <a:cs typeface="Calibri" pitchFamily="34" charset="-120"/>
              </a:rPr>
              <a:t>CIBOP · Module 1 · D1.8</a:t>
            </a:r>
            <a:endParaRPr lang="en-US" sz="8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4F6FA"/>
          </a:solidFill>
          <a:ln/>
        </p:spPr>
      </p:sp>
      <p:sp>
        <p:nvSpPr>
          <p:cNvPr id="3" name="Shape 1"/>
          <p:cNvSpPr/>
          <p:nvPr/>
        </p:nvSpPr>
        <p:spPr>
          <a:xfrm>
            <a:off x="0" y="0"/>
            <a:ext cx="12192000" cy="73152"/>
          </a:xfrm>
          <a:prstGeom prst="rect">
            <a:avLst/>
          </a:prstGeom>
          <a:solidFill>
            <a:srgbClr val="1E3A5F"/>
          </a:solidFill>
          <a:ln/>
        </p:spPr>
      </p:sp>
      <p:sp>
        <p:nvSpPr>
          <p:cNvPr id="4" name="Shape 2"/>
          <p:cNvSpPr/>
          <p:nvPr/>
        </p:nvSpPr>
        <p:spPr>
          <a:xfrm>
            <a:off x="0" y="6784848"/>
            <a:ext cx="12192000" cy="73152"/>
          </a:xfrm>
          <a:prstGeom prst="rect">
            <a:avLst/>
          </a:prstGeom>
          <a:solidFill>
            <a:srgbClr val="005F5F"/>
          </a:solidFill>
          <a:ln/>
        </p:spPr>
      </p:sp>
      <p:sp>
        <p:nvSpPr>
          <p:cNvPr id="5" name="Shape 3"/>
          <p:cNvSpPr/>
          <p:nvPr/>
        </p:nvSpPr>
        <p:spPr>
          <a:xfrm>
            <a:off x="0" y="73152"/>
            <a:ext cx="1828800" cy="347472"/>
          </a:xfrm>
          <a:prstGeom prst="rect">
            <a:avLst/>
          </a:prstGeom>
          <a:solidFill>
            <a:srgbClr val="C0392B"/>
          </a:solidFill>
          <a:ln/>
        </p:spPr>
      </p:sp>
      <p:sp>
        <p:nvSpPr>
          <p:cNvPr id="6" name="Text 4"/>
          <p:cNvSpPr/>
          <p:nvPr/>
        </p:nvSpPr>
        <p:spPr>
          <a:xfrm>
            <a:off x="0" y="73152"/>
            <a:ext cx="1828800" cy="347472"/>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SCENARIO</a:t>
            </a:r>
            <a:endParaRPr lang="en-US" sz="1000" dirty="0"/>
          </a:p>
        </p:txBody>
      </p:sp>
      <p:sp>
        <p:nvSpPr>
          <p:cNvPr id="7" name="Shape 5"/>
          <p:cNvSpPr/>
          <p:nvPr/>
        </p:nvSpPr>
        <p:spPr>
          <a:xfrm>
            <a:off x="10360152" y="73152"/>
            <a:ext cx="1828800" cy="347472"/>
          </a:xfrm>
          <a:prstGeom prst="rect">
            <a:avLst/>
          </a:prstGeom>
          <a:solidFill>
            <a:srgbClr val="005F5F"/>
          </a:solidFill>
          <a:ln/>
        </p:spPr>
      </p:sp>
      <p:sp>
        <p:nvSpPr>
          <p:cNvPr id="8" name="Text 6"/>
          <p:cNvSpPr/>
          <p:nvPr/>
        </p:nvSpPr>
        <p:spPr>
          <a:xfrm>
            <a:off x="10360152" y="73152"/>
            <a:ext cx="1828800" cy="347472"/>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D1.8</a:t>
            </a:r>
            <a:endParaRPr lang="en-US" sz="1000" dirty="0"/>
          </a:p>
        </p:txBody>
      </p:sp>
      <p:sp>
        <p:nvSpPr>
          <p:cNvPr id="9" name="Shape 7"/>
          <p:cNvSpPr/>
          <p:nvPr/>
        </p:nvSpPr>
        <p:spPr>
          <a:xfrm>
            <a:off x="0" y="420624"/>
            <a:ext cx="12192000" cy="914400"/>
          </a:xfrm>
          <a:prstGeom prst="rect">
            <a:avLst/>
          </a:prstGeom>
          <a:solidFill>
            <a:srgbClr val="1E3A5F"/>
          </a:solidFill>
          <a:ln/>
        </p:spPr>
      </p:sp>
      <p:sp>
        <p:nvSpPr>
          <p:cNvPr id="10" name="Text 8"/>
          <p:cNvSpPr/>
          <p:nvPr/>
        </p:nvSpPr>
        <p:spPr>
          <a:xfrm>
            <a:off x="365760" y="420624"/>
            <a:ext cx="11430000" cy="914400"/>
          </a:xfrm>
          <a:prstGeom prst="rect">
            <a:avLst/>
          </a:prstGeom>
          <a:noFill/>
          <a:ln/>
        </p:spPr>
        <p:txBody>
          <a:bodyPr wrap="square"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IL&amp;FS 2018: When a Broker-Dealer's Counterparty Fails</a:t>
            </a:r>
            <a:endParaRPr lang="en-US" sz="2000" dirty="0"/>
          </a:p>
        </p:txBody>
      </p:sp>
      <p:sp>
        <p:nvSpPr>
          <p:cNvPr id="11" name="Text 9"/>
          <p:cNvSpPr/>
          <p:nvPr/>
        </p:nvSpPr>
        <p:spPr>
          <a:xfrm>
            <a:off x="365760" y="1554480"/>
            <a:ext cx="7498080" cy="2926080"/>
          </a:xfrm>
          <a:prstGeom prst="rect">
            <a:avLst/>
          </a:prstGeom>
          <a:noFill/>
          <a:ln/>
        </p:spPr>
        <p:txBody>
          <a:bodyPr wrap="square" rtlCol="0" anchor="ctr"/>
          <a:lstStyle/>
          <a:p>
            <a:pPr indent="0" marL="0">
              <a:buNone/>
            </a:pPr>
            <a:r>
              <a:rPr lang="en-US" sz="1400" dirty="0">
                <a:solidFill>
                  <a:srgbClr val="1A1A1A"/>
                </a:solidFill>
                <a:latin typeface="Calibri" pitchFamily="34" charset="0"/>
                <a:ea typeface="Calibri" pitchFamily="34" charset="-122"/>
                <a:cs typeface="Calibri" pitchFamily="34" charset="-120"/>
              </a:rPr>
              <a:t>In September 2018, Infrastructure Leasing &amp; Financial Services (IL&amp;FS) defaulted on its commercial paper and bond obligations. Multiple mutual funds and NBFCs holding IL&amp;FS debt found their positions suddenly illiquid and impaired.</a:t>
            </a:r>
            <a:endParaRPr lang="en-US" sz="1400" dirty="0"/>
          </a:p>
          <a:p>
            <a:pPr indent="0" marL="0">
              <a:buNone/>
            </a:pPr>
            <a:endParaRPr lang="en-US" sz="1400" dirty="0"/>
          </a:p>
          <a:p>
            <a:pPr indent="0" marL="0">
              <a:buNone/>
            </a:pPr>
            <a:r>
              <a:rPr lang="en-US" sz="1400" dirty="0">
                <a:solidFill>
                  <a:srgbClr val="1A1A1A"/>
                </a:solidFill>
                <a:latin typeface="Calibri" pitchFamily="34" charset="0"/>
                <a:ea typeface="Calibri" pitchFamily="34" charset="-122"/>
                <a:cs typeface="Calibri" pitchFamily="34" charset="-120"/>
              </a:rPr>
              <a:t>Brokerage firms that had acted as dealers — taking IL&amp;FS CPs onto their books as principal positions — faced immediate mark-to-market losses. Those that had acted purely as brokers (agents) for clients had no market risk — but their clients did.</a:t>
            </a:r>
            <a:endParaRPr lang="en-US" sz="1400" dirty="0"/>
          </a:p>
        </p:txBody>
      </p:sp>
      <p:sp>
        <p:nvSpPr>
          <p:cNvPr id="12" name="Shape 10"/>
          <p:cNvSpPr/>
          <p:nvPr/>
        </p:nvSpPr>
        <p:spPr>
          <a:xfrm>
            <a:off x="8046720" y="1554480"/>
            <a:ext cx="3931920" cy="2926080"/>
          </a:xfrm>
          <a:prstGeom prst="rect">
            <a:avLst/>
          </a:prstGeom>
          <a:solidFill>
            <a:srgbClr val="D5E3F0"/>
          </a:solidFill>
          <a:ln w="12700">
            <a:solidFill>
              <a:srgbClr val="1E3A5F"/>
            </a:solidFill>
            <a:prstDash val="solid"/>
          </a:ln>
        </p:spPr>
      </p:sp>
      <p:sp>
        <p:nvSpPr>
          <p:cNvPr id="13" name="Text 11"/>
          <p:cNvSpPr/>
          <p:nvPr/>
        </p:nvSpPr>
        <p:spPr>
          <a:xfrm>
            <a:off x="8046720" y="1554480"/>
            <a:ext cx="3931920" cy="2926080"/>
          </a:xfrm>
          <a:prstGeom prst="rect">
            <a:avLst/>
          </a:prstGeom>
          <a:noFill/>
          <a:ln/>
        </p:spPr>
        <p:txBody>
          <a:bodyPr wrap="square" rtlCol="0" anchor="t"/>
          <a:lstStyle/>
          <a:p>
            <a:pPr indent="0" marL="0">
              <a:buNone/>
            </a:pPr>
            <a:r>
              <a:rPr lang="en-US" sz="1300" dirty="0">
                <a:solidFill>
                  <a:srgbClr val="1E3A5F"/>
                </a:solidFill>
                <a:latin typeface="Calibri" pitchFamily="34" charset="0"/>
                <a:ea typeface="Calibri" pitchFamily="34" charset="-122"/>
                <a:cs typeface="Calibri" pitchFamily="34" charset="-120"/>
              </a:rPr>
              <a:t>IL&amp;FS CRISIS:</a:t>
            </a:r>
            <a:endParaRPr lang="en-US" sz="1300" dirty="0"/>
          </a:p>
          <a:p>
            <a:pPr indent="0" marL="0">
              <a:buNone/>
            </a:pPr>
            <a:endParaRPr lang="en-US" sz="1300" dirty="0"/>
          </a:p>
          <a:p>
            <a:pPr indent="0" marL="0">
              <a:buNone/>
            </a:pPr>
            <a:r>
              <a:rPr lang="en-US" sz="1300" dirty="0">
                <a:solidFill>
                  <a:srgbClr val="1E3A5F"/>
                </a:solidFill>
                <a:latin typeface="Calibri" pitchFamily="34" charset="0"/>
                <a:ea typeface="Calibri" pitchFamily="34" charset="-122"/>
                <a:cs typeface="Calibri" pitchFamily="34" charset="-120"/>
              </a:rPr>
              <a:t>₹91,000 Cr</a:t>
            </a:r>
            <a:endParaRPr lang="en-US" sz="1300" dirty="0"/>
          </a:p>
          <a:p>
            <a:pPr indent="0" marL="0">
              <a:buNone/>
            </a:pPr>
            <a:r>
              <a:rPr lang="en-US" sz="1300" dirty="0">
                <a:solidFill>
                  <a:srgbClr val="1E3A5F"/>
                </a:solidFill>
                <a:latin typeface="Calibri" pitchFamily="34" charset="0"/>
                <a:ea typeface="Calibri" pitchFamily="34" charset="-122"/>
                <a:cs typeface="Calibri" pitchFamily="34" charset="-120"/>
              </a:rPr>
              <a:t>total debt</a:t>
            </a:r>
            <a:endParaRPr lang="en-US" sz="1300" dirty="0"/>
          </a:p>
          <a:p>
            <a:pPr indent="0" marL="0">
              <a:buNone/>
            </a:pPr>
            <a:endParaRPr lang="en-US" sz="1300" dirty="0"/>
          </a:p>
          <a:p>
            <a:pPr indent="0" marL="0">
              <a:buNone/>
            </a:pPr>
            <a:r>
              <a:rPr lang="en-US" sz="1300" dirty="0">
                <a:solidFill>
                  <a:srgbClr val="1E3A5F"/>
                </a:solidFill>
                <a:latin typeface="Calibri" pitchFamily="34" charset="0"/>
                <a:ea typeface="Calibri" pitchFamily="34" charset="-122"/>
                <a:cs typeface="Calibri" pitchFamily="34" charset="-120"/>
              </a:rPr>
              <a:t>Sept 2018</a:t>
            </a:r>
            <a:endParaRPr lang="en-US" sz="1300" dirty="0"/>
          </a:p>
          <a:p>
            <a:pPr indent="0" marL="0">
              <a:buNone/>
            </a:pPr>
            <a:r>
              <a:rPr lang="en-US" sz="1300" dirty="0">
                <a:solidFill>
                  <a:srgbClr val="1E3A5F"/>
                </a:solidFill>
                <a:latin typeface="Calibri" pitchFamily="34" charset="0"/>
                <a:ea typeface="Calibri" pitchFamily="34" charset="-122"/>
                <a:cs typeface="Calibri" pitchFamily="34" charset="-120"/>
              </a:rPr>
              <a:t>first default</a:t>
            </a:r>
            <a:endParaRPr lang="en-US" sz="1300" dirty="0"/>
          </a:p>
          <a:p>
            <a:pPr indent="0" marL="0">
              <a:buNone/>
            </a:pPr>
            <a:endParaRPr lang="en-US" sz="1300" dirty="0"/>
          </a:p>
          <a:p>
            <a:pPr indent="0" marL="0">
              <a:buNone/>
            </a:pPr>
            <a:r>
              <a:rPr lang="en-US" sz="1300" dirty="0">
                <a:solidFill>
                  <a:srgbClr val="1E3A5F"/>
                </a:solidFill>
                <a:latin typeface="Calibri" pitchFamily="34" charset="0"/>
                <a:ea typeface="Calibri" pitchFamily="34" charset="-122"/>
                <a:cs typeface="Calibri" pitchFamily="34" charset="-120"/>
              </a:rPr>
              <a:t>AA+ to D</a:t>
            </a:r>
            <a:endParaRPr lang="en-US" sz="1300" dirty="0"/>
          </a:p>
          <a:p>
            <a:pPr indent="0" marL="0">
              <a:buNone/>
            </a:pPr>
            <a:r>
              <a:rPr lang="en-US" sz="1300" dirty="0">
                <a:solidFill>
                  <a:srgbClr val="1E3A5F"/>
                </a:solidFill>
                <a:latin typeface="Calibri" pitchFamily="34" charset="0"/>
                <a:ea typeface="Calibri" pitchFamily="34" charset="-122"/>
                <a:cs typeface="Calibri" pitchFamily="34" charset="-120"/>
              </a:rPr>
              <a:t>rating in 2 months</a:t>
            </a:r>
            <a:endParaRPr lang="en-US" sz="1300" dirty="0"/>
          </a:p>
          <a:p>
            <a:pPr indent="0" marL="0">
              <a:buNone/>
            </a:pPr>
            <a:endParaRPr lang="en-US" sz="1300" dirty="0"/>
          </a:p>
          <a:p>
            <a:pPr indent="0" marL="0">
              <a:buNone/>
            </a:pPr>
            <a:r>
              <a:rPr lang="en-US" sz="1300" dirty="0">
                <a:solidFill>
                  <a:srgbClr val="1E3A5F"/>
                </a:solidFill>
                <a:latin typeface="Calibri" pitchFamily="34" charset="0"/>
                <a:ea typeface="Calibri" pitchFamily="34" charset="-122"/>
                <a:cs typeface="Calibri" pitchFamily="34" charset="-120"/>
              </a:rPr>
              <a:t>Mutual funds:</a:t>
            </a:r>
            <a:endParaRPr lang="en-US" sz="1300" dirty="0"/>
          </a:p>
          <a:p>
            <a:pPr indent="0" marL="0">
              <a:buNone/>
            </a:pPr>
            <a:r>
              <a:rPr lang="en-US" sz="1300" dirty="0">
                <a:solidFill>
                  <a:srgbClr val="1E3A5F"/>
                </a:solidFill>
                <a:latin typeface="Calibri" pitchFamily="34" charset="0"/>
                <a:ea typeface="Calibri" pitchFamily="34" charset="-122"/>
                <a:cs typeface="Calibri" pitchFamily="34" charset="-120"/>
              </a:rPr>
              <a:t>₹3,500 Cr+</a:t>
            </a:r>
            <a:endParaRPr lang="en-US" sz="1300" dirty="0"/>
          </a:p>
          <a:p>
            <a:pPr indent="0" marL="0">
              <a:buNone/>
            </a:pPr>
            <a:r>
              <a:rPr lang="en-US" sz="1300" dirty="0">
                <a:solidFill>
                  <a:srgbClr val="1E3A5F"/>
                </a:solidFill>
                <a:latin typeface="Calibri" pitchFamily="34" charset="0"/>
                <a:ea typeface="Calibri" pitchFamily="34" charset="-122"/>
                <a:cs typeface="Calibri" pitchFamily="34" charset="-120"/>
              </a:rPr>
              <a:t>exposure</a:t>
            </a:r>
            <a:endParaRPr lang="en-US" sz="1300" dirty="0"/>
          </a:p>
          <a:p>
            <a:pPr indent="0" marL="0">
              <a:buNone/>
            </a:pPr>
            <a:endParaRPr lang="en-US" sz="1300" dirty="0"/>
          </a:p>
          <a:p>
            <a:pPr indent="0" marL="0">
              <a:buNone/>
            </a:pPr>
            <a:r>
              <a:rPr lang="en-US" sz="1300" dirty="0">
                <a:solidFill>
                  <a:srgbClr val="1E3A5F"/>
                </a:solidFill>
                <a:latin typeface="Calibri" pitchFamily="34" charset="0"/>
                <a:ea typeface="Calibri" pitchFamily="34" charset="-122"/>
                <a:cs typeface="Calibri" pitchFamily="34" charset="-120"/>
              </a:rPr>
              <a:t>NBFCs: severe</a:t>
            </a:r>
            <a:endParaRPr lang="en-US" sz="1300" dirty="0"/>
          </a:p>
          <a:p>
            <a:pPr indent="0" marL="0">
              <a:buNone/>
            </a:pPr>
            <a:r>
              <a:rPr lang="en-US" sz="1300" dirty="0">
                <a:solidFill>
                  <a:srgbClr val="1E3A5F"/>
                </a:solidFill>
                <a:latin typeface="Calibri" pitchFamily="34" charset="0"/>
                <a:ea typeface="Calibri" pitchFamily="34" charset="-122"/>
                <a:cs typeface="Calibri" pitchFamily="34" charset="-120"/>
              </a:rPr>
              <a:t>liquidity stress</a:t>
            </a:r>
            <a:endParaRPr lang="en-US" sz="1300" dirty="0"/>
          </a:p>
        </p:txBody>
      </p:sp>
      <p:sp>
        <p:nvSpPr>
          <p:cNvPr id="14" name="Shape 12"/>
          <p:cNvSpPr/>
          <p:nvPr/>
        </p:nvSpPr>
        <p:spPr>
          <a:xfrm>
            <a:off x="0" y="4663440"/>
            <a:ext cx="12192000" cy="1097280"/>
          </a:xfrm>
          <a:prstGeom prst="rect">
            <a:avLst/>
          </a:prstGeom>
          <a:solidFill>
            <a:srgbClr val="005F5F"/>
          </a:solidFill>
          <a:ln/>
        </p:spPr>
      </p:sp>
      <p:sp>
        <p:nvSpPr>
          <p:cNvPr id="15" name="Text 13"/>
          <p:cNvSpPr/>
          <p:nvPr/>
        </p:nvSpPr>
        <p:spPr>
          <a:xfrm>
            <a:off x="365760" y="4663440"/>
            <a:ext cx="11430000" cy="1097280"/>
          </a:xfrm>
          <a:prstGeom prst="rect">
            <a:avLst/>
          </a:prstGeom>
          <a:noFill/>
          <a:ln/>
        </p:spPr>
        <p:txBody>
          <a:bodyPr wrap="square"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  In the IL&amp;FS crisis, broker-dealers faced different risks depending on whether they had acted as agent (broker) or principal (dealer). What is the operational lesson for how securities firms document their role in each transaction?</a:t>
            </a:r>
            <a:endParaRPr lang="en-US" sz="1600" dirty="0"/>
          </a:p>
        </p:txBody>
      </p:sp>
      <p:sp>
        <p:nvSpPr>
          <p:cNvPr id="16" name="Text 14"/>
          <p:cNvSpPr/>
          <p:nvPr/>
        </p:nvSpPr>
        <p:spPr>
          <a:xfrm>
            <a:off x="0" y="6601968"/>
            <a:ext cx="12192000" cy="182880"/>
          </a:xfrm>
          <a:prstGeom prst="rect">
            <a:avLst/>
          </a:prstGeom>
          <a:noFill/>
          <a:ln/>
        </p:spPr>
        <p:txBody>
          <a:bodyPr wrap="square" rtlCol="0" anchor="ctr"/>
          <a:lstStyle/>
          <a:p>
            <a:pPr algn="ctr" indent="0" marL="0">
              <a:buNone/>
            </a:pPr>
            <a:r>
              <a:rPr lang="en-US" sz="800" dirty="0">
                <a:solidFill>
                  <a:srgbClr val="AAAAAA"/>
                </a:solidFill>
                <a:latin typeface="Calibri" pitchFamily="34" charset="0"/>
                <a:ea typeface="Calibri" pitchFamily="34" charset="-122"/>
                <a:cs typeface="Calibri" pitchFamily="34" charset="-120"/>
              </a:rPr>
              <a:t>CIBOP · Module 1 · D1.8</a:t>
            </a:r>
            <a:endParaRPr lang="en-US" sz="8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4F6FA"/>
          </a:solidFill>
          <a:ln/>
        </p:spPr>
      </p:sp>
      <p:sp>
        <p:nvSpPr>
          <p:cNvPr id="3" name="Shape 1"/>
          <p:cNvSpPr/>
          <p:nvPr/>
        </p:nvSpPr>
        <p:spPr>
          <a:xfrm>
            <a:off x="0" y="0"/>
            <a:ext cx="12192000" cy="73152"/>
          </a:xfrm>
          <a:prstGeom prst="rect">
            <a:avLst/>
          </a:prstGeom>
          <a:solidFill>
            <a:srgbClr val="005F5F"/>
          </a:solidFill>
          <a:ln/>
        </p:spPr>
      </p:sp>
      <p:sp>
        <p:nvSpPr>
          <p:cNvPr id="4" name="Shape 2"/>
          <p:cNvSpPr/>
          <p:nvPr/>
        </p:nvSpPr>
        <p:spPr>
          <a:xfrm>
            <a:off x="0" y="6784848"/>
            <a:ext cx="12192000" cy="73152"/>
          </a:xfrm>
          <a:prstGeom prst="rect">
            <a:avLst/>
          </a:prstGeom>
          <a:solidFill>
            <a:srgbClr val="1E3A5F"/>
          </a:solidFill>
          <a:ln/>
        </p:spPr>
      </p:sp>
      <p:sp>
        <p:nvSpPr>
          <p:cNvPr id="5" name="Shape 3"/>
          <p:cNvSpPr/>
          <p:nvPr/>
        </p:nvSpPr>
        <p:spPr>
          <a:xfrm>
            <a:off x="0" y="73152"/>
            <a:ext cx="1828800" cy="347472"/>
          </a:xfrm>
          <a:prstGeom prst="rect">
            <a:avLst/>
          </a:prstGeom>
          <a:solidFill>
            <a:srgbClr val="005F5F"/>
          </a:solidFill>
          <a:ln/>
        </p:spPr>
      </p:sp>
      <p:sp>
        <p:nvSpPr>
          <p:cNvPr id="6" name="Text 4"/>
          <p:cNvSpPr/>
          <p:nvPr/>
        </p:nvSpPr>
        <p:spPr>
          <a:xfrm>
            <a:off x="0" y="73152"/>
            <a:ext cx="1828800" cy="347472"/>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KEY CONCEPT</a:t>
            </a:r>
            <a:endParaRPr lang="en-US" sz="1000" dirty="0"/>
          </a:p>
        </p:txBody>
      </p:sp>
      <p:sp>
        <p:nvSpPr>
          <p:cNvPr id="7" name="Shape 5"/>
          <p:cNvSpPr/>
          <p:nvPr/>
        </p:nvSpPr>
        <p:spPr>
          <a:xfrm>
            <a:off x="10360152" y="73152"/>
            <a:ext cx="1828800" cy="347472"/>
          </a:xfrm>
          <a:prstGeom prst="rect">
            <a:avLst/>
          </a:prstGeom>
          <a:solidFill>
            <a:srgbClr val="005F5F"/>
          </a:solidFill>
          <a:ln/>
        </p:spPr>
      </p:sp>
      <p:sp>
        <p:nvSpPr>
          <p:cNvPr id="8" name="Text 6"/>
          <p:cNvSpPr/>
          <p:nvPr/>
        </p:nvSpPr>
        <p:spPr>
          <a:xfrm>
            <a:off x="10360152" y="73152"/>
            <a:ext cx="1828800" cy="347472"/>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D1.8</a:t>
            </a:r>
            <a:endParaRPr lang="en-US" sz="1000" dirty="0"/>
          </a:p>
        </p:txBody>
      </p:sp>
      <p:sp>
        <p:nvSpPr>
          <p:cNvPr id="9" name="Text 7"/>
          <p:cNvSpPr/>
          <p:nvPr/>
        </p:nvSpPr>
        <p:spPr>
          <a:xfrm>
            <a:off x="274320" y="502920"/>
            <a:ext cx="11430000" cy="640080"/>
          </a:xfrm>
          <a:prstGeom prst="rect">
            <a:avLst/>
          </a:prstGeom>
          <a:noFill/>
          <a:ln/>
        </p:spPr>
        <p:txBody>
          <a:bodyPr wrap="square" rtlCol="0" anchor="ctr"/>
          <a:lstStyle/>
          <a:p>
            <a:pPr indent="0" marL="0">
              <a:buNone/>
            </a:pPr>
            <a:r>
              <a:rPr lang="en-US" sz="2200" b="1" dirty="0">
                <a:solidFill>
                  <a:srgbClr val="1E3A5F"/>
                </a:solidFill>
                <a:latin typeface="Calibri" pitchFamily="34" charset="0"/>
                <a:ea typeface="Calibri" pitchFamily="34" charset="-122"/>
                <a:cs typeface="Calibri" pitchFamily="34" charset="-120"/>
              </a:rPr>
              <a:t>Broker vs Dealer: Complete Comparison Matrix</a:t>
            </a:r>
            <a:endParaRPr lang="en-US" sz="2200" dirty="0"/>
          </a:p>
        </p:txBody>
      </p:sp>
      <p:graphicFrame>
        <p:nvGraphicFramePr>
          <p:cNvPr id="47" name="Table 0"/>
          <p:cNvGraphicFramePr>
            <a:graphicFrameLocks noGrp="1"/>
          </p:cNvGraphicFramePr>
          <p:nvPr>
            <p:extLst>
              <p:ext uri="{D42A27DB-BD31-4B8C-83A1-F6EECF244321}">
                <p14:modId xmlns:p14="http://schemas.microsoft.com/office/powerpoint/2010/main" val="1579011935"/>
              </p:ext>
            </p:extLst>
          </p:nvPr>
        </p:nvGraphicFramePr>
        <p:xfrm>
          <a:off x="274320" y="1280160"/>
          <a:ext cx="11612880" cy="4389120"/>
        </p:xfrm>
        <a:graphic>
          <a:graphicData uri="http://schemas.openxmlformats.org/drawingml/2006/table">
            <a:tbl>
              <a:tblPr/>
              <a:tblGrid>
                <a:gridCol w="3870960"/>
                <a:gridCol w="3870960"/>
                <a:gridCol w="3870960"/>
              </a:tblGrid>
              <a:tr h="487680">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DIMENSION</a:t>
                      </a:r>
                      <a:endParaRPr lang="en-US" sz="12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1E3A5F"/>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BROKER (AGENT)</a:t>
                      </a:r>
                      <a:endParaRPr lang="en-US" sz="12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1E3A5F"/>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DEALER (PRINCIPAL)</a:t>
                      </a:r>
                      <a:endParaRPr lang="en-US" sz="12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1E3A5F"/>
                    </a:solidFill>
                  </a:tcPr>
                </a:tc>
              </a:tr>
              <a:tr h="487680">
                <a:tc>
                  <a:txBody>
                    <a:bodyPr/>
                    <a:lstStyle/>
                    <a:p>
                      <a:pPr indent="0" marL="0">
                        <a:buNone/>
                      </a:pPr>
                      <a:r>
                        <a:rPr lang="en-US" sz="1100" dirty="0">
                          <a:solidFill>
                            <a:srgbClr val="1A1A1A"/>
                          </a:solidFill>
                          <a:latin typeface="Calibri" pitchFamily="34" charset="0"/>
                          <a:ea typeface="Calibri" pitchFamily="34" charset="-122"/>
                          <a:cs typeface="Calibri" pitchFamily="34" charset="-120"/>
                        </a:rPr>
                        <a:t>Legal Role</a:t>
                      </a:r>
                      <a:endParaRPr lang="en-US" sz="11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FFFFFF"/>
                    </a:solidFill>
                  </a:tcPr>
                </a:tc>
                <a:tc>
                  <a:txBody>
                    <a:bodyPr/>
                    <a:lstStyle/>
                    <a:p>
                      <a:pPr indent="0" marL="0">
                        <a:buNone/>
                      </a:pPr>
                      <a:r>
                        <a:rPr lang="en-US" sz="1100" dirty="0">
                          <a:solidFill>
                            <a:srgbClr val="1A1A1A"/>
                          </a:solidFill>
                          <a:latin typeface="Calibri" pitchFamily="34" charset="0"/>
                          <a:ea typeface="Calibri" pitchFamily="34" charset="-122"/>
                          <a:cs typeface="Calibri" pitchFamily="34" charset="-120"/>
                        </a:rPr>
                        <a:t>Agent — acts for and on behalf of client</a:t>
                      </a:r>
                      <a:endParaRPr lang="en-US" sz="11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FFFFFF"/>
                    </a:solidFill>
                  </a:tcPr>
                </a:tc>
                <a:tc>
                  <a:txBody>
                    <a:bodyPr/>
                    <a:lstStyle/>
                    <a:p>
                      <a:pPr indent="0" marL="0">
                        <a:buNone/>
                      </a:pPr>
                      <a:r>
                        <a:rPr lang="en-US" sz="1100" dirty="0">
                          <a:solidFill>
                            <a:srgbClr val="1A1A1A"/>
                          </a:solidFill>
                          <a:latin typeface="Calibri" pitchFamily="34" charset="0"/>
                          <a:ea typeface="Calibri" pitchFamily="34" charset="-122"/>
                          <a:cs typeface="Calibri" pitchFamily="34" charset="-120"/>
                        </a:rPr>
                        <a:t>Principal — acts for own account</a:t>
                      </a:r>
                      <a:endParaRPr lang="en-US" sz="11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FFFFFF"/>
                    </a:solidFill>
                  </a:tcPr>
                </a:tc>
              </a:tr>
              <a:tr h="487680">
                <a:tc>
                  <a:txBody>
                    <a:bodyPr/>
                    <a:lstStyle/>
                    <a:p>
                      <a:pPr indent="0" marL="0">
                        <a:buNone/>
                      </a:pPr>
                      <a:r>
                        <a:rPr lang="en-US" sz="1100" dirty="0">
                          <a:solidFill>
                            <a:srgbClr val="1A1A1A"/>
                          </a:solidFill>
                          <a:latin typeface="Calibri" pitchFamily="34" charset="0"/>
                          <a:ea typeface="Calibri" pitchFamily="34" charset="-122"/>
                          <a:cs typeface="Calibri" pitchFamily="34" charset="-120"/>
                        </a:rPr>
                        <a:t>Ownership of Securities</a:t>
                      </a:r>
                      <a:endParaRPr lang="en-US" sz="11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D5E3F0"/>
                    </a:solidFill>
                  </a:tcPr>
                </a:tc>
                <a:tc>
                  <a:txBody>
                    <a:bodyPr/>
                    <a:lstStyle/>
                    <a:p>
                      <a:pPr indent="0" marL="0">
                        <a:buNone/>
                      </a:pPr>
                      <a:r>
                        <a:rPr lang="en-US" sz="1100" dirty="0">
                          <a:solidFill>
                            <a:srgbClr val="1A1A1A"/>
                          </a:solidFill>
                          <a:latin typeface="Calibri" pitchFamily="34" charset="0"/>
                          <a:ea typeface="Calibri" pitchFamily="34" charset="-122"/>
                          <a:cs typeface="Calibri" pitchFamily="34" charset="-120"/>
                        </a:rPr>
                        <a:t>Never owns the securities being traded</a:t>
                      </a:r>
                      <a:endParaRPr lang="en-US" sz="11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D5E3F0"/>
                    </a:solidFill>
                  </a:tcPr>
                </a:tc>
                <a:tc>
                  <a:txBody>
                    <a:bodyPr/>
                    <a:lstStyle/>
                    <a:p>
                      <a:pPr indent="0" marL="0">
                        <a:buNone/>
                      </a:pPr>
                      <a:r>
                        <a:rPr lang="en-US" sz="1100" dirty="0">
                          <a:solidFill>
                            <a:srgbClr val="1A1A1A"/>
                          </a:solidFill>
                          <a:latin typeface="Calibri" pitchFamily="34" charset="0"/>
                          <a:ea typeface="Calibri" pitchFamily="34" charset="-122"/>
                          <a:cs typeface="Calibri" pitchFamily="34" charset="-120"/>
                        </a:rPr>
                        <a:t>Owns inventory; buys and sells from own book</a:t>
                      </a:r>
                      <a:endParaRPr lang="en-US" sz="11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D5E3F0"/>
                    </a:solidFill>
                  </a:tcPr>
                </a:tc>
              </a:tr>
              <a:tr h="487680">
                <a:tc>
                  <a:txBody>
                    <a:bodyPr/>
                    <a:lstStyle/>
                    <a:p>
                      <a:pPr indent="0" marL="0">
                        <a:buNone/>
                      </a:pPr>
                      <a:r>
                        <a:rPr lang="en-US" sz="1100" dirty="0">
                          <a:solidFill>
                            <a:srgbClr val="1A1A1A"/>
                          </a:solidFill>
                          <a:latin typeface="Calibri" pitchFamily="34" charset="0"/>
                          <a:ea typeface="Calibri" pitchFamily="34" charset="-122"/>
                          <a:cs typeface="Calibri" pitchFamily="34" charset="-120"/>
                        </a:rPr>
                        <a:t>Revenue Model</a:t>
                      </a:r>
                      <a:endParaRPr lang="en-US" sz="11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FFFFFF"/>
                    </a:solidFill>
                  </a:tcPr>
                </a:tc>
                <a:tc>
                  <a:txBody>
                    <a:bodyPr/>
                    <a:lstStyle/>
                    <a:p>
                      <a:pPr indent="0" marL="0">
                        <a:buNone/>
                      </a:pPr>
                      <a:r>
                        <a:rPr lang="en-US" sz="1100" dirty="0">
                          <a:solidFill>
                            <a:srgbClr val="1A1A1A"/>
                          </a:solidFill>
                          <a:latin typeface="Calibri" pitchFamily="34" charset="0"/>
                          <a:ea typeface="Calibri" pitchFamily="34" charset="-122"/>
                          <a:cs typeface="Calibri" pitchFamily="34" charset="-120"/>
                        </a:rPr>
                        <a:t>Commission — percentage of trade value</a:t>
                      </a:r>
                      <a:endParaRPr lang="en-US" sz="11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FFFFFF"/>
                    </a:solidFill>
                  </a:tcPr>
                </a:tc>
                <a:tc>
                  <a:txBody>
                    <a:bodyPr/>
                    <a:lstStyle/>
                    <a:p>
                      <a:pPr indent="0" marL="0">
                        <a:buNone/>
                      </a:pPr>
                      <a:r>
                        <a:rPr lang="en-US" sz="1100" dirty="0">
                          <a:solidFill>
                            <a:srgbClr val="1A1A1A"/>
                          </a:solidFill>
                          <a:latin typeface="Calibri" pitchFamily="34" charset="0"/>
                          <a:ea typeface="Calibri" pitchFamily="34" charset="-122"/>
                          <a:cs typeface="Calibri" pitchFamily="34" charset="-120"/>
                        </a:rPr>
                        <a:t>Bid-ask spread — difference between buy and sell prices</a:t>
                      </a:r>
                      <a:endParaRPr lang="en-US" sz="11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FFFFFF"/>
                    </a:solidFill>
                  </a:tcPr>
                </a:tc>
              </a:tr>
              <a:tr h="487680">
                <a:tc>
                  <a:txBody>
                    <a:bodyPr/>
                    <a:lstStyle/>
                    <a:p>
                      <a:pPr indent="0" marL="0">
                        <a:buNone/>
                      </a:pPr>
                      <a:r>
                        <a:rPr lang="en-US" sz="1100" dirty="0">
                          <a:solidFill>
                            <a:srgbClr val="1A1A1A"/>
                          </a:solidFill>
                          <a:latin typeface="Calibri" pitchFamily="34" charset="0"/>
                          <a:ea typeface="Calibri" pitchFamily="34" charset="-122"/>
                          <a:cs typeface="Calibri" pitchFamily="34" charset="-120"/>
                        </a:rPr>
                        <a:t>Market Risk</a:t>
                      </a:r>
                      <a:endParaRPr lang="en-US" sz="11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D5E3F0"/>
                    </a:solidFill>
                  </a:tcPr>
                </a:tc>
                <a:tc>
                  <a:txBody>
                    <a:bodyPr/>
                    <a:lstStyle/>
                    <a:p>
                      <a:pPr indent="0" marL="0">
                        <a:buNone/>
                      </a:pPr>
                      <a:r>
                        <a:rPr lang="en-US" sz="1100" dirty="0">
                          <a:solidFill>
                            <a:srgbClr val="1A1A1A"/>
                          </a:solidFill>
                          <a:latin typeface="Calibri" pitchFamily="34" charset="0"/>
                          <a:ea typeface="Calibri" pitchFamily="34" charset="-122"/>
                          <a:cs typeface="Calibri" pitchFamily="34" charset="-120"/>
                        </a:rPr>
                        <a:t>None — risk stays with client</a:t>
                      </a:r>
                      <a:endParaRPr lang="en-US" sz="11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D5E3F0"/>
                    </a:solidFill>
                  </a:tcPr>
                </a:tc>
                <a:tc>
                  <a:txBody>
                    <a:bodyPr/>
                    <a:lstStyle/>
                    <a:p>
                      <a:pPr indent="0" marL="0">
                        <a:buNone/>
                      </a:pPr>
                      <a:r>
                        <a:rPr lang="en-US" sz="1100" dirty="0">
                          <a:solidFill>
                            <a:srgbClr val="1A1A1A"/>
                          </a:solidFill>
                          <a:latin typeface="Calibri" pitchFamily="34" charset="0"/>
                          <a:ea typeface="Calibri" pitchFamily="34" charset="-122"/>
                          <a:cs typeface="Calibri" pitchFamily="34" charset="-120"/>
                        </a:rPr>
                        <a:t>Full inventory risk — price can move against them</a:t>
                      </a:r>
                      <a:endParaRPr lang="en-US" sz="11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D5E3F0"/>
                    </a:solidFill>
                  </a:tcPr>
                </a:tc>
              </a:tr>
              <a:tr h="487680">
                <a:tc>
                  <a:txBody>
                    <a:bodyPr/>
                    <a:lstStyle/>
                    <a:p>
                      <a:pPr indent="0" marL="0">
                        <a:buNone/>
                      </a:pPr>
                      <a:r>
                        <a:rPr lang="en-US" sz="1100" dirty="0">
                          <a:solidFill>
                            <a:srgbClr val="1A1A1A"/>
                          </a:solidFill>
                          <a:latin typeface="Calibri" pitchFamily="34" charset="0"/>
                          <a:ea typeface="Calibri" pitchFamily="34" charset="-122"/>
                          <a:cs typeface="Calibri" pitchFamily="34" charset="-120"/>
                        </a:rPr>
                        <a:t>Settlement Counterparty</a:t>
                      </a:r>
                      <a:endParaRPr lang="en-US" sz="11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FFFFFF"/>
                    </a:solidFill>
                  </a:tcPr>
                </a:tc>
                <a:tc>
                  <a:txBody>
                    <a:bodyPr/>
                    <a:lstStyle/>
                    <a:p>
                      <a:pPr indent="0" marL="0">
                        <a:buNone/>
                      </a:pPr>
                      <a:r>
                        <a:rPr lang="en-US" sz="1100" dirty="0">
                          <a:solidFill>
                            <a:srgbClr val="1A1A1A"/>
                          </a:solidFill>
                          <a:latin typeface="Calibri" pitchFamily="34" charset="0"/>
                          <a:ea typeface="Calibri" pitchFamily="34" charset="-122"/>
                          <a:cs typeface="Calibri" pitchFamily="34" charset="-120"/>
                        </a:rPr>
                        <a:t>Exchange/clearing corp settles on client's behalf</a:t>
                      </a:r>
                      <a:endParaRPr lang="en-US" sz="11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FFFFFF"/>
                    </a:solidFill>
                  </a:tcPr>
                </a:tc>
                <a:tc>
                  <a:txBody>
                    <a:bodyPr/>
                    <a:lstStyle/>
                    <a:p>
                      <a:pPr indent="0" marL="0">
                        <a:buNone/>
                      </a:pPr>
                      <a:r>
                        <a:rPr lang="en-US" sz="1100" dirty="0">
                          <a:solidFill>
                            <a:srgbClr val="1A1A1A"/>
                          </a:solidFill>
                          <a:latin typeface="Calibri" pitchFamily="34" charset="0"/>
                          <a:ea typeface="Calibri" pitchFamily="34" charset="-122"/>
                          <a:cs typeface="Calibri" pitchFamily="34" charset="-120"/>
                        </a:rPr>
                        <a:t>Dealer is the direct counterparty to every trade</a:t>
                      </a:r>
                      <a:endParaRPr lang="en-US" sz="11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FFFFFF"/>
                    </a:solidFill>
                  </a:tcPr>
                </a:tc>
              </a:tr>
              <a:tr h="487680">
                <a:tc>
                  <a:txBody>
                    <a:bodyPr/>
                    <a:lstStyle/>
                    <a:p>
                      <a:pPr indent="0" marL="0">
                        <a:buNone/>
                      </a:pPr>
                      <a:r>
                        <a:rPr lang="en-US" sz="1100" dirty="0">
                          <a:solidFill>
                            <a:srgbClr val="1A1A1A"/>
                          </a:solidFill>
                          <a:latin typeface="Calibri" pitchFamily="34" charset="0"/>
                          <a:ea typeface="Calibri" pitchFamily="34" charset="-122"/>
                          <a:cs typeface="Calibri" pitchFamily="34" charset="-120"/>
                        </a:rPr>
                        <a:t>Regulation</a:t>
                      </a:r>
                      <a:endParaRPr lang="en-US" sz="11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D5E3F0"/>
                    </a:solidFill>
                  </a:tcPr>
                </a:tc>
                <a:tc>
                  <a:txBody>
                    <a:bodyPr/>
                    <a:lstStyle/>
                    <a:p>
                      <a:pPr indent="0" marL="0">
                        <a:buNone/>
                      </a:pPr>
                      <a:r>
                        <a:rPr lang="en-US" sz="1100" dirty="0">
                          <a:solidFill>
                            <a:srgbClr val="1A1A1A"/>
                          </a:solidFill>
                          <a:latin typeface="Calibri" pitchFamily="34" charset="0"/>
                          <a:ea typeface="Calibri" pitchFamily="34" charset="-122"/>
                          <a:cs typeface="Calibri" pitchFamily="34" charset="-120"/>
                        </a:rPr>
                        <a:t>Must act in best interest of client</a:t>
                      </a:r>
                      <a:endParaRPr lang="en-US" sz="11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D5E3F0"/>
                    </a:solidFill>
                  </a:tcPr>
                </a:tc>
                <a:tc>
                  <a:txBody>
                    <a:bodyPr/>
                    <a:lstStyle/>
                    <a:p>
                      <a:pPr indent="0" marL="0">
                        <a:buNone/>
                      </a:pPr>
                      <a:r>
                        <a:rPr lang="en-US" sz="1100" dirty="0">
                          <a:solidFill>
                            <a:srgbClr val="1A1A1A"/>
                          </a:solidFill>
                          <a:latin typeface="Calibri" pitchFamily="34" charset="0"/>
                          <a:ea typeface="Calibri" pitchFamily="34" charset="-122"/>
                          <a:cs typeface="Calibri" pitchFamily="34" charset="-120"/>
                        </a:rPr>
                        <a:t>Must quote two-way prices (if market maker)</a:t>
                      </a:r>
                      <a:endParaRPr lang="en-US" sz="11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D5E3F0"/>
                    </a:solidFill>
                  </a:tcPr>
                </a:tc>
              </a:tr>
              <a:tr h="487680">
                <a:tc>
                  <a:txBody>
                    <a:bodyPr/>
                    <a:lstStyle/>
                    <a:p>
                      <a:pPr indent="0" marL="0">
                        <a:buNone/>
                      </a:pPr>
                      <a:r>
                        <a:rPr lang="en-US" sz="1100" dirty="0">
                          <a:solidFill>
                            <a:srgbClr val="1A1A1A"/>
                          </a:solidFill>
                          <a:latin typeface="Calibri" pitchFamily="34" charset="0"/>
                          <a:ea typeface="Calibri" pitchFamily="34" charset="-122"/>
                          <a:cs typeface="Calibri" pitchFamily="34" charset="-120"/>
                        </a:rPr>
                        <a:t>India Examples</a:t>
                      </a:r>
                      <a:endParaRPr lang="en-US" sz="11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FFFFFF"/>
                    </a:solidFill>
                  </a:tcPr>
                </a:tc>
                <a:tc>
                  <a:txBody>
                    <a:bodyPr/>
                    <a:lstStyle/>
                    <a:p>
                      <a:pPr indent="0" marL="0">
                        <a:buNone/>
                      </a:pPr>
                      <a:r>
                        <a:rPr lang="en-US" sz="1100" dirty="0">
                          <a:solidFill>
                            <a:srgbClr val="1A1A1A"/>
                          </a:solidFill>
                          <a:latin typeface="Calibri" pitchFamily="34" charset="0"/>
                          <a:ea typeface="Calibri" pitchFamily="34" charset="-122"/>
                          <a:cs typeface="Calibri" pitchFamily="34" charset="-120"/>
                        </a:rPr>
                        <a:t>Zerodha (pure discount broker)</a:t>
                      </a:r>
                      <a:endParaRPr lang="en-US" sz="11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FFFFFF"/>
                    </a:solidFill>
                  </a:tcPr>
                </a:tc>
                <a:tc>
                  <a:txBody>
                    <a:bodyPr/>
                    <a:lstStyle/>
                    <a:p>
                      <a:pPr indent="0" marL="0">
                        <a:buNone/>
                      </a:pPr>
                      <a:r>
                        <a:rPr lang="en-US" sz="1100" dirty="0">
                          <a:solidFill>
                            <a:srgbClr val="1A1A1A"/>
                          </a:solidFill>
                          <a:latin typeface="Calibri" pitchFamily="34" charset="0"/>
                          <a:ea typeface="Calibri" pitchFamily="34" charset="-122"/>
                          <a:cs typeface="Calibri" pitchFamily="34" charset="-120"/>
                        </a:rPr>
                        <a:t>Bank treasury FX desk, bond dealer</a:t>
                      </a:r>
                      <a:endParaRPr lang="en-US" sz="11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FFFFFF"/>
                    </a:solidFill>
                  </a:tcPr>
                </a:tc>
              </a:tr>
              <a:tr h="487680">
                <a:tc>
                  <a:txBody>
                    <a:bodyPr/>
                    <a:lstStyle/>
                    <a:p>
                      <a:pPr indent="0" marL="0">
                        <a:buNone/>
                      </a:pPr>
                      <a:r>
                        <a:rPr lang="en-US" sz="1100" dirty="0">
                          <a:solidFill>
                            <a:srgbClr val="1A1A1A"/>
                          </a:solidFill>
                          <a:latin typeface="Calibri" pitchFamily="34" charset="0"/>
                          <a:ea typeface="Calibri" pitchFamily="34" charset="-122"/>
                          <a:cs typeface="Calibri" pitchFamily="34" charset="-120"/>
                        </a:rPr>
                        <a:t>Operations Difference</a:t>
                      </a:r>
                      <a:endParaRPr lang="en-US" sz="11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D5E3F0"/>
                    </a:solidFill>
                  </a:tcPr>
                </a:tc>
                <a:tc>
                  <a:txBody>
                    <a:bodyPr/>
                    <a:lstStyle/>
                    <a:p>
                      <a:pPr indent="0" marL="0">
                        <a:buNone/>
                      </a:pPr>
                      <a:r>
                        <a:rPr lang="en-US" sz="1100" dirty="0">
                          <a:solidFill>
                            <a:srgbClr val="1A1A1A"/>
                          </a:solidFill>
                          <a:latin typeface="Calibri" pitchFamily="34" charset="0"/>
                          <a:ea typeface="Calibri" pitchFamily="34" charset="-122"/>
                          <a:cs typeface="Calibri" pitchFamily="34" charset="-120"/>
                        </a:rPr>
                        <a:t>Trade in client account; commission deducted</a:t>
                      </a:r>
                      <a:endParaRPr lang="en-US" sz="11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D5E3F0"/>
                    </a:solidFill>
                  </a:tcPr>
                </a:tc>
                <a:tc>
                  <a:txBody>
                    <a:bodyPr/>
                    <a:lstStyle/>
                    <a:p>
                      <a:pPr indent="0" marL="0">
                        <a:buNone/>
                      </a:pPr>
                      <a:r>
                        <a:rPr lang="en-US" sz="1100" dirty="0">
                          <a:solidFill>
                            <a:srgbClr val="1A1A1A"/>
                          </a:solidFill>
                          <a:latin typeface="Calibri" pitchFamily="34" charset="0"/>
                          <a:ea typeface="Calibri" pitchFamily="34" charset="-122"/>
                          <a:cs typeface="Calibri" pitchFamily="34" charset="-120"/>
                        </a:rPr>
                        <a:t>Trade in firm account; P&amp;L to trading book</a:t>
                      </a:r>
                      <a:endParaRPr lang="en-US" sz="11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D5E3F0"/>
                    </a:solidFill>
                  </a:tcPr>
                </a:tc>
              </a:tr>
            </a:tbl>
          </a:graphicData>
        </a:graphic>
      </p:graphicFrame>
      <p:sp>
        <p:nvSpPr>
          <p:cNvPr id="11" name="Text 8"/>
          <p:cNvSpPr/>
          <p:nvPr/>
        </p:nvSpPr>
        <p:spPr>
          <a:xfrm>
            <a:off x="274320" y="6126480"/>
            <a:ext cx="11612880" cy="365760"/>
          </a:xfrm>
          <a:prstGeom prst="rect">
            <a:avLst/>
          </a:prstGeom>
          <a:noFill/>
          <a:ln/>
        </p:spPr>
        <p:txBody>
          <a:bodyPr wrap="square" rtlCol="0" anchor="ctr"/>
          <a:lstStyle/>
          <a:p>
            <a:pPr indent="0" marL="0">
              <a:buNone/>
            </a:pPr>
            <a:r>
              <a:rPr lang="en-US" sz="1000" dirty="0">
                <a:solidFill>
                  <a:srgbClr val="005F5F"/>
                </a:solidFill>
                <a:latin typeface="Calibri" pitchFamily="34" charset="0"/>
                <a:ea typeface="Calibri" pitchFamily="34" charset="-122"/>
                <a:cs typeface="Calibri" pitchFamily="34" charset="-120"/>
              </a:rPr>
              <a:t>⚡  When processing a trade, always identify: is the firm acting as agent (client trade, commission) or as principal (firm inventory, spread)? The accounting, reporting, and risk treatment are entirely different.</a:t>
            </a:r>
            <a:endParaRPr lang="en-US" sz="1000" dirty="0"/>
          </a:p>
        </p:txBody>
      </p:sp>
      <p:sp>
        <p:nvSpPr>
          <p:cNvPr id="12" name="Text 9"/>
          <p:cNvSpPr/>
          <p:nvPr/>
        </p:nvSpPr>
        <p:spPr>
          <a:xfrm>
            <a:off x="0" y="6601968"/>
            <a:ext cx="12192000" cy="182880"/>
          </a:xfrm>
          <a:prstGeom prst="rect">
            <a:avLst/>
          </a:prstGeom>
          <a:noFill/>
          <a:ln/>
        </p:spPr>
        <p:txBody>
          <a:bodyPr wrap="square" rtlCol="0" anchor="ctr"/>
          <a:lstStyle/>
          <a:p>
            <a:pPr algn="ctr" indent="0" marL="0">
              <a:buNone/>
            </a:pPr>
            <a:r>
              <a:rPr lang="en-US" sz="800" dirty="0">
                <a:solidFill>
                  <a:srgbClr val="AAAAAA"/>
                </a:solidFill>
                <a:latin typeface="Calibri" pitchFamily="34" charset="0"/>
                <a:ea typeface="Calibri" pitchFamily="34" charset="-122"/>
                <a:cs typeface="Calibri" pitchFamily="34" charset="-120"/>
              </a:rPr>
              <a:t>CIBOP · Module 1 · D1.8</a:t>
            </a:r>
            <a:endParaRPr lang="en-US" sz="8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4F6FA"/>
          </a:solidFill>
          <a:ln/>
        </p:spPr>
      </p:sp>
      <p:sp>
        <p:nvSpPr>
          <p:cNvPr id="3" name="Shape 1"/>
          <p:cNvSpPr/>
          <p:nvPr/>
        </p:nvSpPr>
        <p:spPr>
          <a:xfrm>
            <a:off x="0" y="0"/>
            <a:ext cx="12192000" cy="73152"/>
          </a:xfrm>
          <a:prstGeom prst="rect">
            <a:avLst/>
          </a:prstGeom>
          <a:solidFill>
            <a:srgbClr val="1E3A5F"/>
          </a:solidFill>
          <a:ln/>
        </p:spPr>
      </p:sp>
      <p:sp>
        <p:nvSpPr>
          <p:cNvPr id="4" name="Shape 2"/>
          <p:cNvSpPr/>
          <p:nvPr/>
        </p:nvSpPr>
        <p:spPr>
          <a:xfrm>
            <a:off x="0" y="6784848"/>
            <a:ext cx="12192000" cy="73152"/>
          </a:xfrm>
          <a:prstGeom prst="rect">
            <a:avLst/>
          </a:prstGeom>
          <a:solidFill>
            <a:srgbClr val="B8860B"/>
          </a:solidFill>
          <a:ln/>
        </p:spPr>
      </p:sp>
      <p:sp>
        <p:nvSpPr>
          <p:cNvPr id="5" name="Shape 3"/>
          <p:cNvSpPr/>
          <p:nvPr/>
        </p:nvSpPr>
        <p:spPr>
          <a:xfrm>
            <a:off x="0" y="73152"/>
            <a:ext cx="1828800" cy="347472"/>
          </a:xfrm>
          <a:prstGeom prst="rect">
            <a:avLst/>
          </a:prstGeom>
          <a:solidFill>
            <a:srgbClr val="B8860B"/>
          </a:solidFill>
          <a:ln/>
        </p:spPr>
      </p:sp>
      <p:sp>
        <p:nvSpPr>
          <p:cNvPr id="6" name="Text 4"/>
          <p:cNvSpPr/>
          <p:nvPr/>
        </p:nvSpPr>
        <p:spPr>
          <a:xfrm>
            <a:off x="0" y="73152"/>
            <a:ext cx="1828800" cy="347472"/>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GOING DEEPER</a:t>
            </a:r>
            <a:endParaRPr lang="en-US" sz="1000" dirty="0"/>
          </a:p>
        </p:txBody>
      </p:sp>
      <p:sp>
        <p:nvSpPr>
          <p:cNvPr id="7" name="Shape 5"/>
          <p:cNvSpPr/>
          <p:nvPr/>
        </p:nvSpPr>
        <p:spPr>
          <a:xfrm>
            <a:off x="10360152" y="73152"/>
            <a:ext cx="1828800" cy="347472"/>
          </a:xfrm>
          <a:prstGeom prst="rect">
            <a:avLst/>
          </a:prstGeom>
          <a:solidFill>
            <a:srgbClr val="005F5F"/>
          </a:solidFill>
          <a:ln/>
        </p:spPr>
      </p:sp>
      <p:sp>
        <p:nvSpPr>
          <p:cNvPr id="8" name="Text 6"/>
          <p:cNvSpPr/>
          <p:nvPr/>
        </p:nvSpPr>
        <p:spPr>
          <a:xfrm>
            <a:off x="10360152" y="73152"/>
            <a:ext cx="1828800" cy="347472"/>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D1.8</a:t>
            </a:r>
            <a:endParaRPr lang="en-US" sz="1000" dirty="0"/>
          </a:p>
        </p:txBody>
      </p:sp>
      <p:sp>
        <p:nvSpPr>
          <p:cNvPr id="9" name="Text 7"/>
          <p:cNvSpPr/>
          <p:nvPr/>
        </p:nvSpPr>
        <p:spPr>
          <a:xfrm>
            <a:off x="274320" y="502920"/>
            <a:ext cx="11612880" cy="640080"/>
          </a:xfrm>
          <a:prstGeom prst="rect">
            <a:avLst/>
          </a:prstGeom>
          <a:noFill/>
          <a:ln/>
        </p:spPr>
        <p:txBody>
          <a:bodyPr wrap="square" rtlCol="0" anchor="ctr"/>
          <a:lstStyle/>
          <a:p>
            <a:pPr indent="0" marL="0">
              <a:buNone/>
            </a:pPr>
            <a:r>
              <a:rPr lang="en-US" sz="2200" b="1" dirty="0">
                <a:solidFill>
                  <a:srgbClr val="1E3A5F"/>
                </a:solidFill>
                <a:latin typeface="Calibri" pitchFamily="34" charset="0"/>
                <a:ea typeface="Calibri" pitchFamily="34" charset="-122"/>
                <a:cs typeface="Calibri" pitchFamily="34" charset="-120"/>
              </a:rPr>
              <a:t>Four Insights on Intermediaries and Exchanges</a:t>
            </a:r>
            <a:endParaRPr lang="en-US" sz="2200" dirty="0"/>
          </a:p>
        </p:txBody>
      </p:sp>
      <p:sp>
        <p:nvSpPr>
          <p:cNvPr id="10" name="Shape 8"/>
          <p:cNvSpPr/>
          <p:nvPr/>
        </p:nvSpPr>
        <p:spPr>
          <a:xfrm>
            <a:off x="274320" y="1280160"/>
            <a:ext cx="5669280" cy="2377440"/>
          </a:xfrm>
          <a:prstGeom prst="rect">
            <a:avLst/>
          </a:prstGeom>
          <a:solidFill>
            <a:srgbClr val="D5E3F0"/>
          </a:solidFill>
          <a:ln w="6350">
            <a:solidFill>
              <a:srgbClr val="AAAAAA"/>
            </a:solidFill>
            <a:prstDash val="solid"/>
          </a:ln>
        </p:spPr>
      </p:sp>
      <p:sp>
        <p:nvSpPr>
          <p:cNvPr id="11" name="Shape 9"/>
          <p:cNvSpPr/>
          <p:nvPr/>
        </p:nvSpPr>
        <p:spPr>
          <a:xfrm>
            <a:off x="365760" y="1371600"/>
            <a:ext cx="457200" cy="457200"/>
          </a:xfrm>
          <a:prstGeom prst="ellipse">
            <a:avLst/>
          </a:prstGeom>
          <a:solidFill>
            <a:srgbClr val="1E3A5F"/>
          </a:solidFill>
          <a:ln/>
        </p:spPr>
      </p:sp>
      <p:sp>
        <p:nvSpPr>
          <p:cNvPr id="12" name="Text 10"/>
          <p:cNvSpPr/>
          <p:nvPr/>
        </p:nvSpPr>
        <p:spPr>
          <a:xfrm>
            <a:off x="365760" y="1371600"/>
            <a:ext cx="457200" cy="45720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3" name="Text 11"/>
          <p:cNvSpPr/>
          <p:nvPr/>
        </p:nvSpPr>
        <p:spPr>
          <a:xfrm>
            <a:off x="914400" y="1371600"/>
            <a:ext cx="4892040" cy="457200"/>
          </a:xfrm>
          <a:prstGeom prst="rect">
            <a:avLst/>
          </a:prstGeom>
          <a:noFill/>
          <a:ln/>
        </p:spPr>
        <p:txBody>
          <a:bodyPr wrap="square" rtlCol="0" anchor="ctr"/>
          <a:lstStyle/>
          <a:p>
            <a:pPr indent="0" marL="0">
              <a:buNone/>
            </a:pPr>
            <a:r>
              <a:rPr lang="en-US" sz="1300" b="1" dirty="0">
                <a:solidFill>
                  <a:srgbClr val="1A1A1A"/>
                </a:solidFill>
                <a:latin typeface="Calibri" pitchFamily="34" charset="0"/>
                <a:ea typeface="Calibri" pitchFamily="34" charset="-122"/>
                <a:cs typeface="Calibri" pitchFamily="34" charset="-120"/>
              </a:rPr>
              <a:t>Most Large Brokerages Are Broker-Dealers</a:t>
            </a:r>
            <a:endParaRPr lang="en-US" sz="1300" dirty="0"/>
          </a:p>
        </p:txBody>
      </p:sp>
      <p:sp>
        <p:nvSpPr>
          <p:cNvPr id="14" name="Text 12"/>
          <p:cNvSpPr/>
          <p:nvPr/>
        </p:nvSpPr>
        <p:spPr>
          <a:xfrm>
            <a:off x="411480" y="1874520"/>
            <a:ext cx="5394960" cy="1645920"/>
          </a:xfrm>
          <a:prstGeom prst="rect">
            <a:avLst/>
          </a:prstGeom>
          <a:noFill/>
          <a:ln/>
        </p:spPr>
        <p:txBody>
          <a:bodyPr wrap="square" rtlCol="0" anchor="ctr"/>
          <a:lstStyle/>
          <a:p>
            <a:pPr indent="0" marL="0">
              <a:buNone/>
            </a:pPr>
            <a:r>
              <a:rPr lang="en-US" sz="1100" dirty="0">
                <a:solidFill>
                  <a:srgbClr val="1A1A1A"/>
                </a:solidFill>
                <a:latin typeface="Calibri" pitchFamily="34" charset="0"/>
                <a:ea typeface="Calibri" pitchFamily="34" charset="-122"/>
                <a:cs typeface="Calibri" pitchFamily="34" charset="-120"/>
              </a:rPr>
              <a:t>Pure brokers are rare in institutional markets. Most large firms — investment banks, prime brokers — do both: act as agent for client orders and as dealer from their own inventory. The operational challenge is tracking which trades are client-agency and which are principal.</a:t>
            </a:r>
            <a:endParaRPr lang="en-US" sz="1100" dirty="0"/>
          </a:p>
        </p:txBody>
      </p:sp>
      <p:sp>
        <p:nvSpPr>
          <p:cNvPr id="15" name="Shape 13"/>
          <p:cNvSpPr/>
          <p:nvPr/>
        </p:nvSpPr>
        <p:spPr>
          <a:xfrm>
            <a:off x="6126480" y="1280160"/>
            <a:ext cx="5669280" cy="2377440"/>
          </a:xfrm>
          <a:prstGeom prst="rect">
            <a:avLst/>
          </a:prstGeom>
          <a:solidFill>
            <a:srgbClr val="D4EFEF"/>
          </a:solidFill>
          <a:ln w="6350">
            <a:solidFill>
              <a:srgbClr val="AAAAAA"/>
            </a:solidFill>
            <a:prstDash val="solid"/>
          </a:ln>
        </p:spPr>
      </p:sp>
      <p:sp>
        <p:nvSpPr>
          <p:cNvPr id="16" name="Shape 14"/>
          <p:cNvSpPr/>
          <p:nvPr/>
        </p:nvSpPr>
        <p:spPr>
          <a:xfrm>
            <a:off x="6217920" y="1371600"/>
            <a:ext cx="457200" cy="457200"/>
          </a:xfrm>
          <a:prstGeom prst="ellipse">
            <a:avLst/>
          </a:prstGeom>
          <a:solidFill>
            <a:srgbClr val="005F5F"/>
          </a:solidFill>
          <a:ln/>
        </p:spPr>
      </p:sp>
      <p:sp>
        <p:nvSpPr>
          <p:cNvPr id="17" name="Text 15"/>
          <p:cNvSpPr/>
          <p:nvPr/>
        </p:nvSpPr>
        <p:spPr>
          <a:xfrm>
            <a:off x="6217920" y="1371600"/>
            <a:ext cx="457200" cy="45720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8" name="Text 16"/>
          <p:cNvSpPr/>
          <p:nvPr/>
        </p:nvSpPr>
        <p:spPr>
          <a:xfrm>
            <a:off x="6766560" y="1371600"/>
            <a:ext cx="4892040" cy="457200"/>
          </a:xfrm>
          <a:prstGeom prst="rect">
            <a:avLst/>
          </a:prstGeom>
          <a:noFill/>
          <a:ln/>
        </p:spPr>
        <p:txBody>
          <a:bodyPr wrap="square" rtlCol="0" anchor="ctr"/>
          <a:lstStyle/>
          <a:p>
            <a:pPr indent="0" marL="0">
              <a:buNone/>
            </a:pPr>
            <a:r>
              <a:rPr lang="en-US" sz="1300" b="1" dirty="0">
                <a:solidFill>
                  <a:srgbClr val="1A1A1A"/>
                </a:solidFill>
                <a:latin typeface="Calibri" pitchFamily="34" charset="0"/>
                <a:ea typeface="Calibri" pitchFamily="34" charset="-122"/>
                <a:cs typeface="Calibri" pitchFamily="34" charset="-120"/>
              </a:rPr>
              <a:t>Stock Exchanges Are Now Technology Businesses</a:t>
            </a:r>
            <a:endParaRPr lang="en-US" sz="1300" dirty="0"/>
          </a:p>
        </p:txBody>
      </p:sp>
      <p:sp>
        <p:nvSpPr>
          <p:cNvPr id="19" name="Text 17"/>
          <p:cNvSpPr/>
          <p:nvPr/>
        </p:nvSpPr>
        <p:spPr>
          <a:xfrm>
            <a:off x="6263640" y="1874520"/>
            <a:ext cx="5394960" cy="1645920"/>
          </a:xfrm>
          <a:prstGeom prst="rect">
            <a:avLst/>
          </a:prstGeom>
          <a:noFill/>
          <a:ln/>
        </p:spPr>
        <p:txBody>
          <a:bodyPr wrap="square" rtlCol="0" anchor="ctr"/>
          <a:lstStyle/>
          <a:p>
            <a:pPr indent="0" marL="0">
              <a:buNone/>
            </a:pPr>
            <a:r>
              <a:rPr lang="en-US" sz="1100" dirty="0">
                <a:solidFill>
                  <a:srgbClr val="1A1A1A"/>
                </a:solidFill>
                <a:latin typeface="Calibri" pitchFamily="34" charset="0"/>
                <a:ea typeface="Calibri" pitchFamily="34" charset="-122"/>
                <a:cs typeface="Calibri" pitchFamily="34" charset="-120"/>
              </a:rPr>
              <a:t>NSE's matching engine processes over 100,000 orders per second. The "exchange" is predominantly a software system with regulatory permissions. The physical trading floor no longer exists — your settlement is executed by algorithms in microseconds.</a:t>
            </a:r>
            <a:endParaRPr lang="en-US" sz="1100" dirty="0"/>
          </a:p>
        </p:txBody>
      </p:sp>
      <p:sp>
        <p:nvSpPr>
          <p:cNvPr id="20" name="Shape 18"/>
          <p:cNvSpPr/>
          <p:nvPr/>
        </p:nvSpPr>
        <p:spPr>
          <a:xfrm>
            <a:off x="274320" y="3840480"/>
            <a:ext cx="5669280" cy="2377440"/>
          </a:xfrm>
          <a:prstGeom prst="rect">
            <a:avLst/>
          </a:prstGeom>
          <a:solidFill>
            <a:srgbClr val="FEF9E7"/>
          </a:solidFill>
          <a:ln w="6350">
            <a:solidFill>
              <a:srgbClr val="AAAAAA"/>
            </a:solidFill>
            <a:prstDash val="solid"/>
          </a:ln>
        </p:spPr>
      </p:sp>
      <p:sp>
        <p:nvSpPr>
          <p:cNvPr id="21" name="Shape 19"/>
          <p:cNvSpPr/>
          <p:nvPr/>
        </p:nvSpPr>
        <p:spPr>
          <a:xfrm>
            <a:off x="365760" y="3931920"/>
            <a:ext cx="457200" cy="457200"/>
          </a:xfrm>
          <a:prstGeom prst="ellipse">
            <a:avLst/>
          </a:prstGeom>
          <a:solidFill>
            <a:srgbClr val="B8860B"/>
          </a:solidFill>
          <a:ln/>
        </p:spPr>
      </p:sp>
      <p:sp>
        <p:nvSpPr>
          <p:cNvPr id="22" name="Text 20"/>
          <p:cNvSpPr/>
          <p:nvPr/>
        </p:nvSpPr>
        <p:spPr>
          <a:xfrm>
            <a:off x="365760" y="3931920"/>
            <a:ext cx="457200" cy="45720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23" name="Text 21"/>
          <p:cNvSpPr/>
          <p:nvPr/>
        </p:nvSpPr>
        <p:spPr>
          <a:xfrm>
            <a:off x="914400" y="3931920"/>
            <a:ext cx="4892040" cy="457200"/>
          </a:xfrm>
          <a:prstGeom prst="rect">
            <a:avLst/>
          </a:prstGeom>
          <a:noFill/>
          <a:ln/>
        </p:spPr>
        <p:txBody>
          <a:bodyPr wrap="square" rtlCol="0" anchor="ctr"/>
          <a:lstStyle/>
          <a:p>
            <a:pPr indent="0" marL="0">
              <a:buNone/>
            </a:pPr>
            <a:r>
              <a:rPr lang="en-US" sz="1300" b="1" dirty="0">
                <a:solidFill>
                  <a:srgbClr val="1A1A1A"/>
                </a:solidFill>
                <a:latin typeface="Calibri" pitchFamily="34" charset="0"/>
                <a:ea typeface="Calibri" pitchFamily="34" charset="-122"/>
                <a:cs typeface="Calibri" pitchFamily="34" charset="-120"/>
              </a:rPr>
              <a:t>Exchange Listing Is a Quality Signal, Not Just Access</a:t>
            </a:r>
            <a:endParaRPr lang="en-US" sz="1300" dirty="0"/>
          </a:p>
        </p:txBody>
      </p:sp>
      <p:sp>
        <p:nvSpPr>
          <p:cNvPr id="24" name="Text 22"/>
          <p:cNvSpPr/>
          <p:nvPr/>
        </p:nvSpPr>
        <p:spPr>
          <a:xfrm>
            <a:off x="411480" y="4434840"/>
            <a:ext cx="5394960" cy="1645920"/>
          </a:xfrm>
          <a:prstGeom prst="rect">
            <a:avLst/>
          </a:prstGeom>
          <a:noFill/>
          <a:ln/>
        </p:spPr>
        <p:txBody>
          <a:bodyPr wrap="square" rtlCol="0" anchor="ctr"/>
          <a:lstStyle/>
          <a:p>
            <a:pPr indent="0" marL="0">
              <a:buNone/>
            </a:pPr>
            <a:r>
              <a:rPr lang="en-US" sz="1100" dirty="0">
                <a:solidFill>
                  <a:srgbClr val="1A1A1A"/>
                </a:solidFill>
                <a:latin typeface="Calibri" pitchFamily="34" charset="0"/>
                <a:ea typeface="Calibri" pitchFamily="34" charset="-122"/>
                <a:cs typeface="Calibri" pitchFamily="34" charset="-120"/>
              </a:rPr>
              <a:t>Listing on NSE/BSE requires financial disclosure, governance norms, and periodic reporting. These requirements exist to protect the investors who trade on the exchange. Unlisted companies lack these investor protections — which is why listed securities command a liquidity premium.</a:t>
            </a:r>
            <a:endParaRPr lang="en-US" sz="1100" dirty="0"/>
          </a:p>
        </p:txBody>
      </p:sp>
      <p:sp>
        <p:nvSpPr>
          <p:cNvPr id="25" name="Shape 23"/>
          <p:cNvSpPr/>
          <p:nvPr/>
        </p:nvSpPr>
        <p:spPr>
          <a:xfrm>
            <a:off x="6126480" y="3840480"/>
            <a:ext cx="5669280" cy="2377440"/>
          </a:xfrm>
          <a:prstGeom prst="rect">
            <a:avLst/>
          </a:prstGeom>
          <a:solidFill>
            <a:srgbClr val="D5E3F0"/>
          </a:solidFill>
          <a:ln w="6350">
            <a:solidFill>
              <a:srgbClr val="AAAAAA"/>
            </a:solidFill>
            <a:prstDash val="solid"/>
          </a:ln>
        </p:spPr>
      </p:sp>
      <p:sp>
        <p:nvSpPr>
          <p:cNvPr id="26" name="Shape 24"/>
          <p:cNvSpPr/>
          <p:nvPr/>
        </p:nvSpPr>
        <p:spPr>
          <a:xfrm>
            <a:off x="6217920" y="3931920"/>
            <a:ext cx="457200" cy="457200"/>
          </a:xfrm>
          <a:prstGeom prst="ellipse">
            <a:avLst/>
          </a:prstGeom>
          <a:solidFill>
            <a:srgbClr val="1E3A5F"/>
          </a:solidFill>
          <a:ln/>
        </p:spPr>
      </p:sp>
      <p:sp>
        <p:nvSpPr>
          <p:cNvPr id="27" name="Text 25"/>
          <p:cNvSpPr/>
          <p:nvPr/>
        </p:nvSpPr>
        <p:spPr>
          <a:xfrm>
            <a:off x="6217920" y="3931920"/>
            <a:ext cx="457200" cy="45720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28" name="Text 26"/>
          <p:cNvSpPr/>
          <p:nvPr/>
        </p:nvSpPr>
        <p:spPr>
          <a:xfrm>
            <a:off x="6766560" y="3931920"/>
            <a:ext cx="4892040" cy="457200"/>
          </a:xfrm>
          <a:prstGeom prst="rect">
            <a:avLst/>
          </a:prstGeom>
          <a:noFill/>
          <a:ln/>
        </p:spPr>
        <p:txBody>
          <a:bodyPr wrap="square" rtlCol="0" anchor="ctr"/>
          <a:lstStyle/>
          <a:p>
            <a:pPr indent="0" marL="0">
              <a:buNone/>
            </a:pPr>
            <a:r>
              <a:rPr lang="en-US" sz="1300" b="1" dirty="0">
                <a:solidFill>
                  <a:srgbClr val="1A1A1A"/>
                </a:solidFill>
                <a:latin typeface="Calibri" pitchFamily="34" charset="0"/>
                <a:ea typeface="Calibri" pitchFamily="34" charset="-122"/>
                <a:cs typeface="Calibri" pitchFamily="34" charset="-120"/>
              </a:rPr>
              <a:t>The Clearing Corporation Is the Exchange's Invisible Insurance Policy</a:t>
            </a:r>
            <a:endParaRPr lang="en-US" sz="1300" dirty="0"/>
          </a:p>
        </p:txBody>
      </p:sp>
      <p:sp>
        <p:nvSpPr>
          <p:cNvPr id="29" name="Text 27"/>
          <p:cNvSpPr/>
          <p:nvPr/>
        </p:nvSpPr>
        <p:spPr>
          <a:xfrm>
            <a:off x="6263640" y="4434840"/>
            <a:ext cx="5394960" cy="1645920"/>
          </a:xfrm>
          <a:prstGeom prst="rect">
            <a:avLst/>
          </a:prstGeom>
          <a:noFill/>
          <a:ln/>
        </p:spPr>
        <p:txBody>
          <a:bodyPr wrap="square" rtlCol="0" anchor="ctr"/>
          <a:lstStyle/>
          <a:p>
            <a:pPr indent="0" marL="0">
              <a:buNone/>
            </a:pPr>
            <a:r>
              <a:rPr lang="en-US" sz="1100" dirty="0">
                <a:solidFill>
                  <a:srgbClr val="1A1A1A"/>
                </a:solidFill>
                <a:latin typeface="Calibri" pitchFamily="34" charset="0"/>
                <a:ea typeface="Calibri" pitchFamily="34" charset="-122"/>
                <a:cs typeface="Calibri" pitchFamily="34" charset="-120"/>
              </a:rPr>
              <a:t>NSCCL and ICCL are what allow NSE and BSE to guarantee settlement. Without them, every trade would require you to trust the counterparty personally. The clearing corporation's default fund and margining system is the financial guarantee behind every equity trade in India.</a:t>
            </a:r>
            <a:endParaRPr lang="en-US" sz="1100" dirty="0"/>
          </a:p>
        </p:txBody>
      </p:sp>
      <p:sp>
        <p:nvSpPr>
          <p:cNvPr id="30" name="Text 28"/>
          <p:cNvSpPr/>
          <p:nvPr/>
        </p:nvSpPr>
        <p:spPr>
          <a:xfrm>
            <a:off x="0" y="6601968"/>
            <a:ext cx="12192000" cy="182880"/>
          </a:xfrm>
          <a:prstGeom prst="rect">
            <a:avLst/>
          </a:prstGeom>
          <a:noFill/>
          <a:ln/>
        </p:spPr>
        <p:txBody>
          <a:bodyPr wrap="square" rtlCol="0" anchor="ctr"/>
          <a:lstStyle/>
          <a:p>
            <a:pPr algn="ctr" indent="0" marL="0">
              <a:buNone/>
            </a:pPr>
            <a:r>
              <a:rPr lang="en-US" sz="800" dirty="0">
                <a:solidFill>
                  <a:srgbClr val="AAAAAA"/>
                </a:solidFill>
                <a:latin typeface="Calibri" pitchFamily="34" charset="0"/>
                <a:ea typeface="Calibri" pitchFamily="34" charset="-122"/>
                <a:cs typeface="Calibri" pitchFamily="34" charset="-120"/>
              </a:rPr>
              <a:t>CIBOP · Module 1 · D1.8</a:t>
            </a:r>
            <a:endParaRPr lang="en-US" sz="8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005F5F"/>
          </a:solidFill>
          <a:ln/>
        </p:spPr>
      </p:sp>
      <p:sp>
        <p:nvSpPr>
          <p:cNvPr id="3" name="Shape 1"/>
          <p:cNvSpPr/>
          <p:nvPr/>
        </p:nvSpPr>
        <p:spPr>
          <a:xfrm>
            <a:off x="0" y="0"/>
            <a:ext cx="12192000" cy="73152"/>
          </a:xfrm>
          <a:prstGeom prst="rect">
            <a:avLst/>
          </a:prstGeom>
          <a:solidFill>
            <a:srgbClr val="B8860B"/>
          </a:solidFill>
          <a:ln/>
        </p:spPr>
      </p:sp>
      <p:sp>
        <p:nvSpPr>
          <p:cNvPr id="4" name="Shape 2"/>
          <p:cNvSpPr/>
          <p:nvPr/>
        </p:nvSpPr>
        <p:spPr>
          <a:xfrm>
            <a:off x="0" y="6784848"/>
            <a:ext cx="12192000" cy="73152"/>
          </a:xfrm>
          <a:prstGeom prst="rect">
            <a:avLst/>
          </a:prstGeom>
          <a:solidFill>
            <a:srgbClr val="B8860B"/>
          </a:solidFill>
          <a:ln/>
        </p:spPr>
      </p:sp>
      <p:sp>
        <p:nvSpPr>
          <p:cNvPr id="5" name="Shape 3"/>
          <p:cNvSpPr/>
          <p:nvPr/>
        </p:nvSpPr>
        <p:spPr>
          <a:xfrm>
            <a:off x="0" y="73152"/>
            <a:ext cx="1828800" cy="347472"/>
          </a:xfrm>
          <a:prstGeom prst="rect">
            <a:avLst/>
          </a:prstGeom>
          <a:solidFill>
            <a:srgbClr val="B8860B"/>
          </a:solidFill>
          <a:ln/>
        </p:spPr>
      </p:sp>
      <p:sp>
        <p:nvSpPr>
          <p:cNvPr id="6" name="Text 4"/>
          <p:cNvSpPr/>
          <p:nvPr/>
        </p:nvSpPr>
        <p:spPr>
          <a:xfrm>
            <a:off x="0" y="73152"/>
            <a:ext cx="1828800" cy="347472"/>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THINK &amp; DISCUSS</a:t>
            </a:r>
            <a:endParaRPr lang="en-US" sz="1000" dirty="0"/>
          </a:p>
        </p:txBody>
      </p:sp>
      <p:sp>
        <p:nvSpPr>
          <p:cNvPr id="7" name="Shape 5"/>
          <p:cNvSpPr/>
          <p:nvPr/>
        </p:nvSpPr>
        <p:spPr>
          <a:xfrm>
            <a:off x="10360152" y="73152"/>
            <a:ext cx="1828800" cy="347472"/>
          </a:xfrm>
          <a:prstGeom prst="rect">
            <a:avLst/>
          </a:prstGeom>
          <a:solidFill>
            <a:srgbClr val="005F5F"/>
          </a:solidFill>
          <a:ln/>
        </p:spPr>
      </p:sp>
      <p:sp>
        <p:nvSpPr>
          <p:cNvPr id="8" name="Text 6"/>
          <p:cNvSpPr/>
          <p:nvPr/>
        </p:nvSpPr>
        <p:spPr>
          <a:xfrm>
            <a:off x="10360152" y="73152"/>
            <a:ext cx="1828800" cy="347472"/>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D1.8</a:t>
            </a:r>
            <a:endParaRPr lang="en-US" sz="1000" dirty="0"/>
          </a:p>
        </p:txBody>
      </p:sp>
      <p:sp>
        <p:nvSpPr>
          <p:cNvPr id="9" name="Shape 7"/>
          <p:cNvSpPr/>
          <p:nvPr/>
        </p:nvSpPr>
        <p:spPr>
          <a:xfrm>
            <a:off x="365760" y="914400"/>
            <a:ext cx="11155680" cy="3840480"/>
          </a:xfrm>
          <a:prstGeom prst="rect">
            <a:avLst/>
          </a:prstGeom>
          <a:solidFill>
            <a:srgbClr val="004444"/>
          </a:solidFill>
          <a:ln w="12700">
            <a:solidFill>
              <a:srgbClr val="B8860B"/>
            </a:solidFill>
            <a:prstDash val="solid"/>
          </a:ln>
        </p:spPr>
      </p:sp>
      <p:sp>
        <p:nvSpPr>
          <p:cNvPr id="10" name="Text 8"/>
          <p:cNvSpPr/>
          <p:nvPr/>
        </p:nvSpPr>
        <p:spPr>
          <a:xfrm>
            <a:off x="9144000" y="548640"/>
            <a:ext cx="2926080" cy="457200"/>
          </a:xfrm>
          <a:prstGeom prst="rect">
            <a:avLst/>
          </a:prstGeom>
          <a:noFill/>
          <a:ln/>
        </p:spPr>
        <p:txBody>
          <a:bodyPr wrap="square" rtlCol="0" anchor="ctr"/>
          <a:lstStyle/>
          <a:p>
            <a:pPr algn="r" indent="0" marL="0">
              <a:buNone/>
            </a:pPr>
            <a:r>
              <a:rPr lang="en-US" sz="1400" b="1" dirty="0">
                <a:solidFill>
                  <a:srgbClr val="B8860B"/>
                </a:solidFill>
                <a:latin typeface="Calibri" pitchFamily="34" charset="0"/>
                <a:ea typeface="Calibri" pitchFamily="34" charset="-122"/>
                <a:cs typeface="Calibri" pitchFamily="34" charset="-120"/>
              </a:rPr>
              <a:t>🕐  2 MINUTES</a:t>
            </a:r>
            <a:endParaRPr lang="en-US" sz="1400" dirty="0"/>
          </a:p>
        </p:txBody>
      </p:sp>
      <p:sp>
        <p:nvSpPr>
          <p:cNvPr id="11" name="Text 9"/>
          <p:cNvSpPr/>
          <p:nvPr/>
        </p:nvSpPr>
        <p:spPr>
          <a:xfrm>
            <a:off x="640080" y="1188720"/>
            <a:ext cx="10607040" cy="3108960"/>
          </a:xfrm>
          <a:prstGeom prst="rect">
            <a:avLst/>
          </a:prstGeom>
          <a:noFill/>
          <a:ln/>
        </p:spPr>
        <p:txBody>
          <a:bodyPr wrap="square"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"If a broker executes your order at ₹100, but the best price available at the time was ₹99 — has the broker breached its duty? What obligation does an agent owe to its principal in financial markets?"</a:t>
            </a:r>
            <a:endParaRPr lang="en-US" sz="2000" dirty="0"/>
          </a:p>
        </p:txBody>
      </p:sp>
      <p:sp>
        <p:nvSpPr>
          <p:cNvPr id="12" name="Shape 10"/>
          <p:cNvSpPr/>
          <p:nvPr/>
        </p:nvSpPr>
        <p:spPr>
          <a:xfrm>
            <a:off x="0" y="5029200"/>
            <a:ext cx="12192000" cy="914400"/>
          </a:xfrm>
          <a:prstGeom prst="rect">
            <a:avLst/>
          </a:prstGeom>
          <a:solidFill>
            <a:srgbClr val="003333"/>
          </a:solidFill>
          <a:ln/>
        </p:spPr>
      </p:sp>
      <p:sp>
        <p:nvSpPr>
          <p:cNvPr id="13" name="Text 11"/>
          <p:cNvSpPr/>
          <p:nvPr/>
        </p:nvSpPr>
        <p:spPr>
          <a:xfrm>
            <a:off x="365760" y="5029200"/>
            <a:ext cx="11430000" cy="914400"/>
          </a:xfrm>
          <a:prstGeom prst="rect">
            <a:avLst/>
          </a:prstGeom>
          <a:noFill/>
          <a:ln/>
        </p:spPr>
        <p:txBody>
          <a:bodyPr wrap="square" rtlCol="0" anchor="ctr"/>
          <a:lstStyle/>
          <a:p>
            <a:pPr indent="0" marL="0">
              <a:buNone/>
            </a:pPr>
            <a:r>
              <a:rPr lang="en-US" sz="1400" dirty="0">
                <a:solidFill>
                  <a:srgbClr val="CADCFC"/>
                </a:solidFill>
                <a:latin typeface="Calibri" pitchFamily="34" charset="0"/>
                <a:ea typeface="Calibri" pitchFamily="34" charset="-122"/>
                <a:cs typeface="Calibri" pitchFamily="34" charset="-120"/>
              </a:rPr>
              <a:t>💡  Hint: Think about best execution obligations under SEBI's broker regulations, order routing, and the difference between a commission-based agent and a fee-fiduciary.</a:t>
            </a:r>
            <a:endParaRPr lang="en-US" sz="1400" dirty="0"/>
          </a:p>
        </p:txBody>
      </p:sp>
      <p:sp>
        <p:nvSpPr>
          <p:cNvPr id="14" name="Text 12"/>
          <p:cNvSpPr/>
          <p:nvPr/>
        </p:nvSpPr>
        <p:spPr>
          <a:xfrm>
            <a:off x="0" y="6601968"/>
            <a:ext cx="12192000" cy="182880"/>
          </a:xfrm>
          <a:prstGeom prst="rect">
            <a:avLst/>
          </a:prstGeom>
          <a:noFill/>
          <a:ln/>
        </p:spPr>
        <p:txBody>
          <a:bodyPr wrap="square" rtlCol="0" anchor="ctr"/>
          <a:lstStyle/>
          <a:p>
            <a:pPr algn="ctr" indent="0" marL="0">
              <a:buNone/>
            </a:pPr>
            <a:r>
              <a:rPr lang="en-US" sz="800" dirty="0">
                <a:solidFill>
                  <a:srgbClr val="AAAAAA"/>
                </a:solidFill>
                <a:latin typeface="Calibri" pitchFamily="34" charset="0"/>
                <a:ea typeface="Calibri" pitchFamily="34" charset="-122"/>
                <a:cs typeface="Calibri" pitchFamily="34" charset="-120"/>
              </a:rPr>
              <a:t>CIBOP · Module 1 · D1.8</a:t>
            </a:r>
            <a:endParaRPr lang="en-US" sz="8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4F6FA"/>
          </a:solidFill>
          <a:ln/>
        </p:spPr>
      </p:sp>
      <p:sp>
        <p:nvSpPr>
          <p:cNvPr id="3" name="Shape 1"/>
          <p:cNvSpPr/>
          <p:nvPr/>
        </p:nvSpPr>
        <p:spPr>
          <a:xfrm>
            <a:off x="0" y="0"/>
            <a:ext cx="12192000" cy="73152"/>
          </a:xfrm>
          <a:prstGeom prst="rect">
            <a:avLst/>
          </a:prstGeom>
          <a:solidFill>
            <a:srgbClr val="B8860B"/>
          </a:solidFill>
          <a:ln/>
        </p:spPr>
      </p:sp>
      <p:sp>
        <p:nvSpPr>
          <p:cNvPr id="4" name="Shape 2"/>
          <p:cNvSpPr/>
          <p:nvPr/>
        </p:nvSpPr>
        <p:spPr>
          <a:xfrm>
            <a:off x="0" y="6784848"/>
            <a:ext cx="12192000" cy="73152"/>
          </a:xfrm>
          <a:prstGeom prst="rect">
            <a:avLst/>
          </a:prstGeom>
          <a:solidFill>
            <a:srgbClr val="1E3A5F"/>
          </a:solidFill>
          <a:ln/>
        </p:spPr>
      </p:sp>
      <p:sp>
        <p:nvSpPr>
          <p:cNvPr id="5" name="Shape 3"/>
          <p:cNvSpPr/>
          <p:nvPr/>
        </p:nvSpPr>
        <p:spPr>
          <a:xfrm>
            <a:off x="0" y="73152"/>
            <a:ext cx="1828800" cy="347472"/>
          </a:xfrm>
          <a:prstGeom prst="rect">
            <a:avLst/>
          </a:prstGeom>
          <a:solidFill>
            <a:srgbClr val="B8860B"/>
          </a:solidFill>
          <a:ln/>
        </p:spPr>
      </p:sp>
      <p:sp>
        <p:nvSpPr>
          <p:cNvPr id="6" name="Text 4"/>
          <p:cNvSpPr/>
          <p:nvPr/>
        </p:nvSpPr>
        <p:spPr>
          <a:xfrm>
            <a:off x="0" y="73152"/>
            <a:ext cx="1828800" cy="347472"/>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INTERVIEW READY</a:t>
            </a:r>
            <a:endParaRPr lang="en-US" sz="1000" dirty="0"/>
          </a:p>
        </p:txBody>
      </p:sp>
      <p:sp>
        <p:nvSpPr>
          <p:cNvPr id="7" name="Shape 5"/>
          <p:cNvSpPr/>
          <p:nvPr/>
        </p:nvSpPr>
        <p:spPr>
          <a:xfrm>
            <a:off x="10360152" y="73152"/>
            <a:ext cx="1828800" cy="347472"/>
          </a:xfrm>
          <a:prstGeom prst="rect">
            <a:avLst/>
          </a:prstGeom>
          <a:solidFill>
            <a:srgbClr val="005F5F"/>
          </a:solidFill>
          <a:ln/>
        </p:spPr>
      </p:sp>
      <p:sp>
        <p:nvSpPr>
          <p:cNvPr id="8" name="Text 6"/>
          <p:cNvSpPr/>
          <p:nvPr/>
        </p:nvSpPr>
        <p:spPr>
          <a:xfrm>
            <a:off x="10360152" y="73152"/>
            <a:ext cx="1828800" cy="347472"/>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D1.8</a:t>
            </a:r>
            <a:endParaRPr lang="en-US" sz="1000" dirty="0"/>
          </a:p>
        </p:txBody>
      </p:sp>
      <p:sp>
        <p:nvSpPr>
          <p:cNvPr id="9" name="Shape 7"/>
          <p:cNvSpPr/>
          <p:nvPr/>
        </p:nvSpPr>
        <p:spPr>
          <a:xfrm>
            <a:off x="0" y="420624"/>
            <a:ext cx="12192000" cy="1371600"/>
          </a:xfrm>
          <a:prstGeom prst="rect">
            <a:avLst/>
          </a:prstGeom>
          <a:solidFill>
            <a:srgbClr val="1E3A5F"/>
          </a:solidFill>
          <a:ln/>
        </p:spPr>
      </p:sp>
      <p:sp>
        <p:nvSpPr>
          <p:cNvPr id="10" name="Text 8"/>
          <p:cNvSpPr/>
          <p:nvPr/>
        </p:nvSpPr>
        <p:spPr>
          <a:xfrm>
            <a:off x="365760" y="502920"/>
            <a:ext cx="11430000" cy="365760"/>
          </a:xfrm>
          <a:prstGeom prst="rect">
            <a:avLst/>
          </a:prstGeom>
          <a:noFill/>
          <a:ln/>
        </p:spPr>
        <p:txBody>
          <a:bodyPr wrap="square" rtlCol="0" anchor="ctr"/>
          <a:lstStyle/>
          <a:p>
            <a:pPr indent="0" marL="0">
              <a:buNone/>
            </a:pPr>
            <a:r>
              <a:rPr lang="en-US" sz="1200" b="1" dirty="0">
                <a:solidFill>
                  <a:srgbClr val="B8860B"/>
                </a:solidFill>
                <a:latin typeface="Calibri" pitchFamily="34" charset="0"/>
                <a:ea typeface="Calibri" pitchFamily="34" charset="-122"/>
                <a:cs typeface="Calibri" pitchFamily="34" charset="-120"/>
              </a:rPr>
              <a:t>💼  Interview Question:</a:t>
            </a:r>
            <a:endParaRPr lang="en-US" sz="1200" dirty="0"/>
          </a:p>
        </p:txBody>
      </p:sp>
      <p:sp>
        <p:nvSpPr>
          <p:cNvPr id="11" name="Text 9"/>
          <p:cNvSpPr/>
          <p:nvPr/>
        </p:nvSpPr>
        <p:spPr>
          <a:xfrm>
            <a:off x="365760" y="914400"/>
            <a:ext cx="11430000" cy="822960"/>
          </a:xfrm>
          <a:prstGeom prst="rect">
            <a:avLst/>
          </a:prstGeom>
          <a:noFill/>
          <a:ln/>
        </p:spPr>
        <p:txBody>
          <a:bodyPr wrap="square"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"What is the difference between a broker and a dealer, and what are the key functions of a stock exchange?"</a:t>
            </a:r>
            <a:endParaRPr lang="en-US" sz="1700" dirty="0"/>
          </a:p>
        </p:txBody>
      </p:sp>
      <p:sp>
        <p:nvSpPr>
          <p:cNvPr id="12" name="Text 10"/>
          <p:cNvSpPr/>
          <p:nvPr/>
        </p:nvSpPr>
        <p:spPr>
          <a:xfrm>
            <a:off x="365760" y="1965960"/>
            <a:ext cx="11430000" cy="365760"/>
          </a:xfrm>
          <a:prstGeom prst="rect">
            <a:avLst/>
          </a:prstGeom>
          <a:noFill/>
          <a:ln/>
        </p:spPr>
        <p:txBody>
          <a:bodyPr wrap="square" rtlCol="0" anchor="ctr"/>
          <a:lstStyle/>
          <a:p>
            <a:pPr indent="0" marL="0">
              <a:buNone/>
            </a:pPr>
            <a:r>
              <a:rPr lang="en-US" sz="1200" b="1" dirty="0">
                <a:solidFill>
                  <a:srgbClr val="005F5F"/>
                </a:solidFill>
                <a:latin typeface="Calibri" pitchFamily="34" charset="0"/>
                <a:ea typeface="Calibri" pitchFamily="34" charset="-122"/>
                <a:cs typeface="Calibri" pitchFamily="34" charset="-120"/>
              </a:rPr>
              <a:t>STRONG ANSWER FRAMEWORK  (4 points):</a:t>
            </a:r>
            <a:endParaRPr lang="en-US" sz="1200" dirty="0"/>
          </a:p>
        </p:txBody>
      </p:sp>
      <p:sp>
        <p:nvSpPr>
          <p:cNvPr id="13" name="Shape 11"/>
          <p:cNvSpPr/>
          <p:nvPr/>
        </p:nvSpPr>
        <p:spPr>
          <a:xfrm>
            <a:off x="274320" y="2423160"/>
            <a:ext cx="457200" cy="640080"/>
          </a:xfrm>
          <a:prstGeom prst="rect">
            <a:avLst/>
          </a:prstGeom>
          <a:solidFill>
            <a:srgbClr val="1E3A5F"/>
          </a:solidFill>
          <a:ln/>
        </p:spPr>
      </p:sp>
      <p:sp>
        <p:nvSpPr>
          <p:cNvPr id="14" name="Text 12"/>
          <p:cNvSpPr/>
          <p:nvPr/>
        </p:nvSpPr>
        <p:spPr>
          <a:xfrm>
            <a:off x="274320" y="2423160"/>
            <a:ext cx="457200" cy="64008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5" name="Shape 13"/>
          <p:cNvSpPr/>
          <p:nvPr/>
        </p:nvSpPr>
        <p:spPr>
          <a:xfrm>
            <a:off x="822960" y="2423160"/>
            <a:ext cx="11064240" cy="640080"/>
          </a:xfrm>
          <a:prstGeom prst="rect">
            <a:avLst/>
          </a:prstGeom>
          <a:solidFill>
            <a:srgbClr val="D5E3F0"/>
          </a:solidFill>
          <a:ln w="6350">
            <a:solidFill>
              <a:srgbClr val="AAAAAA"/>
            </a:solidFill>
            <a:prstDash val="solid"/>
          </a:ln>
        </p:spPr>
      </p:sp>
      <p:sp>
        <p:nvSpPr>
          <p:cNvPr id="16" name="Text 14"/>
          <p:cNvSpPr/>
          <p:nvPr/>
        </p:nvSpPr>
        <p:spPr>
          <a:xfrm>
            <a:off x="914400" y="2423160"/>
            <a:ext cx="10881360" cy="640080"/>
          </a:xfrm>
          <a:prstGeom prst="rect">
            <a:avLst/>
          </a:prstGeom>
          <a:noFill/>
          <a:ln/>
        </p:spPr>
        <p:txBody>
          <a:bodyPr wrap="square" rtlCol="0" anchor="ctr"/>
          <a:lstStyle/>
          <a:p>
            <a:pPr indent="0" marL="0">
              <a:buNone/>
            </a:pPr>
            <a:r>
              <a:rPr lang="en-US" sz="1300" dirty="0">
                <a:solidFill>
                  <a:srgbClr val="1A1A1A"/>
                </a:solidFill>
                <a:latin typeface="Calibri" pitchFamily="34" charset="0"/>
                <a:ea typeface="Calibri" pitchFamily="34" charset="-122"/>
                <a:cs typeface="Calibri" pitchFamily="34" charset="-120"/>
              </a:rPr>
              <a:t>A broker is an agent — executes trades on behalf of a client, never owns the securities, earns a commission, and takes no market risk. A dealer is a principal — buys and sells from its own inventory, earns the bid-ask spread, and bears full market risk on positions.</a:t>
            </a:r>
            <a:endParaRPr lang="en-US" sz="1300" dirty="0"/>
          </a:p>
        </p:txBody>
      </p:sp>
      <p:sp>
        <p:nvSpPr>
          <p:cNvPr id="17" name="Shape 15"/>
          <p:cNvSpPr/>
          <p:nvPr/>
        </p:nvSpPr>
        <p:spPr>
          <a:xfrm>
            <a:off x="274320" y="3337560"/>
            <a:ext cx="457200" cy="640080"/>
          </a:xfrm>
          <a:prstGeom prst="rect">
            <a:avLst/>
          </a:prstGeom>
          <a:solidFill>
            <a:srgbClr val="1E3A5F"/>
          </a:solidFill>
          <a:ln/>
        </p:spPr>
      </p:sp>
      <p:sp>
        <p:nvSpPr>
          <p:cNvPr id="18" name="Text 16"/>
          <p:cNvSpPr/>
          <p:nvPr/>
        </p:nvSpPr>
        <p:spPr>
          <a:xfrm>
            <a:off x="274320" y="3337560"/>
            <a:ext cx="457200" cy="64008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9" name="Shape 17"/>
          <p:cNvSpPr/>
          <p:nvPr/>
        </p:nvSpPr>
        <p:spPr>
          <a:xfrm>
            <a:off x="822960" y="3337560"/>
            <a:ext cx="11064240" cy="640080"/>
          </a:xfrm>
          <a:prstGeom prst="rect">
            <a:avLst/>
          </a:prstGeom>
          <a:solidFill>
            <a:srgbClr val="FFFFFF"/>
          </a:solidFill>
          <a:ln w="6350">
            <a:solidFill>
              <a:srgbClr val="AAAAAA"/>
            </a:solidFill>
            <a:prstDash val="solid"/>
          </a:ln>
        </p:spPr>
      </p:sp>
      <p:sp>
        <p:nvSpPr>
          <p:cNvPr id="20" name="Text 18"/>
          <p:cNvSpPr/>
          <p:nvPr/>
        </p:nvSpPr>
        <p:spPr>
          <a:xfrm>
            <a:off x="914400" y="3337560"/>
            <a:ext cx="10881360" cy="640080"/>
          </a:xfrm>
          <a:prstGeom prst="rect">
            <a:avLst/>
          </a:prstGeom>
          <a:noFill/>
          <a:ln/>
        </p:spPr>
        <p:txBody>
          <a:bodyPr wrap="square" rtlCol="0" anchor="ctr"/>
          <a:lstStyle/>
          <a:p>
            <a:pPr indent="0" marL="0">
              <a:buNone/>
            </a:pPr>
            <a:r>
              <a:rPr lang="en-US" sz="1300" dirty="0">
                <a:solidFill>
                  <a:srgbClr val="1A1A1A"/>
                </a:solidFill>
                <a:latin typeface="Calibri" pitchFamily="34" charset="0"/>
                <a:ea typeface="Calibri" pitchFamily="34" charset="-122"/>
                <a:cs typeface="Calibri" pitchFamily="34" charset="-120"/>
              </a:rPr>
              <a:t>Most institutional intermediaries operate as broker-dealers — they act as agent for large client orders and as principal from their own book. Operations must distinguish these roles as they have different accounting, risk, and reporting treatment.</a:t>
            </a:r>
            <a:endParaRPr lang="en-US" sz="1300" dirty="0"/>
          </a:p>
        </p:txBody>
      </p:sp>
      <p:sp>
        <p:nvSpPr>
          <p:cNvPr id="21" name="Shape 19"/>
          <p:cNvSpPr/>
          <p:nvPr/>
        </p:nvSpPr>
        <p:spPr>
          <a:xfrm>
            <a:off x="274320" y="4251960"/>
            <a:ext cx="457200" cy="640080"/>
          </a:xfrm>
          <a:prstGeom prst="rect">
            <a:avLst/>
          </a:prstGeom>
          <a:solidFill>
            <a:srgbClr val="1E3A5F"/>
          </a:solidFill>
          <a:ln/>
        </p:spPr>
      </p:sp>
      <p:sp>
        <p:nvSpPr>
          <p:cNvPr id="22" name="Text 20"/>
          <p:cNvSpPr/>
          <p:nvPr/>
        </p:nvSpPr>
        <p:spPr>
          <a:xfrm>
            <a:off x="274320" y="4251960"/>
            <a:ext cx="457200" cy="64008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3" name="Shape 21"/>
          <p:cNvSpPr/>
          <p:nvPr/>
        </p:nvSpPr>
        <p:spPr>
          <a:xfrm>
            <a:off x="822960" y="4251960"/>
            <a:ext cx="11064240" cy="640080"/>
          </a:xfrm>
          <a:prstGeom prst="rect">
            <a:avLst/>
          </a:prstGeom>
          <a:solidFill>
            <a:srgbClr val="D5E3F0"/>
          </a:solidFill>
          <a:ln w="6350">
            <a:solidFill>
              <a:srgbClr val="AAAAAA"/>
            </a:solidFill>
            <a:prstDash val="solid"/>
          </a:ln>
        </p:spPr>
      </p:sp>
      <p:sp>
        <p:nvSpPr>
          <p:cNvPr id="24" name="Text 22"/>
          <p:cNvSpPr/>
          <p:nvPr/>
        </p:nvSpPr>
        <p:spPr>
          <a:xfrm>
            <a:off x="914400" y="4251960"/>
            <a:ext cx="10881360" cy="640080"/>
          </a:xfrm>
          <a:prstGeom prst="rect">
            <a:avLst/>
          </a:prstGeom>
          <a:noFill/>
          <a:ln/>
        </p:spPr>
        <p:txBody>
          <a:bodyPr wrap="square" rtlCol="0" anchor="ctr"/>
          <a:lstStyle/>
          <a:p>
            <a:pPr indent="0" marL="0">
              <a:buNone/>
            </a:pPr>
            <a:r>
              <a:rPr lang="en-US" sz="1300" dirty="0">
                <a:solidFill>
                  <a:srgbClr val="1A1A1A"/>
                </a:solidFill>
                <a:latin typeface="Calibri" pitchFamily="34" charset="0"/>
                <a:ea typeface="Calibri" pitchFamily="34" charset="-122"/>
                <a:cs typeface="Calibri" pitchFamily="34" charset="-120"/>
              </a:rPr>
              <a:t>A stock exchange serves five functions: listing (admitting eligible securities), price discovery (running the order book), trade matching (execution), settlement coordination (interface with clearing corp), and market surveillance (monitoring for manipulation).</a:t>
            </a:r>
            <a:endParaRPr lang="en-US" sz="1300" dirty="0"/>
          </a:p>
        </p:txBody>
      </p:sp>
      <p:sp>
        <p:nvSpPr>
          <p:cNvPr id="25" name="Shape 23"/>
          <p:cNvSpPr/>
          <p:nvPr/>
        </p:nvSpPr>
        <p:spPr>
          <a:xfrm>
            <a:off x="274320" y="5166360"/>
            <a:ext cx="457200" cy="640080"/>
          </a:xfrm>
          <a:prstGeom prst="rect">
            <a:avLst/>
          </a:prstGeom>
          <a:solidFill>
            <a:srgbClr val="1E3A5F"/>
          </a:solidFill>
          <a:ln/>
        </p:spPr>
      </p:sp>
      <p:sp>
        <p:nvSpPr>
          <p:cNvPr id="26" name="Text 24"/>
          <p:cNvSpPr/>
          <p:nvPr/>
        </p:nvSpPr>
        <p:spPr>
          <a:xfrm>
            <a:off x="274320" y="5166360"/>
            <a:ext cx="457200" cy="64008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7" name="Shape 25"/>
          <p:cNvSpPr/>
          <p:nvPr/>
        </p:nvSpPr>
        <p:spPr>
          <a:xfrm>
            <a:off x="822960" y="5166360"/>
            <a:ext cx="11064240" cy="640080"/>
          </a:xfrm>
          <a:prstGeom prst="rect">
            <a:avLst/>
          </a:prstGeom>
          <a:solidFill>
            <a:srgbClr val="FFFFFF"/>
          </a:solidFill>
          <a:ln w="6350">
            <a:solidFill>
              <a:srgbClr val="AAAAAA"/>
            </a:solidFill>
            <a:prstDash val="solid"/>
          </a:ln>
        </p:spPr>
      </p:sp>
      <p:sp>
        <p:nvSpPr>
          <p:cNvPr id="28" name="Text 26"/>
          <p:cNvSpPr/>
          <p:nvPr/>
        </p:nvSpPr>
        <p:spPr>
          <a:xfrm>
            <a:off x="914400" y="5166360"/>
            <a:ext cx="10881360" cy="640080"/>
          </a:xfrm>
          <a:prstGeom prst="rect">
            <a:avLst/>
          </a:prstGeom>
          <a:noFill/>
          <a:ln/>
        </p:spPr>
        <p:txBody>
          <a:bodyPr wrap="square" rtlCol="0" anchor="ctr"/>
          <a:lstStyle/>
          <a:p>
            <a:pPr indent="0" marL="0">
              <a:buNone/>
            </a:pPr>
            <a:r>
              <a:rPr lang="en-US" sz="1300" dirty="0">
                <a:solidFill>
                  <a:srgbClr val="1A1A1A"/>
                </a:solidFill>
                <a:latin typeface="Calibri" pitchFamily="34" charset="0"/>
                <a:ea typeface="Calibri" pitchFamily="34" charset="-122"/>
                <a:cs typeface="Calibri" pitchFamily="34" charset="-120"/>
              </a:rPr>
              <a:t>For operations, the exchange generates the confirmed trade record that triggers our settlement workflow — confirmation, margin check, clearing, settlement instruction, and demat transfer. Every step is traceable to the exchange match.</a:t>
            </a:r>
            <a:endParaRPr lang="en-US" sz="1300" dirty="0"/>
          </a:p>
        </p:txBody>
      </p:sp>
      <p:sp>
        <p:nvSpPr>
          <p:cNvPr id="29" name="Text 27"/>
          <p:cNvSpPr/>
          <p:nvPr/>
        </p:nvSpPr>
        <p:spPr>
          <a:xfrm>
            <a:off x="0" y="6601968"/>
            <a:ext cx="12192000" cy="182880"/>
          </a:xfrm>
          <a:prstGeom prst="rect">
            <a:avLst/>
          </a:prstGeom>
          <a:noFill/>
          <a:ln/>
        </p:spPr>
        <p:txBody>
          <a:bodyPr wrap="square" rtlCol="0" anchor="ctr"/>
          <a:lstStyle/>
          <a:p>
            <a:pPr algn="ctr" indent="0" marL="0">
              <a:buNone/>
            </a:pPr>
            <a:r>
              <a:rPr lang="en-US" sz="800" dirty="0">
                <a:solidFill>
                  <a:srgbClr val="AAAAAA"/>
                </a:solidFill>
                <a:latin typeface="Calibri" pitchFamily="34" charset="0"/>
                <a:ea typeface="Calibri" pitchFamily="34" charset="-122"/>
                <a:cs typeface="Calibri" pitchFamily="34" charset="-120"/>
              </a:rPr>
              <a:t>CIBOP · Module 1 · D1.8</a:t>
            </a:r>
            <a:endParaRPr lang="en-US" sz="8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1E3A5F"/>
          </a:solidFill>
          <a:ln/>
        </p:spPr>
      </p:sp>
      <p:sp>
        <p:nvSpPr>
          <p:cNvPr id="3" name="Shape 1"/>
          <p:cNvSpPr/>
          <p:nvPr/>
        </p:nvSpPr>
        <p:spPr>
          <a:xfrm>
            <a:off x="0" y="0"/>
            <a:ext cx="12192000" cy="73152"/>
          </a:xfrm>
          <a:prstGeom prst="rect">
            <a:avLst/>
          </a:prstGeom>
          <a:solidFill>
            <a:srgbClr val="B8860B"/>
          </a:solidFill>
          <a:ln/>
        </p:spPr>
      </p:sp>
      <p:sp>
        <p:nvSpPr>
          <p:cNvPr id="4" name="Shape 2"/>
          <p:cNvSpPr/>
          <p:nvPr/>
        </p:nvSpPr>
        <p:spPr>
          <a:xfrm>
            <a:off x="0" y="6784848"/>
            <a:ext cx="12192000" cy="73152"/>
          </a:xfrm>
          <a:prstGeom prst="rect">
            <a:avLst/>
          </a:prstGeom>
          <a:solidFill>
            <a:srgbClr val="B8860B"/>
          </a:solidFill>
          <a:ln/>
        </p:spPr>
      </p:sp>
      <p:sp>
        <p:nvSpPr>
          <p:cNvPr id="5" name="Shape 3"/>
          <p:cNvSpPr/>
          <p:nvPr/>
        </p:nvSpPr>
        <p:spPr>
          <a:xfrm>
            <a:off x="0" y="73152"/>
            <a:ext cx="1828800" cy="347472"/>
          </a:xfrm>
          <a:prstGeom prst="rect">
            <a:avLst/>
          </a:prstGeom>
          <a:solidFill>
            <a:srgbClr val="B8860B"/>
          </a:solidFill>
          <a:ln/>
        </p:spPr>
      </p:sp>
      <p:sp>
        <p:nvSpPr>
          <p:cNvPr id="6" name="Text 4"/>
          <p:cNvSpPr/>
          <p:nvPr/>
        </p:nvSpPr>
        <p:spPr>
          <a:xfrm>
            <a:off x="0" y="73152"/>
            <a:ext cx="1828800" cy="347472"/>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QUICK RECAP</a:t>
            </a:r>
            <a:endParaRPr lang="en-US" sz="1000" dirty="0"/>
          </a:p>
        </p:txBody>
      </p:sp>
      <p:sp>
        <p:nvSpPr>
          <p:cNvPr id="7" name="Shape 5"/>
          <p:cNvSpPr/>
          <p:nvPr/>
        </p:nvSpPr>
        <p:spPr>
          <a:xfrm>
            <a:off x="10360152" y="73152"/>
            <a:ext cx="1828800" cy="347472"/>
          </a:xfrm>
          <a:prstGeom prst="rect">
            <a:avLst/>
          </a:prstGeom>
          <a:solidFill>
            <a:srgbClr val="005F5F"/>
          </a:solidFill>
          <a:ln/>
        </p:spPr>
      </p:sp>
      <p:sp>
        <p:nvSpPr>
          <p:cNvPr id="8" name="Text 6"/>
          <p:cNvSpPr/>
          <p:nvPr/>
        </p:nvSpPr>
        <p:spPr>
          <a:xfrm>
            <a:off x="10360152" y="73152"/>
            <a:ext cx="1828800" cy="347472"/>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D1.9</a:t>
            </a:r>
            <a:endParaRPr lang="en-US" sz="1000" dirty="0"/>
          </a:p>
        </p:txBody>
      </p:sp>
      <p:sp>
        <p:nvSpPr>
          <p:cNvPr id="9" name="Text 7"/>
          <p:cNvSpPr/>
          <p:nvPr/>
        </p:nvSpPr>
        <p:spPr>
          <a:xfrm>
            <a:off x="8686800" y="1097280"/>
            <a:ext cx="3200400" cy="4572000"/>
          </a:xfrm>
          <a:prstGeom prst="rect">
            <a:avLst/>
          </a:prstGeom>
          <a:noFill/>
          <a:ln/>
        </p:spPr>
        <p:txBody>
          <a:bodyPr wrap="square" rtlCol="0" anchor="ctr"/>
          <a:lstStyle/>
          <a:p>
            <a:pPr algn="ctr" indent="0" marL="0">
              <a:buNone/>
            </a:pPr>
            <a:r>
              <a:rPr lang="en-US" sz="20000" b="1" dirty="0">
                <a:solidFill>
                  <a:srgbClr val="2E4A6E"/>
                </a:solidFill>
                <a:latin typeface="Calibri" pitchFamily="34" charset="0"/>
                <a:ea typeface="Calibri" pitchFamily="34" charset="-122"/>
                <a:cs typeface="Calibri" pitchFamily="34" charset="-120"/>
              </a:rPr>
              <a:t>?</a:t>
            </a:r>
            <a:endParaRPr lang="en-US" sz="20000" dirty="0"/>
          </a:p>
        </p:txBody>
      </p:sp>
      <p:sp>
        <p:nvSpPr>
          <p:cNvPr id="10" name="Text 8"/>
          <p:cNvSpPr/>
          <p:nvPr/>
        </p:nvSpPr>
        <p:spPr>
          <a:xfrm>
            <a:off x="365760" y="548640"/>
            <a:ext cx="8229600" cy="457200"/>
          </a:xfrm>
          <a:prstGeom prst="rect">
            <a:avLst/>
          </a:prstGeom>
          <a:noFill/>
          <a:ln/>
        </p:spPr>
        <p:txBody>
          <a:bodyPr wrap="square" rtlCol="0" anchor="ctr"/>
          <a:lstStyle/>
          <a:p>
            <a:pPr indent="0" marL="0">
              <a:buNone/>
            </a:pPr>
            <a:r>
              <a:rPr lang="en-US" sz="1400" b="1" dirty="0">
                <a:solidFill>
                  <a:srgbClr val="B8860B"/>
                </a:solidFill>
                <a:latin typeface="Calibri" pitchFamily="34" charset="0"/>
                <a:ea typeface="Calibri" pitchFamily="34" charset="-122"/>
                <a:cs typeface="Calibri" pitchFamily="34" charset="-120"/>
              </a:rPr>
              <a:t>D1.9  —  Market Infrastructure — Depositories, Clearing &amp; Regulators</a:t>
            </a:r>
            <a:endParaRPr lang="en-US" sz="1400" dirty="0"/>
          </a:p>
        </p:txBody>
      </p:sp>
      <p:sp>
        <p:nvSpPr>
          <p:cNvPr id="11" name="Text 9"/>
          <p:cNvSpPr/>
          <p:nvPr/>
        </p:nvSpPr>
        <p:spPr>
          <a:xfrm>
            <a:off x="365760" y="1280160"/>
            <a:ext cx="8229600" cy="3474720"/>
          </a:xfrm>
          <a:prstGeom prst="rect">
            <a:avLst/>
          </a:prstGeom>
          <a:noFill/>
          <a:ln/>
        </p:spPr>
        <p:txBody>
          <a:bodyPr wrap="square"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"Before Demat, people lost entire wealth because a share certificate got eaten by rats. That is not a joke. What exactly changed — and what is still at risk?"</a:t>
            </a:r>
            <a:endParaRPr lang="en-US" sz="2600" dirty="0"/>
          </a:p>
        </p:txBody>
      </p:sp>
      <p:sp>
        <p:nvSpPr>
          <p:cNvPr id="12" name="Shape 10"/>
          <p:cNvSpPr/>
          <p:nvPr/>
        </p:nvSpPr>
        <p:spPr>
          <a:xfrm>
            <a:off x="365760" y="5029200"/>
            <a:ext cx="8229600" cy="731520"/>
          </a:xfrm>
          <a:prstGeom prst="rect">
            <a:avLst/>
          </a:prstGeom>
          <a:solidFill>
            <a:srgbClr val="2E4A6E"/>
          </a:solidFill>
          <a:ln/>
        </p:spPr>
      </p:sp>
      <p:sp>
        <p:nvSpPr>
          <p:cNvPr id="13" name="Text 11"/>
          <p:cNvSpPr/>
          <p:nvPr/>
        </p:nvSpPr>
        <p:spPr>
          <a:xfrm>
            <a:off x="365760" y="5029200"/>
            <a:ext cx="8229600" cy="731520"/>
          </a:xfrm>
          <a:prstGeom prst="rect">
            <a:avLst/>
          </a:prstGeom>
          <a:noFill/>
          <a:ln/>
        </p:spPr>
        <p:txBody>
          <a:bodyPr wrap="square" rtlCol="0" anchor="ctr"/>
          <a:lstStyle/>
          <a:p>
            <a:pPr algn="l" indent="0" marL="0">
              <a:buNone/>
            </a:pPr>
            <a:r>
              <a:rPr lang="en-US" sz="1100" i="1" dirty="0">
                <a:solidFill>
                  <a:srgbClr val="CADCFC"/>
                </a:solidFill>
                <a:latin typeface="Calibri" pitchFamily="34" charset="0"/>
                <a:ea typeface="Calibri" pitchFamily="34" charset="-122"/>
                <a:cs typeface="Calibri" pitchFamily="34" charset="-120"/>
              </a:rPr>
              <a:t>📹  From: D1.9 · Video 1 — Depositories &amp; Clearing Corporations (EAR: IDENTIFY)</a:t>
            </a:r>
            <a:endParaRPr lang="en-US" sz="1100" dirty="0"/>
          </a:p>
        </p:txBody>
      </p:sp>
      <p:sp>
        <p:nvSpPr>
          <p:cNvPr id="14" name="Text 12"/>
          <p:cNvSpPr/>
          <p:nvPr/>
        </p:nvSpPr>
        <p:spPr>
          <a:xfrm>
            <a:off x="0" y="6601968"/>
            <a:ext cx="12192000" cy="182880"/>
          </a:xfrm>
          <a:prstGeom prst="rect">
            <a:avLst/>
          </a:prstGeom>
          <a:noFill/>
          <a:ln/>
        </p:spPr>
        <p:txBody>
          <a:bodyPr wrap="square" rtlCol="0" anchor="ctr"/>
          <a:lstStyle/>
          <a:p>
            <a:pPr algn="ctr" indent="0" marL="0">
              <a:buNone/>
            </a:pPr>
            <a:r>
              <a:rPr lang="en-US" sz="800" dirty="0">
                <a:solidFill>
                  <a:srgbClr val="AAAAAA"/>
                </a:solidFill>
                <a:latin typeface="Calibri" pitchFamily="34" charset="0"/>
                <a:ea typeface="Calibri" pitchFamily="34" charset="-122"/>
                <a:cs typeface="Calibri" pitchFamily="34" charset="-120"/>
              </a:rPr>
              <a:t>CIBOP · Module 1 · D1.9</a:t>
            </a:r>
            <a:endParaRPr lang="en-US" sz="8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4F6FA"/>
          </a:solidFill>
          <a:ln/>
        </p:spPr>
      </p:sp>
      <p:sp>
        <p:nvSpPr>
          <p:cNvPr id="3" name="Shape 1"/>
          <p:cNvSpPr/>
          <p:nvPr/>
        </p:nvSpPr>
        <p:spPr>
          <a:xfrm>
            <a:off x="0" y="0"/>
            <a:ext cx="12192000" cy="73152"/>
          </a:xfrm>
          <a:prstGeom prst="rect">
            <a:avLst/>
          </a:prstGeom>
          <a:solidFill>
            <a:srgbClr val="1E3A5F"/>
          </a:solidFill>
          <a:ln/>
        </p:spPr>
      </p:sp>
      <p:sp>
        <p:nvSpPr>
          <p:cNvPr id="4" name="Shape 2"/>
          <p:cNvSpPr/>
          <p:nvPr/>
        </p:nvSpPr>
        <p:spPr>
          <a:xfrm>
            <a:off x="0" y="6784848"/>
            <a:ext cx="12192000" cy="73152"/>
          </a:xfrm>
          <a:prstGeom prst="rect">
            <a:avLst/>
          </a:prstGeom>
          <a:solidFill>
            <a:srgbClr val="005F5F"/>
          </a:solidFill>
          <a:ln/>
        </p:spPr>
      </p:sp>
      <p:sp>
        <p:nvSpPr>
          <p:cNvPr id="5" name="Shape 3"/>
          <p:cNvSpPr/>
          <p:nvPr/>
        </p:nvSpPr>
        <p:spPr>
          <a:xfrm>
            <a:off x="0" y="73152"/>
            <a:ext cx="1828800" cy="347472"/>
          </a:xfrm>
          <a:prstGeom prst="rect">
            <a:avLst/>
          </a:prstGeom>
          <a:solidFill>
            <a:srgbClr val="C0392B"/>
          </a:solidFill>
          <a:ln/>
        </p:spPr>
      </p:sp>
      <p:sp>
        <p:nvSpPr>
          <p:cNvPr id="6" name="Text 4"/>
          <p:cNvSpPr/>
          <p:nvPr/>
        </p:nvSpPr>
        <p:spPr>
          <a:xfrm>
            <a:off x="0" y="73152"/>
            <a:ext cx="1828800" cy="347472"/>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SCENARIO</a:t>
            </a:r>
            <a:endParaRPr lang="en-US" sz="1000" dirty="0"/>
          </a:p>
        </p:txBody>
      </p:sp>
      <p:sp>
        <p:nvSpPr>
          <p:cNvPr id="7" name="Shape 5"/>
          <p:cNvSpPr/>
          <p:nvPr/>
        </p:nvSpPr>
        <p:spPr>
          <a:xfrm>
            <a:off x="10360152" y="73152"/>
            <a:ext cx="1828800" cy="347472"/>
          </a:xfrm>
          <a:prstGeom prst="rect">
            <a:avLst/>
          </a:prstGeom>
          <a:solidFill>
            <a:srgbClr val="005F5F"/>
          </a:solidFill>
          <a:ln/>
        </p:spPr>
      </p:sp>
      <p:sp>
        <p:nvSpPr>
          <p:cNvPr id="8" name="Text 6"/>
          <p:cNvSpPr/>
          <p:nvPr/>
        </p:nvSpPr>
        <p:spPr>
          <a:xfrm>
            <a:off x="10360152" y="73152"/>
            <a:ext cx="1828800" cy="347472"/>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D1.9</a:t>
            </a:r>
            <a:endParaRPr lang="en-US" sz="1000" dirty="0"/>
          </a:p>
        </p:txBody>
      </p:sp>
      <p:sp>
        <p:nvSpPr>
          <p:cNvPr id="9" name="Shape 7"/>
          <p:cNvSpPr/>
          <p:nvPr/>
        </p:nvSpPr>
        <p:spPr>
          <a:xfrm>
            <a:off x="0" y="420624"/>
            <a:ext cx="12192000" cy="914400"/>
          </a:xfrm>
          <a:prstGeom prst="rect">
            <a:avLst/>
          </a:prstGeom>
          <a:solidFill>
            <a:srgbClr val="1E3A5F"/>
          </a:solidFill>
          <a:ln/>
        </p:spPr>
      </p:sp>
      <p:sp>
        <p:nvSpPr>
          <p:cNvPr id="10" name="Text 8"/>
          <p:cNvSpPr/>
          <p:nvPr/>
        </p:nvSpPr>
        <p:spPr>
          <a:xfrm>
            <a:off x="365760" y="420624"/>
            <a:ext cx="11430000" cy="914400"/>
          </a:xfrm>
          <a:prstGeom prst="rect">
            <a:avLst/>
          </a:prstGeom>
          <a:noFill/>
          <a:ln/>
        </p:spPr>
        <p:txBody>
          <a:bodyPr wrap="square"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T+1 Settlement in India 2023: Faster Is Better, Until It Isn't</a:t>
            </a:r>
            <a:endParaRPr lang="en-US" sz="2000" dirty="0"/>
          </a:p>
        </p:txBody>
      </p:sp>
      <p:sp>
        <p:nvSpPr>
          <p:cNvPr id="11" name="Text 9"/>
          <p:cNvSpPr/>
          <p:nvPr/>
        </p:nvSpPr>
        <p:spPr>
          <a:xfrm>
            <a:off x="365760" y="1554480"/>
            <a:ext cx="7498080" cy="2926080"/>
          </a:xfrm>
          <a:prstGeom prst="rect">
            <a:avLst/>
          </a:prstGeom>
          <a:noFill/>
          <a:ln/>
        </p:spPr>
        <p:txBody>
          <a:bodyPr wrap="square" rtlCol="0" anchor="ctr"/>
          <a:lstStyle/>
          <a:p>
            <a:pPr indent="0" marL="0">
              <a:buNone/>
            </a:pPr>
            <a:r>
              <a:rPr lang="en-US" sz="1400" dirty="0">
                <a:solidFill>
                  <a:srgbClr val="1A1A1A"/>
                </a:solidFill>
                <a:latin typeface="Calibri" pitchFamily="34" charset="0"/>
                <a:ea typeface="Calibri" pitchFamily="34" charset="-122"/>
                <a:cs typeface="Calibri" pitchFamily="34" charset="-120"/>
              </a:rPr>
              <a:t>India moved to T+1 equity settlement in January 2023 — making it one of the fastest equity settlement cycles globally, ahead of the US (T+2 until 2024). This shortened the time between trade execution and securities delivery.</a:t>
            </a:r>
            <a:endParaRPr lang="en-US" sz="1400" dirty="0"/>
          </a:p>
          <a:p>
            <a:pPr indent="0" marL="0">
              <a:buNone/>
            </a:pPr>
            <a:endParaRPr lang="en-US" sz="1400" dirty="0"/>
          </a:p>
          <a:p>
            <a:pPr indent="0" marL="0">
              <a:buNone/>
            </a:pPr>
            <a:r>
              <a:rPr lang="en-US" sz="1400" dirty="0">
                <a:solidFill>
                  <a:srgbClr val="1A1A1A"/>
                </a:solidFill>
                <a:latin typeface="Calibri" pitchFamily="34" charset="0"/>
                <a:ea typeface="Calibri" pitchFamily="34" charset="-122"/>
                <a:cs typeface="Calibri" pitchFamily="34" charset="-120"/>
              </a:rPr>
              <a:t>Benefit: reduced counterparty risk, faster capital recycling for investors. Challenge: FPI custodians complained they could not fund settlement in 24 hours due to FX conversion timing. SEBI maintained T+1 — requiring FPIs to pre-fund or work around currency timing.</a:t>
            </a:r>
            <a:endParaRPr lang="en-US" sz="1400" dirty="0"/>
          </a:p>
        </p:txBody>
      </p:sp>
      <p:sp>
        <p:nvSpPr>
          <p:cNvPr id="12" name="Shape 10"/>
          <p:cNvSpPr/>
          <p:nvPr/>
        </p:nvSpPr>
        <p:spPr>
          <a:xfrm>
            <a:off x="8046720" y="1554480"/>
            <a:ext cx="3931920" cy="2926080"/>
          </a:xfrm>
          <a:prstGeom prst="rect">
            <a:avLst/>
          </a:prstGeom>
          <a:solidFill>
            <a:srgbClr val="D5E3F0"/>
          </a:solidFill>
          <a:ln w="12700">
            <a:solidFill>
              <a:srgbClr val="1E3A5F"/>
            </a:solidFill>
            <a:prstDash val="solid"/>
          </a:ln>
        </p:spPr>
      </p:sp>
      <p:sp>
        <p:nvSpPr>
          <p:cNvPr id="13" name="Text 11"/>
          <p:cNvSpPr/>
          <p:nvPr/>
        </p:nvSpPr>
        <p:spPr>
          <a:xfrm>
            <a:off x="8046720" y="1554480"/>
            <a:ext cx="3931920" cy="2926080"/>
          </a:xfrm>
          <a:prstGeom prst="rect">
            <a:avLst/>
          </a:prstGeom>
          <a:noFill/>
          <a:ln/>
        </p:spPr>
        <p:txBody>
          <a:bodyPr wrap="square" rtlCol="0" anchor="t"/>
          <a:lstStyle/>
          <a:p>
            <a:pPr indent="0" marL="0">
              <a:buNone/>
            </a:pPr>
            <a:r>
              <a:rPr lang="en-US" sz="1300" dirty="0">
                <a:solidFill>
                  <a:srgbClr val="1E3A5F"/>
                </a:solidFill>
                <a:latin typeface="Calibri" pitchFamily="34" charset="0"/>
                <a:ea typeface="Calibri" pitchFamily="34" charset="-122"/>
                <a:cs typeface="Calibri" pitchFamily="34" charset="-120"/>
              </a:rPr>
              <a:t>T+1 INDIA:</a:t>
            </a:r>
            <a:endParaRPr lang="en-US" sz="1300" dirty="0"/>
          </a:p>
          <a:p>
            <a:pPr indent="0" marL="0">
              <a:buNone/>
            </a:pPr>
            <a:endParaRPr lang="en-US" sz="1300" dirty="0"/>
          </a:p>
          <a:p>
            <a:pPr indent="0" marL="0">
              <a:buNone/>
            </a:pPr>
            <a:r>
              <a:rPr lang="en-US" sz="1300" dirty="0">
                <a:solidFill>
                  <a:srgbClr val="1E3A5F"/>
                </a:solidFill>
                <a:latin typeface="Calibri" pitchFamily="34" charset="0"/>
                <a:ea typeface="Calibri" pitchFamily="34" charset="-122"/>
                <a:cs typeface="Calibri" pitchFamily="34" charset="-120"/>
              </a:rPr>
              <a:t>Jan 2023</a:t>
            </a:r>
            <a:endParaRPr lang="en-US" sz="1300" dirty="0"/>
          </a:p>
          <a:p>
            <a:pPr indent="0" marL="0">
              <a:buNone/>
            </a:pPr>
            <a:r>
              <a:rPr lang="en-US" sz="1300" dirty="0">
                <a:solidFill>
                  <a:srgbClr val="1E3A5F"/>
                </a:solidFill>
                <a:latin typeface="Calibri" pitchFamily="34" charset="0"/>
                <a:ea typeface="Calibri" pitchFamily="34" charset="-122"/>
                <a:cs typeface="Calibri" pitchFamily="34" charset="-120"/>
              </a:rPr>
              <a:t>full rollout</a:t>
            </a:r>
            <a:endParaRPr lang="en-US" sz="1300" dirty="0"/>
          </a:p>
          <a:p>
            <a:pPr indent="0" marL="0">
              <a:buNone/>
            </a:pPr>
            <a:endParaRPr lang="en-US" sz="1300" dirty="0"/>
          </a:p>
          <a:p>
            <a:pPr indent="0" marL="0">
              <a:buNone/>
            </a:pPr>
            <a:r>
              <a:rPr lang="en-US" sz="1300" dirty="0">
                <a:solidFill>
                  <a:srgbClr val="1E3A5F"/>
                </a:solidFill>
                <a:latin typeface="Calibri" pitchFamily="34" charset="0"/>
                <a:ea typeface="Calibri" pitchFamily="34" charset="-122"/>
                <a:cs typeface="Calibri" pitchFamily="34" charset="-120"/>
              </a:rPr>
              <a:t>&lt;24 hrs</a:t>
            </a:r>
            <a:endParaRPr lang="en-US" sz="1300" dirty="0"/>
          </a:p>
          <a:p>
            <a:pPr indent="0" marL="0">
              <a:buNone/>
            </a:pPr>
            <a:r>
              <a:rPr lang="en-US" sz="1300" dirty="0">
                <a:solidFill>
                  <a:srgbClr val="1E3A5F"/>
                </a:solidFill>
                <a:latin typeface="Calibri" pitchFamily="34" charset="0"/>
                <a:ea typeface="Calibri" pitchFamily="34" charset="-122"/>
                <a:cs typeface="Calibri" pitchFamily="34" charset="-120"/>
              </a:rPr>
              <a:t>trade to settlement</a:t>
            </a:r>
            <a:endParaRPr lang="en-US" sz="1300" dirty="0"/>
          </a:p>
          <a:p>
            <a:pPr indent="0" marL="0">
              <a:buNone/>
            </a:pPr>
            <a:endParaRPr lang="en-US" sz="1300" dirty="0"/>
          </a:p>
          <a:p>
            <a:pPr indent="0" marL="0">
              <a:buNone/>
            </a:pPr>
            <a:r>
              <a:rPr lang="en-US" sz="1300" dirty="0">
                <a:solidFill>
                  <a:srgbClr val="1E3A5F"/>
                </a:solidFill>
                <a:latin typeface="Calibri" pitchFamily="34" charset="0"/>
                <a:ea typeface="Calibri" pitchFamily="34" charset="-122"/>
                <a:cs typeface="Calibri" pitchFamily="34" charset="-120"/>
              </a:rPr>
              <a:t>US: T+2 until</a:t>
            </a:r>
            <a:endParaRPr lang="en-US" sz="1300" dirty="0"/>
          </a:p>
          <a:p>
            <a:pPr indent="0" marL="0">
              <a:buNone/>
            </a:pPr>
            <a:r>
              <a:rPr lang="en-US" sz="1300" dirty="0">
                <a:solidFill>
                  <a:srgbClr val="1E3A5F"/>
                </a:solidFill>
                <a:latin typeface="Calibri" pitchFamily="34" charset="0"/>
                <a:ea typeface="Calibri" pitchFamily="34" charset="-122"/>
                <a:cs typeface="Calibri" pitchFamily="34" charset="-120"/>
              </a:rPr>
              <a:t>May 2024</a:t>
            </a:r>
            <a:endParaRPr lang="en-US" sz="1300" dirty="0"/>
          </a:p>
          <a:p>
            <a:pPr indent="0" marL="0">
              <a:buNone/>
            </a:pPr>
            <a:endParaRPr lang="en-US" sz="1300" dirty="0"/>
          </a:p>
          <a:p>
            <a:pPr indent="0" marL="0">
              <a:buNone/>
            </a:pPr>
            <a:r>
              <a:rPr lang="en-US" sz="1300" dirty="0">
                <a:solidFill>
                  <a:srgbClr val="1E3A5F"/>
                </a:solidFill>
                <a:latin typeface="Calibri" pitchFamily="34" charset="0"/>
                <a:ea typeface="Calibri" pitchFamily="34" charset="-122"/>
                <a:cs typeface="Calibri" pitchFamily="34" charset="-120"/>
              </a:rPr>
              <a:t>FPI pre-funding</a:t>
            </a:r>
            <a:endParaRPr lang="en-US" sz="1300" dirty="0"/>
          </a:p>
          <a:p>
            <a:pPr indent="0" marL="0">
              <a:buNone/>
            </a:pPr>
            <a:r>
              <a:rPr lang="en-US" sz="1300" dirty="0">
                <a:solidFill>
                  <a:srgbClr val="1E3A5F"/>
                </a:solidFill>
                <a:latin typeface="Calibri" pitchFamily="34" charset="0"/>
                <a:ea typeface="Calibri" pitchFamily="34" charset="-122"/>
                <a:cs typeface="Calibri" pitchFamily="34" charset="-120"/>
              </a:rPr>
              <a:t>required</a:t>
            </a:r>
            <a:endParaRPr lang="en-US" sz="1300" dirty="0"/>
          </a:p>
          <a:p>
            <a:pPr indent="0" marL="0">
              <a:buNone/>
            </a:pPr>
            <a:endParaRPr lang="en-US" sz="1300" dirty="0"/>
          </a:p>
          <a:p>
            <a:pPr indent="0" marL="0">
              <a:buNone/>
            </a:pPr>
            <a:r>
              <a:rPr lang="en-US" sz="1300" dirty="0">
                <a:solidFill>
                  <a:srgbClr val="1E3A5F"/>
                </a:solidFill>
                <a:latin typeface="Calibri" pitchFamily="34" charset="0"/>
                <a:ea typeface="Calibri" pitchFamily="34" charset="-122"/>
                <a:cs typeface="Calibri" pitchFamily="34" charset="-120"/>
              </a:rPr>
              <a:t>CCIL processes</a:t>
            </a:r>
            <a:endParaRPr lang="en-US" sz="1300" dirty="0"/>
          </a:p>
          <a:p>
            <a:pPr indent="0" marL="0">
              <a:buNone/>
            </a:pPr>
            <a:r>
              <a:rPr lang="en-US" sz="1300" dirty="0">
                <a:solidFill>
                  <a:srgbClr val="1E3A5F"/>
                </a:solidFill>
                <a:latin typeface="Calibri" pitchFamily="34" charset="0"/>
                <a:ea typeface="Calibri" pitchFamily="34" charset="-122"/>
                <a:cs typeface="Calibri" pitchFamily="34" charset="-120"/>
              </a:rPr>
              <a:t>&gt;₹3 lakh Cr</a:t>
            </a:r>
            <a:endParaRPr lang="en-US" sz="1300" dirty="0"/>
          </a:p>
          <a:p>
            <a:pPr indent="0" marL="0">
              <a:buNone/>
            </a:pPr>
            <a:r>
              <a:rPr lang="en-US" sz="1300" dirty="0">
                <a:solidFill>
                  <a:srgbClr val="1E3A5F"/>
                </a:solidFill>
                <a:latin typeface="Calibri" pitchFamily="34" charset="0"/>
                <a:ea typeface="Calibri" pitchFamily="34" charset="-122"/>
                <a:cs typeface="Calibri" pitchFamily="34" charset="-120"/>
              </a:rPr>
              <a:t>daily</a:t>
            </a:r>
            <a:endParaRPr lang="en-US" sz="1300" dirty="0"/>
          </a:p>
        </p:txBody>
      </p:sp>
      <p:sp>
        <p:nvSpPr>
          <p:cNvPr id="14" name="Shape 12"/>
          <p:cNvSpPr/>
          <p:nvPr/>
        </p:nvSpPr>
        <p:spPr>
          <a:xfrm>
            <a:off x="0" y="4663440"/>
            <a:ext cx="12192000" cy="1097280"/>
          </a:xfrm>
          <a:prstGeom prst="rect">
            <a:avLst/>
          </a:prstGeom>
          <a:solidFill>
            <a:srgbClr val="005F5F"/>
          </a:solidFill>
          <a:ln/>
        </p:spPr>
      </p:sp>
      <p:sp>
        <p:nvSpPr>
          <p:cNvPr id="15" name="Text 13"/>
          <p:cNvSpPr/>
          <p:nvPr/>
        </p:nvSpPr>
        <p:spPr>
          <a:xfrm>
            <a:off x="365760" y="4663440"/>
            <a:ext cx="11430000" cy="1097280"/>
          </a:xfrm>
          <a:prstGeom prst="rect">
            <a:avLst/>
          </a:prstGeom>
          <a:noFill/>
          <a:ln/>
        </p:spPr>
        <p:txBody>
          <a:bodyPr wrap="square"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  T+1 settlement reduces risk but creates operational pressure. For a foreign portfolio investor settling equity trades in India, what are the specific operational steps that must occur between trade execution (T) and settlement (T+1)?</a:t>
            </a:r>
            <a:endParaRPr lang="en-US" sz="1600" dirty="0"/>
          </a:p>
        </p:txBody>
      </p:sp>
      <p:sp>
        <p:nvSpPr>
          <p:cNvPr id="16" name="Text 14"/>
          <p:cNvSpPr/>
          <p:nvPr/>
        </p:nvSpPr>
        <p:spPr>
          <a:xfrm>
            <a:off x="0" y="6601968"/>
            <a:ext cx="12192000" cy="182880"/>
          </a:xfrm>
          <a:prstGeom prst="rect">
            <a:avLst/>
          </a:prstGeom>
          <a:noFill/>
          <a:ln/>
        </p:spPr>
        <p:txBody>
          <a:bodyPr wrap="square" rtlCol="0" anchor="ctr"/>
          <a:lstStyle/>
          <a:p>
            <a:pPr algn="ctr" indent="0" marL="0">
              <a:buNone/>
            </a:pPr>
            <a:r>
              <a:rPr lang="en-US" sz="800" dirty="0">
                <a:solidFill>
                  <a:srgbClr val="AAAAAA"/>
                </a:solidFill>
                <a:latin typeface="Calibri" pitchFamily="34" charset="0"/>
                <a:ea typeface="Calibri" pitchFamily="34" charset="-122"/>
                <a:cs typeface="Calibri" pitchFamily="34" charset="-120"/>
              </a:rPr>
              <a:t>CIBOP · Module 1 · D1.9</a:t>
            </a:r>
            <a:endParaRPr lang="en-US" sz="8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4F6FA"/>
          </a:solidFill>
          <a:ln/>
        </p:spPr>
      </p:sp>
      <p:sp>
        <p:nvSpPr>
          <p:cNvPr id="3" name="Shape 1"/>
          <p:cNvSpPr/>
          <p:nvPr/>
        </p:nvSpPr>
        <p:spPr>
          <a:xfrm>
            <a:off x="0" y="0"/>
            <a:ext cx="12192000" cy="73152"/>
          </a:xfrm>
          <a:prstGeom prst="rect">
            <a:avLst/>
          </a:prstGeom>
          <a:solidFill>
            <a:srgbClr val="005F5F"/>
          </a:solidFill>
          <a:ln/>
        </p:spPr>
      </p:sp>
      <p:sp>
        <p:nvSpPr>
          <p:cNvPr id="4" name="Shape 2"/>
          <p:cNvSpPr/>
          <p:nvPr/>
        </p:nvSpPr>
        <p:spPr>
          <a:xfrm>
            <a:off x="0" y="6784848"/>
            <a:ext cx="12192000" cy="73152"/>
          </a:xfrm>
          <a:prstGeom prst="rect">
            <a:avLst/>
          </a:prstGeom>
          <a:solidFill>
            <a:srgbClr val="1E3A5F"/>
          </a:solidFill>
          <a:ln/>
        </p:spPr>
      </p:sp>
      <p:sp>
        <p:nvSpPr>
          <p:cNvPr id="5" name="Shape 3"/>
          <p:cNvSpPr/>
          <p:nvPr/>
        </p:nvSpPr>
        <p:spPr>
          <a:xfrm>
            <a:off x="0" y="73152"/>
            <a:ext cx="1828800" cy="347472"/>
          </a:xfrm>
          <a:prstGeom prst="rect">
            <a:avLst/>
          </a:prstGeom>
          <a:solidFill>
            <a:srgbClr val="005F5F"/>
          </a:solidFill>
          <a:ln/>
        </p:spPr>
      </p:sp>
      <p:sp>
        <p:nvSpPr>
          <p:cNvPr id="6" name="Text 4"/>
          <p:cNvSpPr/>
          <p:nvPr/>
        </p:nvSpPr>
        <p:spPr>
          <a:xfrm>
            <a:off x="0" y="73152"/>
            <a:ext cx="1828800" cy="347472"/>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KEY CONCEPT</a:t>
            </a:r>
            <a:endParaRPr lang="en-US" sz="1000" dirty="0"/>
          </a:p>
        </p:txBody>
      </p:sp>
      <p:sp>
        <p:nvSpPr>
          <p:cNvPr id="7" name="Shape 5"/>
          <p:cNvSpPr/>
          <p:nvPr/>
        </p:nvSpPr>
        <p:spPr>
          <a:xfrm>
            <a:off x="10360152" y="73152"/>
            <a:ext cx="1828800" cy="347472"/>
          </a:xfrm>
          <a:prstGeom prst="rect">
            <a:avLst/>
          </a:prstGeom>
          <a:solidFill>
            <a:srgbClr val="005F5F"/>
          </a:solidFill>
          <a:ln/>
        </p:spPr>
      </p:sp>
      <p:sp>
        <p:nvSpPr>
          <p:cNvPr id="8" name="Text 6"/>
          <p:cNvSpPr/>
          <p:nvPr/>
        </p:nvSpPr>
        <p:spPr>
          <a:xfrm>
            <a:off x="10360152" y="73152"/>
            <a:ext cx="1828800" cy="347472"/>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D1.9</a:t>
            </a:r>
            <a:endParaRPr lang="en-US" sz="1000" dirty="0"/>
          </a:p>
        </p:txBody>
      </p:sp>
      <p:sp>
        <p:nvSpPr>
          <p:cNvPr id="9" name="Text 7"/>
          <p:cNvSpPr/>
          <p:nvPr/>
        </p:nvSpPr>
        <p:spPr>
          <a:xfrm>
            <a:off x="274320" y="502920"/>
            <a:ext cx="11430000" cy="640080"/>
          </a:xfrm>
          <a:prstGeom prst="rect">
            <a:avLst/>
          </a:prstGeom>
          <a:noFill/>
          <a:ln/>
        </p:spPr>
        <p:txBody>
          <a:bodyPr wrap="square" rtlCol="0" anchor="ctr"/>
          <a:lstStyle/>
          <a:p>
            <a:pPr indent="0" marL="0">
              <a:buNone/>
            </a:pPr>
            <a:r>
              <a:rPr lang="en-US" sz="2200" b="1" dirty="0">
                <a:solidFill>
                  <a:srgbClr val="1E3A5F"/>
                </a:solidFill>
                <a:latin typeface="Calibri" pitchFamily="34" charset="0"/>
                <a:ea typeface="Calibri" pitchFamily="34" charset="-122"/>
                <a:cs typeface="Calibri" pitchFamily="34" charset="-120"/>
              </a:rPr>
              <a:t>Post-Trade Market Infrastructure: Roles and Relationships</a:t>
            </a:r>
            <a:endParaRPr lang="en-US" sz="2200" dirty="0"/>
          </a:p>
        </p:txBody>
      </p:sp>
      <p:graphicFrame>
        <p:nvGraphicFramePr>
          <p:cNvPr id="53" name="Table 0"/>
          <p:cNvGraphicFramePr>
            <a:graphicFrameLocks noGrp="1"/>
          </p:cNvGraphicFramePr>
          <p:nvPr>
            <p:extLst>
              <p:ext uri="{D42A27DB-BD31-4B8C-83A1-F6EECF244321}">
                <p14:modId xmlns:p14="http://schemas.microsoft.com/office/powerpoint/2010/main" val="1579011935"/>
              </p:ext>
            </p:extLst>
          </p:nvPr>
        </p:nvGraphicFramePr>
        <p:xfrm>
          <a:off x="274320" y="1280160"/>
          <a:ext cx="11612880" cy="4389120"/>
        </p:xfrm>
        <a:graphic>
          <a:graphicData uri="http://schemas.openxmlformats.org/drawingml/2006/table">
            <a:tbl>
              <a:tblPr/>
              <a:tblGrid>
                <a:gridCol w="2903220"/>
                <a:gridCol w="2903220"/>
                <a:gridCol w="2903220"/>
                <a:gridCol w="2903220"/>
              </a:tblGrid>
              <a:tr h="548640">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INSTITUTION</a:t>
                      </a:r>
                      <a:endParaRPr lang="en-US" sz="12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1E3A5F"/>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TYPE</a:t>
                      </a:r>
                      <a:endParaRPr lang="en-US" sz="12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1E3A5F"/>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CORE FUNCTION</a:t>
                      </a:r>
                      <a:endParaRPr lang="en-US" sz="12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1E3A5F"/>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SETTLEMENT RELEVANCE</a:t>
                      </a:r>
                      <a:endParaRPr lang="en-US" sz="12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1E3A5F"/>
                    </a:solidFill>
                  </a:tcPr>
                </a:tc>
              </a:tr>
              <a:tr h="548640">
                <a:tc>
                  <a:txBody>
                    <a:bodyPr/>
                    <a:lstStyle/>
                    <a:p>
                      <a:pPr indent="0" marL="0">
                        <a:buNone/>
                      </a:pPr>
                      <a:r>
                        <a:rPr lang="en-US" sz="1100" dirty="0">
                          <a:solidFill>
                            <a:srgbClr val="1A1A1A"/>
                          </a:solidFill>
                          <a:latin typeface="Calibri" pitchFamily="34" charset="0"/>
                          <a:ea typeface="Calibri" pitchFamily="34" charset="-122"/>
                          <a:cs typeface="Calibri" pitchFamily="34" charset="-120"/>
                        </a:rPr>
                        <a:t>NSE / BSE</a:t>
                      </a:r>
                      <a:endParaRPr lang="en-US" sz="11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FFFFFF"/>
                    </a:solidFill>
                  </a:tcPr>
                </a:tc>
                <a:tc>
                  <a:txBody>
                    <a:bodyPr/>
                    <a:lstStyle/>
                    <a:p>
                      <a:pPr indent="0" marL="0">
                        <a:buNone/>
                      </a:pPr>
                      <a:r>
                        <a:rPr lang="en-US" sz="1100" dirty="0">
                          <a:solidFill>
                            <a:srgbClr val="1A1A1A"/>
                          </a:solidFill>
                          <a:latin typeface="Calibri" pitchFamily="34" charset="0"/>
                          <a:ea typeface="Calibri" pitchFamily="34" charset="-122"/>
                          <a:cs typeface="Calibri" pitchFamily="34" charset="-120"/>
                        </a:rPr>
                        <a:t>Exchange</a:t>
                      </a:r>
                      <a:endParaRPr lang="en-US" sz="11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FFFFFF"/>
                    </a:solidFill>
                  </a:tcPr>
                </a:tc>
                <a:tc>
                  <a:txBody>
                    <a:bodyPr/>
                    <a:lstStyle/>
                    <a:p>
                      <a:pPr indent="0" marL="0">
                        <a:buNone/>
                      </a:pPr>
                      <a:r>
                        <a:rPr lang="en-US" sz="1100" dirty="0">
                          <a:solidFill>
                            <a:srgbClr val="1A1A1A"/>
                          </a:solidFill>
                          <a:latin typeface="Calibri" pitchFamily="34" charset="0"/>
                          <a:ea typeface="Calibri" pitchFamily="34" charset="-122"/>
                          <a:cs typeface="Calibri" pitchFamily="34" charset="-120"/>
                        </a:rPr>
                        <a:t>Trade matching, price discovery</a:t>
                      </a:r>
                      <a:endParaRPr lang="en-US" sz="11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FFFFFF"/>
                    </a:solidFill>
                  </a:tcPr>
                </a:tc>
                <a:tc>
                  <a:txBody>
                    <a:bodyPr/>
                    <a:lstStyle/>
                    <a:p>
                      <a:pPr indent="0" marL="0">
                        <a:buNone/>
                      </a:pPr>
                      <a:r>
                        <a:rPr lang="en-US" sz="1100" dirty="0">
                          <a:solidFill>
                            <a:srgbClr val="1A1A1A"/>
                          </a:solidFill>
                          <a:latin typeface="Calibri" pitchFamily="34" charset="0"/>
                          <a:ea typeface="Calibri" pitchFamily="34" charset="-122"/>
                          <a:cs typeface="Calibri" pitchFamily="34" charset="-120"/>
                        </a:rPr>
                        <a:t>Generates trade confirmation file for operations</a:t>
                      </a:r>
                      <a:endParaRPr lang="en-US" sz="11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FFFFFF"/>
                    </a:solidFill>
                  </a:tcPr>
                </a:tc>
              </a:tr>
              <a:tr h="548640">
                <a:tc>
                  <a:txBody>
                    <a:bodyPr/>
                    <a:lstStyle/>
                    <a:p>
                      <a:pPr indent="0" marL="0">
                        <a:buNone/>
                      </a:pPr>
                      <a:r>
                        <a:rPr lang="en-US" sz="1100" dirty="0">
                          <a:solidFill>
                            <a:srgbClr val="1A1A1A"/>
                          </a:solidFill>
                          <a:latin typeface="Calibri" pitchFamily="34" charset="0"/>
                          <a:ea typeface="Calibri" pitchFamily="34" charset="-122"/>
                          <a:cs typeface="Calibri" pitchFamily="34" charset="-120"/>
                        </a:rPr>
                        <a:t>NSCCL / ICCL</a:t>
                      </a:r>
                      <a:endParaRPr lang="en-US" sz="11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D5E3F0"/>
                    </a:solidFill>
                  </a:tcPr>
                </a:tc>
                <a:tc>
                  <a:txBody>
                    <a:bodyPr/>
                    <a:lstStyle/>
                    <a:p>
                      <a:pPr indent="0" marL="0">
                        <a:buNone/>
                      </a:pPr>
                      <a:r>
                        <a:rPr lang="en-US" sz="1100" dirty="0">
                          <a:solidFill>
                            <a:srgbClr val="1A1A1A"/>
                          </a:solidFill>
                          <a:latin typeface="Calibri" pitchFamily="34" charset="0"/>
                          <a:ea typeface="Calibri" pitchFamily="34" charset="-122"/>
                          <a:cs typeface="Calibri" pitchFamily="34" charset="-120"/>
                        </a:rPr>
                        <a:t>Clearing Corporation</a:t>
                      </a:r>
                      <a:endParaRPr lang="en-US" sz="11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D5E3F0"/>
                    </a:solidFill>
                  </a:tcPr>
                </a:tc>
                <a:tc>
                  <a:txBody>
                    <a:bodyPr/>
                    <a:lstStyle/>
                    <a:p>
                      <a:pPr indent="0" marL="0">
                        <a:buNone/>
                      </a:pPr>
                      <a:r>
                        <a:rPr lang="en-US" sz="1100" dirty="0">
                          <a:solidFill>
                            <a:srgbClr val="1A1A1A"/>
                          </a:solidFill>
                          <a:latin typeface="Calibri" pitchFamily="34" charset="0"/>
                          <a:ea typeface="Calibri" pitchFamily="34" charset="-122"/>
                          <a:cs typeface="Calibri" pitchFamily="34" charset="-120"/>
                        </a:rPr>
                        <a:t>Novation, netting, settlement guarantee</a:t>
                      </a:r>
                      <a:endParaRPr lang="en-US" sz="11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D5E3F0"/>
                    </a:solidFill>
                  </a:tcPr>
                </a:tc>
                <a:tc>
                  <a:txBody>
                    <a:bodyPr/>
                    <a:lstStyle/>
                    <a:p>
                      <a:pPr indent="0" marL="0">
                        <a:buNone/>
                      </a:pPr>
                      <a:r>
                        <a:rPr lang="en-US" sz="1100" dirty="0">
                          <a:solidFill>
                            <a:srgbClr val="1A1A1A"/>
                          </a:solidFill>
                          <a:latin typeface="Calibri" pitchFamily="34" charset="0"/>
                          <a:ea typeface="Calibri" pitchFamily="34" charset="-122"/>
                          <a:cs typeface="Calibri" pitchFamily="34" charset="-120"/>
                        </a:rPr>
                        <a:t>Final settlement obligation after netting</a:t>
                      </a:r>
                      <a:endParaRPr lang="en-US" sz="11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D5E3F0"/>
                    </a:solidFill>
                  </a:tcPr>
                </a:tc>
              </a:tr>
              <a:tr h="548640">
                <a:tc>
                  <a:txBody>
                    <a:bodyPr/>
                    <a:lstStyle/>
                    <a:p>
                      <a:pPr indent="0" marL="0">
                        <a:buNone/>
                      </a:pPr>
                      <a:r>
                        <a:rPr lang="en-US" sz="1100" dirty="0">
                          <a:solidFill>
                            <a:srgbClr val="1A1A1A"/>
                          </a:solidFill>
                          <a:latin typeface="Calibri" pitchFamily="34" charset="0"/>
                          <a:ea typeface="Calibri" pitchFamily="34" charset="-122"/>
                          <a:cs typeface="Calibri" pitchFamily="34" charset="-120"/>
                        </a:rPr>
                        <a:t>NSDL / CDSL</a:t>
                      </a:r>
                      <a:endParaRPr lang="en-US" sz="11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FFFFFF"/>
                    </a:solidFill>
                  </a:tcPr>
                </a:tc>
                <a:tc>
                  <a:txBody>
                    <a:bodyPr/>
                    <a:lstStyle/>
                    <a:p>
                      <a:pPr indent="0" marL="0">
                        <a:buNone/>
                      </a:pPr>
                      <a:r>
                        <a:rPr lang="en-US" sz="1100" dirty="0">
                          <a:solidFill>
                            <a:srgbClr val="1A1A1A"/>
                          </a:solidFill>
                          <a:latin typeface="Calibri" pitchFamily="34" charset="0"/>
                          <a:ea typeface="Calibri" pitchFamily="34" charset="-122"/>
                          <a:cs typeface="Calibri" pitchFamily="34" charset="-120"/>
                        </a:rPr>
                        <a:t>Depository</a:t>
                      </a:r>
                      <a:endParaRPr lang="en-US" sz="11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FFFFFF"/>
                    </a:solidFill>
                  </a:tcPr>
                </a:tc>
                <a:tc>
                  <a:txBody>
                    <a:bodyPr/>
                    <a:lstStyle/>
                    <a:p>
                      <a:pPr indent="0" marL="0">
                        <a:buNone/>
                      </a:pPr>
                      <a:r>
                        <a:rPr lang="en-US" sz="1100" dirty="0">
                          <a:solidFill>
                            <a:srgbClr val="1A1A1A"/>
                          </a:solidFill>
                          <a:latin typeface="Calibri" pitchFamily="34" charset="0"/>
                          <a:ea typeface="Calibri" pitchFamily="34" charset="-122"/>
                          <a:cs typeface="Calibri" pitchFamily="34" charset="-120"/>
                        </a:rPr>
                        <a:t>Electronic holding and transfer of securities</a:t>
                      </a:r>
                      <a:endParaRPr lang="en-US" sz="11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FFFFFF"/>
                    </a:solidFill>
                  </a:tcPr>
                </a:tc>
                <a:tc>
                  <a:txBody>
                    <a:bodyPr/>
                    <a:lstStyle/>
                    <a:p>
                      <a:pPr indent="0" marL="0">
                        <a:buNone/>
                      </a:pPr>
                      <a:r>
                        <a:rPr lang="en-US" sz="1100" dirty="0">
                          <a:solidFill>
                            <a:srgbClr val="1A1A1A"/>
                          </a:solidFill>
                          <a:latin typeface="Calibri" pitchFamily="34" charset="0"/>
                          <a:ea typeface="Calibri" pitchFamily="34" charset="-122"/>
                          <a:cs typeface="Calibri" pitchFamily="34" charset="-120"/>
                        </a:rPr>
                        <a:t>Demat debit/credit on settlement date</a:t>
                      </a:r>
                      <a:endParaRPr lang="en-US" sz="11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FFFFFF"/>
                    </a:solidFill>
                  </a:tcPr>
                </a:tc>
              </a:tr>
              <a:tr h="548640">
                <a:tc>
                  <a:txBody>
                    <a:bodyPr/>
                    <a:lstStyle/>
                    <a:p>
                      <a:pPr indent="0" marL="0">
                        <a:buNone/>
                      </a:pPr>
                      <a:r>
                        <a:rPr lang="en-US" sz="1100" dirty="0">
                          <a:solidFill>
                            <a:srgbClr val="1A1A1A"/>
                          </a:solidFill>
                          <a:latin typeface="Calibri" pitchFamily="34" charset="0"/>
                          <a:ea typeface="Calibri" pitchFamily="34" charset="-122"/>
                          <a:cs typeface="Calibri" pitchFamily="34" charset="-120"/>
                        </a:rPr>
                        <a:t>CCIL</a:t>
                      </a:r>
                      <a:endParaRPr lang="en-US" sz="11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D5E3F0"/>
                    </a:solidFill>
                  </a:tcPr>
                </a:tc>
                <a:tc>
                  <a:txBody>
                    <a:bodyPr/>
                    <a:lstStyle/>
                    <a:p>
                      <a:pPr indent="0" marL="0">
                        <a:buNone/>
                      </a:pPr>
                      <a:r>
                        <a:rPr lang="en-US" sz="1100" dirty="0">
                          <a:solidFill>
                            <a:srgbClr val="1A1A1A"/>
                          </a:solidFill>
                          <a:latin typeface="Calibri" pitchFamily="34" charset="0"/>
                          <a:ea typeface="Calibri" pitchFamily="34" charset="-122"/>
                          <a:cs typeface="Calibri" pitchFamily="34" charset="-120"/>
                        </a:rPr>
                        <a:t>Central Counterparty</a:t>
                      </a:r>
                      <a:endParaRPr lang="en-US" sz="11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D5E3F0"/>
                    </a:solidFill>
                  </a:tcPr>
                </a:tc>
                <a:tc>
                  <a:txBody>
                    <a:bodyPr/>
                    <a:lstStyle/>
                    <a:p>
                      <a:pPr indent="0" marL="0">
                        <a:buNone/>
                      </a:pPr>
                      <a:r>
                        <a:rPr lang="en-US" sz="1100" dirty="0">
                          <a:solidFill>
                            <a:srgbClr val="1A1A1A"/>
                          </a:solidFill>
                          <a:latin typeface="Calibri" pitchFamily="34" charset="0"/>
                          <a:ea typeface="Calibri" pitchFamily="34" charset="-122"/>
                          <a:cs typeface="Calibri" pitchFamily="34" charset="-120"/>
                        </a:rPr>
                        <a:t>Clearing for G-Secs, FX, and money market</a:t>
                      </a:r>
                      <a:endParaRPr lang="en-US" sz="11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D5E3F0"/>
                    </a:solidFill>
                  </a:tcPr>
                </a:tc>
                <a:tc>
                  <a:txBody>
                    <a:bodyPr/>
                    <a:lstStyle/>
                    <a:p>
                      <a:pPr indent="0" marL="0">
                        <a:buNone/>
                      </a:pPr>
                      <a:r>
                        <a:rPr lang="en-US" sz="1100" dirty="0">
                          <a:solidFill>
                            <a:srgbClr val="1A1A1A"/>
                          </a:solidFill>
                          <a:latin typeface="Calibri" pitchFamily="34" charset="0"/>
                          <a:ea typeface="Calibri" pitchFamily="34" charset="-122"/>
                          <a:cs typeface="Calibri" pitchFamily="34" charset="-120"/>
                        </a:rPr>
                        <a:t>Mandatory for G-Sec and FX settlement</a:t>
                      </a:r>
                      <a:endParaRPr lang="en-US" sz="11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D5E3F0"/>
                    </a:solidFill>
                  </a:tcPr>
                </a:tc>
              </a:tr>
              <a:tr h="548640">
                <a:tc>
                  <a:txBody>
                    <a:bodyPr/>
                    <a:lstStyle/>
                    <a:p>
                      <a:pPr indent="0" marL="0">
                        <a:buNone/>
                      </a:pPr>
                      <a:r>
                        <a:rPr lang="en-US" sz="1100" dirty="0">
                          <a:solidFill>
                            <a:srgbClr val="1A1A1A"/>
                          </a:solidFill>
                          <a:latin typeface="Calibri" pitchFamily="34" charset="0"/>
                          <a:ea typeface="Calibri" pitchFamily="34" charset="-122"/>
                          <a:cs typeface="Calibri" pitchFamily="34" charset="-120"/>
                        </a:rPr>
                        <a:t>Custodian Bank</a:t>
                      </a:r>
                      <a:endParaRPr lang="en-US" sz="11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FFFFFF"/>
                    </a:solidFill>
                  </a:tcPr>
                </a:tc>
                <a:tc>
                  <a:txBody>
                    <a:bodyPr/>
                    <a:lstStyle/>
                    <a:p>
                      <a:pPr indent="0" marL="0">
                        <a:buNone/>
                      </a:pPr>
                      <a:r>
                        <a:rPr lang="en-US" sz="1100" dirty="0">
                          <a:solidFill>
                            <a:srgbClr val="1A1A1A"/>
                          </a:solidFill>
                          <a:latin typeface="Calibri" pitchFamily="34" charset="0"/>
                          <a:ea typeface="Calibri" pitchFamily="34" charset="-122"/>
                          <a:cs typeface="Calibri" pitchFamily="34" charset="-120"/>
                        </a:rPr>
                        <a:t>Service Provider</a:t>
                      </a:r>
                      <a:endParaRPr lang="en-US" sz="11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FFFFFF"/>
                    </a:solidFill>
                  </a:tcPr>
                </a:tc>
                <a:tc>
                  <a:txBody>
                    <a:bodyPr/>
                    <a:lstStyle/>
                    <a:p>
                      <a:pPr indent="0" marL="0">
                        <a:buNone/>
                      </a:pPr>
                      <a:r>
                        <a:rPr lang="en-US" sz="1100" dirty="0">
                          <a:solidFill>
                            <a:srgbClr val="1A1A1A"/>
                          </a:solidFill>
                          <a:latin typeface="Calibri" pitchFamily="34" charset="0"/>
                          <a:ea typeface="Calibri" pitchFamily="34" charset="-122"/>
                          <a:cs typeface="Calibri" pitchFamily="34" charset="-120"/>
                        </a:rPr>
                        <a:t>Holds institutional assets, processes settlements</a:t>
                      </a:r>
                      <a:endParaRPr lang="en-US" sz="11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FFFFFF"/>
                    </a:solidFill>
                  </a:tcPr>
                </a:tc>
                <a:tc>
                  <a:txBody>
                    <a:bodyPr/>
                    <a:lstStyle/>
                    <a:p>
                      <a:pPr indent="0" marL="0">
                        <a:buNone/>
                      </a:pPr>
                      <a:r>
                        <a:rPr lang="en-US" sz="1100" dirty="0">
                          <a:solidFill>
                            <a:srgbClr val="1A1A1A"/>
                          </a:solidFill>
                          <a:latin typeface="Calibri" pitchFamily="34" charset="0"/>
                          <a:ea typeface="Calibri" pitchFamily="34" charset="-122"/>
                          <a:cs typeface="Calibri" pitchFamily="34" charset="-120"/>
                        </a:rPr>
                        <a:t>Routes DIs (Delivery Instructions) to depository</a:t>
                      </a:r>
                      <a:endParaRPr lang="en-US" sz="11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FFFFFF"/>
                    </a:solidFill>
                  </a:tcPr>
                </a:tc>
              </a:tr>
              <a:tr h="548640">
                <a:tc>
                  <a:txBody>
                    <a:bodyPr/>
                    <a:lstStyle/>
                    <a:p>
                      <a:pPr indent="0" marL="0">
                        <a:buNone/>
                      </a:pPr>
                      <a:r>
                        <a:rPr lang="en-US" sz="1100" dirty="0">
                          <a:solidFill>
                            <a:srgbClr val="1A1A1A"/>
                          </a:solidFill>
                          <a:latin typeface="Calibri" pitchFamily="34" charset="0"/>
                          <a:ea typeface="Calibri" pitchFamily="34" charset="-122"/>
                          <a:cs typeface="Calibri" pitchFamily="34" charset="-120"/>
                        </a:rPr>
                        <a:t>SEBI</a:t>
                      </a:r>
                      <a:endParaRPr lang="en-US" sz="11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D5E3F0"/>
                    </a:solidFill>
                  </a:tcPr>
                </a:tc>
                <a:tc>
                  <a:txBody>
                    <a:bodyPr/>
                    <a:lstStyle/>
                    <a:p>
                      <a:pPr indent="0" marL="0">
                        <a:buNone/>
                      </a:pPr>
                      <a:r>
                        <a:rPr lang="en-US" sz="1100" dirty="0">
                          <a:solidFill>
                            <a:srgbClr val="1A1A1A"/>
                          </a:solidFill>
                          <a:latin typeface="Calibri" pitchFamily="34" charset="0"/>
                          <a:ea typeface="Calibri" pitchFamily="34" charset="-122"/>
                          <a:cs typeface="Calibri" pitchFamily="34" charset="-120"/>
                        </a:rPr>
                        <a:t>Regulator</a:t>
                      </a:r>
                      <a:endParaRPr lang="en-US" sz="11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D5E3F0"/>
                    </a:solidFill>
                  </a:tcPr>
                </a:tc>
                <a:tc>
                  <a:txBody>
                    <a:bodyPr/>
                    <a:lstStyle/>
                    <a:p>
                      <a:pPr indent="0" marL="0">
                        <a:buNone/>
                      </a:pPr>
                      <a:r>
                        <a:rPr lang="en-US" sz="1100" dirty="0">
                          <a:solidFill>
                            <a:srgbClr val="1A1A1A"/>
                          </a:solidFill>
                          <a:latin typeface="Calibri" pitchFamily="34" charset="0"/>
                          <a:ea typeface="Calibri" pitchFamily="34" charset="-122"/>
                          <a:cs typeface="Calibri" pitchFamily="34" charset="-120"/>
                        </a:rPr>
                        <a:t>Market oversight, enforcement</a:t>
                      </a:r>
                      <a:endParaRPr lang="en-US" sz="11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D5E3F0"/>
                    </a:solidFill>
                  </a:tcPr>
                </a:tc>
                <a:tc>
                  <a:txBody>
                    <a:bodyPr/>
                    <a:lstStyle/>
                    <a:p>
                      <a:pPr indent="0" marL="0">
                        <a:buNone/>
                      </a:pPr>
                      <a:r>
                        <a:rPr lang="en-US" sz="1100" dirty="0">
                          <a:solidFill>
                            <a:srgbClr val="1A1A1A"/>
                          </a:solidFill>
                          <a:latin typeface="Calibri" pitchFamily="34" charset="0"/>
                          <a:ea typeface="Calibri" pitchFamily="34" charset="-122"/>
                          <a:cs typeface="Calibri" pitchFamily="34" charset="-120"/>
                        </a:rPr>
                        <a:t>Receives regulatory reports from all institutions</a:t>
                      </a:r>
                      <a:endParaRPr lang="en-US" sz="11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D5E3F0"/>
                    </a:solidFill>
                  </a:tcPr>
                </a:tc>
              </a:tr>
              <a:tr h="548640">
                <a:tc>
                  <a:txBody>
                    <a:bodyPr/>
                    <a:lstStyle/>
                    <a:p>
                      <a:pPr indent="0" marL="0">
                        <a:buNone/>
                      </a:pPr>
                      <a:r>
                        <a:rPr lang="en-US" sz="1100" dirty="0">
                          <a:solidFill>
                            <a:srgbClr val="1A1A1A"/>
                          </a:solidFill>
                          <a:latin typeface="Calibri" pitchFamily="34" charset="0"/>
                          <a:ea typeface="Calibri" pitchFamily="34" charset="-122"/>
                          <a:cs typeface="Calibri" pitchFamily="34" charset="-120"/>
                        </a:rPr>
                        <a:t>RBI</a:t>
                      </a:r>
                      <a:endParaRPr lang="en-US" sz="11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FFFFFF"/>
                    </a:solidFill>
                  </a:tcPr>
                </a:tc>
                <a:tc>
                  <a:txBody>
                    <a:bodyPr/>
                    <a:lstStyle/>
                    <a:p>
                      <a:pPr indent="0" marL="0">
                        <a:buNone/>
                      </a:pPr>
                      <a:r>
                        <a:rPr lang="en-US" sz="1100" dirty="0">
                          <a:solidFill>
                            <a:srgbClr val="1A1A1A"/>
                          </a:solidFill>
                          <a:latin typeface="Calibri" pitchFamily="34" charset="0"/>
                          <a:ea typeface="Calibri" pitchFamily="34" charset="-122"/>
                          <a:cs typeface="Calibri" pitchFamily="34" charset="-120"/>
                        </a:rPr>
                        <a:t>Regulator + Operator</a:t>
                      </a:r>
                      <a:endParaRPr lang="en-US" sz="11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FFFFFF"/>
                    </a:solidFill>
                  </a:tcPr>
                </a:tc>
                <a:tc>
                  <a:txBody>
                    <a:bodyPr/>
                    <a:lstStyle/>
                    <a:p>
                      <a:pPr indent="0" marL="0">
                        <a:buNone/>
                      </a:pPr>
                      <a:r>
                        <a:rPr lang="en-US" sz="1100" dirty="0">
                          <a:solidFill>
                            <a:srgbClr val="1A1A1A"/>
                          </a:solidFill>
                          <a:latin typeface="Calibri" pitchFamily="34" charset="0"/>
                          <a:ea typeface="Calibri" pitchFamily="34" charset="-122"/>
                          <a:cs typeface="Calibri" pitchFamily="34" charset="-120"/>
                        </a:rPr>
                        <a:t>G-Sec market, FX, monetary policy</a:t>
                      </a:r>
                      <a:endParaRPr lang="en-US" sz="11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FFFFFF"/>
                    </a:solidFill>
                  </a:tcPr>
                </a:tc>
                <a:tc>
                  <a:txBody>
                    <a:bodyPr/>
                    <a:lstStyle/>
                    <a:p>
                      <a:pPr indent="0" marL="0">
                        <a:buNone/>
                      </a:pPr>
                      <a:r>
                        <a:rPr lang="en-US" sz="1100" dirty="0">
                          <a:solidFill>
                            <a:srgbClr val="1A1A1A"/>
                          </a:solidFill>
                          <a:latin typeface="Calibri" pitchFamily="34" charset="0"/>
                          <a:ea typeface="Calibri" pitchFamily="34" charset="-122"/>
                          <a:cs typeface="Calibri" pitchFamily="34" charset="-120"/>
                        </a:rPr>
                        <a:t>Runs NDS-OM; oversees CCIL</a:t>
                      </a:r>
                      <a:endParaRPr lang="en-US" sz="11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FFFFFF"/>
                    </a:solidFill>
                  </a:tcPr>
                </a:tc>
              </a:tr>
            </a:tbl>
          </a:graphicData>
        </a:graphic>
      </p:graphicFrame>
      <p:sp>
        <p:nvSpPr>
          <p:cNvPr id="11" name="Text 8"/>
          <p:cNvSpPr/>
          <p:nvPr/>
        </p:nvSpPr>
        <p:spPr>
          <a:xfrm>
            <a:off x="274320" y="6126480"/>
            <a:ext cx="11612880" cy="365760"/>
          </a:xfrm>
          <a:prstGeom prst="rect">
            <a:avLst/>
          </a:prstGeom>
          <a:noFill/>
          <a:ln/>
        </p:spPr>
        <p:txBody>
          <a:bodyPr wrap="square" rtlCol="0" anchor="ctr"/>
          <a:lstStyle/>
          <a:p>
            <a:pPr indent="0" marL="0">
              <a:buNone/>
            </a:pPr>
            <a:r>
              <a:rPr lang="en-US" sz="1000" dirty="0">
                <a:solidFill>
                  <a:srgbClr val="005F5F"/>
                </a:solidFill>
                <a:latin typeface="Calibri" pitchFamily="34" charset="0"/>
                <a:ea typeface="Calibri" pitchFamily="34" charset="-122"/>
                <a:cs typeface="Calibri" pitchFamily="34" charset="-120"/>
              </a:rPr>
              <a:t>⚡  On T+1, all of these institutions must coordinate: exchange → clearing corp → depository → custodian → counterparty — within a 24-hour window.</a:t>
            </a:r>
            <a:endParaRPr lang="en-US" sz="1000" dirty="0"/>
          </a:p>
        </p:txBody>
      </p:sp>
      <p:sp>
        <p:nvSpPr>
          <p:cNvPr id="12" name="Text 9"/>
          <p:cNvSpPr/>
          <p:nvPr/>
        </p:nvSpPr>
        <p:spPr>
          <a:xfrm>
            <a:off x="0" y="6601968"/>
            <a:ext cx="12192000" cy="182880"/>
          </a:xfrm>
          <a:prstGeom prst="rect">
            <a:avLst/>
          </a:prstGeom>
          <a:noFill/>
          <a:ln/>
        </p:spPr>
        <p:txBody>
          <a:bodyPr wrap="square" rtlCol="0" anchor="ctr"/>
          <a:lstStyle/>
          <a:p>
            <a:pPr algn="ctr" indent="0" marL="0">
              <a:buNone/>
            </a:pPr>
            <a:r>
              <a:rPr lang="en-US" sz="800" dirty="0">
                <a:solidFill>
                  <a:srgbClr val="AAAAAA"/>
                </a:solidFill>
                <a:latin typeface="Calibri" pitchFamily="34" charset="0"/>
                <a:ea typeface="Calibri" pitchFamily="34" charset="-122"/>
                <a:cs typeface="Calibri" pitchFamily="34" charset="-120"/>
              </a:rPr>
              <a:t>CIBOP · Module 1 · D1.9</a:t>
            </a:r>
            <a:endParaRPr lang="en-US" sz="8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4F6FA"/>
          </a:solidFill>
          <a:ln/>
        </p:spPr>
      </p:sp>
      <p:sp>
        <p:nvSpPr>
          <p:cNvPr id="3" name="Shape 1"/>
          <p:cNvSpPr/>
          <p:nvPr/>
        </p:nvSpPr>
        <p:spPr>
          <a:xfrm>
            <a:off x="0" y="0"/>
            <a:ext cx="12192000" cy="73152"/>
          </a:xfrm>
          <a:prstGeom prst="rect">
            <a:avLst/>
          </a:prstGeom>
          <a:solidFill>
            <a:srgbClr val="1E3A5F"/>
          </a:solidFill>
          <a:ln/>
        </p:spPr>
      </p:sp>
      <p:sp>
        <p:nvSpPr>
          <p:cNvPr id="4" name="Shape 2"/>
          <p:cNvSpPr/>
          <p:nvPr/>
        </p:nvSpPr>
        <p:spPr>
          <a:xfrm>
            <a:off x="0" y="6784848"/>
            <a:ext cx="12192000" cy="73152"/>
          </a:xfrm>
          <a:prstGeom prst="rect">
            <a:avLst/>
          </a:prstGeom>
          <a:solidFill>
            <a:srgbClr val="B8860B"/>
          </a:solidFill>
          <a:ln/>
        </p:spPr>
      </p:sp>
      <p:sp>
        <p:nvSpPr>
          <p:cNvPr id="5" name="Shape 3"/>
          <p:cNvSpPr/>
          <p:nvPr/>
        </p:nvSpPr>
        <p:spPr>
          <a:xfrm>
            <a:off x="0" y="73152"/>
            <a:ext cx="1828800" cy="347472"/>
          </a:xfrm>
          <a:prstGeom prst="rect">
            <a:avLst/>
          </a:prstGeom>
          <a:solidFill>
            <a:srgbClr val="B8860B"/>
          </a:solidFill>
          <a:ln/>
        </p:spPr>
      </p:sp>
      <p:sp>
        <p:nvSpPr>
          <p:cNvPr id="6" name="Text 4"/>
          <p:cNvSpPr/>
          <p:nvPr/>
        </p:nvSpPr>
        <p:spPr>
          <a:xfrm>
            <a:off x="0" y="73152"/>
            <a:ext cx="1828800" cy="347472"/>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GOING DEEPER</a:t>
            </a:r>
            <a:endParaRPr lang="en-US" sz="1000" dirty="0"/>
          </a:p>
        </p:txBody>
      </p:sp>
      <p:sp>
        <p:nvSpPr>
          <p:cNvPr id="7" name="Shape 5"/>
          <p:cNvSpPr/>
          <p:nvPr/>
        </p:nvSpPr>
        <p:spPr>
          <a:xfrm>
            <a:off x="10360152" y="73152"/>
            <a:ext cx="1828800" cy="347472"/>
          </a:xfrm>
          <a:prstGeom prst="rect">
            <a:avLst/>
          </a:prstGeom>
          <a:solidFill>
            <a:srgbClr val="005F5F"/>
          </a:solidFill>
          <a:ln/>
        </p:spPr>
      </p:sp>
      <p:sp>
        <p:nvSpPr>
          <p:cNvPr id="8" name="Text 6"/>
          <p:cNvSpPr/>
          <p:nvPr/>
        </p:nvSpPr>
        <p:spPr>
          <a:xfrm>
            <a:off x="10360152" y="73152"/>
            <a:ext cx="1828800" cy="347472"/>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D1.9</a:t>
            </a:r>
            <a:endParaRPr lang="en-US" sz="1000" dirty="0"/>
          </a:p>
        </p:txBody>
      </p:sp>
      <p:sp>
        <p:nvSpPr>
          <p:cNvPr id="9" name="Text 7"/>
          <p:cNvSpPr/>
          <p:nvPr/>
        </p:nvSpPr>
        <p:spPr>
          <a:xfrm>
            <a:off x="274320" y="502920"/>
            <a:ext cx="11612880" cy="640080"/>
          </a:xfrm>
          <a:prstGeom prst="rect">
            <a:avLst/>
          </a:prstGeom>
          <a:noFill/>
          <a:ln/>
        </p:spPr>
        <p:txBody>
          <a:bodyPr wrap="square" rtlCol="0" anchor="ctr"/>
          <a:lstStyle/>
          <a:p>
            <a:pPr indent="0" marL="0">
              <a:buNone/>
            </a:pPr>
            <a:r>
              <a:rPr lang="en-US" sz="2200" b="1" dirty="0">
                <a:solidFill>
                  <a:srgbClr val="1E3A5F"/>
                </a:solidFill>
                <a:latin typeface="Calibri" pitchFamily="34" charset="0"/>
                <a:ea typeface="Calibri" pitchFamily="34" charset="-122"/>
                <a:cs typeface="Calibri" pitchFamily="34" charset="-120"/>
              </a:rPr>
              <a:t>Four Insights on Post-Trade Infrastructure</a:t>
            </a:r>
            <a:endParaRPr lang="en-US" sz="2200" dirty="0"/>
          </a:p>
        </p:txBody>
      </p:sp>
      <p:sp>
        <p:nvSpPr>
          <p:cNvPr id="10" name="Shape 8"/>
          <p:cNvSpPr/>
          <p:nvPr/>
        </p:nvSpPr>
        <p:spPr>
          <a:xfrm>
            <a:off x="274320" y="1280160"/>
            <a:ext cx="5669280" cy="2377440"/>
          </a:xfrm>
          <a:prstGeom prst="rect">
            <a:avLst/>
          </a:prstGeom>
          <a:solidFill>
            <a:srgbClr val="D5E3F0"/>
          </a:solidFill>
          <a:ln w="6350">
            <a:solidFill>
              <a:srgbClr val="AAAAAA"/>
            </a:solidFill>
            <a:prstDash val="solid"/>
          </a:ln>
        </p:spPr>
      </p:sp>
      <p:sp>
        <p:nvSpPr>
          <p:cNvPr id="11" name="Shape 9"/>
          <p:cNvSpPr/>
          <p:nvPr/>
        </p:nvSpPr>
        <p:spPr>
          <a:xfrm>
            <a:off x="365760" y="1371600"/>
            <a:ext cx="457200" cy="457200"/>
          </a:xfrm>
          <a:prstGeom prst="ellipse">
            <a:avLst/>
          </a:prstGeom>
          <a:solidFill>
            <a:srgbClr val="1E3A5F"/>
          </a:solidFill>
          <a:ln/>
        </p:spPr>
      </p:sp>
      <p:sp>
        <p:nvSpPr>
          <p:cNvPr id="12" name="Text 10"/>
          <p:cNvSpPr/>
          <p:nvPr/>
        </p:nvSpPr>
        <p:spPr>
          <a:xfrm>
            <a:off x="365760" y="1371600"/>
            <a:ext cx="457200" cy="45720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3" name="Text 11"/>
          <p:cNvSpPr/>
          <p:nvPr/>
        </p:nvSpPr>
        <p:spPr>
          <a:xfrm>
            <a:off x="914400" y="1371600"/>
            <a:ext cx="4892040" cy="457200"/>
          </a:xfrm>
          <a:prstGeom prst="rect">
            <a:avLst/>
          </a:prstGeom>
          <a:noFill/>
          <a:ln/>
        </p:spPr>
        <p:txBody>
          <a:bodyPr wrap="square" rtlCol="0" anchor="ctr"/>
          <a:lstStyle/>
          <a:p>
            <a:pPr indent="0" marL="0">
              <a:buNone/>
            </a:pPr>
            <a:r>
              <a:rPr lang="en-US" sz="1300" b="1" dirty="0">
                <a:solidFill>
                  <a:srgbClr val="1A1A1A"/>
                </a:solidFill>
                <a:latin typeface="Calibri" pitchFamily="34" charset="0"/>
                <a:ea typeface="Calibri" pitchFamily="34" charset="-122"/>
                <a:cs typeface="Calibri" pitchFamily="34" charset="-120"/>
              </a:rPr>
              <a:t>Novation Is the Key Risk Reduction Mechanism</a:t>
            </a:r>
            <a:endParaRPr lang="en-US" sz="1300" dirty="0"/>
          </a:p>
        </p:txBody>
      </p:sp>
      <p:sp>
        <p:nvSpPr>
          <p:cNvPr id="14" name="Text 12"/>
          <p:cNvSpPr/>
          <p:nvPr/>
        </p:nvSpPr>
        <p:spPr>
          <a:xfrm>
            <a:off x="411480" y="1874520"/>
            <a:ext cx="5394960" cy="1645920"/>
          </a:xfrm>
          <a:prstGeom prst="rect">
            <a:avLst/>
          </a:prstGeom>
          <a:noFill/>
          <a:ln/>
        </p:spPr>
        <p:txBody>
          <a:bodyPr wrap="square" rtlCol="0" anchor="ctr"/>
          <a:lstStyle/>
          <a:p>
            <a:pPr indent="0" marL="0">
              <a:buNone/>
            </a:pPr>
            <a:r>
              <a:rPr lang="en-US" sz="1100" dirty="0">
                <a:solidFill>
                  <a:srgbClr val="1A1A1A"/>
                </a:solidFill>
                <a:latin typeface="Calibri" pitchFamily="34" charset="0"/>
                <a:ea typeface="Calibri" pitchFamily="34" charset="-122"/>
                <a:cs typeface="Calibri" pitchFamily="34" charset="-120"/>
              </a:rPr>
              <a:t>When NSCCL novates a trade, it becomes the legal buyer to every seller and seller to every buyer. You never need to worry about the credit quality of the person on the other side of your trade — your counterparty is NSCCL. This is why counterparty credit risk is minimal in exchange-settled trades.</a:t>
            </a:r>
            <a:endParaRPr lang="en-US" sz="1100" dirty="0"/>
          </a:p>
        </p:txBody>
      </p:sp>
      <p:sp>
        <p:nvSpPr>
          <p:cNvPr id="15" name="Shape 13"/>
          <p:cNvSpPr/>
          <p:nvPr/>
        </p:nvSpPr>
        <p:spPr>
          <a:xfrm>
            <a:off x="6126480" y="1280160"/>
            <a:ext cx="5669280" cy="2377440"/>
          </a:xfrm>
          <a:prstGeom prst="rect">
            <a:avLst/>
          </a:prstGeom>
          <a:solidFill>
            <a:srgbClr val="D4EFEF"/>
          </a:solidFill>
          <a:ln w="6350">
            <a:solidFill>
              <a:srgbClr val="AAAAAA"/>
            </a:solidFill>
            <a:prstDash val="solid"/>
          </a:ln>
        </p:spPr>
      </p:sp>
      <p:sp>
        <p:nvSpPr>
          <p:cNvPr id="16" name="Shape 14"/>
          <p:cNvSpPr/>
          <p:nvPr/>
        </p:nvSpPr>
        <p:spPr>
          <a:xfrm>
            <a:off x="6217920" y="1371600"/>
            <a:ext cx="457200" cy="457200"/>
          </a:xfrm>
          <a:prstGeom prst="ellipse">
            <a:avLst/>
          </a:prstGeom>
          <a:solidFill>
            <a:srgbClr val="005F5F"/>
          </a:solidFill>
          <a:ln/>
        </p:spPr>
      </p:sp>
      <p:sp>
        <p:nvSpPr>
          <p:cNvPr id="17" name="Text 15"/>
          <p:cNvSpPr/>
          <p:nvPr/>
        </p:nvSpPr>
        <p:spPr>
          <a:xfrm>
            <a:off x="6217920" y="1371600"/>
            <a:ext cx="457200" cy="45720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8" name="Text 16"/>
          <p:cNvSpPr/>
          <p:nvPr/>
        </p:nvSpPr>
        <p:spPr>
          <a:xfrm>
            <a:off x="6766560" y="1371600"/>
            <a:ext cx="4892040" cy="457200"/>
          </a:xfrm>
          <a:prstGeom prst="rect">
            <a:avLst/>
          </a:prstGeom>
          <a:noFill/>
          <a:ln/>
        </p:spPr>
        <p:txBody>
          <a:bodyPr wrap="square" rtlCol="0" anchor="ctr"/>
          <a:lstStyle/>
          <a:p>
            <a:pPr indent="0" marL="0">
              <a:buNone/>
            </a:pPr>
            <a:r>
              <a:rPr lang="en-US" sz="1300" b="1" dirty="0">
                <a:solidFill>
                  <a:srgbClr val="1A1A1A"/>
                </a:solidFill>
                <a:latin typeface="Calibri" pitchFamily="34" charset="0"/>
                <a:ea typeface="Calibri" pitchFamily="34" charset="-122"/>
                <a:cs typeface="Calibri" pitchFamily="34" charset="-120"/>
              </a:rPr>
              <a:t>Netting Reduces Settlement Volumes by Up to 95%</a:t>
            </a:r>
            <a:endParaRPr lang="en-US" sz="1300" dirty="0"/>
          </a:p>
        </p:txBody>
      </p:sp>
      <p:sp>
        <p:nvSpPr>
          <p:cNvPr id="19" name="Text 17"/>
          <p:cNvSpPr/>
          <p:nvPr/>
        </p:nvSpPr>
        <p:spPr>
          <a:xfrm>
            <a:off x="6263640" y="1874520"/>
            <a:ext cx="5394960" cy="1645920"/>
          </a:xfrm>
          <a:prstGeom prst="rect">
            <a:avLst/>
          </a:prstGeom>
          <a:noFill/>
          <a:ln/>
        </p:spPr>
        <p:txBody>
          <a:bodyPr wrap="square" rtlCol="0" anchor="ctr"/>
          <a:lstStyle/>
          <a:p>
            <a:pPr indent="0" marL="0">
              <a:buNone/>
            </a:pPr>
            <a:r>
              <a:rPr lang="en-US" sz="1100" dirty="0">
                <a:solidFill>
                  <a:srgbClr val="1A1A1A"/>
                </a:solidFill>
                <a:latin typeface="Calibri" pitchFamily="34" charset="0"/>
                <a:ea typeface="Calibri" pitchFamily="34" charset="-122"/>
                <a:cs typeface="Calibri" pitchFamily="34" charset="-120"/>
              </a:rPr>
              <a:t>If a market participant buys 100 stocks and sells 80 on the same day, they receive net 20 stocks — not 100 stocks and delivery of 80. NSCCL nets across all trades of the day. This reduces the number of settlement instructions from millions to thousands.</a:t>
            </a:r>
            <a:endParaRPr lang="en-US" sz="1100" dirty="0"/>
          </a:p>
        </p:txBody>
      </p:sp>
      <p:sp>
        <p:nvSpPr>
          <p:cNvPr id="20" name="Shape 18"/>
          <p:cNvSpPr/>
          <p:nvPr/>
        </p:nvSpPr>
        <p:spPr>
          <a:xfrm>
            <a:off x="274320" y="3840480"/>
            <a:ext cx="5669280" cy="2377440"/>
          </a:xfrm>
          <a:prstGeom prst="rect">
            <a:avLst/>
          </a:prstGeom>
          <a:solidFill>
            <a:srgbClr val="FEF9E7"/>
          </a:solidFill>
          <a:ln w="6350">
            <a:solidFill>
              <a:srgbClr val="AAAAAA"/>
            </a:solidFill>
            <a:prstDash val="solid"/>
          </a:ln>
        </p:spPr>
      </p:sp>
      <p:sp>
        <p:nvSpPr>
          <p:cNvPr id="21" name="Shape 19"/>
          <p:cNvSpPr/>
          <p:nvPr/>
        </p:nvSpPr>
        <p:spPr>
          <a:xfrm>
            <a:off x="365760" y="3931920"/>
            <a:ext cx="457200" cy="457200"/>
          </a:xfrm>
          <a:prstGeom prst="ellipse">
            <a:avLst/>
          </a:prstGeom>
          <a:solidFill>
            <a:srgbClr val="B8860B"/>
          </a:solidFill>
          <a:ln/>
        </p:spPr>
      </p:sp>
      <p:sp>
        <p:nvSpPr>
          <p:cNvPr id="22" name="Text 20"/>
          <p:cNvSpPr/>
          <p:nvPr/>
        </p:nvSpPr>
        <p:spPr>
          <a:xfrm>
            <a:off x="365760" y="3931920"/>
            <a:ext cx="457200" cy="45720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23" name="Text 21"/>
          <p:cNvSpPr/>
          <p:nvPr/>
        </p:nvSpPr>
        <p:spPr>
          <a:xfrm>
            <a:off x="914400" y="3931920"/>
            <a:ext cx="4892040" cy="457200"/>
          </a:xfrm>
          <a:prstGeom prst="rect">
            <a:avLst/>
          </a:prstGeom>
          <a:noFill/>
          <a:ln/>
        </p:spPr>
        <p:txBody>
          <a:bodyPr wrap="square" rtlCol="0" anchor="ctr"/>
          <a:lstStyle/>
          <a:p>
            <a:pPr indent="0" marL="0">
              <a:buNone/>
            </a:pPr>
            <a:r>
              <a:rPr lang="en-US" sz="1300" b="1" dirty="0">
                <a:solidFill>
                  <a:srgbClr val="1A1A1A"/>
                </a:solidFill>
                <a:latin typeface="Calibri" pitchFamily="34" charset="0"/>
                <a:ea typeface="Calibri" pitchFamily="34" charset="-122"/>
                <a:cs typeface="Calibri" pitchFamily="34" charset="-120"/>
              </a:rPr>
              <a:t>Custodians Are Invisible Until They Are Not</a:t>
            </a:r>
            <a:endParaRPr lang="en-US" sz="1300" dirty="0"/>
          </a:p>
        </p:txBody>
      </p:sp>
      <p:sp>
        <p:nvSpPr>
          <p:cNvPr id="24" name="Text 22"/>
          <p:cNvSpPr/>
          <p:nvPr/>
        </p:nvSpPr>
        <p:spPr>
          <a:xfrm>
            <a:off x="411480" y="4434840"/>
            <a:ext cx="5394960" cy="1645920"/>
          </a:xfrm>
          <a:prstGeom prst="rect">
            <a:avLst/>
          </a:prstGeom>
          <a:noFill/>
          <a:ln/>
        </p:spPr>
        <p:txBody>
          <a:bodyPr wrap="square" rtlCol="0" anchor="ctr"/>
          <a:lstStyle/>
          <a:p>
            <a:pPr indent="0" marL="0">
              <a:buNone/>
            </a:pPr>
            <a:r>
              <a:rPr lang="en-US" sz="1100" dirty="0">
                <a:solidFill>
                  <a:srgbClr val="1A1A1A"/>
                </a:solidFill>
                <a:latin typeface="Calibri" pitchFamily="34" charset="0"/>
                <a:ea typeface="Calibri" pitchFamily="34" charset="-122"/>
                <a:cs typeface="Calibri" pitchFamily="34" charset="-120"/>
              </a:rPr>
              <a:t>Most market participants never think about their custodian — until a settlement fails or a corporate action is missed. Custodians process corporate actions (dividends, rights, bonuses, splits), manage voting rights, and handle tax reclaims. Missing a corporate action deadline can result in significant financial loss.</a:t>
            </a:r>
            <a:endParaRPr lang="en-US" sz="1100" dirty="0"/>
          </a:p>
        </p:txBody>
      </p:sp>
      <p:sp>
        <p:nvSpPr>
          <p:cNvPr id="25" name="Shape 23"/>
          <p:cNvSpPr/>
          <p:nvPr/>
        </p:nvSpPr>
        <p:spPr>
          <a:xfrm>
            <a:off x="6126480" y="3840480"/>
            <a:ext cx="5669280" cy="2377440"/>
          </a:xfrm>
          <a:prstGeom prst="rect">
            <a:avLst/>
          </a:prstGeom>
          <a:solidFill>
            <a:srgbClr val="D5E3F0"/>
          </a:solidFill>
          <a:ln w="6350">
            <a:solidFill>
              <a:srgbClr val="AAAAAA"/>
            </a:solidFill>
            <a:prstDash val="solid"/>
          </a:ln>
        </p:spPr>
      </p:sp>
      <p:sp>
        <p:nvSpPr>
          <p:cNvPr id="26" name="Shape 24"/>
          <p:cNvSpPr/>
          <p:nvPr/>
        </p:nvSpPr>
        <p:spPr>
          <a:xfrm>
            <a:off x="6217920" y="3931920"/>
            <a:ext cx="457200" cy="457200"/>
          </a:xfrm>
          <a:prstGeom prst="ellipse">
            <a:avLst/>
          </a:prstGeom>
          <a:solidFill>
            <a:srgbClr val="1E3A5F"/>
          </a:solidFill>
          <a:ln/>
        </p:spPr>
      </p:sp>
      <p:sp>
        <p:nvSpPr>
          <p:cNvPr id="27" name="Text 25"/>
          <p:cNvSpPr/>
          <p:nvPr/>
        </p:nvSpPr>
        <p:spPr>
          <a:xfrm>
            <a:off x="6217920" y="3931920"/>
            <a:ext cx="457200" cy="45720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28" name="Text 26"/>
          <p:cNvSpPr/>
          <p:nvPr/>
        </p:nvSpPr>
        <p:spPr>
          <a:xfrm>
            <a:off x="6766560" y="3931920"/>
            <a:ext cx="4892040" cy="457200"/>
          </a:xfrm>
          <a:prstGeom prst="rect">
            <a:avLst/>
          </a:prstGeom>
          <a:noFill/>
          <a:ln/>
        </p:spPr>
        <p:txBody>
          <a:bodyPr wrap="square" rtlCol="0" anchor="ctr"/>
          <a:lstStyle/>
          <a:p>
            <a:pPr indent="0" marL="0">
              <a:buNone/>
            </a:pPr>
            <a:r>
              <a:rPr lang="en-US" sz="1300" b="1" dirty="0">
                <a:solidFill>
                  <a:srgbClr val="1A1A1A"/>
                </a:solidFill>
                <a:latin typeface="Calibri" pitchFamily="34" charset="0"/>
                <a:ea typeface="Calibri" pitchFamily="34" charset="-122"/>
                <a:cs typeface="Calibri" pitchFamily="34" charset="-120"/>
              </a:rPr>
              <a:t>SEBI's Regulatory Reporting Is an Operations Deliverable</a:t>
            </a:r>
            <a:endParaRPr lang="en-US" sz="1300" dirty="0"/>
          </a:p>
        </p:txBody>
      </p:sp>
      <p:sp>
        <p:nvSpPr>
          <p:cNvPr id="29" name="Text 27"/>
          <p:cNvSpPr/>
          <p:nvPr/>
        </p:nvSpPr>
        <p:spPr>
          <a:xfrm>
            <a:off x="6263640" y="4434840"/>
            <a:ext cx="5394960" cy="1645920"/>
          </a:xfrm>
          <a:prstGeom prst="rect">
            <a:avLst/>
          </a:prstGeom>
          <a:noFill/>
          <a:ln/>
        </p:spPr>
        <p:txBody>
          <a:bodyPr wrap="square" rtlCol="0" anchor="ctr"/>
          <a:lstStyle/>
          <a:p>
            <a:pPr indent="0" marL="0">
              <a:buNone/>
            </a:pPr>
            <a:r>
              <a:rPr lang="en-US" sz="1100" dirty="0">
                <a:solidFill>
                  <a:srgbClr val="1A1A1A"/>
                </a:solidFill>
                <a:latin typeface="Calibri" pitchFamily="34" charset="0"/>
                <a:ea typeface="Calibri" pitchFamily="34" charset="-122"/>
                <a:cs typeface="Calibri" pitchFamily="34" charset="-120"/>
              </a:rPr>
              <a:t>SEBI requires daily reporting of trades, positions, and client margins from exchanges and clearing corporations. Many of these reports are generated from operations systems. An error in a regulatory report is a compliance breach — not just an operations error. The two are now indistinguishable.</a:t>
            </a:r>
            <a:endParaRPr lang="en-US" sz="1100" dirty="0"/>
          </a:p>
        </p:txBody>
      </p:sp>
      <p:sp>
        <p:nvSpPr>
          <p:cNvPr id="30" name="Text 28"/>
          <p:cNvSpPr/>
          <p:nvPr/>
        </p:nvSpPr>
        <p:spPr>
          <a:xfrm>
            <a:off x="0" y="6601968"/>
            <a:ext cx="12192000" cy="182880"/>
          </a:xfrm>
          <a:prstGeom prst="rect">
            <a:avLst/>
          </a:prstGeom>
          <a:noFill/>
          <a:ln/>
        </p:spPr>
        <p:txBody>
          <a:bodyPr wrap="square" rtlCol="0" anchor="ctr"/>
          <a:lstStyle/>
          <a:p>
            <a:pPr algn="ctr" indent="0" marL="0">
              <a:buNone/>
            </a:pPr>
            <a:r>
              <a:rPr lang="en-US" sz="800" dirty="0">
                <a:solidFill>
                  <a:srgbClr val="AAAAAA"/>
                </a:solidFill>
                <a:latin typeface="Calibri" pitchFamily="34" charset="0"/>
                <a:ea typeface="Calibri" pitchFamily="34" charset="-122"/>
                <a:cs typeface="Calibri" pitchFamily="34" charset="-120"/>
              </a:rPr>
              <a:t>CIBOP · Module 1 · D1.9</a:t>
            </a:r>
            <a:endParaRPr lang="en-US" sz="8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005F5F"/>
          </a:solidFill>
          <a:ln/>
        </p:spPr>
      </p:sp>
      <p:sp>
        <p:nvSpPr>
          <p:cNvPr id="3" name="Shape 1"/>
          <p:cNvSpPr/>
          <p:nvPr/>
        </p:nvSpPr>
        <p:spPr>
          <a:xfrm>
            <a:off x="0" y="0"/>
            <a:ext cx="12192000" cy="73152"/>
          </a:xfrm>
          <a:prstGeom prst="rect">
            <a:avLst/>
          </a:prstGeom>
          <a:solidFill>
            <a:srgbClr val="B8860B"/>
          </a:solidFill>
          <a:ln/>
        </p:spPr>
      </p:sp>
      <p:sp>
        <p:nvSpPr>
          <p:cNvPr id="4" name="Shape 2"/>
          <p:cNvSpPr/>
          <p:nvPr/>
        </p:nvSpPr>
        <p:spPr>
          <a:xfrm>
            <a:off x="0" y="6784848"/>
            <a:ext cx="12192000" cy="73152"/>
          </a:xfrm>
          <a:prstGeom prst="rect">
            <a:avLst/>
          </a:prstGeom>
          <a:solidFill>
            <a:srgbClr val="B8860B"/>
          </a:solidFill>
          <a:ln/>
        </p:spPr>
      </p:sp>
      <p:sp>
        <p:nvSpPr>
          <p:cNvPr id="5" name="Shape 3"/>
          <p:cNvSpPr/>
          <p:nvPr/>
        </p:nvSpPr>
        <p:spPr>
          <a:xfrm>
            <a:off x="0" y="73152"/>
            <a:ext cx="1828800" cy="347472"/>
          </a:xfrm>
          <a:prstGeom prst="rect">
            <a:avLst/>
          </a:prstGeom>
          <a:solidFill>
            <a:srgbClr val="B8860B"/>
          </a:solidFill>
          <a:ln/>
        </p:spPr>
      </p:sp>
      <p:sp>
        <p:nvSpPr>
          <p:cNvPr id="6" name="Text 4"/>
          <p:cNvSpPr/>
          <p:nvPr/>
        </p:nvSpPr>
        <p:spPr>
          <a:xfrm>
            <a:off x="0" y="73152"/>
            <a:ext cx="1828800" cy="347472"/>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THINK &amp; DISCUSS</a:t>
            </a:r>
            <a:endParaRPr lang="en-US" sz="1000" dirty="0"/>
          </a:p>
        </p:txBody>
      </p:sp>
      <p:sp>
        <p:nvSpPr>
          <p:cNvPr id="7" name="Shape 5"/>
          <p:cNvSpPr/>
          <p:nvPr/>
        </p:nvSpPr>
        <p:spPr>
          <a:xfrm>
            <a:off x="10360152" y="73152"/>
            <a:ext cx="1828800" cy="347472"/>
          </a:xfrm>
          <a:prstGeom prst="rect">
            <a:avLst/>
          </a:prstGeom>
          <a:solidFill>
            <a:srgbClr val="005F5F"/>
          </a:solidFill>
          <a:ln/>
        </p:spPr>
      </p:sp>
      <p:sp>
        <p:nvSpPr>
          <p:cNvPr id="8" name="Text 6"/>
          <p:cNvSpPr/>
          <p:nvPr/>
        </p:nvSpPr>
        <p:spPr>
          <a:xfrm>
            <a:off x="10360152" y="73152"/>
            <a:ext cx="1828800" cy="347472"/>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D1.9</a:t>
            </a:r>
            <a:endParaRPr lang="en-US" sz="1000" dirty="0"/>
          </a:p>
        </p:txBody>
      </p:sp>
      <p:sp>
        <p:nvSpPr>
          <p:cNvPr id="9" name="Shape 7"/>
          <p:cNvSpPr/>
          <p:nvPr/>
        </p:nvSpPr>
        <p:spPr>
          <a:xfrm>
            <a:off x="365760" y="914400"/>
            <a:ext cx="11155680" cy="3840480"/>
          </a:xfrm>
          <a:prstGeom prst="rect">
            <a:avLst/>
          </a:prstGeom>
          <a:solidFill>
            <a:srgbClr val="004444"/>
          </a:solidFill>
          <a:ln w="12700">
            <a:solidFill>
              <a:srgbClr val="B8860B"/>
            </a:solidFill>
            <a:prstDash val="solid"/>
          </a:ln>
        </p:spPr>
      </p:sp>
      <p:sp>
        <p:nvSpPr>
          <p:cNvPr id="10" name="Text 8"/>
          <p:cNvSpPr/>
          <p:nvPr/>
        </p:nvSpPr>
        <p:spPr>
          <a:xfrm>
            <a:off x="9144000" y="548640"/>
            <a:ext cx="2926080" cy="457200"/>
          </a:xfrm>
          <a:prstGeom prst="rect">
            <a:avLst/>
          </a:prstGeom>
          <a:noFill/>
          <a:ln/>
        </p:spPr>
        <p:txBody>
          <a:bodyPr wrap="square" rtlCol="0" anchor="ctr"/>
          <a:lstStyle/>
          <a:p>
            <a:pPr algn="r" indent="0" marL="0">
              <a:buNone/>
            </a:pPr>
            <a:r>
              <a:rPr lang="en-US" sz="1400" b="1" dirty="0">
                <a:solidFill>
                  <a:srgbClr val="B8860B"/>
                </a:solidFill>
                <a:latin typeface="Calibri" pitchFamily="34" charset="0"/>
                <a:ea typeface="Calibri" pitchFamily="34" charset="-122"/>
                <a:cs typeface="Calibri" pitchFamily="34" charset="-120"/>
              </a:rPr>
              <a:t>🕐  2 MINUTES</a:t>
            </a:r>
            <a:endParaRPr lang="en-US" sz="1400" dirty="0"/>
          </a:p>
        </p:txBody>
      </p:sp>
      <p:sp>
        <p:nvSpPr>
          <p:cNvPr id="11" name="Text 9"/>
          <p:cNvSpPr/>
          <p:nvPr/>
        </p:nvSpPr>
        <p:spPr>
          <a:xfrm>
            <a:off x="640080" y="1188720"/>
            <a:ext cx="10607040" cy="3108960"/>
          </a:xfrm>
          <a:prstGeom prst="rect">
            <a:avLst/>
          </a:prstGeom>
          <a:noFill/>
          <a:ln/>
        </p:spPr>
        <p:txBody>
          <a:bodyPr wrap="square"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"An FPI's custodian fails to deliver a settlement instruction to NSDL on time. The trade fails. Who bears the cost — the FPI, the custodian, the clearing corporation, or the counterparty? Work through it."</a:t>
            </a:r>
            <a:endParaRPr lang="en-US" sz="2000" dirty="0"/>
          </a:p>
        </p:txBody>
      </p:sp>
      <p:sp>
        <p:nvSpPr>
          <p:cNvPr id="12" name="Shape 10"/>
          <p:cNvSpPr/>
          <p:nvPr/>
        </p:nvSpPr>
        <p:spPr>
          <a:xfrm>
            <a:off x="0" y="5029200"/>
            <a:ext cx="12192000" cy="914400"/>
          </a:xfrm>
          <a:prstGeom prst="rect">
            <a:avLst/>
          </a:prstGeom>
          <a:solidFill>
            <a:srgbClr val="003333"/>
          </a:solidFill>
          <a:ln/>
        </p:spPr>
      </p:sp>
      <p:sp>
        <p:nvSpPr>
          <p:cNvPr id="13" name="Text 11"/>
          <p:cNvSpPr/>
          <p:nvPr/>
        </p:nvSpPr>
        <p:spPr>
          <a:xfrm>
            <a:off x="365760" y="5029200"/>
            <a:ext cx="11430000" cy="914400"/>
          </a:xfrm>
          <a:prstGeom prst="rect">
            <a:avLst/>
          </a:prstGeom>
          <a:noFill/>
          <a:ln/>
        </p:spPr>
        <p:txBody>
          <a:bodyPr wrap="square" rtlCol="0" anchor="ctr"/>
          <a:lstStyle/>
          <a:p>
            <a:pPr indent="0" marL="0">
              <a:buNone/>
            </a:pPr>
            <a:r>
              <a:rPr lang="en-US" sz="1400" dirty="0">
                <a:solidFill>
                  <a:srgbClr val="CADCFC"/>
                </a:solidFill>
                <a:latin typeface="Calibri" pitchFamily="34" charset="0"/>
                <a:ea typeface="Calibri" pitchFamily="34" charset="-122"/>
                <a:cs typeface="Calibri" pitchFamily="34" charset="-120"/>
              </a:rPr>
              <a:t>💡  Hint: Consider the settlement guarantee provided by NSCCL, the custodian's liability to its client under service agreement, and any auction mechanism for failed deliveries.</a:t>
            </a:r>
            <a:endParaRPr lang="en-US" sz="1400" dirty="0"/>
          </a:p>
        </p:txBody>
      </p:sp>
      <p:sp>
        <p:nvSpPr>
          <p:cNvPr id="14" name="Text 12"/>
          <p:cNvSpPr/>
          <p:nvPr/>
        </p:nvSpPr>
        <p:spPr>
          <a:xfrm>
            <a:off x="0" y="6601968"/>
            <a:ext cx="12192000" cy="182880"/>
          </a:xfrm>
          <a:prstGeom prst="rect">
            <a:avLst/>
          </a:prstGeom>
          <a:noFill/>
          <a:ln/>
        </p:spPr>
        <p:txBody>
          <a:bodyPr wrap="square" rtlCol="0" anchor="ctr"/>
          <a:lstStyle/>
          <a:p>
            <a:pPr algn="ctr" indent="0" marL="0">
              <a:buNone/>
            </a:pPr>
            <a:r>
              <a:rPr lang="en-US" sz="800" dirty="0">
                <a:solidFill>
                  <a:srgbClr val="AAAAAA"/>
                </a:solidFill>
                <a:latin typeface="Calibri" pitchFamily="34" charset="0"/>
                <a:ea typeface="Calibri" pitchFamily="34" charset="-122"/>
                <a:cs typeface="Calibri" pitchFamily="34" charset="-120"/>
              </a:rPr>
              <a:t>CIBOP · Module 1 · D1.9</a:t>
            </a:r>
            <a:endParaRPr lang="en-US" sz="8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4F6FA"/>
          </a:solidFill>
          <a:ln/>
        </p:spPr>
      </p:sp>
      <p:sp>
        <p:nvSpPr>
          <p:cNvPr id="3" name="Shape 1"/>
          <p:cNvSpPr/>
          <p:nvPr/>
        </p:nvSpPr>
        <p:spPr>
          <a:xfrm>
            <a:off x="0" y="0"/>
            <a:ext cx="12192000" cy="73152"/>
          </a:xfrm>
          <a:prstGeom prst="rect">
            <a:avLst/>
          </a:prstGeom>
          <a:solidFill>
            <a:srgbClr val="B8860B"/>
          </a:solidFill>
          <a:ln/>
        </p:spPr>
      </p:sp>
      <p:sp>
        <p:nvSpPr>
          <p:cNvPr id="4" name="Shape 2"/>
          <p:cNvSpPr/>
          <p:nvPr/>
        </p:nvSpPr>
        <p:spPr>
          <a:xfrm>
            <a:off x="0" y="6784848"/>
            <a:ext cx="12192000" cy="73152"/>
          </a:xfrm>
          <a:prstGeom prst="rect">
            <a:avLst/>
          </a:prstGeom>
          <a:solidFill>
            <a:srgbClr val="1E3A5F"/>
          </a:solidFill>
          <a:ln/>
        </p:spPr>
      </p:sp>
      <p:sp>
        <p:nvSpPr>
          <p:cNvPr id="5" name="Shape 3"/>
          <p:cNvSpPr/>
          <p:nvPr/>
        </p:nvSpPr>
        <p:spPr>
          <a:xfrm>
            <a:off x="0" y="73152"/>
            <a:ext cx="1828800" cy="347472"/>
          </a:xfrm>
          <a:prstGeom prst="rect">
            <a:avLst/>
          </a:prstGeom>
          <a:solidFill>
            <a:srgbClr val="B8860B"/>
          </a:solidFill>
          <a:ln/>
        </p:spPr>
      </p:sp>
      <p:sp>
        <p:nvSpPr>
          <p:cNvPr id="6" name="Text 4"/>
          <p:cNvSpPr/>
          <p:nvPr/>
        </p:nvSpPr>
        <p:spPr>
          <a:xfrm>
            <a:off x="0" y="73152"/>
            <a:ext cx="1828800" cy="347472"/>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INTERVIEW READY</a:t>
            </a:r>
            <a:endParaRPr lang="en-US" sz="1000" dirty="0"/>
          </a:p>
        </p:txBody>
      </p:sp>
      <p:sp>
        <p:nvSpPr>
          <p:cNvPr id="7" name="Shape 5"/>
          <p:cNvSpPr/>
          <p:nvPr/>
        </p:nvSpPr>
        <p:spPr>
          <a:xfrm>
            <a:off x="10360152" y="73152"/>
            <a:ext cx="1828800" cy="347472"/>
          </a:xfrm>
          <a:prstGeom prst="rect">
            <a:avLst/>
          </a:prstGeom>
          <a:solidFill>
            <a:srgbClr val="005F5F"/>
          </a:solidFill>
          <a:ln/>
        </p:spPr>
      </p:sp>
      <p:sp>
        <p:nvSpPr>
          <p:cNvPr id="8" name="Text 6"/>
          <p:cNvSpPr/>
          <p:nvPr/>
        </p:nvSpPr>
        <p:spPr>
          <a:xfrm>
            <a:off x="10360152" y="73152"/>
            <a:ext cx="1828800" cy="347472"/>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D1.9</a:t>
            </a:r>
            <a:endParaRPr lang="en-US" sz="1000" dirty="0"/>
          </a:p>
        </p:txBody>
      </p:sp>
      <p:sp>
        <p:nvSpPr>
          <p:cNvPr id="9" name="Shape 7"/>
          <p:cNvSpPr/>
          <p:nvPr/>
        </p:nvSpPr>
        <p:spPr>
          <a:xfrm>
            <a:off x="0" y="420624"/>
            <a:ext cx="12192000" cy="1371600"/>
          </a:xfrm>
          <a:prstGeom prst="rect">
            <a:avLst/>
          </a:prstGeom>
          <a:solidFill>
            <a:srgbClr val="1E3A5F"/>
          </a:solidFill>
          <a:ln/>
        </p:spPr>
      </p:sp>
      <p:sp>
        <p:nvSpPr>
          <p:cNvPr id="10" name="Text 8"/>
          <p:cNvSpPr/>
          <p:nvPr/>
        </p:nvSpPr>
        <p:spPr>
          <a:xfrm>
            <a:off x="365760" y="502920"/>
            <a:ext cx="11430000" cy="365760"/>
          </a:xfrm>
          <a:prstGeom prst="rect">
            <a:avLst/>
          </a:prstGeom>
          <a:noFill/>
          <a:ln/>
        </p:spPr>
        <p:txBody>
          <a:bodyPr wrap="square" rtlCol="0" anchor="ctr"/>
          <a:lstStyle/>
          <a:p>
            <a:pPr indent="0" marL="0">
              <a:buNone/>
            </a:pPr>
            <a:r>
              <a:rPr lang="en-US" sz="1200" b="1" dirty="0">
                <a:solidFill>
                  <a:srgbClr val="B8860B"/>
                </a:solidFill>
                <a:latin typeface="Calibri" pitchFamily="34" charset="0"/>
                <a:ea typeface="Calibri" pitchFamily="34" charset="-122"/>
                <a:cs typeface="Calibri" pitchFamily="34" charset="-120"/>
              </a:rPr>
              <a:t>💼  Interview Question:</a:t>
            </a:r>
            <a:endParaRPr lang="en-US" sz="1200" dirty="0"/>
          </a:p>
        </p:txBody>
      </p:sp>
      <p:sp>
        <p:nvSpPr>
          <p:cNvPr id="11" name="Text 9"/>
          <p:cNvSpPr/>
          <p:nvPr/>
        </p:nvSpPr>
        <p:spPr>
          <a:xfrm>
            <a:off x="365760" y="914400"/>
            <a:ext cx="11430000" cy="822960"/>
          </a:xfrm>
          <a:prstGeom prst="rect">
            <a:avLst/>
          </a:prstGeom>
          <a:noFill/>
          <a:ln/>
        </p:spPr>
        <p:txBody>
          <a:bodyPr wrap="square"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"Explain the roles of depositories, clearing corporations, and custodians in India's financial market infrastructure."</a:t>
            </a:r>
            <a:endParaRPr lang="en-US" sz="1700" dirty="0"/>
          </a:p>
        </p:txBody>
      </p:sp>
      <p:sp>
        <p:nvSpPr>
          <p:cNvPr id="12" name="Text 10"/>
          <p:cNvSpPr/>
          <p:nvPr/>
        </p:nvSpPr>
        <p:spPr>
          <a:xfrm>
            <a:off x="365760" y="1965960"/>
            <a:ext cx="11430000" cy="365760"/>
          </a:xfrm>
          <a:prstGeom prst="rect">
            <a:avLst/>
          </a:prstGeom>
          <a:noFill/>
          <a:ln/>
        </p:spPr>
        <p:txBody>
          <a:bodyPr wrap="square" rtlCol="0" anchor="ctr"/>
          <a:lstStyle/>
          <a:p>
            <a:pPr indent="0" marL="0">
              <a:buNone/>
            </a:pPr>
            <a:r>
              <a:rPr lang="en-US" sz="1200" b="1" dirty="0">
                <a:solidFill>
                  <a:srgbClr val="005F5F"/>
                </a:solidFill>
                <a:latin typeface="Calibri" pitchFamily="34" charset="0"/>
                <a:ea typeface="Calibri" pitchFamily="34" charset="-122"/>
                <a:cs typeface="Calibri" pitchFamily="34" charset="-120"/>
              </a:rPr>
              <a:t>STRONG ANSWER FRAMEWORK  (4 points):</a:t>
            </a:r>
            <a:endParaRPr lang="en-US" sz="1200" dirty="0"/>
          </a:p>
        </p:txBody>
      </p:sp>
      <p:sp>
        <p:nvSpPr>
          <p:cNvPr id="13" name="Shape 11"/>
          <p:cNvSpPr/>
          <p:nvPr/>
        </p:nvSpPr>
        <p:spPr>
          <a:xfrm>
            <a:off x="274320" y="2423160"/>
            <a:ext cx="457200" cy="640080"/>
          </a:xfrm>
          <a:prstGeom prst="rect">
            <a:avLst/>
          </a:prstGeom>
          <a:solidFill>
            <a:srgbClr val="1E3A5F"/>
          </a:solidFill>
          <a:ln/>
        </p:spPr>
      </p:sp>
      <p:sp>
        <p:nvSpPr>
          <p:cNvPr id="14" name="Text 12"/>
          <p:cNvSpPr/>
          <p:nvPr/>
        </p:nvSpPr>
        <p:spPr>
          <a:xfrm>
            <a:off x="274320" y="2423160"/>
            <a:ext cx="457200" cy="64008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5" name="Shape 13"/>
          <p:cNvSpPr/>
          <p:nvPr/>
        </p:nvSpPr>
        <p:spPr>
          <a:xfrm>
            <a:off x="822960" y="2423160"/>
            <a:ext cx="11064240" cy="640080"/>
          </a:xfrm>
          <a:prstGeom prst="rect">
            <a:avLst/>
          </a:prstGeom>
          <a:solidFill>
            <a:srgbClr val="D5E3F0"/>
          </a:solidFill>
          <a:ln w="6350">
            <a:solidFill>
              <a:srgbClr val="AAAAAA"/>
            </a:solidFill>
            <a:prstDash val="solid"/>
          </a:ln>
        </p:spPr>
      </p:sp>
      <p:sp>
        <p:nvSpPr>
          <p:cNvPr id="16" name="Text 14"/>
          <p:cNvSpPr/>
          <p:nvPr/>
        </p:nvSpPr>
        <p:spPr>
          <a:xfrm>
            <a:off x="914400" y="2423160"/>
            <a:ext cx="10881360" cy="640080"/>
          </a:xfrm>
          <a:prstGeom prst="rect">
            <a:avLst/>
          </a:prstGeom>
          <a:noFill/>
          <a:ln/>
        </p:spPr>
        <p:txBody>
          <a:bodyPr wrap="square" rtlCol="0" anchor="ctr"/>
          <a:lstStyle/>
          <a:p>
            <a:pPr indent="0" marL="0">
              <a:buNone/>
            </a:pPr>
            <a:r>
              <a:rPr lang="en-US" sz="1300" dirty="0">
                <a:solidFill>
                  <a:srgbClr val="1A1A1A"/>
                </a:solidFill>
                <a:latin typeface="Calibri" pitchFamily="34" charset="0"/>
                <a:ea typeface="Calibri" pitchFamily="34" charset="-122"/>
                <a:cs typeface="Calibri" pitchFamily="34" charset="-120"/>
              </a:rPr>
              <a:t>Depositories (NSDL and CDSL) hold securities in dematerialised electronic form on behalf of investors and process debit/credit of securities on settlement. Every equity settlement in India involves a depository transfer.</a:t>
            </a:r>
            <a:endParaRPr lang="en-US" sz="1300" dirty="0"/>
          </a:p>
        </p:txBody>
      </p:sp>
      <p:sp>
        <p:nvSpPr>
          <p:cNvPr id="17" name="Shape 15"/>
          <p:cNvSpPr/>
          <p:nvPr/>
        </p:nvSpPr>
        <p:spPr>
          <a:xfrm>
            <a:off x="274320" y="3337560"/>
            <a:ext cx="457200" cy="640080"/>
          </a:xfrm>
          <a:prstGeom prst="rect">
            <a:avLst/>
          </a:prstGeom>
          <a:solidFill>
            <a:srgbClr val="1E3A5F"/>
          </a:solidFill>
          <a:ln/>
        </p:spPr>
      </p:sp>
      <p:sp>
        <p:nvSpPr>
          <p:cNvPr id="18" name="Text 16"/>
          <p:cNvSpPr/>
          <p:nvPr/>
        </p:nvSpPr>
        <p:spPr>
          <a:xfrm>
            <a:off x="274320" y="3337560"/>
            <a:ext cx="457200" cy="64008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9" name="Shape 17"/>
          <p:cNvSpPr/>
          <p:nvPr/>
        </p:nvSpPr>
        <p:spPr>
          <a:xfrm>
            <a:off x="822960" y="3337560"/>
            <a:ext cx="11064240" cy="640080"/>
          </a:xfrm>
          <a:prstGeom prst="rect">
            <a:avLst/>
          </a:prstGeom>
          <a:solidFill>
            <a:srgbClr val="FFFFFF"/>
          </a:solidFill>
          <a:ln w="6350">
            <a:solidFill>
              <a:srgbClr val="AAAAAA"/>
            </a:solidFill>
            <a:prstDash val="solid"/>
          </a:ln>
        </p:spPr>
      </p:sp>
      <p:sp>
        <p:nvSpPr>
          <p:cNvPr id="20" name="Text 18"/>
          <p:cNvSpPr/>
          <p:nvPr/>
        </p:nvSpPr>
        <p:spPr>
          <a:xfrm>
            <a:off x="914400" y="3337560"/>
            <a:ext cx="10881360" cy="640080"/>
          </a:xfrm>
          <a:prstGeom prst="rect">
            <a:avLst/>
          </a:prstGeom>
          <a:noFill/>
          <a:ln/>
        </p:spPr>
        <p:txBody>
          <a:bodyPr wrap="square" rtlCol="0" anchor="ctr"/>
          <a:lstStyle/>
          <a:p>
            <a:pPr indent="0" marL="0">
              <a:buNone/>
            </a:pPr>
            <a:r>
              <a:rPr lang="en-US" sz="1300" dirty="0">
                <a:solidFill>
                  <a:srgbClr val="1A1A1A"/>
                </a:solidFill>
                <a:latin typeface="Calibri" pitchFamily="34" charset="0"/>
                <a:ea typeface="Calibri" pitchFamily="34" charset="-122"/>
                <a:cs typeface="Calibri" pitchFamily="34" charset="-120"/>
              </a:rPr>
              <a:t>Clearing corporations (NSCCL, ICCL, CCIL) perform novation — becoming legal counterparty to every trade — net settlement obligations, collect margins, and guarantee completion even if a participant defaults.</a:t>
            </a:r>
            <a:endParaRPr lang="en-US" sz="1300" dirty="0"/>
          </a:p>
        </p:txBody>
      </p:sp>
      <p:sp>
        <p:nvSpPr>
          <p:cNvPr id="21" name="Shape 19"/>
          <p:cNvSpPr/>
          <p:nvPr/>
        </p:nvSpPr>
        <p:spPr>
          <a:xfrm>
            <a:off x="274320" y="4251960"/>
            <a:ext cx="457200" cy="640080"/>
          </a:xfrm>
          <a:prstGeom prst="rect">
            <a:avLst/>
          </a:prstGeom>
          <a:solidFill>
            <a:srgbClr val="1E3A5F"/>
          </a:solidFill>
          <a:ln/>
        </p:spPr>
      </p:sp>
      <p:sp>
        <p:nvSpPr>
          <p:cNvPr id="22" name="Text 20"/>
          <p:cNvSpPr/>
          <p:nvPr/>
        </p:nvSpPr>
        <p:spPr>
          <a:xfrm>
            <a:off x="274320" y="4251960"/>
            <a:ext cx="457200" cy="64008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3" name="Shape 21"/>
          <p:cNvSpPr/>
          <p:nvPr/>
        </p:nvSpPr>
        <p:spPr>
          <a:xfrm>
            <a:off x="822960" y="4251960"/>
            <a:ext cx="11064240" cy="640080"/>
          </a:xfrm>
          <a:prstGeom prst="rect">
            <a:avLst/>
          </a:prstGeom>
          <a:solidFill>
            <a:srgbClr val="D5E3F0"/>
          </a:solidFill>
          <a:ln w="6350">
            <a:solidFill>
              <a:srgbClr val="AAAAAA"/>
            </a:solidFill>
            <a:prstDash val="solid"/>
          </a:ln>
        </p:spPr>
      </p:sp>
      <p:sp>
        <p:nvSpPr>
          <p:cNvPr id="24" name="Text 22"/>
          <p:cNvSpPr/>
          <p:nvPr/>
        </p:nvSpPr>
        <p:spPr>
          <a:xfrm>
            <a:off x="914400" y="4251960"/>
            <a:ext cx="10881360" cy="640080"/>
          </a:xfrm>
          <a:prstGeom prst="rect">
            <a:avLst/>
          </a:prstGeom>
          <a:noFill/>
          <a:ln/>
        </p:spPr>
        <p:txBody>
          <a:bodyPr wrap="square" rtlCol="0" anchor="ctr"/>
          <a:lstStyle/>
          <a:p>
            <a:pPr indent="0" marL="0">
              <a:buNone/>
            </a:pPr>
            <a:r>
              <a:rPr lang="en-US" sz="1300" dirty="0">
                <a:solidFill>
                  <a:srgbClr val="1A1A1A"/>
                </a:solidFill>
                <a:latin typeface="Calibri" pitchFamily="34" charset="0"/>
                <a:ea typeface="Calibri" pitchFamily="34" charset="-122"/>
                <a:cs typeface="Calibri" pitchFamily="34" charset="-120"/>
              </a:rPr>
              <a:t>Custodian banks safeguard institutional investors' assets, process settlement instructions to the depository, handle corporate actions, and report holdings to regulators. Mandatory for FPIs under SEBI regulations.</a:t>
            </a:r>
            <a:endParaRPr lang="en-US" sz="1300" dirty="0"/>
          </a:p>
        </p:txBody>
      </p:sp>
      <p:sp>
        <p:nvSpPr>
          <p:cNvPr id="25" name="Shape 23"/>
          <p:cNvSpPr/>
          <p:nvPr/>
        </p:nvSpPr>
        <p:spPr>
          <a:xfrm>
            <a:off x="274320" y="5166360"/>
            <a:ext cx="457200" cy="640080"/>
          </a:xfrm>
          <a:prstGeom prst="rect">
            <a:avLst/>
          </a:prstGeom>
          <a:solidFill>
            <a:srgbClr val="1E3A5F"/>
          </a:solidFill>
          <a:ln/>
        </p:spPr>
      </p:sp>
      <p:sp>
        <p:nvSpPr>
          <p:cNvPr id="26" name="Text 24"/>
          <p:cNvSpPr/>
          <p:nvPr/>
        </p:nvSpPr>
        <p:spPr>
          <a:xfrm>
            <a:off x="274320" y="5166360"/>
            <a:ext cx="457200" cy="64008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7" name="Shape 25"/>
          <p:cNvSpPr/>
          <p:nvPr/>
        </p:nvSpPr>
        <p:spPr>
          <a:xfrm>
            <a:off x="822960" y="5166360"/>
            <a:ext cx="11064240" cy="640080"/>
          </a:xfrm>
          <a:prstGeom prst="rect">
            <a:avLst/>
          </a:prstGeom>
          <a:solidFill>
            <a:srgbClr val="FFFFFF"/>
          </a:solidFill>
          <a:ln w="6350">
            <a:solidFill>
              <a:srgbClr val="AAAAAA"/>
            </a:solidFill>
            <a:prstDash val="solid"/>
          </a:ln>
        </p:spPr>
      </p:sp>
      <p:sp>
        <p:nvSpPr>
          <p:cNvPr id="28" name="Text 26"/>
          <p:cNvSpPr/>
          <p:nvPr/>
        </p:nvSpPr>
        <p:spPr>
          <a:xfrm>
            <a:off x="914400" y="5166360"/>
            <a:ext cx="10881360" cy="640080"/>
          </a:xfrm>
          <a:prstGeom prst="rect">
            <a:avLst/>
          </a:prstGeom>
          <a:noFill/>
          <a:ln/>
        </p:spPr>
        <p:txBody>
          <a:bodyPr wrap="square" rtlCol="0" anchor="ctr"/>
          <a:lstStyle/>
          <a:p>
            <a:pPr indent="0" marL="0">
              <a:buNone/>
            </a:pPr>
            <a:r>
              <a:rPr lang="en-US" sz="1300" dirty="0">
                <a:solidFill>
                  <a:srgbClr val="1A1A1A"/>
                </a:solidFill>
                <a:latin typeface="Calibri" pitchFamily="34" charset="0"/>
                <a:ea typeface="Calibri" pitchFamily="34" charset="-122"/>
                <a:cs typeface="Calibri" pitchFamily="34" charset="-120"/>
              </a:rPr>
              <a:t>In operations, we interact with all three daily: generating settlement instructions for custodians, reconciling depository holdings against our books, and submitting regulatory reports that SEBI and RBI require from market participants.</a:t>
            </a:r>
            <a:endParaRPr lang="en-US" sz="1300" dirty="0"/>
          </a:p>
        </p:txBody>
      </p:sp>
      <p:sp>
        <p:nvSpPr>
          <p:cNvPr id="29" name="Text 27"/>
          <p:cNvSpPr/>
          <p:nvPr/>
        </p:nvSpPr>
        <p:spPr>
          <a:xfrm>
            <a:off x="0" y="6601968"/>
            <a:ext cx="12192000" cy="182880"/>
          </a:xfrm>
          <a:prstGeom prst="rect">
            <a:avLst/>
          </a:prstGeom>
          <a:noFill/>
          <a:ln/>
        </p:spPr>
        <p:txBody>
          <a:bodyPr wrap="square" rtlCol="0" anchor="ctr"/>
          <a:lstStyle/>
          <a:p>
            <a:pPr algn="ctr" indent="0" marL="0">
              <a:buNone/>
            </a:pPr>
            <a:r>
              <a:rPr lang="en-US" sz="800" dirty="0">
                <a:solidFill>
                  <a:srgbClr val="AAAAAA"/>
                </a:solidFill>
                <a:latin typeface="Calibri" pitchFamily="34" charset="0"/>
                <a:ea typeface="Calibri" pitchFamily="34" charset="-122"/>
                <a:cs typeface="Calibri" pitchFamily="34" charset="-120"/>
              </a:rPr>
              <a:t>CIBOP · Module 1 · D1.9</a:t>
            </a:r>
            <a:endParaRPr lang="en-US" sz="8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1E3A5F"/>
          </a:solidFill>
          <a:ln/>
        </p:spPr>
      </p:sp>
      <p:sp>
        <p:nvSpPr>
          <p:cNvPr id="3" name="Shape 1"/>
          <p:cNvSpPr/>
          <p:nvPr/>
        </p:nvSpPr>
        <p:spPr>
          <a:xfrm>
            <a:off x="0" y="0"/>
            <a:ext cx="12192000" cy="73152"/>
          </a:xfrm>
          <a:prstGeom prst="rect">
            <a:avLst/>
          </a:prstGeom>
          <a:solidFill>
            <a:srgbClr val="B8860B"/>
          </a:solidFill>
          <a:ln/>
        </p:spPr>
      </p:sp>
      <p:sp>
        <p:nvSpPr>
          <p:cNvPr id="4" name="Shape 2"/>
          <p:cNvSpPr/>
          <p:nvPr/>
        </p:nvSpPr>
        <p:spPr>
          <a:xfrm>
            <a:off x="0" y="6784848"/>
            <a:ext cx="12192000" cy="73152"/>
          </a:xfrm>
          <a:prstGeom prst="rect">
            <a:avLst/>
          </a:prstGeom>
          <a:solidFill>
            <a:srgbClr val="B8860B"/>
          </a:solidFill>
          <a:ln/>
        </p:spPr>
      </p:sp>
      <p:sp>
        <p:nvSpPr>
          <p:cNvPr id="5" name="Shape 3"/>
          <p:cNvSpPr/>
          <p:nvPr/>
        </p:nvSpPr>
        <p:spPr>
          <a:xfrm>
            <a:off x="0" y="73152"/>
            <a:ext cx="1828800" cy="347472"/>
          </a:xfrm>
          <a:prstGeom prst="rect">
            <a:avLst/>
          </a:prstGeom>
          <a:solidFill>
            <a:srgbClr val="B8860B"/>
          </a:solidFill>
          <a:ln/>
        </p:spPr>
      </p:sp>
      <p:sp>
        <p:nvSpPr>
          <p:cNvPr id="6" name="Text 4"/>
          <p:cNvSpPr/>
          <p:nvPr/>
        </p:nvSpPr>
        <p:spPr>
          <a:xfrm>
            <a:off x="0" y="73152"/>
            <a:ext cx="1828800" cy="347472"/>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QUICK RECAP</a:t>
            </a:r>
            <a:endParaRPr lang="en-US" sz="1000" dirty="0"/>
          </a:p>
        </p:txBody>
      </p:sp>
      <p:sp>
        <p:nvSpPr>
          <p:cNvPr id="7" name="Shape 5"/>
          <p:cNvSpPr/>
          <p:nvPr/>
        </p:nvSpPr>
        <p:spPr>
          <a:xfrm>
            <a:off x="10360152" y="73152"/>
            <a:ext cx="1828800" cy="347472"/>
          </a:xfrm>
          <a:prstGeom prst="rect">
            <a:avLst/>
          </a:prstGeom>
          <a:solidFill>
            <a:srgbClr val="005F5F"/>
          </a:solidFill>
          <a:ln/>
        </p:spPr>
      </p:sp>
      <p:sp>
        <p:nvSpPr>
          <p:cNvPr id="8" name="Text 6"/>
          <p:cNvSpPr/>
          <p:nvPr/>
        </p:nvSpPr>
        <p:spPr>
          <a:xfrm>
            <a:off x="10360152" y="73152"/>
            <a:ext cx="1828800" cy="347472"/>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D1.10</a:t>
            </a:r>
            <a:endParaRPr lang="en-US" sz="1000" dirty="0"/>
          </a:p>
        </p:txBody>
      </p:sp>
      <p:sp>
        <p:nvSpPr>
          <p:cNvPr id="9" name="Text 7"/>
          <p:cNvSpPr/>
          <p:nvPr/>
        </p:nvSpPr>
        <p:spPr>
          <a:xfrm>
            <a:off x="8686800" y="1097280"/>
            <a:ext cx="3200400" cy="4572000"/>
          </a:xfrm>
          <a:prstGeom prst="rect">
            <a:avLst/>
          </a:prstGeom>
          <a:noFill/>
          <a:ln/>
        </p:spPr>
        <p:txBody>
          <a:bodyPr wrap="square" rtlCol="0" anchor="ctr"/>
          <a:lstStyle/>
          <a:p>
            <a:pPr algn="ctr" indent="0" marL="0">
              <a:buNone/>
            </a:pPr>
            <a:r>
              <a:rPr lang="en-US" sz="20000" b="1" dirty="0">
                <a:solidFill>
                  <a:srgbClr val="2E4A6E"/>
                </a:solidFill>
                <a:latin typeface="Calibri" pitchFamily="34" charset="0"/>
                <a:ea typeface="Calibri" pitchFamily="34" charset="-122"/>
                <a:cs typeface="Calibri" pitchFamily="34" charset="-120"/>
              </a:rPr>
              <a:t>?</a:t>
            </a:r>
            <a:endParaRPr lang="en-US" sz="20000" dirty="0"/>
          </a:p>
        </p:txBody>
      </p:sp>
      <p:sp>
        <p:nvSpPr>
          <p:cNvPr id="10" name="Text 8"/>
          <p:cNvSpPr/>
          <p:nvPr/>
        </p:nvSpPr>
        <p:spPr>
          <a:xfrm>
            <a:off x="365760" y="548640"/>
            <a:ext cx="8229600" cy="457200"/>
          </a:xfrm>
          <a:prstGeom prst="rect">
            <a:avLst/>
          </a:prstGeom>
          <a:noFill/>
          <a:ln/>
        </p:spPr>
        <p:txBody>
          <a:bodyPr wrap="square" rtlCol="0" anchor="ctr"/>
          <a:lstStyle/>
          <a:p>
            <a:pPr indent="0" marL="0">
              <a:buNone/>
            </a:pPr>
            <a:r>
              <a:rPr lang="en-US" sz="1400" b="1" dirty="0">
                <a:solidFill>
                  <a:srgbClr val="B8860B"/>
                </a:solidFill>
                <a:latin typeface="Calibri" pitchFamily="34" charset="0"/>
                <a:ea typeface="Calibri" pitchFamily="34" charset="-122"/>
                <a:cs typeface="Calibri" pitchFamily="34" charset="-120"/>
              </a:rPr>
              <a:t>D1.10  —  Investment Banks</a:t>
            </a:r>
            <a:endParaRPr lang="en-US" sz="1400" dirty="0"/>
          </a:p>
        </p:txBody>
      </p:sp>
      <p:sp>
        <p:nvSpPr>
          <p:cNvPr id="11" name="Text 9"/>
          <p:cNvSpPr/>
          <p:nvPr/>
        </p:nvSpPr>
        <p:spPr>
          <a:xfrm>
            <a:off x="365760" y="1280160"/>
            <a:ext cx="8229600" cy="3474720"/>
          </a:xfrm>
          <a:prstGeom prst="rect">
            <a:avLst/>
          </a:prstGeom>
          <a:noFill/>
          <a:ln/>
        </p:spPr>
        <p:txBody>
          <a:bodyPr wrap="square"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"Investment banks don't take deposits and they don't give you home loans. So what exactly do they do — and why do they matter more than your local bank branch?"</a:t>
            </a:r>
            <a:endParaRPr lang="en-US" sz="2600" dirty="0"/>
          </a:p>
        </p:txBody>
      </p:sp>
      <p:sp>
        <p:nvSpPr>
          <p:cNvPr id="12" name="Shape 10"/>
          <p:cNvSpPr/>
          <p:nvPr/>
        </p:nvSpPr>
        <p:spPr>
          <a:xfrm>
            <a:off x="365760" y="5029200"/>
            <a:ext cx="8229600" cy="731520"/>
          </a:xfrm>
          <a:prstGeom prst="rect">
            <a:avLst/>
          </a:prstGeom>
          <a:solidFill>
            <a:srgbClr val="2E4A6E"/>
          </a:solidFill>
          <a:ln/>
        </p:spPr>
      </p:sp>
      <p:sp>
        <p:nvSpPr>
          <p:cNvPr id="13" name="Text 11"/>
          <p:cNvSpPr/>
          <p:nvPr/>
        </p:nvSpPr>
        <p:spPr>
          <a:xfrm>
            <a:off x="365760" y="5029200"/>
            <a:ext cx="8229600" cy="731520"/>
          </a:xfrm>
          <a:prstGeom prst="rect">
            <a:avLst/>
          </a:prstGeom>
          <a:noFill/>
          <a:ln/>
        </p:spPr>
        <p:txBody>
          <a:bodyPr wrap="square" rtlCol="0" anchor="ctr"/>
          <a:lstStyle/>
          <a:p>
            <a:pPr algn="l" indent="0" marL="0">
              <a:buNone/>
            </a:pPr>
            <a:r>
              <a:rPr lang="en-US" sz="1100" i="1" dirty="0">
                <a:solidFill>
                  <a:srgbClr val="CADCFC"/>
                </a:solidFill>
                <a:latin typeface="Calibri" pitchFamily="34" charset="0"/>
                <a:ea typeface="Calibri" pitchFamily="34" charset="-122"/>
                <a:cs typeface="Calibri" pitchFamily="34" charset="-120"/>
              </a:rPr>
              <a:t>📹  From: D1.10 · Video 1 — What Is an Investment Bank? (EAR: IDENTIFY)</a:t>
            </a:r>
            <a:endParaRPr lang="en-US" sz="1100" dirty="0"/>
          </a:p>
        </p:txBody>
      </p:sp>
      <p:sp>
        <p:nvSpPr>
          <p:cNvPr id="14" name="Text 12"/>
          <p:cNvSpPr/>
          <p:nvPr/>
        </p:nvSpPr>
        <p:spPr>
          <a:xfrm>
            <a:off x="0" y="6601968"/>
            <a:ext cx="12192000" cy="182880"/>
          </a:xfrm>
          <a:prstGeom prst="rect">
            <a:avLst/>
          </a:prstGeom>
          <a:noFill/>
          <a:ln/>
        </p:spPr>
        <p:txBody>
          <a:bodyPr wrap="square" rtlCol="0" anchor="ctr"/>
          <a:lstStyle/>
          <a:p>
            <a:pPr algn="ctr" indent="0" marL="0">
              <a:buNone/>
            </a:pPr>
            <a:r>
              <a:rPr lang="en-US" sz="800" dirty="0">
                <a:solidFill>
                  <a:srgbClr val="AAAAAA"/>
                </a:solidFill>
                <a:latin typeface="Calibri" pitchFamily="34" charset="0"/>
                <a:ea typeface="Calibri" pitchFamily="34" charset="-122"/>
                <a:cs typeface="Calibri" pitchFamily="34" charset="-120"/>
              </a:rPr>
              <a:t>CIBOP · Module 1 · D1.10</a:t>
            </a:r>
            <a:endParaRPr lang="en-US" sz="80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4F6FA"/>
          </a:solidFill>
          <a:ln/>
        </p:spPr>
      </p:sp>
      <p:sp>
        <p:nvSpPr>
          <p:cNvPr id="3" name="Shape 1"/>
          <p:cNvSpPr/>
          <p:nvPr/>
        </p:nvSpPr>
        <p:spPr>
          <a:xfrm>
            <a:off x="0" y="0"/>
            <a:ext cx="12192000" cy="73152"/>
          </a:xfrm>
          <a:prstGeom prst="rect">
            <a:avLst/>
          </a:prstGeom>
          <a:solidFill>
            <a:srgbClr val="1E3A5F"/>
          </a:solidFill>
          <a:ln/>
        </p:spPr>
      </p:sp>
      <p:sp>
        <p:nvSpPr>
          <p:cNvPr id="4" name="Shape 2"/>
          <p:cNvSpPr/>
          <p:nvPr/>
        </p:nvSpPr>
        <p:spPr>
          <a:xfrm>
            <a:off x="0" y="6784848"/>
            <a:ext cx="12192000" cy="73152"/>
          </a:xfrm>
          <a:prstGeom prst="rect">
            <a:avLst/>
          </a:prstGeom>
          <a:solidFill>
            <a:srgbClr val="005F5F"/>
          </a:solidFill>
          <a:ln/>
        </p:spPr>
      </p:sp>
      <p:sp>
        <p:nvSpPr>
          <p:cNvPr id="5" name="Shape 3"/>
          <p:cNvSpPr/>
          <p:nvPr/>
        </p:nvSpPr>
        <p:spPr>
          <a:xfrm>
            <a:off x="0" y="73152"/>
            <a:ext cx="1828800" cy="347472"/>
          </a:xfrm>
          <a:prstGeom prst="rect">
            <a:avLst/>
          </a:prstGeom>
          <a:solidFill>
            <a:srgbClr val="C0392B"/>
          </a:solidFill>
          <a:ln/>
        </p:spPr>
      </p:sp>
      <p:sp>
        <p:nvSpPr>
          <p:cNvPr id="6" name="Text 4"/>
          <p:cNvSpPr/>
          <p:nvPr/>
        </p:nvSpPr>
        <p:spPr>
          <a:xfrm>
            <a:off x="0" y="73152"/>
            <a:ext cx="1828800" cy="347472"/>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SCENARIO</a:t>
            </a:r>
            <a:endParaRPr lang="en-US" sz="1000" dirty="0"/>
          </a:p>
        </p:txBody>
      </p:sp>
      <p:sp>
        <p:nvSpPr>
          <p:cNvPr id="7" name="Shape 5"/>
          <p:cNvSpPr/>
          <p:nvPr/>
        </p:nvSpPr>
        <p:spPr>
          <a:xfrm>
            <a:off x="10360152" y="73152"/>
            <a:ext cx="1828800" cy="347472"/>
          </a:xfrm>
          <a:prstGeom prst="rect">
            <a:avLst/>
          </a:prstGeom>
          <a:solidFill>
            <a:srgbClr val="005F5F"/>
          </a:solidFill>
          <a:ln/>
        </p:spPr>
      </p:sp>
      <p:sp>
        <p:nvSpPr>
          <p:cNvPr id="8" name="Text 6"/>
          <p:cNvSpPr/>
          <p:nvPr/>
        </p:nvSpPr>
        <p:spPr>
          <a:xfrm>
            <a:off x="10360152" y="73152"/>
            <a:ext cx="1828800" cy="347472"/>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D1.10</a:t>
            </a:r>
            <a:endParaRPr lang="en-US" sz="1000" dirty="0"/>
          </a:p>
        </p:txBody>
      </p:sp>
      <p:sp>
        <p:nvSpPr>
          <p:cNvPr id="9" name="Shape 7"/>
          <p:cNvSpPr/>
          <p:nvPr/>
        </p:nvSpPr>
        <p:spPr>
          <a:xfrm>
            <a:off x="0" y="420624"/>
            <a:ext cx="12192000" cy="914400"/>
          </a:xfrm>
          <a:prstGeom prst="rect">
            <a:avLst/>
          </a:prstGeom>
          <a:solidFill>
            <a:srgbClr val="1E3A5F"/>
          </a:solidFill>
          <a:ln/>
        </p:spPr>
      </p:sp>
      <p:sp>
        <p:nvSpPr>
          <p:cNvPr id="10" name="Text 8"/>
          <p:cNvSpPr/>
          <p:nvPr/>
        </p:nvSpPr>
        <p:spPr>
          <a:xfrm>
            <a:off x="365760" y="420624"/>
            <a:ext cx="11430000" cy="914400"/>
          </a:xfrm>
          <a:prstGeom prst="rect">
            <a:avLst/>
          </a:prstGeom>
          <a:noFill/>
          <a:ln/>
        </p:spPr>
        <p:txBody>
          <a:bodyPr wrap="square"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Morgan Stanley Underwrites Zomato IPO ₹9,375 Cr: What Actually Happened</a:t>
            </a:r>
            <a:endParaRPr lang="en-US" sz="2000" dirty="0"/>
          </a:p>
        </p:txBody>
      </p:sp>
      <p:sp>
        <p:nvSpPr>
          <p:cNvPr id="11" name="Text 9"/>
          <p:cNvSpPr/>
          <p:nvPr/>
        </p:nvSpPr>
        <p:spPr>
          <a:xfrm>
            <a:off x="365760" y="1554480"/>
            <a:ext cx="7498080" cy="2926080"/>
          </a:xfrm>
          <a:prstGeom prst="rect">
            <a:avLst/>
          </a:prstGeom>
          <a:noFill/>
          <a:ln/>
        </p:spPr>
        <p:txBody>
          <a:bodyPr wrap="square" rtlCol="0" anchor="ctr"/>
          <a:lstStyle/>
          <a:p>
            <a:pPr indent="0" marL="0">
              <a:buNone/>
            </a:pPr>
            <a:r>
              <a:rPr lang="en-US" sz="1400" dirty="0">
                <a:solidFill>
                  <a:srgbClr val="1A1A1A"/>
                </a:solidFill>
                <a:latin typeface="Calibri" pitchFamily="34" charset="0"/>
                <a:ea typeface="Calibri" pitchFamily="34" charset="-122"/>
                <a:cs typeface="Calibri" pitchFamily="34" charset="-120"/>
              </a:rPr>
              <a:t>When Zomato launched its ₹9,375 crore IPO in July 2021, investment banks Kotak Mahindra Capital, Morgan Stanley, and others acted as Book Running Lead Managers (BRLMs). They: priced the book through roadshows, built an order book from institutional investors, guaranteed minimum proceeds under firm commitment, and managed allocation between anchor investors, QIBs, HNIs, and retail.</a:t>
            </a:r>
            <a:endParaRPr lang="en-US" sz="1400" dirty="0"/>
          </a:p>
          <a:p>
            <a:pPr indent="0" marL="0">
              <a:buNone/>
            </a:pPr>
            <a:endParaRPr lang="en-US" sz="1400" dirty="0"/>
          </a:p>
          <a:p>
            <a:pPr indent="0" marL="0">
              <a:buNone/>
            </a:pPr>
            <a:r>
              <a:rPr lang="en-US" sz="1400" dirty="0">
                <a:solidFill>
                  <a:srgbClr val="1A1A1A"/>
                </a:solidFill>
                <a:latin typeface="Calibri" pitchFamily="34" charset="0"/>
                <a:ea typeface="Calibri" pitchFamily="34" charset="-122"/>
                <a:cs typeface="Calibri" pitchFamily="34" charset="-120"/>
              </a:rPr>
              <a:t>The IPO was subscribed 38.25 times. Post-listing, operations teams across custodians and depositories processed allotments for over 35 lakh applicants.</a:t>
            </a:r>
            <a:endParaRPr lang="en-US" sz="1400" dirty="0"/>
          </a:p>
        </p:txBody>
      </p:sp>
      <p:sp>
        <p:nvSpPr>
          <p:cNvPr id="12" name="Shape 10"/>
          <p:cNvSpPr/>
          <p:nvPr/>
        </p:nvSpPr>
        <p:spPr>
          <a:xfrm>
            <a:off x="8046720" y="1554480"/>
            <a:ext cx="3931920" cy="2926080"/>
          </a:xfrm>
          <a:prstGeom prst="rect">
            <a:avLst/>
          </a:prstGeom>
          <a:solidFill>
            <a:srgbClr val="D5E3F0"/>
          </a:solidFill>
          <a:ln w="12700">
            <a:solidFill>
              <a:srgbClr val="1E3A5F"/>
            </a:solidFill>
            <a:prstDash val="solid"/>
          </a:ln>
        </p:spPr>
      </p:sp>
      <p:sp>
        <p:nvSpPr>
          <p:cNvPr id="13" name="Text 11"/>
          <p:cNvSpPr/>
          <p:nvPr/>
        </p:nvSpPr>
        <p:spPr>
          <a:xfrm>
            <a:off x="8046720" y="1554480"/>
            <a:ext cx="3931920" cy="2926080"/>
          </a:xfrm>
          <a:prstGeom prst="rect">
            <a:avLst/>
          </a:prstGeom>
          <a:noFill/>
          <a:ln/>
        </p:spPr>
        <p:txBody>
          <a:bodyPr wrap="square" rtlCol="0" anchor="t"/>
          <a:lstStyle/>
          <a:p>
            <a:pPr indent="0" marL="0">
              <a:buNone/>
            </a:pPr>
            <a:r>
              <a:rPr lang="en-US" sz="1300" dirty="0">
                <a:solidFill>
                  <a:srgbClr val="1E3A5F"/>
                </a:solidFill>
                <a:latin typeface="Calibri" pitchFamily="34" charset="0"/>
                <a:ea typeface="Calibri" pitchFamily="34" charset="-122"/>
                <a:cs typeface="Calibri" pitchFamily="34" charset="-120"/>
              </a:rPr>
              <a:t>ZOMATO IPO 2021:</a:t>
            </a:r>
            <a:endParaRPr lang="en-US" sz="1300" dirty="0"/>
          </a:p>
          <a:p>
            <a:pPr indent="0" marL="0">
              <a:buNone/>
            </a:pPr>
            <a:endParaRPr lang="en-US" sz="1300" dirty="0"/>
          </a:p>
          <a:p>
            <a:pPr indent="0" marL="0">
              <a:buNone/>
            </a:pPr>
            <a:r>
              <a:rPr lang="en-US" sz="1300" dirty="0">
                <a:solidFill>
                  <a:srgbClr val="1E3A5F"/>
                </a:solidFill>
                <a:latin typeface="Calibri" pitchFamily="34" charset="0"/>
                <a:ea typeface="Calibri" pitchFamily="34" charset="-122"/>
                <a:cs typeface="Calibri" pitchFamily="34" charset="-120"/>
              </a:rPr>
              <a:t>₹9,375 Cr</a:t>
            </a:r>
            <a:endParaRPr lang="en-US" sz="1300" dirty="0"/>
          </a:p>
          <a:p>
            <a:pPr indent="0" marL="0">
              <a:buNone/>
            </a:pPr>
            <a:r>
              <a:rPr lang="en-US" sz="1300" dirty="0">
                <a:solidFill>
                  <a:srgbClr val="1E3A5F"/>
                </a:solidFill>
                <a:latin typeface="Calibri" pitchFamily="34" charset="0"/>
                <a:ea typeface="Calibri" pitchFamily="34" charset="-122"/>
                <a:cs typeface="Calibri" pitchFamily="34" charset="-120"/>
              </a:rPr>
              <a:t>IPO size</a:t>
            </a:r>
            <a:endParaRPr lang="en-US" sz="1300" dirty="0"/>
          </a:p>
          <a:p>
            <a:pPr indent="0" marL="0">
              <a:buNone/>
            </a:pPr>
            <a:endParaRPr lang="en-US" sz="1300" dirty="0"/>
          </a:p>
          <a:p>
            <a:pPr indent="0" marL="0">
              <a:buNone/>
            </a:pPr>
            <a:r>
              <a:rPr lang="en-US" sz="1300" dirty="0">
                <a:solidFill>
                  <a:srgbClr val="1E3A5F"/>
                </a:solidFill>
                <a:latin typeface="Calibri" pitchFamily="34" charset="0"/>
                <a:ea typeface="Calibri" pitchFamily="34" charset="-122"/>
                <a:cs typeface="Calibri" pitchFamily="34" charset="-120"/>
              </a:rPr>
              <a:t>38.25x</a:t>
            </a:r>
            <a:endParaRPr lang="en-US" sz="1300" dirty="0"/>
          </a:p>
          <a:p>
            <a:pPr indent="0" marL="0">
              <a:buNone/>
            </a:pPr>
            <a:r>
              <a:rPr lang="en-US" sz="1300" dirty="0">
                <a:solidFill>
                  <a:srgbClr val="1E3A5F"/>
                </a:solidFill>
                <a:latin typeface="Calibri" pitchFamily="34" charset="0"/>
                <a:ea typeface="Calibri" pitchFamily="34" charset="-122"/>
                <a:cs typeface="Calibri" pitchFamily="34" charset="-120"/>
              </a:rPr>
              <a:t>oversubscribed</a:t>
            </a:r>
            <a:endParaRPr lang="en-US" sz="1300" dirty="0"/>
          </a:p>
          <a:p>
            <a:pPr indent="0" marL="0">
              <a:buNone/>
            </a:pPr>
            <a:endParaRPr lang="en-US" sz="1300" dirty="0"/>
          </a:p>
          <a:p>
            <a:pPr indent="0" marL="0">
              <a:buNone/>
            </a:pPr>
            <a:r>
              <a:rPr lang="en-US" sz="1300" dirty="0">
                <a:solidFill>
                  <a:srgbClr val="1E3A5F"/>
                </a:solidFill>
                <a:latin typeface="Calibri" pitchFamily="34" charset="0"/>
                <a:ea typeface="Calibri" pitchFamily="34" charset="-122"/>
                <a:cs typeface="Calibri" pitchFamily="34" charset="-120"/>
              </a:rPr>
              <a:t>Jul 2021</a:t>
            </a:r>
            <a:endParaRPr lang="en-US" sz="1300" dirty="0"/>
          </a:p>
          <a:p>
            <a:pPr indent="0" marL="0">
              <a:buNone/>
            </a:pPr>
            <a:endParaRPr lang="en-US" sz="1300" dirty="0"/>
          </a:p>
          <a:p>
            <a:pPr indent="0" marL="0">
              <a:buNone/>
            </a:pPr>
            <a:r>
              <a:rPr lang="en-US" sz="1300" dirty="0">
                <a:solidFill>
                  <a:srgbClr val="1E3A5F"/>
                </a:solidFill>
                <a:latin typeface="Calibri" pitchFamily="34" charset="0"/>
                <a:ea typeface="Calibri" pitchFamily="34" charset="-122"/>
                <a:cs typeface="Calibri" pitchFamily="34" charset="-120"/>
              </a:rPr>
              <a:t>35+ lakh</a:t>
            </a:r>
            <a:endParaRPr lang="en-US" sz="1300" dirty="0"/>
          </a:p>
          <a:p>
            <a:pPr indent="0" marL="0">
              <a:buNone/>
            </a:pPr>
            <a:r>
              <a:rPr lang="en-US" sz="1300" dirty="0">
                <a:solidFill>
                  <a:srgbClr val="1E3A5F"/>
                </a:solidFill>
                <a:latin typeface="Calibri" pitchFamily="34" charset="0"/>
                <a:ea typeface="Calibri" pitchFamily="34" charset="-122"/>
                <a:cs typeface="Calibri" pitchFamily="34" charset="-120"/>
              </a:rPr>
              <a:t>applicants</a:t>
            </a:r>
            <a:endParaRPr lang="en-US" sz="1300" dirty="0"/>
          </a:p>
          <a:p>
            <a:pPr indent="0" marL="0">
              <a:buNone/>
            </a:pPr>
            <a:endParaRPr lang="en-US" sz="1300" dirty="0"/>
          </a:p>
          <a:p>
            <a:pPr indent="0" marL="0">
              <a:buNone/>
            </a:pPr>
            <a:r>
              <a:rPr lang="en-US" sz="1300" dirty="0">
                <a:solidFill>
                  <a:srgbClr val="1E3A5F"/>
                </a:solidFill>
                <a:latin typeface="Calibri" pitchFamily="34" charset="0"/>
                <a:ea typeface="Calibri" pitchFamily="34" charset="-122"/>
                <a:cs typeface="Calibri" pitchFamily="34" charset="-120"/>
              </a:rPr>
              <a:t>₹76</a:t>
            </a:r>
            <a:endParaRPr lang="en-US" sz="1300" dirty="0"/>
          </a:p>
          <a:p>
            <a:pPr indent="0" marL="0">
              <a:buNone/>
            </a:pPr>
            <a:r>
              <a:rPr lang="en-US" sz="1300" dirty="0">
                <a:solidFill>
                  <a:srgbClr val="1E3A5F"/>
                </a:solidFill>
                <a:latin typeface="Calibri" pitchFamily="34" charset="0"/>
                <a:ea typeface="Calibri" pitchFamily="34" charset="-122"/>
                <a:cs typeface="Calibri" pitchFamily="34" charset="-120"/>
              </a:rPr>
              <a:t>IPO price</a:t>
            </a:r>
            <a:endParaRPr lang="en-US" sz="1300" dirty="0"/>
          </a:p>
          <a:p>
            <a:pPr indent="0" marL="0">
              <a:buNone/>
            </a:pPr>
            <a:endParaRPr lang="en-US" sz="1300" dirty="0"/>
          </a:p>
          <a:p>
            <a:pPr indent="0" marL="0">
              <a:buNone/>
            </a:pPr>
            <a:r>
              <a:rPr lang="en-US" sz="1300" dirty="0">
                <a:solidFill>
                  <a:srgbClr val="1E3A5F"/>
                </a:solidFill>
                <a:latin typeface="Calibri" pitchFamily="34" charset="0"/>
                <a:ea typeface="Calibri" pitchFamily="34" charset="-122"/>
                <a:cs typeface="Calibri" pitchFamily="34" charset="-120"/>
              </a:rPr>
              <a:t>BRLMs:</a:t>
            </a:r>
            <a:endParaRPr lang="en-US" sz="1300" dirty="0"/>
          </a:p>
          <a:p>
            <a:pPr indent="0" marL="0">
              <a:buNone/>
            </a:pPr>
            <a:r>
              <a:rPr lang="en-US" sz="1300" dirty="0">
                <a:solidFill>
                  <a:srgbClr val="1E3A5F"/>
                </a:solidFill>
                <a:latin typeface="Calibri" pitchFamily="34" charset="0"/>
                <a:ea typeface="Calibri" pitchFamily="34" charset="-122"/>
                <a:cs typeface="Calibri" pitchFamily="34" charset="-120"/>
              </a:rPr>
              <a:t>Kotak, MS,</a:t>
            </a:r>
            <a:endParaRPr lang="en-US" sz="1300" dirty="0"/>
          </a:p>
          <a:p>
            <a:pPr indent="0" marL="0">
              <a:buNone/>
            </a:pPr>
            <a:r>
              <a:rPr lang="en-US" sz="1300" dirty="0">
                <a:solidFill>
                  <a:srgbClr val="1E3A5F"/>
                </a:solidFill>
                <a:latin typeface="Calibri" pitchFamily="34" charset="0"/>
                <a:ea typeface="Calibri" pitchFamily="34" charset="-122"/>
                <a:cs typeface="Calibri" pitchFamily="34" charset="-120"/>
              </a:rPr>
              <a:t>Citi, others</a:t>
            </a:r>
            <a:endParaRPr lang="en-US" sz="1300" dirty="0"/>
          </a:p>
        </p:txBody>
      </p:sp>
      <p:sp>
        <p:nvSpPr>
          <p:cNvPr id="14" name="Shape 12"/>
          <p:cNvSpPr/>
          <p:nvPr/>
        </p:nvSpPr>
        <p:spPr>
          <a:xfrm>
            <a:off x="0" y="4663440"/>
            <a:ext cx="12192000" cy="1097280"/>
          </a:xfrm>
          <a:prstGeom prst="rect">
            <a:avLst/>
          </a:prstGeom>
          <a:solidFill>
            <a:srgbClr val="005F5F"/>
          </a:solidFill>
          <a:ln/>
        </p:spPr>
      </p:sp>
      <p:sp>
        <p:nvSpPr>
          <p:cNvPr id="15" name="Text 13"/>
          <p:cNvSpPr/>
          <p:nvPr/>
        </p:nvSpPr>
        <p:spPr>
          <a:xfrm>
            <a:off x="365760" y="4663440"/>
            <a:ext cx="11430000" cy="1097280"/>
          </a:xfrm>
          <a:prstGeom prst="rect">
            <a:avLst/>
          </a:prstGeom>
          <a:noFill/>
          <a:ln/>
        </p:spPr>
        <p:txBody>
          <a:bodyPr wrap="square"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  In the Zomato IPO, Morgan Stanley acted as underwriter. What risks did they take on? What would have happened to their balance sheet if the IPO had been under-subscribed?</a:t>
            </a:r>
            <a:endParaRPr lang="en-US" sz="1600" dirty="0"/>
          </a:p>
        </p:txBody>
      </p:sp>
      <p:sp>
        <p:nvSpPr>
          <p:cNvPr id="16" name="Text 14"/>
          <p:cNvSpPr/>
          <p:nvPr/>
        </p:nvSpPr>
        <p:spPr>
          <a:xfrm>
            <a:off x="0" y="6601968"/>
            <a:ext cx="12192000" cy="182880"/>
          </a:xfrm>
          <a:prstGeom prst="rect">
            <a:avLst/>
          </a:prstGeom>
          <a:noFill/>
          <a:ln/>
        </p:spPr>
        <p:txBody>
          <a:bodyPr wrap="square" rtlCol="0" anchor="ctr"/>
          <a:lstStyle/>
          <a:p>
            <a:pPr algn="ctr" indent="0" marL="0">
              <a:buNone/>
            </a:pPr>
            <a:r>
              <a:rPr lang="en-US" sz="800" dirty="0">
                <a:solidFill>
                  <a:srgbClr val="AAAAAA"/>
                </a:solidFill>
                <a:latin typeface="Calibri" pitchFamily="34" charset="0"/>
                <a:ea typeface="Calibri" pitchFamily="34" charset="-122"/>
                <a:cs typeface="Calibri" pitchFamily="34" charset="-120"/>
              </a:rPr>
              <a:t>CIBOP · Module 1 · D1.10</a:t>
            </a:r>
            <a:endParaRPr lang="en-US" sz="80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4F6FA"/>
          </a:solidFill>
          <a:ln/>
        </p:spPr>
      </p:sp>
      <p:sp>
        <p:nvSpPr>
          <p:cNvPr id="3" name="Shape 1"/>
          <p:cNvSpPr/>
          <p:nvPr/>
        </p:nvSpPr>
        <p:spPr>
          <a:xfrm>
            <a:off x="0" y="0"/>
            <a:ext cx="12192000" cy="73152"/>
          </a:xfrm>
          <a:prstGeom prst="rect">
            <a:avLst/>
          </a:prstGeom>
          <a:solidFill>
            <a:srgbClr val="005F5F"/>
          </a:solidFill>
          <a:ln/>
        </p:spPr>
      </p:sp>
      <p:sp>
        <p:nvSpPr>
          <p:cNvPr id="4" name="Shape 2"/>
          <p:cNvSpPr/>
          <p:nvPr/>
        </p:nvSpPr>
        <p:spPr>
          <a:xfrm>
            <a:off x="0" y="6784848"/>
            <a:ext cx="12192000" cy="73152"/>
          </a:xfrm>
          <a:prstGeom prst="rect">
            <a:avLst/>
          </a:prstGeom>
          <a:solidFill>
            <a:srgbClr val="1E3A5F"/>
          </a:solidFill>
          <a:ln/>
        </p:spPr>
      </p:sp>
      <p:sp>
        <p:nvSpPr>
          <p:cNvPr id="5" name="Shape 3"/>
          <p:cNvSpPr/>
          <p:nvPr/>
        </p:nvSpPr>
        <p:spPr>
          <a:xfrm>
            <a:off x="0" y="73152"/>
            <a:ext cx="1828800" cy="347472"/>
          </a:xfrm>
          <a:prstGeom prst="rect">
            <a:avLst/>
          </a:prstGeom>
          <a:solidFill>
            <a:srgbClr val="005F5F"/>
          </a:solidFill>
          <a:ln/>
        </p:spPr>
      </p:sp>
      <p:sp>
        <p:nvSpPr>
          <p:cNvPr id="6" name="Text 4"/>
          <p:cNvSpPr/>
          <p:nvPr/>
        </p:nvSpPr>
        <p:spPr>
          <a:xfrm>
            <a:off x="0" y="73152"/>
            <a:ext cx="1828800" cy="347472"/>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KEY CONCEPT</a:t>
            </a:r>
            <a:endParaRPr lang="en-US" sz="1000" dirty="0"/>
          </a:p>
        </p:txBody>
      </p:sp>
      <p:sp>
        <p:nvSpPr>
          <p:cNvPr id="7" name="Shape 5"/>
          <p:cNvSpPr/>
          <p:nvPr/>
        </p:nvSpPr>
        <p:spPr>
          <a:xfrm>
            <a:off x="10360152" y="73152"/>
            <a:ext cx="1828800" cy="347472"/>
          </a:xfrm>
          <a:prstGeom prst="rect">
            <a:avLst/>
          </a:prstGeom>
          <a:solidFill>
            <a:srgbClr val="005F5F"/>
          </a:solidFill>
          <a:ln/>
        </p:spPr>
      </p:sp>
      <p:sp>
        <p:nvSpPr>
          <p:cNvPr id="8" name="Text 6"/>
          <p:cNvSpPr/>
          <p:nvPr/>
        </p:nvSpPr>
        <p:spPr>
          <a:xfrm>
            <a:off x="10360152" y="73152"/>
            <a:ext cx="1828800" cy="347472"/>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D1.10</a:t>
            </a:r>
            <a:endParaRPr lang="en-US" sz="1000" dirty="0"/>
          </a:p>
        </p:txBody>
      </p:sp>
      <p:sp>
        <p:nvSpPr>
          <p:cNvPr id="9" name="Text 7"/>
          <p:cNvSpPr/>
          <p:nvPr/>
        </p:nvSpPr>
        <p:spPr>
          <a:xfrm>
            <a:off x="274320" y="502920"/>
            <a:ext cx="11430000" cy="640080"/>
          </a:xfrm>
          <a:prstGeom prst="rect">
            <a:avLst/>
          </a:prstGeom>
          <a:noFill/>
          <a:ln/>
        </p:spPr>
        <p:txBody>
          <a:bodyPr wrap="square" rtlCol="0" anchor="ctr"/>
          <a:lstStyle/>
          <a:p>
            <a:pPr indent="0" marL="0">
              <a:buNone/>
            </a:pPr>
            <a:r>
              <a:rPr lang="en-US" sz="2200" b="1" dirty="0">
                <a:solidFill>
                  <a:srgbClr val="1E3A5F"/>
                </a:solidFill>
                <a:latin typeface="Calibri" pitchFamily="34" charset="0"/>
                <a:ea typeface="Calibri" pitchFamily="34" charset="-122"/>
                <a:cs typeface="Calibri" pitchFamily="34" charset="-120"/>
              </a:rPr>
              <a:t>Investment Bank Business Lines: Functions, Revenue, and Operations Activity</a:t>
            </a:r>
            <a:endParaRPr lang="en-US" sz="2200" dirty="0"/>
          </a:p>
        </p:txBody>
      </p:sp>
      <p:graphicFrame>
        <p:nvGraphicFramePr>
          <p:cNvPr id="59" name="Table 0"/>
          <p:cNvGraphicFramePr>
            <a:graphicFrameLocks noGrp="1"/>
          </p:cNvGraphicFramePr>
          <p:nvPr>
            <p:extLst>
              <p:ext uri="{D42A27DB-BD31-4B8C-83A1-F6EECF244321}">
                <p14:modId xmlns:p14="http://schemas.microsoft.com/office/powerpoint/2010/main" val="1579011935"/>
              </p:ext>
            </p:extLst>
          </p:nvPr>
        </p:nvGraphicFramePr>
        <p:xfrm>
          <a:off x="274320" y="1280160"/>
          <a:ext cx="11612880" cy="4389120"/>
        </p:xfrm>
        <a:graphic>
          <a:graphicData uri="http://schemas.openxmlformats.org/drawingml/2006/table">
            <a:tbl>
              <a:tblPr/>
              <a:tblGrid>
                <a:gridCol w="2903220"/>
                <a:gridCol w="2903220"/>
                <a:gridCol w="2903220"/>
                <a:gridCol w="2903220"/>
              </a:tblGrid>
              <a:tr h="627017">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FUNCTION</a:t>
                      </a:r>
                      <a:endParaRPr lang="en-US" sz="12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1E3A5F"/>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WHAT IT DOES</a:t>
                      </a:r>
                      <a:endParaRPr lang="en-US" sz="12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1E3A5F"/>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REVENUE TYPE</a:t>
                      </a:r>
                      <a:endParaRPr lang="en-US" sz="12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1E3A5F"/>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OPERATIONS ACTIVITY</a:t>
                      </a:r>
                      <a:endParaRPr lang="en-US" sz="12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1E3A5F"/>
                    </a:solidFill>
                  </a:tcPr>
                </a:tc>
              </a:tr>
              <a:tr h="627017">
                <a:tc>
                  <a:txBody>
                    <a:bodyPr/>
                    <a:lstStyle/>
                    <a:p>
                      <a:pPr indent="0" marL="0">
                        <a:buNone/>
                      </a:pPr>
                      <a:r>
                        <a:rPr lang="en-US" sz="1100" dirty="0">
                          <a:solidFill>
                            <a:srgbClr val="1A1A1A"/>
                          </a:solidFill>
                          <a:latin typeface="Calibri" pitchFamily="34" charset="0"/>
                          <a:ea typeface="Calibri" pitchFamily="34" charset="-122"/>
                          <a:cs typeface="Calibri" pitchFamily="34" charset="-120"/>
                        </a:rPr>
                        <a:t>ECM (Equity Capital Markets)</a:t>
                      </a:r>
                      <a:endParaRPr lang="en-US" sz="11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FFFFFF"/>
                    </a:solidFill>
                  </a:tcPr>
                </a:tc>
                <a:tc>
                  <a:txBody>
                    <a:bodyPr/>
                    <a:lstStyle/>
                    <a:p>
                      <a:pPr indent="0" marL="0">
                        <a:buNone/>
                      </a:pPr>
                      <a:r>
                        <a:rPr lang="en-US" sz="1100" dirty="0">
                          <a:solidFill>
                            <a:srgbClr val="1A1A1A"/>
                          </a:solidFill>
                          <a:latin typeface="Calibri" pitchFamily="34" charset="0"/>
                          <a:ea typeface="Calibri" pitchFamily="34" charset="-122"/>
                          <a:cs typeface="Calibri" pitchFamily="34" charset="-120"/>
                        </a:rPr>
                        <a:t>Structures and distributes equity issuances (IPOs, FPOs, rights)</a:t>
                      </a:r>
                      <a:endParaRPr lang="en-US" sz="11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FFFFFF"/>
                    </a:solidFill>
                  </a:tcPr>
                </a:tc>
                <a:tc>
                  <a:txBody>
                    <a:bodyPr/>
                    <a:lstStyle/>
                    <a:p>
                      <a:pPr indent="0" marL="0">
                        <a:buNone/>
                      </a:pPr>
                      <a:r>
                        <a:rPr lang="en-US" sz="1100" dirty="0">
                          <a:solidFill>
                            <a:srgbClr val="1A1A1A"/>
                          </a:solidFill>
                          <a:latin typeface="Calibri" pitchFamily="34" charset="0"/>
                          <a:ea typeface="Calibri" pitchFamily="34" charset="-122"/>
                          <a:cs typeface="Calibri" pitchFamily="34" charset="-120"/>
                        </a:rPr>
                        <a:t>Underwriting fee (% of deal value)</a:t>
                      </a:r>
                      <a:endParaRPr lang="en-US" sz="11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FFFFFF"/>
                    </a:solidFill>
                  </a:tcPr>
                </a:tc>
                <a:tc>
                  <a:txBody>
                    <a:bodyPr/>
                    <a:lstStyle/>
                    <a:p>
                      <a:pPr indent="0" marL="0">
                        <a:buNone/>
                      </a:pPr>
                      <a:r>
                        <a:rPr lang="en-US" sz="1100" dirty="0">
                          <a:solidFill>
                            <a:srgbClr val="1A1A1A"/>
                          </a:solidFill>
                          <a:latin typeface="Calibri" pitchFamily="34" charset="0"/>
                          <a:ea typeface="Calibri" pitchFamily="34" charset="-122"/>
                          <a:cs typeface="Calibri" pitchFamily="34" charset="-120"/>
                        </a:rPr>
                        <a:t>Allotment processing, demat credits, refunds</a:t>
                      </a:r>
                      <a:endParaRPr lang="en-US" sz="11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FFFFFF"/>
                    </a:solidFill>
                  </a:tcPr>
                </a:tc>
              </a:tr>
              <a:tr h="627017">
                <a:tc>
                  <a:txBody>
                    <a:bodyPr/>
                    <a:lstStyle/>
                    <a:p>
                      <a:pPr indent="0" marL="0">
                        <a:buNone/>
                      </a:pPr>
                      <a:r>
                        <a:rPr lang="en-US" sz="1100" dirty="0">
                          <a:solidFill>
                            <a:srgbClr val="1A1A1A"/>
                          </a:solidFill>
                          <a:latin typeface="Calibri" pitchFamily="34" charset="0"/>
                          <a:ea typeface="Calibri" pitchFamily="34" charset="-122"/>
                          <a:cs typeface="Calibri" pitchFamily="34" charset="-120"/>
                        </a:rPr>
                        <a:t>DCM (Debt Capital Markets)</a:t>
                      </a:r>
                      <a:endParaRPr lang="en-US" sz="11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D5E3F0"/>
                    </a:solidFill>
                  </a:tcPr>
                </a:tc>
                <a:tc>
                  <a:txBody>
                    <a:bodyPr/>
                    <a:lstStyle/>
                    <a:p>
                      <a:pPr indent="0" marL="0">
                        <a:buNone/>
                      </a:pPr>
                      <a:r>
                        <a:rPr lang="en-US" sz="1100" dirty="0">
                          <a:solidFill>
                            <a:srgbClr val="1A1A1A"/>
                          </a:solidFill>
                          <a:latin typeface="Calibri" pitchFamily="34" charset="0"/>
                          <a:ea typeface="Calibri" pitchFamily="34" charset="-122"/>
                          <a:cs typeface="Calibri" pitchFamily="34" charset="-120"/>
                        </a:rPr>
                        <a:t>Structures and distributes bond, NCD, CP issuances</a:t>
                      </a:r>
                      <a:endParaRPr lang="en-US" sz="11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D5E3F0"/>
                    </a:solidFill>
                  </a:tcPr>
                </a:tc>
                <a:tc>
                  <a:txBody>
                    <a:bodyPr/>
                    <a:lstStyle/>
                    <a:p>
                      <a:pPr indent="0" marL="0">
                        <a:buNone/>
                      </a:pPr>
                      <a:r>
                        <a:rPr lang="en-US" sz="1100" dirty="0">
                          <a:solidFill>
                            <a:srgbClr val="1A1A1A"/>
                          </a:solidFill>
                          <a:latin typeface="Calibri" pitchFamily="34" charset="0"/>
                          <a:ea typeface="Calibri" pitchFamily="34" charset="-122"/>
                          <a:cs typeface="Calibri" pitchFamily="34" charset="-120"/>
                        </a:rPr>
                        <a:t>Underwriting fee + structuring fee</a:t>
                      </a:r>
                      <a:endParaRPr lang="en-US" sz="11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D5E3F0"/>
                    </a:solidFill>
                  </a:tcPr>
                </a:tc>
                <a:tc>
                  <a:txBody>
                    <a:bodyPr/>
                    <a:lstStyle/>
                    <a:p>
                      <a:pPr indent="0" marL="0">
                        <a:buNone/>
                      </a:pPr>
                      <a:r>
                        <a:rPr lang="en-US" sz="1100" dirty="0">
                          <a:solidFill>
                            <a:srgbClr val="1A1A1A"/>
                          </a:solidFill>
                          <a:latin typeface="Calibri" pitchFamily="34" charset="0"/>
                          <a:ea typeface="Calibri" pitchFamily="34" charset="-122"/>
                          <a:cs typeface="Calibri" pitchFamily="34" charset="-120"/>
                        </a:rPr>
                        <a:t>Bond settlement, coupon processing, redemption</a:t>
                      </a:r>
                      <a:endParaRPr lang="en-US" sz="11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D5E3F0"/>
                    </a:solidFill>
                  </a:tcPr>
                </a:tc>
              </a:tr>
              <a:tr h="627017">
                <a:tc>
                  <a:txBody>
                    <a:bodyPr/>
                    <a:lstStyle/>
                    <a:p>
                      <a:pPr indent="0" marL="0">
                        <a:buNone/>
                      </a:pPr>
                      <a:r>
                        <a:rPr lang="en-US" sz="1100" dirty="0">
                          <a:solidFill>
                            <a:srgbClr val="1A1A1A"/>
                          </a:solidFill>
                          <a:latin typeface="Calibri" pitchFamily="34" charset="0"/>
                          <a:ea typeface="Calibri" pitchFamily="34" charset="-122"/>
                          <a:cs typeface="Calibri" pitchFamily="34" charset="-120"/>
                        </a:rPr>
                        <a:t>M&amp;A Advisory</a:t>
                      </a:r>
                      <a:endParaRPr lang="en-US" sz="11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FFFFFF"/>
                    </a:solidFill>
                  </a:tcPr>
                </a:tc>
                <a:tc>
                  <a:txBody>
                    <a:bodyPr/>
                    <a:lstStyle/>
                    <a:p>
                      <a:pPr indent="0" marL="0">
                        <a:buNone/>
                      </a:pPr>
                      <a:r>
                        <a:rPr lang="en-US" sz="1100" dirty="0">
                          <a:solidFill>
                            <a:srgbClr val="1A1A1A"/>
                          </a:solidFill>
                          <a:latin typeface="Calibri" pitchFamily="34" charset="0"/>
                          <a:ea typeface="Calibri" pitchFamily="34" charset="-122"/>
                          <a:cs typeface="Calibri" pitchFamily="34" charset="-120"/>
                        </a:rPr>
                        <a:t>Advises buyers/sellers in corporate transactions</a:t>
                      </a:r>
                      <a:endParaRPr lang="en-US" sz="11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FFFFFF"/>
                    </a:solidFill>
                  </a:tcPr>
                </a:tc>
                <a:tc>
                  <a:txBody>
                    <a:bodyPr/>
                    <a:lstStyle/>
                    <a:p>
                      <a:pPr indent="0" marL="0">
                        <a:buNone/>
                      </a:pPr>
                      <a:r>
                        <a:rPr lang="en-US" sz="1100" dirty="0">
                          <a:solidFill>
                            <a:srgbClr val="1A1A1A"/>
                          </a:solidFill>
                          <a:latin typeface="Calibri" pitchFamily="34" charset="0"/>
                          <a:ea typeface="Calibri" pitchFamily="34" charset="-122"/>
                          <a:cs typeface="Calibri" pitchFamily="34" charset="-120"/>
                        </a:rPr>
                        <a:t>Advisory fee + success fee</a:t>
                      </a:r>
                      <a:endParaRPr lang="en-US" sz="11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FFFFFF"/>
                    </a:solidFill>
                  </a:tcPr>
                </a:tc>
                <a:tc>
                  <a:txBody>
                    <a:bodyPr/>
                    <a:lstStyle/>
                    <a:p>
                      <a:pPr indent="0" marL="0">
                        <a:buNone/>
                      </a:pPr>
                      <a:r>
                        <a:rPr lang="en-US" sz="1100" dirty="0">
                          <a:solidFill>
                            <a:srgbClr val="1A1A1A"/>
                          </a:solidFill>
                          <a:latin typeface="Calibri" pitchFamily="34" charset="0"/>
                          <a:ea typeface="Calibri" pitchFamily="34" charset="-122"/>
                          <a:cs typeface="Calibri" pitchFamily="34" charset="-120"/>
                        </a:rPr>
                        <a:t>Corporate action processing (mergers, delistings)</a:t>
                      </a:r>
                      <a:endParaRPr lang="en-US" sz="11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FFFFFF"/>
                    </a:solidFill>
                  </a:tcPr>
                </a:tc>
              </a:tr>
              <a:tr h="627017">
                <a:tc>
                  <a:txBody>
                    <a:bodyPr/>
                    <a:lstStyle/>
                    <a:p>
                      <a:pPr indent="0" marL="0">
                        <a:buNone/>
                      </a:pPr>
                      <a:r>
                        <a:rPr lang="en-US" sz="1100" dirty="0">
                          <a:solidFill>
                            <a:srgbClr val="1A1A1A"/>
                          </a:solidFill>
                          <a:latin typeface="Calibri" pitchFamily="34" charset="0"/>
                          <a:ea typeface="Calibri" pitchFamily="34" charset="-122"/>
                          <a:cs typeface="Calibri" pitchFamily="34" charset="-120"/>
                        </a:rPr>
                        <a:t>Sales &amp; Trading</a:t>
                      </a:r>
                      <a:endParaRPr lang="en-US" sz="11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D5E3F0"/>
                    </a:solidFill>
                  </a:tcPr>
                </a:tc>
                <a:tc>
                  <a:txBody>
                    <a:bodyPr/>
                    <a:lstStyle/>
                    <a:p>
                      <a:pPr indent="0" marL="0">
                        <a:buNone/>
                      </a:pPr>
                      <a:r>
                        <a:rPr lang="en-US" sz="1100" dirty="0">
                          <a:solidFill>
                            <a:srgbClr val="1A1A1A"/>
                          </a:solidFill>
                          <a:latin typeface="Calibri" pitchFamily="34" charset="0"/>
                          <a:ea typeface="Calibri" pitchFamily="34" charset="-122"/>
                          <a:cs typeface="Calibri" pitchFamily="34" charset="-120"/>
                        </a:rPr>
                        <a:t>Executes institutional client orders; market making</a:t>
                      </a:r>
                      <a:endParaRPr lang="en-US" sz="11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D5E3F0"/>
                    </a:solidFill>
                  </a:tcPr>
                </a:tc>
                <a:tc>
                  <a:txBody>
                    <a:bodyPr/>
                    <a:lstStyle/>
                    <a:p>
                      <a:pPr indent="0" marL="0">
                        <a:buNone/>
                      </a:pPr>
                      <a:r>
                        <a:rPr lang="en-US" sz="1100" dirty="0">
                          <a:solidFill>
                            <a:srgbClr val="1A1A1A"/>
                          </a:solidFill>
                          <a:latin typeface="Calibri" pitchFamily="34" charset="0"/>
                          <a:ea typeface="Calibri" pitchFamily="34" charset="-122"/>
                          <a:cs typeface="Calibri" pitchFamily="34" charset="-120"/>
                        </a:rPr>
                        <a:t>Spread + commission on trades</a:t>
                      </a:r>
                      <a:endParaRPr lang="en-US" sz="11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D5E3F0"/>
                    </a:solidFill>
                  </a:tcPr>
                </a:tc>
                <a:tc>
                  <a:txBody>
                    <a:bodyPr/>
                    <a:lstStyle/>
                    <a:p>
                      <a:pPr indent="0" marL="0">
                        <a:buNone/>
                      </a:pPr>
                      <a:r>
                        <a:rPr lang="en-US" sz="1100" dirty="0">
                          <a:solidFill>
                            <a:srgbClr val="1A1A1A"/>
                          </a:solidFill>
                          <a:latin typeface="Calibri" pitchFamily="34" charset="0"/>
                          <a:ea typeface="Calibri" pitchFamily="34" charset="-122"/>
                          <a:cs typeface="Calibri" pitchFamily="34" charset="-120"/>
                        </a:rPr>
                        <a:t>Daily trade confirmation, clearing, settlement</a:t>
                      </a:r>
                      <a:endParaRPr lang="en-US" sz="11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D5E3F0"/>
                    </a:solidFill>
                  </a:tcPr>
                </a:tc>
              </a:tr>
              <a:tr h="627017">
                <a:tc>
                  <a:txBody>
                    <a:bodyPr/>
                    <a:lstStyle/>
                    <a:p>
                      <a:pPr indent="0" marL="0">
                        <a:buNone/>
                      </a:pPr>
                      <a:r>
                        <a:rPr lang="en-US" sz="1100" dirty="0">
                          <a:solidFill>
                            <a:srgbClr val="1A1A1A"/>
                          </a:solidFill>
                          <a:latin typeface="Calibri" pitchFamily="34" charset="0"/>
                          <a:ea typeface="Calibri" pitchFamily="34" charset="-122"/>
                          <a:cs typeface="Calibri" pitchFamily="34" charset="-120"/>
                        </a:rPr>
                        <a:t>Research</a:t>
                      </a:r>
                      <a:endParaRPr lang="en-US" sz="11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FFFFFF"/>
                    </a:solidFill>
                  </a:tcPr>
                </a:tc>
                <a:tc>
                  <a:txBody>
                    <a:bodyPr/>
                    <a:lstStyle/>
                    <a:p>
                      <a:pPr indent="0" marL="0">
                        <a:buNone/>
                      </a:pPr>
                      <a:r>
                        <a:rPr lang="en-US" sz="1100" dirty="0">
                          <a:solidFill>
                            <a:srgbClr val="1A1A1A"/>
                          </a:solidFill>
                          <a:latin typeface="Calibri" pitchFamily="34" charset="0"/>
                          <a:ea typeface="Calibri" pitchFamily="34" charset="-122"/>
                          <a:cs typeface="Calibri" pitchFamily="34" charset="-120"/>
                        </a:rPr>
                        <a:t>Produces equity/credit analysis for institutional clients</a:t>
                      </a:r>
                      <a:endParaRPr lang="en-US" sz="11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FFFFFF"/>
                    </a:solidFill>
                  </a:tcPr>
                </a:tc>
                <a:tc>
                  <a:txBody>
                    <a:bodyPr/>
                    <a:lstStyle/>
                    <a:p>
                      <a:pPr indent="0" marL="0">
                        <a:buNone/>
                      </a:pPr>
                      <a:r>
                        <a:rPr lang="en-US" sz="1100" dirty="0">
                          <a:solidFill>
                            <a:srgbClr val="1A1A1A"/>
                          </a:solidFill>
                          <a:latin typeface="Calibri" pitchFamily="34" charset="0"/>
                          <a:ea typeface="Calibri" pitchFamily="34" charset="-122"/>
                          <a:cs typeface="Calibri" pitchFamily="34" charset="-120"/>
                        </a:rPr>
                        <a:t>Paid via soft dollars / trading commission</a:t>
                      </a:r>
                      <a:endParaRPr lang="en-US" sz="11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FFFFFF"/>
                    </a:solidFill>
                  </a:tcPr>
                </a:tc>
                <a:tc>
                  <a:txBody>
                    <a:bodyPr/>
                    <a:lstStyle/>
                    <a:p>
                      <a:pPr indent="0" marL="0">
                        <a:buNone/>
                      </a:pPr>
                      <a:r>
                        <a:rPr lang="en-US" sz="1100" dirty="0">
                          <a:solidFill>
                            <a:srgbClr val="1A1A1A"/>
                          </a:solidFill>
                          <a:latin typeface="Calibri" pitchFamily="34" charset="0"/>
                          <a:ea typeface="Calibri" pitchFamily="34" charset="-122"/>
                          <a:cs typeface="Calibri" pitchFamily="34" charset="-120"/>
                        </a:rPr>
                        <a:t>Reference data, issuer master maintenance</a:t>
                      </a:r>
                      <a:endParaRPr lang="en-US" sz="11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FFFFFF"/>
                    </a:solidFill>
                  </a:tcPr>
                </a:tc>
              </a:tr>
              <a:tr h="627017">
                <a:tc>
                  <a:txBody>
                    <a:bodyPr/>
                    <a:lstStyle/>
                    <a:p>
                      <a:pPr indent="0" marL="0">
                        <a:buNone/>
                      </a:pPr>
                      <a:r>
                        <a:rPr lang="en-US" sz="1100" dirty="0">
                          <a:solidFill>
                            <a:srgbClr val="1A1A1A"/>
                          </a:solidFill>
                          <a:latin typeface="Calibri" pitchFamily="34" charset="0"/>
                          <a:ea typeface="Calibri" pitchFamily="34" charset="-122"/>
                          <a:cs typeface="Calibri" pitchFamily="34" charset="-120"/>
                        </a:rPr>
                        <a:t>Prime Brokerage</a:t>
                      </a:r>
                      <a:endParaRPr lang="en-US" sz="11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D5E3F0"/>
                    </a:solidFill>
                  </a:tcPr>
                </a:tc>
                <a:tc>
                  <a:txBody>
                    <a:bodyPr/>
                    <a:lstStyle/>
                    <a:p>
                      <a:pPr indent="0" marL="0">
                        <a:buNone/>
                      </a:pPr>
                      <a:r>
                        <a:rPr lang="en-US" sz="1100" dirty="0">
                          <a:solidFill>
                            <a:srgbClr val="1A1A1A"/>
                          </a:solidFill>
                          <a:latin typeface="Calibri" pitchFamily="34" charset="0"/>
                          <a:ea typeface="Calibri" pitchFamily="34" charset="-122"/>
                          <a:cs typeface="Calibri" pitchFamily="34" charset="-120"/>
                        </a:rPr>
                        <a:t>Provides leverage, margin, and settlement services to hedge funds</a:t>
                      </a:r>
                      <a:endParaRPr lang="en-US" sz="11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D5E3F0"/>
                    </a:solidFill>
                  </a:tcPr>
                </a:tc>
                <a:tc>
                  <a:txBody>
                    <a:bodyPr/>
                    <a:lstStyle/>
                    <a:p>
                      <a:pPr indent="0" marL="0">
                        <a:buNone/>
                      </a:pPr>
                      <a:r>
                        <a:rPr lang="en-US" sz="1100" dirty="0">
                          <a:solidFill>
                            <a:srgbClr val="1A1A1A"/>
                          </a:solidFill>
                          <a:latin typeface="Calibri" pitchFamily="34" charset="0"/>
                          <a:ea typeface="Calibri" pitchFamily="34" charset="-122"/>
                          <a:cs typeface="Calibri" pitchFamily="34" charset="-120"/>
                        </a:rPr>
                        <a:t>Financing margin, transaction fees</a:t>
                      </a:r>
                      <a:endParaRPr lang="en-US" sz="11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D5E3F0"/>
                    </a:solidFill>
                  </a:tcPr>
                </a:tc>
                <a:tc>
                  <a:txBody>
                    <a:bodyPr/>
                    <a:lstStyle/>
                    <a:p>
                      <a:pPr indent="0" marL="0">
                        <a:buNone/>
                      </a:pPr>
                      <a:r>
                        <a:rPr lang="en-US" sz="1100" dirty="0">
                          <a:solidFill>
                            <a:srgbClr val="1A1A1A"/>
                          </a:solidFill>
                          <a:latin typeface="Calibri" pitchFamily="34" charset="0"/>
                          <a:ea typeface="Calibri" pitchFamily="34" charset="-122"/>
                          <a:cs typeface="Calibri" pitchFamily="34" charset="-120"/>
                        </a:rPr>
                        <a:t>Margin calls, stock lending, consolidated reporting</a:t>
                      </a:r>
                      <a:endParaRPr lang="en-US" sz="11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D5E3F0"/>
                    </a:solidFill>
                  </a:tcPr>
                </a:tc>
              </a:tr>
            </a:tbl>
          </a:graphicData>
        </a:graphic>
      </p:graphicFrame>
      <p:sp>
        <p:nvSpPr>
          <p:cNvPr id="11" name="Text 8"/>
          <p:cNvSpPr/>
          <p:nvPr/>
        </p:nvSpPr>
        <p:spPr>
          <a:xfrm>
            <a:off x="274320" y="6126480"/>
            <a:ext cx="11612880" cy="365760"/>
          </a:xfrm>
          <a:prstGeom prst="rect">
            <a:avLst/>
          </a:prstGeom>
          <a:noFill/>
          <a:ln/>
        </p:spPr>
        <p:txBody>
          <a:bodyPr wrap="square" rtlCol="0" anchor="ctr"/>
          <a:lstStyle/>
          <a:p>
            <a:pPr indent="0" marL="0">
              <a:buNone/>
            </a:pPr>
            <a:r>
              <a:rPr lang="en-US" sz="1000" dirty="0">
                <a:solidFill>
                  <a:srgbClr val="005F5F"/>
                </a:solidFill>
                <a:latin typeface="Calibri" pitchFamily="34" charset="0"/>
                <a:ea typeface="Calibri" pitchFamily="34" charset="-122"/>
                <a:cs typeface="Calibri" pitchFamily="34" charset="-120"/>
              </a:rPr>
              <a:t>⚡  An investment bank's operations team simultaneously processes trades from S&amp;T, settlements from ECM/DCM deals, and corporate actions from M&amp;A — all under the same roof.</a:t>
            </a:r>
            <a:endParaRPr lang="en-US" sz="1000" dirty="0"/>
          </a:p>
        </p:txBody>
      </p:sp>
      <p:sp>
        <p:nvSpPr>
          <p:cNvPr id="12" name="Text 9"/>
          <p:cNvSpPr/>
          <p:nvPr/>
        </p:nvSpPr>
        <p:spPr>
          <a:xfrm>
            <a:off x="0" y="6601968"/>
            <a:ext cx="12192000" cy="182880"/>
          </a:xfrm>
          <a:prstGeom prst="rect">
            <a:avLst/>
          </a:prstGeom>
          <a:noFill/>
          <a:ln/>
        </p:spPr>
        <p:txBody>
          <a:bodyPr wrap="square" rtlCol="0" anchor="ctr"/>
          <a:lstStyle/>
          <a:p>
            <a:pPr algn="ctr" indent="0" marL="0">
              <a:buNone/>
            </a:pPr>
            <a:r>
              <a:rPr lang="en-US" sz="800" dirty="0">
                <a:solidFill>
                  <a:srgbClr val="AAAAAA"/>
                </a:solidFill>
                <a:latin typeface="Calibri" pitchFamily="34" charset="0"/>
                <a:ea typeface="Calibri" pitchFamily="34" charset="-122"/>
                <a:cs typeface="Calibri" pitchFamily="34" charset="-120"/>
              </a:rPr>
              <a:t>CIBOP · Module 1 · D1.10</a:t>
            </a:r>
            <a:endParaRPr lang="en-US" sz="80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4F6FA"/>
          </a:solidFill>
          <a:ln/>
        </p:spPr>
      </p:sp>
      <p:sp>
        <p:nvSpPr>
          <p:cNvPr id="3" name="Shape 1"/>
          <p:cNvSpPr/>
          <p:nvPr/>
        </p:nvSpPr>
        <p:spPr>
          <a:xfrm>
            <a:off x="0" y="0"/>
            <a:ext cx="12192000" cy="73152"/>
          </a:xfrm>
          <a:prstGeom prst="rect">
            <a:avLst/>
          </a:prstGeom>
          <a:solidFill>
            <a:srgbClr val="1E3A5F"/>
          </a:solidFill>
          <a:ln/>
        </p:spPr>
      </p:sp>
      <p:sp>
        <p:nvSpPr>
          <p:cNvPr id="4" name="Shape 2"/>
          <p:cNvSpPr/>
          <p:nvPr/>
        </p:nvSpPr>
        <p:spPr>
          <a:xfrm>
            <a:off x="0" y="6784848"/>
            <a:ext cx="12192000" cy="73152"/>
          </a:xfrm>
          <a:prstGeom prst="rect">
            <a:avLst/>
          </a:prstGeom>
          <a:solidFill>
            <a:srgbClr val="B8860B"/>
          </a:solidFill>
          <a:ln/>
        </p:spPr>
      </p:sp>
      <p:sp>
        <p:nvSpPr>
          <p:cNvPr id="5" name="Shape 3"/>
          <p:cNvSpPr/>
          <p:nvPr/>
        </p:nvSpPr>
        <p:spPr>
          <a:xfrm>
            <a:off x="0" y="73152"/>
            <a:ext cx="1828800" cy="347472"/>
          </a:xfrm>
          <a:prstGeom prst="rect">
            <a:avLst/>
          </a:prstGeom>
          <a:solidFill>
            <a:srgbClr val="B8860B"/>
          </a:solidFill>
          <a:ln/>
        </p:spPr>
      </p:sp>
      <p:sp>
        <p:nvSpPr>
          <p:cNvPr id="6" name="Text 4"/>
          <p:cNvSpPr/>
          <p:nvPr/>
        </p:nvSpPr>
        <p:spPr>
          <a:xfrm>
            <a:off x="0" y="73152"/>
            <a:ext cx="1828800" cy="347472"/>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GOING DEEPER</a:t>
            </a:r>
            <a:endParaRPr lang="en-US" sz="1000" dirty="0"/>
          </a:p>
        </p:txBody>
      </p:sp>
      <p:sp>
        <p:nvSpPr>
          <p:cNvPr id="7" name="Shape 5"/>
          <p:cNvSpPr/>
          <p:nvPr/>
        </p:nvSpPr>
        <p:spPr>
          <a:xfrm>
            <a:off x="10360152" y="73152"/>
            <a:ext cx="1828800" cy="347472"/>
          </a:xfrm>
          <a:prstGeom prst="rect">
            <a:avLst/>
          </a:prstGeom>
          <a:solidFill>
            <a:srgbClr val="005F5F"/>
          </a:solidFill>
          <a:ln/>
        </p:spPr>
      </p:sp>
      <p:sp>
        <p:nvSpPr>
          <p:cNvPr id="8" name="Text 6"/>
          <p:cNvSpPr/>
          <p:nvPr/>
        </p:nvSpPr>
        <p:spPr>
          <a:xfrm>
            <a:off x="10360152" y="73152"/>
            <a:ext cx="1828800" cy="347472"/>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D1.10</a:t>
            </a:r>
            <a:endParaRPr lang="en-US" sz="1000" dirty="0"/>
          </a:p>
        </p:txBody>
      </p:sp>
      <p:sp>
        <p:nvSpPr>
          <p:cNvPr id="9" name="Text 7"/>
          <p:cNvSpPr/>
          <p:nvPr/>
        </p:nvSpPr>
        <p:spPr>
          <a:xfrm>
            <a:off x="274320" y="502920"/>
            <a:ext cx="11612880" cy="640080"/>
          </a:xfrm>
          <a:prstGeom prst="rect">
            <a:avLst/>
          </a:prstGeom>
          <a:noFill/>
          <a:ln/>
        </p:spPr>
        <p:txBody>
          <a:bodyPr wrap="square" rtlCol="0" anchor="ctr"/>
          <a:lstStyle/>
          <a:p>
            <a:pPr indent="0" marL="0">
              <a:buNone/>
            </a:pPr>
            <a:r>
              <a:rPr lang="en-US" sz="2200" b="1" dirty="0">
                <a:solidFill>
                  <a:srgbClr val="1E3A5F"/>
                </a:solidFill>
                <a:latin typeface="Calibri" pitchFamily="34" charset="0"/>
                <a:ea typeface="Calibri" pitchFamily="34" charset="-122"/>
                <a:cs typeface="Calibri" pitchFamily="34" charset="-120"/>
              </a:rPr>
              <a:t>Four Insights on Investment Banks</a:t>
            </a:r>
            <a:endParaRPr lang="en-US" sz="2200" dirty="0"/>
          </a:p>
        </p:txBody>
      </p:sp>
      <p:sp>
        <p:nvSpPr>
          <p:cNvPr id="10" name="Shape 8"/>
          <p:cNvSpPr/>
          <p:nvPr/>
        </p:nvSpPr>
        <p:spPr>
          <a:xfrm>
            <a:off x="274320" y="1280160"/>
            <a:ext cx="5669280" cy="2377440"/>
          </a:xfrm>
          <a:prstGeom prst="rect">
            <a:avLst/>
          </a:prstGeom>
          <a:solidFill>
            <a:srgbClr val="D5E3F0"/>
          </a:solidFill>
          <a:ln w="6350">
            <a:solidFill>
              <a:srgbClr val="AAAAAA"/>
            </a:solidFill>
            <a:prstDash val="solid"/>
          </a:ln>
        </p:spPr>
      </p:sp>
      <p:sp>
        <p:nvSpPr>
          <p:cNvPr id="11" name="Shape 9"/>
          <p:cNvSpPr/>
          <p:nvPr/>
        </p:nvSpPr>
        <p:spPr>
          <a:xfrm>
            <a:off x="365760" y="1371600"/>
            <a:ext cx="457200" cy="457200"/>
          </a:xfrm>
          <a:prstGeom prst="ellipse">
            <a:avLst/>
          </a:prstGeom>
          <a:solidFill>
            <a:srgbClr val="1E3A5F"/>
          </a:solidFill>
          <a:ln/>
        </p:spPr>
      </p:sp>
      <p:sp>
        <p:nvSpPr>
          <p:cNvPr id="12" name="Text 10"/>
          <p:cNvSpPr/>
          <p:nvPr/>
        </p:nvSpPr>
        <p:spPr>
          <a:xfrm>
            <a:off x="365760" y="1371600"/>
            <a:ext cx="457200" cy="45720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3" name="Text 11"/>
          <p:cNvSpPr/>
          <p:nvPr/>
        </p:nvSpPr>
        <p:spPr>
          <a:xfrm>
            <a:off x="914400" y="1371600"/>
            <a:ext cx="4892040" cy="457200"/>
          </a:xfrm>
          <a:prstGeom prst="rect">
            <a:avLst/>
          </a:prstGeom>
          <a:noFill/>
          <a:ln/>
        </p:spPr>
        <p:txBody>
          <a:bodyPr wrap="square" rtlCol="0" anchor="ctr"/>
          <a:lstStyle/>
          <a:p>
            <a:pPr indent="0" marL="0">
              <a:buNone/>
            </a:pPr>
            <a:r>
              <a:rPr lang="en-US" sz="1300" b="1" dirty="0">
                <a:solidFill>
                  <a:srgbClr val="1A1A1A"/>
                </a:solidFill>
                <a:latin typeface="Calibri" pitchFamily="34" charset="0"/>
                <a:ea typeface="Calibri" pitchFamily="34" charset="-122"/>
                <a:cs typeface="Calibri" pitchFamily="34" charset="-120"/>
              </a:rPr>
              <a:t>Underwriting Is Both a Service and a Risk Position</a:t>
            </a:r>
            <a:endParaRPr lang="en-US" sz="1300" dirty="0"/>
          </a:p>
        </p:txBody>
      </p:sp>
      <p:sp>
        <p:nvSpPr>
          <p:cNvPr id="14" name="Text 12"/>
          <p:cNvSpPr/>
          <p:nvPr/>
        </p:nvSpPr>
        <p:spPr>
          <a:xfrm>
            <a:off x="411480" y="1874520"/>
            <a:ext cx="5394960" cy="1645920"/>
          </a:xfrm>
          <a:prstGeom prst="rect">
            <a:avLst/>
          </a:prstGeom>
          <a:noFill/>
          <a:ln/>
        </p:spPr>
        <p:txBody>
          <a:bodyPr wrap="square" rtlCol="0" anchor="ctr"/>
          <a:lstStyle/>
          <a:p>
            <a:pPr indent="0" marL="0">
              <a:buNone/>
            </a:pPr>
            <a:r>
              <a:rPr lang="en-US" sz="1100" dirty="0">
                <a:solidFill>
                  <a:srgbClr val="1A1A1A"/>
                </a:solidFill>
                <a:latin typeface="Calibri" pitchFamily="34" charset="0"/>
                <a:ea typeface="Calibri" pitchFamily="34" charset="-122"/>
                <a:cs typeface="Calibri" pitchFamily="34" charset="-120"/>
              </a:rPr>
              <a:t>When an IB underwriter agrees to firm commitment, it goes from being an advisor to being a holder of risk. If market conditions deteriorate between pricing and listing, the IB holds the unsold inventory at a loss. Lehman Brothers's exposure to underwritten mortgage securities in 2008 contributed to its collapse.</a:t>
            </a:r>
            <a:endParaRPr lang="en-US" sz="1100" dirty="0"/>
          </a:p>
        </p:txBody>
      </p:sp>
      <p:sp>
        <p:nvSpPr>
          <p:cNvPr id="15" name="Shape 13"/>
          <p:cNvSpPr/>
          <p:nvPr/>
        </p:nvSpPr>
        <p:spPr>
          <a:xfrm>
            <a:off x="6126480" y="1280160"/>
            <a:ext cx="5669280" cy="2377440"/>
          </a:xfrm>
          <a:prstGeom prst="rect">
            <a:avLst/>
          </a:prstGeom>
          <a:solidFill>
            <a:srgbClr val="D4EFEF"/>
          </a:solidFill>
          <a:ln w="6350">
            <a:solidFill>
              <a:srgbClr val="AAAAAA"/>
            </a:solidFill>
            <a:prstDash val="solid"/>
          </a:ln>
        </p:spPr>
      </p:sp>
      <p:sp>
        <p:nvSpPr>
          <p:cNvPr id="16" name="Shape 14"/>
          <p:cNvSpPr/>
          <p:nvPr/>
        </p:nvSpPr>
        <p:spPr>
          <a:xfrm>
            <a:off x="6217920" y="1371600"/>
            <a:ext cx="457200" cy="457200"/>
          </a:xfrm>
          <a:prstGeom prst="ellipse">
            <a:avLst/>
          </a:prstGeom>
          <a:solidFill>
            <a:srgbClr val="005F5F"/>
          </a:solidFill>
          <a:ln/>
        </p:spPr>
      </p:sp>
      <p:sp>
        <p:nvSpPr>
          <p:cNvPr id="17" name="Text 15"/>
          <p:cNvSpPr/>
          <p:nvPr/>
        </p:nvSpPr>
        <p:spPr>
          <a:xfrm>
            <a:off x="6217920" y="1371600"/>
            <a:ext cx="457200" cy="45720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8" name="Text 16"/>
          <p:cNvSpPr/>
          <p:nvPr/>
        </p:nvSpPr>
        <p:spPr>
          <a:xfrm>
            <a:off x="6766560" y="1371600"/>
            <a:ext cx="4892040" cy="457200"/>
          </a:xfrm>
          <a:prstGeom prst="rect">
            <a:avLst/>
          </a:prstGeom>
          <a:noFill/>
          <a:ln/>
        </p:spPr>
        <p:txBody>
          <a:bodyPr wrap="square" rtlCol="0" anchor="ctr"/>
          <a:lstStyle/>
          <a:p>
            <a:pPr indent="0" marL="0">
              <a:buNone/>
            </a:pPr>
            <a:r>
              <a:rPr lang="en-US" sz="1300" b="1" dirty="0">
                <a:solidFill>
                  <a:srgbClr val="1A1A1A"/>
                </a:solidFill>
                <a:latin typeface="Calibri" pitchFamily="34" charset="0"/>
                <a:ea typeface="Calibri" pitchFamily="34" charset="-122"/>
                <a:cs typeface="Calibri" pitchFamily="34" charset="-120"/>
              </a:rPr>
              <a:t>Operations Is the Revenue Assurance Function in an IB</a:t>
            </a:r>
            <a:endParaRPr lang="en-US" sz="1300" dirty="0"/>
          </a:p>
        </p:txBody>
      </p:sp>
      <p:sp>
        <p:nvSpPr>
          <p:cNvPr id="19" name="Text 17"/>
          <p:cNvSpPr/>
          <p:nvPr/>
        </p:nvSpPr>
        <p:spPr>
          <a:xfrm>
            <a:off x="6263640" y="1874520"/>
            <a:ext cx="5394960" cy="1645920"/>
          </a:xfrm>
          <a:prstGeom prst="rect">
            <a:avLst/>
          </a:prstGeom>
          <a:noFill/>
          <a:ln/>
        </p:spPr>
        <p:txBody>
          <a:bodyPr wrap="square" rtlCol="0" anchor="ctr"/>
          <a:lstStyle/>
          <a:p>
            <a:pPr indent="0" marL="0">
              <a:buNone/>
            </a:pPr>
            <a:r>
              <a:rPr lang="en-US" sz="1100" dirty="0">
                <a:solidFill>
                  <a:srgbClr val="1A1A1A"/>
                </a:solidFill>
                <a:latin typeface="Calibri" pitchFamily="34" charset="0"/>
                <a:ea typeface="Calibri" pitchFamily="34" charset="-122"/>
                <a:cs typeface="Calibri" pitchFamily="34" charset="-120"/>
              </a:rPr>
              <a:t>An IB's trading revenues are only realised when trades settle. A failed settlement is literally unrealised revenue. Every unmatched trade, every failed delivery, and every unreconciled position represents money the firm has earned on paper but not yet received. Operations closes the revenue loop.</a:t>
            </a:r>
            <a:endParaRPr lang="en-US" sz="1100" dirty="0"/>
          </a:p>
        </p:txBody>
      </p:sp>
      <p:sp>
        <p:nvSpPr>
          <p:cNvPr id="20" name="Shape 18"/>
          <p:cNvSpPr/>
          <p:nvPr/>
        </p:nvSpPr>
        <p:spPr>
          <a:xfrm>
            <a:off x="274320" y="3840480"/>
            <a:ext cx="5669280" cy="2377440"/>
          </a:xfrm>
          <a:prstGeom prst="rect">
            <a:avLst/>
          </a:prstGeom>
          <a:solidFill>
            <a:srgbClr val="FEF9E7"/>
          </a:solidFill>
          <a:ln w="6350">
            <a:solidFill>
              <a:srgbClr val="AAAAAA"/>
            </a:solidFill>
            <a:prstDash val="solid"/>
          </a:ln>
        </p:spPr>
      </p:sp>
      <p:sp>
        <p:nvSpPr>
          <p:cNvPr id="21" name="Shape 19"/>
          <p:cNvSpPr/>
          <p:nvPr/>
        </p:nvSpPr>
        <p:spPr>
          <a:xfrm>
            <a:off x="365760" y="3931920"/>
            <a:ext cx="457200" cy="457200"/>
          </a:xfrm>
          <a:prstGeom prst="ellipse">
            <a:avLst/>
          </a:prstGeom>
          <a:solidFill>
            <a:srgbClr val="B8860B"/>
          </a:solidFill>
          <a:ln/>
        </p:spPr>
      </p:sp>
      <p:sp>
        <p:nvSpPr>
          <p:cNvPr id="22" name="Text 20"/>
          <p:cNvSpPr/>
          <p:nvPr/>
        </p:nvSpPr>
        <p:spPr>
          <a:xfrm>
            <a:off x="365760" y="3931920"/>
            <a:ext cx="457200" cy="45720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23" name="Text 21"/>
          <p:cNvSpPr/>
          <p:nvPr/>
        </p:nvSpPr>
        <p:spPr>
          <a:xfrm>
            <a:off x="914400" y="3931920"/>
            <a:ext cx="4892040" cy="457200"/>
          </a:xfrm>
          <a:prstGeom prst="rect">
            <a:avLst/>
          </a:prstGeom>
          <a:noFill/>
          <a:ln/>
        </p:spPr>
        <p:txBody>
          <a:bodyPr wrap="square" rtlCol="0" anchor="ctr"/>
          <a:lstStyle/>
          <a:p>
            <a:pPr indent="0" marL="0">
              <a:buNone/>
            </a:pPr>
            <a:r>
              <a:rPr lang="en-US" sz="1300" b="1" dirty="0">
                <a:solidFill>
                  <a:srgbClr val="1A1A1A"/>
                </a:solidFill>
                <a:latin typeface="Calibri" pitchFamily="34" charset="0"/>
                <a:ea typeface="Calibri" pitchFamily="34" charset="-122"/>
                <a:cs typeface="Calibri" pitchFamily="34" charset="-120"/>
              </a:rPr>
              <a:t>Conflict of Interest Is Structural in IBs</a:t>
            </a:r>
            <a:endParaRPr lang="en-US" sz="1300" dirty="0"/>
          </a:p>
        </p:txBody>
      </p:sp>
      <p:sp>
        <p:nvSpPr>
          <p:cNvPr id="24" name="Text 22"/>
          <p:cNvSpPr/>
          <p:nvPr/>
        </p:nvSpPr>
        <p:spPr>
          <a:xfrm>
            <a:off x="411480" y="4434840"/>
            <a:ext cx="5394960" cy="1645920"/>
          </a:xfrm>
          <a:prstGeom prst="rect">
            <a:avLst/>
          </a:prstGeom>
          <a:noFill/>
          <a:ln/>
        </p:spPr>
        <p:txBody>
          <a:bodyPr wrap="square" rtlCol="0" anchor="ctr"/>
          <a:lstStyle/>
          <a:p>
            <a:pPr indent="0" marL="0">
              <a:buNone/>
            </a:pPr>
            <a:r>
              <a:rPr lang="en-US" sz="1100" dirty="0">
                <a:solidFill>
                  <a:srgbClr val="1A1A1A"/>
                </a:solidFill>
                <a:latin typeface="Calibri" pitchFamily="34" charset="0"/>
                <a:ea typeface="Calibri" pitchFamily="34" charset="-122"/>
                <a:cs typeface="Calibri" pitchFamily="34" charset="-120"/>
              </a:rPr>
              <a:t>An IB that underwrites a company's IPO, writes positive research on it, and executes large buy orders for institutional clients — all for the same company — has structural conflicts of interest. Regulatory "Chinese Walls" between these divisions are mandatory in India and globally, but operations teams must support them through information barriers in systems.</a:t>
            </a:r>
            <a:endParaRPr lang="en-US" sz="1100" dirty="0"/>
          </a:p>
        </p:txBody>
      </p:sp>
      <p:sp>
        <p:nvSpPr>
          <p:cNvPr id="25" name="Shape 23"/>
          <p:cNvSpPr/>
          <p:nvPr/>
        </p:nvSpPr>
        <p:spPr>
          <a:xfrm>
            <a:off x="6126480" y="3840480"/>
            <a:ext cx="5669280" cy="2377440"/>
          </a:xfrm>
          <a:prstGeom prst="rect">
            <a:avLst/>
          </a:prstGeom>
          <a:solidFill>
            <a:srgbClr val="D5E3F0"/>
          </a:solidFill>
          <a:ln w="6350">
            <a:solidFill>
              <a:srgbClr val="AAAAAA"/>
            </a:solidFill>
            <a:prstDash val="solid"/>
          </a:ln>
        </p:spPr>
      </p:sp>
      <p:sp>
        <p:nvSpPr>
          <p:cNvPr id="26" name="Shape 24"/>
          <p:cNvSpPr/>
          <p:nvPr/>
        </p:nvSpPr>
        <p:spPr>
          <a:xfrm>
            <a:off x="6217920" y="3931920"/>
            <a:ext cx="457200" cy="457200"/>
          </a:xfrm>
          <a:prstGeom prst="ellipse">
            <a:avLst/>
          </a:prstGeom>
          <a:solidFill>
            <a:srgbClr val="1E3A5F"/>
          </a:solidFill>
          <a:ln/>
        </p:spPr>
      </p:sp>
      <p:sp>
        <p:nvSpPr>
          <p:cNvPr id="27" name="Text 25"/>
          <p:cNvSpPr/>
          <p:nvPr/>
        </p:nvSpPr>
        <p:spPr>
          <a:xfrm>
            <a:off x="6217920" y="3931920"/>
            <a:ext cx="457200" cy="45720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28" name="Text 26"/>
          <p:cNvSpPr/>
          <p:nvPr/>
        </p:nvSpPr>
        <p:spPr>
          <a:xfrm>
            <a:off x="6766560" y="3931920"/>
            <a:ext cx="4892040" cy="457200"/>
          </a:xfrm>
          <a:prstGeom prst="rect">
            <a:avLst/>
          </a:prstGeom>
          <a:noFill/>
          <a:ln/>
        </p:spPr>
        <p:txBody>
          <a:bodyPr wrap="square" rtlCol="0" anchor="ctr"/>
          <a:lstStyle/>
          <a:p>
            <a:pPr indent="0" marL="0">
              <a:buNone/>
            </a:pPr>
            <a:r>
              <a:rPr lang="en-US" sz="1300" b="1" dirty="0">
                <a:solidFill>
                  <a:srgbClr val="1A1A1A"/>
                </a:solidFill>
                <a:latin typeface="Calibri" pitchFamily="34" charset="0"/>
                <a:ea typeface="Calibri" pitchFamily="34" charset="-122"/>
                <a:cs typeface="Calibri" pitchFamily="34" charset="-120"/>
              </a:rPr>
              <a:t>The "Bulge Bracket" vs "Boutique" Distinction Matters for Operations</a:t>
            </a:r>
            <a:endParaRPr lang="en-US" sz="1300" dirty="0"/>
          </a:p>
        </p:txBody>
      </p:sp>
      <p:sp>
        <p:nvSpPr>
          <p:cNvPr id="29" name="Text 27"/>
          <p:cNvSpPr/>
          <p:nvPr/>
        </p:nvSpPr>
        <p:spPr>
          <a:xfrm>
            <a:off x="6263640" y="4434840"/>
            <a:ext cx="5394960" cy="1645920"/>
          </a:xfrm>
          <a:prstGeom prst="rect">
            <a:avLst/>
          </a:prstGeom>
          <a:noFill/>
          <a:ln/>
        </p:spPr>
        <p:txBody>
          <a:bodyPr wrap="square" rtlCol="0" anchor="ctr"/>
          <a:lstStyle/>
          <a:p>
            <a:pPr indent="0" marL="0">
              <a:buNone/>
            </a:pPr>
            <a:r>
              <a:rPr lang="en-US" sz="1100" dirty="0">
                <a:solidFill>
                  <a:srgbClr val="1A1A1A"/>
                </a:solidFill>
                <a:latin typeface="Calibri" pitchFamily="34" charset="0"/>
                <a:ea typeface="Calibri" pitchFamily="34" charset="-122"/>
                <a:cs typeface="Calibri" pitchFamily="34" charset="-120"/>
              </a:rPr>
              <a:t>Bulge bracket IBs (Goldman, JP Morgan, Morgan Stanley) have massive operations infrastructure globally. Boutique advisory firms (Lazard, Rothschild) do M&amp;A advisory only — very little settlements work. Understanding which type of firm you are in determines the scale and complexity of your operations role.</a:t>
            </a:r>
            <a:endParaRPr lang="en-US" sz="1100" dirty="0"/>
          </a:p>
        </p:txBody>
      </p:sp>
      <p:sp>
        <p:nvSpPr>
          <p:cNvPr id="30" name="Text 28"/>
          <p:cNvSpPr/>
          <p:nvPr/>
        </p:nvSpPr>
        <p:spPr>
          <a:xfrm>
            <a:off x="0" y="6601968"/>
            <a:ext cx="12192000" cy="182880"/>
          </a:xfrm>
          <a:prstGeom prst="rect">
            <a:avLst/>
          </a:prstGeom>
          <a:noFill/>
          <a:ln/>
        </p:spPr>
        <p:txBody>
          <a:bodyPr wrap="square" rtlCol="0" anchor="ctr"/>
          <a:lstStyle/>
          <a:p>
            <a:pPr algn="ctr" indent="0" marL="0">
              <a:buNone/>
            </a:pPr>
            <a:r>
              <a:rPr lang="en-US" sz="800" dirty="0">
                <a:solidFill>
                  <a:srgbClr val="AAAAAA"/>
                </a:solidFill>
                <a:latin typeface="Calibri" pitchFamily="34" charset="0"/>
                <a:ea typeface="Calibri" pitchFamily="34" charset="-122"/>
                <a:cs typeface="Calibri" pitchFamily="34" charset="-120"/>
              </a:rPr>
              <a:t>CIBOP · Module 1 · D1.10</a:t>
            </a:r>
            <a:endParaRPr lang="en-US" sz="80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005F5F"/>
          </a:solidFill>
          <a:ln/>
        </p:spPr>
      </p:sp>
      <p:sp>
        <p:nvSpPr>
          <p:cNvPr id="3" name="Shape 1"/>
          <p:cNvSpPr/>
          <p:nvPr/>
        </p:nvSpPr>
        <p:spPr>
          <a:xfrm>
            <a:off x="0" y="0"/>
            <a:ext cx="12192000" cy="73152"/>
          </a:xfrm>
          <a:prstGeom prst="rect">
            <a:avLst/>
          </a:prstGeom>
          <a:solidFill>
            <a:srgbClr val="B8860B"/>
          </a:solidFill>
          <a:ln/>
        </p:spPr>
      </p:sp>
      <p:sp>
        <p:nvSpPr>
          <p:cNvPr id="4" name="Shape 2"/>
          <p:cNvSpPr/>
          <p:nvPr/>
        </p:nvSpPr>
        <p:spPr>
          <a:xfrm>
            <a:off x="0" y="6784848"/>
            <a:ext cx="12192000" cy="73152"/>
          </a:xfrm>
          <a:prstGeom prst="rect">
            <a:avLst/>
          </a:prstGeom>
          <a:solidFill>
            <a:srgbClr val="B8860B"/>
          </a:solidFill>
          <a:ln/>
        </p:spPr>
      </p:sp>
      <p:sp>
        <p:nvSpPr>
          <p:cNvPr id="5" name="Shape 3"/>
          <p:cNvSpPr/>
          <p:nvPr/>
        </p:nvSpPr>
        <p:spPr>
          <a:xfrm>
            <a:off x="0" y="73152"/>
            <a:ext cx="1828800" cy="347472"/>
          </a:xfrm>
          <a:prstGeom prst="rect">
            <a:avLst/>
          </a:prstGeom>
          <a:solidFill>
            <a:srgbClr val="B8860B"/>
          </a:solidFill>
          <a:ln/>
        </p:spPr>
      </p:sp>
      <p:sp>
        <p:nvSpPr>
          <p:cNvPr id="6" name="Text 4"/>
          <p:cNvSpPr/>
          <p:nvPr/>
        </p:nvSpPr>
        <p:spPr>
          <a:xfrm>
            <a:off x="0" y="73152"/>
            <a:ext cx="1828800" cy="347472"/>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THINK &amp; DISCUSS</a:t>
            </a:r>
            <a:endParaRPr lang="en-US" sz="1000" dirty="0"/>
          </a:p>
        </p:txBody>
      </p:sp>
      <p:sp>
        <p:nvSpPr>
          <p:cNvPr id="7" name="Shape 5"/>
          <p:cNvSpPr/>
          <p:nvPr/>
        </p:nvSpPr>
        <p:spPr>
          <a:xfrm>
            <a:off x="10360152" y="73152"/>
            <a:ext cx="1828800" cy="347472"/>
          </a:xfrm>
          <a:prstGeom prst="rect">
            <a:avLst/>
          </a:prstGeom>
          <a:solidFill>
            <a:srgbClr val="005F5F"/>
          </a:solidFill>
          <a:ln/>
        </p:spPr>
      </p:sp>
      <p:sp>
        <p:nvSpPr>
          <p:cNvPr id="8" name="Text 6"/>
          <p:cNvSpPr/>
          <p:nvPr/>
        </p:nvSpPr>
        <p:spPr>
          <a:xfrm>
            <a:off x="10360152" y="73152"/>
            <a:ext cx="1828800" cy="347472"/>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D1.10</a:t>
            </a:r>
            <a:endParaRPr lang="en-US" sz="1000" dirty="0"/>
          </a:p>
        </p:txBody>
      </p:sp>
      <p:sp>
        <p:nvSpPr>
          <p:cNvPr id="9" name="Shape 7"/>
          <p:cNvSpPr/>
          <p:nvPr/>
        </p:nvSpPr>
        <p:spPr>
          <a:xfrm>
            <a:off x="365760" y="914400"/>
            <a:ext cx="11155680" cy="3840480"/>
          </a:xfrm>
          <a:prstGeom prst="rect">
            <a:avLst/>
          </a:prstGeom>
          <a:solidFill>
            <a:srgbClr val="004444"/>
          </a:solidFill>
          <a:ln w="12700">
            <a:solidFill>
              <a:srgbClr val="B8860B"/>
            </a:solidFill>
            <a:prstDash val="solid"/>
          </a:ln>
        </p:spPr>
      </p:sp>
      <p:sp>
        <p:nvSpPr>
          <p:cNvPr id="10" name="Text 8"/>
          <p:cNvSpPr/>
          <p:nvPr/>
        </p:nvSpPr>
        <p:spPr>
          <a:xfrm>
            <a:off x="9144000" y="548640"/>
            <a:ext cx="2926080" cy="457200"/>
          </a:xfrm>
          <a:prstGeom prst="rect">
            <a:avLst/>
          </a:prstGeom>
          <a:noFill/>
          <a:ln/>
        </p:spPr>
        <p:txBody>
          <a:bodyPr wrap="square" rtlCol="0" anchor="ctr"/>
          <a:lstStyle/>
          <a:p>
            <a:pPr algn="r" indent="0" marL="0">
              <a:buNone/>
            </a:pPr>
            <a:r>
              <a:rPr lang="en-US" sz="1400" b="1" dirty="0">
                <a:solidFill>
                  <a:srgbClr val="B8860B"/>
                </a:solidFill>
                <a:latin typeface="Calibri" pitchFamily="34" charset="0"/>
                <a:ea typeface="Calibri" pitchFamily="34" charset="-122"/>
                <a:cs typeface="Calibri" pitchFamily="34" charset="-120"/>
              </a:rPr>
              <a:t>🕐  2 MINUTES</a:t>
            </a:r>
            <a:endParaRPr lang="en-US" sz="1400" dirty="0"/>
          </a:p>
        </p:txBody>
      </p:sp>
      <p:sp>
        <p:nvSpPr>
          <p:cNvPr id="11" name="Text 9"/>
          <p:cNvSpPr/>
          <p:nvPr/>
        </p:nvSpPr>
        <p:spPr>
          <a:xfrm>
            <a:off x="640080" y="1188720"/>
            <a:ext cx="10607040" cy="3108960"/>
          </a:xfrm>
          <a:prstGeom prst="rect">
            <a:avLst/>
          </a:prstGeom>
          <a:noFill/>
          <a:ln/>
        </p:spPr>
        <p:txBody>
          <a:bodyPr wrap="square"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"An investment bank's research team has just published a "Buy" rating on a company whose IPO their ECM team is managing. A client asks you if this is a conflict of interest. How do you respond — and what regulatory protections exist?"</a:t>
            </a:r>
            <a:endParaRPr lang="en-US" sz="2000" dirty="0"/>
          </a:p>
        </p:txBody>
      </p:sp>
      <p:sp>
        <p:nvSpPr>
          <p:cNvPr id="12" name="Shape 10"/>
          <p:cNvSpPr/>
          <p:nvPr/>
        </p:nvSpPr>
        <p:spPr>
          <a:xfrm>
            <a:off x="0" y="5029200"/>
            <a:ext cx="12192000" cy="914400"/>
          </a:xfrm>
          <a:prstGeom prst="rect">
            <a:avLst/>
          </a:prstGeom>
          <a:solidFill>
            <a:srgbClr val="003333"/>
          </a:solidFill>
          <a:ln/>
        </p:spPr>
      </p:sp>
      <p:sp>
        <p:nvSpPr>
          <p:cNvPr id="13" name="Text 11"/>
          <p:cNvSpPr/>
          <p:nvPr/>
        </p:nvSpPr>
        <p:spPr>
          <a:xfrm>
            <a:off x="365760" y="5029200"/>
            <a:ext cx="11430000" cy="914400"/>
          </a:xfrm>
          <a:prstGeom prst="rect">
            <a:avLst/>
          </a:prstGeom>
          <a:noFill/>
          <a:ln/>
        </p:spPr>
        <p:txBody>
          <a:bodyPr wrap="square" rtlCol="0" anchor="ctr"/>
          <a:lstStyle/>
          <a:p>
            <a:pPr indent="0" marL="0">
              <a:buNone/>
            </a:pPr>
            <a:r>
              <a:rPr lang="en-US" sz="1400" dirty="0">
                <a:solidFill>
                  <a:srgbClr val="CADCFC"/>
                </a:solidFill>
                <a:latin typeface="Calibri" pitchFamily="34" charset="0"/>
                <a:ea typeface="Calibri" pitchFamily="34" charset="-122"/>
                <a:cs typeface="Calibri" pitchFamily="34" charset="-120"/>
              </a:rPr>
              <a:t>💡  Hint: Think about SEBI's research analyst regulations, Chinese wall requirements, disclosure obligations for investment banking relationships, and the history of regulatory tightening post-Dotcom era.</a:t>
            </a:r>
            <a:endParaRPr lang="en-US" sz="1400" dirty="0"/>
          </a:p>
        </p:txBody>
      </p:sp>
      <p:sp>
        <p:nvSpPr>
          <p:cNvPr id="14" name="Text 12"/>
          <p:cNvSpPr/>
          <p:nvPr/>
        </p:nvSpPr>
        <p:spPr>
          <a:xfrm>
            <a:off x="0" y="6601968"/>
            <a:ext cx="12192000" cy="182880"/>
          </a:xfrm>
          <a:prstGeom prst="rect">
            <a:avLst/>
          </a:prstGeom>
          <a:noFill/>
          <a:ln/>
        </p:spPr>
        <p:txBody>
          <a:bodyPr wrap="square" rtlCol="0" anchor="ctr"/>
          <a:lstStyle/>
          <a:p>
            <a:pPr algn="ctr" indent="0" marL="0">
              <a:buNone/>
            </a:pPr>
            <a:r>
              <a:rPr lang="en-US" sz="800" dirty="0">
                <a:solidFill>
                  <a:srgbClr val="AAAAAA"/>
                </a:solidFill>
                <a:latin typeface="Calibri" pitchFamily="34" charset="0"/>
                <a:ea typeface="Calibri" pitchFamily="34" charset="-122"/>
                <a:cs typeface="Calibri" pitchFamily="34" charset="-120"/>
              </a:rPr>
              <a:t>CIBOP · Module 1 · D1.10</a:t>
            </a:r>
            <a:endParaRPr lang="en-US" sz="80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4F6FA"/>
          </a:solidFill>
          <a:ln/>
        </p:spPr>
      </p:sp>
      <p:sp>
        <p:nvSpPr>
          <p:cNvPr id="3" name="Shape 1"/>
          <p:cNvSpPr/>
          <p:nvPr/>
        </p:nvSpPr>
        <p:spPr>
          <a:xfrm>
            <a:off x="0" y="0"/>
            <a:ext cx="12192000" cy="73152"/>
          </a:xfrm>
          <a:prstGeom prst="rect">
            <a:avLst/>
          </a:prstGeom>
          <a:solidFill>
            <a:srgbClr val="B8860B"/>
          </a:solidFill>
          <a:ln/>
        </p:spPr>
      </p:sp>
      <p:sp>
        <p:nvSpPr>
          <p:cNvPr id="4" name="Shape 2"/>
          <p:cNvSpPr/>
          <p:nvPr/>
        </p:nvSpPr>
        <p:spPr>
          <a:xfrm>
            <a:off x="0" y="6784848"/>
            <a:ext cx="12192000" cy="73152"/>
          </a:xfrm>
          <a:prstGeom prst="rect">
            <a:avLst/>
          </a:prstGeom>
          <a:solidFill>
            <a:srgbClr val="1E3A5F"/>
          </a:solidFill>
          <a:ln/>
        </p:spPr>
      </p:sp>
      <p:sp>
        <p:nvSpPr>
          <p:cNvPr id="5" name="Shape 3"/>
          <p:cNvSpPr/>
          <p:nvPr/>
        </p:nvSpPr>
        <p:spPr>
          <a:xfrm>
            <a:off x="0" y="73152"/>
            <a:ext cx="1828800" cy="347472"/>
          </a:xfrm>
          <a:prstGeom prst="rect">
            <a:avLst/>
          </a:prstGeom>
          <a:solidFill>
            <a:srgbClr val="B8860B"/>
          </a:solidFill>
          <a:ln/>
        </p:spPr>
      </p:sp>
      <p:sp>
        <p:nvSpPr>
          <p:cNvPr id="6" name="Text 4"/>
          <p:cNvSpPr/>
          <p:nvPr/>
        </p:nvSpPr>
        <p:spPr>
          <a:xfrm>
            <a:off x="0" y="73152"/>
            <a:ext cx="1828800" cy="347472"/>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INTERVIEW READY</a:t>
            </a:r>
            <a:endParaRPr lang="en-US" sz="1000" dirty="0"/>
          </a:p>
        </p:txBody>
      </p:sp>
      <p:sp>
        <p:nvSpPr>
          <p:cNvPr id="7" name="Shape 5"/>
          <p:cNvSpPr/>
          <p:nvPr/>
        </p:nvSpPr>
        <p:spPr>
          <a:xfrm>
            <a:off x="10360152" y="73152"/>
            <a:ext cx="1828800" cy="347472"/>
          </a:xfrm>
          <a:prstGeom prst="rect">
            <a:avLst/>
          </a:prstGeom>
          <a:solidFill>
            <a:srgbClr val="005F5F"/>
          </a:solidFill>
          <a:ln/>
        </p:spPr>
      </p:sp>
      <p:sp>
        <p:nvSpPr>
          <p:cNvPr id="8" name="Text 6"/>
          <p:cNvSpPr/>
          <p:nvPr/>
        </p:nvSpPr>
        <p:spPr>
          <a:xfrm>
            <a:off x="10360152" y="73152"/>
            <a:ext cx="1828800" cy="347472"/>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D1.10</a:t>
            </a:r>
            <a:endParaRPr lang="en-US" sz="1000" dirty="0"/>
          </a:p>
        </p:txBody>
      </p:sp>
      <p:sp>
        <p:nvSpPr>
          <p:cNvPr id="9" name="Shape 7"/>
          <p:cNvSpPr/>
          <p:nvPr/>
        </p:nvSpPr>
        <p:spPr>
          <a:xfrm>
            <a:off x="0" y="420624"/>
            <a:ext cx="12192000" cy="1371600"/>
          </a:xfrm>
          <a:prstGeom prst="rect">
            <a:avLst/>
          </a:prstGeom>
          <a:solidFill>
            <a:srgbClr val="1E3A5F"/>
          </a:solidFill>
          <a:ln/>
        </p:spPr>
      </p:sp>
      <p:sp>
        <p:nvSpPr>
          <p:cNvPr id="10" name="Text 8"/>
          <p:cNvSpPr/>
          <p:nvPr/>
        </p:nvSpPr>
        <p:spPr>
          <a:xfrm>
            <a:off x="365760" y="502920"/>
            <a:ext cx="11430000" cy="365760"/>
          </a:xfrm>
          <a:prstGeom prst="rect">
            <a:avLst/>
          </a:prstGeom>
          <a:noFill/>
          <a:ln/>
        </p:spPr>
        <p:txBody>
          <a:bodyPr wrap="square" rtlCol="0" anchor="ctr"/>
          <a:lstStyle/>
          <a:p>
            <a:pPr indent="0" marL="0">
              <a:buNone/>
            </a:pPr>
            <a:r>
              <a:rPr lang="en-US" sz="1200" b="1" dirty="0">
                <a:solidFill>
                  <a:srgbClr val="B8860B"/>
                </a:solidFill>
                <a:latin typeface="Calibri" pitchFamily="34" charset="0"/>
                <a:ea typeface="Calibri" pitchFamily="34" charset="-122"/>
                <a:cs typeface="Calibri" pitchFamily="34" charset="-120"/>
              </a:rPr>
              <a:t>💼  Interview Question:</a:t>
            </a:r>
            <a:endParaRPr lang="en-US" sz="1200" dirty="0"/>
          </a:p>
        </p:txBody>
      </p:sp>
      <p:sp>
        <p:nvSpPr>
          <p:cNvPr id="11" name="Text 9"/>
          <p:cNvSpPr/>
          <p:nvPr/>
        </p:nvSpPr>
        <p:spPr>
          <a:xfrm>
            <a:off x="365760" y="914400"/>
            <a:ext cx="11430000" cy="822960"/>
          </a:xfrm>
          <a:prstGeom prst="rect">
            <a:avLst/>
          </a:prstGeom>
          <a:noFill/>
          <a:ln/>
        </p:spPr>
        <p:txBody>
          <a:bodyPr wrap="square"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"What is an investment bank and what are its core functions?"</a:t>
            </a:r>
            <a:endParaRPr lang="en-US" sz="1700" dirty="0"/>
          </a:p>
        </p:txBody>
      </p:sp>
      <p:sp>
        <p:nvSpPr>
          <p:cNvPr id="12" name="Text 10"/>
          <p:cNvSpPr/>
          <p:nvPr/>
        </p:nvSpPr>
        <p:spPr>
          <a:xfrm>
            <a:off x="365760" y="1965960"/>
            <a:ext cx="11430000" cy="365760"/>
          </a:xfrm>
          <a:prstGeom prst="rect">
            <a:avLst/>
          </a:prstGeom>
          <a:noFill/>
          <a:ln/>
        </p:spPr>
        <p:txBody>
          <a:bodyPr wrap="square" rtlCol="0" anchor="ctr"/>
          <a:lstStyle/>
          <a:p>
            <a:pPr indent="0" marL="0">
              <a:buNone/>
            </a:pPr>
            <a:r>
              <a:rPr lang="en-US" sz="1200" b="1" dirty="0">
                <a:solidFill>
                  <a:srgbClr val="005F5F"/>
                </a:solidFill>
                <a:latin typeface="Calibri" pitchFamily="34" charset="0"/>
                <a:ea typeface="Calibri" pitchFamily="34" charset="-122"/>
                <a:cs typeface="Calibri" pitchFamily="34" charset="-120"/>
              </a:rPr>
              <a:t>STRONG ANSWER FRAMEWORK  (4 points):</a:t>
            </a:r>
            <a:endParaRPr lang="en-US" sz="1200" dirty="0"/>
          </a:p>
        </p:txBody>
      </p:sp>
      <p:sp>
        <p:nvSpPr>
          <p:cNvPr id="13" name="Shape 11"/>
          <p:cNvSpPr/>
          <p:nvPr/>
        </p:nvSpPr>
        <p:spPr>
          <a:xfrm>
            <a:off x="274320" y="2423160"/>
            <a:ext cx="457200" cy="640080"/>
          </a:xfrm>
          <a:prstGeom prst="rect">
            <a:avLst/>
          </a:prstGeom>
          <a:solidFill>
            <a:srgbClr val="1E3A5F"/>
          </a:solidFill>
          <a:ln/>
        </p:spPr>
      </p:sp>
      <p:sp>
        <p:nvSpPr>
          <p:cNvPr id="14" name="Text 12"/>
          <p:cNvSpPr/>
          <p:nvPr/>
        </p:nvSpPr>
        <p:spPr>
          <a:xfrm>
            <a:off x="274320" y="2423160"/>
            <a:ext cx="457200" cy="64008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5" name="Shape 13"/>
          <p:cNvSpPr/>
          <p:nvPr/>
        </p:nvSpPr>
        <p:spPr>
          <a:xfrm>
            <a:off x="822960" y="2423160"/>
            <a:ext cx="11064240" cy="640080"/>
          </a:xfrm>
          <a:prstGeom prst="rect">
            <a:avLst/>
          </a:prstGeom>
          <a:solidFill>
            <a:srgbClr val="D5E3F0"/>
          </a:solidFill>
          <a:ln w="6350">
            <a:solidFill>
              <a:srgbClr val="AAAAAA"/>
            </a:solidFill>
            <a:prstDash val="solid"/>
          </a:ln>
        </p:spPr>
      </p:sp>
      <p:sp>
        <p:nvSpPr>
          <p:cNvPr id="16" name="Text 14"/>
          <p:cNvSpPr/>
          <p:nvPr/>
        </p:nvSpPr>
        <p:spPr>
          <a:xfrm>
            <a:off x="914400" y="2423160"/>
            <a:ext cx="10881360" cy="640080"/>
          </a:xfrm>
          <a:prstGeom prst="rect">
            <a:avLst/>
          </a:prstGeom>
          <a:noFill/>
          <a:ln/>
        </p:spPr>
        <p:txBody>
          <a:bodyPr wrap="square" rtlCol="0" anchor="ctr"/>
          <a:lstStyle/>
          <a:p>
            <a:pPr indent="0" marL="0">
              <a:buNone/>
            </a:pPr>
            <a:r>
              <a:rPr lang="en-US" sz="1300" dirty="0">
                <a:solidFill>
                  <a:srgbClr val="1A1A1A"/>
                </a:solidFill>
                <a:latin typeface="Calibri" pitchFamily="34" charset="0"/>
                <a:ea typeface="Calibri" pitchFamily="34" charset="-122"/>
                <a:cs typeface="Calibri" pitchFamily="34" charset="-120"/>
              </a:rPr>
              <a:t>An investment bank raises capital for issuers, advises on corporate transactions, and trades securities. It does not accept retail deposits. Revenue comes from underwriting fees, advisory fees, trading spreads, and financing income.</a:t>
            </a:r>
            <a:endParaRPr lang="en-US" sz="1300" dirty="0"/>
          </a:p>
        </p:txBody>
      </p:sp>
      <p:sp>
        <p:nvSpPr>
          <p:cNvPr id="17" name="Shape 15"/>
          <p:cNvSpPr/>
          <p:nvPr/>
        </p:nvSpPr>
        <p:spPr>
          <a:xfrm>
            <a:off x="274320" y="3337560"/>
            <a:ext cx="457200" cy="640080"/>
          </a:xfrm>
          <a:prstGeom prst="rect">
            <a:avLst/>
          </a:prstGeom>
          <a:solidFill>
            <a:srgbClr val="1E3A5F"/>
          </a:solidFill>
          <a:ln/>
        </p:spPr>
      </p:sp>
      <p:sp>
        <p:nvSpPr>
          <p:cNvPr id="18" name="Text 16"/>
          <p:cNvSpPr/>
          <p:nvPr/>
        </p:nvSpPr>
        <p:spPr>
          <a:xfrm>
            <a:off x="274320" y="3337560"/>
            <a:ext cx="457200" cy="64008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9" name="Shape 17"/>
          <p:cNvSpPr/>
          <p:nvPr/>
        </p:nvSpPr>
        <p:spPr>
          <a:xfrm>
            <a:off x="822960" y="3337560"/>
            <a:ext cx="11064240" cy="640080"/>
          </a:xfrm>
          <a:prstGeom prst="rect">
            <a:avLst/>
          </a:prstGeom>
          <a:solidFill>
            <a:srgbClr val="FFFFFF"/>
          </a:solidFill>
          <a:ln w="6350">
            <a:solidFill>
              <a:srgbClr val="AAAAAA"/>
            </a:solidFill>
            <a:prstDash val="solid"/>
          </a:ln>
        </p:spPr>
      </p:sp>
      <p:sp>
        <p:nvSpPr>
          <p:cNvPr id="20" name="Text 18"/>
          <p:cNvSpPr/>
          <p:nvPr/>
        </p:nvSpPr>
        <p:spPr>
          <a:xfrm>
            <a:off x="914400" y="3337560"/>
            <a:ext cx="10881360" cy="640080"/>
          </a:xfrm>
          <a:prstGeom prst="rect">
            <a:avLst/>
          </a:prstGeom>
          <a:noFill/>
          <a:ln/>
        </p:spPr>
        <p:txBody>
          <a:bodyPr wrap="square" rtlCol="0" anchor="ctr"/>
          <a:lstStyle/>
          <a:p>
            <a:pPr indent="0" marL="0">
              <a:buNone/>
            </a:pPr>
            <a:r>
              <a:rPr lang="en-US" sz="1300" dirty="0">
                <a:solidFill>
                  <a:srgbClr val="1A1A1A"/>
                </a:solidFill>
                <a:latin typeface="Calibri" pitchFamily="34" charset="0"/>
                <a:ea typeface="Calibri" pitchFamily="34" charset="-122"/>
                <a:cs typeface="Calibri" pitchFamily="34" charset="-120"/>
              </a:rPr>
              <a:t>Core functions: Equity Capital Markets (IPOs, FPOs), Debt Capital Markets (bonds, NCDs), M&amp;A Advisory (mergers and acquisitions), Sales &amp; Trading (institutional execution and market making), and Research (analytical coverage for investors).</a:t>
            </a:r>
            <a:endParaRPr lang="en-US" sz="1300" dirty="0"/>
          </a:p>
        </p:txBody>
      </p:sp>
      <p:sp>
        <p:nvSpPr>
          <p:cNvPr id="21" name="Shape 19"/>
          <p:cNvSpPr/>
          <p:nvPr/>
        </p:nvSpPr>
        <p:spPr>
          <a:xfrm>
            <a:off x="274320" y="4251960"/>
            <a:ext cx="457200" cy="640080"/>
          </a:xfrm>
          <a:prstGeom prst="rect">
            <a:avLst/>
          </a:prstGeom>
          <a:solidFill>
            <a:srgbClr val="1E3A5F"/>
          </a:solidFill>
          <a:ln/>
        </p:spPr>
      </p:sp>
      <p:sp>
        <p:nvSpPr>
          <p:cNvPr id="22" name="Text 20"/>
          <p:cNvSpPr/>
          <p:nvPr/>
        </p:nvSpPr>
        <p:spPr>
          <a:xfrm>
            <a:off x="274320" y="4251960"/>
            <a:ext cx="457200" cy="64008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3" name="Shape 21"/>
          <p:cNvSpPr/>
          <p:nvPr/>
        </p:nvSpPr>
        <p:spPr>
          <a:xfrm>
            <a:off x="822960" y="4251960"/>
            <a:ext cx="11064240" cy="640080"/>
          </a:xfrm>
          <a:prstGeom prst="rect">
            <a:avLst/>
          </a:prstGeom>
          <a:solidFill>
            <a:srgbClr val="D5E3F0"/>
          </a:solidFill>
          <a:ln w="6350">
            <a:solidFill>
              <a:srgbClr val="AAAAAA"/>
            </a:solidFill>
            <a:prstDash val="solid"/>
          </a:ln>
        </p:spPr>
      </p:sp>
      <p:sp>
        <p:nvSpPr>
          <p:cNvPr id="24" name="Text 22"/>
          <p:cNvSpPr/>
          <p:nvPr/>
        </p:nvSpPr>
        <p:spPr>
          <a:xfrm>
            <a:off x="914400" y="4251960"/>
            <a:ext cx="10881360" cy="640080"/>
          </a:xfrm>
          <a:prstGeom prst="rect">
            <a:avLst/>
          </a:prstGeom>
          <a:noFill/>
          <a:ln/>
        </p:spPr>
        <p:txBody>
          <a:bodyPr wrap="square" rtlCol="0" anchor="ctr"/>
          <a:lstStyle/>
          <a:p>
            <a:pPr indent="0" marL="0">
              <a:buNone/>
            </a:pPr>
            <a:r>
              <a:rPr lang="en-US" sz="1300" dirty="0">
                <a:solidFill>
                  <a:srgbClr val="1A1A1A"/>
                </a:solidFill>
                <a:latin typeface="Calibri" pitchFamily="34" charset="0"/>
                <a:ea typeface="Calibri" pitchFamily="34" charset="-122"/>
                <a:cs typeface="Calibri" pitchFamily="34" charset="-120"/>
              </a:rPr>
              <a:t>Operations teams at an investment bank process every transaction generated by all these functions: ECM allotments, DCM settlement, M&amp;A corporate actions, and daily S&amp;T trade settlements and confirmations.</a:t>
            </a:r>
            <a:endParaRPr lang="en-US" sz="1300" dirty="0"/>
          </a:p>
        </p:txBody>
      </p:sp>
      <p:sp>
        <p:nvSpPr>
          <p:cNvPr id="25" name="Shape 23"/>
          <p:cNvSpPr/>
          <p:nvPr/>
        </p:nvSpPr>
        <p:spPr>
          <a:xfrm>
            <a:off x="274320" y="5166360"/>
            <a:ext cx="457200" cy="640080"/>
          </a:xfrm>
          <a:prstGeom prst="rect">
            <a:avLst/>
          </a:prstGeom>
          <a:solidFill>
            <a:srgbClr val="1E3A5F"/>
          </a:solidFill>
          <a:ln/>
        </p:spPr>
      </p:sp>
      <p:sp>
        <p:nvSpPr>
          <p:cNvPr id="26" name="Text 24"/>
          <p:cNvSpPr/>
          <p:nvPr/>
        </p:nvSpPr>
        <p:spPr>
          <a:xfrm>
            <a:off x="274320" y="5166360"/>
            <a:ext cx="457200" cy="64008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7" name="Shape 25"/>
          <p:cNvSpPr/>
          <p:nvPr/>
        </p:nvSpPr>
        <p:spPr>
          <a:xfrm>
            <a:off x="822960" y="5166360"/>
            <a:ext cx="11064240" cy="640080"/>
          </a:xfrm>
          <a:prstGeom prst="rect">
            <a:avLst/>
          </a:prstGeom>
          <a:solidFill>
            <a:srgbClr val="FFFFFF"/>
          </a:solidFill>
          <a:ln w="6350">
            <a:solidFill>
              <a:srgbClr val="AAAAAA"/>
            </a:solidFill>
            <a:prstDash val="solid"/>
          </a:ln>
        </p:spPr>
      </p:sp>
      <p:sp>
        <p:nvSpPr>
          <p:cNvPr id="28" name="Text 26"/>
          <p:cNvSpPr/>
          <p:nvPr/>
        </p:nvSpPr>
        <p:spPr>
          <a:xfrm>
            <a:off x="914400" y="5166360"/>
            <a:ext cx="10881360" cy="640080"/>
          </a:xfrm>
          <a:prstGeom prst="rect">
            <a:avLst/>
          </a:prstGeom>
          <a:noFill/>
          <a:ln/>
        </p:spPr>
        <p:txBody>
          <a:bodyPr wrap="square" rtlCol="0" anchor="ctr"/>
          <a:lstStyle/>
          <a:p>
            <a:pPr indent="0" marL="0">
              <a:buNone/>
            </a:pPr>
            <a:r>
              <a:rPr lang="en-US" sz="1300" dirty="0">
                <a:solidFill>
                  <a:srgbClr val="1A1A1A"/>
                </a:solidFill>
                <a:latin typeface="Calibri" pitchFamily="34" charset="0"/>
                <a:ea typeface="Calibri" pitchFamily="34" charset="-122"/>
                <a:cs typeface="Calibri" pitchFamily="34" charset="-120"/>
              </a:rPr>
              <a:t>The quality of an IB's operations function directly affects its reputation and its trading relationships. Clean settlement, accurate reporting, and zero operational failures are the foundation on which front-office relationships are built.</a:t>
            </a:r>
            <a:endParaRPr lang="en-US" sz="1300" dirty="0"/>
          </a:p>
        </p:txBody>
      </p:sp>
      <p:sp>
        <p:nvSpPr>
          <p:cNvPr id="29" name="Text 27"/>
          <p:cNvSpPr/>
          <p:nvPr/>
        </p:nvSpPr>
        <p:spPr>
          <a:xfrm>
            <a:off x="0" y="6601968"/>
            <a:ext cx="12192000" cy="182880"/>
          </a:xfrm>
          <a:prstGeom prst="rect">
            <a:avLst/>
          </a:prstGeom>
          <a:noFill/>
          <a:ln/>
        </p:spPr>
        <p:txBody>
          <a:bodyPr wrap="square" rtlCol="0" anchor="ctr"/>
          <a:lstStyle/>
          <a:p>
            <a:pPr algn="ctr" indent="0" marL="0">
              <a:buNone/>
            </a:pPr>
            <a:r>
              <a:rPr lang="en-US" sz="800" dirty="0">
                <a:solidFill>
                  <a:srgbClr val="AAAAAA"/>
                </a:solidFill>
                <a:latin typeface="Calibri" pitchFamily="34" charset="0"/>
                <a:ea typeface="Calibri" pitchFamily="34" charset="-122"/>
                <a:cs typeface="Calibri" pitchFamily="34" charset="-120"/>
              </a:rPr>
              <a:t>CIBOP · Module 1 · D1.10</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61</Slides>
  <Notes>61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61</vt:i4>
      </vt:variant>
    </vt:vector>
  </HeadingPairs>
  <TitlesOfParts>
    <vt:vector size="6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2026-05-11T11:11:51Z</dcterms:created>
  <dcterms:modified xsi:type="dcterms:W3CDTF">2026-05-11T11:11:51Z</dcterms:modified>
</cp:coreProperties>
</file>