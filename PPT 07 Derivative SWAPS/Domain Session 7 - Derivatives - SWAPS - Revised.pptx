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Lst>
  <p:sldSz cy="6858000" cx="12192000"/>
  <p:notesSz cx="6858000" cy="9144000"/>
  <p:embeddedFontLst>
    <p:embeddedFont>
      <p:font typeface="Poppins"/>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0" roundtripDataSignature="AMtx7mi8DoCtu5dbJknyJrC1lW+OzzNv7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EC827F9-9865-43DC-BEFB-80313BB38143}">
  <a:tblStyle styleId="{2EC827F9-9865-43DC-BEFB-80313BB3814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0" Type="http://customschemas.google.com/relationships/presentationmetadata" Target="meta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Poppins-regular.fntdata"/><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Poppins-italic.fntdata"/><Relationship Id="rId23" Type="http://schemas.openxmlformats.org/officeDocument/2006/relationships/slide" Target="slides/slide18.xml"/><Relationship Id="rId67" Type="http://schemas.openxmlformats.org/officeDocument/2006/relationships/font" Target="fonts/Poppins-bold.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Poppins-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40" name="Google Shape;14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52" name="Google Shape;15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b="0" i="0" sz="1200" u="none" cap="none" strike="noStrike">
              <a:solidFill>
                <a:schemeClr val="dk1"/>
              </a:solidFill>
              <a:latin typeface="Calibri"/>
              <a:ea typeface="Calibri"/>
              <a:cs typeface="Calibri"/>
              <a:sym typeface="Calibri"/>
            </a:endParaRPr>
          </a:p>
        </p:txBody>
      </p:sp>
      <p:sp>
        <p:nvSpPr>
          <p:cNvPr id="163" name="Google Shape;16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244" name="Google Shape;24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263" name="Google Shape;26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290" name="Google Shape;29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306" name="Google Shape;30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317" name="Google Shape;31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334" name="Google Shape;33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358" name="Google Shape;35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369" name="Google Shape;36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381" name="Google Shape;38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390" name="Google Shape;39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405" name="Google Shape;40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411" name="Google Shape;41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421" name="Google Shape;42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428" name="Google Shape;42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435" name="Google Shape;43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445" name="Google Shape;44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459" name="Google Shape;45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485" name="Google Shape;48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524" name="Google Shape;52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535" name="Google Shape;53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549" name="Google Shape;54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566" name="Google Shape;56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589" name="Google Shape;58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600" name="Google Shape;60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629" name="Google Shape;62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635" name="Google Shape;63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652" name="Google Shape;65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677" name="Google Shape;67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688" name="Google Shape;68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694" name="Google Shape;69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708" name="Google Shape;70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719" name="Google Shape;71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746" name="Google Shape;746;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757" name="Google Shape;757;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763" name="Google Shape;763;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770" name="Google Shape;770;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781" name="Google Shape;78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793" name="Google Shape;793;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857" name="Google Shape;857;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918" name="Google Shape;918;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979" name="Google Shape;979;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040" name="Google Shape;1040;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052" name="Google Shape;1052;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081" name="Google Shape;1081;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107" name="Google Shape;1107;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133" name="Google Shape;1133;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140" name="Google Shape;1140;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163" name="Google Shape;1163;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175" name="Google Shape;1175;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202" name="Google Shape;1202;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229" name="Google Shape;1229;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256" name="Google Shape;1256;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283" name="Google Shape;1283;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310" name="Google Shape;1310;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333" name="Google Shape;1333;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345" name="Google Shape;1345;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352" name="Google Shape;1352;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p:cSld name="slide">
    <p:spTree>
      <p:nvGrpSpPr>
        <p:cNvPr id="16" name="Shape 16"/>
        <p:cNvGrpSpPr/>
        <p:nvPr/>
      </p:nvGrpSpPr>
      <p:grpSpPr>
        <a:xfrm>
          <a:off x="0" y="0"/>
          <a:ext cx="0" cy="0"/>
          <a:chOff x="0" y="0"/>
          <a:chExt cx="0" cy="0"/>
        </a:xfrm>
      </p:grpSpPr>
      <p:sp>
        <p:nvSpPr>
          <p:cNvPr id="17" name="Google Shape;17;p62"/>
          <p:cNvSpPr/>
          <p:nvPr>
            <p:ph idx="2" type="pic"/>
          </p:nvPr>
        </p:nvSpPr>
        <p:spPr>
          <a:xfrm>
            <a:off x="3978704" y="-174171"/>
            <a:ext cx="8412466" cy="7206342"/>
          </a:xfrm>
          <a:prstGeom prst="rect">
            <a:avLst/>
          </a:prstGeom>
          <a:solidFill>
            <a:srgbClr val="F2F2F2"/>
          </a:solidFill>
          <a:ln>
            <a:noFill/>
          </a:ln>
        </p:spPr>
      </p:sp>
      <p:sp>
        <p:nvSpPr>
          <p:cNvPr id="18" name="Google Shape;18;p62"/>
          <p:cNvSpPr/>
          <p:nvPr/>
        </p:nvSpPr>
        <p:spPr>
          <a:xfrm flipH="1">
            <a:off x="1588" y="627903"/>
            <a:ext cx="560419" cy="270354"/>
          </a:xfrm>
          <a:custGeom>
            <a:rect b="b" l="l" r="r" t="t"/>
            <a:pathLst>
              <a:path extrusionOk="0" h="3987559" w="16161399">
                <a:moveTo>
                  <a:pt x="2409708" y="0"/>
                </a:moveTo>
                <a:lnTo>
                  <a:pt x="16161399" y="0"/>
                </a:lnTo>
                <a:lnTo>
                  <a:pt x="16161399" y="3987559"/>
                </a:lnTo>
                <a:lnTo>
                  <a:pt x="0" y="3960361"/>
                </a:lnTo>
                <a:lnTo>
                  <a:pt x="2409708" y="0"/>
                </a:lnTo>
                <a:close/>
              </a:path>
            </a:pathLst>
          </a:custGeom>
          <a:solidFill>
            <a:srgbClr val="19A7C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s and Contents Layout">
  <p:cSld name="Images and Contents Layout">
    <p:spTree>
      <p:nvGrpSpPr>
        <p:cNvPr id="19" name="Shape 19"/>
        <p:cNvGrpSpPr/>
        <p:nvPr/>
      </p:nvGrpSpPr>
      <p:grpSpPr>
        <a:xfrm>
          <a:off x="0" y="0"/>
          <a:ext cx="0" cy="0"/>
          <a:chOff x="0" y="0"/>
          <a:chExt cx="0" cy="0"/>
        </a:xfrm>
      </p:grpSpPr>
      <p:sp>
        <p:nvSpPr>
          <p:cNvPr id="20" name="Google Shape;20;p63"/>
          <p:cNvSpPr/>
          <p:nvPr>
            <p:ph idx="2" type="pic"/>
          </p:nvPr>
        </p:nvSpPr>
        <p:spPr>
          <a:xfrm>
            <a:off x="0" y="-1"/>
            <a:ext cx="12192000" cy="6857999"/>
          </a:xfrm>
          <a:prstGeom prst="rect">
            <a:avLst/>
          </a:prstGeom>
          <a:solidFill>
            <a:srgbClr val="F2F2F2"/>
          </a:solid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2">
  <p:cSld name="Title - 22">
    <p:spTree>
      <p:nvGrpSpPr>
        <p:cNvPr id="21" name="Shape 21"/>
        <p:cNvGrpSpPr/>
        <p:nvPr/>
      </p:nvGrpSpPr>
      <p:grpSpPr>
        <a:xfrm>
          <a:off x="0" y="0"/>
          <a:ext cx="0" cy="0"/>
          <a:chOff x="0" y="0"/>
          <a:chExt cx="0" cy="0"/>
        </a:xfrm>
      </p:grpSpPr>
      <p:sp>
        <p:nvSpPr>
          <p:cNvPr id="22" name="Google Shape;22;p64"/>
          <p:cNvSpPr txBox="1"/>
          <p:nvPr/>
        </p:nvSpPr>
        <p:spPr>
          <a:xfrm>
            <a:off x="4320462" y="6408739"/>
            <a:ext cx="3431899" cy="30488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Private and Confidential</a:t>
            </a:r>
            <a:endParaRPr b="0" i="0" sz="1600" u="none" cap="none" strike="noStrike">
              <a:solidFill>
                <a:srgbClr val="000000"/>
              </a:solidFill>
              <a:latin typeface="Arial"/>
              <a:ea typeface="Arial"/>
              <a:cs typeface="Arial"/>
              <a:sym typeface="Arial"/>
            </a:endParaRPr>
          </a:p>
        </p:txBody>
      </p:sp>
      <p:sp>
        <p:nvSpPr>
          <p:cNvPr id="23" name="Google Shape;23;p64"/>
          <p:cNvSpPr txBox="1"/>
          <p:nvPr/>
        </p:nvSpPr>
        <p:spPr>
          <a:xfrm>
            <a:off x="10849294" y="6408739"/>
            <a:ext cx="1067078" cy="182563"/>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rgbClr val="000000"/>
                </a:solidFill>
                <a:latin typeface="Arial"/>
                <a:ea typeface="Arial"/>
                <a:cs typeface="Arial"/>
                <a:sym typeface="Arial"/>
              </a:rPr>
              <a:t>‹#›</a:t>
            </a:fld>
            <a:endParaRPr b="0" i="0" sz="1600" u="none" cap="none" strike="noStrike">
              <a:solidFill>
                <a:srgbClr val="000000"/>
              </a:solidFill>
              <a:latin typeface="Arial"/>
              <a:ea typeface="Arial"/>
              <a:cs typeface="Arial"/>
              <a:sym typeface="Arial"/>
            </a:endParaRPr>
          </a:p>
        </p:txBody>
      </p:sp>
      <p:sp>
        <p:nvSpPr>
          <p:cNvPr id="24" name="Google Shape;24;p64"/>
          <p:cNvSpPr/>
          <p:nvPr/>
        </p:nvSpPr>
        <p:spPr>
          <a:xfrm flipH="1">
            <a:off x="1588" y="627903"/>
            <a:ext cx="560419" cy="270354"/>
          </a:xfrm>
          <a:custGeom>
            <a:rect b="b" l="l" r="r" t="t"/>
            <a:pathLst>
              <a:path extrusionOk="0" h="3987559" w="16161399">
                <a:moveTo>
                  <a:pt x="2409708" y="0"/>
                </a:moveTo>
                <a:lnTo>
                  <a:pt x="16161399" y="0"/>
                </a:lnTo>
                <a:lnTo>
                  <a:pt x="16161399" y="3987559"/>
                </a:lnTo>
                <a:lnTo>
                  <a:pt x="0" y="3960361"/>
                </a:lnTo>
                <a:lnTo>
                  <a:pt x="2409708" y="0"/>
                </a:lnTo>
                <a:close/>
              </a:path>
            </a:pathLst>
          </a:custGeom>
          <a:solidFill>
            <a:srgbClr val="19A7C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5" name="Google Shape;25;p64"/>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lvl1pPr lvl="0" algn="l">
              <a:lnSpc>
                <a:spcPct val="90000"/>
              </a:lnSpc>
              <a:spcBef>
                <a:spcPts val="0"/>
              </a:spcBef>
              <a:spcAft>
                <a:spcPts val="0"/>
              </a:spcAft>
              <a:buClr>
                <a:srgbClr val="323F4F"/>
              </a:buClr>
              <a:buSzPts val="2200"/>
              <a:buFont typeface="Arial"/>
              <a:buNone/>
              <a:defRPr b="1" sz="2200">
                <a:solidFill>
                  <a:srgbClr val="323F4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Text&#10;&#10;Description automatically generated" id="26" name="Google Shape;26;p64"/>
          <p:cNvPicPr preferRelativeResize="0"/>
          <p:nvPr/>
        </p:nvPicPr>
        <p:blipFill rotWithShape="1">
          <a:blip r:embed="rId2">
            <a:alphaModFix/>
          </a:blip>
          <a:srcRect b="8371" l="6879" r="6879" t="8371"/>
          <a:stretch/>
        </p:blipFill>
        <p:spPr>
          <a:xfrm>
            <a:off x="9871200" y="378460"/>
            <a:ext cx="1974372" cy="578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slide">
  <p:cSld name="27_slide">
    <p:spTree>
      <p:nvGrpSpPr>
        <p:cNvPr id="27" name="Shape 27"/>
        <p:cNvGrpSpPr/>
        <p:nvPr/>
      </p:nvGrpSpPr>
      <p:grpSpPr>
        <a:xfrm>
          <a:off x="0" y="0"/>
          <a:ext cx="0" cy="0"/>
          <a:chOff x="0" y="0"/>
          <a:chExt cx="0" cy="0"/>
        </a:xfrm>
      </p:grpSpPr>
      <p:sp>
        <p:nvSpPr>
          <p:cNvPr id="28" name="Google Shape;28;p65"/>
          <p:cNvSpPr/>
          <p:nvPr>
            <p:ph idx="2" type="pic"/>
          </p:nvPr>
        </p:nvSpPr>
        <p:spPr>
          <a:xfrm>
            <a:off x="1471886" y="1651649"/>
            <a:ext cx="1945814" cy="4111559"/>
          </a:xfrm>
          <a:prstGeom prst="rect">
            <a:avLst/>
          </a:prstGeom>
          <a:solidFill>
            <a:srgbClr val="F2F2F2"/>
          </a:solid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29" name="Shape 29"/>
        <p:cNvGrpSpPr/>
        <p:nvPr/>
      </p:nvGrpSpPr>
      <p:grpSpPr>
        <a:xfrm>
          <a:off x="0" y="0"/>
          <a:ext cx="0" cy="0"/>
          <a:chOff x="0" y="0"/>
          <a:chExt cx="0" cy="0"/>
        </a:xfrm>
      </p:grpSpPr>
      <p:sp>
        <p:nvSpPr>
          <p:cNvPr id="30" name="Google Shape;30;p66"/>
          <p:cNvSpPr/>
          <p:nvPr>
            <p:ph idx="2" type="media"/>
          </p:nvPr>
        </p:nvSpPr>
        <p:spPr>
          <a:xfrm>
            <a:off x="874610" y="1346252"/>
            <a:ext cx="9921875" cy="4789487"/>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1" name="Google Shape;31;p66"/>
          <p:cNvSpPr txBox="1"/>
          <p:nvPr>
            <p:ph type="title"/>
          </p:nvPr>
        </p:nvSpPr>
        <p:spPr>
          <a:xfrm>
            <a:off x="874610" y="443784"/>
            <a:ext cx="10515600" cy="57877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23F4F"/>
              </a:buClr>
              <a:buSzPts val="2200"/>
              <a:buFont typeface="Arial"/>
              <a:buNone/>
              <a:defRPr b="1" sz="2200">
                <a:solidFill>
                  <a:srgbClr val="323F4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66"/>
          <p:cNvSpPr/>
          <p:nvPr/>
        </p:nvSpPr>
        <p:spPr>
          <a:xfrm flipH="1">
            <a:off x="1588" y="627903"/>
            <a:ext cx="560419" cy="270354"/>
          </a:xfrm>
          <a:custGeom>
            <a:rect b="b" l="l" r="r" t="t"/>
            <a:pathLst>
              <a:path extrusionOk="0" h="3987559" w="16161399">
                <a:moveTo>
                  <a:pt x="2409708" y="0"/>
                </a:moveTo>
                <a:lnTo>
                  <a:pt x="16161399" y="0"/>
                </a:lnTo>
                <a:lnTo>
                  <a:pt x="16161399" y="3987559"/>
                </a:lnTo>
                <a:lnTo>
                  <a:pt x="0" y="3960361"/>
                </a:lnTo>
                <a:lnTo>
                  <a:pt x="2409708" y="0"/>
                </a:lnTo>
                <a:close/>
              </a:path>
            </a:pathLst>
          </a:custGeom>
          <a:solidFill>
            <a:srgbClr val="19A7C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3" name="Google Shape;33;p66"/>
          <p:cNvSpPr/>
          <p:nvPr/>
        </p:nvSpPr>
        <p:spPr>
          <a:xfrm>
            <a:off x="5281257" y="3244334"/>
            <a:ext cx="162948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TABLE SLIDE</a:t>
            </a:r>
            <a:endParaRPr b="0" i="0" sz="1800" u="none" cap="none" strike="noStrike">
              <a:solidFill>
                <a:schemeClr val="dk1"/>
              </a:solidFill>
              <a:latin typeface="Arial"/>
              <a:ea typeface="Arial"/>
              <a:cs typeface="Arial"/>
              <a:sym typeface="Arial"/>
            </a:endParaRPr>
          </a:p>
        </p:txBody>
      </p:sp>
      <p:pic>
        <p:nvPicPr>
          <p:cNvPr descr="Text&#10;&#10;Description automatically generated" id="34" name="Google Shape;34;p66"/>
          <p:cNvPicPr preferRelativeResize="0"/>
          <p:nvPr/>
        </p:nvPicPr>
        <p:blipFill rotWithShape="1">
          <a:blip r:embed="rId2">
            <a:alphaModFix/>
          </a:blip>
          <a:srcRect b="8371" l="6879" r="6879" t="8371"/>
          <a:stretch/>
        </p:blipFill>
        <p:spPr>
          <a:xfrm>
            <a:off x="9871200" y="378460"/>
            <a:ext cx="1974372" cy="57863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p:cSld name="Full Image">
    <p:spTree>
      <p:nvGrpSpPr>
        <p:cNvPr id="35" name="Shape 35"/>
        <p:cNvGrpSpPr/>
        <p:nvPr/>
      </p:nvGrpSpPr>
      <p:grpSpPr>
        <a:xfrm>
          <a:off x="0" y="0"/>
          <a:ext cx="0" cy="0"/>
          <a:chOff x="0" y="0"/>
          <a:chExt cx="0" cy="0"/>
        </a:xfrm>
      </p:grpSpPr>
      <p:sp>
        <p:nvSpPr>
          <p:cNvPr id="36" name="Google Shape;36;p67"/>
          <p:cNvSpPr/>
          <p:nvPr>
            <p:ph idx="2" type="pic"/>
          </p:nvPr>
        </p:nvSpPr>
        <p:spPr>
          <a:xfrm>
            <a:off x="-199169" y="-174171"/>
            <a:ext cx="12590339" cy="7206342"/>
          </a:xfrm>
          <a:prstGeom prst="rect">
            <a:avLst/>
          </a:prstGeom>
          <a:solidFill>
            <a:srgbClr val="F2F2F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lide">
  <p:cSld name="1_slide">
    <p:spTree>
      <p:nvGrpSpPr>
        <p:cNvPr id="37" name="Shape 37"/>
        <p:cNvGrpSpPr/>
        <p:nvPr/>
      </p:nvGrpSpPr>
      <p:grpSpPr>
        <a:xfrm>
          <a:off x="0" y="0"/>
          <a:ext cx="0" cy="0"/>
          <a:chOff x="0" y="0"/>
          <a:chExt cx="0" cy="0"/>
        </a:xfrm>
      </p:grpSpPr>
      <p:sp>
        <p:nvSpPr>
          <p:cNvPr id="38" name="Google Shape;38;p68"/>
          <p:cNvSpPr/>
          <p:nvPr>
            <p:ph idx="2" type="pic"/>
          </p:nvPr>
        </p:nvSpPr>
        <p:spPr>
          <a:xfrm>
            <a:off x="-199169" y="-174171"/>
            <a:ext cx="12590339" cy="4288971"/>
          </a:xfrm>
          <a:prstGeom prst="rect">
            <a:avLst/>
          </a:prstGeom>
          <a:solidFill>
            <a:srgbClr val="F2F2F2"/>
          </a:solidFill>
          <a:ln>
            <a:noFill/>
          </a:ln>
        </p:spPr>
      </p:sp>
      <p:sp>
        <p:nvSpPr>
          <p:cNvPr id="39" name="Google Shape;39;p68"/>
          <p:cNvSpPr txBox="1"/>
          <p:nvPr>
            <p:ph idx="1" type="body"/>
          </p:nvPr>
        </p:nvSpPr>
        <p:spPr>
          <a:xfrm>
            <a:off x="1215840" y="4367129"/>
            <a:ext cx="10421727" cy="21660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lide">
  <p:cSld name="2_slide">
    <p:spTree>
      <p:nvGrpSpPr>
        <p:cNvPr id="40" name="Shape 40"/>
        <p:cNvGrpSpPr/>
        <p:nvPr/>
      </p:nvGrpSpPr>
      <p:grpSpPr>
        <a:xfrm>
          <a:off x="0" y="0"/>
          <a:ext cx="0" cy="0"/>
          <a:chOff x="0" y="0"/>
          <a:chExt cx="0" cy="0"/>
        </a:xfrm>
      </p:grpSpPr>
      <p:sp>
        <p:nvSpPr>
          <p:cNvPr id="41" name="Google Shape;41;p69"/>
          <p:cNvSpPr/>
          <p:nvPr>
            <p:ph idx="2" type="pic"/>
          </p:nvPr>
        </p:nvSpPr>
        <p:spPr>
          <a:xfrm>
            <a:off x="3576130" y="2940877"/>
            <a:ext cx="1389961" cy="1389597"/>
          </a:xfrm>
          <a:prstGeom prst="ellipse">
            <a:avLst/>
          </a:prstGeom>
          <a:solidFill>
            <a:srgbClr val="F2F2F2"/>
          </a:solidFill>
          <a:ln>
            <a:noFill/>
          </a:ln>
        </p:spPr>
      </p:sp>
      <p:sp>
        <p:nvSpPr>
          <p:cNvPr id="42" name="Google Shape;42;p69"/>
          <p:cNvSpPr/>
          <p:nvPr>
            <p:ph idx="3" type="pic"/>
          </p:nvPr>
        </p:nvSpPr>
        <p:spPr>
          <a:xfrm>
            <a:off x="4492911" y="1447800"/>
            <a:ext cx="1389961" cy="1389597"/>
          </a:xfrm>
          <a:prstGeom prst="ellipse">
            <a:avLst/>
          </a:prstGeom>
          <a:solidFill>
            <a:srgbClr val="F2F2F2"/>
          </a:solidFill>
          <a:ln>
            <a:noFill/>
          </a:ln>
        </p:spPr>
      </p:sp>
      <p:sp>
        <p:nvSpPr>
          <p:cNvPr id="43" name="Google Shape;43;p69"/>
          <p:cNvSpPr/>
          <p:nvPr>
            <p:ph idx="4" type="pic"/>
          </p:nvPr>
        </p:nvSpPr>
        <p:spPr>
          <a:xfrm>
            <a:off x="6309129" y="1447800"/>
            <a:ext cx="1389961" cy="1389597"/>
          </a:xfrm>
          <a:prstGeom prst="ellipse">
            <a:avLst/>
          </a:prstGeom>
          <a:solidFill>
            <a:srgbClr val="F2F2F2"/>
          </a:solidFill>
          <a:ln>
            <a:noFill/>
          </a:ln>
        </p:spPr>
      </p:sp>
      <p:sp>
        <p:nvSpPr>
          <p:cNvPr id="44" name="Google Shape;44;p69"/>
          <p:cNvSpPr/>
          <p:nvPr>
            <p:ph idx="5" type="pic"/>
          </p:nvPr>
        </p:nvSpPr>
        <p:spPr>
          <a:xfrm>
            <a:off x="4492911" y="4433954"/>
            <a:ext cx="1389961" cy="1389597"/>
          </a:xfrm>
          <a:prstGeom prst="ellipse">
            <a:avLst/>
          </a:prstGeom>
          <a:solidFill>
            <a:srgbClr val="F2F2F2"/>
          </a:solidFill>
          <a:ln>
            <a:noFill/>
          </a:ln>
        </p:spPr>
      </p:sp>
      <p:sp>
        <p:nvSpPr>
          <p:cNvPr id="45" name="Google Shape;45;p69"/>
          <p:cNvSpPr/>
          <p:nvPr>
            <p:ph idx="6" type="pic"/>
          </p:nvPr>
        </p:nvSpPr>
        <p:spPr>
          <a:xfrm>
            <a:off x="6309129" y="4433954"/>
            <a:ext cx="1389961" cy="1389597"/>
          </a:xfrm>
          <a:prstGeom prst="ellipse">
            <a:avLst/>
          </a:prstGeom>
          <a:solidFill>
            <a:srgbClr val="F2F2F2"/>
          </a:solidFill>
          <a:ln>
            <a:noFill/>
          </a:ln>
        </p:spPr>
      </p:sp>
      <p:sp>
        <p:nvSpPr>
          <p:cNvPr id="46" name="Google Shape;46;p69"/>
          <p:cNvSpPr/>
          <p:nvPr>
            <p:ph idx="7" type="pic"/>
          </p:nvPr>
        </p:nvSpPr>
        <p:spPr>
          <a:xfrm>
            <a:off x="7225909" y="2940877"/>
            <a:ext cx="1389961" cy="1389597"/>
          </a:xfrm>
          <a:prstGeom prst="ellipse">
            <a:avLst/>
          </a:prstGeom>
          <a:solidFill>
            <a:srgbClr val="F2F2F2"/>
          </a:solid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lide">
  <p:cSld name="3_slide">
    <p:spTree>
      <p:nvGrpSpPr>
        <p:cNvPr id="47" name="Shape 47"/>
        <p:cNvGrpSpPr/>
        <p:nvPr/>
      </p:nvGrpSpPr>
      <p:grpSpPr>
        <a:xfrm>
          <a:off x="0" y="0"/>
          <a:ext cx="0" cy="0"/>
          <a:chOff x="0" y="0"/>
          <a:chExt cx="0" cy="0"/>
        </a:xfrm>
      </p:grpSpPr>
      <p:sp>
        <p:nvSpPr>
          <p:cNvPr id="48" name="Google Shape;48;p70"/>
          <p:cNvSpPr/>
          <p:nvPr>
            <p:ph idx="2" type="pic"/>
          </p:nvPr>
        </p:nvSpPr>
        <p:spPr>
          <a:xfrm>
            <a:off x="2237975" y="4303749"/>
            <a:ext cx="1333651" cy="1333302"/>
          </a:xfrm>
          <a:prstGeom prst="ellipse">
            <a:avLst/>
          </a:prstGeom>
          <a:solidFill>
            <a:srgbClr val="F2F2F2"/>
          </a:solidFill>
          <a:ln>
            <a:noFill/>
          </a:ln>
        </p:spPr>
      </p:sp>
      <p:sp>
        <p:nvSpPr>
          <p:cNvPr id="49" name="Google Shape;49;p70"/>
          <p:cNvSpPr/>
          <p:nvPr>
            <p:ph idx="3" type="pic"/>
          </p:nvPr>
        </p:nvSpPr>
        <p:spPr>
          <a:xfrm>
            <a:off x="3457115" y="3122288"/>
            <a:ext cx="1333651" cy="1333302"/>
          </a:xfrm>
          <a:prstGeom prst="ellipse">
            <a:avLst/>
          </a:prstGeom>
          <a:solidFill>
            <a:srgbClr val="F2F2F2"/>
          </a:solidFill>
          <a:ln>
            <a:noFill/>
          </a:ln>
        </p:spPr>
      </p:sp>
      <p:sp>
        <p:nvSpPr>
          <p:cNvPr id="50" name="Google Shape;50;p70"/>
          <p:cNvSpPr/>
          <p:nvPr>
            <p:ph idx="4" type="pic"/>
          </p:nvPr>
        </p:nvSpPr>
        <p:spPr>
          <a:xfrm>
            <a:off x="4624057" y="1959965"/>
            <a:ext cx="1333651" cy="1333302"/>
          </a:xfrm>
          <a:prstGeom prst="ellipse">
            <a:avLst/>
          </a:prstGeom>
          <a:solidFill>
            <a:srgbClr val="F2F2F2"/>
          </a:solidFill>
          <a:ln>
            <a:noFill/>
          </a:ln>
        </p:spPr>
      </p:sp>
      <p:sp>
        <p:nvSpPr>
          <p:cNvPr id="51" name="Google Shape;51;p70"/>
          <p:cNvSpPr/>
          <p:nvPr>
            <p:ph idx="5" type="pic"/>
          </p:nvPr>
        </p:nvSpPr>
        <p:spPr>
          <a:xfrm>
            <a:off x="5790998" y="784547"/>
            <a:ext cx="1333651" cy="1333302"/>
          </a:xfrm>
          <a:prstGeom prst="ellipse">
            <a:avLst/>
          </a:prstGeom>
          <a:solidFill>
            <a:srgbClr val="F2F2F2"/>
          </a:solid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slide">
  <p:cSld name="4_slide">
    <p:spTree>
      <p:nvGrpSpPr>
        <p:cNvPr id="52" name="Shape 52"/>
        <p:cNvGrpSpPr/>
        <p:nvPr/>
      </p:nvGrpSpPr>
      <p:grpSpPr>
        <a:xfrm>
          <a:off x="0" y="0"/>
          <a:ext cx="0" cy="0"/>
          <a:chOff x="0" y="0"/>
          <a:chExt cx="0" cy="0"/>
        </a:xfrm>
      </p:grpSpPr>
      <p:sp>
        <p:nvSpPr>
          <p:cNvPr id="53" name="Google Shape;53;p71"/>
          <p:cNvSpPr/>
          <p:nvPr>
            <p:ph idx="2" type="pic"/>
          </p:nvPr>
        </p:nvSpPr>
        <p:spPr>
          <a:xfrm>
            <a:off x="-199169" y="2514600"/>
            <a:ext cx="12590339" cy="4517571"/>
          </a:xfrm>
          <a:prstGeom prst="rect">
            <a:avLst/>
          </a:prstGeom>
          <a:solidFill>
            <a:srgbClr val="F2F2F2"/>
          </a:solidFill>
          <a:ln>
            <a:noFill/>
          </a:ln>
        </p:spPr>
      </p:sp>
      <p:sp>
        <p:nvSpPr>
          <p:cNvPr id="54" name="Google Shape;54;p71"/>
          <p:cNvSpPr/>
          <p:nvPr>
            <p:ph idx="3" type="pic"/>
          </p:nvPr>
        </p:nvSpPr>
        <p:spPr>
          <a:xfrm>
            <a:off x="1428209" y="1579564"/>
            <a:ext cx="1870562" cy="1870072"/>
          </a:xfrm>
          <a:prstGeom prst="ellipse">
            <a:avLst/>
          </a:prstGeom>
          <a:solidFill>
            <a:srgbClr val="F2F2F2"/>
          </a:solidFill>
          <a:ln>
            <a:noFill/>
          </a:ln>
        </p:spPr>
      </p:sp>
      <p:sp>
        <p:nvSpPr>
          <p:cNvPr id="55" name="Google Shape;55;p71"/>
          <p:cNvSpPr/>
          <p:nvPr>
            <p:ph idx="4" type="pic"/>
          </p:nvPr>
        </p:nvSpPr>
        <p:spPr>
          <a:xfrm>
            <a:off x="5160720" y="1579564"/>
            <a:ext cx="1870562" cy="1870072"/>
          </a:xfrm>
          <a:prstGeom prst="ellipse">
            <a:avLst/>
          </a:prstGeom>
          <a:solidFill>
            <a:srgbClr val="F2F2F2"/>
          </a:solidFill>
          <a:ln>
            <a:noFill/>
          </a:ln>
        </p:spPr>
      </p:sp>
      <p:sp>
        <p:nvSpPr>
          <p:cNvPr id="56" name="Google Shape;56;p71"/>
          <p:cNvSpPr/>
          <p:nvPr>
            <p:ph idx="5" type="pic"/>
          </p:nvPr>
        </p:nvSpPr>
        <p:spPr>
          <a:xfrm>
            <a:off x="8893230" y="1579564"/>
            <a:ext cx="1870562" cy="1870072"/>
          </a:xfrm>
          <a:prstGeom prst="ellipse">
            <a:avLst/>
          </a:prstGeom>
          <a:solidFill>
            <a:srgbClr val="F2F2F2"/>
          </a:solidFill>
          <a:ln>
            <a:noFill/>
          </a:ln>
        </p:spPr>
      </p:sp>
      <p:pic>
        <p:nvPicPr>
          <p:cNvPr descr="Text&#10;&#10;Description automatically generated" id="57" name="Google Shape;57;p71"/>
          <p:cNvPicPr preferRelativeResize="0"/>
          <p:nvPr/>
        </p:nvPicPr>
        <p:blipFill rotWithShape="1">
          <a:blip r:embed="rId2">
            <a:alphaModFix/>
          </a:blip>
          <a:srcRect b="8371" l="6879" r="6879" t="8371"/>
          <a:stretch/>
        </p:blipFill>
        <p:spPr>
          <a:xfrm>
            <a:off x="9871200" y="378460"/>
            <a:ext cx="1974372" cy="57863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lide">
  <p:cSld name="5_slide">
    <p:spTree>
      <p:nvGrpSpPr>
        <p:cNvPr id="58" name="Shape 58"/>
        <p:cNvGrpSpPr/>
        <p:nvPr/>
      </p:nvGrpSpPr>
      <p:grpSpPr>
        <a:xfrm>
          <a:off x="0" y="0"/>
          <a:ext cx="0" cy="0"/>
          <a:chOff x="0" y="0"/>
          <a:chExt cx="0" cy="0"/>
        </a:xfrm>
      </p:grpSpPr>
      <p:sp>
        <p:nvSpPr>
          <p:cNvPr id="59" name="Google Shape;59;p72"/>
          <p:cNvSpPr/>
          <p:nvPr>
            <p:ph idx="2" type="pic"/>
          </p:nvPr>
        </p:nvSpPr>
        <p:spPr>
          <a:xfrm>
            <a:off x="5222862" y="0"/>
            <a:ext cx="6969138" cy="6858000"/>
          </a:xfrm>
          <a:prstGeom prst="rect">
            <a:avLst/>
          </a:prstGeom>
          <a:solidFill>
            <a:srgbClr val="F2F2F2"/>
          </a:solid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slide">
  <p:cSld name="6_slide">
    <p:spTree>
      <p:nvGrpSpPr>
        <p:cNvPr id="60" name="Shape 60"/>
        <p:cNvGrpSpPr/>
        <p:nvPr/>
      </p:nvGrpSpPr>
      <p:grpSpPr>
        <a:xfrm>
          <a:off x="0" y="0"/>
          <a:ext cx="0" cy="0"/>
          <a:chOff x="0" y="0"/>
          <a:chExt cx="0" cy="0"/>
        </a:xfrm>
      </p:grpSpPr>
      <p:sp>
        <p:nvSpPr>
          <p:cNvPr id="61" name="Google Shape;61;p73"/>
          <p:cNvSpPr/>
          <p:nvPr>
            <p:ph idx="2" type="pic"/>
          </p:nvPr>
        </p:nvSpPr>
        <p:spPr>
          <a:xfrm>
            <a:off x="713116" y="2066599"/>
            <a:ext cx="1333653" cy="1333303"/>
          </a:xfrm>
          <a:prstGeom prst="ellipse">
            <a:avLst/>
          </a:prstGeom>
          <a:solidFill>
            <a:srgbClr val="F2F2F2"/>
          </a:solidFill>
          <a:ln>
            <a:noFill/>
          </a:ln>
        </p:spPr>
      </p:sp>
      <p:sp>
        <p:nvSpPr>
          <p:cNvPr id="62" name="Google Shape;62;p73"/>
          <p:cNvSpPr/>
          <p:nvPr>
            <p:ph idx="3" type="pic"/>
          </p:nvPr>
        </p:nvSpPr>
        <p:spPr>
          <a:xfrm>
            <a:off x="713119" y="3890151"/>
            <a:ext cx="1333648" cy="1333299"/>
          </a:xfrm>
          <a:prstGeom prst="ellipse">
            <a:avLst/>
          </a:prstGeom>
          <a:solidFill>
            <a:srgbClr val="F2F2F2"/>
          </a:solidFill>
          <a:ln>
            <a:noFill/>
          </a:ln>
        </p:spPr>
      </p:sp>
      <p:sp>
        <p:nvSpPr>
          <p:cNvPr id="63" name="Google Shape;63;p73"/>
          <p:cNvSpPr/>
          <p:nvPr>
            <p:ph idx="4" type="pic"/>
          </p:nvPr>
        </p:nvSpPr>
        <p:spPr>
          <a:xfrm>
            <a:off x="6589152" y="2066599"/>
            <a:ext cx="1333653" cy="1333303"/>
          </a:xfrm>
          <a:prstGeom prst="ellipse">
            <a:avLst/>
          </a:prstGeom>
          <a:solidFill>
            <a:srgbClr val="F2F2F2"/>
          </a:solidFill>
          <a:ln>
            <a:noFill/>
          </a:ln>
        </p:spPr>
      </p:sp>
      <p:sp>
        <p:nvSpPr>
          <p:cNvPr id="64" name="Google Shape;64;p73"/>
          <p:cNvSpPr/>
          <p:nvPr>
            <p:ph idx="5" type="pic"/>
          </p:nvPr>
        </p:nvSpPr>
        <p:spPr>
          <a:xfrm>
            <a:off x="6589155" y="3890151"/>
            <a:ext cx="1333648" cy="1333299"/>
          </a:xfrm>
          <a:prstGeom prst="ellipse">
            <a:avLst/>
          </a:prstGeom>
          <a:solidFill>
            <a:srgbClr val="F2F2F2"/>
          </a:solid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slide">
  <p:cSld name="7_slide">
    <p:spTree>
      <p:nvGrpSpPr>
        <p:cNvPr id="65" name="Shape 65"/>
        <p:cNvGrpSpPr/>
        <p:nvPr/>
      </p:nvGrpSpPr>
      <p:grpSpPr>
        <a:xfrm>
          <a:off x="0" y="0"/>
          <a:ext cx="0" cy="0"/>
          <a:chOff x="0" y="0"/>
          <a:chExt cx="0" cy="0"/>
        </a:xfrm>
      </p:grpSpPr>
      <p:sp>
        <p:nvSpPr>
          <p:cNvPr id="66" name="Google Shape;66;p74"/>
          <p:cNvSpPr/>
          <p:nvPr>
            <p:ph idx="2" type="pic"/>
          </p:nvPr>
        </p:nvSpPr>
        <p:spPr>
          <a:xfrm>
            <a:off x="713118" y="1581144"/>
            <a:ext cx="5879817" cy="4203543"/>
          </a:xfrm>
          <a:prstGeom prst="rect">
            <a:avLst/>
          </a:prstGeom>
          <a:solidFill>
            <a:srgbClr val="F2F2F2"/>
          </a:solid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slide">
  <p:cSld name="8_slide">
    <p:spTree>
      <p:nvGrpSpPr>
        <p:cNvPr id="67" name="Shape 67"/>
        <p:cNvGrpSpPr/>
        <p:nvPr/>
      </p:nvGrpSpPr>
      <p:grpSpPr>
        <a:xfrm>
          <a:off x="0" y="0"/>
          <a:ext cx="0" cy="0"/>
          <a:chOff x="0" y="0"/>
          <a:chExt cx="0" cy="0"/>
        </a:xfrm>
      </p:grpSpPr>
      <p:sp>
        <p:nvSpPr>
          <p:cNvPr id="68" name="Google Shape;68;p75"/>
          <p:cNvSpPr/>
          <p:nvPr>
            <p:ph idx="2" type="pic"/>
          </p:nvPr>
        </p:nvSpPr>
        <p:spPr>
          <a:xfrm>
            <a:off x="5784331" y="1315673"/>
            <a:ext cx="5879817" cy="4203543"/>
          </a:xfrm>
          <a:prstGeom prst="rect">
            <a:avLst/>
          </a:prstGeom>
          <a:solidFill>
            <a:srgbClr val="F2F2F2"/>
          </a:solidFill>
          <a:ln>
            <a:noFill/>
          </a:ln>
        </p:spPr>
      </p:sp>
      <p:sp>
        <p:nvSpPr>
          <p:cNvPr id="69" name="Google Shape;69;p75"/>
          <p:cNvSpPr txBox="1"/>
          <p:nvPr>
            <p:ph type="title"/>
          </p:nvPr>
        </p:nvSpPr>
        <p:spPr>
          <a:xfrm>
            <a:off x="838201" y="365127"/>
            <a:ext cx="10515600" cy="62793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23F4F"/>
              </a:buClr>
              <a:buSzPts val="2200"/>
              <a:buFont typeface="Arial"/>
              <a:buNone/>
              <a:defRPr b="1" sz="2200">
                <a:solidFill>
                  <a:srgbClr val="323F4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75"/>
          <p:cNvSpPr/>
          <p:nvPr/>
        </p:nvSpPr>
        <p:spPr>
          <a:xfrm flipH="1">
            <a:off x="1588" y="627903"/>
            <a:ext cx="560419" cy="270354"/>
          </a:xfrm>
          <a:custGeom>
            <a:rect b="b" l="l" r="r" t="t"/>
            <a:pathLst>
              <a:path extrusionOk="0" h="3987559" w="16161399">
                <a:moveTo>
                  <a:pt x="2409708" y="0"/>
                </a:moveTo>
                <a:lnTo>
                  <a:pt x="16161399" y="0"/>
                </a:lnTo>
                <a:lnTo>
                  <a:pt x="16161399" y="3987559"/>
                </a:lnTo>
                <a:lnTo>
                  <a:pt x="0" y="3960361"/>
                </a:lnTo>
                <a:lnTo>
                  <a:pt x="2409708" y="0"/>
                </a:lnTo>
                <a:close/>
              </a:path>
            </a:pathLst>
          </a:custGeom>
          <a:solidFill>
            <a:srgbClr val="19A7C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descr="Text&#10;&#10;Description automatically generated" id="71" name="Google Shape;71;p75"/>
          <p:cNvPicPr preferRelativeResize="0"/>
          <p:nvPr/>
        </p:nvPicPr>
        <p:blipFill rotWithShape="1">
          <a:blip r:embed="rId2">
            <a:alphaModFix/>
          </a:blip>
          <a:srcRect b="8371" l="6879" r="6879" t="8371"/>
          <a:stretch/>
        </p:blipFill>
        <p:spPr>
          <a:xfrm>
            <a:off x="9871200" y="378460"/>
            <a:ext cx="1974372" cy="57863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slide">
  <p:cSld name="9_slide">
    <p:spTree>
      <p:nvGrpSpPr>
        <p:cNvPr id="72" name="Shape 72"/>
        <p:cNvGrpSpPr/>
        <p:nvPr/>
      </p:nvGrpSpPr>
      <p:grpSpPr>
        <a:xfrm>
          <a:off x="0" y="0"/>
          <a:ext cx="0" cy="0"/>
          <a:chOff x="0" y="0"/>
          <a:chExt cx="0" cy="0"/>
        </a:xfrm>
      </p:grpSpPr>
      <p:sp>
        <p:nvSpPr>
          <p:cNvPr id="73" name="Google Shape;73;p76"/>
          <p:cNvSpPr/>
          <p:nvPr>
            <p:ph idx="2" type="pic"/>
          </p:nvPr>
        </p:nvSpPr>
        <p:spPr>
          <a:xfrm>
            <a:off x="713117" y="1712348"/>
            <a:ext cx="5382883" cy="2434261"/>
          </a:xfrm>
          <a:prstGeom prst="rect">
            <a:avLst/>
          </a:prstGeom>
          <a:solidFill>
            <a:srgbClr val="F2F2F2"/>
          </a:solid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slide">
  <p:cSld name="10_slide">
    <p:spTree>
      <p:nvGrpSpPr>
        <p:cNvPr id="74" name="Shape 74"/>
        <p:cNvGrpSpPr/>
        <p:nvPr/>
      </p:nvGrpSpPr>
      <p:grpSpPr>
        <a:xfrm>
          <a:off x="0" y="0"/>
          <a:ext cx="0" cy="0"/>
          <a:chOff x="0" y="0"/>
          <a:chExt cx="0" cy="0"/>
        </a:xfrm>
      </p:grpSpPr>
      <p:sp>
        <p:nvSpPr>
          <p:cNvPr id="75" name="Google Shape;75;p77"/>
          <p:cNvSpPr/>
          <p:nvPr>
            <p:ph idx="2" type="pic"/>
          </p:nvPr>
        </p:nvSpPr>
        <p:spPr>
          <a:xfrm>
            <a:off x="1069999" y="2677076"/>
            <a:ext cx="2010401" cy="804672"/>
          </a:xfrm>
          <a:prstGeom prst="rect">
            <a:avLst/>
          </a:prstGeom>
          <a:solidFill>
            <a:srgbClr val="F2F2F2"/>
          </a:solidFill>
          <a:ln>
            <a:noFill/>
          </a:ln>
        </p:spPr>
      </p:sp>
      <p:sp>
        <p:nvSpPr>
          <p:cNvPr id="76" name="Google Shape;76;p77"/>
          <p:cNvSpPr/>
          <p:nvPr>
            <p:ph idx="3" type="pic"/>
          </p:nvPr>
        </p:nvSpPr>
        <p:spPr>
          <a:xfrm>
            <a:off x="5090800" y="2677076"/>
            <a:ext cx="2010401" cy="804672"/>
          </a:xfrm>
          <a:prstGeom prst="rect">
            <a:avLst/>
          </a:prstGeom>
          <a:solidFill>
            <a:srgbClr val="F2F2F2"/>
          </a:solidFill>
          <a:ln>
            <a:noFill/>
          </a:ln>
        </p:spPr>
      </p:sp>
      <p:sp>
        <p:nvSpPr>
          <p:cNvPr id="77" name="Google Shape;77;p77"/>
          <p:cNvSpPr/>
          <p:nvPr>
            <p:ph idx="4" type="pic"/>
          </p:nvPr>
        </p:nvSpPr>
        <p:spPr>
          <a:xfrm>
            <a:off x="9111600" y="2677076"/>
            <a:ext cx="2010401" cy="804672"/>
          </a:xfrm>
          <a:prstGeom prst="rect">
            <a:avLst/>
          </a:prstGeom>
          <a:solidFill>
            <a:srgbClr val="F2F2F2"/>
          </a:solidFill>
          <a:ln>
            <a:noFill/>
          </a:ln>
        </p:spPr>
      </p:sp>
      <p:sp>
        <p:nvSpPr>
          <p:cNvPr id="78" name="Google Shape;78;p77"/>
          <p:cNvSpPr/>
          <p:nvPr>
            <p:ph idx="5" type="pic"/>
          </p:nvPr>
        </p:nvSpPr>
        <p:spPr>
          <a:xfrm>
            <a:off x="3080399" y="3884084"/>
            <a:ext cx="2010401" cy="804672"/>
          </a:xfrm>
          <a:prstGeom prst="rect">
            <a:avLst/>
          </a:prstGeom>
          <a:solidFill>
            <a:srgbClr val="F2F2F2"/>
          </a:solidFill>
          <a:ln>
            <a:noFill/>
          </a:ln>
        </p:spPr>
      </p:sp>
      <p:sp>
        <p:nvSpPr>
          <p:cNvPr id="79" name="Google Shape;79;p77"/>
          <p:cNvSpPr/>
          <p:nvPr>
            <p:ph idx="6" type="pic"/>
          </p:nvPr>
        </p:nvSpPr>
        <p:spPr>
          <a:xfrm>
            <a:off x="7101200" y="3884084"/>
            <a:ext cx="2010401" cy="804672"/>
          </a:xfrm>
          <a:prstGeom prst="rect">
            <a:avLst/>
          </a:prstGeom>
          <a:solidFill>
            <a:srgbClr val="F2F2F2"/>
          </a:solid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slide">
  <p:cSld name="11_slide">
    <p:spTree>
      <p:nvGrpSpPr>
        <p:cNvPr id="80" name="Shape 80"/>
        <p:cNvGrpSpPr/>
        <p:nvPr/>
      </p:nvGrpSpPr>
      <p:grpSpPr>
        <a:xfrm>
          <a:off x="0" y="0"/>
          <a:ext cx="0" cy="0"/>
          <a:chOff x="0" y="0"/>
          <a:chExt cx="0" cy="0"/>
        </a:xfrm>
      </p:grpSpPr>
      <p:sp>
        <p:nvSpPr>
          <p:cNvPr id="81" name="Google Shape;81;p78"/>
          <p:cNvSpPr/>
          <p:nvPr>
            <p:ph idx="2" type="pic"/>
          </p:nvPr>
        </p:nvSpPr>
        <p:spPr>
          <a:xfrm>
            <a:off x="780799" y="1977749"/>
            <a:ext cx="2397440" cy="892514"/>
          </a:xfrm>
          <a:prstGeom prst="rect">
            <a:avLst/>
          </a:prstGeom>
          <a:solidFill>
            <a:srgbClr val="F2F2F2"/>
          </a:solidFill>
          <a:ln>
            <a:noFill/>
          </a:ln>
        </p:spPr>
      </p:sp>
      <p:sp>
        <p:nvSpPr>
          <p:cNvPr id="82" name="Google Shape;82;p78"/>
          <p:cNvSpPr/>
          <p:nvPr>
            <p:ph idx="3" type="pic"/>
          </p:nvPr>
        </p:nvSpPr>
        <p:spPr>
          <a:xfrm>
            <a:off x="3525120" y="1977749"/>
            <a:ext cx="2397440" cy="892514"/>
          </a:xfrm>
          <a:prstGeom prst="rect">
            <a:avLst/>
          </a:prstGeom>
          <a:solidFill>
            <a:srgbClr val="F2F2F2"/>
          </a:solidFill>
          <a:ln>
            <a:noFill/>
          </a:ln>
        </p:spPr>
      </p:sp>
      <p:sp>
        <p:nvSpPr>
          <p:cNvPr id="83" name="Google Shape;83;p78"/>
          <p:cNvSpPr/>
          <p:nvPr>
            <p:ph idx="4" type="pic"/>
          </p:nvPr>
        </p:nvSpPr>
        <p:spPr>
          <a:xfrm>
            <a:off x="6269441" y="1977749"/>
            <a:ext cx="2397440" cy="892514"/>
          </a:xfrm>
          <a:prstGeom prst="rect">
            <a:avLst/>
          </a:prstGeom>
          <a:solidFill>
            <a:srgbClr val="F2F2F2"/>
          </a:solidFill>
          <a:ln>
            <a:noFill/>
          </a:ln>
        </p:spPr>
      </p:sp>
      <p:sp>
        <p:nvSpPr>
          <p:cNvPr id="84" name="Google Shape;84;p78"/>
          <p:cNvSpPr/>
          <p:nvPr>
            <p:ph idx="5" type="pic"/>
          </p:nvPr>
        </p:nvSpPr>
        <p:spPr>
          <a:xfrm>
            <a:off x="9013761" y="1977749"/>
            <a:ext cx="2397440" cy="892514"/>
          </a:xfrm>
          <a:prstGeom prst="rect">
            <a:avLst/>
          </a:prstGeom>
          <a:solidFill>
            <a:srgbClr val="F2F2F2"/>
          </a:solidFill>
          <a:ln>
            <a:noFill/>
          </a:ln>
        </p:spPr>
      </p:sp>
      <p:sp>
        <p:nvSpPr>
          <p:cNvPr id="85" name="Google Shape;85;p78"/>
          <p:cNvSpPr/>
          <p:nvPr>
            <p:ph idx="6" type="pic"/>
          </p:nvPr>
        </p:nvSpPr>
        <p:spPr>
          <a:xfrm>
            <a:off x="780799" y="3236659"/>
            <a:ext cx="2397440" cy="892514"/>
          </a:xfrm>
          <a:prstGeom prst="rect">
            <a:avLst/>
          </a:prstGeom>
          <a:solidFill>
            <a:srgbClr val="F2F2F2"/>
          </a:solidFill>
          <a:ln>
            <a:noFill/>
          </a:ln>
        </p:spPr>
      </p:sp>
      <p:sp>
        <p:nvSpPr>
          <p:cNvPr id="86" name="Google Shape;86;p78"/>
          <p:cNvSpPr/>
          <p:nvPr>
            <p:ph idx="7" type="pic"/>
          </p:nvPr>
        </p:nvSpPr>
        <p:spPr>
          <a:xfrm>
            <a:off x="3525120" y="3236659"/>
            <a:ext cx="2397440" cy="892514"/>
          </a:xfrm>
          <a:prstGeom prst="rect">
            <a:avLst/>
          </a:prstGeom>
          <a:solidFill>
            <a:srgbClr val="F2F2F2"/>
          </a:solidFill>
          <a:ln>
            <a:noFill/>
          </a:ln>
        </p:spPr>
      </p:sp>
      <p:sp>
        <p:nvSpPr>
          <p:cNvPr id="87" name="Google Shape;87;p78"/>
          <p:cNvSpPr/>
          <p:nvPr>
            <p:ph idx="8" type="pic"/>
          </p:nvPr>
        </p:nvSpPr>
        <p:spPr>
          <a:xfrm>
            <a:off x="6269441" y="3236659"/>
            <a:ext cx="2397440" cy="892514"/>
          </a:xfrm>
          <a:prstGeom prst="rect">
            <a:avLst/>
          </a:prstGeom>
          <a:solidFill>
            <a:srgbClr val="F2F2F2"/>
          </a:solidFill>
          <a:ln>
            <a:noFill/>
          </a:ln>
        </p:spPr>
      </p:sp>
      <p:sp>
        <p:nvSpPr>
          <p:cNvPr id="88" name="Google Shape;88;p78"/>
          <p:cNvSpPr/>
          <p:nvPr>
            <p:ph idx="9" type="pic"/>
          </p:nvPr>
        </p:nvSpPr>
        <p:spPr>
          <a:xfrm>
            <a:off x="9013761" y="3236659"/>
            <a:ext cx="2397440" cy="892514"/>
          </a:xfrm>
          <a:prstGeom prst="rect">
            <a:avLst/>
          </a:prstGeom>
          <a:solidFill>
            <a:srgbClr val="F2F2F2"/>
          </a:solidFill>
          <a:ln>
            <a:noFill/>
          </a:ln>
        </p:spPr>
      </p:sp>
      <p:sp>
        <p:nvSpPr>
          <p:cNvPr id="89" name="Google Shape;89;p78"/>
          <p:cNvSpPr/>
          <p:nvPr>
            <p:ph idx="13" type="pic"/>
          </p:nvPr>
        </p:nvSpPr>
        <p:spPr>
          <a:xfrm>
            <a:off x="780799" y="4495568"/>
            <a:ext cx="2397440" cy="892514"/>
          </a:xfrm>
          <a:prstGeom prst="rect">
            <a:avLst/>
          </a:prstGeom>
          <a:solidFill>
            <a:srgbClr val="F2F2F2"/>
          </a:solidFill>
          <a:ln>
            <a:noFill/>
          </a:ln>
        </p:spPr>
      </p:sp>
      <p:sp>
        <p:nvSpPr>
          <p:cNvPr id="90" name="Google Shape;90;p78"/>
          <p:cNvSpPr/>
          <p:nvPr>
            <p:ph idx="14" type="pic"/>
          </p:nvPr>
        </p:nvSpPr>
        <p:spPr>
          <a:xfrm>
            <a:off x="3525120" y="4495568"/>
            <a:ext cx="2397440" cy="892514"/>
          </a:xfrm>
          <a:prstGeom prst="rect">
            <a:avLst/>
          </a:prstGeom>
          <a:solidFill>
            <a:srgbClr val="F2F2F2"/>
          </a:solidFill>
          <a:ln>
            <a:noFill/>
          </a:ln>
        </p:spPr>
      </p:sp>
      <p:sp>
        <p:nvSpPr>
          <p:cNvPr id="91" name="Google Shape;91;p78"/>
          <p:cNvSpPr/>
          <p:nvPr>
            <p:ph idx="15" type="pic"/>
          </p:nvPr>
        </p:nvSpPr>
        <p:spPr>
          <a:xfrm>
            <a:off x="6269441" y="4495568"/>
            <a:ext cx="2397440" cy="892514"/>
          </a:xfrm>
          <a:prstGeom prst="rect">
            <a:avLst/>
          </a:prstGeom>
          <a:solidFill>
            <a:srgbClr val="F2F2F2"/>
          </a:solidFill>
          <a:ln>
            <a:noFill/>
          </a:ln>
        </p:spPr>
      </p:sp>
      <p:sp>
        <p:nvSpPr>
          <p:cNvPr id="92" name="Google Shape;92;p78"/>
          <p:cNvSpPr/>
          <p:nvPr>
            <p:ph idx="16" type="pic"/>
          </p:nvPr>
        </p:nvSpPr>
        <p:spPr>
          <a:xfrm>
            <a:off x="9013761" y="4495568"/>
            <a:ext cx="2397440" cy="892514"/>
          </a:xfrm>
          <a:prstGeom prst="rect">
            <a:avLst/>
          </a:prstGeom>
          <a:solidFill>
            <a:srgbClr val="F2F2F2"/>
          </a:solid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slide">
  <p:cSld name="12_slide">
    <p:spTree>
      <p:nvGrpSpPr>
        <p:cNvPr id="93" name="Shape 93"/>
        <p:cNvGrpSpPr/>
        <p:nvPr/>
      </p:nvGrpSpPr>
      <p:grpSpPr>
        <a:xfrm>
          <a:off x="0" y="0"/>
          <a:ext cx="0" cy="0"/>
          <a:chOff x="0" y="0"/>
          <a:chExt cx="0" cy="0"/>
        </a:xfrm>
      </p:grpSpPr>
      <p:sp>
        <p:nvSpPr>
          <p:cNvPr id="94" name="Google Shape;94;p79"/>
          <p:cNvSpPr/>
          <p:nvPr>
            <p:ph idx="2" type="pic"/>
          </p:nvPr>
        </p:nvSpPr>
        <p:spPr>
          <a:xfrm>
            <a:off x="747589" y="1735566"/>
            <a:ext cx="3454687" cy="3999122"/>
          </a:xfrm>
          <a:prstGeom prst="rect">
            <a:avLst/>
          </a:prstGeom>
          <a:solidFill>
            <a:srgbClr val="F2F2F2"/>
          </a:solidFill>
          <a:ln>
            <a:noFill/>
          </a:ln>
        </p:spPr>
      </p:sp>
      <p:sp>
        <p:nvSpPr>
          <p:cNvPr id="95" name="Google Shape;95;p79"/>
          <p:cNvSpPr/>
          <p:nvPr>
            <p:ph idx="3" type="pic"/>
          </p:nvPr>
        </p:nvSpPr>
        <p:spPr>
          <a:xfrm>
            <a:off x="4330279" y="1735566"/>
            <a:ext cx="3454687" cy="3999122"/>
          </a:xfrm>
          <a:prstGeom prst="rect">
            <a:avLst/>
          </a:prstGeom>
          <a:solidFill>
            <a:srgbClr val="F2F2F2"/>
          </a:solid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slide">
  <p:cSld name="13_slide">
    <p:spTree>
      <p:nvGrpSpPr>
        <p:cNvPr id="96" name="Shape 96"/>
        <p:cNvGrpSpPr/>
        <p:nvPr/>
      </p:nvGrpSpPr>
      <p:grpSpPr>
        <a:xfrm>
          <a:off x="0" y="0"/>
          <a:ext cx="0" cy="0"/>
          <a:chOff x="0" y="0"/>
          <a:chExt cx="0" cy="0"/>
        </a:xfrm>
      </p:grpSpPr>
      <p:sp>
        <p:nvSpPr>
          <p:cNvPr id="97" name="Google Shape;97;p80"/>
          <p:cNvSpPr/>
          <p:nvPr>
            <p:ph idx="2" type="pic"/>
          </p:nvPr>
        </p:nvSpPr>
        <p:spPr>
          <a:xfrm>
            <a:off x="7548023" y="-11151"/>
            <a:ext cx="4643977" cy="6869151"/>
          </a:xfrm>
          <a:prstGeom prst="rect">
            <a:avLst/>
          </a:prstGeom>
          <a:solidFill>
            <a:srgbClr val="F2F2F2"/>
          </a:solid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slide">
  <p:cSld name="14_slide">
    <p:spTree>
      <p:nvGrpSpPr>
        <p:cNvPr id="98" name="Shape 98"/>
        <p:cNvGrpSpPr/>
        <p:nvPr/>
      </p:nvGrpSpPr>
      <p:grpSpPr>
        <a:xfrm>
          <a:off x="0" y="0"/>
          <a:ext cx="0" cy="0"/>
          <a:chOff x="0" y="0"/>
          <a:chExt cx="0" cy="0"/>
        </a:xfrm>
      </p:grpSpPr>
      <p:sp>
        <p:nvSpPr>
          <p:cNvPr id="99" name="Google Shape;99;p81"/>
          <p:cNvSpPr/>
          <p:nvPr>
            <p:ph idx="2" type="pic"/>
          </p:nvPr>
        </p:nvSpPr>
        <p:spPr>
          <a:xfrm>
            <a:off x="4407323" y="1735566"/>
            <a:ext cx="3454687" cy="3999122"/>
          </a:xfrm>
          <a:prstGeom prst="rect">
            <a:avLst/>
          </a:prstGeom>
          <a:solidFill>
            <a:srgbClr val="F2F2F2"/>
          </a:solidFill>
          <a:ln>
            <a:noFill/>
          </a:ln>
        </p:spPr>
      </p:sp>
      <p:sp>
        <p:nvSpPr>
          <p:cNvPr id="100" name="Google Shape;100;p81"/>
          <p:cNvSpPr/>
          <p:nvPr>
            <p:ph idx="3" type="pic"/>
          </p:nvPr>
        </p:nvSpPr>
        <p:spPr>
          <a:xfrm>
            <a:off x="7990013" y="1735566"/>
            <a:ext cx="3454687" cy="3999122"/>
          </a:xfrm>
          <a:prstGeom prst="rect">
            <a:avLst/>
          </a:prstGeom>
          <a:solidFill>
            <a:srgbClr val="F2F2F2"/>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slide">
  <p:cSld name="15_slide">
    <p:spTree>
      <p:nvGrpSpPr>
        <p:cNvPr id="101" name="Shape 101"/>
        <p:cNvGrpSpPr/>
        <p:nvPr/>
      </p:nvGrpSpPr>
      <p:grpSpPr>
        <a:xfrm>
          <a:off x="0" y="0"/>
          <a:ext cx="0" cy="0"/>
          <a:chOff x="0" y="0"/>
          <a:chExt cx="0" cy="0"/>
        </a:xfrm>
      </p:grpSpPr>
      <p:sp>
        <p:nvSpPr>
          <p:cNvPr id="102" name="Google Shape;102;p82"/>
          <p:cNvSpPr/>
          <p:nvPr>
            <p:ph idx="2" type="pic"/>
          </p:nvPr>
        </p:nvSpPr>
        <p:spPr>
          <a:xfrm>
            <a:off x="4379579" y="-11152"/>
            <a:ext cx="7812421" cy="6869151"/>
          </a:xfrm>
          <a:prstGeom prst="rect">
            <a:avLst/>
          </a:prstGeom>
          <a:solidFill>
            <a:srgbClr val="F2F2F2"/>
          </a:solid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slide">
  <p:cSld name="16_slide">
    <p:spTree>
      <p:nvGrpSpPr>
        <p:cNvPr id="103" name="Shape 103"/>
        <p:cNvGrpSpPr/>
        <p:nvPr/>
      </p:nvGrpSpPr>
      <p:grpSpPr>
        <a:xfrm>
          <a:off x="0" y="0"/>
          <a:ext cx="0" cy="0"/>
          <a:chOff x="0" y="0"/>
          <a:chExt cx="0" cy="0"/>
        </a:xfrm>
      </p:grpSpPr>
      <p:sp>
        <p:nvSpPr>
          <p:cNvPr id="104" name="Google Shape;104;p83"/>
          <p:cNvSpPr/>
          <p:nvPr>
            <p:ph idx="2" type="pic"/>
          </p:nvPr>
        </p:nvSpPr>
        <p:spPr>
          <a:xfrm>
            <a:off x="-2511399" y="1712857"/>
            <a:ext cx="5022797" cy="2891798"/>
          </a:xfrm>
          <a:prstGeom prst="rect">
            <a:avLst/>
          </a:prstGeom>
          <a:solidFill>
            <a:srgbClr val="F2F2F2"/>
          </a:solidFill>
          <a:ln>
            <a:noFill/>
          </a:ln>
        </p:spPr>
      </p:sp>
      <p:sp>
        <p:nvSpPr>
          <p:cNvPr id="105" name="Google Shape;105;p83"/>
          <p:cNvSpPr/>
          <p:nvPr>
            <p:ph idx="3" type="pic"/>
          </p:nvPr>
        </p:nvSpPr>
        <p:spPr>
          <a:xfrm>
            <a:off x="3584600" y="1712857"/>
            <a:ext cx="5022797" cy="2891798"/>
          </a:xfrm>
          <a:prstGeom prst="rect">
            <a:avLst/>
          </a:prstGeom>
          <a:solidFill>
            <a:srgbClr val="F2F2F2"/>
          </a:solidFill>
          <a:ln>
            <a:noFill/>
          </a:ln>
        </p:spPr>
      </p:sp>
      <p:sp>
        <p:nvSpPr>
          <p:cNvPr id="106" name="Google Shape;106;p83"/>
          <p:cNvSpPr/>
          <p:nvPr>
            <p:ph idx="4" type="pic"/>
          </p:nvPr>
        </p:nvSpPr>
        <p:spPr>
          <a:xfrm>
            <a:off x="9680602" y="1712857"/>
            <a:ext cx="5022797" cy="2891798"/>
          </a:xfrm>
          <a:prstGeom prst="rect">
            <a:avLst/>
          </a:prstGeom>
          <a:solidFill>
            <a:srgbClr val="F2F2F2"/>
          </a:solid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slide">
  <p:cSld name="17_slide">
    <p:spTree>
      <p:nvGrpSpPr>
        <p:cNvPr id="107" name="Shape 107"/>
        <p:cNvGrpSpPr/>
        <p:nvPr/>
      </p:nvGrpSpPr>
      <p:grpSpPr>
        <a:xfrm>
          <a:off x="0" y="0"/>
          <a:ext cx="0" cy="0"/>
          <a:chOff x="0" y="0"/>
          <a:chExt cx="0" cy="0"/>
        </a:xfrm>
      </p:grpSpPr>
      <p:sp>
        <p:nvSpPr>
          <p:cNvPr id="108" name="Google Shape;108;p84"/>
          <p:cNvSpPr/>
          <p:nvPr>
            <p:ph idx="2" type="pic"/>
          </p:nvPr>
        </p:nvSpPr>
        <p:spPr>
          <a:xfrm>
            <a:off x="4657688" y="0"/>
            <a:ext cx="6142693" cy="6858000"/>
          </a:xfrm>
          <a:prstGeom prst="rect">
            <a:avLst/>
          </a:prstGeom>
          <a:solidFill>
            <a:srgbClr val="F2F2F2"/>
          </a:solid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slide">
  <p:cSld name="18_slide">
    <p:spTree>
      <p:nvGrpSpPr>
        <p:cNvPr id="109" name="Shape 109"/>
        <p:cNvGrpSpPr/>
        <p:nvPr/>
      </p:nvGrpSpPr>
      <p:grpSpPr>
        <a:xfrm>
          <a:off x="0" y="0"/>
          <a:ext cx="0" cy="0"/>
          <a:chOff x="0" y="0"/>
          <a:chExt cx="0" cy="0"/>
        </a:xfrm>
      </p:grpSpPr>
      <p:sp>
        <p:nvSpPr>
          <p:cNvPr id="110" name="Google Shape;110;p85"/>
          <p:cNvSpPr/>
          <p:nvPr>
            <p:ph idx="2" type="pic"/>
          </p:nvPr>
        </p:nvSpPr>
        <p:spPr>
          <a:xfrm>
            <a:off x="745783" y="1641727"/>
            <a:ext cx="5435475" cy="4039975"/>
          </a:xfrm>
          <a:prstGeom prst="rect">
            <a:avLst/>
          </a:prstGeom>
          <a:solidFill>
            <a:srgbClr val="F2F2F2"/>
          </a:solid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slide">
  <p:cSld name="19_slide">
    <p:spTree>
      <p:nvGrpSpPr>
        <p:cNvPr id="111" name="Shape 111"/>
        <p:cNvGrpSpPr/>
        <p:nvPr/>
      </p:nvGrpSpPr>
      <p:grpSpPr>
        <a:xfrm>
          <a:off x="0" y="0"/>
          <a:ext cx="0" cy="0"/>
          <a:chOff x="0" y="0"/>
          <a:chExt cx="0" cy="0"/>
        </a:xfrm>
      </p:grpSpPr>
      <p:sp>
        <p:nvSpPr>
          <p:cNvPr id="112" name="Google Shape;112;p86"/>
          <p:cNvSpPr/>
          <p:nvPr>
            <p:ph idx="2" type="pic"/>
          </p:nvPr>
        </p:nvSpPr>
        <p:spPr>
          <a:xfrm>
            <a:off x="0" y="0"/>
            <a:ext cx="7818066" cy="6869413"/>
          </a:xfrm>
          <a:prstGeom prst="rect">
            <a:avLst/>
          </a:prstGeom>
          <a:solidFill>
            <a:srgbClr val="F2F2F2"/>
          </a:solid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slide">
  <p:cSld name="20_slide">
    <p:spTree>
      <p:nvGrpSpPr>
        <p:cNvPr id="113" name="Shape 113"/>
        <p:cNvGrpSpPr/>
        <p:nvPr/>
      </p:nvGrpSpPr>
      <p:grpSpPr>
        <a:xfrm>
          <a:off x="0" y="0"/>
          <a:ext cx="0" cy="0"/>
          <a:chOff x="0" y="0"/>
          <a:chExt cx="0" cy="0"/>
        </a:xfrm>
      </p:grpSpPr>
      <p:sp>
        <p:nvSpPr>
          <p:cNvPr id="114" name="Google Shape;114;p87"/>
          <p:cNvSpPr/>
          <p:nvPr>
            <p:ph idx="2" type="pic"/>
          </p:nvPr>
        </p:nvSpPr>
        <p:spPr>
          <a:xfrm>
            <a:off x="6010742" y="1641727"/>
            <a:ext cx="5435475" cy="4039975"/>
          </a:xfrm>
          <a:prstGeom prst="rect">
            <a:avLst/>
          </a:prstGeom>
          <a:solidFill>
            <a:srgbClr val="F2F2F2"/>
          </a:solid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slide">
  <p:cSld name="21_slide">
    <p:spTree>
      <p:nvGrpSpPr>
        <p:cNvPr id="115" name="Shape 115"/>
        <p:cNvGrpSpPr/>
        <p:nvPr/>
      </p:nvGrpSpPr>
      <p:grpSpPr>
        <a:xfrm>
          <a:off x="0" y="0"/>
          <a:ext cx="0" cy="0"/>
          <a:chOff x="0" y="0"/>
          <a:chExt cx="0" cy="0"/>
        </a:xfrm>
      </p:grpSpPr>
      <p:sp>
        <p:nvSpPr>
          <p:cNvPr id="116" name="Google Shape;116;p88"/>
          <p:cNvSpPr/>
          <p:nvPr>
            <p:ph idx="2" type="pic"/>
          </p:nvPr>
        </p:nvSpPr>
        <p:spPr>
          <a:xfrm>
            <a:off x="3316218" y="0"/>
            <a:ext cx="6142693" cy="6858000"/>
          </a:xfrm>
          <a:prstGeom prst="rect">
            <a:avLst/>
          </a:prstGeom>
          <a:solidFill>
            <a:srgbClr val="F2F2F2"/>
          </a:solidFill>
          <a:ln>
            <a:noFill/>
          </a:ln>
        </p:spPr>
      </p:sp>
      <p:sp>
        <p:nvSpPr>
          <p:cNvPr id="117" name="Google Shape;117;p88"/>
          <p:cNvSpPr/>
          <p:nvPr>
            <p:ph idx="3" type="pic"/>
          </p:nvPr>
        </p:nvSpPr>
        <p:spPr>
          <a:xfrm>
            <a:off x="7541024" y="0"/>
            <a:ext cx="4659195" cy="6858000"/>
          </a:xfrm>
          <a:prstGeom prst="rect">
            <a:avLst/>
          </a:prstGeom>
          <a:solidFill>
            <a:srgbClr val="F2F2F2"/>
          </a:solid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slide">
  <p:cSld name="22_slide">
    <p:spTree>
      <p:nvGrpSpPr>
        <p:cNvPr id="118" name="Shape 118"/>
        <p:cNvGrpSpPr/>
        <p:nvPr/>
      </p:nvGrpSpPr>
      <p:grpSpPr>
        <a:xfrm>
          <a:off x="0" y="0"/>
          <a:ext cx="0" cy="0"/>
          <a:chOff x="0" y="0"/>
          <a:chExt cx="0" cy="0"/>
        </a:xfrm>
      </p:grpSpPr>
      <p:sp>
        <p:nvSpPr>
          <p:cNvPr id="119" name="Google Shape;119;p89"/>
          <p:cNvSpPr/>
          <p:nvPr>
            <p:ph idx="2" type="pic"/>
          </p:nvPr>
        </p:nvSpPr>
        <p:spPr>
          <a:xfrm>
            <a:off x="2671026" y="-1"/>
            <a:ext cx="3970043" cy="4434836"/>
          </a:xfrm>
          <a:prstGeom prst="rect">
            <a:avLst/>
          </a:prstGeom>
          <a:solidFill>
            <a:srgbClr val="F2F2F2"/>
          </a:solidFill>
          <a:ln>
            <a:noFill/>
          </a:ln>
        </p:spPr>
      </p:sp>
      <p:sp>
        <p:nvSpPr>
          <p:cNvPr id="120" name="Google Shape;120;p89"/>
          <p:cNvSpPr/>
          <p:nvPr>
            <p:ph idx="3" type="pic"/>
          </p:nvPr>
        </p:nvSpPr>
        <p:spPr>
          <a:xfrm>
            <a:off x="5460923" y="-1"/>
            <a:ext cx="3970043" cy="4434836"/>
          </a:xfrm>
          <a:prstGeom prst="rect">
            <a:avLst/>
          </a:prstGeom>
          <a:solidFill>
            <a:srgbClr val="F2F2F2"/>
          </a:solidFill>
          <a:ln>
            <a:noFill/>
          </a:ln>
        </p:spPr>
      </p:sp>
      <p:sp>
        <p:nvSpPr>
          <p:cNvPr id="121" name="Google Shape;121;p89"/>
          <p:cNvSpPr/>
          <p:nvPr>
            <p:ph idx="4" type="pic"/>
          </p:nvPr>
        </p:nvSpPr>
        <p:spPr>
          <a:xfrm>
            <a:off x="8221115" y="-1"/>
            <a:ext cx="3970043" cy="4434836"/>
          </a:xfrm>
          <a:prstGeom prst="rect">
            <a:avLst/>
          </a:prstGeom>
          <a:solidFill>
            <a:srgbClr val="F2F2F2"/>
          </a:solid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slide">
  <p:cSld name="23_slide">
    <p:spTree>
      <p:nvGrpSpPr>
        <p:cNvPr id="122" name="Shape 122"/>
        <p:cNvGrpSpPr/>
        <p:nvPr/>
      </p:nvGrpSpPr>
      <p:grpSpPr>
        <a:xfrm>
          <a:off x="0" y="0"/>
          <a:ext cx="0" cy="0"/>
          <a:chOff x="0" y="0"/>
          <a:chExt cx="0" cy="0"/>
        </a:xfrm>
      </p:grpSpPr>
      <p:sp>
        <p:nvSpPr>
          <p:cNvPr id="123" name="Google Shape;123;p90"/>
          <p:cNvSpPr/>
          <p:nvPr>
            <p:ph idx="2" type="pic"/>
          </p:nvPr>
        </p:nvSpPr>
        <p:spPr>
          <a:xfrm>
            <a:off x="7485063" y="627903"/>
            <a:ext cx="2218958" cy="2218380"/>
          </a:xfrm>
          <a:prstGeom prst="rect">
            <a:avLst/>
          </a:prstGeom>
          <a:solidFill>
            <a:srgbClr val="F2F2F2"/>
          </a:solidFill>
          <a:ln>
            <a:noFill/>
          </a:ln>
        </p:spPr>
      </p:sp>
      <p:sp>
        <p:nvSpPr>
          <p:cNvPr id="124" name="Google Shape;124;p90"/>
          <p:cNvSpPr/>
          <p:nvPr>
            <p:ph idx="3" type="pic"/>
          </p:nvPr>
        </p:nvSpPr>
        <p:spPr>
          <a:xfrm>
            <a:off x="8487915" y="2988577"/>
            <a:ext cx="2923285" cy="2922525"/>
          </a:xfrm>
          <a:prstGeom prst="rect">
            <a:avLst/>
          </a:prstGeom>
          <a:solidFill>
            <a:srgbClr val="F2F2F2"/>
          </a:solidFill>
          <a:ln>
            <a:noFill/>
          </a:ln>
        </p:spPr>
      </p:sp>
      <p:sp>
        <p:nvSpPr>
          <p:cNvPr id="125" name="Google Shape;125;p90"/>
          <p:cNvSpPr/>
          <p:nvPr>
            <p:ph idx="4" type="pic"/>
          </p:nvPr>
        </p:nvSpPr>
        <p:spPr>
          <a:xfrm>
            <a:off x="6636696" y="2988577"/>
            <a:ext cx="1697038" cy="1696597"/>
          </a:xfrm>
          <a:prstGeom prst="rect">
            <a:avLst/>
          </a:prstGeom>
          <a:solidFill>
            <a:srgbClr val="F2F2F2"/>
          </a:solid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slide">
  <p:cSld name="24_slide">
    <p:spTree>
      <p:nvGrpSpPr>
        <p:cNvPr id="126" name="Shape 126"/>
        <p:cNvGrpSpPr/>
        <p:nvPr/>
      </p:nvGrpSpPr>
      <p:grpSpPr>
        <a:xfrm>
          <a:off x="0" y="0"/>
          <a:ext cx="0" cy="0"/>
          <a:chOff x="0" y="0"/>
          <a:chExt cx="0" cy="0"/>
        </a:xfrm>
      </p:grpSpPr>
      <p:sp>
        <p:nvSpPr>
          <p:cNvPr id="127" name="Google Shape;127;p91"/>
          <p:cNvSpPr/>
          <p:nvPr>
            <p:ph idx="2" type="pic"/>
          </p:nvPr>
        </p:nvSpPr>
        <p:spPr>
          <a:xfrm>
            <a:off x="1765158" y="1616567"/>
            <a:ext cx="1945814" cy="4111559"/>
          </a:xfrm>
          <a:prstGeom prst="rect">
            <a:avLst/>
          </a:prstGeom>
          <a:solidFill>
            <a:srgbClr val="F2F2F2"/>
          </a:solidFill>
          <a:ln>
            <a:noFill/>
          </a:ln>
        </p:spPr>
      </p:sp>
      <p:sp>
        <p:nvSpPr>
          <p:cNvPr id="128" name="Google Shape;128;p91"/>
          <p:cNvSpPr/>
          <p:nvPr>
            <p:ph idx="3" type="pic"/>
          </p:nvPr>
        </p:nvSpPr>
        <p:spPr>
          <a:xfrm>
            <a:off x="5439218" y="1616567"/>
            <a:ext cx="1945814" cy="4111559"/>
          </a:xfrm>
          <a:prstGeom prst="rect">
            <a:avLst/>
          </a:prstGeom>
          <a:solidFill>
            <a:srgbClr val="F2F2F2"/>
          </a:solidFill>
          <a:ln>
            <a:noFill/>
          </a:ln>
        </p:spPr>
      </p:sp>
      <p:sp>
        <p:nvSpPr>
          <p:cNvPr id="129" name="Google Shape;129;p91"/>
          <p:cNvSpPr/>
          <p:nvPr>
            <p:ph idx="4" type="pic"/>
          </p:nvPr>
        </p:nvSpPr>
        <p:spPr>
          <a:xfrm>
            <a:off x="9235754" y="1616567"/>
            <a:ext cx="1945814" cy="4111559"/>
          </a:xfrm>
          <a:prstGeom prst="rect">
            <a:avLst/>
          </a:prstGeom>
          <a:solidFill>
            <a:srgbClr val="F2F2F2"/>
          </a:solid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slide">
  <p:cSld name="25_slide">
    <p:spTree>
      <p:nvGrpSpPr>
        <p:cNvPr id="130" name="Shape 130"/>
        <p:cNvGrpSpPr/>
        <p:nvPr/>
      </p:nvGrpSpPr>
      <p:grpSpPr>
        <a:xfrm>
          <a:off x="0" y="0"/>
          <a:ext cx="0" cy="0"/>
          <a:chOff x="0" y="0"/>
          <a:chExt cx="0" cy="0"/>
        </a:xfrm>
      </p:grpSpPr>
      <p:sp>
        <p:nvSpPr>
          <p:cNvPr id="131" name="Google Shape;131;p92"/>
          <p:cNvSpPr/>
          <p:nvPr>
            <p:ph idx="2" type="pic"/>
          </p:nvPr>
        </p:nvSpPr>
        <p:spPr>
          <a:xfrm>
            <a:off x="4833251" y="2099608"/>
            <a:ext cx="2528229" cy="3379817"/>
          </a:xfrm>
          <a:prstGeom prst="rect">
            <a:avLst/>
          </a:prstGeom>
          <a:solidFill>
            <a:srgbClr val="F2F2F2"/>
          </a:solid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slide">
  <p:cSld name="26_slide">
    <p:spTree>
      <p:nvGrpSpPr>
        <p:cNvPr id="132" name="Shape 132"/>
        <p:cNvGrpSpPr/>
        <p:nvPr/>
      </p:nvGrpSpPr>
      <p:grpSpPr>
        <a:xfrm>
          <a:off x="0" y="0"/>
          <a:ext cx="0" cy="0"/>
          <a:chOff x="0" y="0"/>
          <a:chExt cx="0" cy="0"/>
        </a:xfrm>
      </p:grpSpPr>
      <p:sp>
        <p:nvSpPr>
          <p:cNvPr id="133" name="Google Shape;133;p93"/>
          <p:cNvSpPr/>
          <p:nvPr>
            <p:ph idx="2" type="pic"/>
          </p:nvPr>
        </p:nvSpPr>
        <p:spPr>
          <a:xfrm>
            <a:off x="1449316" y="2114606"/>
            <a:ext cx="3626150" cy="2266340"/>
          </a:xfrm>
          <a:prstGeom prst="rect">
            <a:avLst/>
          </a:prstGeom>
          <a:solidFill>
            <a:srgbClr val="F2F2F2"/>
          </a:solidFill>
          <a:ln>
            <a:noFill/>
          </a:ln>
        </p:spPr>
      </p:sp>
      <p:sp>
        <p:nvSpPr>
          <p:cNvPr id="134" name="Google Shape;134;p93"/>
          <p:cNvSpPr/>
          <p:nvPr>
            <p:ph idx="3" type="pic"/>
          </p:nvPr>
        </p:nvSpPr>
        <p:spPr>
          <a:xfrm>
            <a:off x="7173347" y="2114606"/>
            <a:ext cx="3626150" cy="2266340"/>
          </a:xfrm>
          <a:prstGeom prst="rect">
            <a:avLst/>
          </a:prstGeom>
          <a:solidFill>
            <a:srgbClr val="F2F2F2"/>
          </a:solidFill>
          <a:ln>
            <a:noFill/>
          </a:ln>
        </p:spPr>
      </p:sp>
      <p:sp>
        <p:nvSpPr>
          <p:cNvPr id="135" name="Google Shape;135;p93"/>
          <p:cNvSpPr/>
          <p:nvPr>
            <p:ph idx="4" type="pic"/>
          </p:nvPr>
        </p:nvSpPr>
        <p:spPr>
          <a:xfrm>
            <a:off x="3825346" y="1769693"/>
            <a:ext cx="4586924" cy="2866822"/>
          </a:xfrm>
          <a:prstGeom prst="rect">
            <a:avLst/>
          </a:prstGeom>
          <a:solidFill>
            <a:srgbClr val="F2F2F2"/>
          </a:solid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slide">
  <p:cSld name="28_slide">
    <p:spTree>
      <p:nvGrpSpPr>
        <p:cNvPr id="136" name="Shape 136"/>
        <p:cNvGrpSpPr/>
        <p:nvPr/>
      </p:nvGrpSpPr>
      <p:grpSpPr>
        <a:xfrm>
          <a:off x="0" y="0"/>
          <a:ext cx="0" cy="0"/>
          <a:chOff x="0" y="0"/>
          <a:chExt cx="0" cy="0"/>
        </a:xfrm>
      </p:grpSpPr>
      <p:sp>
        <p:nvSpPr>
          <p:cNvPr id="137" name="Google Shape;137;p94"/>
          <p:cNvSpPr/>
          <p:nvPr>
            <p:ph idx="2" type="pic"/>
          </p:nvPr>
        </p:nvSpPr>
        <p:spPr>
          <a:xfrm>
            <a:off x="-199169" y="2432304"/>
            <a:ext cx="12590339" cy="4599867"/>
          </a:xfrm>
          <a:prstGeom prst="rect">
            <a:avLst/>
          </a:prstGeom>
          <a:solidFill>
            <a:srgbClr val="F2F2F2"/>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34"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1"/>
          <p:cNvSpPr txBox="1"/>
          <p:nvPr>
            <p:ph type="title"/>
          </p:nvPr>
        </p:nvSpPr>
        <p:spPr>
          <a:xfrm>
            <a:off x="838201" y="365126"/>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399"/>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61"/>
          <p:cNvSpPr txBox="1"/>
          <p:nvPr>
            <p:ph idx="1" type="body"/>
          </p:nvPr>
        </p:nvSpPr>
        <p:spPr>
          <a:xfrm>
            <a:off x="838201" y="1825625"/>
            <a:ext cx="10515600" cy="4351338"/>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61"/>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61"/>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61"/>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61"/>
          <p:cNvSpPr txBox="1"/>
          <p:nvPr/>
        </p:nvSpPr>
        <p:spPr>
          <a:xfrm>
            <a:off x="11829114" y="305271"/>
            <a:ext cx="304726" cy="400091"/>
          </a:xfrm>
          <a:prstGeom prst="rect">
            <a:avLst/>
          </a:prstGeom>
          <a:noFill/>
          <a:ln>
            <a:noFill/>
          </a:ln>
        </p:spPr>
        <p:txBody>
          <a:bodyPr anchorCtr="0" anchor="t" bIns="45700" lIns="91400" spcFirstLastPara="1" rIns="91400" wrap="square" tIns="45700">
            <a:spAutoFit/>
          </a:bodyPr>
          <a:lstStyle/>
          <a:p>
            <a:pPr indent="0" lvl="0" marL="0" marR="0" rtl="0" algn="ct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chemeClr val="lt1"/>
                </a:solidFill>
                <a:latin typeface="Arial"/>
                <a:ea typeface="Arial"/>
                <a:cs typeface="Arial"/>
                <a:sym typeface="Arial"/>
              </a:rPr>
              <a:t>‹#›</a:t>
            </a:fld>
            <a:r>
              <a:rPr b="1" i="0" lang="en-US" sz="1000" u="none" cap="none" strike="noStrike">
                <a:solidFill>
                  <a:schemeClr val="lt1"/>
                </a:solidFill>
                <a:latin typeface="Arial"/>
                <a:ea typeface="Arial"/>
                <a:cs typeface="Arial"/>
                <a:sym typeface="Arial"/>
              </a:rPr>
              <a:t>  </a:t>
            </a:r>
            <a:endParaRPr b="1" i="0" sz="10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jpg"/><Relationship Id="rId4" Type="http://schemas.openxmlformats.org/officeDocument/2006/relationships/image" Target="../media/image24.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2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2.png"/><Relationship Id="rId9"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15.png"/><Relationship Id="rId7" Type="http://schemas.openxmlformats.org/officeDocument/2006/relationships/image" Target="../media/image18.png"/><Relationship Id="rId8" Type="http://schemas.openxmlformats.org/officeDocument/2006/relationships/image" Target="../media/image5.png"/><Relationship Id="rId11" Type="http://schemas.openxmlformats.org/officeDocument/2006/relationships/image" Target="../media/image1.png"/><Relationship Id="rId10"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9.png"/><Relationship Id="rId5"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6.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9.jp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9.jp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5.png"/><Relationship Id="rId7"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3.jp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9.jp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9.jpg"/><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9.jpg"/><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7.jpg"/><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7.jpg"/><Relationship Id="rId4" Type="http://schemas.openxmlformats.org/officeDocument/2006/relationships/image" Target="../media/image3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27.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3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hyperlink" Target="https://create.kahoot.it/details/dc0f0581-2017-488d-aca3-6630a6c5b620" TargetMode="External"/><Relationship Id="rId4" Type="http://schemas.openxmlformats.org/officeDocument/2006/relationships/image" Target="../media/image28.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 Id="rId3" Type="http://schemas.openxmlformats.org/officeDocument/2006/relationships/image" Target="../media/image36.png"/><Relationship Id="rId4" Type="http://schemas.openxmlformats.org/officeDocument/2006/relationships/image" Target="../media/image34.jpg"/><Relationship Id="rId5" Type="http://schemas.openxmlformats.org/officeDocument/2006/relationships/image" Target="../media/image2.png"/><Relationship Id="rId6" Type="http://schemas.openxmlformats.org/officeDocument/2006/relationships/hyperlink" Target="https://imarticus.or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1"/>
          <p:cNvPicPr preferRelativeResize="0"/>
          <p:nvPr>
            <p:ph idx="2" type="pic"/>
          </p:nvPr>
        </p:nvPicPr>
        <p:blipFill rotWithShape="1">
          <a:blip r:embed="rId3">
            <a:alphaModFix/>
          </a:blip>
          <a:srcRect b="0" l="0" r="0" t="0"/>
          <a:stretch/>
        </p:blipFill>
        <p:spPr>
          <a:xfrm>
            <a:off x="1588" y="1"/>
            <a:ext cx="12190412" cy="6858000"/>
          </a:xfrm>
          <a:prstGeom prst="rect">
            <a:avLst/>
          </a:prstGeom>
          <a:solidFill>
            <a:srgbClr val="F2F2F2"/>
          </a:solidFill>
          <a:ln>
            <a:noFill/>
          </a:ln>
        </p:spPr>
      </p:pic>
      <p:sp>
        <p:nvSpPr>
          <p:cNvPr id="143" name="Google Shape;143;p1"/>
          <p:cNvSpPr/>
          <p:nvPr/>
        </p:nvSpPr>
        <p:spPr>
          <a:xfrm>
            <a:off x="1588" y="1"/>
            <a:ext cx="12190411" cy="6858000"/>
          </a:xfrm>
          <a:prstGeom prst="rect">
            <a:avLst/>
          </a:prstGeom>
          <a:gradFill>
            <a:gsLst>
              <a:gs pos="0">
                <a:srgbClr val="25B6C2">
                  <a:alpha val="20000"/>
                </a:srgbClr>
              </a:gs>
              <a:gs pos="2000">
                <a:srgbClr val="25B6C2">
                  <a:alpha val="20000"/>
                </a:srgbClr>
              </a:gs>
              <a:gs pos="100000">
                <a:srgbClr val="0692DB">
                  <a:alpha val="63921"/>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44" name="Google Shape;144;p1"/>
          <p:cNvSpPr/>
          <p:nvPr/>
        </p:nvSpPr>
        <p:spPr>
          <a:xfrm>
            <a:off x="1587" y="4507667"/>
            <a:ext cx="12190411" cy="1609445"/>
          </a:xfrm>
          <a:prstGeom prst="rect">
            <a:avLst/>
          </a:prstGeom>
          <a:solidFill>
            <a:srgbClr val="D5DB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45" name="Google Shape;145;p1"/>
          <p:cNvSpPr txBox="1"/>
          <p:nvPr/>
        </p:nvSpPr>
        <p:spPr>
          <a:xfrm>
            <a:off x="3018080" y="4983089"/>
            <a:ext cx="8102862" cy="658601"/>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i="0" lang="en-US" sz="3200" u="none" cap="none" strike="noStrike">
                <a:solidFill>
                  <a:schemeClr val="dk1"/>
                </a:solidFill>
                <a:latin typeface="Arial"/>
                <a:ea typeface="Arial"/>
                <a:cs typeface="Arial"/>
                <a:sym typeface="Arial"/>
              </a:rPr>
              <a:t>DERIVATIVES - SWAPS</a:t>
            </a:r>
            <a:endParaRPr b="1" i="0" sz="3200" u="none" cap="none" strike="noStrike">
              <a:solidFill>
                <a:srgbClr val="000000"/>
              </a:solidFill>
              <a:latin typeface="Arial"/>
              <a:ea typeface="Arial"/>
              <a:cs typeface="Arial"/>
              <a:sym typeface="Arial"/>
            </a:endParaRPr>
          </a:p>
        </p:txBody>
      </p:sp>
      <p:pic>
        <p:nvPicPr>
          <p:cNvPr descr="A picture containing text, clipart&#10;&#10;Description automatically generated" id="146" name="Google Shape;146;p1"/>
          <p:cNvPicPr preferRelativeResize="0"/>
          <p:nvPr/>
        </p:nvPicPr>
        <p:blipFill rotWithShape="1">
          <a:blip r:embed="rId4">
            <a:alphaModFix/>
          </a:blip>
          <a:srcRect b="0" l="0" r="0" t="0"/>
          <a:stretch/>
        </p:blipFill>
        <p:spPr>
          <a:xfrm>
            <a:off x="9533468" y="804443"/>
            <a:ext cx="2421466" cy="491960"/>
          </a:xfrm>
          <a:prstGeom prst="rect">
            <a:avLst/>
          </a:prstGeom>
          <a:noFill/>
          <a:ln>
            <a:noFill/>
          </a:ln>
        </p:spPr>
      </p:pic>
      <p:grpSp>
        <p:nvGrpSpPr>
          <p:cNvPr id="147" name="Google Shape;147;p1"/>
          <p:cNvGrpSpPr/>
          <p:nvPr/>
        </p:nvGrpSpPr>
        <p:grpSpPr>
          <a:xfrm>
            <a:off x="406806" y="4225968"/>
            <a:ext cx="2217393" cy="2208699"/>
            <a:chOff x="406806" y="4225968"/>
            <a:chExt cx="2217393" cy="2208699"/>
          </a:xfrm>
        </p:grpSpPr>
        <p:sp>
          <p:nvSpPr>
            <p:cNvPr id="148" name="Google Shape;148;p1"/>
            <p:cNvSpPr/>
            <p:nvPr/>
          </p:nvSpPr>
          <p:spPr>
            <a:xfrm>
              <a:off x="406806" y="4225968"/>
              <a:ext cx="2217393" cy="2208699"/>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silhouette of a city&#10;&#10;Description automatically generated with low confidence" id="149" name="Google Shape;149;p1"/>
            <p:cNvPicPr preferRelativeResize="0"/>
            <p:nvPr/>
          </p:nvPicPr>
          <p:blipFill rotWithShape="1">
            <a:blip r:embed="rId5">
              <a:alphaModFix/>
            </a:blip>
            <a:srcRect b="0" l="0" r="0" t="0"/>
            <a:stretch/>
          </p:blipFill>
          <p:spPr>
            <a:xfrm>
              <a:off x="1071058" y="4841428"/>
              <a:ext cx="888889" cy="977778"/>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2"/>
          <p:cNvPicPr preferRelativeResize="0"/>
          <p:nvPr>
            <p:ph idx="2" type="pic"/>
          </p:nvPr>
        </p:nvPicPr>
        <p:blipFill rotWithShape="1">
          <a:blip r:embed="rId3">
            <a:alphaModFix/>
          </a:blip>
          <a:srcRect b="0" l="0" r="0" t="0"/>
          <a:stretch/>
        </p:blipFill>
        <p:spPr>
          <a:xfrm>
            <a:off x="0" y="-1"/>
            <a:ext cx="12192000" cy="6857999"/>
          </a:xfrm>
          <a:prstGeom prst="rect">
            <a:avLst/>
          </a:prstGeom>
          <a:solidFill>
            <a:srgbClr val="F2F2F2"/>
          </a:solidFill>
          <a:ln>
            <a:noFill/>
          </a:ln>
        </p:spPr>
      </p:pic>
      <p:sp>
        <p:nvSpPr>
          <p:cNvPr id="155" name="Google Shape;155;p2"/>
          <p:cNvSpPr/>
          <p:nvPr/>
        </p:nvSpPr>
        <p:spPr>
          <a:xfrm>
            <a:off x="1588" y="-14288"/>
            <a:ext cx="12188825" cy="7591112"/>
          </a:xfrm>
          <a:prstGeom prst="rect">
            <a:avLst/>
          </a:prstGeom>
          <a:solidFill>
            <a:schemeClr val="lt1">
              <a:alpha val="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56" name="Google Shape;156;p2"/>
          <p:cNvSpPr/>
          <p:nvPr/>
        </p:nvSpPr>
        <p:spPr>
          <a:xfrm>
            <a:off x="1588" y="3190420"/>
            <a:ext cx="12188825" cy="2510293"/>
          </a:xfrm>
          <a:prstGeom prst="rect">
            <a:avLst/>
          </a:prstGeom>
          <a:gradFill>
            <a:gsLst>
              <a:gs pos="0">
                <a:srgbClr val="25B6C2">
                  <a:alpha val="49803"/>
                </a:srgbClr>
              </a:gs>
              <a:gs pos="13000">
                <a:srgbClr val="25B6C2">
                  <a:alpha val="49803"/>
                </a:srgbClr>
              </a:gs>
              <a:gs pos="100000">
                <a:srgbClr val="0692DB">
                  <a:alpha val="49803"/>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57" name="Google Shape;157;p2"/>
          <p:cNvSpPr/>
          <p:nvPr/>
        </p:nvSpPr>
        <p:spPr>
          <a:xfrm>
            <a:off x="1588" y="3362964"/>
            <a:ext cx="12188825" cy="2128315"/>
          </a:xfrm>
          <a:prstGeom prst="rect">
            <a:avLst/>
          </a:prstGeom>
          <a:gradFill>
            <a:gsLst>
              <a:gs pos="0">
                <a:srgbClr val="25B6C2"/>
              </a:gs>
              <a:gs pos="13000">
                <a:srgbClr val="25B6C2"/>
              </a:gs>
              <a:gs pos="100000">
                <a:srgbClr val="0692DB"/>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58" name="Google Shape;158;p2"/>
          <p:cNvSpPr txBox="1"/>
          <p:nvPr/>
        </p:nvSpPr>
        <p:spPr>
          <a:xfrm>
            <a:off x="3841715" y="3436581"/>
            <a:ext cx="4508571"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FFFFFF"/>
                </a:solidFill>
                <a:latin typeface="Arial"/>
                <a:ea typeface="Arial"/>
                <a:cs typeface="Arial"/>
                <a:sym typeface="Arial"/>
              </a:rPr>
              <a:t>DISCLAIMER</a:t>
            </a:r>
            <a:endParaRPr b="0" i="0" sz="3300" u="none" cap="none" strike="noStrike">
              <a:solidFill>
                <a:srgbClr val="FFFFFF"/>
              </a:solidFill>
              <a:latin typeface="Arial"/>
              <a:ea typeface="Arial"/>
              <a:cs typeface="Arial"/>
              <a:sym typeface="Arial"/>
            </a:endParaRPr>
          </a:p>
        </p:txBody>
      </p:sp>
      <p:sp>
        <p:nvSpPr>
          <p:cNvPr id="159" name="Google Shape;159;p2"/>
          <p:cNvSpPr txBox="1"/>
          <p:nvPr/>
        </p:nvSpPr>
        <p:spPr>
          <a:xfrm>
            <a:off x="442135" y="4060016"/>
            <a:ext cx="11307731"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FFFFFF"/>
                </a:solidFill>
                <a:latin typeface="Arial"/>
                <a:ea typeface="Arial"/>
                <a:cs typeface="Arial"/>
                <a:sym typeface="Arial"/>
              </a:rPr>
              <a:t>The training content and delivery of this presentation is confidential, and cannot be recorded, or copied and distributed to any third party, without the written consent of Imarticus Learning Pvt. Ltd.</a:t>
            </a:r>
            <a:endParaRPr b="0" i="0" sz="2400" u="none" cap="none" strike="noStrike">
              <a:solidFill>
                <a:srgbClr val="FFFFFF"/>
              </a:solidFill>
              <a:latin typeface="Arial"/>
              <a:ea typeface="Arial"/>
              <a:cs typeface="Arial"/>
              <a:sym typeface="Arial"/>
            </a:endParaRPr>
          </a:p>
        </p:txBody>
      </p:sp>
      <p:pic>
        <p:nvPicPr>
          <p:cNvPr descr="A picture containing text, clipart&#10;&#10;Description automatically generated" id="160" name="Google Shape;160;p2"/>
          <p:cNvPicPr preferRelativeResize="0"/>
          <p:nvPr/>
        </p:nvPicPr>
        <p:blipFill rotWithShape="1">
          <a:blip r:embed="rId4">
            <a:alphaModFix/>
          </a:blip>
          <a:srcRect b="0" l="0" r="0" t="0"/>
          <a:stretch/>
        </p:blipFill>
        <p:spPr>
          <a:xfrm>
            <a:off x="9533468" y="431910"/>
            <a:ext cx="2421466" cy="49196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
          <p:cNvSpPr txBox="1"/>
          <p:nvPr/>
        </p:nvSpPr>
        <p:spPr>
          <a:xfrm>
            <a:off x="0" y="1538640"/>
            <a:ext cx="12191998" cy="4519984"/>
          </a:xfrm>
          <a:prstGeom prst="rect">
            <a:avLst/>
          </a:prstGeom>
          <a:gradFill>
            <a:gsLst>
              <a:gs pos="0">
                <a:schemeClr val="lt1"/>
              </a:gs>
              <a:gs pos="100000">
                <a:srgbClr val="DAF3EB"/>
              </a:gs>
            </a:gsLst>
            <a:lin ang="0" scaled="0"/>
          </a:gradFill>
          <a:ln>
            <a:noFill/>
          </a:ln>
        </p:spPr>
        <p:txBody>
          <a:bodyPr anchorCtr="0" anchor="ctr" bIns="720000" lIns="91425" spcFirstLastPara="1" rIns="91425" wrap="square" tIns="45700">
            <a:noAutofit/>
          </a:bodyPr>
          <a:lstStyle/>
          <a:p>
            <a:pPr indent="-158750" lvl="0" marL="28575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Arial"/>
              <a:ea typeface="Arial"/>
              <a:cs typeface="Arial"/>
              <a:sym typeface="Arial"/>
            </a:endParaRPr>
          </a:p>
        </p:txBody>
      </p:sp>
      <p:sp>
        <p:nvSpPr>
          <p:cNvPr id="166" name="Google Shape;166;p3"/>
          <p:cNvSpPr/>
          <p:nvPr/>
        </p:nvSpPr>
        <p:spPr>
          <a:xfrm flipH="1">
            <a:off x="1588" y="627903"/>
            <a:ext cx="560419" cy="270354"/>
          </a:xfrm>
          <a:custGeom>
            <a:rect b="b" l="l" r="r" t="t"/>
            <a:pathLst>
              <a:path extrusionOk="0" h="3987559" w="16161399">
                <a:moveTo>
                  <a:pt x="2409708" y="0"/>
                </a:moveTo>
                <a:lnTo>
                  <a:pt x="16161399" y="0"/>
                </a:lnTo>
                <a:lnTo>
                  <a:pt x="16161399" y="3987559"/>
                </a:lnTo>
                <a:lnTo>
                  <a:pt x="0" y="3960361"/>
                </a:lnTo>
                <a:lnTo>
                  <a:pt x="2409708" y="0"/>
                </a:lnTo>
                <a:close/>
              </a:path>
            </a:pathLst>
          </a:custGeom>
          <a:solidFill>
            <a:srgbClr val="19A7C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67" name="Google Shape;167;p3"/>
          <p:cNvSpPr txBox="1"/>
          <p:nvPr>
            <p:ph type="title"/>
          </p:nvPr>
        </p:nvSpPr>
        <p:spPr>
          <a:xfrm>
            <a:off x="700088" y="404813"/>
            <a:ext cx="10515600" cy="71596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YOU ARE GOING TO LEARN…</a:t>
            </a:r>
            <a:endParaRPr/>
          </a:p>
        </p:txBody>
      </p:sp>
      <p:grpSp>
        <p:nvGrpSpPr>
          <p:cNvPr id="168" name="Google Shape;168;p3"/>
          <p:cNvGrpSpPr/>
          <p:nvPr/>
        </p:nvGrpSpPr>
        <p:grpSpPr>
          <a:xfrm>
            <a:off x="7079008" y="1295401"/>
            <a:ext cx="4395635" cy="5562600"/>
            <a:chOff x="7546962" y="2023863"/>
            <a:chExt cx="3819995" cy="4834137"/>
          </a:xfrm>
        </p:grpSpPr>
        <p:sp>
          <p:nvSpPr>
            <p:cNvPr id="169" name="Google Shape;169;p3"/>
            <p:cNvSpPr/>
            <p:nvPr/>
          </p:nvSpPr>
          <p:spPr>
            <a:xfrm flipH="1">
              <a:off x="7546962" y="2023863"/>
              <a:ext cx="3819995" cy="4834137"/>
            </a:xfrm>
            <a:custGeom>
              <a:rect b="b" l="l" r="r" t="t"/>
              <a:pathLst>
                <a:path extrusionOk="0" h="4834137" w="3819995">
                  <a:moveTo>
                    <a:pt x="417961" y="4834122"/>
                  </a:moveTo>
                  <a:cubicBezTo>
                    <a:pt x="417961" y="4834122"/>
                    <a:pt x="680885" y="4215750"/>
                    <a:pt x="671152" y="3719115"/>
                  </a:cubicBezTo>
                  <a:cubicBezTo>
                    <a:pt x="661420" y="3222480"/>
                    <a:pt x="466656" y="2886514"/>
                    <a:pt x="203731" y="2389863"/>
                  </a:cubicBezTo>
                  <a:cubicBezTo>
                    <a:pt x="-59209" y="1893228"/>
                    <a:pt x="-209616" y="909676"/>
                    <a:pt x="671424" y="330266"/>
                  </a:cubicBezTo>
                  <a:cubicBezTo>
                    <a:pt x="1552449" y="-249144"/>
                    <a:pt x="2666239" y="54407"/>
                    <a:pt x="2969342" y="330266"/>
                  </a:cubicBezTo>
                  <a:cubicBezTo>
                    <a:pt x="3402682" y="724660"/>
                    <a:pt x="3509805" y="1299204"/>
                    <a:pt x="3504939" y="1430674"/>
                  </a:cubicBezTo>
                  <a:cubicBezTo>
                    <a:pt x="3500072" y="1562144"/>
                    <a:pt x="3363880" y="1620571"/>
                    <a:pt x="3505003" y="1825068"/>
                  </a:cubicBezTo>
                  <a:cubicBezTo>
                    <a:pt x="3588322" y="1945813"/>
                    <a:pt x="3710716" y="2110675"/>
                    <a:pt x="3796997" y="2225481"/>
                  </a:cubicBezTo>
                  <a:cubicBezTo>
                    <a:pt x="3845676" y="2290264"/>
                    <a:pt x="3813356" y="2383668"/>
                    <a:pt x="3735079" y="2404622"/>
                  </a:cubicBezTo>
                  <a:lnTo>
                    <a:pt x="3631574" y="2432315"/>
                  </a:lnTo>
                  <a:cubicBezTo>
                    <a:pt x="3588914" y="2443728"/>
                    <a:pt x="3563574" y="2487573"/>
                    <a:pt x="3575084" y="2530201"/>
                  </a:cubicBezTo>
                  <a:cubicBezTo>
                    <a:pt x="3590579" y="2587604"/>
                    <a:pt x="3609260" y="2661143"/>
                    <a:pt x="3612045" y="2691750"/>
                  </a:cubicBezTo>
                  <a:cubicBezTo>
                    <a:pt x="3616912" y="2745311"/>
                    <a:pt x="3480575" y="2837819"/>
                    <a:pt x="3480575" y="2837819"/>
                  </a:cubicBezTo>
                  <a:cubicBezTo>
                    <a:pt x="3480575" y="2837819"/>
                    <a:pt x="3592564" y="2891380"/>
                    <a:pt x="3539003" y="2964407"/>
                  </a:cubicBezTo>
                  <a:cubicBezTo>
                    <a:pt x="3485442" y="3037449"/>
                    <a:pt x="3431880" y="3047181"/>
                    <a:pt x="3451361" y="3154304"/>
                  </a:cubicBezTo>
                  <a:cubicBezTo>
                    <a:pt x="3470843" y="3261427"/>
                    <a:pt x="3577949" y="3495137"/>
                    <a:pt x="3144609" y="3514618"/>
                  </a:cubicBezTo>
                  <a:cubicBezTo>
                    <a:pt x="2711268" y="3534099"/>
                    <a:pt x="2414248" y="3529233"/>
                    <a:pt x="2511638" y="3982055"/>
                  </a:cubicBezTo>
                  <a:cubicBezTo>
                    <a:pt x="2609011" y="4434877"/>
                    <a:pt x="2677188" y="4834138"/>
                    <a:pt x="2677188" y="4834138"/>
                  </a:cubicBezTo>
                  <a:lnTo>
                    <a:pt x="417961" y="483413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70" name="Google Shape;170;p3"/>
            <p:cNvGrpSpPr/>
            <p:nvPr/>
          </p:nvGrpSpPr>
          <p:grpSpPr>
            <a:xfrm flipH="1">
              <a:off x="8165378" y="2023909"/>
              <a:ext cx="2941885" cy="3845608"/>
              <a:chOff x="12739148" y="1911090"/>
              <a:chExt cx="2941885" cy="3845608"/>
            </a:xfrm>
          </p:grpSpPr>
          <p:sp>
            <p:nvSpPr>
              <p:cNvPr id="171" name="Google Shape;171;p3"/>
              <p:cNvSpPr/>
              <p:nvPr/>
            </p:nvSpPr>
            <p:spPr>
              <a:xfrm>
                <a:off x="13879927" y="4285315"/>
                <a:ext cx="334061" cy="1471383"/>
              </a:xfrm>
              <a:custGeom>
                <a:rect b="b" l="l" r="r" t="t"/>
                <a:pathLst>
                  <a:path extrusionOk="0" h="1471383" w="334061">
                    <a:moveTo>
                      <a:pt x="263196" y="1435814"/>
                    </a:moveTo>
                    <a:cubicBezTo>
                      <a:pt x="263196" y="1455408"/>
                      <a:pt x="278900" y="1471383"/>
                      <a:pt x="298509" y="1471383"/>
                    </a:cubicBezTo>
                    <a:cubicBezTo>
                      <a:pt x="318086" y="1471383"/>
                      <a:pt x="334062" y="1455408"/>
                      <a:pt x="334062" y="1435814"/>
                    </a:cubicBezTo>
                    <a:cubicBezTo>
                      <a:pt x="334062" y="1419343"/>
                      <a:pt x="322728" y="1405752"/>
                      <a:pt x="307505" y="1401782"/>
                    </a:cubicBezTo>
                    <a:lnTo>
                      <a:pt x="307505" y="1048111"/>
                    </a:lnTo>
                    <a:lnTo>
                      <a:pt x="44581" y="785187"/>
                    </a:lnTo>
                    <a:lnTo>
                      <a:pt x="44581" y="69841"/>
                    </a:lnTo>
                    <a:cubicBezTo>
                      <a:pt x="59804" y="65823"/>
                      <a:pt x="71138" y="52040"/>
                      <a:pt x="71138" y="35585"/>
                    </a:cubicBezTo>
                    <a:cubicBezTo>
                      <a:pt x="71138" y="16008"/>
                      <a:pt x="55162" y="0"/>
                      <a:pt x="35585" y="0"/>
                    </a:cubicBezTo>
                    <a:cubicBezTo>
                      <a:pt x="15976" y="0"/>
                      <a:pt x="0" y="15991"/>
                      <a:pt x="0" y="35585"/>
                    </a:cubicBezTo>
                    <a:cubicBezTo>
                      <a:pt x="0" y="52136"/>
                      <a:pt x="11461" y="65983"/>
                      <a:pt x="26813" y="69921"/>
                    </a:cubicBezTo>
                    <a:lnTo>
                      <a:pt x="26813" y="792422"/>
                    </a:lnTo>
                    <a:lnTo>
                      <a:pt x="289721" y="1055347"/>
                    </a:lnTo>
                    <a:lnTo>
                      <a:pt x="289721" y="1401718"/>
                    </a:lnTo>
                    <a:cubicBezTo>
                      <a:pt x="274450" y="1405624"/>
                      <a:pt x="263196" y="1419279"/>
                      <a:pt x="263196" y="143581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 name="Google Shape;172;p3"/>
              <p:cNvSpPr/>
              <p:nvPr/>
            </p:nvSpPr>
            <p:spPr>
              <a:xfrm>
                <a:off x="13319214" y="2045889"/>
                <a:ext cx="369534" cy="2311027"/>
              </a:xfrm>
              <a:custGeom>
                <a:rect b="b" l="l" r="r" t="t"/>
                <a:pathLst>
                  <a:path extrusionOk="0" h="2311027" w="369534">
                    <a:moveTo>
                      <a:pt x="194748" y="8452"/>
                    </a:moveTo>
                    <a:lnTo>
                      <a:pt x="194748" y="716691"/>
                    </a:lnTo>
                    <a:lnTo>
                      <a:pt x="211428" y="733355"/>
                    </a:lnTo>
                    <a:lnTo>
                      <a:pt x="209763" y="733355"/>
                    </a:lnTo>
                    <a:lnTo>
                      <a:pt x="209763" y="968874"/>
                    </a:lnTo>
                    <a:lnTo>
                      <a:pt x="69249" y="1109228"/>
                    </a:lnTo>
                    <a:lnTo>
                      <a:pt x="69249" y="1384558"/>
                    </a:lnTo>
                    <a:lnTo>
                      <a:pt x="160380" y="1475705"/>
                    </a:lnTo>
                    <a:cubicBezTo>
                      <a:pt x="158619" y="1479579"/>
                      <a:pt x="157594" y="1483853"/>
                      <a:pt x="157594" y="1488399"/>
                    </a:cubicBezTo>
                    <a:cubicBezTo>
                      <a:pt x="157594" y="1502438"/>
                      <a:pt x="166943" y="1513979"/>
                      <a:pt x="179717" y="1517693"/>
                    </a:cubicBezTo>
                    <a:lnTo>
                      <a:pt x="179717" y="1733715"/>
                    </a:lnTo>
                    <a:lnTo>
                      <a:pt x="19929" y="1893423"/>
                    </a:lnTo>
                    <a:lnTo>
                      <a:pt x="19929" y="2251448"/>
                    </a:lnTo>
                    <a:cubicBezTo>
                      <a:pt x="8292" y="2255850"/>
                      <a:pt x="0" y="2266991"/>
                      <a:pt x="0" y="2280213"/>
                    </a:cubicBezTo>
                    <a:cubicBezTo>
                      <a:pt x="0" y="2297133"/>
                      <a:pt x="13767" y="2311028"/>
                      <a:pt x="30831" y="2311028"/>
                    </a:cubicBezTo>
                    <a:cubicBezTo>
                      <a:pt x="47895" y="2311028"/>
                      <a:pt x="61645" y="2297133"/>
                      <a:pt x="61645" y="2280213"/>
                    </a:cubicBezTo>
                    <a:cubicBezTo>
                      <a:pt x="61645" y="2266991"/>
                      <a:pt x="53353" y="2255850"/>
                      <a:pt x="41716" y="2251448"/>
                    </a:cubicBezTo>
                    <a:lnTo>
                      <a:pt x="41716" y="1902291"/>
                    </a:lnTo>
                    <a:lnTo>
                      <a:pt x="179701" y="1764306"/>
                    </a:lnTo>
                    <a:lnTo>
                      <a:pt x="179701" y="2068113"/>
                    </a:lnTo>
                    <a:cubicBezTo>
                      <a:pt x="167663" y="2072323"/>
                      <a:pt x="159003" y="2083672"/>
                      <a:pt x="159003" y="2096927"/>
                    </a:cubicBezTo>
                    <a:cubicBezTo>
                      <a:pt x="159003" y="2114007"/>
                      <a:pt x="172754" y="2127901"/>
                      <a:pt x="189818" y="2127901"/>
                    </a:cubicBezTo>
                    <a:cubicBezTo>
                      <a:pt x="206722" y="2127901"/>
                      <a:pt x="220488" y="2114007"/>
                      <a:pt x="220488" y="2096927"/>
                    </a:cubicBezTo>
                    <a:cubicBezTo>
                      <a:pt x="220488" y="2084281"/>
                      <a:pt x="212645" y="2073283"/>
                      <a:pt x="201519" y="2068641"/>
                    </a:cubicBezTo>
                    <a:lnTo>
                      <a:pt x="201519" y="1742503"/>
                    </a:lnTo>
                    <a:lnTo>
                      <a:pt x="369535" y="1574472"/>
                    </a:lnTo>
                    <a:lnTo>
                      <a:pt x="369535" y="860695"/>
                    </a:lnTo>
                    <a:lnTo>
                      <a:pt x="216534" y="707534"/>
                    </a:lnTo>
                    <a:lnTo>
                      <a:pt x="216534" y="0"/>
                    </a:lnTo>
                    <a:cubicBezTo>
                      <a:pt x="209283" y="2721"/>
                      <a:pt x="202015" y="5619"/>
                      <a:pt x="194748" y="8452"/>
                    </a:cubicBezTo>
                    <a:close/>
                    <a:moveTo>
                      <a:pt x="231405" y="977726"/>
                    </a:moveTo>
                    <a:lnTo>
                      <a:pt x="231405" y="753348"/>
                    </a:lnTo>
                    <a:lnTo>
                      <a:pt x="347892" y="869835"/>
                    </a:lnTo>
                    <a:lnTo>
                      <a:pt x="347892" y="1565604"/>
                    </a:lnTo>
                    <a:lnTo>
                      <a:pt x="201519" y="1711897"/>
                    </a:lnTo>
                    <a:lnTo>
                      <a:pt x="201519" y="1516028"/>
                    </a:lnTo>
                    <a:cubicBezTo>
                      <a:pt x="211908" y="1511130"/>
                      <a:pt x="219224" y="1500709"/>
                      <a:pt x="219224" y="1488367"/>
                    </a:cubicBezTo>
                    <a:cubicBezTo>
                      <a:pt x="219224" y="1471303"/>
                      <a:pt x="205313" y="1457553"/>
                      <a:pt x="188393" y="1457553"/>
                    </a:cubicBezTo>
                    <a:cubicBezTo>
                      <a:pt x="183863" y="1457553"/>
                      <a:pt x="179605" y="1458577"/>
                      <a:pt x="175731" y="1460322"/>
                    </a:cubicBezTo>
                    <a:lnTo>
                      <a:pt x="91019" y="1375370"/>
                    </a:lnTo>
                    <a:lnTo>
                      <a:pt x="91019" y="1118080"/>
                    </a:lnTo>
                    <a:lnTo>
                      <a:pt x="231405" y="977726"/>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 name="Google Shape;173;p3"/>
              <p:cNvSpPr/>
              <p:nvPr/>
            </p:nvSpPr>
            <p:spPr>
              <a:xfrm>
                <a:off x="13009276" y="2123798"/>
                <a:ext cx="435293" cy="2557304"/>
              </a:xfrm>
              <a:custGeom>
                <a:rect b="b" l="l" r="r" t="t"/>
                <a:pathLst>
                  <a:path extrusionOk="0" h="2557304" w="435293">
                    <a:moveTo>
                      <a:pt x="0" y="1130806"/>
                    </a:moveTo>
                    <a:lnTo>
                      <a:pt x="0" y="1415965"/>
                    </a:lnTo>
                    <a:lnTo>
                      <a:pt x="198366" y="1614475"/>
                    </a:lnTo>
                    <a:lnTo>
                      <a:pt x="198366" y="2264734"/>
                    </a:lnTo>
                    <a:lnTo>
                      <a:pt x="308850" y="2375218"/>
                    </a:lnTo>
                    <a:lnTo>
                      <a:pt x="308850" y="2498669"/>
                    </a:lnTo>
                    <a:cubicBezTo>
                      <a:pt x="298221" y="2503519"/>
                      <a:pt x="290825" y="2514132"/>
                      <a:pt x="290825" y="2526490"/>
                    </a:cubicBezTo>
                    <a:cubicBezTo>
                      <a:pt x="290825" y="2543554"/>
                      <a:pt x="304592" y="2557304"/>
                      <a:pt x="321640" y="2557304"/>
                    </a:cubicBezTo>
                    <a:cubicBezTo>
                      <a:pt x="338560" y="2557304"/>
                      <a:pt x="352310" y="2543554"/>
                      <a:pt x="352310" y="2526490"/>
                    </a:cubicBezTo>
                    <a:cubicBezTo>
                      <a:pt x="352310" y="2512739"/>
                      <a:pt x="343154" y="2501214"/>
                      <a:pt x="330652" y="2497340"/>
                    </a:cubicBezTo>
                    <a:lnTo>
                      <a:pt x="330652" y="2366238"/>
                    </a:lnTo>
                    <a:lnTo>
                      <a:pt x="220168" y="2255738"/>
                    </a:lnTo>
                    <a:lnTo>
                      <a:pt x="220168" y="1605335"/>
                    </a:lnTo>
                    <a:lnTo>
                      <a:pt x="21802" y="1407129"/>
                    </a:lnTo>
                    <a:lnTo>
                      <a:pt x="21802" y="1139658"/>
                    </a:lnTo>
                    <a:lnTo>
                      <a:pt x="435294" y="726167"/>
                    </a:lnTo>
                    <a:lnTo>
                      <a:pt x="435294" y="532876"/>
                    </a:lnTo>
                    <a:lnTo>
                      <a:pt x="346772" y="444050"/>
                    </a:lnTo>
                    <a:lnTo>
                      <a:pt x="346772" y="0"/>
                    </a:lnTo>
                    <a:cubicBezTo>
                      <a:pt x="339488" y="3602"/>
                      <a:pt x="332237" y="7331"/>
                      <a:pt x="324969" y="11029"/>
                    </a:cubicBezTo>
                    <a:lnTo>
                      <a:pt x="324969" y="453206"/>
                    </a:lnTo>
                    <a:lnTo>
                      <a:pt x="413459" y="541728"/>
                    </a:lnTo>
                    <a:lnTo>
                      <a:pt x="413459" y="717171"/>
                    </a:lnTo>
                    <a:lnTo>
                      <a:pt x="0" y="1130806"/>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 name="Google Shape;174;p3"/>
              <p:cNvSpPr/>
              <p:nvPr/>
            </p:nvSpPr>
            <p:spPr>
              <a:xfrm>
                <a:off x="13724846" y="1911090"/>
                <a:ext cx="1956187" cy="3529331"/>
              </a:xfrm>
              <a:custGeom>
                <a:rect b="b" l="l" r="r" t="t"/>
                <a:pathLst>
                  <a:path extrusionOk="0" h="3529331" w="1956187">
                    <a:moveTo>
                      <a:pt x="1920715" y="548243"/>
                    </a:moveTo>
                    <a:lnTo>
                      <a:pt x="1920715" y="883249"/>
                    </a:lnTo>
                    <a:cubicBezTo>
                      <a:pt x="1901362" y="883249"/>
                      <a:pt x="1885403" y="899241"/>
                      <a:pt x="1885403" y="918834"/>
                    </a:cubicBezTo>
                    <a:cubicBezTo>
                      <a:pt x="1885403" y="927654"/>
                      <a:pt x="1888748" y="935626"/>
                      <a:pt x="1894079" y="941853"/>
                    </a:cubicBezTo>
                    <a:lnTo>
                      <a:pt x="1757518" y="1078398"/>
                    </a:lnTo>
                    <a:lnTo>
                      <a:pt x="1757518" y="968906"/>
                    </a:lnTo>
                    <a:cubicBezTo>
                      <a:pt x="1768099" y="962727"/>
                      <a:pt x="1775302" y="951394"/>
                      <a:pt x="1775302" y="938299"/>
                    </a:cubicBezTo>
                    <a:cubicBezTo>
                      <a:pt x="1775302" y="918706"/>
                      <a:pt x="1759327" y="902715"/>
                      <a:pt x="1739734" y="902715"/>
                    </a:cubicBezTo>
                    <a:cubicBezTo>
                      <a:pt x="1720140" y="902715"/>
                      <a:pt x="1704421" y="918706"/>
                      <a:pt x="1704421" y="938299"/>
                    </a:cubicBezTo>
                    <a:cubicBezTo>
                      <a:pt x="1704421" y="957893"/>
                      <a:pt x="1720140" y="973852"/>
                      <a:pt x="1739734" y="973852"/>
                    </a:cubicBezTo>
                    <a:lnTo>
                      <a:pt x="1739734" y="1096182"/>
                    </a:lnTo>
                    <a:lnTo>
                      <a:pt x="1565427" y="1270504"/>
                    </a:lnTo>
                    <a:cubicBezTo>
                      <a:pt x="1559457" y="1265990"/>
                      <a:pt x="1552125" y="1263221"/>
                      <a:pt x="1544105" y="1263221"/>
                    </a:cubicBezTo>
                    <a:cubicBezTo>
                      <a:pt x="1524512" y="1263221"/>
                      <a:pt x="1508552" y="1279196"/>
                      <a:pt x="1508552" y="1298774"/>
                    </a:cubicBezTo>
                    <a:cubicBezTo>
                      <a:pt x="1508552" y="1315358"/>
                      <a:pt x="1520622" y="1329556"/>
                      <a:pt x="1536630" y="1332998"/>
                    </a:cubicBezTo>
                    <a:lnTo>
                      <a:pt x="1536630" y="1462659"/>
                    </a:lnTo>
                    <a:lnTo>
                      <a:pt x="1279932" y="1719420"/>
                    </a:lnTo>
                    <a:lnTo>
                      <a:pt x="1080815" y="1520302"/>
                    </a:lnTo>
                    <a:cubicBezTo>
                      <a:pt x="1084048" y="1514940"/>
                      <a:pt x="1086017" y="1508745"/>
                      <a:pt x="1086017" y="1502038"/>
                    </a:cubicBezTo>
                    <a:cubicBezTo>
                      <a:pt x="1086017" y="1485406"/>
                      <a:pt x="1074444" y="1471847"/>
                      <a:pt x="1058964" y="1468102"/>
                    </a:cubicBezTo>
                    <a:lnTo>
                      <a:pt x="1058964" y="269119"/>
                    </a:lnTo>
                    <a:lnTo>
                      <a:pt x="963303" y="173538"/>
                    </a:lnTo>
                    <a:lnTo>
                      <a:pt x="963303" y="31007"/>
                    </a:lnTo>
                    <a:cubicBezTo>
                      <a:pt x="957380" y="30046"/>
                      <a:pt x="951473" y="29070"/>
                      <a:pt x="945503" y="28157"/>
                    </a:cubicBezTo>
                    <a:lnTo>
                      <a:pt x="945503" y="155770"/>
                    </a:lnTo>
                    <a:lnTo>
                      <a:pt x="799946" y="10309"/>
                    </a:lnTo>
                    <a:cubicBezTo>
                      <a:pt x="790870" y="9476"/>
                      <a:pt x="781761" y="8708"/>
                      <a:pt x="772621" y="7972"/>
                    </a:cubicBezTo>
                    <a:lnTo>
                      <a:pt x="945519" y="181094"/>
                    </a:lnTo>
                    <a:lnTo>
                      <a:pt x="945519" y="668572"/>
                    </a:lnTo>
                    <a:lnTo>
                      <a:pt x="827447" y="786644"/>
                    </a:lnTo>
                    <a:lnTo>
                      <a:pt x="827447" y="1392130"/>
                    </a:lnTo>
                    <a:cubicBezTo>
                      <a:pt x="826406" y="1391521"/>
                      <a:pt x="825366" y="1390897"/>
                      <a:pt x="824261" y="1390401"/>
                    </a:cubicBezTo>
                    <a:lnTo>
                      <a:pt x="824261" y="712753"/>
                    </a:lnTo>
                    <a:lnTo>
                      <a:pt x="618756" y="506783"/>
                    </a:lnTo>
                    <a:cubicBezTo>
                      <a:pt x="619861" y="503342"/>
                      <a:pt x="620613" y="499756"/>
                      <a:pt x="620613" y="495962"/>
                    </a:cubicBezTo>
                    <a:cubicBezTo>
                      <a:pt x="620613" y="482884"/>
                      <a:pt x="613394" y="471535"/>
                      <a:pt x="602829" y="465340"/>
                    </a:cubicBezTo>
                    <a:lnTo>
                      <a:pt x="602829" y="176"/>
                    </a:lnTo>
                    <a:cubicBezTo>
                      <a:pt x="595529" y="96"/>
                      <a:pt x="588246" y="16"/>
                      <a:pt x="580914" y="0"/>
                    </a:cubicBezTo>
                    <a:lnTo>
                      <a:pt x="580914" y="109716"/>
                    </a:lnTo>
                    <a:lnTo>
                      <a:pt x="375617" y="315333"/>
                    </a:lnTo>
                    <a:lnTo>
                      <a:pt x="375617" y="8644"/>
                    </a:lnTo>
                    <a:cubicBezTo>
                      <a:pt x="369695" y="9156"/>
                      <a:pt x="363756" y="9797"/>
                      <a:pt x="357833" y="10357"/>
                    </a:cubicBezTo>
                    <a:lnTo>
                      <a:pt x="357833" y="333149"/>
                    </a:lnTo>
                    <a:lnTo>
                      <a:pt x="268015" y="423112"/>
                    </a:lnTo>
                    <a:cubicBezTo>
                      <a:pt x="263677" y="421191"/>
                      <a:pt x="258890" y="420086"/>
                      <a:pt x="253816" y="420086"/>
                    </a:cubicBezTo>
                    <a:cubicBezTo>
                      <a:pt x="234223" y="420086"/>
                      <a:pt x="218247" y="436062"/>
                      <a:pt x="218247" y="455639"/>
                    </a:cubicBezTo>
                    <a:cubicBezTo>
                      <a:pt x="218247" y="471327"/>
                      <a:pt x="228572" y="484565"/>
                      <a:pt x="242739" y="489271"/>
                    </a:cubicBezTo>
                    <a:lnTo>
                      <a:pt x="242739" y="807261"/>
                    </a:lnTo>
                    <a:lnTo>
                      <a:pt x="543217" y="1107723"/>
                    </a:lnTo>
                    <a:cubicBezTo>
                      <a:pt x="540079" y="1112942"/>
                      <a:pt x="538142" y="1118993"/>
                      <a:pt x="538142" y="1125588"/>
                    </a:cubicBezTo>
                    <a:cubicBezTo>
                      <a:pt x="538142" y="1142092"/>
                      <a:pt x="549555" y="1155938"/>
                      <a:pt x="564699" y="1159908"/>
                    </a:cubicBezTo>
                    <a:lnTo>
                      <a:pt x="564699" y="1670037"/>
                    </a:lnTo>
                    <a:lnTo>
                      <a:pt x="51464" y="2183064"/>
                    </a:lnTo>
                    <a:cubicBezTo>
                      <a:pt x="46678" y="2180630"/>
                      <a:pt x="41332" y="2179110"/>
                      <a:pt x="35553" y="2179110"/>
                    </a:cubicBezTo>
                    <a:cubicBezTo>
                      <a:pt x="15959" y="2179110"/>
                      <a:pt x="0" y="2195085"/>
                      <a:pt x="0" y="2214166"/>
                    </a:cubicBezTo>
                    <a:cubicBezTo>
                      <a:pt x="0" y="2227244"/>
                      <a:pt x="7203" y="2238594"/>
                      <a:pt x="17768" y="2244773"/>
                    </a:cubicBezTo>
                    <a:lnTo>
                      <a:pt x="17768" y="3323106"/>
                    </a:lnTo>
                    <a:lnTo>
                      <a:pt x="166975" y="3472297"/>
                    </a:lnTo>
                    <a:cubicBezTo>
                      <a:pt x="162397" y="3478283"/>
                      <a:pt x="159579" y="3485663"/>
                      <a:pt x="159579" y="3493763"/>
                    </a:cubicBezTo>
                    <a:cubicBezTo>
                      <a:pt x="159579" y="3513356"/>
                      <a:pt x="175555" y="3529332"/>
                      <a:pt x="195132" y="3529332"/>
                    </a:cubicBezTo>
                    <a:cubicBezTo>
                      <a:pt x="214709" y="3529332"/>
                      <a:pt x="230445" y="3513356"/>
                      <a:pt x="230445" y="3493763"/>
                    </a:cubicBezTo>
                    <a:cubicBezTo>
                      <a:pt x="230445" y="3474169"/>
                      <a:pt x="214709" y="3458194"/>
                      <a:pt x="195132" y="3458194"/>
                    </a:cubicBezTo>
                    <a:cubicBezTo>
                      <a:pt x="190058" y="3458194"/>
                      <a:pt x="185255" y="3459298"/>
                      <a:pt x="180901" y="3461219"/>
                    </a:cubicBezTo>
                    <a:lnTo>
                      <a:pt x="35569" y="3315903"/>
                    </a:lnTo>
                    <a:lnTo>
                      <a:pt x="35569" y="2249767"/>
                    </a:lnTo>
                    <a:cubicBezTo>
                      <a:pt x="55162" y="2249767"/>
                      <a:pt x="70881" y="2233776"/>
                      <a:pt x="70881" y="2214182"/>
                    </a:cubicBezTo>
                    <a:cubicBezTo>
                      <a:pt x="70881" y="2207011"/>
                      <a:pt x="68656" y="2200288"/>
                      <a:pt x="64863" y="2194685"/>
                    </a:cubicBezTo>
                    <a:lnTo>
                      <a:pt x="564667" y="1695041"/>
                    </a:lnTo>
                    <a:lnTo>
                      <a:pt x="564667" y="2196622"/>
                    </a:lnTo>
                    <a:cubicBezTo>
                      <a:pt x="549523" y="2200592"/>
                      <a:pt x="538110" y="2214406"/>
                      <a:pt x="538110" y="2230926"/>
                    </a:cubicBezTo>
                    <a:cubicBezTo>
                      <a:pt x="538110" y="2237393"/>
                      <a:pt x="539983" y="2243316"/>
                      <a:pt x="543008" y="2248486"/>
                    </a:cubicBezTo>
                    <a:lnTo>
                      <a:pt x="304560" y="2487159"/>
                    </a:lnTo>
                    <a:lnTo>
                      <a:pt x="304560" y="2829657"/>
                    </a:lnTo>
                    <a:cubicBezTo>
                      <a:pt x="290985" y="2834603"/>
                      <a:pt x="281109" y="2847618"/>
                      <a:pt x="281109" y="2862985"/>
                    </a:cubicBezTo>
                    <a:cubicBezTo>
                      <a:pt x="281109" y="2882594"/>
                      <a:pt x="297100" y="2898570"/>
                      <a:pt x="316421" y="2898570"/>
                    </a:cubicBezTo>
                    <a:cubicBezTo>
                      <a:pt x="336015" y="2898570"/>
                      <a:pt x="351990" y="2882594"/>
                      <a:pt x="351990" y="2862985"/>
                    </a:cubicBezTo>
                    <a:cubicBezTo>
                      <a:pt x="351990" y="2845424"/>
                      <a:pt x="339120" y="2830874"/>
                      <a:pt x="322344" y="2828024"/>
                    </a:cubicBezTo>
                    <a:lnTo>
                      <a:pt x="322344" y="2494379"/>
                    </a:lnTo>
                    <a:lnTo>
                      <a:pt x="555799" y="2261148"/>
                    </a:lnTo>
                    <a:cubicBezTo>
                      <a:pt x="561017" y="2264142"/>
                      <a:pt x="566988" y="2265983"/>
                      <a:pt x="573407" y="2265983"/>
                    </a:cubicBezTo>
                    <a:cubicBezTo>
                      <a:pt x="593256" y="2265983"/>
                      <a:pt x="608976" y="2250519"/>
                      <a:pt x="608976" y="2230926"/>
                    </a:cubicBezTo>
                    <a:cubicBezTo>
                      <a:pt x="608976" y="2214438"/>
                      <a:pt x="597786" y="2200656"/>
                      <a:pt x="582419" y="2196654"/>
                    </a:cubicBezTo>
                    <a:lnTo>
                      <a:pt x="582419" y="1677272"/>
                    </a:lnTo>
                    <a:lnTo>
                      <a:pt x="745360" y="1514380"/>
                    </a:lnTo>
                    <a:lnTo>
                      <a:pt x="1115071" y="1884298"/>
                    </a:lnTo>
                    <a:lnTo>
                      <a:pt x="847536" y="2151913"/>
                    </a:lnTo>
                    <a:lnTo>
                      <a:pt x="847536" y="2514980"/>
                    </a:lnTo>
                    <a:cubicBezTo>
                      <a:pt x="835370" y="2520471"/>
                      <a:pt x="826918" y="2532509"/>
                      <a:pt x="826918" y="2546819"/>
                    </a:cubicBezTo>
                    <a:cubicBezTo>
                      <a:pt x="826918" y="2554535"/>
                      <a:pt x="829432" y="2561642"/>
                      <a:pt x="833578" y="2567485"/>
                    </a:cubicBezTo>
                    <a:lnTo>
                      <a:pt x="531483" y="2870060"/>
                    </a:lnTo>
                    <a:lnTo>
                      <a:pt x="531483" y="3123716"/>
                    </a:lnTo>
                    <a:cubicBezTo>
                      <a:pt x="520854" y="3129879"/>
                      <a:pt x="513715" y="3141260"/>
                      <a:pt x="513715" y="3154387"/>
                    </a:cubicBezTo>
                    <a:cubicBezTo>
                      <a:pt x="513715" y="3173964"/>
                      <a:pt x="529418" y="3189939"/>
                      <a:pt x="549267" y="3189939"/>
                    </a:cubicBezTo>
                    <a:cubicBezTo>
                      <a:pt x="568605" y="3189939"/>
                      <a:pt x="584580" y="3173964"/>
                      <a:pt x="584580" y="3154387"/>
                    </a:cubicBezTo>
                    <a:cubicBezTo>
                      <a:pt x="584580" y="3134809"/>
                      <a:pt x="568605" y="3118802"/>
                      <a:pt x="549267" y="3118802"/>
                    </a:cubicBezTo>
                    <a:lnTo>
                      <a:pt x="549267" y="2877280"/>
                    </a:lnTo>
                    <a:lnTo>
                      <a:pt x="847488" y="2579059"/>
                    </a:lnTo>
                    <a:cubicBezTo>
                      <a:pt x="851986" y="2581140"/>
                      <a:pt x="856933" y="2582388"/>
                      <a:pt x="862215" y="2582388"/>
                    </a:cubicBezTo>
                    <a:cubicBezTo>
                      <a:pt x="881808" y="2582388"/>
                      <a:pt x="897768" y="2566397"/>
                      <a:pt x="897768" y="2546803"/>
                    </a:cubicBezTo>
                    <a:cubicBezTo>
                      <a:pt x="897768" y="2528267"/>
                      <a:pt x="883425" y="2513604"/>
                      <a:pt x="865305" y="2512051"/>
                    </a:cubicBezTo>
                    <a:lnTo>
                      <a:pt x="865305" y="2159116"/>
                    </a:lnTo>
                    <a:lnTo>
                      <a:pt x="1126692" y="1897809"/>
                    </a:lnTo>
                    <a:lnTo>
                      <a:pt x="1126692" y="2636254"/>
                    </a:lnTo>
                    <a:lnTo>
                      <a:pt x="993941" y="2768764"/>
                    </a:lnTo>
                    <a:lnTo>
                      <a:pt x="993941" y="3279101"/>
                    </a:lnTo>
                    <a:cubicBezTo>
                      <a:pt x="978654" y="3283039"/>
                      <a:pt x="967401" y="3296886"/>
                      <a:pt x="967401" y="3313422"/>
                    </a:cubicBezTo>
                    <a:cubicBezTo>
                      <a:pt x="967401" y="3333031"/>
                      <a:pt x="983120" y="3348750"/>
                      <a:pt x="1002714" y="3348750"/>
                    </a:cubicBezTo>
                    <a:cubicBezTo>
                      <a:pt x="1022307" y="3348750"/>
                      <a:pt x="1038282" y="3333031"/>
                      <a:pt x="1038282" y="3313422"/>
                    </a:cubicBezTo>
                    <a:cubicBezTo>
                      <a:pt x="1038282" y="3296870"/>
                      <a:pt x="1026821" y="3283023"/>
                      <a:pt x="1011470" y="3279085"/>
                    </a:cubicBezTo>
                    <a:lnTo>
                      <a:pt x="1011470" y="2776496"/>
                    </a:lnTo>
                    <a:lnTo>
                      <a:pt x="1144477" y="2643489"/>
                    </a:lnTo>
                    <a:lnTo>
                      <a:pt x="1144477" y="1888716"/>
                    </a:lnTo>
                    <a:lnTo>
                      <a:pt x="1140138" y="1884378"/>
                    </a:lnTo>
                    <a:lnTo>
                      <a:pt x="1279917" y="1744632"/>
                    </a:lnTo>
                    <a:lnTo>
                      <a:pt x="1383950" y="1848505"/>
                    </a:lnTo>
                    <a:lnTo>
                      <a:pt x="1383950" y="2143269"/>
                    </a:lnTo>
                    <a:lnTo>
                      <a:pt x="1264869" y="2262349"/>
                    </a:lnTo>
                    <a:lnTo>
                      <a:pt x="1264869" y="2503199"/>
                    </a:lnTo>
                    <a:cubicBezTo>
                      <a:pt x="1248093" y="2506048"/>
                      <a:pt x="1235223" y="2520599"/>
                      <a:pt x="1235223" y="2538159"/>
                    </a:cubicBezTo>
                    <a:cubicBezTo>
                      <a:pt x="1235223" y="2557768"/>
                      <a:pt x="1251199" y="2573232"/>
                      <a:pt x="1270808" y="2573232"/>
                    </a:cubicBezTo>
                    <a:cubicBezTo>
                      <a:pt x="1290385" y="2573232"/>
                      <a:pt x="1306121" y="2557768"/>
                      <a:pt x="1306121" y="2538159"/>
                    </a:cubicBezTo>
                    <a:cubicBezTo>
                      <a:pt x="1306121" y="2522760"/>
                      <a:pt x="1296340" y="2509730"/>
                      <a:pt x="1282654" y="2504800"/>
                    </a:cubicBezTo>
                    <a:lnTo>
                      <a:pt x="1282654" y="2269584"/>
                    </a:lnTo>
                    <a:lnTo>
                      <a:pt x="1383934" y="2168304"/>
                    </a:lnTo>
                    <a:lnTo>
                      <a:pt x="1383934" y="2737934"/>
                    </a:lnTo>
                    <a:cubicBezTo>
                      <a:pt x="1367174" y="2740783"/>
                      <a:pt x="1354288" y="2755366"/>
                      <a:pt x="1354288" y="2772910"/>
                    </a:cubicBezTo>
                    <a:cubicBezTo>
                      <a:pt x="1354288" y="2792503"/>
                      <a:pt x="1370279" y="2807967"/>
                      <a:pt x="1389873" y="2807967"/>
                    </a:cubicBezTo>
                    <a:cubicBezTo>
                      <a:pt x="1409466" y="2807967"/>
                      <a:pt x="1425185" y="2792503"/>
                      <a:pt x="1425185" y="2772910"/>
                    </a:cubicBezTo>
                    <a:cubicBezTo>
                      <a:pt x="1425185" y="2757511"/>
                      <a:pt x="1415404" y="2744465"/>
                      <a:pt x="1401718" y="2739535"/>
                    </a:cubicBezTo>
                    <a:lnTo>
                      <a:pt x="1401718" y="2150520"/>
                    </a:lnTo>
                    <a:lnTo>
                      <a:pt x="1554334" y="1997904"/>
                    </a:lnTo>
                    <a:lnTo>
                      <a:pt x="1554334" y="1470279"/>
                    </a:lnTo>
                    <a:lnTo>
                      <a:pt x="1757438" y="1267239"/>
                    </a:lnTo>
                    <a:lnTo>
                      <a:pt x="1757438" y="1103401"/>
                    </a:lnTo>
                    <a:lnTo>
                      <a:pt x="1908709" y="952130"/>
                    </a:lnTo>
                    <a:cubicBezTo>
                      <a:pt x="1912455" y="953507"/>
                      <a:pt x="1916441" y="954371"/>
                      <a:pt x="1920635" y="954371"/>
                    </a:cubicBezTo>
                    <a:cubicBezTo>
                      <a:pt x="1940484" y="954371"/>
                      <a:pt x="1956188" y="938395"/>
                      <a:pt x="1956188" y="918818"/>
                    </a:cubicBezTo>
                    <a:cubicBezTo>
                      <a:pt x="1956188" y="905692"/>
                      <a:pt x="1949049" y="894311"/>
                      <a:pt x="1938420" y="888148"/>
                    </a:cubicBezTo>
                    <a:lnTo>
                      <a:pt x="1938420" y="572366"/>
                    </a:lnTo>
                    <a:cubicBezTo>
                      <a:pt x="1932705" y="564299"/>
                      <a:pt x="1926702" y="556279"/>
                      <a:pt x="1920715" y="548243"/>
                    </a:cubicBezTo>
                    <a:close/>
                    <a:moveTo>
                      <a:pt x="582451" y="1652269"/>
                    </a:moveTo>
                    <a:lnTo>
                      <a:pt x="582451" y="1159892"/>
                    </a:lnTo>
                    <a:cubicBezTo>
                      <a:pt x="597818" y="1155890"/>
                      <a:pt x="609008" y="1142076"/>
                      <a:pt x="609008" y="1125588"/>
                    </a:cubicBezTo>
                    <a:cubicBezTo>
                      <a:pt x="609008" y="1105995"/>
                      <a:pt x="593288" y="1090531"/>
                      <a:pt x="573439" y="1090531"/>
                    </a:cubicBezTo>
                    <a:cubicBezTo>
                      <a:pt x="567020" y="1090531"/>
                      <a:pt x="561065" y="1092356"/>
                      <a:pt x="555847" y="1095350"/>
                    </a:cubicBezTo>
                    <a:lnTo>
                      <a:pt x="260507" y="800010"/>
                    </a:lnTo>
                    <a:lnTo>
                      <a:pt x="260507" y="490536"/>
                    </a:lnTo>
                    <a:cubicBezTo>
                      <a:pt x="276851" y="487382"/>
                      <a:pt x="289113" y="472927"/>
                      <a:pt x="289113" y="455639"/>
                    </a:cubicBezTo>
                    <a:cubicBezTo>
                      <a:pt x="289113" y="447587"/>
                      <a:pt x="286359" y="440240"/>
                      <a:pt x="281877" y="434269"/>
                    </a:cubicBezTo>
                    <a:lnTo>
                      <a:pt x="357833" y="358313"/>
                    </a:lnTo>
                    <a:lnTo>
                      <a:pt x="357833" y="434093"/>
                    </a:lnTo>
                    <a:lnTo>
                      <a:pt x="673358" y="749362"/>
                    </a:lnTo>
                    <a:lnTo>
                      <a:pt x="673358" y="1404296"/>
                    </a:lnTo>
                    <a:cubicBezTo>
                      <a:pt x="658071" y="1408249"/>
                      <a:pt x="646801" y="1422096"/>
                      <a:pt x="646801" y="1438648"/>
                    </a:cubicBezTo>
                    <a:cubicBezTo>
                      <a:pt x="646801" y="1458225"/>
                      <a:pt x="662521" y="1474233"/>
                      <a:pt x="682114" y="1474233"/>
                    </a:cubicBezTo>
                    <a:cubicBezTo>
                      <a:pt x="688725" y="1474233"/>
                      <a:pt x="694872" y="1472296"/>
                      <a:pt x="700187" y="1469110"/>
                    </a:cubicBezTo>
                    <a:lnTo>
                      <a:pt x="732922" y="1501862"/>
                    </a:lnTo>
                    <a:lnTo>
                      <a:pt x="582451" y="1652269"/>
                    </a:lnTo>
                    <a:close/>
                    <a:moveTo>
                      <a:pt x="712625" y="1456560"/>
                    </a:moveTo>
                    <a:cubicBezTo>
                      <a:pt x="715746" y="1451278"/>
                      <a:pt x="717651" y="1445195"/>
                      <a:pt x="717651" y="1438648"/>
                    </a:cubicBezTo>
                    <a:cubicBezTo>
                      <a:pt x="717651" y="1422192"/>
                      <a:pt x="706318" y="1408409"/>
                      <a:pt x="691094" y="1404376"/>
                    </a:cubicBezTo>
                    <a:lnTo>
                      <a:pt x="691094" y="742143"/>
                    </a:lnTo>
                    <a:lnTo>
                      <a:pt x="375585" y="426361"/>
                    </a:lnTo>
                    <a:lnTo>
                      <a:pt x="375585" y="340529"/>
                    </a:lnTo>
                    <a:lnTo>
                      <a:pt x="585012" y="131102"/>
                    </a:lnTo>
                    <a:lnTo>
                      <a:pt x="585012" y="460378"/>
                    </a:lnTo>
                    <a:cubicBezTo>
                      <a:pt x="565419" y="460378"/>
                      <a:pt x="549700" y="476369"/>
                      <a:pt x="549700" y="495962"/>
                    </a:cubicBezTo>
                    <a:cubicBezTo>
                      <a:pt x="549700" y="515556"/>
                      <a:pt x="565435" y="531803"/>
                      <a:pt x="585012" y="531803"/>
                    </a:cubicBezTo>
                    <a:cubicBezTo>
                      <a:pt x="594313" y="531803"/>
                      <a:pt x="602733" y="528058"/>
                      <a:pt x="609088" y="522119"/>
                    </a:cubicBezTo>
                    <a:lnTo>
                      <a:pt x="806717" y="719956"/>
                    </a:lnTo>
                    <a:lnTo>
                      <a:pt x="806717" y="1387375"/>
                    </a:lnTo>
                    <a:cubicBezTo>
                      <a:pt x="788452" y="1388848"/>
                      <a:pt x="773950" y="1404023"/>
                      <a:pt x="773950" y="1422672"/>
                    </a:cubicBezTo>
                    <a:cubicBezTo>
                      <a:pt x="773950" y="1433189"/>
                      <a:pt x="778656" y="1442426"/>
                      <a:pt x="785955" y="1448797"/>
                    </a:cubicBezTo>
                    <a:lnTo>
                      <a:pt x="745392" y="1489344"/>
                    </a:lnTo>
                    <a:lnTo>
                      <a:pt x="712625" y="1456560"/>
                    </a:lnTo>
                    <a:close/>
                    <a:moveTo>
                      <a:pt x="1127605" y="1871780"/>
                    </a:moveTo>
                    <a:lnTo>
                      <a:pt x="757910" y="1501862"/>
                    </a:lnTo>
                    <a:lnTo>
                      <a:pt x="802731" y="1457056"/>
                    </a:lnTo>
                    <a:cubicBezTo>
                      <a:pt x="804940" y="1457473"/>
                      <a:pt x="807229" y="1457729"/>
                      <a:pt x="809566" y="1457729"/>
                    </a:cubicBezTo>
                    <a:cubicBezTo>
                      <a:pt x="829160" y="1457729"/>
                      <a:pt x="845151" y="1442265"/>
                      <a:pt x="845151" y="1422672"/>
                    </a:cubicBezTo>
                    <a:cubicBezTo>
                      <a:pt x="845151" y="1420191"/>
                      <a:pt x="844879" y="1417758"/>
                      <a:pt x="844399" y="1415421"/>
                    </a:cubicBezTo>
                    <a:lnTo>
                      <a:pt x="845263" y="1414556"/>
                    </a:lnTo>
                    <a:lnTo>
                      <a:pt x="845263" y="793831"/>
                    </a:lnTo>
                    <a:lnTo>
                      <a:pt x="963335" y="675791"/>
                    </a:lnTo>
                    <a:lnTo>
                      <a:pt x="963335" y="198878"/>
                    </a:lnTo>
                    <a:lnTo>
                      <a:pt x="1041196" y="276851"/>
                    </a:lnTo>
                    <a:lnTo>
                      <a:pt x="1041196" y="1468342"/>
                    </a:lnTo>
                    <a:cubicBezTo>
                      <a:pt x="1026181" y="1472344"/>
                      <a:pt x="1015168" y="1485694"/>
                      <a:pt x="1015168" y="1502038"/>
                    </a:cubicBezTo>
                    <a:cubicBezTo>
                      <a:pt x="1015168" y="1521647"/>
                      <a:pt x="1030871" y="1537622"/>
                      <a:pt x="1050464" y="1537622"/>
                    </a:cubicBezTo>
                    <a:cubicBezTo>
                      <a:pt x="1056835" y="1537622"/>
                      <a:pt x="1062726" y="1535798"/>
                      <a:pt x="1067912" y="1532852"/>
                    </a:cubicBezTo>
                    <a:lnTo>
                      <a:pt x="1267383" y="1732002"/>
                    </a:lnTo>
                    <a:lnTo>
                      <a:pt x="1127605" y="1871780"/>
                    </a:lnTo>
                    <a:close/>
                    <a:moveTo>
                      <a:pt x="1536630" y="1990637"/>
                    </a:moveTo>
                    <a:lnTo>
                      <a:pt x="1401798" y="2125468"/>
                    </a:lnTo>
                    <a:lnTo>
                      <a:pt x="1401798" y="1841286"/>
                    </a:lnTo>
                    <a:lnTo>
                      <a:pt x="1292562" y="1732050"/>
                    </a:lnTo>
                    <a:lnTo>
                      <a:pt x="1536630" y="1488047"/>
                    </a:lnTo>
                    <a:lnTo>
                      <a:pt x="1536630" y="1990637"/>
                    </a:lnTo>
                    <a:close/>
                    <a:moveTo>
                      <a:pt x="1739734" y="1259491"/>
                    </a:moveTo>
                    <a:lnTo>
                      <a:pt x="1554414" y="1444859"/>
                    </a:lnTo>
                    <a:lnTo>
                      <a:pt x="1554414" y="1332117"/>
                    </a:lnTo>
                    <a:cubicBezTo>
                      <a:pt x="1568965" y="1327667"/>
                      <a:pt x="1579674" y="1314333"/>
                      <a:pt x="1579674" y="1298774"/>
                    </a:cubicBezTo>
                    <a:cubicBezTo>
                      <a:pt x="1579674" y="1293635"/>
                      <a:pt x="1578522" y="1288785"/>
                      <a:pt x="1576553" y="1284367"/>
                    </a:cubicBezTo>
                    <a:lnTo>
                      <a:pt x="1739734" y="1121186"/>
                    </a:lnTo>
                    <a:lnTo>
                      <a:pt x="1739734" y="1259491"/>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 name="Google Shape;175;p3"/>
              <p:cNvSpPr/>
              <p:nvPr/>
            </p:nvSpPr>
            <p:spPr>
              <a:xfrm>
                <a:off x="12739148" y="2570249"/>
                <a:ext cx="414467" cy="1525616"/>
              </a:xfrm>
              <a:custGeom>
                <a:rect b="b" l="l" r="r" t="t"/>
                <a:pathLst>
                  <a:path extrusionOk="0" h="1525616" w="414467">
                    <a:moveTo>
                      <a:pt x="35569" y="378259"/>
                    </a:moveTo>
                    <a:cubicBezTo>
                      <a:pt x="42084" y="378259"/>
                      <a:pt x="48087" y="376370"/>
                      <a:pt x="53305" y="373312"/>
                    </a:cubicBezTo>
                    <a:lnTo>
                      <a:pt x="127852" y="447860"/>
                    </a:lnTo>
                    <a:lnTo>
                      <a:pt x="127852" y="932361"/>
                    </a:lnTo>
                    <a:cubicBezTo>
                      <a:pt x="114086" y="937275"/>
                      <a:pt x="104129" y="950321"/>
                      <a:pt x="104129" y="965720"/>
                    </a:cubicBezTo>
                    <a:cubicBezTo>
                      <a:pt x="104129" y="985314"/>
                      <a:pt x="120105" y="1001305"/>
                      <a:pt x="139698" y="1001305"/>
                    </a:cubicBezTo>
                    <a:cubicBezTo>
                      <a:pt x="144468" y="1001305"/>
                      <a:pt x="148982" y="1000329"/>
                      <a:pt x="153112" y="998616"/>
                    </a:cubicBezTo>
                    <a:lnTo>
                      <a:pt x="370143" y="1210108"/>
                    </a:lnTo>
                    <a:lnTo>
                      <a:pt x="370143" y="1456176"/>
                    </a:lnTo>
                    <a:cubicBezTo>
                      <a:pt x="354856" y="1460018"/>
                      <a:pt x="343586" y="1473496"/>
                      <a:pt x="343586" y="1490064"/>
                    </a:cubicBezTo>
                    <a:cubicBezTo>
                      <a:pt x="343586" y="1509641"/>
                      <a:pt x="359322" y="1525617"/>
                      <a:pt x="378899" y="1525617"/>
                    </a:cubicBezTo>
                    <a:cubicBezTo>
                      <a:pt x="398492" y="1525617"/>
                      <a:pt x="414468" y="1509641"/>
                      <a:pt x="414468" y="1490064"/>
                    </a:cubicBezTo>
                    <a:cubicBezTo>
                      <a:pt x="414468" y="1473496"/>
                      <a:pt x="403006" y="1460002"/>
                      <a:pt x="387655" y="1456176"/>
                    </a:cubicBezTo>
                    <a:lnTo>
                      <a:pt x="387655" y="1202904"/>
                    </a:lnTo>
                    <a:lnTo>
                      <a:pt x="167215" y="987811"/>
                    </a:lnTo>
                    <a:cubicBezTo>
                      <a:pt x="172033" y="981712"/>
                      <a:pt x="175027" y="974108"/>
                      <a:pt x="175027" y="965736"/>
                    </a:cubicBezTo>
                    <a:cubicBezTo>
                      <a:pt x="175027" y="948176"/>
                      <a:pt x="162365" y="933625"/>
                      <a:pt x="145637" y="930776"/>
                    </a:cubicBezTo>
                    <a:lnTo>
                      <a:pt x="145637" y="440656"/>
                    </a:lnTo>
                    <a:lnTo>
                      <a:pt x="65855" y="360874"/>
                    </a:lnTo>
                    <a:cubicBezTo>
                      <a:pt x="68977" y="355640"/>
                      <a:pt x="70881" y="349637"/>
                      <a:pt x="70881" y="343202"/>
                    </a:cubicBezTo>
                    <a:cubicBezTo>
                      <a:pt x="70881" y="326954"/>
                      <a:pt x="59980" y="313332"/>
                      <a:pt x="45109" y="309122"/>
                    </a:cubicBezTo>
                    <a:lnTo>
                      <a:pt x="45109" y="0"/>
                    </a:lnTo>
                    <a:cubicBezTo>
                      <a:pt x="39042" y="7572"/>
                      <a:pt x="33184" y="15207"/>
                      <a:pt x="27325" y="22843"/>
                    </a:cubicBezTo>
                    <a:lnTo>
                      <a:pt x="27325" y="308706"/>
                    </a:lnTo>
                    <a:cubicBezTo>
                      <a:pt x="11702" y="312452"/>
                      <a:pt x="0" y="326458"/>
                      <a:pt x="0" y="343186"/>
                    </a:cubicBezTo>
                    <a:cubicBezTo>
                      <a:pt x="0" y="362283"/>
                      <a:pt x="15976" y="378259"/>
                      <a:pt x="35569" y="378259"/>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pic>
          <p:nvPicPr>
            <p:cNvPr id="176" name="Google Shape;176;p3"/>
            <p:cNvPicPr preferRelativeResize="0"/>
            <p:nvPr/>
          </p:nvPicPr>
          <p:blipFill rotWithShape="1">
            <a:blip r:embed="rId3">
              <a:alphaModFix/>
            </a:blip>
            <a:srcRect b="0" l="0" r="0" t="0"/>
            <a:stretch/>
          </p:blipFill>
          <p:spPr>
            <a:xfrm flipH="1">
              <a:off x="8545731" y="2560353"/>
              <a:ext cx="2287123" cy="1917349"/>
            </a:xfrm>
            <a:prstGeom prst="rect">
              <a:avLst/>
            </a:prstGeom>
            <a:noFill/>
            <a:ln>
              <a:noFill/>
            </a:ln>
          </p:spPr>
        </p:pic>
      </p:grpSp>
      <p:grpSp>
        <p:nvGrpSpPr>
          <p:cNvPr id="177" name="Google Shape;177;p3"/>
          <p:cNvGrpSpPr/>
          <p:nvPr/>
        </p:nvGrpSpPr>
        <p:grpSpPr>
          <a:xfrm>
            <a:off x="700088" y="1538640"/>
            <a:ext cx="5077714" cy="501367"/>
            <a:chOff x="700088" y="1538640"/>
            <a:chExt cx="5077714" cy="501367"/>
          </a:xfrm>
        </p:grpSpPr>
        <p:grpSp>
          <p:nvGrpSpPr>
            <p:cNvPr id="178" name="Google Shape;178;p3"/>
            <p:cNvGrpSpPr/>
            <p:nvPr/>
          </p:nvGrpSpPr>
          <p:grpSpPr>
            <a:xfrm>
              <a:off x="1201455" y="1538640"/>
              <a:ext cx="4576347" cy="501367"/>
              <a:chOff x="1201455" y="1538640"/>
              <a:chExt cx="4576347" cy="501367"/>
            </a:xfrm>
          </p:grpSpPr>
          <p:sp>
            <p:nvSpPr>
              <p:cNvPr id="179" name="Google Shape;179;p3"/>
              <p:cNvSpPr/>
              <p:nvPr/>
            </p:nvSpPr>
            <p:spPr>
              <a:xfrm>
                <a:off x="1201455" y="1538640"/>
                <a:ext cx="4576347" cy="501367"/>
              </a:xfrm>
              <a:prstGeom prst="rect">
                <a:avLst/>
              </a:prstGeom>
              <a:solidFill>
                <a:schemeClr val="lt1"/>
              </a:solidFill>
              <a:ln>
                <a:noFill/>
              </a:ln>
              <a:effectLst>
                <a:outerShdw blurRad="63500" rotWithShape="0" algn="ctr">
                  <a:srgbClr val="000000">
                    <a:alpha val="2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0" name="Google Shape;180;p3"/>
              <p:cNvSpPr txBox="1"/>
              <p:nvPr/>
            </p:nvSpPr>
            <p:spPr>
              <a:xfrm>
                <a:off x="1383634" y="1620046"/>
                <a:ext cx="410276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Introduction to Swaps</a:t>
                </a:r>
                <a:endParaRPr b="0" i="0" sz="1600" u="none" cap="none" strike="noStrike">
                  <a:solidFill>
                    <a:srgbClr val="000000"/>
                  </a:solidFill>
                  <a:latin typeface="Arial"/>
                  <a:ea typeface="Arial"/>
                  <a:cs typeface="Arial"/>
                  <a:sym typeface="Arial"/>
                </a:endParaRPr>
              </a:p>
            </p:txBody>
          </p:sp>
        </p:grpSp>
        <p:grpSp>
          <p:nvGrpSpPr>
            <p:cNvPr id="181" name="Google Shape;181;p3"/>
            <p:cNvGrpSpPr/>
            <p:nvPr/>
          </p:nvGrpSpPr>
          <p:grpSpPr>
            <a:xfrm>
              <a:off x="700088" y="1538640"/>
              <a:ext cx="607792" cy="501367"/>
              <a:chOff x="700088" y="1538640"/>
              <a:chExt cx="607792" cy="501367"/>
            </a:xfrm>
          </p:grpSpPr>
          <p:grpSp>
            <p:nvGrpSpPr>
              <p:cNvPr id="182" name="Google Shape;182;p3"/>
              <p:cNvGrpSpPr/>
              <p:nvPr/>
            </p:nvGrpSpPr>
            <p:grpSpPr>
              <a:xfrm>
                <a:off x="700088" y="1538640"/>
                <a:ext cx="607792" cy="501367"/>
                <a:chOff x="700088" y="1538640"/>
                <a:chExt cx="607792" cy="501367"/>
              </a:xfrm>
            </p:grpSpPr>
            <p:sp>
              <p:nvSpPr>
                <p:cNvPr id="183" name="Google Shape;183;p3"/>
                <p:cNvSpPr/>
                <p:nvPr/>
              </p:nvSpPr>
              <p:spPr>
                <a:xfrm>
                  <a:off x="700088" y="1538640"/>
                  <a:ext cx="524186" cy="501367"/>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1" i="0" sz="4800" u="none" cap="none" strike="noStrike">
                    <a:solidFill>
                      <a:schemeClr val="lt1"/>
                    </a:solidFill>
                    <a:latin typeface="Arial"/>
                    <a:ea typeface="Arial"/>
                    <a:cs typeface="Arial"/>
                    <a:sym typeface="Arial"/>
                  </a:endParaRPr>
                </a:p>
              </p:txBody>
            </p:sp>
            <p:sp>
              <p:nvSpPr>
                <p:cNvPr id="184" name="Google Shape;184;p3"/>
                <p:cNvSpPr/>
                <p:nvPr/>
              </p:nvSpPr>
              <p:spPr>
                <a:xfrm rot="5400000">
                  <a:off x="1091625" y="1694308"/>
                  <a:ext cx="242479" cy="190031"/>
                </a:xfrm>
                <a:prstGeom prst="triangle">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pic>
            <p:nvPicPr>
              <p:cNvPr descr="Presentation " id="185" name="Google Shape;185;p3"/>
              <p:cNvPicPr preferRelativeResize="0"/>
              <p:nvPr/>
            </p:nvPicPr>
            <p:blipFill rotWithShape="1">
              <a:blip r:embed="rId4">
                <a:alphaModFix/>
              </a:blip>
              <a:srcRect b="0" l="0" r="0" t="0"/>
              <a:stretch/>
            </p:blipFill>
            <p:spPr>
              <a:xfrm>
                <a:off x="803799" y="1630942"/>
                <a:ext cx="316764" cy="316764"/>
              </a:xfrm>
              <a:prstGeom prst="rect">
                <a:avLst/>
              </a:prstGeom>
              <a:noFill/>
              <a:ln>
                <a:noFill/>
              </a:ln>
            </p:spPr>
          </p:pic>
        </p:grpSp>
      </p:grpSp>
      <p:grpSp>
        <p:nvGrpSpPr>
          <p:cNvPr id="186" name="Google Shape;186;p3"/>
          <p:cNvGrpSpPr/>
          <p:nvPr/>
        </p:nvGrpSpPr>
        <p:grpSpPr>
          <a:xfrm>
            <a:off x="700088" y="2112728"/>
            <a:ext cx="5077714" cy="501367"/>
            <a:chOff x="700088" y="2112728"/>
            <a:chExt cx="5077714" cy="501367"/>
          </a:xfrm>
        </p:grpSpPr>
        <p:grpSp>
          <p:nvGrpSpPr>
            <p:cNvPr id="187" name="Google Shape;187;p3"/>
            <p:cNvGrpSpPr/>
            <p:nvPr/>
          </p:nvGrpSpPr>
          <p:grpSpPr>
            <a:xfrm>
              <a:off x="700088" y="2112728"/>
              <a:ext cx="5077714" cy="501367"/>
              <a:chOff x="700088" y="2112728"/>
              <a:chExt cx="5077714" cy="501367"/>
            </a:xfrm>
          </p:grpSpPr>
          <p:sp>
            <p:nvSpPr>
              <p:cNvPr id="188" name="Google Shape;188;p3"/>
              <p:cNvSpPr/>
              <p:nvPr/>
            </p:nvSpPr>
            <p:spPr>
              <a:xfrm>
                <a:off x="1201455" y="2112728"/>
                <a:ext cx="4576347" cy="501367"/>
              </a:xfrm>
              <a:prstGeom prst="rect">
                <a:avLst/>
              </a:prstGeom>
              <a:solidFill>
                <a:schemeClr val="lt1"/>
              </a:solidFill>
              <a:ln>
                <a:noFill/>
              </a:ln>
              <a:effectLst>
                <a:outerShdw blurRad="63500" rotWithShape="0" algn="ctr">
                  <a:srgbClr val="000000">
                    <a:alpha val="2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9" name="Google Shape;189;p3"/>
              <p:cNvSpPr txBox="1"/>
              <p:nvPr/>
            </p:nvSpPr>
            <p:spPr>
              <a:xfrm>
                <a:off x="1383634" y="2194134"/>
                <a:ext cx="410276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Features &amp; Purpose of Swaps</a:t>
                </a:r>
                <a:endParaRPr b="0" i="0" sz="1600" u="none" cap="none" strike="noStrike">
                  <a:solidFill>
                    <a:srgbClr val="000000"/>
                  </a:solidFill>
                  <a:latin typeface="Arial"/>
                  <a:ea typeface="Arial"/>
                  <a:cs typeface="Arial"/>
                  <a:sym typeface="Arial"/>
                </a:endParaRPr>
              </a:p>
            </p:txBody>
          </p:sp>
          <p:grpSp>
            <p:nvGrpSpPr>
              <p:cNvPr id="190" name="Google Shape;190;p3"/>
              <p:cNvGrpSpPr/>
              <p:nvPr/>
            </p:nvGrpSpPr>
            <p:grpSpPr>
              <a:xfrm>
                <a:off x="700088" y="2112728"/>
                <a:ext cx="607792" cy="501367"/>
                <a:chOff x="700088" y="2112728"/>
                <a:chExt cx="607792" cy="501367"/>
              </a:xfrm>
            </p:grpSpPr>
            <p:sp>
              <p:nvSpPr>
                <p:cNvPr id="191" name="Google Shape;191;p3"/>
                <p:cNvSpPr/>
                <p:nvPr/>
              </p:nvSpPr>
              <p:spPr>
                <a:xfrm>
                  <a:off x="700088" y="2112728"/>
                  <a:ext cx="524186" cy="50136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1" i="0" sz="4800" u="none" cap="none" strike="noStrike">
                    <a:solidFill>
                      <a:schemeClr val="lt1"/>
                    </a:solidFill>
                    <a:latin typeface="Arial"/>
                    <a:ea typeface="Arial"/>
                    <a:cs typeface="Arial"/>
                    <a:sym typeface="Arial"/>
                  </a:endParaRPr>
                </a:p>
              </p:txBody>
            </p:sp>
            <p:sp>
              <p:nvSpPr>
                <p:cNvPr id="192" name="Google Shape;192;p3"/>
                <p:cNvSpPr/>
                <p:nvPr/>
              </p:nvSpPr>
              <p:spPr>
                <a:xfrm rot="5400000">
                  <a:off x="1091625" y="2268396"/>
                  <a:ext cx="242479" cy="190031"/>
                </a:xfrm>
                <a:prstGeom prst="triangle">
                  <a:avLst>
                    <a:gd fmla="val 50000"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pic>
          <p:nvPicPr>
            <p:cNvPr descr="New features " id="193" name="Google Shape;193;p3"/>
            <p:cNvPicPr preferRelativeResize="0"/>
            <p:nvPr/>
          </p:nvPicPr>
          <p:blipFill rotWithShape="1">
            <a:blip r:embed="rId5">
              <a:alphaModFix/>
            </a:blip>
            <a:srcRect b="0" l="0" r="0" t="0"/>
            <a:stretch/>
          </p:blipFill>
          <p:spPr>
            <a:xfrm>
              <a:off x="803799" y="2205030"/>
              <a:ext cx="316764" cy="316764"/>
            </a:xfrm>
            <a:prstGeom prst="rect">
              <a:avLst/>
            </a:prstGeom>
            <a:noFill/>
            <a:ln>
              <a:noFill/>
            </a:ln>
          </p:spPr>
        </p:pic>
      </p:grpSp>
      <p:grpSp>
        <p:nvGrpSpPr>
          <p:cNvPr id="194" name="Google Shape;194;p3"/>
          <p:cNvGrpSpPr/>
          <p:nvPr/>
        </p:nvGrpSpPr>
        <p:grpSpPr>
          <a:xfrm>
            <a:off x="700088" y="2686816"/>
            <a:ext cx="5077714" cy="501367"/>
            <a:chOff x="700088" y="2686816"/>
            <a:chExt cx="5077714" cy="501367"/>
          </a:xfrm>
        </p:grpSpPr>
        <p:grpSp>
          <p:nvGrpSpPr>
            <p:cNvPr id="195" name="Google Shape;195;p3"/>
            <p:cNvGrpSpPr/>
            <p:nvPr/>
          </p:nvGrpSpPr>
          <p:grpSpPr>
            <a:xfrm>
              <a:off x="700088" y="2686816"/>
              <a:ext cx="5077714" cy="501367"/>
              <a:chOff x="700088" y="2686816"/>
              <a:chExt cx="5077714" cy="501367"/>
            </a:xfrm>
          </p:grpSpPr>
          <p:sp>
            <p:nvSpPr>
              <p:cNvPr id="196" name="Google Shape;196;p3"/>
              <p:cNvSpPr/>
              <p:nvPr/>
            </p:nvSpPr>
            <p:spPr>
              <a:xfrm>
                <a:off x="1201455" y="2686816"/>
                <a:ext cx="4576347" cy="501367"/>
              </a:xfrm>
              <a:prstGeom prst="rect">
                <a:avLst/>
              </a:prstGeom>
              <a:solidFill>
                <a:schemeClr val="lt1"/>
              </a:solidFill>
              <a:ln>
                <a:noFill/>
              </a:ln>
              <a:effectLst>
                <a:outerShdw blurRad="63500" rotWithShape="0" algn="ctr">
                  <a:srgbClr val="000000">
                    <a:alpha val="2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7" name="Google Shape;197;p3"/>
              <p:cNvSpPr txBox="1"/>
              <p:nvPr/>
            </p:nvSpPr>
            <p:spPr>
              <a:xfrm>
                <a:off x="1383634" y="2768222"/>
                <a:ext cx="410276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Types of Swaps</a:t>
                </a:r>
                <a:endParaRPr b="0" i="0" sz="1600" u="none" cap="none" strike="noStrike">
                  <a:solidFill>
                    <a:srgbClr val="000000"/>
                  </a:solidFill>
                  <a:latin typeface="Arial"/>
                  <a:ea typeface="Arial"/>
                  <a:cs typeface="Arial"/>
                  <a:sym typeface="Arial"/>
                </a:endParaRPr>
              </a:p>
            </p:txBody>
          </p:sp>
          <p:grpSp>
            <p:nvGrpSpPr>
              <p:cNvPr id="198" name="Google Shape;198;p3"/>
              <p:cNvGrpSpPr/>
              <p:nvPr/>
            </p:nvGrpSpPr>
            <p:grpSpPr>
              <a:xfrm>
                <a:off x="700088" y="2686816"/>
                <a:ext cx="607792" cy="501367"/>
                <a:chOff x="700088" y="2686816"/>
                <a:chExt cx="607792" cy="501367"/>
              </a:xfrm>
            </p:grpSpPr>
            <p:sp>
              <p:nvSpPr>
                <p:cNvPr id="199" name="Google Shape;199;p3"/>
                <p:cNvSpPr/>
                <p:nvPr/>
              </p:nvSpPr>
              <p:spPr>
                <a:xfrm>
                  <a:off x="700088" y="2686816"/>
                  <a:ext cx="524186" cy="501367"/>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1" i="0" sz="4800" u="none" cap="none" strike="noStrike">
                    <a:solidFill>
                      <a:schemeClr val="lt1"/>
                    </a:solidFill>
                    <a:latin typeface="Arial"/>
                    <a:ea typeface="Arial"/>
                    <a:cs typeface="Arial"/>
                    <a:sym typeface="Arial"/>
                  </a:endParaRPr>
                </a:p>
              </p:txBody>
            </p:sp>
            <p:sp>
              <p:nvSpPr>
                <p:cNvPr id="200" name="Google Shape;200;p3"/>
                <p:cNvSpPr/>
                <p:nvPr/>
              </p:nvSpPr>
              <p:spPr>
                <a:xfrm rot="5400000">
                  <a:off x="1091625" y="2842484"/>
                  <a:ext cx="242479" cy="190031"/>
                </a:xfrm>
                <a:prstGeom prst="triangle">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pic>
          <p:nvPicPr>
            <p:cNvPr descr="Clipboard " id="201" name="Google Shape;201;p3"/>
            <p:cNvPicPr preferRelativeResize="0"/>
            <p:nvPr/>
          </p:nvPicPr>
          <p:blipFill rotWithShape="1">
            <a:blip r:embed="rId6">
              <a:alphaModFix/>
            </a:blip>
            <a:srcRect b="0" l="0" r="0" t="0"/>
            <a:stretch/>
          </p:blipFill>
          <p:spPr>
            <a:xfrm>
              <a:off x="803799" y="2779118"/>
              <a:ext cx="316764" cy="316764"/>
            </a:xfrm>
            <a:prstGeom prst="rect">
              <a:avLst/>
            </a:prstGeom>
            <a:noFill/>
            <a:ln>
              <a:noFill/>
            </a:ln>
          </p:spPr>
        </p:pic>
      </p:grpSp>
      <p:grpSp>
        <p:nvGrpSpPr>
          <p:cNvPr id="202" name="Google Shape;202;p3"/>
          <p:cNvGrpSpPr/>
          <p:nvPr/>
        </p:nvGrpSpPr>
        <p:grpSpPr>
          <a:xfrm>
            <a:off x="700088" y="3260904"/>
            <a:ext cx="5077714" cy="501367"/>
            <a:chOff x="700088" y="3260904"/>
            <a:chExt cx="5077714" cy="501367"/>
          </a:xfrm>
        </p:grpSpPr>
        <p:grpSp>
          <p:nvGrpSpPr>
            <p:cNvPr id="203" name="Google Shape;203;p3"/>
            <p:cNvGrpSpPr/>
            <p:nvPr/>
          </p:nvGrpSpPr>
          <p:grpSpPr>
            <a:xfrm>
              <a:off x="700088" y="3260904"/>
              <a:ext cx="5077714" cy="501367"/>
              <a:chOff x="700088" y="3260904"/>
              <a:chExt cx="5077714" cy="501367"/>
            </a:xfrm>
          </p:grpSpPr>
          <p:sp>
            <p:nvSpPr>
              <p:cNvPr id="204" name="Google Shape;204;p3"/>
              <p:cNvSpPr/>
              <p:nvPr/>
            </p:nvSpPr>
            <p:spPr>
              <a:xfrm>
                <a:off x="1201455" y="3260904"/>
                <a:ext cx="4576347" cy="501367"/>
              </a:xfrm>
              <a:prstGeom prst="rect">
                <a:avLst/>
              </a:prstGeom>
              <a:solidFill>
                <a:schemeClr val="lt1"/>
              </a:solidFill>
              <a:ln>
                <a:noFill/>
              </a:ln>
              <a:effectLst>
                <a:outerShdw blurRad="63500" rotWithShape="0" algn="ctr">
                  <a:srgbClr val="000000">
                    <a:alpha val="2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5" name="Google Shape;205;p3"/>
              <p:cNvSpPr txBox="1"/>
              <p:nvPr/>
            </p:nvSpPr>
            <p:spPr>
              <a:xfrm>
                <a:off x="1383634" y="3342310"/>
                <a:ext cx="410276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Interest Rate Swap</a:t>
                </a:r>
                <a:endParaRPr b="0" i="0" sz="1600" u="none" cap="none" strike="noStrike">
                  <a:solidFill>
                    <a:srgbClr val="000000"/>
                  </a:solidFill>
                  <a:latin typeface="Arial"/>
                  <a:ea typeface="Arial"/>
                  <a:cs typeface="Arial"/>
                  <a:sym typeface="Arial"/>
                </a:endParaRPr>
              </a:p>
            </p:txBody>
          </p:sp>
          <p:grpSp>
            <p:nvGrpSpPr>
              <p:cNvPr id="206" name="Google Shape;206;p3"/>
              <p:cNvGrpSpPr/>
              <p:nvPr/>
            </p:nvGrpSpPr>
            <p:grpSpPr>
              <a:xfrm>
                <a:off x="700088" y="3260904"/>
                <a:ext cx="607792" cy="501367"/>
                <a:chOff x="700088" y="3260904"/>
                <a:chExt cx="607792" cy="501367"/>
              </a:xfrm>
            </p:grpSpPr>
            <p:sp>
              <p:nvSpPr>
                <p:cNvPr id="207" name="Google Shape;207;p3"/>
                <p:cNvSpPr/>
                <p:nvPr/>
              </p:nvSpPr>
              <p:spPr>
                <a:xfrm>
                  <a:off x="700088" y="3260904"/>
                  <a:ext cx="524186" cy="50136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1" i="0" sz="4800" u="none" cap="none" strike="noStrike">
                    <a:solidFill>
                      <a:schemeClr val="lt1"/>
                    </a:solidFill>
                    <a:latin typeface="Arial"/>
                    <a:ea typeface="Arial"/>
                    <a:cs typeface="Arial"/>
                    <a:sym typeface="Arial"/>
                  </a:endParaRPr>
                </a:p>
              </p:txBody>
            </p:sp>
            <p:sp>
              <p:nvSpPr>
                <p:cNvPr id="208" name="Google Shape;208;p3"/>
                <p:cNvSpPr/>
                <p:nvPr/>
              </p:nvSpPr>
              <p:spPr>
                <a:xfrm rot="5400000">
                  <a:off x="1091625" y="3416572"/>
                  <a:ext cx="242479" cy="190031"/>
                </a:xfrm>
                <a:prstGeom prst="triangle">
                  <a:avLst>
                    <a:gd fmla="val 50000"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pic>
          <p:nvPicPr>
            <p:cNvPr descr="Interest rate " id="209" name="Google Shape;209;p3"/>
            <p:cNvPicPr preferRelativeResize="0"/>
            <p:nvPr/>
          </p:nvPicPr>
          <p:blipFill rotWithShape="1">
            <a:blip r:embed="rId7">
              <a:alphaModFix/>
            </a:blip>
            <a:srcRect b="0" l="0" r="0" t="0"/>
            <a:stretch/>
          </p:blipFill>
          <p:spPr>
            <a:xfrm>
              <a:off x="803799" y="3353206"/>
              <a:ext cx="316764" cy="316764"/>
            </a:xfrm>
            <a:prstGeom prst="rect">
              <a:avLst/>
            </a:prstGeom>
            <a:noFill/>
            <a:ln>
              <a:noFill/>
            </a:ln>
          </p:spPr>
        </p:pic>
      </p:grpSp>
      <p:grpSp>
        <p:nvGrpSpPr>
          <p:cNvPr id="210" name="Google Shape;210;p3"/>
          <p:cNvGrpSpPr/>
          <p:nvPr/>
        </p:nvGrpSpPr>
        <p:grpSpPr>
          <a:xfrm>
            <a:off x="700088" y="3834992"/>
            <a:ext cx="5077714" cy="501367"/>
            <a:chOff x="700088" y="3834992"/>
            <a:chExt cx="5077714" cy="501367"/>
          </a:xfrm>
        </p:grpSpPr>
        <p:grpSp>
          <p:nvGrpSpPr>
            <p:cNvPr id="211" name="Google Shape;211;p3"/>
            <p:cNvGrpSpPr/>
            <p:nvPr/>
          </p:nvGrpSpPr>
          <p:grpSpPr>
            <a:xfrm>
              <a:off x="700088" y="3834992"/>
              <a:ext cx="5077714" cy="501367"/>
              <a:chOff x="700088" y="3834992"/>
              <a:chExt cx="5077714" cy="501367"/>
            </a:xfrm>
          </p:grpSpPr>
          <p:sp>
            <p:nvSpPr>
              <p:cNvPr id="212" name="Google Shape;212;p3"/>
              <p:cNvSpPr/>
              <p:nvPr/>
            </p:nvSpPr>
            <p:spPr>
              <a:xfrm>
                <a:off x="1201455" y="3834992"/>
                <a:ext cx="4576347" cy="501367"/>
              </a:xfrm>
              <a:prstGeom prst="rect">
                <a:avLst/>
              </a:prstGeom>
              <a:solidFill>
                <a:schemeClr val="lt1"/>
              </a:solidFill>
              <a:ln>
                <a:noFill/>
              </a:ln>
              <a:effectLst>
                <a:outerShdw blurRad="63500" rotWithShape="0" algn="ctr">
                  <a:srgbClr val="000000">
                    <a:alpha val="2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3" name="Google Shape;213;p3"/>
              <p:cNvSpPr txBox="1"/>
              <p:nvPr/>
            </p:nvSpPr>
            <p:spPr>
              <a:xfrm>
                <a:off x="1383634" y="3916398"/>
                <a:ext cx="410276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Equity Swap</a:t>
                </a:r>
                <a:endParaRPr b="0" i="0" sz="1600" u="none" cap="none" strike="noStrike">
                  <a:solidFill>
                    <a:srgbClr val="000000"/>
                  </a:solidFill>
                  <a:latin typeface="Arial"/>
                  <a:ea typeface="Arial"/>
                  <a:cs typeface="Arial"/>
                  <a:sym typeface="Arial"/>
                </a:endParaRPr>
              </a:p>
            </p:txBody>
          </p:sp>
          <p:grpSp>
            <p:nvGrpSpPr>
              <p:cNvPr id="214" name="Google Shape;214;p3"/>
              <p:cNvGrpSpPr/>
              <p:nvPr/>
            </p:nvGrpSpPr>
            <p:grpSpPr>
              <a:xfrm>
                <a:off x="700088" y="3834992"/>
                <a:ext cx="607792" cy="501367"/>
                <a:chOff x="700088" y="3834992"/>
                <a:chExt cx="607792" cy="501367"/>
              </a:xfrm>
            </p:grpSpPr>
            <p:sp>
              <p:nvSpPr>
                <p:cNvPr id="215" name="Google Shape;215;p3"/>
                <p:cNvSpPr/>
                <p:nvPr/>
              </p:nvSpPr>
              <p:spPr>
                <a:xfrm>
                  <a:off x="700088" y="3834992"/>
                  <a:ext cx="524186" cy="501367"/>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1" i="0" sz="4800" u="none" cap="none" strike="noStrike">
                    <a:solidFill>
                      <a:schemeClr val="lt1"/>
                    </a:solidFill>
                    <a:latin typeface="Arial"/>
                    <a:ea typeface="Arial"/>
                    <a:cs typeface="Arial"/>
                    <a:sym typeface="Arial"/>
                  </a:endParaRPr>
                </a:p>
              </p:txBody>
            </p:sp>
            <p:sp>
              <p:nvSpPr>
                <p:cNvPr id="216" name="Google Shape;216;p3"/>
                <p:cNvSpPr/>
                <p:nvPr/>
              </p:nvSpPr>
              <p:spPr>
                <a:xfrm rot="5400000">
                  <a:off x="1091625" y="3990660"/>
                  <a:ext cx="242479" cy="190031"/>
                </a:xfrm>
                <a:prstGeom prst="triangle">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pic>
          <p:nvPicPr>
            <p:cNvPr descr="Equity " id="217" name="Google Shape;217;p3"/>
            <p:cNvPicPr preferRelativeResize="0"/>
            <p:nvPr/>
          </p:nvPicPr>
          <p:blipFill rotWithShape="1">
            <a:blip r:embed="rId8">
              <a:alphaModFix/>
            </a:blip>
            <a:srcRect b="0" l="0" r="0" t="0"/>
            <a:stretch/>
          </p:blipFill>
          <p:spPr>
            <a:xfrm>
              <a:off x="803799" y="3927294"/>
              <a:ext cx="316764" cy="316764"/>
            </a:xfrm>
            <a:prstGeom prst="rect">
              <a:avLst/>
            </a:prstGeom>
            <a:noFill/>
            <a:ln>
              <a:noFill/>
            </a:ln>
          </p:spPr>
        </p:pic>
      </p:grpSp>
      <p:grpSp>
        <p:nvGrpSpPr>
          <p:cNvPr id="218" name="Google Shape;218;p3"/>
          <p:cNvGrpSpPr/>
          <p:nvPr/>
        </p:nvGrpSpPr>
        <p:grpSpPr>
          <a:xfrm>
            <a:off x="700088" y="4409080"/>
            <a:ext cx="5077714" cy="501367"/>
            <a:chOff x="700088" y="4409080"/>
            <a:chExt cx="5077714" cy="501367"/>
          </a:xfrm>
        </p:grpSpPr>
        <p:grpSp>
          <p:nvGrpSpPr>
            <p:cNvPr id="219" name="Google Shape;219;p3"/>
            <p:cNvGrpSpPr/>
            <p:nvPr/>
          </p:nvGrpSpPr>
          <p:grpSpPr>
            <a:xfrm>
              <a:off x="700088" y="4409080"/>
              <a:ext cx="5077714" cy="501367"/>
              <a:chOff x="700088" y="4409080"/>
              <a:chExt cx="5077714" cy="501367"/>
            </a:xfrm>
          </p:grpSpPr>
          <p:sp>
            <p:nvSpPr>
              <p:cNvPr id="220" name="Google Shape;220;p3"/>
              <p:cNvSpPr/>
              <p:nvPr/>
            </p:nvSpPr>
            <p:spPr>
              <a:xfrm>
                <a:off x="1201455" y="4409080"/>
                <a:ext cx="4576347" cy="501367"/>
              </a:xfrm>
              <a:prstGeom prst="rect">
                <a:avLst/>
              </a:prstGeom>
              <a:solidFill>
                <a:schemeClr val="lt1"/>
              </a:solidFill>
              <a:ln>
                <a:noFill/>
              </a:ln>
              <a:effectLst>
                <a:outerShdw blurRad="63500" rotWithShape="0" algn="ctr">
                  <a:srgbClr val="000000">
                    <a:alpha val="2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1" name="Google Shape;221;p3"/>
              <p:cNvSpPr txBox="1"/>
              <p:nvPr/>
            </p:nvSpPr>
            <p:spPr>
              <a:xfrm>
                <a:off x="1383634" y="4490486"/>
                <a:ext cx="410276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Total Return Swap</a:t>
                </a:r>
                <a:endParaRPr b="0" i="0" sz="1600" u="none" cap="none" strike="noStrike">
                  <a:solidFill>
                    <a:srgbClr val="000000"/>
                  </a:solidFill>
                  <a:latin typeface="Arial"/>
                  <a:ea typeface="Arial"/>
                  <a:cs typeface="Arial"/>
                  <a:sym typeface="Arial"/>
                </a:endParaRPr>
              </a:p>
            </p:txBody>
          </p:sp>
          <p:grpSp>
            <p:nvGrpSpPr>
              <p:cNvPr id="222" name="Google Shape;222;p3"/>
              <p:cNvGrpSpPr/>
              <p:nvPr/>
            </p:nvGrpSpPr>
            <p:grpSpPr>
              <a:xfrm>
                <a:off x="700088" y="4409080"/>
                <a:ext cx="607792" cy="501367"/>
                <a:chOff x="700088" y="4409080"/>
                <a:chExt cx="607792" cy="501367"/>
              </a:xfrm>
            </p:grpSpPr>
            <p:sp>
              <p:nvSpPr>
                <p:cNvPr id="223" name="Google Shape;223;p3"/>
                <p:cNvSpPr/>
                <p:nvPr/>
              </p:nvSpPr>
              <p:spPr>
                <a:xfrm>
                  <a:off x="700088" y="4409080"/>
                  <a:ext cx="524186" cy="50136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1" i="0" sz="4800" u="none" cap="none" strike="noStrike">
                    <a:solidFill>
                      <a:schemeClr val="lt1"/>
                    </a:solidFill>
                    <a:latin typeface="Arial"/>
                    <a:ea typeface="Arial"/>
                    <a:cs typeface="Arial"/>
                    <a:sym typeface="Arial"/>
                  </a:endParaRPr>
                </a:p>
              </p:txBody>
            </p:sp>
            <p:sp>
              <p:nvSpPr>
                <p:cNvPr id="224" name="Google Shape;224;p3"/>
                <p:cNvSpPr/>
                <p:nvPr/>
              </p:nvSpPr>
              <p:spPr>
                <a:xfrm rot="5400000">
                  <a:off x="1091625" y="4564748"/>
                  <a:ext cx="242479" cy="190031"/>
                </a:xfrm>
                <a:prstGeom prst="triangle">
                  <a:avLst>
                    <a:gd fmla="val 50000"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pic>
          <p:nvPicPr>
            <p:cNvPr descr="Return of investment " id="225" name="Google Shape;225;p3"/>
            <p:cNvPicPr preferRelativeResize="0"/>
            <p:nvPr/>
          </p:nvPicPr>
          <p:blipFill rotWithShape="1">
            <a:blip r:embed="rId9">
              <a:alphaModFix/>
            </a:blip>
            <a:srcRect b="0" l="0" r="0" t="0"/>
            <a:stretch/>
          </p:blipFill>
          <p:spPr>
            <a:xfrm>
              <a:off x="803799" y="4501382"/>
              <a:ext cx="316764" cy="316764"/>
            </a:xfrm>
            <a:prstGeom prst="rect">
              <a:avLst/>
            </a:prstGeom>
            <a:noFill/>
            <a:ln>
              <a:noFill/>
            </a:ln>
          </p:spPr>
        </p:pic>
      </p:grpSp>
      <p:grpSp>
        <p:nvGrpSpPr>
          <p:cNvPr id="226" name="Google Shape;226;p3"/>
          <p:cNvGrpSpPr/>
          <p:nvPr/>
        </p:nvGrpSpPr>
        <p:grpSpPr>
          <a:xfrm>
            <a:off x="700088" y="4983168"/>
            <a:ext cx="5077714" cy="501367"/>
            <a:chOff x="700088" y="4983168"/>
            <a:chExt cx="5077714" cy="501367"/>
          </a:xfrm>
        </p:grpSpPr>
        <p:grpSp>
          <p:nvGrpSpPr>
            <p:cNvPr id="227" name="Google Shape;227;p3"/>
            <p:cNvGrpSpPr/>
            <p:nvPr/>
          </p:nvGrpSpPr>
          <p:grpSpPr>
            <a:xfrm>
              <a:off x="1201455" y="4983168"/>
              <a:ext cx="4576347" cy="501367"/>
              <a:chOff x="1201455" y="4983168"/>
              <a:chExt cx="4576347" cy="501367"/>
            </a:xfrm>
          </p:grpSpPr>
          <p:sp>
            <p:nvSpPr>
              <p:cNvPr id="228" name="Google Shape;228;p3"/>
              <p:cNvSpPr/>
              <p:nvPr/>
            </p:nvSpPr>
            <p:spPr>
              <a:xfrm>
                <a:off x="1201455" y="4983168"/>
                <a:ext cx="4576347" cy="501367"/>
              </a:xfrm>
              <a:prstGeom prst="rect">
                <a:avLst/>
              </a:prstGeom>
              <a:solidFill>
                <a:schemeClr val="lt1"/>
              </a:solidFill>
              <a:ln>
                <a:noFill/>
              </a:ln>
              <a:effectLst>
                <a:outerShdw blurRad="63500" rotWithShape="0" algn="ctr">
                  <a:srgbClr val="000000">
                    <a:alpha val="2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9" name="Google Shape;229;p3"/>
              <p:cNvSpPr txBox="1"/>
              <p:nvPr/>
            </p:nvSpPr>
            <p:spPr>
              <a:xfrm>
                <a:off x="1383634" y="5064574"/>
                <a:ext cx="410276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Dividend Swap</a:t>
                </a:r>
                <a:endParaRPr b="0" i="0" sz="1600" u="none" cap="none" strike="noStrike">
                  <a:solidFill>
                    <a:srgbClr val="000000"/>
                  </a:solidFill>
                  <a:latin typeface="Arial"/>
                  <a:ea typeface="Arial"/>
                  <a:cs typeface="Arial"/>
                  <a:sym typeface="Arial"/>
                </a:endParaRPr>
              </a:p>
            </p:txBody>
          </p:sp>
        </p:grpSp>
        <p:grpSp>
          <p:nvGrpSpPr>
            <p:cNvPr id="230" name="Google Shape;230;p3"/>
            <p:cNvGrpSpPr/>
            <p:nvPr/>
          </p:nvGrpSpPr>
          <p:grpSpPr>
            <a:xfrm>
              <a:off x="700088" y="4983168"/>
              <a:ext cx="607792" cy="501367"/>
              <a:chOff x="700088" y="4983168"/>
              <a:chExt cx="607792" cy="501367"/>
            </a:xfrm>
          </p:grpSpPr>
          <p:sp>
            <p:nvSpPr>
              <p:cNvPr id="231" name="Google Shape;231;p3"/>
              <p:cNvSpPr/>
              <p:nvPr/>
            </p:nvSpPr>
            <p:spPr>
              <a:xfrm>
                <a:off x="700088" y="4983168"/>
                <a:ext cx="524186" cy="501367"/>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1" i="0" sz="4800" u="none" cap="none" strike="noStrike">
                  <a:solidFill>
                    <a:schemeClr val="lt1"/>
                  </a:solidFill>
                  <a:latin typeface="Arial"/>
                  <a:ea typeface="Arial"/>
                  <a:cs typeface="Arial"/>
                  <a:sym typeface="Arial"/>
                </a:endParaRPr>
              </a:p>
            </p:txBody>
          </p:sp>
          <p:sp>
            <p:nvSpPr>
              <p:cNvPr id="232" name="Google Shape;232;p3"/>
              <p:cNvSpPr/>
              <p:nvPr/>
            </p:nvSpPr>
            <p:spPr>
              <a:xfrm rot="5400000">
                <a:off x="1091625" y="5138836"/>
                <a:ext cx="242479" cy="190031"/>
              </a:xfrm>
              <a:prstGeom prst="triangle">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pic>
          <p:nvPicPr>
            <p:cNvPr descr="Dividends " id="233" name="Google Shape;233;p3"/>
            <p:cNvPicPr preferRelativeResize="0"/>
            <p:nvPr/>
          </p:nvPicPr>
          <p:blipFill rotWithShape="1">
            <a:blip r:embed="rId10">
              <a:alphaModFix/>
            </a:blip>
            <a:srcRect b="0" l="0" r="0" t="0"/>
            <a:stretch/>
          </p:blipFill>
          <p:spPr>
            <a:xfrm>
              <a:off x="803799" y="5075470"/>
              <a:ext cx="316764" cy="316764"/>
            </a:xfrm>
            <a:prstGeom prst="rect">
              <a:avLst/>
            </a:prstGeom>
            <a:noFill/>
            <a:ln>
              <a:noFill/>
            </a:ln>
          </p:spPr>
        </p:pic>
      </p:grpSp>
      <p:grpSp>
        <p:nvGrpSpPr>
          <p:cNvPr id="234" name="Google Shape;234;p3"/>
          <p:cNvGrpSpPr/>
          <p:nvPr/>
        </p:nvGrpSpPr>
        <p:grpSpPr>
          <a:xfrm>
            <a:off x="700088" y="5557257"/>
            <a:ext cx="5077714" cy="501367"/>
            <a:chOff x="700088" y="5557257"/>
            <a:chExt cx="5077714" cy="501367"/>
          </a:xfrm>
        </p:grpSpPr>
        <p:grpSp>
          <p:nvGrpSpPr>
            <p:cNvPr id="235" name="Google Shape;235;p3"/>
            <p:cNvGrpSpPr/>
            <p:nvPr/>
          </p:nvGrpSpPr>
          <p:grpSpPr>
            <a:xfrm>
              <a:off x="700088" y="5557257"/>
              <a:ext cx="5077714" cy="501367"/>
              <a:chOff x="700088" y="5557257"/>
              <a:chExt cx="5077714" cy="501367"/>
            </a:xfrm>
          </p:grpSpPr>
          <p:sp>
            <p:nvSpPr>
              <p:cNvPr id="236" name="Google Shape;236;p3"/>
              <p:cNvSpPr/>
              <p:nvPr/>
            </p:nvSpPr>
            <p:spPr>
              <a:xfrm>
                <a:off x="1201455" y="5557257"/>
                <a:ext cx="4576347" cy="501367"/>
              </a:xfrm>
              <a:prstGeom prst="rect">
                <a:avLst/>
              </a:prstGeom>
              <a:solidFill>
                <a:schemeClr val="lt1"/>
              </a:solidFill>
              <a:ln>
                <a:noFill/>
              </a:ln>
              <a:effectLst>
                <a:outerShdw blurRad="63500" rotWithShape="0" algn="ctr">
                  <a:srgbClr val="000000">
                    <a:alpha val="2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7" name="Google Shape;237;p3"/>
              <p:cNvSpPr txBox="1"/>
              <p:nvPr/>
            </p:nvSpPr>
            <p:spPr>
              <a:xfrm>
                <a:off x="1383634" y="5638663"/>
                <a:ext cx="410276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Credit Default Swap</a:t>
                </a:r>
                <a:endParaRPr b="0" i="0" sz="1600" u="none" cap="none" strike="noStrike">
                  <a:solidFill>
                    <a:srgbClr val="000000"/>
                  </a:solidFill>
                  <a:latin typeface="Arial"/>
                  <a:ea typeface="Arial"/>
                  <a:cs typeface="Arial"/>
                  <a:sym typeface="Arial"/>
                </a:endParaRPr>
              </a:p>
            </p:txBody>
          </p:sp>
          <p:grpSp>
            <p:nvGrpSpPr>
              <p:cNvPr id="238" name="Google Shape;238;p3"/>
              <p:cNvGrpSpPr/>
              <p:nvPr/>
            </p:nvGrpSpPr>
            <p:grpSpPr>
              <a:xfrm>
                <a:off x="700088" y="5557257"/>
                <a:ext cx="607792" cy="501367"/>
                <a:chOff x="700088" y="5557257"/>
                <a:chExt cx="607792" cy="501367"/>
              </a:xfrm>
            </p:grpSpPr>
            <p:sp>
              <p:nvSpPr>
                <p:cNvPr id="239" name="Google Shape;239;p3"/>
                <p:cNvSpPr/>
                <p:nvPr/>
              </p:nvSpPr>
              <p:spPr>
                <a:xfrm>
                  <a:off x="700088" y="5557257"/>
                  <a:ext cx="524186" cy="50136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1" i="0" sz="4800" u="none" cap="none" strike="noStrike">
                    <a:solidFill>
                      <a:schemeClr val="lt1"/>
                    </a:solidFill>
                    <a:latin typeface="Arial"/>
                    <a:ea typeface="Arial"/>
                    <a:cs typeface="Arial"/>
                    <a:sym typeface="Arial"/>
                  </a:endParaRPr>
                </a:p>
              </p:txBody>
            </p:sp>
            <p:sp>
              <p:nvSpPr>
                <p:cNvPr id="240" name="Google Shape;240;p3"/>
                <p:cNvSpPr/>
                <p:nvPr/>
              </p:nvSpPr>
              <p:spPr>
                <a:xfrm rot="5400000">
                  <a:off x="1091625" y="5712925"/>
                  <a:ext cx="242479" cy="190031"/>
                </a:xfrm>
                <a:prstGeom prst="triangle">
                  <a:avLst>
                    <a:gd fmla="val 50000"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pic>
          <p:nvPicPr>
            <p:cNvPr descr="Credit " id="241" name="Google Shape;241;p3"/>
            <p:cNvPicPr preferRelativeResize="0"/>
            <p:nvPr/>
          </p:nvPicPr>
          <p:blipFill rotWithShape="1">
            <a:blip r:embed="rId11">
              <a:alphaModFix/>
            </a:blip>
            <a:srcRect b="0" l="0" r="0" t="0"/>
            <a:stretch/>
          </p:blipFill>
          <p:spPr>
            <a:xfrm>
              <a:off x="803799" y="5649558"/>
              <a:ext cx="316764" cy="316764"/>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
          <p:cNvSpPr txBox="1"/>
          <p:nvPr>
            <p:ph type="title"/>
          </p:nvPr>
        </p:nvSpPr>
        <p:spPr>
          <a:xfrm>
            <a:off x="700088" y="404813"/>
            <a:ext cx="10515600" cy="71596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A SWAP AGREEMENT</a:t>
            </a:r>
            <a:endParaRPr/>
          </a:p>
        </p:txBody>
      </p:sp>
      <p:sp>
        <p:nvSpPr>
          <p:cNvPr id="247" name="Google Shape;247;p4"/>
          <p:cNvSpPr txBox="1"/>
          <p:nvPr/>
        </p:nvSpPr>
        <p:spPr>
          <a:xfrm>
            <a:off x="9670003" y="6002182"/>
            <a:ext cx="856907" cy="246221"/>
          </a:xfrm>
          <a:prstGeom prst="rect">
            <a:avLst/>
          </a:prstGeom>
          <a:noFill/>
          <a:ln>
            <a:noFill/>
          </a:ln>
        </p:spPr>
        <p:txBody>
          <a:bodyPr anchorCtr="0" anchor="b" bIns="0" lIns="0" spcFirstLastPara="1" rIns="0" wrap="square" tIns="0">
            <a:spAutoFit/>
          </a:bodyPr>
          <a:lstStyle/>
          <a:p>
            <a:pPr indent="0" lvl="0" marL="38100" marR="0" rtl="0" algn="l">
              <a:lnSpc>
                <a:spcPct val="100000"/>
              </a:lnSpc>
              <a:spcBef>
                <a:spcPts val="45"/>
              </a:spcBef>
              <a:spcAft>
                <a:spcPts val="0"/>
              </a:spcAft>
              <a:buClr>
                <a:srgbClr val="000000"/>
              </a:buClr>
              <a:buSzPts val="1100"/>
              <a:buFont typeface="Arial"/>
              <a:buNone/>
            </a:pPr>
            <a:fld id="{00000000-1234-1234-1234-123412341234}" type="slidenum">
              <a:rPr b="0" i="0" lang="en-US" sz="1600" u="none" cap="none" strike="noStrike">
                <a:solidFill>
                  <a:srgbClr val="000000"/>
                </a:solidFill>
                <a:latin typeface="Arial"/>
                <a:ea typeface="Arial"/>
                <a:cs typeface="Arial"/>
                <a:sym typeface="Arial"/>
              </a:rPr>
              <a:t>‹#›</a:t>
            </a:fld>
            <a:endParaRPr b="0" i="0" sz="1600" u="none" cap="none" strike="noStrike">
              <a:solidFill>
                <a:srgbClr val="000000"/>
              </a:solidFill>
              <a:latin typeface="Arial"/>
              <a:ea typeface="Arial"/>
              <a:cs typeface="Arial"/>
              <a:sym typeface="Arial"/>
            </a:endParaRPr>
          </a:p>
        </p:txBody>
      </p:sp>
      <p:sp>
        <p:nvSpPr>
          <p:cNvPr id="248" name="Google Shape;248;p4"/>
          <p:cNvSpPr/>
          <p:nvPr/>
        </p:nvSpPr>
        <p:spPr>
          <a:xfrm>
            <a:off x="4809444" y="1495732"/>
            <a:ext cx="2754086" cy="4572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Swap  Agreement</a:t>
            </a:r>
            <a:endParaRPr b="1" i="0" sz="1800" u="none" cap="none" strike="noStrike">
              <a:solidFill>
                <a:schemeClr val="lt1"/>
              </a:solidFill>
              <a:latin typeface="Arial"/>
              <a:ea typeface="Arial"/>
              <a:cs typeface="Arial"/>
              <a:sym typeface="Arial"/>
            </a:endParaRPr>
          </a:p>
        </p:txBody>
      </p:sp>
      <p:sp>
        <p:nvSpPr>
          <p:cNvPr id="249" name="Google Shape;249;p4"/>
          <p:cNvSpPr txBox="1"/>
          <p:nvPr/>
        </p:nvSpPr>
        <p:spPr>
          <a:xfrm>
            <a:off x="2750862" y="4173434"/>
            <a:ext cx="2941983"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The date when the cash flow has to be paid</a:t>
            </a:r>
            <a:endParaRPr b="0" i="0" sz="1400" u="none" cap="none" strike="noStrike">
              <a:solidFill>
                <a:srgbClr val="000000"/>
              </a:solidFill>
              <a:latin typeface="Arial"/>
              <a:ea typeface="Arial"/>
              <a:cs typeface="Arial"/>
              <a:sym typeface="Arial"/>
            </a:endParaRPr>
          </a:p>
        </p:txBody>
      </p:sp>
      <p:sp>
        <p:nvSpPr>
          <p:cNvPr id="250" name="Google Shape;250;p4"/>
          <p:cNvSpPr txBox="1"/>
          <p:nvPr/>
        </p:nvSpPr>
        <p:spPr>
          <a:xfrm>
            <a:off x="6680131" y="4173434"/>
            <a:ext cx="2941983"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The way the cash flows are accrued and calculated</a:t>
            </a:r>
            <a:endParaRPr b="0" i="0" sz="1400" u="none" cap="none" strike="noStrike">
              <a:solidFill>
                <a:srgbClr val="000000"/>
              </a:solidFill>
              <a:latin typeface="Arial"/>
              <a:ea typeface="Arial"/>
              <a:cs typeface="Arial"/>
              <a:sym typeface="Arial"/>
            </a:endParaRPr>
          </a:p>
        </p:txBody>
      </p:sp>
      <p:grpSp>
        <p:nvGrpSpPr>
          <p:cNvPr id="251" name="Google Shape;251;p4"/>
          <p:cNvGrpSpPr/>
          <p:nvPr/>
        </p:nvGrpSpPr>
        <p:grpSpPr>
          <a:xfrm>
            <a:off x="700088" y="4963150"/>
            <a:ext cx="10972800" cy="1241822"/>
            <a:chOff x="700088" y="4894326"/>
            <a:chExt cx="10972800" cy="1241822"/>
          </a:xfrm>
        </p:grpSpPr>
        <p:sp>
          <p:nvSpPr>
            <p:cNvPr id="252" name="Google Shape;252;p4"/>
            <p:cNvSpPr/>
            <p:nvPr/>
          </p:nvSpPr>
          <p:spPr>
            <a:xfrm>
              <a:off x="700088" y="4894326"/>
              <a:ext cx="10972800" cy="1241822"/>
            </a:xfrm>
            <a:custGeom>
              <a:rect b="b" l="l" r="r" t="t"/>
              <a:pathLst>
                <a:path extrusionOk="0" h="914400" w="7553325">
                  <a:moveTo>
                    <a:pt x="7553159" y="0"/>
                  </a:moveTo>
                  <a:lnTo>
                    <a:pt x="0" y="0"/>
                  </a:lnTo>
                  <a:lnTo>
                    <a:pt x="0" y="914044"/>
                  </a:lnTo>
                  <a:lnTo>
                    <a:pt x="3776751" y="914044"/>
                  </a:lnTo>
                  <a:lnTo>
                    <a:pt x="7553159" y="914044"/>
                  </a:lnTo>
                  <a:lnTo>
                    <a:pt x="7553159" y="0"/>
                  </a:lnTo>
                  <a:close/>
                </a:path>
              </a:pathLst>
            </a:custGeom>
            <a:solidFill>
              <a:srgbClr val="DAF3E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pic>
          <p:nvPicPr>
            <p:cNvPr id="253" name="Google Shape;253;p4"/>
            <p:cNvPicPr preferRelativeResize="0"/>
            <p:nvPr/>
          </p:nvPicPr>
          <p:blipFill rotWithShape="1">
            <a:blip r:embed="rId3">
              <a:alphaModFix/>
            </a:blip>
            <a:srcRect b="0" l="0" r="0" t="0"/>
            <a:stretch/>
          </p:blipFill>
          <p:spPr>
            <a:xfrm>
              <a:off x="700088" y="4894326"/>
              <a:ext cx="1241824" cy="1241822"/>
            </a:xfrm>
            <a:prstGeom prst="rect">
              <a:avLst/>
            </a:prstGeom>
            <a:noFill/>
            <a:ln>
              <a:noFill/>
            </a:ln>
          </p:spPr>
        </p:pic>
        <p:sp>
          <p:nvSpPr>
            <p:cNvPr id="254" name="Google Shape;254;p4"/>
            <p:cNvSpPr txBox="1"/>
            <p:nvPr/>
          </p:nvSpPr>
          <p:spPr>
            <a:xfrm>
              <a:off x="2104103" y="4976648"/>
              <a:ext cx="9429135" cy="107717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SWAP is an OTC Derivative Contract wherein the Two Counterparties agrees to exchange the series of cashflows calculated on on two different underlying assets performance on preagreed Notional Amount and this cashflows are exchange on multiple settlement dates over the life of the Swap </a:t>
              </a:r>
              <a:endParaRPr b="1" i="0" sz="1600" u="none" cap="none" strike="noStrike">
                <a:solidFill>
                  <a:schemeClr val="dk1"/>
                </a:solidFill>
                <a:latin typeface="Arial"/>
                <a:ea typeface="Arial"/>
                <a:cs typeface="Arial"/>
                <a:sym typeface="Arial"/>
              </a:endParaRPr>
            </a:p>
          </p:txBody>
        </p:sp>
      </p:grpSp>
      <p:sp>
        <p:nvSpPr>
          <p:cNvPr id="255" name="Google Shape;255;p4"/>
          <p:cNvSpPr/>
          <p:nvPr/>
        </p:nvSpPr>
        <p:spPr>
          <a:xfrm>
            <a:off x="7270402" y="2334654"/>
            <a:ext cx="1761440" cy="1757872"/>
          </a:xfrm>
          <a:prstGeom prst="ellipse">
            <a:avLst/>
          </a:prstGeom>
          <a:solidFill>
            <a:srgbClr val="DDEAF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pic>
        <p:nvPicPr>
          <p:cNvPr descr="Calculator " id="256" name="Google Shape;256;p4"/>
          <p:cNvPicPr preferRelativeResize="0"/>
          <p:nvPr/>
        </p:nvPicPr>
        <p:blipFill rotWithShape="1">
          <a:blip r:embed="rId4">
            <a:alphaModFix/>
          </a:blip>
          <a:srcRect b="0" l="0" r="0" t="0"/>
          <a:stretch/>
        </p:blipFill>
        <p:spPr>
          <a:xfrm>
            <a:off x="7704864" y="2767332"/>
            <a:ext cx="892516" cy="892516"/>
          </a:xfrm>
          <a:prstGeom prst="rect">
            <a:avLst/>
          </a:prstGeom>
          <a:noFill/>
          <a:ln>
            <a:noFill/>
          </a:ln>
        </p:spPr>
      </p:pic>
      <p:sp>
        <p:nvSpPr>
          <p:cNvPr id="257" name="Google Shape;257;p4"/>
          <p:cNvSpPr/>
          <p:nvPr/>
        </p:nvSpPr>
        <p:spPr>
          <a:xfrm>
            <a:off x="3341133" y="2334654"/>
            <a:ext cx="1761440" cy="1757872"/>
          </a:xfrm>
          <a:prstGeom prst="ellipse">
            <a:avLst/>
          </a:prstGeom>
          <a:solidFill>
            <a:srgbClr val="D2F4F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pic>
        <p:nvPicPr>
          <p:cNvPr descr="Calendar " id="258" name="Google Shape;258;p4"/>
          <p:cNvPicPr preferRelativeResize="0"/>
          <p:nvPr/>
        </p:nvPicPr>
        <p:blipFill rotWithShape="1">
          <a:blip r:embed="rId5">
            <a:alphaModFix/>
          </a:blip>
          <a:srcRect b="0" l="0" r="0" t="0"/>
          <a:stretch/>
        </p:blipFill>
        <p:spPr>
          <a:xfrm>
            <a:off x="3775595" y="2767332"/>
            <a:ext cx="892516" cy="892516"/>
          </a:xfrm>
          <a:prstGeom prst="rect">
            <a:avLst/>
          </a:prstGeom>
          <a:noFill/>
          <a:ln>
            <a:noFill/>
          </a:ln>
        </p:spPr>
      </p:pic>
      <p:cxnSp>
        <p:nvCxnSpPr>
          <p:cNvPr id="259" name="Google Shape;259;p4"/>
          <p:cNvCxnSpPr>
            <a:stCxn id="248" idx="2"/>
            <a:endCxn id="257" idx="0"/>
          </p:cNvCxnSpPr>
          <p:nvPr/>
        </p:nvCxnSpPr>
        <p:spPr>
          <a:xfrm rot="5400000">
            <a:off x="5013337" y="1161382"/>
            <a:ext cx="381600" cy="1964700"/>
          </a:xfrm>
          <a:prstGeom prst="bentConnector3">
            <a:avLst>
              <a:gd fmla="val 50016" name="adj1"/>
            </a:avLst>
          </a:prstGeom>
          <a:noFill/>
          <a:ln cap="flat" cmpd="sng" w="19050">
            <a:solidFill>
              <a:srgbClr val="BFBFBF"/>
            </a:solidFill>
            <a:prstDash val="solid"/>
            <a:round/>
            <a:headEnd len="sm" w="sm" type="none"/>
            <a:tailEnd len="med" w="med" type="triangle"/>
          </a:ln>
        </p:spPr>
      </p:cxnSp>
      <p:cxnSp>
        <p:nvCxnSpPr>
          <p:cNvPr id="260" name="Google Shape;260;p4"/>
          <p:cNvCxnSpPr>
            <a:stCxn id="248" idx="2"/>
            <a:endCxn id="255" idx="0"/>
          </p:cNvCxnSpPr>
          <p:nvPr/>
        </p:nvCxnSpPr>
        <p:spPr>
          <a:xfrm flipH="1" rot="-5400000">
            <a:off x="6978037" y="1161382"/>
            <a:ext cx="381600" cy="1964700"/>
          </a:xfrm>
          <a:prstGeom prst="bentConnector3">
            <a:avLst>
              <a:gd fmla="val 50016" name="adj1"/>
            </a:avLst>
          </a:prstGeom>
          <a:noFill/>
          <a:ln cap="flat" cmpd="sng" w="19050">
            <a:solidFill>
              <a:srgbClr val="BFBFBF"/>
            </a:solidFill>
            <a:prstDash val="solid"/>
            <a:round/>
            <a:headEnd len="sm" w="sm"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5"/>
          <p:cNvSpPr/>
          <p:nvPr/>
        </p:nvSpPr>
        <p:spPr>
          <a:xfrm>
            <a:off x="700088" y="5260258"/>
            <a:ext cx="10972800" cy="944714"/>
          </a:xfrm>
          <a:prstGeom prst="roundRect">
            <a:avLst>
              <a:gd fmla="val 16667" name="adj"/>
            </a:avLst>
          </a:prstGeom>
          <a:solidFill>
            <a:srgbClr val="DAF3E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grpSp>
        <p:nvGrpSpPr>
          <p:cNvPr id="266" name="Google Shape;266;p5"/>
          <p:cNvGrpSpPr/>
          <p:nvPr/>
        </p:nvGrpSpPr>
        <p:grpSpPr>
          <a:xfrm>
            <a:off x="1524" y="1495732"/>
            <a:ext cx="12188952" cy="457200"/>
            <a:chOff x="1524" y="1495732"/>
            <a:chExt cx="12188952" cy="457200"/>
          </a:xfrm>
        </p:grpSpPr>
        <p:sp>
          <p:nvSpPr>
            <p:cNvPr id="267" name="Google Shape;267;p5"/>
            <p:cNvSpPr/>
            <p:nvPr/>
          </p:nvSpPr>
          <p:spPr>
            <a:xfrm>
              <a:off x="1524" y="1495732"/>
              <a:ext cx="12188952" cy="4572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68" name="Google Shape;268;p5"/>
            <p:cNvSpPr txBox="1"/>
            <p:nvPr/>
          </p:nvSpPr>
          <p:spPr>
            <a:xfrm>
              <a:off x="700088" y="1555075"/>
              <a:ext cx="10972800" cy="33851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Two counterparties exchange cash flows based on an underlier.</a:t>
              </a:r>
              <a:endParaRPr b="0" i="0" sz="1600" u="none" cap="none" strike="noStrike">
                <a:solidFill>
                  <a:schemeClr val="dk1"/>
                </a:solidFill>
                <a:latin typeface="Arial"/>
                <a:ea typeface="Arial"/>
                <a:cs typeface="Arial"/>
                <a:sym typeface="Arial"/>
              </a:endParaRPr>
            </a:p>
          </p:txBody>
        </p:sp>
      </p:grpSp>
      <p:sp>
        <p:nvSpPr>
          <p:cNvPr id="269" name="Google Shape;269;p5"/>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UNDERLYERS IN A SWAP AGREEMENT</a:t>
            </a:r>
            <a:endParaRPr/>
          </a:p>
        </p:txBody>
      </p:sp>
      <p:cxnSp>
        <p:nvCxnSpPr>
          <p:cNvPr id="270" name="Google Shape;270;p5"/>
          <p:cNvCxnSpPr>
            <a:stCxn id="271" idx="2"/>
            <a:endCxn id="265" idx="0"/>
          </p:cNvCxnSpPr>
          <p:nvPr/>
        </p:nvCxnSpPr>
        <p:spPr>
          <a:xfrm>
            <a:off x="6186489" y="4059090"/>
            <a:ext cx="0" cy="1201200"/>
          </a:xfrm>
          <a:prstGeom prst="straightConnector1">
            <a:avLst/>
          </a:prstGeom>
          <a:noFill/>
          <a:ln cap="flat" cmpd="sng" w="19050">
            <a:solidFill>
              <a:srgbClr val="BFBFBF"/>
            </a:solidFill>
            <a:prstDash val="solid"/>
            <a:round/>
            <a:headEnd len="sm" w="sm" type="none"/>
            <a:tailEnd len="med" w="med" type="triangle"/>
          </a:ln>
        </p:spPr>
      </p:cxnSp>
      <p:grpSp>
        <p:nvGrpSpPr>
          <p:cNvPr id="272" name="Google Shape;272;p5"/>
          <p:cNvGrpSpPr/>
          <p:nvPr/>
        </p:nvGrpSpPr>
        <p:grpSpPr>
          <a:xfrm>
            <a:off x="1045060" y="5504015"/>
            <a:ext cx="10282857" cy="457200"/>
            <a:chOff x="973521" y="5180055"/>
            <a:chExt cx="10282857" cy="306802"/>
          </a:xfrm>
        </p:grpSpPr>
        <p:sp>
          <p:nvSpPr>
            <p:cNvPr id="273" name="Google Shape;273;p5"/>
            <p:cNvSpPr/>
            <p:nvPr/>
          </p:nvSpPr>
          <p:spPr>
            <a:xfrm>
              <a:off x="973521" y="5180055"/>
              <a:ext cx="1828800" cy="306802"/>
            </a:xfrm>
            <a:prstGeom prst="roundRect">
              <a:avLst>
                <a:gd fmla="val 16667" name="adj"/>
              </a:avLst>
            </a:prstGeom>
            <a:solidFill>
              <a:schemeClr val="accent3"/>
            </a:solid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Equities</a:t>
              </a:r>
              <a:endParaRPr b="0" i="0" sz="1400" u="none" cap="none" strike="noStrike">
                <a:solidFill>
                  <a:schemeClr val="lt1"/>
                </a:solidFill>
                <a:latin typeface="Arial"/>
                <a:ea typeface="Arial"/>
                <a:cs typeface="Arial"/>
                <a:sym typeface="Arial"/>
              </a:endParaRPr>
            </a:p>
          </p:txBody>
        </p:sp>
        <p:sp>
          <p:nvSpPr>
            <p:cNvPr id="274" name="Google Shape;274;p5"/>
            <p:cNvSpPr/>
            <p:nvPr/>
          </p:nvSpPr>
          <p:spPr>
            <a:xfrm>
              <a:off x="3087035" y="5180055"/>
              <a:ext cx="1828800" cy="306802"/>
            </a:xfrm>
            <a:prstGeom prst="roundRect">
              <a:avLst>
                <a:gd fmla="val 16667" name="adj"/>
              </a:avLst>
            </a:prstGeom>
            <a:solidFill>
              <a:schemeClr val="accent3"/>
            </a:solid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Commodities</a:t>
              </a:r>
              <a:endParaRPr b="0" i="0" sz="1400" u="none" cap="none" strike="noStrike">
                <a:solidFill>
                  <a:schemeClr val="lt1"/>
                </a:solidFill>
                <a:latin typeface="Arial"/>
                <a:ea typeface="Arial"/>
                <a:cs typeface="Arial"/>
                <a:sym typeface="Arial"/>
              </a:endParaRPr>
            </a:p>
          </p:txBody>
        </p:sp>
        <p:sp>
          <p:nvSpPr>
            <p:cNvPr id="275" name="Google Shape;275;p5"/>
            <p:cNvSpPr/>
            <p:nvPr/>
          </p:nvSpPr>
          <p:spPr>
            <a:xfrm>
              <a:off x="5200549" y="5209662"/>
              <a:ext cx="1828800" cy="247589"/>
            </a:xfrm>
            <a:prstGeom prst="roundRect">
              <a:avLst>
                <a:gd fmla="val 16667" name="adj"/>
              </a:avLst>
            </a:prstGeom>
            <a:solidFill>
              <a:schemeClr val="accent3"/>
            </a:solid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Credit Risk</a:t>
              </a:r>
              <a:endParaRPr b="1" i="0" sz="1600" u="none" cap="none" strike="noStrike">
                <a:solidFill>
                  <a:schemeClr val="lt1"/>
                </a:solidFill>
                <a:latin typeface="Arial"/>
                <a:ea typeface="Arial"/>
                <a:cs typeface="Arial"/>
                <a:sym typeface="Arial"/>
              </a:endParaRPr>
            </a:p>
          </p:txBody>
        </p:sp>
        <p:sp>
          <p:nvSpPr>
            <p:cNvPr id="276" name="Google Shape;276;p5"/>
            <p:cNvSpPr/>
            <p:nvPr/>
          </p:nvSpPr>
          <p:spPr>
            <a:xfrm>
              <a:off x="7314063" y="5180055"/>
              <a:ext cx="1828800" cy="306802"/>
            </a:xfrm>
            <a:prstGeom prst="roundRect">
              <a:avLst>
                <a:gd fmla="val 16667" name="adj"/>
              </a:avLst>
            </a:prstGeom>
            <a:solidFill>
              <a:schemeClr val="accent3"/>
            </a:solid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Currencies</a:t>
              </a:r>
              <a:endParaRPr b="0" i="0" sz="1400" u="none" cap="none" strike="noStrike">
                <a:solidFill>
                  <a:schemeClr val="lt1"/>
                </a:solidFill>
                <a:latin typeface="Arial"/>
                <a:ea typeface="Arial"/>
                <a:cs typeface="Arial"/>
                <a:sym typeface="Arial"/>
              </a:endParaRPr>
            </a:p>
          </p:txBody>
        </p:sp>
        <p:sp>
          <p:nvSpPr>
            <p:cNvPr id="277" name="Google Shape;277;p5"/>
            <p:cNvSpPr/>
            <p:nvPr/>
          </p:nvSpPr>
          <p:spPr>
            <a:xfrm>
              <a:off x="9427578" y="5180055"/>
              <a:ext cx="1828800" cy="306802"/>
            </a:xfrm>
            <a:prstGeom prst="roundRect">
              <a:avLst>
                <a:gd fmla="val 16667" name="adj"/>
              </a:avLst>
            </a:prstGeom>
            <a:solidFill>
              <a:schemeClr val="accent3"/>
            </a:solid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Interest Rate</a:t>
              </a:r>
              <a:endParaRPr b="0" i="0" sz="1400" u="none" cap="none" strike="noStrike">
                <a:solidFill>
                  <a:schemeClr val="lt1"/>
                </a:solidFill>
                <a:latin typeface="Arial"/>
                <a:ea typeface="Arial"/>
                <a:cs typeface="Arial"/>
                <a:sym typeface="Arial"/>
              </a:endParaRPr>
            </a:p>
          </p:txBody>
        </p:sp>
      </p:grpSp>
      <p:sp>
        <p:nvSpPr>
          <p:cNvPr id="278" name="Google Shape;278;p5"/>
          <p:cNvSpPr txBox="1"/>
          <p:nvPr/>
        </p:nvSpPr>
        <p:spPr>
          <a:xfrm>
            <a:off x="2686172" y="4218429"/>
            <a:ext cx="1642549" cy="258445"/>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First Party</a:t>
            </a:r>
            <a:endParaRPr b="0" i="0" sz="1600" u="none" cap="none" strike="noStrike">
              <a:solidFill>
                <a:srgbClr val="000000"/>
              </a:solidFill>
              <a:latin typeface="Arial"/>
              <a:ea typeface="Arial"/>
              <a:cs typeface="Arial"/>
              <a:sym typeface="Arial"/>
            </a:endParaRPr>
          </a:p>
        </p:txBody>
      </p:sp>
      <p:sp>
        <p:nvSpPr>
          <p:cNvPr id="279" name="Google Shape;279;p5"/>
          <p:cNvSpPr txBox="1"/>
          <p:nvPr/>
        </p:nvSpPr>
        <p:spPr>
          <a:xfrm>
            <a:off x="8044256" y="4187620"/>
            <a:ext cx="1642549" cy="258445"/>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Second Party</a:t>
            </a:r>
            <a:endParaRPr b="0" i="0" sz="1600" u="none" cap="none" strike="noStrike">
              <a:solidFill>
                <a:srgbClr val="000000"/>
              </a:solidFill>
              <a:latin typeface="Arial"/>
              <a:ea typeface="Arial"/>
              <a:cs typeface="Arial"/>
              <a:sym typeface="Arial"/>
            </a:endParaRPr>
          </a:p>
        </p:txBody>
      </p:sp>
      <p:grpSp>
        <p:nvGrpSpPr>
          <p:cNvPr id="280" name="Google Shape;280;p5"/>
          <p:cNvGrpSpPr/>
          <p:nvPr/>
        </p:nvGrpSpPr>
        <p:grpSpPr>
          <a:xfrm>
            <a:off x="4513581" y="3007124"/>
            <a:ext cx="3345815" cy="1051966"/>
            <a:chOff x="4513580" y="3007124"/>
            <a:chExt cx="3345815" cy="1051966"/>
          </a:xfrm>
        </p:grpSpPr>
        <p:sp>
          <p:nvSpPr>
            <p:cNvPr id="281" name="Google Shape;281;p5"/>
            <p:cNvSpPr txBox="1"/>
            <p:nvPr/>
          </p:nvSpPr>
          <p:spPr>
            <a:xfrm>
              <a:off x="4513580" y="3007124"/>
              <a:ext cx="3345815" cy="258445"/>
            </a:xfrm>
            <a:prstGeom prst="rect">
              <a:avLst/>
            </a:prstGeom>
            <a:noFill/>
            <a:ln>
              <a:noFill/>
            </a:ln>
          </p:spPr>
          <p:txBody>
            <a:bodyPr anchorCtr="0" anchor="t" bIns="0" lIns="0" spcFirstLastPara="1" rIns="0" wrap="square" tIns="12700">
              <a:spAutoFit/>
            </a:bodyPr>
            <a:lstStyle/>
            <a:p>
              <a:pPr indent="0" lvl="0" marL="106045"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Cashflow based on Underlier-1 </a:t>
              </a:r>
              <a:endParaRPr b="1" i="0" sz="1600" u="none" cap="none" strike="noStrike">
                <a:solidFill>
                  <a:srgbClr val="000000"/>
                </a:solidFill>
                <a:latin typeface="Arial"/>
                <a:ea typeface="Arial"/>
                <a:cs typeface="Arial"/>
                <a:sym typeface="Arial"/>
              </a:endParaRPr>
            </a:p>
          </p:txBody>
        </p:sp>
        <p:sp>
          <p:nvSpPr>
            <p:cNvPr id="271" name="Google Shape;271;p5"/>
            <p:cNvSpPr txBox="1"/>
            <p:nvPr/>
          </p:nvSpPr>
          <p:spPr>
            <a:xfrm>
              <a:off x="4513580" y="3723175"/>
              <a:ext cx="3345815" cy="3359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Cashflow based on Underlier-2</a:t>
              </a:r>
              <a:endParaRPr b="1" i="0" sz="1600" u="none" cap="none" strike="noStrike">
                <a:solidFill>
                  <a:schemeClr val="dk1"/>
                </a:solidFill>
                <a:latin typeface="Arial"/>
                <a:ea typeface="Arial"/>
                <a:cs typeface="Arial"/>
                <a:sym typeface="Arial"/>
              </a:endParaRPr>
            </a:p>
          </p:txBody>
        </p:sp>
        <p:grpSp>
          <p:nvGrpSpPr>
            <p:cNvPr id="282" name="Google Shape;282;p5"/>
            <p:cNvGrpSpPr/>
            <p:nvPr/>
          </p:nvGrpSpPr>
          <p:grpSpPr>
            <a:xfrm>
              <a:off x="4908405" y="3437270"/>
              <a:ext cx="2556165" cy="191674"/>
              <a:chOff x="4720857" y="3585416"/>
              <a:chExt cx="2556165" cy="191674"/>
            </a:xfrm>
          </p:grpSpPr>
          <p:cxnSp>
            <p:nvCxnSpPr>
              <p:cNvPr id="283" name="Google Shape;283;p5"/>
              <p:cNvCxnSpPr/>
              <p:nvPr/>
            </p:nvCxnSpPr>
            <p:spPr>
              <a:xfrm>
                <a:off x="4720857" y="3585416"/>
                <a:ext cx="2556165" cy="0"/>
              </a:xfrm>
              <a:prstGeom prst="straightConnector1">
                <a:avLst/>
              </a:prstGeom>
              <a:noFill/>
              <a:ln cap="flat" cmpd="sng" w="19050">
                <a:solidFill>
                  <a:srgbClr val="BFBFBF"/>
                </a:solidFill>
                <a:prstDash val="solid"/>
                <a:round/>
                <a:headEnd len="sm" w="sm" type="none"/>
                <a:tailEnd len="med" w="med" type="triangle"/>
              </a:ln>
            </p:spPr>
          </p:cxnSp>
          <p:cxnSp>
            <p:nvCxnSpPr>
              <p:cNvPr id="284" name="Google Shape;284;p5"/>
              <p:cNvCxnSpPr/>
              <p:nvPr/>
            </p:nvCxnSpPr>
            <p:spPr>
              <a:xfrm rot="10800000">
                <a:off x="4720857" y="3777090"/>
                <a:ext cx="2556165" cy="0"/>
              </a:xfrm>
              <a:prstGeom prst="straightConnector1">
                <a:avLst/>
              </a:prstGeom>
              <a:noFill/>
              <a:ln cap="flat" cmpd="sng" w="19050">
                <a:solidFill>
                  <a:srgbClr val="BFBFBF"/>
                </a:solidFill>
                <a:prstDash val="solid"/>
                <a:round/>
                <a:headEnd len="sm" w="sm" type="none"/>
                <a:tailEnd len="med" w="med" type="triangle"/>
              </a:ln>
            </p:spPr>
          </p:cxnSp>
        </p:grpSp>
      </p:grpSp>
      <p:pic>
        <p:nvPicPr>
          <p:cNvPr descr="Man shape" id="285" name="Google Shape;285;p5"/>
          <p:cNvPicPr preferRelativeResize="0"/>
          <p:nvPr/>
        </p:nvPicPr>
        <p:blipFill rotWithShape="1">
          <a:blip r:embed="rId3">
            <a:alphaModFix/>
          </a:blip>
          <a:srcRect b="0" l="0" r="0" t="0"/>
          <a:stretch/>
        </p:blipFill>
        <p:spPr>
          <a:xfrm>
            <a:off x="8311348" y="2978925"/>
            <a:ext cx="1108364" cy="1108364"/>
          </a:xfrm>
          <a:prstGeom prst="rect">
            <a:avLst/>
          </a:prstGeom>
          <a:noFill/>
          <a:ln>
            <a:noFill/>
          </a:ln>
        </p:spPr>
      </p:pic>
      <p:pic>
        <p:nvPicPr>
          <p:cNvPr descr="Man shape" id="286" name="Google Shape;286;p5"/>
          <p:cNvPicPr preferRelativeResize="0"/>
          <p:nvPr/>
        </p:nvPicPr>
        <p:blipFill rotWithShape="1">
          <a:blip r:embed="rId3">
            <a:alphaModFix/>
          </a:blip>
          <a:srcRect b="0" l="0" r="0" t="0"/>
          <a:stretch/>
        </p:blipFill>
        <p:spPr>
          <a:xfrm>
            <a:off x="2953264" y="2978925"/>
            <a:ext cx="1108364" cy="1108364"/>
          </a:xfrm>
          <a:prstGeom prst="rect">
            <a:avLst/>
          </a:prstGeom>
          <a:noFill/>
          <a:ln>
            <a:noFill/>
          </a:ln>
        </p:spPr>
      </p:pic>
      <p:pic>
        <p:nvPicPr>
          <p:cNvPr descr="Money stack" id="287" name="Google Shape;287;p5"/>
          <p:cNvPicPr preferRelativeResize="0"/>
          <p:nvPr/>
        </p:nvPicPr>
        <p:blipFill rotWithShape="1">
          <a:blip r:embed="rId4">
            <a:alphaModFix/>
          </a:blip>
          <a:srcRect b="0" l="0" r="0" t="0"/>
          <a:stretch/>
        </p:blipFill>
        <p:spPr>
          <a:xfrm>
            <a:off x="5842385" y="2237209"/>
            <a:ext cx="688207" cy="68820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6"/>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REASONS FOR TRADING IN SWAPS</a:t>
            </a:r>
            <a:endParaRPr/>
          </a:p>
        </p:txBody>
      </p:sp>
      <p:grpSp>
        <p:nvGrpSpPr>
          <p:cNvPr id="293" name="Google Shape;293;p6"/>
          <p:cNvGrpSpPr/>
          <p:nvPr/>
        </p:nvGrpSpPr>
        <p:grpSpPr>
          <a:xfrm>
            <a:off x="1524" y="1495732"/>
            <a:ext cx="12188952" cy="457200"/>
            <a:chOff x="1524" y="1495732"/>
            <a:chExt cx="12188952" cy="457200"/>
          </a:xfrm>
        </p:grpSpPr>
        <p:sp>
          <p:nvSpPr>
            <p:cNvPr id="294" name="Google Shape;294;p6"/>
            <p:cNvSpPr/>
            <p:nvPr/>
          </p:nvSpPr>
          <p:spPr>
            <a:xfrm>
              <a:off x="1524" y="1495732"/>
              <a:ext cx="12188952" cy="4572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95" name="Google Shape;295;p6"/>
            <p:cNvSpPr txBox="1"/>
            <p:nvPr/>
          </p:nvSpPr>
          <p:spPr>
            <a:xfrm>
              <a:off x="700088" y="1555075"/>
              <a:ext cx="10972800" cy="33851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Why do people trade in swaps?</a:t>
              </a:r>
              <a:endParaRPr b="1" i="0" sz="1600" u="none" cap="none" strike="noStrike">
                <a:solidFill>
                  <a:schemeClr val="dk1"/>
                </a:solidFill>
                <a:latin typeface="Arial"/>
                <a:ea typeface="Arial"/>
                <a:cs typeface="Arial"/>
                <a:sym typeface="Arial"/>
              </a:endParaRPr>
            </a:p>
          </p:txBody>
        </p:sp>
      </p:grpSp>
      <p:grpSp>
        <p:nvGrpSpPr>
          <p:cNvPr id="296" name="Google Shape;296;p6"/>
          <p:cNvGrpSpPr/>
          <p:nvPr/>
        </p:nvGrpSpPr>
        <p:grpSpPr>
          <a:xfrm>
            <a:off x="2168557" y="2186788"/>
            <a:ext cx="3715385" cy="3221355"/>
            <a:chOff x="676084" y="2107082"/>
            <a:chExt cx="3715385" cy="3221355"/>
          </a:xfrm>
        </p:grpSpPr>
        <p:pic>
          <p:nvPicPr>
            <p:cNvPr id="297" name="Google Shape;297;p6"/>
            <p:cNvPicPr preferRelativeResize="0"/>
            <p:nvPr/>
          </p:nvPicPr>
          <p:blipFill rotWithShape="1">
            <a:blip r:embed="rId3">
              <a:alphaModFix/>
            </a:blip>
            <a:srcRect b="0" l="0" r="0" t="0"/>
            <a:stretch/>
          </p:blipFill>
          <p:spPr>
            <a:xfrm>
              <a:off x="676440" y="2107120"/>
              <a:ext cx="3714483" cy="3220516"/>
            </a:xfrm>
            <a:prstGeom prst="rect">
              <a:avLst/>
            </a:prstGeom>
            <a:noFill/>
            <a:ln>
              <a:noFill/>
            </a:ln>
          </p:spPr>
        </p:pic>
        <p:sp>
          <p:nvSpPr>
            <p:cNvPr id="298" name="Google Shape;298;p6"/>
            <p:cNvSpPr/>
            <p:nvPr/>
          </p:nvSpPr>
          <p:spPr>
            <a:xfrm>
              <a:off x="676084" y="2107082"/>
              <a:ext cx="3715385" cy="3221355"/>
            </a:xfrm>
            <a:custGeom>
              <a:rect b="b" l="l" r="r" t="t"/>
              <a:pathLst>
                <a:path extrusionOk="0" h="3221354" w="3715385">
                  <a:moveTo>
                    <a:pt x="355" y="276834"/>
                  </a:moveTo>
                  <a:lnTo>
                    <a:pt x="2756" y="240602"/>
                  </a:lnTo>
                  <a:lnTo>
                    <a:pt x="9848" y="205147"/>
                  </a:lnTo>
                  <a:lnTo>
                    <a:pt x="37439" y="138595"/>
                  </a:lnTo>
                  <a:lnTo>
                    <a:pt x="81402" y="81222"/>
                  </a:lnTo>
                  <a:lnTo>
                    <a:pt x="138595" y="37071"/>
                  </a:lnTo>
                  <a:lnTo>
                    <a:pt x="205468" y="9491"/>
                  </a:lnTo>
                  <a:lnTo>
                    <a:pt x="277190" y="0"/>
                  </a:lnTo>
                  <a:lnTo>
                    <a:pt x="3438359" y="355"/>
                  </a:lnTo>
                  <a:lnTo>
                    <a:pt x="3510041" y="9853"/>
                  </a:lnTo>
                  <a:lnTo>
                    <a:pt x="3576599" y="37439"/>
                  </a:lnTo>
                  <a:lnTo>
                    <a:pt x="3633970" y="81402"/>
                  </a:lnTo>
                  <a:lnTo>
                    <a:pt x="3678110" y="138595"/>
                  </a:lnTo>
                  <a:lnTo>
                    <a:pt x="3705701" y="205470"/>
                  </a:lnTo>
                  <a:lnTo>
                    <a:pt x="3715194" y="277202"/>
                  </a:lnTo>
                  <a:lnTo>
                    <a:pt x="3715194" y="2944431"/>
                  </a:lnTo>
                  <a:lnTo>
                    <a:pt x="3712793" y="2980663"/>
                  </a:lnTo>
                  <a:lnTo>
                    <a:pt x="3705701" y="3016119"/>
                  </a:lnTo>
                  <a:lnTo>
                    <a:pt x="3678110" y="3082683"/>
                  </a:lnTo>
                  <a:lnTo>
                    <a:pt x="3634147" y="3140054"/>
                  </a:lnTo>
                  <a:lnTo>
                    <a:pt x="3576954" y="3184194"/>
                  </a:lnTo>
                  <a:lnTo>
                    <a:pt x="3510086" y="3211780"/>
                  </a:lnTo>
                  <a:lnTo>
                    <a:pt x="3438359" y="3221278"/>
                  </a:lnTo>
                  <a:lnTo>
                    <a:pt x="276834" y="3221278"/>
                  </a:lnTo>
                  <a:lnTo>
                    <a:pt x="205147" y="3211780"/>
                  </a:lnTo>
                  <a:lnTo>
                    <a:pt x="138595" y="3184194"/>
                  </a:lnTo>
                  <a:lnTo>
                    <a:pt x="81218" y="3140232"/>
                  </a:lnTo>
                  <a:lnTo>
                    <a:pt x="37071" y="3083039"/>
                  </a:lnTo>
                  <a:lnTo>
                    <a:pt x="9491" y="3016164"/>
                  </a:lnTo>
                  <a:lnTo>
                    <a:pt x="0" y="2944431"/>
                  </a:lnTo>
                  <a:lnTo>
                    <a:pt x="355" y="276834"/>
                  </a:lnTo>
                  <a:close/>
                </a:path>
              </a:pathLst>
            </a:custGeom>
            <a:noFill/>
            <a:ln cap="flat" cmpd="sng" w="9525">
              <a:solidFill>
                <a:srgbClr val="C3BC96"/>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grpSp>
      <p:grpSp>
        <p:nvGrpSpPr>
          <p:cNvPr id="299" name="Google Shape;299;p6"/>
          <p:cNvGrpSpPr/>
          <p:nvPr/>
        </p:nvGrpSpPr>
        <p:grpSpPr>
          <a:xfrm>
            <a:off x="6292717" y="2186788"/>
            <a:ext cx="3963035" cy="3221355"/>
            <a:chOff x="4800244" y="2107082"/>
            <a:chExt cx="3963035" cy="3221355"/>
          </a:xfrm>
        </p:grpSpPr>
        <p:pic>
          <p:nvPicPr>
            <p:cNvPr id="300" name="Google Shape;300;p6"/>
            <p:cNvPicPr preferRelativeResize="0"/>
            <p:nvPr/>
          </p:nvPicPr>
          <p:blipFill rotWithShape="1">
            <a:blip r:embed="rId4">
              <a:alphaModFix/>
            </a:blip>
            <a:srcRect b="0" l="0" r="0" t="0"/>
            <a:stretch/>
          </p:blipFill>
          <p:spPr>
            <a:xfrm>
              <a:off x="4800599" y="2107120"/>
              <a:ext cx="3962158" cy="3220516"/>
            </a:xfrm>
            <a:prstGeom prst="rect">
              <a:avLst/>
            </a:prstGeom>
            <a:noFill/>
            <a:ln>
              <a:noFill/>
            </a:ln>
          </p:spPr>
        </p:pic>
        <p:sp>
          <p:nvSpPr>
            <p:cNvPr id="301" name="Google Shape;301;p6"/>
            <p:cNvSpPr/>
            <p:nvPr/>
          </p:nvSpPr>
          <p:spPr>
            <a:xfrm>
              <a:off x="4800244" y="2107082"/>
              <a:ext cx="3963035" cy="3221355"/>
            </a:xfrm>
            <a:custGeom>
              <a:rect b="b" l="l" r="r" t="t"/>
              <a:pathLst>
                <a:path extrusionOk="0" h="3221354" w="3963034">
                  <a:moveTo>
                    <a:pt x="355" y="276834"/>
                  </a:moveTo>
                  <a:lnTo>
                    <a:pt x="2756" y="240602"/>
                  </a:lnTo>
                  <a:lnTo>
                    <a:pt x="9848" y="205147"/>
                  </a:lnTo>
                  <a:lnTo>
                    <a:pt x="37439" y="138595"/>
                  </a:lnTo>
                  <a:lnTo>
                    <a:pt x="81402" y="81222"/>
                  </a:lnTo>
                  <a:lnTo>
                    <a:pt x="138595" y="37071"/>
                  </a:lnTo>
                  <a:lnTo>
                    <a:pt x="205468" y="9491"/>
                  </a:lnTo>
                  <a:lnTo>
                    <a:pt x="277190" y="0"/>
                  </a:lnTo>
                  <a:lnTo>
                    <a:pt x="3686035" y="355"/>
                  </a:lnTo>
                  <a:lnTo>
                    <a:pt x="3757722" y="9853"/>
                  </a:lnTo>
                  <a:lnTo>
                    <a:pt x="3824274" y="37439"/>
                  </a:lnTo>
                  <a:lnTo>
                    <a:pt x="3881651" y="81402"/>
                  </a:lnTo>
                  <a:lnTo>
                    <a:pt x="3925798" y="138595"/>
                  </a:lnTo>
                  <a:lnTo>
                    <a:pt x="3953378" y="205470"/>
                  </a:lnTo>
                  <a:lnTo>
                    <a:pt x="3962869" y="277202"/>
                  </a:lnTo>
                  <a:lnTo>
                    <a:pt x="3962869" y="2944431"/>
                  </a:lnTo>
                  <a:lnTo>
                    <a:pt x="3960469" y="2980663"/>
                  </a:lnTo>
                  <a:lnTo>
                    <a:pt x="3953378" y="3016119"/>
                  </a:lnTo>
                  <a:lnTo>
                    <a:pt x="3925798" y="3082683"/>
                  </a:lnTo>
                  <a:lnTo>
                    <a:pt x="3881834" y="3140054"/>
                  </a:lnTo>
                  <a:lnTo>
                    <a:pt x="3824630" y="3184194"/>
                  </a:lnTo>
                  <a:lnTo>
                    <a:pt x="3757766" y="3211780"/>
                  </a:lnTo>
                  <a:lnTo>
                    <a:pt x="3686035" y="3221278"/>
                  </a:lnTo>
                  <a:lnTo>
                    <a:pt x="276834" y="3221278"/>
                  </a:lnTo>
                  <a:lnTo>
                    <a:pt x="205147" y="3211780"/>
                  </a:lnTo>
                  <a:lnTo>
                    <a:pt x="138595" y="3184194"/>
                  </a:lnTo>
                  <a:lnTo>
                    <a:pt x="81222" y="3140232"/>
                  </a:lnTo>
                  <a:lnTo>
                    <a:pt x="37071" y="3083039"/>
                  </a:lnTo>
                  <a:lnTo>
                    <a:pt x="9491" y="3016164"/>
                  </a:lnTo>
                  <a:lnTo>
                    <a:pt x="0" y="2944431"/>
                  </a:lnTo>
                  <a:lnTo>
                    <a:pt x="355" y="276834"/>
                  </a:lnTo>
                  <a:close/>
                </a:path>
              </a:pathLst>
            </a:custGeom>
            <a:noFill/>
            <a:ln cap="flat" cmpd="sng" w="9525">
              <a:solidFill>
                <a:srgbClr val="C3BC96"/>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grpSp>
      <p:sp>
        <p:nvSpPr>
          <p:cNvPr id="302" name="Google Shape;302;p6"/>
          <p:cNvSpPr/>
          <p:nvPr/>
        </p:nvSpPr>
        <p:spPr>
          <a:xfrm>
            <a:off x="2168557" y="5564124"/>
            <a:ext cx="3715385" cy="457200"/>
          </a:xfrm>
          <a:prstGeom prst="roundRect">
            <a:avLst>
              <a:gd fmla="val 16667" name="adj"/>
            </a:avLst>
          </a:prstGeom>
          <a:solidFill>
            <a:srgbClr val="DAF3EB"/>
          </a:solidFill>
          <a:ln>
            <a:noFill/>
          </a:ln>
        </p:spPr>
        <p:txBody>
          <a:bodyPr anchorCtr="0" anchor="ctr" bIns="0" lIns="0" spcFirstLastPara="1" rIns="0" wrap="square" tIns="12700">
            <a:noAutofit/>
          </a:bodyPr>
          <a:lstStyle/>
          <a:p>
            <a:pPr indent="0" lvl="0" marL="12700" marR="0" rtl="0" algn="ctr">
              <a:lnSpc>
                <a:spcPct val="100000"/>
              </a:lnSpc>
              <a:spcBef>
                <a:spcPts val="0"/>
              </a:spcBef>
              <a:spcAft>
                <a:spcPts val="0"/>
              </a:spcAft>
              <a:buClr>
                <a:srgbClr val="000000"/>
              </a:buClr>
              <a:buSzPts val="2000"/>
              <a:buFont typeface="Arial"/>
              <a:buNone/>
            </a:pPr>
            <a:r>
              <a:rPr b="1" i="0" lang="en-US" sz="1800" u="none" cap="none" strike="noStrike">
                <a:solidFill>
                  <a:srgbClr val="000000"/>
                </a:solidFill>
                <a:latin typeface="Arial"/>
                <a:ea typeface="Arial"/>
                <a:cs typeface="Arial"/>
                <a:sym typeface="Arial"/>
              </a:rPr>
              <a:t>HEDGE RISK</a:t>
            </a:r>
            <a:endParaRPr b="0" i="0" sz="1800" u="none" cap="none" strike="noStrike">
              <a:solidFill>
                <a:srgbClr val="000000"/>
              </a:solidFill>
              <a:latin typeface="Arial"/>
              <a:ea typeface="Arial"/>
              <a:cs typeface="Arial"/>
              <a:sym typeface="Arial"/>
            </a:endParaRPr>
          </a:p>
        </p:txBody>
      </p:sp>
      <p:sp>
        <p:nvSpPr>
          <p:cNvPr id="303" name="Google Shape;303;p6"/>
          <p:cNvSpPr/>
          <p:nvPr/>
        </p:nvSpPr>
        <p:spPr>
          <a:xfrm>
            <a:off x="6292717" y="5564124"/>
            <a:ext cx="3963035" cy="457200"/>
          </a:xfrm>
          <a:prstGeom prst="roundRect">
            <a:avLst>
              <a:gd fmla="val 16667" name="adj"/>
            </a:avLst>
          </a:prstGeom>
          <a:solidFill>
            <a:srgbClr val="DAF3EB"/>
          </a:solidFill>
          <a:ln>
            <a:noFill/>
          </a:ln>
        </p:spPr>
        <p:txBody>
          <a:bodyPr anchorCtr="0" anchor="ctr" bIns="0" lIns="0" spcFirstLastPara="1" rIns="0" wrap="square" tIns="12700">
            <a:noAutofit/>
          </a:bodyPr>
          <a:lstStyle/>
          <a:p>
            <a:pPr indent="0" lvl="0" marL="12700" marR="0" rtl="0" algn="ctr">
              <a:lnSpc>
                <a:spcPct val="100000"/>
              </a:lnSpc>
              <a:spcBef>
                <a:spcPts val="0"/>
              </a:spcBef>
              <a:spcAft>
                <a:spcPts val="0"/>
              </a:spcAft>
              <a:buClr>
                <a:srgbClr val="000000"/>
              </a:buClr>
              <a:buSzPts val="2000"/>
              <a:buFont typeface="Arial"/>
              <a:buNone/>
            </a:pPr>
            <a:r>
              <a:rPr b="1" i="0" lang="en-US" sz="1800" u="none" cap="none" strike="noStrike">
                <a:solidFill>
                  <a:srgbClr val="000000"/>
                </a:solidFill>
                <a:latin typeface="Arial"/>
                <a:ea typeface="Arial"/>
                <a:cs typeface="Arial"/>
                <a:sym typeface="Arial"/>
              </a:rPr>
              <a:t>SPECULATION</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pic>
        <p:nvPicPr>
          <p:cNvPr id="308" name="Google Shape;308;p7"/>
          <p:cNvPicPr preferRelativeResize="0"/>
          <p:nvPr>
            <p:ph idx="2" type="pic"/>
          </p:nvPr>
        </p:nvPicPr>
        <p:blipFill rotWithShape="1">
          <a:blip r:embed="rId3">
            <a:alphaModFix/>
          </a:blip>
          <a:srcRect b="0" l="0" r="0" t="0"/>
          <a:stretch/>
        </p:blipFill>
        <p:spPr>
          <a:xfrm>
            <a:off x="3978704" y="-21266"/>
            <a:ext cx="8211708" cy="6889900"/>
          </a:xfrm>
          <a:prstGeom prst="rect">
            <a:avLst/>
          </a:prstGeom>
          <a:solidFill>
            <a:srgbClr val="F2F2F2"/>
          </a:solidFill>
          <a:ln>
            <a:noFill/>
          </a:ln>
        </p:spPr>
      </p:pic>
      <p:sp>
        <p:nvSpPr>
          <p:cNvPr id="309" name="Google Shape;309;p7"/>
          <p:cNvSpPr/>
          <p:nvPr/>
        </p:nvSpPr>
        <p:spPr>
          <a:xfrm>
            <a:off x="0" y="0"/>
            <a:ext cx="6124354" cy="6879266"/>
          </a:xfrm>
          <a:custGeom>
            <a:rect b="b" l="l" r="r" t="t"/>
            <a:pathLst>
              <a:path extrusionOk="0" h="6879266" w="6124354">
                <a:moveTo>
                  <a:pt x="0" y="0"/>
                </a:moveTo>
                <a:lnTo>
                  <a:pt x="4061637" y="0"/>
                </a:lnTo>
                <a:lnTo>
                  <a:pt x="6124354" y="6879266"/>
                </a:lnTo>
                <a:lnTo>
                  <a:pt x="0" y="6858000"/>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0" name="Google Shape;310;p7"/>
          <p:cNvSpPr/>
          <p:nvPr/>
        </p:nvSpPr>
        <p:spPr>
          <a:xfrm flipH="1">
            <a:off x="4025448" y="-21268"/>
            <a:ext cx="8166551" cy="6900533"/>
          </a:xfrm>
          <a:custGeom>
            <a:rect b="b" l="l" r="r" t="t"/>
            <a:pathLst>
              <a:path extrusionOk="0" h="13716000" w="16143890">
                <a:moveTo>
                  <a:pt x="0" y="0"/>
                </a:moveTo>
                <a:lnTo>
                  <a:pt x="16143890" y="0"/>
                </a:lnTo>
                <a:lnTo>
                  <a:pt x="12044855" y="13716000"/>
                </a:lnTo>
                <a:lnTo>
                  <a:pt x="0" y="13716000"/>
                </a:lnTo>
                <a:lnTo>
                  <a:pt x="0" y="0"/>
                </a:lnTo>
                <a:close/>
              </a:path>
            </a:pathLst>
          </a:custGeom>
          <a:solidFill>
            <a:srgbClr val="25B5CA">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11" name="Google Shape;311;p7"/>
          <p:cNvSpPr/>
          <p:nvPr/>
        </p:nvSpPr>
        <p:spPr>
          <a:xfrm flipH="1">
            <a:off x="1588" y="2337971"/>
            <a:ext cx="8198069" cy="2182058"/>
          </a:xfrm>
          <a:custGeom>
            <a:rect b="b" l="l" r="r" t="t"/>
            <a:pathLst>
              <a:path extrusionOk="0" h="3987559" w="14981402">
                <a:moveTo>
                  <a:pt x="1229711" y="0"/>
                </a:moveTo>
                <a:lnTo>
                  <a:pt x="14981402" y="0"/>
                </a:lnTo>
                <a:lnTo>
                  <a:pt x="14981402" y="3987559"/>
                </a:lnTo>
                <a:lnTo>
                  <a:pt x="0" y="3987559"/>
                </a:lnTo>
                <a:lnTo>
                  <a:pt x="1229711"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12" name="Google Shape;312;p7"/>
          <p:cNvSpPr/>
          <p:nvPr/>
        </p:nvSpPr>
        <p:spPr>
          <a:xfrm flipH="1">
            <a:off x="1588" y="627903"/>
            <a:ext cx="560419" cy="270354"/>
          </a:xfrm>
          <a:custGeom>
            <a:rect b="b" l="l" r="r" t="t"/>
            <a:pathLst>
              <a:path extrusionOk="0" h="3987559" w="16161399">
                <a:moveTo>
                  <a:pt x="2409708" y="0"/>
                </a:moveTo>
                <a:lnTo>
                  <a:pt x="16161399" y="0"/>
                </a:lnTo>
                <a:lnTo>
                  <a:pt x="16161399" y="3987559"/>
                </a:lnTo>
                <a:lnTo>
                  <a:pt x="0" y="3960361"/>
                </a:lnTo>
                <a:lnTo>
                  <a:pt x="2409708" y="0"/>
                </a:lnTo>
                <a:close/>
              </a:path>
            </a:pathLst>
          </a:custGeom>
          <a:solidFill>
            <a:srgbClr val="19A7C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13" name="Google Shape;313;p7"/>
          <p:cNvSpPr txBox="1"/>
          <p:nvPr/>
        </p:nvSpPr>
        <p:spPr>
          <a:xfrm>
            <a:off x="321021" y="2716378"/>
            <a:ext cx="7559201" cy="144650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FFFFFF"/>
                </a:solidFill>
                <a:latin typeface="Arial"/>
                <a:ea typeface="Arial"/>
                <a:cs typeface="Arial"/>
                <a:sym typeface="Arial"/>
              </a:rPr>
              <a:t>Introduction and Types of Swaps</a:t>
            </a:r>
            <a:endParaRPr b="0" i="0" sz="4400" u="none" cap="none" strike="noStrike">
              <a:solidFill>
                <a:srgbClr val="000000"/>
              </a:solidFill>
              <a:latin typeface="Arial"/>
              <a:ea typeface="Arial"/>
              <a:cs typeface="Arial"/>
              <a:sym typeface="Arial"/>
            </a:endParaRPr>
          </a:p>
        </p:txBody>
      </p:sp>
      <p:pic>
        <p:nvPicPr>
          <p:cNvPr descr="A picture containing text, clipart&#10;&#10;Description automatically generated" id="314" name="Google Shape;314;p7"/>
          <p:cNvPicPr preferRelativeResize="0"/>
          <p:nvPr/>
        </p:nvPicPr>
        <p:blipFill rotWithShape="1">
          <a:blip r:embed="rId4">
            <a:alphaModFix/>
          </a:blip>
          <a:srcRect b="0" l="0" r="0" t="0"/>
          <a:stretch/>
        </p:blipFill>
        <p:spPr>
          <a:xfrm>
            <a:off x="9533468" y="312483"/>
            <a:ext cx="2421466" cy="49196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8"/>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TYPES OF SWAPS</a:t>
            </a:r>
            <a:endParaRPr/>
          </a:p>
        </p:txBody>
      </p:sp>
      <p:grpSp>
        <p:nvGrpSpPr>
          <p:cNvPr id="320" name="Google Shape;320;p8"/>
          <p:cNvGrpSpPr/>
          <p:nvPr/>
        </p:nvGrpSpPr>
        <p:grpSpPr>
          <a:xfrm>
            <a:off x="3588668" y="1494944"/>
            <a:ext cx="5014664" cy="4685970"/>
            <a:chOff x="3588668" y="1484784"/>
            <a:chExt cx="5014664" cy="4685970"/>
          </a:xfrm>
        </p:grpSpPr>
        <p:sp>
          <p:nvSpPr>
            <p:cNvPr id="321" name="Google Shape;321;p8"/>
            <p:cNvSpPr/>
            <p:nvPr/>
          </p:nvSpPr>
          <p:spPr>
            <a:xfrm>
              <a:off x="5065679" y="1484784"/>
              <a:ext cx="2060643" cy="2060643"/>
            </a:xfrm>
            <a:custGeom>
              <a:rect b="b" l="l" r="r" t="t"/>
              <a:pathLst>
                <a:path extrusionOk="0" h="2362835" w="2362835">
                  <a:moveTo>
                    <a:pt x="1181163" y="0"/>
                  </a:moveTo>
                  <a:lnTo>
                    <a:pt x="1129409" y="1136"/>
                  </a:lnTo>
                  <a:lnTo>
                    <a:pt x="1077876" y="4533"/>
                  </a:lnTo>
                  <a:lnTo>
                    <a:pt x="1026636" y="10170"/>
                  </a:lnTo>
                  <a:lnTo>
                    <a:pt x="975759" y="18027"/>
                  </a:lnTo>
                  <a:lnTo>
                    <a:pt x="925318" y="28085"/>
                  </a:lnTo>
                  <a:lnTo>
                    <a:pt x="875384" y="40322"/>
                  </a:lnTo>
                  <a:lnTo>
                    <a:pt x="826026" y="54719"/>
                  </a:lnTo>
                  <a:lnTo>
                    <a:pt x="777318" y="71257"/>
                  </a:lnTo>
                  <a:lnTo>
                    <a:pt x="729330" y="89914"/>
                  </a:lnTo>
                  <a:lnTo>
                    <a:pt x="682133" y="110672"/>
                  </a:lnTo>
                  <a:lnTo>
                    <a:pt x="635798" y="133509"/>
                  </a:lnTo>
                  <a:lnTo>
                    <a:pt x="590397" y="158407"/>
                  </a:lnTo>
                  <a:lnTo>
                    <a:pt x="546217" y="185261"/>
                  </a:lnTo>
                  <a:lnTo>
                    <a:pt x="503349" y="213955"/>
                  </a:lnTo>
                  <a:lnTo>
                    <a:pt x="461846" y="244436"/>
                  </a:lnTo>
                  <a:lnTo>
                    <a:pt x="421760" y="276655"/>
                  </a:lnTo>
                  <a:lnTo>
                    <a:pt x="383144" y="310559"/>
                  </a:lnTo>
                  <a:lnTo>
                    <a:pt x="346051" y="346097"/>
                  </a:lnTo>
                  <a:lnTo>
                    <a:pt x="310532" y="383217"/>
                  </a:lnTo>
                  <a:lnTo>
                    <a:pt x="276641" y="421870"/>
                  </a:lnTo>
                  <a:lnTo>
                    <a:pt x="244431" y="462002"/>
                  </a:lnTo>
                  <a:lnTo>
                    <a:pt x="213953" y="503563"/>
                  </a:lnTo>
                  <a:lnTo>
                    <a:pt x="185261" y="546501"/>
                  </a:lnTo>
                  <a:lnTo>
                    <a:pt x="158407" y="590765"/>
                  </a:lnTo>
                  <a:lnTo>
                    <a:pt x="133509" y="636082"/>
                  </a:lnTo>
                  <a:lnTo>
                    <a:pt x="110672" y="682346"/>
                  </a:lnTo>
                  <a:lnTo>
                    <a:pt x="89914" y="729485"/>
                  </a:lnTo>
                  <a:lnTo>
                    <a:pt x="71257" y="777427"/>
                  </a:lnTo>
                  <a:lnTo>
                    <a:pt x="54719" y="826099"/>
                  </a:lnTo>
                  <a:lnTo>
                    <a:pt x="40322" y="875430"/>
                  </a:lnTo>
                  <a:lnTo>
                    <a:pt x="28085" y="925345"/>
                  </a:lnTo>
                  <a:lnTo>
                    <a:pt x="18027" y="975773"/>
                  </a:lnTo>
                  <a:lnTo>
                    <a:pt x="10170" y="1026641"/>
                  </a:lnTo>
                  <a:lnTo>
                    <a:pt x="4533" y="1077877"/>
                  </a:lnTo>
                  <a:lnTo>
                    <a:pt x="1136" y="1129409"/>
                  </a:lnTo>
                  <a:lnTo>
                    <a:pt x="0" y="1181163"/>
                  </a:lnTo>
                  <a:lnTo>
                    <a:pt x="1136" y="1232914"/>
                  </a:lnTo>
                  <a:lnTo>
                    <a:pt x="4533" y="1284445"/>
                  </a:lnTo>
                  <a:lnTo>
                    <a:pt x="10170" y="1335683"/>
                  </a:lnTo>
                  <a:lnTo>
                    <a:pt x="18027" y="1386558"/>
                  </a:lnTo>
                  <a:lnTo>
                    <a:pt x="28085" y="1436998"/>
                  </a:lnTo>
                  <a:lnTo>
                    <a:pt x="40322" y="1486931"/>
                  </a:lnTo>
                  <a:lnTo>
                    <a:pt x="54719" y="1536288"/>
                  </a:lnTo>
                  <a:lnTo>
                    <a:pt x="71257" y="1584996"/>
                  </a:lnTo>
                  <a:lnTo>
                    <a:pt x="89914" y="1632984"/>
                  </a:lnTo>
                  <a:lnTo>
                    <a:pt x="110672" y="1680181"/>
                  </a:lnTo>
                  <a:lnTo>
                    <a:pt x="133509" y="1726515"/>
                  </a:lnTo>
                  <a:lnTo>
                    <a:pt x="158407" y="1771916"/>
                  </a:lnTo>
                  <a:lnTo>
                    <a:pt x="185261" y="1816099"/>
                  </a:lnTo>
                  <a:lnTo>
                    <a:pt x="213953" y="1858968"/>
                  </a:lnTo>
                  <a:lnTo>
                    <a:pt x="244431" y="1900473"/>
                  </a:lnTo>
                  <a:lnTo>
                    <a:pt x="276641" y="1940559"/>
                  </a:lnTo>
                  <a:lnTo>
                    <a:pt x="310532" y="1979175"/>
                  </a:lnTo>
                  <a:lnTo>
                    <a:pt x="346051" y="2016269"/>
                  </a:lnTo>
                  <a:lnTo>
                    <a:pt x="383144" y="2051788"/>
                  </a:lnTo>
                  <a:lnTo>
                    <a:pt x="421760" y="2085679"/>
                  </a:lnTo>
                  <a:lnTo>
                    <a:pt x="461846" y="2117890"/>
                  </a:lnTo>
                  <a:lnTo>
                    <a:pt x="503349" y="2148369"/>
                  </a:lnTo>
                  <a:lnTo>
                    <a:pt x="546217" y="2177063"/>
                  </a:lnTo>
                  <a:lnTo>
                    <a:pt x="590397" y="2203919"/>
                  </a:lnTo>
                  <a:lnTo>
                    <a:pt x="635798" y="2228817"/>
                  </a:lnTo>
                  <a:lnTo>
                    <a:pt x="682133" y="2251654"/>
                  </a:lnTo>
                  <a:lnTo>
                    <a:pt x="729330" y="2272412"/>
                  </a:lnTo>
                  <a:lnTo>
                    <a:pt x="777318" y="2291069"/>
                  </a:lnTo>
                  <a:lnTo>
                    <a:pt x="826026" y="2307607"/>
                  </a:lnTo>
                  <a:lnTo>
                    <a:pt x="875384" y="2322004"/>
                  </a:lnTo>
                  <a:lnTo>
                    <a:pt x="925318" y="2334241"/>
                  </a:lnTo>
                  <a:lnTo>
                    <a:pt x="975759" y="2344299"/>
                  </a:lnTo>
                  <a:lnTo>
                    <a:pt x="1026636" y="2352156"/>
                  </a:lnTo>
                  <a:lnTo>
                    <a:pt x="1077876" y="2357793"/>
                  </a:lnTo>
                  <a:lnTo>
                    <a:pt x="1129409" y="2361190"/>
                  </a:lnTo>
                  <a:lnTo>
                    <a:pt x="1181163" y="2362327"/>
                  </a:lnTo>
                  <a:lnTo>
                    <a:pt x="1232915" y="2361190"/>
                  </a:lnTo>
                  <a:lnTo>
                    <a:pt x="1284446" y="2357793"/>
                  </a:lnTo>
                  <a:lnTo>
                    <a:pt x="1335685" y="2352156"/>
                  </a:lnTo>
                  <a:lnTo>
                    <a:pt x="1386561" y="2344299"/>
                  </a:lnTo>
                  <a:lnTo>
                    <a:pt x="1437001" y="2334241"/>
                  </a:lnTo>
                  <a:lnTo>
                    <a:pt x="1486936" y="2322004"/>
                  </a:lnTo>
                  <a:lnTo>
                    <a:pt x="1536293" y="2307607"/>
                  </a:lnTo>
                  <a:lnTo>
                    <a:pt x="1585001" y="2291069"/>
                  </a:lnTo>
                  <a:lnTo>
                    <a:pt x="1632989" y="2272412"/>
                  </a:lnTo>
                  <a:lnTo>
                    <a:pt x="1680185" y="2251654"/>
                  </a:lnTo>
                  <a:lnTo>
                    <a:pt x="1726518" y="2228817"/>
                  </a:lnTo>
                  <a:lnTo>
                    <a:pt x="1771916" y="2203919"/>
                  </a:lnTo>
                  <a:lnTo>
                    <a:pt x="1816099" y="2177062"/>
                  </a:lnTo>
                  <a:lnTo>
                    <a:pt x="1858968" y="2148367"/>
                  </a:lnTo>
                  <a:lnTo>
                    <a:pt x="1900473" y="2117884"/>
                  </a:lnTo>
                  <a:lnTo>
                    <a:pt x="1940559" y="2085665"/>
                  </a:lnTo>
                  <a:lnTo>
                    <a:pt x="1979175" y="2051762"/>
                  </a:lnTo>
                  <a:lnTo>
                    <a:pt x="2016269" y="2016225"/>
                  </a:lnTo>
                  <a:lnTo>
                    <a:pt x="2051788" y="1979105"/>
                  </a:lnTo>
                  <a:lnTo>
                    <a:pt x="2085679" y="1940454"/>
                  </a:lnTo>
                  <a:lnTo>
                    <a:pt x="2117890" y="1900323"/>
                  </a:lnTo>
                  <a:lnTo>
                    <a:pt x="2148369" y="1858763"/>
                  </a:lnTo>
                  <a:lnTo>
                    <a:pt x="2177063" y="1815825"/>
                  </a:lnTo>
                  <a:lnTo>
                    <a:pt x="2203919" y="1771561"/>
                  </a:lnTo>
                  <a:lnTo>
                    <a:pt x="2228817" y="1726241"/>
                  </a:lnTo>
                  <a:lnTo>
                    <a:pt x="2251654" y="1679975"/>
                  </a:lnTo>
                  <a:lnTo>
                    <a:pt x="2272412" y="1632834"/>
                  </a:lnTo>
                  <a:lnTo>
                    <a:pt x="2291069" y="1584890"/>
                  </a:lnTo>
                  <a:lnTo>
                    <a:pt x="2307607" y="1536217"/>
                  </a:lnTo>
                  <a:lnTo>
                    <a:pt x="2322004" y="1486887"/>
                  </a:lnTo>
                  <a:lnTo>
                    <a:pt x="2334241" y="1436972"/>
                  </a:lnTo>
                  <a:lnTo>
                    <a:pt x="2344299" y="1386545"/>
                  </a:lnTo>
                  <a:lnTo>
                    <a:pt x="2352156" y="1335678"/>
                  </a:lnTo>
                  <a:lnTo>
                    <a:pt x="2357793" y="1284443"/>
                  </a:lnTo>
                  <a:lnTo>
                    <a:pt x="2361190" y="1232914"/>
                  </a:lnTo>
                  <a:lnTo>
                    <a:pt x="2362327" y="1181163"/>
                  </a:lnTo>
                  <a:lnTo>
                    <a:pt x="2361190" y="1129409"/>
                  </a:lnTo>
                  <a:lnTo>
                    <a:pt x="2357793" y="1077876"/>
                  </a:lnTo>
                  <a:lnTo>
                    <a:pt x="2352156" y="1026636"/>
                  </a:lnTo>
                  <a:lnTo>
                    <a:pt x="2344299" y="975759"/>
                  </a:lnTo>
                  <a:lnTo>
                    <a:pt x="2334241" y="925318"/>
                  </a:lnTo>
                  <a:lnTo>
                    <a:pt x="2322004" y="875384"/>
                  </a:lnTo>
                  <a:lnTo>
                    <a:pt x="2307607" y="826026"/>
                  </a:lnTo>
                  <a:lnTo>
                    <a:pt x="2291069" y="777318"/>
                  </a:lnTo>
                  <a:lnTo>
                    <a:pt x="2272412" y="729330"/>
                  </a:lnTo>
                  <a:lnTo>
                    <a:pt x="2251654" y="682133"/>
                  </a:lnTo>
                  <a:lnTo>
                    <a:pt x="2228817" y="635798"/>
                  </a:lnTo>
                  <a:lnTo>
                    <a:pt x="2203919" y="590397"/>
                  </a:lnTo>
                  <a:lnTo>
                    <a:pt x="2177062" y="546217"/>
                  </a:lnTo>
                  <a:lnTo>
                    <a:pt x="2148367" y="503349"/>
                  </a:lnTo>
                  <a:lnTo>
                    <a:pt x="2117884" y="461846"/>
                  </a:lnTo>
                  <a:lnTo>
                    <a:pt x="2085665" y="421760"/>
                  </a:lnTo>
                  <a:lnTo>
                    <a:pt x="2051762" y="383144"/>
                  </a:lnTo>
                  <a:lnTo>
                    <a:pt x="2016225" y="346051"/>
                  </a:lnTo>
                  <a:lnTo>
                    <a:pt x="1979105" y="310532"/>
                  </a:lnTo>
                  <a:lnTo>
                    <a:pt x="1940454" y="276641"/>
                  </a:lnTo>
                  <a:lnTo>
                    <a:pt x="1900323" y="244431"/>
                  </a:lnTo>
                  <a:lnTo>
                    <a:pt x="1858763" y="213953"/>
                  </a:lnTo>
                  <a:lnTo>
                    <a:pt x="1815825" y="185261"/>
                  </a:lnTo>
                  <a:lnTo>
                    <a:pt x="1771561" y="158407"/>
                  </a:lnTo>
                  <a:lnTo>
                    <a:pt x="1726244" y="133509"/>
                  </a:lnTo>
                  <a:lnTo>
                    <a:pt x="1679979" y="110672"/>
                  </a:lnTo>
                  <a:lnTo>
                    <a:pt x="1632839" y="89914"/>
                  </a:lnTo>
                  <a:lnTo>
                    <a:pt x="1584896" y="71257"/>
                  </a:lnTo>
                  <a:lnTo>
                    <a:pt x="1536223" y="54719"/>
                  </a:lnTo>
                  <a:lnTo>
                    <a:pt x="1486892" y="40322"/>
                  </a:lnTo>
                  <a:lnTo>
                    <a:pt x="1436976" y="28085"/>
                  </a:lnTo>
                  <a:lnTo>
                    <a:pt x="1386547" y="18027"/>
                  </a:lnTo>
                  <a:lnTo>
                    <a:pt x="1335679" y="10170"/>
                  </a:lnTo>
                  <a:lnTo>
                    <a:pt x="1284444" y="4533"/>
                  </a:lnTo>
                  <a:lnTo>
                    <a:pt x="1232915" y="1136"/>
                  </a:lnTo>
                  <a:lnTo>
                    <a:pt x="1181163" y="0"/>
                  </a:lnTo>
                  <a:close/>
                </a:path>
              </a:pathLst>
            </a:custGeom>
            <a:solidFill>
              <a:schemeClr val="accent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22" name="Google Shape;322;p8"/>
            <p:cNvSpPr/>
            <p:nvPr/>
          </p:nvSpPr>
          <p:spPr>
            <a:xfrm>
              <a:off x="5065679" y="4110111"/>
              <a:ext cx="2060643" cy="2060643"/>
            </a:xfrm>
            <a:custGeom>
              <a:rect b="b" l="l" r="r" t="t"/>
              <a:pathLst>
                <a:path extrusionOk="0" h="2362834" w="2362835">
                  <a:moveTo>
                    <a:pt x="1181163" y="0"/>
                  </a:moveTo>
                  <a:lnTo>
                    <a:pt x="1129409" y="1136"/>
                  </a:lnTo>
                  <a:lnTo>
                    <a:pt x="1077876" y="4532"/>
                  </a:lnTo>
                  <a:lnTo>
                    <a:pt x="1026636" y="10168"/>
                  </a:lnTo>
                  <a:lnTo>
                    <a:pt x="975759" y="18024"/>
                  </a:lnTo>
                  <a:lnTo>
                    <a:pt x="925318" y="28080"/>
                  </a:lnTo>
                  <a:lnTo>
                    <a:pt x="875384" y="40316"/>
                  </a:lnTo>
                  <a:lnTo>
                    <a:pt x="826026" y="54711"/>
                  </a:lnTo>
                  <a:lnTo>
                    <a:pt x="777318" y="71247"/>
                  </a:lnTo>
                  <a:lnTo>
                    <a:pt x="729330" y="89904"/>
                  </a:lnTo>
                  <a:lnTo>
                    <a:pt x="682133" y="110660"/>
                  </a:lnTo>
                  <a:lnTo>
                    <a:pt x="635798" y="133497"/>
                  </a:lnTo>
                  <a:lnTo>
                    <a:pt x="590397" y="158394"/>
                  </a:lnTo>
                  <a:lnTo>
                    <a:pt x="546217" y="185251"/>
                  </a:lnTo>
                  <a:lnTo>
                    <a:pt x="503349" y="213945"/>
                  </a:lnTo>
                  <a:lnTo>
                    <a:pt x="461846" y="244424"/>
                  </a:lnTo>
                  <a:lnTo>
                    <a:pt x="421760" y="276635"/>
                  </a:lnTo>
                  <a:lnTo>
                    <a:pt x="383144" y="310526"/>
                  </a:lnTo>
                  <a:lnTo>
                    <a:pt x="346051" y="346044"/>
                  </a:lnTo>
                  <a:lnTo>
                    <a:pt x="310532" y="383138"/>
                  </a:lnTo>
                  <a:lnTo>
                    <a:pt x="276641" y="421754"/>
                  </a:lnTo>
                  <a:lnTo>
                    <a:pt x="244431" y="461841"/>
                  </a:lnTo>
                  <a:lnTo>
                    <a:pt x="213953" y="503345"/>
                  </a:lnTo>
                  <a:lnTo>
                    <a:pt x="185261" y="546215"/>
                  </a:lnTo>
                  <a:lnTo>
                    <a:pt x="158407" y="590397"/>
                  </a:lnTo>
                  <a:lnTo>
                    <a:pt x="133509" y="635798"/>
                  </a:lnTo>
                  <a:lnTo>
                    <a:pt x="110672" y="682133"/>
                  </a:lnTo>
                  <a:lnTo>
                    <a:pt x="89914" y="729330"/>
                  </a:lnTo>
                  <a:lnTo>
                    <a:pt x="71257" y="777318"/>
                  </a:lnTo>
                  <a:lnTo>
                    <a:pt x="54719" y="826025"/>
                  </a:lnTo>
                  <a:lnTo>
                    <a:pt x="40322" y="875382"/>
                  </a:lnTo>
                  <a:lnTo>
                    <a:pt x="28085" y="925316"/>
                  </a:lnTo>
                  <a:lnTo>
                    <a:pt x="18027" y="975756"/>
                  </a:lnTo>
                  <a:lnTo>
                    <a:pt x="10170" y="1026630"/>
                  </a:lnTo>
                  <a:lnTo>
                    <a:pt x="4533" y="1077868"/>
                  </a:lnTo>
                  <a:lnTo>
                    <a:pt x="1136" y="1129399"/>
                  </a:lnTo>
                  <a:lnTo>
                    <a:pt x="0" y="1181150"/>
                  </a:lnTo>
                  <a:lnTo>
                    <a:pt x="1136" y="1232905"/>
                  </a:lnTo>
                  <a:lnTo>
                    <a:pt x="4533" y="1284438"/>
                  </a:lnTo>
                  <a:lnTo>
                    <a:pt x="10170" y="1335678"/>
                  </a:lnTo>
                  <a:lnTo>
                    <a:pt x="18027" y="1386554"/>
                  </a:lnTo>
                  <a:lnTo>
                    <a:pt x="28085" y="1436995"/>
                  </a:lnTo>
                  <a:lnTo>
                    <a:pt x="40322" y="1486930"/>
                  </a:lnTo>
                  <a:lnTo>
                    <a:pt x="54719" y="1536287"/>
                  </a:lnTo>
                  <a:lnTo>
                    <a:pt x="71257" y="1584995"/>
                  </a:lnTo>
                  <a:lnTo>
                    <a:pt x="89914" y="1632984"/>
                  </a:lnTo>
                  <a:lnTo>
                    <a:pt x="110672" y="1680181"/>
                  </a:lnTo>
                  <a:lnTo>
                    <a:pt x="133509" y="1726515"/>
                  </a:lnTo>
                  <a:lnTo>
                    <a:pt x="158407" y="1771916"/>
                  </a:lnTo>
                  <a:lnTo>
                    <a:pt x="185261" y="1816099"/>
                  </a:lnTo>
                  <a:lnTo>
                    <a:pt x="213953" y="1858968"/>
                  </a:lnTo>
                  <a:lnTo>
                    <a:pt x="244431" y="1900473"/>
                  </a:lnTo>
                  <a:lnTo>
                    <a:pt x="276641" y="1940559"/>
                  </a:lnTo>
                  <a:lnTo>
                    <a:pt x="310532" y="1979175"/>
                  </a:lnTo>
                  <a:lnTo>
                    <a:pt x="346051" y="2016269"/>
                  </a:lnTo>
                  <a:lnTo>
                    <a:pt x="383144" y="2051788"/>
                  </a:lnTo>
                  <a:lnTo>
                    <a:pt x="421760" y="2085679"/>
                  </a:lnTo>
                  <a:lnTo>
                    <a:pt x="461846" y="2117890"/>
                  </a:lnTo>
                  <a:lnTo>
                    <a:pt x="503349" y="2148369"/>
                  </a:lnTo>
                  <a:lnTo>
                    <a:pt x="546217" y="2177063"/>
                  </a:lnTo>
                  <a:lnTo>
                    <a:pt x="590397" y="2203919"/>
                  </a:lnTo>
                  <a:lnTo>
                    <a:pt x="635798" y="2228817"/>
                  </a:lnTo>
                  <a:lnTo>
                    <a:pt x="682133" y="2251653"/>
                  </a:lnTo>
                  <a:lnTo>
                    <a:pt x="729330" y="2272410"/>
                  </a:lnTo>
                  <a:lnTo>
                    <a:pt x="777318" y="2291066"/>
                  </a:lnTo>
                  <a:lnTo>
                    <a:pt x="826026" y="2307602"/>
                  </a:lnTo>
                  <a:lnTo>
                    <a:pt x="875384" y="2321998"/>
                  </a:lnTo>
                  <a:lnTo>
                    <a:pt x="925318" y="2334233"/>
                  </a:lnTo>
                  <a:lnTo>
                    <a:pt x="975759" y="2344289"/>
                  </a:lnTo>
                  <a:lnTo>
                    <a:pt x="1026636" y="2352145"/>
                  </a:lnTo>
                  <a:lnTo>
                    <a:pt x="1077876" y="2357781"/>
                  </a:lnTo>
                  <a:lnTo>
                    <a:pt x="1129409" y="2361177"/>
                  </a:lnTo>
                  <a:lnTo>
                    <a:pt x="1181163" y="2362314"/>
                  </a:lnTo>
                  <a:lnTo>
                    <a:pt x="1232915" y="2361177"/>
                  </a:lnTo>
                  <a:lnTo>
                    <a:pt x="1284446" y="2357781"/>
                  </a:lnTo>
                  <a:lnTo>
                    <a:pt x="1335685" y="2352145"/>
                  </a:lnTo>
                  <a:lnTo>
                    <a:pt x="1386561" y="2344289"/>
                  </a:lnTo>
                  <a:lnTo>
                    <a:pt x="1437001" y="2334233"/>
                  </a:lnTo>
                  <a:lnTo>
                    <a:pt x="1486936" y="2321998"/>
                  </a:lnTo>
                  <a:lnTo>
                    <a:pt x="1536293" y="2307602"/>
                  </a:lnTo>
                  <a:lnTo>
                    <a:pt x="1585001" y="2291066"/>
                  </a:lnTo>
                  <a:lnTo>
                    <a:pt x="1632989" y="2272410"/>
                  </a:lnTo>
                  <a:lnTo>
                    <a:pt x="1680185" y="2251653"/>
                  </a:lnTo>
                  <a:lnTo>
                    <a:pt x="1726518" y="2228817"/>
                  </a:lnTo>
                  <a:lnTo>
                    <a:pt x="1771916" y="2203919"/>
                  </a:lnTo>
                  <a:lnTo>
                    <a:pt x="1816099" y="2177063"/>
                  </a:lnTo>
                  <a:lnTo>
                    <a:pt x="1858968" y="2148369"/>
                  </a:lnTo>
                  <a:lnTo>
                    <a:pt x="1900473" y="2117890"/>
                  </a:lnTo>
                  <a:lnTo>
                    <a:pt x="1940559" y="2085679"/>
                  </a:lnTo>
                  <a:lnTo>
                    <a:pt x="1979175" y="2051788"/>
                  </a:lnTo>
                  <a:lnTo>
                    <a:pt x="2016269" y="2016269"/>
                  </a:lnTo>
                  <a:lnTo>
                    <a:pt x="2051788" y="1979175"/>
                  </a:lnTo>
                  <a:lnTo>
                    <a:pt x="2085679" y="1940559"/>
                  </a:lnTo>
                  <a:lnTo>
                    <a:pt x="2117890" y="1900473"/>
                  </a:lnTo>
                  <a:lnTo>
                    <a:pt x="2148369" y="1858968"/>
                  </a:lnTo>
                  <a:lnTo>
                    <a:pt x="2177063" y="1816099"/>
                  </a:lnTo>
                  <a:lnTo>
                    <a:pt x="2203919" y="1771916"/>
                  </a:lnTo>
                  <a:lnTo>
                    <a:pt x="2228817" y="1726515"/>
                  </a:lnTo>
                  <a:lnTo>
                    <a:pt x="2251654" y="1680181"/>
                  </a:lnTo>
                  <a:lnTo>
                    <a:pt x="2272412" y="1632984"/>
                  </a:lnTo>
                  <a:lnTo>
                    <a:pt x="2291069" y="1584995"/>
                  </a:lnTo>
                  <a:lnTo>
                    <a:pt x="2307607" y="1536287"/>
                  </a:lnTo>
                  <a:lnTo>
                    <a:pt x="2322004" y="1486930"/>
                  </a:lnTo>
                  <a:lnTo>
                    <a:pt x="2334241" y="1436995"/>
                  </a:lnTo>
                  <a:lnTo>
                    <a:pt x="2344299" y="1386554"/>
                  </a:lnTo>
                  <a:lnTo>
                    <a:pt x="2352156" y="1335678"/>
                  </a:lnTo>
                  <a:lnTo>
                    <a:pt x="2357793" y="1284438"/>
                  </a:lnTo>
                  <a:lnTo>
                    <a:pt x="2361190" y="1232905"/>
                  </a:lnTo>
                  <a:lnTo>
                    <a:pt x="2362327" y="1181150"/>
                  </a:lnTo>
                  <a:lnTo>
                    <a:pt x="2361190" y="1129399"/>
                  </a:lnTo>
                  <a:lnTo>
                    <a:pt x="2357793" y="1077868"/>
                  </a:lnTo>
                  <a:lnTo>
                    <a:pt x="2352156" y="1026630"/>
                  </a:lnTo>
                  <a:lnTo>
                    <a:pt x="2344299" y="975756"/>
                  </a:lnTo>
                  <a:lnTo>
                    <a:pt x="2334241" y="925316"/>
                  </a:lnTo>
                  <a:lnTo>
                    <a:pt x="2322004" y="875382"/>
                  </a:lnTo>
                  <a:lnTo>
                    <a:pt x="2307607" y="826025"/>
                  </a:lnTo>
                  <a:lnTo>
                    <a:pt x="2291069" y="777318"/>
                  </a:lnTo>
                  <a:lnTo>
                    <a:pt x="2272412" y="729330"/>
                  </a:lnTo>
                  <a:lnTo>
                    <a:pt x="2251654" y="682133"/>
                  </a:lnTo>
                  <a:lnTo>
                    <a:pt x="2228817" y="635798"/>
                  </a:lnTo>
                  <a:lnTo>
                    <a:pt x="2203919" y="590397"/>
                  </a:lnTo>
                  <a:lnTo>
                    <a:pt x="2177062" y="546215"/>
                  </a:lnTo>
                  <a:lnTo>
                    <a:pt x="2148367" y="503345"/>
                  </a:lnTo>
                  <a:lnTo>
                    <a:pt x="2117884" y="461841"/>
                  </a:lnTo>
                  <a:lnTo>
                    <a:pt x="2085665" y="421754"/>
                  </a:lnTo>
                  <a:lnTo>
                    <a:pt x="2051762" y="383138"/>
                  </a:lnTo>
                  <a:lnTo>
                    <a:pt x="2016225" y="346044"/>
                  </a:lnTo>
                  <a:lnTo>
                    <a:pt x="1979105" y="310526"/>
                  </a:lnTo>
                  <a:lnTo>
                    <a:pt x="1940454" y="276635"/>
                  </a:lnTo>
                  <a:lnTo>
                    <a:pt x="1900323" y="244424"/>
                  </a:lnTo>
                  <a:lnTo>
                    <a:pt x="1858763" y="213945"/>
                  </a:lnTo>
                  <a:lnTo>
                    <a:pt x="1815825" y="185251"/>
                  </a:lnTo>
                  <a:lnTo>
                    <a:pt x="1771561" y="158394"/>
                  </a:lnTo>
                  <a:lnTo>
                    <a:pt x="1726244" y="133497"/>
                  </a:lnTo>
                  <a:lnTo>
                    <a:pt x="1679979" y="110660"/>
                  </a:lnTo>
                  <a:lnTo>
                    <a:pt x="1632839" y="89904"/>
                  </a:lnTo>
                  <a:lnTo>
                    <a:pt x="1584896" y="71247"/>
                  </a:lnTo>
                  <a:lnTo>
                    <a:pt x="1536223" y="54711"/>
                  </a:lnTo>
                  <a:lnTo>
                    <a:pt x="1486892" y="40316"/>
                  </a:lnTo>
                  <a:lnTo>
                    <a:pt x="1436976" y="28080"/>
                  </a:lnTo>
                  <a:lnTo>
                    <a:pt x="1386547" y="18024"/>
                  </a:lnTo>
                  <a:lnTo>
                    <a:pt x="1335679" y="10168"/>
                  </a:lnTo>
                  <a:lnTo>
                    <a:pt x="1284444" y="4532"/>
                  </a:lnTo>
                  <a:lnTo>
                    <a:pt x="1232915" y="1136"/>
                  </a:lnTo>
                  <a:lnTo>
                    <a:pt x="1181163" y="0"/>
                  </a:lnTo>
                  <a:close/>
                </a:path>
              </a:pathLst>
            </a:custGeom>
            <a:solidFill>
              <a:schemeClr val="accent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23" name="Google Shape;323;p8"/>
            <p:cNvSpPr/>
            <p:nvPr/>
          </p:nvSpPr>
          <p:spPr>
            <a:xfrm>
              <a:off x="6542689" y="2797448"/>
              <a:ext cx="2060643" cy="2060643"/>
            </a:xfrm>
            <a:custGeom>
              <a:rect b="b" l="l" r="r" t="t"/>
              <a:pathLst>
                <a:path extrusionOk="0" h="2362835" w="2362834">
                  <a:moveTo>
                    <a:pt x="1181150" y="0"/>
                  </a:moveTo>
                  <a:lnTo>
                    <a:pt x="1129399" y="1136"/>
                  </a:lnTo>
                  <a:lnTo>
                    <a:pt x="1077868" y="4533"/>
                  </a:lnTo>
                  <a:lnTo>
                    <a:pt x="1026630" y="10170"/>
                  </a:lnTo>
                  <a:lnTo>
                    <a:pt x="975756" y="18027"/>
                  </a:lnTo>
                  <a:lnTo>
                    <a:pt x="925316" y="28085"/>
                  </a:lnTo>
                  <a:lnTo>
                    <a:pt x="875382" y="40322"/>
                  </a:lnTo>
                  <a:lnTo>
                    <a:pt x="826025" y="54719"/>
                  </a:lnTo>
                  <a:lnTo>
                    <a:pt x="777318" y="71257"/>
                  </a:lnTo>
                  <a:lnTo>
                    <a:pt x="729330" y="89914"/>
                  </a:lnTo>
                  <a:lnTo>
                    <a:pt x="682133" y="110672"/>
                  </a:lnTo>
                  <a:lnTo>
                    <a:pt x="635798" y="133509"/>
                  </a:lnTo>
                  <a:lnTo>
                    <a:pt x="590397" y="158407"/>
                  </a:lnTo>
                  <a:lnTo>
                    <a:pt x="546215" y="185261"/>
                  </a:lnTo>
                  <a:lnTo>
                    <a:pt x="503345" y="213953"/>
                  </a:lnTo>
                  <a:lnTo>
                    <a:pt x="461841" y="244431"/>
                  </a:lnTo>
                  <a:lnTo>
                    <a:pt x="421754" y="276641"/>
                  </a:lnTo>
                  <a:lnTo>
                    <a:pt x="383138" y="310532"/>
                  </a:lnTo>
                  <a:lnTo>
                    <a:pt x="346044" y="346051"/>
                  </a:lnTo>
                  <a:lnTo>
                    <a:pt x="310526" y="383144"/>
                  </a:lnTo>
                  <a:lnTo>
                    <a:pt x="276635" y="421760"/>
                  </a:lnTo>
                  <a:lnTo>
                    <a:pt x="244424" y="461846"/>
                  </a:lnTo>
                  <a:lnTo>
                    <a:pt x="213945" y="503349"/>
                  </a:lnTo>
                  <a:lnTo>
                    <a:pt x="185251" y="546217"/>
                  </a:lnTo>
                  <a:lnTo>
                    <a:pt x="158394" y="590397"/>
                  </a:lnTo>
                  <a:lnTo>
                    <a:pt x="133497" y="635798"/>
                  </a:lnTo>
                  <a:lnTo>
                    <a:pt x="110660" y="682133"/>
                  </a:lnTo>
                  <a:lnTo>
                    <a:pt x="89904" y="729330"/>
                  </a:lnTo>
                  <a:lnTo>
                    <a:pt x="71247" y="777318"/>
                  </a:lnTo>
                  <a:lnTo>
                    <a:pt x="54711" y="826026"/>
                  </a:lnTo>
                  <a:lnTo>
                    <a:pt x="40316" y="875384"/>
                  </a:lnTo>
                  <a:lnTo>
                    <a:pt x="28080" y="925318"/>
                  </a:lnTo>
                  <a:lnTo>
                    <a:pt x="18024" y="975759"/>
                  </a:lnTo>
                  <a:lnTo>
                    <a:pt x="10168" y="1026636"/>
                  </a:lnTo>
                  <a:lnTo>
                    <a:pt x="4532" y="1077876"/>
                  </a:lnTo>
                  <a:lnTo>
                    <a:pt x="1136" y="1129409"/>
                  </a:lnTo>
                  <a:lnTo>
                    <a:pt x="0" y="1181163"/>
                  </a:lnTo>
                  <a:lnTo>
                    <a:pt x="1136" y="1232914"/>
                  </a:lnTo>
                  <a:lnTo>
                    <a:pt x="4532" y="1284443"/>
                  </a:lnTo>
                  <a:lnTo>
                    <a:pt x="10168" y="1335678"/>
                  </a:lnTo>
                  <a:lnTo>
                    <a:pt x="18024" y="1386545"/>
                  </a:lnTo>
                  <a:lnTo>
                    <a:pt x="28080" y="1436972"/>
                  </a:lnTo>
                  <a:lnTo>
                    <a:pt x="40316" y="1486887"/>
                  </a:lnTo>
                  <a:lnTo>
                    <a:pt x="54711" y="1536217"/>
                  </a:lnTo>
                  <a:lnTo>
                    <a:pt x="71247" y="1584890"/>
                  </a:lnTo>
                  <a:lnTo>
                    <a:pt x="89904" y="1632834"/>
                  </a:lnTo>
                  <a:lnTo>
                    <a:pt x="110660" y="1679975"/>
                  </a:lnTo>
                  <a:lnTo>
                    <a:pt x="133497" y="1726241"/>
                  </a:lnTo>
                  <a:lnTo>
                    <a:pt x="158394" y="1771561"/>
                  </a:lnTo>
                  <a:lnTo>
                    <a:pt x="185251" y="1815825"/>
                  </a:lnTo>
                  <a:lnTo>
                    <a:pt x="213945" y="1858763"/>
                  </a:lnTo>
                  <a:lnTo>
                    <a:pt x="244424" y="1900323"/>
                  </a:lnTo>
                  <a:lnTo>
                    <a:pt x="276635" y="1940454"/>
                  </a:lnTo>
                  <a:lnTo>
                    <a:pt x="310526" y="1979105"/>
                  </a:lnTo>
                  <a:lnTo>
                    <a:pt x="346044" y="2016225"/>
                  </a:lnTo>
                  <a:lnTo>
                    <a:pt x="383138" y="2051762"/>
                  </a:lnTo>
                  <a:lnTo>
                    <a:pt x="421754" y="2085665"/>
                  </a:lnTo>
                  <a:lnTo>
                    <a:pt x="461841" y="2117884"/>
                  </a:lnTo>
                  <a:lnTo>
                    <a:pt x="503345" y="2148367"/>
                  </a:lnTo>
                  <a:lnTo>
                    <a:pt x="546215" y="2177062"/>
                  </a:lnTo>
                  <a:lnTo>
                    <a:pt x="590397" y="2203919"/>
                  </a:lnTo>
                  <a:lnTo>
                    <a:pt x="635798" y="2228817"/>
                  </a:lnTo>
                  <a:lnTo>
                    <a:pt x="682133" y="2251654"/>
                  </a:lnTo>
                  <a:lnTo>
                    <a:pt x="729330" y="2272412"/>
                  </a:lnTo>
                  <a:lnTo>
                    <a:pt x="777318" y="2291069"/>
                  </a:lnTo>
                  <a:lnTo>
                    <a:pt x="826025" y="2307607"/>
                  </a:lnTo>
                  <a:lnTo>
                    <a:pt x="875382" y="2322004"/>
                  </a:lnTo>
                  <a:lnTo>
                    <a:pt x="925316" y="2334241"/>
                  </a:lnTo>
                  <a:lnTo>
                    <a:pt x="975756" y="2344299"/>
                  </a:lnTo>
                  <a:lnTo>
                    <a:pt x="1026630" y="2352156"/>
                  </a:lnTo>
                  <a:lnTo>
                    <a:pt x="1077868" y="2357793"/>
                  </a:lnTo>
                  <a:lnTo>
                    <a:pt x="1129399" y="2361190"/>
                  </a:lnTo>
                  <a:lnTo>
                    <a:pt x="1181150" y="2362327"/>
                  </a:lnTo>
                  <a:lnTo>
                    <a:pt x="1232904" y="2361190"/>
                  </a:lnTo>
                  <a:lnTo>
                    <a:pt x="1284436" y="2357793"/>
                  </a:lnTo>
                  <a:lnTo>
                    <a:pt x="1335672" y="2352156"/>
                  </a:lnTo>
                  <a:lnTo>
                    <a:pt x="1386541" y="2344299"/>
                  </a:lnTo>
                  <a:lnTo>
                    <a:pt x="1436969" y="2334241"/>
                  </a:lnTo>
                  <a:lnTo>
                    <a:pt x="1486885" y="2322004"/>
                  </a:lnTo>
                  <a:lnTo>
                    <a:pt x="1536216" y="2307607"/>
                  </a:lnTo>
                  <a:lnTo>
                    <a:pt x="1584890" y="2291069"/>
                  </a:lnTo>
                  <a:lnTo>
                    <a:pt x="1632834" y="2272412"/>
                  </a:lnTo>
                  <a:lnTo>
                    <a:pt x="1679975" y="2251654"/>
                  </a:lnTo>
                  <a:lnTo>
                    <a:pt x="1726241" y="2228817"/>
                  </a:lnTo>
                  <a:lnTo>
                    <a:pt x="1771561" y="2203919"/>
                  </a:lnTo>
                  <a:lnTo>
                    <a:pt x="1815822" y="2177062"/>
                  </a:lnTo>
                  <a:lnTo>
                    <a:pt x="1858758" y="2148367"/>
                  </a:lnTo>
                  <a:lnTo>
                    <a:pt x="1900317" y="2117884"/>
                  </a:lnTo>
                  <a:lnTo>
                    <a:pt x="1940448" y="2085665"/>
                  </a:lnTo>
                  <a:lnTo>
                    <a:pt x="1979099" y="2051762"/>
                  </a:lnTo>
                  <a:lnTo>
                    <a:pt x="2016220" y="2016225"/>
                  </a:lnTo>
                  <a:lnTo>
                    <a:pt x="2051758" y="1979105"/>
                  </a:lnTo>
                  <a:lnTo>
                    <a:pt x="2085663" y="1940454"/>
                  </a:lnTo>
                  <a:lnTo>
                    <a:pt x="2117882" y="1900323"/>
                  </a:lnTo>
                  <a:lnTo>
                    <a:pt x="2148366" y="1858763"/>
                  </a:lnTo>
                  <a:lnTo>
                    <a:pt x="2177062" y="1815825"/>
                  </a:lnTo>
                  <a:lnTo>
                    <a:pt x="2203919" y="1771561"/>
                  </a:lnTo>
                  <a:lnTo>
                    <a:pt x="2228814" y="1726241"/>
                  </a:lnTo>
                  <a:lnTo>
                    <a:pt x="2251649" y="1679975"/>
                  </a:lnTo>
                  <a:lnTo>
                    <a:pt x="2272404" y="1632834"/>
                  </a:lnTo>
                  <a:lnTo>
                    <a:pt x="2291060" y="1584890"/>
                  </a:lnTo>
                  <a:lnTo>
                    <a:pt x="2307596" y="1536217"/>
                  </a:lnTo>
                  <a:lnTo>
                    <a:pt x="2321993" y="1486887"/>
                  </a:lnTo>
                  <a:lnTo>
                    <a:pt x="2334230" y="1436972"/>
                  </a:lnTo>
                  <a:lnTo>
                    <a:pt x="2344286" y="1386545"/>
                  </a:lnTo>
                  <a:lnTo>
                    <a:pt x="2352143" y="1335678"/>
                  </a:lnTo>
                  <a:lnTo>
                    <a:pt x="2357780" y="1284443"/>
                  </a:lnTo>
                  <a:lnTo>
                    <a:pt x="2361177" y="1232914"/>
                  </a:lnTo>
                  <a:lnTo>
                    <a:pt x="2362314" y="1181163"/>
                  </a:lnTo>
                  <a:lnTo>
                    <a:pt x="2361177" y="1129409"/>
                  </a:lnTo>
                  <a:lnTo>
                    <a:pt x="2357780" y="1077876"/>
                  </a:lnTo>
                  <a:lnTo>
                    <a:pt x="2352143" y="1026636"/>
                  </a:lnTo>
                  <a:lnTo>
                    <a:pt x="2344286" y="975759"/>
                  </a:lnTo>
                  <a:lnTo>
                    <a:pt x="2334230" y="925318"/>
                  </a:lnTo>
                  <a:lnTo>
                    <a:pt x="2321993" y="875384"/>
                  </a:lnTo>
                  <a:lnTo>
                    <a:pt x="2307596" y="826026"/>
                  </a:lnTo>
                  <a:lnTo>
                    <a:pt x="2291060" y="777318"/>
                  </a:lnTo>
                  <a:lnTo>
                    <a:pt x="2272404" y="729330"/>
                  </a:lnTo>
                  <a:lnTo>
                    <a:pt x="2251649" y="682133"/>
                  </a:lnTo>
                  <a:lnTo>
                    <a:pt x="2228814" y="635798"/>
                  </a:lnTo>
                  <a:lnTo>
                    <a:pt x="2203919" y="590397"/>
                  </a:lnTo>
                  <a:lnTo>
                    <a:pt x="2177062" y="546217"/>
                  </a:lnTo>
                  <a:lnTo>
                    <a:pt x="2148366" y="503349"/>
                  </a:lnTo>
                  <a:lnTo>
                    <a:pt x="2117882" y="461846"/>
                  </a:lnTo>
                  <a:lnTo>
                    <a:pt x="2085663" y="421760"/>
                  </a:lnTo>
                  <a:lnTo>
                    <a:pt x="2051758" y="383144"/>
                  </a:lnTo>
                  <a:lnTo>
                    <a:pt x="2016220" y="346051"/>
                  </a:lnTo>
                  <a:lnTo>
                    <a:pt x="1979099" y="310532"/>
                  </a:lnTo>
                  <a:lnTo>
                    <a:pt x="1940448" y="276641"/>
                  </a:lnTo>
                  <a:lnTo>
                    <a:pt x="1900317" y="244431"/>
                  </a:lnTo>
                  <a:lnTo>
                    <a:pt x="1858758" y="213953"/>
                  </a:lnTo>
                  <a:lnTo>
                    <a:pt x="1815822" y="185261"/>
                  </a:lnTo>
                  <a:lnTo>
                    <a:pt x="1771561" y="158407"/>
                  </a:lnTo>
                  <a:lnTo>
                    <a:pt x="1726241" y="133509"/>
                  </a:lnTo>
                  <a:lnTo>
                    <a:pt x="1679975" y="110672"/>
                  </a:lnTo>
                  <a:lnTo>
                    <a:pt x="1632834" y="89914"/>
                  </a:lnTo>
                  <a:lnTo>
                    <a:pt x="1584890" y="71257"/>
                  </a:lnTo>
                  <a:lnTo>
                    <a:pt x="1536216" y="54719"/>
                  </a:lnTo>
                  <a:lnTo>
                    <a:pt x="1486885" y="40322"/>
                  </a:lnTo>
                  <a:lnTo>
                    <a:pt x="1436969" y="28085"/>
                  </a:lnTo>
                  <a:lnTo>
                    <a:pt x="1386541" y="18027"/>
                  </a:lnTo>
                  <a:lnTo>
                    <a:pt x="1335672" y="10170"/>
                  </a:lnTo>
                  <a:lnTo>
                    <a:pt x="1284436" y="4533"/>
                  </a:lnTo>
                  <a:lnTo>
                    <a:pt x="1232904" y="1136"/>
                  </a:lnTo>
                  <a:lnTo>
                    <a:pt x="1181150" y="0"/>
                  </a:lnTo>
                  <a:close/>
                </a:path>
              </a:pathLst>
            </a:custGeom>
            <a:solidFill>
              <a:schemeClr val="accent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24" name="Google Shape;324;p8"/>
            <p:cNvSpPr/>
            <p:nvPr/>
          </p:nvSpPr>
          <p:spPr>
            <a:xfrm>
              <a:off x="3588668" y="2797448"/>
              <a:ext cx="2060643" cy="2060643"/>
            </a:xfrm>
            <a:custGeom>
              <a:rect b="b" l="l" r="r" t="t"/>
              <a:pathLst>
                <a:path extrusionOk="0" h="2362835" w="2362835">
                  <a:moveTo>
                    <a:pt x="1181163" y="0"/>
                  </a:moveTo>
                  <a:lnTo>
                    <a:pt x="1129409" y="1136"/>
                  </a:lnTo>
                  <a:lnTo>
                    <a:pt x="1077876" y="4533"/>
                  </a:lnTo>
                  <a:lnTo>
                    <a:pt x="1026636" y="10170"/>
                  </a:lnTo>
                  <a:lnTo>
                    <a:pt x="975759" y="18027"/>
                  </a:lnTo>
                  <a:lnTo>
                    <a:pt x="925318" y="28085"/>
                  </a:lnTo>
                  <a:lnTo>
                    <a:pt x="875384" y="40322"/>
                  </a:lnTo>
                  <a:lnTo>
                    <a:pt x="826026" y="54719"/>
                  </a:lnTo>
                  <a:lnTo>
                    <a:pt x="777318" y="71257"/>
                  </a:lnTo>
                  <a:lnTo>
                    <a:pt x="729330" y="89914"/>
                  </a:lnTo>
                  <a:lnTo>
                    <a:pt x="682133" y="110672"/>
                  </a:lnTo>
                  <a:lnTo>
                    <a:pt x="635798" y="133509"/>
                  </a:lnTo>
                  <a:lnTo>
                    <a:pt x="590397" y="158407"/>
                  </a:lnTo>
                  <a:lnTo>
                    <a:pt x="546217" y="185261"/>
                  </a:lnTo>
                  <a:lnTo>
                    <a:pt x="503349" y="213953"/>
                  </a:lnTo>
                  <a:lnTo>
                    <a:pt x="461846" y="244431"/>
                  </a:lnTo>
                  <a:lnTo>
                    <a:pt x="421760" y="276641"/>
                  </a:lnTo>
                  <a:lnTo>
                    <a:pt x="383144" y="310532"/>
                  </a:lnTo>
                  <a:lnTo>
                    <a:pt x="346051" y="346051"/>
                  </a:lnTo>
                  <a:lnTo>
                    <a:pt x="310532" y="383144"/>
                  </a:lnTo>
                  <a:lnTo>
                    <a:pt x="276641" y="421760"/>
                  </a:lnTo>
                  <a:lnTo>
                    <a:pt x="244431" y="461846"/>
                  </a:lnTo>
                  <a:lnTo>
                    <a:pt x="213953" y="503349"/>
                  </a:lnTo>
                  <a:lnTo>
                    <a:pt x="185261" y="546217"/>
                  </a:lnTo>
                  <a:lnTo>
                    <a:pt x="158407" y="590397"/>
                  </a:lnTo>
                  <a:lnTo>
                    <a:pt x="133509" y="635798"/>
                  </a:lnTo>
                  <a:lnTo>
                    <a:pt x="110672" y="682133"/>
                  </a:lnTo>
                  <a:lnTo>
                    <a:pt x="89914" y="729330"/>
                  </a:lnTo>
                  <a:lnTo>
                    <a:pt x="71257" y="777318"/>
                  </a:lnTo>
                  <a:lnTo>
                    <a:pt x="54719" y="826026"/>
                  </a:lnTo>
                  <a:lnTo>
                    <a:pt x="40322" y="875384"/>
                  </a:lnTo>
                  <a:lnTo>
                    <a:pt x="28085" y="925318"/>
                  </a:lnTo>
                  <a:lnTo>
                    <a:pt x="18027" y="975759"/>
                  </a:lnTo>
                  <a:lnTo>
                    <a:pt x="10170" y="1026636"/>
                  </a:lnTo>
                  <a:lnTo>
                    <a:pt x="4533" y="1077876"/>
                  </a:lnTo>
                  <a:lnTo>
                    <a:pt x="1136" y="1129409"/>
                  </a:lnTo>
                  <a:lnTo>
                    <a:pt x="0" y="1181163"/>
                  </a:lnTo>
                  <a:lnTo>
                    <a:pt x="1136" y="1232914"/>
                  </a:lnTo>
                  <a:lnTo>
                    <a:pt x="4533" y="1284443"/>
                  </a:lnTo>
                  <a:lnTo>
                    <a:pt x="10170" y="1335678"/>
                  </a:lnTo>
                  <a:lnTo>
                    <a:pt x="18027" y="1386545"/>
                  </a:lnTo>
                  <a:lnTo>
                    <a:pt x="28085" y="1436972"/>
                  </a:lnTo>
                  <a:lnTo>
                    <a:pt x="40322" y="1486887"/>
                  </a:lnTo>
                  <a:lnTo>
                    <a:pt x="54719" y="1536217"/>
                  </a:lnTo>
                  <a:lnTo>
                    <a:pt x="71257" y="1584890"/>
                  </a:lnTo>
                  <a:lnTo>
                    <a:pt x="89914" y="1632834"/>
                  </a:lnTo>
                  <a:lnTo>
                    <a:pt x="110672" y="1679975"/>
                  </a:lnTo>
                  <a:lnTo>
                    <a:pt x="133509" y="1726241"/>
                  </a:lnTo>
                  <a:lnTo>
                    <a:pt x="158407" y="1771561"/>
                  </a:lnTo>
                  <a:lnTo>
                    <a:pt x="185261" y="1815825"/>
                  </a:lnTo>
                  <a:lnTo>
                    <a:pt x="213955" y="1858763"/>
                  </a:lnTo>
                  <a:lnTo>
                    <a:pt x="244436" y="1900323"/>
                  </a:lnTo>
                  <a:lnTo>
                    <a:pt x="276655" y="1940454"/>
                  </a:lnTo>
                  <a:lnTo>
                    <a:pt x="310559" y="1979105"/>
                  </a:lnTo>
                  <a:lnTo>
                    <a:pt x="346097" y="2016225"/>
                  </a:lnTo>
                  <a:lnTo>
                    <a:pt x="383217" y="2051762"/>
                  </a:lnTo>
                  <a:lnTo>
                    <a:pt x="421870" y="2085665"/>
                  </a:lnTo>
                  <a:lnTo>
                    <a:pt x="462002" y="2117884"/>
                  </a:lnTo>
                  <a:lnTo>
                    <a:pt x="503563" y="2148367"/>
                  </a:lnTo>
                  <a:lnTo>
                    <a:pt x="546501" y="2177062"/>
                  </a:lnTo>
                  <a:lnTo>
                    <a:pt x="590765" y="2203919"/>
                  </a:lnTo>
                  <a:lnTo>
                    <a:pt x="636082" y="2228817"/>
                  </a:lnTo>
                  <a:lnTo>
                    <a:pt x="682346" y="2251654"/>
                  </a:lnTo>
                  <a:lnTo>
                    <a:pt x="729485" y="2272412"/>
                  </a:lnTo>
                  <a:lnTo>
                    <a:pt x="777427" y="2291069"/>
                  </a:lnTo>
                  <a:lnTo>
                    <a:pt x="826099" y="2307607"/>
                  </a:lnTo>
                  <a:lnTo>
                    <a:pt x="875430" y="2322004"/>
                  </a:lnTo>
                  <a:lnTo>
                    <a:pt x="925345" y="2334241"/>
                  </a:lnTo>
                  <a:lnTo>
                    <a:pt x="975773" y="2344299"/>
                  </a:lnTo>
                  <a:lnTo>
                    <a:pt x="1026641" y="2352156"/>
                  </a:lnTo>
                  <a:lnTo>
                    <a:pt x="1077877" y="2357793"/>
                  </a:lnTo>
                  <a:lnTo>
                    <a:pt x="1129409" y="2361190"/>
                  </a:lnTo>
                  <a:lnTo>
                    <a:pt x="1181163" y="2362327"/>
                  </a:lnTo>
                  <a:lnTo>
                    <a:pt x="1232914" y="2361190"/>
                  </a:lnTo>
                  <a:lnTo>
                    <a:pt x="1284445" y="2357793"/>
                  </a:lnTo>
                  <a:lnTo>
                    <a:pt x="1335683" y="2352156"/>
                  </a:lnTo>
                  <a:lnTo>
                    <a:pt x="1386558" y="2344299"/>
                  </a:lnTo>
                  <a:lnTo>
                    <a:pt x="1436998" y="2334241"/>
                  </a:lnTo>
                  <a:lnTo>
                    <a:pt x="1486931" y="2322004"/>
                  </a:lnTo>
                  <a:lnTo>
                    <a:pt x="1536288" y="2307607"/>
                  </a:lnTo>
                  <a:lnTo>
                    <a:pt x="1584996" y="2291069"/>
                  </a:lnTo>
                  <a:lnTo>
                    <a:pt x="1632984" y="2272412"/>
                  </a:lnTo>
                  <a:lnTo>
                    <a:pt x="1680181" y="2251654"/>
                  </a:lnTo>
                  <a:lnTo>
                    <a:pt x="1726515" y="2228817"/>
                  </a:lnTo>
                  <a:lnTo>
                    <a:pt x="1771916" y="2203919"/>
                  </a:lnTo>
                  <a:lnTo>
                    <a:pt x="1816099" y="2177062"/>
                  </a:lnTo>
                  <a:lnTo>
                    <a:pt x="1858968" y="2148367"/>
                  </a:lnTo>
                  <a:lnTo>
                    <a:pt x="1900473" y="2117884"/>
                  </a:lnTo>
                  <a:lnTo>
                    <a:pt x="1940559" y="2085665"/>
                  </a:lnTo>
                  <a:lnTo>
                    <a:pt x="1979175" y="2051762"/>
                  </a:lnTo>
                  <a:lnTo>
                    <a:pt x="2016269" y="2016225"/>
                  </a:lnTo>
                  <a:lnTo>
                    <a:pt x="2051788" y="1979105"/>
                  </a:lnTo>
                  <a:lnTo>
                    <a:pt x="2085679" y="1940454"/>
                  </a:lnTo>
                  <a:lnTo>
                    <a:pt x="2117890" y="1900323"/>
                  </a:lnTo>
                  <a:lnTo>
                    <a:pt x="2148369" y="1858763"/>
                  </a:lnTo>
                  <a:lnTo>
                    <a:pt x="2177063" y="1815825"/>
                  </a:lnTo>
                  <a:lnTo>
                    <a:pt x="2203919" y="1771561"/>
                  </a:lnTo>
                  <a:lnTo>
                    <a:pt x="2228817" y="1726241"/>
                  </a:lnTo>
                  <a:lnTo>
                    <a:pt x="2251654" y="1679975"/>
                  </a:lnTo>
                  <a:lnTo>
                    <a:pt x="2272412" y="1632834"/>
                  </a:lnTo>
                  <a:lnTo>
                    <a:pt x="2291069" y="1584890"/>
                  </a:lnTo>
                  <a:lnTo>
                    <a:pt x="2307607" y="1536217"/>
                  </a:lnTo>
                  <a:lnTo>
                    <a:pt x="2322004" y="1486887"/>
                  </a:lnTo>
                  <a:lnTo>
                    <a:pt x="2334241" y="1436972"/>
                  </a:lnTo>
                  <a:lnTo>
                    <a:pt x="2344299" y="1386545"/>
                  </a:lnTo>
                  <a:lnTo>
                    <a:pt x="2352156" y="1335678"/>
                  </a:lnTo>
                  <a:lnTo>
                    <a:pt x="2357793" y="1284443"/>
                  </a:lnTo>
                  <a:lnTo>
                    <a:pt x="2361190" y="1232914"/>
                  </a:lnTo>
                  <a:lnTo>
                    <a:pt x="2362327" y="1181163"/>
                  </a:lnTo>
                  <a:lnTo>
                    <a:pt x="2361190" y="1129409"/>
                  </a:lnTo>
                  <a:lnTo>
                    <a:pt x="2357793" y="1077876"/>
                  </a:lnTo>
                  <a:lnTo>
                    <a:pt x="2352156" y="1026636"/>
                  </a:lnTo>
                  <a:lnTo>
                    <a:pt x="2344299" y="975759"/>
                  </a:lnTo>
                  <a:lnTo>
                    <a:pt x="2334241" y="925318"/>
                  </a:lnTo>
                  <a:lnTo>
                    <a:pt x="2322004" y="875384"/>
                  </a:lnTo>
                  <a:lnTo>
                    <a:pt x="2307607" y="826026"/>
                  </a:lnTo>
                  <a:lnTo>
                    <a:pt x="2291069" y="777318"/>
                  </a:lnTo>
                  <a:lnTo>
                    <a:pt x="2272412" y="729330"/>
                  </a:lnTo>
                  <a:lnTo>
                    <a:pt x="2251654" y="682133"/>
                  </a:lnTo>
                  <a:lnTo>
                    <a:pt x="2228817" y="635798"/>
                  </a:lnTo>
                  <a:lnTo>
                    <a:pt x="2203919" y="590397"/>
                  </a:lnTo>
                  <a:lnTo>
                    <a:pt x="2177062" y="546217"/>
                  </a:lnTo>
                  <a:lnTo>
                    <a:pt x="2148367" y="503349"/>
                  </a:lnTo>
                  <a:lnTo>
                    <a:pt x="2117884" y="461846"/>
                  </a:lnTo>
                  <a:lnTo>
                    <a:pt x="2085665" y="421760"/>
                  </a:lnTo>
                  <a:lnTo>
                    <a:pt x="2051762" y="383144"/>
                  </a:lnTo>
                  <a:lnTo>
                    <a:pt x="2016225" y="346051"/>
                  </a:lnTo>
                  <a:lnTo>
                    <a:pt x="1979105" y="310532"/>
                  </a:lnTo>
                  <a:lnTo>
                    <a:pt x="1940454" y="276641"/>
                  </a:lnTo>
                  <a:lnTo>
                    <a:pt x="1900323" y="244431"/>
                  </a:lnTo>
                  <a:lnTo>
                    <a:pt x="1858763" y="213953"/>
                  </a:lnTo>
                  <a:lnTo>
                    <a:pt x="1815825" y="185261"/>
                  </a:lnTo>
                  <a:lnTo>
                    <a:pt x="1771561" y="158407"/>
                  </a:lnTo>
                  <a:lnTo>
                    <a:pt x="1726241" y="133509"/>
                  </a:lnTo>
                  <a:lnTo>
                    <a:pt x="1679975" y="110672"/>
                  </a:lnTo>
                  <a:lnTo>
                    <a:pt x="1632834" y="89914"/>
                  </a:lnTo>
                  <a:lnTo>
                    <a:pt x="1584890" y="71257"/>
                  </a:lnTo>
                  <a:lnTo>
                    <a:pt x="1536217" y="54719"/>
                  </a:lnTo>
                  <a:lnTo>
                    <a:pt x="1486887" y="40322"/>
                  </a:lnTo>
                  <a:lnTo>
                    <a:pt x="1436972" y="28085"/>
                  </a:lnTo>
                  <a:lnTo>
                    <a:pt x="1386545" y="18027"/>
                  </a:lnTo>
                  <a:lnTo>
                    <a:pt x="1335678" y="10170"/>
                  </a:lnTo>
                  <a:lnTo>
                    <a:pt x="1284443" y="4533"/>
                  </a:lnTo>
                  <a:lnTo>
                    <a:pt x="1232914" y="1136"/>
                  </a:lnTo>
                  <a:lnTo>
                    <a:pt x="1181163" y="0"/>
                  </a:lnTo>
                  <a:close/>
                </a:path>
              </a:pathLst>
            </a:custGeom>
            <a:solidFill>
              <a:schemeClr val="accent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25" name="Google Shape;325;p8"/>
            <p:cNvSpPr txBox="1"/>
            <p:nvPr/>
          </p:nvSpPr>
          <p:spPr>
            <a:xfrm>
              <a:off x="5436940" y="2117349"/>
              <a:ext cx="1239376" cy="553998"/>
            </a:xfrm>
            <a:prstGeom prst="rect">
              <a:avLst/>
            </a:prstGeom>
            <a:noFill/>
            <a:ln>
              <a:noFill/>
            </a:ln>
          </p:spPr>
          <p:txBody>
            <a:bodyPr anchorCtr="0" anchor="t" bIns="0" lIns="0" spcFirstLastPara="1" rIns="0" wrap="square" tIns="0">
              <a:spAutoFit/>
            </a:bodyPr>
            <a:lstStyle/>
            <a:p>
              <a:pPr indent="0" lvl="0" marL="0" marR="5080" rtl="0" algn="ctr">
                <a:lnSpc>
                  <a:spcPct val="100000"/>
                </a:lnSpc>
                <a:spcBef>
                  <a:spcPts val="0"/>
                </a:spcBef>
                <a:spcAft>
                  <a:spcPts val="0"/>
                </a:spcAft>
                <a:buClr>
                  <a:srgbClr val="000000"/>
                </a:buClr>
                <a:buSzPts val="2000"/>
                <a:buFont typeface="Arial"/>
                <a:buNone/>
              </a:pPr>
              <a:r>
                <a:rPr b="1" i="0" lang="en-US" sz="1800" u="none" cap="none" strike="noStrike">
                  <a:solidFill>
                    <a:srgbClr val="FFFFFF"/>
                  </a:solidFill>
                  <a:latin typeface="Arial"/>
                  <a:ea typeface="Arial"/>
                  <a:cs typeface="Arial"/>
                  <a:sym typeface="Arial"/>
                </a:rPr>
                <a:t>Interest Rate  Swap</a:t>
              </a:r>
              <a:endParaRPr b="1" i="0" sz="1800" u="none" cap="none" strike="noStrike">
                <a:solidFill>
                  <a:srgbClr val="FFFFFF"/>
                </a:solidFill>
                <a:latin typeface="Arial"/>
                <a:ea typeface="Arial"/>
                <a:cs typeface="Arial"/>
                <a:sym typeface="Arial"/>
              </a:endParaRPr>
            </a:p>
          </p:txBody>
        </p:sp>
        <p:sp>
          <p:nvSpPr>
            <p:cNvPr id="326" name="Google Shape;326;p8"/>
            <p:cNvSpPr txBox="1"/>
            <p:nvPr/>
          </p:nvSpPr>
          <p:spPr>
            <a:xfrm>
              <a:off x="7182716" y="3653808"/>
              <a:ext cx="1064850" cy="276999"/>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1800" u="none" cap="none" strike="noStrike">
                  <a:solidFill>
                    <a:schemeClr val="lt1"/>
                  </a:solidFill>
                  <a:latin typeface="Arial"/>
                  <a:ea typeface="Arial"/>
                  <a:cs typeface="Arial"/>
                  <a:sym typeface="Arial"/>
                </a:rPr>
                <a:t>FX Swap</a:t>
              </a:r>
              <a:endParaRPr b="1" i="0" sz="1800" u="none" cap="none" strike="noStrike">
                <a:solidFill>
                  <a:schemeClr val="lt1"/>
                </a:solidFill>
                <a:latin typeface="Arial"/>
                <a:ea typeface="Arial"/>
                <a:cs typeface="Arial"/>
                <a:sym typeface="Arial"/>
              </a:endParaRPr>
            </a:p>
          </p:txBody>
        </p:sp>
        <p:sp>
          <p:nvSpPr>
            <p:cNvPr id="327" name="Google Shape;327;p8"/>
            <p:cNvSpPr txBox="1"/>
            <p:nvPr/>
          </p:nvSpPr>
          <p:spPr>
            <a:xfrm>
              <a:off x="3840264" y="3683613"/>
              <a:ext cx="1410096" cy="276999"/>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1800" u="none" cap="none" strike="noStrike">
                  <a:solidFill>
                    <a:schemeClr val="lt1"/>
                  </a:solidFill>
                  <a:latin typeface="Arial"/>
                  <a:ea typeface="Arial"/>
                  <a:cs typeface="Arial"/>
                  <a:sym typeface="Arial"/>
                </a:rPr>
                <a:t>Equity Swap</a:t>
              </a:r>
              <a:endParaRPr b="1" i="0" sz="1800" u="none" cap="none" strike="noStrike">
                <a:solidFill>
                  <a:schemeClr val="lt1"/>
                </a:solidFill>
                <a:latin typeface="Arial"/>
                <a:ea typeface="Arial"/>
                <a:cs typeface="Arial"/>
                <a:sym typeface="Arial"/>
              </a:endParaRPr>
            </a:p>
          </p:txBody>
        </p:sp>
        <p:grpSp>
          <p:nvGrpSpPr>
            <p:cNvPr id="328" name="Google Shape;328;p8"/>
            <p:cNvGrpSpPr/>
            <p:nvPr/>
          </p:nvGrpSpPr>
          <p:grpSpPr>
            <a:xfrm>
              <a:off x="5369180" y="3165013"/>
              <a:ext cx="1453640" cy="1325512"/>
              <a:chOff x="5369180" y="3165013"/>
              <a:chExt cx="1453640" cy="1325512"/>
            </a:xfrm>
          </p:grpSpPr>
          <p:sp>
            <p:nvSpPr>
              <p:cNvPr id="329" name="Google Shape;329;p8"/>
              <p:cNvSpPr/>
              <p:nvPr/>
            </p:nvSpPr>
            <p:spPr>
              <a:xfrm>
                <a:off x="5369180" y="3165013"/>
                <a:ext cx="1453640" cy="1325512"/>
              </a:xfrm>
              <a:custGeom>
                <a:rect b="b" l="l" r="r" t="t"/>
                <a:pathLst>
                  <a:path extrusionOk="0" h="1806575" w="1981200">
                    <a:moveTo>
                      <a:pt x="1679765" y="0"/>
                    </a:moveTo>
                    <a:lnTo>
                      <a:pt x="300964" y="0"/>
                    </a:lnTo>
                    <a:lnTo>
                      <a:pt x="261710" y="2553"/>
                    </a:lnTo>
                    <a:lnTo>
                      <a:pt x="223161" y="10169"/>
                    </a:lnTo>
                    <a:lnTo>
                      <a:pt x="185893" y="22781"/>
                    </a:lnTo>
                    <a:lnTo>
                      <a:pt x="150482" y="40322"/>
                    </a:lnTo>
                    <a:lnTo>
                      <a:pt x="117678" y="62190"/>
                    </a:lnTo>
                    <a:lnTo>
                      <a:pt x="88115" y="88111"/>
                    </a:lnTo>
                    <a:lnTo>
                      <a:pt x="62196" y="117676"/>
                    </a:lnTo>
                    <a:lnTo>
                      <a:pt x="40322" y="150482"/>
                    </a:lnTo>
                    <a:lnTo>
                      <a:pt x="22919" y="185891"/>
                    </a:lnTo>
                    <a:lnTo>
                      <a:pt x="10307" y="223023"/>
                    </a:lnTo>
                    <a:lnTo>
                      <a:pt x="2605" y="261555"/>
                    </a:lnTo>
                    <a:lnTo>
                      <a:pt x="0" y="300964"/>
                    </a:lnTo>
                    <a:lnTo>
                      <a:pt x="0" y="1505521"/>
                    </a:lnTo>
                    <a:lnTo>
                      <a:pt x="2555" y="1544780"/>
                    </a:lnTo>
                    <a:lnTo>
                      <a:pt x="10174" y="1583329"/>
                    </a:lnTo>
                    <a:lnTo>
                      <a:pt x="22786" y="1620594"/>
                    </a:lnTo>
                    <a:lnTo>
                      <a:pt x="40322" y="1656003"/>
                    </a:lnTo>
                    <a:lnTo>
                      <a:pt x="62196" y="1688809"/>
                    </a:lnTo>
                    <a:lnTo>
                      <a:pt x="88115" y="1718375"/>
                    </a:lnTo>
                    <a:lnTo>
                      <a:pt x="117678" y="1744295"/>
                    </a:lnTo>
                    <a:lnTo>
                      <a:pt x="150482" y="1766163"/>
                    </a:lnTo>
                    <a:lnTo>
                      <a:pt x="185841" y="1783549"/>
                    </a:lnTo>
                    <a:lnTo>
                      <a:pt x="223023" y="1796178"/>
                    </a:lnTo>
                    <a:lnTo>
                      <a:pt x="261555" y="1803880"/>
                    </a:lnTo>
                    <a:lnTo>
                      <a:pt x="300964" y="1806486"/>
                    </a:lnTo>
                    <a:lnTo>
                      <a:pt x="1680121" y="1806117"/>
                    </a:lnTo>
                    <a:lnTo>
                      <a:pt x="1719380" y="1803564"/>
                    </a:lnTo>
                    <a:lnTo>
                      <a:pt x="1757929" y="1795949"/>
                    </a:lnTo>
                    <a:lnTo>
                      <a:pt x="1795194" y="1783341"/>
                    </a:lnTo>
                    <a:lnTo>
                      <a:pt x="1830603" y="1765808"/>
                    </a:lnTo>
                    <a:lnTo>
                      <a:pt x="1863408" y="1743934"/>
                    </a:lnTo>
                    <a:lnTo>
                      <a:pt x="1892974" y="1718014"/>
                    </a:lnTo>
                    <a:lnTo>
                      <a:pt x="1918894" y="1688451"/>
                    </a:lnTo>
                    <a:lnTo>
                      <a:pt x="1940763" y="1655648"/>
                    </a:lnTo>
                    <a:lnTo>
                      <a:pt x="1958148" y="1620289"/>
                    </a:lnTo>
                    <a:lnTo>
                      <a:pt x="1970778" y="1583107"/>
                    </a:lnTo>
                    <a:lnTo>
                      <a:pt x="1978480" y="1544575"/>
                    </a:lnTo>
                    <a:lnTo>
                      <a:pt x="1981085" y="1505165"/>
                    </a:lnTo>
                    <a:lnTo>
                      <a:pt x="1980730" y="300964"/>
                    </a:lnTo>
                    <a:lnTo>
                      <a:pt x="1978174" y="261705"/>
                    </a:lnTo>
                    <a:lnTo>
                      <a:pt x="1970555" y="223156"/>
                    </a:lnTo>
                    <a:lnTo>
                      <a:pt x="1957918" y="185841"/>
                    </a:lnTo>
                    <a:lnTo>
                      <a:pt x="1940407" y="150482"/>
                    </a:lnTo>
                    <a:lnTo>
                      <a:pt x="1918539" y="117676"/>
                    </a:lnTo>
                    <a:lnTo>
                      <a:pt x="1892619" y="88111"/>
                    </a:lnTo>
                    <a:lnTo>
                      <a:pt x="1863053" y="62190"/>
                    </a:lnTo>
                    <a:lnTo>
                      <a:pt x="1830247" y="40322"/>
                    </a:lnTo>
                    <a:lnTo>
                      <a:pt x="1794888" y="22936"/>
                    </a:lnTo>
                    <a:lnTo>
                      <a:pt x="1757706" y="10307"/>
                    </a:lnTo>
                    <a:lnTo>
                      <a:pt x="1719174" y="2605"/>
                    </a:lnTo>
                    <a:lnTo>
                      <a:pt x="1679765" y="0"/>
                    </a:lnTo>
                    <a:close/>
                  </a:path>
                </a:pathLst>
              </a:custGeom>
              <a:solidFill>
                <a:schemeClr val="accent3"/>
              </a:solid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330" name="Google Shape;330;p8"/>
              <p:cNvSpPr txBox="1"/>
              <p:nvPr/>
            </p:nvSpPr>
            <p:spPr>
              <a:xfrm>
                <a:off x="5569622" y="3545935"/>
                <a:ext cx="1052757" cy="563669"/>
              </a:xfrm>
              <a:prstGeom prst="rect">
                <a:avLst/>
              </a:prstGeom>
              <a:noFill/>
              <a:ln>
                <a:noFill/>
              </a:ln>
            </p:spPr>
            <p:txBody>
              <a:bodyPr anchorCtr="0" anchor="t" bIns="0" lIns="0" spcFirstLastPara="1" rIns="0" wrap="square" tIns="0">
                <a:spAutoFit/>
              </a:bodyPr>
              <a:lstStyle/>
              <a:p>
                <a:pPr indent="0" lvl="0" marL="0" marR="5080" rtl="0" algn="ctr">
                  <a:lnSpc>
                    <a:spcPct val="100000"/>
                  </a:lnSpc>
                  <a:spcBef>
                    <a:spcPts val="0"/>
                  </a:spcBef>
                  <a:spcAft>
                    <a:spcPts val="0"/>
                  </a:spcAft>
                  <a:buClr>
                    <a:srgbClr val="000000"/>
                  </a:buClr>
                  <a:buSzPts val="2000"/>
                  <a:buFont typeface="Arial"/>
                  <a:buNone/>
                </a:pPr>
                <a:r>
                  <a:rPr b="1" i="0" lang="en-US" sz="1800" u="none" cap="none" strike="noStrike">
                    <a:solidFill>
                      <a:srgbClr val="FFFFFF"/>
                    </a:solidFill>
                    <a:latin typeface="Arial"/>
                    <a:ea typeface="Arial"/>
                    <a:cs typeface="Arial"/>
                    <a:sym typeface="Arial"/>
                  </a:rPr>
                  <a:t>Types Of  Swap</a:t>
                </a:r>
                <a:endParaRPr b="1" i="0" sz="1800" u="none" cap="none" strike="noStrike">
                  <a:solidFill>
                    <a:srgbClr val="FFFFFF"/>
                  </a:solidFill>
                  <a:latin typeface="Arial"/>
                  <a:ea typeface="Arial"/>
                  <a:cs typeface="Arial"/>
                  <a:sym typeface="Arial"/>
                </a:endParaRPr>
              </a:p>
            </p:txBody>
          </p:sp>
        </p:grpSp>
        <p:sp>
          <p:nvSpPr>
            <p:cNvPr id="331" name="Google Shape;331;p8"/>
            <p:cNvSpPr txBox="1"/>
            <p:nvPr/>
          </p:nvSpPr>
          <p:spPr>
            <a:xfrm>
              <a:off x="5221430" y="5011080"/>
              <a:ext cx="1727817"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Credit  Default  Swap</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9"/>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TYPES OF SWAPS</a:t>
            </a:r>
            <a:endParaRPr/>
          </a:p>
        </p:txBody>
      </p:sp>
      <p:sp>
        <p:nvSpPr>
          <p:cNvPr id="337" name="Google Shape;337;p9"/>
          <p:cNvSpPr/>
          <p:nvPr/>
        </p:nvSpPr>
        <p:spPr>
          <a:xfrm>
            <a:off x="4924219" y="1485900"/>
            <a:ext cx="2524539" cy="609048"/>
          </a:xfrm>
          <a:prstGeom prst="roundRect">
            <a:avLst>
              <a:gd fmla="val 16667"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Types of Swap</a:t>
            </a:r>
            <a:endParaRPr b="0" i="0" sz="1400" u="none" cap="none" strike="noStrike">
              <a:solidFill>
                <a:srgbClr val="000000"/>
              </a:solidFill>
              <a:latin typeface="Arial"/>
              <a:ea typeface="Arial"/>
              <a:cs typeface="Arial"/>
              <a:sym typeface="Arial"/>
            </a:endParaRPr>
          </a:p>
        </p:txBody>
      </p:sp>
      <p:grpSp>
        <p:nvGrpSpPr>
          <p:cNvPr id="338" name="Google Shape;338;p9"/>
          <p:cNvGrpSpPr/>
          <p:nvPr/>
        </p:nvGrpSpPr>
        <p:grpSpPr>
          <a:xfrm>
            <a:off x="4532830" y="2702782"/>
            <a:ext cx="3307317" cy="3048000"/>
            <a:chOff x="4532830" y="2438622"/>
            <a:chExt cx="3307317" cy="3048000"/>
          </a:xfrm>
        </p:grpSpPr>
        <p:sp>
          <p:nvSpPr>
            <p:cNvPr id="339" name="Google Shape;339;p9"/>
            <p:cNvSpPr/>
            <p:nvPr/>
          </p:nvSpPr>
          <p:spPr>
            <a:xfrm>
              <a:off x="4532830" y="2560542"/>
              <a:ext cx="3307317" cy="2926080"/>
            </a:xfrm>
            <a:prstGeom prst="rect">
              <a:avLst/>
            </a:prstGeom>
            <a:solidFill>
              <a:srgbClr val="DAF3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40" name="Google Shape;340;p9"/>
            <p:cNvSpPr/>
            <p:nvPr/>
          </p:nvSpPr>
          <p:spPr>
            <a:xfrm>
              <a:off x="4532830" y="2438622"/>
              <a:ext cx="3307317" cy="489713"/>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41" name="Google Shape;341;p9"/>
            <p:cNvSpPr/>
            <p:nvPr/>
          </p:nvSpPr>
          <p:spPr>
            <a:xfrm>
              <a:off x="4532830" y="2498812"/>
              <a:ext cx="3307317"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Interest Rate Swap</a:t>
              </a:r>
              <a:endParaRPr b="0" i="0" sz="1400" u="none" cap="none" strike="noStrike">
                <a:solidFill>
                  <a:schemeClr val="lt1"/>
                </a:solidFill>
                <a:latin typeface="Arial"/>
                <a:ea typeface="Arial"/>
                <a:cs typeface="Arial"/>
                <a:sym typeface="Arial"/>
              </a:endParaRPr>
            </a:p>
          </p:txBody>
        </p:sp>
        <p:sp>
          <p:nvSpPr>
            <p:cNvPr id="342" name="Google Shape;342;p9"/>
            <p:cNvSpPr txBox="1"/>
            <p:nvPr/>
          </p:nvSpPr>
          <p:spPr>
            <a:xfrm>
              <a:off x="4688400" y="3052825"/>
              <a:ext cx="2996176" cy="107717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Exchange of cash flow between two parties, wherein both the legs of the cash flows are based on interest rates.</a:t>
              </a:r>
              <a:endParaRPr b="0" i="0" sz="1400" u="none" cap="none" strike="noStrike">
                <a:solidFill>
                  <a:srgbClr val="000000"/>
                </a:solidFill>
                <a:latin typeface="Arial"/>
                <a:ea typeface="Arial"/>
                <a:cs typeface="Arial"/>
                <a:sym typeface="Arial"/>
              </a:endParaRPr>
            </a:p>
          </p:txBody>
        </p:sp>
      </p:grpSp>
      <p:grpSp>
        <p:nvGrpSpPr>
          <p:cNvPr id="343" name="Google Shape;343;p9"/>
          <p:cNvGrpSpPr/>
          <p:nvPr/>
        </p:nvGrpSpPr>
        <p:grpSpPr>
          <a:xfrm>
            <a:off x="700088" y="2702782"/>
            <a:ext cx="3307317" cy="3048000"/>
            <a:chOff x="700088" y="2438622"/>
            <a:chExt cx="3307317" cy="3048000"/>
          </a:xfrm>
        </p:grpSpPr>
        <p:sp>
          <p:nvSpPr>
            <p:cNvPr id="344" name="Google Shape;344;p9"/>
            <p:cNvSpPr/>
            <p:nvPr/>
          </p:nvSpPr>
          <p:spPr>
            <a:xfrm>
              <a:off x="700088" y="2560542"/>
              <a:ext cx="3307317" cy="2926080"/>
            </a:xfrm>
            <a:prstGeom prst="rect">
              <a:avLst/>
            </a:prstGeom>
            <a:solidFill>
              <a:srgbClr val="D2F4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45" name="Google Shape;345;p9"/>
            <p:cNvSpPr/>
            <p:nvPr/>
          </p:nvSpPr>
          <p:spPr>
            <a:xfrm>
              <a:off x="700088" y="2438622"/>
              <a:ext cx="3307317" cy="489713"/>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46" name="Google Shape;346;p9"/>
            <p:cNvSpPr/>
            <p:nvPr/>
          </p:nvSpPr>
          <p:spPr>
            <a:xfrm>
              <a:off x="700088" y="2518265"/>
              <a:ext cx="3307317" cy="33042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Equity Swap</a:t>
              </a:r>
              <a:endParaRPr b="0" i="0" sz="1400" u="none" cap="none" strike="noStrike">
                <a:solidFill>
                  <a:schemeClr val="lt1"/>
                </a:solidFill>
                <a:latin typeface="Arial"/>
                <a:ea typeface="Arial"/>
                <a:cs typeface="Arial"/>
                <a:sym typeface="Arial"/>
              </a:endParaRPr>
            </a:p>
          </p:txBody>
        </p:sp>
        <p:sp>
          <p:nvSpPr>
            <p:cNvPr id="347" name="Google Shape;347;p9"/>
            <p:cNvSpPr txBox="1"/>
            <p:nvPr/>
          </p:nvSpPr>
          <p:spPr>
            <a:xfrm>
              <a:off x="855658" y="3052825"/>
              <a:ext cx="2996176" cy="184487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Exchange of cash flows between two parties wherein one leg of the cash flow is calculated based on return on Equity  (stock or Index) and the other leg is based on interest rates.</a:t>
              </a:r>
              <a:endParaRPr b="0" i="0" sz="1400" u="none" cap="none" strike="noStrike">
                <a:solidFill>
                  <a:srgbClr val="000000"/>
                </a:solidFill>
                <a:latin typeface="Arial"/>
                <a:ea typeface="Arial"/>
                <a:cs typeface="Arial"/>
                <a:sym typeface="Arial"/>
              </a:endParaRPr>
            </a:p>
          </p:txBody>
        </p:sp>
      </p:grpSp>
      <p:grpSp>
        <p:nvGrpSpPr>
          <p:cNvPr id="348" name="Google Shape;348;p9"/>
          <p:cNvGrpSpPr/>
          <p:nvPr/>
        </p:nvGrpSpPr>
        <p:grpSpPr>
          <a:xfrm>
            <a:off x="8365571" y="2702782"/>
            <a:ext cx="3307317" cy="3048000"/>
            <a:chOff x="8365571" y="2438622"/>
            <a:chExt cx="3307317" cy="3048000"/>
          </a:xfrm>
        </p:grpSpPr>
        <p:sp>
          <p:nvSpPr>
            <p:cNvPr id="349" name="Google Shape;349;p9"/>
            <p:cNvSpPr/>
            <p:nvPr/>
          </p:nvSpPr>
          <p:spPr>
            <a:xfrm>
              <a:off x="8365571" y="2560542"/>
              <a:ext cx="3307317" cy="2926080"/>
            </a:xfrm>
            <a:prstGeom prst="rect">
              <a:avLst/>
            </a:prstGeom>
            <a:solidFill>
              <a:srgbClr val="DDEA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50" name="Google Shape;350;p9"/>
            <p:cNvSpPr/>
            <p:nvPr/>
          </p:nvSpPr>
          <p:spPr>
            <a:xfrm>
              <a:off x="8365571" y="2438622"/>
              <a:ext cx="3307317" cy="489713"/>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51" name="Google Shape;351;p9"/>
            <p:cNvSpPr/>
            <p:nvPr/>
          </p:nvSpPr>
          <p:spPr>
            <a:xfrm>
              <a:off x="8365571" y="2498812"/>
              <a:ext cx="3307317"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Credit Default  Swap</a:t>
              </a:r>
              <a:endParaRPr b="0" i="0" sz="1400" u="none" cap="none" strike="noStrike">
                <a:solidFill>
                  <a:schemeClr val="lt1"/>
                </a:solidFill>
                <a:latin typeface="Arial"/>
                <a:ea typeface="Arial"/>
                <a:cs typeface="Arial"/>
                <a:sym typeface="Arial"/>
              </a:endParaRPr>
            </a:p>
          </p:txBody>
        </p:sp>
        <p:sp>
          <p:nvSpPr>
            <p:cNvPr id="352" name="Google Shape;352;p9"/>
            <p:cNvSpPr txBox="1"/>
            <p:nvPr/>
          </p:nvSpPr>
          <p:spPr>
            <a:xfrm>
              <a:off x="8521141" y="3052825"/>
              <a:ext cx="2996176" cy="23082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Exchange of cash flow between two parties, wherein one party pays premiums to buy protection from the seller  against a reference entity. The seller of the protection will make the CDS payment in case of a  credit event on the  reference entity.</a:t>
              </a:r>
              <a:endParaRPr b="0" i="0" sz="1400" u="none" cap="none" strike="noStrike">
                <a:solidFill>
                  <a:srgbClr val="000000"/>
                </a:solidFill>
                <a:latin typeface="Arial"/>
                <a:ea typeface="Arial"/>
                <a:cs typeface="Arial"/>
                <a:sym typeface="Arial"/>
              </a:endParaRPr>
            </a:p>
          </p:txBody>
        </p:sp>
      </p:grpSp>
      <p:cxnSp>
        <p:nvCxnSpPr>
          <p:cNvPr id="353" name="Google Shape;353;p9"/>
          <p:cNvCxnSpPr>
            <a:stCxn id="337" idx="2"/>
            <a:endCxn id="350" idx="0"/>
          </p:cNvCxnSpPr>
          <p:nvPr/>
        </p:nvCxnSpPr>
        <p:spPr>
          <a:xfrm flipH="1" rot="-5400000">
            <a:off x="7798989" y="482448"/>
            <a:ext cx="607800" cy="3832800"/>
          </a:xfrm>
          <a:prstGeom prst="bentConnector3">
            <a:avLst>
              <a:gd fmla="val 50000" name="adj1"/>
            </a:avLst>
          </a:prstGeom>
          <a:noFill/>
          <a:ln cap="flat" cmpd="sng" w="19050">
            <a:solidFill>
              <a:srgbClr val="BFBFBF"/>
            </a:solidFill>
            <a:prstDash val="solid"/>
            <a:round/>
            <a:headEnd len="sm" w="sm" type="none"/>
            <a:tailEnd len="sm" w="sm" type="none"/>
          </a:ln>
        </p:spPr>
      </p:cxnSp>
      <p:cxnSp>
        <p:nvCxnSpPr>
          <p:cNvPr id="354" name="Google Shape;354;p9"/>
          <p:cNvCxnSpPr>
            <a:stCxn id="337" idx="2"/>
            <a:endCxn id="345" idx="0"/>
          </p:cNvCxnSpPr>
          <p:nvPr/>
        </p:nvCxnSpPr>
        <p:spPr>
          <a:xfrm rot="5400000">
            <a:off x="3966189" y="482448"/>
            <a:ext cx="607800" cy="3832800"/>
          </a:xfrm>
          <a:prstGeom prst="bentConnector3">
            <a:avLst>
              <a:gd fmla="val 50000" name="adj1"/>
            </a:avLst>
          </a:prstGeom>
          <a:noFill/>
          <a:ln cap="flat" cmpd="sng" w="19050">
            <a:solidFill>
              <a:srgbClr val="BFBFBF"/>
            </a:solidFill>
            <a:prstDash val="solid"/>
            <a:round/>
            <a:headEnd len="sm" w="sm" type="none"/>
            <a:tailEnd len="sm" w="sm" type="none"/>
          </a:ln>
        </p:spPr>
      </p:cxnSp>
      <p:cxnSp>
        <p:nvCxnSpPr>
          <p:cNvPr id="355" name="Google Shape;355;p9"/>
          <p:cNvCxnSpPr>
            <a:stCxn id="337" idx="2"/>
            <a:endCxn id="340" idx="0"/>
          </p:cNvCxnSpPr>
          <p:nvPr/>
        </p:nvCxnSpPr>
        <p:spPr>
          <a:xfrm>
            <a:off x="6186489" y="2094948"/>
            <a:ext cx="0" cy="607800"/>
          </a:xfrm>
          <a:prstGeom prst="straightConnector1">
            <a:avLst/>
          </a:prstGeom>
          <a:noFill/>
          <a:ln cap="flat" cmpd="sng" w="19050">
            <a:solidFill>
              <a:srgbClr val="BFBFBF"/>
            </a:solidFill>
            <a:prstDash val="solid"/>
            <a:round/>
            <a:headEnd len="sm" w="sm" type="none"/>
            <a:tailEnd len="sm" w="sm"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pic>
        <p:nvPicPr>
          <p:cNvPr id="360" name="Google Shape;360;p10"/>
          <p:cNvPicPr preferRelativeResize="0"/>
          <p:nvPr>
            <p:ph idx="2" type="pic"/>
          </p:nvPr>
        </p:nvPicPr>
        <p:blipFill rotWithShape="1">
          <a:blip r:embed="rId3">
            <a:alphaModFix/>
          </a:blip>
          <a:srcRect b="0" l="0" r="0" t="0"/>
          <a:stretch/>
        </p:blipFill>
        <p:spPr>
          <a:xfrm>
            <a:off x="3978704" y="-21266"/>
            <a:ext cx="8211708" cy="6889900"/>
          </a:xfrm>
          <a:prstGeom prst="rect">
            <a:avLst/>
          </a:prstGeom>
          <a:solidFill>
            <a:srgbClr val="F2F2F2"/>
          </a:solidFill>
          <a:ln>
            <a:noFill/>
          </a:ln>
        </p:spPr>
      </p:pic>
      <p:sp>
        <p:nvSpPr>
          <p:cNvPr id="361" name="Google Shape;361;p10"/>
          <p:cNvSpPr/>
          <p:nvPr/>
        </p:nvSpPr>
        <p:spPr>
          <a:xfrm>
            <a:off x="0" y="0"/>
            <a:ext cx="6124354" cy="6879266"/>
          </a:xfrm>
          <a:custGeom>
            <a:rect b="b" l="l" r="r" t="t"/>
            <a:pathLst>
              <a:path extrusionOk="0" h="6879266" w="6124354">
                <a:moveTo>
                  <a:pt x="0" y="0"/>
                </a:moveTo>
                <a:lnTo>
                  <a:pt x="4061637" y="0"/>
                </a:lnTo>
                <a:lnTo>
                  <a:pt x="6124354" y="6879266"/>
                </a:lnTo>
                <a:lnTo>
                  <a:pt x="0" y="6858000"/>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62" name="Google Shape;362;p10"/>
          <p:cNvSpPr/>
          <p:nvPr/>
        </p:nvSpPr>
        <p:spPr>
          <a:xfrm flipH="1">
            <a:off x="4025448" y="-21268"/>
            <a:ext cx="8166551" cy="6900533"/>
          </a:xfrm>
          <a:custGeom>
            <a:rect b="b" l="l" r="r" t="t"/>
            <a:pathLst>
              <a:path extrusionOk="0" h="13716000" w="16143890">
                <a:moveTo>
                  <a:pt x="0" y="0"/>
                </a:moveTo>
                <a:lnTo>
                  <a:pt x="16143890" y="0"/>
                </a:lnTo>
                <a:lnTo>
                  <a:pt x="12044855" y="13716000"/>
                </a:lnTo>
                <a:lnTo>
                  <a:pt x="0" y="13716000"/>
                </a:lnTo>
                <a:lnTo>
                  <a:pt x="0" y="0"/>
                </a:lnTo>
                <a:close/>
              </a:path>
            </a:pathLst>
          </a:custGeom>
          <a:solidFill>
            <a:srgbClr val="25B5CA">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63" name="Google Shape;363;p10"/>
          <p:cNvSpPr/>
          <p:nvPr/>
        </p:nvSpPr>
        <p:spPr>
          <a:xfrm flipH="1">
            <a:off x="1588" y="2337971"/>
            <a:ext cx="8198069" cy="2182058"/>
          </a:xfrm>
          <a:custGeom>
            <a:rect b="b" l="l" r="r" t="t"/>
            <a:pathLst>
              <a:path extrusionOk="0" h="3987559" w="14981402">
                <a:moveTo>
                  <a:pt x="1229711" y="0"/>
                </a:moveTo>
                <a:lnTo>
                  <a:pt x="14981402" y="0"/>
                </a:lnTo>
                <a:lnTo>
                  <a:pt x="14981402" y="3987559"/>
                </a:lnTo>
                <a:lnTo>
                  <a:pt x="0" y="3987559"/>
                </a:lnTo>
                <a:lnTo>
                  <a:pt x="1229711"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64" name="Google Shape;364;p10"/>
          <p:cNvSpPr/>
          <p:nvPr/>
        </p:nvSpPr>
        <p:spPr>
          <a:xfrm flipH="1">
            <a:off x="1588" y="627903"/>
            <a:ext cx="560419" cy="270354"/>
          </a:xfrm>
          <a:custGeom>
            <a:rect b="b" l="l" r="r" t="t"/>
            <a:pathLst>
              <a:path extrusionOk="0" h="3987559" w="16161399">
                <a:moveTo>
                  <a:pt x="2409708" y="0"/>
                </a:moveTo>
                <a:lnTo>
                  <a:pt x="16161399" y="0"/>
                </a:lnTo>
                <a:lnTo>
                  <a:pt x="16161399" y="3987559"/>
                </a:lnTo>
                <a:lnTo>
                  <a:pt x="0" y="3960361"/>
                </a:lnTo>
                <a:lnTo>
                  <a:pt x="2409708" y="0"/>
                </a:lnTo>
                <a:close/>
              </a:path>
            </a:pathLst>
          </a:custGeom>
          <a:solidFill>
            <a:srgbClr val="19A7C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65" name="Google Shape;365;p10"/>
          <p:cNvSpPr txBox="1"/>
          <p:nvPr/>
        </p:nvSpPr>
        <p:spPr>
          <a:xfrm>
            <a:off x="329608" y="3044279"/>
            <a:ext cx="7559201"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FFFFFF"/>
                </a:solidFill>
                <a:latin typeface="Arial"/>
                <a:ea typeface="Arial"/>
                <a:cs typeface="Arial"/>
                <a:sym typeface="Arial"/>
              </a:rPr>
              <a:t>Interest Rate Swap</a:t>
            </a:r>
            <a:endParaRPr b="1" i="0" sz="4400" u="none" cap="none" strike="noStrike">
              <a:solidFill>
                <a:srgbClr val="FFFFFF"/>
              </a:solidFill>
              <a:latin typeface="Arial"/>
              <a:ea typeface="Arial"/>
              <a:cs typeface="Arial"/>
              <a:sym typeface="Arial"/>
            </a:endParaRPr>
          </a:p>
        </p:txBody>
      </p:sp>
      <p:pic>
        <p:nvPicPr>
          <p:cNvPr descr="A picture containing text, clipart&#10;&#10;Description automatically generated" id="366" name="Google Shape;366;p10"/>
          <p:cNvPicPr preferRelativeResize="0"/>
          <p:nvPr/>
        </p:nvPicPr>
        <p:blipFill rotWithShape="1">
          <a:blip r:embed="rId4">
            <a:alphaModFix/>
          </a:blip>
          <a:srcRect b="0" l="0" r="0" t="0"/>
          <a:stretch/>
        </p:blipFill>
        <p:spPr>
          <a:xfrm>
            <a:off x="9533468" y="312483"/>
            <a:ext cx="2421466" cy="49196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11"/>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INTEREST RATE SWAP (IRS) </a:t>
            </a:r>
            <a:endParaRPr/>
          </a:p>
        </p:txBody>
      </p:sp>
      <p:sp>
        <p:nvSpPr>
          <p:cNvPr id="372" name="Google Shape;372;p11"/>
          <p:cNvSpPr/>
          <p:nvPr/>
        </p:nvSpPr>
        <p:spPr>
          <a:xfrm>
            <a:off x="700088" y="1485898"/>
            <a:ext cx="10972800" cy="1188720"/>
          </a:xfrm>
          <a:prstGeom prst="roundRect">
            <a:avLst>
              <a:gd fmla="val 16667" name="adj"/>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73" name="Google Shape;373;p11"/>
          <p:cNvSpPr txBox="1"/>
          <p:nvPr/>
        </p:nvSpPr>
        <p:spPr>
          <a:xfrm>
            <a:off x="1042988" y="1541649"/>
            <a:ext cx="10287000" cy="107721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An interest rate swap (IRS) is a financial derivative contract between two parties that involves the exchange of interest rate cash flows. In an interest rate swap, one party typically pays a fixed interest rate while the other party pays a variable (floating) interest rate. These swaps are used primarily to manage interest rate risk, reduce borrowing costs, or speculate on interest rate movements.</a:t>
            </a:r>
            <a:endParaRPr b="0" i="0" sz="1400" u="none" cap="none" strike="noStrike">
              <a:solidFill>
                <a:srgbClr val="000000"/>
              </a:solidFill>
              <a:latin typeface="Arial"/>
              <a:ea typeface="Arial"/>
              <a:cs typeface="Arial"/>
              <a:sym typeface="Arial"/>
            </a:endParaRPr>
          </a:p>
        </p:txBody>
      </p:sp>
      <p:sp>
        <p:nvSpPr>
          <p:cNvPr id="374" name="Google Shape;374;p11"/>
          <p:cNvSpPr txBox="1"/>
          <p:nvPr/>
        </p:nvSpPr>
        <p:spPr>
          <a:xfrm>
            <a:off x="4685680" y="2716638"/>
            <a:ext cx="3001617"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Types of Interest Rates</a:t>
            </a:r>
            <a:endParaRPr b="0" i="0" sz="1400" u="none" cap="none" strike="noStrike">
              <a:solidFill>
                <a:srgbClr val="000000"/>
              </a:solidFill>
              <a:latin typeface="Arial"/>
              <a:ea typeface="Arial"/>
              <a:cs typeface="Arial"/>
              <a:sym typeface="Arial"/>
            </a:endParaRPr>
          </a:p>
        </p:txBody>
      </p:sp>
      <p:grpSp>
        <p:nvGrpSpPr>
          <p:cNvPr id="375" name="Google Shape;375;p11"/>
          <p:cNvGrpSpPr/>
          <p:nvPr/>
        </p:nvGrpSpPr>
        <p:grpSpPr>
          <a:xfrm>
            <a:off x="700088" y="3097213"/>
            <a:ext cx="10972800" cy="3200400"/>
            <a:chOff x="700088" y="3248246"/>
            <a:chExt cx="10972800" cy="3200400"/>
          </a:xfrm>
        </p:grpSpPr>
        <p:sp>
          <p:nvSpPr>
            <p:cNvPr id="376" name="Google Shape;376;p11"/>
            <p:cNvSpPr/>
            <p:nvPr/>
          </p:nvSpPr>
          <p:spPr>
            <a:xfrm>
              <a:off x="934720" y="3248246"/>
              <a:ext cx="10738168" cy="3200400"/>
            </a:xfrm>
            <a:prstGeom prst="roundRect">
              <a:avLst>
                <a:gd fmla="val 6171" name="adj"/>
              </a:avLst>
            </a:prstGeom>
            <a:solidFill>
              <a:srgbClr val="D2F4F6"/>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77" name="Google Shape;377;p11"/>
            <p:cNvSpPr txBox="1"/>
            <p:nvPr/>
          </p:nvSpPr>
          <p:spPr>
            <a:xfrm>
              <a:off x="1473200" y="3324972"/>
              <a:ext cx="9970183" cy="304694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600" u="none" cap="none" strike="noStrike">
                  <a:solidFill>
                    <a:schemeClr val="dk1"/>
                  </a:solidFill>
                  <a:latin typeface="Arial"/>
                  <a:ea typeface="Arial"/>
                  <a:cs typeface="Arial"/>
                  <a:sym typeface="Arial"/>
                </a:rPr>
                <a:t>Fixed Interest Rate</a:t>
              </a:r>
              <a:endParaRPr b="1" i="0" sz="1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 A </a:t>
              </a:r>
              <a:r>
                <a:rPr b="1" i="0" lang="en-US" sz="1600" u="none" cap="none" strike="noStrike">
                  <a:solidFill>
                    <a:schemeClr val="dk1"/>
                  </a:solidFill>
                  <a:latin typeface="Arial"/>
                  <a:ea typeface="Arial"/>
                  <a:cs typeface="Arial"/>
                  <a:sym typeface="Arial"/>
                </a:rPr>
                <a:t>fixed interest rate</a:t>
              </a:r>
              <a:r>
                <a:rPr b="0" i="0" lang="en-US" sz="1600" u="none" cap="none" strike="noStrike">
                  <a:solidFill>
                    <a:schemeClr val="dk1"/>
                  </a:solidFill>
                  <a:latin typeface="Arial"/>
                  <a:ea typeface="Arial"/>
                  <a:cs typeface="Arial"/>
                  <a:sym typeface="Arial"/>
                </a:rPr>
                <a:t>, also known as a fixed-rate, is an interest rate that remains constant throughout the specified period of a financial transaction or investment. In other words, it does not change over time, regardless of market interest rate fluctuations. Fixed interest rates are commonly used in various financial products, such as loans, bonds, and certain types of investments.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Explanation: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 fixed interest rate is set at the beginning of a financial arrangement and remains the same for the entire duration of that arrangement.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This means that the borrower or investor knows exactly how much interest they will pay or earn over the life of the transaction, providing predictability and stability in cash flows.</a:t>
              </a:r>
              <a:endParaRPr b="0" i="0" sz="1400" u="none" cap="none" strike="noStrike">
                <a:solidFill>
                  <a:srgbClr val="000000"/>
                </a:solidFill>
                <a:latin typeface="Arial"/>
                <a:ea typeface="Arial"/>
                <a:cs typeface="Arial"/>
                <a:sym typeface="Arial"/>
              </a:endParaRPr>
            </a:p>
          </p:txBody>
        </p:sp>
        <p:sp>
          <p:nvSpPr>
            <p:cNvPr id="378" name="Google Shape;378;p11"/>
            <p:cNvSpPr/>
            <p:nvPr/>
          </p:nvSpPr>
          <p:spPr>
            <a:xfrm>
              <a:off x="700088" y="4381006"/>
              <a:ext cx="573155" cy="934880"/>
            </a:xfrm>
            <a:prstGeom prst="round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01</a:t>
              </a:r>
              <a:endParaRPr b="0" i="0" sz="1600" u="none" cap="none" strike="noStrike">
                <a:solidFill>
                  <a:srgbClr val="000000"/>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12"/>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SWAPS</a:t>
            </a:r>
            <a:endParaRPr/>
          </a:p>
        </p:txBody>
      </p:sp>
      <p:grpSp>
        <p:nvGrpSpPr>
          <p:cNvPr id="384" name="Google Shape;384;p12"/>
          <p:cNvGrpSpPr/>
          <p:nvPr/>
        </p:nvGrpSpPr>
        <p:grpSpPr>
          <a:xfrm>
            <a:off x="700088" y="1485900"/>
            <a:ext cx="10972800" cy="4480560"/>
            <a:chOff x="700088" y="3248246"/>
            <a:chExt cx="10972800" cy="4480560"/>
          </a:xfrm>
        </p:grpSpPr>
        <p:sp>
          <p:nvSpPr>
            <p:cNvPr id="385" name="Google Shape;385;p12"/>
            <p:cNvSpPr/>
            <p:nvPr/>
          </p:nvSpPr>
          <p:spPr>
            <a:xfrm>
              <a:off x="934720" y="3248246"/>
              <a:ext cx="10738168" cy="4480560"/>
            </a:xfrm>
            <a:prstGeom prst="roundRect">
              <a:avLst>
                <a:gd fmla="val 6171" name="adj"/>
              </a:avLst>
            </a:prstGeom>
            <a:solidFill>
              <a:srgbClr val="DDEAF6"/>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86" name="Google Shape;386;p12"/>
            <p:cNvSpPr txBox="1"/>
            <p:nvPr/>
          </p:nvSpPr>
          <p:spPr>
            <a:xfrm>
              <a:off x="1473200" y="3349499"/>
              <a:ext cx="9970183" cy="42780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600" u="none" cap="none" strike="noStrike">
                  <a:solidFill>
                    <a:schemeClr val="dk1"/>
                  </a:solidFill>
                  <a:latin typeface="Arial"/>
                  <a:ea typeface="Arial"/>
                  <a:cs typeface="Arial"/>
                  <a:sym typeface="Arial"/>
                </a:rPr>
                <a:t>Floating Rate</a:t>
              </a:r>
              <a:endParaRPr b="1" i="0" sz="1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A floating rate, also known as a variable rate or adjustable rate, is an interest rate that can change periodically based on a reference benchmark or index. Unlike a fixed interest rate, which remains constant over the life of a financial product, a floating rate adjusts to reflect current market conditions. Floating rates are commonly used in various financial products, such as adjustable-rate mortgages, floating-rate bonds, and certain types of loans. Here's a simple explanation and an example of a floating interest rate: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 </a:t>
              </a:r>
              <a:r>
                <a:rPr b="1" i="0" lang="en-US" sz="1600" u="none" cap="none" strike="noStrike">
                  <a:solidFill>
                    <a:schemeClr val="dk1"/>
                  </a:solidFill>
                  <a:latin typeface="Arial"/>
                  <a:ea typeface="Arial"/>
                  <a:cs typeface="Arial"/>
                  <a:sym typeface="Arial"/>
                </a:rPr>
                <a:t>Explanation:</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 </a:t>
              </a:r>
              <a:endParaRPr b="0" i="0" sz="16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 floating interest rate is not fixed but rather fluctuates in response to changes in a specified benchmark interest rate or index.</a:t>
              </a:r>
              <a:endParaRPr b="0" i="0" sz="1600" u="none" cap="none" strike="noStrike">
                <a:solidFill>
                  <a:srgbClr val="000000"/>
                </a:solidFill>
                <a:latin typeface="Arial"/>
                <a:ea typeface="Arial"/>
                <a:cs typeface="Arial"/>
                <a:sym typeface="Arial"/>
              </a:endParaRPr>
            </a:p>
            <a:p>
              <a:pPr indent="-184150" lvl="0" marL="285750" marR="0" rtl="0" algn="l">
                <a:lnSpc>
                  <a:spcPct val="100000"/>
                </a:lnSpc>
                <a:spcBef>
                  <a:spcPts val="0"/>
                </a:spcBef>
                <a:spcAft>
                  <a:spcPts val="0"/>
                </a:spcAft>
                <a:buNone/>
              </a:pPr>
              <a:r>
                <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The rate adjustment typically occurs at predetermined intervals, such as monthly, quarterly, or annually.</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Borrowers or investors with floating-rate products are exposed to changes in market interest rates, which can result in varying interest payments or returns.</a:t>
              </a:r>
              <a:endParaRPr b="0" i="0" sz="1600" u="none" cap="none" strike="noStrike">
                <a:solidFill>
                  <a:srgbClr val="000000"/>
                </a:solidFill>
                <a:latin typeface="Arial"/>
                <a:ea typeface="Arial"/>
                <a:cs typeface="Arial"/>
                <a:sym typeface="Arial"/>
              </a:endParaRPr>
            </a:p>
          </p:txBody>
        </p:sp>
        <p:sp>
          <p:nvSpPr>
            <p:cNvPr id="387" name="Google Shape;387;p12"/>
            <p:cNvSpPr/>
            <p:nvPr/>
          </p:nvSpPr>
          <p:spPr>
            <a:xfrm>
              <a:off x="700088" y="5021086"/>
              <a:ext cx="573155" cy="93488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02</a:t>
              </a:r>
              <a:endParaRPr b="0" i="0" sz="1600" u="none" cap="none" strike="noStrike">
                <a:solidFill>
                  <a:srgbClr val="000000"/>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13"/>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USES OF IRS</a:t>
            </a:r>
            <a:endParaRPr/>
          </a:p>
        </p:txBody>
      </p:sp>
      <p:sp>
        <p:nvSpPr>
          <p:cNvPr id="393" name="Google Shape;393;p13"/>
          <p:cNvSpPr/>
          <p:nvPr/>
        </p:nvSpPr>
        <p:spPr>
          <a:xfrm>
            <a:off x="700088" y="2310360"/>
            <a:ext cx="2046030" cy="2535960"/>
          </a:xfrm>
          <a:prstGeom prst="roundRect">
            <a:avLst>
              <a:gd fmla="val 16667" name="adj"/>
            </a:avLst>
          </a:prstGeom>
          <a:solidFill>
            <a:schemeClr val="accent3"/>
          </a:solidFill>
          <a:ln>
            <a:noFill/>
          </a:ln>
        </p:spPr>
        <p:txBody>
          <a:bodyPr anchorCtr="0" anchor="t" bIns="0" lIns="0" spcFirstLastPara="1" rIns="0" wrap="square" tIns="1280150">
            <a:noAutofit/>
          </a:bodyPr>
          <a:lstStyle/>
          <a:p>
            <a:pPr indent="0" lvl="0" marL="12700" marR="0" rtl="0" algn="ctr">
              <a:lnSpc>
                <a:spcPct val="100000"/>
              </a:lnSpc>
              <a:spcBef>
                <a:spcPts val="0"/>
              </a:spcBef>
              <a:spcAft>
                <a:spcPts val="0"/>
              </a:spcAft>
              <a:buClr>
                <a:srgbClr val="000000"/>
              </a:buClr>
              <a:buSzPts val="1600"/>
              <a:buFont typeface="Arial"/>
              <a:buNone/>
            </a:pPr>
            <a:r>
              <a:rPr b="1" i="0" lang="en-US" sz="1800" u="none" cap="none" strike="noStrike">
                <a:solidFill>
                  <a:schemeClr val="lt1"/>
                </a:solidFill>
                <a:latin typeface="Arial"/>
                <a:ea typeface="Arial"/>
                <a:cs typeface="Arial"/>
                <a:sym typeface="Arial"/>
              </a:rPr>
              <a:t>Portfolio Management</a:t>
            </a:r>
            <a:endParaRPr b="0" i="0" sz="1800" u="none" cap="none" strike="noStrike">
              <a:solidFill>
                <a:schemeClr val="lt1"/>
              </a:solidFill>
              <a:latin typeface="Arial"/>
              <a:ea typeface="Arial"/>
              <a:cs typeface="Arial"/>
              <a:sym typeface="Arial"/>
            </a:endParaRPr>
          </a:p>
        </p:txBody>
      </p:sp>
      <p:sp>
        <p:nvSpPr>
          <p:cNvPr id="394" name="Google Shape;394;p13"/>
          <p:cNvSpPr/>
          <p:nvPr/>
        </p:nvSpPr>
        <p:spPr>
          <a:xfrm>
            <a:off x="2931780" y="2310360"/>
            <a:ext cx="2046030" cy="2535960"/>
          </a:xfrm>
          <a:prstGeom prst="roundRect">
            <a:avLst>
              <a:gd fmla="val 16667" name="adj"/>
            </a:avLst>
          </a:prstGeom>
          <a:solidFill>
            <a:schemeClr val="accent5"/>
          </a:solidFill>
          <a:ln>
            <a:noFill/>
          </a:ln>
        </p:spPr>
        <p:txBody>
          <a:bodyPr anchorCtr="0" anchor="t" bIns="0" lIns="0" spcFirstLastPara="1" rIns="0" wrap="square" tIns="1280150">
            <a:noAutofit/>
          </a:bodyPr>
          <a:lstStyle/>
          <a:p>
            <a:pPr indent="0" lvl="0" marL="12700" marR="0" rtl="0" algn="ctr">
              <a:lnSpc>
                <a:spcPct val="100000"/>
              </a:lnSpc>
              <a:spcBef>
                <a:spcPts val="0"/>
              </a:spcBef>
              <a:spcAft>
                <a:spcPts val="0"/>
              </a:spcAft>
              <a:buClr>
                <a:srgbClr val="000000"/>
              </a:buClr>
              <a:buSzPts val="1600"/>
              <a:buFont typeface="Arial"/>
              <a:buNone/>
            </a:pPr>
            <a:r>
              <a:rPr b="1" i="0" lang="en-US" sz="1800" u="none" cap="none" strike="noStrike">
                <a:solidFill>
                  <a:schemeClr val="lt1"/>
                </a:solidFill>
                <a:latin typeface="Arial"/>
                <a:ea typeface="Arial"/>
                <a:cs typeface="Arial"/>
                <a:sym typeface="Arial"/>
              </a:rPr>
              <a:t>Speculation</a:t>
            </a:r>
            <a:endParaRPr b="0" i="0" sz="1800" u="none" cap="none" strike="noStrike">
              <a:solidFill>
                <a:schemeClr val="lt1"/>
              </a:solidFill>
              <a:latin typeface="Arial"/>
              <a:ea typeface="Arial"/>
              <a:cs typeface="Arial"/>
              <a:sym typeface="Arial"/>
            </a:endParaRPr>
          </a:p>
        </p:txBody>
      </p:sp>
      <p:sp>
        <p:nvSpPr>
          <p:cNvPr id="395" name="Google Shape;395;p13"/>
          <p:cNvSpPr/>
          <p:nvPr/>
        </p:nvSpPr>
        <p:spPr>
          <a:xfrm>
            <a:off x="5163473" y="2310360"/>
            <a:ext cx="2046030" cy="2535960"/>
          </a:xfrm>
          <a:prstGeom prst="roundRect">
            <a:avLst>
              <a:gd fmla="val 16667" name="adj"/>
            </a:avLst>
          </a:prstGeom>
          <a:solidFill>
            <a:schemeClr val="accent3"/>
          </a:solidFill>
          <a:ln>
            <a:noFill/>
          </a:ln>
        </p:spPr>
        <p:txBody>
          <a:bodyPr anchorCtr="0" anchor="t" bIns="0" lIns="0" spcFirstLastPara="1" rIns="0" wrap="square" tIns="1280150">
            <a:noAutofit/>
          </a:bodyPr>
          <a:lstStyle/>
          <a:p>
            <a:pPr indent="0" lvl="0" marL="12700" marR="0" rtl="0" algn="ctr">
              <a:lnSpc>
                <a:spcPct val="100000"/>
              </a:lnSpc>
              <a:spcBef>
                <a:spcPts val="0"/>
              </a:spcBef>
              <a:spcAft>
                <a:spcPts val="0"/>
              </a:spcAft>
              <a:buClr>
                <a:srgbClr val="000000"/>
              </a:buClr>
              <a:buSzPts val="1600"/>
              <a:buFont typeface="Arial"/>
              <a:buNone/>
            </a:pPr>
            <a:r>
              <a:rPr b="1" i="0" lang="en-US" sz="1800" u="none" cap="none" strike="noStrike">
                <a:solidFill>
                  <a:schemeClr val="lt1"/>
                </a:solidFill>
                <a:latin typeface="Arial"/>
                <a:ea typeface="Arial"/>
                <a:cs typeface="Arial"/>
                <a:sym typeface="Arial"/>
              </a:rPr>
              <a:t>Corporate Finance</a:t>
            </a:r>
            <a:endParaRPr b="0" i="0" sz="1800" u="none" cap="none" strike="noStrike">
              <a:solidFill>
                <a:schemeClr val="lt1"/>
              </a:solidFill>
              <a:latin typeface="Arial"/>
              <a:ea typeface="Arial"/>
              <a:cs typeface="Arial"/>
              <a:sym typeface="Arial"/>
            </a:endParaRPr>
          </a:p>
        </p:txBody>
      </p:sp>
      <p:sp>
        <p:nvSpPr>
          <p:cNvPr id="396" name="Google Shape;396;p13"/>
          <p:cNvSpPr/>
          <p:nvPr/>
        </p:nvSpPr>
        <p:spPr>
          <a:xfrm>
            <a:off x="7395165" y="2310360"/>
            <a:ext cx="2046030" cy="2535960"/>
          </a:xfrm>
          <a:prstGeom prst="roundRect">
            <a:avLst>
              <a:gd fmla="val 16667" name="adj"/>
            </a:avLst>
          </a:prstGeom>
          <a:solidFill>
            <a:schemeClr val="accent5"/>
          </a:solidFill>
          <a:ln>
            <a:noFill/>
          </a:ln>
        </p:spPr>
        <p:txBody>
          <a:bodyPr anchorCtr="0" anchor="t" bIns="0" lIns="0" spcFirstLastPara="1" rIns="0" wrap="square" tIns="1280150">
            <a:noAutofit/>
          </a:bodyPr>
          <a:lstStyle/>
          <a:p>
            <a:pPr indent="0" lvl="0" marL="12700" marR="0" rtl="0" algn="ctr">
              <a:lnSpc>
                <a:spcPct val="100000"/>
              </a:lnSpc>
              <a:spcBef>
                <a:spcPts val="0"/>
              </a:spcBef>
              <a:spcAft>
                <a:spcPts val="0"/>
              </a:spcAft>
              <a:buClr>
                <a:srgbClr val="000000"/>
              </a:buClr>
              <a:buSzPts val="1600"/>
              <a:buFont typeface="Arial"/>
              <a:buNone/>
            </a:pPr>
            <a:r>
              <a:rPr b="1" i="0" lang="en-US" sz="1800" u="none" cap="none" strike="noStrike">
                <a:solidFill>
                  <a:schemeClr val="lt1"/>
                </a:solidFill>
                <a:latin typeface="Arial"/>
                <a:ea typeface="Arial"/>
                <a:cs typeface="Arial"/>
                <a:sym typeface="Arial"/>
              </a:rPr>
              <a:t>Risk Management</a:t>
            </a:r>
            <a:endParaRPr b="0" i="0" sz="1800" u="none" cap="none" strike="noStrike">
              <a:solidFill>
                <a:schemeClr val="lt1"/>
              </a:solidFill>
              <a:latin typeface="Arial"/>
              <a:ea typeface="Arial"/>
              <a:cs typeface="Arial"/>
              <a:sym typeface="Arial"/>
            </a:endParaRPr>
          </a:p>
        </p:txBody>
      </p:sp>
      <p:sp>
        <p:nvSpPr>
          <p:cNvPr id="397" name="Google Shape;397;p13"/>
          <p:cNvSpPr/>
          <p:nvPr/>
        </p:nvSpPr>
        <p:spPr>
          <a:xfrm>
            <a:off x="9626858" y="2310360"/>
            <a:ext cx="2046030" cy="2535960"/>
          </a:xfrm>
          <a:prstGeom prst="roundRect">
            <a:avLst>
              <a:gd fmla="val 16667" name="adj"/>
            </a:avLst>
          </a:prstGeom>
          <a:solidFill>
            <a:schemeClr val="accent3"/>
          </a:solidFill>
          <a:ln>
            <a:noFill/>
          </a:ln>
        </p:spPr>
        <p:txBody>
          <a:bodyPr anchorCtr="0" anchor="t" bIns="0" lIns="0" spcFirstLastPara="1" rIns="0" wrap="square" tIns="1280150">
            <a:noAutofit/>
          </a:bodyPr>
          <a:lstStyle/>
          <a:p>
            <a:pPr indent="0" lvl="0" marL="12700" marR="0" rtl="0" algn="ctr">
              <a:lnSpc>
                <a:spcPct val="100000"/>
              </a:lnSpc>
              <a:spcBef>
                <a:spcPts val="0"/>
              </a:spcBef>
              <a:spcAft>
                <a:spcPts val="0"/>
              </a:spcAft>
              <a:buClr>
                <a:srgbClr val="000000"/>
              </a:buClr>
              <a:buSzPts val="1600"/>
              <a:buFont typeface="Arial"/>
              <a:buNone/>
            </a:pPr>
            <a:r>
              <a:rPr b="1" i="0" lang="en-US" sz="1800" u="none" cap="none" strike="noStrike">
                <a:solidFill>
                  <a:schemeClr val="lt1"/>
                </a:solidFill>
                <a:latin typeface="Arial"/>
                <a:ea typeface="Arial"/>
                <a:cs typeface="Arial"/>
                <a:sym typeface="Arial"/>
              </a:rPr>
              <a:t>Rate-locks on Bond Issuance</a:t>
            </a:r>
            <a:endParaRPr b="0" i="0" sz="1800" u="none" cap="none" strike="noStrike">
              <a:solidFill>
                <a:schemeClr val="lt1"/>
              </a:solidFill>
              <a:latin typeface="Arial"/>
              <a:ea typeface="Arial"/>
              <a:cs typeface="Arial"/>
              <a:sym typeface="Arial"/>
            </a:endParaRPr>
          </a:p>
        </p:txBody>
      </p:sp>
      <p:pic>
        <p:nvPicPr>
          <p:cNvPr descr="Briefcase " id="398" name="Google Shape;398;p13"/>
          <p:cNvPicPr preferRelativeResize="0"/>
          <p:nvPr/>
        </p:nvPicPr>
        <p:blipFill rotWithShape="1">
          <a:blip r:embed="rId3">
            <a:alphaModFix/>
          </a:blip>
          <a:srcRect b="0" l="0" r="0" t="0"/>
          <a:stretch/>
        </p:blipFill>
        <p:spPr>
          <a:xfrm>
            <a:off x="1418303" y="2788920"/>
            <a:ext cx="609600" cy="609600"/>
          </a:xfrm>
          <a:prstGeom prst="rect">
            <a:avLst/>
          </a:prstGeom>
          <a:noFill/>
          <a:ln>
            <a:noFill/>
          </a:ln>
        </p:spPr>
      </p:pic>
      <p:pic>
        <p:nvPicPr>
          <p:cNvPr descr="Speculate " id="399" name="Google Shape;399;p13"/>
          <p:cNvPicPr preferRelativeResize="0"/>
          <p:nvPr/>
        </p:nvPicPr>
        <p:blipFill rotWithShape="1">
          <a:blip r:embed="rId4">
            <a:alphaModFix/>
          </a:blip>
          <a:srcRect b="0" l="0" r="0" t="0"/>
          <a:stretch/>
        </p:blipFill>
        <p:spPr>
          <a:xfrm>
            <a:off x="3649996" y="2788920"/>
            <a:ext cx="609600" cy="609600"/>
          </a:xfrm>
          <a:prstGeom prst="rect">
            <a:avLst/>
          </a:prstGeom>
          <a:noFill/>
          <a:ln>
            <a:noFill/>
          </a:ln>
        </p:spPr>
      </p:pic>
      <p:pic>
        <p:nvPicPr>
          <p:cNvPr descr="Corporate " id="400" name="Google Shape;400;p13"/>
          <p:cNvPicPr preferRelativeResize="0"/>
          <p:nvPr/>
        </p:nvPicPr>
        <p:blipFill rotWithShape="1">
          <a:blip r:embed="rId5">
            <a:alphaModFix/>
          </a:blip>
          <a:srcRect b="0" l="0" r="0" t="0"/>
          <a:stretch/>
        </p:blipFill>
        <p:spPr>
          <a:xfrm>
            <a:off x="5881689" y="2788920"/>
            <a:ext cx="609600" cy="609600"/>
          </a:xfrm>
          <a:prstGeom prst="rect">
            <a:avLst/>
          </a:prstGeom>
          <a:noFill/>
          <a:ln>
            <a:noFill/>
          </a:ln>
        </p:spPr>
      </p:pic>
      <p:pic>
        <p:nvPicPr>
          <p:cNvPr descr="Evaluation " id="401" name="Google Shape;401;p13"/>
          <p:cNvPicPr preferRelativeResize="0"/>
          <p:nvPr/>
        </p:nvPicPr>
        <p:blipFill rotWithShape="1">
          <a:blip r:embed="rId6">
            <a:alphaModFix/>
          </a:blip>
          <a:srcRect b="0" l="0" r="0" t="0"/>
          <a:stretch/>
        </p:blipFill>
        <p:spPr>
          <a:xfrm>
            <a:off x="8113382" y="2788920"/>
            <a:ext cx="609600" cy="609600"/>
          </a:xfrm>
          <a:prstGeom prst="rect">
            <a:avLst/>
          </a:prstGeom>
          <a:noFill/>
          <a:ln>
            <a:noFill/>
          </a:ln>
        </p:spPr>
      </p:pic>
      <p:pic>
        <p:nvPicPr>
          <p:cNvPr descr="Fixed interest rate " id="402" name="Google Shape;402;p13"/>
          <p:cNvPicPr preferRelativeResize="0"/>
          <p:nvPr/>
        </p:nvPicPr>
        <p:blipFill rotWithShape="1">
          <a:blip r:embed="rId7">
            <a:alphaModFix/>
          </a:blip>
          <a:srcRect b="0" l="0" r="0" t="0"/>
          <a:stretch/>
        </p:blipFill>
        <p:spPr>
          <a:xfrm>
            <a:off x="10345073" y="2788920"/>
            <a:ext cx="609600" cy="609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14"/>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INTEREST RATE SWAPS: KEY TERMS</a:t>
            </a:r>
            <a:endParaRPr/>
          </a:p>
        </p:txBody>
      </p:sp>
      <p:graphicFrame>
        <p:nvGraphicFramePr>
          <p:cNvPr id="408" name="Google Shape;408;p14"/>
          <p:cNvGraphicFramePr/>
          <p:nvPr/>
        </p:nvGraphicFramePr>
        <p:xfrm>
          <a:off x="700088" y="1485900"/>
          <a:ext cx="3000000" cy="3000000"/>
        </p:xfrm>
        <a:graphic>
          <a:graphicData uri="http://schemas.openxmlformats.org/drawingml/2006/table">
            <a:tbl>
              <a:tblPr>
                <a:noFill/>
                <a:tableStyleId>{2EC827F9-9865-43DC-BEFB-80313BB38143}</a:tableStyleId>
              </a:tblPr>
              <a:tblGrid>
                <a:gridCol w="2144700"/>
                <a:gridCol w="8828100"/>
              </a:tblGrid>
              <a:tr h="548650">
                <a:tc>
                  <a:txBody>
                    <a:bodyPr/>
                    <a:lstStyle/>
                    <a:p>
                      <a:pPr indent="0" lvl="0" marL="0" marR="0" rtl="0" algn="l">
                        <a:lnSpc>
                          <a:spcPct val="100000"/>
                        </a:lnSpc>
                        <a:spcBef>
                          <a:spcPts val="0"/>
                        </a:spcBef>
                        <a:spcAft>
                          <a:spcPts val="0"/>
                        </a:spcAft>
                        <a:buClr>
                          <a:srgbClr val="000000"/>
                        </a:buClr>
                        <a:buSzPts val="1800"/>
                        <a:buFont typeface="Arial"/>
                        <a:buNone/>
                      </a:pPr>
                      <a:r>
                        <a:rPr b="1" lang="en-US" sz="1600" u="none" cap="none" strike="noStrike"/>
                        <a:t>Trade Date</a:t>
                      </a:r>
                      <a:endParaRPr sz="1200" u="none" cap="none" strike="noStrike"/>
                    </a:p>
                  </a:txBody>
                  <a:tcPr marT="45725" marB="45725"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3"/>
                      </a:solidFill>
                      <a:prstDash val="solid"/>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600" u="none" cap="none" strike="noStrike"/>
                        <a:t>Date on which the trade is agreed</a:t>
                      </a:r>
                      <a:endParaRPr b="0" sz="16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chemeClr val="accent3"/>
                      </a:solidFill>
                      <a:prstDash val="solid"/>
                      <a:round/>
                      <a:headEnd len="sm" w="sm" type="none"/>
                      <a:tailEnd len="sm" w="sm" type="none"/>
                    </a:lnT>
                    <a:lnB cap="flat" cmpd="sng" w="12700">
                      <a:solidFill>
                        <a:srgbClr val="BFBFBF"/>
                      </a:solidFill>
                      <a:prstDash val="dot"/>
                      <a:round/>
                      <a:headEnd len="sm" w="sm" type="none"/>
                      <a:tailEnd len="sm" w="sm" type="none"/>
                    </a:lnB>
                  </a:tcPr>
                </a:tc>
              </a:tr>
              <a:tr h="548650">
                <a:tc>
                  <a:txBody>
                    <a:bodyPr/>
                    <a:lstStyle/>
                    <a:p>
                      <a:pPr indent="0" lvl="0" marL="0" marR="0" rtl="0" algn="l">
                        <a:lnSpc>
                          <a:spcPct val="100000"/>
                        </a:lnSpc>
                        <a:spcBef>
                          <a:spcPts val="0"/>
                        </a:spcBef>
                        <a:spcAft>
                          <a:spcPts val="0"/>
                        </a:spcAft>
                        <a:buClr>
                          <a:srgbClr val="000000"/>
                        </a:buClr>
                        <a:buSzPts val="1800"/>
                        <a:buFont typeface="Arial"/>
                        <a:buNone/>
                      </a:pPr>
                      <a:r>
                        <a:rPr b="1" lang="en-US" sz="1600" u="none" cap="none" strike="noStrike"/>
                        <a:t>Effective Date</a:t>
                      </a:r>
                      <a:endParaRPr sz="1200" u="none" cap="none" strike="noStrike"/>
                    </a:p>
                  </a:txBody>
                  <a:tcPr marT="45725" marB="45725"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rgbClr val="DAF3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u="none" cap="none" strike="noStrike"/>
                        <a:t>Date from which the Swap is Effective</a:t>
                      </a:r>
                      <a:endParaRPr sz="16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rgbClr val="DAF3EB"/>
                    </a:solidFill>
                  </a:tcPr>
                </a:tc>
              </a:tr>
              <a:tr h="548650">
                <a:tc>
                  <a:txBody>
                    <a:bodyPr/>
                    <a:lstStyle/>
                    <a:p>
                      <a:pPr indent="0" lvl="0" marL="0" marR="0" rtl="0" algn="l">
                        <a:lnSpc>
                          <a:spcPct val="100000"/>
                        </a:lnSpc>
                        <a:spcBef>
                          <a:spcPts val="0"/>
                        </a:spcBef>
                        <a:spcAft>
                          <a:spcPts val="0"/>
                        </a:spcAft>
                        <a:buClr>
                          <a:srgbClr val="000000"/>
                        </a:buClr>
                        <a:buSzPts val="1800"/>
                        <a:buFont typeface="Arial"/>
                        <a:buNone/>
                      </a:pPr>
                      <a:r>
                        <a:rPr b="1" lang="en-US" sz="1600" u="none" cap="none" strike="noStrike"/>
                        <a:t>Reset Frequency</a:t>
                      </a:r>
                      <a:endParaRPr sz="1200" u="none" cap="none" strike="noStrike"/>
                    </a:p>
                  </a:txBody>
                  <a:tcPr marT="45725" marB="45725"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u="none" cap="none" strike="noStrike"/>
                        <a:t>How often will the Interest rates be re-calculated</a:t>
                      </a:r>
                      <a:endParaRPr sz="16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r>
              <a:tr h="548650">
                <a:tc>
                  <a:txBody>
                    <a:bodyPr/>
                    <a:lstStyle/>
                    <a:p>
                      <a:pPr indent="0" lvl="0" marL="0" marR="0" rtl="0" algn="l">
                        <a:lnSpc>
                          <a:spcPct val="100000"/>
                        </a:lnSpc>
                        <a:spcBef>
                          <a:spcPts val="0"/>
                        </a:spcBef>
                        <a:spcAft>
                          <a:spcPts val="0"/>
                        </a:spcAft>
                        <a:buClr>
                          <a:srgbClr val="000000"/>
                        </a:buClr>
                        <a:buSzPts val="1800"/>
                        <a:buFont typeface="Arial"/>
                        <a:buNone/>
                      </a:pPr>
                      <a:r>
                        <a:rPr b="1" lang="en-US" sz="1600" u="none" cap="none" strike="noStrike"/>
                        <a:t>Reset Date</a:t>
                      </a:r>
                      <a:endParaRPr sz="1200" u="none" cap="none" strike="noStrike"/>
                    </a:p>
                  </a:txBody>
                  <a:tcPr marT="45725" marB="45725"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rgbClr val="DAF3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u="none" cap="none" strike="noStrike"/>
                        <a:t>The Date on which the Interest Rates are ‘recalculated’ or ‘readjusted’ to the market rates</a:t>
                      </a:r>
                      <a:endParaRPr sz="12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rgbClr val="DAF3EB"/>
                    </a:solidFill>
                  </a:tcPr>
                </a:tc>
              </a:tr>
              <a:tr h="548650">
                <a:tc>
                  <a:txBody>
                    <a:bodyPr/>
                    <a:lstStyle/>
                    <a:p>
                      <a:pPr indent="0" lvl="0" marL="0" marR="0" rtl="0" algn="l">
                        <a:lnSpc>
                          <a:spcPct val="100000"/>
                        </a:lnSpc>
                        <a:spcBef>
                          <a:spcPts val="0"/>
                        </a:spcBef>
                        <a:spcAft>
                          <a:spcPts val="0"/>
                        </a:spcAft>
                        <a:buClr>
                          <a:srgbClr val="000000"/>
                        </a:buClr>
                        <a:buSzPts val="1800"/>
                        <a:buFont typeface="Arial"/>
                        <a:buNone/>
                      </a:pPr>
                      <a:r>
                        <a:rPr b="1" lang="en-US" sz="1600" u="none" cap="none" strike="noStrike"/>
                        <a:t>Payment Date</a:t>
                      </a:r>
                      <a:endParaRPr sz="1200" u="none" cap="none" strike="noStrike"/>
                    </a:p>
                  </a:txBody>
                  <a:tcPr marT="45725" marB="45725"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u="none" cap="none" strike="noStrike"/>
                        <a:t>Date on which the funds are exchanged</a:t>
                      </a:r>
                      <a:endParaRPr sz="16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r>
              <a:tr h="548650">
                <a:tc>
                  <a:txBody>
                    <a:bodyPr/>
                    <a:lstStyle/>
                    <a:p>
                      <a:pPr indent="0" lvl="0" marL="0" marR="0" rtl="0" algn="l">
                        <a:lnSpc>
                          <a:spcPct val="100000"/>
                        </a:lnSpc>
                        <a:spcBef>
                          <a:spcPts val="0"/>
                        </a:spcBef>
                        <a:spcAft>
                          <a:spcPts val="0"/>
                        </a:spcAft>
                        <a:buClr>
                          <a:srgbClr val="000000"/>
                        </a:buClr>
                        <a:buSzPts val="1800"/>
                        <a:buFont typeface="Arial"/>
                        <a:buNone/>
                      </a:pPr>
                      <a:r>
                        <a:rPr b="1" lang="en-US" sz="1600" u="none" cap="none" strike="noStrike"/>
                        <a:t>Termination Date</a:t>
                      </a:r>
                      <a:endParaRPr sz="1200" u="none" cap="none" strike="noStrike"/>
                    </a:p>
                  </a:txBody>
                  <a:tcPr marT="45725" marB="45725"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rgbClr val="DAF3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u="none" cap="none" strike="noStrike"/>
                        <a:t>The last reset date of the swap</a:t>
                      </a:r>
                      <a:endParaRPr sz="16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rgbClr val="DAF3EB"/>
                    </a:solidFill>
                  </a:tcPr>
                </a:tc>
              </a:tr>
              <a:tr h="548650">
                <a:tc>
                  <a:txBody>
                    <a:bodyPr/>
                    <a:lstStyle/>
                    <a:p>
                      <a:pPr indent="0" lvl="0" marL="0" marR="0" rtl="0" algn="l">
                        <a:lnSpc>
                          <a:spcPct val="100000"/>
                        </a:lnSpc>
                        <a:spcBef>
                          <a:spcPts val="0"/>
                        </a:spcBef>
                        <a:spcAft>
                          <a:spcPts val="0"/>
                        </a:spcAft>
                        <a:buClr>
                          <a:srgbClr val="000000"/>
                        </a:buClr>
                        <a:buSzPts val="1800"/>
                        <a:buFont typeface="Arial"/>
                        <a:buNone/>
                      </a:pPr>
                      <a:r>
                        <a:rPr b="1" lang="en-US" sz="1600" u="none" cap="none" strike="noStrike"/>
                        <a:t>Term</a:t>
                      </a:r>
                      <a:endParaRPr sz="1200" u="none" cap="none" strike="noStrike"/>
                    </a:p>
                  </a:txBody>
                  <a:tcPr marT="45725" marB="45725"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u="none" cap="none" strike="noStrike"/>
                        <a:t>The time period of a swap</a:t>
                      </a:r>
                      <a:endParaRPr sz="16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r>
              <a:tr h="548650">
                <a:tc>
                  <a:txBody>
                    <a:bodyPr/>
                    <a:lstStyle/>
                    <a:p>
                      <a:pPr indent="0" lvl="0" marL="0" marR="0" rtl="0" algn="l">
                        <a:lnSpc>
                          <a:spcPct val="100000"/>
                        </a:lnSpc>
                        <a:spcBef>
                          <a:spcPts val="0"/>
                        </a:spcBef>
                        <a:spcAft>
                          <a:spcPts val="0"/>
                        </a:spcAft>
                        <a:buClr>
                          <a:srgbClr val="000000"/>
                        </a:buClr>
                        <a:buSzPts val="1800"/>
                        <a:buFont typeface="Arial"/>
                        <a:buNone/>
                      </a:pPr>
                      <a:r>
                        <a:rPr b="1" lang="en-US" sz="1600" u="none" cap="none" strike="noStrike"/>
                        <a:t>Notional</a:t>
                      </a:r>
                      <a:endParaRPr sz="1200" u="none" cap="none" strike="noStrike"/>
                    </a:p>
                  </a:txBody>
                  <a:tcPr marT="45725" marB="45725"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chemeClr val="accent3"/>
                      </a:solidFill>
                      <a:prstDash val="solid"/>
                      <a:round/>
                      <a:headEnd len="sm" w="sm" type="none"/>
                      <a:tailEnd len="sm" w="sm" type="none"/>
                    </a:lnB>
                    <a:solidFill>
                      <a:srgbClr val="DAF3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600" u="none" cap="none" strike="noStrike"/>
                        <a:t>The amount on which the cash-flows are calculated</a:t>
                      </a:r>
                      <a:endParaRPr sz="16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chemeClr val="accent3"/>
                      </a:solidFill>
                      <a:prstDash val="solid"/>
                      <a:round/>
                      <a:headEnd len="sm" w="sm" type="none"/>
                      <a:tailEnd len="sm" w="sm" type="none"/>
                    </a:lnB>
                    <a:solidFill>
                      <a:srgbClr val="DAF3EB"/>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15"/>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IRS</a:t>
            </a:r>
            <a:endParaRPr/>
          </a:p>
        </p:txBody>
      </p:sp>
      <p:sp>
        <p:nvSpPr>
          <p:cNvPr id="414" name="Google Shape;414;p15"/>
          <p:cNvSpPr/>
          <p:nvPr/>
        </p:nvSpPr>
        <p:spPr>
          <a:xfrm>
            <a:off x="700088" y="2139818"/>
            <a:ext cx="10972800" cy="4095882"/>
          </a:xfrm>
          <a:prstGeom prst="rect">
            <a:avLst/>
          </a:prstGeom>
          <a:solidFill>
            <a:srgbClr val="DAF3EB">
              <a:alpha val="37254"/>
            </a:srgbClr>
          </a:solidFill>
          <a:ln cap="flat" cmpd="sng" w="762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rgbClr val="FFFFFF"/>
              </a:solidFill>
              <a:latin typeface="Arial"/>
              <a:ea typeface="Arial"/>
              <a:cs typeface="Arial"/>
              <a:sym typeface="Arial"/>
            </a:endParaRPr>
          </a:p>
        </p:txBody>
      </p:sp>
      <p:sp>
        <p:nvSpPr>
          <p:cNvPr id="415" name="Google Shape;415;p15"/>
          <p:cNvSpPr txBox="1"/>
          <p:nvPr/>
        </p:nvSpPr>
        <p:spPr>
          <a:xfrm>
            <a:off x="1008830" y="2312041"/>
            <a:ext cx="10355317" cy="37514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In this example, we'll consider a hypothetical IRS between </a:t>
            </a:r>
            <a:r>
              <a:rPr b="1" i="0" lang="en-US" sz="1800" u="none" cap="none" strike="noStrike">
                <a:solidFill>
                  <a:schemeClr val="dk1"/>
                </a:solidFill>
                <a:latin typeface="Arial"/>
                <a:ea typeface="Arial"/>
                <a:cs typeface="Arial"/>
                <a:sym typeface="Arial"/>
              </a:rPr>
              <a:t>General Motors </a:t>
            </a:r>
            <a:r>
              <a:rPr b="0" i="0" lang="en-US" sz="1800" u="none" cap="none" strike="noStrike">
                <a:solidFill>
                  <a:schemeClr val="dk1"/>
                </a:solidFill>
                <a:latin typeface="Arial"/>
                <a:ea typeface="Arial"/>
                <a:cs typeface="Arial"/>
                <a:sym typeface="Arial"/>
              </a:rPr>
              <a:t>and </a:t>
            </a:r>
            <a:r>
              <a:rPr b="1" i="0" lang="en-US" sz="1800" u="none" cap="none" strike="noStrike">
                <a:solidFill>
                  <a:schemeClr val="dk1"/>
                </a:solidFill>
                <a:latin typeface="Arial"/>
                <a:ea typeface="Arial"/>
                <a:cs typeface="Arial"/>
                <a:sym typeface="Arial"/>
              </a:rPr>
              <a:t>IBM Corpn</a:t>
            </a:r>
            <a:r>
              <a:rPr b="0" i="0" lang="en-US" sz="1800" u="none" cap="none" strike="noStrike">
                <a:solidFill>
                  <a:schemeClr val="dk1"/>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Parties Involved:</a:t>
            </a:r>
            <a:endParaRPr b="0" i="0" sz="1800" u="none" cap="none" strike="noStrike">
              <a:solidFill>
                <a:schemeClr val="dk1"/>
              </a:solidFill>
              <a:latin typeface="Arial"/>
              <a:ea typeface="Arial"/>
              <a:cs typeface="Arial"/>
              <a:sym typeface="Arial"/>
            </a:endParaRPr>
          </a:p>
          <a:p>
            <a:pPr indent="0" lvl="0" marL="0" marR="0" rtl="0" algn="l">
              <a:lnSpc>
                <a:spcPct val="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1"/>
                </a:solidFill>
                <a:latin typeface="Arial"/>
                <a:ea typeface="Arial"/>
                <a:cs typeface="Arial"/>
                <a:sym typeface="Arial"/>
              </a:rPr>
              <a:t>Company General Motors (Fixed-Rate Payer)</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1"/>
                </a:solidFill>
                <a:latin typeface="Arial"/>
                <a:ea typeface="Arial"/>
                <a:cs typeface="Arial"/>
                <a:sym typeface="Arial"/>
              </a:rPr>
              <a:t>Company IBM Corpn  (Floating-Rate Payer)</a:t>
            </a:r>
            <a:endParaRPr b="0" i="0" sz="1800" u="none" cap="none" strike="noStrike">
              <a:solidFill>
                <a:schemeClr val="dk1"/>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Terms of the IRS:</a:t>
            </a:r>
            <a:endParaRPr b="1" i="0" sz="1800" u="none" cap="none" strike="noStrike">
              <a:solidFill>
                <a:schemeClr val="dk1"/>
              </a:solidFill>
              <a:latin typeface="Arial"/>
              <a:ea typeface="Arial"/>
              <a:cs typeface="Arial"/>
              <a:sym typeface="Arial"/>
            </a:endParaRPr>
          </a:p>
          <a:p>
            <a:pPr indent="0" lvl="0" marL="0" marR="0" rtl="0" algn="l">
              <a:lnSpc>
                <a:spcPct val="2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1"/>
                </a:solidFill>
                <a:latin typeface="Arial"/>
                <a:ea typeface="Arial"/>
                <a:cs typeface="Arial"/>
                <a:sym typeface="Arial"/>
              </a:rPr>
              <a:t>Notional Principal Amount: 10 million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1"/>
                </a:solidFill>
                <a:latin typeface="Arial"/>
                <a:ea typeface="Arial"/>
                <a:cs typeface="Arial"/>
                <a:sym typeface="Arial"/>
              </a:rPr>
              <a:t>Fixed Interest Rate (Company General Motors): 4.5% per annum</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1"/>
                </a:solidFill>
                <a:latin typeface="Arial"/>
                <a:ea typeface="Arial"/>
                <a:cs typeface="Arial"/>
                <a:sym typeface="Arial"/>
              </a:rPr>
              <a:t>Floating Interest Rate (Company IBM Corpn): 6-Month SOFR* + 2% (Floating Rate Benchmark)</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1"/>
                </a:solidFill>
                <a:latin typeface="Arial"/>
                <a:ea typeface="Arial"/>
                <a:cs typeface="Arial"/>
                <a:sym typeface="Arial"/>
              </a:rPr>
              <a:t>Payment Frequency: Semi-Annual</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1"/>
                </a:solidFill>
                <a:latin typeface="Arial"/>
                <a:ea typeface="Arial"/>
                <a:cs typeface="Arial"/>
                <a:sym typeface="Arial"/>
              </a:rPr>
              <a:t>Term of the Swap : 2 Years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*SOFR - Secured Overnight Financing Rate ; an US Benchmark Floating Interest rate</a:t>
            </a:r>
            <a:endParaRPr b="0" i="0" sz="1800" u="none" cap="none" strike="noStrike">
              <a:solidFill>
                <a:schemeClr val="dk1"/>
              </a:solidFill>
              <a:latin typeface="Arial"/>
              <a:ea typeface="Arial"/>
              <a:cs typeface="Arial"/>
              <a:sym typeface="Arial"/>
            </a:endParaRPr>
          </a:p>
        </p:txBody>
      </p:sp>
      <p:grpSp>
        <p:nvGrpSpPr>
          <p:cNvPr id="416" name="Google Shape;416;p15"/>
          <p:cNvGrpSpPr/>
          <p:nvPr/>
        </p:nvGrpSpPr>
        <p:grpSpPr>
          <a:xfrm>
            <a:off x="1524" y="1495732"/>
            <a:ext cx="12188952" cy="457200"/>
            <a:chOff x="1524" y="1495732"/>
            <a:chExt cx="12188952" cy="457200"/>
          </a:xfrm>
        </p:grpSpPr>
        <p:sp>
          <p:nvSpPr>
            <p:cNvPr id="417" name="Google Shape;417;p15"/>
            <p:cNvSpPr/>
            <p:nvPr/>
          </p:nvSpPr>
          <p:spPr>
            <a:xfrm>
              <a:off x="1524" y="1495732"/>
              <a:ext cx="12188952" cy="4572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418" name="Google Shape;418;p15"/>
            <p:cNvSpPr txBox="1"/>
            <p:nvPr/>
          </p:nvSpPr>
          <p:spPr>
            <a:xfrm>
              <a:off x="700088" y="1555075"/>
              <a:ext cx="10972800" cy="33851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Let’s use this Example of IRS - No need to differentiate between Hedging and Speculation. </a:t>
              </a:r>
              <a:endParaRPr b="0" i="0" sz="1600" u="none" cap="none" strike="noStrike">
                <a:solidFill>
                  <a:schemeClr val="dk1"/>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16"/>
          <p:cNvSpPr/>
          <p:nvPr/>
        </p:nvSpPr>
        <p:spPr>
          <a:xfrm>
            <a:off x="700088" y="1526540"/>
            <a:ext cx="10972800" cy="3502660"/>
          </a:xfrm>
          <a:prstGeom prst="rect">
            <a:avLst/>
          </a:prstGeom>
          <a:solidFill>
            <a:srgbClr val="DAF3EB">
              <a:alpha val="37254"/>
            </a:srgbClr>
          </a:solidFill>
          <a:ln cap="flat" cmpd="sng" w="762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rgbClr val="FFFFFF"/>
              </a:solidFill>
              <a:latin typeface="Arial"/>
              <a:ea typeface="Arial"/>
              <a:cs typeface="Arial"/>
              <a:sym typeface="Arial"/>
            </a:endParaRPr>
          </a:p>
        </p:txBody>
      </p:sp>
      <p:sp>
        <p:nvSpPr>
          <p:cNvPr id="424" name="Google Shape;424;p16"/>
          <p:cNvSpPr txBox="1"/>
          <p:nvPr/>
        </p:nvSpPr>
        <p:spPr>
          <a:xfrm>
            <a:off x="1008830" y="1708230"/>
            <a:ext cx="10355317" cy="31392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chemeClr val="dk1"/>
                </a:solidFill>
                <a:latin typeface="Arial"/>
                <a:ea typeface="Arial"/>
                <a:cs typeface="Arial"/>
                <a:sym typeface="Arial"/>
              </a:rPr>
              <a:t>IRS Timeline: 2 years</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chemeClr val="dk1"/>
                </a:solidFill>
                <a:latin typeface="Arial"/>
                <a:ea typeface="Arial"/>
                <a:cs typeface="Arial"/>
                <a:sym typeface="Arial"/>
              </a:rPr>
              <a:t>Let's assume hypothetical 6-Month SOFR Benchmark Interest rates for each half-year and calculate the cash flows for both Company General Motors (Fixed-Rate Payer) and Company IBM Corpn (Floating-Rate Payer) in our 2-year Interest Rate Swap (IRS). For this example, we'll use the following hypothetical 6-Month SOFR rates: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1"/>
                </a:solidFill>
                <a:latin typeface="Arial"/>
                <a:ea typeface="Arial"/>
                <a:cs typeface="Arial"/>
                <a:sym typeface="Arial"/>
              </a:rPr>
              <a:t>Year 1 - H1 : 6-Month SOFR = 3.0%</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1"/>
                </a:solidFill>
                <a:latin typeface="Arial"/>
                <a:ea typeface="Arial"/>
                <a:cs typeface="Arial"/>
                <a:sym typeface="Arial"/>
              </a:rPr>
              <a:t>Year 1 - H2 : 6-Month SOFR = 2.2%</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1"/>
                </a:solidFill>
                <a:latin typeface="Arial"/>
                <a:ea typeface="Arial"/>
                <a:cs typeface="Arial"/>
                <a:sym typeface="Arial"/>
              </a:rPr>
              <a:t>Year 2 - H1 : 6-Month SOFR = 2.5%</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1"/>
                </a:solidFill>
                <a:latin typeface="Arial"/>
                <a:ea typeface="Arial"/>
                <a:cs typeface="Arial"/>
                <a:sym typeface="Arial"/>
              </a:rPr>
              <a:t>Year 2 - H2 : 6-Month SOFR = 2.8%</a:t>
            </a:r>
            <a:endParaRPr b="0" i="0" sz="1800" u="none" cap="none" strike="noStrike">
              <a:solidFill>
                <a:schemeClr val="dk1"/>
              </a:solidFill>
              <a:latin typeface="Arial"/>
              <a:ea typeface="Arial"/>
              <a:cs typeface="Arial"/>
              <a:sym typeface="Arial"/>
            </a:endParaRPr>
          </a:p>
        </p:txBody>
      </p:sp>
      <p:sp>
        <p:nvSpPr>
          <p:cNvPr id="425" name="Google Shape;425;p16"/>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IRS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17"/>
          <p:cNvSpPr/>
          <p:nvPr/>
        </p:nvSpPr>
        <p:spPr>
          <a:xfrm>
            <a:off x="700088" y="1526540"/>
            <a:ext cx="10972800" cy="4213860"/>
          </a:xfrm>
          <a:prstGeom prst="rect">
            <a:avLst/>
          </a:prstGeom>
          <a:solidFill>
            <a:srgbClr val="DAF3EB">
              <a:alpha val="37254"/>
            </a:srgbClr>
          </a:solidFill>
          <a:ln cap="flat" cmpd="sng" w="762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rgbClr val="FFFFFF"/>
              </a:solidFill>
              <a:latin typeface="Arial"/>
              <a:ea typeface="Arial"/>
              <a:cs typeface="Arial"/>
              <a:sym typeface="Arial"/>
            </a:endParaRPr>
          </a:p>
        </p:txBody>
      </p:sp>
      <p:sp>
        <p:nvSpPr>
          <p:cNvPr id="431" name="Google Shape;431;p17"/>
          <p:cNvSpPr txBox="1"/>
          <p:nvPr/>
        </p:nvSpPr>
        <p:spPr>
          <a:xfrm>
            <a:off x="1008830" y="1740665"/>
            <a:ext cx="10355317" cy="378561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chemeClr val="dk1"/>
                </a:solidFill>
                <a:latin typeface="Arial"/>
                <a:ea typeface="Arial"/>
                <a:cs typeface="Arial"/>
                <a:sym typeface="Arial"/>
              </a:rPr>
              <a:t>Year 1 - 30th June:</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Fixed Interest Payment (Company Gen Motors): ($10,000,000 * 4.5% / 2) = $225,000 (fixed)</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Floating Interest Payment (Company IBM Corpn): (3.0% + 2%) / 2 = 2.5% * ($10,000,000) = $250,000</a:t>
            </a:r>
            <a:endParaRPr b="0" i="0" sz="1600" u="none" cap="none" strike="noStrike">
              <a:solidFill>
                <a:schemeClr val="dk1"/>
              </a:solidFill>
              <a:latin typeface="Arial"/>
              <a:ea typeface="Arial"/>
              <a:cs typeface="Arial"/>
              <a:sym typeface="Arial"/>
            </a:endParaRPr>
          </a:p>
          <a:p>
            <a:pPr indent="-184150" lvl="0" marL="285750" marR="0" rtl="0" algn="l">
              <a:lnSpc>
                <a:spcPct val="100000"/>
              </a:lnSpc>
              <a:spcBef>
                <a:spcPts val="0"/>
              </a:spcBef>
              <a:spcAft>
                <a:spcPts val="0"/>
              </a:spcAft>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1" i="0" lang="en-US" sz="1600" u="none" cap="none" strike="noStrike">
                <a:solidFill>
                  <a:schemeClr val="dk1"/>
                </a:solidFill>
                <a:latin typeface="Arial"/>
                <a:ea typeface="Arial"/>
                <a:cs typeface="Arial"/>
                <a:sym typeface="Arial"/>
              </a:rPr>
              <a:t>Year 1 - 31st Dec:</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Fixed Interest Payment (Company Gen Motors): ($10,000,000 * 4.5% / 2) = $225,000 (fixed)</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Floating Interest Payment (Company IBM Corpn): (2.2% + 2%) / 2 = 2.1% * ($10,000,000) = $210,000</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1" i="0" lang="en-US" sz="1600" u="none" cap="none" strike="noStrike">
                <a:solidFill>
                  <a:schemeClr val="dk1"/>
                </a:solidFill>
                <a:latin typeface="Arial"/>
                <a:ea typeface="Arial"/>
                <a:cs typeface="Arial"/>
                <a:sym typeface="Arial"/>
              </a:rPr>
              <a:t>Year 2 - 30th June:</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Fixed Interest Payment (Company Gen Motors): ($10,000,000 * 4.5% / 2) = $225,000 (fixed)</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Floating Interest Payment (Company IBM Corpn): (2.5% + 2%) / 2 = 2.75% * ($10,000,000) = $275,000</a:t>
            </a:r>
            <a:endParaRPr b="0" i="0" sz="1600" u="none" cap="none" strike="noStrike">
              <a:solidFill>
                <a:schemeClr val="dk1"/>
              </a:solidFill>
              <a:latin typeface="Arial"/>
              <a:ea typeface="Arial"/>
              <a:cs typeface="Arial"/>
              <a:sym typeface="Arial"/>
            </a:endParaRPr>
          </a:p>
          <a:p>
            <a:pPr indent="-184150" lvl="0" marL="285750" marR="0" rtl="0" algn="l">
              <a:lnSpc>
                <a:spcPct val="100000"/>
              </a:lnSpc>
              <a:spcBef>
                <a:spcPts val="0"/>
              </a:spcBef>
              <a:spcAft>
                <a:spcPts val="0"/>
              </a:spcAft>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1" i="0" lang="en-US" sz="1600" u="none" cap="none" strike="noStrike">
                <a:solidFill>
                  <a:schemeClr val="dk1"/>
                </a:solidFill>
                <a:latin typeface="Arial"/>
                <a:ea typeface="Arial"/>
                <a:cs typeface="Arial"/>
                <a:sym typeface="Arial"/>
              </a:rPr>
              <a:t>Year 2 - 31st Dec:</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Fixed Interest Payment (Company Gen Motors): ($10,000,000 * 4.5% / 2) = $225,000 (fixed)</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Floating Interest Payment (Company IBM Corpn): (2.8% + 2%) / 2 = 2.9% * ($10,000,000) = $290,000</a:t>
            </a:r>
            <a:endParaRPr b="0" i="0" sz="1600" u="none" cap="none" strike="noStrike">
              <a:solidFill>
                <a:schemeClr val="dk1"/>
              </a:solidFill>
              <a:latin typeface="Arial"/>
              <a:ea typeface="Arial"/>
              <a:cs typeface="Arial"/>
              <a:sym typeface="Arial"/>
            </a:endParaRPr>
          </a:p>
        </p:txBody>
      </p:sp>
      <p:sp>
        <p:nvSpPr>
          <p:cNvPr id="432" name="Google Shape;432;p17"/>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IRS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18"/>
          <p:cNvSpPr txBox="1"/>
          <p:nvPr>
            <p:ph type="title"/>
          </p:nvPr>
        </p:nvSpPr>
        <p:spPr>
          <a:xfrm>
            <a:off x="700088" y="404813"/>
            <a:ext cx="10515600" cy="71596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IRS</a:t>
            </a:r>
            <a:endParaRPr/>
          </a:p>
        </p:txBody>
      </p:sp>
      <p:sp>
        <p:nvSpPr>
          <p:cNvPr id="438" name="Google Shape;438;p18"/>
          <p:cNvSpPr txBox="1"/>
          <p:nvPr/>
        </p:nvSpPr>
        <p:spPr>
          <a:xfrm>
            <a:off x="700088" y="5657508"/>
            <a:ext cx="10972800" cy="7359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400" u="none" cap="none" strike="noStrike">
                <a:solidFill>
                  <a:schemeClr val="dk1"/>
                </a:solidFill>
                <a:latin typeface="Arial"/>
                <a:ea typeface="Arial"/>
                <a:cs typeface="Arial"/>
                <a:sym typeface="Arial"/>
              </a:rPr>
              <a:t>In this table: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400" u="none" cap="none" strike="noStrike">
                <a:solidFill>
                  <a:schemeClr val="dk1"/>
                </a:solidFill>
                <a:latin typeface="Arial"/>
                <a:ea typeface="Arial"/>
                <a:cs typeface="Arial"/>
                <a:sym typeface="Arial"/>
              </a:rPr>
              <a:t>Company GM Motors  (Fixed-Rate Payer) pays a fixed interest rate of $225,000 every six months.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400" u="none" cap="none" strike="noStrike">
                <a:solidFill>
                  <a:schemeClr val="dk1"/>
                </a:solidFill>
                <a:latin typeface="Arial"/>
                <a:ea typeface="Arial"/>
                <a:cs typeface="Arial"/>
                <a:sym typeface="Arial"/>
              </a:rPr>
              <a:t>Company IBM Corpn  (Floating-Rate Payer) pays a floating interest rate based on the 6-Month SOFR rates plus the 2% spread.</a:t>
            </a:r>
            <a:endParaRPr b="0" i="0" sz="1400" u="none" cap="none" strike="noStrike">
              <a:solidFill>
                <a:srgbClr val="000000"/>
              </a:solidFill>
              <a:latin typeface="Arial"/>
              <a:ea typeface="Arial"/>
              <a:cs typeface="Arial"/>
              <a:sym typeface="Arial"/>
            </a:endParaRPr>
          </a:p>
        </p:txBody>
      </p:sp>
      <p:graphicFrame>
        <p:nvGraphicFramePr>
          <p:cNvPr id="439" name="Google Shape;439;p18"/>
          <p:cNvGraphicFramePr/>
          <p:nvPr/>
        </p:nvGraphicFramePr>
        <p:xfrm>
          <a:off x="700088" y="1894124"/>
          <a:ext cx="3000000" cy="3000000"/>
        </p:xfrm>
        <a:graphic>
          <a:graphicData uri="http://schemas.openxmlformats.org/drawingml/2006/table">
            <a:tbl>
              <a:tblPr>
                <a:noFill/>
                <a:tableStyleId>{2EC827F9-9865-43DC-BEFB-80313BB38143}</a:tableStyleId>
              </a:tblPr>
              <a:tblGrid>
                <a:gridCol w="2019375"/>
                <a:gridCol w="3053400"/>
                <a:gridCol w="3077725"/>
                <a:gridCol w="2822275"/>
              </a:tblGrid>
              <a:tr h="274325">
                <a:tc>
                  <a:txBody>
                    <a:bodyPr/>
                    <a:lstStyle/>
                    <a:p>
                      <a:pPr indent="0" lvl="0" marL="0" marR="0" rtl="0" algn="l">
                        <a:lnSpc>
                          <a:spcPct val="100000"/>
                        </a:lnSpc>
                        <a:spcBef>
                          <a:spcPts val="0"/>
                        </a:spcBef>
                        <a:spcAft>
                          <a:spcPts val="0"/>
                        </a:spcAft>
                        <a:buNone/>
                      </a:pPr>
                      <a:r>
                        <a:rPr b="1" i="0" lang="en-US" sz="1400" u="none" cap="none" strike="noStrike">
                          <a:solidFill>
                            <a:schemeClr val="lt1"/>
                          </a:solidFill>
                          <a:latin typeface="Arial"/>
                          <a:ea typeface="Arial"/>
                          <a:cs typeface="Arial"/>
                          <a:sym typeface="Arial"/>
                        </a:rPr>
                        <a:t>Settlement</a:t>
                      </a:r>
                      <a:endParaRPr b="1" i="0" sz="1400" u="none" cap="none" strike="noStrike">
                        <a:solidFill>
                          <a:schemeClr val="lt1"/>
                        </a:solidFill>
                        <a:latin typeface="Arial"/>
                        <a:ea typeface="Arial"/>
                        <a:cs typeface="Arial"/>
                        <a:sym typeface="Arial"/>
                      </a:endParaRPr>
                    </a:p>
                  </a:txBody>
                  <a:tcPr marT="18300" marB="18300"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3"/>
                      </a:solidFill>
                      <a:prstDash val="solid"/>
                      <a:round/>
                      <a:headEnd len="sm" w="sm" type="none"/>
                      <a:tailEnd len="sm" w="sm" type="none"/>
                    </a:lnT>
                    <a:lnB cap="flat" cmpd="sng" w="12700">
                      <a:solidFill>
                        <a:schemeClr val="accent3"/>
                      </a:solidFill>
                      <a:prstDash val="solid"/>
                      <a:round/>
                      <a:headEnd len="sm" w="sm" type="none"/>
                      <a:tailEnd len="sm" w="sm" type="none"/>
                    </a:lnB>
                    <a:solidFill>
                      <a:schemeClr val="accent3"/>
                    </a:solidFill>
                  </a:tcPr>
                </a:tc>
                <a:tc>
                  <a:txBody>
                    <a:bodyPr/>
                    <a:lstStyle/>
                    <a:p>
                      <a:pPr indent="0" lvl="0" marL="0" marR="0" rtl="0" algn="l">
                        <a:lnSpc>
                          <a:spcPct val="100000"/>
                        </a:lnSpc>
                        <a:spcBef>
                          <a:spcPts val="0"/>
                        </a:spcBef>
                        <a:spcAft>
                          <a:spcPts val="0"/>
                        </a:spcAft>
                        <a:buNone/>
                      </a:pPr>
                      <a:r>
                        <a:rPr b="1" i="0" lang="en-US" sz="1400" u="none" cap="none" strike="noStrike">
                          <a:solidFill>
                            <a:schemeClr val="lt1"/>
                          </a:solidFill>
                          <a:latin typeface="Arial"/>
                          <a:ea typeface="Arial"/>
                          <a:cs typeface="Arial"/>
                          <a:sym typeface="Arial"/>
                        </a:rPr>
                        <a:t>Gen Motors Payments</a:t>
                      </a:r>
                      <a:endParaRPr b="1" i="0" sz="1400" u="none" cap="none" strike="noStrike">
                        <a:solidFill>
                          <a:schemeClr val="lt1"/>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3"/>
                      </a:solidFill>
                      <a:prstDash val="solid"/>
                      <a:round/>
                      <a:headEnd len="sm" w="sm" type="none"/>
                      <a:tailEnd len="sm" w="sm" type="none"/>
                    </a:lnT>
                    <a:lnB cap="flat" cmpd="sng" w="12700">
                      <a:solidFill>
                        <a:schemeClr val="accent3"/>
                      </a:solidFill>
                      <a:prstDash val="solid"/>
                      <a:round/>
                      <a:headEnd len="sm" w="sm" type="none"/>
                      <a:tailEnd len="sm" w="sm" type="none"/>
                    </a:lnB>
                    <a:solidFill>
                      <a:schemeClr val="accent3"/>
                    </a:solidFill>
                  </a:tcPr>
                </a:tc>
                <a:tc>
                  <a:txBody>
                    <a:bodyPr/>
                    <a:lstStyle/>
                    <a:p>
                      <a:pPr indent="0" lvl="0" marL="0" marR="0" rtl="0" algn="l">
                        <a:lnSpc>
                          <a:spcPct val="100000"/>
                        </a:lnSpc>
                        <a:spcBef>
                          <a:spcPts val="0"/>
                        </a:spcBef>
                        <a:spcAft>
                          <a:spcPts val="0"/>
                        </a:spcAft>
                        <a:buNone/>
                      </a:pPr>
                      <a:r>
                        <a:rPr b="1" i="0" lang="en-US" sz="1400" u="none" cap="none" strike="noStrike">
                          <a:solidFill>
                            <a:schemeClr val="lt1"/>
                          </a:solidFill>
                          <a:latin typeface="Arial"/>
                          <a:ea typeface="Arial"/>
                          <a:cs typeface="Arial"/>
                          <a:sym typeface="Arial"/>
                        </a:rPr>
                        <a:t>IBM Corpn Payments</a:t>
                      </a:r>
                      <a:endParaRPr b="1" i="0" sz="1400" u="none" cap="none" strike="noStrike">
                        <a:solidFill>
                          <a:schemeClr val="lt1"/>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3"/>
                      </a:solidFill>
                      <a:prstDash val="solid"/>
                      <a:round/>
                      <a:headEnd len="sm" w="sm" type="none"/>
                      <a:tailEnd len="sm" w="sm" type="none"/>
                    </a:lnT>
                    <a:lnB cap="flat" cmpd="sng" w="12700">
                      <a:solidFill>
                        <a:schemeClr val="accent3"/>
                      </a:solidFill>
                      <a:prstDash val="solid"/>
                      <a:round/>
                      <a:headEnd len="sm" w="sm" type="none"/>
                      <a:tailEnd len="sm" w="sm" type="none"/>
                    </a:lnB>
                    <a:solidFill>
                      <a:schemeClr val="accent3"/>
                    </a:solidFill>
                  </a:tcPr>
                </a:tc>
                <a:tc>
                  <a:txBody>
                    <a:bodyPr/>
                    <a:lstStyle/>
                    <a:p>
                      <a:pPr indent="0" lvl="0" marL="0" marR="0" rtl="0" algn="l">
                        <a:lnSpc>
                          <a:spcPct val="100000"/>
                        </a:lnSpc>
                        <a:spcBef>
                          <a:spcPts val="0"/>
                        </a:spcBef>
                        <a:spcAft>
                          <a:spcPts val="0"/>
                        </a:spcAft>
                        <a:buNone/>
                      </a:pPr>
                      <a:r>
                        <a:rPr b="1" i="0" lang="en-US" sz="1400" u="none" cap="none" strike="noStrike">
                          <a:solidFill>
                            <a:schemeClr val="lt1"/>
                          </a:solidFill>
                          <a:latin typeface="Arial"/>
                          <a:ea typeface="Arial"/>
                          <a:cs typeface="Arial"/>
                          <a:sym typeface="Arial"/>
                        </a:rPr>
                        <a:t>Net Settlement Amount</a:t>
                      </a:r>
                      <a:endParaRPr b="1" i="0" sz="1400" u="none" cap="none" strike="noStrike">
                        <a:solidFill>
                          <a:schemeClr val="lt1"/>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chemeClr val="accent3"/>
                      </a:solidFill>
                      <a:prstDash val="solid"/>
                      <a:round/>
                      <a:headEnd len="sm" w="sm" type="none"/>
                      <a:tailEnd len="sm" w="sm" type="none"/>
                    </a:lnT>
                    <a:lnB cap="flat" cmpd="sng" w="12700">
                      <a:solidFill>
                        <a:schemeClr val="accent3"/>
                      </a:solidFill>
                      <a:prstDash val="solid"/>
                      <a:round/>
                      <a:headEnd len="sm" w="sm" type="none"/>
                      <a:tailEnd len="sm" w="sm" type="none"/>
                    </a:lnB>
                    <a:solidFill>
                      <a:schemeClr val="accent3"/>
                    </a:solidFill>
                  </a:tcPr>
                </a:tc>
              </a:tr>
              <a:tr h="548650">
                <a:tc>
                  <a:txBody>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Date of Settlement</a:t>
                      </a:r>
                      <a:endParaRPr b="1" i="0" sz="1400" u="none" cap="none" strike="noStrike">
                        <a:solidFill>
                          <a:srgbClr val="000000"/>
                        </a:solidFill>
                        <a:latin typeface="Arial"/>
                        <a:ea typeface="Arial"/>
                        <a:cs typeface="Arial"/>
                        <a:sym typeface="Arial"/>
                      </a:endParaRPr>
                    </a:p>
                  </a:txBody>
                  <a:tcPr marT="18300" marB="18300"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3"/>
                      </a:solidFill>
                      <a:prstDash val="solid"/>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Fixed Interest Rate Payments</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Payment @4.5% p.a</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Notional Amt x Int Rate</a:t>
                      </a:r>
                      <a:endParaRPr b="1"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3"/>
                      </a:solidFill>
                      <a:prstDash val="solid"/>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Floating Interest Rate Payments</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6m SOFR + 2%</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Notional Amt x Floating Rate</a:t>
                      </a:r>
                      <a:endParaRPr b="1"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3"/>
                      </a:solidFill>
                      <a:prstDash val="solid"/>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Net Settlement Amount between the Parties</a:t>
                      </a:r>
                      <a:endParaRPr b="1"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chemeClr val="accent3"/>
                      </a:solidFill>
                      <a:prstDash val="solid"/>
                      <a:round/>
                      <a:headEnd len="sm" w="sm" type="none"/>
                      <a:tailEnd len="sm" w="sm" type="none"/>
                    </a:lnT>
                    <a:lnB cap="flat" cmpd="sng" w="12700">
                      <a:solidFill>
                        <a:srgbClr val="BFBFBF"/>
                      </a:solidFill>
                      <a:prstDash val="dot"/>
                      <a:round/>
                      <a:headEnd len="sm" w="sm" type="none"/>
                      <a:tailEnd len="sm" w="sm" type="none"/>
                    </a:lnB>
                  </a:tcPr>
                </a:tc>
              </a:tr>
              <a:tr h="548650">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30th June 20X1</a:t>
                      </a:r>
                      <a:endParaRPr b="0" i="0" sz="1400" u="none" cap="none" strike="noStrike">
                        <a:solidFill>
                          <a:srgbClr val="000000"/>
                        </a:solidFill>
                        <a:latin typeface="Arial"/>
                        <a:ea typeface="Arial"/>
                        <a:cs typeface="Arial"/>
                        <a:sym typeface="Arial"/>
                      </a:endParaRPr>
                    </a:p>
                  </a:txBody>
                  <a:tcPr marT="18300" marB="18300"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225000 US$</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250000 US$</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(250000-225000)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IBM Corpn Pays 25000 US$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to Gen Motors</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r>
              <a:tr h="548650">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31st Dec 20X1</a:t>
                      </a:r>
                      <a:endParaRPr b="0" i="0" sz="1400" u="none" cap="none" strike="noStrike">
                        <a:solidFill>
                          <a:srgbClr val="000000"/>
                        </a:solidFill>
                        <a:latin typeface="Arial"/>
                        <a:ea typeface="Arial"/>
                        <a:cs typeface="Arial"/>
                        <a:sym typeface="Arial"/>
                      </a:endParaRPr>
                    </a:p>
                  </a:txBody>
                  <a:tcPr marT="18300" marB="18300"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225000 US$</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210000 US$</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(225000-210000)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Gen Motors Pays 15000 US$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to IBM Corpn</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r>
              <a:tr h="548650">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30th June 20X2</a:t>
                      </a:r>
                      <a:endParaRPr b="0" i="0" sz="1400" u="none" cap="none" strike="noStrike">
                        <a:solidFill>
                          <a:srgbClr val="000000"/>
                        </a:solidFill>
                        <a:latin typeface="Arial"/>
                        <a:ea typeface="Arial"/>
                        <a:cs typeface="Arial"/>
                        <a:sym typeface="Arial"/>
                      </a:endParaRPr>
                    </a:p>
                  </a:txBody>
                  <a:tcPr marT="18300" marB="18300"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225000 US$</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275000 US$</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(275000-225000)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IBM Corpn Pays 50000 US$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to Gen Motors</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r>
              <a:tr h="182875">
                <a:tc rowSpan="3">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31st Dec 20X2</a:t>
                      </a:r>
                      <a:endParaRPr b="0" i="0" sz="1400" u="none" cap="none" strike="noStrike">
                        <a:solidFill>
                          <a:srgbClr val="000000"/>
                        </a:solidFill>
                        <a:latin typeface="Arial"/>
                        <a:ea typeface="Arial"/>
                        <a:cs typeface="Arial"/>
                        <a:sym typeface="Arial"/>
                      </a:endParaRPr>
                    </a:p>
                  </a:txBody>
                  <a:tcPr marT="18300" marB="18300"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chemeClr val="accent3"/>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225000 US$</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chemeClr val="accent3"/>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290000 US$</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chemeClr val="accent3"/>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(290000-225000)</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9525">
                      <a:solidFill>
                        <a:srgbClr val="000000">
                          <a:alpha val="0"/>
                        </a:srgbClr>
                      </a:solidFill>
                      <a:prstDash val="solid"/>
                      <a:round/>
                      <a:headEnd len="sm" w="sm" type="none"/>
                      <a:tailEnd len="sm" w="sm" type="none"/>
                    </a:lnB>
                  </a:tcPr>
                </a:tc>
              </a:tr>
              <a:tr h="182875">
                <a:tc vMerge="1"/>
                <a:tc vMerge="1"/>
                <a:tc vMerge="1"/>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IBM Corpn Pays 65000 US$ </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2875">
                <a:tc vMerge="1"/>
                <a:tc vMerge="1"/>
                <a:tc vMerge="1"/>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to Gen Motors</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accent3"/>
                      </a:solidFill>
                      <a:prstDash val="solid"/>
                      <a:round/>
                      <a:headEnd len="sm" w="sm" type="none"/>
                      <a:tailEnd len="sm" w="sm" type="none"/>
                    </a:lnB>
                  </a:tcPr>
                </a:tc>
              </a:tr>
            </a:tbl>
          </a:graphicData>
        </a:graphic>
      </p:graphicFrame>
      <p:grpSp>
        <p:nvGrpSpPr>
          <p:cNvPr id="440" name="Google Shape;440;p18"/>
          <p:cNvGrpSpPr/>
          <p:nvPr/>
        </p:nvGrpSpPr>
        <p:grpSpPr>
          <a:xfrm>
            <a:off x="1524" y="1495732"/>
            <a:ext cx="12188952" cy="365760"/>
            <a:chOff x="1524" y="1495732"/>
            <a:chExt cx="12188952" cy="365760"/>
          </a:xfrm>
        </p:grpSpPr>
        <p:sp>
          <p:nvSpPr>
            <p:cNvPr id="441" name="Google Shape;441;p18"/>
            <p:cNvSpPr/>
            <p:nvPr/>
          </p:nvSpPr>
          <p:spPr>
            <a:xfrm>
              <a:off x="1524" y="1495732"/>
              <a:ext cx="12188952" cy="36576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442" name="Google Shape;442;p18"/>
            <p:cNvSpPr txBox="1"/>
            <p:nvPr/>
          </p:nvSpPr>
          <p:spPr>
            <a:xfrm>
              <a:off x="700088" y="1509355"/>
              <a:ext cx="10972800" cy="33851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Now, let's calculate the cash flows for each year:</a:t>
              </a:r>
              <a:endParaRPr b="0" i="0" sz="1600" u="none" cap="none" strike="noStrike">
                <a:solidFill>
                  <a:schemeClr val="dk1"/>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19"/>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TYPES OF INTEREST RATE SWAP</a:t>
            </a:r>
            <a:endParaRPr/>
          </a:p>
        </p:txBody>
      </p:sp>
      <p:sp>
        <p:nvSpPr>
          <p:cNvPr id="448" name="Google Shape;448;p19"/>
          <p:cNvSpPr/>
          <p:nvPr/>
        </p:nvSpPr>
        <p:spPr>
          <a:xfrm>
            <a:off x="8219441" y="3017871"/>
            <a:ext cx="3434398" cy="1126786"/>
          </a:xfrm>
          <a:prstGeom prst="roundRect">
            <a:avLst>
              <a:gd fmla="val 16667" name="adj"/>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Involves the exchange of a floating interest payment vs. a floating interest payment</a:t>
            </a:r>
            <a:endParaRPr b="0" i="0" sz="1400" u="none" cap="none" strike="noStrike">
              <a:solidFill>
                <a:srgbClr val="000000"/>
              </a:solidFill>
              <a:latin typeface="Arial"/>
              <a:ea typeface="Arial"/>
              <a:cs typeface="Arial"/>
              <a:sym typeface="Arial"/>
            </a:endParaRPr>
          </a:p>
        </p:txBody>
      </p:sp>
      <p:sp>
        <p:nvSpPr>
          <p:cNvPr id="449" name="Google Shape;449;p19"/>
          <p:cNvSpPr/>
          <p:nvPr/>
        </p:nvSpPr>
        <p:spPr>
          <a:xfrm>
            <a:off x="700087" y="4975895"/>
            <a:ext cx="3434398" cy="1126786"/>
          </a:xfrm>
          <a:prstGeom prst="roundRect">
            <a:avLst>
              <a:gd fmla="val 16667" name="adj"/>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Involves the exchange of a fixed interest payment vs. a floating interest payment</a:t>
            </a:r>
            <a:endParaRPr b="0" i="0" sz="1400" u="none" cap="none" strike="noStrike">
              <a:solidFill>
                <a:srgbClr val="000000"/>
              </a:solidFill>
              <a:latin typeface="Arial"/>
              <a:ea typeface="Arial"/>
              <a:cs typeface="Arial"/>
              <a:sym typeface="Arial"/>
            </a:endParaRPr>
          </a:p>
        </p:txBody>
      </p:sp>
      <p:sp>
        <p:nvSpPr>
          <p:cNvPr id="450" name="Google Shape;450;p19"/>
          <p:cNvSpPr txBox="1"/>
          <p:nvPr/>
        </p:nvSpPr>
        <p:spPr>
          <a:xfrm>
            <a:off x="2077085" y="4247951"/>
            <a:ext cx="2057400" cy="64633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Fixed for floating or ‘vanilla’ swaps</a:t>
            </a:r>
            <a:endParaRPr b="0" i="0" sz="1400" u="none" cap="none" strike="noStrike">
              <a:solidFill>
                <a:srgbClr val="000000"/>
              </a:solidFill>
              <a:latin typeface="Arial"/>
              <a:ea typeface="Arial"/>
              <a:cs typeface="Arial"/>
              <a:sym typeface="Arial"/>
            </a:endParaRPr>
          </a:p>
        </p:txBody>
      </p:sp>
      <p:sp>
        <p:nvSpPr>
          <p:cNvPr id="451" name="Google Shape;451;p19"/>
          <p:cNvSpPr txBox="1"/>
          <p:nvPr/>
        </p:nvSpPr>
        <p:spPr>
          <a:xfrm>
            <a:off x="8219441" y="1619165"/>
            <a:ext cx="237535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Floating for floating or ‘Basis’ swaps</a:t>
            </a:r>
            <a:endParaRPr b="0" i="0" sz="1400" u="none" cap="none" strike="noStrike">
              <a:solidFill>
                <a:srgbClr val="000000"/>
              </a:solidFill>
              <a:latin typeface="Arial"/>
              <a:ea typeface="Arial"/>
              <a:cs typeface="Arial"/>
              <a:sym typeface="Arial"/>
            </a:endParaRPr>
          </a:p>
        </p:txBody>
      </p:sp>
      <p:grpSp>
        <p:nvGrpSpPr>
          <p:cNvPr id="452" name="Google Shape;452;p19"/>
          <p:cNvGrpSpPr/>
          <p:nvPr/>
        </p:nvGrpSpPr>
        <p:grpSpPr>
          <a:xfrm>
            <a:off x="4230318" y="1473778"/>
            <a:ext cx="3893290" cy="3810998"/>
            <a:chOff x="4187454" y="1690844"/>
            <a:chExt cx="3893290" cy="3810998"/>
          </a:xfrm>
        </p:grpSpPr>
        <p:sp>
          <p:nvSpPr>
            <p:cNvPr id="453" name="Google Shape;453;p19"/>
            <p:cNvSpPr/>
            <p:nvPr/>
          </p:nvSpPr>
          <p:spPr>
            <a:xfrm>
              <a:off x="4194381" y="3275382"/>
              <a:ext cx="3810164" cy="2226460"/>
            </a:xfrm>
            <a:custGeom>
              <a:rect b="b" l="l" r="r" t="t"/>
              <a:pathLst>
                <a:path extrusionOk="0" h="2226460" w="3810164">
                  <a:moveTo>
                    <a:pt x="785361" y="0"/>
                  </a:moveTo>
                  <a:lnTo>
                    <a:pt x="1125602" y="386492"/>
                  </a:lnTo>
                  <a:lnTo>
                    <a:pt x="1505590" y="386492"/>
                  </a:lnTo>
                  <a:lnTo>
                    <a:pt x="1506933" y="399820"/>
                  </a:lnTo>
                  <a:cubicBezTo>
                    <a:pt x="1544829" y="585012"/>
                    <a:pt x="1708687" y="724320"/>
                    <a:pt x="1905081" y="724320"/>
                  </a:cubicBezTo>
                  <a:cubicBezTo>
                    <a:pt x="2101476" y="724320"/>
                    <a:pt x="2265334" y="585012"/>
                    <a:pt x="2303229" y="399820"/>
                  </a:cubicBezTo>
                  <a:lnTo>
                    <a:pt x="2304573" y="386492"/>
                  </a:lnTo>
                  <a:lnTo>
                    <a:pt x="2752222" y="386492"/>
                  </a:lnTo>
                  <a:lnTo>
                    <a:pt x="3092464" y="772984"/>
                  </a:lnTo>
                  <a:lnTo>
                    <a:pt x="3432705" y="386492"/>
                  </a:lnTo>
                  <a:lnTo>
                    <a:pt x="3810164" y="386492"/>
                  </a:lnTo>
                  <a:lnTo>
                    <a:pt x="3803773" y="513053"/>
                  </a:lnTo>
                  <a:cubicBezTo>
                    <a:pt x="3706037" y="1475448"/>
                    <a:pt x="2893263" y="2226460"/>
                    <a:pt x="1905082" y="2226460"/>
                  </a:cubicBezTo>
                  <a:cubicBezTo>
                    <a:pt x="916901" y="2226460"/>
                    <a:pt x="104127" y="1475448"/>
                    <a:pt x="6391" y="513053"/>
                  </a:cubicBezTo>
                  <a:lnTo>
                    <a:pt x="0" y="386492"/>
                  </a:lnTo>
                  <a:lnTo>
                    <a:pt x="445119" y="386492"/>
                  </a:lnTo>
                  <a:close/>
                </a:path>
              </a:pathLst>
            </a:custGeom>
            <a:solidFill>
              <a:srgbClr val="D2F4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54" name="Google Shape;454;p19"/>
            <p:cNvSpPr/>
            <p:nvPr/>
          </p:nvSpPr>
          <p:spPr>
            <a:xfrm rot="10800000">
              <a:off x="4187455" y="1690844"/>
              <a:ext cx="3817090" cy="2317895"/>
            </a:xfrm>
            <a:custGeom>
              <a:rect b="b" l="l" r="r" t="t"/>
              <a:pathLst>
                <a:path extrusionOk="0" h="2317895" w="3817090">
                  <a:moveTo>
                    <a:pt x="1908545" y="2317895"/>
                  </a:moveTo>
                  <a:cubicBezTo>
                    <a:pt x="854485" y="2317895"/>
                    <a:pt x="0" y="1463410"/>
                    <a:pt x="0" y="409350"/>
                  </a:cubicBezTo>
                  <a:lnTo>
                    <a:pt x="1154" y="386492"/>
                  </a:lnTo>
                  <a:lnTo>
                    <a:pt x="356351" y="386492"/>
                  </a:lnTo>
                  <a:lnTo>
                    <a:pt x="696593" y="0"/>
                  </a:lnTo>
                  <a:lnTo>
                    <a:pt x="1036834" y="386492"/>
                  </a:lnTo>
                  <a:lnTo>
                    <a:pt x="1504445" y="386492"/>
                  </a:lnTo>
                  <a:lnTo>
                    <a:pt x="1502141" y="409350"/>
                  </a:lnTo>
                  <a:cubicBezTo>
                    <a:pt x="1502141" y="633801"/>
                    <a:pt x="1684095" y="815755"/>
                    <a:pt x="1908546" y="815755"/>
                  </a:cubicBezTo>
                  <a:cubicBezTo>
                    <a:pt x="2132997" y="815755"/>
                    <a:pt x="2314951" y="633801"/>
                    <a:pt x="2314951" y="409350"/>
                  </a:cubicBezTo>
                  <a:lnTo>
                    <a:pt x="2312646" y="386492"/>
                  </a:lnTo>
                  <a:lnTo>
                    <a:pt x="2684561" y="386492"/>
                  </a:lnTo>
                  <a:lnTo>
                    <a:pt x="3024802" y="772984"/>
                  </a:lnTo>
                  <a:lnTo>
                    <a:pt x="3365044" y="386492"/>
                  </a:lnTo>
                  <a:lnTo>
                    <a:pt x="3815936" y="386492"/>
                  </a:lnTo>
                  <a:lnTo>
                    <a:pt x="3817090" y="409350"/>
                  </a:lnTo>
                  <a:cubicBezTo>
                    <a:pt x="3817090" y="1463410"/>
                    <a:pt x="2962605" y="2317895"/>
                    <a:pt x="1908545" y="2317895"/>
                  </a:cubicBezTo>
                  <a:close/>
                </a:path>
              </a:pathLst>
            </a:custGeom>
            <a:solidFill>
              <a:srgbClr val="DAF3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455" name="Google Shape;455;p19"/>
            <p:cNvCxnSpPr/>
            <p:nvPr/>
          </p:nvCxnSpPr>
          <p:spPr>
            <a:xfrm flipH="1" rot="10800000">
              <a:off x="4187454" y="2357774"/>
              <a:ext cx="3893290" cy="2363082"/>
            </a:xfrm>
            <a:prstGeom prst="straightConnector1">
              <a:avLst/>
            </a:prstGeom>
            <a:noFill/>
            <a:ln cap="flat" cmpd="sng" w="9525">
              <a:solidFill>
                <a:schemeClr val="dk2"/>
              </a:solidFill>
              <a:prstDash val="solid"/>
              <a:miter lim="800000"/>
              <a:headEnd len="sm" w="sm" type="none"/>
              <a:tailEnd len="sm" w="sm" type="none"/>
            </a:ln>
          </p:spPr>
        </p:cxnSp>
      </p:grpSp>
      <p:sp>
        <p:nvSpPr>
          <p:cNvPr id="456" name="Google Shape;456;p19"/>
          <p:cNvSpPr txBox="1"/>
          <p:nvPr/>
        </p:nvSpPr>
        <p:spPr>
          <a:xfrm>
            <a:off x="4763236" y="2230180"/>
            <a:ext cx="2266122"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Types of IRS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20"/>
          <p:cNvSpPr txBox="1"/>
          <p:nvPr>
            <p:ph type="title"/>
          </p:nvPr>
        </p:nvSpPr>
        <p:spPr>
          <a:xfrm>
            <a:off x="700088" y="404813"/>
            <a:ext cx="10515600" cy="71596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ILLUSTRATION ON TIMELINE OF AN IRS</a:t>
            </a:r>
            <a:endParaRPr/>
          </a:p>
        </p:txBody>
      </p:sp>
      <p:grpSp>
        <p:nvGrpSpPr>
          <p:cNvPr id="462" name="Google Shape;462;p20"/>
          <p:cNvGrpSpPr/>
          <p:nvPr/>
        </p:nvGrpSpPr>
        <p:grpSpPr>
          <a:xfrm>
            <a:off x="700088" y="2190347"/>
            <a:ext cx="11113093" cy="2416842"/>
            <a:chOff x="700088" y="2475482"/>
            <a:chExt cx="11113093" cy="2416842"/>
          </a:xfrm>
        </p:grpSpPr>
        <p:sp>
          <p:nvSpPr>
            <p:cNvPr id="463" name="Google Shape;463;p20"/>
            <p:cNvSpPr/>
            <p:nvPr/>
          </p:nvSpPr>
          <p:spPr>
            <a:xfrm>
              <a:off x="700088" y="2724189"/>
              <a:ext cx="2322883" cy="782746"/>
            </a:xfrm>
            <a:prstGeom prst="chevron">
              <a:avLst>
                <a:gd fmla="val 47646" name="adj"/>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4" name="Google Shape;464;p20"/>
            <p:cNvSpPr/>
            <p:nvPr/>
          </p:nvSpPr>
          <p:spPr>
            <a:xfrm>
              <a:off x="2933796" y="2724189"/>
              <a:ext cx="2316969" cy="782747"/>
            </a:xfrm>
            <a:prstGeom prst="chevron">
              <a:avLst>
                <a:gd fmla="val 47646" name="adj"/>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5" name="Google Shape;465;p20"/>
            <p:cNvSpPr/>
            <p:nvPr/>
          </p:nvSpPr>
          <p:spPr>
            <a:xfrm>
              <a:off x="5161590" y="2728607"/>
              <a:ext cx="2285943" cy="773911"/>
            </a:xfrm>
            <a:prstGeom prst="chevron">
              <a:avLst>
                <a:gd fmla="val 47646" name="adj"/>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6" name="Google Shape;466;p20"/>
            <p:cNvSpPr/>
            <p:nvPr/>
          </p:nvSpPr>
          <p:spPr>
            <a:xfrm>
              <a:off x="7358358" y="2724189"/>
              <a:ext cx="2234573" cy="782747"/>
            </a:xfrm>
            <a:prstGeom prst="chevron">
              <a:avLst>
                <a:gd fmla="val 47646" name="adj"/>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7" name="Google Shape;467;p20"/>
            <p:cNvSpPr/>
            <p:nvPr/>
          </p:nvSpPr>
          <p:spPr>
            <a:xfrm>
              <a:off x="1221449" y="2475482"/>
              <a:ext cx="1280160" cy="128016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468" name="Google Shape;468;p20"/>
            <p:cNvSpPr/>
            <p:nvPr/>
          </p:nvSpPr>
          <p:spPr>
            <a:xfrm>
              <a:off x="3420684" y="2475482"/>
              <a:ext cx="1280160" cy="128016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469" name="Google Shape;469;p20"/>
            <p:cNvSpPr/>
            <p:nvPr/>
          </p:nvSpPr>
          <p:spPr>
            <a:xfrm>
              <a:off x="5619919" y="2475482"/>
              <a:ext cx="1280160" cy="1280160"/>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470" name="Google Shape;470;p20"/>
            <p:cNvSpPr/>
            <p:nvPr/>
          </p:nvSpPr>
          <p:spPr>
            <a:xfrm>
              <a:off x="7819154" y="2475482"/>
              <a:ext cx="1280160" cy="1280160"/>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471" name="Google Shape;471;p20"/>
            <p:cNvSpPr txBox="1"/>
            <p:nvPr/>
          </p:nvSpPr>
          <p:spPr>
            <a:xfrm>
              <a:off x="946573" y="4061368"/>
              <a:ext cx="1829913" cy="8309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600" u="none" cap="none" strike="noStrike">
                  <a:solidFill>
                    <a:schemeClr val="dk1"/>
                  </a:solidFill>
                  <a:latin typeface="Arial"/>
                  <a:ea typeface="Arial"/>
                  <a:cs typeface="Arial"/>
                  <a:sym typeface="Arial"/>
                </a:rPr>
                <a:t>Trade Date  </a:t>
              </a:r>
              <a:endParaRPr b="0" i="0" sz="1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600" u="none" cap="none" strike="noStrike">
                  <a:solidFill>
                    <a:schemeClr val="dk1"/>
                  </a:solidFill>
                  <a:latin typeface="Arial"/>
                  <a:ea typeface="Arial"/>
                  <a:cs typeface="Arial"/>
                  <a:sym typeface="Arial"/>
                </a:rPr>
                <a:t>Effective Date  </a:t>
              </a:r>
              <a:endParaRPr b="0" i="0" sz="1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600" u="none" cap="none" strike="noStrike">
                  <a:solidFill>
                    <a:schemeClr val="dk1"/>
                  </a:solidFill>
                  <a:latin typeface="Arial"/>
                  <a:ea typeface="Arial"/>
                  <a:cs typeface="Arial"/>
                  <a:sym typeface="Arial"/>
                </a:rPr>
                <a:t>1st April 20X1</a:t>
              </a:r>
              <a:endParaRPr b="0" i="0" sz="1600" u="none" cap="none" strike="noStrike">
                <a:solidFill>
                  <a:schemeClr val="dk1"/>
                </a:solidFill>
                <a:latin typeface="Arial"/>
                <a:ea typeface="Arial"/>
                <a:cs typeface="Arial"/>
                <a:sym typeface="Arial"/>
              </a:endParaRPr>
            </a:p>
          </p:txBody>
        </p:sp>
        <p:sp>
          <p:nvSpPr>
            <p:cNvPr id="472" name="Google Shape;472;p20"/>
            <p:cNvSpPr txBox="1"/>
            <p:nvPr/>
          </p:nvSpPr>
          <p:spPr>
            <a:xfrm>
              <a:off x="3145808" y="4061368"/>
              <a:ext cx="1829913" cy="8309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600" u="none" cap="none" strike="noStrike">
                  <a:solidFill>
                    <a:schemeClr val="dk1"/>
                  </a:solidFill>
                  <a:latin typeface="Arial"/>
                  <a:ea typeface="Arial"/>
                  <a:cs typeface="Arial"/>
                  <a:sym typeface="Arial"/>
                </a:rPr>
                <a:t>1st October 20X1</a:t>
              </a:r>
              <a:endParaRPr b="0" i="0" sz="1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600" u="none" cap="none" strike="noStrike">
                  <a:solidFill>
                    <a:schemeClr val="dk1"/>
                  </a:solidFill>
                  <a:latin typeface="Arial"/>
                  <a:ea typeface="Arial"/>
                  <a:cs typeface="Arial"/>
                  <a:sym typeface="Arial"/>
                </a:rPr>
                <a:t>Payment of 1st Reset</a:t>
              </a:r>
              <a:endParaRPr b="0" i="0" sz="1600" u="none" cap="none" strike="noStrike">
                <a:solidFill>
                  <a:schemeClr val="dk1"/>
                </a:solidFill>
                <a:latin typeface="Arial"/>
                <a:ea typeface="Arial"/>
                <a:cs typeface="Arial"/>
                <a:sym typeface="Arial"/>
              </a:endParaRPr>
            </a:p>
          </p:txBody>
        </p:sp>
        <p:sp>
          <p:nvSpPr>
            <p:cNvPr id="473" name="Google Shape;473;p20"/>
            <p:cNvSpPr txBox="1"/>
            <p:nvPr/>
          </p:nvSpPr>
          <p:spPr>
            <a:xfrm>
              <a:off x="5345043" y="4061368"/>
              <a:ext cx="1829913" cy="8309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600" u="none" cap="none" strike="noStrike">
                  <a:solidFill>
                    <a:schemeClr val="dk1"/>
                  </a:solidFill>
                  <a:latin typeface="Arial"/>
                  <a:ea typeface="Arial"/>
                  <a:cs typeface="Arial"/>
                  <a:sym typeface="Arial"/>
                </a:rPr>
                <a:t>1st April 20X2</a:t>
              </a:r>
              <a:endParaRPr b="0" i="0" sz="1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600" u="none" cap="none" strike="noStrike">
                  <a:solidFill>
                    <a:schemeClr val="dk1"/>
                  </a:solidFill>
                  <a:latin typeface="Arial"/>
                  <a:ea typeface="Arial"/>
                  <a:cs typeface="Arial"/>
                  <a:sym typeface="Arial"/>
                </a:rPr>
                <a:t>Payment of 2nd Reset</a:t>
              </a:r>
              <a:endParaRPr b="0" i="0" sz="1600" u="none" cap="none" strike="noStrike">
                <a:solidFill>
                  <a:schemeClr val="dk1"/>
                </a:solidFill>
                <a:latin typeface="Arial"/>
                <a:ea typeface="Arial"/>
                <a:cs typeface="Arial"/>
                <a:sym typeface="Arial"/>
              </a:endParaRPr>
            </a:p>
          </p:txBody>
        </p:sp>
        <p:sp>
          <p:nvSpPr>
            <p:cNvPr id="474" name="Google Shape;474;p20"/>
            <p:cNvSpPr txBox="1"/>
            <p:nvPr/>
          </p:nvSpPr>
          <p:spPr>
            <a:xfrm>
              <a:off x="7544278" y="4061368"/>
              <a:ext cx="1829913" cy="8309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600" u="none" cap="none" strike="noStrike">
                  <a:solidFill>
                    <a:schemeClr val="dk1"/>
                  </a:solidFill>
                  <a:latin typeface="Arial"/>
                  <a:ea typeface="Arial"/>
                  <a:cs typeface="Arial"/>
                  <a:sym typeface="Arial"/>
                </a:rPr>
                <a:t>1st October 20X2</a:t>
              </a:r>
              <a:endParaRPr b="0" i="0" sz="1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600" u="none" cap="none" strike="noStrike">
                  <a:solidFill>
                    <a:schemeClr val="dk1"/>
                  </a:solidFill>
                  <a:latin typeface="Arial"/>
                  <a:ea typeface="Arial"/>
                  <a:cs typeface="Arial"/>
                  <a:sym typeface="Arial"/>
                </a:rPr>
                <a:t>Payment of 3rd Reset</a:t>
              </a:r>
              <a:endParaRPr b="0" i="0" sz="1600" u="none" cap="none" strike="noStrike">
                <a:solidFill>
                  <a:schemeClr val="dk1"/>
                </a:solidFill>
                <a:latin typeface="Arial"/>
                <a:ea typeface="Arial"/>
                <a:cs typeface="Arial"/>
                <a:sym typeface="Arial"/>
              </a:endParaRPr>
            </a:p>
          </p:txBody>
        </p:sp>
        <p:sp>
          <p:nvSpPr>
            <p:cNvPr id="475" name="Google Shape;475;p20"/>
            <p:cNvSpPr/>
            <p:nvPr/>
          </p:nvSpPr>
          <p:spPr>
            <a:xfrm>
              <a:off x="9503758" y="2734346"/>
              <a:ext cx="2309423" cy="762432"/>
            </a:xfrm>
            <a:prstGeom prst="chevron">
              <a:avLst>
                <a:gd fmla="val 47646" name="adj"/>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6" name="Google Shape;476;p20"/>
            <p:cNvSpPr/>
            <p:nvPr/>
          </p:nvSpPr>
          <p:spPr>
            <a:xfrm>
              <a:off x="10018389" y="2475482"/>
              <a:ext cx="1280160" cy="128016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477" name="Google Shape;477;p20"/>
            <p:cNvSpPr txBox="1"/>
            <p:nvPr/>
          </p:nvSpPr>
          <p:spPr>
            <a:xfrm>
              <a:off x="9743513" y="4061368"/>
              <a:ext cx="1829913" cy="58473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600" u="none" cap="none" strike="noStrike">
                  <a:solidFill>
                    <a:schemeClr val="dk1"/>
                  </a:solidFill>
                  <a:latin typeface="Arial"/>
                  <a:ea typeface="Arial"/>
                  <a:cs typeface="Arial"/>
                  <a:sym typeface="Arial"/>
                </a:rPr>
                <a:t>1st April 20X3</a:t>
              </a:r>
              <a:endParaRPr b="0" i="0" sz="1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600" u="none" cap="none" strike="noStrike">
                  <a:solidFill>
                    <a:schemeClr val="dk1"/>
                  </a:solidFill>
                  <a:latin typeface="Arial"/>
                  <a:ea typeface="Arial"/>
                  <a:cs typeface="Arial"/>
                  <a:sym typeface="Arial"/>
                </a:rPr>
                <a:t>Termination Date</a:t>
              </a:r>
              <a:endParaRPr b="0" i="0" sz="1600" u="none" cap="none" strike="noStrike">
                <a:solidFill>
                  <a:schemeClr val="dk1"/>
                </a:solidFill>
                <a:latin typeface="Arial"/>
                <a:ea typeface="Arial"/>
                <a:cs typeface="Arial"/>
                <a:sym typeface="Arial"/>
              </a:endParaRPr>
            </a:p>
          </p:txBody>
        </p:sp>
        <p:cxnSp>
          <p:nvCxnSpPr>
            <p:cNvPr id="478" name="Google Shape;478;p20"/>
            <p:cNvCxnSpPr/>
            <p:nvPr/>
          </p:nvCxnSpPr>
          <p:spPr>
            <a:xfrm rot="10800000">
              <a:off x="1861529" y="3772295"/>
              <a:ext cx="0" cy="211829"/>
            </a:xfrm>
            <a:prstGeom prst="straightConnector1">
              <a:avLst/>
            </a:prstGeom>
            <a:noFill/>
            <a:ln cap="flat" cmpd="sng" w="25400">
              <a:solidFill>
                <a:schemeClr val="dk1"/>
              </a:solidFill>
              <a:prstDash val="solid"/>
              <a:miter lim="800000"/>
              <a:headEnd len="sm" w="sm" type="none"/>
              <a:tailEnd len="sm" w="sm" type="none"/>
            </a:ln>
          </p:spPr>
        </p:cxnSp>
        <p:cxnSp>
          <p:nvCxnSpPr>
            <p:cNvPr id="479" name="Google Shape;479;p20"/>
            <p:cNvCxnSpPr/>
            <p:nvPr/>
          </p:nvCxnSpPr>
          <p:spPr>
            <a:xfrm rot="10800000">
              <a:off x="6260000" y="3772295"/>
              <a:ext cx="0" cy="211829"/>
            </a:xfrm>
            <a:prstGeom prst="straightConnector1">
              <a:avLst/>
            </a:prstGeom>
            <a:noFill/>
            <a:ln cap="flat" cmpd="sng" w="25400">
              <a:solidFill>
                <a:schemeClr val="dk1"/>
              </a:solidFill>
              <a:prstDash val="solid"/>
              <a:miter lim="800000"/>
              <a:headEnd len="sm" w="sm" type="none"/>
              <a:tailEnd len="sm" w="sm" type="none"/>
            </a:ln>
          </p:spPr>
        </p:cxnSp>
        <p:cxnSp>
          <p:nvCxnSpPr>
            <p:cNvPr id="480" name="Google Shape;480;p20"/>
            <p:cNvCxnSpPr/>
            <p:nvPr/>
          </p:nvCxnSpPr>
          <p:spPr>
            <a:xfrm rot="10800000">
              <a:off x="4060765" y="3772295"/>
              <a:ext cx="0" cy="211829"/>
            </a:xfrm>
            <a:prstGeom prst="straightConnector1">
              <a:avLst/>
            </a:prstGeom>
            <a:noFill/>
            <a:ln cap="flat" cmpd="sng" w="25400">
              <a:solidFill>
                <a:schemeClr val="dk1"/>
              </a:solidFill>
              <a:prstDash val="solid"/>
              <a:miter lim="800000"/>
              <a:headEnd len="sm" w="sm" type="none"/>
              <a:tailEnd len="sm" w="sm" type="none"/>
            </a:ln>
          </p:spPr>
        </p:cxnSp>
        <p:cxnSp>
          <p:nvCxnSpPr>
            <p:cNvPr id="481" name="Google Shape;481;p20"/>
            <p:cNvCxnSpPr/>
            <p:nvPr/>
          </p:nvCxnSpPr>
          <p:spPr>
            <a:xfrm rot="10800000">
              <a:off x="8459234" y="3772295"/>
              <a:ext cx="0" cy="211829"/>
            </a:xfrm>
            <a:prstGeom prst="straightConnector1">
              <a:avLst/>
            </a:prstGeom>
            <a:noFill/>
            <a:ln cap="flat" cmpd="sng" w="25400">
              <a:solidFill>
                <a:schemeClr val="dk1"/>
              </a:solidFill>
              <a:prstDash val="solid"/>
              <a:miter lim="800000"/>
              <a:headEnd len="sm" w="sm" type="none"/>
              <a:tailEnd len="sm" w="sm" type="none"/>
            </a:ln>
          </p:spPr>
        </p:cxnSp>
        <p:cxnSp>
          <p:nvCxnSpPr>
            <p:cNvPr id="482" name="Google Shape;482;p20"/>
            <p:cNvCxnSpPr/>
            <p:nvPr/>
          </p:nvCxnSpPr>
          <p:spPr>
            <a:xfrm rot="10800000">
              <a:off x="10658469" y="3772295"/>
              <a:ext cx="0" cy="211829"/>
            </a:xfrm>
            <a:prstGeom prst="straightConnector1">
              <a:avLst/>
            </a:prstGeom>
            <a:noFill/>
            <a:ln cap="flat" cmpd="sng" w="25400">
              <a:solidFill>
                <a:schemeClr val="dk1"/>
              </a:solidFill>
              <a:prstDash val="solid"/>
              <a:miter lim="800000"/>
              <a:headEnd len="sm" w="sm" type="none"/>
              <a:tailEnd len="sm" w="sm" type="none"/>
            </a:ln>
          </p:spPr>
        </p:cxn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21"/>
          <p:cNvSpPr txBox="1"/>
          <p:nvPr>
            <p:ph type="title"/>
          </p:nvPr>
        </p:nvSpPr>
        <p:spPr>
          <a:xfrm>
            <a:off x="700088" y="404813"/>
            <a:ext cx="10515600" cy="71596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RISKS ASSOCIATED WITH IRS</a:t>
            </a:r>
            <a:endParaRPr/>
          </a:p>
        </p:txBody>
      </p:sp>
      <p:sp>
        <p:nvSpPr>
          <p:cNvPr id="488" name="Google Shape;488;p21"/>
          <p:cNvSpPr txBox="1"/>
          <p:nvPr/>
        </p:nvSpPr>
        <p:spPr>
          <a:xfrm>
            <a:off x="700088" y="2775326"/>
            <a:ext cx="2399348" cy="504610"/>
          </a:xfrm>
          <a:prstGeom prst="rect">
            <a:avLst/>
          </a:prstGeom>
          <a:noFill/>
          <a:ln>
            <a:noFill/>
          </a:ln>
        </p:spPr>
        <p:txBody>
          <a:bodyPr anchorCtr="0" anchor="t" bIns="0" lIns="0" spcFirstLastPara="1" rIns="0" wrap="square" tIns="12050">
            <a:spAutoFit/>
          </a:bodyPr>
          <a:lstStyle/>
          <a:p>
            <a:pPr indent="0" lvl="0" marL="1270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Fixed Interest Rate Receiver</a:t>
            </a:r>
            <a:endParaRPr b="1" i="0" sz="1600" u="none" cap="none" strike="noStrike">
              <a:solidFill>
                <a:schemeClr val="dk1"/>
              </a:solidFill>
              <a:latin typeface="Arial"/>
              <a:ea typeface="Arial"/>
              <a:cs typeface="Arial"/>
              <a:sym typeface="Arial"/>
            </a:endParaRPr>
          </a:p>
        </p:txBody>
      </p:sp>
      <p:sp>
        <p:nvSpPr>
          <p:cNvPr id="489" name="Google Shape;489;p21"/>
          <p:cNvSpPr txBox="1"/>
          <p:nvPr/>
        </p:nvSpPr>
        <p:spPr>
          <a:xfrm>
            <a:off x="9273540" y="2775326"/>
            <a:ext cx="2399348" cy="505267"/>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000"/>
              <a:buFont typeface="Arial"/>
              <a:buNone/>
            </a:pPr>
            <a:r>
              <a:rPr b="1" i="0" lang="en-US" sz="1600" u="none" cap="none" strike="noStrike">
                <a:solidFill>
                  <a:schemeClr val="dk1"/>
                </a:solidFill>
                <a:latin typeface="Arial"/>
                <a:ea typeface="Arial"/>
                <a:cs typeface="Arial"/>
                <a:sym typeface="Arial"/>
              </a:rPr>
              <a:t>Fixed Interest Rate Payer</a:t>
            </a:r>
            <a:endParaRPr b="1" i="0" sz="1600" u="none" cap="none" strike="noStrike">
              <a:solidFill>
                <a:schemeClr val="dk1"/>
              </a:solidFill>
              <a:latin typeface="Arial"/>
              <a:ea typeface="Arial"/>
              <a:cs typeface="Arial"/>
              <a:sym typeface="Arial"/>
            </a:endParaRPr>
          </a:p>
        </p:txBody>
      </p:sp>
      <p:pic>
        <p:nvPicPr>
          <p:cNvPr id="490" name="Google Shape;490;p21"/>
          <p:cNvPicPr preferRelativeResize="0"/>
          <p:nvPr/>
        </p:nvPicPr>
        <p:blipFill rotWithShape="1">
          <a:blip r:embed="rId3">
            <a:alphaModFix/>
          </a:blip>
          <a:srcRect b="0" l="0" r="0" t="0"/>
          <a:stretch/>
        </p:blipFill>
        <p:spPr>
          <a:xfrm>
            <a:off x="8258987" y="3451098"/>
            <a:ext cx="3392074" cy="2762322"/>
          </a:xfrm>
          <a:prstGeom prst="rect">
            <a:avLst/>
          </a:prstGeom>
          <a:noFill/>
          <a:ln>
            <a:noFill/>
          </a:ln>
          <a:effectLst>
            <a:outerShdw blurRad="63500" rotWithShape="0" algn="ctr">
              <a:srgbClr val="000000">
                <a:alpha val="20000"/>
              </a:srgbClr>
            </a:outerShdw>
          </a:effectLst>
        </p:spPr>
      </p:pic>
      <p:grpSp>
        <p:nvGrpSpPr>
          <p:cNvPr id="491" name="Google Shape;491;p21"/>
          <p:cNvGrpSpPr/>
          <p:nvPr/>
        </p:nvGrpSpPr>
        <p:grpSpPr>
          <a:xfrm>
            <a:off x="700088" y="3654472"/>
            <a:ext cx="3141272" cy="2355574"/>
            <a:chOff x="768058" y="3654472"/>
            <a:chExt cx="3141272" cy="2355574"/>
          </a:xfrm>
        </p:grpSpPr>
        <p:sp>
          <p:nvSpPr>
            <p:cNvPr id="492" name="Google Shape;492;p21"/>
            <p:cNvSpPr/>
            <p:nvPr/>
          </p:nvSpPr>
          <p:spPr>
            <a:xfrm>
              <a:off x="768058" y="3654472"/>
              <a:ext cx="3141272" cy="716422"/>
            </a:xfrm>
            <a:prstGeom prst="rect">
              <a:avLst/>
            </a:prstGeom>
            <a:solidFill>
              <a:srgbClr val="D2F4F6"/>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93" name="Google Shape;493;p21"/>
            <p:cNvSpPr/>
            <p:nvPr/>
          </p:nvSpPr>
          <p:spPr>
            <a:xfrm>
              <a:off x="768058" y="4370894"/>
              <a:ext cx="3141272" cy="716422"/>
            </a:xfrm>
            <a:prstGeom prst="rect">
              <a:avLst/>
            </a:prstGeom>
            <a:no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94" name="Google Shape;494;p21"/>
            <p:cNvSpPr/>
            <p:nvPr/>
          </p:nvSpPr>
          <p:spPr>
            <a:xfrm>
              <a:off x="768058" y="5087316"/>
              <a:ext cx="3141272" cy="922730"/>
            </a:xfrm>
            <a:prstGeom prst="rect">
              <a:avLst/>
            </a:prstGeom>
            <a:no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95" name="Google Shape;495;p21"/>
            <p:cNvSpPr txBox="1"/>
            <p:nvPr/>
          </p:nvSpPr>
          <p:spPr>
            <a:xfrm>
              <a:off x="957652" y="3843406"/>
              <a:ext cx="2762084"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Primary Risks</a:t>
              </a:r>
              <a:endParaRPr b="0" i="0" sz="1400" u="none" cap="none" strike="noStrike">
                <a:solidFill>
                  <a:srgbClr val="000000"/>
                </a:solidFill>
                <a:latin typeface="Arial"/>
                <a:ea typeface="Arial"/>
                <a:cs typeface="Arial"/>
                <a:sym typeface="Arial"/>
              </a:endParaRPr>
            </a:p>
          </p:txBody>
        </p:sp>
        <p:sp>
          <p:nvSpPr>
            <p:cNvPr id="496" name="Google Shape;496;p21"/>
            <p:cNvSpPr txBox="1"/>
            <p:nvPr/>
          </p:nvSpPr>
          <p:spPr>
            <a:xfrm>
              <a:off x="957650" y="4559828"/>
              <a:ext cx="2762088"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Interest Rate Risk</a:t>
              </a:r>
              <a:endParaRPr b="0" i="0" sz="1400" u="none" cap="none" strike="noStrike">
                <a:solidFill>
                  <a:srgbClr val="000000"/>
                </a:solidFill>
                <a:latin typeface="Arial"/>
                <a:ea typeface="Arial"/>
                <a:cs typeface="Arial"/>
                <a:sym typeface="Arial"/>
              </a:endParaRPr>
            </a:p>
          </p:txBody>
        </p:sp>
        <p:sp>
          <p:nvSpPr>
            <p:cNvPr id="497" name="Google Shape;497;p21"/>
            <p:cNvSpPr txBox="1"/>
            <p:nvPr/>
          </p:nvSpPr>
          <p:spPr>
            <a:xfrm>
              <a:off x="957650" y="5256314"/>
              <a:ext cx="2762088" cy="58473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Credit Risk  (Counterparty  Risk)</a:t>
              </a:r>
              <a:endParaRPr b="0" i="0" sz="1400" u="none" cap="none" strike="noStrike">
                <a:solidFill>
                  <a:srgbClr val="000000"/>
                </a:solidFill>
                <a:latin typeface="Arial"/>
                <a:ea typeface="Arial"/>
                <a:cs typeface="Arial"/>
                <a:sym typeface="Arial"/>
              </a:endParaRPr>
            </a:p>
          </p:txBody>
        </p:sp>
      </p:grpSp>
      <p:grpSp>
        <p:nvGrpSpPr>
          <p:cNvPr id="498" name="Google Shape;498;p21"/>
          <p:cNvGrpSpPr/>
          <p:nvPr/>
        </p:nvGrpSpPr>
        <p:grpSpPr>
          <a:xfrm>
            <a:off x="4479537" y="3661705"/>
            <a:ext cx="3141272" cy="2341108"/>
            <a:chOff x="4272250" y="3668938"/>
            <a:chExt cx="3141272" cy="2341108"/>
          </a:xfrm>
        </p:grpSpPr>
        <p:sp>
          <p:nvSpPr>
            <p:cNvPr id="499" name="Google Shape;499;p21"/>
            <p:cNvSpPr/>
            <p:nvPr/>
          </p:nvSpPr>
          <p:spPr>
            <a:xfrm>
              <a:off x="4272250" y="3668938"/>
              <a:ext cx="3141272" cy="716422"/>
            </a:xfrm>
            <a:prstGeom prst="rect">
              <a:avLst/>
            </a:prstGeom>
            <a:solidFill>
              <a:srgbClr val="D2F4F6"/>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00" name="Google Shape;500;p21"/>
            <p:cNvSpPr/>
            <p:nvPr/>
          </p:nvSpPr>
          <p:spPr>
            <a:xfrm>
              <a:off x="4272250" y="4385360"/>
              <a:ext cx="3141272" cy="1624686"/>
            </a:xfrm>
            <a:prstGeom prst="rect">
              <a:avLst/>
            </a:prstGeom>
            <a:no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01" name="Google Shape;501;p21"/>
            <p:cNvSpPr txBox="1"/>
            <p:nvPr/>
          </p:nvSpPr>
          <p:spPr>
            <a:xfrm>
              <a:off x="4461844" y="3734762"/>
              <a:ext cx="2762084"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Counterparty’s  Credit Risk</a:t>
              </a:r>
              <a:endParaRPr b="0" i="0" sz="1400" u="none" cap="none" strike="noStrike">
                <a:solidFill>
                  <a:srgbClr val="000000"/>
                </a:solidFill>
                <a:latin typeface="Arial"/>
                <a:ea typeface="Arial"/>
                <a:cs typeface="Arial"/>
                <a:sym typeface="Arial"/>
              </a:endParaRPr>
            </a:p>
          </p:txBody>
        </p:sp>
        <p:sp>
          <p:nvSpPr>
            <p:cNvPr id="502" name="Google Shape;502;p21"/>
            <p:cNvSpPr txBox="1"/>
            <p:nvPr/>
          </p:nvSpPr>
          <p:spPr>
            <a:xfrm>
              <a:off x="4461842" y="4659114"/>
              <a:ext cx="2762088" cy="107717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The chance that the other party in the contract will default on its responsibility.</a:t>
              </a:r>
              <a:endParaRPr b="0" i="0" sz="1400" u="none" cap="none" strike="noStrike">
                <a:solidFill>
                  <a:srgbClr val="000000"/>
                </a:solidFill>
                <a:latin typeface="Arial"/>
                <a:ea typeface="Arial"/>
                <a:cs typeface="Arial"/>
                <a:sym typeface="Arial"/>
              </a:endParaRPr>
            </a:p>
          </p:txBody>
        </p:sp>
      </p:grpSp>
      <p:pic>
        <p:nvPicPr>
          <p:cNvPr descr="Man shape" id="503" name="Google Shape;503;p21"/>
          <p:cNvPicPr preferRelativeResize="0"/>
          <p:nvPr/>
        </p:nvPicPr>
        <p:blipFill rotWithShape="1">
          <a:blip r:embed="rId4">
            <a:alphaModFix/>
          </a:blip>
          <a:srcRect b="0" l="0" r="0" t="0"/>
          <a:stretch/>
        </p:blipFill>
        <p:spPr>
          <a:xfrm>
            <a:off x="9919032" y="1566922"/>
            <a:ext cx="1108364" cy="1108364"/>
          </a:xfrm>
          <a:prstGeom prst="rect">
            <a:avLst/>
          </a:prstGeom>
          <a:noFill/>
          <a:ln>
            <a:noFill/>
          </a:ln>
        </p:spPr>
      </p:pic>
      <p:pic>
        <p:nvPicPr>
          <p:cNvPr descr="Man shape" id="504" name="Google Shape;504;p21"/>
          <p:cNvPicPr preferRelativeResize="0"/>
          <p:nvPr/>
        </p:nvPicPr>
        <p:blipFill rotWithShape="1">
          <a:blip r:embed="rId4">
            <a:alphaModFix/>
          </a:blip>
          <a:srcRect b="0" l="0" r="0" t="0"/>
          <a:stretch/>
        </p:blipFill>
        <p:spPr>
          <a:xfrm>
            <a:off x="1345580" y="1566922"/>
            <a:ext cx="1108364" cy="1108364"/>
          </a:xfrm>
          <a:prstGeom prst="rect">
            <a:avLst/>
          </a:prstGeom>
          <a:noFill/>
          <a:ln>
            <a:noFill/>
          </a:ln>
        </p:spPr>
      </p:pic>
      <p:grpSp>
        <p:nvGrpSpPr>
          <p:cNvPr id="505" name="Google Shape;505;p21"/>
          <p:cNvGrpSpPr/>
          <p:nvPr/>
        </p:nvGrpSpPr>
        <p:grpSpPr>
          <a:xfrm>
            <a:off x="3716336" y="1566922"/>
            <a:ext cx="4940305" cy="1405251"/>
            <a:chOff x="3716233" y="1321870"/>
            <a:chExt cx="4940305" cy="1405251"/>
          </a:xfrm>
        </p:grpSpPr>
        <p:grpSp>
          <p:nvGrpSpPr>
            <p:cNvPr id="506" name="Google Shape;506;p21"/>
            <p:cNvGrpSpPr/>
            <p:nvPr/>
          </p:nvGrpSpPr>
          <p:grpSpPr>
            <a:xfrm>
              <a:off x="3716588" y="1321870"/>
              <a:ext cx="2389244" cy="640080"/>
              <a:chOff x="3716588" y="1321870"/>
              <a:chExt cx="2389244" cy="640080"/>
            </a:xfrm>
          </p:grpSpPr>
          <p:sp>
            <p:nvSpPr>
              <p:cNvPr id="507" name="Google Shape;507;p21"/>
              <p:cNvSpPr/>
              <p:nvPr/>
            </p:nvSpPr>
            <p:spPr>
              <a:xfrm>
                <a:off x="3716588" y="1321870"/>
                <a:ext cx="2389244" cy="640080"/>
              </a:xfrm>
              <a:prstGeom prst="roundRect">
                <a:avLst>
                  <a:gd fmla="val 16667" name="adj"/>
                </a:avLst>
              </a:prstGeom>
              <a:solidFill>
                <a:srgbClr val="DAF3E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508" name="Google Shape;508;p21"/>
              <p:cNvSpPr txBox="1"/>
              <p:nvPr/>
            </p:nvSpPr>
            <p:spPr>
              <a:xfrm>
                <a:off x="3853646" y="1389605"/>
                <a:ext cx="1872735" cy="503555"/>
              </a:xfrm>
              <a:prstGeom prst="rect">
                <a:avLst/>
              </a:prstGeom>
              <a:noFill/>
              <a:ln>
                <a:noFill/>
              </a:ln>
            </p:spPr>
            <p:txBody>
              <a:bodyPr anchorCtr="0" anchor="t" bIns="0" lIns="0" spcFirstLastPara="1" rIns="0" wrap="square" tIns="12050">
                <a:spAutoFit/>
              </a:bodyPr>
              <a:lstStyle/>
              <a:p>
                <a:pPr indent="0" lvl="0" marL="0" marR="508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Profit when Interest Rates  Fall</a:t>
                </a:r>
                <a:endParaRPr b="0" i="0" sz="1600" u="none" cap="none" strike="noStrike">
                  <a:solidFill>
                    <a:srgbClr val="000000"/>
                  </a:solidFill>
                  <a:latin typeface="Arial"/>
                  <a:ea typeface="Arial"/>
                  <a:cs typeface="Arial"/>
                  <a:sym typeface="Arial"/>
                </a:endParaRPr>
              </a:p>
            </p:txBody>
          </p:sp>
          <p:sp>
            <p:nvSpPr>
              <p:cNvPr id="509" name="Google Shape;509;p21"/>
              <p:cNvSpPr/>
              <p:nvPr/>
            </p:nvSpPr>
            <p:spPr>
              <a:xfrm>
                <a:off x="5785085" y="1462450"/>
                <a:ext cx="226572" cy="358920"/>
              </a:xfrm>
              <a:custGeom>
                <a:rect b="b" l="l" r="r" t="t"/>
                <a:pathLst>
                  <a:path extrusionOk="0" h="675639" w="365760">
                    <a:moveTo>
                      <a:pt x="182879" y="0"/>
                    </a:moveTo>
                    <a:lnTo>
                      <a:pt x="0" y="182880"/>
                    </a:lnTo>
                    <a:lnTo>
                      <a:pt x="91439" y="182880"/>
                    </a:lnTo>
                    <a:lnTo>
                      <a:pt x="91439" y="675360"/>
                    </a:lnTo>
                    <a:lnTo>
                      <a:pt x="274319" y="675360"/>
                    </a:lnTo>
                    <a:lnTo>
                      <a:pt x="274319" y="182880"/>
                    </a:lnTo>
                    <a:lnTo>
                      <a:pt x="365760" y="182880"/>
                    </a:lnTo>
                    <a:lnTo>
                      <a:pt x="182879" y="0"/>
                    </a:lnTo>
                    <a:close/>
                  </a:path>
                </a:pathLst>
              </a:custGeom>
              <a:solidFill>
                <a:schemeClr val="accent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grpSp>
        <p:grpSp>
          <p:nvGrpSpPr>
            <p:cNvPr id="510" name="Google Shape;510;p21"/>
            <p:cNvGrpSpPr/>
            <p:nvPr/>
          </p:nvGrpSpPr>
          <p:grpSpPr>
            <a:xfrm>
              <a:off x="6267294" y="1321870"/>
              <a:ext cx="2389244" cy="640080"/>
              <a:chOff x="6841030" y="1321870"/>
              <a:chExt cx="2389244" cy="640080"/>
            </a:xfrm>
          </p:grpSpPr>
          <p:sp>
            <p:nvSpPr>
              <p:cNvPr id="511" name="Google Shape;511;p21"/>
              <p:cNvSpPr/>
              <p:nvPr/>
            </p:nvSpPr>
            <p:spPr>
              <a:xfrm>
                <a:off x="6841030" y="1321870"/>
                <a:ext cx="2389244" cy="640080"/>
              </a:xfrm>
              <a:prstGeom prst="roundRect">
                <a:avLst>
                  <a:gd fmla="val 16667" name="adj"/>
                </a:avLst>
              </a:prstGeom>
              <a:solidFill>
                <a:srgbClr val="DAF3E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512" name="Google Shape;512;p21"/>
              <p:cNvSpPr txBox="1"/>
              <p:nvPr/>
            </p:nvSpPr>
            <p:spPr>
              <a:xfrm>
                <a:off x="7238424" y="1389605"/>
                <a:ext cx="1872735" cy="503555"/>
              </a:xfrm>
              <a:prstGeom prst="rect">
                <a:avLst/>
              </a:prstGeom>
              <a:noFill/>
              <a:ln>
                <a:noFill/>
              </a:ln>
            </p:spPr>
            <p:txBody>
              <a:bodyPr anchorCtr="0" anchor="t" bIns="0" lIns="0" spcFirstLastPara="1" rIns="0" wrap="square" tIns="12050">
                <a:spAutoFit/>
              </a:bodyPr>
              <a:lstStyle/>
              <a:p>
                <a:pPr indent="0" lvl="0" marL="0" marR="508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Profit when Interest Rates Rise</a:t>
                </a:r>
                <a:endParaRPr b="0" i="0" sz="1600" u="none" cap="none" strike="noStrike">
                  <a:solidFill>
                    <a:srgbClr val="000000"/>
                  </a:solidFill>
                  <a:latin typeface="Arial"/>
                  <a:ea typeface="Arial"/>
                  <a:cs typeface="Arial"/>
                  <a:sym typeface="Arial"/>
                </a:endParaRPr>
              </a:p>
            </p:txBody>
          </p:sp>
          <p:sp>
            <p:nvSpPr>
              <p:cNvPr id="513" name="Google Shape;513;p21"/>
              <p:cNvSpPr/>
              <p:nvPr/>
            </p:nvSpPr>
            <p:spPr>
              <a:xfrm>
                <a:off x="6918840" y="1462450"/>
                <a:ext cx="226572" cy="358920"/>
              </a:xfrm>
              <a:custGeom>
                <a:rect b="b" l="l" r="r" t="t"/>
                <a:pathLst>
                  <a:path extrusionOk="0" h="675639" w="365760">
                    <a:moveTo>
                      <a:pt x="182880" y="0"/>
                    </a:moveTo>
                    <a:lnTo>
                      <a:pt x="0" y="182879"/>
                    </a:lnTo>
                    <a:lnTo>
                      <a:pt x="91439" y="182879"/>
                    </a:lnTo>
                    <a:lnTo>
                      <a:pt x="91439" y="675360"/>
                    </a:lnTo>
                    <a:lnTo>
                      <a:pt x="274320" y="675360"/>
                    </a:lnTo>
                    <a:lnTo>
                      <a:pt x="274320" y="182879"/>
                    </a:lnTo>
                    <a:lnTo>
                      <a:pt x="365760" y="182879"/>
                    </a:lnTo>
                    <a:lnTo>
                      <a:pt x="182880" y="0"/>
                    </a:lnTo>
                    <a:close/>
                  </a:path>
                </a:pathLst>
              </a:custGeom>
              <a:solidFill>
                <a:schemeClr val="accent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grpSp>
        <p:grpSp>
          <p:nvGrpSpPr>
            <p:cNvPr id="514" name="Google Shape;514;p21"/>
            <p:cNvGrpSpPr/>
            <p:nvPr/>
          </p:nvGrpSpPr>
          <p:grpSpPr>
            <a:xfrm>
              <a:off x="3716233" y="2087041"/>
              <a:ext cx="2389244" cy="640080"/>
              <a:chOff x="3716233" y="2087041"/>
              <a:chExt cx="2389244" cy="640080"/>
            </a:xfrm>
          </p:grpSpPr>
          <p:sp>
            <p:nvSpPr>
              <p:cNvPr id="515" name="Google Shape;515;p21"/>
              <p:cNvSpPr/>
              <p:nvPr/>
            </p:nvSpPr>
            <p:spPr>
              <a:xfrm>
                <a:off x="3716233" y="2087041"/>
                <a:ext cx="2389244" cy="640080"/>
              </a:xfrm>
              <a:prstGeom prst="roundRect">
                <a:avLst>
                  <a:gd fmla="val 16667" name="adj"/>
                </a:avLst>
              </a:prstGeom>
              <a:solidFill>
                <a:srgbClr val="D2F4F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516" name="Google Shape;516;p21"/>
              <p:cNvSpPr/>
              <p:nvPr/>
            </p:nvSpPr>
            <p:spPr>
              <a:xfrm>
                <a:off x="5785085" y="2227621"/>
                <a:ext cx="226572" cy="358920"/>
              </a:xfrm>
              <a:custGeom>
                <a:rect b="b" l="l" r="r" t="t"/>
                <a:pathLst>
                  <a:path extrusionOk="0" h="675639" w="365760">
                    <a:moveTo>
                      <a:pt x="274320" y="0"/>
                    </a:moveTo>
                    <a:lnTo>
                      <a:pt x="91439" y="0"/>
                    </a:lnTo>
                    <a:lnTo>
                      <a:pt x="91439" y="492480"/>
                    </a:lnTo>
                    <a:lnTo>
                      <a:pt x="0" y="492480"/>
                    </a:lnTo>
                    <a:lnTo>
                      <a:pt x="182880" y="675360"/>
                    </a:lnTo>
                    <a:lnTo>
                      <a:pt x="365760" y="492480"/>
                    </a:lnTo>
                    <a:lnTo>
                      <a:pt x="274320" y="492480"/>
                    </a:lnTo>
                    <a:lnTo>
                      <a:pt x="274320"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517" name="Google Shape;517;p21"/>
              <p:cNvSpPr txBox="1"/>
              <p:nvPr/>
            </p:nvSpPr>
            <p:spPr>
              <a:xfrm>
                <a:off x="3853646" y="2154776"/>
                <a:ext cx="1872735" cy="503555"/>
              </a:xfrm>
              <a:prstGeom prst="rect">
                <a:avLst/>
              </a:prstGeom>
              <a:noFill/>
              <a:ln>
                <a:noFill/>
              </a:ln>
            </p:spPr>
            <p:txBody>
              <a:bodyPr anchorCtr="0" anchor="t" bIns="0" lIns="0" spcFirstLastPara="1" rIns="0" wrap="square" tIns="12050">
                <a:spAutoFit/>
              </a:bodyPr>
              <a:lstStyle/>
              <a:p>
                <a:pPr indent="0" lvl="0" marL="0" marR="5080" rtl="0" algn="ctr">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Loss when Interest Rates Rise</a:t>
                </a:r>
                <a:endParaRPr b="0" i="0" sz="1600" u="none" cap="none" strike="noStrike">
                  <a:solidFill>
                    <a:srgbClr val="000000"/>
                  </a:solidFill>
                  <a:latin typeface="Arial"/>
                  <a:ea typeface="Arial"/>
                  <a:cs typeface="Arial"/>
                  <a:sym typeface="Arial"/>
                </a:endParaRPr>
              </a:p>
            </p:txBody>
          </p:sp>
        </p:grpSp>
        <p:grpSp>
          <p:nvGrpSpPr>
            <p:cNvPr id="518" name="Google Shape;518;p21"/>
            <p:cNvGrpSpPr/>
            <p:nvPr/>
          </p:nvGrpSpPr>
          <p:grpSpPr>
            <a:xfrm>
              <a:off x="6267294" y="2087041"/>
              <a:ext cx="2389244" cy="640080"/>
              <a:chOff x="6840318" y="2087041"/>
              <a:chExt cx="2389244" cy="640080"/>
            </a:xfrm>
          </p:grpSpPr>
          <p:sp>
            <p:nvSpPr>
              <p:cNvPr id="519" name="Google Shape;519;p21"/>
              <p:cNvSpPr/>
              <p:nvPr/>
            </p:nvSpPr>
            <p:spPr>
              <a:xfrm>
                <a:off x="6840318" y="2087041"/>
                <a:ext cx="2389244" cy="640080"/>
              </a:xfrm>
              <a:prstGeom prst="roundRect">
                <a:avLst>
                  <a:gd fmla="val 16667" name="adj"/>
                </a:avLst>
              </a:prstGeom>
              <a:solidFill>
                <a:srgbClr val="D2F4F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520" name="Google Shape;520;p21"/>
              <p:cNvSpPr/>
              <p:nvPr/>
            </p:nvSpPr>
            <p:spPr>
              <a:xfrm>
                <a:off x="6918840" y="2227621"/>
                <a:ext cx="226572" cy="358920"/>
              </a:xfrm>
              <a:custGeom>
                <a:rect b="b" l="l" r="r" t="t"/>
                <a:pathLst>
                  <a:path extrusionOk="0" h="675639" w="365760">
                    <a:moveTo>
                      <a:pt x="274320" y="0"/>
                    </a:moveTo>
                    <a:lnTo>
                      <a:pt x="91440" y="0"/>
                    </a:lnTo>
                    <a:lnTo>
                      <a:pt x="91440" y="492480"/>
                    </a:lnTo>
                    <a:lnTo>
                      <a:pt x="0" y="492480"/>
                    </a:lnTo>
                    <a:lnTo>
                      <a:pt x="182880" y="675360"/>
                    </a:lnTo>
                    <a:lnTo>
                      <a:pt x="365760" y="492480"/>
                    </a:lnTo>
                    <a:lnTo>
                      <a:pt x="274320" y="492480"/>
                    </a:lnTo>
                    <a:lnTo>
                      <a:pt x="274320"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521" name="Google Shape;521;p21"/>
              <p:cNvSpPr txBox="1"/>
              <p:nvPr/>
            </p:nvSpPr>
            <p:spPr>
              <a:xfrm>
                <a:off x="7238424" y="2154776"/>
                <a:ext cx="1872735" cy="503555"/>
              </a:xfrm>
              <a:prstGeom prst="rect">
                <a:avLst/>
              </a:prstGeom>
              <a:noFill/>
              <a:ln>
                <a:noFill/>
              </a:ln>
            </p:spPr>
            <p:txBody>
              <a:bodyPr anchorCtr="0" anchor="t" bIns="0" lIns="0" spcFirstLastPara="1" rIns="0" wrap="square" tIns="12050">
                <a:spAutoFit/>
              </a:bodyPr>
              <a:lstStyle/>
              <a:p>
                <a:pPr indent="0" lvl="0" marL="0" marR="5080" rtl="0" algn="ctr">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Loss when Interest Rates Fall</a:t>
                </a:r>
                <a:endParaRPr b="0" i="0" sz="1600" u="none" cap="none" strike="noStrike">
                  <a:solidFill>
                    <a:srgbClr val="000000"/>
                  </a:solidFill>
                  <a:latin typeface="Arial"/>
                  <a:ea typeface="Arial"/>
                  <a:cs typeface="Arial"/>
                  <a:sym typeface="Arial"/>
                </a:endParaRPr>
              </a:p>
            </p:txBody>
          </p:sp>
        </p:gr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pic>
        <p:nvPicPr>
          <p:cNvPr id="526" name="Google Shape;526;p22"/>
          <p:cNvPicPr preferRelativeResize="0"/>
          <p:nvPr>
            <p:ph idx="2" type="pic"/>
          </p:nvPr>
        </p:nvPicPr>
        <p:blipFill rotWithShape="1">
          <a:blip r:embed="rId3">
            <a:alphaModFix/>
          </a:blip>
          <a:srcRect b="0" l="0" r="0" t="0"/>
          <a:stretch/>
        </p:blipFill>
        <p:spPr>
          <a:xfrm>
            <a:off x="3978704" y="-21266"/>
            <a:ext cx="8211708" cy="6889900"/>
          </a:xfrm>
          <a:prstGeom prst="rect">
            <a:avLst/>
          </a:prstGeom>
          <a:solidFill>
            <a:srgbClr val="F2F2F2"/>
          </a:solidFill>
          <a:ln>
            <a:noFill/>
          </a:ln>
        </p:spPr>
      </p:pic>
      <p:sp>
        <p:nvSpPr>
          <p:cNvPr id="527" name="Google Shape;527;p22"/>
          <p:cNvSpPr/>
          <p:nvPr/>
        </p:nvSpPr>
        <p:spPr>
          <a:xfrm>
            <a:off x="0" y="0"/>
            <a:ext cx="6124354" cy="6879266"/>
          </a:xfrm>
          <a:custGeom>
            <a:rect b="b" l="l" r="r" t="t"/>
            <a:pathLst>
              <a:path extrusionOk="0" h="6879266" w="6124354">
                <a:moveTo>
                  <a:pt x="0" y="0"/>
                </a:moveTo>
                <a:lnTo>
                  <a:pt x="4061637" y="0"/>
                </a:lnTo>
                <a:lnTo>
                  <a:pt x="6124354" y="6879266"/>
                </a:lnTo>
                <a:lnTo>
                  <a:pt x="0" y="6858000"/>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28" name="Google Shape;528;p22"/>
          <p:cNvSpPr/>
          <p:nvPr/>
        </p:nvSpPr>
        <p:spPr>
          <a:xfrm flipH="1">
            <a:off x="4025448" y="-21268"/>
            <a:ext cx="8166551" cy="6900533"/>
          </a:xfrm>
          <a:custGeom>
            <a:rect b="b" l="l" r="r" t="t"/>
            <a:pathLst>
              <a:path extrusionOk="0" h="13716000" w="16143890">
                <a:moveTo>
                  <a:pt x="0" y="0"/>
                </a:moveTo>
                <a:lnTo>
                  <a:pt x="16143890" y="0"/>
                </a:lnTo>
                <a:lnTo>
                  <a:pt x="12044855" y="13716000"/>
                </a:lnTo>
                <a:lnTo>
                  <a:pt x="0" y="13716000"/>
                </a:lnTo>
                <a:lnTo>
                  <a:pt x="0" y="0"/>
                </a:lnTo>
                <a:close/>
              </a:path>
            </a:pathLst>
          </a:custGeom>
          <a:solidFill>
            <a:srgbClr val="25B5CA">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529" name="Google Shape;529;p22"/>
          <p:cNvSpPr/>
          <p:nvPr/>
        </p:nvSpPr>
        <p:spPr>
          <a:xfrm flipH="1">
            <a:off x="1588" y="2337971"/>
            <a:ext cx="8198069" cy="2182058"/>
          </a:xfrm>
          <a:custGeom>
            <a:rect b="b" l="l" r="r" t="t"/>
            <a:pathLst>
              <a:path extrusionOk="0" h="3987559" w="14981402">
                <a:moveTo>
                  <a:pt x="1229711" y="0"/>
                </a:moveTo>
                <a:lnTo>
                  <a:pt x="14981402" y="0"/>
                </a:lnTo>
                <a:lnTo>
                  <a:pt x="14981402" y="3987559"/>
                </a:lnTo>
                <a:lnTo>
                  <a:pt x="0" y="3987559"/>
                </a:lnTo>
                <a:lnTo>
                  <a:pt x="1229711"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530" name="Google Shape;530;p22"/>
          <p:cNvSpPr/>
          <p:nvPr/>
        </p:nvSpPr>
        <p:spPr>
          <a:xfrm flipH="1">
            <a:off x="1588" y="627903"/>
            <a:ext cx="560419" cy="270354"/>
          </a:xfrm>
          <a:custGeom>
            <a:rect b="b" l="l" r="r" t="t"/>
            <a:pathLst>
              <a:path extrusionOk="0" h="3987559" w="16161399">
                <a:moveTo>
                  <a:pt x="2409708" y="0"/>
                </a:moveTo>
                <a:lnTo>
                  <a:pt x="16161399" y="0"/>
                </a:lnTo>
                <a:lnTo>
                  <a:pt x="16161399" y="3987559"/>
                </a:lnTo>
                <a:lnTo>
                  <a:pt x="0" y="3960361"/>
                </a:lnTo>
                <a:lnTo>
                  <a:pt x="2409708" y="0"/>
                </a:lnTo>
                <a:close/>
              </a:path>
            </a:pathLst>
          </a:custGeom>
          <a:solidFill>
            <a:srgbClr val="19A7C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531" name="Google Shape;531;p22"/>
          <p:cNvSpPr txBox="1"/>
          <p:nvPr/>
        </p:nvSpPr>
        <p:spPr>
          <a:xfrm>
            <a:off x="329608" y="3044279"/>
            <a:ext cx="7559201"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FFFFFF"/>
                </a:solidFill>
                <a:latin typeface="Arial"/>
                <a:ea typeface="Arial"/>
                <a:cs typeface="Arial"/>
                <a:sym typeface="Arial"/>
              </a:rPr>
              <a:t>Equity Swap</a:t>
            </a:r>
            <a:endParaRPr b="1" i="0" sz="4400" u="none" cap="none" strike="noStrike">
              <a:solidFill>
                <a:srgbClr val="FFFFFF"/>
              </a:solidFill>
              <a:latin typeface="Arial"/>
              <a:ea typeface="Arial"/>
              <a:cs typeface="Arial"/>
              <a:sym typeface="Arial"/>
            </a:endParaRPr>
          </a:p>
        </p:txBody>
      </p:sp>
      <p:pic>
        <p:nvPicPr>
          <p:cNvPr descr="A picture containing text, clipart&#10;&#10;Description automatically generated" id="532" name="Google Shape;532;p22"/>
          <p:cNvPicPr preferRelativeResize="0"/>
          <p:nvPr/>
        </p:nvPicPr>
        <p:blipFill rotWithShape="1">
          <a:blip r:embed="rId4">
            <a:alphaModFix/>
          </a:blip>
          <a:srcRect b="0" l="0" r="0" t="0"/>
          <a:stretch/>
        </p:blipFill>
        <p:spPr>
          <a:xfrm>
            <a:off x="9533468" y="312483"/>
            <a:ext cx="2421466" cy="49196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23"/>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EQUITY SWAPS</a:t>
            </a:r>
            <a:endParaRPr/>
          </a:p>
        </p:txBody>
      </p:sp>
      <p:grpSp>
        <p:nvGrpSpPr>
          <p:cNvPr id="538" name="Google Shape;538;p23"/>
          <p:cNvGrpSpPr/>
          <p:nvPr/>
        </p:nvGrpSpPr>
        <p:grpSpPr>
          <a:xfrm>
            <a:off x="700088" y="3952776"/>
            <a:ext cx="10972800" cy="892629"/>
            <a:chOff x="700088" y="3898698"/>
            <a:chExt cx="10972800" cy="892629"/>
          </a:xfrm>
        </p:grpSpPr>
        <p:sp>
          <p:nvSpPr>
            <p:cNvPr id="539" name="Google Shape;539;p23"/>
            <p:cNvSpPr/>
            <p:nvPr/>
          </p:nvSpPr>
          <p:spPr>
            <a:xfrm>
              <a:off x="800811" y="3898698"/>
              <a:ext cx="10872077" cy="892629"/>
            </a:xfrm>
            <a:prstGeom prst="roundRect">
              <a:avLst>
                <a:gd fmla="val 16667" name="adj"/>
              </a:avLst>
            </a:prstGeom>
            <a:solidFill>
              <a:schemeClr val="accent3"/>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0" name="Google Shape;540;p23"/>
            <p:cNvSpPr/>
            <p:nvPr/>
          </p:nvSpPr>
          <p:spPr>
            <a:xfrm>
              <a:off x="700088" y="3898698"/>
              <a:ext cx="10872077" cy="892629"/>
            </a:xfrm>
            <a:prstGeom prst="roundRect">
              <a:avLst>
                <a:gd fmla="val 16667" name="adj"/>
              </a:avLst>
            </a:prstGeom>
            <a:solidFill>
              <a:schemeClr val="lt1"/>
            </a:solidFill>
            <a:ln cap="flat" cmpd="sng" w="12700">
              <a:solidFill>
                <a:schemeClr val="accent3"/>
              </a:solidFill>
              <a:prstDash val="solid"/>
              <a:miter lim="800000"/>
              <a:headEnd len="sm" w="sm" type="none"/>
              <a:tailEnd len="sm" w="sm" type="none"/>
            </a:ln>
          </p:spPr>
          <p:txBody>
            <a:bodyPr anchorCtr="0" anchor="ctr" bIns="45700" lIns="1418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1. Counterparties: </a:t>
              </a:r>
              <a:r>
                <a:rPr b="0" i="0" lang="en-US" sz="1600" u="none" cap="none" strike="noStrike">
                  <a:solidFill>
                    <a:schemeClr val="dk1"/>
                  </a:solidFill>
                  <a:latin typeface="Arial"/>
                  <a:ea typeface="Arial"/>
                  <a:cs typeface="Arial"/>
                  <a:sym typeface="Arial"/>
                </a:rPr>
                <a:t>Two parties, often referred to as the "fixed leg" and the "floating leg," enter into the swap agreement.</a:t>
              </a:r>
              <a:endParaRPr b="0" i="0" sz="1400" u="none" cap="none" strike="noStrike">
                <a:solidFill>
                  <a:srgbClr val="000000"/>
                </a:solidFill>
                <a:latin typeface="Arial"/>
                <a:ea typeface="Arial"/>
                <a:cs typeface="Arial"/>
                <a:sym typeface="Arial"/>
              </a:endParaRPr>
            </a:p>
          </p:txBody>
        </p:sp>
      </p:grpSp>
      <p:sp>
        <p:nvSpPr>
          <p:cNvPr id="541" name="Google Shape;541;p23"/>
          <p:cNvSpPr/>
          <p:nvPr/>
        </p:nvSpPr>
        <p:spPr>
          <a:xfrm>
            <a:off x="700088" y="3259242"/>
            <a:ext cx="10972800" cy="386068"/>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The key components and features of an Equity Swap:</a:t>
            </a:r>
            <a:endParaRPr b="0" i="0" sz="1400" u="none" cap="none" strike="noStrike">
              <a:solidFill>
                <a:srgbClr val="000000"/>
              </a:solidFill>
              <a:latin typeface="Arial"/>
              <a:ea typeface="Arial"/>
              <a:cs typeface="Arial"/>
              <a:sym typeface="Arial"/>
            </a:endParaRPr>
          </a:p>
        </p:txBody>
      </p:sp>
      <p:grpSp>
        <p:nvGrpSpPr>
          <p:cNvPr id="542" name="Google Shape;542;p23"/>
          <p:cNvGrpSpPr/>
          <p:nvPr/>
        </p:nvGrpSpPr>
        <p:grpSpPr>
          <a:xfrm>
            <a:off x="700088" y="5152870"/>
            <a:ext cx="10972800" cy="892629"/>
            <a:chOff x="700088" y="5152870"/>
            <a:chExt cx="10972800" cy="892629"/>
          </a:xfrm>
        </p:grpSpPr>
        <p:sp>
          <p:nvSpPr>
            <p:cNvPr id="543" name="Google Shape;543;p23"/>
            <p:cNvSpPr/>
            <p:nvPr/>
          </p:nvSpPr>
          <p:spPr>
            <a:xfrm>
              <a:off x="800811" y="5152870"/>
              <a:ext cx="10872077" cy="892629"/>
            </a:xfrm>
            <a:prstGeom prst="roundRect">
              <a:avLst>
                <a:gd fmla="val 16667" name="adj"/>
              </a:avLst>
            </a:prstGeom>
            <a:solidFill>
              <a:schemeClr val="accent4"/>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4" name="Google Shape;544;p23"/>
            <p:cNvSpPr/>
            <p:nvPr/>
          </p:nvSpPr>
          <p:spPr>
            <a:xfrm>
              <a:off x="700088" y="5152870"/>
              <a:ext cx="10872077" cy="892629"/>
            </a:xfrm>
            <a:prstGeom prst="roundRect">
              <a:avLst>
                <a:gd fmla="val 16667" name="adj"/>
              </a:avLst>
            </a:prstGeom>
            <a:solidFill>
              <a:schemeClr val="lt1"/>
            </a:solidFill>
            <a:ln cap="flat" cmpd="sng" w="12700">
              <a:solidFill>
                <a:schemeClr val="accent4"/>
              </a:solidFill>
              <a:prstDash val="solid"/>
              <a:miter lim="800000"/>
              <a:headEnd len="sm" w="sm" type="none"/>
              <a:tailEnd len="sm" w="sm" type="none"/>
            </a:ln>
          </p:spPr>
          <p:txBody>
            <a:bodyPr anchorCtr="0" anchor="ctr" bIns="45700" lIns="1418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2. Underlying Assets: </a:t>
              </a:r>
              <a:r>
                <a:rPr b="0" i="0" lang="en-US" sz="1600" u="none" cap="none" strike="noStrike">
                  <a:solidFill>
                    <a:schemeClr val="dk1"/>
                  </a:solidFill>
                  <a:latin typeface="Arial"/>
                  <a:ea typeface="Arial"/>
                  <a:cs typeface="Arial"/>
                  <a:sym typeface="Arial"/>
                </a:rPr>
                <a:t>The swap is based on the performance of underlying assets, which can include individual stocks, stock indices, or baskets of stocks.</a:t>
              </a:r>
              <a:endParaRPr b="0" i="0" sz="1400" u="none" cap="none" strike="noStrike">
                <a:solidFill>
                  <a:srgbClr val="000000"/>
                </a:solidFill>
                <a:latin typeface="Arial"/>
                <a:ea typeface="Arial"/>
                <a:cs typeface="Arial"/>
                <a:sym typeface="Arial"/>
              </a:endParaRPr>
            </a:p>
          </p:txBody>
        </p:sp>
      </p:grpSp>
      <p:sp>
        <p:nvSpPr>
          <p:cNvPr id="545" name="Google Shape;545;p23"/>
          <p:cNvSpPr/>
          <p:nvPr/>
        </p:nvSpPr>
        <p:spPr>
          <a:xfrm>
            <a:off x="-22430" y="1485899"/>
            <a:ext cx="12214430" cy="1463040"/>
          </a:xfrm>
          <a:prstGeom prst="roundRect">
            <a:avLst>
              <a:gd fmla="val 0" name="adj"/>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46" name="Google Shape;546;p23"/>
          <p:cNvSpPr txBox="1"/>
          <p:nvPr/>
        </p:nvSpPr>
        <p:spPr>
          <a:xfrm>
            <a:off x="700088" y="1555720"/>
            <a:ext cx="10972800" cy="13233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An </a:t>
            </a:r>
            <a:r>
              <a:rPr b="1" i="0" lang="en-US" sz="1600" u="none" cap="none" strike="noStrike">
                <a:solidFill>
                  <a:schemeClr val="dk1"/>
                </a:solidFill>
                <a:latin typeface="Arial"/>
                <a:ea typeface="Arial"/>
                <a:cs typeface="Arial"/>
                <a:sym typeface="Arial"/>
              </a:rPr>
              <a:t>Equity Swap </a:t>
            </a:r>
            <a:r>
              <a:rPr b="0" i="0" lang="en-US" sz="1600" u="none" cap="none" strike="noStrike">
                <a:solidFill>
                  <a:schemeClr val="dk1"/>
                </a:solidFill>
                <a:latin typeface="Arial"/>
                <a:ea typeface="Arial"/>
                <a:cs typeface="Arial"/>
                <a:sym typeface="Arial"/>
              </a:rPr>
              <a:t>is a financial derivative contract in which two parties agree to exchange the cash flows associated with two different financial instruments, typically related to equities (stocks) or equity indices. The primary purpose of an Equity Swap is to transfer or swap the risks and returns of the underlying assets between the counterparties without actual ownership or transfer of those assets. Equity Swaps are commonly used for various purposes, including hedging, speculation, and portfolio management.</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24"/>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EQUITY SWAPS</a:t>
            </a:r>
            <a:endParaRPr/>
          </a:p>
        </p:txBody>
      </p:sp>
      <p:grpSp>
        <p:nvGrpSpPr>
          <p:cNvPr id="552" name="Google Shape;552;p24"/>
          <p:cNvGrpSpPr/>
          <p:nvPr/>
        </p:nvGrpSpPr>
        <p:grpSpPr>
          <a:xfrm>
            <a:off x="700088" y="1495732"/>
            <a:ext cx="10972800" cy="892629"/>
            <a:chOff x="700088" y="3898698"/>
            <a:chExt cx="10972800" cy="892629"/>
          </a:xfrm>
        </p:grpSpPr>
        <p:sp>
          <p:nvSpPr>
            <p:cNvPr id="553" name="Google Shape;553;p24"/>
            <p:cNvSpPr/>
            <p:nvPr/>
          </p:nvSpPr>
          <p:spPr>
            <a:xfrm>
              <a:off x="800811" y="3898698"/>
              <a:ext cx="10872077" cy="892629"/>
            </a:xfrm>
            <a:prstGeom prst="roundRect">
              <a:avLst>
                <a:gd fmla="val 16667" name="adj"/>
              </a:avLst>
            </a:prstGeom>
            <a:solidFill>
              <a:schemeClr val="accent3"/>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4" name="Google Shape;554;p24"/>
            <p:cNvSpPr/>
            <p:nvPr/>
          </p:nvSpPr>
          <p:spPr>
            <a:xfrm>
              <a:off x="700088" y="3898698"/>
              <a:ext cx="10872077" cy="892629"/>
            </a:xfrm>
            <a:prstGeom prst="roundRect">
              <a:avLst>
                <a:gd fmla="val 16667" name="adj"/>
              </a:avLst>
            </a:prstGeom>
            <a:solidFill>
              <a:schemeClr val="lt1"/>
            </a:solidFill>
            <a:ln cap="flat" cmpd="sng" w="12700">
              <a:solidFill>
                <a:schemeClr val="accent3"/>
              </a:solidFill>
              <a:prstDash val="solid"/>
              <a:miter lim="800000"/>
              <a:headEnd len="sm" w="sm" type="none"/>
              <a:tailEnd len="sm" w="sm" type="none"/>
            </a:ln>
          </p:spPr>
          <p:txBody>
            <a:bodyPr anchorCtr="0" anchor="ctr" bIns="45700" lIns="141825" spcFirstLastPara="1" rIns="91425" wrap="square" tIns="45700">
              <a:noAutofit/>
            </a:bodyPr>
            <a:lstStyle/>
            <a:p>
              <a:pPr indent="0" lvl="0" marL="0" marR="0" rtl="0" algn="l">
                <a:lnSpc>
                  <a:spcPct val="100000"/>
                </a:lnSpc>
                <a:spcBef>
                  <a:spcPts val="0"/>
                </a:spcBef>
                <a:spcAft>
                  <a:spcPts val="0"/>
                </a:spcAft>
                <a:buNone/>
              </a:pPr>
              <a:r>
                <a:rPr b="1" i="0" lang="en-US" sz="1600" u="none" cap="none" strike="noStrike">
                  <a:solidFill>
                    <a:schemeClr val="dk1"/>
                  </a:solidFill>
                  <a:latin typeface="Arial"/>
                  <a:ea typeface="Arial"/>
                  <a:cs typeface="Arial"/>
                  <a:sym typeface="Arial"/>
                </a:rPr>
                <a:t>3. Notional Principal: </a:t>
              </a:r>
              <a:r>
                <a:rPr b="0" i="0" lang="en-US" sz="1600" u="none" cap="none" strike="noStrike">
                  <a:solidFill>
                    <a:schemeClr val="dk1"/>
                  </a:solidFill>
                  <a:latin typeface="Arial"/>
                  <a:ea typeface="Arial"/>
                  <a:cs typeface="Arial"/>
                  <a:sym typeface="Arial"/>
                </a:rPr>
                <a:t>Like other types of swaps, Equity Swaps involve a notional principal amount. However, this amount is not exchanged between the parties; it serves as the reference point for calculating cash flows.</a:t>
              </a:r>
              <a:endParaRPr b="0" i="0" sz="1400" u="none" cap="none" strike="noStrike">
                <a:solidFill>
                  <a:srgbClr val="000000"/>
                </a:solidFill>
                <a:latin typeface="Arial"/>
                <a:ea typeface="Arial"/>
                <a:cs typeface="Arial"/>
                <a:sym typeface="Arial"/>
              </a:endParaRPr>
            </a:p>
          </p:txBody>
        </p:sp>
      </p:grpSp>
      <p:grpSp>
        <p:nvGrpSpPr>
          <p:cNvPr id="555" name="Google Shape;555;p24"/>
          <p:cNvGrpSpPr/>
          <p:nvPr/>
        </p:nvGrpSpPr>
        <p:grpSpPr>
          <a:xfrm>
            <a:off x="700088" y="2636196"/>
            <a:ext cx="10972800" cy="892629"/>
            <a:chOff x="700088" y="5152870"/>
            <a:chExt cx="10972800" cy="892629"/>
          </a:xfrm>
        </p:grpSpPr>
        <p:sp>
          <p:nvSpPr>
            <p:cNvPr id="556" name="Google Shape;556;p24"/>
            <p:cNvSpPr/>
            <p:nvPr/>
          </p:nvSpPr>
          <p:spPr>
            <a:xfrm>
              <a:off x="800811" y="5152870"/>
              <a:ext cx="10872077" cy="892629"/>
            </a:xfrm>
            <a:prstGeom prst="roundRect">
              <a:avLst>
                <a:gd fmla="val 16667" name="adj"/>
              </a:avLst>
            </a:prstGeom>
            <a:solidFill>
              <a:schemeClr val="accent4"/>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7" name="Google Shape;557;p24"/>
            <p:cNvSpPr/>
            <p:nvPr/>
          </p:nvSpPr>
          <p:spPr>
            <a:xfrm>
              <a:off x="700088" y="5152870"/>
              <a:ext cx="10872077" cy="892629"/>
            </a:xfrm>
            <a:prstGeom prst="roundRect">
              <a:avLst>
                <a:gd fmla="val 16667" name="adj"/>
              </a:avLst>
            </a:prstGeom>
            <a:solidFill>
              <a:schemeClr val="lt1"/>
            </a:solidFill>
            <a:ln cap="flat" cmpd="sng" w="12700">
              <a:solidFill>
                <a:schemeClr val="accent4"/>
              </a:solidFill>
              <a:prstDash val="solid"/>
              <a:miter lim="800000"/>
              <a:headEnd len="sm" w="sm" type="none"/>
              <a:tailEnd len="sm" w="sm" type="none"/>
            </a:ln>
          </p:spPr>
          <p:txBody>
            <a:bodyPr anchorCtr="0" anchor="ctr" bIns="45700" lIns="141825" spcFirstLastPara="1" rIns="91425" wrap="square" tIns="45700">
              <a:noAutofit/>
            </a:bodyPr>
            <a:lstStyle/>
            <a:p>
              <a:pPr indent="0" lvl="0" marL="0" marR="0" rtl="0" algn="l">
                <a:lnSpc>
                  <a:spcPct val="100000"/>
                </a:lnSpc>
                <a:spcBef>
                  <a:spcPts val="0"/>
                </a:spcBef>
                <a:spcAft>
                  <a:spcPts val="0"/>
                </a:spcAft>
                <a:buNone/>
              </a:pPr>
              <a:r>
                <a:rPr b="1" i="0" lang="en-US" sz="1600" u="none" cap="none" strike="noStrike">
                  <a:solidFill>
                    <a:schemeClr val="dk1"/>
                  </a:solidFill>
                  <a:latin typeface="Arial"/>
                  <a:ea typeface="Arial"/>
                  <a:cs typeface="Arial"/>
                  <a:sym typeface="Arial"/>
                </a:rPr>
                <a:t>4. Payment Frequency: </a:t>
              </a:r>
              <a:r>
                <a:rPr b="0" i="0" lang="en-US" sz="1600" u="none" cap="none" strike="noStrike">
                  <a:solidFill>
                    <a:schemeClr val="dk1"/>
                  </a:solidFill>
                  <a:latin typeface="Arial"/>
                  <a:ea typeface="Arial"/>
                  <a:cs typeface="Arial"/>
                  <a:sym typeface="Arial"/>
                </a:rPr>
                <a:t>Cash flows in Equity Swaps can be structured to occur at various intervals, such as quarterly or annually.</a:t>
              </a:r>
              <a:endParaRPr b="0" i="0" sz="1400" u="none" cap="none" strike="noStrike">
                <a:solidFill>
                  <a:srgbClr val="000000"/>
                </a:solidFill>
                <a:latin typeface="Arial"/>
                <a:ea typeface="Arial"/>
                <a:cs typeface="Arial"/>
                <a:sym typeface="Arial"/>
              </a:endParaRPr>
            </a:p>
          </p:txBody>
        </p:sp>
      </p:grpSp>
      <p:grpSp>
        <p:nvGrpSpPr>
          <p:cNvPr id="558" name="Google Shape;558;p24"/>
          <p:cNvGrpSpPr/>
          <p:nvPr/>
        </p:nvGrpSpPr>
        <p:grpSpPr>
          <a:xfrm>
            <a:off x="700088" y="3776660"/>
            <a:ext cx="10972800" cy="892629"/>
            <a:chOff x="700088" y="3898698"/>
            <a:chExt cx="10972800" cy="892629"/>
          </a:xfrm>
        </p:grpSpPr>
        <p:sp>
          <p:nvSpPr>
            <p:cNvPr id="559" name="Google Shape;559;p24"/>
            <p:cNvSpPr/>
            <p:nvPr/>
          </p:nvSpPr>
          <p:spPr>
            <a:xfrm>
              <a:off x="800811" y="3898698"/>
              <a:ext cx="10872077" cy="892629"/>
            </a:xfrm>
            <a:prstGeom prst="roundRect">
              <a:avLst>
                <a:gd fmla="val 16667" name="adj"/>
              </a:avLst>
            </a:prstGeom>
            <a:solidFill>
              <a:schemeClr val="accent5"/>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0" name="Google Shape;560;p24"/>
            <p:cNvSpPr/>
            <p:nvPr/>
          </p:nvSpPr>
          <p:spPr>
            <a:xfrm>
              <a:off x="700088" y="3898698"/>
              <a:ext cx="10872077" cy="892629"/>
            </a:xfrm>
            <a:prstGeom prst="roundRect">
              <a:avLst>
                <a:gd fmla="val 16667" name="adj"/>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141825" spcFirstLastPara="1" rIns="91425" wrap="square" tIns="45700">
              <a:noAutofit/>
            </a:bodyPr>
            <a:lstStyle/>
            <a:p>
              <a:pPr indent="0" lvl="0" marL="0" marR="0" rtl="0" algn="l">
                <a:lnSpc>
                  <a:spcPct val="100000"/>
                </a:lnSpc>
                <a:spcBef>
                  <a:spcPts val="0"/>
                </a:spcBef>
                <a:spcAft>
                  <a:spcPts val="0"/>
                </a:spcAft>
                <a:buNone/>
              </a:pPr>
              <a:r>
                <a:rPr b="1" i="0" lang="en-US" sz="1600" u="none" cap="none" strike="noStrike">
                  <a:solidFill>
                    <a:schemeClr val="dk1"/>
                  </a:solidFill>
                  <a:latin typeface="Arial"/>
                  <a:ea typeface="Arial"/>
                  <a:cs typeface="Arial"/>
                  <a:sym typeface="Arial"/>
                </a:rPr>
                <a:t>5. Termination Date: </a:t>
              </a:r>
              <a:r>
                <a:rPr b="0" i="0" lang="en-US" sz="1600" u="none" cap="none" strike="noStrike">
                  <a:solidFill>
                    <a:schemeClr val="dk1"/>
                  </a:solidFill>
                  <a:latin typeface="Arial"/>
                  <a:ea typeface="Arial"/>
                  <a:cs typeface="Arial"/>
                  <a:sym typeface="Arial"/>
                </a:rPr>
                <a:t>The swap agreement specifies the termination date or maturity date of the contract when the final exchange of cash flows occurs.</a:t>
              </a:r>
              <a:endParaRPr b="0" i="0" sz="1400" u="none" cap="none" strike="noStrike">
                <a:solidFill>
                  <a:srgbClr val="000000"/>
                </a:solidFill>
                <a:latin typeface="Arial"/>
                <a:ea typeface="Arial"/>
                <a:cs typeface="Arial"/>
                <a:sym typeface="Arial"/>
              </a:endParaRPr>
            </a:p>
          </p:txBody>
        </p:sp>
      </p:grpSp>
      <p:grpSp>
        <p:nvGrpSpPr>
          <p:cNvPr id="561" name="Google Shape;561;p24"/>
          <p:cNvGrpSpPr/>
          <p:nvPr/>
        </p:nvGrpSpPr>
        <p:grpSpPr>
          <a:xfrm>
            <a:off x="700088" y="4917125"/>
            <a:ext cx="10972800" cy="1188720"/>
            <a:chOff x="700088" y="4917125"/>
            <a:chExt cx="10972800" cy="1188720"/>
          </a:xfrm>
        </p:grpSpPr>
        <p:sp>
          <p:nvSpPr>
            <p:cNvPr id="562" name="Google Shape;562;p24"/>
            <p:cNvSpPr/>
            <p:nvPr/>
          </p:nvSpPr>
          <p:spPr>
            <a:xfrm>
              <a:off x="800811" y="4917125"/>
              <a:ext cx="10872077" cy="1188720"/>
            </a:xfrm>
            <a:prstGeom prst="roundRect">
              <a:avLst>
                <a:gd fmla="val 16667" name="adj"/>
              </a:avLst>
            </a:prstGeom>
            <a:solidFill>
              <a:schemeClr val="dk2"/>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3" name="Google Shape;563;p24"/>
            <p:cNvSpPr/>
            <p:nvPr/>
          </p:nvSpPr>
          <p:spPr>
            <a:xfrm>
              <a:off x="700088" y="4917125"/>
              <a:ext cx="10872077" cy="1188720"/>
            </a:xfrm>
            <a:prstGeom prst="roundRect">
              <a:avLst>
                <a:gd fmla="val 16667" name="adj"/>
              </a:avLst>
            </a:prstGeom>
            <a:solidFill>
              <a:schemeClr val="lt1"/>
            </a:solidFill>
            <a:ln cap="flat" cmpd="sng" w="12700">
              <a:solidFill>
                <a:schemeClr val="dk2"/>
              </a:solidFill>
              <a:prstDash val="solid"/>
              <a:miter lim="800000"/>
              <a:headEnd len="sm" w="sm" type="none"/>
              <a:tailEnd len="sm" w="sm" type="none"/>
            </a:ln>
          </p:spPr>
          <p:txBody>
            <a:bodyPr anchorCtr="0" anchor="ctr" bIns="45700" lIns="141825" spcFirstLastPara="1" rIns="91425" wrap="square" tIns="45700">
              <a:noAutofit/>
            </a:bodyPr>
            <a:lstStyle/>
            <a:p>
              <a:pPr indent="0" lvl="0" marL="0" marR="0" rtl="0" algn="l">
                <a:lnSpc>
                  <a:spcPct val="100000"/>
                </a:lnSpc>
                <a:spcBef>
                  <a:spcPts val="0"/>
                </a:spcBef>
                <a:spcAft>
                  <a:spcPts val="0"/>
                </a:spcAft>
                <a:buNone/>
              </a:pPr>
              <a:r>
                <a:rPr b="1" i="0" lang="en-US" sz="1600" u="none" cap="none" strike="noStrike">
                  <a:solidFill>
                    <a:schemeClr val="dk1"/>
                  </a:solidFill>
                  <a:latin typeface="Arial"/>
                  <a:ea typeface="Arial"/>
                  <a:cs typeface="Arial"/>
                  <a:sym typeface="Arial"/>
                </a:rPr>
                <a:t>6. Cash Flows: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The "</a:t>
              </a:r>
              <a:r>
                <a:rPr b="1" i="0" lang="en-US" sz="1600" u="none" cap="none" strike="noStrike">
                  <a:solidFill>
                    <a:schemeClr val="dk1"/>
                  </a:solidFill>
                  <a:latin typeface="Arial"/>
                  <a:ea typeface="Arial"/>
                  <a:cs typeface="Arial"/>
                  <a:sym typeface="Arial"/>
                </a:rPr>
                <a:t>fixed leg</a:t>
              </a:r>
              <a:r>
                <a:rPr b="0" i="0" lang="en-US" sz="1600" u="none" cap="none" strike="noStrike">
                  <a:solidFill>
                    <a:schemeClr val="dk1"/>
                  </a:solidFill>
                  <a:latin typeface="Arial"/>
                  <a:ea typeface="Arial"/>
                  <a:cs typeface="Arial"/>
                  <a:sym typeface="Arial"/>
                </a:rPr>
                <a:t>" party typically agrees to pay a fixed interest rate or return to the other party.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The "</a:t>
              </a:r>
              <a:r>
                <a:rPr b="1" i="0" lang="en-US" sz="1600" u="none" cap="none" strike="noStrike">
                  <a:solidFill>
                    <a:schemeClr val="dk1"/>
                  </a:solidFill>
                  <a:latin typeface="Arial"/>
                  <a:ea typeface="Arial"/>
                  <a:cs typeface="Arial"/>
                  <a:sym typeface="Arial"/>
                </a:rPr>
                <a:t>floating leg</a:t>
              </a:r>
              <a:r>
                <a:rPr b="0" i="0" lang="en-US" sz="1600" u="none" cap="none" strike="noStrike">
                  <a:solidFill>
                    <a:schemeClr val="dk1"/>
                  </a:solidFill>
                  <a:latin typeface="Arial"/>
                  <a:ea typeface="Arial"/>
                  <a:cs typeface="Arial"/>
                  <a:sym typeface="Arial"/>
                </a:rPr>
                <a:t>" party agrees to pay the returns generated by the underlying assets, which can include dividends, capital gains/losses, or interest income.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25"/>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EQUITY SWAPS</a:t>
            </a:r>
            <a:endParaRPr/>
          </a:p>
        </p:txBody>
      </p:sp>
      <p:grpSp>
        <p:nvGrpSpPr>
          <p:cNvPr id="569" name="Google Shape;569;p25"/>
          <p:cNvGrpSpPr/>
          <p:nvPr/>
        </p:nvGrpSpPr>
        <p:grpSpPr>
          <a:xfrm>
            <a:off x="735648" y="2113785"/>
            <a:ext cx="10918190" cy="1200288"/>
            <a:chOff x="735648" y="2113785"/>
            <a:chExt cx="10918190" cy="1200288"/>
          </a:xfrm>
        </p:grpSpPr>
        <p:sp>
          <p:nvSpPr>
            <p:cNvPr id="570" name="Google Shape;570;p25"/>
            <p:cNvSpPr txBox="1"/>
            <p:nvPr/>
          </p:nvSpPr>
          <p:spPr>
            <a:xfrm>
              <a:off x="1565283" y="2113785"/>
              <a:ext cx="10088555"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Hedging: </a:t>
              </a:r>
              <a:r>
                <a:rPr b="0" i="0" lang="en-US" sz="1800" u="none" cap="none" strike="noStrike">
                  <a:solidFill>
                    <a:schemeClr val="dk1"/>
                  </a:solidFill>
                  <a:latin typeface="Arial"/>
                  <a:ea typeface="Arial"/>
                  <a:cs typeface="Arial"/>
                  <a:sym typeface="Arial"/>
                </a:rPr>
                <a:t>Investors can use Equity Swaps to hedge against the risk associated with their equity holdings. For example, if an investor owns a portfolio of stocks and wants to protect against a potential decline in their value, they can enter into an Equity Swap that pays them the return of the portfolio in exchange for a fixed payment.</a:t>
              </a:r>
              <a:endParaRPr b="0" i="0" sz="1600" u="none" cap="none" strike="noStrike">
                <a:solidFill>
                  <a:srgbClr val="000000"/>
                </a:solidFill>
                <a:latin typeface="Arial"/>
                <a:ea typeface="Arial"/>
                <a:cs typeface="Arial"/>
                <a:sym typeface="Arial"/>
              </a:endParaRPr>
            </a:p>
          </p:txBody>
        </p:sp>
        <p:grpSp>
          <p:nvGrpSpPr>
            <p:cNvPr id="571" name="Google Shape;571;p25"/>
            <p:cNvGrpSpPr/>
            <p:nvPr/>
          </p:nvGrpSpPr>
          <p:grpSpPr>
            <a:xfrm>
              <a:off x="735648" y="2113785"/>
              <a:ext cx="629084" cy="669260"/>
              <a:chOff x="879676" y="1853342"/>
              <a:chExt cx="629084" cy="669260"/>
            </a:xfrm>
          </p:grpSpPr>
          <p:sp>
            <p:nvSpPr>
              <p:cNvPr id="572" name="Google Shape;572;p25"/>
              <p:cNvSpPr/>
              <p:nvPr/>
            </p:nvSpPr>
            <p:spPr>
              <a:xfrm>
                <a:off x="879676" y="1893518"/>
                <a:ext cx="629084" cy="629084"/>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01</a:t>
                </a:r>
                <a:endParaRPr b="0" i="0" sz="1600" u="none" cap="none" strike="noStrike">
                  <a:solidFill>
                    <a:srgbClr val="000000"/>
                  </a:solidFill>
                  <a:latin typeface="Arial"/>
                  <a:ea typeface="Arial"/>
                  <a:cs typeface="Arial"/>
                  <a:sym typeface="Arial"/>
                </a:endParaRPr>
              </a:p>
            </p:txBody>
          </p:sp>
          <p:sp>
            <p:nvSpPr>
              <p:cNvPr id="573" name="Google Shape;573;p25"/>
              <p:cNvSpPr/>
              <p:nvPr/>
            </p:nvSpPr>
            <p:spPr>
              <a:xfrm>
                <a:off x="1283918" y="1853342"/>
                <a:ext cx="224842" cy="224842"/>
              </a:xfrm>
              <a:prstGeom prst="ellipse">
                <a:avLst/>
              </a:prstGeom>
              <a:noFill/>
              <a:ln cap="flat" cmpd="sng" w="12700">
                <a:solidFill>
                  <a:srgbClr val="B6E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chemeClr val="lt1"/>
                  </a:solidFill>
                  <a:latin typeface="Arial"/>
                  <a:ea typeface="Arial"/>
                  <a:cs typeface="Arial"/>
                  <a:sym typeface="Arial"/>
                </a:endParaRPr>
              </a:p>
            </p:txBody>
          </p:sp>
        </p:grpSp>
      </p:grpSp>
      <p:grpSp>
        <p:nvGrpSpPr>
          <p:cNvPr id="574" name="Google Shape;574;p25"/>
          <p:cNvGrpSpPr/>
          <p:nvPr/>
        </p:nvGrpSpPr>
        <p:grpSpPr>
          <a:xfrm>
            <a:off x="735648" y="3625955"/>
            <a:ext cx="10918190" cy="923289"/>
            <a:chOff x="735648" y="3537603"/>
            <a:chExt cx="10918190" cy="923289"/>
          </a:xfrm>
        </p:grpSpPr>
        <p:sp>
          <p:nvSpPr>
            <p:cNvPr id="575" name="Google Shape;575;p25"/>
            <p:cNvSpPr txBox="1"/>
            <p:nvPr/>
          </p:nvSpPr>
          <p:spPr>
            <a:xfrm>
              <a:off x="1565283" y="3537603"/>
              <a:ext cx="10088555" cy="92328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Portfolio Replication: </a:t>
              </a:r>
              <a:r>
                <a:rPr b="0" i="0" lang="en-US" sz="1800" u="none" cap="none" strike="noStrike">
                  <a:solidFill>
                    <a:schemeClr val="dk1"/>
                  </a:solidFill>
                  <a:latin typeface="Arial"/>
                  <a:ea typeface="Arial"/>
                  <a:cs typeface="Arial"/>
                  <a:sym typeface="Arial"/>
                </a:rPr>
                <a:t>Asset managers and institutional investors can use Equity Swaps to replicate the performance of a specific stock index or benchmark without actually buying all the individual stocks in that index.</a:t>
              </a:r>
              <a:endParaRPr b="0" i="0" sz="1600" u="none" cap="none" strike="noStrike">
                <a:solidFill>
                  <a:srgbClr val="000000"/>
                </a:solidFill>
                <a:latin typeface="Arial"/>
                <a:ea typeface="Arial"/>
                <a:cs typeface="Arial"/>
                <a:sym typeface="Arial"/>
              </a:endParaRPr>
            </a:p>
          </p:txBody>
        </p:sp>
        <p:grpSp>
          <p:nvGrpSpPr>
            <p:cNvPr id="576" name="Google Shape;576;p25"/>
            <p:cNvGrpSpPr/>
            <p:nvPr/>
          </p:nvGrpSpPr>
          <p:grpSpPr>
            <a:xfrm>
              <a:off x="735648" y="3537603"/>
              <a:ext cx="629084" cy="669260"/>
              <a:chOff x="879676" y="1853342"/>
              <a:chExt cx="629084" cy="669260"/>
            </a:xfrm>
          </p:grpSpPr>
          <p:sp>
            <p:nvSpPr>
              <p:cNvPr id="577" name="Google Shape;577;p25"/>
              <p:cNvSpPr/>
              <p:nvPr/>
            </p:nvSpPr>
            <p:spPr>
              <a:xfrm>
                <a:off x="879676" y="1893518"/>
                <a:ext cx="629084" cy="629084"/>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02</a:t>
                </a:r>
                <a:endParaRPr b="0" i="0" sz="1600" u="none" cap="none" strike="noStrike">
                  <a:solidFill>
                    <a:srgbClr val="000000"/>
                  </a:solidFill>
                  <a:latin typeface="Arial"/>
                  <a:ea typeface="Arial"/>
                  <a:cs typeface="Arial"/>
                  <a:sym typeface="Arial"/>
                </a:endParaRPr>
              </a:p>
            </p:txBody>
          </p:sp>
          <p:sp>
            <p:nvSpPr>
              <p:cNvPr id="578" name="Google Shape;578;p25"/>
              <p:cNvSpPr/>
              <p:nvPr/>
            </p:nvSpPr>
            <p:spPr>
              <a:xfrm>
                <a:off x="1283918" y="1853342"/>
                <a:ext cx="224842" cy="224842"/>
              </a:xfrm>
              <a:prstGeom prst="ellipse">
                <a:avLst/>
              </a:prstGeom>
              <a:noFill/>
              <a:ln cap="flat" cmpd="sng" w="12700">
                <a:solidFill>
                  <a:srgbClr val="D2F4F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chemeClr val="lt1"/>
                  </a:solidFill>
                  <a:latin typeface="Arial"/>
                  <a:ea typeface="Arial"/>
                  <a:cs typeface="Arial"/>
                  <a:sym typeface="Arial"/>
                </a:endParaRPr>
              </a:p>
            </p:txBody>
          </p:sp>
        </p:grpSp>
      </p:grpSp>
      <p:grpSp>
        <p:nvGrpSpPr>
          <p:cNvPr id="579" name="Google Shape;579;p25"/>
          <p:cNvGrpSpPr/>
          <p:nvPr/>
        </p:nvGrpSpPr>
        <p:grpSpPr>
          <a:xfrm>
            <a:off x="700088" y="4861125"/>
            <a:ext cx="10918190" cy="669260"/>
            <a:chOff x="700088" y="4861125"/>
            <a:chExt cx="10918190" cy="669260"/>
          </a:xfrm>
        </p:grpSpPr>
        <p:sp>
          <p:nvSpPr>
            <p:cNvPr id="580" name="Google Shape;580;p25"/>
            <p:cNvSpPr txBox="1"/>
            <p:nvPr/>
          </p:nvSpPr>
          <p:spPr>
            <a:xfrm>
              <a:off x="1529723" y="4861125"/>
              <a:ext cx="10088555" cy="6462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Tax Efficiency: </a:t>
              </a:r>
              <a:r>
                <a:rPr b="0" i="0" lang="en-US" sz="1800" u="none" cap="none" strike="noStrike">
                  <a:solidFill>
                    <a:schemeClr val="dk1"/>
                  </a:solidFill>
                  <a:latin typeface="Arial"/>
                  <a:ea typeface="Arial"/>
                  <a:cs typeface="Arial"/>
                  <a:sym typeface="Arial"/>
                </a:rPr>
                <a:t>Equity Swaps can be structured to achieve specific tax benefits or efficiencies for certain types of investors.</a:t>
              </a:r>
              <a:endParaRPr b="0" i="0" sz="1600" u="none" cap="none" strike="noStrike">
                <a:solidFill>
                  <a:srgbClr val="000000"/>
                </a:solidFill>
                <a:latin typeface="Arial"/>
                <a:ea typeface="Arial"/>
                <a:cs typeface="Arial"/>
                <a:sym typeface="Arial"/>
              </a:endParaRPr>
            </a:p>
          </p:txBody>
        </p:sp>
        <p:grpSp>
          <p:nvGrpSpPr>
            <p:cNvPr id="581" name="Google Shape;581;p25"/>
            <p:cNvGrpSpPr/>
            <p:nvPr/>
          </p:nvGrpSpPr>
          <p:grpSpPr>
            <a:xfrm>
              <a:off x="700088" y="4861125"/>
              <a:ext cx="629084" cy="669260"/>
              <a:chOff x="879676" y="1853342"/>
              <a:chExt cx="629084" cy="669260"/>
            </a:xfrm>
          </p:grpSpPr>
          <p:sp>
            <p:nvSpPr>
              <p:cNvPr id="582" name="Google Shape;582;p25"/>
              <p:cNvSpPr/>
              <p:nvPr/>
            </p:nvSpPr>
            <p:spPr>
              <a:xfrm>
                <a:off x="879676" y="1893518"/>
                <a:ext cx="629084" cy="629084"/>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03</a:t>
                </a:r>
                <a:endParaRPr b="0" i="0" sz="1600" u="none" cap="none" strike="noStrike">
                  <a:solidFill>
                    <a:srgbClr val="000000"/>
                  </a:solidFill>
                  <a:latin typeface="Arial"/>
                  <a:ea typeface="Arial"/>
                  <a:cs typeface="Arial"/>
                  <a:sym typeface="Arial"/>
                </a:endParaRPr>
              </a:p>
            </p:txBody>
          </p:sp>
          <p:sp>
            <p:nvSpPr>
              <p:cNvPr id="583" name="Google Shape;583;p25"/>
              <p:cNvSpPr/>
              <p:nvPr/>
            </p:nvSpPr>
            <p:spPr>
              <a:xfrm>
                <a:off x="1283918" y="1853342"/>
                <a:ext cx="224842" cy="224842"/>
              </a:xfrm>
              <a:prstGeom prst="ellipse">
                <a:avLst/>
              </a:prstGeom>
              <a:noFill/>
              <a:ln cap="flat" cmpd="sng" w="12700">
                <a:solidFill>
                  <a:srgbClr val="BBD6E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chemeClr val="lt1"/>
                  </a:solidFill>
                  <a:latin typeface="Arial"/>
                  <a:ea typeface="Arial"/>
                  <a:cs typeface="Arial"/>
                  <a:sym typeface="Arial"/>
                </a:endParaRPr>
              </a:p>
            </p:txBody>
          </p:sp>
        </p:grpSp>
      </p:grpSp>
      <p:grpSp>
        <p:nvGrpSpPr>
          <p:cNvPr id="584" name="Google Shape;584;p25"/>
          <p:cNvGrpSpPr/>
          <p:nvPr/>
        </p:nvGrpSpPr>
        <p:grpSpPr>
          <a:xfrm>
            <a:off x="-22430" y="1485899"/>
            <a:ext cx="12214430" cy="457200"/>
            <a:chOff x="-22430" y="1485899"/>
            <a:chExt cx="12214430" cy="457200"/>
          </a:xfrm>
        </p:grpSpPr>
        <p:sp>
          <p:nvSpPr>
            <p:cNvPr id="585" name="Google Shape;585;p25"/>
            <p:cNvSpPr/>
            <p:nvPr/>
          </p:nvSpPr>
          <p:spPr>
            <a:xfrm>
              <a:off x="-22430" y="1485899"/>
              <a:ext cx="12214430" cy="457200"/>
            </a:xfrm>
            <a:prstGeom prst="roundRect">
              <a:avLst>
                <a:gd fmla="val 0" name="adj"/>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86" name="Google Shape;586;p25"/>
            <p:cNvSpPr txBox="1"/>
            <p:nvPr/>
          </p:nvSpPr>
          <p:spPr>
            <a:xfrm>
              <a:off x="700088" y="1545242"/>
              <a:ext cx="10972800" cy="33851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Equity Swaps can serve several purposes, including:</a:t>
              </a:r>
              <a:endParaRPr b="1" i="0" sz="1600" u="none" cap="none" strike="noStrike">
                <a:solidFill>
                  <a:schemeClr val="dk1"/>
                </a:solidFill>
                <a:latin typeface="Arial"/>
                <a:ea typeface="Arial"/>
                <a:cs typeface="Arial"/>
                <a:sym typeface="Aria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26"/>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EQUITY SWAPS</a:t>
            </a:r>
            <a:endParaRPr/>
          </a:p>
        </p:txBody>
      </p:sp>
      <p:sp>
        <p:nvSpPr>
          <p:cNvPr id="592" name="Google Shape;592;p26"/>
          <p:cNvSpPr/>
          <p:nvPr/>
        </p:nvSpPr>
        <p:spPr>
          <a:xfrm>
            <a:off x="700088" y="3549771"/>
            <a:ext cx="10972800" cy="1495129"/>
          </a:xfrm>
          <a:prstGeom prst="roundRect">
            <a:avLst>
              <a:gd fmla="val 16667" name="adj"/>
            </a:avLst>
          </a:prstGeom>
          <a:solidFill>
            <a:srgbClr val="D2F4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It's important to note that Equity Swaps can be quite customizable, with various structures and terms to meet the specific needs of the parties involved. However, they also involve counterparty risk, as each party relies on the other to fulfill their payment obligations.</a:t>
            </a:r>
            <a:endParaRPr b="0" i="0" sz="1600" u="none" cap="none" strike="noStrike">
              <a:solidFill>
                <a:srgbClr val="000000"/>
              </a:solidFill>
              <a:latin typeface="Arial"/>
              <a:ea typeface="Arial"/>
              <a:cs typeface="Arial"/>
              <a:sym typeface="Arial"/>
            </a:endParaRPr>
          </a:p>
        </p:txBody>
      </p:sp>
      <p:grpSp>
        <p:nvGrpSpPr>
          <p:cNvPr id="593" name="Google Shape;593;p26"/>
          <p:cNvGrpSpPr/>
          <p:nvPr/>
        </p:nvGrpSpPr>
        <p:grpSpPr>
          <a:xfrm>
            <a:off x="700088" y="2209365"/>
            <a:ext cx="10918190" cy="923289"/>
            <a:chOff x="700088" y="4861125"/>
            <a:chExt cx="10918190" cy="923289"/>
          </a:xfrm>
        </p:grpSpPr>
        <p:sp>
          <p:nvSpPr>
            <p:cNvPr id="594" name="Google Shape;594;p26"/>
            <p:cNvSpPr txBox="1"/>
            <p:nvPr/>
          </p:nvSpPr>
          <p:spPr>
            <a:xfrm>
              <a:off x="1529723" y="4861125"/>
              <a:ext cx="10088555" cy="92328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chemeClr val="dk1"/>
                  </a:solidFill>
                  <a:latin typeface="Arial"/>
                  <a:ea typeface="Arial"/>
                  <a:cs typeface="Arial"/>
                  <a:sym typeface="Arial"/>
                </a:rPr>
                <a:t>Leverage and Speculation: </a:t>
              </a:r>
              <a:r>
                <a:rPr b="0" i="0" lang="en-US" sz="1800" u="none" cap="none" strike="noStrike">
                  <a:solidFill>
                    <a:schemeClr val="dk1"/>
                  </a:solidFill>
                  <a:latin typeface="Arial"/>
                  <a:ea typeface="Arial"/>
                  <a:cs typeface="Arial"/>
                  <a:sym typeface="Arial"/>
                </a:rPr>
                <a:t>Traders and investors can use Equity Swaps to gain leveraged exposure to a particular stock or index without purchasing the assets outright. This allows for more significant potential gains (and losses) with a smaller upfront capital requirement.</a:t>
              </a:r>
              <a:endParaRPr b="0" i="0" sz="1600" u="none" cap="none" strike="noStrike">
                <a:solidFill>
                  <a:srgbClr val="000000"/>
                </a:solidFill>
                <a:latin typeface="Arial"/>
                <a:ea typeface="Arial"/>
                <a:cs typeface="Arial"/>
                <a:sym typeface="Arial"/>
              </a:endParaRPr>
            </a:p>
          </p:txBody>
        </p:sp>
        <p:grpSp>
          <p:nvGrpSpPr>
            <p:cNvPr id="595" name="Google Shape;595;p26"/>
            <p:cNvGrpSpPr/>
            <p:nvPr/>
          </p:nvGrpSpPr>
          <p:grpSpPr>
            <a:xfrm>
              <a:off x="700088" y="4861125"/>
              <a:ext cx="629084" cy="669260"/>
              <a:chOff x="879676" y="1853342"/>
              <a:chExt cx="629084" cy="669260"/>
            </a:xfrm>
          </p:grpSpPr>
          <p:sp>
            <p:nvSpPr>
              <p:cNvPr id="596" name="Google Shape;596;p26"/>
              <p:cNvSpPr/>
              <p:nvPr/>
            </p:nvSpPr>
            <p:spPr>
              <a:xfrm>
                <a:off x="879676" y="1893518"/>
                <a:ext cx="629084" cy="629084"/>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04</a:t>
                </a:r>
                <a:endParaRPr b="0" i="0" sz="1600" u="none" cap="none" strike="noStrike">
                  <a:solidFill>
                    <a:srgbClr val="000000"/>
                  </a:solidFill>
                  <a:latin typeface="Arial"/>
                  <a:ea typeface="Arial"/>
                  <a:cs typeface="Arial"/>
                  <a:sym typeface="Arial"/>
                </a:endParaRPr>
              </a:p>
            </p:txBody>
          </p:sp>
          <p:sp>
            <p:nvSpPr>
              <p:cNvPr id="597" name="Google Shape;597;p26"/>
              <p:cNvSpPr/>
              <p:nvPr/>
            </p:nvSpPr>
            <p:spPr>
              <a:xfrm>
                <a:off x="1283918" y="1853342"/>
                <a:ext cx="224842" cy="224842"/>
              </a:xfrm>
              <a:prstGeom prst="ellipse">
                <a:avLst/>
              </a:prstGeom>
              <a:noFill/>
              <a:ln cap="flat" cmpd="sng" w="12700">
                <a:solidFill>
                  <a:srgbClr val="ACB8C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chemeClr val="lt1"/>
                  </a:solidFill>
                  <a:latin typeface="Arial"/>
                  <a:ea typeface="Arial"/>
                  <a:cs typeface="Arial"/>
                  <a:sym typeface="Arial"/>
                </a:endParaRPr>
              </a:p>
            </p:txBody>
          </p:sp>
        </p:gr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27"/>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EQUITY SWAPS</a:t>
            </a:r>
            <a:endParaRPr/>
          </a:p>
        </p:txBody>
      </p:sp>
      <p:grpSp>
        <p:nvGrpSpPr>
          <p:cNvPr id="603" name="Google Shape;603;p27"/>
          <p:cNvGrpSpPr/>
          <p:nvPr/>
        </p:nvGrpSpPr>
        <p:grpSpPr>
          <a:xfrm>
            <a:off x="746939" y="1465580"/>
            <a:ext cx="2103792" cy="1110600"/>
            <a:chOff x="746939" y="1155958"/>
            <a:chExt cx="2103792" cy="1110600"/>
          </a:xfrm>
        </p:grpSpPr>
        <p:sp>
          <p:nvSpPr>
            <p:cNvPr id="604" name="Google Shape;604;p27"/>
            <p:cNvSpPr/>
            <p:nvPr/>
          </p:nvSpPr>
          <p:spPr>
            <a:xfrm>
              <a:off x="1735821" y="1155958"/>
              <a:ext cx="826308" cy="341416"/>
            </a:xfrm>
            <a:custGeom>
              <a:rect b="b" l="l" r="r" t="t"/>
              <a:pathLst>
                <a:path extrusionOk="0" h="177" w="429">
                  <a:moveTo>
                    <a:pt x="429" y="177"/>
                  </a:moveTo>
                  <a:cubicBezTo>
                    <a:pt x="0" y="177"/>
                    <a:pt x="0" y="177"/>
                    <a:pt x="0" y="177"/>
                  </a:cubicBezTo>
                  <a:cubicBezTo>
                    <a:pt x="0" y="30"/>
                    <a:pt x="0" y="30"/>
                    <a:pt x="0" y="30"/>
                  </a:cubicBezTo>
                  <a:cubicBezTo>
                    <a:pt x="0" y="14"/>
                    <a:pt x="14" y="0"/>
                    <a:pt x="30" y="0"/>
                  </a:cubicBezTo>
                  <a:cubicBezTo>
                    <a:pt x="398" y="0"/>
                    <a:pt x="398" y="0"/>
                    <a:pt x="398" y="0"/>
                  </a:cubicBezTo>
                  <a:cubicBezTo>
                    <a:pt x="415" y="0"/>
                    <a:pt x="429" y="14"/>
                    <a:pt x="429" y="30"/>
                  </a:cubicBezTo>
                  <a:lnTo>
                    <a:pt x="429" y="177"/>
                  </a:lnTo>
                  <a:close/>
                </a:path>
              </a:pathLst>
            </a:custGeom>
            <a:solidFill>
              <a:srgbClr val="D2F4F6"/>
            </a:solidFill>
            <a:ln>
              <a:noFill/>
            </a:ln>
            <a:effectLst>
              <a:outerShdw blurRad="57150" rotWithShape="0" algn="ctr" dir="5400000" dist="19050">
                <a:srgbClr val="000000">
                  <a:alpha val="6235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5" name="Google Shape;605;p27"/>
            <p:cNvSpPr/>
            <p:nvPr/>
          </p:nvSpPr>
          <p:spPr>
            <a:xfrm>
              <a:off x="1697295" y="1919163"/>
              <a:ext cx="891403" cy="347395"/>
            </a:xfrm>
            <a:custGeom>
              <a:rect b="b" l="l" r="r" t="t"/>
              <a:pathLst>
                <a:path extrusionOk="0" h="180" w="462">
                  <a:moveTo>
                    <a:pt x="0" y="0"/>
                  </a:moveTo>
                  <a:cubicBezTo>
                    <a:pt x="26" y="104"/>
                    <a:pt x="120" y="180"/>
                    <a:pt x="231" y="180"/>
                  </a:cubicBezTo>
                  <a:cubicBezTo>
                    <a:pt x="231" y="180"/>
                    <a:pt x="231" y="180"/>
                    <a:pt x="231" y="180"/>
                  </a:cubicBezTo>
                  <a:cubicBezTo>
                    <a:pt x="343" y="180"/>
                    <a:pt x="437" y="104"/>
                    <a:pt x="463" y="0"/>
                  </a:cubicBezTo>
                  <a:lnTo>
                    <a:pt x="0" y="0"/>
                  </a:lnTo>
                  <a:close/>
                </a:path>
              </a:pathLst>
            </a:custGeom>
            <a:solidFill>
              <a:srgbClr val="D2F4F6"/>
            </a:solidFill>
            <a:ln>
              <a:noFill/>
            </a:ln>
            <a:effectLst>
              <a:outerShdw blurRad="57150" rotWithShape="0" algn="ctr" dir="5400000" dist="19050">
                <a:srgbClr val="000000">
                  <a:alpha val="6235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6" name="Google Shape;606;p27"/>
            <p:cNvSpPr/>
            <p:nvPr/>
          </p:nvSpPr>
          <p:spPr>
            <a:xfrm>
              <a:off x="1855383" y="1919163"/>
              <a:ext cx="575892" cy="223847"/>
            </a:xfrm>
            <a:custGeom>
              <a:rect b="b" l="l" r="r" t="t"/>
              <a:pathLst>
                <a:path extrusionOk="0" h="440616" w="1133576">
                  <a:moveTo>
                    <a:pt x="0" y="0"/>
                  </a:moveTo>
                  <a:lnTo>
                    <a:pt x="1133576" y="0"/>
                  </a:lnTo>
                  <a:cubicBezTo>
                    <a:pt x="1069125" y="254494"/>
                    <a:pt x="837861" y="440617"/>
                    <a:pt x="564893" y="440617"/>
                  </a:cubicBezTo>
                  <a:cubicBezTo>
                    <a:pt x="291924" y="440617"/>
                    <a:pt x="64451" y="254494"/>
                    <a:pt x="0" y="0"/>
                  </a:cubicBezTo>
                  <a:close/>
                </a:path>
              </a:pathLst>
            </a:custGeom>
            <a:solidFill>
              <a:srgbClr val="D2F4F6"/>
            </a:solidFill>
            <a:ln cap="flat" cmpd="sng" w="12700">
              <a:solidFill>
                <a:schemeClr val="lt2"/>
              </a:solidFill>
              <a:prstDash val="solid"/>
              <a:miter lim="800000"/>
              <a:headEnd len="sm" w="sm" type="none"/>
              <a:tailEnd len="sm" w="sm" type="none"/>
            </a:ln>
            <a:effectLst>
              <a:outerShdw blurRad="38100" rotWithShape="0" algn="t" dir="5400000" dist="127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7" name="Google Shape;607;p27"/>
            <p:cNvSpPr/>
            <p:nvPr/>
          </p:nvSpPr>
          <p:spPr>
            <a:xfrm>
              <a:off x="746939" y="1391096"/>
              <a:ext cx="1612598" cy="653606"/>
            </a:xfrm>
            <a:custGeom>
              <a:rect b="b" l="l" r="r" t="t"/>
              <a:pathLst>
                <a:path extrusionOk="0" h="1286549" w="1678790">
                  <a:moveTo>
                    <a:pt x="106109" y="0"/>
                  </a:moveTo>
                  <a:cubicBezTo>
                    <a:pt x="1678790" y="0"/>
                    <a:pt x="1678790" y="0"/>
                    <a:pt x="1678790" y="0"/>
                  </a:cubicBezTo>
                  <a:lnTo>
                    <a:pt x="1678790" y="1286549"/>
                  </a:lnTo>
                  <a:cubicBezTo>
                    <a:pt x="106109" y="1286549"/>
                    <a:pt x="106109" y="1286549"/>
                    <a:pt x="106109" y="1286549"/>
                  </a:cubicBezTo>
                  <a:cubicBezTo>
                    <a:pt x="45475" y="1286549"/>
                    <a:pt x="0" y="1237213"/>
                    <a:pt x="0" y="1176490"/>
                  </a:cubicBezTo>
                  <a:cubicBezTo>
                    <a:pt x="0" y="110059"/>
                    <a:pt x="0" y="110059"/>
                    <a:pt x="0" y="110059"/>
                  </a:cubicBezTo>
                  <a:cubicBezTo>
                    <a:pt x="0" y="49337"/>
                    <a:pt x="45475" y="0"/>
                    <a:pt x="106109" y="0"/>
                  </a:cubicBezTo>
                  <a:close/>
                </a:path>
              </a:pathLst>
            </a:custGeom>
            <a:solidFill>
              <a:schemeClr val="lt1"/>
            </a:solidFill>
            <a:ln cap="flat" cmpd="sng" w="12700">
              <a:solidFill>
                <a:schemeClr val="lt2"/>
              </a:solidFill>
              <a:prstDash val="solid"/>
              <a:miter lim="800000"/>
              <a:headEnd len="sm" w="sm" type="none"/>
              <a:tailEnd len="sm" w="sm" type="none"/>
            </a:ln>
            <a:effectLst>
              <a:outerShdw blurRad="38100" rotWithShape="0" algn="t" dir="5400000" dist="127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Equity Swaps</a:t>
              </a:r>
              <a:endParaRPr b="1" i="0" sz="1400" u="none" cap="none" strike="noStrike">
                <a:solidFill>
                  <a:srgbClr val="000000"/>
                </a:solidFill>
                <a:latin typeface="Arial"/>
                <a:ea typeface="Arial"/>
                <a:cs typeface="Arial"/>
                <a:sym typeface="Arial"/>
              </a:endParaRPr>
            </a:p>
          </p:txBody>
        </p:sp>
        <p:sp>
          <p:nvSpPr>
            <p:cNvPr id="608" name="Google Shape;608;p27"/>
            <p:cNvSpPr/>
            <p:nvPr/>
          </p:nvSpPr>
          <p:spPr>
            <a:xfrm>
              <a:off x="2140000" y="1387303"/>
              <a:ext cx="710731" cy="327468"/>
            </a:xfrm>
            <a:custGeom>
              <a:rect b="b" l="l" r="r" t="t"/>
              <a:pathLst>
                <a:path extrusionOk="0" h="492" w="1070">
                  <a:moveTo>
                    <a:pt x="1070" y="493"/>
                  </a:moveTo>
                  <a:lnTo>
                    <a:pt x="325" y="493"/>
                  </a:lnTo>
                  <a:lnTo>
                    <a:pt x="0" y="0"/>
                  </a:lnTo>
                  <a:lnTo>
                    <a:pt x="745" y="0"/>
                  </a:lnTo>
                  <a:lnTo>
                    <a:pt x="1070" y="493"/>
                  </a:lnTo>
                  <a:close/>
                </a:path>
              </a:pathLst>
            </a:custGeom>
            <a:solidFill>
              <a:srgbClr val="D2F4F6"/>
            </a:solidFill>
            <a:ln>
              <a:noFill/>
            </a:ln>
            <a:effectLst>
              <a:outerShdw blurRad="57150" rotWithShape="0" algn="ctr" dir="5400000" dist="19050">
                <a:srgbClr val="000000">
                  <a:alpha val="6235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9" name="Google Shape;609;p27"/>
            <p:cNvSpPr/>
            <p:nvPr/>
          </p:nvSpPr>
          <p:spPr>
            <a:xfrm>
              <a:off x="2137682" y="1713203"/>
              <a:ext cx="710731" cy="326140"/>
            </a:xfrm>
            <a:custGeom>
              <a:rect b="b" l="l" r="r" t="t"/>
              <a:pathLst>
                <a:path extrusionOk="0" h="491" w="1070">
                  <a:moveTo>
                    <a:pt x="1070" y="0"/>
                  </a:moveTo>
                  <a:lnTo>
                    <a:pt x="325" y="0"/>
                  </a:lnTo>
                  <a:lnTo>
                    <a:pt x="0" y="491"/>
                  </a:lnTo>
                  <a:lnTo>
                    <a:pt x="745" y="491"/>
                  </a:lnTo>
                  <a:lnTo>
                    <a:pt x="1070" y="0"/>
                  </a:lnTo>
                  <a:close/>
                </a:path>
              </a:pathLst>
            </a:custGeom>
            <a:solidFill>
              <a:srgbClr val="D2F4F6"/>
            </a:solidFill>
            <a:ln>
              <a:noFill/>
            </a:ln>
            <a:effectLst>
              <a:outerShdw blurRad="57150" rotWithShape="0" algn="ctr" dir="5400000" dist="19050">
                <a:srgbClr val="000000">
                  <a:alpha val="6235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610" name="Google Shape;610;p27"/>
          <p:cNvSpPr txBox="1"/>
          <p:nvPr/>
        </p:nvSpPr>
        <p:spPr>
          <a:xfrm>
            <a:off x="2936241" y="1465580"/>
            <a:ext cx="8717598" cy="140038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An equity swap contract is a derivative contract between two parties that involves the exchange of one stream (leg) of equity-based cash flows linked to the performance of a stock or an equity index with another stream (leg) of fixed-income cash flows.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6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In equity swap contracts, the cash flows are based on a predetermined notional amount. The exchange of cash flows occurs on series of fixed dates.</a:t>
            </a:r>
            <a:endParaRPr b="0" i="0" sz="1400" u="none" cap="none" strike="noStrike">
              <a:solidFill>
                <a:srgbClr val="000000"/>
              </a:solidFill>
              <a:latin typeface="Arial"/>
              <a:ea typeface="Arial"/>
              <a:cs typeface="Arial"/>
              <a:sym typeface="Arial"/>
            </a:endParaRPr>
          </a:p>
        </p:txBody>
      </p:sp>
      <p:grpSp>
        <p:nvGrpSpPr>
          <p:cNvPr id="611" name="Google Shape;611;p27"/>
          <p:cNvGrpSpPr/>
          <p:nvPr/>
        </p:nvGrpSpPr>
        <p:grpSpPr>
          <a:xfrm>
            <a:off x="700088" y="4494797"/>
            <a:ext cx="5255802" cy="653605"/>
            <a:chOff x="699197" y="3802700"/>
            <a:chExt cx="2609949" cy="324570"/>
          </a:xfrm>
        </p:grpSpPr>
        <p:sp>
          <p:nvSpPr>
            <p:cNvPr id="612" name="Google Shape;612;p27"/>
            <p:cNvSpPr/>
            <p:nvPr/>
          </p:nvSpPr>
          <p:spPr>
            <a:xfrm>
              <a:off x="839035" y="3821778"/>
              <a:ext cx="2470111" cy="286414"/>
            </a:xfrm>
            <a:prstGeom prst="round1Rect">
              <a:avLst>
                <a:gd fmla="val 37948" name="adj"/>
              </a:avLst>
            </a:prstGeom>
            <a:solidFill>
              <a:schemeClr val="accent5"/>
            </a:solidFill>
            <a:ln>
              <a:noFill/>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Arial"/>
                  <a:ea typeface="Arial"/>
                  <a:cs typeface="Arial"/>
                  <a:sym typeface="Arial"/>
                </a:rPr>
                <a:t>Equity Swap Uses</a:t>
              </a:r>
              <a:endParaRPr b="0" i="0" sz="1400" u="none" cap="none" strike="noStrike">
                <a:solidFill>
                  <a:srgbClr val="000000"/>
                </a:solidFill>
                <a:latin typeface="Arial"/>
                <a:ea typeface="Arial"/>
                <a:cs typeface="Arial"/>
                <a:sym typeface="Arial"/>
              </a:endParaRPr>
            </a:p>
          </p:txBody>
        </p:sp>
        <p:sp>
          <p:nvSpPr>
            <p:cNvPr id="613" name="Google Shape;613;p27"/>
            <p:cNvSpPr/>
            <p:nvPr/>
          </p:nvSpPr>
          <p:spPr>
            <a:xfrm>
              <a:off x="699197" y="3802700"/>
              <a:ext cx="326368" cy="324570"/>
            </a:xfrm>
            <a:prstGeom prst="ellipse">
              <a:avLst/>
            </a:prstGeom>
            <a:solidFill>
              <a:schemeClr val="accent5"/>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01</a:t>
              </a:r>
              <a:endParaRPr b="1" i="0" sz="1800" u="none" cap="none" strike="noStrike">
                <a:solidFill>
                  <a:schemeClr val="lt1"/>
                </a:solidFill>
                <a:latin typeface="Arial"/>
                <a:ea typeface="Arial"/>
                <a:cs typeface="Arial"/>
                <a:sym typeface="Arial"/>
              </a:endParaRPr>
            </a:p>
          </p:txBody>
        </p:sp>
      </p:grpSp>
      <p:sp>
        <p:nvSpPr>
          <p:cNvPr id="614" name="Google Shape;614;p27"/>
          <p:cNvSpPr/>
          <p:nvPr/>
        </p:nvSpPr>
        <p:spPr>
          <a:xfrm>
            <a:off x="700088" y="5200585"/>
            <a:ext cx="5255802" cy="1057588"/>
          </a:xfrm>
          <a:prstGeom prst="rect">
            <a:avLst/>
          </a:prstGeom>
          <a:noFill/>
          <a:ln>
            <a:noFill/>
          </a:ln>
        </p:spPr>
        <p:txBody>
          <a:bodyPr anchorCtr="0" anchor="t" bIns="36000" lIns="36000" spcFirstLastPara="1" rIns="36000" wrap="square" tIns="36000">
            <a:spAutoFit/>
          </a:bodyPr>
          <a:lstStyle/>
          <a:p>
            <a:pPr indent="-342900" lvl="1" marL="342900" marR="0" rtl="0" algn="l">
              <a:lnSpc>
                <a:spcPct val="100000"/>
              </a:lnSpc>
              <a:spcBef>
                <a:spcPts val="0"/>
              </a:spcBef>
              <a:spcAft>
                <a:spcPts val="0"/>
              </a:spcAft>
              <a:buClr>
                <a:schemeClr val="dk1"/>
              </a:buClr>
              <a:buSzPts val="1600"/>
              <a:buFont typeface="Arial"/>
              <a:buChar char="•"/>
            </a:pPr>
            <a:r>
              <a:rPr b="0" i="0" lang="en-US" sz="1600" u="none" cap="none" strike="noStrike">
                <a:solidFill>
                  <a:srgbClr val="000000"/>
                </a:solidFill>
                <a:latin typeface="Arial"/>
                <a:ea typeface="Arial"/>
                <a:cs typeface="Arial"/>
                <a:sym typeface="Arial"/>
              </a:rPr>
              <a:t>Synthetic exposure to equities – no huge investment required.</a:t>
            </a:r>
            <a:endParaRPr b="0" i="0" sz="1400" u="none" cap="none" strike="noStrike">
              <a:solidFill>
                <a:srgbClr val="000000"/>
              </a:solidFill>
              <a:latin typeface="Arial"/>
              <a:ea typeface="Arial"/>
              <a:cs typeface="Arial"/>
              <a:sym typeface="Arial"/>
            </a:endParaRPr>
          </a:p>
          <a:p>
            <a:pPr indent="-342900" lvl="1" marL="342900" marR="0" rtl="0" algn="l">
              <a:lnSpc>
                <a:spcPct val="100000"/>
              </a:lnSpc>
              <a:spcBef>
                <a:spcPts val="0"/>
              </a:spcBef>
              <a:spcAft>
                <a:spcPts val="0"/>
              </a:spcAft>
              <a:buClr>
                <a:schemeClr val="dk1"/>
              </a:buClr>
              <a:buSzPts val="1600"/>
              <a:buFont typeface="Arial"/>
              <a:buChar char="•"/>
            </a:pPr>
            <a:r>
              <a:rPr b="0" i="0" lang="en-US" sz="1600" u="none" cap="none" strike="noStrike">
                <a:solidFill>
                  <a:srgbClr val="000000"/>
                </a:solidFill>
                <a:latin typeface="Arial"/>
                <a:ea typeface="Arial"/>
                <a:cs typeface="Arial"/>
                <a:sym typeface="Arial"/>
              </a:rPr>
              <a:t>Effective hedging tool against volatilities.</a:t>
            </a:r>
            <a:endParaRPr b="0" i="0" sz="1400" u="none" cap="none" strike="noStrike">
              <a:solidFill>
                <a:srgbClr val="000000"/>
              </a:solidFill>
              <a:latin typeface="Arial"/>
              <a:ea typeface="Arial"/>
              <a:cs typeface="Arial"/>
              <a:sym typeface="Arial"/>
            </a:endParaRPr>
          </a:p>
          <a:p>
            <a:pPr indent="-342900" lvl="1" marL="342900" marR="0" rtl="0" algn="l">
              <a:lnSpc>
                <a:spcPct val="100000"/>
              </a:lnSpc>
              <a:spcBef>
                <a:spcPts val="0"/>
              </a:spcBef>
              <a:spcAft>
                <a:spcPts val="0"/>
              </a:spcAft>
              <a:buClr>
                <a:schemeClr val="dk1"/>
              </a:buClr>
              <a:buSzPts val="1600"/>
              <a:buFont typeface="Arial"/>
              <a:buChar char="•"/>
            </a:pPr>
            <a:r>
              <a:rPr b="0" i="0" lang="en-US" sz="1600" u="none" cap="none" strike="noStrike">
                <a:solidFill>
                  <a:srgbClr val="000000"/>
                </a:solidFill>
                <a:latin typeface="Arial"/>
                <a:ea typeface="Arial"/>
                <a:cs typeface="Arial"/>
                <a:sym typeface="Arial"/>
              </a:rPr>
              <a:t>Access to variety of securities.</a:t>
            </a:r>
            <a:endParaRPr b="0" i="0" sz="1400" u="none" cap="none" strike="noStrike">
              <a:solidFill>
                <a:srgbClr val="000000"/>
              </a:solidFill>
              <a:latin typeface="Arial"/>
              <a:ea typeface="Arial"/>
              <a:cs typeface="Arial"/>
              <a:sym typeface="Arial"/>
            </a:endParaRPr>
          </a:p>
        </p:txBody>
      </p:sp>
      <p:grpSp>
        <p:nvGrpSpPr>
          <p:cNvPr id="615" name="Google Shape;615;p27"/>
          <p:cNvGrpSpPr/>
          <p:nvPr/>
        </p:nvGrpSpPr>
        <p:grpSpPr>
          <a:xfrm>
            <a:off x="6398036" y="4494797"/>
            <a:ext cx="5255802" cy="653605"/>
            <a:chOff x="699197" y="3802700"/>
            <a:chExt cx="2609949" cy="324570"/>
          </a:xfrm>
        </p:grpSpPr>
        <p:sp>
          <p:nvSpPr>
            <p:cNvPr id="616" name="Google Shape;616;p27"/>
            <p:cNvSpPr/>
            <p:nvPr/>
          </p:nvSpPr>
          <p:spPr>
            <a:xfrm>
              <a:off x="839035" y="3821778"/>
              <a:ext cx="2470111" cy="286414"/>
            </a:xfrm>
            <a:prstGeom prst="round1Rect">
              <a:avLst>
                <a:gd fmla="val 37948" name="adj"/>
              </a:avLst>
            </a:prstGeom>
            <a:solidFill>
              <a:schemeClr val="dk2"/>
            </a:solidFill>
            <a:ln>
              <a:noFill/>
            </a:ln>
          </p:spPr>
          <p:txBody>
            <a:bodyPr anchorCtr="0" anchor="ctr" bIns="18000" lIns="18000" spcFirstLastPara="1" rIns="18000" wrap="square" tIns="180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Arial"/>
                  <a:ea typeface="Arial"/>
                  <a:cs typeface="Arial"/>
                  <a:sym typeface="Arial"/>
                </a:rPr>
                <a:t>Variations of Equity Swap </a:t>
              </a:r>
              <a:endParaRPr b="0" i="0" sz="1400" u="none" cap="none" strike="noStrike">
                <a:solidFill>
                  <a:srgbClr val="000000"/>
                </a:solidFill>
                <a:latin typeface="Arial"/>
                <a:ea typeface="Arial"/>
                <a:cs typeface="Arial"/>
                <a:sym typeface="Arial"/>
              </a:endParaRPr>
            </a:p>
          </p:txBody>
        </p:sp>
        <p:sp>
          <p:nvSpPr>
            <p:cNvPr id="617" name="Google Shape;617;p27"/>
            <p:cNvSpPr/>
            <p:nvPr/>
          </p:nvSpPr>
          <p:spPr>
            <a:xfrm>
              <a:off x="699197" y="3802700"/>
              <a:ext cx="326368" cy="324570"/>
            </a:xfrm>
            <a:prstGeom prst="ellipse">
              <a:avLst/>
            </a:prstGeom>
            <a:solidFill>
              <a:schemeClr val="dk2"/>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02</a:t>
              </a:r>
              <a:endParaRPr b="1" i="0" sz="1800" u="none" cap="none" strike="noStrike">
                <a:solidFill>
                  <a:schemeClr val="lt1"/>
                </a:solidFill>
                <a:latin typeface="Arial"/>
                <a:ea typeface="Arial"/>
                <a:cs typeface="Arial"/>
                <a:sym typeface="Arial"/>
              </a:endParaRPr>
            </a:p>
          </p:txBody>
        </p:sp>
      </p:grpSp>
      <p:sp>
        <p:nvSpPr>
          <p:cNvPr id="618" name="Google Shape;618;p27"/>
          <p:cNvSpPr/>
          <p:nvPr/>
        </p:nvSpPr>
        <p:spPr>
          <a:xfrm>
            <a:off x="6398036" y="5200585"/>
            <a:ext cx="5255802" cy="811367"/>
          </a:xfrm>
          <a:prstGeom prst="rect">
            <a:avLst/>
          </a:prstGeom>
          <a:noFill/>
          <a:ln>
            <a:noFill/>
          </a:ln>
        </p:spPr>
        <p:txBody>
          <a:bodyPr anchorCtr="0" anchor="t" bIns="36000" lIns="36000" spcFirstLastPara="1" rIns="36000" wrap="square" tIns="36000">
            <a:spAutoFit/>
          </a:bodyPr>
          <a:lstStyle/>
          <a:p>
            <a:pPr indent="-342900" lvl="1" marL="342900" marR="0" rtl="0" algn="l">
              <a:lnSpc>
                <a:spcPct val="100000"/>
              </a:lnSpc>
              <a:spcBef>
                <a:spcPts val="0"/>
              </a:spcBef>
              <a:spcAft>
                <a:spcPts val="0"/>
              </a:spcAft>
              <a:buClr>
                <a:schemeClr val="dk1"/>
              </a:buClr>
              <a:buSzPts val="1600"/>
              <a:buFont typeface="Arial"/>
              <a:buChar char="•"/>
            </a:pPr>
            <a:r>
              <a:rPr b="0" i="0" lang="en-US" sz="1600" u="none" cap="none" strike="noStrike">
                <a:solidFill>
                  <a:srgbClr val="000000"/>
                </a:solidFill>
                <a:latin typeface="Arial"/>
                <a:ea typeface="Arial"/>
                <a:cs typeface="Arial"/>
                <a:sym typeface="Arial"/>
              </a:rPr>
              <a:t>Receive-equity return, pay-fixed</a:t>
            </a:r>
            <a:endParaRPr b="0" i="0" sz="1400" u="none" cap="none" strike="noStrike">
              <a:solidFill>
                <a:srgbClr val="000000"/>
              </a:solidFill>
              <a:latin typeface="Arial"/>
              <a:ea typeface="Arial"/>
              <a:cs typeface="Arial"/>
              <a:sym typeface="Arial"/>
            </a:endParaRPr>
          </a:p>
          <a:p>
            <a:pPr indent="-342900" lvl="1" marL="342900" marR="0" rtl="0" algn="l">
              <a:lnSpc>
                <a:spcPct val="100000"/>
              </a:lnSpc>
              <a:spcBef>
                <a:spcPts val="0"/>
              </a:spcBef>
              <a:spcAft>
                <a:spcPts val="0"/>
              </a:spcAft>
              <a:buClr>
                <a:schemeClr val="dk1"/>
              </a:buClr>
              <a:buSzPts val="1600"/>
              <a:buFont typeface="Arial"/>
              <a:buChar char="•"/>
            </a:pPr>
            <a:r>
              <a:rPr b="0" i="0" lang="en-US" sz="1600" u="none" cap="none" strike="noStrike">
                <a:solidFill>
                  <a:srgbClr val="000000"/>
                </a:solidFill>
                <a:latin typeface="Arial"/>
                <a:ea typeface="Arial"/>
                <a:cs typeface="Arial"/>
                <a:sym typeface="Arial"/>
              </a:rPr>
              <a:t>Receive-equity return, pay-floating</a:t>
            </a:r>
            <a:endParaRPr b="0" i="0" sz="1400" u="none" cap="none" strike="noStrike">
              <a:solidFill>
                <a:srgbClr val="000000"/>
              </a:solidFill>
              <a:latin typeface="Arial"/>
              <a:ea typeface="Arial"/>
              <a:cs typeface="Arial"/>
              <a:sym typeface="Arial"/>
            </a:endParaRPr>
          </a:p>
          <a:p>
            <a:pPr indent="-342900" lvl="1" marL="342900" marR="0" rtl="0" algn="l">
              <a:lnSpc>
                <a:spcPct val="100000"/>
              </a:lnSpc>
              <a:spcBef>
                <a:spcPts val="0"/>
              </a:spcBef>
              <a:spcAft>
                <a:spcPts val="0"/>
              </a:spcAft>
              <a:buClr>
                <a:schemeClr val="dk1"/>
              </a:buClr>
              <a:buSzPts val="1600"/>
              <a:buFont typeface="Arial"/>
              <a:buChar char="•"/>
            </a:pPr>
            <a:r>
              <a:rPr b="0" i="0" lang="en-US" sz="1600" u="none" cap="none" strike="noStrike">
                <a:solidFill>
                  <a:srgbClr val="000000"/>
                </a:solidFill>
                <a:latin typeface="Arial"/>
                <a:ea typeface="Arial"/>
                <a:cs typeface="Arial"/>
                <a:sym typeface="Arial"/>
              </a:rPr>
              <a:t>Receive-equity return, </a:t>
            </a:r>
            <a:r>
              <a:rPr b="0" i="0" lang="en-US" sz="1400" u="none" cap="none" strike="noStrike">
                <a:solidFill>
                  <a:srgbClr val="000000"/>
                </a:solidFill>
                <a:latin typeface="Arial"/>
                <a:ea typeface="Arial"/>
                <a:cs typeface="Arial"/>
                <a:sym typeface="Arial"/>
              </a:rPr>
              <a:t>pay-another </a:t>
            </a:r>
            <a:r>
              <a:rPr b="0" i="0" lang="en-US" sz="1600" u="none" cap="none" strike="noStrike">
                <a:solidFill>
                  <a:srgbClr val="000000"/>
                </a:solidFill>
                <a:latin typeface="Arial"/>
                <a:ea typeface="Arial"/>
                <a:cs typeface="Arial"/>
                <a:sym typeface="Arial"/>
              </a:rPr>
              <a:t>equity return</a:t>
            </a:r>
            <a:endParaRPr b="0" i="0" sz="1400" u="none" cap="none" strike="noStrike">
              <a:solidFill>
                <a:srgbClr val="000000"/>
              </a:solidFill>
              <a:latin typeface="Arial"/>
              <a:ea typeface="Arial"/>
              <a:cs typeface="Arial"/>
              <a:sym typeface="Arial"/>
            </a:endParaRPr>
          </a:p>
        </p:txBody>
      </p:sp>
      <p:grpSp>
        <p:nvGrpSpPr>
          <p:cNvPr id="619" name="Google Shape;619;p27"/>
          <p:cNvGrpSpPr/>
          <p:nvPr/>
        </p:nvGrpSpPr>
        <p:grpSpPr>
          <a:xfrm>
            <a:off x="700088" y="3268963"/>
            <a:ext cx="10953751" cy="822833"/>
            <a:chOff x="700088" y="3359951"/>
            <a:chExt cx="10953751" cy="822833"/>
          </a:xfrm>
        </p:grpSpPr>
        <p:sp>
          <p:nvSpPr>
            <p:cNvPr id="620" name="Google Shape;620;p27"/>
            <p:cNvSpPr/>
            <p:nvPr/>
          </p:nvSpPr>
          <p:spPr>
            <a:xfrm>
              <a:off x="700088" y="3406968"/>
              <a:ext cx="2880000" cy="716422"/>
            </a:xfrm>
            <a:prstGeom prst="roundRect">
              <a:avLst>
                <a:gd fmla="val 16667" name="adj"/>
              </a:avLst>
            </a:prstGeom>
            <a:solidFill>
              <a:schemeClr val="accent3"/>
            </a:solidFill>
            <a:ln cap="flat" cmpd="sng" w="285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Investment Bank</a:t>
              </a:r>
              <a:endParaRPr b="1"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(JPMC)</a:t>
              </a:r>
              <a:endParaRPr b="1" i="0" sz="1800" u="none" cap="none" strike="noStrike">
                <a:solidFill>
                  <a:schemeClr val="lt1"/>
                </a:solidFill>
                <a:latin typeface="Arial"/>
                <a:ea typeface="Arial"/>
                <a:cs typeface="Arial"/>
                <a:sym typeface="Arial"/>
              </a:endParaRPr>
            </a:p>
          </p:txBody>
        </p:sp>
        <p:sp>
          <p:nvSpPr>
            <p:cNvPr id="621" name="Google Shape;621;p27"/>
            <p:cNvSpPr/>
            <p:nvPr/>
          </p:nvSpPr>
          <p:spPr>
            <a:xfrm>
              <a:off x="8773839" y="3406968"/>
              <a:ext cx="2880000" cy="716422"/>
            </a:xfrm>
            <a:prstGeom prst="roundRect">
              <a:avLst>
                <a:gd fmla="val 16667" name="adj"/>
              </a:avLst>
            </a:prstGeom>
            <a:solidFill>
              <a:schemeClr val="accent4"/>
            </a:solidFill>
            <a:ln cap="flat" cmpd="sng" w="285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AMC</a:t>
              </a:r>
              <a:endParaRPr b="1"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(BlackRock) </a:t>
              </a:r>
              <a:endParaRPr b="0"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622" name="Google Shape;622;p27"/>
            <p:cNvGrpSpPr/>
            <p:nvPr/>
          </p:nvGrpSpPr>
          <p:grpSpPr>
            <a:xfrm>
              <a:off x="3705497" y="3581367"/>
              <a:ext cx="4942934" cy="367624"/>
              <a:chOff x="3656426" y="3602367"/>
              <a:chExt cx="4942934" cy="367624"/>
            </a:xfrm>
          </p:grpSpPr>
          <p:cxnSp>
            <p:nvCxnSpPr>
              <p:cNvPr id="623" name="Google Shape;623;p27"/>
              <p:cNvCxnSpPr/>
              <p:nvPr/>
            </p:nvCxnSpPr>
            <p:spPr>
              <a:xfrm>
                <a:off x="3656426" y="3602367"/>
                <a:ext cx="4942934" cy="0"/>
              </a:xfrm>
              <a:prstGeom prst="straightConnector1">
                <a:avLst/>
              </a:prstGeom>
              <a:noFill/>
              <a:ln cap="flat" cmpd="sng" w="25400">
                <a:solidFill>
                  <a:srgbClr val="A5A5A5">
                    <a:alpha val="60000"/>
                  </a:srgbClr>
                </a:solidFill>
                <a:prstDash val="solid"/>
                <a:round/>
                <a:headEnd len="sm" w="sm" type="none"/>
                <a:tailEnd len="lg" w="lg" type="triangle"/>
              </a:ln>
            </p:spPr>
          </p:cxnSp>
          <p:cxnSp>
            <p:nvCxnSpPr>
              <p:cNvPr id="624" name="Google Shape;624;p27"/>
              <p:cNvCxnSpPr/>
              <p:nvPr/>
            </p:nvCxnSpPr>
            <p:spPr>
              <a:xfrm rot="10800000">
                <a:off x="3656426" y="3969991"/>
                <a:ext cx="4942934" cy="0"/>
              </a:xfrm>
              <a:prstGeom prst="straightConnector1">
                <a:avLst/>
              </a:prstGeom>
              <a:noFill/>
              <a:ln cap="flat" cmpd="sng" w="25400">
                <a:solidFill>
                  <a:srgbClr val="A5A5A5">
                    <a:alpha val="60000"/>
                  </a:srgbClr>
                </a:solidFill>
                <a:prstDash val="solid"/>
                <a:round/>
                <a:headEnd len="sm" w="sm" type="none"/>
                <a:tailEnd len="lg" w="lg" type="triangle"/>
              </a:ln>
            </p:spPr>
          </p:cxnSp>
        </p:grpSp>
        <p:sp>
          <p:nvSpPr>
            <p:cNvPr id="625" name="Google Shape;625;p27"/>
            <p:cNvSpPr/>
            <p:nvPr/>
          </p:nvSpPr>
          <p:spPr>
            <a:xfrm>
              <a:off x="4237216" y="3359951"/>
              <a:ext cx="3879497" cy="364490"/>
            </a:xfrm>
            <a:prstGeom prst="snip1Rect">
              <a:avLst>
                <a:gd fmla="val 16667" name="adj"/>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400" u="none" cap="none" strike="noStrike">
                  <a:solidFill>
                    <a:schemeClr val="dk1"/>
                  </a:solidFill>
                  <a:latin typeface="Arial"/>
                  <a:ea typeface="Arial"/>
                  <a:cs typeface="Arial"/>
                  <a:sym typeface="Arial"/>
                </a:rPr>
                <a:t>Fixed return OR Floating Rate like SOFR</a:t>
              </a:r>
              <a:endParaRPr b="1" i="0" sz="1400" u="none" cap="none" strike="noStrike">
                <a:solidFill>
                  <a:schemeClr val="dk1"/>
                </a:solidFill>
                <a:latin typeface="Arial"/>
                <a:ea typeface="Arial"/>
                <a:cs typeface="Arial"/>
                <a:sym typeface="Arial"/>
              </a:endParaRPr>
            </a:p>
          </p:txBody>
        </p:sp>
        <p:sp>
          <p:nvSpPr>
            <p:cNvPr id="626" name="Google Shape;626;p27"/>
            <p:cNvSpPr/>
            <p:nvPr/>
          </p:nvSpPr>
          <p:spPr>
            <a:xfrm>
              <a:off x="4950462" y="3818294"/>
              <a:ext cx="2453005" cy="364490"/>
            </a:xfrm>
            <a:prstGeom prst="snip1Rect">
              <a:avLst>
                <a:gd fmla="val 16667" name="adj"/>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400" u="none" cap="none" strike="noStrike">
                  <a:solidFill>
                    <a:schemeClr val="dk1"/>
                  </a:solidFill>
                  <a:latin typeface="Arial"/>
                  <a:ea typeface="Arial"/>
                  <a:cs typeface="Arial"/>
                  <a:sym typeface="Arial"/>
                </a:rPr>
                <a:t>Equity Portfolio Return</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28"/>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TERMINOLOGY ASSOCIATED WITH EQS</a:t>
            </a:r>
            <a:endParaRPr/>
          </a:p>
        </p:txBody>
      </p:sp>
      <p:graphicFrame>
        <p:nvGraphicFramePr>
          <p:cNvPr id="632" name="Google Shape;632;p28"/>
          <p:cNvGraphicFramePr/>
          <p:nvPr/>
        </p:nvGraphicFramePr>
        <p:xfrm>
          <a:off x="700088" y="1485900"/>
          <a:ext cx="3000000" cy="3000000"/>
        </p:xfrm>
        <a:graphic>
          <a:graphicData uri="http://schemas.openxmlformats.org/drawingml/2006/table">
            <a:tbl>
              <a:tblPr>
                <a:noFill/>
                <a:tableStyleId>{2EC827F9-9865-43DC-BEFB-80313BB38143}</a:tableStyleId>
              </a:tblPr>
              <a:tblGrid>
                <a:gridCol w="3282625"/>
                <a:gridCol w="7690175"/>
              </a:tblGrid>
              <a:tr h="6401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Currency</a:t>
                      </a:r>
                      <a:endParaRPr sz="1800" u="none" cap="none" strike="noStrike"/>
                    </a:p>
                  </a:txBody>
                  <a:tcPr marT="45725" marB="45725"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3"/>
                      </a:solidFill>
                      <a:prstDash val="solid"/>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t>The CCY of the transaction</a:t>
                      </a:r>
                      <a:endParaRPr b="0"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chemeClr val="accent3"/>
                      </a:solidFill>
                      <a:prstDash val="solid"/>
                      <a:round/>
                      <a:headEnd len="sm" w="sm" type="none"/>
                      <a:tailEnd len="sm" w="sm" type="none"/>
                    </a:lnT>
                    <a:lnB cap="flat" cmpd="sng" w="12700">
                      <a:solidFill>
                        <a:srgbClr val="BFBFBF"/>
                      </a:solidFill>
                      <a:prstDash val="dot"/>
                      <a:round/>
                      <a:headEnd len="sm" w="sm" type="none"/>
                      <a:tailEnd len="sm" w="sm" type="none"/>
                    </a:lnB>
                  </a:tcPr>
                </a:tc>
              </a:tr>
              <a:tr h="6401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Direction</a:t>
                      </a:r>
                      <a:endParaRPr sz="1800" u="none" cap="none" strike="noStrike"/>
                    </a:p>
                  </a:txBody>
                  <a:tcPr marT="45725" marB="45725"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rgbClr val="DAF3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1"/>
                          </a:solidFill>
                        </a:rPr>
                        <a:t>Buy means Paying the Interest Rate &amp; Receive Equity Returns</a:t>
                      </a:r>
                      <a:endParaRPr sz="1800" u="none" cap="none" strike="noStrike">
                        <a:solidFill>
                          <a:schemeClr val="dk1"/>
                        </a:solidFill>
                      </a:endParaRPr>
                    </a:p>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1"/>
                          </a:solidFill>
                        </a:rPr>
                        <a:t>Sell means Paying the Equity Performance &amp; Receive Interest Rate</a:t>
                      </a:r>
                      <a:endParaRPr sz="18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rgbClr val="DAF3EB"/>
                    </a:solidFill>
                  </a:tcPr>
                </a:tc>
              </a:tr>
              <a:tr h="6401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Counterparty</a:t>
                      </a:r>
                      <a:endParaRPr sz="1800" u="none" cap="none" strike="noStrike"/>
                    </a:p>
                  </a:txBody>
                  <a:tcPr marT="45725" marB="45725"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The Counterparty to the transaction</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r>
              <a:tr h="6401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Equity Underlyer</a:t>
                      </a:r>
                      <a:endParaRPr b="1" sz="1800" u="none" cap="none" strike="noStrike"/>
                    </a:p>
                  </a:txBody>
                  <a:tcPr marT="45725" marB="45725"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rgbClr val="DAF3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The Equity Asset (Single EQ Stock or EQ Basket or an EQ Index)</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rgbClr val="DAF3EB"/>
                    </a:solidFill>
                  </a:tcPr>
                </a:tc>
              </a:tr>
              <a:tr h="6401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Interest Rate</a:t>
                      </a:r>
                      <a:endParaRPr sz="1800" u="none" cap="none" strike="noStrike"/>
                    </a:p>
                  </a:txBody>
                  <a:tcPr marT="45725" marB="45725"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The applicable Interest Rate. Can be Fixed or Floating</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r>
              <a:tr h="6401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Spread</a:t>
                      </a:r>
                      <a:endParaRPr sz="1800" u="none" cap="none" strike="noStrike"/>
                    </a:p>
                  </a:txBody>
                  <a:tcPr marT="45725" marB="45725"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rgbClr val="DAF3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The spread which is implemented on the Floating Interest Rate</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rgbClr val="DAF3EB"/>
                    </a:solidFill>
                  </a:tcPr>
                </a:tc>
              </a:tr>
              <a:tr h="6401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Day Count Convention</a:t>
                      </a:r>
                      <a:endParaRPr sz="1800" u="none" cap="none" strike="noStrike"/>
                    </a:p>
                  </a:txBody>
                  <a:tcPr marT="45725" marB="45725"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chemeClr val="accent3"/>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Counts the no. of days between the two reset dates in order to  calculate the payments</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chemeClr val="accent3"/>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29"/>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EQUITY SWAPS  - TRADE ECONOMIES</a:t>
            </a:r>
            <a:endParaRPr/>
          </a:p>
        </p:txBody>
      </p:sp>
      <p:sp>
        <p:nvSpPr>
          <p:cNvPr id="638" name="Google Shape;638;p29"/>
          <p:cNvSpPr/>
          <p:nvPr/>
        </p:nvSpPr>
        <p:spPr>
          <a:xfrm>
            <a:off x="700088" y="1556701"/>
            <a:ext cx="2639076" cy="4663440"/>
          </a:xfrm>
          <a:custGeom>
            <a:rect b="b" l="l" r="r" t="t"/>
            <a:pathLst>
              <a:path extrusionOk="0" h="3760142" w="1980586">
                <a:moveTo>
                  <a:pt x="35116" y="0"/>
                </a:moveTo>
                <a:lnTo>
                  <a:pt x="1945470" y="0"/>
                </a:lnTo>
                <a:cubicBezTo>
                  <a:pt x="1964864" y="0"/>
                  <a:pt x="1980586" y="15722"/>
                  <a:pt x="1980586" y="35116"/>
                </a:cubicBezTo>
                <a:lnTo>
                  <a:pt x="1980586" y="3725026"/>
                </a:lnTo>
                <a:cubicBezTo>
                  <a:pt x="1980586" y="3744420"/>
                  <a:pt x="1964864" y="3760142"/>
                  <a:pt x="1945470" y="3760142"/>
                </a:cubicBezTo>
                <a:lnTo>
                  <a:pt x="35116" y="3760142"/>
                </a:lnTo>
                <a:cubicBezTo>
                  <a:pt x="15722" y="3760142"/>
                  <a:pt x="0" y="3744420"/>
                  <a:pt x="0" y="3725026"/>
                </a:cubicBezTo>
                <a:lnTo>
                  <a:pt x="0" y="35116"/>
                </a:lnTo>
                <a:cubicBezTo>
                  <a:pt x="0" y="15722"/>
                  <a:pt x="15722" y="0"/>
                  <a:pt x="35116" y="0"/>
                </a:cubicBezTo>
                <a:close/>
              </a:path>
            </a:pathLst>
          </a:custGeom>
          <a:solidFill>
            <a:schemeClr val="lt1"/>
          </a:solidFill>
          <a:ln cap="flat" cmpd="sng" w="12700">
            <a:solidFill>
              <a:schemeClr val="lt2"/>
            </a:solidFill>
            <a:prstDash val="solid"/>
            <a:miter lim="800000"/>
            <a:headEnd len="sm" w="sm" type="none"/>
            <a:tailEnd len="sm" w="sm" type="none"/>
          </a:ln>
          <a:effectLst>
            <a:outerShdw blurRad="38100" rotWithShape="0" algn="t" dir="5400000" dist="12700">
              <a:srgbClr val="000000">
                <a:alpha val="14509"/>
              </a:srgbClr>
            </a:outerShdw>
          </a:effectLst>
        </p:spPr>
        <p:txBody>
          <a:bodyPr anchorCtr="0" anchor="t" bIns="45700" lIns="82275" spcFirstLastPara="1" rIns="82275" wrap="square" tIns="640075">
            <a:noAutofit/>
          </a:bodyPr>
          <a:lstStyle/>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Party A , Party B, Notional Amount, Trade Date, Effective Date, Termination Date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Index</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Exchanges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Related Exchanges</a:t>
            </a:r>
            <a:endParaRPr b="0" i="0" sz="1400" u="none" cap="none" strike="noStrike">
              <a:solidFill>
                <a:srgbClr val="000000"/>
              </a:solidFill>
              <a:latin typeface="Arial"/>
              <a:ea typeface="Arial"/>
              <a:cs typeface="Arial"/>
              <a:sym typeface="Arial"/>
            </a:endParaRPr>
          </a:p>
          <a:p>
            <a:pPr indent="-184150" lvl="0" marL="285750" marR="0" rtl="0" algn="l">
              <a:lnSpc>
                <a:spcPct val="100000"/>
              </a:lnSpc>
              <a:spcBef>
                <a:spcPts val="0"/>
              </a:spcBef>
              <a:spcAft>
                <a:spcPts val="0"/>
              </a:spcAft>
              <a:buClr>
                <a:srgbClr val="FFFFFF"/>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639" name="Google Shape;639;p29"/>
          <p:cNvSpPr/>
          <p:nvPr/>
        </p:nvSpPr>
        <p:spPr>
          <a:xfrm>
            <a:off x="3473388" y="1556701"/>
            <a:ext cx="2639076" cy="4663440"/>
          </a:xfrm>
          <a:custGeom>
            <a:rect b="b" l="l" r="r" t="t"/>
            <a:pathLst>
              <a:path extrusionOk="0" h="3760142" w="1980586">
                <a:moveTo>
                  <a:pt x="35116" y="0"/>
                </a:moveTo>
                <a:lnTo>
                  <a:pt x="1945470" y="0"/>
                </a:lnTo>
                <a:cubicBezTo>
                  <a:pt x="1964864" y="0"/>
                  <a:pt x="1980586" y="15722"/>
                  <a:pt x="1980586" y="35116"/>
                </a:cubicBezTo>
                <a:lnTo>
                  <a:pt x="1980586" y="3725026"/>
                </a:lnTo>
                <a:cubicBezTo>
                  <a:pt x="1980586" y="3744420"/>
                  <a:pt x="1964864" y="3760142"/>
                  <a:pt x="1945470" y="3760142"/>
                </a:cubicBezTo>
                <a:lnTo>
                  <a:pt x="35116" y="3760142"/>
                </a:lnTo>
                <a:cubicBezTo>
                  <a:pt x="15722" y="3760142"/>
                  <a:pt x="0" y="3744420"/>
                  <a:pt x="0" y="3725026"/>
                </a:cubicBezTo>
                <a:lnTo>
                  <a:pt x="0" y="35116"/>
                </a:lnTo>
                <a:cubicBezTo>
                  <a:pt x="0" y="15722"/>
                  <a:pt x="15722" y="0"/>
                  <a:pt x="35116" y="0"/>
                </a:cubicBezTo>
                <a:close/>
              </a:path>
            </a:pathLst>
          </a:custGeom>
          <a:solidFill>
            <a:schemeClr val="lt1"/>
          </a:solidFill>
          <a:ln cap="flat" cmpd="sng" w="12700">
            <a:solidFill>
              <a:schemeClr val="lt2"/>
            </a:solidFill>
            <a:prstDash val="solid"/>
            <a:miter lim="800000"/>
            <a:headEnd len="sm" w="sm" type="none"/>
            <a:tailEnd len="sm" w="sm" type="none"/>
          </a:ln>
          <a:effectLst>
            <a:outerShdw blurRad="38100" rotWithShape="0" algn="t" dir="5400000" dist="12700">
              <a:srgbClr val="000000">
                <a:alpha val="14509"/>
              </a:srgbClr>
            </a:outerShdw>
          </a:effectLst>
        </p:spPr>
        <p:txBody>
          <a:bodyPr anchorCtr="0" anchor="t" bIns="45700" lIns="82275" spcFirstLastPara="1" rIns="82275" wrap="square" tIns="640075">
            <a:noAutofit/>
          </a:bodyPr>
          <a:lstStyle/>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Equity Amount Payer: </a:t>
            </a:r>
            <a:r>
              <a:rPr b="0" i="0" lang="en-US" sz="1600" u="none" cap="none" strike="noStrike">
                <a:solidFill>
                  <a:schemeClr val="dk1"/>
                </a:solidFill>
                <a:latin typeface="Arial"/>
                <a:ea typeface="Arial"/>
                <a:cs typeface="Arial"/>
                <a:sym typeface="Arial"/>
              </a:rPr>
              <a:t>[Party A/B], Equity Amount Receiver  [Party A/B], Equity Notional, </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Type of Return:</a:t>
            </a:r>
            <a:r>
              <a:rPr b="0" i="0" lang="en-US" sz="1600" u="none" cap="none" strike="noStrike">
                <a:solidFill>
                  <a:schemeClr val="dk1"/>
                </a:solidFill>
                <a:latin typeface="Arial"/>
                <a:ea typeface="Arial"/>
                <a:cs typeface="Arial"/>
                <a:sym typeface="Arial"/>
              </a:rPr>
              <a:t> Price Return/Dividend Return /Total Return,   Valuation Dates, Valuation Time</a:t>
            </a:r>
            <a:endParaRPr b="0" i="0" sz="1600" u="none" cap="none" strike="noStrike">
              <a:solidFill>
                <a:schemeClr val="dk1"/>
              </a:solidFill>
              <a:latin typeface="Arial"/>
              <a:ea typeface="Arial"/>
              <a:cs typeface="Arial"/>
              <a:sym typeface="Arial"/>
            </a:endParaRPr>
          </a:p>
        </p:txBody>
      </p:sp>
      <p:sp>
        <p:nvSpPr>
          <p:cNvPr id="640" name="Google Shape;640;p29"/>
          <p:cNvSpPr/>
          <p:nvPr/>
        </p:nvSpPr>
        <p:spPr>
          <a:xfrm>
            <a:off x="6259383" y="1556701"/>
            <a:ext cx="2639076" cy="4663440"/>
          </a:xfrm>
          <a:custGeom>
            <a:rect b="b" l="l" r="r" t="t"/>
            <a:pathLst>
              <a:path extrusionOk="0" h="3760142" w="1980586">
                <a:moveTo>
                  <a:pt x="35116" y="0"/>
                </a:moveTo>
                <a:lnTo>
                  <a:pt x="1945470" y="0"/>
                </a:lnTo>
                <a:cubicBezTo>
                  <a:pt x="1964864" y="0"/>
                  <a:pt x="1980586" y="15722"/>
                  <a:pt x="1980586" y="35116"/>
                </a:cubicBezTo>
                <a:lnTo>
                  <a:pt x="1980586" y="3725026"/>
                </a:lnTo>
                <a:cubicBezTo>
                  <a:pt x="1980586" y="3744420"/>
                  <a:pt x="1964864" y="3760142"/>
                  <a:pt x="1945470" y="3760142"/>
                </a:cubicBezTo>
                <a:lnTo>
                  <a:pt x="35116" y="3760142"/>
                </a:lnTo>
                <a:cubicBezTo>
                  <a:pt x="15722" y="3760142"/>
                  <a:pt x="0" y="3744420"/>
                  <a:pt x="0" y="3725026"/>
                </a:cubicBezTo>
                <a:lnTo>
                  <a:pt x="0" y="35116"/>
                </a:lnTo>
                <a:cubicBezTo>
                  <a:pt x="0" y="15722"/>
                  <a:pt x="15722" y="0"/>
                  <a:pt x="35116" y="0"/>
                </a:cubicBezTo>
                <a:close/>
              </a:path>
            </a:pathLst>
          </a:custGeom>
          <a:solidFill>
            <a:schemeClr val="lt1"/>
          </a:solidFill>
          <a:ln cap="flat" cmpd="sng" w="12700">
            <a:solidFill>
              <a:schemeClr val="lt2"/>
            </a:solidFill>
            <a:prstDash val="solid"/>
            <a:miter lim="800000"/>
            <a:headEnd len="sm" w="sm" type="none"/>
            <a:tailEnd len="sm" w="sm" type="none"/>
          </a:ln>
          <a:effectLst>
            <a:outerShdw blurRad="38100" rotWithShape="0" algn="t" dir="5400000" dist="12700">
              <a:srgbClr val="000000">
                <a:alpha val="14509"/>
              </a:srgbClr>
            </a:outerShdw>
          </a:effectLst>
        </p:spPr>
        <p:txBody>
          <a:bodyPr anchorCtr="0" anchor="t" bIns="45700" lIns="82275" spcFirstLastPara="1" rIns="82275" wrap="square" tIns="640075">
            <a:noAutofit/>
          </a:bodyPr>
          <a:lstStyle/>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Floating Amount Payer: </a:t>
            </a:r>
            <a:r>
              <a:rPr b="0" i="0" lang="en-US" sz="1600" u="none" cap="none" strike="noStrike">
                <a:solidFill>
                  <a:schemeClr val="dk1"/>
                </a:solidFill>
                <a:latin typeface="Arial"/>
                <a:ea typeface="Arial"/>
                <a:cs typeface="Arial"/>
                <a:sym typeface="Arial"/>
              </a:rPr>
              <a:t>[Party A/B] Floating Amount, Floating Amount Payer, Payer Currency Amount, Payment Dates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Floating Rate Option, Designated Maturity - Fixing Day - Fixing Time Spread: [Plus/Minus %]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Floating Rate Day Count Fraction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Reset Dates: </a:t>
            </a:r>
            <a:r>
              <a:rPr b="0" i="0" lang="en-US" sz="1600" u="none" cap="none" strike="noStrike">
                <a:solidFill>
                  <a:schemeClr val="dk1"/>
                </a:solidFill>
                <a:latin typeface="Arial"/>
                <a:ea typeface="Arial"/>
                <a:cs typeface="Arial"/>
                <a:sym typeface="Arial"/>
              </a:rPr>
              <a:t>Rate Cut-off Dates , Method of Averaging</a:t>
            </a:r>
            <a:endParaRPr b="0" i="0" sz="1400" u="none" cap="none" strike="noStrike">
              <a:solidFill>
                <a:srgbClr val="000000"/>
              </a:solidFill>
              <a:latin typeface="Arial"/>
              <a:ea typeface="Arial"/>
              <a:cs typeface="Arial"/>
              <a:sym typeface="Arial"/>
            </a:endParaRPr>
          </a:p>
        </p:txBody>
      </p:sp>
      <p:grpSp>
        <p:nvGrpSpPr>
          <p:cNvPr id="641" name="Google Shape;641;p29"/>
          <p:cNvGrpSpPr/>
          <p:nvPr/>
        </p:nvGrpSpPr>
        <p:grpSpPr>
          <a:xfrm>
            <a:off x="9044576" y="2521566"/>
            <a:ext cx="296707" cy="162943"/>
            <a:chOff x="5708666" y="1536043"/>
            <a:chExt cx="1230708" cy="823589"/>
          </a:xfrm>
        </p:grpSpPr>
        <p:sp>
          <p:nvSpPr>
            <p:cNvPr id="642" name="Google Shape;642;p29"/>
            <p:cNvSpPr/>
            <p:nvPr/>
          </p:nvSpPr>
          <p:spPr>
            <a:xfrm>
              <a:off x="5708666" y="1536043"/>
              <a:ext cx="1230708" cy="823589"/>
            </a:xfrm>
            <a:custGeom>
              <a:rect b="b" l="l" r="r" t="t"/>
              <a:pathLst>
                <a:path extrusionOk="0" h="823589" w="1230708">
                  <a:moveTo>
                    <a:pt x="1227455" y="401257"/>
                  </a:moveTo>
                  <a:cubicBezTo>
                    <a:pt x="1216313" y="384858"/>
                    <a:pt x="950908" y="0"/>
                    <a:pt x="615334" y="0"/>
                  </a:cubicBezTo>
                  <a:cubicBezTo>
                    <a:pt x="279814" y="0"/>
                    <a:pt x="14355" y="384858"/>
                    <a:pt x="3214" y="401257"/>
                  </a:cubicBezTo>
                  <a:cubicBezTo>
                    <a:pt x="-1071" y="407601"/>
                    <a:pt x="-1071" y="415989"/>
                    <a:pt x="3214" y="422333"/>
                  </a:cubicBezTo>
                  <a:cubicBezTo>
                    <a:pt x="14355" y="438732"/>
                    <a:pt x="279761" y="823590"/>
                    <a:pt x="615334" y="823590"/>
                  </a:cubicBezTo>
                  <a:cubicBezTo>
                    <a:pt x="950908" y="823590"/>
                    <a:pt x="1216313" y="438732"/>
                    <a:pt x="1227455" y="422333"/>
                  </a:cubicBezTo>
                  <a:cubicBezTo>
                    <a:pt x="1231793" y="415989"/>
                    <a:pt x="1231793" y="407601"/>
                    <a:pt x="1227455" y="401257"/>
                  </a:cubicBezTo>
                  <a:close/>
                  <a:moveTo>
                    <a:pt x="615334" y="786168"/>
                  </a:moveTo>
                  <a:cubicBezTo>
                    <a:pt x="329467" y="786168"/>
                    <a:pt x="86826" y="473680"/>
                    <a:pt x="41565" y="411795"/>
                  </a:cubicBezTo>
                  <a:cubicBezTo>
                    <a:pt x="86826" y="349910"/>
                    <a:pt x="329467" y="37475"/>
                    <a:pt x="615334" y="37475"/>
                  </a:cubicBezTo>
                  <a:cubicBezTo>
                    <a:pt x="901255" y="37475"/>
                    <a:pt x="1143896" y="349964"/>
                    <a:pt x="1189103" y="411849"/>
                  </a:cubicBezTo>
                  <a:cubicBezTo>
                    <a:pt x="1143949" y="473680"/>
                    <a:pt x="901522" y="786168"/>
                    <a:pt x="615334" y="786168"/>
                  </a:cubicBezTo>
                  <a:close/>
                </a:path>
              </a:pathLst>
            </a:custGeom>
            <a:solidFill>
              <a:schemeClr val="l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3" name="Google Shape;643;p29"/>
            <p:cNvSpPr/>
            <p:nvPr/>
          </p:nvSpPr>
          <p:spPr>
            <a:xfrm>
              <a:off x="6025653" y="1648361"/>
              <a:ext cx="596694" cy="598954"/>
            </a:xfrm>
            <a:custGeom>
              <a:rect b="b" l="l" r="r" t="t"/>
              <a:pathLst>
                <a:path extrusionOk="0" h="598954" w="596694">
                  <a:moveTo>
                    <a:pt x="298347" y="0"/>
                  </a:moveTo>
                  <a:cubicBezTo>
                    <a:pt x="133854" y="0"/>
                    <a:pt x="0" y="134362"/>
                    <a:pt x="0" y="299477"/>
                  </a:cubicBezTo>
                  <a:cubicBezTo>
                    <a:pt x="0" y="464593"/>
                    <a:pt x="133854" y="598955"/>
                    <a:pt x="298347" y="598955"/>
                  </a:cubicBezTo>
                  <a:cubicBezTo>
                    <a:pt x="462840" y="598955"/>
                    <a:pt x="596694" y="464593"/>
                    <a:pt x="596694" y="299477"/>
                  </a:cubicBezTo>
                  <a:cubicBezTo>
                    <a:pt x="596694" y="134362"/>
                    <a:pt x="462840" y="0"/>
                    <a:pt x="298347" y="0"/>
                  </a:cubicBezTo>
                  <a:close/>
                  <a:moveTo>
                    <a:pt x="298347" y="561534"/>
                  </a:moveTo>
                  <a:cubicBezTo>
                    <a:pt x="154423" y="561534"/>
                    <a:pt x="37280" y="444001"/>
                    <a:pt x="37280" y="299477"/>
                  </a:cubicBezTo>
                  <a:cubicBezTo>
                    <a:pt x="37280" y="155008"/>
                    <a:pt x="154369" y="37475"/>
                    <a:pt x="298347" y="37475"/>
                  </a:cubicBezTo>
                  <a:cubicBezTo>
                    <a:pt x="442325" y="37475"/>
                    <a:pt x="559414" y="155008"/>
                    <a:pt x="559414" y="299477"/>
                  </a:cubicBezTo>
                  <a:cubicBezTo>
                    <a:pt x="559414" y="443947"/>
                    <a:pt x="442325" y="561534"/>
                    <a:pt x="298347" y="561534"/>
                  </a:cubicBezTo>
                  <a:close/>
                </a:path>
              </a:pathLst>
            </a:custGeom>
            <a:solidFill>
              <a:schemeClr val="l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4" name="Google Shape;644;p29"/>
            <p:cNvSpPr/>
            <p:nvPr/>
          </p:nvSpPr>
          <p:spPr>
            <a:xfrm>
              <a:off x="6156186" y="1779389"/>
              <a:ext cx="298347" cy="299477"/>
            </a:xfrm>
            <a:custGeom>
              <a:rect b="b" l="l" r="r" t="t"/>
              <a:pathLst>
                <a:path extrusionOk="0" h="299477" w="298347">
                  <a:moveTo>
                    <a:pt x="167814" y="37421"/>
                  </a:moveTo>
                  <a:cubicBezTo>
                    <a:pt x="158440" y="37421"/>
                    <a:pt x="149334" y="38658"/>
                    <a:pt x="140550" y="40647"/>
                  </a:cubicBezTo>
                  <a:cubicBezTo>
                    <a:pt x="128123" y="16560"/>
                    <a:pt x="103377" y="0"/>
                    <a:pt x="74560" y="0"/>
                  </a:cubicBezTo>
                  <a:cubicBezTo>
                    <a:pt x="33423" y="0"/>
                    <a:pt x="0" y="33604"/>
                    <a:pt x="0" y="74842"/>
                  </a:cubicBezTo>
                  <a:cubicBezTo>
                    <a:pt x="0" y="103769"/>
                    <a:pt x="16605" y="128609"/>
                    <a:pt x="40601" y="141136"/>
                  </a:cubicBezTo>
                  <a:cubicBezTo>
                    <a:pt x="38673" y="149954"/>
                    <a:pt x="37280" y="158986"/>
                    <a:pt x="37280" y="168449"/>
                  </a:cubicBezTo>
                  <a:cubicBezTo>
                    <a:pt x="37280" y="240711"/>
                    <a:pt x="95825" y="299477"/>
                    <a:pt x="167814" y="299477"/>
                  </a:cubicBezTo>
                  <a:cubicBezTo>
                    <a:pt x="239803" y="299477"/>
                    <a:pt x="298347" y="240711"/>
                    <a:pt x="298347" y="168449"/>
                  </a:cubicBezTo>
                  <a:cubicBezTo>
                    <a:pt x="298347" y="96241"/>
                    <a:pt x="239803" y="37421"/>
                    <a:pt x="167814" y="37421"/>
                  </a:cubicBezTo>
                  <a:close/>
                  <a:moveTo>
                    <a:pt x="74560" y="37421"/>
                  </a:moveTo>
                  <a:cubicBezTo>
                    <a:pt x="95128" y="37421"/>
                    <a:pt x="111840" y="54196"/>
                    <a:pt x="111840" y="74842"/>
                  </a:cubicBezTo>
                  <a:cubicBezTo>
                    <a:pt x="111840" y="95489"/>
                    <a:pt x="95128" y="112264"/>
                    <a:pt x="74560" y="112264"/>
                  </a:cubicBezTo>
                  <a:cubicBezTo>
                    <a:pt x="53992" y="112264"/>
                    <a:pt x="37280" y="95489"/>
                    <a:pt x="37280" y="74842"/>
                  </a:cubicBezTo>
                  <a:cubicBezTo>
                    <a:pt x="37280" y="54196"/>
                    <a:pt x="53992" y="37421"/>
                    <a:pt x="74560" y="37421"/>
                  </a:cubicBezTo>
                  <a:close/>
                  <a:moveTo>
                    <a:pt x="167814" y="262056"/>
                  </a:moveTo>
                  <a:cubicBezTo>
                    <a:pt x="116393" y="262056"/>
                    <a:pt x="74614" y="220065"/>
                    <a:pt x="74614" y="168449"/>
                  </a:cubicBezTo>
                  <a:cubicBezTo>
                    <a:pt x="74614" y="161890"/>
                    <a:pt x="75631" y="155653"/>
                    <a:pt x="77024" y="149470"/>
                  </a:cubicBezTo>
                  <a:cubicBezTo>
                    <a:pt x="116339" y="148179"/>
                    <a:pt x="147942" y="116404"/>
                    <a:pt x="149013" y="76939"/>
                  </a:cubicBezTo>
                  <a:cubicBezTo>
                    <a:pt x="155065" y="75595"/>
                    <a:pt x="161386" y="74896"/>
                    <a:pt x="167867" y="74896"/>
                  </a:cubicBezTo>
                  <a:cubicBezTo>
                    <a:pt x="219288" y="74896"/>
                    <a:pt x="261121" y="116888"/>
                    <a:pt x="261121" y="168449"/>
                  </a:cubicBezTo>
                  <a:cubicBezTo>
                    <a:pt x="261121" y="220011"/>
                    <a:pt x="219234" y="262056"/>
                    <a:pt x="167814" y="262056"/>
                  </a:cubicBezTo>
                  <a:close/>
                </a:path>
              </a:pathLst>
            </a:custGeom>
            <a:solidFill>
              <a:schemeClr val="l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645" name="Google Shape;645;p29"/>
          <p:cNvSpPr/>
          <p:nvPr/>
        </p:nvSpPr>
        <p:spPr>
          <a:xfrm>
            <a:off x="9033812" y="1556701"/>
            <a:ext cx="2639076" cy="4663440"/>
          </a:xfrm>
          <a:custGeom>
            <a:rect b="b" l="l" r="r" t="t"/>
            <a:pathLst>
              <a:path extrusionOk="0" h="3760142" w="1980586">
                <a:moveTo>
                  <a:pt x="35116" y="0"/>
                </a:moveTo>
                <a:lnTo>
                  <a:pt x="1945470" y="0"/>
                </a:lnTo>
                <a:cubicBezTo>
                  <a:pt x="1964864" y="0"/>
                  <a:pt x="1980586" y="15722"/>
                  <a:pt x="1980586" y="35116"/>
                </a:cubicBezTo>
                <a:lnTo>
                  <a:pt x="1980586" y="3725026"/>
                </a:lnTo>
                <a:cubicBezTo>
                  <a:pt x="1980586" y="3744420"/>
                  <a:pt x="1964864" y="3760142"/>
                  <a:pt x="1945470" y="3760142"/>
                </a:cubicBezTo>
                <a:lnTo>
                  <a:pt x="35116" y="3760142"/>
                </a:lnTo>
                <a:cubicBezTo>
                  <a:pt x="15722" y="3760142"/>
                  <a:pt x="0" y="3744420"/>
                  <a:pt x="0" y="3725026"/>
                </a:cubicBezTo>
                <a:lnTo>
                  <a:pt x="0" y="35116"/>
                </a:lnTo>
                <a:cubicBezTo>
                  <a:pt x="0" y="15722"/>
                  <a:pt x="15722" y="0"/>
                  <a:pt x="35116" y="0"/>
                </a:cubicBezTo>
                <a:close/>
              </a:path>
            </a:pathLst>
          </a:custGeom>
          <a:solidFill>
            <a:schemeClr val="lt1"/>
          </a:solidFill>
          <a:ln cap="flat" cmpd="sng" w="12700">
            <a:solidFill>
              <a:schemeClr val="lt2"/>
            </a:solidFill>
            <a:prstDash val="solid"/>
            <a:miter lim="800000"/>
            <a:headEnd len="sm" w="sm" type="none"/>
            <a:tailEnd len="sm" w="sm" type="none"/>
          </a:ln>
          <a:effectLst>
            <a:outerShdw blurRad="38100" rotWithShape="0" algn="t" dir="5400000" dist="12700">
              <a:srgbClr val="000000">
                <a:alpha val="14509"/>
              </a:srgbClr>
            </a:outerShdw>
          </a:effectLst>
        </p:spPr>
        <p:txBody>
          <a:bodyPr anchorCtr="0" anchor="t" bIns="45700" lIns="82275" spcFirstLastPara="1" rIns="82275" wrap="square" tIns="640075">
            <a:noAutofit/>
          </a:bodyPr>
          <a:lstStyle/>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Settlement Currency, Cash Settlement - Applicable</a:t>
            </a:r>
            <a:endParaRPr b="0" i="0" sz="1400" u="none" cap="none" strike="noStrike">
              <a:solidFill>
                <a:srgbClr val="000000"/>
              </a:solidFill>
              <a:latin typeface="Arial"/>
              <a:ea typeface="Arial"/>
              <a:cs typeface="Arial"/>
              <a:sym typeface="Arial"/>
            </a:endParaRPr>
          </a:p>
        </p:txBody>
      </p:sp>
      <p:sp>
        <p:nvSpPr>
          <p:cNvPr id="646" name="Google Shape;646;p29"/>
          <p:cNvSpPr/>
          <p:nvPr/>
        </p:nvSpPr>
        <p:spPr>
          <a:xfrm>
            <a:off x="700088" y="1485900"/>
            <a:ext cx="2639076" cy="630157"/>
          </a:xfrm>
          <a:custGeom>
            <a:rect b="b" l="l" r="r" t="t"/>
            <a:pathLst>
              <a:path extrusionOk="0" h="744665" w="1980586">
                <a:moveTo>
                  <a:pt x="0" y="0"/>
                </a:moveTo>
                <a:lnTo>
                  <a:pt x="1980586" y="0"/>
                </a:lnTo>
                <a:lnTo>
                  <a:pt x="1980586" y="744665"/>
                </a:lnTo>
                <a:lnTo>
                  <a:pt x="0" y="744665"/>
                </a:lnTo>
                <a:close/>
              </a:path>
            </a:pathLst>
          </a:custGeom>
          <a:solidFill>
            <a:schemeClr val="dk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600" u="none" cap="none" strike="noStrike">
                <a:solidFill>
                  <a:schemeClr val="lt1"/>
                </a:solidFill>
                <a:latin typeface="Arial"/>
                <a:ea typeface="Arial"/>
                <a:cs typeface="Arial"/>
                <a:sym typeface="Arial"/>
              </a:rPr>
              <a:t>General Terms</a:t>
            </a:r>
            <a:endParaRPr b="1" i="0" sz="1200" u="none" cap="none" strike="noStrike">
              <a:solidFill>
                <a:srgbClr val="000000"/>
              </a:solidFill>
              <a:latin typeface="Arial"/>
              <a:ea typeface="Arial"/>
              <a:cs typeface="Arial"/>
              <a:sym typeface="Arial"/>
            </a:endParaRPr>
          </a:p>
        </p:txBody>
      </p:sp>
      <p:sp>
        <p:nvSpPr>
          <p:cNvPr id="647" name="Google Shape;647;p29"/>
          <p:cNvSpPr/>
          <p:nvPr/>
        </p:nvSpPr>
        <p:spPr>
          <a:xfrm>
            <a:off x="3473388" y="1485900"/>
            <a:ext cx="2639076" cy="630157"/>
          </a:xfrm>
          <a:custGeom>
            <a:rect b="b" l="l" r="r" t="t"/>
            <a:pathLst>
              <a:path extrusionOk="0" h="744665" w="1980586">
                <a:moveTo>
                  <a:pt x="0" y="0"/>
                </a:moveTo>
                <a:lnTo>
                  <a:pt x="1980586" y="0"/>
                </a:lnTo>
                <a:lnTo>
                  <a:pt x="1980586" y="744665"/>
                </a:lnTo>
                <a:lnTo>
                  <a:pt x="0" y="744665"/>
                </a:lnTo>
                <a:close/>
              </a:path>
            </a:pathLst>
          </a:custGeom>
          <a:solidFill>
            <a:schemeClr val="accent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600" u="none" cap="none" strike="noStrike">
                <a:solidFill>
                  <a:schemeClr val="lt1"/>
                </a:solidFill>
                <a:latin typeface="Arial"/>
                <a:ea typeface="Arial"/>
                <a:cs typeface="Arial"/>
                <a:sym typeface="Arial"/>
              </a:rPr>
              <a:t>Equity  Amounts</a:t>
            </a:r>
            <a:endParaRPr b="1" i="0" sz="1200" u="none" cap="none" strike="noStrike">
              <a:solidFill>
                <a:srgbClr val="000000"/>
              </a:solidFill>
              <a:latin typeface="Arial"/>
              <a:ea typeface="Arial"/>
              <a:cs typeface="Arial"/>
              <a:sym typeface="Arial"/>
            </a:endParaRPr>
          </a:p>
        </p:txBody>
      </p:sp>
      <p:sp>
        <p:nvSpPr>
          <p:cNvPr id="648" name="Google Shape;648;p29"/>
          <p:cNvSpPr/>
          <p:nvPr/>
        </p:nvSpPr>
        <p:spPr>
          <a:xfrm>
            <a:off x="6259383" y="1485900"/>
            <a:ext cx="2639076" cy="630157"/>
          </a:xfrm>
          <a:custGeom>
            <a:rect b="b" l="l" r="r" t="t"/>
            <a:pathLst>
              <a:path extrusionOk="0" h="744665" w="1980586">
                <a:moveTo>
                  <a:pt x="0" y="0"/>
                </a:moveTo>
                <a:lnTo>
                  <a:pt x="1980586" y="0"/>
                </a:lnTo>
                <a:lnTo>
                  <a:pt x="1980586" y="744665"/>
                </a:lnTo>
                <a:lnTo>
                  <a:pt x="0" y="744665"/>
                </a:lnTo>
                <a:close/>
              </a:path>
            </a:pathLst>
          </a:cu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600" u="none" cap="none" strike="noStrike">
                <a:solidFill>
                  <a:schemeClr val="lt1"/>
                </a:solidFill>
                <a:latin typeface="Arial"/>
                <a:ea typeface="Arial"/>
                <a:cs typeface="Arial"/>
                <a:sym typeface="Arial"/>
              </a:rPr>
              <a:t>Floating Rate</a:t>
            </a:r>
            <a:br>
              <a:rPr b="1" i="0" lang="en-US" sz="16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Amounts</a:t>
            </a:r>
            <a:endParaRPr b="1" i="0" sz="1200" u="none" cap="none" strike="noStrike">
              <a:solidFill>
                <a:srgbClr val="000000"/>
              </a:solidFill>
              <a:latin typeface="Arial"/>
              <a:ea typeface="Arial"/>
              <a:cs typeface="Arial"/>
              <a:sym typeface="Arial"/>
            </a:endParaRPr>
          </a:p>
        </p:txBody>
      </p:sp>
      <p:sp>
        <p:nvSpPr>
          <p:cNvPr id="649" name="Google Shape;649;p29"/>
          <p:cNvSpPr/>
          <p:nvPr/>
        </p:nvSpPr>
        <p:spPr>
          <a:xfrm>
            <a:off x="9033812" y="1485900"/>
            <a:ext cx="2639076" cy="630157"/>
          </a:xfrm>
          <a:custGeom>
            <a:rect b="b" l="l" r="r" t="t"/>
            <a:pathLst>
              <a:path extrusionOk="0" h="744665" w="1980586">
                <a:moveTo>
                  <a:pt x="0" y="0"/>
                </a:moveTo>
                <a:lnTo>
                  <a:pt x="1980586" y="0"/>
                </a:lnTo>
                <a:lnTo>
                  <a:pt x="1980586" y="744665"/>
                </a:lnTo>
                <a:lnTo>
                  <a:pt x="0" y="744665"/>
                </a:lnTo>
                <a:close/>
              </a:path>
            </a:pathLst>
          </a:custGeom>
          <a:solidFill>
            <a:schemeClr val="accent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600" u="none" cap="none" strike="noStrike">
                <a:solidFill>
                  <a:schemeClr val="lt1"/>
                </a:solidFill>
                <a:latin typeface="Arial"/>
                <a:ea typeface="Arial"/>
                <a:cs typeface="Arial"/>
                <a:sym typeface="Arial"/>
              </a:rPr>
              <a:t>Settlement Terms </a:t>
            </a:r>
            <a:endParaRPr b="1" i="0" sz="12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grpSp>
        <p:nvGrpSpPr>
          <p:cNvPr id="654" name="Google Shape;654;p30"/>
          <p:cNvGrpSpPr/>
          <p:nvPr/>
        </p:nvGrpSpPr>
        <p:grpSpPr>
          <a:xfrm>
            <a:off x="-22430" y="1485899"/>
            <a:ext cx="12214430" cy="457200"/>
            <a:chOff x="-22430" y="1485899"/>
            <a:chExt cx="12214430" cy="457200"/>
          </a:xfrm>
        </p:grpSpPr>
        <p:sp>
          <p:nvSpPr>
            <p:cNvPr id="655" name="Google Shape;655;p30"/>
            <p:cNvSpPr/>
            <p:nvPr/>
          </p:nvSpPr>
          <p:spPr>
            <a:xfrm>
              <a:off x="-22430" y="1485899"/>
              <a:ext cx="12214430" cy="457200"/>
            </a:xfrm>
            <a:prstGeom prst="roundRect">
              <a:avLst>
                <a:gd fmla="val 0" name="adj"/>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56" name="Google Shape;656;p30"/>
            <p:cNvSpPr txBox="1"/>
            <p:nvPr/>
          </p:nvSpPr>
          <p:spPr>
            <a:xfrm>
              <a:off x="700088" y="1545242"/>
              <a:ext cx="10972800" cy="33851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The two cash flows are referred to as "legs" of the swap.</a:t>
              </a:r>
              <a:endParaRPr b="1" i="0" sz="1600" u="none" cap="none" strike="noStrike">
                <a:solidFill>
                  <a:schemeClr val="dk1"/>
                </a:solidFill>
                <a:latin typeface="Arial"/>
                <a:ea typeface="Arial"/>
                <a:cs typeface="Arial"/>
                <a:sym typeface="Arial"/>
              </a:endParaRPr>
            </a:p>
          </p:txBody>
        </p:sp>
      </p:grpSp>
      <p:sp>
        <p:nvSpPr>
          <p:cNvPr id="657" name="Google Shape;657;p30"/>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TWO LEGS OF AN EQUITY SWAP</a:t>
            </a:r>
            <a:endParaRPr/>
          </a:p>
        </p:txBody>
      </p:sp>
      <p:sp>
        <p:nvSpPr>
          <p:cNvPr id="658" name="Google Shape;658;p30"/>
          <p:cNvSpPr/>
          <p:nvPr/>
        </p:nvSpPr>
        <p:spPr>
          <a:xfrm rot="-5400000">
            <a:off x="5944025" y="1591209"/>
            <a:ext cx="451588" cy="4605426"/>
          </a:xfrm>
          <a:prstGeom prst="rightBrace">
            <a:avLst>
              <a:gd fmla="val 30978" name="adj1"/>
              <a:gd fmla="val 50000" name="adj2"/>
            </a:avLst>
          </a:prstGeom>
          <a:noFill/>
          <a:ln cap="flat" cmpd="sng" w="19050">
            <a:solidFill>
              <a:srgbClr val="75707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59" name="Google Shape;659;p30"/>
          <p:cNvSpPr/>
          <p:nvPr/>
        </p:nvSpPr>
        <p:spPr>
          <a:xfrm>
            <a:off x="685800" y="4162530"/>
            <a:ext cx="4987787" cy="164833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60" name="Google Shape;660;p30"/>
          <p:cNvSpPr/>
          <p:nvPr/>
        </p:nvSpPr>
        <p:spPr>
          <a:xfrm>
            <a:off x="1198277" y="4288422"/>
            <a:ext cx="3962832" cy="4572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First Leg</a:t>
            </a:r>
            <a:endParaRPr b="0" i="0" sz="1400" u="none" cap="none" strike="noStrike">
              <a:solidFill>
                <a:srgbClr val="000000"/>
              </a:solidFill>
              <a:latin typeface="Arial"/>
              <a:ea typeface="Arial"/>
              <a:cs typeface="Arial"/>
              <a:sym typeface="Arial"/>
            </a:endParaRPr>
          </a:p>
        </p:txBody>
      </p:sp>
      <p:sp>
        <p:nvSpPr>
          <p:cNvPr id="661" name="Google Shape;661;p30"/>
          <p:cNvSpPr txBox="1"/>
          <p:nvPr/>
        </p:nvSpPr>
        <p:spPr>
          <a:xfrm>
            <a:off x="775216" y="4841403"/>
            <a:ext cx="4808954" cy="830956"/>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Fixed /Floating Rate</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Interest Leg</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Calculated based on Agreed Notional Amount </a:t>
            </a:r>
            <a:endParaRPr b="0" i="0" sz="1600" u="none" cap="none" strike="noStrike">
              <a:solidFill>
                <a:schemeClr val="dk1"/>
              </a:solidFill>
              <a:latin typeface="Arial"/>
              <a:ea typeface="Arial"/>
              <a:cs typeface="Arial"/>
              <a:sym typeface="Arial"/>
            </a:endParaRPr>
          </a:p>
        </p:txBody>
      </p:sp>
      <p:sp>
        <p:nvSpPr>
          <p:cNvPr id="662" name="Google Shape;662;p30"/>
          <p:cNvSpPr/>
          <p:nvPr/>
        </p:nvSpPr>
        <p:spPr>
          <a:xfrm>
            <a:off x="6666051" y="4162530"/>
            <a:ext cx="4987787" cy="164833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63" name="Google Shape;663;p30"/>
          <p:cNvSpPr/>
          <p:nvPr/>
        </p:nvSpPr>
        <p:spPr>
          <a:xfrm>
            <a:off x="7178528" y="4273596"/>
            <a:ext cx="3962832" cy="4572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Second Leg</a:t>
            </a:r>
            <a:endParaRPr b="0" i="0" sz="1400" u="none" cap="none" strike="noStrike">
              <a:solidFill>
                <a:srgbClr val="000000"/>
              </a:solidFill>
              <a:latin typeface="Arial"/>
              <a:ea typeface="Arial"/>
              <a:cs typeface="Arial"/>
              <a:sym typeface="Arial"/>
            </a:endParaRPr>
          </a:p>
        </p:txBody>
      </p:sp>
      <p:sp>
        <p:nvSpPr>
          <p:cNvPr id="664" name="Google Shape;664;p30"/>
          <p:cNvSpPr txBox="1"/>
          <p:nvPr/>
        </p:nvSpPr>
        <p:spPr>
          <a:xfrm>
            <a:off x="6755467" y="4841403"/>
            <a:ext cx="4808954" cy="830956"/>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Performance of a Share or Stock Market Index</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Equity Leg</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Calculated based on Agreed Notional Amount</a:t>
            </a:r>
            <a:endParaRPr b="0" i="0" sz="1600" u="none" cap="none" strike="noStrike">
              <a:solidFill>
                <a:schemeClr val="dk1"/>
              </a:solidFill>
              <a:latin typeface="Arial"/>
              <a:ea typeface="Arial"/>
              <a:cs typeface="Arial"/>
              <a:sym typeface="Arial"/>
            </a:endParaRPr>
          </a:p>
        </p:txBody>
      </p:sp>
      <p:sp>
        <p:nvSpPr>
          <p:cNvPr id="665" name="Google Shape;665;p30"/>
          <p:cNvSpPr txBox="1"/>
          <p:nvPr/>
        </p:nvSpPr>
        <p:spPr>
          <a:xfrm>
            <a:off x="3242035" y="3320423"/>
            <a:ext cx="1597660" cy="259045"/>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Counterparty</a:t>
            </a:r>
            <a:endParaRPr b="0" i="0" sz="1600" u="none" cap="none" strike="noStrike">
              <a:solidFill>
                <a:srgbClr val="000000"/>
              </a:solidFill>
              <a:latin typeface="Arial"/>
              <a:ea typeface="Arial"/>
              <a:cs typeface="Arial"/>
              <a:sym typeface="Arial"/>
            </a:endParaRPr>
          </a:p>
        </p:txBody>
      </p:sp>
      <p:sp>
        <p:nvSpPr>
          <p:cNvPr id="666" name="Google Shape;666;p30"/>
          <p:cNvSpPr txBox="1"/>
          <p:nvPr/>
        </p:nvSpPr>
        <p:spPr>
          <a:xfrm>
            <a:off x="7501214" y="3320423"/>
            <a:ext cx="1596390" cy="259045"/>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Counterparty</a:t>
            </a:r>
            <a:endParaRPr b="0" i="0" sz="1600" u="none" cap="none" strike="noStrike">
              <a:solidFill>
                <a:srgbClr val="000000"/>
              </a:solidFill>
              <a:latin typeface="Arial"/>
              <a:ea typeface="Arial"/>
              <a:cs typeface="Arial"/>
              <a:sym typeface="Arial"/>
            </a:endParaRPr>
          </a:p>
        </p:txBody>
      </p:sp>
      <p:grpSp>
        <p:nvGrpSpPr>
          <p:cNvPr id="667" name="Google Shape;667;p30"/>
          <p:cNvGrpSpPr/>
          <p:nvPr/>
        </p:nvGrpSpPr>
        <p:grpSpPr>
          <a:xfrm>
            <a:off x="5270455" y="2181091"/>
            <a:ext cx="1800000" cy="1020566"/>
            <a:chOff x="5109507" y="2112266"/>
            <a:chExt cx="1800000" cy="1020566"/>
          </a:xfrm>
        </p:grpSpPr>
        <p:grpSp>
          <p:nvGrpSpPr>
            <p:cNvPr id="668" name="Google Shape;668;p30"/>
            <p:cNvGrpSpPr/>
            <p:nvPr/>
          </p:nvGrpSpPr>
          <p:grpSpPr>
            <a:xfrm>
              <a:off x="5109507" y="2524167"/>
              <a:ext cx="1800000" cy="196764"/>
              <a:chOff x="5196000" y="2598864"/>
              <a:chExt cx="1800000" cy="196764"/>
            </a:xfrm>
          </p:grpSpPr>
          <p:cxnSp>
            <p:nvCxnSpPr>
              <p:cNvPr id="669" name="Google Shape;669;p30"/>
              <p:cNvCxnSpPr/>
              <p:nvPr/>
            </p:nvCxnSpPr>
            <p:spPr>
              <a:xfrm>
                <a:off x="5196000" y="2598864"/>
                <a:ext cx="1800000" cy="0"/>
              </a:xfrm>
              <a:prstGeom prst="straightConnector1">
                <a:avLst/>
              </a:prstGeom>
              <a:noFill/>
              <a:ln cap="flat" cmpd="sng" w="25400">
                <a:solidFill>
                  <a:srgbClr val="A5A5A5">
                    <a:alpha val="60000"/>
                  </a:srgbClr>
                </a:solidFill>
                <a:prstDash val="solid"/>
                <a:round/>
                <a:headEnd len="sm" w="sm" type="none"/>
                <a:tailEnd len="lg" w="lg" type="triangle"/>
              </a:ln>
            </p:spPr>
          </p:cxnSp>
          <p:cxnSp>
            <p:nvCxnSpPr>
              <p:cNvPr id="670" name="Google Shape;670;p30"/>
              <p:cNvCxnSpPr/>
              <p:nvPr/>
            </p:nvCxnSpPr>
            <p:spPr>
              <a:xfrm rot="10800000">
                <a:off x="5196000" y="2795628"/>
                <a:ext cx="1800000" cy="0"/>
              </a:xfrm>
              <a:prstGeom prst="straightConnector1">
                <a:avLst/>
              </a:prstGeom>
              <a:noFill/>
              <a:ln cap="flat" cmpd="sng" w="25400">
                <a:solidFill>
                  <a:srgbClr val="A5A5A5">
                    <a:alpha val="60000"/>
                  </a:srgbClr>
                </a:solidFill>
                <a:prstDash val="solid"/>
                <a:round/>
                <a:headEnd len="sm" w="sm" type="none"/>
                <a:tailEnd len="lg" w="lg" type="triangle"/>
              </a:ln>
            </p:spPr>
          </p:cxnSp>
        </p:grpSp>
        <p:sp>
          <p:nvSpPr>
            <p:cNvPr id="671" name="Google Shape;671;p30"/>
            <p:cNvSpPr txBox="1"/>
            <p:nvPr/>
          </p:nvSpPr>
          <p:spPr>
            <a:xfrm>
              <a:off x="5587094" y="2112266"/>
              <a:ext cx="84482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Leg 1</a:t>
              </a:r>
              <a:endParaRPr b="0" i="0" sz="1600" u="none" cap="none" strike="noStrike">
                <a:solidFill>
                  <a:schemeClr val="dk1"/>
                </a:solidFill>
                <a:latin typeface="Arial"/>
                <a:ea typeface="Arial"/>
                <a:cs typeface="Arial"/>
                <a:sym typeface="Arial"/>
              </a:endParaRPr>
            </a:p>
          </p:txBody>
        </p:sp>
        <p:sp>
          <p:nvSpPr>
            <p:cNvPr id="672" name="Google Shape;672;p30"/>
            <p:cNvSpPr txBox="1"/>
            <p:nvPr/>
          </p:nvSpPr>
          <p:spPr>
            <a:xfrm>
              <a:off x="5587094" y="2794278"/>
              <a:ext cx="84482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Leg 2</a:t>
              </a:r>
              <a:endParaRPr b="0" i="0" sz="1600" u="none" cap="none" strike="noStrike">
                <a:solidFill>
                  <a:schemeClr val="dk1"/>
                </a:solidFill>
                <a:latin typeface="Arial"/>
                <a:ea typeface="Arial"/>
                <a:cs typeface="Arial"/>
                <a:sym typeface="Arial"/>
              </a:endParaRPr>
            </a:p>
          </p:txBody>
        </p:sp>
      </p:grpSp>
      <p:pic>
        <p:nvPicPr>
          <p:cNvPr descr="Man shape" id="673" name="Google Shape;673;p30"/>
          <p:cNvPicPr preferRelativeResize="0"/>
          <p:nvPr/>
        </p:nvPicPr>
        <p:blipFill rotWithShape="1">
          <a:blip r:embed="rId3">
            <a:alphaModFix/>
          </a:blip>
          <a:srcRect b="0" l="0" r="0" t="0"/>
          <a:stretch/>
        </p:blipFill>
        <p:spPr>
          <a:xfrm>
            <a:off x="7745227" y="2137192"/>
            <a:ext cx="1108364" cy="1108364"/>
          </a:xfrm>
          <a:prstGeom prst="rect">
            <a:avLst/>
          </a:prstGeom>
          <a:noFill/>
          <a:ln>
            <a:noFill/>
          </a:ln>
        </p:spPr>
      </p:pic>
      <p:pic>
        <p:nvPicPr>
          <p:cNvPr descr="Man shape" id="674" name="Google Shape;674;p30"/>
          <p:cNvPicPr preferRelativeResize="0"/>
          <p:nvPr/>
        </p:nvPicPr>
        <p:blipFill rotWithShape="1">
          <a:blip r:embed="rId3">
            <a:alphaModFix/>
          </a:blip>
          <a:srcRect b="0" l="0" r="0" t="0"/>
          <a:stretch/>
        </p:blipFill>
        <p:spPr>
          <a:xfrm>
            <a:off x="3486683" y="2137192"/>
            <a:ext cx="1108364" cy="110836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31"/>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EQUITY SWAPS - EXAMPLE</a:t>
            </a:r>
            <a:endParaRPr/>
          </a:p>
        </p:txBody>
      </p:sp>
      <p:grpSp>
        <p:nvGrpSpPr>
          <p:cNvPr id="680" name="Google Shape;680;p31"/>
          <p:cNvGrpSpPr/>
          <p:nvPr/>
        </p:nvGrpSpPr>
        <p:grpSpPr>
          <a:xfrm>
            <a:off x="700088" y="1485900"/>
            <a:ext cx="10972800" cy="2073378"/>
            <a:chOff x="700088" y="1485900"/>
            <a:chExt cx="10972800" cy="2073378"/>
          </a:xfrm>
        </p:grpSpPr>
        <p:sp>
          <p:nvSpPr>
            <p:cNvPr id="681" name="Google Shape;681;p31"/>
            <p:cNvSpPr/>
            <p:nvPr/>
          </p:nvSpPr>
          <p:spPr>
            <a:xfrm>
              <a:off x="700088" y="1485900"/>
              <a:ext cx="10972800" cy="2073378"/>
            </a:xfrm>
            <a:prstGeom prst="roundRect">
              <a:avLst>
                <a:gd fmla="val 3471" name="adj"/>
              </a:avLst>
            </a:prstGeom>
            <a:solidFill>
              <a:srgbClr val="DAF3EB">
                <a:alpha val="4745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Arial"/>
                <a:buNone/>
              </a:pPr>
              <a:r>
                <a:t/>
              </a:r>
              <a:endParaRPr b="0" i="0" sz="1000" u="none" cap="none" strike="noStrike">
                <a:solidFill>
                  <a:srgbClr val="FFFFFF"/>
                </a:solidFill>
                <a:latin typeface="Arial"/>
                <a:ea typeface="Arial"/>
                <a:cs typeface="Arial"/>
                <a:sym typeface="Arial"/>
              </a:endParaRPr>
            </a:p>
          </p:txBody>
        </p:sp>
        <p:sp>
          <p:nvSpPr>
            <p:cNvPr id="682" name="Google Shape;682;p31"/>
            <p:cNvSpPr txBox="1"/>
            <p:nvPr/>
          </p:nvSpPr>
          <p:spPr>
            <a:xfrm>
              <a:off x="1097935" y="1660815"/>
              <a:ext cx="7242434" cy="172354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Terms of the New Equity Swap (Excluding Dividends) : Price Return Swap</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2B2B2D"/>
                </a:buClr>
                <a:buSzPts val="1600"/>
                <a:buFont typeface="Arial"/>
                <a:buChar char="•"/>
              </a:pPr>
              <a:r>
                <a:rPr b="0" i="0" lang="en-US" sz="1600" u="none" cap="none" strike="noStrike">
                  <a:solidFill>
                    <a:schemeClr val="dk1"/>
                  </a:solidFill>
                  <a:latin typeface="Arial"/>
                  <a:ea typeface="Arial"/>
                  <a:cs typeface="Arial"/>
                  <a:sym typeface="Arial"/>
                </a:rPr>
                <a:t>Notional Principal: $1,000,000</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2B2B2D"/>
                </a:buClr>
                <a:buSzPts val="1600"/>
                <a:buFont typeface="Arial"/>
                <a:buChar char="•"/>
              </a:pPr>
              <a:r>
                <a:rPr b="0" i="0" lang="en-US" sz="1600" u="none" cap="none" strike="noStrike">
                  <a:solidFill>
                    <a:schemeClr val="dk1"/>
                  </a:solidFill>
                  <a:latin typeface="Arial"/>
                  <a:ea typeface="Arial"/>
                  <a:cs typeface="Arial"/>
                  <a:sym typeface="Arial"/>
                </a:rPr>
                <a:t>Fixed Interest Rate Payer : Party A ;  5% p.a </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2B2B2D"/>
                </a:buClr>
                <a:buSzPts val="1600"/>
                <a:buFont typeface="Arial"/>
                <a:buChar char="•"/>
              </a:pPr>
              <a:r>
                <a:rPr b="0" i="0" lang="en-US" sz="1600" u="none" cap="none" strike="noStrike">
                  <a:solidFill>
                    <a:schemeClr val="dk1"/>
                  </a:solidFill>
                  <a:latin typeface="Arial"/>
                  <a:ea typeface="Arial"/>
                  <a:cs typeface="Arial"/>
                  <a:sym typeface="Arial"/>
                </a:rPr>
                <a:t>Underlying Stock: CISCO Systems Inc </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2B2B2D"/>
                </a:buClr>
                <a:buSzPts val="1600"/>
                <a:buFont typeface="Arial"/>
                <a:buChar char="•"/>
              </a:pPr>
              <a:r>
                <a:rPr b="0" i="0" lang="en-US" sz="1600" u="none" cap="none" strike="noStrike">
                  <a:solidFill>
                    <a:schemeClr val="dk1"/>
                  </a:solidFill>
                  <a:latin typeface="Arial"/>
                  <a:ea typeface="Arial"/>
                  <a:cs typeface="Arial"/>
                  <a:sym typeface="Arial"/>
                </a:rPr>
                <a:t>Underlying Stock Price Return Payer : Party B</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2B2B2D"/>
                </a:buClr>
                <a:buSzPts val="1600"/>
                <a:buFont typeface="Arial"/>
                <a:buChar char="•"/>
              </a:pPr>
              <a:r>
                <a:rPr b="0" i="0" lang="en-US" sz="1600" u="none" cap="none" strike="noStrike">
                  <a:solidFill>
                    <a:schemeClr val="dk1"/>
                  </a:solidFill>
                  <a:latin typeface="Arial"/>
                  <a:ea typeface="Arial"/>
                  <a:cs typeface="Arial"/>
                  <a:sym typeface="Arial"/>
                </a:rPr>
                <a:t>Stock's Initial Price: $50 per share</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2B2B2D"/>
                </a:buClr>
                <a:buSzPts val="1600"/>
                <a:buFont typeface="Arial"/>
                <a:buChar char="•"/>
              </a:pPr>
              <a:r>
                <a:rPr b="0" i="0" lang="en-US" sz="1600" u="none" cap="none" strike="noStrike">
                  <a:solidFill>
                    <a:schemeClr val="dk1"/>
                  </a:solidFill>
                  <a:latin typeface="Arial"/>
                  <a:ea typeface="Arial"/>
                  <a:cs typeface="Arial"/>
                  <a:sym typeface="Arial"/>
                </a:rPr>
                <a:t>Swap Term: 3 years</a:t>
              </a:r>
              <a:endParaRPr b="0" i="0" sz="1600" u="none" cap="none" strike="noStrike">
                <a:solidFill>
                  <a:schemeClr val="dk1"/>
                </a:solidFill>
                <a:latin typeface="Arial"/>
                <a:ea typeface="Arial"/>
                <a:cs typeface="Arial"/>
                <a:sym typeface="Arial"/>
              </a:endParaRPr>
            </a:p>
          </p:txBody>
        </p:sp>
      </p:grpSp>
      <p:grpSp>
        <p:nvGrpSpPr>
          <p:cNvPr id="683" name="Google Shape;683;p31"/>
          <p:cNvGrpSpPr/>
          <p:nvPr/>
        </p:nvGrpSpPr>
        <p:grpSpPr>
          <a:xfrm>
            <a:off x="700088" y="3860834"/>
            <a:ext cx="10972800" cy="1984308"/>
            <a:chOff x="700088" y="3860834"/>
            <a:chExt cx="10972800" cy="1984308"/>
          </a:xfrm>
        </p:grpSpPr>
        <p:sp>
          <p:nvSpPr>
            <p:cNvPr id="684" name="Google Shape;684;p31"/>
            <p:cNvSpPr/>
            <p:nvPr/>
          </p:nvSpPr>
          <p:spPr>
            <a:xfrm>
              <a:off x="700088" y="3860834"/>
              <a:ext cx="10972800" cy="1664895"/>
            </a:xfrm>
            <a:prstGeom prst="roundRect">
              <a:avLst>
                <a:gd fmla="val 3503" name="adj"/>
              </a:avLst>
            </a:prstGeom>
            <a:solidFill>
              <a:srgbClr val="D2F4F6">
                <a:alpha val="4745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Arial"/>
                <a:buNone/>
              </a:pPr>
              <a:r>
                <a:t/>
              </a:r>
              <a:endParaRPr b="0" i="0" sz="1000" u="none" cap="none" strike="noStrike">
                <a:solidFill>
                  <a:srgbClr val="FFFFFF"/>
                </a:solidFill>
                <a:latin typeface="Arial"/>
                <a:ea typeface="Arial"/>
                <a:cs typeface="Arial"/>
                <a:sym typeface="Arial"/>
              </a:endParaRPr>
            </a:p>
          </p:txBody>
        </p:sp>
        <p:sp>
          <p:nvSpPr>
            <p:cNvPr id="685" name="Google Shape;685;p31"/>
            <p:cNvSpPr txBox="1"/>
            <p:nvPr/>
          </p:nvSpPr>
          <p:spPr>
            <a:xfrm>
              <a:off x="1097935" y="4031582"/>
              <a:ext cx="10140335" cy="18135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Years 1 to 3:</a:t>
              </a:r>
              <a:endParaRPr b="0" i="0" sz="1600" u="none" cap="none" strike="noStrike">
                <a:solidFill>
                  <a:schemeClr val="dk1"/>
                </a:solidFill>
                <a:latin typeface="Arial"/>
                <a:ea typeface="Arial"/>
                <a:cs typeface="Arial"/>
                <a:sym typeface="Arial"/>
              </a:endParaRPr>
            </a:p>
            <a:p>
              <a:pPr indent="-184150" lvl="0" marL="28575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Party A (Fixed Leg)  agrees to pay Party B a fixed interest rate of 5% on the notional principal amount.</a:t>
              </a:r>
              <a:endParaRPr b="0" i="0" sz="1600" u="none" cap="none" strike="noStrike">
                <a:solidFill>
                  <a:schemeClr val="dk1"/>
                </a:solidFill>
                <a:latin typeface="Arial"/>
                <a:ea typeface="Arial"/>
                <a:cs typeface="Arial"/>
                <a:sym typeface="Arial"/>
              </a:endParaRPr>
            </a:p>
            <a:p>
              <a:pPr indent="-184150" lvl="0" marL="28575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Party B (Floating/Equity  Leg)  Agrees to Pay Party A the returns based on the capital appreciation or depreciation of CISCO Systems  Inc. No dividends are included in this scenario as this SWAP is a Equity Price Return Swap.</a:t>
              </a:r>
              <a:endParaRPr b="0" i="0" sz="1600" u="none" cap="none" strike="noStrike">
                <a:solidFill>
                  <a:schemeClr val="dk1"/>
                </a:solidFill>
                <a:latin typeface="Arial"/>
                <a:ea typeface="Arial"/>
                <a:cs typeface="Arial"/>
                <a:sym typeface="Arial"/>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32"/>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EQUITY SWAPS - EXAMPLE....Contd</a:t>
            </a:r>
            <a:endParaRPr/>
          </a:p>
        </p:txBody>
      </p:sp>
      <p:graphicFrame>
        <p:nvGraphicFramePr>
          <p:cNvPr id="691" name="Google Shape;691;p32"/>
          <p:cNvGraphicFramePr/>
          <p:nvPr/>
        </p:nvGraphicFramePr>
        <p:xfrm>
          <a:off x="700088" y="1485900"/>
          <a:ext cx="3000000" cy="3000000"/>
        </p:xfrm>
        <a:graphic>
          <a:graphicData uri="http://schemas.openxmlformats.org/drawingml/2006/table">
            <a:tbl>
              <a:tblPr>
                <a:noFill/>
                <a:tableStyleId>{2EC827F9-9865-43DC-BEFB-80313BB38143}</a:tableStyleId>
              </a:tblPr>
              <a:tblGrid>
                <a:gridCol w="1118125"/>
                <a:gridCol w="2134350"/>
                <a:gridCol w="1445350"/>
                <a:gridCol w="1524000"/>
                <a:gridCol w="2733375"/>
                <a:gridCol w="2017600"/>
              </a:tblGrid>
              <a:tr h="457200">
                <a:tc>
                  <a:txBody>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txBody>
                  <a:tcPr marT="18300" marB="18300" marR="91450" marL="91450" anchor="b">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3"/>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3"/>
                    </a:solidFill>
                  </a:tcPr>
                </a:tc>
                <a:tc>
                  <a:txBody>
                    <a:bodyPr/>
                    <a:lstStyle/>
                    <a:p>
                      <a:pPr indent="0" lvl="0" marL="0" marR="0" rtl="0" algn="l">
                        <a:lnSpc>
                          <a:spcPct val="100000"/>
                        </a:lnSpc>
                        <a:spcBef>
                          <a:spcPts val="0"/>
                        </a:spcBef>
                        <a:spcAft>
                          <a:spcPts val="0"/>
                        </a:spcAft>
                        <a:buNone/>
                      </a:pPr>
                      <a:r>
                        <a:rPr b="1" i="0" lang="en-US" sz="1400" u="none" cap="none" strike="noStrike">
                          <a:solidFill>
                            <a:schemeClr val="lt1"/>
                          </a:solidFill>
                          <a:latin typeface="Arial"/>
                          <a:ea typeface="Arial"/>
                          <a:cs typeface="Arial"/>
                          <a:sym typeface="Arial"/>
                        </a:rPr>
                        <a:t>Party-A Payment</a:t>
                      </a:r>
                      <a:endParaRPr b="1" i="0" sz="1400" u="none" cap="none" strike="noStrike">
                        <a:solidFill>
                          <a:schemeClr val="lt1"/>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3"/>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3"/>
                    </a:solidFill>
                  </a:tcPr>
                </a:tc>
                <a:tc>
                  <a:txBody>
                    <a:bodyPr/>
                    <a:lstStyle/>
                    <a:p>
                      <a:pPr indent="0" lvl="0" marL="0" marR="0" rtl="0" algn="l">
                        <a:lnSpc>
                          <a:spcPct val="100000"/>
                        </a:lnSpc>
                        <a:spcBef>
                          <a:spcPts val="0"/>
                        </a:spcBef>
                        <a:spcAft>
                          <a:spcPts val="0"/>
                        </a:spcAft>
                        <a:buNone/>
                      </a:pPr>
                      <a:r>
                        <a:rPr b="1" i="0" lang="en-US" sz="1400" u="none" cap="none" strike="noStrike">
                          <a:solidFill>
                            <a:schemeClr val="lt1"/>
                          </a:solidFill>
                          <a:latin typeface="Arial"/>
                          <a:ea typeface="Arial"/>
                          <a:cs typeface="Arial"/>
                          <a:sym typeface="Arial"/>
                        </a:rPr>
                        <a:t>CISCO EQ Stock </a:t>
                      </a:r>
                      <a:endParaRPr b="1" i="0" sz="1400" u="none" cap="none" strike="noStrike">
                        <a:solidFill>
                          <a:schemeClr val="lt1"/>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3"/>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3"/>
                    </a:solidFill>
                  </a:tcPr>
                </a:tc>
                <a:tc>
                  <a:txBody>
                    <a:bodyPr/>
                    <a:lstStyle/>
                    <a:p>
                      <a:pPr indent="0" lvl="0" marL="0" marR="0" rtl="0" algn="l">
                        <a:lnSpc>
                          <a:spcPct val="100000"/>
                        </a:lnSpc>
                        <a:spcBef>
                          <a:spcPts val="0"/>
                        </a:spcBef>
                        <a:spcAft>
                          <a:spcPts val="0"/>
                        </a:spcAft>
                        <a:buNone/>
                      </a:pPr>
                      <a:r>
                        <a:rPr b="1" i="0" lang="en-US" sz="1400" u="none" cap="none" strike="noStrike">
                          <a:solidFill>
                            <a:schemeClr val="lt1"/>
                          </a:solidFill>
                          <a:latin typeface="Arial"/>
                          <a:ea typeface="Arial"/>
                          <a:cs typeface="Arial"/>
                          <a:sym typeface="Arial"/>
                        </a:rPr>
                        <a:t>Price Return</a:t>
                      </a:r>
                      <a:endParaRPr b="1" i="0" sz="1400" u="none" cap="none" strike="noStrike">
                        <a:solidFill>
                          <a:schemeClr val="lt1"/>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3"/>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3"/>
                    </a:solidFill>
                  </a:tcPr>
                </a:tc>
                <a:tc>
                  <a:txBody>
                    <a:bodyPr/>
                    <a:lstStyle/>
                    <a:p>
                      <a:pPr indent="0" lvl="0" marL="0" marR="0" rtl="0" algn="l">
                        <a:lnSpc>
                          <a:spcPct val="100000"/>
                        </a:lnSpc>
                        <a:spcBef>
                          <a:spcPts val="0"/>
                        </a:spcBef>
                        <a:spcAft>
                          <a:spcPts val="0"/>
                        </a:spcAft>
                        <a:buNone/>
                      </a:pPr>
                      <a:r>
                        <a:rPr b="1" i="0" lang="en-US" sz="1400" u="none" cap="none" strike="noStrike">
                          <a:solidFill>
                            <a:schemeClr val="lt1"/>
                          </a:solidFill>
                          <a:latin typeface="Arial"/>
                          <a:ea typeface="Arial"/>
                          <a:cs typeface="Arial"/>
                          <a:sym typeface="Arial"/>
                        </a:rPr>
                        <a:t>Party-B Payment</a:t>
                      </a:r>
                      <a:endParaRPr b="1" i="0" sz="1400" u="none" cap="none" strike="noStrike">
                        <a:solidFill>
                          <a:schemeClr val="lt1"/>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3"/>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3"/>
                    </a:solidFill>
                  </a:tcPr>
                </a:tc>
                <a:tc>
                  <a:txBody>
                    <a:bodyPr/>
                    <a:lstStyle/>
                    <a:p>
                      <a:pPr indent="0" lvl="0" marL="0" marR="0" rtl="0" algn="l">
                        <a:lnSpc>
                          <a:spcPct val="100000"/>
                        </a:lnSpc>
                        <a:spcBef>
                          <a:spcPts val="0"/>
                        </a:spcBef>
                        <a:spcAft>
                          <a:spcPts val="0"/>
                        </a:spcAft>
                        <a:buNone/>
                      </a:pPr>
                      <a:r>
                        <a:rPr b="1" i="0" lang="en-US" sz="1400" u="none" cap="none" strike="noStrike">
                          <a:solidFill>
                            <a:schemeClr val="lt1"/>
                          </a:solidFill>
                          <a:latin typeface="Arial"/>
                          <a:ea typeface="Arial"/>
                          <a:cs typeface="Arial"/>
                          <a:sym typeface="Arial"/>
                        </a:rPr>
                        <a:t>Net Payment</a:t>
                      </a:r>
                      <a:endParaRPr b="1" i="0" sz="1400" u="none" cap="none" strike="noStrike">
                        <a:solidFill>
                          <a:schemeClr val="lt1"/>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chemeClr val="accent3"/>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3"/>
                    </a:solidFill>
                  </a:tcPr>
                </a:tc>
              </a:tr>
              <a:tr h="455300">
                <a:tc>
                  <a:txBody>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Settlement</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Year end</a:t>
                      </a:r>
                      <a:endParaRPr b="1" i="0" sz="1400" u="none" cap="none" strike="noStrike">
                        <a:solidFill>
                          <a:srgbClr val="000000"/>
                        </a:solidFill>
                        <a:latin typeface="Arial"/>
                        <a:ea typeface="Arial"/>
                        <a:cs typeface="Arial"/>
                        <a:sym typeface="Arial"/>
                      </a:endParaRPr>
                    </a:p>
                  </a:txBody>
                  <a:tcPr marT="18300" marB="18300"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Fixed Interest</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Payment @5% p.a</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Notional Amt x Int Rate</a:t>
                      </a:r>
                      <a:endParaRPr b="1"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Cisco Systems</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Stock Price</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on NYSE</a:t>
                      </a:r>
                      <a:endParaRPr b="1"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Equity</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Stock Price</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Return %</a:t>
                      </a:r>
                      <a:endParaRPr b="1"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CISCO Equity Stock</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Capital Gain or Loss</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Notional Amt x Equity Return</a:t>
                      </a:r>
                      <a:endParaRPr b="1"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Net Settment</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Amount</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between the Parties</a:t>
                      </a:r>
                      <a:endParaRPr b="1"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dot"/>
                      <a:round/>
                      <a:headEnd len="sm" w="sm" type="none"/>
                      <a:tailEnd len="sm" w="sm" type="none"/>
                    </a:lnB>
                  </a:tcPr>
                </a:tc>
              </a:tr>
              <a:tr h="377825">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Year-0</a:t>
                      </a:r>
                      <a:endParaRPr b="0" i="0" sz="1400" u="none" cap="none" strike="noStrike">
                        <a:solidFill>
                          <a:srgbClr val="000000"/>
                        </a:solidFill>
                        <a:latin typeface="Arial"/>
                        <a:ea typeface="Arial"/>
                        <a:cs typeface="Arial"/>
                        <a:sym typeface="Arial"/>
                      </a:endParaRPr>
                    </a:p>
                  </a:txBody>
                  <a:tcPr marT="18300" marB="18300"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rgbClr val="DAF3EB"/>
                    </a:solidFill>
                  </a:tcPr>
                </a:tc>
                <a:tc>
                  <a:txBody>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rgbClr val="DAF3EB"/>
                    </a:solidFill>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50</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rgbClr val="DAF3EB"/>
                    </a:solidFill>
                  </a:tcPr>
                </a:tc>
                <a:tc>
                  <a:txBody>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rgbClr val="DAF3EB"/>
                    </a:solidFill>
                  </a:tcPr>
                </a:tc>
                <a:tc>
                  <a:txBody>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rgbClr val="DAF3EB"/>
                    </a:solidFill>
                  </a:tcPr>
                </a:tc>
                <a:tc>
                  <a:txBody>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rgbClr val="DAF3EB"/>
                    </a:solidFill>
                  </a:tcPr>
                </a:tc>
              </a:tr>
              <a:tr h="746125">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Year-1</a:t>
                      </a:r>
                      <a:endParaRPr b="0" i="0" sz="1400" u="none" cap="none" strike="noStrike">
                        <a:solidFill>
                          <a:srgbClr val="000000"/>
                        </a:solidFill>
                        <a:latin typeface="Arial"/>
                        <a:ea typeface="Arial"/>
                        <a:cs typeface="Arial"/>
                        <a:sym typeface="Arial"/>
                      </a:endParaRPr>
                    </a:p>
                  </a:txBody>
                  <a:tcPr marT="18300" marB="18300"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1,000,000 *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50000 US$</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55</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=(55-50)/50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=10% * 1,000,000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=100000 US$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Capital Appreciation</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(100000-50000)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50000 US$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paid by Party 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to Party A</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tcPr>
                </a:tc>
              </a:tr>
              <a:tr h="931550">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Year-2</a:t>
                      </a:r>
                      <a:endParaRPr b="0" i="0" sz="1400" u="none" cap="none" strike="noStrike">
                        <a:solidFill>
                          <a:srgbClr val="000000"/>
                        </a:solidFill>
                        <a:latin typeface="Arial"/>
                        <a:ea typeface="Arial"/>
                        <a:cs typeface="Arial"/>
                        <a:sym typeface="Arial"/>
                      </a:endParaRPr>
                    </a:p>
                  </a:txBody>
                  <a:tcPr marT="18300" marB="18300"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rgbClr val="DAF3EB"/>
                    </a:solidFill>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1,000,000 *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50000 US$</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rgbClr val="DAF3EB"/>
                    </a:solidFill>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57</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rgbClr val="DAF3EB"/>
                    </a:solidFill>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=(57-55)/55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=3.64%</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rgbClr val="DAF3EB"/>
                    </a:solidFill>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=3.64% * 1,000,000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=36400 US$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Capital Appreciation</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rgbClr val="DAF3EB"/>
                    </a:solidFill>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(50000-36400)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13600 US$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paid by Party 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to Party B</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rgbClr val="DAF3EB"/>
                    </a:solidFill>
                  </a:tcPr>
                </a:tc>
              </a:tr>
              <a:tr h="1298575">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Year-3</a:t>
                      </a:r>
                      <a:endParaRPr b="0" i="0" sz="1400" u="none" cap="none" strike="noStrike">
                        <a:solidFill>
                          <a:srgbClr val="000000"/>
                        </a:solidFill>
                        <a:latin typeface="Arial"/>
                        <a:ea typeface="Arial"/>
                        <a:cs typeface="Arial"/>
                        <a:sym typeface="Arial"/>
                      </a:endParaRPr>
                    </a:p>
                  </a:txBody>
                  <a:tcPr marT="18300" marB="18300"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chemeClr val="accent3"/>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1,000,000 *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50000 US$</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chemeClr val="accent3"/>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56</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chemeClr val="accent3"/>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=(56-57)/57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=1.75%</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chemeClr val="accent3"/>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=-1.75% * 1,000,000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-17500 US$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Capital Loss</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chemeClr val="accent3"/>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(50000-(-17500))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67500 US$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paid by Party 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to Party 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since the capital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loss is also need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to be borne by Party A</a:t>
                      </a:r>
                      <a:endParaRPr b="0" i="0" sz="1400" u="none" cap="none" strike="noStrike">
                        <a:solidFill>
                          <a:srgbClr val="000000"/>
                        </a:solidFill>
                        <a:latin typeface="Arial"/>
                        <a:ea typeface="Arial"/>
                        <a:cs typeface="Arial"/>
                        <a:sym typeface="Arial"/>
                      </a:endParaRPr>
                    </a:p>
                  </a:txBody>
                  <a:tcPr marT="18300" marB="18300"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chemeClr val="accent3"/>
                      </a:solidFill>
                      <a:prstDash val="solid"/>
                      <a:round/>
                      <a:headEnd len="sm" w="sm" type="none"/>
                      <a:tailEnd len="sm" w="sm" type="none"/>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33"/>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EQUITY SWAPS - EXAMPLE</a:t>
            </a:r>
            <a:endParaRPr/>
          </a:p>
        </p:txBody>
      </p:sp>
      <p:grpSp>
        <p:nvGrpSpPr>
          <p:cNvPr id="697" name="Google Shape;697;p33"/>
          <p:cNvGrpSpPr/>
          <p:nvPr/>
        </p:nvGrpSpPr>
        <p:grpSpPr>
          <a:xfrm>
            <a:off x="700088" y="1485900"/>
            <a:ext cx="10972292" cy="2618628"/>
            <a:chOff x="623888" y="3651848"/>
            <a:chExt cx="10972292" cy="2618628"/>
          </a:xfrm>
        </p:grpSpPr>
        <p:sp>
          <p:nvSpPr>
            <p:cNvPr id="698" name="Google Shape;698;p33"/>
            <p:cNvSpPr txBox="1"/>
            <p:nvPr/>
          </p:nvSpPr>
          <p:spPr>
            <a:xfrm>
              <a:off x="915988" y="3651848"/>
              <a:ext cx="10680192" cy="2618628"/>
            </a:xfrm>
            <a:prstGeom prst="rect">
              <a:avLst/>
            </a:prstGeom>
            <a:solidFill>
              <a:srgbClr val="DAF3EB"/>
            </a:solidFill>
            <a:ln>
              <a:noFill/>
            </a:ln>
          </p:spPr>
          <p:txBody>
            <a:bodyPr anchorCtr="0" anchor="ctr" bIns="45700" lIns="180000" spcFirstLastPara="1" rIns="91425" wrap="square" tIns="180000">
              <a:noAutofit/>
            </a:bodyPr>
            <a:lstStyle/>
            <a:p>
              <a:pPr indent="0" lvl="0" marL="0" marR="0" rtl="0" algn="ctr">
                <a:lnSpc>
                  <a:spcPct val="9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grpSp>
          <p:nvGrpSpPr>
            <p:cNvPr id="699" name="Google Shape;699;p33"/>
            <p:cNvGrpSpPr/>
            <p:nvPr/>
          </p:nvGrpSpPr>
          <p:grpSpPr>
            <a:xfrm>
              <a:off x="623888" y="3651848"/>
              <a:ext cx="589327" cy="814664"/>
              <a:chOff x="531585" y="2672259"/>
              <a:chExt cx="589328" cy="814664"/>
            </a:xfrm>
          </p:grpSpPr>
          <p:sp>
            <p:nvSpPr>
              <p:cNvPr id="700" name="Google Shape;700;p33"/>
              <p:cNvSpPr/>
              <p:nvPr/>
            </p:nvSpPr>
            <p:spPr>
              <a:xfrm flipH="1" rot="10800000">
                <a:off x="531585" y="3289855"/>
                <a:ext cx="292100" cy="197068"/>
              </a:xfrm>
              <a:prstGeom prst="triangle">
                <a:avLst>
                  <a:gd fmla="val 100000" name="adj"/>
                </a:avLst>
              </a:prstGeom>
              <a:solidFill>
                <a:srgbClr val="20685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701" name="Google Shape;701;p33"/>
              <p:cNvGrpSpPr/>
              <p:nvPr/>
            </p:nvGrpSpPr>
            <p:grpSpPr>
              <a:xfrm>
                <a:off x="536712" y="2672259"/>
                <a:ext cx="584201" cy="617595"/>
                <a:chOff x="536712" y="2672259"/>
                <a:chExt cx="584201" cy="617595"/>
              </a:xfrm>
            </p:grpSpPr>
            <p:sp>
              <p:nvSpPr>
                <p:cNvPr id="702" name="Google Shape;702;p33"/>
                <p:cNvSpPr/>
                <p:nvPr/>
              </p:nvSpPr>
              <p:spPr>
                <a:xfrm>
                  <a:off x="536713" y="2672259"/>
                  <a:ext cx="292100" cy="197068"/>
                </a:xfrm>
                <a:prstGeom prst="triangle">
                  <a:avLst>
                    <a:gd fmla="val 100000" name="adj"/>
                  </a:avLst>
                </a:prstGeom>
                <a:solidFill>
                  <a:srgbClr val="20685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03" name="Google Shape;703;p33"/>
                <p:cNvSpPr/>
                <p:nvPr/>
              </p:nvSpPr>
              <p:spPr>
                <a:xfrm rot="5400000">
                  <a:off x="618552" y="2787494"/>
                  <a:ext cx="420522" cy="584199"/>
                </a:xfrm>
                <a:prstGeom prst="round2SameRect">
                  <a:avLst>
                    <a:gd fmla="val 16667" name="adj1"/>
                    <a:gd fmla="val 0" name="adj2"/>
                  </a:avLst>
                </a:prstGeom>
                <a:solidFill>
                  <a:schemeClr val="accent3"/>
                </a:solidFill>
                <a:ln cap="flat" cmpd="sng" w="12700">
                  <a:solidFill>
                    <a:schemeClr val="accent3"/>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33"/>
                <p:cNvSpPr txBox="1"/>
                <p:nvPr/>
              </p:nvSpPr>
              <p:spPr>
                <a:xfrm>
                  <a:off x="536712" y="2889842"/>
                  <a:ext cx="563671" cy="379466"/>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sp>
          <p:nvSpPr>
            <p:cNvPr id="705" name="Google Shape;705;p33"/>
            <p:cNvSpPr txBox="1"/>
            <p:nvPr/>
          </p:nvSpPr>
          <p:spPr>
            <a:xfrm>
              <a:off x="1530626" y="3808320"/>
              <a:ext cx="9685524" cy="230568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Party A (Fixed Leg) </a:t>
              </a:r>
              <a:r>
                <a:rPr b="0" i="0" lang="en-US" sz="1600" u="none" cap="none" strike="noStrike">
                  <a:solidFill>
                    <a:schemeClr val="dk1"/>
                  </a:solidFill>
                  <a:latin typeface="Arial"/>
                  <a:ea typeface="Arial"/>
                  <a:cs typeface="Arial"/>
                  <a:sym typeface="Arial"/>
                </a:rPr>
                <a:t>pays a fixed interest rate of 5% on the notional principal in each year.</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Party B (Floating Leg) pays</a:t>
              </a:r>
              <a:r>
                <a:rPr b="0" i="0" lang="en-US" sz="1600" u="none" cap="none" strike="noStrike">
                  <a:solidFill>
                    <a:schemeClr val="dk1"/>
                  </a:solidFill>
                  <a:latin typeface="Arial"/>
                  <a:ea typeface="Arial"/>
                  <a:cs typeface="Arial"/>
                  <a:sym typeface="Arial"/>
                </a:rPr>
                <a:t> returns based on the capital appreciation or depreciation of CISCO Systems  Inc. No dividends are considered in this example.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The </a:t>
              </a:r>
              <a:r>
                <a:rPr b="1" i="0" lang="en-US" sz="1600" u="none" cap="none" strike="noStrike">
                  <a:solidFill>
                    <a:schemeClr val="dk1"/>
                  </a:solidFill>
                  <a:latin typeface="Arial"/>
                  <a:ea typeface="Arial"/>
                  <a:cs typeface="Arial"/>
                  <a:sym typeface="Arial"/>
                </a:rPr>
                <a:t>"Net Payment (A - B)" </a:t>
              </a:r>
              <a:r>
                <a:rPr b="0" i="0" lang="en-US" sz="1600" u="none" cap="none" strike="noStrike">
                  <a:solidFill>
                    <a:schemeClr val="dk1"/>
                  </a:solidFill>
                  <a:latin typeface="Arial"/>
                  <a:ea typeface="Arial"/>
                  <a:cs typeface="Arial"/>
                  <a:sym typeface="Arial"/>
                </a:rPr>
                <a:t>column represents the difference between the fixed interest rate payments made by Party A and the capital appreciation or depreciation of the stock by Party B for each year.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At the end of the 3-year term, Party A's net payments to Party B reflect the fixed interest rate payments made by Party A and the capital appreciation or depreciation of the underlying stock.</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pic>
        <p:nvPicPr>
          <p:cNvPr id="710" name="Google Shape;710;p34"/>
          <p:cNvPicPr preferRelativeResize="0"/>
          <p:nvPr>
            <p:ph idx="2" type="pic"/>
          </p:nvPr>
        </p:nvPicPr>
        <p:blipFill rotWithShape="1">
          <a:blip r:embed="rId3">
            <a:alphaModFix/>
          </a:blip>
          <a:srcRect b="0" l="0" r="0" t="0"/>
          <a:stretch/>
        </p:blipFill>
        <p:spPr>
          <a:xfrm>
            <a:off x="3978704" y="-21266"/>
            <a:ext cx="8211708" cy="6889900"/>
          </a:xfrm>
          <a:prstGeom prst="rect">
            <a:avLst/>
          </a:prstGeom>
          <a:solidFill>
            <a:srgbClr val="F2F2F2"/>
          </a:solidFill>
          <a:ln>
            <a:noFill/>
          </a:ln>
        </p:spPr>
      </p:pic>
      <p:sp>
        <p:nvSpPr>
          <p:cNvPr id="711" name="Google Shape;711;p34"/>
          <p:cNvSpPr/>
          <p:nvPr/>
        </p:nvSpPr>
        <p:spPr>
          <a:xfrm>
            <a:off x="0" y="0"/>
            <a:ext cx="6124354" cy="6879266"/>
          </a:xfrm>
          <a:custGeom>
            <a:rect b="b" l="l" r="r" t="t"/>
            <a:pathLst>
              <a:path extrusionOk="0" h="6879266" w="6124354">
                <a:moveTo>
                  <a:pt x="0" y="0"/>
                </a:moveTo>
                <a:lnTo>
                  <a:pt x="4061637" y="0"/>
                </a:lnTo>
                <a:lnTo>
                  <a:pt x="6124354" y="6879266"/>
                </a:lnTo>
                <a:lnTo>
                  <a:pt x="0" y="6858000"/>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12" name="Google Shape;712;p34"/>
          <p:cNvSpPr/>
          <p:nvPr/>
        </p:nvSpPr>
        <p:spPr>
          <a:xfrm flipH="1">
            <a:off x="4025448" y="-21268"/>
            <a:ext cx="8166551" cy="6900533"/>
          </a:xfrm>
          <a:custGeom>
            <a:rect b="b" l="l" r="r" t="t"/>
            <a:pathLst>
              <a:path extrusionOk="0" h="13716000" w="16143890">
                <a:moveTo>
                  <a:pt x="0" y="0"/>
                </a:moveTo>
                <a:lnTo>
                  <a:pt x="16143890" y="0"/>
                </a:lnTo>
                <a:lnTo>
                  <a:pt x="12044855" y="13716000"/>
                </a:lnTo>
                <a:lnTo>
                  <a:pt x="0" y="13716000"/>
                </a:lnTo>
                <a:lnTo>
                  <a:pt x="0" y="0"/>
                </a:lnTo>
                <a:close/>
              </a:path>
            </a:pathLst>
          </a:custGeom>
          <a:solidFill>
            <a:srgbClr val="25B5CA">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713" name="Google Shape;713;p34"/>
          <p:cNvSpPr/>
          <p:nvPr/>
        </p:nvSpPr>
        <p:spPr>
          <a:xfrm flipH="1">
            <a:off x="1588" y="2337971"/>
            <a:ext cx="8198069" cy="2182058"/>
          </a:xfrm>
          <a:custGeom>
            <a:rect b="b" l="l" r="r" t="t"/>
            <a:pathLst>
              <a:path extrusionOk="0" h="3987559" w="14981402">
                <a:moveTo>
                  <a:pt x="1229711" y="0"/>
                </a:moveTo>
                <a:lnTo>
                  <a:pt x="14981402" y="0"/>
                </a:lnTo>
                <a:lnTo>
                  <a:pt x="14981402" y="3987559"/>
                </a:lnTo>
                <a:lnTo>
                  <a:pt x="0" y="3987559"/>
                </a:lnTo>
                <a:lnTo>
                  <a:pt x="1229711"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714" name="Google Shape;714;p34"/>
          <p:cNvSpPr/>
          <p:nvPr/>
        </p:nvSpPr>
        <p:spPr>
          <a:xfrm flipH="1">
            <a:off x="1588" y="627903"/>
            <a:ext cx="560419" cy="270354"/>
          </a:xfrm>
          <a:custGeom>
            <a:rect b="b" l="l" r="r" t="t"/>
            <a:pathLst>
              <a:path extrusionOk="0" h="3987559" w="16161399">
                <a:moveTo>
                  <a:pt x="2409708" y="0"/>
                </a:moveTo>
                <a:lnTo>
                  <a:pt x="16161399" y="0"/>
                </a:lnTo>
                <a:lnTo>
                  <a:pt x="16161399" y="3987559"/>
                </a:lnTo>
                <a:lnTo>
                  <a:pt x="0" y="3960361"/>
                </a:lnTo>
                <a:lnTo>
                  <a:pt x="2409708" y="0"/>
                </a:lnTo>
                <a:close/>
              </a:path>
            </a:pathLst>
          </a:custGeom>
          <a:solidFill>
            <a:srgbClr val="19A7C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715" name="Google Shape;715;p34"/>
          <p:cNvSpPr txBox="1"/>
          <p:nvPr/>
        </p:nvSpPr>
        <p:spPr>
          <a:xfrm>
            <a:off x="329608" y="3044279"/>
            <a:ext cx="7559201" cy="7670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FFFFFF"/>
                </a:solidFill>
                <a:latin typeface="Arial"/>
                <a:ea typeface="Arial"/>
                <a:cs typeface="Arial"/>
                <a:sym typeface="Arial"/>
              </a:rPr>
              <a:t>Equity Total Return Swap</a:t>
            </a:r>
            <a:endParaRPr b="0" i="0" sz="4400" u="none" cap="none" strike="noStrike">
              <a:solidFill>
                <a:srgbClr val="000000"/>
              </a:solidFill>
              <a:latin typeface="Arial"/>
              <a:ea typeface="Arial"/>
              <a:cs typeface="Arial"/>
              <a:sym typeface="Arial"/>
            </a:endParaRPr>
          </a:p>
        </p:txBody>
      </p:sp>
      <p:pic>
        <p:nvPicPr>
          <p:cNvPr descr="A picture containing text, clipart&#10;&#10;Description automatically generated" id="716" name="Google Shape;716;p34"/>
          <p:cNvPicPr preferRelativeResize="0"/>
          <p:nvPr/>
        </p:nvPicPr>
        <p:blipFill rotWithShape="1">
          <a:blip r:embed="rId4">
            <a:alphaModFix/>
          </a:blip>
          <a:srcRect b="0" l="0" r="0" t="0"/>
          <a:stretch/>
        </p:blipFill>
        <p:spPr>
          <a:xfrm>
            <a:off x="9533468" y="312483"/>
            <a:ext cx="2421466" cy="49196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35"/>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EQUITY TOTAL RETURN SWAPS (TRS)</a:t>
            </a:r>
            <a:endParaRPr/>
          </a:p>
        </p:txBody>
      </p:sp>
      <p:sp>
        <p:nvSpPr>
          <p:cNvPr id="722" name="Google Shape;722;p35"/>
          <p:cNvSpPr/>
          <p:nvPr/>
        </p:nvSpPr>
        <p:spPr>
          <a:xfrm>
            <a:off x="700088" y="3184504"/>
            <a:ext cx="10816846" cy="521513"/>
          </a:xfrm>
          <a:custGeom>
            <a:rect b="b" l="l" r="r" t="t"/>
            <a:pathLst>
              <a:path extrusionOk="0" h="493486" w="6052457">
                <a:moveTo>
                  <a:pt x="0" y="0"/>
                </a:moveTo>
                <a:lnTo>
                  <a:pt x="5700032" y="0"/>
                </a:lnTo>
                <a:lnTo>
                  <a:pt x="6052457" y="493486"/>
                </a:lnTo>
                <a:lnTo>
                  <a:pt x="0" y="493486"/>
                </a:lnTo>
                <a:lnTo>
                  <a:pt x="0"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Arial"/>
                <a:ea typeface="Arial"/>
                <a:cs typeface="Arial"/>
                <a:sym typeface="Arial"/>
              </a:rPr>
              <a:t>Features of a Total Return Swap:</a:t>
            </a:r>
            <a:endParaRPr b="0" i="0" sz="1400" u="none" cap="none" strike="noStrike">
              <a:solidFill>
                <a:srgbClr val="000000"/>
              </a:solidFill>
              <a:latin typeface="Arial"/>
              <a:ea typeface="Arial"/>
              <a:cs typeface="Arial"/>
              <a:sym typeface="Arial"/>
            </a:endParaRPr>
          </a:p>
        </p:txBody>
      </p:sp>
      <p:grpSp>
        <p:nvGrpSpPr>
          <p:cNvPr id="723" name="Google Shape;723;p35"/>
          <p:cNvGrpSpPr/>
          <p:nvPr/>
        </p:nvGrpSpPr>
        <p:grpSpPr>
          <a:xfrm>
            <a:off x="700088" y="1485900"/>
            <a:ext cx="10985504" cy="1565343"/>
            <a:chOff x="720980" y="1297535"/>
            <a:chExt cx="10985504" cy="1565343"/>
          </a:xfrm>
        </p:grpSpPr>
        <p:sp>
          <p:nvSpPr>
            <p:cNvPr id="724" name="Google Shape;724;p35"/>
            <p:cNvSpPr/>
            <p:nvPr/>
          </p:nvSpPr>
          <p:spPr>
            <a:xfrm>
              <a:off x="889638" y="1410160"/>
              <a:ext cx="10629262" cy="1264177"/>
            </a:xfrm>
            <a:prstGeom prst="roundRect">
              <a:avLst>
                <a:gd fmla="val 16667" name="adj"/>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2743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grpSp>
          <p:nvGrpSpPr>
            <p:cNvPr id="725" name="Google Shape;725;p35"/>
            <p:cNvGrpSpPr/>
            <p:nvPr/>
          </p:nvGrpSpPr>
          <p:grpSpPr>
            <a:xfrm>
              <a:off x="720980" y="1297535"/>
              <a:ext cx="710807" cy="679086"/>
              <a:chOff x="700550" y="1201543"/>
              <a:chExt cx="710807" cy="679086"/>
            </a:xfrm>
          </p:grpSpPr>
          <p:sp>
            <p:nvSpPr>
              <p:cNvPr id="726" name="Google Shape;726;p35"/>
              <p:cNvSpPr/>
              <p:nvPr/>
            </p:nvSpPr>
            <p:spPr>
              <a:xfrm>
                <a:off x="702054" y="1201543"/>
                <a:ext cx="709303" cy="531452"/>
              </a:xfrm>
              <a:custGeom>
                <a:rect b="b" l="l" r="r" t="t"/>
                <a:pathLst>
                  <a:path extrusionOk="0" h="502891" w="6052457">
                    <a:moveTo>
                      <a:pt x="0" y="9405"/>
                    </a:moveTo>
                    <a:lnTo>
                      <a:pt x="4173447" y="0"/>
                    </a:lnTo>
                    <a:lnTo>
                      <a:pt x="6052457" y="502891"/>
                    </a:lnTo>
                    <a:lnTo>
                      <a:pt x="0" y="502891"/>
                    </a:lnTo>
                    <a:lnTo>
                      <a:pt x="0" y="9405"/>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FFFFFF"/>
                  </a:solidFill>
                  <a:latin typeface="Arial"/>
                  <a:ea typeface="Arial"/>
                  <a:cs typeface="Arial"/>
                  <a:sym typeface="Arial"/>
                </a:endParaRPr>
              </a:p>
            </p:txBody>
          </p:sp>
          <p:sp>
            <p:nvSpPr>
              <p:cNvPr id="727" name="Google Shape;727;p35"/>
              <p:cNvSpPr/>
              <p:nvPr/>
            </p:nvSpPr>
            <p:spPr>
              <a:xfrm rot="10800000">
                <a:off x="700550" y="1732995"/>
                <a:ext cx="189088" cy="147634"/>
              </a:xfrm>
              <a:prstGeom prst="rtTriangle">
                <a:avLst/>
              </a:prstGeom>
              <a:solidFill>
                <a:srgbClr val="222A3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70C0"/>
                  </a:solidFill>
                  <a:latin typeface="Arial"/>
                  <a:ea typeface="Arial"/>
                  <a:cs typeface="Arial"/>
                  <a:sym typeface="Arial"/>
                </a:endParaRPr>
              </a:p>
            </p:txBody>
          </p:sp>
        </p:grpSp>
        <p:sp>
          <p:nvSpPr>
            <p:cNvPr id="728" name="Google Shape;728;p35"/>
            <p:cNvSpPr txBox="1"/>
            <p:nvPr/>
          </p:nvSpPr>
          <p:spPr>
            <a:xfrm>
              <a:off x="1490870" y="1503639"/>
              <a:ext cx="9442173"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A </a:t>
              </a:r>
              <a:r>
                <a:rPr b="1" i="0" lang="en-US" sz="1600" u="none" cap="none" strike="noStrike">
                  <a:solidFill>
                    <a:schemeClr val="dk1"/>
                  </a:solidFill>
                  <a:latin typeface="Arial"/>
                  <a:ea typeface="Arial"/>
                  <a:cs typeface="Arial"/>
                  <a:sym typeface="Arial"/>
                </a:rPr>
                <a:t>Total Return Swap (TRS) </a:t>
              </a:r>
              <a:r>
                <a:rPr b="0" i="0" lang="en-US" sz="1600" u="none" cap="none" strike="noStrike">
                  <a:solidFill>
                    <a:schemeClr val="dk1"/>
                  </a:solidFill>
                  <a:latin typeface="Arial"/>
                  <a:ea typeface="Arial"/>
                  <a:cs typeface="Arial"/>
                  <a:sym typeface="Arial"/>
                </a:rPr>
                <a:t>is a financial derivative contract between two parties, where one party agrees to pay the total return of a specific asset or basket of assets to the other party in exchange for a predetermined payment. The total return includes all aspects of the asset's performance, such as price appreciation, interest or dividend income, and any other income or gains associated with the asset.</a:t>
              </a:r>
              <a:endParaRPr b="0" i="0" sz="1400" u="none" cap="none" strike="noStrike">
                <a:solidFill>
                  <a:srgbClr val="000000"/>
                </a:solidFill>
                <a:latin typeface="Arial"/>
                <a:ea typeface="Arial"/>
                <a:cs typeface="Arial"/>
                <a:sym typeface="Arial"/>
              </a:endParaRPr>
            </a:p>
          </p:txBody>
        </p:sp>
        <p:grpSp>
          <p:nvGrpSpPr>
            <p:cNvPr id="729" name="Google Shape;729;p35"/>
            <p:cNvGrpSpPr/>
            <p:nvPr/>
          </p:nvGrpSpPr>
          <p:grpSpPr>
            <a:xfrm flipH="1">
              <a:off x="10994279" y="2190527"/>
              <a:ext cx="712205" cy="672351"/>
              <a:chOff x="584449" y="1060644"/>
              <a:chExt cx="712205" cy="672351"/>
            </a:xfrm>
          </p:grpSpPr>
          <p:sp>
            <p:nvSpPr>
              <p:cNvPr id="730" name="Google Shape;730;p35"/>
              <p:cNvSpPr/>
              <p:nvPr/>
            </p:nvSpPr>
            <p:spPr>
              <a:xfrm>
                <a:off x="587351" y="1201543"/>
                <a:ext cx="709303" cy="531452"/>
              </a:xfrm>
              <a:custGeom>
                <a:rect b="b" l="l" r="r" t="t"/>
                <a:pathLst>
                  <a:path extrusionOk="0" h="502891" w="6052457">
                    <a:moveTo>
                      <a:pt x="0" y="9405"/>
                    </a:moveTo>
                    <a:lnTo>
                      <a:pt x="4173447" y="0"/>
                    </a:lnTo>
                    <a:lnTo>
                      <a:pt x="6052457" y="502891"/>
                    </a:lnTo>
                    <a:lnTo>
                      <a:pt x="0" y="502891"/>
                    </a:lnTo>
                    <a:lnTo>
                      <a:pt x="0" y="9405"/>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FFFFFF"/>
                  </a:solidFill>
                  <a:latin typeface="Arial"/>
                  <a:ea typeface="Arial"/>
                  <a:cs typeface="Arial"/>
                  <a:sym typeface="Arial"/>
                </a:endParaRPr>
              </a:p>
            </p:txBody>
          </p:sp>
          <p:sp>
            <p:nvSpPr>
              <p:cNvPr id="731" name="Google Shape;731;p35"/>
              <p:cNvSpPr/>
              <p:nvPr/>
            </p:nvSpPr>
            <p:spPr>
              <a:xfrm flipH="1">
                <a:off x="584449" y="1060644"/>
                <a:ext cx="189088" cy="147634"/>
              </a:xfrm>
              <a:prstGeom prst="rtTriangle">
                <a:avLst/>
              </a:prstGeom>
              <a:solidFill>
                <a:srgbClr val="222A3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70C0"/>
                  </a:solidFill>
                  <a:latin typeface="Arial"/>
                  <a:ea typeface="Arial"/>
                  <a:cs typeface="Arial"/>
                  <a:sym typeface="Arial"/>
                </a:endParaRPr>
              </a:p>
            </p:txBody>
          </p:sp>
        </p:grpSp>
      </p:grpSp>
      <p:grpSp>
        <p:nvGrpSpPr>
          <p:cNvPr id="732" name="Google Shape;732;p35"/>
          <p:cNvGrpSpPr/>
          <p:nvPr/>
        </p:nvGrpSpPr>
        <p:grpSpPr>
          <a:xfrm>
            <a:off x="700088" y="3896524"/>
            <a:ext cx="5297951" cy="2308695"/>
            <a:chOff x="700088" y="3967645"/>
            <a:chExt cx="5297951" cy="2308695"/>
          </a:xfrm>
        </p:grpSpPr>
        <p:sp>
          <p:nvSpPr>
            <p:cNvPr id="733" name="Google Shape;733;p35"/>
            <p:cNvSpPr/>
            <p:nvPr/>
          </p:nvSpPr>
          <p:spPr>
            <a:xfrm>
              <a:off x="911911" y="4418668"/>
              <a:ext cx="4870916" cy="1857672"/>
            </a:xfrm>
            <a:prstGeom prst="rect">
              <a:avLst/>
            </a:prstGeom>
            <a:solidFill>
              <a:srgbClr val="DAF3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734" name="Google Shape;734;p35"/>
            <p:cNvSpPr/>
            <p:nvPr/>
          </p:nvSpPr>
          <p:spPr>
            <a:xfrm flipH="1" rot="-5400000">
              <a:off x="703477" y="4412784"/>
              <a:ext cx="205046" cy="211822"/>
            </a:xfrm>
            <a:prstGeom prst="triangle">
              <a:avLst>
                <a:gd fmla="val 0" name="adj"/>
              </a:avLst>
            </a:prstGeom>
            <a:solidFill>
              <a:srgbClr val="20685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35" name="Google Shape;735;p35"/>
            <p:cNvSpPr/>
            <p:nvPr/>
          </p:nvSpPr>
          <p:spPr>
            <a:xfrm rot="5400000">
              <a:off x="5789605" y="4412784"/>
              <a:ext cx="205046" cy="211822"/>
            </a:xfrm>
            <a:prstGeom prst="triangle">
              <a:avLst>
                <a:gd fmla="val 0" name="adj"/>
              </a:avLst>
            </a:prstGeom>
            <a:solidFill>
              <a:srgbClr val="20685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36" name="Google Shape;736;p35"/>
            <p:cNvSpPr/>
            <p:nvPr/>
          </p:nvSpPr>
          <p:spPr>
            <a:xfrm>
              <a:off x="700088" y="3967645"/>
              <a:ext cx="5294562" cy="447278"/>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95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1. Asset Exposure</a:t>
              </a:r>
              <a:endParaRPr b="0" i="0" sz="1400" u="none" cap="none" strike="noStrike">
                <a:solidFill>
                  <a:srgbClr val="000000"/>
                </a:solidFill>
                <a:latin typeface="Arial"/>
                <a:ea typeface="Arial"/>
                <a:cs typeface="Arial"/>
                <a:sym typeface="Arial"/>
              </a:endParaRPr>
            </a:p>
          </p:txBody>
        </p:sp>
        <p:sp>
          <p:nvSpPr>
            <p:cNvPr id="737" name="Google Shape;737;p35"/>
            <p:cNvSpPr txBox="1"/>
            <p:nvPr/>
          </p:nvSpPr>
          <p:spPr>
            <a:xfrm>
              <a:off x="1043148" y="4621218"/>
              <a:ext cx="4531248" cy="132343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TRS allows one party (the "receiver" or "buyer") to gain exposure to the performance of a particular asset, typically without owning it. The other party (the "payer" or "seller") retains ownership of the asset.</a:t>
              </a:r>
              <a:endParaRPr b="0" i="0" sz="1400" u="none" cap="none" strike="noStrike">
                <a:solidFill>
                  <a:srgbClr val="000000"/>
                </a:solidFill>
                <a:latin typeface="Arial"/>
                <a:ea typeface="Arial"/>
                <a:cs typeface="Arial"/>
                <a:sym typeface="Arial"/>
              </a:endParaRPr>
            </a:p>
          </p:txBody>
        </p:sp>
      </p:grpSp>
      <p:grpSp>
        <p:nvGrpSpPr>
          <p:cNvPr id="738" name="Google Shape;738;p35"/>
          <p:cNvGrpSpPr/>
          <p:nvPr/>
        </p:nvGrpSpPr>
        <p:grpSpPr>
          <a:xfrm>
            <a:off x="6391030" y="3896524"/>
            <a:ext cx="5294562" cy="2345693"/>
            <a:chOff x="6276729" y="3967644"/>
            <a:chExt cx="5294562" cy="2345693"/>
          </a:xfrm>
        </p:grpSpPr>
        <p:sp>
          <p:nvSpPr>
            <p:cNvPr id="739" name="Google Shape;739;p35"/>
            <p:cNvSpPr/>
            <p:nvPr/>
          </p:nvSpPr>
          <p:spPr>
            <a:xfrm>
              <a:off x="6488552" y="4418668"/>
              <a:ext cx="4870918" cy="1857672"/>
            </a:xfrm>
            <a:prstGeom prst="rect">
              <a:avLst/>
            </a:prstGeom>
            <a:solidFill>
              <a:srgbClr val="D2F4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740" name="Google Shape;740;p35"/>
            <p:cNvSpPr/>
            <p:nvPr/>
          </p:nvSpPr>
          <p:spPr>
            <a:xfrm flipH="1" rot="-5400000">
              <a:off x="6280117" y="4412784"/>
              <a:ext cx="205046" cy="211822"/>
            </a:xfrm>
            <a:prstGeom prst="triangle">
              <a:avLst>
                <a:gd fmla="val 0" name="adj"/>
              </a:avLst>
            </a:prstGeom>
            <a:solidFill>
              <a:srgbClr val="14636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41" name="Google Shape;741;p35"/>
            <p:cNvSpPr/>
            <p:nvPr/>
          </p:nvSpPr>
          <p:spPr>
            <a:xfrm rot="5400000">
              <a:off x="11362857" y="4412784"/>
              <a:ext cx="205046" cy="211822"/>
            </a:xfrm>
            <a:prstGeom prst="triangle">
              <a:avLst>
                <a:gd fmla="val 0" name="adj"/>
              </a:avLst>
            </a:prstGeom>
            <a:solidFill>
              <a:srgbClr val="14636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42" name="Google Shape;742;p35"/>
            <p:cNvSpPr/>
            <p:nvPr/>
          </p:nvSpPr>
          <p:spPr>
            <a:xfrm>
              <a:off x="6276729" y="3967644"/>
              <a:ext cx="5294562" cy="447975"/>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2. Total Return </a:t>
              </a:r>
              <a:endParaRPr b="0" i="0" sz="1400" u="none" cap="none" strike="noStrike">
                <a:solidFill>
                  <a:srgbClr val="000000"/>
                </a:solidFill>
                <a:latin typeface="Arial"/>
                <a:ea typeface="Arial"/>
                <a:cs typeface="Arial"/>
                <a:sym typeface="Arial"/>
              </a:endParaRPr>
            </a:p>
          </p:txBody>
        </p:sp>
        <p:sp>
          <p:nvSpPr>
            <p:cNvPr id="743" name="Google Shape;743;p35"/>
            <p:cNvSpPr txBox="1"/>
            <p:nvPr/>
          </p:nvSpPr>
          <p:spPr>
            <a:xfrm>
              <a:off x="6488552" y="4497455"/>
              <a:ext cx="4870915" cy="181588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The receiver of the TRS is entitled to the total return on the asset, which comprises capital gains or losses, interest income, dividend income, and any other economic benefits generated by the asset. This makes TRS different from traditional equity swaps, which may only involve capital gains or losses.</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36"/>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TOTAL RETURN SWAPS (EQUITY TRS)</a:t>
            </a:r>
            <a:endParaRPr/>
          </a:p>
        </p:txBody>
      </p:sp>
      <p:sp>
        <p:nvSpPr>
          <p:cNvPr id="749" name="Google Shape;749;p36"/>
          <p:cNvSpPr/>
          <p:nvPr/>
        </p:nvSpPr>
        <p:spPr>
          <a:xfrm>
            <a:off x="700088" y="1485900"/>
            <a:ext cx="10972800" cy="1622062"/>
          </a:xfrm>
          <a:prstGeom prst="roundRect">
            <a:avLst>
              <a:gd fmla="val 16667" name="adj"/>
            </a:avLst>
          </a:prstGeom>
          <a:solidFill>
            <a:srgbClr val="DAF3EB"/>
          </a:solidFill>
          <a:ln>
            <a:noFill/>
          </a:ln>
          <a:effectLst>
            <a:outerShdw blurRad="57785" algn="ctr" dir="3180000" dist="3302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Here is an example of a TRS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A Total Return Swap (TRS) contract between two parties, Party A and Party B, with a notional principal of $10 million. In this scenario, Party A will receive the total return on an equity, Stock XYZ (Price Return + Dividends), while Party B will receive the fixed Interest Rate of 10% p.a. The TRS has a term of 2 years.</a:t>
            </a:r>
            <a:endParaRPr b="0" i="0" sz="1600" u="none" cap="none" strike="noStrike">
              <a:solidFill>
                <a:schemeClr val="dk1"/>
              </a:solidFill>
              <a:latin typeface="Arial"/>
              <a:ea typeface="Arial"/>
              <a:cs typeface="Arial"/>
              <a:sym typeface="Arial"/>
            </a:endParaRPr>
          </a:p>
        </p:txBody>
      </p:sp>
      <p:grpSp>
        <p:nvGrpSpPr>
          <p:cNvPr id="750" name="Google Shape;750;p36"/>
          <p:cNvGrpSpPr/>
          <p:nvPr/>
        </p:nvGrpSpPr>
        <p:grpSpPr>
          <a:xfrm>
            <a:off x="700088" y="3500438"/>
            <a:ext cx="10972800" cy="2286000"/>
            <a:chOff x="700088" y="3500438"/>
            <a:chExt cx="10972800" cy="2286000"/>
          </a:xfrm>
        </p:grpSpPr>
        <p:sp>
          <p:nvSpPr>
            <p:cNvPr id="751" name="Google Shape;751;p36"/>
            <p:cNvSpPr/>
            <p:nvPr/>
          </p:nvSpPr>
          <p:spPr>
            <a:xfrm>
              <a:off x="730892" y="3500438"/>
              <a:ext cx="10903366" cy="2286000"/>
            </a:xfrm>
            <a:prstGeom prst="rect">
              <a:avLst/>
            </a:prstGeom>
            <a:noFill/>
            <a:ln cap="flat" cmpd="sng" w="9525">
              <a:solidFill>
                <a:schemeClr val="accent3"/>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Arial"/>
                <a:ea typeface="Arial"/>
                <a:cs typeface="Arial"/>
                <a:sym typeface="Arial"/>
              </a:endParaRPr>
            </a:p>
          </p:txBody>
        </p:sp>
        <p:sp>
          <p:nvSpPr>
            <p:cNvPr id="752" name="Google Shape;752;p36"/>
            <p:cNvSpPr/>
            <p:nvPr/>
          </p:nvSpPr>
          <p:spPr>
            <a:xfrm>
              <a:off x="11611282" y="3774576"/>
              <a:ext cx="61606" cy="1737725"/>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Arial"/>
                <a:ea typeface="Arial"/>
                <a:cs typeface="Arial"/>
                <a:sym typeface="Arial"/>
              </a:endParaRPr>
            </a:p>
          </p:txBody>
        </p:sp>
        <p:sp>
          <p:nvSpPr>
            <p:cNvPr id="753" name="Google Shape;753;p36"/>
            <p:cNvSpPr/>
            <p:nvPr/>
          </p:nvSpPr>
          <p:spPr>
            <a:xfrm>
              <a:off x="700088" y="3774576"/>
              <a:ext cx="61606" cy="1737725"/>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Arial"/>
                <a:ea typeface="Arial"/>
                <a:cs typeface="Arial"/>
                <a:sym typeface="Arial"/>
              </a:endParaRPr>
            </a:p>
          </p:txBody>
        </p:sp>
        <p:sp>
          <p:nvSpPr>
            <p:cNvPr id="754" name="Google Shape;754;p36"/>
            <p:cNvSpPr txBox="1"/>
            <p:nvPr/>
          </p:nvSpPr>
          <p:spPr>
            <a:xfrm>
              <a:off x="1211327" y="3612407"/>
              <a:ext cx="9965518" cy="20620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Terms of the TRS: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Notional Principal: $1,000,000</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Fixed Interest Rate Payer : Party A </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Fixed Interest Rate Agreed : 10% p.a</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Equity Total Return Payer : Party B</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Equity Reference Asset : Stock GOOGLE</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Initial Price of Stock GOOBLE: $100 per share</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Swap Term: 2 years</a:t>
              </a:r>
              <a:endParaRPr b="0" i="0" sz="1600" u="none" cap="none" strike="noStrike">
                <a:solidFill>
                  <a:schemeClr val="dk1"/>
                </a:solidFill>
                <a:latin typeface="Arial"/>
                <a:ea typeface="Arial"/>
                <a:cs typeface="Arial"/>
                <a:sym typeface="Arial"/>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37"/>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TOTAL RETURN SWAPS (TRS)</a:t>
            </a:r>
            <a:endParaRPr/>
          </a:p>
        </p:txBody>
      </p:sp>
      <p:graphicFrame>
        <p:nvGraphicFramePr>
          <p:cNvPr id="760" name="Google Shape;760;p37"/>
          <p:cNvGraphicFramePr/>
          <p:nvPr/>
        </p:nvGraphicFramePr>
        <p:xfrm>
          <a:off x="700088" y="1485900"/>
          <a:ext cx="3000000" cy="3000000"/>
        </p:xfrm>
        <a:graphic>
          <a:graphicData uri="http://schemas.openxmlformats.org/drawingml/2006/table">
            <a:tbl>
              <a:tblPr>
                <a:noFill/>
                <a:tableStyleId>{2EC827F9-9865-43DC-BEFB-80313BB38143}</a:tableStyleId>
              </a:tblPr>
              <a:tblGrid>
                <a:gridCol w="1040225"/>
                <a:gridCol w="1976275"/>
                <a:gridCol w="1828800"/>
                <a:gridCol w="1651825"/>
                <a:gridCol w="2271250"/>
                <a:gridCol w="2204425"/>
              </a:tblGrid>
              <a:tr h="365750">
                <a:tc>
                  <a:txBody>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a:txBody>
                  <a:tcPr marT="45725" marB="45725"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3"/>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3"/>
                    </a:solidFill>
                  </a:tcPr>
                </a:tc>
                <a:tc>
                  <a:txBody>
                    <a:bodyPr/>
                    <a:lstStyle/>
                    <a:p>
                      <a:pPr indent="0" lvl="0" marL="0" marR="0" rtl="0" algn="l">
                        <a:lnSpc>
                          <a:spcPct val="100000"/>
                        </a:lnSpc>
                        <a:spcBef>
                          <a:spcPts val="0"/>
                        </a:spcBef>
                        <a:spcAft>
                          <a:spcPts val="0"/>
                        </a:spcAft>
                        <a:buNone/>
                      </a:pPr>
                      <a:r>
                        <a:rPr b="1" i="0" lang="en-US" sz="1400" u="none" cap="none" strike="noStrike">
                          <a:solidFill>
                            <a:schemeClr val="lt1"/>
                          </a:solidFill>
                          <a:latin typeface="Arial"/>
                          <a:ea typeface="Arial"/>
                          <a:cs typeface="Arial"/>
                          <a:sym typeface="Arial"/>
                        </a:rPr>
                        <a:t>Party-A Payment</a:t>
                      </a:r>
                      <a:endParaRPr b="1" i="0" sz="1400" u="none" cap="none" strike="noStrike">
                        <a:solidFill>
                          <a:schemeClr val="lt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3"/>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3"/>
                    </a:solidFill>
                  </a:tcPr>
                </a:tc>
                <a:tc gridSpan="2">
                  <a:txBody>
                    <a:bodyPr/>
                    <a:lstStyle/>
                    <a:p>
                      <a:pPr indent="0" lvl="0" marL="0" marR="0" rtl="0" algn="l">
                        <a:lnSpc>
                          <a:spcPct val="100000"/>
                        </a:lnSpc>
                        <a:spcBef>
                          <a:spcPts val="0"/>
                        </a:spcBef>
                        <a:spcAft>
                          <a:spcPts val="0"/>
                        </a:spcAft>
                        <a:buNone/>
                      </a:pPr>
                      <a:r>
                        <a:rPr b="1" i="0" lang="en-US" sz="1400" u="none" cap="none" strike="noStrike">
                          <a:solidFill>
                            <a:schemeClr val="lt1"/>
                          </a:solidFill>
                          <a:latin typeface="Arial"/>
                          <a:ea typeface="Arial"/>
                          <a:cs typeface="Arial"/>
                          <a:sym typeface="Arial"/>
                        </a:rPr>
                        <a:t>GOOGLE EQ Stock Price Returns</a:t>
                      </a:r>
                      <a:endParaRPr b="1" i="0" sz="1400" u="none" cap="none" strike="noStrike">
                        <a:solidFill>
                          <a:schemeClr val="lt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3"/>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3"/>
                    </a:solidFill>
                  </a:tcPr>
                </a:tc>
                <a:tc hMerge="1"/>
                <a:tc>
                  <a:txBody>
                    <a:bodyPr/>
                    <a:lstStyle/>
                    <a:p>
                      <a:pPr indent="0" lvl="0" marL="0" marR="0" rtl="0" algn="l">
                        <a:lnSpc>
                          <a:spcPct val="100000"/>
                        </a:lnSpc>
                        <a:spcBef>
                          <a:spcPts val="0"/>
                        </a:spcBef>
                        <a:spcAft>
                          <a:spcPts val="0"/>
                        </a:spcAft>
                        <a:buNone/>
                      </a:pPr>
                      <a:r>
                        <a:rPr b="1" i="0" lang="en-US" sz="1400" u="none" cap="none" strike="noStrike">
                          <a:solidFill>
                            <a:schemeClr val="lt1"/>
                          </a:solidFill>
                          <a:latin typeface="Arial"/>
                          <a:ea typeface="Arial"/>
                          <a:cs typeface="Arial"/>
                          <a:sym typeface="Arial"/>
                        </a:rPr>
                        <a:t>Party-B Payment</a:t>
                      </a:r>
                      <a:endParaRPr b="1" i="0" sz="1400" u="none" cap="none" strike="noStrike">
                        <a:solidFill>
                          <a:schemeClr val="lt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3"/>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3"/>
                    </a:solidFill>
                  </a:tcPr>
                </a:tc>
                <a:tc>
                  <a:txBody>
                    <a:bodyPr/>
                    <a:lstStyle/>
                    <a:p>
                      <a:pPr indent="0" lvl="0" marL="0" marR="0" rtl="0" algn="l">
                        <a:lnSpc>
                          <a:spcPct val="100000"/>
                        </a:lnSpc>
                        <a:spcBef>
                          <a:spcPts val="0"/>
                        </a:spcBef>
                        <a:spcAft>
                          <a:spcPts val="0"/>
                        </a:spcAft>
                        <a:buNone/>
                      </a:pPr>
                      <a:r>
                        <a:rPr b="1" i="0" lang="en-US" sz="1400" u="none" cap="none" strike="noStrike">
                          <a:solidFill>
                            <a:schemeClr val="lt1"/>
                          </a:solidFill>
                          <a:latin typeface="Arial"/>
                          <a:ea typeface="Arial"/>
                          <a:cs typeface="Arial"/>
                          <a:sym typeface="Arial"/>
                        </a:rPr>
                        <a:t>Net Payment</a:t>
                      </a:r>
                      <a:endParaRPr b="1" i="0" sz="1400" u="none" cap="none" strike="noStrike">
                        <a:solidFill>
                          <a:schemeClr val="lt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chemeClr val="accent3"/>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3"/>
                    </a:solidFill>
                  </a:tcPr>
                </a:tc>
              </a:tr>
              <a:tr h="640075">
                <a:tc>
                  <a:txBody>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Settlement</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Year end</a:t>
                      </a:r>
                      <a:endParaRPr b="1" i="0" sz="1200" u="none" cap="none" strike="noStrike">
                        <a:solidFill>
                          <a:srgbClr val="000000"/>
                        </a:solidFill>
                        <a:latin typeface="Arial"/>
                        <a:ea typeface="Arial"/>
                        <a:cs typeface="Arial"/>
                        <a:sym typeface="Arial"/>
                      </a:endParaRPr>
                    </a:p>
                  </a:txBody>
                  <a:tcPr marT="45725" marB="45725"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dot"/>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Fixed Interest</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Payment @10% p.a</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Notional Amt x Int Rate</a:t>
                      </a:r>
                      <a:endParaRPr b="1"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dot"/>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GOOGLE </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Stock Price  &amp; Dividend</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on NYSE</a:t>
                      </a:r>
                      <a:endParaRPr b="1"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dot"/>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Equity Total Return</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Stock Price</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Return %</a:t>
                      </a:r>
                      <a:endParaRPr b="1"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dot"/>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GOOGLE Equity Stock</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Total Return </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Notional Amt x Equity Return</a:t>
                      </a:r>
                      <a:endParaRPr b="1"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dot"/>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Net Settlement</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Amount</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Between the Counter Parties</a:t>
                      </a:r>
                      <a:endParaRPr b="1"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dot"/>
                      <a:round/>
                      <a:headEnd len="sm" w="sm" type="none"/>
                      <a:tailEnd len="sm" w="sm" type="none"/>
                    </a:lnB>
                    <a:solidFill>
                      <a:schemeClr val="lt1"/>
                    </a:solidFill>
                  </a:tcPr>
                </a:tc>
              </a:tr>
              <a:tr h="365750">
                <a:tc>
                  <a:txBody>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Year-0</a:t>
                      </a:r>
                      <a:endParaRPr b="0" i="0" sz="1200" u="none" cap="none" strike="noStrike">
                        <a:solidFill>
                          <a:srgbClr val="000000"/>
                        </a:solidFill>
                        <a:latin typeface="Arial"/>
                        <a:ea typeface="Arial"/>
                        <a:cs typeface="Arial"/>
                        <a:sym typeface="Arial"/>
                      </a:endParaRPr>
                    </a:p>
                  </a:txBody>
                  <a:tcPr marT="45725" marB="45725"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100</a:t>
                      </a:r>
                      <a:endParaRPr b="0"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chemeClr val="lt1"/>
                    </a:solidFill>
                  </a:tcPr>
                </a:tc>
              </a:tr>
              <a:tr h="822950">
                <a:tc>
                  <a:txBody>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Year-1</a:t>
                      </a:r>
                      <a:endParaRPr b="0" i="0" sz="1200" u="none" cap="none" strike="noStrike">
                        <a:solidFill>
                          <a:srgbClr val="000000"/>
                        </a:solidFill>
                        <a:latin typeface="Arial"/>
                        <a:ea typeface="Arial"/>
                        <a:cs typeface="Arial"/>
                        <a:sym typeface="Arial"/>
                      </a:endParaRPr>
                    </a:p>
                  </a:txBody>
                  <a:tcPr marT="45725" marB="45725"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1,000,000 * 10%</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=100000 US$</a:t>
                      </a:r>
                      <a:endParaRPr b="0"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115 $/Share</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Dividend = 2$ per share</a:t>
                      </a:r>
                      <a:endParaRPr b="0"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=(115-100+2)/100</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=17%</a:t>
                      </a:r>
                      <a:endParaRPr b="0"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=17% * 1,000,000</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=170000 US$</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Capital Appreciation</a:t>
                      </a:r>
                      <a:endParaRPr b="0"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(170000-100000)</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70000 US$</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paid by Party B</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to Party A</a:t>
                      </a:r>
                      <a:endParaRPr b="0"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chemeClr val="lt1"/>
                    </a:solidFill>
                  </a:tcPr>
                </a:tc>
              </a:tr>
              <a:tr h="822950">
                <a:tc>
                  <a:txBody>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Year-2</a:t>
                      </a:r>
                      <a:endParaRPr b="0" i="0" sz="1200" u="none" cap="none" strike="noStrike">
                        <a:solidFill>
                          <a:srgbClr val="000000"/>
                        </a:solidFill>
                        <a:latin typeface="Arial"/>
                        <a:ea typeface="Arial"/>
                        <a:cs typeface="Arial"/>
                        <a:sym typeface="Arial"/>
                      </a:endParaRPr>
                    </a:p>
                  </a:txBody>
                  <a:tcPr marT="45725" marB="45725"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1,000,000 * 10%</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=100000 US$</a:t>
                      </a:r>
                      <a:endParaRPr b="0"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120 $/Share</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Dividend = 3$ per share</a:t>
                      </a:r>
                      <a:endParaRPr b="0"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=(120-115+3)/115</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6.96%</a:t>
                      </a:r>
                      <a:endParaRPr b="0"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=6.96% * 1,000,000</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=69600 US$</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Capital Appreciation</a:t>
                      </a:r>
                      <a:endParaRPr b="0"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(100000-69600)</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30400 US$</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paid by Party A</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to Party B</a:t>
                      </a:r>
                      <a:endParaRPr b="0"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rgbClr val="BFBFBF"/>
                      </a:solidFill>
                      <a:prstDash val="dot"/>
                      <a:round/>
                      <a:headEnd len="sm" w="sm" type="none"/>
                      <a:tailEnd len="sm" w="sm" type="none"/>
                    </a:lnB>
                    <a:solidFill>
                      <a:schemeClr val="lt1"/>
                    </a:solidFill>
                  </a:tcPr>
                </a:tc>
              </a:tr>
              <a:tr h="1371600">
                <a:tc>
                  <a:txBody>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Year-3</a:t>
                      </a:r>
                      <a:endParaRPr b="0" i="0" sz="1200" u="none" cap="none" strike="noStrike">
                        <a:solidFill>
                          <a:srgbClr val="000000"/>
                        </a:solidFill>
                        <a:latin typeface="Arial"/>
                        <a:ea typeface="Arial"/>
                        <a:cs typeface="Arial"/>
                        <a:sym typeface="Arial"/>
                      </a:endParaRPr>
                    </a:p>
                  </a:txBody>
                  <a:tcPr marT="45725" marB="45725" marR="91450" marL="91450" anchor="ctr">
                    <a:lnL cap="flat" cmpd="sng" w="12700">
                      <a:solidFill>
                        <a:schemeClr val="accent3"/>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chemeClr val="accent3"/>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1,000,000 * 5%</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=100000 US$</a:t>
                      </a:r>
                      <a:endParaRPr b="0"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chemeClr val="accent3"/>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108 $/Share</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Dividend = 1$/share</a:t>
                      </a:r>
                      <a:endParaRPr b="0"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chemeClr val="accent3"/>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=(108-120+1)/120</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=-9.17%</a:t>
                      </a:r>
                      <a:endParaRPr b="0"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chemeClr val="accent3"/>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-9.17% * 1,000,000</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- 91700 US$</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Capital Loss</a:t>
                      </a:r>
                      <a:endParaRPr b="0"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chemeClr val="accent3"/>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(100000-(-91700))</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191700 US$</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paid by Party A</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to Party B</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since the total equity return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loss is also need</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to be borne by Party A</a:t>
                      </a:r>
                      <a:endParaRPr b="0" i="0" sz="12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accent3"/>
                      </a:solidFill>
                      <a:prstDash val="solid"/>
                      <a:round/>
                      <a:headEnd len="sm" w="sm" type="none"/>
                      <a:tailEnd len="sm" w="sm" type="none"/>
                    </a:lnR>
                    <a:lnT cap="flat" cmpd="sng" w="12700">
                      <a:solidFill>
                        <a:srgbClr val="BFBFBF"/>
                      </a:solidFill>
                      <a:prstDash val="dot"/>
                      <a:round/>
                      <a:headEnd len="sm" w="sm" type="none"/>
                      <a:tailEnd len="sm" w="sm" type="none"/>
                    </a:lnT>
                    <a:lnB cap="flat" cmpd="sng" w="12700">
                      <a:solidFill>
                        <a:schemeClr val="accent3"/>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38"/>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TOTAL RETURN SWAPS (TRS)</a:t>
            </a:r>
            <a:endParaRPr/>
          </a:p>
        </p:txBody>
      </p:sp>
      <p:sp>
        <p:nvSpPr>
          <p:cNvPr id="766" name="Google Shape;766;p38"/>
          <p:cNvSpPr/>
          <p:nvPr/>
        </p:nvSpPr>
        <p:spPr>
          <a:xfrm>
            <a:off x="700088" y="1498056"/>
            <a:ext cx="10972800" cy="3201763"/>
          </a:xfrm>
          <a:prstGeom prst="rect">
            <a:avLst/>
          </a:prstGeom>
          <a:solidFill>
            <a:srgbClr val="DAF3EB"/>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Arial"/>
              <a:ea typeface="Arial"/>
              <a:cs typeface="Arial"/>
              <a:sym typeface="Arial"/>
            </a:endParaRPr>
          </a:p>
        </p:txBody>
      </p:sp>
      <p:sp>
        <p:nvSpPr>
          <p:cNvPr id="767" name="Google Shape;767;p38"/>
          <p:cNvSpPr txBox="1"/>
          <p:nvPr/>
        </p:nvSpPr>
        <p:spPr>
          <a:xfrm>
            <a:off x="1115254" y="1666418"/>
            <a:ext cx="10142469" cy="28650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800" u="none" cap="none" strike="noStrike">
                <a:solidFill>
                  <a:schemeClr val="dk1"/>
                </a:solidFill>
                <a:latin typeface="Arial"/>
                <a:ea typeface="Arial"/>
                <a:cs typeface="Arial"/>
                <a:sym typeface="Arial"/>
              </a:rPr>
              <a:t> In this example:</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800" u="none" cap="none" strike="noStrike">
                <a:solidFill>
                  <a:schemeClr val="dk1"/>
                </a:solidFill>
                <a:latin typeface="Arial"/>
                <a:ea typeface="Arial"/>
                <a:cs typeface="Arial"/>
                <a:sym typeface="Arial"/>
              </a:rPr>
              <a:t>Years-1 to Year-3:</a:t>
            </a:r>
            <a:endParaRPr b="0" i="0" sz="1800" u="none" cap="none" strike="noStrike">
              <a:solidFill>
                <a:schemeClr val="dk1"/>
              </a:solidFill>
              <a:latin typeface="Arial"/>
              <a:ea typeface="Arial"/>
              <a:cs typeface="Arial"/>
              <a:sym typeface="Arial"/>
            </a:endParaRPr>
          </a:p>
          <a:p>
            <a:pPr indent="0" lvl="0" marL="0" marR="0" rtl="0" algn="l">
              <a:lnSpc>
                <a:spcPct val="0"/>
              </a:lnSpc>
              <a:spcBef>
                <a:spcPts val="0"/>
              </a:spcBef>
              <a:spcAft>
                <a:spcPts val="0"/>
              </a:spcAft>
              <a:buClr>
                <a:srgbClr val="000000"/>
              </a:buClr>
              <a:buSzPts val="1600"/>
              <a:buFont typeface="Arial"/>
              <a:buNone/>
            </a:pPr>
            <a:r>
              <a:rPr b="1" i="0" lang="en-US"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184150" lvl="0" marL="285750" marR="0" rtl="0" algn="l">
              <a:lnSpc>
                <a:spcPct val="100000"/>
              </a:lnSpc>
              <a:spcBef>
                <a:spcPts val="0"/>
              </a:spcBef>
              <a:spcAft>
                <a:spcPts val="0"/>
              </a:spcAft>
              <a:buClr>
                <a:schemeClr val="dk1"/>
              </a:buClr>
              <a:buSzPts val="16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800" u="none" cap="none" strike="noStrike">
                <a:solidFill>
                  <a:schemeClr val="dk1"/>
                </a:solidFill>
                <a:latin typeface="Arial"/>
                <a:ea typeface="Arial"/>
                <a:cs typeface="Arial"/>
                <a:sym typeface="Arial"/>
              </a:rPr>
              <a:t>Party A (Total Equity Return Receiver</a:t>
            </a:r>
            <a:r>
              <a:rPr b="0" i="0" lang="en-US" sz="1800" u="none" cap="none" strike="noStrike">
                <a:solidFill>
                  <a:schemeClr val="dk1"/>
                </a:solidFill>
                <a:latin typeface="Arial"/>
                <a:ea typeface="Arial"/>
                <a:cs typeface="Arial"/>
                <a:sym typeface="Arial"/>
              </a:rPr>
              <a:t>) receives the total return on Stock GOOGLE, which includes capital appreciation (the difference in stock price from the previous year) &amp; dividend income.</a:t>
            </a:r>
            <a:endParaRPr b="0" i="0" sz="1800" u="none" cap="none" strike="noStrike">
              <a:solidFill>
                <a:schemeClr val="dk1"/>
              </a:solidFill>
              <a:latin typeface="Arial"/>
              <a:ea typeface="Arial"/>
              <a:cs typeface="Arial"/>
              <a:sym typeface="Arial"/>
            </a:endParaRPr>
          </a:p>
          <a:p>
            <a:pPr indent="-184150" lvl="0" marL="285750" marR="0" rtl="0" algn="l">
              <a:lnSpc>
                <a:spcPct val="100000"/>
              </a:lnSpc>
              <a:spcBef>
                <a:spcPts val="0"/>
              </a:spcBef>
              <a:spcAft>
                <a:spcPts val="0"/>
              </a:spcAft>
              <a:buClr>
                <a:schemeClr val="dk1"/>
              </a:buClr>
              <a:buSzPts val="1600"/>
              <a:buFont typeface="Arial"/>
              <a:buNone/>
            </a:pPr>
            <a:r>
              <a:t/>
            </a:r>
            <a:endParaRPr b="0" i="0" sz="18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800" u="none" cap="none" strike="noStrike">
                <a:solidFill>
                  <a:schemeClr val="dk1"/>
                </a:solidFill>
                <a:latin typeface="Arial"/>
                <a:ea typeface="Arial"/>
                <a:cs typeface="Arial"/>
                <a:sym typeface="Arial"/>
              </a:rPr>
              <a:t>Party B (Fixed Interest Rate Receiver) </a:t>
            </a:r>
            <a:r>
              <a:rPr b="0" i="0" lang="en-US" sz="1800" u="none" cap="none" strike="noStrike">
                <a:solidFill>
                  <a:schemeClr val="dk1"/>
                </a:solidFill>
                <a:latin typeface="Arial"/>
                <a:ea typeface="Arial"/>
                <a:cs typeface="Arial"/>
                <a:sym typeface="Arial"/>
              </a:rPr>
              <a:t>receives the Fixed Interest Rate, which is assumed to be 10% of the notional principal annually.</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pic>
        <p:nvPicPr>
          <p:cNvPr id="772" name="Google Shape;772;p39"/>
          <p:cNvPicPr preferRelativeResize="0"/>
          <p:nvPr>
            <p:ph idx="2" type="pic"/>
          </p:nvPr>
        </p:nvPicPr>
        <p:blipFill rotWithShape="1">
          <a:blip r:embed="rId3">
            <a:alphaModFix/>
          </a:blip>
          <a:srcRect b="0" l="0" r="0" t="0"/>
          <a:stretch/>
        </p:blipFill>
        <p:spPr>
          <a:xfrm>
            <a:off x="3978704" y="-21266"/>
            <a:ext cx="8211708" cy="6889900"/>
          </a:xfrm>
          <a:prstGeom prst="rect">
            <a:avLst/>
          </a:prstGeom>
          <a:solidFill>
            <a:srgbClr val="F2F2F2"/>
          </a:solidFill>
          <a:ln>
            <a:noFill/>
          </a:ln>
        </p:spPr>
      </p:pic>
      <p:sp>
        <p:nvSpPr>
          <p:cNvPr id="773" name="Google Shape;773;p39"/>
          <p:cNvSpPr/>
          <p:nvPr/>
        </p:nvSpPr>
        <p:spPr>
          <a:xfrm>
            <a:off x="0" y="0"/>
            <a:ext cx="6124354" cy="6879266"/>
          </a:xfrm>
          <a:custGeom>
            <a:rect b="b" l="l" r="r" t="t"/>
            <a:pathLst>
              <a:path extrusionOk="0" h="6879266" w="6124354">
                <a:moveTo>
                  <a:pt x="0" y="0"/>
                </a:moveTo>
                <a:lnTo>
                  <a:pt x="4061637" y="0"/>
                </a:lnTo>
                <a:lnTo>
                  <a:pt x="6124354" y="6879266"/>
                </a:lnTo>
                <a:lnTo>
                  <a:pt x="0" y="6858000"/>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74" name="Google Shape;774;p39"/>
          <p:cNvSpPr/>
          <p:nvPr/>
        </p:nvSpPr>
        <p:spPr>
          <a:xfrm flipH="1">
            <a:off x="4025448" y="-21268"/>
            <a:ext cx="8166551" cy="6900533"/>
          </a:xfrm>
          <a:custGeom>
            <a:rect b="b" l="l" r="r" t="t"/>
            <a:pathLst>
              <a:path extrusionOk="0" h="13716000" w="16143890">
                <a:moveTo>
                  <a:pt x="0" y="0"/>
                </a:moveTo>
                <a:lnTo>
                  <a:pt x="16143890" y="0"/>
                </a:lnTo>
                <a:lnTo>
                  <a:pt x="12044855" y="13716000"/>
                </a:lnTo>
                <a:lnTo>
                  <a:pt x="0" y="13716000"/>
                </a:lnTo>
                <a:lnTo>
                  <a:pt x="0" y="0"/>
                </a:lnTo>
                <a:close/>
              </a:path>
            </a:pathLst>
          </a:custGeom>
          <a:solidFill>
            <a:srgbClr val="25B5CA">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775" name="Google Shape;775;p39"/>
          <p:cNvSpPr/>
          <p:nvPr/>
        </p:nvSpPr>
        <p:spPr>
          <a:xfrm flipH="1">
            <a:off x="1588" y="2337971"/>
            <a:ext cx="8198069" cy="2182058"/>
          </a:xfrm>
          <a:custGeom>
            <a:rect b="b" l="l" r="r" t="t"/>
            <a:pathLst>
              <a:path extrusionOk="0" h="3987559" w="14981402">
                <a:moveTo>
                  <a:pt x="1229711" y="0"/>
                </a:moveTo>
                <a:lnTo>
                  <a:pt x="14981402" y="0"/>
                </a:lnTo>
                <a:lnTo>
                  <a:pt x="14981402" y="3987559"/>
                </a:lnTo>
                <a:lnTo>
                  <a:pt x="0" y="3987559"/>
                </a:lnTo>
                <a:lnTo>
                  <a:pt x="1229711"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776" name="Google Shape;776;p39"/>
          <p:cNvSpPr/>
          <p:nvPr/>
        </p:nvSpPr>
        <p:spPr>
          <a:xfrm flipH="1">
            <a:off x="1588" y="627903"/>
            <a:ext cx="560419" cy="270354"/>
          </a:xfrm>
          <a:custGeom>
            <a:rect b="b" l="l" r="r" t="t"/>
            <a:pathLst>
              <a:path extrusionOk="0" h="3987559" w="16161399">
                <a:moveTo>
                  <a:pt x="2409708" y="0"/>
                </a:moveTo>
                <a:lnTo>
                  <a:pt x="16161399" y="0"/>
                </a:lnTo>
                <a:lnTo>
                  <a:pt x="16161399" y="3987559"/>
                </a:lnTo>
                <a:lnTo>
                  <a:pt x="0" y="3960361"/>
                </a:lnTo>
                <a:lnTo>
                  <a:pt x="2409708" y="0"/>
                </a:lnTo>
                <a:close/>
              </a:path>
            </a:pathLst>
          </a:custGeom>
          <a:solidFill>
            <a:srgbClr val="19A7C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777" name="Google Shape;777;p39"/>
          <p:cNvSpPr txBox="1"/>
          <p:nvPr/>
        </p:nvSpPr>
        <p:spPr>
          <a:xfrm>
            <a:off x="329608" y="3044279"/>
            <a:ext cx="7559201"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FFFFFF"/>
                </a:solidFill>
                <a:latin typeface="Arial"/>
                <a:ea typeface="Arial"/>
                <a:cs typeface="Arial"/>
                <a:sym typeface="Arial"/>
              </a:rPr>
              <a:t>Credit Default Swap</a:t>
            </a:r>
            <a:endParaRPr b="0" i="0" sz="4400" u="none" cap="none" strike="noStrike">
              <a:solidFill>
                <a:srgbClr val="000000"/>
              </a:solidFill>
              <a:latin typeface="Arial"/>
              <a:ea typeface="Arial"/>
              <a:cs typeface="Arial"/>
              <a:sym typeface="Arial"/>
            </a:endParaRPr>
          </a:p>
        </p:txBody>
      </p:sp>
      <p:pic>
        <p:nvPicPr>
          <p:cNvPr descr="A picture containing text, clipart&#10;&#10;Description automatically generated" id="778" name="Google Shape;778;p39"/>
          <p:cNvPicPr preferRelativeResize="0"/>
          <p:nvPr/>
        </p:nvPicPr>
        <p:blipFill rotWithShape="1">
          <a:blip r:embed="rId4">
            <a:alphaModFix/>
          </a:blip>
          <a:srcRect b="0" l="0" r="0" t="0"/>
          <a:stretch/>
        </p:blipFill>
        <p:spPr>
          <a:xfrm>
            <a:off x="9533468" y="312483"/>
            <a:ext cx="2421466" cy="49196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40"/>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CREDIT DEFAULT SWAPS</a:t>
            </a:r>
            <a:endParaRPr/>
          </a:p>
        </p:txBody>
      </p:sp>
      <p:pic>
        <p:nvPicPr>
          <p:cNvPr id="784" name="Google Shape;784;p40"/>
          <p:cNvPicPr preferRelativeResize="0"/>
          <p:nvPr/>
        </p:nvPicPr>
        <p:blipFill rotWithShape="1">
          <a:blip r:embed="rId3">
            <a:alphaModFix/>
          </a:blip>
          <a:srcRect b="0" l="0" r="0" t="0"/>
          <a:stretch/>
        </p:blipFill>
        <p:spPr>
          <a:xfrm>
            <a:off x="5381024" y="0"/>
            <a:ext cx="6141094" cy="6858000"/>
          </a:xfrm>
          <a:custGeom>
            <a:rect b="b" l="l" r="r" t="t"/>
            <a:pathLst>
              <a:path extrusionOk="0" h="13716000" w="12282187">
                <a:moveTo>
                  <a:pt x="0" y="0"/>
                </a:moveTo>
                <a:lnTo>
                  <a:pt x="8089328" y="0"/>
                </a:lnTo>
                <a:lnTo>
                  <a:pt x="12282187" y="13716000"/>
                </a:lnTo>
                <a:lnTo>
                  <a:pt x="4170556" y="13716000"/>
                </a:lnTo>
                <a:lnTo>
                  <a:pt x="0" y="0"/>
                </a:lnTo>
                <a:close/>
              </a:path>
            </a:pathLst>
          </a:custGeom>
          <a:noFill/>
          <a:ln>
            <a:noFill/>
          </a:ln>
        </p:spPr>
      </p:pic>
      <p:sp>
        <p:nvSpPr>
          <p:cNvPr id="785" name="Google Shape;785;p40"/>
          <p:cNvSpPr/>
          <p:nvPr/>
        </p:nvSpPr>
        <p:spPr>
          <a:xfrm>
            <a:off x="706036" y="2060140"/>
            <a:ext cx="5036003" cy="3566160"/>
          </a:xfrm>
          <a:prstGeom prst="roundRect">
            <a:avLst>
              <a:gd fmla="val 10869" name="adj"/>
            </a:avLst>
          </a:prstGeom>
          <a:noFill/>
          <a:ln cap="flat" cmpd="sng" w="19050">
            <a:solidFill>
              <a:schemeClr val="accent3"/>
            </a:solidFill>
            <a:prstDash val="solid"/>
            <a:miter lim="800000"/>
            <a:headEnd len="sm" w="sm" type="none"/>
            <a:tailEnd len="sm" w="sm" type="none"/>
          </a:ln>
          <a:effectLst>
            <a:outerShdw blurRad="292100" rotWithShape="0" algn="t" dir="5400000" dist="203200">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p:txBody>
      </p:sp>
      <p:grpSp>
        <p:nvGrpSpPr>
          <p:cNvPr id="786" name="Google Shape;786;p40"/>
          <p:cNvGrpSpPr/>
          <p:nvPr/>
        </p:nvGrpSpPr>
        <p:grpSpPr>
          <a:xfrm>
            <a:off x="2564487" y="1485900"/>
            <a:ext cx="1319100" cy="1319102"/>
            <a:chOff x="1325698" y="3606602"/>
            <a:chExt cx="1199182" cy="1199184"/>
          </a:xfrm>
        </p:grpSpPr>
        <p:sp>
          <p:nvSpPr>
            <p:cNvPr id="787" name="Google Shape;787;p40"/>
            <p:cNvSpPr/>
            <p:nvPr/>
          </p:nvSpPr>
          <p:spPr>
            <a:xfrm flipH="1" rot="10800000">
              <a:off x="1325698" y="3606602"/>
              <a:ext cx="1199182" cy="1199184"/>
            </a:xfrm>
            <a:prstGeom prst="donut">
              <a:avLst>
                <a:gd fmla="val 9947" name="adj"/>
              </a:avLst>
            </a:prstGeom>
            <a:gradFill>
              <a:gsLst>
                <a:gs pos="0">
                  <a:schemeClr val="accent4"/>
                </a:gs>
                <a:gs pos="100000">
                  <a:schemeClr val="accent3"/>
                </a:gs>
              </a:gsLst>
              <a:lin ang="16200000" scaled="0"/>
            </a:gradFill>
            <a:ln>
              <a:noFill/>
            </a:ln>
            <a:effectLst>
              <a:outerShdw blurRad="50800" rotWithShape="0" algn="t" dir="5400000" dist="38100">
                <a:srgbClr val="000000">
                  <a:alpha val="705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600" u="none" cap="none" strike="noStrike">
                <a:solidFill>
                  <a:schemeClr val="lt1"/>
                </a:solidFill>
                <a:latin typeface="Arial"/>
                <a:ea typeface="Arial"/>
                <a:cs typeface="Arial"/>
                <a:sym typeface="Arial"/>
              </a:endParaRPr>
            </a:p>
          </p:txBody>
        </p:sp>
        <p:sp>
          <p:nvSpPr>
            <p:cNvPr id="788" name="Google Shape;788;p40"/>
            <p:cNvSpPr/>
            <p:nvPr/>
          </p:nvSpPr>
          <p:spPr>
            <a:xfrm>
              <a:off x="1508185" y="3788863"/>
              <a:ext cx="834209" cy="834660"/>
            </a:xfrm>
            <a:prstGeom prst="ellipse">
              <a:avLst/>
            </a:prstGeom>
            <a:solidFill>
              <a:schemeClr val="lt1"/>
            </a:solidFill>
            <a:ln>
              <a:noFill/>
            </a:ln>
            <a:effectLst>
              <a:outerShdw blurRad="254000" rotWithShape="0" algn="t" dir="5400000" dist="76200">
                <a:srgbClr val="000000">
                  <a:alpha val="784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Poppins"/>
                <a:ea typeface="Poppins"/>
                <a:cs typeface="Poppins"/>
                <a:sym typeface="Poppins"/>
              </a:endParaRPr>
            </a:p>
          </p:txBody>
        </p:sp>
      </p:grpSp>
      <p:sp>
        <p:nvSpPr>
          <p:cNvPr id="789" name="Google Shape;789;p40"/>
          <p:cNvSpPr txBox="1"/>
          <p:nvPr/>
        </p:nvSpPr>
        <p:spPr>
          <a:xfrm>
            <a:off x="962322" y="2873537"/>
            <a:ext cx="4523430" cy="255454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A </a:t>
            </a:r>
            <a:r>
              <a:rPr b="1" i="0" lang="en-US" sz="1600" u="none" cap="none" strike="noStrike">
                <a:solidFill>
                  <a:srgbClr val="000000"/>
                </a:solidFill>
                <a:latin typeface="Arial"/>
                <a:ea typeface="Arial"/>
                <a:cs typeface="Arial"/>
                <a:sym typeface="Arial"/>
              </a:rPr>
              <a:t>Credit Default Swap (CDS)</a:t>
            </a:r>
            <a:r>
              <a:rPr b="0" i="0" lang="en-US" sz="1600" u="none" cap="none" strike="noStrike">
                <a:solidFill>
                  <a:srgbClr val="000000"/>
                </a:solidFill>
                <a:latin typeface="Arial"/>
                <a:ea typeface="Arial"/>
                <a:cs typeface="Arial"/>
                <a:sym typeface="Arial"/>
              </a:rPr>
              <a:t> is a financial derivative contract that allows one party, known as the protection buyer, to transfer the credit risk of a specific debt obligation to another party, known as the protection seller. The primary purpose of a CDS is to provide insurance or protection against the possibility of a credit event, such as a default, bankruptcy, or a significant credit downgrade, occurring with the underlying debt instrument.</a:t>
            </a:r>
            <a:endParaRPr b="0" i="0" sz="1200" u="none" cap="none" strike="noStrike">
              <a:solidFill>
                <a:srgbClr val="000000"/>
              </a:solidFill>
              <a:latin typeface="Arial"/>
              <a:ea typeface="Arial"/>
              <a:cs typeface="Arial"/>
              <a:sym typeface="Arial"/>
            </a:endParaRPr>
          </a:p>
        </p:txBody>
      </p:sp>
      <p:pic>
        <p:nvPicPr>
          <p:cNvPr descr="Credit " id="790" name="Google Shape;790;p40"/>
          <p:cNvPicPr preferRelativeResize="0"/>
          <p:nvPr/>
        </p:nvPicPr>
        <p:blipFill rotWithShape="1">
          <a:blip r:embed="rId4">
            <a:alphaModFix/>
          </a:blip>
          <a:srcRect b="0" l="0" r="0" t="0"/>
          <a:stretch/>
        </p:blipFill>
        <p:spPr>
          <a:xfrm>
            <a:off x="2946946" y="1868360"/>
            <a:ext cx="554182" cy="554182"/>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41"/>
          <p:cNvSpPr txBox="1"/>
          <p:nvPr>
            <p:ph type="title"/>
          </p:nvPr>
        </p:nvSpPr>
        <p:spPr>
          <a:xfrm>
            <a:off x="700088" y="404813"/>
            <a:ext cx="10515600" cy="71596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CREDIT DEFAULT SWAPS</a:t>
            </a:r>
            <a:endParaRPr/>
          </a:p>
        </p:txBody>
      </p:sp>
      <p:sp>
        <p:nvSpPr>
          <p:cNvPr id="796" name="Google Shape;796;p41"/>
          <p:cNvSpPr/>
          <p:nvPr/>
        </p:nvSpPr>
        <p:spPr>
          <a:xfrm>
            <a:off x="1050462" y="2300336"/>
            <a:ext cx="2880000" cy="333783"/>
          </a:xfrm>
          <a:prstGeom prst="roundRect">
            <a:avLst>
              <a:gd fmla="val 50000"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Arial"/>
                <a:ea typeface="Arial"/>
                <a:cs typeface="Arial"/>
                <a:sym typeface="Arial"/>
              </a:rPr>
              <a:t>Reference Obligation </a:t>
            </a:r>
            <a:endParaRPr b="1" i="0" sz="1600" u="none" cap="none" strike="noStrike">
              <a:solidFill>
                <a:srgbClr val="FFFFFF"/>
              </a:solidFill>
              <a:latin typeface="Arial"/>
              <a:ea typeface="Arial"/>
              <a:cs typeface="Arial"/>
              <a:sym typeface="Arial"/>
            </a:endParaRPr>
          </a:p>
        </p:txBody>
      </p:sp>
      <p:sp>
        <p:nvSpPr>
          <p:cNvPr id="797" name="Google Shape;797;p41"/>
          <p:cNvSpPr txBox="1"/>
          <p:nvPr/>
        </p:nvSpPr>
        <p:spPr>
          <a:xfrm>
            <a:off x="700088" y="2704755"/>
            <a:ext cx="3580749" cy="1339277"/>
          </a:xfrm>
          <a:prstGeom prst="rect">
            <a:avLst/>
          </a:prstGeom>
          <a:noFill/>
          <a:ln>
            <a:noFill/>
          </a:ln>
        </p:spPr>
        <p:txBody>
          <a:bodyPr anchorCtr="0" anchor="t" bIns="54000" lIns="54000" spcFirstLastPara="1" rIns="52275" wrap="square" tIns="53125">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The CDS contract identifies a reference obligation, which is typically a specific bond or debt instrument. The protection buyer owns or holds exposure to this reference obligation.</a:t>
            </a:r>
            <a:endParaRPr b="0" i="0" sz="1400" u="none" cap="none" strike="noStrike">
              <a:solidFill>
                <a:srgbClr val="000000"/>
              </a:solidFill>
              <a:latin typeface="Arial"/>
              <a:ea typeface="Arial"/>
              <a:cs typeface="Arial"/>
              <a:sym typeface="Arial"/>
            </a:endParaRPr>
          </a:p>
        </p:txBody>
      </p:sp>
      <p:sp>
        <p:nvSpPr>
          <p:cNvPr id="798" name="Google Shape;798;p41"/>
          <p:cNvSpPr/>
          <p:nvPr/>
        </p:nvSpPr>
        <p:spPr>
          <a:xfrm>
            <a:off x="8423463" y="2300336"/>
            <a:ext cx="2880000" cy="333783"/>
          </a:xfrm>
          <a:prstGeom prst="roundRect">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Arial"/>
                <a:ea typeface="Arial"/>
                <a:cs typeface="Arial"/>
                <a:sym typeface="Arial"/>
              </a:rPr>
              <a:t>Protection Buyer </a:t>
            </a:r>
            <a:endParaRPr b="1" i="0" sz="1600" u="none" cap="none" strike="noStrike">
              <a:solidFill>
                <a:srgbClr val="FFFFFF"/>
              </a:solidFill>
              <a:latin typeface="Arial"/>
              <a:ea typeface="Arial"/>
              <a:cs typeface="Arial"/>
              <a:sym typeface="Arial"/>
            </a:endParaRPr>
          </a:p>
        </p:txBody>
      </p:sp>
      <p:sp>
        <p:nvSpPr>
          <p:cNvPr id="799" name="Google Shape;799;p41"/>
          <p:cNvSpPr txBox="1"/>
          <p:nvPr/>
        </p:nvSpPr>
        <p:spPr>
          <a:xfrm>
            <a:off x="8073089" y="2704755"/>
            <a:ext cx="3580749" cy="1339277"/>
          </a:xfrm>
          <a:prstGeom prst="rect">
            <a:avLst/>
          </a:prstGeom>
          <a:noFill/>
          <a:ln>
            <a:noFill/>
          </a:ln>
        </p:spPr>
        <p:txBody>
          <a:bodyPr anchorCtr="0" anchor="t" bIns="54000" lIns="54000" spcFirstLastPara="1" rIns="52275" wrap="square" tIns="53125">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This party seeks to protect itself from the credit risk associated with the reference obligation. It pays regular premiums (similar to insurance premiums) to the protection seller.</a:t>
            </a:r>
            <a:endParaRPr b="0" i="0" sz="1400" u="none" cap="none" strike="noStrike">
              <a:solidFill>
                <a:srgbClr val="000000"/>
              </a:solidFill>
              <a:latin typeface="Arial"/>
              <a:ea typeface="Arial"/>
              <a:cs typeface="Arial"/>
              <a:sym typeface="Arial"/>
            </a:endParaRPr>
          </a:p>
        </p:txBody>
      </p:sp>
      <p:sp>
        <p:nvSpPr>
          <p:cNvPr id="800" name="Google Shape;800;p41"/>
          <p:cNvSpPr/>
          <p:nvPr/>
        </p:nvSpPr>
        <p:spPr>
          <a:xfrm>
            <a:off x="4736963" y="4819695"/>
            <a:ext cx="2880000" cy="333783"/>
          </a:xfrm>
          <a:prstGeom prst="roundRect">
            <a:avLst>
              <a:gd fmla="val 50000" name="adj"/>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Arial"/>
                <a:ea typeface="Arial"/>
                <a:cs typeface="Arial"/>
                <a:sym typeface="Arial"/>
              </a:rPr>
              <a:t>Protection Seller </a:t>
            </a:r>
            <a:endParaRPr b="1" i="0" sz="1600" u="none" cap="none" strike="noStrike">
              <a:solidFill>
                <a:srgbClr val="FFFFFF"/>
              </a:solidFill>
              <a:latin typeface="Arial"/>
              <a:ea typeface="Arial"/>
              <a:cs typeface="Arial"/>
              <a:sym typeface="Arial"/>
            </a:endParaRPr>
          </a:p>
        </p:txBody>
      </p:sp>
      <p:sp>
        <p:nvSpPr>
          <p:cNvPr id="801" name="Google Shape;801;p41"/>
          <p:cNvSpPr txBox="1"/>
          <p:nvPr/>
        </p:nvSpPr>
        <p:spPr>
          <a:xfrm>
            <a:off x="3323148" y="5199565"/>
            <a:ext cx="5707630" cy="1093056"/>
          </a:xfrm>
          <a:prstGeom prst="rect">
            <a:avLst/>
          </a:prstGeom>
          <a:noFill/>
          <a:ln>
            <a:noFill/>
          </a:ln>
        </p:spPr>
        <p:txBody>
          <a:bodyPr anchorCtr="0" anchor="t" bIns="54000" lIns="54000" spcFirstLastPara="1" rIns="52275" wrap="square" tIns="53125">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The protection seller agrees to compensate the protection buyer in the event of a credit event related to the reference obligation. In exchange for this protection, the protection seller receives premium payments from the protection buyer.</a:t>
            </a:r>
            <a:endParaRPr b="0" i="0" sz="1400" u="none" cap="none" strike="noStrike">
              <a:solidFill>
                <a:srgbClr val="000000"/>
              </a:solidFill>
              <a:latin typeface="Arial"/>
              <a:ea typeface="Arial"/>
              <a:cs typeface="Arial"/>
              <a:sym typeface="Arial"/>
            </a:endParaRPr>
          </a:p>
        </p:txBody>
      </p:sp>
      <p:grpSp>
        <p:nvGrpSpPr>
          <p:cNvPr id="802" name="Google Shape;802;p41"/>
          <p:cNvGrpSpPr/>
          <p:nvPr/>
        </p:nvGrpSpPr>
        <p:grpSpPr>
          <a:xfrm>
            <a:off x="4927195" y="2035872"/>
            <a:ext cx="2499536" cy="2677439"/>
            <a:chOff x="4809275" y="2227088"/>
            <a:chExt cx="2499536" cy="2677439"/>
          </a:xfrm>
        </p:grpSpPr>
        <p:grpSp>
          <p:nvGrpSpPr>
            <p:cNvPr id="803" name="Google Shape;803;p41"/>
            <p:cNvGrpSpPr/>
            <p:nvPr/>
          </p:nvGrpSpPr>
          <p:grpSpPr>
            <a:xfrm>
              <a:off x="4852510" y="2227088"/>
              <a:ext cx="2412064" cy="2071704"/>
              <a:chOff x="4213294" y="1103586"/>
              <a:chExt cx="3759512" cy="3229015"/>
            </a:xfrm>
          </p:grpSpPr>
          <p:sp>
            <p:nvSpPr>
              <p:cNvPr id="804" name="Google Shape;804;p41"/>
              <p:cNvSpPr/>
              <p:nvPr/>
            </p:nvSpPr>
            <p:spPr>
              <a:xfrm>
                <a:off x="5752019" y="1749561"/>
                <a:ext cx="232451" cy="892671"/>
              </a:xfrm>
              <a:custGeom>
                <a:rect b="b" l="l" r="r" t="t"/>
                <a:pathLst>
                  <a:path extrusionOk="0" h="892671" w="232451">
                    <a:moveTo>
                      <a:pt x="232452" y="892672"/>
                    </a:moveTo>
                    <a:lnTo>
                      <a:pt x="223074" y="892672"/>
                    </a:lnTo>
                    <a:lnTo>
                      <a:pt x="222388" y="315074"/>
                    </a:lnTo>
                    <a:lnTo>
                      <a:pt x="222354" y="300020"/>
                    </a:lnTo>
                    <a:lnTo>
                      <a:pt x="222182" y="150413"/>
                    </a:lnTo>
                    <a:lnTo>
                      <a:pt x="67209" y="60196"/>
                    </a:lnTo>
                    <a:cubicBezTo>
                      <a:pt x="55910" y="75009"/>
                      <a:pt x="35130" y="79450"/>
                      <a:pt x="18619" y="69849"/>
                    </a:cubicBezTo>
                    <a:cubicBezTo>
                      <a:pt x="737" y="59442"/>
                      <a:pt x="-5315" y="36502"/>
                      <a:pt x="5092" y="18620"/>
                    </a:cubicBezTo>
                    <a:cubicBezTo>
                      <a:pt x="15499" y="737"/>
                      <a:pt x="38439" y="-5315"/>
                      <a:pt x="56304" y="5092"/>
                    </a:cubicBezTo>
                    <a:cubicBezTo>
                      <a:pt x="72815" y="14693"/>
                      <a:pt x="79210" y="34976"/>
                      <a:pt x="71923" y="52104"/>
                    </a:cubicBezTo>
                    <a:lnTo>
                      <a:pt x="231543" y="145013"/>
                    </a:lnTo>
                    <a:lnTo>
                      <a:pt x="231543" y="147704"/>
                    </a:lnTo>
                    <a:lnTo>
                      <a:pt x="231732" y="305284"/>
                    </a:lnTo>
                    <a:lnTo>
                      <a:pt x="231732" y="320320"/>
                    </a:lnTo>
                    <a:lnTo>
                      <a:pt x="232452" y="892672"/>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05" name="Google Shape;805;p41"/>
              <p:cNvSpPr/>
              <p:nvPr/>
            </p:nvSpPr>
            <p:spPr>
              <a:xfrm>
                <a:off x="6225084" y="1324022"/>
                <a:ext cx="169358" cy="1336332"/>
              </a:xfrm>
              <a:custGeom>
                <a:rect b="b" l="l" r="r" t="t"/>
                <a:pathLst>
                  <a:path extrusionOk="0" h="1336332" w="169358">
                    <a:moveTo>
                      <a:pt x="164266" y="56304"/>
                    </a:moveTo>
                    <a:cubicBezTo>
                      <a:pt x="154648" y="72815"/>
                      <a:pt x="134382" y="79210"/>
                      <a:pt x="117254" y="71906"/>
                    </a:cubicBezTo>
                    <a:lnTo>
                      <a:pt x="9361" y="257261"/>
                    </a:lnTo>
                    <a:lnTo>
                      <a:pt x="10133" y="712529"/>
                    </a:lnTo>
                    <a:lnTo>
                      <a:pt x="10167" y="727548"/>
                    </a:lnTo>
                    <a:lnTo>
                      <a:pt x="11196" y="1336333"/>
                    </a:lnTo>
                    <a:lnTo>
                      <a:pt x="1817" y="1336333"/>
                    </a:lnTo>
                    <a:lnTo>
                      <a:pt x="806" y="732795"/>
                    </a:lnTo>
                    <a:lnTo>
                      <a:pt x="771" y="717776"/>
                    </a:lnTo>
                    <a:lnTo>
                      <a:pt x="0" y="254741"/>
                    </a:lnTo>
                    <a:lnTo>
                      <a:pt x="109162" y="67209"/>
                    </a:lnTo>
                    <a:cubicBezTo>
                      <a:pt x="94349" y="55910"/>
                      <a:pt x="89908" y="35130"/>
                      <a:pt x="99510" y="18620"/>
                    </a:cubicBezTo>
                    <a:cubicBezTo>
                      <a:pt x="109916" y="737"/>
                      <a:pt x="132857" y="-5315"/>
                      <a:pt x="150739" y="5092"/>
                    </a:cubicBezTo>
                    <a:cubicBezTo>
                      <a:pt x="168621" y="15499"/>
                      <a:pt x="174673" y="38422"/>
                      <a:pt x="164266" y="56304"/>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06" name="Google Shape;806;p41"/>
              <p:cNvSpPr/>
              <p:nvPr/>
            </p:nvSpPr>
            <p:spPr>
              <a:xfrm>
                <a:off x="6469023" y="3090540"/>
                <a:ext cx="878072" cy="374875"/>
              </a:xfrm>
              <a:custGeom>
                <a:rect b="b" l="l" r="r" t="t"/>
                <a:pathLst>
                  <a:path extrusionOk="0" h="374875" w="878072">
                    <a:moveTo>
                      <a:pt x="859530" y="291054"/>
                    </a:moveTo>
                    <a:cubicBezTo>
                      <a:pt x="843054" y="300706"/>
                      <a:pt x="822257" y="296300"/>
                      <a:pt x="810924" y="281538"/>
                    </a:cubicBezTo>
                    <a:lnTo>
                      <a:pt x="651544" y="374875"/>
                    </a:lnTo>
                    <a:lnTo>
                      <a:pt x="649212" y="373555"/>
                    </a:lnTo>
                    <a:lnTo>
                      <a:pt x="531924" y="307530"/>
                    </a:lnTo>
                    <a:lnTo>
                      <a:pt x="531906" y="307530"/>
                    </a:lnTo>
                    <a:lnTo>
                      <a:pt x="518533" y="300003"/>
                    </a:lnTo>
                    <a:lnTo>
                      <a:pt x="0" y="8161"/>
                    </a:lnTo>
                    <a:lnTo>
                      <a:pt x="4595" y="0"/>
                    </a:lnTo>
                    <a:lnTo>
                      <a:pt x="528100" y="294637"/>
                    </a:lnTo>
                    <a:lnTo>
                      <a:pt x="541473" y="302181"/>
                    </a:lnTo>
                    <a:lnTo>
                      <a:pt x="651459" y="364074"/>
                    </a:lnTo>
                    <a:lnTo>
                      <a:pt x="806192" y="273446"/>
                    </a:lnTo>
                    <a:cubicBezTo>
                      <a:pt x="798854" y="256335"/>
                      <a:pt x="805198" y="236052"/>
                      <a:pt x="821674" y="226400"/>
                    </a:cubicBezTo>
                    <a:cubicBezTo>
                      <a:pt x="839522" y="215941"/>
                      <a:pt x="862479" y="221942"/>
                      <a:pt x="872938" y="239790"/>
                    </a:cubicBezTo>
                    <a:cubicBezTo>
                      <a:pt x="883379" y="257638"/>
                      <a:pt x="877395" y="280595"/>
                      <a:pt x="859530" y="291054"/>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07" name="Google Shape;807;p41"/>
              <p:cNvSpPr/>
              <p:nvPr/>
            </p:nvSpPr>
            <p:spPr>
              <a:xfrm>
                <a:off x="6329480" y="3300909"/>
                <a:ext cx="1109263" cy="789192"/>
              </a:xfrm>
              <a:custGeom>
                <a:rect b="b" l="l" r="r" t="t"/>
                <a:pathLst>
                  <a:path extrusionOk="0" h="789192" w="1109263">
                    <a:moveTo>
                      <a:pt x="1090731" y="784058"/>
                    </a:moveTo>
                    <a:cubicBezTo>
                      <a:pt x="1072866" y="794499"/>
                      <a:pt x="1049926" y="788516"/>
                      <a:pt x="1039467" y="770651"/>
                    </a:cubicBezTo>
                    <a:cubicBezTo>
                      <a:pt x="1029815" y="754174"/>
                      <a:pt x="1034221" y="733377"/>
                      <a:pt x="1048983" y="722044"/>
                    </a:cubicBezTo>
                    <a:lnTo>
                      <a:pt x="940609" y="536999"/>
                    </a:lnTo>
                    <a:lnTo>
                      <a:pt x="560882" y="323509"/>
                    </a:lnTo>
                    <a:lnTo>
                      <a:pt x="547766" y="316136"/>
                    </a:lnTo>
                    <a:lnTo>
                      <a:pt x="0" y="8161"/>
                    </a:lnTo>
                    <a:lnTo>
                      <a:pt x="4578" y="0"/>
                    </a:lnTo>
                    <a:lnTo>
                      <a:pt x="547766" y="305387"/>
                    </a:lnTo>
                    <a:lnTo>
                      <a:pt x="560882" y="312759"/>
                    </a:lnTo>
                    <a:lnTo>
                      <a:pt x="947416" y="530072"/>
                    </a:lnTo>
                    <a:lnTo>
                      <a:pt x="1057075" y="717312"/>
                    </a:lnTo>
                    <a:cubicBezTo>
                      <a:pt x="1074169" y="709974"/>
                      <a:pt x="1094468" y="716318"/>
                      <a:pt x="1104121" y="732794"/>
                    </a:cubicBezTo>
                    <a:cubicBezTo>
                      <a:pt x="1114580" y="750643"/>
                      <a:pt x="1108579" y="773600"/>
                      <a:pt x="1090731" y="784058"/>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08" name="Google Shape;808;p41"/>
              <p:cNvSpPr/>
              <p:nvPr/>
            </p:nvSpPr>
            <p:spPr>
              <a:xfrm>
                <a:off x="4213294" y="1103586"/>
                <a:ext cx="3759512" cy="3229015"/>
              </a:xfrm>
              <a:custGeom>
                <a:rect b="b" l="l" r="r" t="t"/>
                <a:pathLst>
                  <a:path extrusionOk="0" h="3229016" w="3759512">
                    <a:moveTo>
                      <a:pt x="3739509" y="3155418"/>
                    </a:moveTo>
                    <a:cubicBezTo>
                      <a:pt x="3721969" y="3145525"/>
                      <a:pt x="3700092" y="3150565"/>
                      <a:pt x="3688485" y="3166407"/>
                    </a:cubicBezTo>
                    <a:lnTo>
                      <a:pt x="1884282" y="2148063"/>
                    </a:lnTo>
                    <a:lnTo>
                      <a:pt x="1884282" y="78353"/>
                    </a:lnTo>
                    <a:cubicBezTo>
                      <a:pt x="1903794" y="76038"/>
                      <a:pt x="1918932" y="59459"/>
                      <a:pt x="1918932" y="39331"/>
                    </a:cubicBezTo>
                    <a:cubicBezTo>
                      <a:pt x="1918932" y="17608"/>
                      <a:pt x="1901325" y="0"/>
                      <a:pt x="1879602" y="0"/>
                    </a:cubicBezTo>
                    <a:cubicBezTo>
                      <a:pt x="1857879" y="0"/>
                      <a:pt x="1840271" y="17608"/>
                      <a:pt x="1840271" y="39331"/>
                    </a:cubicBezTo>
                    <a:cubicBezTo>
                      <a:pt x="1840271" y="59459"/>
                      <a:pt x="1855410" y="76038"/>
                      <a:pt x="1874921" y="78353"/>
                    </a:cubicBezTo>
                    <a:lnTo>
                      <a:pt x="1874921" y="2148234"/>
                    </a:lnTo>
                    <a:lnTo>
                      <a:pt x="71027" y="3166407"/>
                    </a:lnTo>
                    <a:cubicBezTo>
                      <a:pt x="59420" y="3150548"/>
                      <a:pt x="37543" y="3145525"/>
                      <a:pt x="20004" y="3155418"/>
                    </a:cubicBezTo>
                    <a:cubicBezTo>
                      <a:pt x="1093" y="3166099"/>
                      <a:pt x="-5594" y="3190085"/>
                      <a:pt x="5088" y="3209013"/>
                    </a:cubicBezTo>
                    <a:cubicBezTo>
                      <a:pt x="15769" y="3227923"/>
                      <a:pt x="39755" y="3234610"/>
                      <a:pt x="58683" y="3223929"/>
                    </a:cubicBezTo>
                    <a:cubicBezTo>
                      <a:pt x="76222" y="3214036"/>
                      <a:pt x="83217" y="3192708"/>
                      <a:pt x="75639" y="3174568"/>
                    </a:cubicBezTo>
                    <a:lnTo>
                      <a:pt x="1877167" y="2157733"/>
                    </a:lnTo>
                    <a:lnTo>
                      <a:pt x="1882345" y="2157733"/>
                    </a:lnTo>
                    <a:lnTo>
                      <a:pt x="3683873" y="3174568"/>
                    </a:lnTo>
                    <a:cubicBezTo>
                      <a:pt x="3676295" y="3192708"/>
                      <a:pt x="3683290" y="3214036"/>
                      <a:pt x="3700830" y="3223929"/>
                    </a:cubicBezTo>
                    <a:cubicBezTo>
                      <a:pt x="3719741" y="3234610"/>
                      <a:pt x="3743744" y="3227923"/>
                      <a:pt x="3754425" y="3209013"/>
                    </a:cubicBezTo>
                    <a:cubicBezTo>
                      <a:pt x="3765106" y="3190102"/>
                      <a:pt x="3758420" y="3166099"/>
                      <a:pt x="3739509" y="3155418"/>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09" name="Google Shape;809;p41"/>
              <p:cNvSpPr/>
              <p:nvPr/>
            </p:nvSpPr>
            <p:spPr>
              <a:xfrm>
                <a:off x="4839006" y="3090540"/>
                <a:ext cx="878072" cy="374875"/>
              </a:xfrm>
              <a:custGeom>
                <a:rect b="b" l="l" r="r" t="t"/>
                <a:pathLst>
                  <a:path extrusionOk="0" h="374875" w="878072">
                    <a:moveTo>
                      <a:pt x="878072" y="8161"/>
                    </a:moveTo>
                    <a:lnTo>
                      <a:pt x="359676" y="299918"/>
                    </a:lnTo>
                    <a:lnTo>
                      <a:pt x="346286" y="307461"/>
                    </a:lnTo>
                    <a:lnTo>
                      <a:pt x="228860" y="373555"/>
                    </a:lnTo>
                    <a:lnTo>
                      <a:pt x="226528" y="374875"/>
                    </a:lnTo>
                    <a:lnTo>
                      <a:pt x="67148" y="281538"/>
                    </a:lnTo>
                    <a:cubicBezTo>
                      <a:pt x="55815" y="296300"/>
                      <a:pt x="35018" y="300706"/>
                      <a:pt x="18542" y="291054"/>
                    </a:cubicBezTo>
                    <a:cubicBezTo>
                      <a:pt x="677" y="280595"/>
                      <a:pt x="-5307" y="257638"/>
                      <a:pt x="5135" y="239790"/>
                    </a:cubicBezTo>
                    <a:cubicBezTo>
                      <a:pt x="15593" y="221942"/>
                      <a:pt x="38550" y="215941"/>
                      <a:pt x="56398" y="226400"/>
                    </a:cubicBezTo>
                    <a:cubicBezTo>
                      <a:pt x="72874" y="236052"/>
                      <a:pt x="79218" y="256335"/>
                      <a:pt x="71880" y="273446"/>
                    </a:cubicBezTo>
                    <a:lnTo>
                      <a:pt x="226614" y="364074"/>
                    </a:lnTo>
                    <a:lnTo>
                      <a:pt x="336736" y="302095"/>
                    </a:lnTo>
                    <a:lnTo>
                      <a:pt x="350126" y="294568"/>
                    </a:lnTo>
                    <a:lnTo>
                      <a:pt x="873478" y="0"/>
                    </a:lnTo>
                    <a:lnTo>
                      <a:pt x="878072" y="8161"/>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10" name="Google Shape;810;p41"/>
              <p:cNvSpPr/>
              <p:nvPr/>
            </p:nvSpPr>
            <p:spPr>
              <a:xfrm>
                <a:off x="4747357" y="3300909"/>
                <a:ext cx="1109263" cy="789192"/>
              </a:xfrm>
              <a:custGeom>
                <a:rect b="b" l="l" r="r" t="t"/>
                <a:pathLst>
                  <a:path extrusionOk="0" h="789192" w="1109263">
                    <a:moveTo>
                      <a:pt x="1109264" y="8161"/>
                    </a:moveTo>
                    <a:lnTo>
                      <a:pt x="559921" y="317011"/>
                    </a:lnTo>
                    <a:lnTo>
                      <a:pt x="546822" y="324383"/>
                    </a:lnTo>
                    <a:lnTo>
                      <a:pt x="168655" y="536999"/>
                    </a:lnTo>
                    <a:lnTo>
                      <a:pt x="60281" y="722044"/>
                    </a:lnTo>
                    <a:cubicBezTo>
                      <a:pt x="75043" y="733377"/>
                      <a:pt x="79449" y="754174"/>
                      <a:pt x="69797" y="770651"/>
                    </a:cubicBezTo>
                    <a:cubicBezTo>
                      <a:pt x="59338" y="788516"/>
                      <a:pt x="36381" y="794499"/>
                      <a:pt x="18533" y="784058"/>
                    </a:cubicBezTo>
                    <a:cubicBezTo>
                      <a:pt x="685" y="773600"/>
                      <a:pt x="-5316" y="750643"/>
                      <a:pt x="5143" y="732794"/>
                    </a:cubicBezTo>
                    <a:cubicBezTo>
                      <a:pt x="14795" y="716318"/>
                      <a:pt x="35078" y="709974"/>
                      <a:pt x="52189" y="717312"/>
                    </a:cubicBezTo>
                    <a:lnTo>
                      <a:pt x="161848" y="530072"/>
                    </a:lnTo>
                    <a:lnTo>
                      <a:pt x="546822" y="313633"/>
                    </a:lnTo>
                    <a:lnTo>
                      <a:pt x="559921" y="306278"/>
                    </a:lnTo>
                    <a:lnTo>
                      <a:pt x="1104686" y="0"/>
                    </a:lnTo>
                    <a:lnTo>
                      <a:pt x="1109264" y="8161"/>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grpSp>
          <p:nvGrpSpPr>
            <p:cNvPr id="811" name="Google Shape;811;p41"/>
            <p:cNvGrpSpPr/>
            <p:nvPr/>
          </p:nvGrpSpPr>
          <p:grpSpPr>
            <a:xfrm>
              <a:off x="4837098" y="2685495"/>
              <a:ext cx="192040" cy="192059"/>
              <a:chOff x="4189277" y="1818077"/>
              <a:chExt cx="299321" cy="299350"/>
            </a:xfrm>
          </p:grpSpPr>
          <p:sp>
            <p:nvSpPr>
              <p:cNvPr id="812" name="Google Shape;812;p41"/>
              <p:cNvSpPr/>
              <p:nvPr/>
            </p:nvSpPr>
            <p:spPr>
              <a:xfrm rot="-2700000">
                <a:off x="4465873" y="2088144"/>
                <a:ext cx="14984" cy="28100"/>
              </a:xfrm>
              <a:custGeom>
                <a:rect b="b" l="l" r="r" t="t"/>
                <a:pathLst>
                  <a:path extrusionOk="0" h="28100" w="14984">
                    <a:moveTo>
                      <a:pt x="0" y="0"/>
                    </a:moveTo>
                    <a:lnTo>
                      <a:pt x="14985" y="0"/>
                    </a:lnTo>
                    <a:lnTo>
                      <a:pt x="14985" y="28101"/>
                    </a:lnTo>
                    <a:lnTo>
                      <a:pt x="0" y="28101"/>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13" name="Google Shape;813;p41"/>
              <p:cNvSpPr/>
              <p:nvPr/>
            </p:nvSpPr>
            <p:spPr>
              <a:xfrm>
                <a:off x="4239300" y="1873304"/>
                <a:ext cx="200990" cy="200991"/>
              </a:xfrm>
              <a:custGeom>
                <a:rect b="b" l="l" r="r" t="t"/>
                <a:pathLst>
                  <a:path extrusionOk="0" h="200990" w="200990">
                    <a:moveTo>
                      <a:pt x="190395" y="200991"/>
                    </a:moveTo>
                    <a:lnTo>
                      <a:pt x="146452" y="157048"/>
                    </a:lnTo>
                    <a:lnTo>
                      <a:pt x="157048" y="146453"/>
                    </a:lnTo>
                    <a:lnTo>
                      <a:pt x="200991" y="190395"/>
                    </a:lnTo>
                    <a:lnTo>
                      <a:pt x="190395" y="200991"/>
                    </a:lnTo>
                    <a:close/>
                    <a:moveTo>
                      <a:pt x="117169" y="127765"/>
                    </a:moveTo>
                    <a:lnTo>
                      <a:pt x="73226" y="83822"/>
                    </a:lnTo>
                    <a:lnTo>
                      <a:pt x="83822" y="73226"/>
                    </a:lnTo>
                    <a:lnTo>
                      <a:pt x="127764" y="117169"/>
                    </a:lnTo>
                    <a:lnTo>
                      <a:pt x="117169" y="127765"/>
                    </a:lnTo>
                    <a:close/>
                    <a:moveTo>
                      <a:pt x="43942" y="54538"/>
                    </a:moveTo>
                    <a:lnTo>
                      <a:pt x="0" y="10596"/>
                    </a:lnTo>
                    <a:lnTo>
                      <a:pt x="10595" y="0"/>
                    </a:lnTo>
                    <a:lnTo>
                      <a:pt x="54538" y="43943"/>
                    </a:lnTo>
                    <a:lnTo>
                      <a:pt x="43942" y="54538"/>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14" name="Google Shape;814;p41"/>
              <p:cNvSpPr/>
              <p:nvPr/>
            </p:nvSpPr>
            <p:spPr>
              <a:xfrm rot="-2700000">
                <a:off x="4197017" y="1819259"/>
                <a:ext cx="14984" cy="28100"/>
              </a:xfrm>
              <a:custGeom>
                <a:rect b="b" l="l" r="r" t="t"/>
                <a:pathLst>
                  <a:path extrusionOk="0" h="28100" w="14984">
                    <a:moveTo>
                      <a:pt x="0" y="0"/>
                    </a:moveTo>
                    <a:lnTo>
                      <a:pt x="14985" y="0"/>
                    </a:lnTo>
                    <a:lnTo>
                      <a:pt x="14985" y="28101"/>
                    </a:lnTo>
                    <a:lnTo>
                      <a:pt x="0" y="28101"/>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grpSp>
          <p:nvGrpSpPr>
            <p:cNvPr id="815" name="Google Shape;815;p41"/>
            <p:cNvGrpSpPr/>
            <p:nvPr/>
          </p:nvGrpSpPr>
          <p:grpSpPr>
            <a:xfrm>
              <a:off x="7089546" y="2685571"/>
              <a:ext cx="192226" cy="191706"/>
              <a:chOff x="7699999" y="1818189"/>
              <a:chExt cx="299609" cy="298798"/>
            </a:xfrm>
          </p:grpSpPr>
          <p:sp>
            <p:nvSpPr>
              <p:cNvPr id="816" name="Google Shape;816;p41"/>
              <p:cNvSpPr/>
              <p:nvPr/>
            </p:nvSpPr>
            <p:spPr>
              <a:xfrm rot="-2700000">
                <a:off x="7701181" y="2094263"/>
                <a:ext cx="28100" cy="14984"/>
              </a:xfrm>
              <a:custGeom>
                <a:rect b="b" l="l" r="r" t="t"/>
                <a:pathLst>
                  <a:path extrusionOk="0" h="14984" w="28100">
                    <a:moveTo>
                      <a:pt x="0" y="0"/>
                    </a:moveTo>
                    <a:lnTo>
                      <a:pt x="28100" y="0"/>
                    </a:lnTo>
                    <a:lnTo>
                      <a:pt x="28100" y="14985"/>
                    </a:lnTo>
                    <a:lnTo>
                      <a:pt x="0" y="14985"/>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17" name="Google Shape;817;p41"/>
              <p:cNvSpPr/>
              <p:nvPr/>
            </p:nvSpPr>
            <p:spPr>
              <a:xfrm>
                <a:off x="7749172" y="1866884"/>
                <a:ext cx="201007" cy="200990"/>
              </a:xfrm>
              <a:custGeom>
                <a:rect b="b" l="l" r="r" t="t"/>
                <a:pathLst>
                  <a:path extrusionOk="0" h="200990" w="201007">
                    <a:moveTo>
                      <a:pt x="10595" y="200991"/>
                    </a:moveTo>
                    <a:lnTo>
                      <a:pt x="0" y="190395"/>
                    </a:lnTo>
                    <a:lnTo>
                      <a:pt x="43943" y="146453"/>
                    </a:lnTo>
                    <a:lnTo>
                      <a:pt x="54538" y="157048"/>
                    </a:lnTo>
                    <a:lnTo>
                      <a:pt x="10595" y="200991"/>
                    </a:lnTo>
                    <a:close/>
                    <a:moveTo>
                      <a:pt x="83822" y="127765"/>
                    </a:moveTo>
                    <a:lnTo>
                      <a:pt x="73226" y="117169"/>
                    </a:lnTo>
                    <a:lnTo>
                      <a:pt x="117169" y="73226"/>
                    </a:lnTo>
                    <a:lnTo>
                      <a:pt x="127765" y="83822"/>
                    </a:lnTo>
                    <a:lnTo>
                      <a:pt x="83822" y="127765"/>
                    </a:lnTo>
                    <a:close/>
                    <a:moveTo>
                      <a:pt x="157066" y="54538"/>
                    </a:moveTo>
                    <a:lnTo>
                      <a:pt x="146470" y="43943"/>
                    </a:lnTo>
                    <a:lnTo>
                      <a:pt x="190412" y="0"/>
                    </a:lnTo>
                    <a:lnTo>
                      <a:pt x="201008" y="10596"/>
                    </a:lnTo>
                    <a:lnTo>
                      <a:pt x="157066" y="54538"/>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18" name="Google Shape;818;p41"/>
              <p:cNvSpPr/>
              <p:nvPr/>
            </p:nvSpPr>
            <p:spPr>
              <a:xfrm rot="-2699399">
                <a:off x="7970324" y="1825929"/>
                <a:ext cx="28100" cy="14984"/>
              </a:xfrm>
              <a:custGeom>
                <a:rect b="b" l="l" r="r" t="t"/>
                <a:pathLst>
                  <a:path extrusionOk="0" h="14984" w="28100">
                    <a:moveTo>
                      <a:pt x="0" y="0"/>
                    </a:moveTo>
                    <a:lnTo>
                      <a:pt x="28101" y="0"/>
                    </a:lnTo>
                    <a:lnTo>
                      <a:pt x="28101" y="14985"/>
                    </a:lnTo>
                    <a:lnTo>
                      <a:pt x="0" y="14985"/>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grpSp>
          <p:nvGrpSpPr>
            <p:cNvPr id="819" name="Google Shape;819;p41"/>
            <p:cNvGrpSpPr/>
            <p:nvPr/>
          </p:nvGrpSpPr>
          <p:grpSpPr>
            <a:xfrm>
              <a:off x="6053231" y="4611310"/>
              <a:ext cx="9614" cy="261977"/>
              <a:chOff x="6084769" y="4819699"/>
              <a:chExt cx="14985" cy="408325"/>
            </a:xfrm>
          </p:grpSpPr>
          <p:sp>
            <p:nvSpPr>
              <p:cNvPr id="820" name="Google Shape;820;p41"/>
              <p:cNvSpPr/>
              <p:nvPr/>
            </p:nvSpPr>
            <p:spPr>
              <a:xfrm>
                <a:off x="6084770" y="5199924"/>
                <a:ext cx="14984" cy="28100"/>
              </a:xfrm>
              <a:custGeom>
                <a:rect b="b" l="l" r="r" t="t"/>
                <a:pathLst>
                  <a:path extrusionOk="0" h="28100" w="14984">
                    <a:moveTo>
                      <a:pt x="0" y="0"/>
                    </a:moveTo>
                    <a:lnTo>
                      <a:pt x="14985" y="0"/>
                    </a:lnTo>
                    <a:lnTo>
                      <a:pt x="14985" y="28100"/>
                    </a:lnTo>
                    <a:lnTo>
                      <a:pt x="0" y="28100"/>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21" name="Google Shape;821;p41"/>
              <p:cNvSpPr/>
              <p:nvPr/>
            </p:nvSpPr>
            <p:spPr>
              <a:xfrm>
                <a:off x="6084769" y="4889222"/>
                <a:ext cx="14984" cy="269279"/>
              </a:xfrm>
              <a:custGeom>
                <a:rect b="b" l="l" r="r" t="t"/>
                <a:pathLst>
                  <a:path extrusionOk="0" h="269279" w="14984">
                    <a:moveTo>
                      <a:pt x="14985" y="269279"/>
                    </a:moveTo>
                    <a:lnTo>
                      <a:pt x="0" y="269279"/>
                    </a:lnTo>
                    <a:lnTo>
                      <a:pt x="0" y="207146"/>
                    </a:lnTo>
                    <a:lnTo>
                      <a:pt x="14985" y="207146"/>
                    </a:lnTo>
                    <a:lnTo>
                      <a:pt x="14985" y="269279"/>
                    </a:lnTo>
                    <a:close/>
                    <a:moveTo>
                      <a:pt x="14985" y="165707"/>
                    </a:moveTo>
                    <a:lnTo>
                      <a:pt x="0" y="165707"/>
                    </a:lnTo>
                    <a:lnTo>
                      <a:pt x="0" y="103573"/>
                    </a:lnTo>
                    <a:lnTo>
                      <a:pt x="14985" y="103573"/>
                    </a:lnTo>
                    <a:lnTo>
                      <a:pt x="14985" y="165707"/>
                    </a:lnTo>
                    <a:close/>
                    <a:moveTo>
                      <a:pt x="14985" y="62133"/>
                    </a:moveTo>
                    <a:lnTo>
                      <a:pt x="0" y="62133"/>
                    </a:lnTo>
                    <a:lnTo>
                      <a:pt x="0" y="0"/>
                    </a:lnTo>
                    <a:lnTo>
                      <a:pt x="14985" y="0"/>
                    </a:lnTo>
                    <a:lnTo>
                      <a:pt x="14985" y="62133"/>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22" name="Google Shape;822;p41"/>
              <p:cNvSpPr/>
              <p:nvPr/>
            </p:nvSpPr>
            <p:spPr>
              <a:xfrm>
                <a:off x="6084770" y="4819699"/>
                <a:ext cx="14984" cy="28100"/>
              </a:xfrm>
              <a:custGeom>
                <a:rect b="b" l="l" r="r" t="t"/>
                <a:pathLst>
                  <a:path extrusionOk="0" h="28100" w="14984">
                    <a:moveTo>
                      <a:pt x="0" y="0"/>
                    </a:moveTo>
                    <a:lnTo>
                      <a:pt x="14985" y="0"/>
                    </a:lnTo>
                    <a:lnTo>
                      <a:pt x="14985" y="28100"/>
                    </a:lnTo>
                    <a:lnTo>
                      <a:pt x="0" y="28100"/>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sp>
          <p:nvSpPr>
            <p:cNvPr id="823" name="Google Shape;823;p41"/>
            <p:cNvSpPr/>
            <p:nvPr/>
          </p:nvSpPr>
          <p:spPr>
            <a:xfrm>
              <a:off x="5075566" y="2643089"/>
              <a:ext cx="915678" cy="1027274"/>
            </a:xfrm>
            <a:custGeom>
              <a:rect b="b" l="l" r="r" t="t"/>
              <a:pathLst>
                <a:path extrusionOk="0" h="1601137" w="1427201">
                  <a:moveTo>
                    <a:pt x="0" y="400284"/>
                  </a:moveTo>
                  <a:lnTo>
                    <a:pt x="0" y="1200853"/>
                  </a:lnTo>
                  <a:lnTo>
                    <a:pt x="713609" y="1601137"/>
                  </a:lnTo>
                  <a:lnTo>
                    <a:pt x="1427201" y="1200853"/>
                  </a:lnTo>
                  <a:lnTo>
                    <a:pt x="1427201" y="400284"/>
                  </a:lnTo>
                  <a:lnTo>
                    <a:pt x="713609" y="0"/>
                  </a:lnTo>
                  <a:lnTo>
                    <a:pt x="0" y="400284"/>
                  </a:lnTo>
                  <a:close/>
                </a:path>
              </a:pathLst>
            </a:custGeom>
            <a:solidFill>
              <a:schemeClr val="accent4"/>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24" name="Google Shape;824;p41"/>
            <p:cNvSpPr/>
            <p:nvPr/>
          </p:nvSpPr>
          <p:spPr>
            <a:xfrm>
              <a:off x="5600204" y="3528761"/>
              <a:ext cx="915667" cy="1027274"/>
            </a:xfrm>
            <a:custGeom>
              <a:rect b="b" l="l" r="r" t="t"/>
              <a:pathLst>
                <a:path extrusionOk="0" h="1601137" w="1427183">
                  <a:moveTo>
                    <a:pt x="0" y="400284"/>
                  </a:moveTo>
                  <a:lnTo>
                    <a:pt x="0" y="1200853"/>
                  </a:lnTo>
                  <a:lnTo>
                    <a:pt x="713592" y="1601137"/>
                  </a:lnTo>
                  <a:lnTo>
                    <a:pt x="1427184" y="1200853"/>
                  </a:lnTo>
                  <a:lnTo>
                    <a:pt x="1427184" y="400284"/>
                  </a:lnTo>
                  <a:lnTo>
                    <a:pt x="713592" y="0"/>
                  </a:lnTo>
                  <a:lnTo>
                    <a:pt x="0" y="400284"/>
                  </a:lnTo>
                  <a:close/>
                </a:path>
              </a:pathLst>
            </a:custGeom>
            <a:solidFill>
              <a:schemeClr val="accent5"/>
            </a:solidFill>
            <a:ln cap="flat" cmpd="sng" w="9525">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25" name="Google Shape;825;p41"/>
            <p:cNvSpPr/>
            <p:nvPr/>
          </p:nvSpPr>
          <p:spPr>
            <a:xfrm>
              <a:off x="6126028" y="2643089"/>
              <a:ext cx="915667" cy="1027274"/>
            </a:xfrm>
            <a:custGeom>
              <a:rect b="b" l="l" r="r" t="t"/>
              <a:pathLst>
                <a:path extrusionOk="0" h="1601137" w="1427184">
                  <a:moveTo>
                    <a:pt x="0" y="400284"/>
                  </a:moveTo>
                  <a:lnTo>
                    <a:pt x="0" y="1200853"/>
                  </a:lnTo>
                  <a:lnTo>
                    <a:pt x="713592" y="1601137"/>
                  </a:lnTo>
                  <a:lnTo>
                    <a:pt x="1427184" y="1200853"/>
                  </a:lnTo>
                  <a:lnTo>
                    <a:pt x="1427184" y="400284"/>
                  </a:lnTo>
                  <a:lnTo>
                    <a:pt x="713592" y="0"/>
                  </a:lnTo>
                  <a:lnTo>
                    <a:pt x="0" y="40028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26" name="Google Shape;826;p41"/>
            <p:cNvSpPr/>
            <p:nvPr/>
          </p:nvSpPr>
          <p:spPr>
            <a:xfrm>
              <a:off x="5021359" y="2582161"/>
              <a:ext cx="967069" cy="1117003"/>
            </a:xfrm>
            <a:custGeom>
              <a:rect b="b" l="l" r="r" t="t"/>
              <a:pathLst>
                <a:path extrusionOk="0" h="1740989" w="1507302">
                  <a:moveTo>
                    <a:pt x="1507286" y="397833"/>
                  </a:moveTo>
                  <a:lnTo>
                    <a:pt x="1497907" y="392569"/>
                  </a:lnTo>
                  <a:lnTo>
                    <a:pt x="798100" y="0"/>
                  </a:lnTo>
                  <a:lnTo>
                    <a:pt x="0" y="447690"/>
                  </a:lnTo>
                  <a:lnTo>
                    <a:pt x="0" y="1343379"/>
                  </a:lnTo>
                  <a:lnTo>
                    <a:pt x="699276" y="1735623"/>
                  </a:lnTo>
                  <a:lnTo>
                    <a:pt x="708826" y="1740989"/>
                  </a:lnTo>
                  <a:lnTo>
                    <a:pt x="722216" y="1733445"/>
                  </a:lnTo>
                  <a:lnTo>
                    <a:pt x="712666" y="1728096"/>
                  </a:lnTo>
                  <a:lnTo>
                    <a:pt x="13116" y="1335699"/>
                  </a:lnTo>
                  <a:lnTo>
                    <a:pt x="13116" y="455371"/>
                  </a:lnTo>
                  <a:lnTo>
                    <a:pt x="798100" y="15036"/>
                  </a:lnTo>
                  <a:lnTo>
                    <a:pt x="1497942" y="407622"/>
                  </a:lnTo>
                  <a:lnTo>
                    <a:pt x="1507303" y="412869"/>
                  </a:lnTo>
                  <a:lnTo>
                    <a:pt x="1507303" y="397833"/>
                  </a:lnTo>
                  <a:close/>
                </a:path>
              </a:pathLst>
            </a:custGeom>
            <a:solidFill>
              <a:schemeClr val="accent4"/>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27" name="Google Shape;827;p41"/>
            <p:cNvSpPr/>
            <p:nvPr/>
          </p:nvSpPr>
          <p:spPr>
            <a:xfrm>
              <a:off x="6143750" y="2582161"/>
              <a:ext cx="952155" cy="1117045"/>
            </a:xfrm>
            <a:custGeom>
              <a:rect b="b" l="l" r="r" t="t"/>
              <a:pathLst>
                <a:path extrusionOk="0" h="1741057" w="1484054">
                  <a:moveTo>
                    <a:pt x="685972" y="0"/>
                  </a:moveTo>
                  <a:lnTo>
                    <a:pt x="9361" y="379539"/>
                  </a:lnTo>
                  <a:lnTo>
                    <a:pt x="0" y="384785"/>
                  </a:lnTo>
                  <a:lnTo>
                    <a:pt x="34" y="399804"/>
                  </a:lnTo>
                  <a:lnTo>
                    <a:pt x="9395" y="394558"/>
                  </a:lnTo>
                  <a:lnTo>
                    <a:pt x="685972" y="15036"/>
                  </a:lnTo>
                  <a:lnTo>
                    <a:pt x="1470955" y="455371"/>
                  </a:lnTo>
                  <a:lnTo>
                    <a:pt x="1470955" y="1335699"/>
                  </a:lnTo>
                  <a:lnTo>
                    <a:pt x="771268" y="1728165"/>
                  </a:lnTo>
                  <a:lnTo>
                    <a:pt x="761701" y="1733531"/>
                  </a:lnTo>
                  <a:lnTo>
                    <a:pt x="775074" y="1741058"/>
                  </a:lnTo>
                  <a:lnTo>
                    <a:pt x="775091" y="1741058"/>
                  </a:lnTo>
                  <a:lnTo>
                    <a:pt x="784641" y="1735708"/>
                  </a:lnTo>
                  <a:lnTo>
                    <a:pt x="1484054" y="1343379"/>
                  </a:lnTo>
                  <a:lnTo>
                    <a:pt x="1484054" y="447690"/>
                  </a:lnTo>
                  <a:lnTo>
                    <a:pt x="685972" y="0"/>
                  </a:lnTo>
                  <a:close/>
                </a:path>
              </a:pathLst>
            </a:custGeom>
            <a:solidFill>
              <a:schemeClr val="accent3"/>
            </a:soli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28" name="Google Shape;828;p41"/>
            <p:cNvSpPr/>
            <p:nvPr/>
          </p:nvSpPr>
          <p:spPr>
            <a:xfrm>
              <a:off x="5545996" y="3832803"/>
              <a:ext cx="1024095" cy="783953"/>
            </a:xfrm>
            <a:custGeom>
              <a:rect b="b" l="l" r="r" t="t"/>
              <a:pathLst>
                <a:path extrusionOk="0" h="1221890" w="1596182">
                  <a:moveTo>
                    <a:pt x="1583066" y="0"/>
                  </a:moveTo>
                  <a:lnTo>
                    <a:pt x="1583066" y="766519"/>
                  </a:lnTo>
                  <a:lnTo>
                    <a:pt x="798083" y="1206854"/>
                  </a:lnTo>
                  <a:lnTo>
                    <a:pt x="13099" y="766519"/>
                  </a:lnTo>
                  <a:lnTo>
                    <a:pt x="13099" y="892"/>
                  </a:lnTo>
                  <a:lnTo>
                    <a:pt x="0" y="8247"/>
                  </a:lnTo>
                  <a:lnTo>
                    <a:pt x="0" y="774200"/>
                  </a:lnTo>
                  <a:lnTo>
                    <a:pt x="794877" y="1220090"/>
                  </a:lnTo>
                  <a:lnTo>
                    <a:pt x="798083" y="1221890"/>
                  </a:lnTo>
                  <a:lnTo>
                    <a:pt x="1596183" y="774200"/>
                  </a:lnTo>
                  <a:lnTo>
                    <a:pt x="1596183" y="7372"/>
                  </a:lnTo>
                  <a:lnTo>
                    <a:pt x="1583066" y="0"/>
                  </a:lnTo>
                  <a:close/>
                </a:path>
              </a:pathLst>
            </a:custGeom>
            <a:solidFill>
              <a:schemeClr val="accent5"/>
            </a:solidFill>
            <a:ln cap="flat" cmpd="sng" w="9525">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29" name="Google Shape;829;p41"/>
            <p:cNvSpPr/>
            <p:nvPr/>
          </p:nvSpPr>
          <p:spPr>
            <a:xfrm>
              <a:off x="5123571" y="2696945"/>
              <a:ext cx="819671" cy="919561"/>
            </a:xfrm>
            <a:custGeom>
              <a:rect b="b" l="l" r="r" t="t"/>
              <a:pathLst>
                <a:path extrusionOk="0" h="1433253" w="1277559">
                  <a:moveTo>
                    <a:pt x="0" y="358314"/>
                  </a:moveTo>
                  <a:lnTo>
                    <a:pt x="0" y="1074940"/>
                  </a:lnTo>
                  <a:lnTo>
                    <a:pt x="638788" y="1433254"/>
                  </a:lnTo>
                  <a:lnTo>
                    <a:pt x="1277560" y="1074940"/>
                  </a:lnTo>
                  <a:lnTo>
                    <a:pt x="1277560" y="358314"/>
                  </a:lnTo>
                  <a:lnTo>
                    <a:pt x="638788" y="0"/>
                  </a:lnTo>
                  <a:lnTo>
                    <a:pt x="0" y="358314"/>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30" name="Google Shape;830;p41"/>
            <p:cNvSpPr/>
            <p:nvPr/>
          </p:nvSpPr>
          <p:spPr>
            <a:xfrm>
              <a:off x="5136581" y="2707177"/>
              <a:ext cx="813255" cy="919561"/>
            </a:xfrm>
            <a:custGeom>
              <a:rect b="b" l="l" r="r" t="t"/>
              <a:pathLst>
                <a:path extrusionOk="0" h="1433253" w="1267564">
                  <a:moveTo>
                    <a:pt x="1267564" y="358296"/>
                  </a:moveTo>
                  <a:lnTo>
                    <a:pt x="1267564" y="1074940"/>
                  </a:lnTo>
                  <a:lnTo>
                    <a:pt x="628467" y="1433254"/>
                  </a:lnTo>
                  <a:lnTo>
                    <a:pt x="0" y="1076260"/>
                  </a:lnTo>
                  <a:lnTo>
                    <a:pt x="0" y="359634"/>
                  </a:lnTo>
                  <a:lnTo>
                    <a:pt x="628467" y="0"/>
                  </a:lnTo>
                  <a:lnTo>
                    <a:pt x="828447" y="112111"/>
                  </a:lnTo>
                  <a:lnTo>
                    <a:pt x="1267564" y="358296"/>
                  </a:lnTo>
                  <a:close/>
                </a:path>
              </a:pathLst>
            </a:custGeom>
            <a:solidFill>
              <a:srgbClr val="F9F9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31" name="Google Shape;831;p41"/>
            <p:cNvSpPr/>
            <p:nvPr/>
          </p:nvSpPr>
          <p:spPr>
            <a:xfrm>
              <a:off x="5648208" y="3582409"/>
              <a:ext cx="819657" cy="919561"/>
            </a:xfrm>
            <a:custGeom>
              <a:rect b="b" l="l" r="r" t="t"/>
              <a:pathLst>
                <a:path extrusionOk="0" h="1433253" w="1277542">
                  <a:moveTo>
                    <a:pt x="0" y="358313"/>
                  </a:moveTo>
                  <a:lnTo>
                    <a:pt x="0" y="1074940"/>
                  </a:lnTo>
                  <a:lnTo>
                    <a:pt x="638771" y="1433253"/>
                  </a:lnTo>
                  <a:lnTo>
                    <a:pt x="1277542" y="1074940"/>
                  </a:lnTo>
                  <a:lnTo>
                    <a:pt x="1277542" y="358313"/>
                  </a:lnTo>
                  <a:lnTo>
                    <a:pt x="638771" y="0"/>
                  </a:lnTo>
                  <a:lnTo>
                    <a:pt x="0" y="35831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32" name="Google Shape;832;p41"/>
            <p:cNvSpPr/>
            <p:nvPr/>
          </p:nvSpPr>
          <p:spPr>
            <a:xfrm>
              <a:off x="5663082" y="3582419"/>
              <a:ext cx="813268" cy="919550"/>
            </a:xfrm>
            <a:custGeom>
              <a:rect b="b" l="l" r="r" t="t"/>
              <a:pathLst>
                <a:path extrusionOk="0" h="1433236" w="1267581">
                  <a:moveTo>
                    <a:pt x="1267581" y="358296"/>
                  </a:moveTo>
                  <a:lnTo>
                    <a:pt x="1267581" y="1074923"/>
                  </a:lnTo>
                  <a:lnTo>
                    <a:pt x="628484" y="1433236"/>
                  </a:lnTo>
                  <a:lnTo>
                    <a:pt x="0" y="1076243"/>
                  </a:lnTo>
                  <a:lnTo>
                    <a:pt x="0" y="359634"/>
                  </a:lnTo>
                  <a:lnTo>
                    <a:pt x="628484" y="0"/>
                  </a:lnTo>
                  <a:lnTo>
                    <a:pt x="828446" y="112094"/>
                  </a:lnTo>
                  <a:lnTo>
                    <a:pt x="1267581" y="358296"/>
                  </a:lnTo>
                  <a:close/>
                </a:path>
              </a:pathLst>
            </a:custGeom>
            <a:solidFill>
              <a:srgbClr val="F9F9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33" name="Google Shape;833;p41"/>
            <p:cNvSpPr/>
            <p:nvPr/>
          </p:nvSpPr>
          <p:spPr>
            <a:xfrm>
              <a:off x="6174034" y="2696945"/>
              <a:ext cx="819657" cy="919561"/>
            </a:xfrm>
            <a:custGeom>
              <a:rect b="b" l="l" r="r" t="t"/>
              <a:pathLst>
                <a:path extrusionOk="0" h="1433253" w="1277542">
                  <a:moveTo>
                    <a:pt x="0" y="358314"/>
                  </a:moveTo>
                  <a:lnTo>
                    <a:pt x="0" y="1074940"/>
                  </a:lnTo>
                  <a:lnTo>
                    <a:pt x="638771" y="1433254"/>
                  </a:lnTo>
                  <a:lnTo>
                    <a:pt x="1277542" y="1074940"/>
                  </a:lnTo>
                  <a:lnTo>
                    <a:pt x="1277542" y="358314"/>
                  </a:lnTo>
                  <a:lnTo>
                    <a:pt x="638771" y="0"/>
                  </a:lnTo>
                  <a:lnTo>
                    <a:pt x="0" y="35831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34" name="Google Shape;834;p41"/>
            <p:cNvSpPr/>
            <p:nvPr/>
          </p:nvSpPr>
          <p:spPr>
            <a:xfrm>
              <a:off x="6159520" y="2706571"/>
              <a:ext cx="813255" cy="919561"/>
            </a:xfrm>
            <a:custGeom>
              <a:rect b="b" l="l" r="r" t="t"/>
              <a:pathLst>
                <a:path extrusionOk="0" h="1433253" w="1267564">
                  <a:moveTo>
                    <a:pt x="1267564" y="358296"/>
                  </a:moveTo>
                  <a:lnTo>
                    <a:pt x="1267564" y="1074940"/>
                  </a:lnTo>
                  <a:lnTo>
                    <a:pt x="628484" y="1433254"/>
                  </a:lnTo>
                  <a:lnTo>
                    <a:pt x="0" y="1076260"/>
                  </a:lnTo>
                  <a:lnTo>
                    <a:pt x="0" y="359634"/>
                  </a:lnTo>
                  <a:lnTo>
                    <a:pt x="628484" y="0"/>
                  </a:lnTo>
                  <a:lnTo>
                    <a:pt x="828446" y="112111"/>
                  </a:lnTo>
                  <a:lnTo>
                    <a:pt x="1267564" y="358296"/>
                  </a:lnTo>
                  <a:close/>
                </a:path>
              </a:pathLst>
            </a:custGeom>
            <a:solidFill>
              <a:srgbClr val="F9F9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nvGrpSpPr>
            <p:cNvPr id="835" name="Google Shape;835;p41"/>
            <p:cNvGrpSpPr/>
            <p:nvPr/>
          </p:nvGrpSpPr>
          <p:grpSpPr>
            <a:xfrm>
              <a:off x="4809275" y="2658533"/>
              <a:ext cx="62451" cy="62451"/>
              <a:chOff x="4145906" y="1776046"/>
              <a:chExt cx="97340" cy="97340"/>
            </a:xfrm>
          </p:grpSpPr>
          <p:sp>
            <p:nvSpPr>
              <p:cNvPr id="836" name="Google Shape;836;p41"/>
              <p:cNvSpPr/>
              <p:nvPr/>
            </p:nvSpPr>
            <p:spPr>
              <a:xfrm>
                <a:off x="4168353" y="1798493"/>
                <a:ext cx="52429" cy="52429"/>
              </a:xfrm>
              <a:custGeom>
                <a:rect b="b" l="l" r="r" t="t"/>
                <a:pathLst>
                  <a:path extrusionOk="0" h="52429" w="52429">
                    <a:moveTo>
                      <a:pt x="52429" y="26215"/>
                    </a:moveTo>
                    <a:cubicBezTo>
                      <a:pt x="52429" y="40693"/>
                      <a:pt x="40693" y="52430"/>
                      <a:pt x="26215" y="52430"/>
                    </a:cubicBezTo>
                    <a:cubicBezTo>
                      <a:pt x="11737" y="52430"/>
                      <a:pt x="0" y="40693"/>
                      <a:pt x="0" y="26215"/>
                    </a:cubicBezTo>
                    <a:cubicBezTo>
                      <a:pt x="0" y="11737"/>
                      <a:pt x="11737" y="0"/>
                      <a:pt x="26215" y="0"/>
                    </a:cubicBezTo>
                    <a:cubicBezTo>
                      <a:pt x="40693" y="0"/>
                      <a:pt x="52429" y="11737"/>
                      <a:pt x="52429" y="26215"/>
                    </a:cubicBezTo>
                    <a:close/>
                  </a:path>
                </a:pathLst>
              </a:custGeom>
              <a:solidFill>
                <a:schemeClr val="accent4"/>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37" name="Google Shape;837;p41"/>
              <p:cNvSpPr/>
              <p:nvPr/>
            </p:nvSpPr>
            <p:spPr>
              <a:xfrm>
                <a:off x="4145906" y="1776046"/>
                <a:ext cx="97340" cy="97340"/>
              </a:xfrm>
              <a:custGeom>
                <a:rect b="b" l="l" r="r" t="t"/>
                <a:pathLst>
                  <a:path extrusionOk="0" h="97340" w="97340">
                    <a:moveTo>
                      <a:pt x="83106" y="83106"/>
                    </a:moveTo>
                    <a:cubicBezTo>
                      <a:pt x="64127" y="102086"/>
                      <a:pt x="33231" y="102086"/>
                      <a:pt x="14235" y="83106"/>
                    </a:cubicBezTo>
                    <a:cubicBezTo>
                      <a:pt x="-4745" y="64127"/>
                      <a:pt x="-4745" y="33231"/>
                      <a:pt x="14235" y="14235"/>
                    </a:cubicBezTo>
                    <a:cubicBezTo>
                      <a:pt x="33214" y="-4745"/>
                      <a:pt x="64109" y="-4745"/>
                      <a:pt x="83106" y="14235"/>
                    </a:cubicBezTo>
                    <a:cubicBezTo>
                      <a:pt x="102086" y="33214"/>
                      <a:pt x="102086" y="64110"/>
                      <a:pt x="83106" y="83106"/>
                    </a:cubicBezTo>
                    <a:close/>
                    <a:moveTo>
                      <a:pt x="20853" y="20853"/>
                    </a:moveTo>
                    <a:cubicBezTo>
                      <a:pt x="5508" y="36197"/>
                      <a:pt x="5508" y="61143"/>
                      <a:pt x="20853" y="76471"/>
                    </a:cubicBezTo>
                    <a:cubicBezTo>
                      <a:pt x="36197" y="91816"/>
                      <a:pt x="61143" y="91816"/>
                      <a:pt x="76471" y="76471"/>
                    </a:cubicBezTo>
                    <a:cubicBezTo>
                      <a:pt x="91816" y="61126"/>
                      <a:pt x="91816" y="36180"/>
                      <a:pt x="76471" y="20853"/>
                    </a:cubicBezTo>
                    <a:cubicBezTo>
                      <a:pt x="61126" y="5508"/>
                      <a:pt x="36180" y="5508"/>
                      <a:pt x="20853" y="20853"/>
                    </a:cubicBezTo>
                    <a:close/>
                  </a:path>
                </a:pathLst>
              </a:custGeom>
              <a:solidFill>
                <a:schemeClr val="accent4"/>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grpSp>
          <p:nvGrpSpPr>
            <p:cNvPr id="838" name="Google Shape;838;p41"/>
            <p:cNvGrpSpPr/>
            <p:nvPr/>
          </p:nvGrpSpPr>
          <p:grpSpPr>
            <a:xfrm>
              <a:off x="7246360" y="2658533"/>
              <a:ext cx="62451" cy="62451"/>
              <a:chOff x="7944415" y="1776046"/>
              <a:chExt cx="97340" cy="97340"/>
            </a:xfrm>
          </p:grpSpPr>
          <p:sp>
            <p:nvSpPr>
              <p:cNvPr id="839" name="Google Shape;839;p41"/>
              <p:cNvSpPr/>
              <p:nvPr/>
            </p:nvSpPr>
            <p:spPr>
              <a:xfrm>
                <a:off x="7966879" y="1798493"/>
                <a:ext cx="52429" cy="52429"/>
              </a:xfrm>
              <a:custGeom>
                <a:rect b="b" l="l" r="r" t="t"/>
                <a:pathLst>
                  <a:path extrusionOk="0" h="52429" w="52429">
                    <a:moveTo>
                      <a:pt x="52429" y="26215"/>
                    </a:moveTo>
                    <a:cubicBezTo>
                      <a:pt x="52429" y="40693"/>
                      <a:pt x="40693" y="52430"/>
                      <a:pt x="26215" y="52430"/>
                    </a:cubicBezTo>
                    <a:cubicBezTo>
                      <a:pt x="11737" y="52430"/>
                      <a:pt x="0" y="40693"/>
                      <a:pt x="0" y="26215"/>
                    </a:cubicBezTo>
                    <a:cubicBezTo>
                      <a:pt x="0" y="11737"/>
                      <a:pt x="11736" y="0"/>
                      <a:pt x="26215" y="0"/>
                    </a:cubicBezTo>
                    <a:cubicBezTo>
                      <a:pt x="40693" y="0"/>
                      <a:pt x="52429" y="11737"/>
                      <a:pt x="52429" y="26215"/>
                    </a:cubicBezTo>
                    <a:close/>
                  </a:path>
                </a:pathLst>
              </a:custGeom>
              <a:solidFill>
                <a:schemeClr val="accent3"/>
              </a:soli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40" name="Google Shape;840;p41"/>
              <p:cNvSpPr/>
              <p:nvPr/>
            </p:nvSpPr>
            <p:spPr>
              <a:xfrm>
                <a:off x="7944415" y="1776046"/>
                <a:ext cx="97340" cy="97340"/>
              </a:xfrm>
              <a:custGeom>
                <a:rect b="b" l="l" r="r" t="t"/>
                <a:pathLst>
                  <a:path extrusionOk="0" h="97340" w="97340">
                    <a:moveTo>
                      <a:pt x="14234" y="83106"/>
                    </a:moveTo>
                    <a:cubicBezTo>
                      <a:pt x="-4745" y="64127"/>
                      <a:pt x="-4745" y="33231"/>
                      <a:pt x="14234" y="14235"/>
                    </a:cubicBezTo>
                    <a:cubicBezTo>
                      <a:pt x="33214" y="-4745"/>
                      <a:pt x="64109" y="-4745"/>
                      <a:pt x="83106" y="14235"/>
                    </a:cubicBezTo>
                    <a:cubicBezTo>
                      <a:pt x="102085" y="33214"/>
                      <a:pt x="102085" y="64110"/>
                      <a:pt x="83106" y="83106"/>
                    </a:cubicBezTo>
                    <a:cubicBezTo>
                      <a:pt x="64127" y="102086"/>
                      <a:pt x="33231" y="102086"/>
                      <a:pt x="14234" y="83106"/>
                    </a:cubicBezTo>
                    <a:close/>
                    <a:moveTo>
                      <a:pt x="76488" y="20853"/>
                    </a:moveTo>
                    <a:cubicBezTo>
                      <a:pt x="61143" y="5508"/>
                      <a:pt x="36197" y="5508"/>
                      <a:pt x="20870" y="20853"/>
                    </a:cubicBezTo>
                    <a:cubicBezTo>
                      <a:pt x="5525" y="36197"/>
                      <a:pt x="5525" y="61143"/>
                      <a:pt x="20870" y="76471"/>
                    </a:cubicBezTo>
                    <a:cubicBezTo>
                      <a:pt x="36214" y="91816"/>
                      <a:pt x="61160" y="91816"/>
                      <a:pt x="76488" y="76471"/>
                    </a:cubicBezTo>
                    <a:cubicBezTo>
                      <a:pt x="91816" y="61126"/>
                      <a:pt x="91833" y="36180"/>
                      <a:pt x="76488" y="20853"/>
                    </a:cubicBezTo>
                    <a:close/>
                  </a:path>
                </a:pathLst>
              </a:custGeom>
              <a:solidFill>
                <a:schemeClr val="accent3"/>
              </a:soli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grpSp>
          <p:nvGrpSpPr>
            <p:cNvPr id="841" name="Google Shape;841;p41"/>
            <p:cNvGrpSpPr/>
            <p:nvPr/>
          </p:nvGrpSpPr>
          <p:grpSpPr>
            <a:xfrm>
              <a:off x="6026597" y="4842048"/>
              <a:ext cx="62479" cy="62479"/>
              <a:chOff x="6043261" y="5179332"/>
              <a:chExt cx="97383" cy="97383"/>
            </a:xfrm>
          </p:grpSpPr>
          <p:sp>
            <p:nvSpPr>
              <p:cNvPr id="842" name="Google Shape;842;p41"/>
              <p:cNvSpPr/>
              <p:nvPr/>
            </p:nvSpPr>
            <p:spPr>
              <a:xfrm rot="-2700000">
                <a:off x="6065739" y="5201814"/>
                <a:ext cx="52429" cy="52429"/>
              </a:xfrm>
              <a:custGeom>
                <a:rect b="b" l="l" r="r" t="t"/>
                <a:pathLst>
                  <a:path extrusionOk="0" h="52429" w="52429">
                    <a:moveTo>
                      <a:pt x="52429" y="26215"/>
                    </a:moveTo>
                    <a:cubicBezTo>
                      <a:pt x="52429" y="40693"/>
                      <a:pt x="40693" y="52430"/>
                      <a:pt x="26215" y="52430"/>
                    </a:cubicBezTo>
                    <a:cubicBezTo>
                      <a:pt x="11737" y="52430"/>
                      <a:pt x="0" y="40693"/>
                      <a:pt x="0" y="26215"/>
                    </a:cubicBezTo>
                    <a:cubicBezTo>
                      <a:pt x="0" y="11737"/>
                      <a:pt x="11736" y="0"/>
                      <a:pt x="26215" y="0"/>
                    </a:cubicBezTo>
                    <a:cubicBezTo>
                      <a:pt x="40692" y="0"/>
                      <a:pt x="52429" y="11737"/>
                      <a:pt x="52429" y="26215"/>
                    </a:cubicBezTo>
                    <a:close/>
                  </a:path>
                </a:pathLst>
              </a:custGeom>
              <a:solidFill>
                <a:schemeClr val="accent5"/>
              </a:solidFill>
              <a:ln cap="flat" cmpd="sng" w="9525">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43" name="Google Shape;843;p41"/>
              <p:cNvSpPr/>
              <p:nvPr/>
            </p:nvSpPr>
            <p:spPr>
              <a:xfrm>
                <a:off x="6043261" y="5179332"/>
                <a:ext cx="97383" cy="97383"/>
              </a:xfrm>
              <a:custGeom>
                <a:rect b="b" l="l" r="r" t="t"/>
                <a:pathLst>
                  <a:path extrusionOk="0" h="97383" w="97383">
                    <a:moveTo>
                      <a:pt x="48692" y="97384"/>
                    </a:moveTo>
                    <a:cubicBezTo>
                      <a:pt x="21843" y="97384"/>
                      <a:pt x="0" y="75541"/>
                      <a:pt x="0" y="48692"/>
                    </a:cubicBezTo>
                    <a:cubicBezTo>
                      <a:pt x="0" y="21843"/>
                      <a:pt x="21843" y="0"/>
                      <a:pt x="48692" y="0"/>
                    </a:cubicBezTo>
                    <a:cubicBezTo>
                      <a:pt x="75541" y="0"/>
                      <a:pt x="97384" y="21843"/>
                      <a:pt x="97384" y="48692"/>
                    </a:cubicBezTo>
                    <a:cubicBezTo>
                      <a:pt x="97384" y="75541"/>
                      <a:pt x="75541" y="97384"/>
                      <a:pt x="48692" y="97384"/>
                    </a:cubicBezTo>
                    <a:close/>
                    <a:moveTo>
                      <a:pt x="48692" y="9344"/>
                    </a:moveTo>
                    <a:cubicBezTo>
                      <a:pt x="27003" y="9344"/>
                      <a:pt x="9361" y="26986"/>
                      <a:pt x="9361" y="48675"/>
                    </a:cubicBezTo>
                    <a:cubicBezTo>
                      <a:pt x="9361" y="70363"/>
                      <a:pt x="27003" y="88005"/>
                      <a:pt x="48692" y="88005"/>
                    </a:cubicBezTo>
                    <a:cubicBezTo>
                      <a:pt x="70380" y="88005"/>
                      <a:pt x="88023" y="70363"/>
                      <a:pt x="88023" y="48675"/>
                    </a:cubicBezTo>
                    <a:cubicBezTo>
                      <a:pt x="88023" y="26986"/>
                      <a:pt x="70380" y="9344"/>
                      <a:pt x="48692" y="9344"/>
                    </a:cubicBezTo>
                    <a:close/>
                  </a:path>
                </a:pathLst>
              </a:custGeom>
              <a:solidFill>
                <a:schemeClr val="accent5"/>
              </a:solidFill>
              <a:ln cap="flat" cmpd="sng" w="9525">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sp>
          <p:nvSpPr>
            <p:cNvPr id="844" name="Google Shape;844;p41"/>
            <p:cNvSpPr/>
            <p:nvPr/>
          </p:nvSpPr>
          <p:spPr>
            <a:xfrm>
              <a:off x="5628738" y="3041775"/>
              <a:ext cx="854594" cy="854594"/>
            </a:xfrm>
            <a:custGeom>
              <a:rect b="b" l="l" r="r" t="t"/>
              <a:pathLst>
                <a:path extrusionOk="0" h="1331995" w="1331995">
                  <a:moveTo>
                    <a:pt x="1331995" y="665998"/>
                  </a:moveTo>
                  <a:cubicBezTo>
                    <a:pt x="1331995" y="1033818"/>
                    <a:pt x="1033818" y="1331995"/>
                    <a:pt x="665998" y="1331995"/>
                  </a:cubicBezTo>
                  <a:cubicBezTo>
                    <a:pt x="298177" y="1331995"/>
                    <a:pt x="0" y="1033818"/>
                    <a:pt x="0" y="665998"/>
                  </a:cubicBezTo>
                  <a:cubicBezTo>
                    <a:pt x="0" y="298177"/>
                    <a:pt x="298177" y="0"/>
                    <a:pt x="665998" y="0"/>
                  </a:cubicBezTo>
                  <a:cubicBezTo>
                    <a:pt x="1033818" y="0"/>
                    <a:pt x="1331995" y="298177"/>
                    <a:pt x="1331995" y="66599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nvGrpSpPr>
            <p:cNvPr id="845" name="Google Shape;845;p41"/>
            <p:cNvGrpSpPr/>
            <p:nvPr/>
          </p:nvGrpSpPr>
          <p:grpSpPr>
            <a:xfrm>
              <a:off x="5686412" y="3087405"/>
              <a:ext cx="770026" cy="770038"/>
              <a:chOff x="5513035" y="2444499"/>
              <a:chExt cx="1200184" cy="1200202"/>
            </a:xfrm>
          </p:grpSpPr>
          <p:sp>
            <p:nvSpPr>
              <p:cNvPr id="846" name="Google Shape;846;p41"/>
              <p:cNvSpPr/>
              <p:nvPr/>
            </p:nvSpPr>
            <p:spPr>
              <a:xfrm>
                <a:off x="5513035" y="2444499"/>
                <a:ext cx="600092" cy="840619"/>
              </a:xfrm>
              <a:custGeom>
                <a:rect b="b" l="l" r="r" t="t"/>
                <a:pathLst>
                  <a:path extrusionOk="0" h="840619" w="600092">
                    <a:moveTo>
                      <a:pt x="50149" y="840619"/>
                    </a:moveTo>
                    <a:cubicBezTo>
                      <a:pt x="16871" y="764633"/>
                      <a:pt x="0" y="683708"/>
                      <a:pt x="0" y="600092"/>
                    </a:cubicBezTo>
                    <a:cubicBezTo>
                      <a:pt x="0" y="516476"/>
                      <a:pt x="15859" y="440489"/>
                      <a:pt x="47166" y="366509"/>
                    </a:cubicBezTo>
                    <a:cubicBezTo>
                      <a:pt x="77393" y="295048"/>
                      <a:pt x="120667" y="230874"/>
                      <a:pt x="175771" y="175771"/>
                    </a:cubicBezTo>
                    <a:cubicBezTo>
                      <a:pt x="230874" y="120667"/>
                      <a:pt x="295048" y="77393"/>
                      <a:pt x="366509" y="47166"/>
                    </a:cubicBezTo>
                    <a:cubicBezTo>
                      <a:pt x="440489" y="15876"/>
                      <a:pt x="519082" y="0"/>
                      <a:pt x="600092" y="0"/>
                    </a:cubicBezTo>
                    <a:lnTo>
                      <a:pt x="600092" y="17145"/>
                    </a:lnTo>
                    <a:cubicBezTo>
                      <a:pt x="278658" y="17145"/>
                      <a:pt x="17145" y="278658"/>
                      <a:pt x="17145" y="600092"/>
                    </a:cubicBezTo>
                    <a:cubicBezTo>
                      <a:pt x="17145" y="681325"/>
                      <a:pt x="33536" y="759935"/>
                      <a:pt x="65854" y="833744"/>
                    </a:cubicBezTo>
                    <a:lnTo>
                      <a:pt x="50149" y="840619"/>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47" name="Google Shape;847;p41"/>
              <p:cNvSpPr/>
              <p:nvPr/>
            </p:nvSpPr>
            <p:spPr>
              <a:xfrm>
                <a:off x="5563184" y="3278261"/>
                <a:ext cx="1084215" cy="366440"/>
              </a:xfrm>
              <a:custGeom>
                <a:rect b="b" l="l" r="r" t="t"/>
                <a:pathLst>
                  <a:path extrusionOk="0" h="366440" w="1084215">
                    <a:moveTo>
                      <a:pt x="549943" y="366440"/>
                    </a:moveTo>
                    <a:cubicBezTo>
                      <a:pt x="311525" y="366440"/>
                      <a:pt x="95669" y="225303"/>
                      <a:pt x="0" y="6875"/>
                    </a:cubicBezTo>
                    <a:lnTo>
                      <a:pt x="15705" y="0"/>
                    </a:lnTo>
                    <a:cubicBezTo>
                      <a:pt x="108648" y="212187"/>
                      <a:pt x="318348" y="349295"/>
                      <a:pt x="549943" y="349295"/>
                    </a:cubicBezTo>
                    <a:cubicBezTo>
                      <a:pt x="781538" y="349295"/>
                      <a:pt x="968590" y="227737"/>
                      <a:pt x="1068956" y="32044"/>
                    </a:cubicBezTo>
                    <a:lnTo>
                      <a:pt x="1084216" y="39862"/>
                    </a:lnTo>
                    <a:cubicBezTo>
                      <a:pt x="1034581" y="136611"/>
                      <a:pt x="959520" y="218222"/>
                      <a:pt x="867126" y="275863"/>
                    </a:cubicBezTo>
                    <a:cubicBezTo>
                      <a:pt x="772125" y="335116"/>
                      <a:pt x="662449" y="366440"/>
                      <a:pt x="549943" y="366440"/>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48" name="Google Shape;848;p41"/>
              <p:cNvSpPr/>
              <p:nvPr/>
            </p:nvSpPr>
            <p:spPr>
              <a:xfrm>
                <a:off x="6113127" y="2444517"/>
                <a:ext cx="600092" cy="873606"/>
              </a:xfrm>
              <a:custGeom>
                <a:rect b="b" l="l" r="r" t="t"/>
                <a:pathLst>
                  <a:path extrusionOk="0" h="873606" w="600092">
                    <a:moveTo>
                      <a:pt x="534273" y="873606"/>
                    </a:moveTo>
                    <a:lnTo>
                      <a:pt x="519013" y="865788"/>
                    </a:lnTo>
                    <a:cubicBezTo>
                      <a:pt x="561430" y="783098"/>
                      <a:pt x="582947" y="693704"/>
                      <a:pt x="582947" y="600092"/>
                    </a:cubicBezTo>
                    <a:cubicBezTo>
                      <a:pt x="582947" y="278658"/>
                      <a:pt x="321434" y="17145"/>
                      <a:pt x="0" y="17145"/>
                    </a:cubicBezTo>
                    <a:lnTo>
                      <a:pt x="0" y="0"/>
                    </a:lnTo>
                    <a:cubicBezTo>
                      <a:pt x="81010" y="0"/>
                      <a:pt x="159603" y="15859"/>
                      <a:pt x="233583" y="47166"/>
                    </a:cubicBezTo>
                    <a:cubicBezTo>
                      <a:pt x="305044" y="77393"/>
                      <a:pt x="369218" y="120667"/>
                      <a:pt x="424322" y="175771"/>
                    </a:cubicBezTo>
                    <a:cubicBezTo>
                      <a:pt x="479426" y="230874"/>
                      <a:pt x="522700" y="295048"/>
                      <a:pt x="552926" y="366509"/>
                    </a:cubicBezTo>
                    <a:cubicBezTo>
                      <a:pt x="584216" y="440489"/>
                      <a:pt x="600092" y="519082"/>
                      <a:pt x="600092" y="600092"/>
                    </a:cubicBezTo>
                    <a:cubicBezTo>
                      <a:pt x="600092" y="696447"/>
                      <a:pt x="577941" y="788464"/>
                      <a:pt x="534273" y="873606"/>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sp>
          <p:nvSpPr>
            <p:cNvPr id="849" name="Google Shape;849;p41"/>
            <p:cNvSpPr/>
            <p:nvPr/>
          </p:nvSpPr>
          <p:spPr>
            <a:xfrm>
              <a:off x="5225576" y="2832220"/>
              <a:ext cx="637725" cy="637725"/>
            </a:xfrm>
            <a:prstGeom prst="ellipse">
              <a:avLst/>
            </a:prstGeom>
            <a:solidFill>
              <a:srgbClr val="FFFFFF"/>
            </a:solidFill>
            <a:ln cap="flat" cmpd="sng" w="9525">
              <a:solidFill>
                <a:srgbClr val="D0CECE"/>
              </a:solidFill>
              <a:prstDash val="solid"/>
              <a:miter lim="800000"/>
              <a:headEnd len="sm" w="sm" type="none"/>
              <a:tailEnd len="sm" w="sm" type="none"/>
            </a:ln>
            <a:effectLst>
              <a:outerShdw blurRad="50800" rotWithShape="0" algn="tr" dir="8100000" dist="38100">
                <a:srgbClr val="000000">
                  <a:alpha val="1529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850" name="Google Shape;850;p41"/>
            <p:cNvSpPr/>
            <p:nvPr/>
          </p:nvSpPr>
          <p:spPr>
            <a:xfrm>
              <a:off x="6258983" y="2862741"/>
              <a:ext cx="637725" cy="637725"/>
            </a:xfrm>
            <a:prstGeom prst="ellipse">
              <a:avLst/>
            </a:prstGeom>
            <a:solidFill>
              <a:srgbClr val="FFFFFF"/>
            </a:solidFill>
            <a:ln cap="flat" cmpd="sng" w="9525">
              <a:solidFill>
                <a:srgbClr val="D0CECE"/>
              </a:solidFill>
              <a:prstDash val="solid"/>
              <a:miter lim="800000"/>
              <a:headEnd len="sm" w="sm" type="none"/>
              <a:tailEnd len="sm" w="sm" type="none"/>
            </a:ln>
            <a:effectLst>
              <a:outerShdw blurRad="50800" rotWithShape="0" algn="tr" dir="8100000" dist="38100">
                <a:srgbClr val="000000">
                  <a:alpha val="1529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851" name="Google Shape;851;p41"/>
            <p:cNvSpPr/>
            <p:nvPr/>
          </p:nvSpPr>
          <p:spPr>
            <a:xfrm>
              <a:off x="5737745" y="3774589"/>
              <a:ext cx="637725" cy="637725"/>
            </a:xfrm>
            <a:prstGeom prst="ellipse">
              <a:avLst/>
            </a:prstGeom>
            <a:solidFill>
              <a:srgbClr val="FFFFFF"/>
            </a:solidFill>
            <a:ln cap="flat" cmpd="sng" w="9525">
              <a:solidFill>
                <a:srgbClr val="D0CECE"/>
              </a:solidFill>
              <a:prstDash val="solid"/>
              <a:miter lim="800000"/>
              <a:headEnd len="sm" w="sm" type="none"/>
              <a:tailEnd len="sm" w="sm" type="none"/>
            </a:ln>
            <a:effectLst>
              <a:outerShdw blurRad="50800" rotWithShape="0" algn="tr" dir="8100000" dist="38100">
                <a:srgbClr val="000000">
                  <a:alpha val="1529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grpSp>
      <p:grpSp>
        <p:nvGrpSpPr>
          <p:cNvPr id="852" name="Google Shape;852;p41"/>
          <p:cNvGrpSpPr/>
          <p:nvPr/>
        </p:nvGrpSpPr>
        <p:grpSpPr>
          <a:xfrm>
            <a:off x="-22430" y="1485899"/>
            <a:ext cx="12214430" cy="457200"/>
            <a:chOff x="-22430" y="1485899"/>
            <a:chExt cx="12214430" cy="457200"/>
          </a:xfrm>
        </p:grpSpPr>
        <p:sp>
          <p:nvSpPr>
            <p:cNvPr id="853" name="Google Shape;853;p41"/>
            <p:cNvSpPr/>
            <p:nvPr/>
          </p:nvSpPr>
          <p:spPr>
            <a:xfrm>
              <a:off x="-22430" y="1485899"/>
              <a:ext cx="12214430" cy="457200"/>
            </a:xfrm>
            <a:prstGeom prst="roundRect">
              <a:avLst>
                <a:gd fmla="val 0" name="adj"/>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54" name="Google Shape;854;p41"/>
            <p:cNvSpPr txBox="1"/>
            <p:nvPr/>
          </p:nvSpPr>
          <p:spPr>
            <a:xfrm>
              <a:off x="700088" y="1545242"/>
              <a:ext cx="10972800" cy="33851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Here are the key features and components of a Credit Default Swap:</a:t>
              </a:r>
              <a:endParaRPr b="1" i="0" sz="1600" u="none" cap="none" strike="noStrike">
                <a:solidFill>
                  <a:schemeClr val="dk1"/>
                </a:solidFill>
                <a:latin typeface="Arial"/>
                <a:ea typeface="Arial"/>
                <a:cs typeface="Arial"/>
                <a:sym typeface="Arial"/>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42"/>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CREDIT DEFAULT SWAPS</a:t>
            </a:r>
            <a:endParaRPr/>
          </a:p>
        </p:txBody>
      </p:sp>
      <p:sp>
        <p:nvSpPr>
          <p:cNvPr id="860" name="Google Shape;860;p42"/>
          <p:cNvSpPr/>
          <p:nvPr/>
        </p:nvSpPr>
        <p:spPr>
          <a:xfrm>
            <a:off x="1050462" y="1750364"/>
            <a:ext cx="2880000" cy="333783"/>
          </a:xfrm>
          <a:prstGeom prst="roundRect">
            <a:avLst>
              <a:gd fmla="val 50000"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Arial"/>
                <a:ea typeface="Arial"/>
                <a:cs typeface="Arial"/>
                <a:sym typeface="Arial"/>
              </a:rPr>
              <a:t>Notional Amount </a:t>
            </a:r>
            <a:endParaRPr b="1" i="0" sz="1600" u="none" cap="none" strike="noStrike">
              <a:solidFill>
                <a:srgbClr val="FFFFFF"/>
              </a:solidFill>
              <a:latin typeface="Arial"/>
              <a:ea typeface="Arial"/>
              <a:cs typeface="Arial"/>
              <a:sym typeface="Arial"/>
            </a:endParaRPr>
          </a:p>
        </p:txBody>
      </p:sp>
      <p:sp>
        <p:nvSpPr>
          <p:cNvPr id="861" name="Google Shape;861;p42"/>
          <p:cNvSpPr txBox="1"/>
          <p:nvPr/>
        </p:nvSpPr>
        <p:spPr>
          <a:xfrm>
            <a:off x="700088" y="2154783"/>
            <a:ext cx="3580749" cy="1585499"/>
          </a:xfrm>
          <a:prstGeom prst="rect">
            <a:avLst/>
          </a:prstGeom>
          <a:noFill/>
          <a:ln>
            <a:noFill/>
          </a:ln>
        </p:spPr>
        <p:txBody>
          <a:bodyPr anchorCtr="0" anchor="t" bIns="54000" lIns="54000" spcFirstLastPara="1" rIns="52275" wrap="square" tIns="53125">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The notional amount represents the face value of the reference obligation or the amount of debt being protected. It is not exchanged between the parties and serves as the basis for calculating the payments.</a:t>
            </a:r>
            <a:endParaRPr b="0" i="0" sz="1600" u="none" cap="none" strike="noStrike">
              <a:solidFill>
                <a:schemeClr val="dk1"/>
              </a:solidFill>
              <a:latin typeface="Arial"/>
              <a:ea typeface="Arial"/>
              <a:cs typeface="Arial"/>
              <a:sym typeface="Arial"/>
            </a:endParaRPr>
          </a:p>
        </p:txBody>
      </p:sp>
      <p:sp>
        <p:nvSpPr>
          <p:cNvPr id="862" name="Google Shape;862;p42"/>
          <p:cNvSpPr/>
          <p:nvPr/>
        </p:nvSpPr>
        <p:spPr>
          <a:xfrm>
            <a:off x="8423463" y="1750364"/>
            <a:ext cx="2880000" cy="333783"/>
          </a:xfrm>
          <a:prstGeom prst="roundRect">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Arial"/>
                <a:ea typeface="Arial"/>
                <a:cs typeface="Arial"/>
                <a:sym typeface="Arial"/>
              </a:rPr>
              <a:t>Credit Events </a:t>
            </a:r>
            <a:endParaRPr b="1" i="0" sz="1600" u="none" cap="none" strike="noStrike">
              <a:solidFill>
                <a:srgbClr val="FFFFFF"/>
              </a:solidFill>
              <a:latin typeface="Arial"/>
              <a:ea typeface="Arial"/>
              <a:cs typeface="Arial"/>
              <a:sym typeface="Arial"/>
            </a:endParaRPr>
          </a:p>
        </p:txBody>
      </p:sp>
      <p:sp>
        <p:nvSpPr>
          <p:cNvPr id="863" name="Google Shape;863;p42"/>
          <p:cNvSpPr txBox="1"/>
          <p:nvPr/>
        </p:nvSpPr>
        <p:spPr>
          <a:xfrm>
            <a:off x="8073089" y="2154783"/>
            <a:ext cx="3580749" cy="2324162"/>
          </a:xfrm>
          <a:prstGeom prst="rect">
            <a:avLst/>
          </a:prstGeom>
          <a:noFill/>
          <a:ln>
            <a:noFill/>
          </a:ln>
        </p:spPr>
        <p:txBody>
          <a:bodyPr anchorCtr="0" anchor="t" bIns="54000" lIns="54000" spcFirstLastPara="1" rIns="52275" wrap="square" tIns="53125">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CDS contracts specify what constitutes a credit event. Common credit events include default, bankruptcy, failure to pay, or a significant credit downgrade of the reference obligation. When a credit event occurs, the protection seller must make a payment to the protection buyer.</a:t>
            </a:r>
            <a:endParaRPr b="0" i="0" sz="1600" u="none" cap="none" strike="noStrike">
              <a:solidFill>
                <a:schemeClr val="dk1"/>
              </a:solidFill>
              <a:latin typeface="Arial"/>
              <a:ea typeface="Arial"/>
              <a:cs typeface="Arial"/>
              <a:sym typeface="Arial"/>
            </a:endParaRPr>
          </a:p>
        </p:txBody>
      </p:sp>
      <p:sp>
        <p:nvSpPr>
          <p:cNvPr id="864" name="Google Shape;864;p42"/>
          <p:cNvSpPr/>
          <p:nvPr/>
        </p:nvSpPr>
        <p:spPr>
          <a:xfrm>
            <a:off x="4736963" y="4269723"/>
            <a:ext cx="2880000" cy="333783"/>
          </a:xfrm>
          <a:prstGeom prst="roundRect">
            <a:avLst>
              <a:gd fmla="val 50000" name="adj"/>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Arial"/>
                <a:ea typeface="Arial"/>
                <a:cs typeface="Arial"/>
                <a:sym typeface="Arial"/>
              </a:rPr>
              <a:t>Premiums</a:t>
            </a:r>
            <a:endParaRPr b="1" i="0" sz="1600" u="none" cap="none" strike="noStrike">
              <a:solidFill>
                <a:srgbClr val="FFFFFF"/>
              </a:solidFill>
              <a:latin typeface="Arial"/>
              <a:ea typeface="Arial"/>
              <a:cs typeface="Arial"/>
              <a:sym typeface="Arial"/>
            </a:endParaRPr>
          </a:p>
        </p:txBody>
      </p:sp>
      <p:sp>
        <p:nvSpPr>
          <p:cNvPr id="865" name="Google Shape;865;p42"/>
          <p:cNvSpPr txBox="1"/>
          <p:nvPr/>
        </p:nvSpPr>
        <p:spPr>
          <a:xfrm>
            <a:off x="3323148" y="4649593"/>
            <a:ext cx="5707630" cy="1339277"/>
          </a:xfrm>
          <a:prstGeom prst="rect">
            <a:avLst/>
          </a:prstGeom>
          <a:noFill/>
          <a:ln>
            <a:noFill/>
          </a:ln>
        </p:spPr>
        <p:txBody>
          <a:bodyPr anchorCtr="0" anchor="t" bIns="54000" lIns="54000" spcFirstLastPara="1" rIns="52275" wrap="square" tIns="53125">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The protection buyer pays periodic premiums to the protection seller. These premiums are similar to insurance premiums and compensate the protection seller for assuming the credit risk. The premium amount is typically a percentage of the notional amount.</a:t>
            </a:r>
            <a:endParaRPr b="0" i="0" sz="1600" u="none" cap="none" strike="noStrike">
              <a:solidFill>
                <a:schemeClr val="dk1"/>
              </a:solidFill>
              <a:latin typeface="Arial"/>
              <a:ea typeface="Arial"/>
              <a:cs typeface="Arial"/>
              <a:sym typeface="Arial"/>
            </a:endParaRPr>
          </a:p>
        </p:txBody>
      </p:sp>
      <p:grpSp>
        <p:nvGrpSpPr>
          <p:cNvPr id="866" name="Google Shape;866;p42"/>
          <p:cNvGrpSpPr/>
          <p:nvPr/>
        </p:nvGrpSpPr>
        <p:grpSpPr>
          <a:xfrm>
            <a:off x="4927195" y="1485900"/>
            <a:ext cx="2499536" cy="2677439"/>
            <a:chOff x="4809275" y="2227088"/>
            <a:chExt cx="2499536" cy="2677439"/>
          </a:xfrm>
        </p:grpSpPr>
        <p:grpSp>
          <p:nvGrpSpPr>
            <p:cNvPr id="867" name="Google Shape;867;p42"/>
            <p:cNvGrpSpPr/>
            <p:nvPr/>
          </p:nvGrpSpPr>
          <p:grpSpPr>
            <a:xfrm>
              <a:off x="4852510" y="2227088"/>
              <a:ext cx="2412064" cy="2071704"/>
              <a:chOff x="4213294" y="1103586"/>
              <a:chExt cx="3759512" cy="3229015"/>
            </a:xfrm>
          </p:grpSpPr>
          <p:sp>
            <p:nvSpPr>
              <p:cNvPr id="868" name="Google Shape;868;p42"/>
              <p:cNvSpPr/>
              <p:nvPr/>
            </p:nvSpPr>
            <p:spPr>
              <a:xfrm>
                <a:off x="5752019" y="1749561"/>
                <a:ext cx="232451" cy="892671"/>
              </a:xfrm>
              <a:custGeom>
                <a:rect b="b" l="l" r="r" t="t"/>
                <a:pathLst>
                  <a:path extrusionOk="0" h="892671" w="232451">
                    <a:moveTo>
                      <a:pt x="232452" y="892672"/>
                    </a:moveTo>
                    <a:lnTo>
                      <a:pt x="223074" y="892672"/>
                    </a:lnTo>
                    <a:lnTo>
                      <a:pt x="222388" y="315074"/>
                    </a:lnTo>
                    <a:lnTo>
                      <a:pt x="222354" y="300020"/>
                    </a:lnTo>
                    <a:lnTo>
                      <a:pt x="222182" y="150413"/>
                    </a:lnTo>
                    <a:lnTo>
                      <a:pt x="67209" y="60196"/>
                    </a:lnTo>
                    <a:cubicBezTo>
                      <a:pt x="55910" y="75009"/>
                      <a:pt x="35130" y="79450"/>
                      <a:pt x="18619" y="69849"/>
                    </a:cubicBezTo>
                    <a:cubicBezTo>
                      <a:pt x="737" y="59442"/>
                      <a:pt x="-5315" y="36502"/>
                      <a:pt x="5092" y="18620"/>
                    </a:cubicBezTo>
                    <a:cubicBezTo>
                      <a:pt x="15499" y="737"/>
                      <a:pt x="38439" y="-5315"/>
                      <a:pt x="56304" y="5092"/>
                    </a:cubicBezTo>
                    <a:cubicBezTo>
                      <a:pt x="72815" y="14693"/>
                      <a:pt x="79210" y="34976"/>
                      <a:pt x="71923" y="52104"/>
                    </a:cubicBezTo>
                    <a:lnTo>
                      <a:pt x="231543" y="145013"/>
                    </a:lnTo>
                    <a:lnTo>
                      <a:pt x="231543" y="147704"/>
                    </a:lnTo>
                    <a:lnTo>
                      <a:pt x="231732" y="305284"/>
                    </a:lnTo>
                    <a:lnTo>
                      <a:pt x="231732" y="320320"/>
                    </a:lnTo>
                    <a:lnTo>
                      <a:pt x="232452" y="892672"/>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69" name="Google Shape;869;p42"/>
              <p:cNvSpPr/>
              <p:nvPr/>
            </p:nvSpPr>
            <p:spPr>
              <a:xfrm>
                <a:off x="6225084" y="1324022"/>
                <a:ext cx="169358" cy="1336332"/>
              </a:xfrm>
              <a:custGeom>
                <a:rect b="b" l="l" r="r" t="t"/>
                <a:pathLst>
                  <a:path extrusionOk="0" h="1336332" w="169358">
                    <a:moveTo>
                      <a:pt x="164266" y="56304"/>
                    </a:moveTo>
                    <a:cubicBezTo>
                      <a:pt x="154648" y="72815"/>
                      <a:pt x="134382" y="79210"/>
                      <a:pt x="117254" y="71906"/>
                    </a:cubicBezTo>
                    <a:lnTo>
                      <a:pt x="9361" y="257261"/>
                    </a:lnTo>
                    <a:lnTo>
                      <a:pt x="10133" y="712529"/>
                    </a:lnTo>
                    <a:lnTo>
                      <a:pt x="10167" y="727548"/>
                    </a:lnTo>
                    <a:lnTo>
                      <a:pt x="11196" y="1336333"/>
                    </a:lnTo>
                    <a:lnTo>
                      <a:pt x="1817" y="1336333"/>
                    </a:lnTo>
                    <a:lnTo>
                      <a:pt x="806" y="732795"/>
                    </a:lnTo>
                    <a:lnTo>
                      <a:pt x="771" y="717776"/>
                    </a:lnTo>
                    <a:lnTo>
                      <a:pt x="0" y="254741"/>
                    </a:lnTo>
                    <a:lnTo>
                      <a:pt x="109162" y="67209"/>
                    </a:lnTo>
                    <a:cubicBezTo>
                      <a:pt x="94349" y="55910"/>
                      <a:pt x="89908" y="35130"/>
                      <a:pt x="99510" y="18620"/>
                    </a:cubicBezTo>
                    <a:cubicBezTo>
                      <a:pt x="109916" y="737"/>
                      <a:pt x="132857" y="-5315"/>
                      <a:pt x="150739" y="5092"/>
                    </a:cubicBezTo>
                    <a:cubicBezTo>
                      <a:pt x="168621" y="15499"/>
                      <a:pt x="174673" y="38422"/>
                      <a:pt x="164266" y="56304"/>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70" name="Google Shape;870;p42"/>
              <p:cNvSpPr/>
              <p:nvPr/>
            </p:nvSpPr>
            <p:spPr>
              <a:xfrm>
                <a:off x="6469023" y="3090540"/>
                <a:ext cx="878072" cy="374875"/>
              </a:xfrm>
              <a:custGeom>
                <a:rect b="b" l="l" r="r" t="t"/>
                <a:pathLst>
                  <a:path extrusionOk="0" h="374875" w="878072">
                    <a:moveTo>
                      <a:pt x="859530" y="291054"/>
                    </a:moveTo>
                    <a:cubicBezTo>
                      <a:pt x="843054" y="300706"/>
                      <a:pt x="822257" y="296300"/>
                      <a:pt x="810924" y="281538"/>
                    </a:cubicBezTo>
                    <a:lnTo>
                      <a:pt x="651544" y="374875"/>
                    </a:lnTo>
                    <a:lnTo>
                      <a:pt x="649212" y="373555"/>
                    </a:lnTo>
                    <a:lnTo>
                      <a:pt x="531924" y="307530"/>
                    </a:lnTo>
                    <a:lnTo>
                      <a:pt x="531906" y="307530"/>
                    </a:lnTo>
                    <a:lnTo>
                      <a:pt x="518533" y="300003"/>
                    </a:lnTo>
                    <a:lnTo>
                      <a:pt x="0" y="8161"/>
                    </a:lnTo>
                    <a:lnTo>
                      <a:pt x="4595" y="0"/>
                    </a:lnTo>
                    <a:lnTo>
                      <a:pt x="528100" y="294637"/>
                    </a:lnTo>
                    <a:lnTo>
                      <a:pt x="541473" y="302181"/>
                    </a:lnTo>
                    <a:lnTo>
                      <a:pt x="651459" y="364074"/>
                    </a:lnTo>
                    <a:lnTo>
                      <a:pt x="806192" y="273446"/>
                    </a:lnTo>
                    <a:cubicBezTo>
                      <a:pt x="798854" y="256335"/>
                      <a:pt x="805198" y="236052"/>
                      <a:pt x="821674" y="226400"/>
                    </a:cubicBezTo>
                    <a:cubicBezTo>
                      <a:pt x="839522" y="215941"/>
                      <a:pt x="862479" y="221942"/>
                      <a:pt x="872938" y="239790"/>
                    </a:cubicBezTo>
                    <a:cubicBezTo>
                      <a:pt x="883379" y="257638"/>
                      <a:pt x="877395" y="280595"/>
                      <a:pt x="859530" y="291054"/>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71" name="Google Shape;871;p42"/>
              <p:cNvSpPr/>
              <p:nvPr/>
            </p:nvSpPr>
            <p:spPr>
              <a:xfrm>
                <a:off x="6329480" y="3300909"/>
                <a:ext cx="1109263" cy="789192"/>
              </a:xfrm>
              <a:custGeom>
                <a:rect b="b" l="l" r="r" t="t"/>
                <a:pathLst>
                  <a:path extrusionOk="0" h="789192" w="1109263">
                    <a:moveTo>
                      <a:pt x="1090731" y="784058"/>
                    </a:moveTo>
                    <a:cubicBezTo>
                      <a:pt x="1072866" y="794499"/>
                      <a:pt x="1049926" y="788516"/>
                      <a:pt x="1039467" y="770651"/>
                    </a:cubicBezTo>
                    <a:cubicBezTo>
                      <a:pt x="1029815" y="754174"/>
                      <a:pt x="1034221" y="733377"/>
                      <a:pt x="1048983" y="722044"/>
                    </a:cubicBezTo>
                    <a:lnTo>
                      <a:pt x="940609" y="536999"/>
                    </a:lnTo>
                    <a:lnTo>
                      <a:pt x="560882" y="323509"/>
                    </a:lnTo>
                    <a:lnTo>
                      <a:pt x="547766" y="316136"/>
                    </a:lnTo>
                    <a:lnTo>
                      <a:pt x="0" y="8161"/>
                    </a:lnTo>
                    <a:lnTo>
                      <a:pt x="4578" y="0"/>
                    </a:lnTo>
                    <a:lnTo>
                      <a:pt x="547766" y="305387"/>
                    </a:lnTo>
                    <a:lnTo>
                      <a:pt x="560882" y="312759"/>
                    </a:lnTo>
                    <a:lnTo>
                      <a:pt x="947416" y="530072"/>
                    </a:lnTo>
                    <a:lnTo>
                      <a:pt x="1057075" y="717312"/>
                    </a:lnTo>
                    <a:cubicBezTo>
                      <a:pt x="1074169" y="709974"/>
                      <a:pt x="1094468" y="716318"/>
                      <a:pt x="1104121" y="732794"/>
                    </a:cubicBezTo>
                    <a:cubicBezTo>
                      <a:pt x="1114580" y="750643"/>
                      <a:pt x="1108579" y="773600"/>
                      <a:pt x="1090731" y="784058"/>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72" name="Google Shape;872;p42"/>
              <p:cNvSpPr/>
              <p:nvPr/>
            </p:nvSpPr>
            <p:spPr>
              <a:xfrm>
                <a:off x="4213294" y="1103586"/>
                <a:ext cx="3759512" cy="3229015"/>
              </a:xfrm>
              <a:custGeom>
                <a:rect b="b" l="l" r="r" t="t"/>
                <a:pathLst>
                  <a:path extrusionOk="0" h="3229016" w="3759512">
                    <a:moveTo>
                      <a:pt x="3739509" y="3155418"/>
                    </a:moveTo>
                    <a:cubicBezTo>
                      <a:pt x="3721969" y="3145525"/>
                      <a:pt x="3700092" y="3150565"/>
                      <a:pt x="3688485" y="3166407"/>
                    </a:cubicBezTo>
                    <a:lnTo>
                      <a:pt x="1884282" y="2148063"/>
                    </a:lnTo>
                    <a:lnTo>
                      <a:pt x="1884282" y="78353"/>
                    </a:lnTo>
                    <a:cubicBezTo>
                      <a:pt x="1903794" y="76038"/>
                      <a:pt x="1918932" y="59459"/>
                      <a:pt x="1918932" y="39331"/>
                    </a:cubicBezTo>
                    <a:cubicBezTo>
                      <a:pt x="1918932" y="17608"/>
                      <a:pt x="1901325" y="0"/>
                      <a:pt x="1879602" y="0"/>
                    </a:cubicBezTo>
                    <a:cubicBezTo>
                      <a:pt x="1857879" y="0"/>
                      <a:pt x="1840271" y="17608"/>
                      <a:pt x="1840271" y="39331"/>
                    </a:cubicBezTo>
                    <a:cubicBezTo>
                      <a:pt x="1840271" y="59459"/>
                      <a:pt x="1855410" y="76038"/>
                      <a:pt x="1874921" y="78353"/>
                    </a:cubicBezTo>
                    <a:lnTo>
                      <a:pt x="1874921" y="2148234"/>
                    </a:lnTo>
                    <a:lnTo>
                      <a:pt x="71027" y="3166407"/>
                    </a:lnTo>
                    <a:cubicBezTo>
                      <a:pt x="59420" y="3150548"/>
                      <a:pt x="37543" y="3145525"/>
                      <a:pt x="20004" y="3155418"/>
                    </a:cubicBezTo>
                    <a:cubicBezTo>
                      <a:pt x="1093" y="3166099"/>
                      <a:pt x="-5594" y="3190085"/>
                      <a:pt x="5088" y="3209013"/>
                    </a:cubicBezTo>
                    <a:cubicBezTo>
                      <a:pt x="15769" y="3227923"/>
                      <a:pt x="39755" y="3234610"/>
                      <a:pt x="58683" y="3223929"/>
                    </a:cubicBezTo>
                    <a:cubicBezTo>
                      <a:pt x="76222" y="3214036"/>
                      <a:pt x="83217" y="3192708"/>
                      <a:pt x="75639" y="3174568"/>
                    </a:cubicBezTo>
                    <a:lnTo>
                      <a:pt x="1877167" y="2157733"/>
                    </a:lnTo>
                    <a:lnTo>
                      <a:pt x="1882345" y="2157733"/>
                    </a:lnTo>
                    <a:lnTo>
                      <a:pt x="3683873" y="3174568"/>
                    </a:lnTo>
                    <a:cubicBezTo>
                      <a:pt x="3676295" y="3192708"/>
                      <a:pt x="3683290" y="3214036"/>
                      <a:pt x="3700830" y="3223929"/>
                    </a:cubicBezTo>
                    <a:cubicBezTo>
                      <a:pt x="3719741" y="3234610"/>
                      <a:pt x="3743744" y="3227923"/>
                      <a:pt x="3754425" y="3209013"/>
                    </a:cubicBezTo>
                    <a:cubicBezTo>
                      <a:pt x="3765106" y="3190102"/>
                      <a:pt x="3758420" y="3166099"/>
                      <a:pt x="3739509" y="3155418"/>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73" name="Google Shape;873;p42"/>
              <p:cNvSpPr/>
              <p:nvPr/>
            </p:nvSpPr>
            <p:spPr>
              <a:xfrm>
                <a:off x="4839006" y="3090540"/>
                <a:ext cx="878072" cy="374875"/>
              </a:xfrm>
              <a:custGeom>
                <a:rect b="b" l="l" r="r" t="t"/>
                <a:pathLst>
                  <a:path extrusionOk="0" h="374875" w="878072">
                    <a:moveTo>
                      <a:pt x="878072" y="8161"/>
                    </a:moveTo>
                    <a:lnTo>
                      <a:pt x="359676" y="299918"/>
                    </a:lnTo>
                    <a:lnTo>
                      <a:pt x="346286" y="307461"/>
                    </a:lnTo>
                    <a:lnTo>
                      <a:pt x="228860" y="373555"/>
                    </a:lnTo>
                    <a:lnTo>
                      <a:pt x="226528" y="374875"/>
                    </a:lnTo>
                    <a:lnTo>
                      <a:pt x="67148" y="281538"/>
                    </a:lnTo>
                    <a:cubicBezTo>
                      <a:pt x="55815" y="296300"/>
                      <a:pt x="35018" y="300706"/>
                      <a:pt x="18542" y="291054"/>
                    </a:cubicBezTo>
                    <a:cubicBezTo>
                      <a:pt x="677" y="280595"/>
                      <a:pt x="-5307" y="257638"/>
                      <a:pt x="5135" y="239790"/>
                    </a:cubicBezTo>
                    <a:cubicBezTo>
                      <a:pt x="15593" y="221942"/>
                      <a:pt x="38550" y="215941"/>
                      <a:pt x="56398" y="226400"/>
                    </a:cubicBezTo>
                    <a:cubicBezTo>
                      <a:pt x="72874" y="236052"/>
                      <a:pt x="79218" y="256335"/>
                      <a:pt x="71880" y="273446"/>
                    </a:cubicBezTo>
                    <a:lnTo>
                      <a:pt x="226614" y="364074"/>
                    </a:lnTo>
                    <a:lnTo>
                      <a:pt x="336736" y="302095"/>
                    </a:lnTo>
                    <a:lnTo>
                      <a:pt x="350126" y="294568"/>
                    </a:lnTo>
                    <a:lnTo>
                      <a:pt x="873478" y="0"/>
                    </a:lnTo>
                    <a:lnTo>
                      <a:pt x="878072" y="8161"/>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74" name="Google Shape;874;p42"/>
              <p:cNvSpPr/>
              <p:nvPr/>
            </p:nvSpPr>
            <p:spPr>
              <a:xfrm>
                <a:off x="4747357" y="3300909"/>
                <a:ext cx="1109263" cy="789192"/>
              </a:xfrm>
              <a:custGeom>
                <a:rect b="b" l="l" r="r" t="t"/>
                <a:pathLst>
                  <a:path extrusionOk="0" h="789192" w="1109263">
                    <a:moveTo>
                      <a:pt x="1109264" y="8161"/>
                    </a:moveTo>
                    <a:lnTo>
                      <a:pt x="559921" y="317011"/>
                    </a:lnTo>
                    <a:lnTo>
                      <a:pt x="546822" y="324383"/>
                    </a:lnTo>
                    <a:lnTo>
                      <a:pt x="168655" y="536999"/>
                    </a:lnTo>
                    <a:lnTo>
                      <a:pt x="60281" y="722044"/>
                    </a:lnTo>
                    <a:cubicBezTo>
                      <a:pt x="75043" y="733377"/>
                      <a:pt x="79449" y="754174"/>
                      <a:pt x="69797" y="770651"/>
                    </a:cubicBezTo>
                    <a:cubicBezTo>
                      <a:pt x="59338" y="788516"/>
                      <a:pt x="36381" y="794499"/>
                      <a:pt x="18533" y="784058"/>
                    </a:cubicBezTo>
                    <a:cubicBezTo>
                      <a:pt x="685" y="773600"/>
                      <a:pt x="-5316" y="750643"/>
                      <a:pt x="5143" y="732794"/>
                    </a:cubicBezTo>
                    <a:cubicBezTo>
                      <a:pt x="14795" y="716318"/>
                      <a:pt x="35078" y="709974"/>
                      <a:pt x="52189" y="717312"/>
                    </a:cubicBezTo>
                    <a:lnTo>
                      <a:pt x="161848" y="530072"/>
                    </a:lnTo>
                    <a:lnTo>
                      <a:pt x="546822" y="313633"/>
                    </a:lnTo>
                    <a:lnTo>
                      <a:pt x="559921" y="306278"/>
                    </a:lnTo>
                    <a:lnTo>
                      <a:pt x="1104686" y="0"/>
                    </a:lnTo>
                    <a:lnTo>
                      <a:pt x="1109264" y="8161"/>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grpSp>
          <p:nvGrpSpPr>
            <p:cNvPr id="875" name="Google Shape;875;p42"/>
            <p:cNvGrpSpPr/>
            <p:nvPr/>
          </p:nvGrpSpPr>
          <p:grpSpPr>
            <a:xfrm>
              <a:off x="4837098" y="2685495"/>
              <a:ext cx="192040" cy="192059"/>
              <a:chOff x="4189277" y="1818077"/>
              <a:chExt cx="299321" cy="299350"/>
            </a:xfrm>
          </p:grpSpPr>
          <p:sp>
            <p:nvSpPr>
              <p:cNvPr id="876" name="Google Shape;876;p42"/>
              <p:cNvSpPr/>
              <p:nvPr/>
            </p:nvSpPr>
            <p:spPr>
              <a:xfrm rot="-2700000">
                <a:off x="4465873" y="2088144"/>
                <a:ext cx="14984" cy="28100"/>
              </a:xfrm>
              <a:custGeom>
                <a:rect b="b" l="l" r="r" t="t"/>
                <a:pathLst>
                  <a:path extrusionOk="0" h="28100" w="14984">
                    <a:moveTo>
                      <a:pt x="0" y="0"/>
                    </a:moveTo>
                    <a:lnTo>
                      <a:pt x="14985" y="0"/>
                    </a:lnTo>
                    <a:lnTo>
                      <a:pt x="14985" y="28101"/>
                    </a:lnTo>
                    <a:lnTo>
                      <a:pt x="0" y="28101"/>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77" name="Google Shape;877;p42"/>
              <p:cNvSpPr/>
              <p:nvPr/>
            </p:nvSpPr>
            <p:spPr>
              <a:xfrm>
                <a:off x="4239300" y="1873304"/>
                <a:ext cx="200990" cy="200991"/>
              </a:xfrm>
              <a:custGeom>
                <a:rect b="b" l="l" r="r" t="t"/>
                <a:pathLst>
                  <a:path extrusionOk="0" h="200990" w="200990">
                    <a:moveTo>
                      <a:pt x="190395" y="200991"/>
                    </a:moveTo>
                    <a:lnTo>
                      <a:pt x="146452" y="157048"/>
                    </a:lnTo>
                    <a:lnTo>
                      <a:pt x="157048" y="146453"/>
                    </a:lnTo>
                    <a:lnTo>
                      <a:pt x="200991" y="190395"/>
                    </a:lnTo>
                    <a:lnTo>
                      <a:pt x="190395" y="200991"/>
                    </a:lnTo>
                    <a:close/>
                    <a:moveTo>
                      <a:pt x="117169" y="127765"/>
                    </a:moveTo>
                    <a:lnTo>
                      <a:pt x="73226" y="83822"/>
                    </a:lnTo>
                    <a:lnTo>
                      <a:pt x="83822" y="73226"/>
                    </a:lnTo>
                    <a:lnTo>
                      <a:pt x="127764" y="117169"/>
                    </a:lnTo>
                    <a:lnTo>
                      <a:pt x="117169" y="127765"/>
                    </a:lnTo>
                    <a:close/>
                    <a:moveTo>
                      <a:pt x="43942" y="54538"/>
                    </a:moveTo>
                    <a:lnTo>
                      <a:pt x="0" y="10596"/>
                    </a:lnTo>
                    <a:lnTo>
                      <a:pt x="10595" y="0"/>
                    </a:lnTo>
                    <a:lnTo>
                      <a:pt x="54538" y="43943"/>
                    </a:lnTo>
                    <a:lnTo>
                      <a:pt x="43942" y="54538"/>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78" name="Google Shape;878;p42"/>
              <p:cNvSpPr/>
              <p:nvPr/>
            </p:nvSpPr>
            <p:spPr>
              <a:xfrm rot="-2700000">
                <a:off x="4197017" y="1819259"/>
                <a:ext cx="14984" cy="28100"/>
              </a:xfrm>
              <a:custGeom>
                <a:rect b="b" l="l" r="r" t="t"/>
                <a:pathLst>
                  <a:path extrusionOk="0" h="28100" w="14984">
                    <a:moveTo>
                      <a:pt x="0" y="0"/>
                    </a:moveTo>
                    <a:lnTo>
                      <a:pt x="14985" y="0"/>
                    </a:lnTo>
                    <a:lnTo>
                      <a:pt x="14985" y="28101"/>
                    </a:lnTo>
                    <a:lnTo>
                      <a:pt x="0" y="28101"/>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grpSp>
          <p:nvGrpSpPr>
            <p:cNvPr id="879" name="Google Shape;879;p42"/>
            <p:cNvGrpSpPr/>
            <p:nvPr/>
          </p:nvGrpSpPr>
          <p:grpSpPr>
            <a:xfrm>
              <a:off x="7089546" y="2685571"/>
              <a:ext cx="192226" cy="191706"/>
              <a:chOff x="7699999" y="1818189"/>
              <a:chExt cx="299609" cy="298798"/>
            </a:xfrm>
          </p:grpSpPr>
          <p:sp>
            <p:nvSpPr>
              <p:cNvPr id="880" name="Google Shape;880;p42"/>
              <p:cNvSpPr/>
              <p:nvPr/>
            </p:nvSpPr>
            <p:spPr>
              <a:xfrm rot="-2700000">
                <a:off x="7701181" y="2094263"/>
                <a:ext cx="28100" cy="14984"/>
              </a:xfrm>
              <a:custGeom>
                <a:rect b="b" l="l" r="r" t="t"/>
                <a:pathLst>
                  <a:path extrusionOk="0" h="14984" w="28100">
                    <a:moveTo>
                      <a:pt x="0" y="0"/>
                    </a:moveTo>
                    <a:lnTo>
                      <a:pt x="28100" y="0"/>
                    </a:lnTo>
                    <a:lnTo>
                      <a:pt x="28100" y="14985"/>
                    </a:lnTo>
                    <a:lnTo>
                      <a:pt x="0" y="14985"/>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81" name="Google Shape;881;p42"/>
              <p:cNvSpPr/>
              <p:nvPr/>
            </p:nvSpPr>
            <p:spPr>
              <a:xfrm>
                <a:off x="7749172" y="1866884"/>
                <a:ext cx="201007" cy="200990"/>
              </a:xfrm>
              <a:custGeom>
                <a:rect b="b" l="l" r="r" t="t"/>
                <a:pathLst>
                  <a:path extrusionOk="0" h="200990" w="201007">
                    <a:moveTo>
                      <a:pt x="10595" y="200991"/>
                    </a:moveTo>
                    <a:lnTo>
                      <a:pt x="0" y="190395"/>
                    </a:lnTo>
                    <a:lnTo>
                      <a:pt x="43943" y="146453"/>
                    </a:lnTo>
                    <a:lnTo>
                      <a:pt x="54538" y="157048"/>
                    </a:lnTo>
                    <a:lnTo>
                      <a:pt x="10595" y="200991"/>
                    </a:lnTo>
                    <a:close/>
                    <a:moveTo>
                      <a:pt x="83822" y="127765"/>
                    </a:moveTo>
                    <a:lnTo>
                      <a:pt x="73226" y="117169"/>
                    </a:lnTo>
                    <a:lnTo>
                      <a:pt x="117169" y="73226"/>
                    </a:lnTo>
                    <a:lnTo>
                      <a:pt x="127765" y="83822"/>
                    </a:lnTo>
                    <a:lnTo>
                      <a:pt x="83822" y="127765"/>
                    </a:lnTo>
                    <a:close/>
                    <a:moveTo>
                      <a:pt x="157066" y="54538"/>
                    </a:moveTo>
                    <a:lnTo>
                      <a:pt x="146470" y="43943"/>
                    </a:lnTo>
                    <a:lnTo>
                      <a:pt x="190412" y="0"/>
                    </a:lnTo>
                    <a:lnTo>
                      <a:pt x="201008" y="10596"/>
                    </a:lnTo>
                    <a:lnTo>
                      <a:pt x="157066" y="54538"/>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82" name="Google Shape;882;p42"/>
              <p:cNvSpPr/>
              <p:nvPr/>
            </p:nvSpPr>
            <p:spPr>
              <a:xfrm rot="-2699399">
                <a:off x="7970324" y="1825929"/>
                <a:ext cx="28100" cy="14984"/>
              </a:xfrm>
              <a:custGeom>
                <a:rect b="b" l="l" r="r" t="t"/>
                <a:pathLst>
                  <a:path extrusionOk="0" h="14984" w="28100">
                    <a:moveTo>
                      <a:pt x="0" y="0"/>
                    </a:moveTo>
                    <a:lnTo>
                      <a:pt x="28101" y="0"/>
                    </a:lnTo>
                    <a:lnTo>
                      <a:pt x="28101" y="14985"/>
                    </a:lnTo>
                    <a:lnTo>
                      <a:pt x="0" y="14985"/>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grpSp>
          <p:nvGrpSpPr>
            <p:cNvPr id="883" name="Google Shape;883;p42"/>
            <p:cNvGrpSpPr/>
            <p:nvPr/>
          </p:nvGrpSpPr>
          <p:grpSpPr>
            <a:xfrm>
              <a:off x="6053231" y="4611310"/>
              <a:ext cx="9614" cy="261977"/>
              <a:chOff x="6084769" y="4819699"/>
              <a:chExt cx="14985" cy="408325"/>
            </a:xfrm>
          </p:grpSpPr>
          <p:sp>
            <p:nvSpPr>
              <p:cNvPr id="884" name="Google Shape;884;p42"/>
              <p:cNvSpPr/>
              <p:nvPr/>
            </p:nvSpPr>
            <p:spPr>
              <a:xfrm>
                <a:off x="6084770" y="5199924"/>
                <a:ext cx="14984" cy="28100"/>
              </a:xfrm>
              <a:custGeom>
                <a:rect b="b" l="l" r="r" t="t"/>
                <a:pathLst>
                  <a:path extrusionOk="0" h="28100" w="14984">
                    <a:moveTo>
                      <a:pt x="0" y="0"/>
                    </a:moveTo>
                    <a:lnTo>
                      <a:pt x="14985" y="0"/>
                    </a:lnTo>
                    <a:lnTo>
                      <a:pt x="14985" y="28100"/>
                    </a:lnTo>
                    <a:lnTo>
                      <a:pt x="0" y="28100"/>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85" name="Google Shape;885;p42"/>
              <p:cNvSpPr/>
              <p:nvPr/>
            </p:nvSpPr>
            <p:spPr>
              <a:xfrm>
                <a:off x="6084769" y="4889222"/>
                <a:ext cx="14984" cy="269279"/>
              </a:xfrm>
              <a:custGeom>
                <a:rect b="b" l="l" r="r" t="t"/>
                <a:pathLst>
                  <a:path extrusionOk="0" h="269279" w="14984">
                    <a:moveTo>
                      <a:pt x="14985" y="269279"/>
                    </a:moveTo>
                    <a:lnTo>
                      <a:pt x="0" y="269279"/>
                    </a:lnTo>
                    <a:lnTo>
                      <a:pt x="0" y="207146"/>
                    </a:lnTo>
                    <a:lnTo>
                      <a:pt x="14985" y="207146"/>
                    </a:lnTo>
                    <a:lnTo>
                      <a:pt x="14985" y="269279"/>
                    </a:lnTo>
                    <a:close/>
                    <a:moveTo>
                      <a:pt x="14985" y="165707"/>
                    </a:moveTo>
                    <a:lnTo>
                      <a:pt x="0" y="165707"/>
                    </a:lnTo>
                    <a:lnTo>
                      <a:pt x="0" y="103573"/>
                    </a:lnTo>
                    <a:lnTo>
                      <a:pt x="14985" y="103573"/>
                    </a:lnTo>
                    <a:lnTo>
                      <a:pt x="14985" y="165707"/>
                    </a:lnTo>
                    <a:close/>
                    <a:moveTo>
                      <a:pt x="14985" y="62133"/>
                    </a:moveTo>
                    <a:lnTo>
                      <a:pt x="0" y="62133"/>
                    </a:lnTo>
                    <a:lnTo>
                      <a:pt x="0" y="0"/>
                    </a:lnTo>
                    <a:lnTo>
                      <a:pt x="14985" y="0"/>
                    </a:lnTo>
                    <a:lnTo>
                      <a:pt x="14985" y="62133"/>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86" name="Google Shape;886;p42"/>
              <p:cNvSpPr/>
              <p:nvPr/>
            </p:nvSpPr>
            <p:spPr>
              <a:xfrm>
                <a:off x="6084770" y="4819699"/>
                <a:ext cx="14984" cy="28100"/>
              </a:xfrm>
              <a:custGeom>
                <a:rect b="b" l="l" r="r" t="t"/>
                <a:pathLst>
                  <a:path extrusionOk="0" h="28100" w="14984">
                    <a:moveTo>
                      <a:pt x="0" y="0"/>
                    </a:moveTo>
                    <a:lnTo>
                      <a:pt x="14985" y="0"/>
                    </a:lnTo>
                    <a:lnTo>
                      <a:pt x="14985" y="28100"/>
                    </a:lnTo>
                    <a:lnTo>
                      <a:pt x="0" y="28100"/>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sp>
          <p:nvSpPr>
            <p:cNvPr id="887" name="Google Shape;887;p42"/>
            <p:cNvSpPr/>
            <p:nvPr/>
          </p:nvSpPr>
          <p:spPr>
            <a:xfrm>
              <a:off x="5075566" y="2643089"/>
              <a:ext cx="915678" cy="1027274"/>
            </a:xfrm>
            <a:custGeom>
              <a:rect b="b" l="l" r="r" t="t"/>
              <a:pathLst>
                <a:path extrusionOk="0" h="1601137" w="1427201">
                  <a:moveTo>
                    <a:pt x="0" y="400284"/>
                  </a:moveTo>
                  <a:lnTo>
                    <a:pt x="0" y="1200853"/>
                  </a:lnTo>
                  <a:lnTo>
                    <a:pt x="713609" y="1601137"/>
                  </a:lnTo>
                  <a:lnTo>
                    <a:pt x="1427201" y="1200853"/>
                  </a:lnTo>
                  <a:lnTo>
                    <a:pt x="1427201" y="400284"/>
                  </a:lnTo>
                  <a:lnTo>
                    <a:pt x="713609" y="0"/>
                  </a:lnTo>
                  <a:lnTo>
                    <a:pt x="0" y="400284"/>
                  </a:lnTo>
                  <a:close/>
                </a:path>
              </a:pathLst>
            </a:custGeom>
            <a:solidFill>
              <a:schemeClr val="accent4"/>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88" name="Google Shape;888;p42"/>
            <p:cNvSpPr/>
            <p:nvPr/>
          </p:nvSpPr>
          <p:spPr>
            <a:xfrm>
              <a:off x="5600204" y="3528761"/>
              <a:ext cx="915667" cy="1027274"/>
            </a:xfrm>
            <a:custGeom>
              <a:rect b="b" l="l" r="r" t="t"/>
              <a:pathLst>
                <a:path extrusionOk="0" h="1601137" w="1427183">
                  <a:moveTo>
                    <a:pt x="0" y="400284"/>
                  </a:moveTo>
                  <a:lnTo>
                    <a:pt x="0" y="1200853"/>
                  </a:lnTo>
                  <a:lnTo>
                    <a:pt x="713592" y="1601137"/>
                  </a:lnTo>
                  <a:lnTo>
                    <a:pt x="1427184" y="1200853"/>
                  </a:lnTo>
                  <a:lnTo>
                    <a:pt x="1427184" y="400284"/>
                  </a:lnTo>
                  <a:lnTo>
                    <a:pt x="713592" y="0"/>
                  </a:lnTo>
                  <a:lnTo>
                    <a:pt x="0" y="400284"/>
                  </a:lnTo>
                  <a:close/>
                </a:path>
              </a:pathLst>
            </a:custGeom>
            <a:solidFill>
              <a:schemeClr val="accent5"/>
            </a:solidFill>
            <a:ln cap="flat" cmpd="sng" w="9525">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89" name="Google Shape;889;p42"/>
            <p:cNvSpPr/>
            <p:nvPr/>
          </p:nvSpPr>
          <p:spPr>
            <a:xfrm>
              <a:off x="6126028" y="2643089"/>
              <a:ext cx="915667" cy="1027274"/>
            </a:xfrm>
            <a:custGeom>
              <a:rect b="b" l="l" r="r" t="t"/>
              <a:pathLst>
                <a:path extrusionOk="0" h="1601137" w="1427184">
                  <a:moveTo>
                    <a:pt x="0" y="400284"/>
                  </a:moveTo>
                  <a:lnTo>
                    <a:pt x="0" y="1200853"/>
                  </a:lnTo>
                  <a:lnTo>
                    <a:pt x="713592" y="1601137"/>
                  </a:lnTo>
                  <a:lnTo>
                    <a:pt x="1427184" y="1200853"/>
                  </a:lnTo>
                  <a:lnTo>
                    <a:pt x="1427184" y="400284"/>
                  </a:lnTo>
                  <a:lnTo>
                    <a:pt x="713592" y="0"/>
                  </a:lnTo>
                  <a:lnTo>
                    <a:pt x="0" y="40028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90" name="Google Shape;890;p42"/>
            <p:cNvSpPr/>
            <p:nvPr/>
          </p:nvSpPr>
          <p:spPr>
            <a:xfrm>
              <a:off x="5021359" y="2582161"/>
              <a:ext cx="967069" cy="1117003"/>
            </a:xfrm>
            <a:custGeom>
              <a:rect b="b" l="l" r="r" t="t"/>
              <a:pathLst>
                <a:path extrusionOk="0" h="1740989" w="1507302">
                  <a:moveTo>
                    <a:pt x="1507286" y="397833"/>
                  </a:moveTo>
                  <a:lnTo>
                    <a:pt x="1497907" y="392569"/>
                  </a:lnTo>
                  <a:lnTo>
                    <a:pt x="798100" y="0"/>
                  </a:lnTo>
                  <a:lnTo>
                    <a:pt x="0" y="447690"/>
                  </a:lnTo>
                  <a:lnTo>
                    <a:pt x="0" y="1343379"/>
                  </a:lnTo>
                  <a:lnTo>
                    <a:pt x="699276" y="1735623"/>
                  </a:lnTo>
                  <a:lnTo>
                    <a:pt x="708826" y="1740989"/>
                  </a:lnTo>
                  <a:lnTo>
                    <a:pt x="722216" y="1733445"/>
                  </a:lnTo>
                  <a:lnTo>
                    <a:pt x="712666" y="1728096"/>
                  </a:lnTo>
                  <a:lnTo>
                    <a:pt x="13116" y="1335699"/>
                  </a:lnTo>
                  <a:lnTo>
                    <a:pt x="13116" y="455371"/>
                  </a:lnTo>
                  <a:lnTo>
                    <a:pt x="798100" y="15036"/>
                  </a:lnTo>
                  <a:lnTo>
                    <a:pt x="1497942" y="407622"/>
                  </a:lnTo>
                  <a:lnTo>
                    <a:pt x="1507303" y="412869"/>
                  </a:lnTo>
                  <a:lnTo>
                    <a:pt x="1507303" y="397833"/>
                  </a:lnTo>
                  <a:close/>
                </a:path>
              </a:pathLst>
            </a:custGeom>
            <a:solidFill>
              <a:schemeClr val="accent4"/>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91" name="Google Shape;891;p42"/>
            <p:cNvSpPr/>
            <p:nvPr/>
          </p:nvSpPr>
          <p:spPr>
            <a:xfrm>
              <a:off x="6143750" y="2582161"/>
              <a:ext cx="952155" cy="1117045"/>
            </a:xfrm>
            <a:custGeom>
              <a:rect b="b" l="l" r="r" t="t"/>
              <a:pathLst>
                <a:path extrusionOk="0" h="1741057" w="1484054">
                  <a:moveTo>
                    <a:pt x="685972" y="0"/>
                  </a:moveTo>
                  <a:lnTo>
                    <a:pt x="9361" y="379539"/>
                  </a:lnTo>
                  <a:lnTo>
                    <a:pt x="0" y="384785"/>
                  </a:lnTo>
                  <a:lnTo>
                    <a:pt x="34" y="399804"/>
                  </a:lnTo>
                  <a:lnTo>
                    <a:pt x="9395" y="394558"/>
                  </a:lnTo>
                  <a:lnTo>
                    <a:pt x="685972" y="15036"/>
                  </a:lnTo>
                  <a:lnTo>
                    <a:pt x="1470955" y="455371"/>
                  </a:lnTo>
                  <a:lnTo>
                    <a:pt x="1470955" y="1335699"/>
                  </a:lnTo>
                  <a:lnTo>
                    <a:pt x="771268" y="1728165"/>
                  </a:lnTo>
                  <a:lnTo>
                    <a:pt x="761701" y="1733531"/>
                  </a:lnTo>
                  <a:lnTo>
                    <a:pt x="775074" y="1741058"/>
                  </a:lnTo>
                  <a:lnTo>
                    <a:pt x="775091" y="1741058"/>
                  </a:lnTo>
                  <a:lnTo>
                    <a:pt x="784641" y="1735708"/>
                  </a:lnTo>
                  <a:lnTo>
                    <a:pt x="1484054" y="1343379"/>
                  </a:lnTo>
                  <a:lnTo>
                    <a:pt x="1484054" y="447690"/>
                  </a:lnTo>
                  <a:lnTo>
                    <a:pt x="685972" y="0"/>
                  </a:lnTo>
                  <a:close/>
                </a:path>
              </a:pathLst>
            </a:custGeom>
            <a:solidFill>
              <a:schemeClr val="accent3"/>
            </a:soli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92" name="Google Shape;892;p42"/>
            <p:cNvSpPr/>
            <p:nvPr/>
          </p:nvSpPr>
          <p:spPr>
            <a:xfrm>
              <a:off x="5545996" y="3832803"/>
              <a:ext cx="1024095" cy="783953"/>
            </a:xfrm>
            <a:custGeom>
              <a:rect b="b" l="l" r="r" t="t"/>
              <a:pathLst>
                <a:path extrusionOk="0" h="1221890" w="1596182">
                  <a:moveTo>
                    <a:pt x="1583066" y="0"/>
                  </a:moveTo>
                  <a:lnTo>
                    <a:pt x="1583066" y="766519"/>
                  </a:lnTo>
                  <a:lnTo>
                    <a:pt x="798083" y="1206854"/>
                  </a:lnTo>
                  <a:lnTo>
                    <a:pt x="13099" y="766519"/>
                  </a:lnTo>
                  <a:lnTo>
                    <a:pt x="13099" y="892"/>
                  </a:lnTo>
                  <a:lnTo>
                    <a:pt x="0" y="8247"/>
                  </a:lnTo>
                  <a:lnTo>
                    <a:pt x="0" y="774200"/>
                  </a:lnTo>
                  <a:lnTo>
                    <a:pt x="794877" y="1220090"/>
                  </a:lnTo>
                  <a:lnTo>
                    <a:pt x="798083" y="1221890"/>
                  </a:lnTo>
                  <a:lnTo>
                    <a:pt x="1596183" y="774200"/>
                  </a:lnTo>
                  <a:lnTo>
                    <a:pt x="1596183" y="7372"/>
                  </a:lnTo>
                  <a:lnTo>
                    <a:pt x="1583066" y="0"/>
                  </a:lnTo>
                  <a:close/>
                </a:path>
              </a:pathLst>
            </a:custGeom>
            <a:solidFill>
              <a:schemeClr val="accent5"/>
            </a:solidFill>
            <a:ln cap="flat" cmpd="sng" w="9525">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93" name="Google Shape;893;p42"/>
            <p:cNvSpPr/>
            <p:nvPr/>
          </p:nvSpPr>
          <p:spPr>
            <a:xfrm>
              <a:off x="5123571" y="2696945"/>
              <a:ext cx="819671" cy="919561"/>
            </a:xfrm>
            <a:custGeom>
              <a:rect b="b" l="l" r="r" t="t"/>
              <a:pathLst>
                <a:path extrusionOk="0" h="1433253" w="1277559">
                  <a:moveTo>
                    <a:pt x="0" y="358314"/>
                  </a:moveTo>
                  <a:lnTo>
                    <a:pt x="0" y="1074940"/>
                  </a:lnTo>
                  <a:lnTo>
                    <a:pt x="638788" y="1433254"/>
                  </a:lnTo>
                  <a:lnTo>
                    <a:pt x="1277560" y="1074940"/>
                  </a:lnTo>
                  <a:lnTo>
                    <a:pt x="1277560" y="358314"/>
                  </a:lnTo>
                  <a:lnTo>
                    <a:pt x="638788" y="0"/>
                  </a:lnTo>
                  <a:lnTo>
                    <a:pt x="0" y="358314"/>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94" name="Google Shape;894;p42"/>
            <p:cNvSpPr/>
            <p:nvPr/>
          </p:nvSpPr>
          <p:spPr>
            <a:xfrm>
              <a:off x="5136581" y="2707177"/>
              <a:ext cx="813255" cy="919561"/>
            </a:xfrm>
            <a:custGeom>
              <a:rect b="b" l="l" r="r" t="t"/>
              <a:pathLst>
                <a:path extrusionOk="0" h="1433253" w="1267564">
                  <a:moveTo>
                    <a:pt x="1267564" y="358296"/>
                  </a:moveTo>
                  <a:lnTo>
                    <a:pt x="1267564" y="1074940"/>
                  </a:lnTo>
                  <a:lnTo>
                    <a:pt x="628467" y="1433254"/>
                  </a:lnTo>
                  <a:lnTo>
                    <a:pt x="0" y="1076260"/>
                  </a:lnTo>
                  <a:lnTo>
                    <a:pt x="0" y="359634"/>
                  </a:lnTo>
                  <a:lnTo>
                    <a:pt x="628467" y="0"/>
                  </a:lnTo>
                  <a:lnTo>
                    <a:pt x="828447" y="112111"/>
                  </a:lnTo>
                  <a:lnTo>
                    <a:pt x="1267564" y="358296"/>
                  </a:lnTo>
                  <a:close/>
                </a:path>
              </a:pathLst>
            </a:custGeom>
            <a:solidFill>
              <a:srgbClr val="F9F9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95" name="Google Shape;895;p42"/>
            <p:cNvSpPr/>
            <p:nvPr/>
          </p:nvSpPr>
          <p:spPr>
            <a:xfrm>
              <a:off x="5648208" y="3582409"/>
              <a:ext cx="819657" cy="919561"/>
            </a:xfrm>
            <a:custGeom>
              <a:rect b="b" l="l" r="r" t="t"/>
              <a:pathLst>
                <a:path extrusionOk="0" h="1433253" w="1277542">
                  <a:moveTo>
                    <a:pt x="0" y="358313"/>
                  </a:moveTo>
                  <a:lnTo>
                    <a:pt x="0" y="1074940"/>
                  </a:lnTo>
                  <a:lnTo>
                    <a:pt x="638771" y="1433253"/>
                  </a:lnTo>
                  <a:lnTo>
                    <a:pt x="1277542" y="1074940"/>
                  </a:lnTo>
                  <a:lnTo>
                    <a:pt x="1277542" y="358313"/>
                  </a:lnTo>
                  <a:lnTo>
                    <a:pt x="638771" y="0"/>
                  </a:lnTo>
                  <a:lnTo>
                    <a:pt x="0" y="35831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96" name="Google Shape;896;p42"/>
            <p:cNvSpPr/>
            <p:nvPr/>
          </p:nvSpPr>
          <p:spPr>
            <a:xfrm>
              <a:off x="5663082" y="3582419"/>
              <a:ext cx="813268" cy="919550"/>
            </a:xfrm>
            <a:custGeom>
              <a:rect b="b" l="l" r="r" t="t"/>
              <a:pathLst>
                <a:path extrusionOk="0" h="1433236" w="1267581">
                  <a:moveTo>
                    <a:pt x="1267581" y="358296"/>
                  </a:moveTo>
                  <a:lnTo>
                    <a:pt x="1267581" y="1074923"/>
                  </a:lnTo>
                  <a:lnTo>
                    <a:pt x="628484" y="1433236"/>
                  </a:lnTo>
                  <a:lnTo>
                    <a:pt x="0" y="1076243"/>
                  </a:lnTo>
                  <a:lnTo>
                    <a:pt x="0" y="359634"/>
                  </a:lnTo>
                  <a:lnTo>
                    <a:pt x="628484" y="0"/>
                  </a:lnTo>
                  <a:lnTo>
                    <a:pt x="828446" y="112094"/>
                  </a:lnTo>
                  <a:lnTo>
                    <a:pt x="1267581" y="358296"/>
                  </a:lnTo>
                  <a:close/>
                </a:path>
              </a:pathLst>
            </a:custGeom>
            <a:solidFill>
              <a:srgbClr val="F9F9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97" name="Google Shape;897;p42"/>
            <p:cNvSpPr/>
            <p:nvPr/>
          </p:nvSpPr>
          <p:spPr>
            <a:xfrm>
              <a:off x="6174034" y="2696945"/>
              <a:ext cx="819657" cy="919561"/>
            </a:xfrm>
            <a:custGeom>
              <a:rect b="b" l="l" r="r" t="t"/>
              <a:pathLst>
                <a:path extrusionOk="0" h="1433253" w="1277542">
                  <a:moveTo>
                    <a:pt x="0" y="358314"/>
                  </a:moveTo>
                  <a:lnTo>
                    <a:pt x="0" y="1074940"/>
                  </a:lnTo>
                  <a:lnTo>
                    <a:pt x="638771" y="1433254"/>
                  </a:lnTo>
                  <a:lnTo>
                    <a:pt x="1277542" y="1074940"/>
                  </a:lnTo>
                  <a:lnTo>
                    <a:pt x="1277542" y="358314"/>
                  </a:lnTo>
                  <a:lnTo>
                    <a:pt x="638771" y="0"/>
                  </a:lnTo>
                  <a:lnTo>
                    <a:pt x="0" y="35831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898" name="Google Shape;898;p42"/>
            <p:cNvSpPr/>
            <p:nvPr/>
          </p:nvSpPr>
          <p:spPr>
            <a:xfrm>
              <a:off x="6159520" y="2706571"/>
              <a:ext cx="813255" cy="919561"/>
            </a:xfrm>
            <a:custGeom>
              <a:rect b="b" l="l" r="r" t="t"/>
              <a:pathLst>
                <a:path extrusionOk="0" h="1433253" w="1267564">
                  <a:moveTo>
                    <a:pt x="1267564" y="358296"/>
                  </a:moveTo>
                  <a:lnTo>
                    <a:pt x="1267564" y="1074940"/>
                  </a:lnTo>
                  <a:lnTo>
                    <a:pt x="628484" y="1433254"/>
                  </a:lnTo>
                  <a:lnTo>
                    <a:pt x="0" y="1076260"/>
                  </a:lnTo>
                  <a:lnTo>
                    <a:pt x="0" y="359634"/>
                  </a:lnTo>
                  <a:lnTo>
                    <a:pt x="628484" y="0"/>
                  </a:lnTo>
                  <a:lnTo>
                    <a:pt x="828446" y="112111"/>
                  </a:lnTo>
                  <a:lnTo>
                    <a:pt x="1267564" y="358296"/>
                  </a:lnTo>
                  <a:close/>
                </a:path>
              </a:pathLst>
            </a:custGeom>
            <a:solidFill>
              <a:srgbClr val="F9F9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nvGrpSpPr>
            <p:cNvPr id="899" name="Google Shape;899;p42"/>
            <p:cNvGrpSpPr/>
            <p:nvPr/>
          </p:nvGrpSpPr>
          <p:grpSpPr>
            <a:xfrm>
              <a:off x="4809275" y="2658533"/>
              <a:ext cx="62451" cy="62451"/>
              <a:chOff x="4145906" y="1776046"/>
              <a:chExt cx="97340" cy="97340"/>
            </a:xfrm>
          </p:grpSpPr>
          <p:sp>
            <p:nvSpPr>
              <p:cNvPr id="900" name="Google Shape;900;p42"/>
              <p:cNvSpPr/>
              <p:nvPr/>
            </p:nvSpPr>
            <p:spPr>
              <a:xfrm>
                <a:off x="4168353" y="1798493"/>
                <a:ext cx="52429" cy="52429"/>
              </a:xfrm>
              <a:custGeom>
                <a:rect b="b" l="l" r="r" t="t"/>
                <a:pathLst>
                  <a:path extrusionOk="0" h="52429" w="52429">
                    <a:moveTo>
                      <a:pt x="52429" y="26215"/>
                    </a:moveTo>
                    <a:cubicBezTo>
                      <a:pt x="52429" y="40693"/>
                      <a:pt x="40693" y="52430"/>
                      <a:pt x="26215" y="52430"/>
                    </a:cubicBezTo>
                    <a:cubicBezTo>
                      <a:pt x="11737" y="52430"/>
                      <a:pt x="0" y="40693"/>
                      <a:pt x="0" y="26215"/>
                    </a:cubicBezTo>
                    <a:cubicBezTo>
                      <a:pt x="0" y="11737"/>
                      <a:pt x="11737" y="0"/>
                      <a:pt x="26215" y="0"/>
                    </a:cubicBezTo>
                    <a:cubicBezTo>
                      <a:pt x="40693" y="0"/>
                      <a:pt x="52429" y="11737"/>
                      <a:pt x="52429" y="26215"/>
                    </a:cubicBezTo>
                    <a:close/>
                  </a:path>
                </a:pathLst>
              </a:custGeom>
              <a:solidFill>
                <a:schemeClr val="accent4"/>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01" name="Google Shape;901;p42"/>
              <p:cNvSpPr/>
              <p:nvPr/>
            </p:nvSpPr>
            <p:spPr>
              <a:xfrm>
                <a:off x="4145906" y="1776046"/>
                <a:ext cx="97340" cy="97340"/>
              </a:xfrm>
              <a:custGeom>
                <a:rect b="b" l="l" r="r" t="t"/>
                <a:pathLst>
                  <a:path extrusionOk="0" h="97340" w="97340">
                    <a:moveTo>
                      <a:pt x="83106" y="83106"/>
                    </a:moveTo>
                    <a:cubicBezTo>
                      <a:pt x="64127" y="102086"/>
                      <a:pt x="33231" y="102086"/>
                      <a:pt x="14235" y="83106"/>
                    </a:cubicBezTo>
                    <a:cubicBezTo>
                      <a:pt x="-4745" y="64127"/>
                      <a:pt x="-4745" y="33231"/>
                      <a:pt x="14235" y="14235"/>
                    </a:cubicBezTo>
                    <a:cubicBezTo>
                      <a:pt x="33214" y="-4745"/>
                      <a:pt x="64109" y="-4745"/>
                      <a:pt x="83106" y="14235"/>
                    </a:cubicBezTo>
                    <a:cubicBezTo>
                      <a:pt x="102086" y="33214"/>
                      <a:pt x="102086" y="64110"/>
                      <a:pt x="83106" y="83106"/>
                    </a:cubicBezTo>
                    <a:close/>
                    <a:moveTo>
                      <a:pt x="20853" y="20853"/>
                    </a:moveTo>
                    <a:cubicBezTo>
                      <a:pt x="5508" y="36197"/>
                      <a:pt x="5508" y="61143"/>
                      <a:pt x="20853" y="76471"/>
                    </a:cubicBezTo>
                    <a:cubicBezTo>
                      <a:pt x="36197" y="91816"/>
                      <a:pt x="61143" y="91816"/>
                      <a:pt x="76471" y="76471"/>
                    </a:cubicBezTo>
                    <a:cubicBezTo>
                      <a:pt x="91816" y="61126"/>
                      <a:pt x="91816" y="36180"/>
                      <a:pt x="76471" y="20853"/>
                    </a:cubicBezTo>
                    <a:cubicBezTo>
                      <a:pt x="61126" y="5508"/>
                      <a:pt x="36180" y="5508"/>
                      <a:pt x="20853" y="20853"/>
                    </a:cubicBezTo>
                    <a:close/>
                  </a:path>
                </a:pathLst>
              </a:custGeom>
              <a:solidFill>
                <a:schemeClr val="accent4"/>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grpSp>
          <p:nvGrpSpPr>
            <p:cNvPr id="902" name="Google Shape;902;p42"/>
            <p:cNvGrpSpPr/>
            <p:nvPr/>
          </p:nvGrpSpPr>
          <p:grpSpPr>
            <a:xfrm>
              <a:off x="7246360" y="2658533"/>
              <a:ext cx="62451" cy="62451"/>
              <a:chOff x="7944415" y="1776046"/>
              <a:chExt cx="97340" cy="97340"/>
            </a:xfrm>
          </p:grpSpPr>
          <p:sp>
            <p:nvSpPr>
              <p:cNvPr id="903" name="Google Shape;903;p42"/>
              <p:cNvSpPr/>
              <p:nvPr/>
            </p:nvSpPr>
            <p:spPr>
              <a:xfrm>
                <a:off x="7966879" y="1798493"/>
                <a:ext cx="52429" cy="52429"/>
              </a:xfrm>
              <a:custGeom>
                <a:rect b="b" l="l" r="r" t="t"/>
                <a:pathLst>
                  <a:path extrusionOk="0" h="52429" w="52429">
                    <a:moveTo>
                      <a:pt x="52429" y="26215"/>
                    </a:moveTo>
                    <a:cubicBezTo>
                      <a:pt x="52429" y="40693"/>
                      <a:pt x="40693" y="52430"/>
                      <a:pt x="26215" y="52430"/>
                    </a:cubicBezTo>
                    <a:cubicBezTo>
                      <a:pt x="11737" y="52430"/>
                      <a:pt x="0" y="40693"/>
                      <a:pt x="0" y="26215"/>
                    </a:cubicBezTo>
                    <a:cubicBezTo>
                      <a:pt x="0" y="11737"/>
                      <a:pt x="11736" y="0"/>
                      <a:pt x="26215" y="0"/>
                    </a:cubicBezTo>
                    <a:cubicBezTo>
                      <a:pt x="40693" y="0"/>
                      <a:pt x="52429" y="11737"/>
                      <a:pt x="52429" y="26215"/>
                    </a:cubicBezTo>
                    <a:close/>
                  </a:path>
                </a:pathLst>
              </a:custGeom>
              <a:solidFill>
                <a:schemeClr val="accent3"/>
              </a:soli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04" name="Google Shape;904;p42"/>
              <p:cNvSpPr/>
              <p:nvPr/>
            </p:nvSpPr>
            <p:spPr>
              <a:xfrm>
                <a:off x="7944415" y="1776046"/>
                <a:ext cx="97340" cy="97340"/>
              </a:xfrm>
              <a:custGeom>
                <a:rect b="b" l="l" r="r" t="t"/>
                <a:pathLst>
                  <a:path extrusionOk="0" h="97340" w="97340">
                    <a:moveTo>
                      <a:pt x="14234" y="83106"/>
                    </a:moveTo>
                    <a:cubicBezTo>
                      <a:pt x="-4745" y="64127"/>
                      <a:pt x="-4745" y="33231"/>
                      <a:pt x="14234" y="14235"/>
                    </a:cubicBezTo>
                    <a:cubicBezTo>
                      <a:pt x="33214" y="-4745"/>
                      <a:pt x="64109" y="-4745"/>
                      <a:pt x="83106" y="14235"/>
                    </a:cubicBezTo>
                    <a:cubicBezTo>
                      <a:pt x="102085" y="33214"/>
                      <a:pt x="102085" y="64110"/>
                      <a:pt x="83106" y="83106"/>
                    </a:cubicBezTo>
                    <a:cubicBezTo>
                      <a:pt x="64127" y="102086"/>
                      <a:pt x="33231" y="102086"/>
                      <a:pt x="14234" y="83106"/>
                    </a:cubicBezTo>
                    <a:close/>
                    <a:moveTo>
                      <a:pt x="76488" y="20853"/>
                    </a:moveTo>
                    <a:cubicBezTo>
                      <a:pt x="61143" y="5508"/>
                      <a:pt x="36197" y="5508"/>
                      <a:pt x="20870" y="20853"/>
                    </a:cubicBezTo>
                    <a:cubicBezTo>
                      <a:pt x="5525" y="36197"/>
                      <a:pt x="5525" y="61143"/>
                      <a:pt x="20870" y="76471"/>
                    </a:cubicBezTo>
                    <a:cubicBezTo>
                      <a:pt x="36214" y="91816"/>
                      <a:pt x="61160" y="91816"/>
                      <a:pt x="76488" y="76471"/>
                    </a:cubicBezTo>
                    <a:cubicBezTo>
                      <a:pt x="91816" y="61126"/>
                      <a:pt x="91833" y="36180"/>
                      <a:pt x="76488" y="20853"/>
                    </a:cubicBezTo>
                    <a:close/>
                  </a:path>
                </a:pathLst>
              </a:custGeom>
              <a:solidFill>
                <a:schemeClr val="accent3"/>
              </a:soli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grpSp>
          <p:nvGrpSpPr>
            <p:cNvPr id="905" name="Google Shape;905;p42"/>
            <p:cNvGrpSpPr/>
            <p:nvPr/>
          </p:nvGrpSpPr>
          <p:grpSpPr>
            <a:xfrm>
              <a:off x="6026597" y="4842048"/>
              <a:ext cx="62479" cy="62479"/>
              <a:chOff x="6043261" y="5179332"/>
              <a:chExt cx="97383" cy="97383"/>
            </a:xfrm>
          </p:grpSpPr>
          <p:sp>
            <p:nvSpPr>
              <p:cNvPr id="906" name="Google Shape;906;p42"/>
              <p:cNvSpPr/>
              <p:nvPr/>
            </p:nvSpPr>
            <p:spPr>
              <a:xfrm rot="-2700000">
                <a:off x="6065739" y="5201814"/>
                <a:ext cx="52429" cy="52429"/>
              </a:xfrm>
              <a:custGeom>
                <a:rect b="b" l="l" r="r" t="t"/>
                <a:pathLst>
                  <a:path extrusionOk="0" h="52429" w="52429">
                    <a:moveTo>
                      <a:pt x="52429" y="26215"/>
                    </a:moveTo>
                    <a:cubicBezTo>
                      <a:pt x="52429" y="40693"/>
                      <a:pt x="40693" y="52430"/>
                      <a:pt x="26215" y="52430"/>
                    </a:cubicBezTo>
                    <a:cubicBezTo>
                      <a:pt x="11737" y="52430"/>
                      <a:pt x="0" y="40693"/>
                      <a:pt x="0" y="26215"/>
                    </a:cubicBezTo>
                    <a:cubicBezTo>
                      <a:pt x="0" y="11737"/>
                      <a:pt x="11736" y="0"/>
                      <a:pt x="26215" y="0"/>
                    </a:cubicBezTo>
                    <a:cubicBezTo>
                      <a:pt x="40692" y="0"/>
                      <a:pt x="52429" y="11737"/>
                      <a:pt x="52429" y="26215"/>
                    </a:cubicBezTo>
                    <a:close/>
                  </a:path>
                </a:pathLst>
              </a:custGeom>
              <a:solidFill>
                <a:schemeClr val="accent5"/>
              </a:solidFill>
              <a:ln cap="flat" cmpd="sng" w="9525">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07" name="Google Shape;907;p42"/>
              <p:cNvSpPr/>
              <p:nvPr/>
            </p:nvSpPr>
            <p:spPr>
              <a:xfrm>
                <a:off x="6043261" y="5179332"/>
                <a:ext cx="97383" cy="97383"/>
              </a:xfrm>
              <a:custGeom>
                <a:rect b="b" l="l" r="r" t="t"/>
                <a:pathLst>
                  <a:path extrusionOk="0" h="97383" w="97383">
                    <a:moveTo>
                      <a:pt x="48692" y="97384"/>
                    </a:moveTo>
                    <a:cubicBezTo>
                      <a:pt x="21843" y="97384"/>
                      <a:pt x="0" y="75541"/>
                      <a:pt x="0" y="48692"/>
                    </a:cubicBezTo>
                    <a:cubicBezTo>
                      <a:pt x="0" y="21843"/>
                      <a:pt x="21843" y="0"/>
                      <a:pt x="48692" y="0"/>
                    </a:cubicBezTo>
                    <a:cubicBezTo>
                      <a:pt x="75541" y="0"/>
                      <a:pt x="97384" y="21843"/>
                      <a:pt x="97384" y="48692"/>
                    </a:cubicBezTo>
                    <a:cubicBezTo>
                      <a:pt x="97384" y="75541"/>
                      <a:pt x="75541" y="97384"/>
                      <a:pt x="48692" y="97384"/>
                    </a:cubicBezTo>
                    <a:close/>
                    <a:moveTo>
                      <a:pt x="48692" y="9344"/>
                    </a:moveTo>
                    <a:cubicBezTo>
                      <a:pt x="27003" y="9344"/>
                      <a:pt x="9361" y="26986"/>
                      <a:pt x="9361" y="48675"/>
                    </a:cubicBezTo>
                    <a:cubicBezTo>
                      <a:pt x="9361" y="70363"/>
                      <a:pt x="27003" y="88005"/>
                      <a:pt x="48692" y="88005"/>
                    </a:cubicBezTo>
                    <a:cubicBezTo>
                      <a:pt x="70380" y="88005"/>
                      <a:pt x="88023" y="70363"/>
                      <a:pt x="88023" y="48675"/>
                    </a:cubicBezTo>
                    <a:cubicBezTo>
                      <a:pt x="88023" y="26986"/>
                      <a:pt x="70380" y="9344"/>
                      <a:pt x="48692" y="9344"/>
                    </a:cubicBezTo>
                    <a:close/>
                  </a:path>
                </a:pathLst>
              </a:custGeom>
              <a:solidFill>
                <a:schemeClr val="accent5"/>
              </a:solidFill>
              <a:ln cap="flat" cmpd="sng" w="9525">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sp>
          <p:nvSpPr>
            <p:cNvPr id="908" name="Google Shape;908;p42"/>
            <p:cNvSpPr/>
            <p:nvPr/>
          </p:nvSpPr>
          <p:spPr>
            <a:xfrm>
              <a:off x="5628738" y="3041775"/>
              <a:ext cx="854594" cy="854594"/>
            </a:xfrm>
            <a:custGeom>
              <a:rect b="b" l="l" r="r" t="t"/>
              <a:pathLst>
                <a:path extrusionOk="0" h="1331995" w="1331995">
                  <a:moveTo>
                    <a:pt x="1331995" y="665998"/>
                  </a:moveTo>
                  <a:cubicBezTo>
                    <a:pt x="1331995" y="1033818"/>
                    <a:pt x="1033818" y="1331995"/>
                    <a:pt x="665998" y="1331995"/>
                  </a:cubicBezTo>
                  <a:cubicBezTo>
                    <a:pt x="298177" y="1331995"/>
                    <a:pt x="0" y="1033818"/>
                    <a:pt x="0" y="665998"/>
                  </a:cubicBezTo>
                  <a:cubicBezTo>
                    <a:pt x="0" y="298177"/>
                    <a:pt x="298177" y="0"/>
                    <a:pt x="665998" y="0"/>
                  </a:cubicBezTo>
                  <a:cubicBezTo>
                    <a:pt x="1033818" y="0"/>
                    <a:pt x="1331995" y="298177"/>
                    <a:pt x="1331995" y="66599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nvGrpSpPr>
            <p:cNvPr id="909" name="Google Shape;909;p42"/>
            <p:cNvGrpSpPr/>
            <p:nvPr/>
          </p:nvGrpSpPr>
          <p:grpSpPr>
            <a:xfrm>
              <a:off x="5686412" y="3087405"/>
              <a:ext cx="770026" cy="770038"/>
              <a:chOff x="5513035" y="2444499"/>
              <a:chExt cx="1200184" cy="1200202"/>
            </a:xfrm>
          </p:grpSpPr>
          <p:sp>
            <p:nvSpPr>
              <p:cNvPr id="910" name="Google Shape;910;p42"/>
              <p:cNvSpPr/>
              <p:nvPr/>
            </p:nvSpPr>
            <p:spPr>
              <a:xfrm>
                <a:off x="5513035" y="2444499"/>
                <a:ext cx="600092" cy="840619"/>
              </a:xfrm>
              <a:custGeom>
                <a:rect b="b" l="l" r="r" t="t"/>
                <a:pathLst>
                  <a:path extrusionOk="0" h="840619" w="600092">
                    <a:moveTo>
                      <a:pt x="50149" y="840619"/>
                    </a:moveTo>
                    <a:cubicBezTo>
                      <a:pt x="16871" y="764633"/>
                      <a:pt x="0" y="683708"/>
                      <a:pt x="0" y="600092"/>
                    </a:cubicBezTo>
                    <a:cubicBezTo>
                      <a:pt x="0" y="516476"/>
                      <a:pt x="15859" y="440489"/>
                      <a:pt x="47166" y="366509"/>
                    </a:cubicBezTo>
                    <a:cubicBezTo>
                      <a:pt x="77393" y="295048"/>
                      <a:pt x="120667" y="230874"/>
                      <a:pt x="175771" y="175771"/>
                    </a:cubicBezTo>
                    <a:cubicBezTo>
                      <a:pt x="230874" y="120667"/>
                      <a:pt x="295048" y="77393"/>
                      <a:pt x="366509" y="47166"/>
                    </a:cubicBezTo>
                    <a:cubicBezTo>
                      <a:pt x="440489" y="15876"/>
                      <a:pt x="519082" y="0"/>
                      <a:pt x="600092" y="0"/>
                    </a:cubicBezTo>
                    <a:lnTo>
                      <a:pt x="600092" y="17145"/>
                    </a:lnTo>
                    <a:cubicBezTo>
                      <a:pt x="278658" y="17145"/>
                      <a:pt x="17145" y="278658"/>
                      <a:pt x="17145" y="600092"/>
                    </a:cubicBezTo>
                    <a:cubicBezTo>
                      <a:pt x="17145" y="681325"/>
                      <a:pt x="33536" y="759935"/>
                      <a:pt x="65854" y="833744"/>
                    </a:cubicBezTo>
                    <a:lnTo>
                      <a:pt x="50149" y="840619"/>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11" name="Google Shape;911;p42"/>
              <p:cNvSpPr/>
              <p:nvPr/>
            </p:nvSpPr>
            <p:spPr>
              <a:xfrm>
                <a:off x="5563184" y="3278261"/>
                <a:ext cx="1084215" cy="366440"/>
              </a:xfrm>
              <a:custGeom>
                <a:rect b="b" l="l" r="r" t="t"/>
                <a:pathLst>
                  <a:path extrusionOk="0" h="366440" w="1084215">
                    <a:moveTo>
                      <a:pt x="549943" y="366440"/>
                    </a:moveTo>
                    <a:cubicBezTo>
                      <a:pt x="311525" y="366440"/>
                      <a:pt x="95669" y="225303"/>
                      <a:pt x="0" y="6875"/>
                    </a:cubicBezTo>
                    <a:lnTo>
                      <a:pt x="15705" y="0"/>
                    </a:lnTo>
                    <a:cubicBezTo>
                      <a:pt x="108648" y="212187"/>
                      <a:pt x="318348" y="349295"/>
                      <a:pt x="549943" y="349295"/>
                    </a:cubicBezTo>
                    <a:cubicBezTo>
                      <a:pt x="781538" y="349295"/>
                      <a:pt x="968590" y="227737"/>
                      <a:pt x="1068956" y="32044"/>
                    </a:cubicBezTo>
                    <a:lnTo>
                      <a:pt x="1084216" y="39862"/>
                    </a:lnTo>
                    <a:cubicBezTo>
                      <a:pt x="1034581" y="136611"/>
                      <a:pt x="959520" y="218222"/>
                      <a:pt x="867126" y="275863"/>
                    </a:cubicBezTo>
                    <a:cubicBezTo>
                      <a:pt x="772125" y="335116"/>
                      <a:pt x="662449" y="366440"/>
                      <a:pt x="549943" y="366440"/>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12" name="Google Shape;912;p42"/>
              <p:cNvSpPr/>
              <p:nvPr/>
            </p:nvSpPr>
            <p:spPr>
              <a:xfrm>
                <a:off x="6113127" y="2444517"/>
                <a:ext cx="600092" cy="873606"/>
              </a:xfrm>
              <a:custGeom>
                <a:rect b="b" l="l" r="r" t="t"/>
                <a:pathLst>
                  <a:path extrusionOk="0" h="873606" w="600092">
                    <a:moveTo>
                      <a:pt x="534273" y="873606"/>
                    </a:moveTo>
                    <a:lnTo>
                      <a:pt x="519013" y="865788"/>
                    </a:lnTo>
                    <a:cubicBezTo>
                      <a:pt x="561430" y="783098"/>
                      <a:pt x="582947" y="693704"/>
                      <a:pt x="582947" y="600092"/>
                    </a:cubicBezTo>
                    <a:cubicBezTo>
                      <a:pt x="582947" y="278658"/>
                      <a:pt x="321434" y="17145"/>
                      <a:pt x="0" y="17145"/>
                    </a:cubicBezTo>
                    <a:lnTo>
                      <a:pt x="0" y="0"/>
                    </a:lnTo>
                    <a:cubicBezTo>
                      <a:pt x="81010" y="0"/>
                      <a:pt x="159603" y="15859"/>
                      <a:pt x="233583" y="47166"/>
                    </a:cubicBezTo>
                    <a:cubicBezTo>
                      <a:pt x="305044" y="77393"/>
                      <a:pt x="369218" y="120667"/>
                      <a:pt x="424322" y="175771"/>
                    </a:cubicBezTo>
                    <a:cubicBezTo>
                      <a:pt x="479426" y="230874"/>
                      <a:pt x="522700" y="295048"/>
                      <a:pt x="552926" y="366509"/>
                    </a:cubicBezTo>
                    <a:cubicBezTo>
                      <a:pt x="584216" y="440489"/>
                      <a:pt x="600092" y="519082"/>
                      <a:pt x="600092" y="600092"/>
                    </a:cubicBezTo>
                    <a:cubicBezTo>
                      <a:pt x="600092" y="696447"/>
                      <a:pt x="577941" y="788464"/>
                      <a:pt x="534273" y="873606"/>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sp>
          <p:nvSpPr>
            <p:cNvPr id="913" name="Google Shape;913;p42"/>
            <p:cNvSpPr/>
            <p:nvPr/>
          </p:nvSpPr>
          <p:spPr>
            <a:xfrm>
              <a:off x="5225576" y="2832220"/>
              <a:ext cx="637725" cy="637725"/>
            </a:xfrm>
            <a:prstGeom prst="ellipse">
              <a:avLst/>
            </a:prstGeom>
            <a:solidFill>
              <a:srgbClr val="FFFFFF"/>
            </a:solidFill>
            <a:ln cap="flat" cmpd="sng" w="9525">
              <a:solidFill>
                <a:srgbClr val="D0CECE"/>
              </a:solidFill>
              <a:prstDash val="solid"/>
              <a:miter lim="800000"/>
              <a:headEnd len="sm" w="sm" type="none"/>
              <a:tailEnd len="sm" w="sm" type="none"/>
            </a:ln>
            <a:effectLst>
              <a:outerShdw blurRad="50800" rotWithShape="0" algn="tr" dir="8100000" dist="38100">
                <a:srgbClr val="000000">
                  <a:alpha val="1529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
          <p:nvSpPr>
            <p:cNvPr id="914" name="Google Shape;914;p42"/>
            <p:cNvSpPr/>
            <p:nvPr/>
          </p:nvSpPr>
          <p:spPr>
            <a:xfrm>
              <a:off x="6258983" y="2862741"/>
              <a:ext cx="637725" cy="637725"/>
            </a:xfrm>
            <a:prstGeom prst="ellipse">
              <a:avLst/>
            </a:prstGeom>
            <a:solidFill>
              <a:srgbClr val="FFFFFF"/>
            </a:solidFill>
            <a:ln cap="flat" cmpd="sng" w="9525">
              <a:solidFill>
                <a:srgbClr val="D0CECE"/>
              </a:solidFill>
              <a:prstDash val="solid"/>
              <a:miter lim="800000"/>
              <a:headEnd len="sm" w="sm" type="none"/>
              <a:tailEnd len="sm" w="sm" type="none"/>
            </a:ln>
            <a:effectLst>
              <a:outerShdw blurRad="50800" rotWithShape="0" algn="tr" dir="8100000" dist="38100">
                <a:srgbClr val="000000">
                  <a:alpha val="1529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05</a:t>
              </a:r>
              <a:endParaRPr b="0" i="0" sz="1400" u="none" cap="none" strike="noStrike">
                <a:solidFill>
                  <a:srgbClr val="000000"/>
                </a:solidFill>
                <a:latin typeface="Arial"/>
                <a:ea typeface="Arial"/>
                <a:cs typeface="Arial"/>
                <a:sym typeface="Arial"/>
              </a:endParaRPr>
            </a:p>
          </p:txBody>
        </p:sp>
        <p:sp>
          <p:nvSpPr>
            <p:cNvPr id="915" name="Google Shape;915;p42"/>
            <p:cNvSpPr/>
            <p:nvPr/>
          </p:nvSpPr>
          <p:spPr>
            <a:xfrm>
              <a:off x="5737745" y="3774589"/>
              <a:ext cx="637725" cy="637725"/>
            </a:xfrm>
            <a:prstGeom prst="ellipse">
              <a:avLst/>
            </a:prstGeom>
            <a:solidFill>
              <a:srgbClr val="FFFFFF"/>
            </a:solidFill>
            <a:ln cap="flat" cmpd="sng" w="9525">
              <a:solidFill>
                <a:srgbClr val="D0CECE"/>
              </a:solidFill>
              <a:prstDash val="solid"/>
              <a:miter lim="800000"/>
              <a:headEnd len="sm" w="sm" type="none"/>
              <a:tailEnd len="sm" w="sm" type="none"/>
            </a:ln>
            <a:effectLst>
              <a:outerShdw blurRad="50800" rotWithShape="0" algn="tr" dir="8100000" dist="38100">
                <a:srgbClr val="000000">
                  <a:alpha val="1529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06</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43"/>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CREDIT DEFAULT SWAPS</a:t>
            </a:r>
            <a:endParaRPr/>
          </a:p>
        </p:txBody>
      </p:sp>
      <p:sp>
        <p:nvSpPr>
          <p:cNvPr id="921" name="Google Shape;921;p43"/>
          <p:cNvSpPr/>
          <p:nvPr/>
        </p:nvSpPr>
        <p:spPr>
          <a:xfrm>
            <a:off x="1050462" y="1509050"/>
            <a:ext cx="2880000" cy="333783"/>
          </a:xfrm>
          <a:prstGeom prst="roundRect">
            <a:avLst>
              <a:gd fmla="val 50000"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Arial"/>
                <a:ea typeface="Arial"/>
                <a:cs typeface="Arial"/>
                <a:sym typeface="Arial"/>
              </a:rPr>
              <a:t>Maturity Date </a:t>
            </a:r>
            <a:endParaRPr b="1" i="0" sz="1600" u="none" cap="none" strike="noStrike">
              <a:solidFill>
                <a:srgbClr val="FFFFFF"/>
              </a:solidFill>
              <a:latin typeface="Arial"/>
              <a:ea typeface="Arial"/>
              <a:cs typeface="Arial"/>
              <a:sym typeface="Arial"/>
            </a:endParaRPr>
          </a:p>
        </p:txBody>
      </p:sp>
      <p:sp>
        <p:nvSpPr>
          <p:cNvPr id="922" name="Google Shape;922;p43"/>
          <p:cNvSpPr txBox="1"/>
          <p:nvPr/>
        </p:nvSpPr>
        <p:spPr>
          <a:xfrm>
            <a:off x="700088" y="1913469"/>
            <a:ext cx="3594120" cy="1093056"/>
          </a:xfrm>
          <a:prstGeom prst="rect">
            <a:avLst/>
          </a:prstGeom>
          <a:noFill/>
          <a:ln>
            <a:noFill/>
          </a:ln>
        </p:spPr>
        <p:txBody>
          <a:bodyPr anchorCtr="0" anchor="t" bIns="54000" lIns="54000" spcFirstLastPara="1" rIns="52275" wrap="square" tIns="53125">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CDS contracts have a defined maturity date, which is when the contract expires. The buyer's credit risk protection ends on the maturity date.</a:t>
            </a:r>
            <a:endParaRPr b="0" i="0" sz="1600" u="none" cap="none" strike="noStrike">
              <a:solidFill>
                <a:schemeClr val="dk1"/>
              </a:solidFill>
              <a:latin typeface="Arial"/>
              <a:ea typeface="Arial"/>
              <a:cs typeface="Arial"/>
              <a:sym typeface="Arial"/>
            </a:endParaRPr>
          </a:p>
        </p:txBody>
      </p:sp>
      <p:sp>
        <p:nvSpPr>
          <p:cNvPr id="923" name="Google Shape;923;p43"/>
          <p:cNvSpPr/>
          <p:nvPr/>
        </p:nvSpPr>
        <p:spPr>
          <a:xfrm>
            <a:off x="8113968" y="1509050"/>
            <a:ext cx="2880000" cy="333783"/>
          </a:xfrm>
          <a:prstGeom prst="roundRect">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Arial"/>
                <a:ea typeface="Arial"/>
                <a:cs typeface="Arial"/>
                <a:sym typeface="Arial"/>
              </a:rPr>
              <a:t>Settlement Terms </a:t>
            </a:r>
            <a:endParaRPr b="1" i="0" sz="1600" u="none" cap="none" strike="noStrike">
              <a:solidFill>
                <a:srgbClr val="FFFFFF"/>
              </a:solidFill>
              <a:latin typeface="Arial"/>
              <a:ea typeface="Arial"/>
              <a:cs typeface="Arial"/>
              <a:sym typeface="Arial"/>
            </a:endParaRPr>
          </a:p>
        </p:txBody>
      </p:sp>
      <p:sp>
        <p:nvSpPr>
          <p:cNvPr id="924" name="Google Shape;924;p43"/>
          <p:cNvSpPr txBox="1"/>
          <p:nvPr/>
        </p:nvSpPr>
        <p:spPr>
          <a:xfrm>
            <a:off x="7680175" y="1913469"/>
            <a:ext cx="3973663" cy="2816605"/>
          </a:xfrm>
          <a:prstGeom prst="rect">
            <a:avLst/>
          </a:prstGeom>
          <a:noFill/>
          <a:ln>
            <a:noFill/>
          </a:ln>
        </p:spPr>
        <p:txBody>
          <a:bodyPr anchorCtr="0" anchor="t" bIns="54000" lIns="54000" spcFirstLastPara="1" rIns="52275" wrap="square" tIns="53125">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CDS contracts can be physically settled or cash settled, depending on the terms of the contract. In physical settlement is when the protection seller pays the buyer the par value of the debt obligation, and the buyer gives the seller the debt obligation in return.In a cash settlement, the protection seller pays the protection buyer the difference between the notional amount and the recovery value of the reference obligation.</a:t>
            </a:r>
            <a:endParaRPr b="0" i="0" sz="1600" u="none" cap="none" strike="noStrike">
              <a:solidFill>
                <a:schemeClr val="dk1"/>
              </a:solidFill>
              <a:latin typeface="Arial"/>
              <a:ea typeface="Arial"/>
              <a:cs typeface="Arial"/>
              <a:sym typeface="Arial"/>
            </a:endParaRPr>
          </a:p>
        </p:txBody>
      </p:sp>
      <p:sp>
        <p:nvSpPr>
          <p:cNvPr id="925" name="Google Shape;925;p43"/>
          <p:cNvSpPr/>
          <p:nvPr/>
        </p:nvSpPr>
        <p:spPr>
          <a:xfrm>
            <a:off x="4736963" y="4476866"/>
            <a:ext cx="2880000" cy="333783"/>
          </a:xfrm>
          <a:prstGeom prst="roundRect">
            <a:avLst>
              <a:gd fmla="val 50000" name="adj"/>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Arial"/>
                <a:ea typeface="Arial"/>
                <a:cs typeface="Arial"/>
                <a:sym typeface="Arial"/>
              </a:rPr>
              <a:t>Counterparty Risk </a:t>
            </a:r>
            <a:endParaRPr b="1" i="0" sz="1600" u="none" cap="none" strike="noStrike">
              <a:solidFill>
                <a:srgbClr val="FFFFFF"/>
              </a:solidFill>
              <a:latin typeface="Arial"/>
              <a:ea typeface="Arial"/>
              <a:cs typeface="Arial"/>
              <a:sym typeface="Arial"/>
            </a:endParaRPr>
          </a:p>
        </p:txBody>
      </p:sp>
      <p:sp>
        <p:nvSpPr>
          <p:cNvPr id="926" name="Google Shape;926;p43"/>
          <p:cNvSpPr txBox="1"/>
          <p:nvPr/>
        </p:nvSpPr>
        <p:spPr>
          <a:xfrm>
            <a:off x="3449614" y="4856736"/>
            <a:ext cx="5454698" cy="1339277"/>
          </a:xfrm>
          <a:prstGeom prst="rect">
            <a:avLst/>
          </a:prstGeom>
          <a:noFill/>
          <a:ln>
            <a:noFill/>
          </a:ln>
        </p:spPr>
        <p:txBody>
          <a:bodyPr anchorCtr="0" anchor="t" bIns="54000" lIns="54000" spcFirstLastPara="1" rIns="52275" wrap="square" tIns="53125">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CDS contracts involve counterparty risk, as the protection buyer relies on the protection seller to fulfill their payment obligations in the event of a credit event. Parties may require collateral or use credit support annexes (CSAs) to mitigate this risk.</a:t>
            </a:r>
            <a:endParaRPr b="0" i="0" sz="1600" u="none" cap="none" strike="noStrike">
              <a:solidFill>
                <a:schemeClr val="dk1"/>
              </a:solidFill>
              <a:latin typeface="Arial"/>
              <a:ea typeface="Arial"/>
              <a:cs typeface="Arial"/>
              <a:sym typeface="Arial"/>
            </a:endParaRPr>
          </a:p>
        </p:txBody>
      </p:sp>
      <p:grpSp>
        <p:nvGrpSpPr>
          <p:cNvPr id="927" name="Google Shape;927;p43"/>
          <p:cNvGrpSpPr/>
          <p:nvPr/>
        </p:nvGrpSpPr>
        <p:grpSpPr>
          <a:xfrm>
            <a:off x="4927195" y="1485900"/>
            <a:ext cx="2499536" cy="2677439"/>
            <a:chOff x="4809275" y="2227088"/>
            <a:chExt cx="2499536" cy="2677439"/>
          </a:xfrm>
        </p:grpSpPr>
        <p:grpSp>
          <p:nvGrpSpPr>
            <p:cNvPr id="928" name="Google Shape;928;p43"/>
            <p:cNvGrpSpPr/>
            <p:nvPr/>
          </p:nvGrpSpPr>
          <p:grpSpPr>
            <a:xfrm>
              <a:off x="4852510" y="2227088"/>
              <a:ext cx="2412064" cy="2071704"/>
              <a:chOff x="4213294" y="1103586"/>
              <a:chExt cx="3759512" cy="3229015"/>
            </a:xfrm>
          </p:grpSpPr>
          <p:sp>
            <p:nvSpPr>
              <p:cNvPr id="929" name="Google Shape;929;p43"/>
              <p:cNvSpPr/>
              <p:nvPr/>
            </p:nvSpPr>
            <p:spPr>
              <a:xfrm>
                <a:off x="5752019" y="1749561"/>
                <a:ext cx="232451" cy="892671"/>
              </a:xfrm>
              <a:custGeom>
                <a:rect b="b" l="l" r="r" t="t"/>
                <a:pathLst>
                  <a:path extrusionOk="0" h="892671" w="232451">
                    <a:moveTo>
                      <a:pt x="232452" y="892672"/>
                    </a:moveTo>
                    <a:lnTo>
                      <a:pt x="223074" y="892672"/>
                    </a:lnTo>
                    <a:lnTo>
                      <a:pt x="222388" y="315074"/>
                    </a:lnTo>
                    <a:lnTo>
                      <a:pt x="222354" y="300020"/>
                    </a:lnTo>
                    <a:lnTo>
                      <a:pt x="222182" y="150413"/>
                    </a:lnTo>
                    <a:lnTo>
                      <a:pt x="67209" y="60196"/>
                    </a:lnTo>
                    <a:cubicBezTo>
                      <a:pt x="55910" y="75009"/>
                      <a:pt x="35130" y="79450"/>
                      <a:pt x="18619" y="69849"/>
                    </a:cubicBezTo>
                    <a:cubicBezTo>
                      <a:pt x="737" y="59442"/>
                      <a:pt x="-5315" y="36502"/>
                      <a:pt x="5092" y="18620"/>
                    </a:cubicBezTo>
                    <a:cubicBezTo>
                      <a:pt x="15499" y="737"/>
                      <a:pt x="38439" y="-5315"/>
                      <a:pt x="56304" y="5092"/>
                    </a:cubicBezTo>
                    <a:cubicBezTo>
                      <a:pt x="72815" y="14693"/>
                      <a:pt x="79210" y="34976"/>
                      <a:pt x="71923" y="52104"/>
                    </a:cubicBezTo>
                    <a:lnTo>
                      <a:pt x="231543" y="145013"/>
                    </a:lnTo>
                    <a:lnTo>
                      <a:pt x="231543" y="147704"/>
                    </a:lnTo>
                    <a:lnTo>
                      <a:pt x="231732" y="305284"/>
                    </a:lnTo>
                    <a:lnTo>
                      <a:pt x="231732" y="320320"/>
                    </a:lnTo>
                    <a:lnTo>
                      <a:pt x="232452" y="892672"/>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30" name="Google Shape;930;p43"/>
              <p:cNvSpPr/>
              <p:nvPr/>
            </p:nvSpPr>
            <p:spPr>
              <a:xfrm>
                <a:off x="6225084" y="1324022"/>
                <a:ext cx="169358" cy="1336332"/>
              </a:xfrm>
              <a:custGeom>
                <a:rect b="b" l="l" r="r" t="t"/>
                <a:pathLst>
                  <a:path extrusionOk="0" h="1336332" w="169358">
                    <a:moveTo>
                      <a:pt x="164266" y="56304"/>
                    </a:moveTo>
                    <a:cubicBezTo>
                      <a:pt x="154648" y="72815"/>
                      <a:pt x="134382" y="79210"/>
                      <a:pt x="117254" y="71906"/>
                    </a:cubicBezTo>
                    <a:lnTo>
                      <a:pt x="9361" y="257261"/>
                    </a:lnTo>
                    <a:lnTo>
                      <a:pt x="10133" y="712529"/>
                    </a:lnTo>
                    <a:lnTo>
                      <a:pt x="10167" y="727548"/>
                    </a:lnTo>
                    <a:lnTo>
                      <a:pt x="11196" y="1336333"/>
                    </a:lnTo>
                    <a:lnTo>
                      <a:pt x="1817" y="1336333"/>
                    </a:lnTo>
                    <a:lnTo>
                      <a:pt x="806" y="732795"/>
                    </a:lnTo>
                    <a:lnTo>
                      <a:pt x="771" y="717776"/>
                    </a:lnTo>
                    <a:lnTo>
                      <a:pt x="0" y="254741"/>
                    </a:lnTo>
                    <a:lnTo>
                      <a:pt x="109162" y="67209"/>
                    </a:lnTo>
                    <a:cubicBezTo>
                      <a:pt x="94349" y="55910"/>
                      <a:pt x="89908" y="35130"/>
                      <a:pt x="99510" y="18620"/>
                    </a:cubicBezTo>
                    <a:cubicBezTo>
                      <a:pt x="109916" y="737"/>
                      <a:pt x="132857" y="-5315"/>
                      <a:pt x="150739" y="5092"/>
                    </a:cubicBezTo>
                    <a:cubicBezTo>
                      <a:pt x="168621" y="15499"/>
                      <a:pt x="174673" y="38422"/>
                      <a:pt x="164266" y="56304"/>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31" name="Google Shape;931;p43"/>
              <p:cNvSpPr/>
              <p:nvPr/>
            </p:nvSpPr>
            <p:spPr>
              <a:xfrm>
                <a:off x="6469023" y="3090540"/>
                <a:ext cx="878072" cy="374875"/>
              </a:xfrm>
              <a:custGeom>
                <a:rect b="b" l="l" r="r" t="t"/>
                <a:pathLst>
                  <a:path extrusionOk="0" h="374875" w="878072">
                    <a:moveTo>
                      <a:pt x="859530" y="291054"/>
                    </a:moveTo>
                    <a:cubicBezTo>
                      <a:pt x="843054" y="300706"/>
                      <a:pt x="822257" y="296300"/>
                      <a:pt x="810924" y="281538"/>
                    </a:cubicBezTo>
                    <a:lnTo>
                      <a:pt x="651544" y="374875"/>
                    </a:lnTo>
                    <a:lnTo>
                      <a:pt x="649212" y="373555"/>
                    </a:lnTo>
                    <a:lnTo>
                      <a:pt x="531924" y="307530"/>
                    </a:lnTo>
                    <a:lnTo>
                      <a:pt x="531906" y="307530"/>
                    </a:lnTo>
                    <a:lnTo>
                      <a:pt x="518533" y="300003"/>
                    </a:lnTo>
                    <a:lnTo>
                      <a:pt x="0" y="8161"/>
                    </a:lnTo>
                    <a:lnTo>
                      <a:pt x="4595" y="0"/>
                    </a:lnTo>
                    <a:lnTo>
                      <a:pt x="528100" y="294637"/>
                    </a:lnTo>
                    <a:lnTo>
                      <a:pt x="541473" y="302181"/>
                    </a:lnTo>
                    <a:lnTo>
                      <a:pt x="651459" y="364074"/>
                    </a:lnTo>
                    <a:lnTo>
                      <a:pt x="806192" y="273446"/>
                    </a:lnTo>
                    <a:cubicBezTo>
                      <a:pt x="798854" y="256335"/>
                      <a:pt x="805198" y="236052"/>
                      <a:pt x="821674" y="226400"/>
                    </a:cubicBezTo>
                    <a:cubicBezTo>
                      <a:pt x="839522" y="215941"/>
                      <a:pt x="862479" y="221942"/>
                      <a:pt x="872938" y="239790"/>
                    </a:cubicBezTo>
                    <a:cubicBezTo>
                      <a:pt x="883379" y="257638"/>
                      <a:pt x="877395" y="280595"/>
                      <a:pt x="859530" y="291054"/>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32" name="Google Shape;932;p43"/>
              <p:cNvSpPr/>
              <p:nvPr/>
            </p:nvSpPr>
            <p:spPr>
              <a:xfrm>
                <a:off x="6329480" y="3300909"/>
                <a:ext cx="1109263" cy="789192"/>
              </a:xfrm>
              <a:custGeom>
                <a:rect b="b" l="l" r="r" t="t"/>
                <a:pathLst>
                  <a:path extrusionOk="0" h="789192" w="1109263">
                    <a:moveTo>
                      <a:pt x="1090731" y="784058"/>
                    </a:moveTo>
                    <a:cubicBezTo>
                      <a:pt x="1072866" y="794499"/>
                      <a:pt x="1049926" y="788516"/>
                      <a:pt x="1039467" y="770651"/>
                    </a:cubicBezTo>
                    <a:cubicBezTo>
                      <a:pt x="1029815" y="754174"/>
                      <a:pt x="1034221" y="733377"/>
                      <a:pt x="1048983" y="722044"/>
                    </a:cubicBezTo>
                    <a:lnTo>
                      <a:pt x="940609" y="536999"/>
                    </a:lnTo>
                    <a:lnTo>
                      <a:pt x="560882" y="323509"/>
                    </a:lnTo>
                    <a:lnTo>
                      <a:pt x="547766" y="316136"/>
                    </a:lnTo>
                    <a:lnTo>
                      <a:pt x="0" y="8161"/>
                    </a:lnTo>
                    <a:lnTo>
                      <a:pt x="4578" y="0"/>
                    </a:lnTo>
                    <a:lnTo>
                      <a:pt x="547766" y="305387"/>
                    </a:lnTo>
                    <a:lnTo>
                      <a:pt x="560882" y="312759"/>
                    </a:lnTo>
                    <a:lnTo>
                      <a:pt x="947416" y="530072"/>
                    </a:lnTo>
                    <a:lnTo>
                      <a:pt x="1057075" y="717312"/>
                    </a:lnTo>
                    <a:cubicBezTo>
                      <a:pt x="1074169" y="709974"/>
                      <a:pt x="1094468" y="716318"/>
                      <a:pt x="1104121" y="732794"/>
                    </a:cubicBezTo>
                    <a:cubicBezTo>
                      <a:pt x="1114580" y="750643"/>
                      <a:pt x="1108579" y="773600"/>
                      <a:pt x="1090731" y="784058"/>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33" name="Google Shape;933;p43"/>
              <p:cNvSpPr/>
              <p:nvPr/>
            </p:nvSpPr>
            <p:spPr>
              <a:xfrm>
                <a:off x="4213294" y="1103586"/>
                <a:ext cx="3759512" cy="3229015"/>
              </a:xfrm>
              <a:custGeom>
                <a:rect b="b" l="l" r="r" t="t"/>
                <a:pathLst>
                  <a:path extrusionOk="0" h="3229016" w="3759512">
                    <a:moveTo>
                      <a:pt x="3739509" y="3155418"/>
                    </a:moveTo>
                    <a:cubicBezTo>
                      <a:pt x="3721969" y="3145525"/>
                      <a:pt x="3700092" y="3150565"/>
                      <a:pt x="3688485" y="3166407"/>
                    </a:cubicBezTo>
                    <a:lnTo>
                      <a:pt x="1884282" y="2148063"/>
                    </a:lnTo>
                    <a:lnTo>
                      <a:pt x="1884282" y="78353"/>
                    </a:lnTo>
                    <a:cubicBezTo>
                      <a:pt x="1903794" y="76038"/>
                      <a:pt x="1918932" y="59459"/>
                      <a:pt x="1918932" y="39331"/>
                    </a:cubicBezTo>
                    <a:cubicBezTo>
                      <a:pt x="1918932" y="17608"/>
                      <a:pt x="1901325" y="0"/>
                      <a:pt x="1879602" y="0"/>
                    </a:cubicBezTo>
                    <a:cubicBezTo>
                      <a:pt x="1857879" y="0"/>
                      <a:pt x="1840271" y="17608"/>
                      <a:pt x="1840271" y="39331"/>
                    </a:cubicBezTo>
                    <a:cubicBezTo>
                      <a:pt x="1840271" y="59459"/>
                      <a:pt x="1855410" y="76038"/>
                      <a:pt x="1874921" y="78353"/>
                    </a:cubicBezTo>
                    <a:lnTo>
                      <a:pt x="1874921" y="2148234"/>
                    </a:lnTo>
                    <a:lnTo>
                      <a:pt x="71027" y="3166407"/>
                    </a:lnTo>
                    <a:cubicBezTo>
                      <a:pt x="59420" y="3150548"/>
                      <a:pt x="37543" y="3145525"/>
                      <a:pt x="20004" y="3155418"/>
                    </a:cubicBezTo>
                    <a:cubicBezTo>
                      <a:pt x="1093" y="3166099"/>
                      <a:pt x="-5594" y="3190085"/>
                      <a:pt x="5088" y="3209013"/>
                    </a:cubicBezTo>
                    <a:cubicBezTo>
                      <a:pt x="15769" y="3227923"/>
                      <a:pt x="39755" y="3234610"/>
                      <a:pt x="58683" y="3223929"/>
                    </a:cubicBezTo>
                    <a:cubicBezTo>
                      <a:pt x="76222" y="3214036"/>
                      <a:pt x="83217" y="3192708"/>
                      <a:pt x="75639" y="3174568"/>
                    </a:cubicBezTo>
                    <a:lnTo>
                      <a:pt x="1877167" y="2157733"/>
                    </a:lnTo>
                    <a:lnTo>
                      <a:pt x="1882345" y="2157733"/>
                    </a:lnTo>
                    <a:lnTo>
                      <a:pt x="3683873" y="3174568"/>
                    </a:lnTo>
                    <a:cubicBezTo>
                      <a:pt x="3676295" y="3192708"/>
                      <a:pt x="3683290" y="3214036"/>
                      <a:pt x="3700830" y="3223929"/>
                    </a:cubicBezTo>
                    <a:cubicBezTo>
                      <a:pt x="3719741" y="3234610"/>
                      <a:pt x="3743744" y="3227923"/>
                      <a:pt x="3754425" y="3209013"/>
                    </a:cubicBezTo>
                    <a:cubicBezTo>
                      <a:pt x="3765106" y="3190102"/>
                      <a:pt x="3758420" y="3166099"/>
                      <a:pt x="3739509" y="3155418"/>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34" name="Google Shape;934;p43"/>
              <p:cNvSpPr/>
              <p:nvPr/>
            </p:nvSpPr>
            <p:spPr>
              <a:xfrm>
                <a:off x="4839006" y="3090540"/>
                <a:ext cx="878072" cy="374875"/>
              </a:xfrm>
              <a:custGeom>
                <a:rect b="b" l="l" r="r" t="t"/>
                <a:pathLst>
                  <a:path extrusionOk="0" h="374875" w="878072">
                    <a:moveTo>
                      <a:pt x="878072" y="8161"/>
                    </a:moveTo>
                    <a:lnTo>
                      <a:pt x="359676" y="299918"/>
                    </a:lnTo>
                    <a:lnTo>
                      <a:pt x="346286" y="307461"/>
                    </a:lnTo>
                    <a:lnTo>
                      <a:pt x="228860" y="373555"/>
                    </a:lnTo>
                    <a:lnTo>
                      <a:pt x="226528" y="374875"/>
                    </a:lnTo>
                    <a:lnTo>
                      <a:pt x="67148" y="281538"/>
                    </a:lnTo>
                    <a:cubicBezTo>
                      <a:pt x="55815" y="296300"/>
                      <a:pt x="35018" y="300706"/>
                      <a:pt x="18542" y="291054"/>
                    </a:cubicBezTo>
                    <a:cubicBezTo>
                      <a:pt x="677" y="280595"/>
                      <a:pt x="-5307" y="257638"/>
                      <a:pt x="5135" y="239790"/>
                    </a:cubicBezTo>
                    <a:cubicBezTo>
                      <a:pt x="15593" y="221942"/>
                      <a:pt x="38550" y="215941"/>
                      <a:pt x="56398" y="226400"/>
                    </a:cubicBezTo>
                    <a:cubicBezTo>
                      <a:pt x="72874" y="236052"/>
                      <a:pt x="79218" y="256335"/>
                      <a:pt x="71880" y="273446"/>
                    </a:cubicBezTo>
                    <a:lnTo>
                      <a:pt x="226614" y="364074"/>
                    </a:lnTo>
                    <a:lnTo>
                      <a:pt x="336736" y="302095"/>
                    </a:lnTo>
                    <a:lnTo>
                      <a:pt x="350126" y="294568"/>
                    </a:lnTo>
                    <a:lnTo>
                      <a:pt x="873478" y="0"/>
                    </a:lnTo>
                    <a:lnTo>
                      <a:pt x="878072" y="8161"/>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35" name="Google Shape;935;p43"/>
              <p:cNvSpPr/>
              <p:nvPr/>
            </p:nvSpPr>
            <p:spPr>
              <a:xfrm>
                <a:off x="4747357" y="3300909"/>
                <a:ext cx="1109263" cy="789192"/>
              </a:xfrm>
              <a:custGeom>
                <a:rect b="b" l="l" r="r" t="t"/>
                <a:pathLst>
                  <a:path extrusionOk="0" h="789192" w="1109263">
                    <a:moveTo>
                      <a:pt x="1109264" y="8161"/>
                    </a:moveTo>
                    <a:lnTo>
                      <a:pt x="559921" y="317011"/>
                    </a:lnTo>
                    <a:lnTo>
                      <a:pt x="546822" y="324383"/>
                    </a:lnTo>
                    <a:lnTo>
                      <a:pt x="168655" y="536999"/>
                    </a:lnTo>
                    <a:lnTo>
                      <a:pt x="60281" y="722044"/>
                    </a:lnTo>
                    <a:cubicBezTo>
                      <a:pt x="75043" y="733377"/>
                      <a:pt x="79449" y="754174"/>
                      <a:pt x="69797" y="770651"/>
                    </a:cubicBezTo>
                    <a:cubicBezTo>
                      <a:pt x="59338" y="788516"/>
                      <a:pt x="36381" y="794499"/>
                      <a:pt x="18533" y="784058"/>
                    </a:cubicBezTo>
                    <a:cubicBezTo>
                      <a:pt x="685" y="773600"/>
                      <a:pt x="-5316" y="750643"/>
                      <a:pt x="5143" y="732794"/>
                    </a:cubicBezTo>
                    <a:cubicBezTo>
                      <a:pt x="14795" y="716318"/>
                      <a:pt x="35078" y="709974"/>
                      <a:pt x="52189" y="717312"/>
                    </a:cubicBezTo>
                    <a:lnTo>
                      <a:pt x="161848" y="530072"/>
                    </a:lnTo>
                    <a:lnTo>
                      <a:pt x="546822" y="313633"/>
                    </a:lnTo>
                    <a:lnTo>
                      <a:pt x="559921" y="306278"/>
                    </a:lnTo>
                    <a:lnTo>
                      <a:pt x="1104686" y="0"/>
                    </a:lnTo>
                    <a:lnTo>
                      <a:pt x="1109264" y="8161"/>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grpSp>
          <p:nvGrpSpPr>
            <p:cNvPr id="936" name="Google Shape;936;p43"/>
            <p:cNvGrpSpPr/>
            <p:nvPr/>
          </p:nvGrpSpPr>
          <p:grpSpPr>
            <a:xfrm>
              <a:off x="4837098" y="2685495"/>
              <a:ext cx="192040" cy="192059"/>
              <a:chOff x="4189277" y="1818077"/>
              <a:chExt cx="299321" cy="299350"/>
            </a:xfrm>
          </p:grpSpPr>
          <p:sp>
            <p:nvSpPr>
              <p:cNvPr id="937" name="Google Shape;937;p43"/>
              <p:cNvSpPr/>
              <p:nvPr/>
            </p:nvSpPr>
            <p:spPr>
              <a:xfrm rot="-2700000">
                <a:off x="4465873" y="2088144"/>
                <a:ext cx="14984" cy="28100"/>
              </a:xfrm>
              <a:custGeom>
                <a:rect b="b" l="l" r="r" t="t"/>
                <a:pathLst>
                  <a:path extrusionOk="0" h="28100" w="14984">
                    <a:moveTo>
                      <a:pt x="0" y="0"/>
                    </a:moveTo>
                    <a:lnTo>
                      <a:pt x="14985" y="0"/>
                    </a:lnTo>
                    <a:lnTo>
                      <a:pt x="14985" y="28101"/>
                    </a:lnTo>
                    <a:lnTo>
                      <a:pt x="0" y="28101"/>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38" name="Google Shape;938;p43"/>
              <p:cNvSpPr/>
              <p:nvPr/>
            </p:nvSpPr>
            <p:spPr>
              <a:xfrm>
                <a:off x="4239300" y="1873304"/>
                <a:ext cx="200990" cy="200991"/>
              </a:xfrm>
              <a:custGeom>
                <a:rect b="b" l="l" r="r" t="t"/>
                <a:pathLst>
                  <a:path extrusionOk="0" h="200990" w="200990">
                    <a:moveTo>
                      <a:pt x="190395" y="200991"/>
                    </a:moveTo>
                    <a:lnTo>
                      <a:pt x="146452" y="157048"/>
                    </a:lnTo>
                    <a:lnTo>
                      <a:pt x="157048" y="146453"/>
                    </a:lnTo>
                    <a:lnTo>
                      <a:pt x="200991" y="190395"/>
                    </a:lnTo>
                    <a:lnTo>
                      <a:pt x="190395" y="200991"/>
                    </a:lnTo>
                    <a:close/>
                    <a:moveTo>
                      <a:pt x="117169" y="127765"/>
                    </a:moveTo>
                    <a:lnTo>
                      <a:pt x="73226" y="83822"/>
                    </a:lnTo>
                    <a:lnTo>
                      <a:pt x="83822" y="73226"/>
                    </a:lnTo>
                    <a:lnTo>
                      <a:pt x="127764" y="117169"/>
                    </a:lnTo>
                    <a:lnTo>
                      <a:pt x="117169" y="127765"/>
                    </a:lnTo>
                    <a:close/>
                    <a:moveTo>
                      <a:pt x="43942" y="54538"/>
                    </a:moveTo>
                    <a:lnTo>
                      <a:pt x="0" y="10596"/>
                    </a:lnTo>
                    <a:lnTo>
                      <a:pt x="10595" y="0"/>
                    </a:lnTo>
                    <a:lnTo>
                      <a:pt x="54538" y="43943"/>
                    </a:lnTo>
                    <a:lnTo>
                      <a:pt x="43942" y="54538"/>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39" name="Google Shape;939;p43"/>
              <p:cNvSpPr/>
              <p:nvPr/>
            </p:nvSpPr>
            <p:spPr>
              <a:xfrm rot="-2700000">
                <a:off x="4197017" y="1819259"/>
                <a:ext cx="14984" cy="28100"/>
              </a:xfrm>
              <a:custGeom>
                <a:rect b="b" l="l" r="r" t="t"/>
                <a:pathLst>
                  <a:path extrusionOk="0" h="28100" w="14984">
                    <a:moveTo>
                      <a:pt x="0" y="0"/>
                    </a:moveTo>
                    <a:lnTo>
                      <a:pt x="14985" y="0"/>
                    </a:lnTo>
                    <a:lnTo>
                      <a:pt x="14985" y="28101"/>
                    </a:lnTo>
                    <a:lnTo>
                      <a:pt x="0" y="28101"/>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grpSp>
          <p:nvGrpSpPr>
            <p:cNvPr id="940" name="Google Shape;940;p43"/>
            <p:cNvGrpSpPr/>
            <p:nvPr/>
          </p:nvGrpSpPr>
          <p:grpSpPr>
            <a:xfrm>
              <a:off x="7089546" y="2685571"/>
              <a:ext cx="192226" cy="191706"/>
              <a:chOff x="7699999" y="1818189"/>
              <a:chExt cx="299609" cy="298798"/>
            </a:xfrm>
          </p:grpSpPr>
          <p:sp>
            <p:nvSpPr>
              <p:cNvPr id="941" name="Google Shape;941;p43"/>
              <p:cNvSpPr/>
              <p:nvPr/>
            </p:nvSpPr>
            <p:spPr>
              <a:xfrm rot="-2700000">
                <a:off x="7701181" y="2094263"/>
                <a:ext cx="28100" cy="14984"/>
              </a:xfrm>
              <a:custGeom>
                <a:rect b="b" l="l" r="r" t="t"/>
                <a:pathLst>
                  <a:path extrusionOk="0" h="14984" w="28100">
                    <a:moveTo>
                      <a:pt x="0" y="0"/>
                    </a:moveTo>
                    <a:lnTo>
                      <a:pt x="28100" y="0"/>
                    </a:lnTo>
                    <a:lnTo>
                      <a:pt x="28100" y="14985"/>
                    </a:lnTo>
                    <a:lnTo>
                      <a:pt x="0" y="14985"/>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42" name="Google Shape;942;p43"/>
              <p:cNvSpPr/>
              <p:nvPr/>
            </p:nvSpPr>
            <p:spPr>
              <a:xfrm>
                <a:off x="7749172" y="1866884"/>
                <a:ext cx="201007" cy="200990"/>
              </a:xfrm>
              <a:custGeom>
                <a:rect b="b" l="l" r="r" t="t"/>
                <a:pathLst>
                  <a:path extrusionOk="0" h="200990" w="201007">
                    <a:moveTo>
                      <a:pt x="10595" y="200991"/>
                    </a:moveTo>
                    <a:lnTo>
                      <a:pt x="0" y="190395"/>
                    </a:lnTo>
                    <a:lnTo>
                      <a:pt x="43943" y="146453"/>
                    </a:lnTo>
                    <a:lnTo>
                      <a:pt x="54538" y="157048"/>
                    </a:lnTo>
                    <a:lnTo>
                      <a:pt x="10595" y="200991"/>
                    </a:lnTo>
                    <a:close/>
                    <a:moveTo>
                      <a:pt x="83822" y="127765"/>
                    </a:moveTo>
                    <a:lnTo>
                      <a:pt x="73226" y="117169"/>
                    </a:lnTo>
                    <a:lnTo>
                      <a:pt x="117169" y="73226"/>
                    </a:lnTo>
                    <a:lnTo>
                      <a:pt x="127765" y="83822"/>
                    </a:lnTo>
                    <a:lnTo>
                      <a:pt x="83822" y="127765"/>
                    </a:lnTo>
                    <a:close/>
                    <a:moveTo>
                      <a:pt x="157066" y="54538"/>
                    </a:moveTo>
                    <a:lnTo>
                      <a:pt x="146470" y="43943"/>
                    </a:lnTo>
                    <a:lnTo>
                      <a:pt x="190412" y="0"/>
                    </a:lnTo>
                    <a:lnTo>
                      <a:pt x="201008" y="10596"/>
                    </a:lnTo>
                    <a:lnTo>
                      <a:pt x="157066" y="54538"/>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43" name="Google Shape;943;p43"/>
              <p:cNvSpPr/>
              <p:nvPr/>
            </p:nvSpPr>
            <p:spPr>
              <a:xfrm rot="-2699399">
                <a:off x="7970324" y="1825929"/>
                <a:ext cx="28100" cy="14984"/>
              </a:xfrm>
              <a:custGeom>
                <a:rect b="b" l="l" r="r" t="t"/>
                <a:pathLst>
                  <a:path extrusionOk="0" h="14984" w="28100">
                    <a:moveTo>
                      <a:pt x="0" y="0"/>
                    </a:moveTo>
                    <a:lnTo>
                      <a:pt x="28101" y="0"/>
                    </a:lnTo>
                    <a:lnTo>
                      <a:pt x="28101" y="14985"/>
                    </a:lnTo>
                    <a:lnTo>
                      <a:pt x="0" y="14985"/>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grpSp>
          <p:nvGrpSpPr>
            <p:cNvPr id="944" name="Google Shape;944;p43"/>
            <p:cNvGrpSpPr/>
            <p:nvPr/>
          </p:nvGrpSpPr>
          <p:grpSpPr>
            <a:xfrm>
              <a:off x="6053231" y="4611310"/>
              <a:ext cx="9614" cy="261977"/>
              <a:chOff x="6084769" y="4819699"/>
              <a:chExt cx="14985" cy="408325"/>
            </a:xfrm>
          </p:grpSpPr>
          <p:sp>
            <p:nvSpPr>
              <p:cNvPr id="945" name="Google Shape;945;p43"/>
              <p:cNvSpPr/>
              <p:nvPr/>
            </p:nvSpPr>
            <p:spPr>
              <a:xfrm>
                <a:off x="6084770" y="5199924"/>
                <a:ext cx="14984" cy="28100"/>
              </a:xfrm>
              <a:custGeom>
                <a:rect b="b" l="l" r="r" t="t"/>
                <a:pathLst>
                  <a:path extrusionOk="0" h="28100" w="14984">
                    <a:moveTo>
                      <a:pt x="0" y="0"/>
                    </a:moveTo>
                    <a:lnTo>
                      <a:pt x="14985" y="0"/>
                    </a:lnTo>
                    <a:lnTo>
                      <a:pt x="14985" y="28100"/>
                    </a:lnTo>
                    <a:lnTo>
                      <a:pt x="0" y="28100"/>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46" name="Google Shape;946;p43"/>
              <p:cNvSpPr/>
              <p:nvPr/>
            </p:nvSpPr>
            <p:spPr>
              <a:xfrm>
                <a:off x="6084769" y="4889222"/>
                <a:ext cx="14984" cy="269279"/>
              </a:xfrm>
              <a:custGeom>
                <a:rect b="b" l="l" r="r" t="t"/>
                <a:pathLst>
                  <a:path extrusionOk="0" h="269279" w="14984">
                    <a:moveTo>
                      <a:pt x="14985" y="269279"/>
                    </a:moveTo>
                    <a:lnTo>
                      <a:pt x="0" y="269279"/>
                    </a:lnTo>
                    <a:lnTo>
                      <a:pt x="0" y="207146"/>
                    </a:lnTo>
                    <a:lnTo>
                      <a:pt x="14985" y="207146"/>
                    </a:lnTo>
                    <a:lnTo>
                      <a:pt x="14985" y="269279"/>
                    </a:lnTo>
                    <a:close/>
                    <a:moveTo>
                      <a:pt x="14985" y="165707"/>
                    </a:moveTo>
                    <a:lnTo>
                      <a:pt x="0" y="165707"/>
                    </a:lnTo>
                    <a:lnTo>
                      <a:pt x="0" y="103573"/>
                    </a:lnTo>
                    <a:lnTo>
                      <a:pt x="14985" y="103573"/>
                    </a:lnTo>
                    <a:lnTo>
                      <a:pt x="14985" y="165707"/>
                    </a:lnTo>
                    <a:close/>
                    <a:moveTo>
                      <a:pt x="14985" y="62133"/>
                    </a:moveTo>
                    <a:lnTo>
                      <a:pt x="0" y="62133"/>
                    </a:lnTo>
                    <a:lnTo>
                      <a:pt x="0" y="0"/>
                    </a:lnTo>
                    <a:lnTo>
                      <a:pt x="14985" y="0"/>
                    </a:lnTo>
                    <a:lnTo>
                      <a:pt x="14985" y="62133"/>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47" name="Google Shape;947;p43"/>
              <p:cNvSpPr/>
              <p:nvPr/>
            </p:nvSpPr>
            <p:spPr>
              <a:xfrm>
                <a:off x="6084770" y="4819699"/>
                <a:ext cx="14984" cy="28100"/>
              </a:xfrm>
              <a:custGeom>
                <a:rect b="b" l="l" r="r" t="t"/>
                <a:pathLst>
                  <a:path extrusionOk="0" h="28100" w="14984">
                    <a:moveTo>
                      <a:pt x="0" y="0"/>
                    </a:moveTo>
                    <a:lnTo>
                      <a:pt x="14985" y="0"/>
                    </a:lnTo>
                    <a:lnTo>
                      <a:pt x="14985" y="28100"/>
                    </a:lnTo>
                    <a:lnTo>
                      <a:pt x="0" y="28100"/>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sp>
          <p:nvSpPr>
            <p:cNvPr id="948" name="Google Shape;948;p43"/>
            <p:cNvSpPr/>
            <p:nvPr/>
          </p:nvSpPr>
          <p:spPr>
            <a:xfrm>
              <a:off x="5075566" y="2643089"/>
              <a:ext cx="915678" cy="1027274"/>
            </a:xfrm>
            <a:custGeom>
              <a:rect b="b" l="l" r="r" t="t"/>
              <a:pathLst>
                <a:path extrusionOk="0" h="1601137" w="1427201">
                  <a:moveTo>
                    <a:pt x="0" y="400284"/>
                  </a:moveTo>
                  <a:lnTo>
                    <a:pt x="0" y="1200853"/>
                  </a:lnTo>
                  <a:lnTo>
                    <a:pt x="713609" y="1601137"/>
                  </a:lnTo>
                  <a:lnTo>
                    <a:pt x="1427201" y="1200853"/>
                  </a:lnTo>
                  <a:lnTo>
                    <a:pt x="1427201" y="400284"/>
                  </a:lnTo>
                  <a:lnTo>
                    <a:pt x="713609" y="0"/>
                  </a:lnTo>
                  <a:lnTo>
                    <a:pt x="0" y="400284"/>
                  </a:lnTo>
                  <a:close/>
                </a:path>
              </a:pathLst>
            </a:custGeom>
            <a:solidFill>
              <a:schemeClr val="accent4"/>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49" name="Google Shape;949;p43"/>
            <p:cNvSpPr/>
            <p:nvPr/>
          </p:nvSpPr>
          <p:spPr>
            <a:xfrm>
              <a:off x="5600204" y="3528761"/>
              <a:ext cx="915667" cy="1027274"/>
            </a:xfrm>
            <a:custGeom>
              <a:rect b="b" l="l" r="r" t="t"/>
              <a:pathLst>
                <a:path extrusionOk="0" h="1601137" w="1427183">
                  <a:moveTo>
                    <a:pt x="0" y="400284"/>
                  </a:moveTo>
                  <a:lnTo>
                    <a:pt x="0" y="1200853"/>
                  </a:lnTo>
                  <a:lnTo>
                    <a:pt x="713592" y="1601137"/>
                  </a:lnTo>
                  <a:lnTo>
                    <a:pt x="1427184" y="1200853"/>
                  </a:lnTo>
                  <a:lnTo>
                    <a:pt x="1427184" y="400284"/>
                  </a:lnTo>
                  <a:lnTo>
                    <a:pt x="713592" y="0"/>
                  </a:lnTo>
                  <a:lnTo>
                    <a:pt x="0" y="400284"/>
                  </a:lnTo>
                  <a:close/>
                </a:path>
              </a:pathLst>
            </a:custGeom>
            <a:solidFill>
              <a:schemeClr val="accent5"/>
            </a:solidFill>
            <a:ln cap="flat" cmpd="sng" w="9525">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50" name="Google Shape;950;p43"/>
            <p:cNvSpPr/>
            <p:nvPr/>
          </p:nvSpPr>
          <p:spPr>
            <a:xfrm>
              <a:off x="6126028" y="2643089"/>
              <a:ext cx="915667" cy="1027274"/>
            </a:xfrm>
            <a:custGeom>
              <a:rect b="b" l="l" r="r" t="t"/>
              <a:pathLst>
                <a:path extrusionOk="0" h="1601137" w="1427184">
                  <a:moveTo>
                    <a:pt x="0" y="400284"/>
                  </a:moveTo>
                  <a:lnTo>
                    <a:pt x="0" y="1200853"/>
                  </a:lnTo>
                  <a:lnTo>
                    <a:pt x="713592" y="1601137"/>
                  </a:lnTo>
                  <a:lnTo>
                    <a:pt x="1427184" y="1200853"/>
                  </a:lnTo>
                  <a:lnTo>
                    <a:pt x="1427184" y="400284"/>
                  </a:lnTo>
                  <a:lnTo>
                    <a:pt x="713592" y="0"/>
                  </a:lnTo>
                  <a:lnTo>
                    <a:pt x="0" y="40028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51" name="Google Shape;951;p43"/>
            <p:cNvSpPr/>
            <p:nvPr/>
          </p:nvSpPr>
          <p:spPr>
            <a:xfrm>
              <a:off x="5021359" y="2582161"/>
              <a:ext cx="967069" cy="1117003"/>
            </a:xfrm>
            <a:custGeom>
              <a:rect b="b" l="l" r="r" t="t"/>
              <a:pathLst>
                <a:path extrusionOk="0" h="1740989" w="1507302">
                  <a:moveTo>
                    <a:pt x="1507286" y="397833"/>
                  </a:moveTo>
                  <a:lnTo>
                    <a:pt x="1497907" y="392569"/>
                  </a:lnTo>
                  <a:lnTo>
                    <a:pt x="798100" y="0"/>
                  </a:lnTo>
                  <a:lnTo>
                    <a:pt x="0" y="447690"/>
                  </a:lnTo>
                  <a:lnTo>
                    <a:pt x="0" y="1343379"/>
                  </a:lnTo>
                  <a:lnTo>
                    <a:pt x="699276" y="1735623"/>
                  </a:lnTo>
                  <a:lnTo>
                    <a:pt x="708826" y="1740989"/>
                  </a:lnTo>
                  <a:lnTo>
                    <a:pt x="722216" y="1733445"/>
                  </a:lnTo>
                  <a:lnTo>
                    <a:pt x="712666" y="1728096"/>
                  </a:lnTo>
                  <a:lnTo>
                    <a:pt x="13116" y="1335699"/>
                  </a:lnTo>
                  <a:lnTo>
                    <a:pt x="13116" y="455371"/>
                  </a:lnTo>
                  <a:lnTo>
                    <a:pt x="798100" y="15036"/>
                  </a:lnTo>
                  <a:lnTo>
                    <a:pt x="1497942" y="407622"/>
                  </a:lnTo>
                  <a:lnTo>
                    <a:pt x="1507303" y="412869"/>
                  </a:lnTo>
                  <a:lnTo>
                    <a:pt x="1507303" y="397833"/>
                  </a:lnTo>
                  <a:close/>
                </a:path>
              </a:pathLst>
            </a:custGeom>
            <a:solidFill>
              <a:schemeClr val="accent4"/>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52" name="Google Shape;952;p43"/>
            <p:cNvSpPr/>
            <p:nvPr/>
          </p:nvSpPr>
          <p:spPr>
            <a:xfrm>
              <a:off x="6143750" y="2582161"/>
              <a:ext cx="952155" cy="1117045"/>
            </a:xfrm>
            <a:custGeom>
              <a:rect b="b" l="l" r="r" t="t"/>
              <a:pathLst>
                <a:path extrusionOk="0" h="1741057" w="1484054">
                  <a:moveTo>
                    <a:pt x="685972" y="0"/>
                  </a:moveTo>
                  <a:lnTo>
                    <a:pt x="9361" y="379539"/>
                  </a:lnTo>
                  <a:lnTo>
                    <a:pt x="0" y="384785"/>
                  </a:lnTo>
                  <a:lnTo>
                    <a:pt x="34" y="399804"/>
                  </a:lnTo>
                  <a:lnTo>
                    <a:pt x="9395" y="394558"/>
                  </a:lnTo>
                  <a:lnTo>
                    <a:pt x="685972" y="15036"/>
                  </a:lnTo>
                  <a:lnTo>
                    <a:pt x="1470955" y="455371"/>
                  </a:lnTo>
                  <a:lnTo>
                    <a:pt x="1470955" y="1335699"/>
                  </a:lnTo>
                  <a:lnTo>
                    <a:pt x="771268" y="1728165"/>
                  </a:lnTo>
                  <a:lnTo>
                    <a:pt x="761701" y="1733531"/>
                  </a:lnTo>
                  <a:lnTo>
                    <a:pt x="775074" y="1741058"/>
                  </a:lnTo>
                  <a:lnTo>
                    <a:pt x="775091" y="1741058"/>
                  </a:lnTo>
                  <a:lnTo>
                    <a:pt x="784641" y="1735708"/>
                  </a:lnTo>
                  <a:lnTo>
                    <a:pt x="1484054" y="1343379"/>
                  </a:lnTo>
                  <a:lnTo>
                    <a:pt x="1484054" y="447690"/>
                  </a:lnTo>
                  <a:lnTo>
                    <a:pt x="685972" y="0"/>
                  </a:lnTo>
                  <a:close/>
                </a:path>
              </a:pathLst>
            </a:custGeom>
            <a:solidFill>
              <a:schemeClr val="accent3"/>
            </a:soli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53" name="Google Shape;953;p43"/>
            <p:cNvSpPr/>
            <p:nvPr/>
          </p:nvSpPr>
          <p:spPr>
            <a:xfrm>
              <a:off x="5545996" y="3832803"/>
              <a:ext cx="1024095" cy="783953"/>
            </a:xfrm>
            <a:custGeom>
              <a:rect b="b" l="l" r="r" t="t"/>
              <a:pathLst>
                <a:path extrusionOk="0" h="1221890" w="1596182">
                  <a:moveTo>
                    <a:pt x="1583066" y="0"/>
                  </a:moveTo>
                  <a:lnTo>
                    <a:pt x="1583066" y="766519"/>
                  </a:lnTo>
                  <a:lnTo>
                    <a:pt x="798083" y="1206854"/>
                  </a:lnTo>
                  <a:lnTo>
                    <a:pt x="13099" y="766519"/>
                  </a:lnTo>
                  <a:lnTo>
                    <a:pt x="13099" y="892"/>
                  </a:lnTo>
                  <a:lnTo>
                    <a:pt x="0" y="8247"/>
                  </a:lnTo>
                  <a:lnTo>
                    <a:pt x="0" y="774200"/>
                  </a:lnTo>
                  <a:lnTo>
                    <a:pt x="794877" y="1220090"/>
                  </a:lnTo>
                  <a:lnTo>
                    <a:pt x="798083" y="1221890"/>
                  </a:lnTo>
                  <a:lnTo>
                    <a:pt x="1596183" y="774200"/>
                  </a:lnTo>
                  <a:lnTo>
                    <a:pt x="1596183" y="7372"/>
                  </a:lnTo>
                  <a:lnTo>
                    <a:pt x="1583066" y="0"/>
                  </a:lnTo>
                  <a:close/>
                </a:path>
              </a:pathLst>
            </a:custGeom>
            <a:solidFill>
              <a:schemeClr val="accent5"/>
            </a:solidFill>
            <a:ln cap="flat" cmpd="sng" w="9525">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54" name="Google Shape;954;p43"/>
            <p:cNvSpPr/>
            <p:nvPr/>
          </p:nvSpPr>
          <p:spPr>
            <a:xfrm>
              <a:off x="5123571" y="2696945"/>
              <a:ext cx="819671" cy="919561"/>
            </a:xfrm>
            <a:custGeom>
              <a:rect b="b" l="l" r="r" t="t"/>
              <a:pathLst>
                <a:path extrusionOk="0" h="1433253" w="1277559">
                  <a:moveTo>
                    <a:pt x="0" y="358314"/>
                  </a:moveTo>
                  <a:lnTo>
                    <a:pt x="0" y="1074940"/>
                  </a:lnTo>
                  <a:lnTo>
                    <a:pt x="638788" y="1433254"/>
                  </a:lnTo>
                  <a:lnTo>
                    <a:pt x="1277560" y="1074940"/>
                  </a:lnTo>
                  <a:lnTo>
                    <a:pt x="1277560" y="358314"/>
                  </a:lnTo>
                  <a:lnTo>
                    <a:pt x="638788" y="0"/>
                  </a:lnTo>
                  <a:lnTo>
                    <a:pt x="0" y="358314"/>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55" name="Google Shape;955;p43"/>
            <p:cNvSpPr/>
            <p:nvPr/>
          </p:nvSpPr>
          <p:spPr>
            <a:xfrm>
              <a:off x="5136581" y="2707177"/>
              <a:ext cx="813255" cy="919561"/>
            </a:xfrm>
            <a:custGeom>
              <a:rect b="b" l="l" r="r" t="t"/>
              <a:pathLst>
                <a:path extrusionOk="0" h="1433253" w="1267564">
                  <a:moveTo>
                    <a:pt x="1267564" y="358296"/>
                  </a:moveTo>
                  <a:lnTo>
                    <a:pt x="1267564" y="1074940"/>
                  </a:lnTo>
                  <a:lnTo>
                    <a:pt x="628467" y="1433254"/>
                  </a:lnTo>
                  <a:lnTo>
                    <a:pt x="0" y="1076260"/>
                  </a:lnTo>
                  <a:lnTo>
                    <a:pt x="0" y="359634"/>
                  </a:lnTo>
                  <a:lnTo>
                    <a:pt x="628467" y="0"/>
                  </a:lnTo>
                  <a:lnTo>
                    <a:pt x="828447" y="112111"/>
                  </a:lnTo>
                  <a:lnTo>
                    <a:pt x="1267564" y="358296"/>
                  </a:lnTo>
                  <a:close/>
                </a:path>
              </a:pathLst>
            </a:custGeom>
            <a:solidFill>
              <a:srgbClr val="F9F9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56" name="Google Shape;956;p43"/>
            <p:cNvSpPr/>
            <p:nvPr/>
          </p:nvSpPr>
          <p:spPr>
            <a:xfrm>
              <a:off x="5648208" y="3582409"/>
              <a:ext cx="819657" cy="919561"/>
            </a:xfrm>
            <a:custGeom>
              <a:rect b="b" l="l" r="r" t="t"/>
              <a:pathLst>
                <a:path extrusionOk="0" h="1433253" w="1277542">
                  <a:moveTo>
                    <a:pt x="0" y="358313"/>
                  </a:moveTo>
                  <a:lnTo>
                    <a:pt x="0" y="1074940"/>
                  </a:lnTo>
                  <a:lnTo>
                    <a:pt x="638771" y="1433253"/>
                  </a:lnTo>
                  <a:lnTo>
                    <a:pt x="1277542" y="1074940"/>
                  </a:lnTo>
                  <a:lnTo>
                    <a:pt x="1277542" y="358313"/>
                  </a:lnTo>
                  <a:lnTo>
                    <a:pt x="638771" y="0"/>
                  </a:lnTo>
                  <a:lnTo>
                    <a:pt x="0" y="35831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57" name="Google Shape;957;p43"/>
            <p:cNvSpPr/>
            <p:nvPr/>
          </p:nvSpPr>
          <p:spPr>
            <a:xfrm>
              <a:off x="5663082" y="3582419"/>
              <a:ext cx="813268" cy="919550"/>
            </a:xfrm>
            <a:custGeom>
              <a:rect b="b" l="l" r="r" t="t"/>
              <a:pathLst>
                <a:path extrusionOk="0" h="1433236" w="1267581">
                  <a:moveTo>
                    <a:pt x="1267581" y="358296"/>
                  </a:moveTo>
                  <a:lnTo>
                    <a:pt x="1267581" y="1074923"/>
                  </a:lnTo>
                  <a:lnTo>
                    <a:pt x="628484" y="1433236"/>
                  </a:lnTo>
                  <a:lnTo>
                    <a:pt x="0" y="1076243"/>
                  </a:lnTo>
                  <a:lnTo>
                    <a:pt x="0" y="359634"/>
                  </a:lnTo>
                  <a:lnTo>
                    <a:pt x="628484" y="0"/>
                  </a:lnTo>
                  <a:lnTo>
                    <a:pt x="828446" y="112094"/>
                  </a:lnTo>
                  <a:lnTo>
                    <a:pt x="1267581" y="358296"/>
                  </a:lnTo>
                  <a:close/>
                </a:path>
              </a:pathLst>
            </a:custGeom>
            <a:solidFill>
              <a:srgbClr val="F9F9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58" name="Google Shape;958;p43"/>
            <p:cNvSpPr/>
            <p:nvPr/>
          </p:nvSpPr>
          <p:spPr>
            <a:xfrm>
              <a:off x="6174034" y="2696945"/>
              <a:ext cx="819657" cy="919561"/>
            </a:xfrm>
            <a:custGeom>
              <a:rect b="b" l="l" r="r" t="t"/>
              <a:pathLst>
                <a:path extrusionOk="0" h="1433253" w="1277542">
                  <a:moveTo>
                    <a:pt x="0" y="358314"/>
                  </a:moveTo>
                  <a:lnTo>
                    <a:pt x="0" y="1074940"/>
                  </a:lnTo>
                  <a:lnTo>
                    <a:pt x="638771" y="1433254"/>
                  </a:lnTo>
                  <a:lnTo>
                    <a:pt x="1277542" y="1074940"/>
                  </a:lnTo>
                  <a:lnTo>
                    <a:pt x="1277542" y="358314"/>
                  </a:lnTo>
                  <a:lnTo>
                    <a:pt x="638771" y="0"/>
                  </a:lnTo>
                  <a:lnTo>
                    <a:pt x="0" y="35831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59" name="Google Shape;959;p43"/>
            <p:cNvSpPr/>
            <p:nvPr/>
          </p:nvSpPr>
          <p:spPr>
            <a:xfrm>
              <a:off x="6159520" y="2706571"/>
              <a:ext cx="813255" cy="919561"/>
            </a:xfrm>
            <a:custGeom>
              <a:rect b="b" l="l" r="r" t="t"/>
              <a:pathLst>
                <a:path extrusionOk="0" h="1433253" w="1267564">
                  <a:moveTo>
                    <a:pt x="1267564" y="358296"/>
                  </a:moveTo>
                  <a:lnTo>
                    <a:pt x="1267564" y="1074940"/>
                  </a:lnTo>
                  <a:lnTo>
                    <a:pt x="628484" y="1433254"/>
                  </a:lnTo>
                  <a:lnTo>
                    <a:pt x="0" y="1076260"/>
                  </a:lnTo>
                  <a:lnTo>
                    <a:pt x="0" y="359634"/>
                  </a:lnTo>
                  <a:lnTo>
                    <a:pt x="628484" y="0"/>
                  </a:lnTo>
                  <a:lnTo>
                    <a:pt x="828446" y="112111"/>
                  </a:lnTo>
                  <a:lnTo>
                    <a:pt x="1267564" y="358296"/>
                  </a:lnTo>
                  <a:close/>
                </a:path>
              </a:pathLst>
            </a:custGeom>
            <a:solidFill>
              <a:srgbClr val="F9F9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nvGrpSpPr>
            <p:cNvPr id="960" name="Google Shape;960;p43"/>
            <p:cNvGrpSpPr/>
            <p:nvPr/>
          </p:nvGrpSpPr>
          <p:grpSpPr>
            <a:xfrm>
              <a:off x="4809275" y="2658533"/>
              <a:ext cx="62451" cy="62451"/>
              <a:chOff x="4145906" y="1776046"/>
              <a:chExt cx="97340" cy="97340"/>
            </a:xfrm>
          </p:grpSpPr>
          <p:sp>
            <p:nvSpPr>
              <p:cNvPr id="961" name="Google Shape;961;p43"/>
              <p:cNvSpPr/>
              <p:nvPr/>
            </p:nvSpPr>
            <p:spPr>
              <a:xfrm>
                <a:off x="4168353" y="1798493"/>
                <a:ext cx="52429" cy="52429"/>
              </a:xfrm>
              <a:custGeom>
                <a:rect b="b" l="l" r="r" t="t"/>
                <a:pathLst>
                  <a:path extrusionOk="0" h="52429" w="52429">
                    <a:moveTo>
                      <a:pt x="52429" y="26215"/>
                    </a:moveTo>
                    <a:cubicBezTo>
                      <a:pt x="52429" y="40693"/>
                      <a:pt x="40693" y="52430"/>
                      <a:pt x="26215" y="52430"/>
                    </a:cubicBezTo>
                    <a:cubicBezTo>
                      <a:pt x="11737" y="52430"/>
                      <a:pt x="0" y="40693"/>
                      <a:pt x="0" y="26215"/>
                    </a:cubicBezTo>
                    <a:cubicBezTo>
                      <a:pt x="0" y="11737"/>
                      <a:pt x="11737" y="0"/>
                      <a:pt x="26215" y="0"/>
                    </a:cubicBezTo>
                    <a:cubicBezTo>
                      <a:pt x="40693" y="0"/>
                      <a:pt x="52429" y="11737"/>
                      <a:pt x="52429" y="26215"/>
                    </a:cubicBezTo>
                    <a:close/>
                  </a:path>
                </a:pathLst>
              </a:custGeom>
              <a:solidFill>
                <a:schemeClr val="accent4"/>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62" name="Google Shape;962;p43"/>
              <p:cNvSpPr/>
              <p:nvPr/>
            </p:nvSpPr>
            <p:spPr>
              <a:xfrm>
                <a:off x="4145906" y="1776046"/>
                <a:ext cx="97340" cy="97340"/>
              </a:xfrm>
              <a:custGeom>
                <a:rect b="b" l="l" r="r" t="t"/>
                <a:pathLst>
                  <a:path extrusionOk="0" h="97340" w="97340">
                    <a:moveTo>
                      <a:pt x="83106" y="83106"/>
                    </a:moveTo>
                    <a:cubicBezTo>
                      <a:pt x="64127" y="102086"/>
                      <a:pt x="33231" y="102086"/>
                      <a:pt x="14235" y="83106"/>
                    </a:cubicBezTo>
                    <a:cubicBezTo>
                      <a:pt x="-4745" y="64127"/>
                      <a:pt x="-4745" y="33231"/>
                      <a:pt x="14235" y="14235"/>
                    </a:cubicBezTo>
                    <a:cubicBezTo>
                      <a:pt x="33214" y="-4745"/>
                      <a:pt x="64109" y="-4745"/>
                      <a:pt x="83106" y="14235"/>
                    </a:cubicBezTo>
                    <a:cubicBezTo>
                      <a:pt x="102086" y="33214"/>
                      <a:pt x="102086" y="64110"/>
                      <a:pt x="83106" y="83106"/>
                    </a:cubicBezTo>
                    <a:close/>
                    <a:moveTo>
                      <a:pt x="20853" y="20853"/>
                    </a:moveTo>
                    <a:cubicBezTo>
                      <a:pt x="5508" y="36197"/>
                      <a:pt x="5508" y="61143"/>
                      <a:pt x="20853" y="76471"/>
                    </a:cubicBezTo>
                    <a:cubicBezTo>
                      <a:pt x="36197" y="91816"/>
                      <a:pt x="61143" y="91816"/>
                      <a:pt x="76471" y="76471"/>
                    </a:cubicBezTo>
                    <a:cubicBezTo>
                      <a:pt x="91816" y="61126"/>
                      <a:pt x="91816" y="36180"/>
                      <a:pt x="76471" y="20853"/>
                    </a:cubicBezTo>
                    <a:cubicBezTo>
                      <a:pt x="61126" y="5508"/>
                      <a:pt x="36180" y="5508"/>
                      <a:pt x="20853" y="20853"/>
                    </a:cubicBezTo>
                    <a:close/>
                  </a:path>
                </a:pathLst>
              </a:custGeom>
              <a:solidFill>
                <a:schemeClr val="accent4"/>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grpSp>
          <p:nvGrpSpPr>
            <p:cNvPr id="963" name="Google Shape;963;p43"/>
            <p:cNvGrpSpPr/>
            <p:nvPr/>
          </p:nvGrpSpPr>
          <p:grpSpPr>
            <a:xfrm>
              <a:off x="7246360" y="2658533"/>
              <a:ext cx="62451" cy="62451"/>
              <a:chOff x="7944415" y="1776046"/>
              <a:chExt cx="97340" cy="97340"/>
            </a:xfrm>
          </p:grpSpPr>
          <p:sp>
            <p:nvSpPr>
              <p:cNvPr id="964" name="Google Shape;964;p43"/>
              <p:cNvSpPr/>
              <p:nvPr/>
            </p:nvSpPr>
            <p:spPr>
              <a:xfrm>
                <a:off x="7966879" y="1798493"/>
                <a:ext cx="52429" cy="52429"/>
              </a:xfrm>
              <a:custGeom>
                <a:rect b="b" l="l" r="r" t="t"/>
                <a:pathLst>
                  <a:path extrusionOk="0" h="52429" w="52429">
                    <a:moveTo>
                      <a:pt x="52429" y="26215"/>
                    </a:moveTo>
                    <a:cubicBezTo>
                      <a:pt x="52429" y="40693"/>
                      <a:pt x="40693" y="52430"/>
                      <a:pt x="26215" y="52430"/>
                    </a:cubicBezTo>
                    <a:cubicBezTo>
                      <a:pt x="11737" y="52430"/>
                      <a:pt x="0" y="40693"/>
                      <a:pt x="0" y="26215"/>
                    </a:cubicBezTo>
                    <a:cubicBezTo>
                      <a:pt x="0" y="11737"/>
                      <a:pt x="11736" y="0"/>
                      <a:pt x="26215" y="0"/>
                    </a:cubicBezTo>
                    <a:cubicBezTo>
                      <a:pt x="40693" y="0"/>
                      <a:pt x="52429" y="11737"/>
                      <a:pt x="52429" y="26215"/>
                    </a:cubicBezTo>
                    <a:close/>
                  </a:path>
                </a:pathLst>
              </a:custGeom>
              <a:solidFill>
                <a:schemeClr val="accent3"/>
              </a:soli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65" name="Google Shape;965;p43"/>
              <p:cNvSpPr/>
              <p:nvPr/>
            </p:nvSpPr>
            <p:spPr>
              <a:xfrm>
                <a:off x="7944415" y="1776046"/>
                <a:ext cx="97340" cy="97340"/>
              </a:xfrm>
              <a:custGeom>
                <a:rect b="b" l="l" r="r" t="t"/>
                <a:pathLst>
                  <a:path extrusionOk="0" h="97340" w="97340">
                    <a:moveTo>
                      <a:pt x="14234" y="83106"/>
                    </a:moveTo>
                    <a:cubicBezTo>
                      <a:pt x="-4745" y="64127"/>
                      <a:pt x="-4745" y="33231"/>
                      <a:pt x="14234" y="14235"/>
                    </a:cubicBezTo>
                    <a:cubicBezTo>
                      <a:pt x="33214" y="-4745"/>
                      <a:pt x="64109" y="-4745"/>
                      <a:pt x="83106" y="14235"/>
                    </a:cubicBezTo>
                    <a:cubicBezTo>
                      <a:pt x="102085" y="33214"/>
                      <a:pt x="102085" y="64110"/>
                      <a:pt x="83106" y="83106"/>
                    </a:cubicBezTo>
                    <a:cubicBezTo>
                      <a:pt x="64127" y="102086"/>
                      <a:pt x="33231" y="102086"/>
                      <a:pt x="14234" y="83106"/>
                    </a:cubicBezTo>
                    <a:close/>
                    <a:moveTo>
                      <a:pt x="76488" y="20853"/>
                    </a:moveTo>
                    <a:cubicBezTo>
                      <a:pt x="61143" y="5508"/>
                      <a:pt x="36197" y="5508"/>
                      <a:pt x="20870" y="20853"/>
                    </a:cubicBezTo>
                    <a:cubicBezTo>
                      <a:pt x="5525" y="36197"/>
                      <a:pt x="5525" y="61143"/>
                      <a:pt x="20870" y="76471"/>
                    </a:cubicBezTo>
                    <a:cubicBezTo>
                      <a:pt x="36214" y="91816"/>
                      <a:pt x="61160" y="91816"/>
                      <a:pt x="76488" y="76471"/>
                    </a:cubicBezTo>
                    <a:cubicBezTo>
                      <a:pt x="91816" y="61126"/>
                      <a:pt x="91833" y="36180"/>
                      <a:pt x="76488" y="20853"/>
                    </a:cubicBezTo>
                    <a:close/>
                  </a:path>
                </a:pathLst>
              </a:custGeom>
              <a:solidFill>
                <a:schemeClr val="accent3"/>
              </a:soli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grpSp>
          <p:nvGrpSpPr>
            <p:cNvPr id="966" name="Google Shape;966;p43"/>
            <p:cNvGrpSpPr/>
            <p:nvPr/>
          </p:nvGrpSpPr>
          <p:grpSpPr>
            <a:xfrm>
              <a:off x="6026597" y="4842048"/>
              <a:ext cx="62479" cy="62479"/>
              <a:chOff x="6043261" y="5179332"/>
              <a:chExt cx="97383" cy="97383"/>
            </a:xfrm>
          </p:grpSpPr>
          <p:sp>
            <p:nvSpPr>
              <p:cNvPr id="967" name="Google Shape;967;p43"/>
              <p:cNvSpPr/>
              <p:nvPr/>
            </p:nvSpPr>
            <p:spPr>
              <a:xfrm rot="-2700000">
                <a:off x="6065739" y="5201814"/>
                <a:ext cx="52429" cy="52429"/>
              </a:xfrm>
              <a:custGeom>
                <a:rect b="b" l="l" r="r" t="t"/>
                <a:pathLst>
                  <a:path extrusionOk="0" h="52429" w="52429">
                    <a:moveTo>
                      <a:pt x="52429" y="26215"/>
                    </a:moveTo>
                    <a:cubicBezTo>
                      <a:pt x="52429" y="40693"/>
                      <a:pt x="40693" y="52430"/>
                      <a:pt x="26215" y="52430"/>
                    </a:cubicBezTo>
                    <a:cubicBezTo>
                      <a:pt x="11737" y="52430"/>
                      <a:pt x="0" y="40693"/>
                      <a:pt x="0" y="26215"/>
                    </a:cubicBezTo>
                    <a:cubicBezTo>
                      <a:pt x="0" y="11737"/>
                      <a:pt x="11736" y="0"/>
                      <a:pt x="26215" y="0"/>
                    </a:cubicBezTo>
                    <a:cubicBezTo>
                      <a:pt x="40692" y="0"/>
                      <a:pt x="52429" y="11737"/>
                      <a:pt x="52429" y="26215"/>
                    </a:cubicBezTo>
                    <a:close/>
                  </a:path>
                </a:pathLst>
              </a:custGeom>
              <a:solidFill>
                <a:schemeClr val="accent5"/>
              </a:solidFill>
              <a:ln cap="flat" cmpd="sng" w="9525">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68" name="Google Shape;968;p43"/>
              <p:cNvSpPr/>
              <p:nvPr/>
            </p:nvSpPr>
            <p:spPr>
              <a:xfrm>
                <a:off x="6043261" y="5179332"/>
                <a:ext cx="97383" cy="97383"/>
              </a:xfrm>
              <a:custGeom>
                <a:rect b="b" l="l" r="r" t="t"/>
                <a:pathLst>
                  <a:path extrusionOk="0" h="97383" w="97383">
                    <a:moveTo>
                      <a:pt x="48692" y="97384"/>
                    </a:moveTo>
                    <a:cubicBezTo>
                      <a:pt x="21843" y="97384"/>
                      <a:pt x="0" y="75541"/>
                      <a:pt x="0" y="48692"/>
                    </a:cubicBezTo>
                    <a:cubicBezTo>
                      <a:pt x="0" y="21843"/>
                      <a:pt x="21843" y="0"/>
                      <a:pt x="48692" y="0"/>
                    </a:cubicBezTo>
                    <a:cubicBezTo>
                      <a:pt x="75541" y="0"/>
                      <a:pt x="97384" y="21843"/>
                      <a:pt x="97384" y="48692"/>
                    </a:cubicBezTo>
                    <a:cubicBezTo>
                      <a:pt x="97384" y="75541"/>
                      <a:pt x="75541" y="97384"/>
                      <a:pt x="48692" y="97384"/>
                    </a:cubicBezTo>
                    <a:close/>
                    <a:moveTo>
                      <a:pt x="48692" y="9344"/>
                    </a:moveTo>
                    <a:cubicBezTo>
                      <a:pt x="27003" y="9344"/>
                      <a:pt x="9361" y="26986"/>
                      <a:pt x="9361" y="48675"/>
                    </a:cubicBezTo>
                    <a:cubicBezTo>
                      <a:pt x="9361" y="70363"/>
                      <a:pt x="27003" y="88005"/>
                      <a:pt x="48692" y="88005"/>
                    </a:cubicBezTo>
                    <a:cubicBezTo>
                      <a:pt x="70380" y="88005"/>
                      <a:pt x="88023" y="70363"/>
                      <a:pt x="88023" y="48675"/>
                    </a:cubicBezTo>
                    <a:cubicBezTo>
                      <a:pt x="88023" y="26986"/>
                      <a:pt x="70380" y="9344"/>
                      <a:pt x="48692" y="9344"/>
                    </a:cubicBezTo>
                    <a:close/>
                  </a:path>
                </a:pathLst>
              </a:custGeom>
              <a:solidFill>
                <a:schemeClr val="accent5"/>
              </a:solidFill>
              <a:ln cap="flat" cmpd="sng" w="9525">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sp>
          <p:nvSpPr>
            <p:cNvPr id="969" name="Google Shape;969;p43"/>
            <p:cNvSpPr/>
            <p:nvPr/>
          </p:nvSpPr>
          <p:spPr>
            <a:xfrm>
              <a:off x="5628738" y="3041775"/>
              <a:ext cx="854594" cy="854594"/>
            </a:xfrm>
            <a:custGeom>
              <a:rect b="b" l="l" r="r" t="t"/>
              <a:pathLst>
                <a:path extrusionOk="0" h="1331995" w="1331995">
                  <a:moveTo>
                    <a:pt x="1331995" y="665998"/>
                  </a:moveTo>
                  <a:cubicBezTo>
                    <a:pt x="1331995" y="1033818"/>
                    <a:pt x="1033818" y="1331995"/>
                    <a:pt x="665998" y="1331995"/>
                  </a:cubicBezTo>
                  <a:cubicBezTo>
                    <a:pt x="298177" y="1331995"/>
                    <a:pt x="0" y="1033818"/>
                    <a:pt x="0" y="665998"/>
                  </a:cubicBezTo>
                  <a:cubicBezTo>
                    <a:pt x="0" y="298177"/>
                    <a:pt x="298177" y="0"/>
                    <a:pt x="665998" y="0"/>
                  </a:cubicBezTo>
                  <a:cubicBezTo>
                    <a:pt x="1033818" y="0"/>
                    <a:pt x="1331995" y="298177"/>
                    <a:pt x="1331995" y="66599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nvGrpSpPr>
            <p:cNvPr id="970" name="Google Shape;970;p43"/>
            <p:cNvGrpSpPr/>
            <p:nvPr/>
          </p:nvGrpSpPr>
          <p:grpSpPr>
            <a:xfrm>
              <a:off x="5686412" y="3087405"/>
              <a:ext cx="770026" cy="770038"/>
              <a:chOff x="5513035" y="2444499"/>
              <a:chExt cx="1200184" cy="1200202"/>
            </a:xfrm>
          </p:grpSpPr>
          <p:sp>
            <p:nvSpPr>
              <p:cNvPr id="971" name="Google Shape;971;p43"/>
              <p:cNvSpPr/>
              <p:nvPr/>
            </p:nvSpPr>
            <p:spPr>
              <a:xfrm>
                <a:off x="5513035" y="2444499"/>
                <a:ext cx="600092" cy="840619"/>
              </a:xfrm>
              <a:custGeom>
                <a:rect b="b" l="l" r="r" t="t"/>
                <a:pathLst>
                  <a:path extrusionOk="0" h="840619" w="600092">
                    <a:moveTo>
                      <a:pt x="50149" y="840619"/>
                    </a:moveTo>
                    <a:cubicBezTo>
                      <a:pt x="16871" y="764633"/>
                      <a:pt x="0" y="683708"/>
                      <a:pt x="0" y="600092"/>
                    </a:cubicBezTo>
                    <a:cubicBezTo>
                      <a:pt x="0" y="516476"/>
                      <a:pt x="15859" y="440489"/>
                      <a:pt x="47166" y="366509"/>
                    </a:cubicBezTo>
                    <a:cubicBezTo>
                      <a:pt x="77393" y="295048"/>
                      <a:pt x="120667" y="230874"/>
                      <a:pt x="175771" y="175771"/>
                    </a:cubicBezTo>
                    <a:cubicBezTo>
                      <a:pt x="230874" y="120667"/>
                      <a:pt x="295048" y="77393"/>
                      <a:pt x="366509" y="47166"/>
                    </a:cubicBezTo>
                    <a:cubicBezTo>
                      <a:pt x="440489" y="15876"/>
                      <a:pt x="519082" y="0"/>
                      <a:pt x="600092" y="0"/>
                    </a:cubicBezTo>
                    <a:lnTo>
                      <a:pt x="600092" y="17145"/>
                    </a:lnTo>
                    <a:cubicBezTo>
                      <a:pt x="278658" y="17145"/>
                      <a:pt x="17145" y="278658"/>
                      <a:pt x="17145" y="600092"/>
                    </a:cubicBezTo>
                    <a:cubicBezTo>
                      <a:pt x="17145" y="681325"/>
                      <a:pt x="33536" y="759935"/>
                      <a:pt x="65854" y="833744"/>
                    </a:cubicBezTo>
                    <a:lnTo>
                      <a:pt x="50149" y="840619"/>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72" name="Google Shape;972;p43"/>
              <p:cNvSpPr/>
              <p:nvPr/>
            </p:nvSpPr>
            <p:spPr>
              <a:xfrm>
                <a:off x="5563184" y="3278261"/>
                <a:ext cx="1084215" cy="366440"/>
              </a:xfrm>
              <a:custGeom>
                <a:rect b="b" l="l" r="r" t="t"/>
                <a:pathLst>
                  <a:path extrusionOk="0" h="366440" w="1084215">
                    <a:moveTo>
                      <a:pt x="549943" y="366440"/>
                    </a:moveTo>
                    <a:cubicBezTo>
                      <a:pt x="311525" y="366440"/>
                      <a:pt x="95669" y="225303"/>
                      <a:pt x="0" y="6875"/>
                    </a:cubicBezTo>
                    <a:lnTo>
                      <a:pt x="15705" y="0"/>
                    </a:lnTo>
                    <a:cubicBezTo>
                      <a:pt x="108648" y="212187"/>
                      <a:pt x="318348" y="349295"/>
                      <a:pt x="549943" y="349295"/>
                    </a:cubicBezTo>
                    <a:cubicBezTo>
                      <a:pt x="781538" y="349295"/>
                      <a:pt x="968590" y="227737"/>
                      <a:pt x="1068956" y="32044"/>
                    </a:cubicBezTo>
                    <a:lnTo>
                      <a:pt x="1084216" y="39862"/>
                    </a:lnTo>
                    <a:cubicBezTo>
                      <a:pt x="1034581" y="136611"/>
                      <a:pt x="959520" y="218222"/>
                      <a:pt x="867126" y="275863"/>
                    </a:cubicBezTo>
                    <a:cubicBezTo>
                      <a:pt x="772125" y="335116"/>
                      <a:pt x="662449" y="366440"/>
                      <a:pt x="549943" y="366440"/>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73" name="Google Shape;973;p43"/>
              <p:cNvSpPr/>
              <p:nvPr/>
            </p:nvSpPr>
            <p:spPr>
              <a:xfrm>
                <a:off x="6113127" y="2444517"/>
                <a:ext cx="600092" cy="873606"/>
              </a:xfrm>
              <a:custGeom>
                <a:rect b="b" l="l" r="r" t="t"/>
                <a:pathLst>
                  <a:path extrusionOk="0" h="873606" w="600092">
                    <a:moveTo>
                      <a:pt x="534273" y="873606"/>
                    </a:moveTo>
                    <a:lnTo>
                      <a:pt x="519013" y="865788"/>
                    </a:lnTo>
                    <a:cubicBezTo>
                      <a:pt x="561430" y="783098"/>
                      <a:pt x="582947" y="693704"/>
                      <a:pt x="582947" y="600092"/>
                    </a:cubicBezTo>
                    <a:cubicBezTo>
                      <a:pt x="582947" y="278658"/>
                      <a:pt x="321434" y="17145"/>
                      <a:pt x="0" y="17145"/>
                    </a:cubicBezTo>
                    <a:lnTo>
                      <a:pt x="0" y="0"/>
                    </a:lnTo>
                    <a:cubicBezTo>
                      <a:pt x="81010" y="0"/>
                      <a:pt x="159603" y="15859"/>
                      <a:pt x="233583" y="47166"/>
                    </a:cubicBezTo>
                    <a:cubicBezTo>
                      <a:pt x="305044" y="77393"/>
                      <a:pt x="369218" y="120667"/>
                      <a:pt x="424322" y="175771"/>
                    </a:cubicBezTo>
                    <a:cubicBezTo>
                      <a:pt x="479426" y="230874"/>
                      <a:pt x="522700" y="295048"/>
                      <a:pt x="552926" y="366509"/>
                    </a:cubicBezTo>
                    <a:cubicBezTo>
                      <a:pt x="584216" y="440489"/>
                      <a:pt x="600092" y="519082"/>
                      <a:pt x="600092" y="600092"/>
                    </a:cubicBezTo>
                    <a:cubicBezTo>
                      <a:pt x="600092" y="696447"/>
                      <a:pt x="577941" y="788464"/>
                      <a:pt x="534273" y="873606"/>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sp>
          <p:nvSpPr>
            <p:cNvPr id="974" name="Google Shape;974;p43"/>
            <p:cNvSpPr/>
            <p:nvPr/>
          </p:nvSpPr>
          <p:spPr>
            <a:xfrm>
              <a:off x="5225576" y="2832220"/>
              <a:ext cx="637725" cy="637725"/>
            </a:xfrm>
            <a:prstGeom prst="ellipse">
              <a:avLst/>
            </a:prstGeom>
            <a:solidFill>
              <a:srgbClr val="FFFFFF"/>
            </a:solidFill>
            <a:ln cap="flat" cmpd="sng" w="9525">
              <a:solidFill>
                <a:srgbClr val="D0CECE"/>
              </a:solidFill>
              <a:prstDash val="solid"/>
              <a:miter lim="800000"/>
              <a:headEnd len="sm" w="sm" type="none"/>
              <a:tailEnd len="sm" w="sm" type="none"/>
            </a:ln>
            <a:effectLst>
              <a:outerShdw blurRad="50800" rotWithShape="0" algn="tr" dir="8100000" dist="38100">
                <a:srgbClr val="000000">
                  <a:alpha val="1529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07</a:t>
              </a:r>
              <a:endParaRPr b="0" i="0" sz="1400" u="none" cap="none" strike="noStrike">
                <a:solidFill>
                  <a:srgbClr val="000000"/>
                </a:solidFill>
                <a:latin typeface="Arial"/>
                <a:ea typeface="Arial"/>
                <a:cs typeface="Arial"/>
                <a:sym typeface="Arial"/>
              </a:endParaRPr>
            </a:p>
          </p:txBody>
        </p:sp>
        <p:sp>
          <p:nvSpPr>
            <p:cNvPr id="975" name="Google Shape;975;p43"/>
            <p:cNvSpPr/>
            <p:nvPr/>
          </p:nvSpPr>
          <p:spPr>
            <a:xfrm>
              <a:off x="6258983" y="2862741"/>
              <a:ext cx="637725" cy="637725"/>
            </a:xfrm>
            <a:prstGeom prst="ellipse">
              <a:avLst/>
            </a:prstGeom>
            <a:solidFill>
              <a:srgbClr val="FFFFFF"/>
            </a:solidFill>
            <a:ln cap="flat" cmpd="sng" w="9525">
              <a:solidFill>
                <a:srgbClr val="D0CECE"/>
              </a:solidFill>
              <a:prstDash val="solid"/>
              <a:miter lim="800000"/>
              <a:headEnd len="sm" w="sm" type="none"/>
              <a:tailEnd len="sm" w="sm" type="none"/>
            </a:ln>
            <a:effectLst>
              <a:outerShdw blurRad="50800" rotWithShape="0" algn="tr" dir="8100000" dist="38100">
                <a:srgbClr val="000000">
                  <a:alpha val="1529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08</a:t>
              </a:r>
              <a:endParaRPr b="0" i="0" sz="1400" u="none" cap="none" strike="noStrike">
                <a:solidFill>
                  <a:srgbClr val="000000"/>
                </a:solidFill>
                <a:latin typeface="Arial"/>
                <a:ea typeface="Arial"/>
                <a:cs typeface="Arial"/>
                <a:sym typeface="Arial"/>
              </a:endParaRPr>
            </a:p>
          </p:txBody>
        </p:sp>
        <p:sp>
          <p:nvSpPr>
            <p:cNvPr id="976" name="Google Shape;976;p43"/>
            <p:cNvSpPr/>
            <p:nvPr/>
          </p:nvSpPr>
          <p:spPr>
            <a:xfrm>
              <a:off x="5737745" y="3774589"/>
              <a:ext cx="637725" cy="637725"/>
            </a:xfrm>
            <a:prstGeom prst="ellipse">
              <a:avLst/>
            </a:prstGeom>
            <a:solidFill>
              <a:srgbClr val="FFFFFF"/>
            </a:solidFill>
            <a:ln cap="flat" cmpd="sng" w="9525">
              <a:solidFill>
                <a:srgbClr val="D0CECE"/>
              </a:solidFill>
              <a:prstDash val="solid"/>
              <a:miter lim="800000"/>
              <a:headEnd len="sm" w="sm" type="none"/>
              <a:tailEnd len="sm" w="sm" type="none"/>
            </a:ln>
            <a:effectLst>
              <a:outerShdw blurRad="50800" rotWithShape="0" algn="tr" dir="8100000" dist="38100">
                <a:srgbClr val="000000">
                  <a:alpha val="1529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09</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44"/>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CREDIT DEFAULT SWAPS</a:t>
            </a:r>
            <a:endParaRPr/>
          </a:p>
        </p:txBody>
      </p:sp>
      <p:sp>
        <p:nvSpPr>
          <p:cNvPr id="982" name="Google Shape;982;p44"/>
          <p:cNvSpPr/>
          <p:nvPr/>
        </p:nvSpPr>
        <p:spPr>
          <a:xfrm>
            <a:off x="0" y="5435891"/>
            <a:ext cx="12188952" cy="914400"/>
          </a:xfrm>
          <a:prstGeom prst="rect">
            <a:avLst/>
          </a:prstGeom>
          <a:solidFill>
            <a:srgbClr val="F2F2F2"/>
          </a:solidFill>
          <a:ln>
            <a:noFill/>
          </a:ln>
        </p:spPr>
        <p:txBody>
          <a:bodyPr anchorCtr="0" anchor="ctr" bIns="45700" lIns="640075" spcFirstLastPara="1" rIns="64007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CDS contracts are versatile financial instruments used by a range of market participants, including banks, hedge funds, corporations, and institutional investors, to manage and mitigate credit risk. They are a key tool for credit risk management and can be an important component of financial risk management strategies.</a:t>
            </a:r>
            <a:endParaRPr b="0" i="0" sz="1400" u="none" cap="none" strike="noStrike">
              <a:solidFill>
                <a:schemeClr val="dk1"/>
              </a:solidFill>
              <a:latin typeface="Arial"/>
              <a:ea typeface="Arial"/>
              <a:cs typeface="Arial"/>
              <a:sym typeface="Arial"/>
            </a:endParaRPr>
          </a:p>
        </p:txBody>
      </p:sp>
      <p:sp>
        <p:nvSpPr>
          <p:cNvPr id="983" name="Google Shape;983;p44"/>
          <p:cNvSpPr/>
          <p:nvPr/>
        </p:nvSpPr>
        <p:spPr>
          <a:xfrm>
            <a:off x="1050462" y="1750364"/>
            <a:ext cx="2880000" cy="333783"/>
          </a:xfrm>
          <a:prstGeom prst="roundRect">
            <a:avLst>
              <a:gd fmla="val 50000"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Arial"/>
                <a:ea typeface="Arial"/>
                <a:cs typeface="Arial"/>
                <a:sym typeface="Arial"/>
              </a:rPr>
              <a:t>Trading and Liquidity </a:t>
            </a:r>
            <a:endParaRPr b="1" i="0" sz="1600" u="none" cap="none" strike="noStrike">
              <a:solidFill>
                <a:srgbClr val="FFFFFF"/>
              </a:solidFill>
              <a:latin typeface="Arial"/>
              <a:ea typeface="Arial"/>
              <a:cs typeface="Arial"/>
              <a:sym typeface="Arial"/>
            </a:endParaRPr>
          </a:p>
        </p:txBody>
      </p:sp>
      <p:sp>
        <p:nvSpPr>
          <p:cNvPr id="984" name="Google Shape;984;p44"/>
          <p:cNvSpPr txBox="1"/>
          <p:nvPr/>
        </p:nvSpPr>
        <p:spPr>
          <a:xfrm>
            <a:off x="700088" y="2154783"/>
            <a:ext cx="3580749" cy="1093056"/>
          </a:xfrm>
          <a:prstGeom prst="rect">
            <a:avLst/>
          </a:prstGeom>
          <a:noFill/>
          <a:ln>
            <a:noFill/>
          </a:ln>
        </p:spPr>
        <p:txBody>
          <a:bodyPr anchorCtr="0" anchor="t" bIns="54000" lIns="54000" spcFirstLastPara="1" rIns="52275" wrap="square" tIns="53125">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CDS contracts are actively traded in financial markets, and their liquidity can vary depending on the reference obligation and market conditions.</a:t>
            </a:r>
            <a:endParaRPr b="0" i="0" sz="1600" u="none" cap="none" strike="noStrike">
              <a:solidFill>
                <a:schemeClr val="dk1"/>
              </a:solidFill>
              <a:latin typeface="Arial"/>
              <a:ea typeface="Arial"/>
              <a:cs typeface="Arial"/>
              <a:sym typeface="Arial"/>
            </a:endParaRPr>
          </a:p>
        </p:txBody>
      </p:sp>
      <p:sp>
        <p:nvSpPr>
          <p:cNvPr id="985" name="Google Shape;985;p44"/>
          <p:cNvSpPr/>
          <p:nvPr/>
        </p:nvSpPr>
        <p:spPr>
          <a:xfrm>
            <a:off x="8423463" y="1750364"/>
            <a:ext cx="2880000" cy="333783"/>
          </a:xfrm>
          <a:prstGeom prst="roundRect">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Arial"/>
                <a:ea typeface="Arial"/>
                <a:cs typeface="Arial"/>
                <a:sym typeface="Arial"/>
              </a:rPr>
              <a:t>Credit Risk Transfer </a:t>
            </a:r>
            <a:endParaRPr b="1" i="0" sz="1600" u="none" cap="none" strike="noStrike">
              <a:solidFill>
                <a:srgbClr val="FFFFFF"/>
              </a:solidFill>
              <a:latin typeface="Arial"/>
              <a:ea typeface="Arial"/>
              <a:cs typeface="Arial"/>
              <a:sym typeface="Arial"/>
            </a:endParaRPr>
          </a:p>
        </p:txBody>
      </p:sp>
      <p:sp>
        <p:nvSpPr>
          <p:cNvPr id="986" name="Google Shape;986;p44"/>
          <p:cNvSpPr txBox="1"/>
          <p:nvPr/>
        </p:nvSpPr>
        <p:spPr>
          <a:xfrm>
            <a:off x="8073089" y="2154783"/>
            <a:ext cx="3580749" cy="1585499"/>
          </a:xfrm>
          <a:prstGeom prst="rect">
            <a:avLst/>
          </a:prstGeom>
          <a:noFill/>
          <a:ln>
            <a:noFill/>
          </a:ln>
        </p:spPr>
        <p:txBody>
          <a:bodyPr anchorCtr="0" anchor="t" bIns="54000" lIns="54000" spcFirstLastPara="1" rIns="52275" wrap="square" tIns="53125">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CDS contracts provide a mechanism for transferring credit risk without the need to buy or sell the underlying debt security. They are often used for hedging credit exposures or speculating on credit events.</a:t>
            </a:r>
            <a:endParaRPr b="0" i="0" sz="1600" u="none" cap="none" strike="noStrike">
              <a:solidFill>
                <a:schemeClr val="dk1"/>
              </a:solidFill>
              <a:latin typeface="Arial"/>
              <a:ea typeface="Arial"/>
              <a:cs typeface="Arial"/>
              <a:sym typeface="Arial"/>
            </a:endParaRPr>
          </a:p>
        </p:txBody>
      </p:sp>
      <p:sp>
        <p:nvSpPr>
          <p:cNvPr id="987" name="Google Shape;987;p44"/>
          <p:cNvSpPr/>
          <p:nvPr/>
        </p:nvSpPr>
        <p:spPr>
          <a:xfrm>
            <a:off x="4736963" y="4153718"/>
            <a:ext cx="2880000" cy="333783"/>
          </a:xfrm>
          <a:prstGeom prst="roundRect">
            <a:avLst>
              <a:gd fmla="val 50000" name="adj"/>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Arial"/>
                <a:ea typeface="Arial"/>
                <a:cs typeface="Arial"/>
                <a:sym typeface="Arial"/>
              </a:rPr>
              <a:t>Regulation</a:t>
            </a:r>
            <a:endParaRPr b="1" i="0" sz="1600" u="none" cap="none" strike="noStrike">
              <a:solidFill>
                <a:srgbClr val="FFFFFF"/>
              </a:solidFill>
              <a:latin typeface="Arial"/>
              <a:ea typeface="Arial"/>
              <a:cs typeface="Arial"/>
              <a:sym typeface="Arial"/>
            </a:endParaRPr>
          </a:p>
        </p:txBody>
      </p:sp>
      <p:sp>
        <p:nvSpPr>
          <p:cNvPr id="988" name="Google Shape;988;p44"/>
          <p:cNvSpPr txBox="1"/>
          <p:nvPr/>
        </p:nvSpPr>
        <p:spPr>
          <a:xfrm>
            <a:off x="2873550" y="4533588"/>
            <a:ext cx="6606826" cy="846835"/>
          </a:xfrm>
          <a:prstGeom prst="rect">
            <a:avLst/>
          </a:prstGeom>
          <a:noFill/>
          <a:ln>
            <a:noFill/>
          </a:ln>
        </p:spPr>
        <p:txBody>
          <a:bodyPr anchorCtr="0" anchor="t" bIns="54000" lIns="54000" spcFirstLastPara="1" rIns="52275" wrap="square" tIns="53125">
            <a:spAutoFit/>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The regulation of CDS markets and market participants varies by jurisdiction. Regulatory authorities have sought to increase transparency and reduce risks in CDS trading following the 2008 financial crisis.</a:t>
            </a:r>
            <a:endParaRPr b="0" i="0" sz="1600" u="none" cap="none" strike="noStrike">
              <a:solidFill>
                <a:schemeClr val="dk1"/>
              </a:solidFill>
              <a:latin typeface="Arial"/>
              <a:ea typeface="Arial"/>
              <a:cs typeface="Arial"/>
              <a:sym typeface="Arial"/>
            </a:endParaRPr>
          </a:p>
        </p:txBody>
      </p:sp>
      <p:grpSp>
        <p:nvGrpSpPr>
          <p:cNvPr id="989" name="Google Shape;989;p44"/>
          <p:cNvGrpSpPr/>
          <p:nvPr/>
        </p:nvGrpSpPr>
        <p:grpSpPr>
          <a:xfrm>
            <a:off x="4927195" y="1485900"/>
            <a:ext cx="2499536" cy="2612671"/>
            <a:chOff x="4809275" y="2227088"/>
            <a:chExt cx="2499536" cy="2612671"/>
          </a:xfrm>
        </p:grpSpPr>
        <p:grpSp>
          <p:nvGrpSpPr>
            <p:cNvPr id="990" name="Google Shape;990;p44"/>
            <p:cNvGrpSpPr/>
            <p:nvPr/>
          </p:nvGrpSpPr>
          <p:grpSpPr>
            <a:xfrm>
              <a:off x="4852510" y="2227088"/>
              <a:ext cx="2412064" cy="2071704"/>
              <a:chOff x="4213294" y="1103586"/>
              <a:chExt cx="3759512" cy="3229015"/>
            </a:xfrm>
          </p:grpSpPr>
          <p:sp>
            <p:nvSpPr>
              <p:cNvPr id="991" name="Google Shape;991;p44"/>
              <p:cNvSpPr/>
              <p:nvPr/>
            </p:nvSpPr>
            <p:spPr>
              <a:xfrm>
                <a:off x="5752019" y="1749561"/>
                <a:ext cx="232451" cy="892671"/>
              </a:xfrm>
              <a:custGeom>
                <a:rect b="b" l="l" r="r" t="t"/>
                <a:pathLst>
                  <a:path extrusionOk="0" h="892671" w="232451">
                    <a:moveTo>
                      <a:pt x="232452" y="892672"/>
                    </a:moveTo>
                    <a:lnTo>
                      <a:pt x="223074" y="892672"/>
                    </a:lnTo>
                    <a:lnTo>
                      <a:pt x="222388" y="315074"/>
                    </a:lnTo>
                    <a:lnTo>
                      <a:pt x="222354" y="300020"/>
                    </a:lnTo>
                    <a:lnTo>
                      <a:pt x="222182" y="150413"/>
                    </a:lnTo>
                    <a:lnTo>
                      <a:pt x="67209" y="60196"/>
                    </a:lnTo>
                    <a:cubicBezTo>
                      <a:pt x="55910" y="75009"/>
                      <a:pt x="35130" y="79450"/>
                      <a:pt x="18619" y="69849"/>
                    </a:cubicBezTo>
                    <a:cubicBezTo>
                      <a:pt x="737" y="59442"/>
                      <a:pt x="-5315" y="36502"/>
                      <a:pt x="5092" y="18620"/>
                    </a:cubicBezTo>
                    <a:cubicBezTo>
                      <a:pt x="15499" y="737"/>
                      <a:pt x="38439" y="-5315"/>
                      <a:pt x="56304" y="5092"/>
                    </a:cubicBezTo>
                    <a:cubicBezTo>
                      <a:pt x="72815" y="14693"/>
                      <a:pt x="79210" y="34976"/>
                      <a:pt x="71923" y="52104"/>
                    </a:cubicBezTo>
                    <a:lnTo>
                      <a:pt x="231543" y="145013"/>
                    </a:lnTo>
                    <a:lnTo>
                      <a:pt x="231543" y="147704"/>
                    </a:lnTo>
                    <a:lnTo>
                      <a:pt x="231732" y="305284"/>
                    </a:lnTo>
                    <a:lnTo>
                      <a:pt x="231732" y="320320"/>
                    </a:lnTo>
                    <a:lnTo>
                      <a:pt x="232452" y="892672"/>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92" name="Google Shape;992;p44"/>
              <p:cNvSpPr/>
              <p:nvPr/>
            </p:nvSpPr>
            <p:spPr>
              <a:xfrm>
                <a:off x="6225084" y="1324022"/>
                <a:ext cx="169358" cy="1336332"/>
              </a:xfrm>
              <a:custGeom>
                <a:rect b="b" l="l" r="r" t="t"/>
                <a:pathLst>
                  <a:path extrusionOk="0" h="1336332" w="169358">
                    <a:moveTo>
                      <a:pt x="164266" y="56304"/>
                    </a:moveTo>
                    <a:cubicBezTo>
                      <a:pt x="154648" y="72815"/>
                      <a:pt x="134382" y="79210"/>
                      <a:pt x="117254" y="71906"/>
                    </a:cubicBezTo>
                    <a:lnTo>
                      <a:pt x="9361" y="257261"/>
                    </a:lnTo>
                    <a:lnTo>
                      <a:pt x="10133" y="712529"/>
                    </a:lnTo>
                    <a:lnTo>
                      <a:pt x="10167" y="727548"/>
                    </a:lnTo>
                    <a:lnTo>
                      <a:pt x="11196" y="1336333"/>
                    </a:lnTo>
                    <a:lnTo>
                      <a:pt x="1817" y="1336333"/>
                    </a:lnTo>
                    <a:lnTo>
                      <a:pt x="806" y="732795"/>
                    </a:lnTo>
                    <a:lnTo>
                      <a:pt x="771" y="717776"/>
                    </a:lnTo>
                    <a:lnTo>
                      <a:pt x="0" y="254741"/>
                    </a:lnTo>
                    <a:lnTo>
                      <a:pt x="109162" y="67209"/>
                    </a:lnTo>
                    <a:cubicBezTo>
                      <a:pt x="94349" y="55910"/>
                      <a:pt x="89908" y="35130"/>
                      <a:pt x="99510" y="18620"/>
                    </a:cubicBezTo>
                    <a:cubicBezTo>
                      <a:pt x="109916" y="737"/>
                      <a:pt x="132857" y="-5315"/>
                      <a:pt x="150739" y="5092"/>
                    </a:cubicBezTo>
                    <a:cubicBezTo>
                      <a:pt x="168621" y="15499"/>
                      <a:pt x="174673" y="38422"/>
                      <a:pt x="164266" y="56304"/>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93" name="Google Shape;993;p44"/>
              <p:cNvSpPr/>
              <p:nvPr/>
            </p:nvSpPr>
            <p:spPr>
              <a:xfrm>
                <a:off x="6469023" y="3090540"/>
                <a:ext cx="878072" cy="374875"/>
              </a:xfrm>
              <a:custGeom>
                <a:rect b="b" l="l" r="r" t="t"/>
                <a:pathLst>
                  <a:path extrusionOk="0" h="374875" w="878072">
                    <a:moveTo>
                      <a:pt x="859530" y="291054"/>
                    </a:moveTo>
                    <a:cubicBezTo>
                      <a:pt x="843054" y="300706"/>
                      <a:pt x="822257" y="296300"/>
                      <a:pt x="810924" y="281538"/>
                    </a:cubicBezTo>
                    <a:lnTo>
                      <a:pt x="651544" y="374875"/>
                    </a:lnTo>
                    <a:lnTo>
                      <a:pt x="649212" y="373555"/>
                    </a:lnTo>
                    <a:lnTo>
                      <a:pt x="531924" y="307530"/>
                    </a:lnTo>
                    <a:lnTo>
                      <a:pt x="531906" y="307530"/>
                    </a:lnTo>
                    <a:lnTo>
                      <a:pt x="518533" y="300003"/>
                    </a:lnTo>
                    <a:lnTo>
                      <a:pt x="0" y="8161"/>
                    </a:lnTo>
                    <a:lnTo>
                      <a:pt x="4595" y="0"/>
                    </a:lnTo>
                    <a:lnTo>
                      <a:pt x="528100" y="294637"/>
                    </a:lnTo>
                    <a:lnTo>
                      <a:pt x="541473" y="302181"/>
                    </a:lnTo>
                    <a:lnTo>
                      <a:pt x="651459" y="364074"/>
                    </a:lnTo>
                    <a:lnTo>
                      <a:pt x="806192" y="273446"/>
                    </a:lnTo>
                    <a:cubicBezTo>
                      <a:pt x="798854" y="256335"/>
                      <a:pt x="805198" y="236052"/>
                      <a:pt x="821674" y="226400"/>
                    </a:cubicBezTo>
                    <a:cubicBezTo>
                      <a:pt x="839522" y="215941"/>
                      <a:pt x="862479" y="221942"/>
                      <a:pt x="872938" y="239790"/>
                    </a:cubicBezTo>
                    <a:cubicBezTo>
                      <a:pt x="883379" y="257638"/>
                      <a:pt x="877395" y="280595"/>
                      <a:pt x="859530" y="291054"/>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94" name="Google Shape;994;p44"/>
              <p:cNvSpPr/>
              <p:nvPr/>
            </p:nvSpPr>
            <p:spPr>
              <a:xfrm>
                <a:off x="6329480" y="3300909"/>
                <a:ext cx="1109263" cy="789192"/>
              </a:xfrm>
              <a:custGeom>
                <a:rect b="b" l="l" r="r" t="t"/>
                <a:pathLst>
                  <a:path extrusionOk="0" h="789192" w="1109263">
                    <a:moveTo>
                      <a:pt x="1090731" y="784058"/>
                    </a:moveTo>
                    <a:cubicBezTo>
                      <a:pt x="1072866" y="794499"/>
                      <a:pt x="1049926" y="788516"/>
                      <a:pt x="1039467" y="770651"/>
                    </a:cubicBezTo>
                    <a:cubicBezTo>
                      <a:pt x="1029815" y="754174"/>
                      <a:pt x="1034221" y="733377"/>
                      <a:pt x="1048983" y="722044"/>
                    </a:cubicBezTo>
                    <a:lnTo>
                      <a:pt x="940609" y="536999"/>
                    </a:lnTo>
                    <a:lnTo>
                      <a:pt x="560882" y="323509"/>
                    </a:lnTo>
                    <a:lnTo>
                      <a:pt x="547766" y="316136"/>
                    </a:lnTo>
                    <a:lnTo>
                      <a:pt x="0" y="8161"/>
                    </a:lnTo>
                    <a:lnTo>
                      <a:pt x="4578" y="0"/>
                    </a:lnTo>
                    <a:lnTo>
                      <a:pt x="547766" y="305387"/>
                    </a:lnTo>
                    <a:lnTo>
                      <a:pt x="560882" y="312759"/>
                    </a:lnTo>
                    <a:lnTo>
                      <a:pt x="947416" y="530072"/>
                    </a:lnTo>
                    <a:lnTo>
                      <a:pt x="1057075" y="717312"/>
                    </a:lnTo>
                    <a:cubicBezTo>
                      <a:pt x="1074169" y="709974"/>
                      <a:pt x="1094468" y="716318"/>
                      <a:pt x="1104121" y="732794"/>
                    </a:cubicBezTo>
                    <a:cubicBezTo>
                      <a:pt x="1114580" y="750643"/>
                      <a:pt x="1108579" y="773600"/>
                      <a:pt x="1090731" y="784058"/>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95" name="Google Shape;995;p44"/>
              <p:cNvSpPr/>
              <p:nvPr/>
            </p:nvSpPr>
            <p:spPr>
              <a:xfrm>
                <a:off x="4213294" y="1103586"/>
                <a:ext cx="3759512" cy="3229015"/>
              </a:xfrm>
              <a:custGeom>
                <a:rect b="b" l="l" r="r" t="t"/>
                <a:pathLst>
                  <a:path extrusionOk="0" h="3229016" w="3759512">
                    <a:moveTo>
                      <a:pt x="3739509" y="3155418"/>
                    </a:moveTo>
                    <a:cubicBezTo>
                      <a:pt x="3721969" y="3145525"/>
                      <a:pt x="3700092" y="3150565"/>
                      <a:pt x="3688485" y="3166407"/>
                    </a:cubicBezTo>
                    <a:lnTo>
                      <a:pt x="1884282" y="2148063"/>
                    </a:lnTo>
                    <a:lnTo>
                      <a:pt x="1884282" y="78353"/>
                    </a:lnTo>
                    <a:cubicBezTo>
                      <a:pt x="1903794" y="76038"/>
                      <a:pt x="1918932" y="59459"/>
                      <a:pt x="1918932" y="39331"/>
                    </a:cubicBezTo>
                    <a:cubicBezTo>
                      <a:pt x="1918932" y="17608"/>
                      <a:pt x="1901325" y="0"/>
                      <a:pt x="1879602" y="0"/>
                    </a:cubicBezTo>
                    <a:cubicBezTo>
                      <a:pt x="1857879" y="0"/>
                      <a:pt x="1840271" y="17608"/>
                      <a:pt x="1840271" y="39331"/>
                    </a:cubicBezTo>
                    <a:cubicBezTo>
                      <a:pt x="1840271" y="59459"/>
                      <a:pt x="1855410" y="76038"/>
                      <a:pt x="1874921" y="78353"/>
                    </a:cubicBezTo>
                    <a:lnTo>
                      <a:pt x="1874921" y="2148234"/>
                    </a:lnTo>
                    <a:lnTo>
                      <a:pt x="71027" y="3166407"/>
                    </a:lnTo>
                    <a:cubicBezTo>
                      <a:pt x="59420" y="3150548"/>
                      <a:pt x="37543" y="3145525"/>
                      <a:pt x="20004" y="3155418"/>
                    </a:cubicBezTo>
                    <a:cubicBezTo>
                      <a:pt x="1093" y="3166099"/>
                      <a:pt x="-5594" y="3190085"/>
                      <a:pt x="5088" y="3209013"/>
                    </a:cubicBezTo>
                    <a:cubicBezTo>
                      <a:pt x="15769" y="3227923"/>
                      <a:pt x="39755" y="3234610"/>
                      <a:pt x="58683" y="3223929"/>
                    </a:cubicBezTo>
                    <a:cubicBezTo>
                      <a:pt x="76222" y="3214036"/>
                      <a:pt x="83217" y="3192708"/>
                      <a:pt x="75639" y="3174568"/>
                    </a:cubicBezTo>
                    <a:lnTo>
                      <a:pt x="1877167" y="2157733"/>
                    </a:lnTo>
                    <a:lnTo>
                      <a:pt x="1882345" y="2157733"/>
                    </a:lnTo>
                    <a:lnTo>
                      <a:pt x="3683873" y="3174568"/>
                    </a:lnTo>
                    <a:cubicBezTo>
                      <a:pt x="3676295" y="3192708"/>
                      <a:pt x="3683290" y="3214036"/>
                      <a:pt x="3700830" y="3223929"/>
                    </a:cubicBezTo>
                    <a:cubicBezTo>
                      <a:pt x="3719741" y="3234610"/>
                      <a:pt x="3743744" y="3227923"/>
                      <a:pt x="3754425" y="3209013"/>
                    </a:cubicBezTo>
                    <a:cubicBezTo>
                      <a:pt x="3765106" y="3190102"/>
                      <a:pt x="3758420" y="3166099"/>
                      <a:pt x="3739509" y="3155418"/>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96" name="Google Shape;996;p44"/>
              <p:cNvSpPr/>
              <p:nvPr/>
            </p:nvSpPr>
            <p:spPr>
              <a:xfrm>
                <a:off x="4839006" y="3090540"/>
                <a:ext cx="878072" cy="374875"/>
              </a:xfrm>
              <a:custGeom>
                <a:rect b="b" l="l" r="r" t="t"/>
                <a:pathLst>
                  <a:path extrusionOk="0" h="374875" w="878072">
                    <a:moveTo>
                      <a:pt x="878072" y="8161"/>
                    </a:moveTo>
                    <a:lnTo>
                      <a:pt x="359676" y="299918"/>
                    </a:lnTo>
                    <a:lnTo>
                      <a:pt x="346286" y="307461"/>
                    </a:lnTo>
                    <a:lnTo>
                      <a:pt x="228860" y="373555"/>
                    </a:lnTo>
                    <a:lnTo>
                      <a:pt x="226528" y="374875"/>
                    </a:lnTo>
                    <a:lnTo>
                      <a:pt x="67148" y="281538"/>
                    </a:lnTo>
                    <a:cubicBezTo>
                      <a:pt x="55815" y="296300"/>
                      <a:pt x="35018" y="300706"/>
                      <a:pt x="18542" y="291054"/>
                    </a:cubicBezTo>
                    <a:cubicBezTo>
                      <a:pt x="677" y="280595"/>
                      <a:pt x="-5307" y="257638"/>
                      <a:pt x="5135" y="239790"/>
                    </a:cubicBezTo>
                    <a:cubicBezTo>
                      <a:pt x="15593" y="221942"/>
                      <a:pt x="38550" y="215941"/>
                      <a:pt x="56398" y="226400"/>
                    </a:cubicBezTo>
                    <a:cubicBezTo>
                      <a:pt x="72874" y="236052"/>
                      <a:pt x="79218" y="256335"/>
                      <a:pt x="71880" y="273446"/>
                    </a:cubicBezTo>
                    <a:lnTo>
                      <a:pt x="226614" y="364074"/>
                    </a:lnTo>
                    <a:lnTo>
                      <a:pt x="336736" y="302095"/>
                    </a:lnTo>
                    <a:lnTo>
                      <a:pt x="350126" y="294568"/>
                    </a:lnTo>
                    <a:lnTo>
                      <a:pt x="873478" y="0"/>
                    </a:lnTo>
                    <a:lnTo>
                      <a:pt x="878072" y="8161"/>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997" name="Google Shape;997;p44"/>
              <p:cNvSpPr/>
              <p:nvPr/>
            </p:nvSpPr>
            <p:spPr>
              <a:xfrm>
                <a:off x="4747357" y="3300909"/>
                <a:ext cx="1109263" cy="789192"/>
              </a:xfrm>
              <a:custGeom>
                <a:rect b="b" l="l" r="r" t="t"/>
                <a:pathLst>
                  <a:path extrusionOk="0" h="789192" w="1109263">
                    <a:moveTo>
                      <a:pt x="1109264" y="8161"/>
                    </a:moveTo>
                    <a:lnTo>
                      <a:pt x="559921" y="317011"/>
                    </a:lnTo>
                    <a:lnTo>
                      <a:pt x="546822" y="324383"/>
                    </a:lnTo>
                    <a:lnTo>
                      <a:pt x="168655" y="536999"/>
                    </a:lnTo>
                    <a:lnTo>
                      <a:pt x="60281" y="722044"/>
                    </a:lnTo>
                    <a:cubicBezTo>
                      <a:pt x="75043" y="733377"/>
                      <a:pt x="79449" y="754174"/>
                      <a:pt x="69797" y="770651"/>
                    </a:cubicBezTo>
                    <a:cubicBezTo>
                      <a:pt x="59338" y="788516"/>
                      <a:pt x="36381" y="794499"/>
                      <a:pt x="18533" y="784058"/>
                    </a:cubicBezTo>
                    <a:cubicBezTo>
                      <a:pt x="685" y="773600"/>
                      <a:pt x="-5316" y="750643"/>
                      <a:pt x="5143" y="732794"/>
                    </a:cubicBezTo>
                    <a:cubicBezTo>
                      <a:pt x="14795" y="716318"/>
                      <a:pt x="35078" y="709974"/>
                      <a:pt x="52189" y="717312"/>
                    </a:cubicBezTo>
                    <a:lnTo>
                      <a:pt x="161848" y="530072"/>
                    </a:lnTo>
                    <a:lnTo>
                      <a:pt x="546822" y="313633"/>
                    </a:lnTo>
                    <a:lnTo>
                      <a:pt x="559921" y="306278"/>
                    </a:lnTo>
                    <a:lnTo>
                      <a:pt x="1104686" y="0"/>
                    </a:lnTo>
                    <a:lnTo>
                      <a:pt x="1109264" y="8161"/>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grpSp>
          <p:nvGrpSpPr>
            <p:cNvPr id="998" name="Google Shape;998;p44"/>
            <p:cNvGrpSpPr/>
            <p:nvPr/>
          </p:nvGrpSpPr>
          <p:grpSpPr>
            <a:xfrm>
              <a:off x="4837098" y="2685495"/>
              <a:ext cx="192040" cy="192059"/>
              <a:chOff x="4189277" y="1818077"/>
              <a:chExt cx="299321" cy="299350"/>
            </a:xfrm>
          </p:grpSpPr>
          <p:sp>
            <p:nvSpPr>
              <p:cNvPr id="999" name="Google Shape;999;p44"/>
              <p:cNvSpPr/>
              <p:nvPr/>
            </p:nvSpPr>
            <p:spPr>
              <a:xfrm rot="-2700000">
                <a:off x="4465873" y="2088144"/>
                <a:ext cx="14984" cy="28100"/>
              </a:xfrm>
              <a:custGeom>
                <a:rect b="b" l="l" r="r" t="t"/>
                <a:pathLst>
                  <a:path extrusionOk="0" h="28100" w="14984">
                    <a:moveTo>
                      <a:pt x="0" y="0"/>
                    </a:moveTo>
                    <a:lnTo>
                      <a:pt x="14985" y="0"/>
                    </a:lnTo>
                    <a:lnTo>
                      <a:pt x="14985" y="28101"/>
                    </a:lnTo>
                    <a:lnTo>
                      <a:pt x="0" y="28101"/>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1000" name="Google Shape;1000;p44"/>
              <p:cNvSpPr/>
              <p:nvPr/>
            </p:nvSpPr>
            <p:spPr>
              <a:xfrm>
                <a:off x="4239300" y="1873304"/>
                <a:ext cx="200990" cy="200991"/>
              </a:xfrm>
              <a:custGeom>
                <a:rect b="b" l="l" r="r" t="t"/>
                <a:pathLst>
                  <a:path extrusionOk="0" h="200990" w="200990">
                    <a:moveTo>
                      <a:pt x="190395" y="200991"/>
                    </a:moveTo>
                    <a:lnTo>
                      <a:pt x="146452" y="157048"/>
                    </a:lnTo>
                    <a:lnTo>
                      <a:pt x="157048" y="146453"/>
                    </a:lnTo>
                    <a:lnTo>
                      <a:pt x="200991" y="190395"/>
                    </a:lnTo>
                    <a:lnTo>
                      <a:pt x="190395" y="200991"/>
                    </a:lnTo>
                    <a:close/>
                    <a:moveTo>
                      <a:pt x="117169" y="127765"/>
                    </a:moveTo>
                    <a:lnTo>
                      <a:pt x="73226" y="83822"/>
                    </a:lnTo>
                    <a:lnTo>
                      <a:pt x="83822" y="73226"/>
                    </a:lnTo>
                    <a:lnTo>
                      <a:pt x="127764" y="117169"/>
                    </a:lnTo>
                    <a:lnTo>
                      <a:pt x="117169" y="127765"/>
                    </a:lnTo>
                    <a:close/>
                    <a:moveTo>
                      <a:pt x="43942" y="54538"/>
                    </a:moveTo>
                    <a:lnTo>
                      <a:pt x="0" y="10596"/>
                    </a:lnTo>
                    <a:lnTo>
                      <a:pt x="10595" y="0"/>
                    </a:lnTo>
                    <a:lnTo>
                      <a:pt x="54538" y="43943"/>
                    </a:lnTo>
                    <a:lnTo>
                      <a:pt x="43942" y="54538"/>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1001" name="Google Shape;1001;p44"/>
              <p:cNvSpPr/>
              <p:nvPr/>
            </p:nvSpPr>
            <p:spPr>
              <a:xfrm rot="-2700000">
                <a:off x="4197017" y="1819259"/>
                <a:ext cx="14984" cy="28100"/>
              </a:xfrm>
              <a:custGeom>
                <a:rect b="b" l="l" r="r" t="t"/>
                <a:pathLst>
                  <a:path extrusionOk="0" h="28100" w="14984">
                    <a:moveTo>
                      <a:pt x="0" y="0"/>
                    </a:moveTo>
                    <a:lnTo>
                      <a:pt x="14985" y="0"/>
                    </a:lnTo>
                    <a:lnTo>
                      <a:pt x="14985" y="28101"/>
                    </a:lnTo>
                    <a:lnTo>
                      <a:pt x="0" y="28101"/>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grpSp>
          <p:nvGrpSpPr>
            <p:cNvPr id="1002" name="Google Shape;1002;p44"/>
            <p:cNvGrpSpPr/>
            <p:nvPr/>
          </p:nvGrpSpPr>
          <p:grpSpPr>
            <a:xfrm>
              <a:off x="7089546" y="2685571"/>
              <a:ext cx="192226" cy="191706"/>
              <a:chOff x="7699999" y="1818189"/>
              <a:chExt cx="299609" cy="298798"/>
            </a:xfrm>
          </p:grpSpPr>
          <p:sp>
            <p:nvSpPr>
              <p:cNvPr id="1003" name="Google Shape;1003;p44"/>
              <p:cNvSpPr/>
              <p:nvPr/>
            </p:nvSpPr>
            <p:spPr>
              <a:xfrm rot="-2700000">
                <a:off x="7701181" y="2094263"/>
                <a:ext cx="28100" cy="14984"/>
              </a:xfrm>
              <a:custGeom>
                <a:rect b="b" l="l" r="r" t="t"/>
                <a:pathLst>
                  <a:path extrusionOk="0" h="14984" w="28100">
                    <a:moveTo>
                      <a:pt x="0" y="0"/>
                    </a:moveTo>
                    <a:lnTo>
                      <a:pt x="28100" y="0"/>
                    </a:lnTo>
                    <a:lnTo>
                      <a:pt x="28100" y="14985"/>
                    </a:lnTo>
                    <a:lnTo>
                      <a:pt x="0" y="14985"/>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1004" name="Google Shape;1004;p44"/>
              <p:cNvSpPr/>
              <p:nvPr/>
            </p:nvSpPr>
            <p:spPr>
              <a:xfrm>
                <a:off x="7749172" y="1866884"/>
                <a:ext cx="201007" cy="200990"/>
              </a:xfrm>
              <a:custGeom>
                <a:rect b="b" l="l" r="r" t="t"/>
                <a:pathLst>
                  <a:path extrusionOk="0" h="200990" w="201007">
                    <a:moveTo>
                      <a:pt x="10595" y="200991"/>
                    </a:moveTo>
                    <a:lnTo>
                      <a:pt x="0" y="190395"/>
                    </a:lnTo>
                    <a:lnTo>
                      <a:pt x="43943" y="146453"/>
                    </a:lnTo>
                    <a:lnTo>
                      <a:pt x="54538" y="157048"/>
                    </a:lnTo>
                    <a:lnTo>
                      <a:pt x="10595" y="200991"/>
                    </a:lnTo>
                    <a:close/>
                    <a:moveTo>
                      <a:pt x="83822" y="127765"/>
                    </a:moveTo>
                    <a:lnTo>
                      <a:pt x="73226" y="117169"/>
                    </a:lnTo>
                    <a:lnTo>
                      <a:pt x="117169" y="73226"/>
                    </a:lnTo>
                    <a:lnTo>
                      <a:pt x="127765" y="83822"/>
                    </a:lnTo>
                    <a:lnTo>
                      <a:pt x="83822" y="127765"/>
                    </a:lnTo>
                    <a:close/>
                    <a:moveTo>
                      <a:pt x="157066" y="54538"/>
                    </a:moveTo>
                    <a:lnTo>
                      <a:pt x="146470" y="43943"/>
                    </a:lnTo>
                    <a:lnTo>
                      <a:pt x="190412" y="0"/>
                    </a:lnTo>
                    <a:lnTo>
                      <a:pt x="201008" y="10596"/>
                    </a:lnTo>
                    <a:lnTo>
                      <a:pt x="157066" y="54538"/>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1005" name="Google Shape;1005;p44"/>
              <p:cNvSpPr/>
              <p:nvPr/>
            </p:nvSpPr>
            <p:spPr>
              <a:xfrm rot="-2699399">
                <a:off x="7970324" y="1825929"/>
                <a:ext cx="28100" cy="14984"/>
              </a:xfrm>
              <a:custGeom>
                <a:rect b="b" l="l" r="r" t="t"/>
                <a:pathLst>
                  <a:path extrusionOk="0" h="14984" w="28100">
                    <a:moveTo>
                      <a:pt x="0" y="0"/>
                    </a:moveTo>
                    <a:lnTo>
                      <a:pt x="28101" y="0"/>
                    </a:lnTo>
                    <a:lnTo>
                      <a:pt x="28101" y="14985"/>
                    </a:lnTo>
                    <a:lnTo>
                      <a:pt x="0" y="14985"/>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grpSp>
          <p:nvGrpSpPr>
            <p:cNvPr id="1006" name="Google Shape;1006;p44"/>
            <p:cNvGrpSpPr/>
            <p:nvPr/>
          </p:nvGrpSpPr>
          <p:grpSpPr>
            <a:xfrm>
              <a:off x="6053086" y="4591141"/>
              <a:ext cx="9613" cy="172767"/>
              <a:chOff x="6084770" y="4788269"/>
              <a:chExt cx="14984" cy="269280"/>
            </a:xfrm>
          </p:grpSpPr>
          <p:sp>
            <p:nvSpPr>
              <p:cNvPr id="1007" name="Google Shape;1007;p44"/>
              <p:cNvSpPr/>
              <p:nvPr/>
            </p:nvSpPr>
            <p:spPr>
              <a:xfrm>
                <a:off x="6084771" y="4788269"/>
                <a:ext cx="14983" cy="269280"/>
              </a:xfrm>
              <a:custGeom>
                <a:rect b="b" l="l" r="r" t="t"/>
                <a:pathLst>
                  <a:path extrusionOk="0" h="269279" w="14984">
                    <a:moveTo>
                      <a:pt x="14985" y="269279"/>
                    </a:moveTo>
                    <a:lnTo>
                      <a:pt x="0" y="269279"/>
                    </a:lnTo>
                    <a:lnTo>
                      <a:pt x="0" y="207146"/>
                    </a:lnTo>
                    <a:lnTo>
                      <a:pt x="14985" y="207146"/>
                    </a:lnTo>
                    <a:lnTo>
                      <a:pt x="14985" y="269279"/>
                    </a:lnTo>
                    <a:close/>
                    <a:moveTo>
                      <a:pt x="14985" y="165707"/>
                    </a:moveTo>
                    <a:lnTo>
                      <a:pt x="0" y="165707"/>
                    </a:lnTo>
                    <a:lnTo>
                      <a:pt x="0" y="103573"/>
                    </a:lnTo>
                    <a:lnTo>
                      <a:pt x="14985" y="103573"/>
                    </a:lnTo>
                    <a:lnTo>
                      <a:pt x="14985" y="165707"/>
                    </a:lnTo>
                    <a:close/>
                    <a:moveTo>
                      <a:pt x="14985" y="62133"/>
                    </a:moveTo>
                    <a:lnTo>
                      <a:pt x="0" y="62133"/>
                    </a:lnTo>
                    <a:lnTo>
                      <a:pt x="0" y="0"/>
                    </a:lnTo>
                    <a:lnTo>
                      <a:pt x="14985" y="0"/>
                    </a:lnTo>
                    <a:lnTo>
                      <a:pt x="14985" y="62133"/>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1008" name="Google Shape;1008;p44"/>
              <p:cNvSpPr/>
              <p:nvPr/>
            </p:nvSpPr>
            <p:spPr>
              <a:xfrm>
                <a:off x="6084770" y="4819699"/>
                <a:ext cx="14984" cy="28100"/>
              </a:xfrm>
              <a:custGeom>
                <a:rect b="b" l="l" r="r" t="t"/>
                <a:pathLst>
                  <a:path extrusionOk="0" h="28100" w="14984">
                    <a:moveTo>
                      <a:pt x="0" y="0"/>
                    </a:moveTo>
                    <a:lnTo>
                      <a:pt x="14985" y="0"/>
                    </a:lnTo>
                    <a:lnTo>
                      <a:pt x="14985" y="28100"/>
                    </a:lnTo>
                    <a:lnTo>
                      <a:pt x="0" y="28100"/>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sp>
          <p:nvSpPr>
            <p:cNvPr id="1009" name="Google Shape;1009;p44"/>
            <p:cNvSpPr/>
            <p:nvPr/>
          </p:nvSpPr>
          <p:spPr>
            <a:xfrm>
              <a:off x="5075566" y="2643089"/>
              <a:ext cx="915678" cy="1027274"/>
            </a:xfrm>
            <a:custGeom>
              <a:rect b="b" l="l" r="r" t="t"/>
              <a:pathLst>
                <a:path extrusionOk="0" h="1601137" w="1427201">
                  <a:moveTo>
                    <a:pt x="0" y="400284"/>
                  </a:moveTo>
                  <a:lnTo>
                    <a:pt x="0" y="1200853"/>
                  </a:lnTo>
                  <a:lnTo>
                    <a:pt x="713609" y="1601137"/>
                  </a:lnTo>
                  <a:lnTo>
                    <a:pt x="1427201" y="1200853"/>
                  </a:lnTo>
                  <a:lnTo>
                    <a:pt x="1427201" y="400284"/>
                  </a:lnTo>
                  <a:lnTo>
                    <a:pt x="713609" y="0"/>
                  </a:lnTo>
                  <a:lnTo>
                    <a:pt x="0" y="400284"/>
                  </a:lnTo>
                  <a:close/>
                </a:path>
              </a:pathLst>
            </a:custGeom>
            <a:solidFill>
              <a:schemeClr val="accent4"/>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1010" name="Google Shape;1010;p44"/>
            <p:cNvSpPr/>
            <p:nvPr/>
          </p:nvSpPr>
          <p:spPr>
            <a:xfrm>
              <a:off x="5600204" y="3528761"/>
              <a:ext cx="915667" cy="1027274"/>
            </a:xfrm>
            <a:custGeom>
              <a:rect b="b" l="l" r="r" t="t"/>
              <a:pathLst>
                <a:path extrusionOk="0" h="1601137" w="1427183">
                  <a:moveTo>
                    <a:pt x="0" y="400284"/>
                  </a:moveTo>
                  <a:lnTo>
                    <a:pt x="0" y="1200853"/>
                  </a:lnTo>
                  <a:lnTo>
                    <a:pt x="713592" y="1601137"/>
                  </a:lnTo>
                  <a:lnTo>
                    <a:pt x="1427184" y="1200853"/>
                  </a:lnTo>
                  <a:lnTo>
                    <a:pt x="1427184" y="400284"/>
                  </a:lnTo>
                  <a:lnTo>
                    <a:pt x="713592" y="0"/>
                  </a:lnTo>
                  <a:lnTo>
                    <a:pt x="0" y="400284"/>
                  </a:lnTo>
                  <a:close/>
                </a:path>
              </a:pathLst>
            </a:custGeom>
            <a:solidFill>
              <a:schemeClr val="accent5"/>
            </a:solidFill>
            <a:ln cap="flat" cmpd="sng" w="9525">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1011" name="Google Shape;1011;p44"/>
            <p:cNvSpPr/>
            <p:nvPr/>
          </p:nvSpPr>
          <p:spPr>
            <a:xfrm>
              <a:off x="6126028" y="2643089"/>
              <a:ext cx="915667" cy="1027274"/>
            </a:xfrm>
            <a:custGeom>
              <a:rect b="b" l="l" r="r" t="t"/>
              <a:pathLst>
                <a:path extrusionOk="0" h="1601137" w="1427184">
                  <a:moveTo>
                    <a:pt x="0" y="400284"/>
                  </a:moveTo>
                  <a:lnTo>
                    <a:pt x="0" y="1200853"/>
                  </a:lnTo>
                  <a:lnTo>
                    <a:pt x="713592" y="1601137"/>
                  </a:lnTo>
                  <a:lnTo>
                    <a:pt x="1427184" y="1200853"/>
                  </a:lnTo>
                  <a:lnTo>
                    <a:pt x="1427184" y="400284"/>
                  </a:lnTo>
                  <a:lnTo>
                    <a:pt x="713592" y="0"/>
                  </a:lnTo>
                  <a:lnTo>
                    <a:pt x="0" y="40028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1012" name="Google Shape;1012;p44"/>
            <p:cNvSpPr/>
            <p:nvPr/>
          </p:nvSpPr>
          <p:spPr>
            <a:xfrm>
              <a:off x="5021359" y="2582161"/>
              <a:ext cx="967069" cy="1117003"/>
            </a:xfrm>
            <a:custGeom>
              <a:rect b="b" l="l" r="r" t="t"/>
              <a:pathLst>
                <a:path extrusionOk="0" h="1740989" w="1507302">
                  <a:moveTo>
                    <a:pt x="1507286" y="397833"/>
                  </a:moveTo>
                  <a:lnTo>
                    <a:pt x="1497907" y="392569"/>
                  </a:lnTo>
                  <a:lnTo>
                    <a:pt x="798100" y="0"/>
                  </a:lnTo>
                  <a:lnTo>
                    <a:pt x="0" y="447690"/>
                  </a:lnTo>
                  <a:lnTo>
                    <a:pt x="0" y="1343379"/>
                  </a:lnTo>
                  <a:lnTo>
                    <a:pt x="699276" y="1735623"/>
                  </a:lnTo>
                  <a:lnTo>
                    <a:pt x="708826" y="1740989"/>
                  </a:lnTo>
                  <a:lnTo>
                    <a:pt x="722216" y="1733445"/>
                  </a:lnTo>
                  <a:lnTo>
                    <a:pt x="712666" y="1728096"/>
                  </a:lnTo>
                  <a:lnTo>
                    <a:pt x="13116" y="1335699"/>
                  </a:lnTo>
                  <a:lnTo>
                    <a:pt x="13116" y="455371"/>
                  </a:lnTo>
                  <a:lnTo>
                    <a:pt x="798100" y="15036"/>
                  </a:lnTo>
                  <a:lnTo>
                    <a:pt x="1497942" y="407622"/>
                  </a:lnTo>
                  <a:lnTo>
                    <a:pt x="1507303" y="412869"/>
                  </a:lnTo>
                  <a:lnTo>
                    <a:pt x="1507303" y="397833"/>
                  </a:lnTo>
                  <a:close/>
                </a:path>
              </a:pathLst>
            </a:custGeom>
            <a:solidFill>
              <a:schemeClr val="accent4"/>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1013" name="Google Shape;1013;p44"/>
            <p:cNvSpPr/>
            <p:nvPr/>
          </p:nvSpPr>
          <p:spPr>
            <a:xfrm>
              <a:off x="6143750" y="2582161"/>
              <a:ext cx="952155" cy="1117045"/>
            </a:xfrm>
            <a:custGeom>
              <a:rect b="b" l="l" r="r" t="t"/>
              <a:pathLst>
                <a:path extrusionOk="0" h="1741057" w="1484054">
                  <a:moveTo>
                    <a:pt x="685972" y="0"/>
                  </a:moveTo>
                  <a:lnTo>
                    <a:pt x="9361" y="379539"/>
                  </a:lnTo>
                  <a:lnTo>
                    <a:pt x="0" y="384785"/>
                  </a:lnTo>
                  <a:lnTo>
                    <a:pt x="34" y="399804"/>
                  </a:lnTo>
                  <a:lnTo>
                    <a:pt x="9395" y="394558"/>
                  </a:lnTo>
                  <a:lnTo>
                    <a:pt x="685972" y="15036"/>
                  </a:lnTo>
                  <a:lnTo>
                    <a:pt x="1470955" y="455371"/>
                  </a:lnTo>
                  <a:lnTo>
                    <a:pt x="1470955" y="1335699"/>
                  </a:lnTo>
                  <a:lnTo>
                    <a:pt x="771268" y="1728165"/>
                  </a:lnTo>
                  <a:lnTo>
                    <a:pt x="761701" y="1733531"/>
                  </a:lnTo>
                  <a:lnTo>
                    <a:pt x="775074" y="1741058"/>
                  </a:lnTo>
                  <a:lnTo>
                    <a:pt x="775091" y="1741058"/>
                  </a:lnTo>
                  <a:lnTo>
                    <a:pt x="784641" y="1735708"/>
                  </a:lnTo>
                  <a:lnTo>
                    <a:pt x="1484054" y="1343379"/>
                  </a:lnTo>
                  <a:lnTo>
                    <a:pt x="1484054" y="447690"/>
                  </a:lnTo>
                  <a:lnTo>
                    <a:pt x="685972" y="0"/>
                  </a:lnTo>
                  <a:close/>
                </a:path>
              </a:pathLst>
            </a:custGeom>
            <a:solidFill>
              <a:schemeClr val="accent3"/>
            </a:soli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1014" name="Google Shape;1014;p44"/>
            <p:cNvSpPr/>
            <p:nvPr/>
          </p:nvSpPr>
          <p:spPr>
            <a:xfrm>
              <a:off x="5545996" y="3832803"/>
              <a:ext cx="1024095" cy="783953"/>
            </a:xfrm>
            <a:custGeom>
              <a:rect b="b" l="l" r="r" t="t"/>
              <a:pathLst>
                <a:path extrusionOk="0" h="1221890" w="1596182">
                  <a:moveTo>
                    <a:pt x="1583066" y="0"/>
                  </a:moveTo>
                  <a:lnTo>
                    <a:pt x="1583066" y="766519"/>
                  </a:lnTo>
                  <a:lnTo>
                    <a:pt x="798083" y="1206854"/>
                  </a:lnTo>
                  <a:lnTo>
                    <a:pt x="13099" y="766519"/>
                  </a:lnTo>
                  <a:lnTo>
                    <a:pt x="13099" y="892"/>
                  </a:lnTo>
                  <a:lnTo>
                    <a:pt x="0" y="8247"/>
                  </a:lnTo>
                  <a:lnTo>
                    <a:pt x="0" y="774200"/>
                  </a:lnTo>
                  <a:lnTo>
                    <a:pt x="794877" y="1220090"/>
                  </a:lnTo>
                  <a:lnTo>
                    <a:pt x="798083" y="1221890"/>
                  </a:lnTo>
                  <a:lnTo>
                    <a:pt x="1596183" y="774200"/>
                  </a:lnTo>
                  <a:lnTo>
                    <a:pt x="1596183" y="7372"/>
                  </a:lnTo>
                  <a:lnTo>
                    <a:pt x="1583066" y="0"/>
                  </a:lnTo>
                  <a:close/>
                </a:path>
              </a:pathLst>
            </a:custGeom>
            <a:solidFill>
              <a:schemeClr val="accent5"/>
            </a:solidFill>
            <a:ln cap="flat" cmpd="sng" w="9525">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1015" name="Google Shape;1015;p44"/>
            <p:cNvSpPr/>
            <p:nvPr/>
          </p:nvSpPr>
          <p:spPr>
            <a:xfrm>
              <a:off x="5123571" y="2696945"/>
              <a:ext cx="819671" cy="919561"/>
            </a:xfrm>
            <a:custGeom>
              <a:rect b="b" l="l" r="r" t="t"/>
              <a:pathLst>
                <a:path extrusionOk="0" h="1433253" w="1277559">
                  <a:moveTo>
                    <a:pt x="0" y="358314"/>
                  </a:moveTo>
                  <a:lnTo>
                    <a:pt x="0" y="1074940"/>
                  </a:lnTo>
                  <a:lnTo>
                    <a:pt x="638788" y="1433254"/>
                  </a:lnTo>
                  <a:lnTo>
                    <a:pt x="1277560" y="1074940"/>
                  </a:lnTo>
                  <a:lnTo>
                    <a:pt x="1277560" y="358314"/>
                  </a:lnTo>
                  <a:lnTo>
                    <a:pt x="638788" y="0"/>
                  </a:lnTo>
                  <a:lnTo>
                    <a:pt x="0" y="358314"/>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1016" name="Google Shape;1016;p44"/>
            <p:cNvSpPr/>
            <p:nvPr/>
          </p:nvSpPr>
          <p:spPr>
            <a:xfrm>
              <a:off x="5136581" y="2707177"/>
              <a:ext cx="813255" cy="919561"/>
            </a:xfrm>
            <a:custGeom>
              <a:rect b="b" l="l" r="r" t="t"/>
              <a:pathLst>
                <a:path extrusionOk="0" h="1433253" w="1267564">
                  <a:moveTo>
                    <a:pt x="1267564" y="358296"/>
                  </a:moveTo>
                  <a:lnTo>
                    <a:pt x="1267564" y="1074940"/>
                  </a:lnTo>
                  <a:lnTo>
                    <a:pt x="628467" y="1433254"/>
                  </a:lnTo>
                  <a:lnTo>
                    <a:pt x="0" y="1076260"/>
                  </a:lnTo>
                  <a:lnTo>
                    <a:pt x="0" y="359634"/>
                  </a:lnTo>
                  <a:lnTo>
                    <a:pt x="628467" y="0"/>
                  </a:lnTo>
                  <a:lnTo>
                    <a:pt x="828447" y="112111"/>
                  </a:lnTo>
                  <a:lnTo>
                    <a:pt x="1267564" y="358296"/>
                  </a:lnTo>
                  <a:close/>
                </a:path>
              </a:pathLst>
            </a:custGeom>
            <a:solidFill>
              <a:srgbClr val="F9F9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1017" name="Google Shape;1017;p44"/>
            <p:cNvSpPr/>
            <p:nvPr/>
          </p:nvSpPr>
          <p:spPr>
            <a:xfrm>
              <a:off x="5648208" y="3582409"/>
              <a:ext cx="819657" cy="919561"/>
            </a:xfrm>
            <a:custGeom>
              <a:rect b="b" l="l" r="r" t="t"/>
              <a:pathLst>
                <a:path extrusionOk="0" h="1433253" w="1277542">
                  <a:moveTo>
                    <a:pt x="0" y="358313"/>
                  </a:moveTo>
                  <a:lnTo>
                    <a:pt x="0" y="1074940"/>
                  </a:lnTo>
                  <a:lnTo>
                    <a:pt x="638771" y="1433253"/>
                  </a:lnTo>
                  <a:lnTo>
                    <a:pt x="1277542" y="1074940"/>
                  </a:lnTo>
                  <a:lnTo>
                    <a:pt x="1277542" y="358313"/>
                  </a:lnTo>
                  <a:lnTo>
                    <a:pt x="638771" y="0"/>
                  </a:lnTo>
                  <a:lnTo>
                    <a:pt x="0" y="35831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1018" name="Google Shape;1018;p44"/>
            <p:cNvSpPr/>
            <p:nvPr/>
          </p:nvSpPr>
          <p:spPr>
            <a:xfrm>
              <a:off x="5663082" y="3582419"/>
              <a:ext cx="813268" cy="919550"/>
            </a:xfrm>
            <a:custGeom>
              <a:rect b="b" l="l" r="r" t="t"/>
              <a:pathLst>
                <a:path extrusionOk="0" h="1433236" w="1267581">
                  <a:moveTo>
                    <a:pt x="1267581" y="358296"/>
                  </a:moveTo>
                  <a:lnTo>
                    <a:pt x="1267581" y="1074923"/>
                  </a:lnTo>
                  <a:lnTo>
                    <a:pt x="628484" y="1433236"/>
                  </a:lnTo>
                  <a:lnTo>
                    <a:pt x="0" y="1076243"/>
                  </a:lnTo>
                  <a:lnTo>
                    <a:pt x="0" y="359634"/>
                  </a:lnTo>
                  <a:lnTo>
                    <a:pt x="628484" y="0"/>
                  </a:lnTo>
                  <a:lnTo>
                    <a:pt x="828446" y="112094"/>
                  </a:lnTo>
                  <a:lnTo>
                    <a:pt x="1267581" y="358296"/>
                  </a:lnTo>
                  <a:close/>
                </a:path>
              </a:pathLst>
            </a:custGeom>
            <a:solidFill>
              <a:srgbClr val="F9F9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1019" name="Google Shape;1019;p44"/>
            <p:cNvSpPr/>
            <p:nvPr/>
          </p:nvSpPr>
          <p:spPr>
            <a:xfrm>
              <a:off x="6174034" y="2696945"/>
              <a:ext cx="819657" cy="919561"/>
            </a:xfrm>
            <a:custGeom>
              <a:rect b="b" l="l" r="r" t="t"/>
              <a:pathLst>
                <a:path extrusionOk="0" h="1433253" w="1277542">
                  <a:moveTo>
                    <a:pt x="0" y="358314"/>
                  </a:moveTo>
                  <a:lnTo>
                    <a:pt x="0" y="1074940"/>
                  </a:lnTo>
                  <a:lnTo>
                    <a:pt x="638771" y="1433254"/>
                  </a:lnTo>
                  <a:lnTo>
                    <a:pt x="1277542" y="1074940"/>
                  </a:lnTo>
                  <a:lnTo>
                    <a:pt x="1277542" y="358314"/>
                  </a:lnTo>
                  <a:lnTo>
                    <a:pt x="638771" y="0"/>
                  </a:lnTo>
                  <a:lnTo>
                    <a:pt x="0" y="358314"/>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1020" name="Google Shape;1020;p44"/>
            <p:cNvSpPr/>
            <p:nvPr/>
          </p:nvSpPr>
          <p:spPr>
            <a:xfrm>
              <a:off x="6159520" y="2706571"/>
              <a:ext cx="813255" cy="919561"/>
            </a:xfrm>
            <a:custGeom>
              <a:rect b="b" l="l" r="r" t="t"/>
              <a:pathLst>
                <a:path extrusionOk="0" h="1433253" w="1267564">
                  <a:moveTo>
                    <a:pt x="1267564" y="358296"/>
                  </a:moveTo>
                  <a:lnTo>
                    <a:pt x="1267564" y="1074940"/>
                  </a:lnTo>
                  <a:lnTo>
                    <a:pt x="628484" y="1433254"/>
                  </a:lnTo>
                  <a:lnTo>
                    <a:pt x="0" y="1076260"/>
                  </a:lnTo>
                  <a:lnTo>
                    <a:pt x="0" y="359634"/>
                  </a:lnTo>
                  <a:lnTo>
                    <a:pt x="628484" y="0"/>
                  </a:lnTo>
                  <a:lnTo>
                    <a:pt x="828446" y="112111"/>
                  </a:lnTo>
                  <a:lnTo>
                    <a:pt x="1267564" y="358296"/>
                  </a:lnTo>
                  <a:close/>
                </a:path>
              </a:pathLst>
            </a:custGeom>
            <a:solidFill>
              <a:srgbClr val="F9F9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nvGrpSpPr>
            <p:cNvPr id="1021" name="Google Shape;1021;p44"/>
            <p:cNvGrpSpPr/>
            <p:nvPr/>
          </p:nvGrpSpPr>
          <p:grpSpPr>
            <a:xfrm>
              <a:off x="4809275" y="2658533"/>
              <a:ext cx="62451" cy="62451"/>
              <a:chOff x="4145906" y="1776046"/>
              <a:chExt cx="97340" cy="97340"/>
            </a:xfrm>
          </p:grpSpPr>
          <p:sp>
            <p:nvSpPr>
              <p:cNvPr id="1022" name="Google Shape;1022;p44"/>
              <p:cNvSpPr/>
              <p:nvPr/>
            </p:nvSpPr>
            <p:spPr>
              <a:xfrm>
                <a:off x="4168353" y="1798493"/>
                <a:ext cx="52429" cy="52429"/>
              </a:xfrm>
              <a:custGeom>
                <a:rect b="b" l="l" r="r" t="t"/>
                <a:pathLst>
                  <a:path extrusionOk="0" h="52429" w="52429">
                    <a:moveTo>
                      <a:pt x="52429" y="26215"/>
                    </a:moveTo>
                    <a:cubicBezTo>
                      <a:pt x="52429" y="40693"/>
                      <a:pt x="40693" y="52430"/>
                      <a:pt x="26215" y="52430"/>
                    </a:cubicBezTo>
                    <a:cubicBezTo>
                      <a:pt x="11737" y="52430"/>
                      <a:pt x="0" y="40693"/>
                      <a:pt x="0" y="26215"/>
                    </a:cubicBezTo>
                    <a:cubicBezTo>
                      <a:pt x="0" y="11737"/>
                      <a:pt x="11737" y="0"/>
                      <a:pt x="26215" y="0"/>
                    </a:cubicBezTo>
                    <a:cubicBezTo>
                      <a:pt x="40693" y="0"/>
                      <a:pt x="52429" y="11737"/>
                      <a:pt x="52429" y="26215"/>
                    </a:cubicBezTo>
                    <a:close/>
                  </a:path>
                </a:pathLst>
              </a:custGeom>
              <a:solidFill>
                <a:schemeClr val="accent4"/>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1023" name="Google Shape;1023;p44"/>
              <p:cNvSpPr/>
              <p:nvPr/>
            </p:nvSpPr>
            <p:spPr>
              <a:xfrm>
                <a:off x="4145906" y="1776046"/>
                <a:ext cx="97340" cy="97340"/>
              </a:xfrm>
              <a:custGeom>
                <a:rect b="b" l="l" r="r" t="t"/>
                <a:pathLst>
                  <a:path extrusionOk="0" h="97340" w="97340">
                    <a:moveTo>
                      <a:pt x="83106" y="83106"/>
                    </a:moveTo>
                    <a:cubicBezTo>
                      <a:pt x="64127" y="102086"/>
                      <a:pt x="33231" y="102086"/>
                      <a:pt x="14235" y="83106"/>
                    </a:cubicBezTo>
                    <a:cubicBezTo>
                      <a:pt x="-4745" y="64127"/>
                      <a:pt x="-4745" y="33231"/>
                      <a:pt x="14235" y="14235"/>
                    </a:cubicBezTo>
                    <a:cubicBezTo>
                      <a:pt x="33214" y="-4745"/>
                      <a:pt x="64109" y="-4745"/>
                      <a:pt x="83106" y="14235"/>
                    </a:cubicBezTo>
                    <a:cubicBezTo>
                      <a:pt x="102086" y="33214"/>
                      <a:pt x="102086" y="64110"/>
                      <a:pt x="83106" y="83106"/>
                    </a:cubicBezTo>
                    <a:close/>
                    <a:moveTo>
                      <a:pt x="20853" y="20853"/>
                    </a:moveTo>
                    <a:cubicBezTo>
                      <a:pt x="5508" y="36197"/>
                      <a:pt x="5508" y="61143"/>
                      <a:pt x="20853" y="76471"/>
                    </a:cubicBezTo>
                    <a:cubicBezTo>
                      <a:pt x="36197" y="91816"/>
                      <a:pt x="61143" y="91816"/>
                      <a:pt x="76471" y="76471"/>
                    </a:cubicBezTo>
                    <a:cubicBezTo>
                      <a:pt x="91816" y="61126"/>
                      <a:pt x="91816" y="36180"/>
                      <a:pt x="76471" y="20853"/>
                    </a:cubicBezTo>
                    <a:cubicBezTo>
                      <a:pt x="61126" y="5508"/>
                      <a:pt x="36180" y="5508"/>
                      <a:pt x="20853" y="20853"/>
                    </a:cubicBezTo>
                    <a:close/>
                  </a:path>
                </a:pathLst>
              </a:custGeom>
              <a:solidFill>
                <a:schemeClr val="accent4"/>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grpSp>
          <p:nvGrpSpPr>
            <p:cNvPr id="1024" name="Google Shape;1024;p44"/>
            <p:cNvGrpSpPr/>
            <p:nvPr/>
          </p:nvGrpSpPr>
          <p:grpSpPr>
            <a:xfrm>
              <a:off x="7246360" y="2658533"/>
              <a:ext cx="62451" cy="62451"/>
              <a:chOff x="7944415" y="1776046"/>
              <a:chExt cx="97340" cy="97340"/>
            </a:xfrm>
          </p:grpSpPr>
          <p:sp>
            <p:nvSpPr>
              <p:cNvPr id="1025" name="Google Shape;1025;p44"/>
              <p:cNvSpPr/>
              <p:nvPr/>
            </p:nvSpPr>
            <p:spPr>
              <a:xfrm>
                <a:off x="7966879" y="1798493"/>
                <a:ext cx="52429" cy="52429"/>
              </a:xfrm>
              <a:custGeom>
                <a:rect b="b" l="l" r="r" t="t"/>
                <a:pathLst>
                  <a:path extrusionOk="0" h="52429" w="52429">
                    <a:moveTo>
                      <a:pt x="52429" y="26215"/>
                    </a:moveTo>
                    <a:cubicBezTo>
                      <a:pt x="52429" y="40693"/>
                      <a:pt x="40693" y="52430"/>
                      <a:pt x="26215" y="52430"/>
                    </a:cubicBezTo>
                    <a:cubicBezTo>
                      <a:pt x="11737" y="52430"/>
                      <a:pt x="0" y="40693"/>
                      <a:pt x="0" y="26215"/>
                    </a:cubicBezTo>
                    <a:cubicBezTo>
                      <a:pt x="0" y="11737"/>
                      <a:pt x="11736" y="0"/>
                      <a:pt x="26215" y="0"/>
                    </a:cubicBezTo>
                    <a:cubicBezTo>
                      <a:pt x="40693" y="0"/>
                      <a:pt x="52429" y="11737"/>
                      <a:pt x="52429" y="26215"/>
                    </a:cubicBezTo>
                    <a:close/>
                  </a:path>
                </a:pathLst>
              </a:custGeom>
              <a:solidFill>
                <a:schemeClr val="accent3"/>
              </a:soli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1026" name="Google Shape;1026;p44"/>
              <p:cNvSpPr/>
              <p:nvPr/>
            </p:nvSpPr>
            <p:spPr>
              <a:xfrm>
                <a:off x="7944415" y="1776046"/>
                <a:ext cx="97340" cy="97340"/>
              </a:xfrm>
              <a:custGeom>
                <a:rect b="b" l="l" r="r" t="t"/>
                <a:pathLst>
                  <a:path extrusionOk="0" h="97340" w="97340">
                    <a:moveTo>
                      <a:pt x="14234" y="83106"/>
                    </a:moveTo>
                    <a:cubicBezTo>
                      <a:pt x="-4745" y="64127"/>
                      <a:pt x="-4745" y="33231"/>
                      <a:pt x="14234" y="14235"/>
                    </a:cubicBezTo>
                    <a:cubicBezTo>
                      <a:pt x="33214" y="-4745"/>
                      <a:pt x="64109" y="-4745"/>
                      <a:pt x="83106" y="14235"/>
                    </a:cubicBezTo>
                    <a:cubicBezTo>
                      <a:pt x="102085" y="33214"/>
                      <a:pt x="102085" y="64110"/>
                      <a:pt x="83106" y="83106"/>
                    </a:cubicBezTo>
                    <a:cubicBezTo>
                      <a:pt x="64127" y="102086"/>
                      <a:pt x="33231" y="102086"/>
                      <a:pt x="14234" y="83106"/>
                    </a:cubicBezTo>
                    <a:close/>
                    <a:moveTo>
                      <a:pt x="76488" y="20853"/>
                    </a:moveTo>
                    <a:cubicBezTo>
                      <a:pt x="61143" y="5508"/>
                      <a:pt x="36197" y="5508"/>
                      <a:pt x="20870" y="20853"/>
                    </a:cubicBezTo>
                    <a:cubicBezTo>
                      <a:pt x="5525" y="36197"/>
                      <a:pt x="5525" y="61143"/>
                      <a:pt x="20870" y="76471"/>
                    </a:cubicBezTo>
                    <a:cubicBezTo>
                      <a:pt x="36214" y="91816"/>
                      <a:pt x="61160" y="91816"/>
                      <a:pt x="76488" y="76471"/>
                    </a:cubicBezTo>
                    <a:cubicBezTo>
                      <a:pt x="91816" y="61126"/>
                      <a:pt x="91833" y="36180"/>
                      <a:pt x="76488" y="20853"/>
                    </a:cubicBezTo>
                    <a:close/>
                  </a:path>
                </a:pathLst>
              </a:custGeom>
              <a:solidFill>
                <a:schemeClr val="accent3"/>
              </a:solid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grpSp>
          <p:nvGrpSpPr>
            <p:cNvPr id="1027" name="Google Shape;1027;p44"/>
            <p:cNvGrpSpPr/>
            <p:nvPr/>
          </p:nvGrpSpPr>
          <p:grpSpPr>
            <a:xfrm>
              <a:off x="6026598" y="4777280"/>
              <a:ext cx="62479" cy="62479"/>
              <a:chOff x="6043263" y="5078381"/>
              <a:chExt cx="97383" cy="97383"/>
            </a:xfrm>
          </p:grpSpPr>
          <p:sp>
            <p:nvSpPr>
              <p:cNvPr id="1028" name="Google Shape;1028;p44"/>
              <p:cNvSpPr/>
              <p:nvPr/>
            </p:nvSpPr>
            <p:spPr>
              <a:xfrm rot="-2700000">
                <a:off x="6065740" y="5100860"/>
                <a:ext cx="52428" cy="52428"/>
              </a:xfrm>
              <a:custGeom>
                <a:rect b="b" l="l" r="r" t="t"/>
                <a:pathLst>
                  <a:path extrusionOk="0" h="52429" w="52429">
                    <a:moveTo>
                      <a:pt x="52429" y="26215"/>
                    </a:moveTo>
                    <a:cubicBezTo>
                      <a:pt x="52429" y="40693"/>
                      <a:pt x="40693" y="52430"/>
                      <a:pt x="26215" y="52430"/>
                    </a:cubicBezTo>
                    <a:cubicBezTo>
                      <a:pt x="11737" y="52430"/>
                      <a:pt x="0" y="40693"/>
                      <a:pt x="0" y="26215"/>
                    </a:cubicBezTo>
                    <a:cubicBezTo>
                      <a:pt x="0" y="11737"/>
                      <a:pt x="11736" y="0"/>
                      <a:pt x="26215" y="0"/>
                    </a:cubicBezTo>
                    <a:cubicBezTo>
                      <a:pt x="40692" y="0"/>
                      <a:pt x="52429" y="11737"/>
                      <a:pt x="52429" y="26215"/>
                    </a:cubicBezTo>
                    <a:close/>
                  </a:path>
                </a:pathLst>
              </a:custGeom>
              <a:solidFill>
                <a:schemeClr val="accent5"/>
              </a:solidFill>
              <a:ln cap="flat" cmpd="sng" w="9525">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1029" name="Google Shape;1029;p44"/>
              <p:cNvSpPr/>
              <p:nvPr/>
            </p:nvSpPr>
            <p:spPr>
              <a:xfrm>
                <a:off x="6043263" y="5078381"/>
                <a:ext cx="97383" cy="97383"/>
              </a:xfrm>
              <a:custGeom>
                <a:rect b="b" l="l" r="r" t="t"/>
                <a:pathLst>
                  <a:path extrusionOk="0" h="97383" w="97383">
                    <a:moveTo>
                      <a:pt x="48692" y="97384"/>
                    </a:moveTo>
                    <a:cubicBezTo>
                      <a:pt x="21843" y="97384"/>
                      <a:pt x="0" y="75541"/>
                      <a:pt x="0" y="48692"/>
                    </a:cubicBezTo>
                    <a:cubicBezTo>
                      <a:pt x="0" y="21843"/>
                      <a:pt x="21843" y="0"/>
                      <a:pt x="48692" y="0"/>
                    </a:cubicBezTo>
                    <a:cubicBezTo>
                      <a:pt x="75541" y="0"/>
                      <a:pt x="97384" y="21843"/>
                      <a:pt x="97384" y="48692"/>
                    </a:cubicBezTo>
                    <a:cubicBezTo>
                      <a:pt x="97384" y="75541"/>
                      <a:pt x="75541" y="97384"/>
                      <a:pt x="48692" y="97384"/>
                    </a:cubicBezTo>
                    <a:close/>
                    <a:moveTo>
                      <a:pt x="48692" y="9344"/>
                    </a:moveTo>
                    <a:cubicBezTo>
                      <a:pt x="27003" y="9344"/>
                      <a:pt x="9361" y="26986"/>
                      <a:pt x="9361" y="48675"/>
                    </a:cubicBezTo>
                    <a:cubicBezTo>
                      <a:pt x="9361" y="70363"/>
                      <a:pt x="27003" y="88005"/>
                      <a:pt x="48692" y="88005"/>
                    </a:cubicBezTo>
                    <a:cubicBezTo>
                      <a:pt x="70380" y="88005"/>
                      <a:pt x="88023" y="70363"/>
                      <a:pt x="88023" y="48675"/>
                    </a:cubicBezTo>
                    <a:cubicBezTo>
                      <a:pt x="88023" y="26986"/>
                      <a:pt x="70380" y="9344"/>
                      <a:pt x="48692" y="9344"/>
                    </a:cubicBezTo>
                    <a:close/>
                  </a:path>
                </a:pathLst>
              </a:custGeom>
              <a:solidFill>
                <a:schemeClr val="accent5"/>
              </a:solidFill>
              <a:ln cap="flat" cmpd="sng" w="9525">
                <a:solidFill>
                  <a:schemeClr val="accent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sp>
          <p:nvSpPr>
            <p:cNvPr id="1030" name="Google Shape;1030;p44"/>
            <p:cNvSpPr/>
            <p:nvPr/>
          </p:nvSpPr>
          <p:spPr>
            <a:xfrm>
              <a:off x="5628738" y="3041775"/>
              <a:ext cx="854594" cy="854594"/>
            </a:xfrm>
            <a:custGeom>
              <a:rect b="b" l="l" r="r" t="t"/>
              <a:pathLst>
                <a:path extrusionOk="0" h="1331995" w="1331995">
                  <a:moveTo>
                    <a:pt x="1331995" y="665998"/>
                  </a:moveTo>
                  <a:cubicBezTo>
                    <a:pt x="1331995" y="1033818"/>
                    <a:pt x="1033818" y="1331995"/>
                    <a:pt x="665998" y="1331995"/>
                  </a:cubicBezTo>
                  <a:cubicBezTo>
                    <a:pt x="298177" y="1331995"/>
                    <a:pt x="0" y="1033818"/>
                    <a:pt x="0" y="665998"/>
                  </a:cubicBezTo>
                  <a:cubicBezTo>
                    <a:pt x="0" y="298177"/>
                    <a:pt x="298177" y="0"/>
                    <a:pt x="665998" y="0"/>
                  </a:cubicBezTo>
                  <a:cubicBezTo>
                    <a:pt x="1033818" y="0"/>
                    <a:pt x="1331995" y="298177"/>
                    <a:pt x="1331995" y="66599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nvGrpSpPr>
            <p:cNvPr id="1031" name="Google Shape;1031;p44"/>
            <p:cNvGrpSpPr/>
            <p:nvPr/>
          </p:nvGrpSpPr>
          <p:grpSpPr>
            <a:xfrm>
              <a:off x="5686412" y="3087405"/>
              <a:ext cx="770026" cy="770038"/>
              <a:chOff x="5513035" y="2444499"/>
              <a:chExt cx="1200184" cy="1200202"/>
            </a:xfrm>
          </p:grpSpPr>
          <p:sp>
            <p:nvSpPr>
              <p:cNvPr id="1032" name="Google Shape;1032;p44"/>
              <p:cNvSpPr/>
              <p:nvPr/>
            </p:nvSpPr>
            <p:spPr>
              <a:xfrm>
                <a:off x="5513035" y="2444499"/>
                <a:ext cx="600092" cy="840619"/>
              </a:xfrm>
              <a:custGeom>
                <a:rect b="b" l="l" r="r" t="t"/>
                <a:pathLst>
                  <a:path extrusionOk="0" h="840619" w="600092">
                    <a:moveTo>
                      <a:pt x="50149" y="840619"/>
                    </a:moveTo>
                    <a:cubicBezTo>
                      <a:pt x="16871" y="764633"/>
                      <a:pt x="0" y="683708"/>
                      <a:pt x="0" y="600092"/>
                    </a:cubicBezTo>
                    <a:cubicBezTo>
                      <a:pt x="0" y="516476"/>
                      <a:pt x="15859" y="440489"/>
                      <a:pt x="47166" y="366509"/>
                    </a:cubicBezTo>
                    <a:cubicBezTo>
                      <a:pt x="77393" y="295048"/>
                      <a:pt x="120667" y="230874"/>
                      <a:pt x="175771" y="175771"/>
                    </a:cubicBezTo>
                    <a:cubicBezTo>
                      <a:pt x="230874" y="120667"/>
                      <a:pt x="295048" y="77393"/>
                      <a:pt x="366509" y="47166"/>
                    </a:cubicBezTo>
                    <a:cubicBezTo>
                      <a:pt x="440489" y="15876"/>
                      <a:pt x="519082" y="0"/>
                      <a:pt x="600092" y="0"/>
                    </a:cubicBezTo>
                    <a:lnTo>
                      <a:pt x="600092" y="17145"/>
                    </a:lnTo>
                    <a:cubicBezTo>
                      <a:pt x="278658" y="17145"/>
                      <a:pt x="17145" y="278658"/>
                      <a:pt x="17145" y="600092"/>
                    </a:cubicBezTo>
                    <a:cubicBezTo>
                      <a:pt x="17145" y="681325"/>
                      <a:pt x="33536" y="759935"/>
                      <a:pt x="65854" y="833744"/>
                    </a:cubicBezTo>
                    <a:lnTo>
                      <a:pt x="50149" y="840619"/>
                    </a:ln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1033" name="Google Shape;1033;p44"/>
              <p:cNvSpPr/>
              <p:nvPr/>
            </p:nvSpPr>
            <p:spPr>
              <a:xfrm>
                <a:off x="5563184" y="3278261"/>
                <a:ext cx="1084215" cy="366440"/>
              </a:xfrm>
              <a:custGeom>
                <a:rect b="b" l="l" r="r" t="t"/>
                <a:pathLst>
                  <a:path extrusionOk="0" h="366440" w="1084215">
                    <a:moveTo>
                      <a:pt x="549943" y="366440"/>
                    </a:moveTo>
                    <a:cubicBezTo>
                      <a:pt x="311525" y="366440"/>
                      <a:pt x="95669" y="225303"/>
                      <a:pt x="0" y="6875"/>
                    </a:cubicBezTo>
                    <a:lnTo>
                      <a:pt x="15705" y="0"/>
                    </a:lnTo>
                    <a:cubicBezTo>
                      <a:pt x="108648" y="212187"/>
                      <a:pt x="318348" y="349295"/>
                      <a:pt x="549943" y="349295"/>
                    </a:cubicBezTo>
                    <a:cubicBezTo>
                      <a:pt x="781538" y="349295"/>
                      <a:pt x="968590" y="227737"/>
                      <a:pt x="1068956" y="32044"/>
                    </a:cubicBezTo>
                    <a:lnTo>
                      <a:pt x="1084216" y="39862"/>
                    </a:lnTo>
                    <a:cubicBezTo>
                      <a:pt x="1034581" y="136611"/>
                      <a:pt x="959520" y="218222"/>
                      <a:pt x="867126" y="275863"/>
                    </a:cubicBezTo>
                    <a:cubicBezTo>
                      <a:pt x="772125" y="335116"/>
                      <a:pt x="662449" y="366440"/>
                      <a:pt x="549943" y="366440"/>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sp>
            <p:nvSpPr>
              <p:cNvPr id="1034" name="Google Shape;1034;p44"/>
              <p:cNvSpPr/>
              <p:nvPr/>
            </p:nvSpPr>
            <p:spPr>
              <a:xfrm>
                <a:off x="6113127" y="2444517"/>
                <a:ext cx="600092" cy="873606"/>
              </a:xfrm>
              <a:custGeom>
                <a:rect b="b" l="l" r="r" t="t"/>
                <a:pathLst>
                  <a:path extrusionOk="0" h="873606" w="600092">
                    <a:moveTo>
                      <a:pt x="534273" y="873606"/>
                    </a:moveTo>
                    <a:lnTo>
                      <a:pt x="519013" y="865788"/>
                    </a:lnTo>
                    <a:cubicBezTo>
                      <a:pt x="561430" y="783098"/>
                      <a:pt x="582947" y="693704"/>
                      <a:pt x="582947" y="600092"/>
                    </a:cubicBezTo>
                    <a:cubicBezTo>
                      <a:pt x="582947" y="278658"/>
                      <a:pt x="321434" y="17145"/>
                      <a:pt x="0" y="17145"/>
                    </a:cubicBezTo>
                    <a:lnTo>
                      <a:pt x="0" y="0"/>
                    </a:lnTo>
                    <a:cubicBezTo>
                      <a:pt x="81010" y="0"/>
                      <a:pt x="159603" y="15859"/>
                      <a:pt x="233583" y="47166"/>
                    </a:cubicBezTo>
                    <a:cubicBezTo>
                      <a:pt x="305044" y="77393"/>
                      <a:pt x="369218" y="120667"/>
                      <a:pt x="424322" y="175771"/>
                    </a:cubicBezTo>
                    <a:cubicBezTo>
                      <a:pt x="479426" y="230874"/>
                      <a:pt x="522700" y="295048"/>
                      <a:pt x="552926" y="366509"/>
                    </a:cubicBezTo>
                    <a:cubicBezTo>
                      <a:pt x="584216" y="440489"/>
                      <a:pt x="600092" y="519082"/>
                      <a:pt x="600092" y="600092"/>
                    </a:cubicBezTo>
                    <a:cubicBezTo>
                      <a:pt x="600092" y="696447"/>
                      <a:pt x="577941" y="788464"/>
                      <a:pt x="534273" y="873606"/>
                    </a:cubicBezTo>
                    <a:close/>
                  </a:path>
                </a:pathLst>
              </a:custGeom>
              <a:solidFill>
                <a:srgbClr val="D8D8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22554"/>
                  </a:solidFill>
                  <a:latin typeface="Arial"/>
                  <a:ea typeface="Arial"/>
                  <a:cs typeface="Arial"/>
                  <a:sym typeface="Arial"/>
                </a:endParaRPr>
              </a:p>
            </p:txBody>
          </p:sp>
        </p:grpSp>
        <p:sp>
          <p:nvSpPr>
            <p:cNvPr id="1035" name="Google Shape;1035;p44"/>
            <p:cNvSpPr/>
            <p:nvPr/>
          </p:nvSpPr>
          <p:spPr>
            <a:xfrm>
              <a:off x="5225576" y="2832220"/>
              <a:ext cx="637725" cy="637725"/>
            </a:xfrm>
            <a:prstGeom prst="ellipse">
              <a:avLst/>
            </a:prstGeom>
            <a:solidFill>
              <a:srgbClr val="FFFFFF"/>
            </a:solidFill>
            <a:ln cap="flat" cmpd="sng" w="9525">
              <a:solidFill>
                <a:srgbClr val="D0CECE"/>
              </a:solidFill>
              <a:prstDash val="solid"/>
              <a:miter lim="800000"/>
              <a:headEnd len="sm" w="sm" type="none"/>
              <a:tailEnd len="sm" w="sm" type="none"/>
            </a:ln>
            <a:effectLst>
              <a:outerShdw blurRad="50800" rotWithShape="0" algn="tr" dir="8100000" dist="38100">
                <a:srgbClr val="000000">
                  <a:alpha val="1529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1036" name="Google Shape;1036;p44"/>
            <p:cNvSpPr/>
            <p:nvPr/>
          </p:nvSpPr>
          <p:spPr>
            <a:xfrm>
              <a:off x="6258983" y="2862741"/>
              <a:ext cx="637725" cy="637725"/>
            </a:xfrm>
            <a:prstGeom prst="ellipse">
              <a:avLst/>
            </a:prstGeom>
            <a:solidFill>
              <a:srgbClr val="FFFFFF"/>
            </a:solidFill>
            <a:ln cap="flat" cmpd="sng" w="9525">
              <a:solidFill>
                <a:srgbClr val="D0CECE"/>
              </a:solidFill>
              <a:prstDash val="solid"/>
              <a:miter lim="800000"/>
              <a:headEnd len="sm" w="sm" type="none"/>
              <a:tailEnd len="sm" w="sm" type="none"/>
            </a:ln>
            <a:effectLst>
              <a:outerShdw blurRad="50800" rotWithShape="0" algn="tr" dir="8100000" dist="38100">
                <a:srgbClr val="000000">
                  <a:alpha val="1529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
          <p:nvSpPr>
            <p:cNvPr id="1037" name="Google Shape;1037;p44"/>
            <p:cNvSpPr/>
            <p:nvPr/>
          </p:nvSpPr>
          <p:spPr>
            <a:xfrm>
              <a:off x="5737745" y="3774589"/>
              <a:ext cx="637725" cy="637725"/>
            </a:xfrm>
            <a:prstGeom prst="ellipse">
              <a:avLst/>
            </a:prstGeom>
            <a:solidFill>
              <a:srgbClr val="FFFFFF"/>
            </a:solidFill>
            <a:ln cap="flat" cmpd="sng" w="9525">
              <a:solidFill>
                <a:srgbClr val="D0CECE"/>
              </a:solidFill>
              <a:prstDash val="solid"/>
              <a:miter lim="800000"/>
              <a:headEnd len="sm" w="sm" type="none"/>
              <a:tailEnd len="sm" w="sm" type="none"/>
            </a:ln>
            <a:effectLst>
              <a:outerShdw blurRad="50800" rotWithShape="0" algn="tr" dir="8100000" dist="38100">
                <a:srgbClr val="000000">
                  <a:alpha val="1529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45"/>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CREDIT EVENTS</a:t>
            </a:r>
            <a:endParaRPr/>
          </a:p>
        </p:txBody>
      </p:sp>
      <p:pic>
        <p:nvPicPr>
          <p:cNvPr id="1043" name="Google Shape;1043;p45"/>
          <p:cNvPicPr preferRelativeResize="0"/>
          <p:nvPr/>
        </p:nvPicPr>
        <p:blipFill rotWithShape="1">
          <a:blip r:embed="rId3">
            <a:alphaModFix/>
          </a:blip>
          <a:srcRect b="0" l="0" r="0" t="0"/>
          <a:stretch/>
        </p:blipFill>
        <p:spPr>
          <a:xfrm>
            <a:off x="5381024" y="0"/>
            <a:ext cx="6141094" cy="6858000"/>
          </a:xfrm>
          <a:custGeom>
            <a:rect b="b" l="l" r="r" t="t"/>
            <a:pathLst>
              <a:path extrusionOk="0" h="13716000" w="12282187">
                <a:moveTo>
                  <a:pt x="0" y="0"/>
                </a:moveTo>
                <a:lnTo>
                  <a:pt x="8089328" y="0"/>
                </a:lnTo>
                <a:lnTo>
                  <a:pt x="12282187" y="13716000"/>
                </a:lnTo>
                <a:lnTo>
                  <a:pt x="4170556" y="13716000"/>
                </a:lnTo>
                <a:lnTo>
                  <a:pt x="0" y="0"/>
                </a:lnTo>
                <a:close/>
              </a:path>
            </a:pathLst>
          </a:custGeom>
          <a:noFill/>
          <a:ln>
            <a:noFill/>
          </a:ln>
        </p:spPr>
      </p:pic>
      <p:sp>
        <p:nvSpPr>
          <p:cNvPr id="1044" name="Google Shape;1044;p45"/>
          <p:cNvSpPr/>
          <p:nvPr/>
        </p:nvSpPr>
        <p:spPr>
          <a:xfrm>
            <a:off x="706036" y="2060140"/>
            <a:ext cx="5036003" cy="3566160"/>
          </a:xfrm>
          <a:prstGeom prst="roundRect">
            <a:avLst>
              <a:gd fmla="val 10869" name="adj"/>
            </a:avLst>
          </a:prstGeom>
          <a:noFill/>
          <a:ln cap="flat" cmpd="sng" w="19050">
            <a:solidFill>
              <a:schemeClr val="accent3"/>
            </a:solidFill>
            <a:prstDash val="solid"/>
            <a:miter lim="800000"/>
            <a:headEnd len="sm" w="sm" type="none"/>
            <a:tailEnd len="sm" w="sm" type="none"/>
          </a:ln>
          <a:effectLst>
            <a:outerShdw blurRad="292100" rotWithShape="0" algn="t" dir="5400000" dist="203200">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p:txBody>
      </p:sp>
      <p:grpSp>
        <p:nvGrpSpPr>
          <p:cNvPr id="1045" name="Google Shape;1045;p45"/>
          <p:cNvGrpSpPr/>
          <p:nvPr/>
        </p:nvGrpSpPr>
        <p:grpSpPr>
          <a:xfrm>
            <a:off x="2564487" y="1485900"/>
            <a:ext cx="1319100" cy="1319102"/>
            <a:chOff x="1325698" y="3606602"/>
            <a:chExt cx="1199182" cy="1199184"/>
          </a:xfrm>
        </p:grpSpPr>
        <p:sp>
          <p:nvSpPr>
            <p:cNvPr id="1046" name="Google Shape;1046;p45"/>
            <p:cNvSpPr/>
            <p:nvPr/>
          </p:nvSpPr>
          <p:spPr>
            <a:xfrm flipH="1" rot="10800000">
              <a:off x="1325698" y="3606602"/>
              <a:ext cx="1199182" cy="1199184"/>
            </a:xfrm>
            <a:prstGeom prst="donut">
              <a:avLst>
                <a:gd fmla="val 9947" name="adj"/>
              </a:avLst>
            </a:prstGeom>
            <a:gradFill>
              <a:gsLst>
                <a:gs pos="0">
                  <a:schemeClr val="accent4"/>
                </a:gs>
                <a:gs pos="100000">
                  <a:schemeClr val="accent3"/>
                </a:gs>
              </a:gsLst>
              <a:lin ang="16200000" scaled="0"/>
            </a:gradFill>
            <a:ln>
              <a:noFill/>
            </a:ln>
            <a:effectLst>
              <a:outerShdw blurRad="50800" rotWithShape="0" algn="t" dir="5400000" dist="38100">
                <a:srgbClr val="000000">
                  <a:alpha val="705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600" u="none" cap="none" strike="noStrike">
                <a:solidFill>
                  <a:schemeClr val="lt1"/>
                </a:solidFill>
                <a:latin typeface="Arial"/>
                <a:ea typeface="Arial"/>
                <a:cs typeface="Arial"/>
                <a:sym typeface="Arial"/>
              </a:endParaRPr>
            </a:p>
          </p:txBody>
        </p:sp>
        <p:sp>
          <p:nvSpPr>
            <p:cNvPr id="1047" name="Google Shape;1047;p45"/>
            <p:cNvSpPr/>
            <p:nvPr/>
          </p:nvSpPr>
          <p:spPr>
            <a:xfrm>
              <a:off x="1508185" y="3788863"/>
              <a:ext cx="834209" cy="834660"/>
            </a:xfrm>
            <a:prstGeom prst="ellipse">
              <a:avLst/>
            </a:prstGeom>
            <a:solidFill>
              <a:schemeClr val="lt1"/>
            </a:solidFill>
            <a:ln>
              <a:noFill/>
            </a:ln>
            <a:effectLst>
              <a:outerShdw blurRad="254000" rotWithShape="0" algn="t" dir="5400000" dist="76200">
                <a:srgbClr val="000000">
                  <a:alpha val="784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Poppins"/>
                <a:ea typeface="Poppins"/>
                <a:cs typeface="Poppins"/>
                <a:sym typeface="Poppins"/>
              </a:endParaRPr>
            </a:p>
          </p:txBody>
        </p:sp>
      </p:grpSp>
      <p:sp>
        <p:nvSpPr>
          <p:cNvPr id="1048" name="Google Shape;1048;p45"/>
          <p:cNvSpPr txBox="1"/>
          <p:nvPr/>
        </p:nvSpPr>
        <p:spPr>
          <a:xfrm>
            <a:off x="962322" y="2873537"/>
            <a:ext cx="4523430" cy="15696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Credit events </a:t>
            </a:r>
            <a:r>
              <a:rPr b="0" i="0" lang="en-US" sz="1600" u="none" cap="none" strike="noStrike">
                <a:solidFill>
                  <a:srgbClr val="000000"/>
                </a:solidFill>
                <a:latin typeface="Arial"/>
                <a:ea typeface="Arial"/>
                <a:cs typeface="Arial"/>
                <a:sym typeface="Arial"/>
              </a:rPr>
              <a:t>are specific occurrences that trigger obligations in a Credit Default Swap (CDS) contract. These events typically represent adverse developments related to the creditworthiness of the reference obligation (the underlying debt instrument). </a:t>
            </a:r>
            <a:endParaRPr b="0" i="0" sz="1200" u="none" cap="none" strike="noStrike">
              <a:solidFill>
                <a:srgbClr val="000000"/>
              </a:solidFill>
              <a:latin typeface="Arial"/>
              <a:ea typeface="Arial"/>
              <a:cs typeface="Arial"/>
              <a:sym typeface="Arial"/>
            </a:endParaRPr>
          </a:p>
        </p:txBody>
      </p:sp>
      <p:pic>
        <p:nvPicPr>
          <p:cNvPr descr="Credit card " id="1049" name="Google Shape;1049;p45"/>
          <p:cNvPicPr preferRelativeResize="0"/>
          <p:nvPr/>
        </p:nvPicPr>
        <p:blipFill rotWithShape="1">
          <a:blip r:embed="rId4">
            <a:alphaModFix/>
          </a:blip>
          <a:srcRect b="0" l="0" r="0" t="0"/>
          <a:stretch/>
        </p:blipFill>
        <p:spPr>
          <a:xfrm>
            <a:off x="2946946" y="1868360"/>
            <a:ext cx="554182" cy="554182"/>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46"/>
          <p:cNvSpPr txBox="1"/>
          <p:nvPr>
            <p:ph type="title"/>
          </p:nvPr>
        </p:nvSpPr>
        <p:spPr>
          <a:xfrm>
            <a:off x="700088" y="404813"/>
            <a:ext cx="10515600" cy="71596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CREDIT EVENTS</a:t>
            </a:r>
            <a:endParaRPr/>
          </a:p>
        </p:txBody>
      </p:sp>
      <p:grpSp>
        <p:nvGrpSpPr>
          <p:cNvPr id="1055" name="Google Shape;1055;p46"/>
          <p:cNvGrpSpPr/>
          <p:nvPr/>
        </p:nvGrpSpPr>
        <p:grpSpPr>
          <a:xfrm>
            <a:off x="700088" y="2326532"/>
            <a:ext cx="3449613" cy="3768026"/>
            <a:chOff x="3537373" y="1968430"/>
            <a:chExt cx="2613660" cy="3768026"/>
          </a:xfrm>
        </p:grpSpPr>
        <p:sp>
          <p:nvSpPr>
            <p:cNvPr id="1056" name="Google Shape;1056;p46"/>
            <p:cNvSpPr txBox="1"/>
            <p:nvPr/>
          </p:nvSpPr>
          <p:spPr>
            <a:xfrm>
              <a:off x="3537373" y="1968430"/>
              <a:ext cx="2613660" cy="3768026"/>
            </a:xfrm>
            <a:prstGeom prst="rect">
              <a:avLst/>
            </a:prstGeom>
            <a:solidFill>
              <a:srgbClr val="F2F2F2"/>
            </a:solidFill>
            <a:ln>
              <a:noFill/>
            </a:ln>
          </p:spPr>
          <p:txBody>
            <a:bodyPr anchorCtr="0" anchor="t" bIns="45700" lIns="91425" spcFirstLastPara="1" rIns="91425" wrap="square" tIns="4572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57" name="Google Shape;1057;p46"/>
            <p:cNvSpPr txBox="1"/>
            <p:nvPr/>
          </p:nvSpPr>
          <p:spPr>
            <a:xfrm>
              <a:off x="3537373" y="1968430"/>
              <a:ext cx="2613660" cy="67276"/>
            </a:xfrm>
            <a:prstGeom prst="rect">
              <a:avLst/>
            </a:prstGeom>
            <a:solidFill>
              <a:schemeClr val="accent3"/>
            </a:solidFill>
            <a:ln>
              <a:noFill/>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58" name="Google Shape;1058;p46"/>
            <p:cNvSpPr txBox="1"/>
            <p:nvPr/>
          </p:nvSpPr>
          <p:spPr>
            <a:xfrm>
              <a:off x="3537373" y="2072034"/>
              <a:ext cx="2613660" cy="67276"/>
            </a:xfrm>
            <a:prstGeom prst="rect">
              <a:avLst/>
            </a:prstGeom>
            <a:solidFill>
              <a:srgbClr val="92DDC5"/>
            </a:solidFill>
            <a:ln>
              <a:noFill/>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59" name="Google Shape;1059;p46"/>
            <p:cNvSpPr txBox="1"/>
            <p:nvPr/>
          </p:nvSpPr>
          <p:spPr>
            <a:xfrm>
              <a:off x="3537373" y="2175637"/>
              <a:ext cx="2613660" cy="67276"/>
            </a:xfrm>
            <a:prstGeom prst="rect">
              <a:avLst/>
            </a:prstGeom>
            <a:solidFill>
              <a:srgbClr val="B6E8D8"/>
            </a:solidFill>
            <a:ln cap="flat" cmpd="sng" w="9525">
              <a:solidFill>
                <a:srgbClr val="DAF3EB"/>
              </a:solidFill>
              <a:prstDash val="solid"/>
              <a:round/>
              <a:headEnd len="sm" w="sm" type="none"/>
              <a:tailEnd len="sm" w="sm" type="none"/>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060" name="Google Shape;1060;p46"/>
          <p:cNvGrpSpPr/>
          <p:nvPr/>
        </p:nvGrpSpPr>
        <p:grpSpPr>
          <a:xfrm>
            <a:off x="4461683" y="2326532"/>
            <a:ext cx="3449612" cy="3768026"/>
            <a:chOff x="6284806" y="1968430"/>
            <a:chExt cx="2613660" cy="3768026"/>
          </a:xfrm>
        </p:grpSpPr>
        <p:sp>
          <p:nvSpPr>
            <p:cNvPr id="1061" name="Google Shape;1061;p46"/>
            <p:cNvSpPr txBox="1"/>
            <p:nvPr/>
          </p:nvSpPr>
          <p:spPr>
            <a:xfrm>
              <a:off x="6284806" y="1968430"/>
              <a:ext cx="2613660" cy="3768026"/>
            </a:xfrm>
            <a:prstGeom prst="rect">
              <a:avLst/>
            </a:prstGeom>
            <a:solidFill>
              <a:srgbClr val="F2F2F2"/>
            </a:solidFill>
            <a:ln>
              <a:noFill/>
            </a:ln>
          </p:spPr>
          <p:txBody>
            <a:bodyPr anchorCtr="0" anchor="t" bIns="45700" lIns="91425" spcFirstLastPara="1" rIns="91425" wrap="square" tIns="4572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62" name="Google Shape;1062;p46"/>
            <p:cNvSpPr txBox="1"/>
            <p:nvPr/>
          </p:nvSpPr>
          <p:spPr>
            <a:xfrm>
              <a:off x="6284806" y="1968430"/>
              <a:ext cx="2613660" cy="67276"/>
            </a:xfrm>
            <a:prstGeom prst="rect">
              <a:avLst/>
            </a:prstGeom>
            <a:solidFill>
              <a:schemeClr val="accent4"/>
            </a:solidFill>
            <a:ln>
              <a:noFill/>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63" name="Google Shape;1063;p46"/>
            <p:cNvSpPr txBox="1"/>
            <p:nvPr/>
          </p:nvSpPr>
          <p:spPr>
            <a:xfrm>
              <a:off x="6284806" y="2072034"/>
              <a:ext cx="2613660" cy="67276"/>
            </a:xfrm>
            <a:prstGeom prst="rect">
              <a:avLst/>
            </a:prstGeom>
            <a:solidFill>
              <a:srgbClr val="7DDDE5"/>
            </a:solidFill>
            <a:ln>
              <a:noFill/>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64" name="Google Shape;1064;p46"/>
            <p:cNvSpPr txBox="1"/>
            <p:nvPr/>
          </p:nvSpPr>
          <p:spPr>
            <a:xfrm>
              <a:off x="6284806" y="2175637"/>
              <a:ext cx="2613660" cy="67276"/>
            </a:xfrm>
            <a:prstGeom prst="rect">
              <a:avLst/>
            </a:prstGeom>
            <a:solidFill>
              <a:srgbClr val="D2F4F6"/>
            </a:solidFill>
            <a:ln cap="flat" cmpd="sng" w="9525">
              <a:solidFill>
                <a:srgbClr val="DAF3EB"/>
              </a:solidFill>
              <a:prstDash val="solid"/>
              <a:round/>
              <a:headEnd len="sm" w="sm" type="none"/>
              <a:tailEnd len="sm" w="sm" type="none"/>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065" name="Google Shape;1065;p46"/>
          <p:cNvGrpSpPr/>
          <p:nvPr/>
        </p:nvGrpSpPr>
        <p:grpSpPr>
          <a:xfrm>
            <a:off x="8223277" y="2326532"/>
            <a:ext cx="3449611" cy="3768026"/>
            <a:chOff x="9032240" y="1968430"/>
            <a:chExt cx="2613660" cy="3768026"/>
          </a:xfrm>
        </p:grpSpPr>
        <p:sp>
          <p:nvSpPr>
            <p:cNvPr id="1066" name="Google Shape;1066;p46"/>
            <p:cNvSpPr txBox="1"/>
            <p:nvPr/>
          </p:nvSpPr>
          <p:spPr>
            <a:xfrm>
              <a:off x="9032240" y="1968430"/>
              <a:ext cx="2613660" cy="3768026"/>
            </a:xfrm>
            <a:prstGeom prst="rect">
              <a:avLst/>
            </a:prstGeom>
            <a:solidFill>
              <a:srgbClr val="F2F2F2"/>
            </a:solidFill>
            <a:ln>
              <a:noFill/>
            </a:ln>
          </p:spPr>
          <p:txBody>
            <a:bodyPr anchorCtr="0" anchor="t" bIns="45700" lIns="91425" spcFirstLastPara="1" rIns="91425" wrap="square" tIns="4572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67" name="Google Shape;1067;p46"/>
            <p:cNvSpPr txBox="1"/>
            <p:nvPr/>
          </p:nvSpPr>
          <p:spPr>
            <a:xfrm>
              <a:off x="9032240" y="1968430"/>
              <a:ext cx="2613660" cy="67276"/>
            </a:xfrm>
            <a:prstGeom prst="rect">
              <a:avLst/>
            </a:prstGeom>
            <a:solidFill>
              <a:schemeClr val="accent5"/>
            </a:solidFill>
            <a:ln>
              <a:noFill/>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68" name="Google Shape;1068;p46"/>
            <p:cNvSpPr txBox="1"/>
            <p:nvPr/>
          </p:nvSpPr>
          <p:spPr>
            <a:xfrm>
              <a:off x="9032240" y="2072034"/>
              <a:ext cx="2613660" cy="67276"/>
            </a:xfrm>
            <a:prstGeom prst="rect">
              <a:avLst/>
            </a:prstGeom>
            <a:solidFill>
              <a:srgbClr val="9CC2E5"/>
            </a:solidFill>
            <a:ln>
              <a:noFill/>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69" name="Google Shape;1069;p46"/>
            <p:cNvSpPr txBox="1"/>
            <p:nvPr/>
          </p:nvSpPr>
          <p:spPr>
            <a:xfrm>
              <a:off x="9032240" y="2175637"/>
              <a:ext cx="2613660" cy="67276"/>
            </a:xfrm>
            <a:prstGeom prst="rect">
              <a:avLst/>
            </a:prstGeom>
            <a:solidFill>
              <a:srgbClr val="DDEAF6"/>
            </a:solidFill>
            <a:ln cap="flat" cmpd="sng" w="9525">
              <a:solidFill>
                <a:srgbClr val="DAF3EB"/>
              </a:solidFill>
              <a:prstDash val="solid"/>
              <a:round/>
              <a:headEnd len="sm" w="sm" type="none"/>
              <a:tailEnd len="sm" w="sm" type="none"/>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070" name="Google Shape;1070;p46"/>
          <p:cNvSpPr/>
          <p:nvPr/>
        </p:nvSpPr>
        <p:spPr>
          <a:xfrm>
            <a:off x="2150574" y="5489846"/>
            <a:ext cx="548640" cy="54864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1071" name="Google Shape;1071;p46"/>
          <p:cNvSpPr/>
          <p:nvPr/>
        </p:nvSpPr>
        <p:spPr>
          <a:xfrm>
            <a:off x="5912169" y="5489846"/>
            <a:ext cx="548640" cy="54864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1072" name="Google Shape;1072;p46"/>
          <p:cNvSpPr/>
          <p:nvPr/>
        </p:nvSpPr>
        <p:spPr>
          <a:xfrm>
            <a:off x="9673762" y="5489846"/>
            <a:ext cx="548640" cy="54864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1073" name="Google Shape;1073;p46"/>
          <p:cNvSpPr txBox="1"/>
          <p:nvPr/>
        </p:nvSpPr>
        <p:spPr>
          <a:xfrm>
            <a:off x="796132" y="2699916"/>
            <a:ext cx="3257524" cy="23083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Default: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Default is one of the most common credit events in CDS contracts. It occurs when the issuer of the reference obligation fails to make a scheduled interest or principal payment on the debt, violating the terms of the bond or loan agreement.</a:t>
            </a:r>
            <a:endParaRPr b="0" i="0" sz="1600" u="none" cap="none" strike="noStrike">
              <a:solidFill>
                <a:schemeClr val="dk1"/>
              </a:solidFill>
              <a:latin typeface="Arial"/>
              <a:ea typeface="Arial"/>
              <a:cs typeface="Arial"/>
              <a:sym typeface="Arial"/>
            </a:endParaRPr>
          </a:p>
        </p:txBody>
      </p:sp>
      <p:sp>
        <p:nvSpPr>
          <p:cNvPr id="1074" name="Google Shape;1074;p46"/>
          <p:cNvSpPr txBox="1"/>
          <p:nvPr/>
        </p:nvSpPr>
        <p:spPr>
          <a:xfrm>
            <a:off x="4557727" y="2699916"/>
            <a:ext cx="3257524" cy="206210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Bankruptcy: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Bankruptcy is another significant credit event. It happens when the issuer files for bankruptcy protection, indicating its inability to meet its financial obligations. Bankruptcy can result in a significant loss for bondholders.</a:t>
            </a:r>
            <a:endParaRPr b="0" i="0" sz="1600" u="none" cap="none" strike="noStrike">
              <a:solidFill>
                <a:srgbClr val="000000"/>
              </a:solidFill>
              <a:latin typeface="Arial"/>
              <a:ea typeface="Arial"/>
              <a:cs typeface="Arial"/>
              <a:sym typeface="Arial"/>
            </a:endParaRPr>
          </a:p>
        </p:txBody>
      </p:sp>
      <p:sp>
        <p:nvSpPr>
          <p:cNvPr id="1075" name="Google Shape;1075;p46"/>
          <p:cNvSpPr txBox="1"/>
          <p:nvPr/>
        </p:nvSpPr>
        <p:spPr>
          <a:xfrm>
            <a:off x="8319320" y="2699916"/>
            <a:ext cx="3257524" cy="280072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Failure to Pay: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This event occurs when the issuer fails to make a scheduled payment of principal or interest on the reference obligation, regardless of whether a formal default or bankruptcy has occurred. It is a broader event than default, encompassing situations where payment obligations are not met.</a:t>
            </a:r>
            <a:endParaRPr b="0" i="0" sz="1600" u="none" cap="none" strike="noStrike">
              <a:solidFill>
                <a:srgbClr val="000000"/>
              </a:solidFill>
              <a:latin typeface="Arial"/>
              <a:ea typeface="Arial"/>
              <a:cs typeface="Arial"/>
              <a:sym typeface="Arial"/>
            </a:endParaRPr>
          </a:p>
        </p:txBody>
      </p:sp>
      <p:grpSp>
        <p:nvGrpSpPr>
          <p:cNvPr id="1076" name="Google Shape;1076;p46"/>
          <p:cNvGrpSpPr/>
          <p:nvPr/>
        </p:nvGrpSpPr>
        <p:grpSpPr>
          <a:xfrm>
            <a:off x="0" y="1485899"/>
            <a:ext cx="12188952" cy="731520"/>
            <a:chOff x="0" y="1485899"/>
            <a:chExt cx="12188952" cy="731520"/>
          </a:xfrm>
        </p:grpSpPr>
        <p:sp>
          <p:nvSpPr>
            <p:cNvPr id="1077" name="Google Shape;1077;p46"/>
            <p:cNvSpPr/>
            <p:nvPr/>
          </p:nvSpPr>
          <p:spPr>
            <a:xfrm>
              <a:off x="0" y="1485899"/>
              <a:ext cx="12188952" cy="731520"/>
            </a:xfrm>
            <a:prstGeom prst="roundRect">
              <a:avLst>
                <a:gd fmla="val 0" name="adj"/>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78" name="Google Shape;1078;p46"/>
            <p:cNvSpPr txBox="1"/>
            <p:nvPr/>
          </p:nvSpPr>
          <p:spPr>
            <a:xfrm>
              <a:off x="700088" y="1559292"/>
              <a:ext cx="10972800" cy="58473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The specific types of credit events can vary depending on the terms of the CDS contract, but common credit events include:</a:t>
              </a:r>
              <a:endParaRPr b="1" i="0" sz="1600" u="none" cap="none" strike="noStrike">
                <a:solidFill>
                  <a:schemeClr val="dk1"/>
                </a:solidFill>
                <a:latin typeface="Arial"/>
                <a:ea typeface="Arial"/>
                <a:cs typeface="Arial"/>
                <a:sym typeface="Arial"/>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47"/>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CREDIT EVENTS</a:t>
            </a:r>
            <a:endParaRPr/>
          </a:p>
        </p:txBody>
      </p:sp>
      <p:grpSp>
        <p:nvGrpSpPr>
          <p:cNvPr id="1084" name="Google Shape;1084;p47"/>
          <p:cNvGrpSpPr/>
          <p:nvPr/>
        </p:nvGrpSpPr>
        <p:grpSpPr>
          <a:xfrm>
            <a:off x="700088" y="2326532"/>
            <a:ext cx="3449613" cy="3768026"/>
            <a:chOff x="3537373" y="1968430"/>
            <a:chExt cx="2613660" cy="3768026"/>
          </a:xfrm>
        </p:grpSpPr>
        <p:sp>
          <p:nvSpPr>
            <p:cNvPr id="1085" name="Google Shape;1085;p47"/>
            <p:cNvSpPr txBox="1"/>
            <p:nvPr/>
          </p:nvSpPr>
          <p:spPr>
            <a:xfrm>
              <a:off x="3537373" y="1968430"/>
              <a:ext cx="2613660" cy="3768026"/>
            </a:xfrm>
            <a:prstGeom prst="rect">
              <a:avLst/>
            </a:prstGeom>
            <a:solidFill>
              <a:srgbClr val="F2F2F2"/>
            </a:solidFill>
            <a:ln>
              <a:noFill/>
            </a:ln>
          </p:spPr>
          <p:txBody>
            <a:bodyPr anchorCtr="0" anchor="t" bIns="45700" lIns="91425" spcFirstLastPara="1" rIns="91425" wrap="square" tIns="4572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86" name="Google Shape;1086;p47"/>
            <p:cNvSpPr txBox="1"/>
            <p:nvPr/>
          </p:nvSpPr>
          <p:spPr>
            <a:xfrm>
              <a:off x="3537373" y="1968430"/>
              <a:ext cx="2613660" cy="67276"/>
            </a:xfrm>
            <a:prstGeom prst="rect">
              <a:avLst/>
            </a:prstGeom>
            <a:solidFill>
              <a:schemeClr val="accent3"/>
            </a:solidFill>
            <a:ln>
              <a:noFill/>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87" name="Google Shape;1087;p47"/>
            <p:cNvSpPr txBox="1"/>
            <p:nvPr/>
          </p:nvSpPr>
          <p:spPr>
            <a:xfrm>
              <a:off x="3537373" y="2072034"/>
              <a:ext cx="2613660" cy="67276"/>
            </a:xfrm>
            <a:prstGeom prst="rect">
              <a:avLst/>
            </a:prstGeom>
            <a:solidFill>
              <a:srgbClr val="92DDC5"/>
            </a:solidFill>
            <a:ln>
              <a:noFill/>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88" name="Google Shape;1088;p47"/>
            <p:cNvSpPr txBox="1"/>
            <p:nvPr/>
          </p:nvSpPr>
          <p:spPr>
            <a:xfrm>
              <a:off x="3537373" y="2175637"/>
              <a:ext cx="2613660" cy="67276"/>
            </a:xfrm>
            <a:prstGeom prst="rect">
              <a:avLst/>
            </a:prstGeom>
            <a:solidFill>
              <a:srgbClr val="B6E8D8"/>
            </a:solidFill>
            <a:ln cap="flat" cmpd="sng" w="9525">
              <a:solidFill>
                <a:srgbClr val="DAF3EB"/>
              </a:solidFill>
              <a:prstDash val="solid"/>
              <a:round/>
              <a:headEnd len="sm" w="sm" type="none"/>
              <a:tailEnd len="sm" w="sm" type="none"/>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089" name="Google Shape;1089;p47"/>
          <p:cNvGrpSpPr/>
          <p:nvPr/>
        </p:nvGrpSpPr>
        <p:grpSpPr>
          <a:xfrm>
            <a:off x="4461683" y="2326532"/>
            <a:ext cx="3449612" cy="3768026"/>
            <a:chOff x="6284806" y="1968430"/>
            <a:chExt cx="2613660" cy="3768026"/>
          </a:xfrm>
        </p:grpSpPr>
        <p:sp>
          <p:nvSpPr>
            <p:cNvPr id="1090" name="Google Shape;1090;p47"/>
            <p:cNvSpPr txBox="1"/>
            <p:nvPr/>
          </p:nvSpPr>
          <p:spPr>
            <a:xfrm>
              <a:off x="6284806" y="1968430"/>
              <a:ext cx="2613660" cy="3768026"/>
            </a:xfrm>
            <a:prstGeom prst="rect">
              <a:avLst/>
            </a:prstGeom>
            <a:solidFill>
              <a:srgbClr val="F2F2F2"/>
            </a:solidFill>
            <a:ln>
              <a:noFill/>
            </a:ln>
          </p:spPr>
          <p:txBody>
            <a:bodyPr anchorCtr="0" anchor="t" bIns="45700" lIns="91425" spcFirstLastPara="1" rIns="91425" wrap="square" tIns="4572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91" name="Google Shape;1091;p47"/>
            <p:cNvSpPr txBox="1"/>
            <p:nvPr/>
          </p:nvSpPr>
          <p:spPr>
            <a:xfrm>
              <a:off x="6284806" y="1968430"/>
              <a:ext cx="2613660" cy="67276"/>
            </a:xfrm>
            <a:prstGeom prst="rect">
              <a:avLst/>
            </a:prstGeom>
            <a:solidFill>
              <a:schemeClr val="accent4"/>
            </a:solidFill>
            <a:ln>
              <a:noFill/>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92" name="Google Shape;1092;p47"/>
            <p:cNvSpPr txBox="1"/>
            <p:nvPr/>
          </p:nvSpPr>
          <p:spPr>
            <a:xfrm>
              <a:off x="6284806" y="2072034"/>
              <a:ext cx="2613660" cy="67276"/>
            </a:xfrm>
            <a:prstGeom prst="rect">
              <a:avLst/>
            </a:prstGeom>
            <a:solidFill>
              <a:srgbClr val="7DDDE5"/>
            </a:solidFill>
            <a:ln>
              <a:noFill/>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93" name="Google Shape;1093;p47"/>
            <p:cNvSpPr txBox="1"/>
            <p:nvPr/>
          </p:nvSpPr>
          <p:spPr>
            <a:xfrm>
              <a:off x="6284806" y="2175637"/>
              <a:ext cx="2613660" cy="67276"/>
            </a:xfrm>
            <a:prstGeom prst="rect">
              <a:avLst/>
            </a:prstGeom>
            <a:solidFill>
              <a:srgbClr val="D2F4F6"/>
            </a:solidFill>
            <a:ln cap="flat" cmpd="sng" w="9525">
              <a:solidFill>
                <a:srgbClr val="DAF3EB"/>
              </a:solidFill>
              <a:prstDash val="solid"/>
              <a:round/>
              <a:headEnd len="sm" w="sm" type="none"/>
              <a:tailEnd len="sm" w="sm" type="none"/>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094" name="Google Shape;1094;p47"/>
          <p:cNvGrpSpPr/>
          <p:nvPr/>
        </p:nvGrpSpPr>
        <p:grpSpPr>
          <a:xfrm>
            <a:off x="8223277" y="2326532"/>
            <a:ext cx="3449611" cy="3768026"/>
            <a:chOff x="9032240" y="1968430"/>
            <a:chExt cx="2613660" cy="3768026"/>
          </a:xfrm>
        </p:grpSpPr>
        <p:sp>
          <p:nvSpPr>
            <p:cNvPr id="1095" name="Google Shape;1095;p47"/>
            <p:cNvSpPr txBox="1"/>
            <p:nvPr/>
          </p:nvSpPr>
          <p:spPr>
            <a:xfrm>
              <a:off x="9032240" y="1968430"/>
              <a:ext cx="2613660" cy="3768026"/>
            </a:xfrm>
            <a:prstGeom prst="rect">
              <a:avLst/>
            </a:prstGeom>
            <a:solidFill>
              <a:srgbClr val="F2F2F2"/>
            </a:solidFill>
            <a:ln>
              <a:noFill/>
            </a:ln>
          </p:spPr>
          <p:txBody>
            <a:bodyPr anchorCtr="0" anchor="t" bIns="45700" lIns="91425" spcFirstLastPara="1" rIns="91425" wrap="square" tIns="4572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96" name="Google Shape;1096;p47"/>
            <p:cNvSpPr txBox="1"/>
            <p:nvPr/>
          </p:nvSpPr>
          <p:spPr>
            <a:xfrm>
              <a:off x="9032240" y="1968430"/>
              <a:ext cx="2613660" cy="67276"/>
            </a:xfrm>
            <a:prstGeom prst="rect">
              <a:avLst/>
            </a:prstGeom>
            <a:solidFill>
              <a:schemeClr val="accent5"/>
            </a:solidFill>
            <a:ln>
              <a:noFill/>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97" name="Google Shape;1097;p47"/>
            <p:cNvSpPr txBox="1"/>
            <p:nvPr/>
          </p:nvSpPr>
          <p:spPr>
            <a:xfrm>
              <a:off x="9032240" y="2072034"/>
              <a:ext cx="2613660" cy="67276"/>
            </a:xfrm>
            <a:prstGeom prst="rect">
              <a:avLst/>
            </a:prstGeom>
            <a:solidFill>
              <a:srgbClr val="9CC2E5"/>
            </a:solidFill>
            <a:ln>
              <a:noFill/>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98" name="Google Shape;1098;p47"/>
            <p:cNvSpPr txBox="1"/>
            <p:nvPr/>
          </p:nvSpPr>
          <p:spPr>
            <a:xfrm>
              <a:off x="9032240" y="2175637"/>
              <a:ext cx="2613660" cy="67276"/>
            </a:xfrm>
            <a:prstGeom prst="rect">
              <a:avLst/>
            </a:prstGeom>
            <a:solidFill>
              <a:srgbClr val="DDEAF6"/>
            </a:solidFill>
            <a:ln cap="flat" cmpd="sng" w="9525">
              <a:solidFill>
                <a:srgbClr val="DAF3EB"/>
              </a:solidFill>
              <a:prstDash val="solid"/>
              <a:round/>
              <a:headEnd len="sm" w="sm" type="none"/>
              <a:tailEnd len="sm" w="sm" type="none"/>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099" name="Google Shape;1099;p47"/>
          <p:cNvSpPr/>
          <p:nvPr/>
        </p:nvSpPr>
        <p:spPr>
          <a:xfrm>
            <a:off x="2150574" y="5489846"/>
            <a:ext cx="548640" cy="54864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
        <p:nvSpPr>
          <p:cNvPr id="1100" name="Google Shape;1100;p47"/>
          <p:cNvSpPr/>
          <p:nvPr/>
        </p:nvSpPr>
        <p:spPr>
          <a:xfrm>
            <a:off x="5912169" y="5489846"/>
            <a:ext cx="548640" cy="54864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05</a:t>
            </a:r>
            <a:endParaRPr b="0" i="0" sz="1400" u="none" cap="none" strike="noStrike">
              <a:solidFill>
                <a:srgbClr val="000000"/>
              </a:solidFill>
              <a:latin typeface="Arial"/>
              <a:ea typeface="Arial"/>
              <a:cs typeface="Arial"/>
              <a:sym typeface="Arial"/>
            </a:endParaRPr>
          </a:p>
        </p:txBody>
      </p:sp>
      <p:sp>
        <p:nvSpPr>
          <p:cNvPr id="1101" name="Google Shape;1101;p47"/>
          <p:cNvSpPr/>
          <p:nvPr/>
        </p:nvSpPr>
        <p:spPr>
          <a:xfrm>
            <a:off x="9673762" y="5489846"/>
            <a:ext cx="548640" cy="54864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06</a:t>
            </a:r>
            <a:endParaRPr b="0" i="0" sz="1400" u="none" cap="none" strike="noStrike">
              <a:solidFill>
                <a:srgbClr val="000000"/>
              </a:solidFill>
              <a:latin typeface="Arial"/>
              <a:ea typeface="Arial"/>
              <a:cs typeface="Arial"/>
              <a:sym typeface="Arial"/>
            </a:endParaRPr>
          </a:p>
        </p:txBody>
      </p:sp>
      <p:sp>
        <p:nvSpPr>
          <p:cNvPr id="1102" name="Google Shape;1102;p47"/>
          <p:cNvSpPr txBox="1"/>
          <p:nvPr/>
        </p:nvSpPr>
        <p:spPr>
          <a:xfrm>
            <a:off x="796132" y="2699916"/>
            <a:ext cx="3257524" cy="280072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600" u="none" cap="none" strike="noStrike">
                <a:solidFill>
                  <a:schemeClr val="dk1"/>
                </a:solidFill>
                <a:latin typeface="Arial"/>
                <a:ea typeface="Arial"/>
                <a:cs typeface="Arial"/>
                <a:sym typeface="Arial"/>
              </a:rPr>
              <a:t>Credit Rating Downgrade: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A credit rating downgrade event is triggered when a recognized credit rating agency (e.g., Moody's, S&amp;P, Fitch) downgrades the credit rating of the reference obligation to a level specified in the CDS contract. The downgrade must typically meet certain criteria, such as a minimum rating threshold.</a:t>
            </a:r>
            <a:endParaRPr b="0" i="0" sz="1400" u="none" cap="none" strike="noStrike">
              <a:solidFill>
                <a:srgbClr val="000000"/>
              </a:solidFill>
              <a:latin typeface="Arial"/>
              <a:ea typeface="Arial"/>
              <a:cs typeface="Arial"/>
              <a:sym typeface="Arial"/>
            </a:endParaRPr>
          </a:p>
        </p:txBody>
      </p:sp>
      <p:sp>
        <p:nvSpPr>
          <p:cNvPr id="1103" name="Google Shape;1103;p47"/>
          <p:cNvSpPr txBox="1"/>
          <p:nvPr/>
        </p:nvSpPr>
        <p:spPr>
          <a:xfrm>
            <a:off x="4557727" y="2699916"/>
            <a:ext cx="3257524" cy="280072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600" u="none" cap="none" strike="noStrike">
                <a:solidFill>
                  <a:schemeClr val="dk1"/>
                </a:solidFill>
                <a:latin typeface="Arial"/>
                <a:ea typeface="Arial"/>
                <a:cs typeface="Arial"/>
                <a:sym typeface="Arial"/>
              </a:rPr>
              <a:t>Restructuring: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Restructuring events involve changes to the terms of the reference obligation that are adverse to the bondholders. This can include changes to the maturity, interest rate, or principal amount of the debt. Restructuring events can be complex and are typically defined in detail within the CDS contract.</a:t>
            </a:r>
            <a:endParaRPr b="0" i="0" sz="1400" u="none" cap="none" strike="noStrike">
              <a:solidFill>
                <a:srgbClr val="000000"/>
              </a:solidFill>
              <a:latin typeface="Arial"/>
              <a:ea typeface="Arial"/>
              <a:cs typeface="Arial"/>
              <a:sym typeface="Arial"/>
            </a:endParaRPr>
          </a:p>
        </p:txBody>
      </p:sp>
      <p:sp>
        <p:nvSpPr>
          <p:cNvPr id="1104" name="Google Shape;1104;p47"/>
          <p:cNvSpPr txBox="1"/>
          <p:nvPr/>
        </p:nvSpPr>
        <p:spPr>
          <a:xfrm>
            <a:off x="8319320" y="2699916"/>
            <a:ext cx="3257524" cy="230828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600" u="none" cap="none" strike="noStrike">
                <a:solidFill>
                  <a:schemeClr val="dk1"/>
                </a:solidFill>
                <a:latin typeface="Arial"/>
                <a:ea typeface="Arial"/>
                <a:cs typeface="Arial"/>
                <a:sym typeface="Arial"/>
              </a:rPr>
              <a:t>Acceleration: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Acceleration events occur when the terms of the reference obligation are altered in a way that accelerates the maturity of the debt. This often happens when a default or bankruptcy occurs, and bondholders demand full repayment.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48"/>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CREDIT EVENTS</a:t>
            </a:r>
            <a:endParaRPr/>
          </a:p>
        </p:txBody>
      </p:sp>
      <p:grpSp>
        <p:nvGrpSpPr>
          <p:cNvPr id="1110" name="Google Shape;1110;p48"/>
          <p:cNvGrpSpPr/>
          <p:nvPr/>
        </p:nvGrpSpPr>
        <p:grpSpPr>
          <a:xfrm>
            <a:off x="700088" y="2326532"/>
            <a:ext cx="3449613" cy="3768026"/>
            <a:chOff x="3537373" y="1968430"/>
            <a:chExt cx="2613660" cy="3768026"/>
          </a:xfrm>
        </p:grpSpPr>
        <p:sp>
          <p:nvSpPr>
            <p:cNvPr id="1111" name="Google Shape;1111;p48"/>
            <p:cNvSpPr txBox="1"/>
            <p:nvPr/>
          </p:nvSpPr>
          <p:spPr>
            <a:xfrm>
              <a:off x="3537373" y="1968430"/>
              <a:ext cx="2613660" cy="3768026"/>
            </a:xfrm>
            <a:prstGeom prst="rect">
              <a:avLst/>
            </a:prstGeom>
            <a:solidFill>
              <a:srgbClr val="F2F2F2"/>
            </a:solidFill>
            <a:ln>
              <a:noFill/>
            </a:ln>
          </p:spPr>
          <p:txBody>
            <a:bodyPr anchorCtr="0" anchor="t" bIns="45700" lIns="91425" spcFirstLastPara="1" rIns="91425" wrap="square" tIns="4572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12" name="Google Shape;1112;p48"/>
            <p:cNvSpPr txBox="1"/>
            <p:nvPr/>
          </p:nvSpPr>
          <p:spPr>
            <a:xfrm>
              <a:off x="3537373" y="1968430"/>
              <a:ext cx="2613660" cy="67276"/>
            </a:xfrm>
            <a:prstGeom prst="rect">
              <a:avLst/>
            </a:prstGeom>
            <a:solidFill>
              <a:schemeClr val="accent3"/>
            </a:solidFill>
            <a:ln>
              <a:noFill/>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13" name="Google Shape;1113;p48"/>
            <p:cNvSpPr txBox="1"/>
            <p:nvPr/>
          </p:nvSpPr>
          <p:spPr>
            <a:xfrm>
              <a:off x="3537373" y="2072034"/>
              <a:ext cx="2613660" cy="67276"/>
            </a:xfrm>
            <a:prstGeom prst="rect">
              <a:avLst/>
            </a:prstGeom>
            <a:solidFill>
              <a:srgbClr val="92DDC5"/>
            </a:solidFill>
            <a:ln>
              <a:noFill/>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14" name="Google Shape;1114;p48"/>
            <p:cNvSpPr txBox="1"/>
            <p:nvPr/>
          </p:nvSpPr>
          <p:spPr>
            <a:xfrm>
              <a:off x="3537373" y="2175637"/>
              <a:ext cx="2613660" cy="67276"/>
            </a:xfrm>
            <a:prstGeom prst="rect">
              <a:avLst/>
            </a:prstGeom>
            <a:solidFill>
              <a:srgbClr val="B6E8D8"/>
            </a:solidFill>
            <a:ln cap="flat" cmpd="sng" w="9525">
              <a:solidFill>
                <a:srgbClr val="DAF3EB"/>
              </a:solidFill>
              <a:prstDash val="solid"/>
              <a:round/>
              <a:headEnd len="sm" w="sm" type="none"/>
              <a:tailEnd len="sm" w="sm" type="none"/>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115" name="Google Shape;1115;p48"/>
          <p:cNvGrpSpPr/>
          <p:nvPr/>
        </p:nvGrpSpPr>
        <p:grpSpPr>
          <a:xfrm>
            <a:off x="4461683" y="2326532"/>
            <a:ext cx="3449612" cy="3768026"/>
            <a:chOff x="6284806" y="1968430"/>
            <a:chExt cx="2613660" cy="3768026"/>
          </a:xfrm>
        </p:grpSpPr>
        <p:sp>
          <p:nvSpPr>
            <p:cNvPr id="1116" name="Google Shape;1116;p48"/>
            <p:cNvSpPr txBox="1"/>
            <p:nvPr/>
          </p:nvSpPr>
          <p:spPr>
            <a:xfrm>
              <a:off x="6284806" y="1968430"/>
              <a:ext cx="2613660" cy="3768026"/>
            </a:xfrm>
            <a:prstGeom prst="rect">
              <a:avLst/>
            </a:prstGeom>
            <a:solidFill>
              <a:srgbClr val="F2F2F2"/>
            </a:solidFill>
            <a:ln>
              <a:noFill/>
            </a:ln>
          </p:spPr>
          <p:txBody>
            <a:bodyPr anchorCtr="0" anchor="t" bIns="45700" lIns="91425" spcFirstLastPara="1" rIns="91425" wrap="square" tIns="4572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17" name="Google Shape;1117;p48"/>
            <p:cNvSpPr txBox="1"/>
            <p:nvPr/>
          </p:nvSpPr>
          <p:spPr>
            <a:xfrm>
              <a:off x="6284806" y="1968430"/>
              <a:ext cx="2613660" cy="67276"/>
            </a:xfrm>
            <a:prstGeom prst="rect">
              <a:avLst/>
            </a:prstGeom>
            <a:solidFill>
              <a:schemeClr val="accent4"/>
            </a:solidFill>
            <a:ln>
              <a:noFill/>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18" name="Google Shape;1118;p48"/>
            <p:cNvSpPr txBox="1"/>
            <p:nvPr/>
          </p:nvSpPr>
          <p:spPr>
            <a:xfrm>
              <a:off x="6284806" y="2072034"/>
              <a:ext cx="2613660" cy="67276"/>
            </a:xfrm>
            <a:prstGeom prst="rect">
              <a:avLst/>
            </a:prstGeom>
            <a:solidFill>
              <a:srgbClr val="7DDDE5"/>
            </a:solidFill>
            <a:ln>
              <a:noFill/>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19" name="Google Shape;1119;p48"/>
            <p:cNvSpPr txBox="1"/>
            <p:nvPr/>
          </p:nvSpPr>
          <p:spPr>
            <a:xfrm>
              <a:off x="6284806" y="2175637"/>
              <a:ext cx="2613660" cy="67276"/>
            </a:xfrm>
            <a:prstGeom prst="rect">
              <a:avLst/>
            </a:prstGeom>
            <a:solidFill>
              <a:srgbClr val="D2F4F6"/>
            </a:solidFill>
            <a:ln cap="flat" cmpd="sng" w="9525">
              <a:solidFill>
                <a:srgbClr val="DAF3EB"/>
              </a:solidFill>
              <a:prstDash val="solid"/>
              <a:round/>
              <a:headEnd len="sm" w="sm" type="none"/>
              <a:tailEnd len="sm" w="sm" type="none"/>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120" name="Google Shape;1120;p48"/>
          <p:cNvGrpSpPr/>
          <p:nvPr/>
        </p:nvGrpSpPr>
        <p:grpSpPr>
          <a:xfrm>
            <a:off x="8223277" y="2326532"/>
            <a:ext cx="3449611" cy="3768026"/>
            <a:chOff x="9032240" y="1968430"/>
            <a:chExt cx="2613660" cy="3768026"/>
          </a:xfrm>
        </p:grpSpPr>
        <p:sp>
          <p:nvSpPr>
            <p:cNvPr id="1121" name="Google Shape;1121;p48"/>
            <p:cNvSpPr txBox="1"/>
            <p:nvPr/>
          </p:nvSpPr>
          <p:spPr>
            <a:xfrm>
              <a:off x="9032240" y="1968430"/>
              <a:ext cx="2613660" cy="3768026"/>
            </a:xfrm>
            <a:prstGeom prst="rect">
              <a:avLst/>
            </a:prstGeom>
            <a:solidFill>
              <a:srgbClr val="F2F2F2"/>
            </a:solidFill>
            <a:ln>
              <a:noFill/>
            </a:ln>
          </p:spPr>
          <p:txBody>
            <a:bodyPr anchorCtr="0" anchor="t" bIns="45700" lIns="91425" spcFirstLastPara="1" rIns="91425" wrap="square" tIns="4572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22" name="Google Shape;1122;p48"/>
            <p:cNvSpPr txBox="1"/>
            <p:nvPr/>
          </p:nvSpPr>
          <p:spPr>
            <a:xfrm>
              <a:off x="9032240" y="1968430"/>
              <a:ext cx="2613660" cy="67276"/>
            </a:xfrm>
            <a:prstGeom prst="rect">
              <a:avLst/>
            </a:prstGeom>
            <a:solidFill>
              <a:schemeClr val="accent5"/>
            </a:solidFill>
            <a:ln>
              <a:noFill/>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23" name="Google Shape;1123;p48"/>
            <p:cNvSpPr txBox="1"/>
            <p:nvPr/>
          </p:nvSpPr>
          <p:spPr>
            <a:xfrm>
              <a:off x="9032240" y="2072034"/>
              <a:ext cx="2613660" cy="67276"/>
            </a:xfrm>
            <a:prstGeom prst="rect">
              <a:avLst/>
            </a:prstGeom>
            <a:solidFill>
              <a:srgbClr val="9CC2E5"/>
            </a:solidFill>
            <a:ln>
              <a:noFill/>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24" name="Google Shape;1124;p48"/>
            <p:cNvSpPr txBox="1"/>
            <p:nvPr/>
          </p:nvSpPr>
          <p:spPr>
            <a:xfrm>
              <a:off x="9032240" y="2175637"/>
              <a:ext cx="2613660" cy="67276"/>
            </a:xfrm>
            <a:prstGeom prst="rect">
              <a:avLst/>
            </a:prstGeom>
            <a:solidFill>
              <a:srgbClr val="DDEAF6"/>
            </a:solidFill>
            <a:ln cap="flat" cmpd="sng" w="9525">
              <a:solidFill>
                <a:srgbClr val="DAF3EB"/>
              </a:solidFill>
              <a:prstDash val="solid"/>
              <a:round/>
              <a:headEnd len="sm" w="sm" type="none"/>
              <a:tailEnd len="sm" w="sm" type="none"/>
            </a:ln>
          </p:spPr>
          <p:txBody>
            <a:bodyPr anchorCtr="0" anchor="t" bIns="45700" lIns="91425" spcFirstLastPara="1" rIns="91425" wrap="square" tIns="10058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125" name="Google Shape;1125;p48"/>
          <p:cNvSpPr/>
          <p:nvPr/>
        </p:nvSpPr>
        <p:spPr>
          <a:xfrm>
            <a:off x="2150574" y="5489846"/>
            <a:ext cx="548640" cy="54864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07</a:t>
            </a:r>
            <a:endParaRPr b="0" i="0" sz="1400" u="none" cap="none" strike="noStrike">
              <a:solidFill>
                <a:srgbClr val="000000"/>
              </a:solidFill>
              <a:latin typeface="Arial"/>
              <a:ea typeface="Arial"/>
              <a:cs typeface="Arial"/>
              <a:sym typeface="Arial"/>
            </a:endParaRPr>
          </a:p>
        </p:txBody>
      </p:sp>
      <p:sp>
        <p:nvSpPr>
          <p:cNvPr id="1126" name="Google Shape;1126;p48"/>
          <p:cNvSpPr/>
          <p:nvPr/>
        </p:nvSpPr>
        <p:spPr>
          <a:xfrm>
            <a:off x="5912169" y="5489846"/>
            <a:ext cx="548640" cy="54864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08</a:t>
            </a:r>
            <a:endParaRPr b="0" i="0" sz="1400" u="none" cap="none" strike="noStrike">
              <a:solidFill>
                <a:srgbClr val="000000"/>
              </a:solidFill>
              <a:latin typeface="Arial"/>
              <a:ea typeface="Arial"/>
              <a:cs typeface="Arial"/>
              <a:sym typeface="Arial"/>
            </a:endParaRPr>
          </a:p>
        </p:txBody>
      </p:sp>
      <p:sp>
        <p:nvSpPr>
          <p:cNvPr id="1127" name="Google Shape;1127;p48"/>
          <p:cNvSpPr/>
          <p:nvPr/>
        </p:nvSpPr>
        <p:spPr>
          <a:xfrm>
            <a:off x="9673762" y="5489846"/>
            <a:ext cx="548640" cy="54864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09</a:t>
            </a:r>
            <a:endParaRPr b="0" i="0" sz="1400" u="none" cap="none" strike="noStrike">
              <a:solidFill>
                <a:srgbClr val="000000"/>
              </a:solidFill>
              <a:latin typeface="Arial"/>
              <a:ea typeface="Arial"/>
              <a:cs typeface="Arial"/>
              <a:sym typeface="Arial"/>
            </a:endParaRPr>
          </a:p>
        </p:txBody>
      </p:sp>
      <p:sp>
        <p:nvSpPr>
          <p:cNvPr id="1128" name="Google Shape;1128;p48"/>
          <p:cNvSpPr txBox="1"/>
          <p:nvPr/>
        </p:nvSpPr>
        <p:spPr>
          <a:xfrm>
            <a:off x="796132" y="2699916"/>
            <a:ext cx="3257524" cy="20620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600" u="none" cap="none" strike="noStrike">
                <a:solidFill>
                  <a:schemeClr val="dk1"/>
                </a:solidFill>
                <a:latin typeface="Arial"/>
                <a:ea typeface="Arial"/>
                <a:cs typeface="Arial"/>
                <a:sym typeface="Arial"/>
              </a:rPr>
              <a:t>Moratorium: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A moratorium event is declared when the issuer of the reference obligation imposes a temporary halt or delay on payments to bondholders, typically during a financial crisis or when seeking to negotiate new terms.</a:t>
            </a:r>
            <a:endParaRPr b="0" i="0" sz="1400" u="none" cap="none" strike="noStrike">
              <a:solidFill>
                <a:srgbClr val="000000"/>
              </a:solidFill>
              <a:latin typeface="Arial"/>
              <a:ea typeface="Arial"/>
              <a:cs typeface="Arial"/>
              <a:sym typeface="Arial"/>
            </a:endParaRPr>
          </a:p>
        </p:txBody>
      </p:sp>
      <p:sp>
        <p:nvSpPr>
          <p:cNvPr id="1129" name="Google Shape;1129;p48"/>
          <p:cNvSpPr txBox="1"/>
          <p:nvPr/>
        </p:nvSpPr>
        <p:spPr>
          <a:xfrm>
            <a:off x="4557727" y="2699916"/>
            <a:ext cx="3257524" cy="13233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600" u="none" cap="none" strike="noStrike">
                <a:solidFill>
                  <a:schemeClr val="dk1"/>
                </a:solidFill>
                <a:latin typeface="Arial"/>
                <a:ea typeface="Arial"/>
                <a:cs typeface="Arial"/>
                <a:sym typeface="Arial"/>
              </a:rPr>
              <a:t>Repudiation of Obligations: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This event occurs when the issuer explicitly refuses to acknowledge or honor its debt obligations, even if payment has not yet been due.</a:t>
            </a:r>
            <a:endParaRPr b="0" i="0" sz="1400" u="none" cap="none" strike="noStrike">
              <a:solidFill>
                <a:srgbClr val="000000"/>
              </a:solidFill>
              <a:latin typeface="Arial"/>
              <a:ea typeface="Arial"/>
              <a:cs typeface="Arial"/>
              <a:sym typeface="Arial"/>
            </a:endParaRPr>
          </a:p>
        </p:txBody>
      </p:sp>
      <p:sp>
        <p:nvSpPr>
          <p:cNvPr id="1130" name="Google Shape;1130;p48"/>
          <p:cNvSpPr txBox="1"/>
          <p:nvPr/>
        </p:nvSpPr>
        <p:spPr>
          <a:xfrm>
            <a:off x="8319320" y="2699916"/>
            <a:ext cx="3257524" cy="15696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600" u="none" cap="none" strike="noStrike">
                <a:solidFill>
                  <a:schemeClr val="dk1"/>
                </a:solidFill>
                <a:latin typeface="Arial"/>
                <a:ea typeface="Arial"/>
                <a:cs typeface="Arial"/>
                <a:sym typeface="Arial"/>
              </a:rPr>
              <a:t>Cessation of Payments: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This event is triggered when the issuer stops making payments on its debt obligations, which may or may not be associated with a formal default.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sp>
        <p:nvSpPr>
          <p:cNvPr id="1135" name="Google Shape;1135;p49"/>
          <p:cNvSpPr txBox="1"/>
          <p:nvPr>
            <p:ph type="title"/>
          </p:nvPr>
        </p:nvSpPr>
        <p:spPr>
          <a:xfrm>
            <a:off x="700088" y="404813"/>
            <a:ext cx="10515600" cy="71596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CREDIT EVENTS</a:t>
            </a:r>
            <a:endParaRPr/>
          </a:p>
        </p:txBody>
      </p:sp>
      <p:sp>
        <p:nvSpPr>
          <p:cNvPr id="1136" name="Google Shape;1136;p49"/>
          <p:cNvSpPr/>
          <p:nvPr/>
        </p:nvSpPr>
        <p:spPr>
          <a:xfrm>
            <a:off x="700088" y="1570383"/>
            <a:ext cx="10972800" cy="3326082"/>
          </a:xfrm>
          <a:prstGeom prst="roundRect">
            <a:avLst>
              <a:gd fmla="val 7839" name="adj"/>
            </a:avLst>
          </a:prstGeom>
          <a:solidFill>
            <a:srgbClr val="DAF3EB"/>
          </a:solidFill>
          <a:ln>
            <a:noFill/>
          </a:ln>
          <a:effectLst>
            <a:outerShdw blurRad="63500" rotWithShape="0" algn="ctr">
              <a:srgbClr val="000000">
                <a:alpha val="2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37" name="Google Shape;1137;p49"/>
          <p:cNvSpPr txBox="1"/>
          <p:nvPr/>
        </p:nvSpPr>
        <p:spPr>
          <a:xfrm>
            <a:off x="1009805" y="1940783"/>
            <a:ext cx="10353367" cy="25852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It's important to note that the specific credit events covered in a CDS contract can vary based on the contract's terms and negotiation between the parties involved. Additionally, the terms and definitions of these events are usually detailed in the contract's documentation and may incorporate criteria from recognized credit rating agencies.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The occurrence of a credit event in a CDS contract typically leads to a payment from the protection seller to the protection buyer, providing compensation for the credit risk associated with the reference obligation. The precise terms and triggers for these events should be carefully reviewed within the CDS contract to ensure clarity and understanding.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50"/>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BANKRUPTCY: EXAMPLE</a:t>
            </a:r>
            <a:endParaRPr/>
          </a:p>
        </p:txBody>
      </p:sp>
      <p:sp>
        <p:nvSpPr>
          <p:cNvPr id="1143" name="Google Shape;1143;p50"/>
          <p:cNvSpPr txBox="1"/>
          <p:nvPr/>
        </p:nvSpPr>
        <p:spPr>
          <a:xfrm>
            <a:off x="9548363" y="6343707"/>
            <a:ext cx="856907" cy="276999"/>
          </a:xfrm>
          <a:prstGeom prst="rect">
            <a:avLst/>
          </a:prstGeom>
          <a:noFill/>
          <a:ln>
            <a:noFill/>
          </a:ln>
        </p:spPr>
        <p:txBody>
          <a:bodyPr anchorCtr="0" anchor="b" bIns="0" lIns="0" spcFirstLastPara="1" rIns="0" wrap="square" tIns="0">
            <a:spAutoFit/>
          </a:bodyPr>
          <a:lstStyle/>
          <a:p>
            <a:pPr indent="0" lvl="0" marL="38100" marR="0" rtl="0" algn="l">
              <a:lnSpc>
                <a:spcPct val="100000"/>
              </a:lnSpc>
              <a:spcBef>
                <a:spcPts val="45"/>
              </a:spcBef>
              <a:spcAft>
                <a:spcPts val="0"/>
              </a:spcAft>
              <a:buClr>
                <a:srgbClr val="000000"/>
              </a:buClr>
              <a:buSzPts val="11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pic>
        <p:nvPicPr>
          <p:cNvPr id="1144" name="Google Shape;1144;p50"/>
          <p:cNvPicPr preferRelativeResize="0"/>
          <p:nvPr/>
        </p:nvPicPr>
        <p:blipFill rotWithShape="1">
          <a:blip r:embed="rId3">
            <a:alphaModFix/>
          </a:blip>
          <a:srcRect b="0" l="0" r="0" t="0"/>
          <a:stretch/>
        </p:blipFill>
        <p:spPr>
          <a:xfrm>
            <a:off x="1757243" y="3974672"/>
            <a:ext cx="8839441" cy="921898"/>
          </a:xfrm>
          <a:prstGeom prst="rect">
            <a:avLst/>
          </a:prstGeom>
          <a:noFill/>
          <a:ln>
            <a:noFill/>
          </a:ln>
        </p:spPr>
      </p:pic>
      <p:grpSp>
        <p:nvGrpSpPr>
          <p:cNvPr id="1145" name="Google Shape;1145;p50"/>
          <p:cNvGrpSpPr/>
          <p:nvPr/>
        </p:nvGrpSpPr>
        <p:grpSpPr>
          <a:xfrm>
            <a:off x="2811781" y="1485900"/>
            <a:ext cx="6730365" cy="1025340"/>
            <a:chOff x="2730818" y="1485900"/>
            <a:chExt cx="6730365" cy="1025340"/>
          </a:xfrm>
        </p:grpSpPr>
        <p:sp>
          <p:nvSpPr>
            <p:cNvPr id="1146" name="Google Shape;1146;p50"/>
            <p:cNvSpPr/>
            <p:nvPr/>
          </p:nvSpPr>
          <p:spPr>
            <a:xfrm>
              <a:off x="2730818" y="1485900"/>
              <a:ext cx="6730365" cy="1025340"/>
            </a:xfrm>
            <a:prstGeom prst="roundRect">
              <a:avLst>
                <a:gd fmla="val 16667" name="adj"/>
              </a:avLst>
            </a:prstGeom>
            <a:solidFill>
              <a:schemeClr val="accent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chemeClr val="lt1"/>
                </a:solidFill>
                <a:latin typeface="Arial"/>
                <a:ea typeface="Arial"/>
                <a:cs typeface="Arial"/>
                <a:sym typeface="Arial"/>
              </a:endParaRPr>
            </a:p>
          </p:txBody>
        </p:sp>
        <p:sp>
          <p:nvSpPr>
            <p:cNvPr id="1147" name="Google Shape;1147;p50"/>
            <p:cNvSpPr/>
            <p:nvPr/>
          </p:nvSpPr>
          <p:spPr>
            <a:xfrm>
              <a:off x="4761340" y="1798515"/>
              <a:ext cx="2669320" cy="400110"/>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15</a:t>
              </a:r>
              <a:r>
                <a:rPr b="1" baseline="30000" i="0" lang="en-US" sz="2000" u="none" cap="none" strike="noStrike">
                  <a:solidFill>
                    <a:schemeClr val="lt1"/>
                  </a:solidFill>
                  <a:latin typeface="Arial"/>
                  <a:ea typeface="Arial"/>
                  <a:cs typeface="Arial"/>
                  <a:sym typeface="Arial"/>
                </a:rPr>
                <a:t>th</a:t>
              </a:r>
              <a:r>
                <a:rPr b="1" i="0" lang="en-US" sz="2000" u="none" cap="none" strike="noStrike">
                  <a:solidFill>
                    <a:schemeClr val="lt1"/>
                  </a:solidFill>
                  <a:latin typeface="Arial"/>
                  <a:ea typeface="Arial"/>
                  <a:cs typeface="Arial"/>
                  <a:sym typeface="Arial"/>
                </a:rPr>
                <a:t> September 2008</a:t>
              </a:r>
              <a:endParaRPr b="0" i="0" sz="1400" u="none" cap="none" strike="noStrike">
                <a:solidFill>
                  <a:schemeClr val="lt1"/>
                </a:solidFill>
                <a:latin typeface="Arial"/>
                <a:ea typeface="Arial"/>
                <a:cs typeface="Arial"/>
                <a:sym typeface="Arial"/>
              </a:endParaRPr>
            </a:p>
          </p:txBody>
        </p:sp>
      </p:grpSp>
      <p:grpSp>
        <p:nvGrpSpPr>
          <p:cNvPr id="1148" name="Google Shape;1148;p50"/>
          <p:cNvGrpSpPr/>
          <p:nvPr/>
        </p:nvGrpSpPr>
        <p:grpSpPr>
          <a:xfrm>
            <a:off x="2811781" y="2838316"/>
            <a:ext cx="6730365" cy="809280"/>
            <a:chOff x="2811781" y="2797640"/>
            <a:chExt cx="6730365" cy="809280"/>
          </a:xfrm>
        </p:grpSpPr>
        <p:grpSp>
          <p:nvGrpSpPr>
            <p:cNvPr id="1149" name="Google Shape;1149;p50"/>
            <p:cNvGrpSpPr/>
            <p:nvPr/>
          </p:nvGrpSpPr>
          <p:grpSpPr>
            <a:xfrm>
              <a:off x="2811781" y="2797640"/>
              <a:ext cx="3202027" cy="809280"/>
              <a:chOff x="2811781" y="2797640"/>
              <a:chExt cx="3202027" cy="809280"/>
            </a:xfrm>
          </p:grpSpPr>
          <p:sp>
            <p:nvSpPr>
              <p:cNvPr id="1150" name="Google Shape;1150;p50"/>
              <p:cNvSpPr/>
              <p:nvPr/>
            </p:nvSpPr>
            <p:spPr>
              <a:xfrm>
                <a:off x="2811781" y="2797640"/>
                <a:ext cx="3202027" cy="809280"/>
              </a:xfrm>
              <a:prstGeom prst="roundRect">
                <a:avLst>
                  <a:gd fmla="val 16667" name="adj"/>
                </a:avLst>
              </a:prstGeom>
              <a:solidFill>
                <a:srgbClr val="DAF3E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Arial"/>
                  <a:ea typeface="Arial"/>
                  <a:cs typeface="Arial"/>
                  <a:sym typeface="Arial"/>
                </a:endParaRPr>
              </a:p>
            </p:txBody>
          </p:sp>
          <p:sp>
            <p:nvSpPr>
              <p:cNvPr id="1151" name="Google Shape;1151;p50"/>
              <p:cNvSpPr txBox="1"/>
              <p:nvPr/>
            </p:nvSpPr>
            <p:spPr>
              <a:xfrm>
                <a:off x="3044746" y="2848337"/>
                <a:ext cx="2736096"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$639 bn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In Assets</a:t>
                </a:r>
                <a:endParaRPr b="0" i="0" sz="1400" u="none" cap="none" strike="noStrike">
                  <a:solidFill>
                    <a:srgbClr val="000000"/>
                  </a:solidFill>
                  <a:latin typeface="Arial"/>
                  <a:ea typeface="Arial"/>
                  <a:cs typeface="Arial"/>
                  <a:sym typeface="Arial"/>
                </a:endParaRPr>
              </a:p>
            </p:txBody>
          </p:sp>
        </p:grpSp>
        <p:grpSp>
          <p:nvGrpSpPr>
            <p:cNvPr id="1152" name="Google Shape;1152;p50"/>
            <p:cNvGrpSpPr/>
            <p:nvPr/>
          </p:nvGrpSpPr>
          <p:grpSpPr>
            <a:xfrm>
              <a:off x="6340119" y="2797640"/>
              <a:ext cx="3202027" cy="809280"/>
              <a:chOff x="6340119" y="2797640"/>
              <a:chExt cx="3202027" cy="809280"/>
            </a:xfrm>
          </p:grpSpPr>
          <p:sp>
            <p:nvSpPr>
              <p:cNvPr id="1153" name="Google Shape;1153;p50"/>
              <p:cNvSpPr/>
              <p:nvPr/>
            </p:nvSpPr>
            <p:spPr>
              <a:xfrm>
                <a:off x="6340119" y="2797640"/>
                <a:ext cx="3202027" cy="809280"/>
              </a:xfrm>
              <a:prstGeom prst="roundRect">
                <a:avLst>
                  <a:gd fmla="val 16667" name="adj"/>
                </a:avLst>
              </a:prstGeom>
              <a:solidFill>
                <a:srgbClr val="DAF3E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Arial"/>
                  <a:ea typeface="Arial"/>
                  <a:cs typeface="Arial"/>
                  <a:sym typeface="Arial"/>
                </a:endParaRPr>
              </a:p>
            </p:txBody>
          </p:sp>
          <p:sp>
            <p:nvSpPr>
              <p:cNvPr id="1154" name="Google Shape;1154;p50"/>
              <p:cNvSpPr txBox="1"/>
              <p:nvPr/>
            </p:nvSpPr>
            <p:spPr>
              <a:xfrm>
                <a:off x="6573084" y="2848337"/>
                <a:ext cx="2736096"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$619 bn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In Debt</a:t>
                </a:r>
                <a:endParaRPr b="0" i="0" sz="1400" u="none" cap="none" strike="noStrike">
                  <a:solidFill>
                    <a:srgbClr val="000000"/>
                  </a:solidFill>
                  <a:latin typeface="Arial"/>
                  <a:ea typeface="Arial"/>
                  <a:cs typeface="Arial"/>
                  <a:sym typeface="Arial"/>
                </a:endParaRPr>
              </a:p>
            </p:txBody>
          </p:sp>
        </p:grpSp>
      </p:grpSp>
      <p:grpSp>
        <p:nvGrpSpPr>
          <p:cNvPr id="1155" name="Google Shape;1155;p50"/>
          <p:cNvGrpSpPr/>
          <p:nvPr/>
        </p:nvGrpSpPr>
        <p:grpSpPr>
          <a:xfrm>
            <a:off x="700088" y="5223829"/>
            <a:ext cx="5029200" cy="808912"/>
            <a:chOff x="700088" y="5325188"/>
            <a:chExt cx="5029200" cy="808912"/>
          </a:xfrm>
        </p:grpSpPr>
        <p:sp>
          <p:nvSpPr>
            <p:cNvPr id="1156" name="Google Shape;1156;p50"/>
            <p:cNvSpPr/>
            <p:nvPr/>
          </p:nvSpPr>
          <p:spPr>
            <a:xfrm>
              <a:off x="700088" y="5325188"/>
              <a:ext cx="5029200" cy="808912"/>
            </a:xfrm>
            <a:prstGeom prst="roundRect">
              <a:avLst>
                <a:gd fmla="val 16667" name="adj"/>
              </a:avLst>
            </a:prstGeom>
            <a:solidFill>
              <a:srgbClr val="F1F1F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Arial"/>
                <a:ea typeface="Arial"/>
                <a:cs typeface="Arial"/>
                <a:sym typeface="Arial"/>
              </a:endParaRPr>
            </a:p>
          </p:txBody>
        </p:sp>
        <p:sp>
          <p:nvSpPr>
            <p:cNvPr id="1157" name="Google Shape;1157;p50"/>
            <p:cNvSpPr/>
            <p:nvPr/>
          </p:nvSpPr>
          <p:spPr>
            <a:xfrm>
              <a:off x="964688" y="5406479"/>
              <a:ext cx="4500000"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Largest victim of the subprime mortgage crisis</a:t>
              </a:r>
              <a:endParaRPr b="0" i="0" sz="1400" u="none" cap="none" strike="noStrike">
                <a:solidFill>
                  <a:srgbClr val="000000"/>
                </a:solidFill>
                <a:latin typeface="Arial"/>
                <a:ea typeface="Arial"/>
                <a:cs typeface="Arial"/>
                <a:sym typeface="Arial"/>
              </a:endParaRPr>
            </a:p>
          </p:txBody>
        </p:sp>
      </p:grpSp>
      <p:grpSp>
        <p:nvGrpSpPr>
          <p:cNvPr id="1158" name="Google Shape;1158;p50"/>
          <p:cNvGrpSpPr/>
          <p:nvPr/>
        </p:nvGrpSpPr>
        <p:grpSpPr>
          <a:xfrm>
            <a:off x="6624638" y="5223645"/>
            <a:ext cx="5029200" cy="809280"/>
            <a:chOff x="6624638" y="5319115"/>
            <a:chExt cx="5029200" cy="809280"/>
          </a:xfrm>
        </p:grpSpPr>
        <p:sp>
          <p:nvSpPr>
            <p:cNvPr id="1159" name="Google Shape;1159;p50"/>
            <p:cNvSpPr/>
            <p:nvPr/>
          </p:nvSpPr>
          <p:spPr>
            <a:xfrm>
              <a:off x="6624638" y="5319115"/>
              <a:ext cx="5029200" cy="809280"/>
            </a:xfrm>
            <a:prstGeom prst="roundRect">
              <a:avLst>
                <a:gd fmla="val 16667" name="adj"/>
              </a:avLst>
            </a:prstGeom>
            <a:solidFill>
              <a:srgbClr val="F1F1F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Arial"/>
                <a:ea typeface="Arial"/>
                <a:cs typeface="Arial"/>
                <a:sym typeface="Arial"/>
              </a:endParaRPr>
            </a:p>
          </p:txBody>
        </p:sp>
        <p:sp>
          <p:nvSpPr>
            <p:cNvPr id="1160" name="Google Shape;1160;p50"/>
            <p:cNvSpPr/>
            <p:nvPr/>
          </p:nvSpPr>
          <p:spPr>
            <a:xfrm>
              <a:off x="6893167" y="5400590"/>
              <a:ext cx="4492142" cy="64633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$10 trillion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Erosion in Global Market Capitalization</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4" name="Shape 1164"/>
        <p:cNvGrpSpPr/>
        <p:nvPr/>
      </p:nvGrpSpPr>
      <p:grpSpPr>
        <a:xfrm>
          <a:off x="0" y="0"/>
          <a:ext cx="0" cy="0"/>
          <a:chOff x="0" y="0"/>
          <a:chExt cx="0" cy="0"/>
        </a:xfrm>
      </p:grpSpPr>
      <p:sp>
        <p:nvSpPr>
          <p:cNvPr id="1165" name="Google Shape;1165;p51"/>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RESTRUCTURING: EXAMPLE</a:t>
            </a:r>
            <a:endParaRPr/>
          </a:p>
        </p:txBody>
      </p:sp>
      <p:pic>
        <p:nvPicPr>
          <p:cNvPr id="1166" name="Google Shape;1166;p51"/>
          <p:cNvPicPr preferRelativeResize="0"/>
          <p:nvPr/>
        </p:nvPicPr>
        <p:blipFill rotWithShape="1">
          <a:blip r:embed="rId3">
            <a:alphaModFix/>
          </a:blip>
          <a:srcRect b="0" l="0" r="0" t="0"/>
          <a:stretch/>
        </p:blipFill>
        <p:spPr>
          <a:xfrm>
            <a:off x="2864593" y="1875074"/>
            <a:ext cx="6624740" cy="1722686"/>
          </a:xfrm>
          <a:prstGeom prst="rect">
            <a:avLst/>
          </a:prstGeom>
          <a:noFill/>
          <a:ln>
            <a:noFill/>
          </a:ln>
          <a:effectLst>
            <a:outerShdw blurRad="63500" rotWithShape="0" algn="tl">
              <a:srgbClr val="000000">
                <a:alpha val="20000"/>
              </a:srgbClr>
            </a:outerShdw>
          </a:effectLst>
        </p:spPr>
      </p:pic>
      <p:sp>
        <p:nvSpPr>
          <p:cNvPr id="1167" name="Google Shape;1167;p51"/>
          <p:cNvSpPr/>
          <p:nvPr/>
        </p:nvSpPr>
        <p:spPr>
          <a:xfrm>
            <a:off x="700088" y="4358195"/>
            <a:ext cx="3383280" cy="1188890"/>
          </a:xfrm>
          <a:prstGeom prst="roundRect">
            <a:avLst>
              <a:gd fmla="val 16667" name="adj"/>
            </a:avLst>
          </a:prstGeom>
          <a:solidFill>
            <a:srgbClr val="DAF3E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8" name="Google Shape;1168;p51"/>
          <p:cNvSpPr/>
          <p:nvPr/>
        </p:nvSpPr>
        <p:spPr>
          <a:xfrm>
            <a:off x="4485323" y="4358195"/>
            <a:ext cx="3383280" cy="1188890"/>
          </a:xfrm>
          <a:prstGeom prst="roundRect">
            <a:avLst>
              <a:gd fmla="val 16667" name="adj"/>
            </a:avLst>
          </a:prstGeom>
          <a:solidFill>
            <a:srgbClr val="DAF3E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9" name="Google Shape;1169;p51"/>
          <p:cNvSpPr/>
          <p:nvPr/>
        </p:nvSpPr>
        <p:spPr>
          <a:xfrm>
            <a:off x="8270558" y="4358195"/>
            <a:ext cx="3383280" cy="1188890"/>
          </a:xfrm>
          <a:prstGeom prst="roundRect">
            <a:avLst>
              <a:gd fmla="val 16667" name="adj"/>
            </a:avLst>
          </a:prstGeom>
          <a:solidFill>
            <a:srgbClr val="DAF3E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p51"/>
          <p:cNvSpPr/>
          <p:nvPr/>
        </p:nvSpPr>
        <p:spPr>
          <a:xfrm>
            <a:off x="918846" y="4598697"/>
            <a:ext cx="2945765"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$600 mn</a:t>
            </a:r>
            <a:endParaRPr b="1"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Compensation</a:t>
            </a:r>
            <a:endParaRPr b="0" i="0" sz="1400" u="none" cap="none" strike="noStrike">
              <a:solidFill>
                <a:srgbClr val="000000"/>
              </a:solidFill>
              <a:latin typeface="Arial"/>
              <a:ea typeface="Arial"/>
              <a:cs typeface="Arial"/>
              <a:sym typeface="Arial"/>
            </a:endParaRPr>
          </a:p>
        </p:txBody>
      </p:sp>
      <p:sp>
        <p:nvSpPr>
          <p:cNvPr id="1171" name="Google Shape;1171;p51"/>
          <p:cNvSpPr/>
          <p:nvPr/>
        </p:nvSpPr>
        <p:spPr>
          <a:xfrm>
            <a:off x="4704081" y="4598697"/>
            <a:ext cx="2945765"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$154 mn</a:t>
            </a:r>
            <a:endParaRPr b="1"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Debt Cancelled</a:t>
            </a:r>
            <a:endParaRPr b="0" i="0" sz="1400" u="none" cap="none" strike="noStrike">
              <a:solidFill>
                <a:srgbClr val="000000"/>
              </a:solidFill>
              <a:latin typeface="Arial"/>
              <a:ea typeface="Arial"/>
              <a:cs typeface="Arial"/>
              <a:sym typeface="Arial"/>
            </a:endParaRPr>
          </a:p>
        </p:txBody>
      </p:sp>
      <p:sp>
        <p:nvSpPr>
          <p:cNvPr id="1172" name="Google Shape;1172;p51"/>
          <p:cNvSpPr/>
          <p:nvPr/>
        </p:nvSpPr>
        <p:spPr>
          <a:xfrm>
            <a:off x="8489316" y="4598697"/>
            <a:ext cx="2945765"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$7.2 Billion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Debt Restructuring Plan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52"/>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DERIVATIVES - CREDIT DEFAULT SWAPS - EXAMPLE</a:t>
            </a:r>
            <a:endParaRPr/>
          </a:p>
        </p:txBody>
      </p:sp>
      <p:grpSp>
        <p:nvGrpSpPr>
          <p:cNvPr id="1178" name="Google Shape;1178;p52"/>
          <p:cNvGrpSpPr/>
          <p:nvPr/>
        </p:nvGrpSpPr>
        <p:grpSpPr>
          <a:xfrm>
            <a:off x="700088" y="1488376"/>
            <a:ext cx="10953750" cy="4481730"/>
            <a:chOff x="700088" y="1488376"/>
            <a:chExt cx="10953750" cy="4481730"/>
          </a:xfrm>
        </p:grpSpPr>
        <p:grpSp>
          <p:nvGrpSpPr>
            <p:cNvPr id="1179" name="Google Shape;1179;p52"/>
            <p:cNvGrpSpPr/>
            <p:nvPr/>
          </p:nvGrpSpPr>
          <p:grpSpPr>
            <a:xfrm>
              <a:off x="700088" y="1488376"/>
              <a:ext cx="3920986" cy="945567"/>
              <a:chOff x="1114917" y="1518856"/>
              <a:chExt cx="3920986" cy="945567"/>
            </a:xfrm>
          </p:grpSpPr>
          <p:grpSp>
            <p:nvGrpSpPr>
              <p:cNvPr id="1180" name="Google Shape;1180;p52"/>
              <p:cNvGrpSpPr/>
              <p:nvPr/>
            </p:nvGrpSpPr>
            <p:grpSpPr>
              <a:xfrm rot="5400000">
                <a:off x="1099092" y="1534680"/>
                <a:ext cx="945567" cy="913918"/>
                <a:chOff x="1390067" y="1192856"/>
                <a:chExt cx="829883" cy="804892"/>
              </a:xfrm>
            </p:grpSpPr>
            <p:sp>
              <p:nvSpPr>
                <p:cNvPr id="1181" name="Google Shape;1181;p52"/>
                <p:cNvSpPr/>
                <p:nvPr/>
              </p:nvSpPr>
              <p:spPr>
                <a:xfrm>
                  <a:off x="1443011" y="1436008"/>
                  <a:ext cx="699004" cy="508795"/>
                </a:xfrm>
                <a:custGeom>
                  <a:rect b="b" l="l" r="r" t="t"/>
                  <a:pathLst>
                    <a:path extrusionOk="0" h="1403461" w="1928132">
                      <a:moveTo>
                        <a:pt x="1004133" y="818207"/>
                      </a:moveTo>
                      <a:cubicBezTo>
                        <a:pt x="993057" y="829283"/>
                        <a:pt x="978592" y="834790"/>
                        <a:pt x="964127" y="834790"/>
                      </a:cubicBezTo>
                      <a:cubicBezTo>
                        <a:pt x="949662" y="834790"/>
                        <a:pt x="935137" y="829283"/>
                        <a:pt x="924122" y="818207"/>
                      </a:cubicBezTo>
                      <a:lnTo>
                        <a:pt x="105854" y="0"/>
                      </a:lnTo>
                      <a:cubicBezTo>
                        <a:pt x="38250" y="131758"/>
                        <a:pt x="0" y="281128"/>
                        <a:pt x="0" y="439395"/>
                      </a:cubicBezTo>
                      <a:cubicBezTo>
                        <a:pt x="0" y="971814"/>
                        <a:pt x="431648" y="1403462"/>
                        <a:pt x="964067" y="1403462"/>
                      </a:cubicBezTo>
                      <a:cubicBezTo>
                        <a:pt x="1496485" y="1403462"/>
                        <a:pt x="1928133" y="971814"/>
                        <a:pt x="1928133" y="439395"/>
                      </a:cubicBezTo>
                      <a:cubicBezTo>
                        <a:pt x="1928133" y="281068"/>
                        <a:pt x="1889883" y="131758"/>
                        <a:pt x="1822279" y="0"/>
                      </a:cubicBezTo>
                      <a:lnTo>
                        <a:pt x="1004133" y="818207"/>
                      </a:lnTo>
                      <a:close/>
                    </a:path>
                  </a:pathLst>
                </a:custGeom>
                <a:solidFill>
                  <a:srgbClr val="E7E7E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182" name="Google Shape;1182;p52"/>
                <p:cNvSpPr/>
                <p:nvPr/>
              </p:nvSpPr>
              <p:spPr>
                <a:xfrm>
                  <a:off x="1502998" y="1245821"/>
                  <a:ext cx="579051" cy="443257"/>
                </a:xfrm>
                <a:custGeom>
                  <a:rect b="b" l="l" r="r" t="t"/>
                  <a:pathLst>
                    <a:path extrusionOk="0" h="1222680" w="1597255">
                      <a:moveTo>
                        <a:pt x="798597" y="1222680"/>
                      </a:moveTo>
                      <a:lnTo>
                        <a:pt x="1597255" y="424083"/>
                      </a:lnTo>
                      <a:cubicBezTo>
                        <a:pt x="1423918" y="168193"/>
                        <a:pt x="1130988" y="0"/>
                        <a:pt x="798658" y="0"/>
                      </a:cubicBezTo>
                      <a:cubicBezTo>
                        <a:pt x="466328" y="0"/>
                        <a:pt x="173337" y="168193"/>
                        <a:pt x="0" y="424083"/>
                      </a:cubicBezTo>
                      <a:lnTo>
                        <a:pt x="798597" y="122268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183" name="Google Shape;1183;p52"/>
                <p:cNvSpPr/>
                <p:nvPr/>
              </p:nvSpPr>
              <p:spPr>
                <a:xfrm rot="-5400000">
                  <a:off x="1515110" y="1317899"/>
                  <a:ext cx="554806" cy="554806"/>
                </a:xfrm>
                <a:custGeom>
                  <a:rect b="b" l="l" r="r" t="t"/>
                  <a:pathLst>
                    <a:path extrusionOk="0" h="1530377" w="1530377">
                      <a:moveTo>
                        <a:pt x="1530378" y="765189"/>
                      </a:moveTo>
                      <a:cubicBezTo>
                        <a:pt x="1530378" y="1187791"/>
                        <a:pt x="1187791" y="1530378"/>
                        <a:pt x="765189" y="1530378"/>
                      </a:cubicBezTo>
                      <a:cubicBezTo>
                        <a:pt x="342587" y="1530378"/>
                        <a:pt x="0" y="1187791"/>
                        <a:pt x="0" y="765189"/>
                      </a:cubicBezTo>
                      <a:cubicBezTo>
                        <a:pt x="0" y="342587"/>
                        <a:pt x="342587" y="0"/>
                        <a:pt x="765189" y="0"/>
                      </a:cubicBezTo>
                      <a:cubicBezTo>
                        <a:pt x="1187791" y="0"/>
                        <a:pt x="1530378" y="342587"/>
                        <a:pt x="1530378" y="76518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grpSp>
              <p:nvGrpSpPr>
                <p:cNvPr id="1184" name="Google Shape;1184;p52"/>
                <p:cNvGrpSpPr/>
                <p:nvPr/>
              </p:nvGrpSpPr>
              <p:grpSpPr>
                <a:xfrm>
                  <a:off x="1390067" y="1192856"/>
                  <a:ext cx="829883" cy="804892"/>
                  <a:chOff x="843379" y="1909716"/>
                  <a:chExt cx="2289151" cy="2220215"/>
                </a:xfrm>
              </p:grpSpPr>
              <p:sp>
                <p:nvSpPr>
                  <p:cNvPr id="1185" name="Google Shape;1185;p52"/>
                  <p:cNvSpPr/>
                  <p:nvPr/>
                </p:nvSpPr>
                <p:spPr>
                  <a:xfrm>
                    <a:off x="843379" y="2368760"/>
                    <a:ext cx="2289151" cy="1761171"/>
                  </a:xfrm>
                  <a:custGeom>
                    <a:rect b="b" l="l" r="r" t="t"/>
                    <a:pathLst>
                      <a:path extrusionOk="0" h="1761171" w="2289151">
                        <a:moveTo>
                          <a:pt x="2289151" y="651064"/>
                        </a:moveTo>
                        <a:cubicBezTo>
                          <a:pt x="2289151" y="607366"/>
                          <a:pt x="2257921" y="570871"/>
                          <a:pt x="2216584" y="562700"/>
                        </a:cubicBezTo>
                        <a:cubicBezTo>
                          <a:pt x="2200849" y="363217"/>
                          <a:pt x="2131732" y="172147"/>
                          <a:pt x="2015830" y="9038"/>
                        </a:cubicBezTo>
                        <a:cubicBezTo>
                          <a:pt x="2015407" y="8433"/>
                          <a:pt x="2014862" y="7888"/>
                          <a:pt x="2014317" y="7344"/>
                        </a:cubicBezTo>
                        <a:cubicBezTo>
                          <a:pt x="2014015" y="7041"/>
                          <a:pt x="2013833" y="6617"/>
                          <a:pt x="2013531" y="6315"/>
                        </a:cubicBezTo>
                        <a:cubicBezTo>
                          <a:pt x="2013470" y="6254"/>
                          <a:pt x="2013349" y="6194"/>
                          <a:pt x="2013288" y="6133"/>
                        </a:cubicBezTo>
                        <a:cubicBezTo>
                          <a:pt x="2006268" y="-706"/>
                          <a:pt x="1995253" y="-1856"/>
                          <a:pt x="1986840" y="3712"/>
                        </a:cubicBezTo>
                        <a:lnTo>
                          <a:pt x="1986840" y="3712"/>
                        </a:lnTo>
                        <a:cubicBezTo>
                          <a:pt x="1986840" y="3712"/>
                          <a:pt x="1986477" y="3894"/>
                          <a:pt x="1986356" y="4015"/>
                        </a:cubicBezTo>
                        <a:cubicBezTo>
                          <a:pt x="1985751" y="4439"/>
                          <a:pt x="1985266" y="4983"/>
                          <a:pt x="1984722" y="5407"/>
                        </a:cubicBezTo>
                        <a:cubicBezTo>
                          <a:pt x="1984359" y="5710"/>
                          <a:pt x="1983935" y="5952"/>
                          <a:pt x="1983632" y="6254"/>
                        </a:cubicBezTo>
                        <a:cubicBezTo>
                          <a:pt x="1983572" y="6315"/>
                          <a:pt x="1983511" y="6436"/>
                          <a:pt x="1983390" y="6557"/>
                        </a:cubicBezTo>
                        <a:cubicBezTo>
                          <a:pt x="1982846" y="7102"/>
                          <a:pt x="1982422" y="7767"/>
                          <a:pt x="1981938" y="8373"/>
                        </a:cubicBezTo>
                        <a:cubicBezTo>
                          <a:pt x="1981575" y="8857"/>
                          <a:pt x="1981211" y="9280"/>
                          <a:pt x="1980848" y="9765"/>
                        </a:cubicBezTo>
                        <a:cubicBezTo>
                          <a:pt x="1980364" y="10491"/>
                          <a:pt x="1980062" y="11217"/>
                          <a:pt x="1979638" y="12004"/>
                        </a:cubicBezTo>
                        <a:cubicBezTo>
                          <a:pt x="1979396" y="12488"/>
                          <a:pt x="1979154" y="12972"/>
                          <a:pt x="1978912" y="13456"/>
                        </a:cubicBezTo>
                        <a:cubicBezTo>
                          <a:pt x="1978669" y="14122"/>
                          <a:pt x="1978488" y="14788"/>
                          <a:pt x="1978306" y="15514"/>
                        </a:cubicBezTo>
                        <a:cubicBezTo>
                          <a:pt x="1978125" y="16180"/>
                          <a:pt x="1977883" y="16846"/>
                          <a:pt x="1977762" y="17511"/>
                        </a:cubicBezTo>
                        <a:cubicBezTo>
                          <a:pt x="1977701" y="17996"/>
                          <a:pt x="1977641" y="18419"/>
                          <a:pt x="1977641" y="18904"/>
                        </a:cubicBezTo>
                        <a:cubicBezTo>
                          <a:pt x="1977520" y="19690"/>
                          <a:pt x="1977399" y="20477"/>
                          <a:pt x="1977399" y="21264"/>
                        </a:cubicBezTo>
                        <a:cubicBezTo>
                          <a:pt x="1977399" y="21385"/>
                          <a:pt x="1977399" y="21506"/>
                          <a:pt x="1977399" y="21688"/>
                        </a:cubicBezTo>
                        <a:cubicBezTo>
                          <a:pt x="1977399" y="21990"/>
                          <a:pt x="1977459" y="22293"/>
                          <a:pt x="1977520" y="22595"/>
                        </a:cubicBezTo>
                        <a:cubicBezTo>
                          <a:pt x="1977580" y="23624"/>
                          <a:pt x="1977701" y="24653"/>
                          <a:pt x="1977883" y="25682"/>
                        </a:cubicBezTo>
                        <a:cubicBezTo>
                          <a:pt x="1978004" y="26166"/>
                          <a:pt x="1978185" y="26711"/>
                          <a:pt x="1978367" y="27195"/>
                        </a:cubicBezTo>
                        <a:cubicBezTo>
                          <a:pt x="1978609" y="27982"/>
                          <a:pt x="1978791" y="28769"/>
                          <a:pt x="1979154" y="29556"/>
                        </a:cubicBezTo>
                        <a:cubicBezTo>
                          <a:pt x="1979396" y="30161"/>
                          <a:pt x="1979759" y="30705"/>
                          <a:pt x="1980122" y="31311"/>
                        </a:cubicBezTo>
                        <a:cubicBezTo>
                          <a:pt x="1980485" y="31976"/>
                          <a:pt x="1980788" y="32642"/>
                          <a:pt x="1981211" y="33247"/>
                        </a:cubicBezTo>
                        <a:cubicBezTo>
                          <a:pt x="1981272" y="33368"/>
                          <a:pt x="1981332" y="33429"/>
                          <a:pt x="1981393" y="33550"/>
                        </a:cubicBezTo>
                        <a:cubicBezTo>
                          <a:pt x="2092573" y="190001"/>
                          <a:pt x="2158967" y="373204"/>
                          <a:pt x="2174340" y="564516"/>
                        </a:cubicBezTo>
                        <a:cubicBezTo>
                          <a:pt x="2136694" y="575350"/>
                          <a:pt x="2109036" y="610029"/>
                          <a:pt x="2109036" y="651064"/>
                        </a:cubicBezTo>
                        <a:cubicBezTo>
                          <a:pt x="2109036" y="692098"/>
                          <a:pt x="2136755" y="726898"/>
                          <a:pt x="2174461" y="737672"/>
                        </a:cubicBezTo>
                        <a:cubicBezTo>
                          <a:pt x="2130218" y="1289397"/>
                          <a:pt x="1666433" y="1718806"/>
                          <a:pt x="1110229" y="1718806"/>
                        </a:cubicBezTo>
                        <a:cubicBezTo>
                          <a:pt x="521464" y="1718806"/>
                          <a:pt x="42487" y="1239829"/>
                          <a:pt x="42487" y="651064"/>
                        </a:cubicBezTo>
                        <a:cubicBezTo>
                          <a:pt x="42487" y="428219"/>
                          <a:pt x="110454" y="214695"/>
                          <a:pt x="239065" y="33550"/>
                        </a:cubicBezTo>
                        <a:cubicBezTo>
                          <a:pt x="239125" y="33489"/>
                          <a:pt x="239186" y="33368"/>
                          <a:pt x="239246" y="33247"/>
                        </a:cubicBezTo>
                        <a:cubicBezTo>
                          <a:pt x="239731" y="32582"/>
                          <a:pt x="240033" y="31855"/>
                          <a:pt x="240457" y="31129"/>
                        </a:cubicBezTo>
                        <a:cubicBezTo>
                          <a:pt x="240759" y="30584"/>
                          <a:pt x="241062" y="30100"/>
                          <a:pt x="241304" y="29556"/>
                        </a:cubicBezTo>
                        <a:cubicBezTo>
                          <a:pt x="241667" y="28708"/>
                          <a:pt x="241909" y="27800"/>
                          <a:pt x="242212" y="26893"/>
                        </a:cubicBezTo>
                        <a:cubicBezTo>
                          <a:pt x="242333" y="26529"/>
                          <a:pt x="242515" y="26106"/>
                          <a:pt x="242575" y="25743"/>
                        </a:cubicBezTo>
                        <a:cubicBezTo>
                          <a:pt x="242817" y="24593"/>
                          <a:pt x="242938" y="23443"/>
                          <a:pt x="242999" y="22293"/>
                        </a:cubicBezTo>
                        <a:cubicBezTo>
                          <a:pt x="242999" y="22111"/>
                          <a:pt x="242999" y="21869"/>
                          <a:pt x="243059" y="21688"/>
                        </a:cubicBezTo>
                        <a:cubicBezTo>
                          <a:pt x="243059" y="21567"/>
                          <a:pt x="243059" y="21385"/>
                          <a:pt x="243059" y="21264"/>
                        </a:cubicBezTo>
                        <a:cubicBezTo>
                          <a:pt x="243059" y="20417"/>
                          <a:pt x="242938" y="19569"/>
                          <a:pt x="242817" y="18722"/>
                        </a:cubicBezTo>
                        <a:cubicBezTo>
                          <a:pt x="242817" y="18298"/>
                          <a:pt x="242817" y="17875"/>
                          <a:pt x="242696" y="17451"/>
                        </a:cubicBezTo>
                        <a:cubicBezTo>
                          <a:pt x="242696" y="17330"/>
                          <a:pt x="242696" y="17148"/>
                          <a:pt x="242696" y="17027"/>
                        </a:cubicBezTo>
                        <a:cubicBezTo>
                          <a:pt x="242575" y="16362"/>
                          <a:pt x="242272" y="15756"/>
                          <a:pt x="242091" y="15091"/>
                        </a:cubicBezTo>
                        <a:cubicBezTo>
                          <a:pt x="241909" y="14546"/>
                          <a:pt x="241788" y="13941"/>
                          <a:pt x="241607" y="13396"/>
                        </a:cubicBezTo>
                        <a:cubicBezTo>
                          <a:pt x="241607" y="13275"/>
                          <a:pt x="241607" y="13154"/>
                          <a:pt x="241486" y="13033"/>
                        </a:cubicBezTo>
                        <a:cubicBezTo>
                          <a:pt x="241244" y="12549"/>
                          <a:pt x="240941" y="12064"/>
                          <a:pt x="240699" y="11580"/>
                        </a:cubicBezTo>
                        <a:cubicBezTo>
                          <a:pt x="240396" y="10915"/>
                          <a:pt x="240094" y="10249"/>
                          <a:pt x="239670" y="9644"/>
                        </a:cubicBezTo>
                        <a:cubicBezTo>
                          <a:pt x="239670" y="9583"/>
                          <a:pt x="239609" y="9462"/>
                          <a:pt x="239549" y="9401"/>
                        </a:cubicBezTo>
                        <a:cubicBezTo>
                          <a:pt x="239246" y="8978"/>
                          <a:pt x="238883" y="8615"/>
                          <a:pt x="238581" y="8252"/>
                        </a:cubicBezTo>
                        <a:cubicBezTo>
                          <a:pt x="238096" y="7646"/>
                          <a:pt x="237673" y="6981"/>
                          <a:pt x="237068" y="6436"/>
                        </a:cubicBezTo>
                        <a:cubicBezTo>
                          <a:pt x="237007" y="6375"/>
                          <a:pt x="236946" y="6254"/>
                          <a:pt x="236825" y="6133"/>
                        </a:cubicBezTo>
                        <a:cubicBezTo>
                          <a:pt x="236402" y="5710"/>
                          <a:pt x="235918" y="5407"/>
                          <a:pt x="235494" y="5044"/>
                        </a:cubicBezTo>
                        <a:cubicBezTo>
                          <a:pt x="235010" y="4620"/>
                          <a:pt x="234586" y="4197"/>
                          <a:pt x="234102" y="3833"/>
                        </a:cubicBezTo>
                        <a:cubicBezTo>
                          <a:pt x="233981" y="3773"/>
                          <a:pt x="233860" y="3712"/>
                          <a:pt x="233739" y="3652"/>
                        </a:cubicBezTo>
                        <a:cubicBezTo>
                          <a:pt x="233739" y="3652"/>
                          <a:pt x="233678" y="3591"/>
                          <a:pt x="233618" y="3531"/>
                        </a:cubicBezTo>
                        <a:cubicBezTo>
                          <a:pt x="233376" y="3349"/>
                          <a:pt x="233073" y="3289"/>
                          <a:pt x="232831" y="3107"/>
                        </a:cubicBezTo>
                        <a:cubicBezTo>
                          <a:pt x="229200" y="868"/>
                          <a:pt x="225084" y="-161"/>
                          <a:pt x="221090" y="20"/>
                        </a:cubicBezTo>
                        <a:cubicBezTo>
                          <a:pt x="220847" y="20"/>
                          <a:pt x="220605" y="20"/>
                          <a:pt x="220363" y="20"/>
                        </a:cubicBezTo>
                        <a:cubicBezTo>
                          <a:pt x="218911" y="141"/>
                          <a:pt x="217458" y="384"/>
                          <a:pt x="216066" y="747"/>
                        </a:cubicBezTo>
                        <a:cubicBezTo>
                          <a:pt x="215885" y="747"/>
                          <a:pt x="215642" y="868"/>
                          <a:pt x="215461" y="928"/>
                        </a:cubicBezTo>
                        <a:cubicBezTo>
                          <a:pt x="212374" y="1897"/>
                          <a:pt x="209469" y="3531"/>
                          <a:pt x="207109" y="5891"/>
                        </a:cubicBezTo>
                        <a:cubicBezTo>
                          <a:pt x="207048" y="5952"/>
                          <a:pt x="206927" y="6012"/>
                          <a:pt x="206867" y="6073"/>
                        </a:cubicBezTo>
                        <a:cubicBezTo>
                          <a:pt x="206564" y="6375"/>
                          <a:pt x="206382" y="6738"/>
                          <a:pt x="206080" y="7041"/>
                        </a:cubicBezTo>
                        <a:cubicBezTo>
                          <a:pt x="205535" y="7646"/>
                          <a:pt x="204990" y="8130"/>
                          <a:pt x="204567" y="8796"/>
                        </a:cubicBezTo>
                        <a:cubicBezTo>
                          <a:pt x="70691" y="197385"/>
                          <a:pt x="0" y="419443"/>
                          <a:pt x="0" y="651064"/>
                        </a:cubicBezTo>
                        <a:cubicBezTo>
                          <a:pt x="0" y="1263190"/>
                          <a:pt x="497981" y="1761172"/>
                          <a:pt x="1110108" y="1761172"/>
                        </a:cubicBezTo>
                        <a:cubicBezTo>
                          <a:pt x="1688887" y="1761172"/>
                          <a:pt x="2171434" y="1313848"/>
                          <a:pt x="2216645" y="739427"/>
                        </a:cubicBezTo>
                        <a:cubicBezTo>
                          <a:pt x="2257921" y="731196"/>
                          <a:pt x="2289151" y="694700"/>
                          <a:pt x="2289151" y="651064"/>
                        </a:cubicBezTo>
                        <a:close/>
                        <a:moveTo>
                          <a:pt x="2199033" y="698816"/>
                        </a:moveTo>
                        <a:cubicBezTo>
                          <a:pt x="2172705" y="698816"/>
                          <a:pt x="2151280" y="677391"/>
                          <a:pt x="2151280" y="651064"/>
                        </a:cubicBezTo>
                        <a:cubicBezTo>
                          <a:pt x="2151280" y="624736"/>
                          <a:pt x="2172705" y="603311"/>
                          <a:pt x="2199033" y="603311"/>
                        </a:cubicBezTo>
                        <a:cubicBezTo>
                          <a:pt x="2225360" y="603311"/>
                          <a:pt x="2246785" y="624736"/>
                          <a:pt x="2246785" y="651064"/>
                        </a:cubicBezTo>
                        <a:cubicBezTo>
                          <a:pt x="2246785" y="677391"/>
                          <a:pt x="2225360" y="698816"/>
                          <a:pt x="2199033" y="698816"/>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186" name="Google Shape;1186;p52"/>
                  <p:cNvSpPr/>
                  <p:nvPr/>
                </p:nvSpPr>
                <p:spPr>
                  <a:xfrm>
                    <a:off x="3017839" y="2995251"/>
                    <a:ext cx="49144" cy="49144"/>
                  </a:xfrm>
                  <a:custGeom>
                    <a:rect b="b" l="l" r="r" t="t"/>
                    <a:pathLst>
                      <a:path extrusionOk="0" h="49144" w="49144">
                        <a:moveTo>
                          <a:pt x="49144" y="24572"/>
                        </a:moveTo>
                        <a:cubicBezTo>
                          <a:pt x="49144" y="38143"/>
                          <a:pt x="38143" y="49144"/>
                          <a:pt x="24572" y="49144"/>
                        </a:cubicBezTo>
                        <a:cubicBezTo>
                          <a:pt x="11001" y="49144"/>
                          <a:pt x="0" y="38143"/>
                          <a:pt x="0" y="24572"/>
                        </a:cubicBezTo>
                        <a:cubicBezTo>
                          <a:pt x="0" y="11001"/>
                          <a:pt x="11001" y="0"/>
                          <a:pt x="24572" y="0"/>
                        </a:cubicBezTo>
                        <a:cubicBezTo>
                          <a:pt x="38143" y="0"/>
                          <a:pt x="49144" y="11001"/>
                          <a:pt x="49144" y="24572"/>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187" name="Google Shape;1187;p52"/>
                  <p:cNvSpPr/>
                  <p:nvPr/>
                </p:nvSpPr>
                <p:spPr>
                  <a:xfrm>
                    <a:off x="1285342" y="2122661"/>
                    <a:ext cx="42377" cy="42399"/>
                  </a:xfrm>
                  <a:custGeom>
                    <a:rect b="b" l="l" r="r" t="t"/>
                    <a:pathLst>
                      <a:path extrusionOk="0" h="42399" w="42377">
                        <a:moveTo>
                          <a:pt x="21217" y="42400"/>
                        </a:moveTo>
                        <a:cubicBezTo>
                          <a:pt x="25575" y="42400"/>
                          <a:pt x="29993" y="41008"/>
                          <a:pt x="33806" y="38224"/>
                        </a:cubicBezTo>
                        <a:cubicBezTo>
                          <a:pt x="43187" y="31264"/>
                          <a:pt x="45184" y="18009"/>
                          <a:pt x="38224" y="8628"/>
                        </a:cubicBezTo>
                        <a:cubicBezTo>
                          <a:pt x="31264" y="-813"/>
                          <a:pt x="18009" y="-2811"/>
                          <a:pt x="8628" y="4150"/>
                        </a:cubicBezTo>
                        <a:cubicBezTo>
                          <a:pt x="-813" y="11110"/>
                          <a:pt x="-2811" y="24364"/>
                          <a:pt x="4150" y="33806"/>
                        </a:cubicBezTo>
                        <a:cubicBezTo>
                          <a:pt x="8326" y="39434"/>
                          <a:pt x="14741" y="42400"/>
                          <a:pt x="21217" y="4240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188" name="Google Shape;1188;p52"/>
                  <p:cNvSpPr/>
                  <p:nvPr/>
                </p:nvSpPr>
                <p:spPr>
                  <a:xfrm>
                    <a:off x="1154926" y="2236219"/>
                    <a:ext cx="42375" cy="42382"/>
                  </a:xfrm>
                  <a:custGeom>
                    <a:rect b="b" l="l" r="r" t="t"/>
                    <a:pathLst>
                      <a:path extrusionOk="0" h="42382" w="42375">
                        <a:moveTo>
                          <a:pt x="21146" y="42382"/>
                        </a:moveTo>
                        <a:cubicBezTo>
                          <a:pt x="26593" y="42382"/>
                          <a:pt x="32101" y="40264"/>
                          <a:pt x="36277" y="36027"/>
                        </a:cubicBezTo>
                        <a:lnTo>
                          <a:pt x="36277" y="36027"/>
                        </a:lnTo>
                        <a:cubicBezTo>
                          <a:pt x="44508" y="27675"/>
                          <a:pt x="44387" y="14239"/>
                          <a:pt x="36035" y="6069"/>
                        </a:cubicBezTo>
                        <a:cubicBezTo>
                          <a:pt x="27683" y="-2162"/>
                          <a:pt x="14247" y="-1981"/>
                          <a:pt x="6076" y="6371"/>
                        </a:cubicBezTo>
                        <a:lnTo>
                          <a:pt x="6076" y="6371"/>
                        </a:lnTo>
                        <a:cubicBezTo>
                          <a:pt x="-2155" y="14723"/>
                          <a:pt x="-1974" y="28099"/>
                          <a:pt x="6318" y="36330"/>
                        </a:cubicBezTo>
                        <a:cubicBezTo>
                          <a:pt x="10494" y="40325"/>
                          <a:pt x="15820" y="42382"/>
                          <a:pt x="21207" y="42382"/>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189" name="Google Shape;1189;p52"/>
                  <p:cNvSpPr/>
                  <p:nvPr/>
                </p:nvSpPr>
                <p:spPr>
                  <a:xfrm>
                    <a:off x="2432199" y="2031042"/>
                    <a:ext cx="42409" cy="42387"/>
                  </a:xfrm>
                  <a:custGeom>
                    <a:rect b="b" l="l" r="r" t="t"/>
                    <a:pathLst>
                      <a:path extrusionOk="0" h="42387" w="42409">
                        <a:moveTo>
                          <a:pt x="11460" y="39967"/>
                        </a:moveTo>
                        <a:cubicBezTo>
                          <a:pt x="14608" y="41601"/>
                          <a:pt x="17936" y="42388"/>
                          <a:pt x="21205" y="42388"/>
                        </a:cubicBezTo>
                        <a:cubicBezTo>
                          <a:pt x="28830" y="42388"/>
                          <a:pt x="36275" y="38211"/>
                          <a:pt x="40027" y="30949"/>
                        </a:cubicBezTo>
                        <a:cubicBezTo>
                          <a:pt x="45414" y="20539"/>
                          <a:pt x="41359" y="7708"/>
                          <a:pt x="30949" y="2382"/>
                        </a:cubicBezTo>
                        <a:cubicBezTo>
                          <a:pt x="20539" y="-3005"/>
                          <a:pt x="7768" y="1050"/>
                          <a:pt x="2382" y="11460"/>
                        </a:cubicBezTo>
                        <a:cubicBezTo>
                          <a:pt x="-3005" y="21810"/>
                          <a:pt x="1051" y="34580"/>
                          <a:pt x="11460" y="39967"/>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190" name="Google Shape;1190;p52"/>
                  <p:cNvSpPr/>
                  <p:nvPr/>
                </p:nvSpPr>
                <p:spPr>
                  <a:xfrm>
                    <a:off x="2579011" y="2122492"/>
                    <a:ext cx="42381" cy="42387"/>
                  </a:xfrm>
                  <a:custGeom>
                    <a:rect b="b" l="l" r="r" t="t"/>
                    <a:pathLst>
                      <a:path extrusionOk="0" h="42387" w="42381">
                        <a:moveTo>
                          <a:pt x="8572" y="38271"/>
                        </a:moveTo>
                        <a:cubicBezTo>
                          <a:pt x="12385" y="41056"/>
                          <a:pt x="16803" y="42387"/>
                          <a:pt x="21160" y="42387"/>
                        </a:cubicBezTo>
                        <a:cubicBezTo>
                          <a:pt x="27697" y="42387"/>
                          <a:pt x="34052" y="39421"/>
                          <a:pt x="38228" y="33793"/>
                        </a:cubicBezTo>
                        <a:cubicBezTo>
                          <a:pt x="45188" y="24412"/>
                          <a:pt x="43191" y="11097"/>
                          <a:pt x="33810" y="4197"/>
                        </a:cubicBezTo>
                        <a:cubicBezTo>
                          <a:pt x="24368" y="-2823"/>
                          <a:pt x="11114" y="-826"/>
                          <a:pt x="4153" y="8615"/>
                        </a:cubicBezTo>
                        <a:cubicBezTo>
                          <a:pt x="-2807" y="17996"/>
                          <a:pt x="-809" y="31251"/>
                          <a:pt x="8572" y="3827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191" name="Google Shape;1191;p52"/>
                  <p:cNvSpPr/>
                  <p:nvPr/>
                </p:nvSpPr>
                <p:spPr>
                  <a:xfrm>
                    <a:off x="2709543" y="2236008"/>
                    <a:ext cx="42352" cy="42351"/>
                  </a:xfrm>
                  <a:custGeom>
                    <a:rect b="b" l="l" r="r" t="t"/>
                    <a:pathLst>
                      <a:path extrusionOk="0" h="42351" w="42352">
                        <a:moveTo>
                          <a:pt x="21176" y="42352"/>
                        </a:moveTo>
                        <a:cubicBezTo>
                          <a:pt x="26563" y="42352"/>
                          <a:pt x="31889" y="40354"/>
                          <a:pt x="36005" y="36299"/>
                        </a:cubicBezTo>
                        <a:cubicBezTo>
                          <a:pt x="44357" y="28129"/>
                          <a:pt x="44478" y="14693"/>
                          <a:pt x="36307" y="6340"/>
                        </a:cubicBezTo>
                        <a:cubicBezTo>
                          <a:pt x="28076" y="-2012"/>
                          <a:pt x="14700" y="-2133"/>
                          <a:pt x="6348" y="6098"/>
                        </a:cubicBezTo>
                        <a:cubicBezTo>
                          <a:pt x="-2004" y="14269"/>
                          <a:pt x="-2125" y="27644"/>
                          <a:pt x="6046" y="36057"/>
                        </a:cubicBezTo>
                        <a:cubicBezTo>
                          <a:pt x="10222" y="40233"/>
                          <a:pt x="15669" y="42352"/>
                          <a:pt x="21176" y="42352"/>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192" name="Google Shape;1192;p52"/>
                  <p:cNvSpPr/>
                  <p:nvPr/>
                </p:nvSpPr>
                <p:spPr>
                  <a:xfrm>
                    <a:off x="2104638" y="1923315"/>
                    <a:ext cx="42358" cy="42384"/>
                  </a:xfrm>
                  <a:custGeom>
                    <a:rect b="b" l="l" r="r" t="t"/>
                    <a:pathLst>
                      <a:path extrusionOk="0" h="42384" w="42358">
                        <a:moveTo>
                          <a:pt x="17889" y="42082"/>
                        </a:moveTo>
                        <a:cubicBezTo>
                          <a:pt x="18978" y="42263"/>
                          <a:pt x="20128" y="42384"/>
                          <a:pt x="21217" y="42384"/>
                        </a:cubicBezTo>
                        <a:cubicBezTo>
                          <a:pt x="31446" y="42384"/>
                          <a:pt x="40464" y="34940"/>
                          <a:pt x="42098" y="24530"/>
                        </a:cubicBezTo>
                        <a:cubicBezTo>
                          <a:pt x="43913" y="12970"/>
                          <a:pt x="36045" y="2076"/>
                          <a:pt x="24486" y="260"/>
                        </a:cubicBezTo>
                        <a:cubicBezTo>
                          <a:pt x="12986" y="-1555"/>
                          <a:pt x="2092" y="6313"/>
                          <a:pt x="277" y="17873"/>
                        </a:cubicBezTo>
                        <a:cubicBezTo>
                          <a:pt x="-1600" y="29432"/>
                          <a:pt x="6268" y="40266"/>
                          <a:pt x="17889" y="42082"/>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193" name="Google Shape;1193;p52"/>
                  <p:cNvSpPr/>
                  <p:nvPr/>
                </p:nvSpPr>
                <p:spPr>
                  <a:xfrm>
                    <a:off x="2272689" y="1964011"/>
                    <a:ext cx="42445" cy="42359"/>
                  </a:xfrm>
                  <a:custGeom>
                    <a:rect b="b" l="l" r="r" t="t"/>
                    <a:pathLst>
                      <a:path extrusionOk="0" h="42359" w="42445">
                        <a:moveTo>
                          <a:pt x="14640" y="41331"/>
                        </a:moveTo>
                        <a:cubicBezTo>
                          <a:pt x="16819" y="42057"/>
                          <a:pt x="19058" y="42360"/>
                          <a:pt x="21237" y="42360"/>
                        </a:cubicBezTo>
                        <a:cubicBezTo>
                          <a:pt x="30134" y="42360"/>
                          <a:pt x="38426" y="36731"/>
                          <a:pt x="41391" y="27834"/>
                        </a:cubicBezTo>
                        <a:cubicBezTo>
                          <a:pt x="45023" y="16698"/>
                          <a:pt x="38970" y="4715"/>
                          <a:pt x="27834" y="1083"/>
                        </a:cubicBezTo>
                        <a:lnTo>
                          <a:pt x="27834" y="1083"/>
                        </a:lnTo>
                        <a:cubicBezTo>
                          <a:pt x="16698" y="-2609"/>
                          <a:pt x="4715" y="3444"/>
                          <a:pt x="1083" y="14580"/>
                        </a:cubicBezTo>
                        <a:cubicBezTo>
                          <a:pt x="-2609" y="25716"/>
                          <a:pt x="3444" y="37639"/>
                          <a:pt x="14580" y="4133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194" name="Google Shape;1194;p52"/>
                  <p:cNvSpPr/>
                  <p:nvPr/>
                </p:nvSpPr>
                <p:spPr>
                  <a:xfrm>
                    <a:off x="1432182" y="2031102"/>
                    <a:ext cx="42397" cy="42387"/>
                  </a:xfrm>
                  <a:custGeom>
                    <a:rect b="b" l="l" r="r" t="t"/>
                    <a:pathLst>
                      <a:path extrusionOk="0" h="42387" w="42397">
                        <a:moveTo>
                          <a:pt x="21205" y="42388"/>
                        </a:moveTo>
                        <a:cubicBezTo>
                          <a:pt x="24473" y="42388"/>
                          <a:pt x="27802" y="41601"/>
                          <a:pt x="30949" y="40027"/>
                        </a:cubicBezTo>
                        <a:cubicBezTo>
                          <a:pt x="41298" y="34641"/>
                          <a:pt x="45414" y="21870"/>
                          <a:pt x="40027" y="11460"/>
                        </a:cubicBezTo>
                        <a:cubicBezTo>
                          <a:pt x="34641" y="1050"/>
                          <a:pt x="21870" y="-3005"/>
                          <a:pt x="11460" y="2382"/>
                        </a:cubicBezTo>
                        <a:cubicBezTo>
                          <a:pt x="1050" y="7769"/>
                          <a:pt x="-3005" y="20539"/>
                          <a:pt x="2382" y="30949"/>
                        </a:cubicBezTo>
                        <a:cubicBezTo>
                          <a:pt x="6134" y="38211"/>
                          <a:pt x="13579" y="42388"/>
                          <a:pt x="21205" y="42388"/>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195" name="Google Shape;1195;p52"/>
                  <p:cNvSpPr/>
                  <p:nvPr/>
                </p:nvSpPr>
                <p:spPr>
                  <a:xfrm>
                    <a:off x="1932182" y="1909716"/>
                    <a:ext cx="42365" cy="42426"/>
                  </a:xfrm>
                  <a:custGeom>
                    <a:rect b="b" l="l" r="r" t="t"/>
                    <a:pathLst>
                      <a:path extrusionOk="0" h="42426" w="42365">
                        <a:moveTo>
                          <a:pt x="21183" y="42426"/>
                        </a:moveTo>
                        <a:cubicBezTo>
                          <a:pt x="32864" y="42426"/>
                          <a:pt x="42366" y="32924"/>
                          <a:pt x="42366" y="21183"/>
                        </a:cubicBezTo>
                        <a:cubicBezTo>
                          <a:pt x="42366" y="9442"/>
                          <a:pt x="32864" y="0"/>
                          <a:pt x="21183" y="0"/>
                        </a:cubicBezTo>
                        <a:cubicBezTo>
                          <a:pt x="9502" y="0"/>
                          <a:pt x="0" y="9442"/>
                          <a:pt x="0" y="21122"/>
                        </a:cubicBezTo>
                        <a:cubicBezTo>
                          <a:pt x="0" y="32803"/>
                          <a:pt x="9442" y="42366"/>
                          <a:pt x="21183" y="42366"/>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196" name="Google Shape;1196;p52"/>
                  <p:cNvSpPr/>
                  <p:nvPr/>
                </p:nvSpPr>
                <p:spPr>
                  <a:xfrm>
                    <a:off x="1591627" y="1964071"/>
                    <a:ext cx="42385" cy="42359"/>
                  </a:xfrm>
                  <a:custGeom>
                    <a:rect b="b" l="l" r="r" t="t"/>
                    <a:pathLst>
                      <a:path extrusionOk="0" h="42359" w="42385">
                        <a:moveTo>
                          <a:pt x="21237" y="42360"/>
                        </a:moveTo>
                        <a:cubicBezTo>
                          <a:pt x="23416" y="42360"/>
                          <a:pt x="25595" y="42057"/>
                          <a:pt x="27834" y="41331"/>
                        </a:cubicBezTo>
                        <a:cubicBezTo>
                          <a:pt x="38910" y="37699"/>
                          <a:pt x="44962" y="25716"/>
                          <a:pt x="41331" y="14580"/>
                        </a:cubicBezTo>
                        <a:cubicBezTo>
                          <a:pt x="37639" y="3444"/>
                          <a:pt x="25655" y="-2609"/>
                          <a:pt x="14580" y="1083"/>
                        </a:cubicBezTo>
                        <a:cubicBezTo>
                          <a:pt x="3444" y="4715"/>
                          <a:pt x="-2609" y="16698"/>
                          <a:pt x="1083" y="27834"/>
                        </a:cubicBezTo>
                        <a:cubicBezTo>
                          <a:pt x="3988" y="36731"/>
                          <a:pt x="12280" y="42360"/>
                          <a:pt x="21237" y="4236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197" name="Google Shape;1197;p52"/>
                  <p:cNvSpPr/>
                  <p:nvPr/>
                </p:nvSpPr>
                <p:spPr>
                  <a:xfrm>
                    <a:off x="1759720" y="1923315"/>
                    <a:ext cx="42372" cy="42384"/>
                  </a:xfrm>
                  <a:custGeom>
                    <a:rect b="b" l="l" r="r" t="t"/>
                    <a:pathLst>
                      <a:path extrusionOk="0" h="42384" w="42372">
                        <a:moveTo>
                          <a:pt x="21155" y="42384"/>
                        </a:moveTo>
                        <a:cubicBezTo>
                          <a:pt x="22305" y="42384"/>
                          <a:pt x="23395" y="42384"/>
                          <a:pt x="24545" y="42142"/>
                        </a:cubicBezTo>
                        <a:cubicBezTo>
                          <a:pt x="36104" y="40266"/>
                          <a:pt x="43972" y="29432"/>
                          <a:pt x="42096" y="17873"/>
                        </a:cubicBezTo>
                        <a:cubicBezTo>
                          <a:pt x="40281" y="6313"/>
                          <a:pt x="29447" y="-1555"/>
                          <a:pt x="17827" y="260"/>
                        </a:cubicBezTo>
                        <a:lnTo>
                          <a:pt x="17827" y="260"/>
                        </a:lnTo>
                        <a:cubicBezTo>
                          <a:pt x="6327" y="2137"/>
                          <a:pt x="-1601" y="12970"/>
                          <a:pt x="275" y="24530"/>
                        </a:cubicBezTo>
                        <a:cubicBezTo>
                          <a:pt x="1970" y="34940"/>
                          <a:pt x="10927" y="42384"/>
                          <a:pt x="21155" y="42384"/>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grpSp>
          </p:grpSp>
          <p:sp>
            <p:nvSpPr>
              <p:cNvPr id="1198" name="Google Shape;1198;p52"/>
              <p:cNvSpPr/>
              <p:nvPr/>
            </p:nvSpPr>
            <p:spPr>
              <a:xfrm>
                <a:off x="2133767" y="1781309"/>
                <a:ext cx="2902136" cy="420660"/>
              </a:xfrm>
              <a:prstGeom prst="roundRect">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Terms of the CDS:</a:t>
                </a:r>
                <a:endParaRPr b="1" i="0" sz="1800" u="none" cap="none" strike="noStrike">
                  <a:solidFill>
                    <a:schemeClr val="lt1"/>
                  </a:solidFill>
                  <a:latin typeface="Arial"/>
                  <a:ea typeface="Arial"/>
                  <a:cs typeface="Arial"/>
                  <a:sym typeface="Arial"/>
                </a:endParaRPr>
              </a:p>
            </p:txBody>
          </p:sp>
        </p:grpSp>
        <p:sp>
          <p:nvSpPr>
            <p:cNvPr id="1199" name="Google Shape;1199;p52"/>
            <p:cNvSpPr txBox="1"/>
            <p:nvPr/>
          </p:nvSpPr>
          <p:spPr>
            <a:xfrm>
              <a:off x="1696720" y="2430716"/>
              <a:ext cx="9957118" cy="353939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At the beginning of Year-1, Party A purchases a CDS Derivative contract from Party B as protection against the possibility of default by Company XYZ's issued Bonds.</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Notional Principal: $10 million</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Counter Parties : Party A &amp; Party B</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CDS Buyer : Party A</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CDS Seller : Party B</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Reference Entity: Company  XYZ Ltd</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Reference Entity Obligation: XYZ' Ltd issued Unsecured Bonds</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Reference Entity Credit Rating : AAA+</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Premium Payment Frequency: Quarterly upfront</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Term/Maturity of CDS: 3 years</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Survival Rate: 95%; Probability of Survival during the CDS Term</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Recovery Rate: 40%; The estimation of recovery amount in the event of default</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CDS Premium : 2% Per Annum but payable Quarterly</a:t>
              </a:r>
              <a:endParaRPr b="0" i="0" sz="1600" u="none" cap="none" strike="noStrike">
                <a:solidFill>
                  <a:schemeClr val="dk1"/>
                </a:solidFill>
                <a:latin typeface="Arial"/>
                <a:ea typeface="Arial"/>
                <a:cs typeface="Arial"/>
                <a:sym typeface="Arial"/>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grpSp>
        <p:nvGrpSpPr>
          <p:cNvPr id="1204" name="Google Shape;1204;p53"/>
          <p:cNvGrpSpPr/>
          <p:nvPr/>
        </p:nvGrpSpPr>
        <p:grpSpPr>
          <a:xfrm>
            <a:off x="700088" y="1488376"/>
            <a:ext cx="10953750" cy="3987166"/>
            <a:chOff x="700088" y="1488376"/>
            <a:chExt cx="10953750" cy="3987166"/>
          </a:xfrm>
        </p:grpSpPr>
        <p:grpSp>
          <p:nvGrpSpPr>
            <p:cNvPr id="1205" name="Google Shape;1205;p53"/>
            <p:cNvGrpSpPr/>
            <p:nvPr/>
          </p:nvGrpSpPr>
          <p:grpSpPr>
            <a:xfrm>
              <a:off x="700088" y="1488376"/>
              <a:ext cx="5609272" cy="945567"/>
              <a:chOff x="1114917" y="1518856"/>
              <a:chExt cx="5609272" cy="945567"/>
            </a:xfrm>
          </p:grpSpPr>
          <p:grpSp>
            <p:nvGrpSpPr>
              <p:cNvPr id="1206" name="Google Shape;1206;p53"/>
              <p:cNvGrpSpPr/>
              <p:nvPr/>
            </p:nvGrpSpPr>
            <p:grpSpPr>
              <a:xfrm rot="5400000">
                <a:off x="1099092" y="1534680"/>
                <a:ext cx="945567" cy="913918"/>
                <a:chOff x="1390067" y="1192856"/>
                <a:chExt cx="829883" cy="804892"/>
              </a:xfrm>
            </p:grpSpPr>
            <p:sp>
              <p:nvSpPr>
                <p:cNvPr id="1207" name="Google Shape;1207;p53"/>
                <p:cNvSpPr/>
                <p:nvPr/>
              </p:nvSpPr>
              <p:spPr>
                <a:xfrm>
                  <a:off x="1443011" y="1436008"/>
                  <a:ext cx="699004" cy="508795"/>
                </a:xfrm>
                <a:custGeom>
                  <a:rect b="b" l="l" r="r" t="t"/>
                  <a:pathLst>
                    <a:path extrusionOk="0" h="1403461" w="1928132">
                      <a:moveTo>
                        <a:pt x="1004133" y="818207"/>
                      </a:moveTo>
                      <a:cubicBezTo>
                        <a:pt x="993057" y="829283"/>
                        <a:pt x="978592" y="834790"/>
                        <a:pt x="964127" y="834790"/>
                      </a:cubicBezTo>
                      <a:cubicBezTo>
                        <a:pt x="949662" y="834790"/>
                        <a:pt x="935137" y="829283"/>
                        <a:pt x="924122" y="818207"/>
                      </a:cubicBezTo>
                      <a:lnTo>
                        <a:pt x="105854" y="0"/>
                      </a:lnTo>
                      <a:cubicBezTo>
                        <a:pt x="38250" y="131758"/>
                        <a:pt x="0" y="281128"/>
                        <a:pt x="0" y="439395"/>
                      </a:cubicBezTo>
                      <a:cubicBezTo>
                        <a:pt x="0" y="971814"/>
                        <a:pt x="431648" y="1403462"/>
                        <a:pt x="964067" y="1403462"/>
                      </a:cubicBezTo>
                      <a:cubicBezTo>
                        <a:pt x="1496485" y="1403462"/>
                        <a:pt x="1928133" y="971814"/>
                        <a:pt x="1928133" y="439395"/>
                      </a:cubicBezTo>
                      <a:cubicBezTo>
                        <a:pt x="1928133" y="281068"/>
                        <a:pt x="1889883" y="131758"/>
                        <a:pt x="1822279" y="0"/>
                      </a:cubicBezTo>
                      <a:lnTo>
                        <a:pt x="1004133" y="818207"/>
                      </a:lnTo>
                      <a:close/>
                    </a:path>
                  </a:pathLst>
                </a:custGeom>
                <a:solidFill>
                  <a:srgbClr val="E7E7E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08" name="Google Shape;1208;p53"/>
                <p:cNvSpPr/>
                <p:nvPr/>
              </p:nvSpPr>
              <p:spPr>
                <a:xfrm>
                  <a:off x="1502998" y="1245821"/>
                  <a:ext cx="579051" cy="443257"/>
                </a:xfrm>
                <a:custGeom>
                  <a:rect b="b" l="l" r="r" t="t"/>
                  <a:pathLst>
                    <a:path extrusionOk="0" h="1222680" w="1597255">
                      <a:moveTo>
                        <a:pt x="798597" y="1222680"/>
                      </a:moveTo>
                      <a:lnTo>
                        <a:pt x="1597255" y="424083"/>
                      </a:lnTo>
                      <a:cubicBezTo>
                        <a:pt x="1423918" y="168193"/>
                        <a:pt x="1130988" y="0"/>
                        <a:pt x="798658" y="0"/>
                      </a:cubicBezTo>
                      <a:cubicBezTo>
                        <a:pt x="466328" y="0"/>
                        <a:pt x="173337" y="168193"/>
                        <a:pt x="0" y="424083"/>
                      </a:cubicBezTo>
                      <a:lnTo>
                        <a:pt x="798597" y="122268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09" name="Google Shape;1209;p53"/>
                <p:cNvSpPr/>
                <p:nvPr/>
              </p:nvSpPr>
              <p:spPr>
                <a:xfrm rot="-5400000">
                  <a:off x="1515110" y="1317899"/>
                  <a:ext cx="554806" cy="554806"/>
                </a:xfrm>
                <a:custGeom>
                  <a:rect b="b" l="l" r="r" t="t"/>
                  <a:pathLst>
                    <a:path extrusionOk="0" h="1530377" w="1530377">
                      <a:moveTo>
                        <a:pt x="1530378" y="765189"/>
                      </a:moveTo>
                      <a:cubicBezTo>
                        <a:pt x="1530378" y="1187791"/>
                        <a:pt x="1187791" y="1530378"/>
                        <a:pt x="765189" y="1530378"/>
                      </a:cubicBezTo>
                      <a:cubicBezTo>
                        <a:pt x="342587" y="1530378"/>
                        <a:pt x="0" y="1187791"/>
                        <a:pt x="0" y="765189"/>
                      </a:cubicBezTo>
                      <a:cubicBezTo>
                        <a:pt x="0" y="342587"/>
                        <a:pt x="342587" y="0"/>
                        <a:pt x="765189" y="0"/>
                      </a:cubicBezTo>
                      <a:cubicBezTo>
                        <a:pt x="1187791" y="0"/>
                        <a:pt x="1530378" y="342587"/>
                        <a:pt x="1530378" y="76518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grpSp>
              <p:nvGrpSpPr>
                <p:cNvPr id="1210" name="Google Shape;1210;p53"/>
                <p:cNvGrpSpPr/>
                <p:nvPr/>
              </p:nvGrpSpPr>
              <p:grpSpPr>
                <a:xfrm>
                  <a:off x="1390067" y="1192856"/>
                  <a:ext cx="829883" cy="804892"/>
                  <a:chOff x="843379" y="1909716"/>
                  <a:chExt cx="2289151" cy="2220215"/>
                </a:xfrm>
              </p:grpSpPr>
              <p:sp>
                <p:nvSpPr>
                  <p:cNvPr id="1211" name="Google Shape;1211;p53"/>
                  <p:cNvSpPr/>
                  <p:nvPr/>
                </p:nvSpPr>
                <p:spPr>
                  <a:xfrm>
                    <a:off x="843379" y="2368760"/>
                    <a:ext cx="2289151" cy="1761171"/>
                  </a:xfrm>
                  <a:custGeom>
                    <a:rect b="b" l="l" r="r" t="t"/>
                    <a:pathLst>
                      <a:path extrusionOk="0" h="1761171" w="2289151">
                        <a:moveTo>
                          <a:pt x="2289151" y="651064"/>
                        </a:moveTo>
                        <a:cubicBezTo>
                          <a:pt x="2289151" y="607366"/>
                          <a:pt x="2257921" y="570871"/>
                          <a:pt x="2216584" y="562700"/>
                        </a:cubicBezTo>
                        <a:cubicBezTo>
                          <a:pt x="2200849" y="363217"/>
                          <a:pt x="2131732" y="172147"/>
                          <a:pt x="2015830" y="9038"/>
                        </a:cubicBezTo>
                        <a:cubicBezTo>
                          <a:pt x="2015407" y="8433"/>
                          <a:pt x="2014862" y="7888"/>
                          <a:pt x="2014317" y="7344"/>
                        </a:cubicBezTo>
                        <a:cubicBezTo>
                          <a:pt x="2014015" y="7041"/>
                          <a:pt x="2013833" y="6617"/>
                          <a:pt x="2013531" y="6315"/>
                        </a:cubicBezTo>
                        <a:cubicBezTo>
                          <a:pt x="2013470" y="6254"/>
                          <a:pt x="2013349" y="6194"/>
                          <a:pt x="2013288" y="6133"/>
                        </a:cubicBezTo>
                        <a:cubicBezTo>
                          <a:pt x="2006268" y="-706"/>
                          <a:pt x="1995253" y="-1856"/>
                          <a:pt x="1986840" y="3712"/>
                        </a:cubicBezTo>
                        <a:lnTo>
                          <a:pt x="1986840" y="3712"/>
                        </a:lnTo>
                        <a:cubicBezTo>
                          <a:pt x="1986840" y="3712"/>
                          <a:pt x="1986477" y="3894"/>
                          <a:pt x="1986356" y="4015"/>
                        </a:cubicBezTo>
                        <a:cubicBezTo>
                          <a:pt x="1985751" y="4439"/>
                          <a:pt x="1985266" y="4983"/>
                          <a:pt x="1984722" y="5407"/>
                        </a:cubicBezTo>
                        <a:cubicBezTo>
                          <a:pt x="1984359" y="5710"/>
                          <a:pt x="1983935" y="5952"/>
                          <a:pt x="1983632" y="6254"/>
                        </a:cubicBezTo>
                        <a:cubicBezTo>
                          <a:pt x="1983572" y="6315"/>
                          <a:pt x="1983511" y="6436"/>
                          <a:pt x="1983390" y="6557"/>
                        </a:cubicBezTo>
                        <a:cubicBezTo>
                          <a:pt x="1982846" y="7102"/>
                          <a:pt x="1982422" y="7767"/>
                          <a:pt x="1981938" y="8373"/>
                        </a:cubicBezTo>
                        <a:cubicBezTo>
                          <a:pt x="1981575" y="8857"/>
                          <a:pt x="1981211" y="9280"/>
                          <a:pt x="1980848" y="9765"/>
                        </a:cubicBezTo>
                        <a:cubicBezTo>
                          <a:pt x="1980364" y="10491"/>
                          <a:pt x="1980062" y="11217"/>
                          <a:pt x="1979638" y="12004"/>
                        </a:cubicBezTo>
                        <a:cubicBezTo>
                          <a:pt x="1979396" y="12488"/>
                          <a:pt x="1979154" y="12972"/>
                          <a:pt x="1978912" y="13456"/>
                        </a:cubicBezTo>
                        <a:cubicBezTo>
                          <a:pt x="1978669" y="14122"/>
                          <a:pt x="1978488" y="14788"/>
                          <a:pt x="1978306" y="15514"/>
                        </a:cubicBezTo>
                        <a:cubicBezTo>
                          <a:pt x="1978125" y="16180"/>
                          <a:pt x="1977883" y="16846"/>
                          <a:pt x="1977762" y="17511"/>
                        </a:cubicBezTo>
                        <a:cubicBezTo>
                          <a:pt x="1977701" y="17996"/>
                          <a:pt x="1977641" y="18419"/>
                          <a:pt x="1977641" y="18904"/>
                        </a:cubicBezTo>
                        <a:cubicBezTo>
                          <a:pt x="1977520" y="19690"/>
                          <a:pt x="1977399" y="20477"/>
                          <a:pt x="1977399" y="21264"/>
                        </a:cubicBezTo>
                        <a:cubicBezTo>
                          <a:pt x="1977399" y="21385"/>
                          <a:pt x="1977399" y="21506"/>
                          <a:pt x="1977399" y="21688"/>
                        </a:cubicBezTo>
                        <a:cubicBezTo>
                          <a:pt x="1977399" y="21990"/>
                          <a:pt x="1977459" y="22293"/>
                          <a:pt x="1977520" y="22595"/>
                        </a:cubicBezTo>
                        <a:cubicBezTo>
                          <a:pt x="1977580" y="23624"/>
                          <a:pt x="1977701" y="24653"/>
                          <a:pt x="1977883" y="25682"/>
                        </a:cubicBezTo>
                        <a:cubicBezTo>
                          <a:pt x="1978004" y="26166"/>
                          <a:pt x="1978185" y="26711"/>
                          <a:pt x="1978367" y="27195"/>
                        </a:cubicBezTo>
                        <a:cubicBezTo>
                          <a:pt x="1978609" y="27982"/>
                          <a:pt x="1978791" y="28769"/>
                          <a:pt x="1979154" y="29556"/>
                        </a:cubicBezTo>
                        <a:cubicBezTo>
                          <a:pt x="1979396" y="30161"/>
                          <a:pt x="1979759" y="30705"/>
                          <a:pt x="1980122" y="31311"/>
                        </a:cubicBezTo>
                        <a:cubicBezTo>
                          <a:pt x="1980485" y="31976"/>
                          <a:pt x="1980788" y="32642"/>
                          <a:pt x="1981211" y="33247"/>
                        </a:cubicBezTo>
                        <a:cubicBezTo>
                          <a:pt x="1981272" y="33368"/>
                          <a:pt x="1981332" y="33429"/>
                          <a:pt x="1981393" y="33550"/>
                        </a:cubicBezTo>
                        <a:cubicBezTo>
                          <a:pt x="2092573" y="190001"/>
                          <a:pt x="2158967" y="373204"/>
                          <a:pt x="2174340" y="564516"/>
                        </a:cubicBezTo>
                        <a:cubicBezTo>
                          <a:pt x="2136694" y="575350"/>
                          <a:pt x="2109036" y="610029"/>
                          <a:pt x="2109036" y="651064"/>
                        </a:cubicBezTo>
                        <a:cubicBezTo>
                          <a:pt x="2109036" y="692098"/>
                          <a:pt x="2136755" y="726898"/>
                          <a:pt x="2174461" y="737672"/>
                        </a:cubicBezTo>
                        <a:cubicBezTo>
                          <a:pt x="2130218" y="1289397"/>
                          <a:pt x="1666433" y="1718806"/>
                          <a:pt x="1110229" y="1718806"/>
                        </a:cubicBezTo>
                        <a:cubicBezTo>
                          <a:pt x="521464" y="1718806"/>
                          <a:pt x="42487" y="1239829"/>
                          <a:pt x="42487" y="651064"/>
                        </a:cubicBezTo>
                        <a:cubicBezTo>
                          <a:pt x="42487" y="428219"/>
                          <a:pt x="110454" y="214695"/>
                          <a:pt x="239065" y="33550"/>
                        </a:cubicBezTo>
                        <a:cubicBezTo>
                          <a:pt x="239125" y="33489"/>
                          <a:pt x="239186" y="33368"/>
                          <a:pt x="239246" y="33247"/>
                        </a:cubicBezTo>
                        <a:cubicBezTo>
                          <a:pt x="239731" y="32582"/>
                          <a:pt x="240033" y="31855"/>
                          <a:pt x="240457" y="31129"/>
                        </a:cubicBezTo>
                        <a:cubicBezTo>
                          <a:pt x="240759" y="30584"/>
                          <a:pt x="241062" y="30100"/>
                          <a:pt x="241304" y="29556"/>
                        </a:cubicBezTo>
                        <a:cubicBezTo>
                          <a:pt x="241667" y="28708"/>
                          <a:pt x="241909" y="27800"/>
                          <a:pt x="242212" y="26893"/>
                        </a:cubicBezTo>
                        <a:cubicBezTo>
                          <a:pt x="242333" y="26529"/>
                          <a:pt x="242515" y="26106"/>
                          <a:pt x="242575" y="25743"/>
                        </a:cubicBezTo>
                        <a:cubicBezTo>
                          <a:pt x="242817" y="24593"/>
                          <a:pt x="242938" y="23443"/>
                          <a:pt x="242999" y="22293"/>
                        </a:cubicBezTo>
                        <a:cubicBezTo>
                          <a:pt x="242999" y="22111"/>
                          <a:pt x="242999" y="21869"/>
                          <a:pt x="243059" y="21688"/>
                        </a:cubicBezTo>
                        <a:cubicBezTo>
                          <a:pt x="243059" y="21567"/>
                          <a:pt x="243059" y="21385"/>
                          <a:pt x="243059" y="21264"/>
                        </a:cubicBezTo>
                        <a:cubicBezTo>
                          <a:pt x="243059" y="20417"/>
                          <a:pt x="242938" y="19569"/>
                          <a:pt x="242817" y="18722"/>
                        </a:cubicBezTo>
                        <a:cubicBezTo>
                          <a:pt x="242817" y="18298"/>
                          <a:pt x="242817" y="17875"/>
                          <a:pt x="242696" y="17451"/>
                        </a:cubicBezTo>
                        <a:cubicBezTo>
                          <a:pt x="242696" y="17330"/>
                          <a:pt x="242696" y="17148"/>
                          <a:pt x="242696" y="17027"/>
                        </a:cubicBezTo>
                        <a:cubicBezTo>
                          <a:pt x="242575" y="16362"/>
                          <a:pt x="242272" y="15756"/>
                          <a:pt x="242091" y="15091"/>
                        </a:cubicBezTo>
                        <a:cubicBezTo>
                          <a:pt x="241909" y="14546"/>
                          <a:pt x="241788" y="13941"/>
                          <a:pt x="241607" y="13396"/>
                        </a:cubicBezTo>
                        <a:cubicBezTo>
                          <a:pt x="241607" y="13275"/>
                          <a:pt x="241607" y="13154"/>
                          <a:pt x="241486" y="13033"/>
                        </a:cubicBezTo>
                        <a:cubicBezTo>
                          <a:pt x="241244" y="12549"/>
                          <a:pt x="240941" y="12064"/>
                          <a:pt x="240699" y="11580"/>
                        </a:cubicBezTo>
                        <a:cubicBezTo>
                          <a:pt x="240396" y="10915"/>
                          <a:pt x="240094" y="10249"/>
                          <a:pt x="239670" y="9644"/>
                        </a:cubicBezTo>
                        <a:cubicBezTo>
                          <a:pt x="239670" y="9583"/>
                          <a:pt x="239609" y="9462"/>
                          <a:pt x="239549" y="9401"/>
                        </a:cubicBezTo>
                        <a:cubicBezTo>
                          <a:pt x="239246" y="8978"/>
                          <a:pt x="238883" y="8615"/>
                          <a:pt x="238581" y="8252"/>
                        </a:cubicBezTo>
                        <a:cubicBezTo>
                          <a:pt x="238096" y="7646"/>
                          <a:pt x="237673" y="6981"/>
                          <a:pt x="237068" y="6436"/>
                        </a:cubicBezTo>
                        <a:cubicBezTo>
                          <a:pt x="237007" y="6375"/>
                          <a:pt x="236946" y="6254"/>
                          <a:pt x="236825" y="6133"/>
                        </a:cubicBezTo>
                        <a:cubicBezTo>
                          <a:pt x="236402" y="5710"/>
                          <a:pt x="235918" y="5407"/>
                          <a:pt x="235494" y="5044"/>
                        </a:cubicBezTo>
                        <a:cubicBezTo>
                          <a:pt x="235010" y="4620"/>
                          <a:pt x="234586" y="4197"/>
                          <a:pt x="234102" y="3833"/>
                        </a:cubicBezTo>
                        <a:cubicBezTo>
                          <a:pt x="233981" y="3773"/>
                          <a:pt x="233860" y="3712"/>
                          <a:pt x="233739" y="3652"/>
                        </a:cubicBezTo>
                        <a:cubicBezTo>
                          <a:pt x="233739" y="3652"/>
                          <a:pt x="233678" y="3591"/>
                          <a:pt x="233618" y="3531"/>
                        </a:cubicBezTo>
                        <a:cubicBezTo>
                          <a:pt x="233376" y="3349"/>
                          <a:pt x="233073" y="3289"/>
                          <a:pt x="232831" y="3107"/>
                        </a:cubicBezTo>
                        <a:cubicBezTo>
                          <a:pt x="229200" y="868"/>
                          <a:pt x="225084" y="-161"/>
                          <a:pt x="221090" y="20"/>
                        </a:cubicBezTo>
                        <a:cubicBezTo>
                          <a:pt x="220847" y="20"/>
                          <a:pt x="220605" y="20"/>
                          <a:pt x="220363" y="20"/>
                        </a:cubicBezTo>
                        <a:cubicBezTo>
                          <a:pt x="218911" y="141"/>
                          <a:pt x="217458" y="384"/>
                          <a:pt x="216066" y="747"/>
                        </a:cubicBezTo>
                        <a:cubicBezTo>
                          <a:pt x="215885" y="747"/>
                          <a:pt x="215642" y="868"/>
                          <a:pt x="215461" y="928"/>
                        </a:cubicBezTo>
                        <a:cubicBezTo>
                          <a:pt x="212374" y="1897"/>
                          <a:pt x="209469" y="3531"/>
                          <a:pt x="207109" y="5891"/>
                        </a:cubicBezTo>
                        <a:cubicBezTo>
                          <a:pt x="207048" y="5952"/>
                          <a:pt x="206927" y="6012"/>
                          <a:pt x="206867" y="6073"/>
                        </a:cubicBezTo>
                        <a:cubicBezTo>
                          <a:pt x="206564" y="6375"/>
                          <a:pt x="206382" y="6738"/>
                          <a:pt x="206080" y="7041"/>
                        </a:cubicBezTo>
                        <a:cubicBezTo>
                          <a:pt x="205535" y="7646"/>
                          <a:pt x="204990" y="8130"/>
                          <a:pt x="204567" y="8796"/>
                        </a:cubicBezTo>
                        <a:cubicBezTo>
                          <a:pt x="70691" y="197385"/>
                          <a:pt x="0" y="419443"/>
                          <a:pt x="0" y="651064"/>
                        </a:cubicBezTo>
                        <a:cubicBezTo>
                          <a:pt x="0" y="1263190"/>
                          <a:pt x="497981" y="1761172"/>
                          <a:pt x="1110108" y="1761172"/>
                        </a:cubicBezTo>
                        <a:cubicBezTo>
                          <a:pt x="1688887" y="1761172"/>
                          <a:pt x="2171434" y="1313848"/>
                          <a:pt x="2216645" y="739427"/>
                        </a:cubicBezTo>
                        <a:cubicBezTo>
                          <a:pt x="2257921" y="731196"/>
                          <a:pt x="2289151" y="694700"/>
                          <a:pt x="2289151" y="651064"/>
                        </a:cubicBezTo>
                        <a:close/>
                        <a:moveTo>
                          <a:pt x="2199033" y="698816"/>
                        </a:moveTo>
                        <a:cubicBezTo>
                          <a:pt x="2172705" y="698816"/>
                          <a:pt x="2151280" y="677391"/>
                          <a:pt x="2151280" y="651064"/>
                        </a:cubicBezTo>
                        <a:cubicBezTo>
                          <a:pt x="2151280" y="624736"/>
                          <a:pt x="2172705" y="603311"/>
                          <a:pt x="2199033" y="603311"/>
                        </a:cubicBezTo>
                        <a:cubicBezTo>
                          <a:pt x="2225360" y="603311"/>
                          <a:pt x="2246785" y="624736"/>
                          <a:pt x="2246785" y="651064"/>
                        </a:cubicBezTo>
                        <a:cubicBezTo>
                          <a:pt x="2246785" y="677391"/>
                          <a:pt x="2225360" y="698816"/>
                          <a:pt x="2199033" y="698816"/>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12" name="Google Shape;1212;p53"/>
                  <p:cNvSpPr/>
                  <p:nvPr/>
                </p:nvSpPr>
                <p:spPr>
                  <a:xfrm>
                    <a:off x="3017839" y="2995251"/>
                    <a:ext cx="49144" cy="49144"/>
                  </a:xfrm>
                  <a:custGeom>
                    <a:rect b="b" l="l" r="r" t="t"/>
                    <a:pathLst>
                      <a:path extrusionOk="0" h="49144" w="49144">
                        <a:moveTo>
                          <a:pt x="49144" y="24572"/>
                        </a:moveTo>
                        <a:cubicBezTo>
                          <a:pt x="49144" y="38143"/>
                          <a:pt x="38143" y="49144"/>
                          <a:pt x="24572" y="49144"/>
                        </a:cubicBezTo>
                        <a:cubicBezTo>
                          <a:pt x="11001" y="49144"/>
                          <a:pt x="0" y="38143"/>
                          <a:pt x="0" y="24572"/>
                        </a:cubicBezTo>
                        <a:cubicBezTo>
                          <a:pt x="0" y="11001"/>
                          <a:pt x="11001" y="0"/>
                          <a:pt x="24572" y="0"/>
                        </a:cubicBezTo>
                        <a:cubicBezTo>
                          <a:pt x="38143" y="0"/>
                          <a:pt x="49144" y="11001"/>
                          <a:pt x="49144" y="24572"/>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13" name="Google Shape;1213;p53"/>
                  <p:cNvSpPr/>
                  <p:nvPr/>
                </p:nvSpPr>
                <p:spPr>
                  <a:xfrm>
                    <a:off x="1285342" y="2122661"/>
                    <a:ext cx="42377" cy="42399"/>
                  </a:xfrm>
                  <a:custGeom>
                    <a:rect b="b" l="l" r="r" t="t"/>
                    <a:pathLst>
                      <a:path extrusionOk="0" h="42399" w="42377">
                        <a:moveTo>
                          <a:pt x="21217" y="42400"/>
                        </a:moveTo>
                        <a:cubicBezTo>
                          <a:pt x="25575" y="42400"/>
                          <a:pt x="29993" y="41008"/>
                          <a:pt x="33806" y="38224"/>
                        </a:cubicBezTo>
                        <a:cubicBezTo>
                          <a:pt x="43187" y="31264"/>
                          <a:pt x="45184" y="18009"/>
                          <a:pt x="38224" y="8628"/>
                        </a:cubicBezTo>
                        <a:cubicBezTo>
                          <a:pt x="31264" y="-813"/>
                          <a:pt x="18009" y="-2811"/>
                          <a:pt x="8628" y="4150"/>
                        </a:cubicBezTo>
                        <a:cubicBezTo>
                          <a:pt x="-813" y="11110"/>
                          <a:pt x="-2811" y="24364"/>
                          <a:pt x="4150" y="33806"/>
                        </a:cubicBezTo>
                        <a:cubicBezTo>
                          <a:pt x="8326" y="39434"/>
                          <a:pt x="14741" y="42400"/>
                          <a:pt x="21217" y="4240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14" name="Google Shape;1214;p53"/>
                  <p:cNvSpPr/>
                  <p:nvPr/>
                </p:nvSpPr>
                <p:spPr>
                  <a:xfrm>
                    <a:off x="1154926" y="2236219"/>
                    <a:ext cx="42375" cy="42382"/>
                  </a:xfrm>
                  <a:custGeom>
                    <a:rect b="b" l="l" r="r" t="t"/>
                    <a:pathLst>
                      <a:path extrusionOk="0" h="42382" w="42375">
                        <a:moveTo>
                          <a:pt x="21146" y="42382"/>
                        </a:moveTo>
                        <a:cubicBezTo>
                          <a:pt x="26593" y="42382"/>
                          <a:pt x="32101" y="40264"/>
                          <a:pt x="36277" y="36027"/>
                        </a:cubicBezTo>
                        <a:lnTo>
                          <a:pt x="36277" y="36027"/>
                        </a:lnTo>
                        <a:cubicBezTo>
                          <a:pt x="44508" y="27675"/>
                          <a:pt x="44387" y="14239"/>
                          <a:pt x="36035" y="6069"/>
                        </a:cubicBezTo>
                        <a:cubicBezTo>
                          <a:pt x="27683" y="-2162"/>
                          <a:pt x="14247" y="-1981"/>
                          <a:pt x="6076" y="6371"/>
                        </a:cubicBezTo>
                        <a:lnTo>
                          <a:pt x="6076" y="6371"/>
                        </a:lnTo>
                        <a:cubicBezTo>
                          <a:pt x="-2155" y="14723"/>
                          <a:pt x="-1974" y="28099"/>
                          <a:pt x="6318" y="36330"/>
                        </a:cubicBezTo>
                        <a:cubicBezTo>
                          <a:pt x="10494" y="40325"/>
                          <a:pt x="15820" y="42382"/>
                          <a:pt x="21207" y="42382"/>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15" name="Google Shape;1215;p53"/>
                  <p:cNvSpPr/>
                  <p:nvPr/>
                </p:nvSpPr>
                <p:spPr>
                  <a:xfrm>
                    <a:off x="2432199" y="2031042"/>
                    <a:ext cx="42409" cy="42387"/>
                  </a:xfrm>
                  <a:custGeom>
                    <a:rect b="b" l="l" r="r" t="t"/>
                    <a:pathLst>
                      <a:path extrusionOk="0" h="42387" w="42409">
                        <a:moveTo>
                          <a:pt x="11460" y="39967"/>
                        </a:moveTo>
                        <a:cubicBezTo>
                          <a:pt x="14608" y="41601"/>
                          <a:pt x="17936" y="42388"/>
                          <a:pt x="21205" y="42388"/>
                        </a:cubicBezTo>
                        <a:cubicBezTo>
                          <a:pt x="28830" y="42388"/>
                          <a:pt x="36275" y="38211"/>
                          <a:pt x="40027" y="30949"/>
                        </a:cubicBezTo>
                        <a:cubicBezTo>
                          <a:pt x="45414" y="20539"/>
                          <a:pt x="41359" y="7708"/>
                          <a:pt x="30949" y="2382"/>
                        </a:cubicBezTo>
                        <a:cubicBezTo>
                          <a:pt x="20539" y="-3005"/>
                          <a:pt x="7768" y="1050"/>
                          <a:pt x="2382" y="11460"/>
                        </a:cubicBezTo>
                        <a:cubicBezTo>
                          <a:pt x="-3005" y="21810"/>
                          <a:pt x="1051" y="34580"/>
                          <a:pt x="11460" y="39967"/>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16" name="Google Shape;1216;p53"/>
                  <p:cNvSpPr/>
                  <p:nvPr/>
                </p:nvSpPr>
                <p:spPr>
                  <a:xfrm>
                    <a:off x="2579011" y="2122492"/>
                    <a:ext cx="42381" cy="42387"/>
                  </a:xfrm>
                  <a:custGeom>
                    <a:rect b="b" l="l" r="r" t="t"/>
                    <a:pathLst>
                      <a:path extrusionOk="0" h="42387" w="42381">
                        <a:moveTo>
                          <a:pt x="8572" y="38271"/>
                        </a:moveTo>
                        <a:cubicBezTo>
                          <a:pt x="12385" y="41056"/>
                          <a:pt x="16803" y="42387"/>
                          <a:pt x="21160" y="42387"/>
                        </a:cubicBezTo>
                        <a:cubicBezTo>
                          <a:pt x="27697" y="42387"/>
                          <a:pt x="34052" y="39421"/>
                          <a:pt x="38228" y="33793"/>
                        </a:cubicBezTo>
                        <a:cubicBezTo>
                          <a:pt x="45188" y="24412"/>
                          <a:pt x="43191" y="11097"/>
                          <a:pt x="33810" y="4197"/>
                        </a:cubicBezTo>
                        <a:cubicBezTo>
                          <a:pt x="24368" y="-2823"/>
                          <a:pt x="11114" y="-826"/>
                          <a:pt x="4153" y="8615"/>
                        </a:cubicBezTo>
                        <a:cubicBezTo>
                          <a:pt x="-2807" y="17996"/>
                          <a:pt x="-809" y="31251"/>
                          <a:pt x="8572" y="3827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17" name="Google Shape;1217;p53"/>
                  <p:cNvSpPr/>
                  <p:nvPr/>
                </p:nvSpPr>
                <p:spPr>
                  <a:xfrm>
                    <a:off x="2709543" y="2236008"/>
                    <a:ext cx="42352" cy="42351"/>
                  </a:xfrm>
                  <a:custGeom>
                    <a:rect b="b" l="l" r="r" t="t"/>
                    <a:pathLst>
                      <a:path extrusionOk="0" h="42351" w="42352">
                        <a:moveTo>
                          <a:pt x="21176" y="42352"/>
                        </a:moveTo>
                        <a:cubicBezTo>
                          <a:pt x="26563" y="42352"/>
                          <a:pt x="31889" y="40354"/>
                          <a:pt x="36005" y="36299"/>
                        </a:cubicBezTo>
                        <a:cubicBezTo>
                          <a:pt x="44357" y="28129"/>
                          <a:pt x="44478" y="14693"/>
                          <a:pt x="36307" y="6340"/>
                        </a:cubicBezTo>
                        <a:cubicBezTo>
                          <a:pt x="28076" y="-2012"/>
                          <a:pt x="14700" y="-2133"/>
                          <a:pt x="6348" y="6098"/>
                        </a:cubicBezTo>
                        <a:cubicBezTo>
                          <a:pt x="-2004" y="14269"/>
                          <a:pt x="-2125" y="27644"/>
                          <a:pt x="6046" y="36057"/>
                        </a:cubicBezTo>
                        <a:cubicBezTo>
                          <a:pt x="10222" y="40233"/>
                          <a:pt x="15669" y="42352"/>
                          <a:pt x="21176" y="42352"/>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18" name="Google Shape;1218;p53"/>
                  <p:cNvSpPr/>
                  <p:nvPr/>
                </p:nvSpPr>
                <p:spPr>
                  <a:xfrm>
                    <a:off x="2104638" y="1923315"/>
                    <a:ext cx="42358" cy="42384"/>
                  </a:xfrm>
                  <a:custGeom>
                    <a:rect b="b" l="l" r="r" t="t"/>
                    <a:pathLst>
                      <a:path extrusionOk="0" h="42384" w="42358">
                        <a:moveTo>
                          <a:pt x="17889" y="42082"/>
                        </a:moveTo>
                        <a:cubicBezTo>
                          <a:pt x="18978" y="42263"/>
                          <a:pt x="20128" y="42384"/>
                          <a:pt x="21217" y="42384"/>
                        </a:cubicBezTo>
                        <a:cubicBezTo>
                          <a:pt x="31446" y="42384"/>
                          <a:pt x="40464" y="34940"/>
                          <a:pt x="42098" y="24530"/>
                        </a:cubicBezTo>
                        <a:cubicBezTo>
                          <a:pt x="43913" y="12970"/>
                          <a:pt x="36045" y="2076"/>
                          <a:pt x="24486" y="260"/>
                        </a:cubicBezTo>
                        <a:cubicBezTo>
                          <a:pt x="12986" y="-1555"/>
                          <a:pt x="2092" y="6313"/>
                          <a:pt x="277" y="17873"/>
                        </a:cubicBezTo>
                        <a:cubicBezTo>
                          <a:pt x="-1600" y="29432"/>
                          <a:pt x="6268" y="40266"/>
                          <a:pt x="17889" y="42082"/>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19" name="Google Shape;1219;p53"/>
                  <p:cNvSpPr/>
                  <p:nvPr/>
                </p:nvSpPr>
                <p:spPr>
                  <a:xfrm>
                    <a:off x="2272689" y="1964011"/>
                    <a:ext cx="42445" cy="42359"/>
                  </a:xfrm>
                  <a:custGeom>
                    <a:rect b="b" l="l" r="r" t="t"/>
                    <a:pathLst>
                      <a:path extrusionOk="0" h="42359" w="42445">
                        <a:moveTo>
                          <a:pt x="14640" y="41331"/>
                        </a:moveTo>
                        <a:cubicBezTo>
                          <a:pt x="16819" y="42057"/>
                          <a:pt x="19058" y="42360"/>
                          <a:pt x="21237" y="42360"/>
                        </a:cubicBezTo>
                        <a:cubicBezTo>
                          <a:pt x="30134" y="42360"/>
                          <a:pt x="38426" y="36731"/>
                          <a:pt x="41391" y="27834"/>
                        </a:cubicBezTo>
                        <a:cubicBezTo>
                          <a:pt x="45023" y="16698"/>
                          <a:pt x="38970" y="4715"/>
                          <a:pt x="27834" y="1083"/>
                        </a:cubicBezTo>
                        <a:lnTo>
                          <a:pt x="27834" y="1083"/>
                        </a:lnTo>
                        <a:cubicBezTo>
                          <a:pt x="16698" y="-2609"/>
                          <a:pt x="4715" y="3444"/>
                          <a:pt x="1083" y="14580"/>
                        </a:cubicBezTo>
                        <a:cubicBezTo>
                          <a:pt x="-2609" y="25716"/>
                          <a:pt x="3444" y="37639"/>
                          <a:pt x="14580" y="4133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20" name="Google Shape;1220;p53"/>
                  <p:cNvSpPr/>
                  <p:nvPr/>
                </p:nvSpPr>
                <p:spPr>
                  <a:xfrm>
                    <a:off x="1432182" y="2031102"/>
                    <a:ext cx="42397" cy="42387"/>
                  </a:xfrm>
                  <a:custGeom>
                    <a:rect b="b" l="l" r="r" t="t"/>
                    <a:pathLst>
                      <a:path extrusionOk="0" h="42387" w="42397">
                        <a:moveTo>
                          <a:pt x="21205" y="42388"/>
                        </a:moveTo>
                        <a:cubicBezTo>
                          <a:pt x="24473" y="42388"/>
                          <a:pt x="27802" y="41601"/>
                          <a:pt x="30949" y="40027"/>
                        </a:cubicBezTo>
                        <a:cubicBezTo>
                          <a:pt x="41298" y="34641"/>
                          <a:pt x="45414" y="21870"/>
                          <a:pt x="40027" y="11460"/>
                        </a:cubicBezTo>
                        <a:cubicBezTo>
                          <a:pt x="34641" y="1050"/>
                          <a:pt x="21870" y="-3005"/>
                          <a:pt x="11460" y="2382"/>
                        </a:cubicBezTo>
                        <a:cubicBezTo>
                          <a:pt x="1050" y="7769"/>
                          <a:pt x="-3005" y="20539"/>
                          <a:pt x="2382" y="30949"/>
                        </a:cubicBezTo>
                        <a:cubicBezTo>
                          <a:pt x="6134" y="38211"/>
                          <a:pt x="13579" y="42388"/>
                          <a:pt x="21205" y="42388"/>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21" name="Google Shape;1221;p53"/>
                  <p:cNvSpPr/>
                  <p:nvPr/>
                </p:nvSpPr>
                <p:spPr>
                  <a:xfrm>
                    <a:off x="1932182" y="1909716"/>
                    <a:ext cx="42365" cy="42426"/>
                  </a:xfrm>
                  <a:custGeom>
                    <a:rect b="b" l="l" r="r" t="t"/>
                    <a:pathLst>
                      <a:path extrusionOk="0" h="42426" w="42365">
                        <a:moveTo>
                          <a:pt x="21183" y="42426"/>
                        </a:moveTo>
                        <a:cubicBezTo>
                          <a:pt x="32864" y="42426"/>
                          <a:pt x="42366" y="32924"/>
                          <a:pt x="42366" y="21183"/>
                        </a:cubicBezTo>
                        <a:cubicBezTo>
                          <a:pt x="42366" y="9442"/>
                          <a:pt x="32864" y="0"/>
                          <a:pt x="21183" y="0"/>
                        </a:cubicBezTo>
                        <a:cubicBezTo>
                          <a:pt x="9502" y="0"/>
                          <a:pt x="0" y="9442"/>
                          <a:pt x="0" y="21122"/>
                        </a:cubicBezTo>
                        <a:cubicBezTo>
                          <a:pt x="0" y="32803"/>
                          <a:pt x="9442" y="42366"/>
                          <a:pt x="21183" y="42366"/>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22" name="Google Shape;1222;p53"/>
                  <p:cNvSpPr/>
                  <p:nvPr/>
                </p:nvSpPr>
                <p:spPr>
                  <a:xfrm>
                    <a:off x="1591627" y="1964071"/>
                    <a:ext cx="42385" cy="42359"/>
                  </a:xfrm>
                  <a:custGeom>
                    <a:rect b="b" l="l" r="r" t="t"/>
                    <a:pathLst>
                      <a:path extrusionOk="0" h="42359" w="42385">
                        <a:moveTo>
                          <a:pt x="21237" y="42360"/>
                        </a:moveTo>
                        <a:cubicBezTo>
                          <a:pt x="23416" y="42360"/>
                          <a:pt x="25595" y="42057"/>
                          <a:pt x="27834" y="41331"/>
                        </a:cubicBezTo>
                        <a:cubicBezTo>
                          <a:pt x="38910" y="37699"/>
                          <a:pt x="44962" y="25716"/>
                          <a:pt x="41331" y="14580"/>
                        </a:cubicBezTo>
                        <a:cubicBezTo>
                          <a:pt x="37639" y="3444"/>
                          <a:pt x="25655" y="-2609"/>
                          <a:pt x="14580" y="1083"/>
                        </a:cubicBezTo>
                        <a:cubicBezTo>
                          <a:pt x="3444" y="4715"/>
                          <a:pt x="-2609" y="16698"/>
                          <a:pt x="1083" y="27834"/>
                        </a:cubicBezTo>
                        <a:cubicBezTo>
                          <a:pt x="3988" y="36731"/>
                          <a:pt x="12280" y="42360"/>
                          <a:pt x="21237" y="4236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23" name="Google Shape;1223;p53"/>
                  <p:cNvSpPr/>
                  <p:nvPr/>
                </p:nvSpPr>
                <p:spPr>
                  <a:xfrm>
                    <a:off x="1759720" y="1923315"/>
                    <a:ext cx="42372" cy="42384"/>
                  </a:xfrm>
                  <a:custGeom>
                    <a:rect b="b" l="l" r="r" t="t"/>
                    <a:pathLst>
                      <a:path extrusionOk="0" h="42384" w="42372">
                        <a:moveTo>
                          <a:pt x="21155" y="42384"/>
                        </a:moveTo>
                        <a:cubicBezTo>
                          <a:pt x="22305" y="42384"/>
                          <a:pt x="23395" y="42384"/>
                          <a:pt x="24545" y="42142"/>
                        </a:cubicBezTo>
                        <a:cubicBezTo>
                          <a:pt x="36104" y="40266"/>
                          <a:pt x="43972" y="29432"/>
                          <a:pt x="42096" y="17873"/>
                        </a:cubicBezTo>
                        <a:cubicBezTo>
                          <a:pt x="40281" y="6313"/>
                          <a:pt x="29447" y="-1555"/>
                          <a:pt x="17827" y="260"/>
                        </a:cubicBezTo>
                        <a:lnTo>
                          <a:pt x="17827" y="260"/>
                        </a:lnTo>
                        <a:cubicBezTo>
                          <a:pt x="6327" y="2137"/>
                          <a:pt x="-1601" y="12970"/>
                          <a:pt x="275" y="24530"/>
                        </a:cubicBezTo>
                        <a:cubicBezTo>
                          <a:pt x="1970" y="34940"/>
                          <a:pt x="10927" y="42384"/>
                          <a:pt x="21155" y="42384"/>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grpSp>
          </p:grpSp>
          <p:sp>
            <p:nvSpPr>
              <p:cNvPr id="1224" name="Google Shape;1224;p53"/>
              <p:cNvSpPr/>
              <p:nvPr/>
            </p:nvSpPr>
            <p:spPr>
              <a:xfrm>
                <a:off x="2133767" y="1781309"/>
                <a:ext cx="4590422" cy="420660"/>
              </a:xfrm>
              <a:prstGeom prst="roundRect">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 Premium Calculation &amp; Payment:</a:t>
                </a:r>
                <a:endParaRPr b="1" i="0" sz="1800" u="none" cap="none" strike="noStrike">
                  <a:solidFill>
                    <a:schemeClr val="lt1"/>
                  </a:solidFill>
                  <a:latin typeface="Arial"/>
                  <a:ea typeface="Arial"/>
                  <a:cs typeface="Arial"/>
                  <a:sym typeface="Arial"/>
                </a:endParaRPr>
              </a:p>
            </p:txBody>
          </p:sp>
        </p:grpSp>
        <p:sp>
          <p:nvSpPr>
            <p:cNvPr id="1225" name="Google Shape;1225;p53"/>
            <p:cNvSpPr txBox="1"/>
            <p:nvPr/>
          </p:nvSpPr>
          <p:spPr>
            <a:xfrm>
              <a:off x="1696720" y="2430716"/>
              <a:ext cx="9957118" cy="304482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The survival rate is 95%, meaning there is a 95% probability that Company XYZ Ltd will not Default during the CDS term i.e 5% probability of Default by the Reference Entity Company XYZ Ltd.</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CDS Premium depends on the credit risk associated with the Reference Entity &amp; Reference Obligation i.e Probability of Default &amp; Recovery Rate</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In this example, the premium rate is set at 200 basis points (2%) per annum, payable quarterly.</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Premium Payment per quarter = (Notional Principal * Premium Rate) / 4</a:t>
              </a:r>
              <a:endParaRPr b="0" i="0" sz="1600" u="none" cap="none" strike="noStrike">
                <a:solidFill>
                  <a:schemeClr val="dk1"/>
                </a:solidFill>
                <a:latin typeface="Arial"/>
                <a:ea typeface="Arial"/>
                <a:cs typeface="Arial"/>
                <a:sym typeface="Arial"/>
              </a:endParaRPr>
            </a:p>
            <a:p>
              <a:pPr indent="-184150" lvl="0" marL="28575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1" i="0" lang="en-US" sz="1600" u="none" cap="none" strike="noStrike">
                  <a:solidFill>
                    <a:schemeClr val="dk1"/>
                  </a:solidFill>
                  <a:latin typeface="Arial"/>
                  <a:ea typeface="Arial"/>
                  <a:cs typeface="Arial"/>
                  <a:sym typeface="Arial"/>
                </a:rPr>
                <a:t>Year-1; Quarter-1: </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At the beginning of Quarter-1 of Year-1, The premium for Q1 is calculated as follows:</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The premium for Quarter-1 of Year-1 is calculated as follows: </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Premium Payment = ($10,000,000 * 2% / 4) = $50,000 per Quarter</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Party A pays $50,000 to Party B as the premium for Quarter-1.</a:t>
              </a:r>
              <a:endParaRPr b="0" i="0" sz="1600" u="none" cap="none" strike="noStrike">
                <a:solidFill>
                  <a:schemeClr val="dk1"/>
                </a:solidFill>
                <a:latin typeface="Arial"/>
                <a:ea typeface="Arial"/>
                <a:cs typeface="Arial"/>
                <a:sym typeface="Arial"/>
              </a:endParaRPr>
            </a:p>
          </p:txBody>
        </p:sp>
      </p:grpSp>
      <p:sp>
        <p:nvSpPr>
          <p:cNvPr id="1226" name="Google Shape;1226;p53"/>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DERIVATIVES - CREDIT DEFAULT SWAPS - EXAMPLE</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54"/>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DERIVATIVES - CREDIT DEFAULT SWAPS - EXAMPLE</a:t>
            </a:r>
            <a:endParaRPr/>
          </a:p>
        </p:txBody>
      </p:sp>
      <p:grpSp>
        <p:nvGrpSpPr>
          <p:cNvPr id="1232" name="Google Shape;1232;p54"/>
          <p:cNvGrpSpPr/>
          <p:nvPr/>
        </p:nvGrpSpPr>
        <p:grpSpPr>
          <a:xfrm>
            <a:off x="700088" y="1488376"/>
            <a:ext cx="10953750" cy="3546090"/>
            <a:chOff x="700088" y="1488376"/>
            <a:chExt cx="10953750" cy="3546090"/>
          </a:xfrm>
        </p:grpSpPr>
        <p:grpSp>
          <p:nvGrpSpPr>
            <p:cNvPr id="1233" name="Google Shape;1233;p54"/>
            <p:cNvGrpSpPr/>
            <p:nvPr/>
          </p:nvGrpSpPr>
          <p:grpSpPr>
            <a:xfrm>
              <a:off x="700088" y="1488376"/>
              <a:ext cx="5609272" cy="945567"/>
              <a:chOff x="1114917" y="1518856"/>
              <a:chExt cx="5609272" cy="945567"/>
            </a:xfrm>
          </p:grpSpPr>
          <p:grpSp>
            <p:nvGrpSpPr>
              <p:cNvPr id="1234" name="Google Shape;1234;p54"/>
              <p:cNvGrpSpPr/>
              <p:nvPr/>
            </p:nvGrpSpPr>
            <p:grpSpPr>
              <a:xfrm rot="5400000">
                <a:off x="1099092" y="1534680"/>
                <a:ext cx="945567" cy="913918"/>
                <a:chOff x="1390067" y="1192856"/>
                <a:chExt cx="829883" cy="804892"/>
              </a:xfrm>
            </p:grpSpPr>
            <p:sp>
              <p:nvSpPr>
                <p:cNvPr id="1235" name="Google Shape;1235;p54"/>
                <p:cNvSpPr/>
                <p:nvPr/>
              </p:nvSpPr>
              <p:spPr>
                <a:xfrm>
                  <a:off x="1443011" y="1436008"/>
                  <a:ext cx="699004" cy="508795"/>
                </a:xfrm>
                <a:custGeom>
                  <a:rect b="b" l="l" r="r" t="t"/>
                  <a:pathLst>
                    <a:path extrusionOk="0" h="1403461" w="1928132">
                      <a:moveTo>
                        <a:pt x="1004133" y="818207"/>
                      </a:moveTo>
                      <a:cubicBezTo>
                        <a:pt x="993057" y="829283"/>
                        <a:pt x="978592" y="834790"/>
                        <a:pt x="964127" y="834790"/>
                      </a:cubicBezTo>
                      <a:cubicBezTo>
                        <a:pt x="949662" y="834790"/>
                        <a:pt x="935137" y="829283"/>
                        <a:pt x="924122" y="818207"/>
                      </a:cubicBezTo>
                      <a:lnTo>
                        <a:pt x="105854" y="0"/>
                      </a:lnTo>
                      <a:cubicBezTo>
                        <a:pt x="38250" y="131758"/>
                        <a:pt x="0" y="281128"/>
                        <a:pt x="0" y="439395"/>
                      </a:cubicBezTo>
                      <a:cubicBezTo>
                        <a:pt x="0" y="971814"/>
                        <a:pt x="431648" y="1403462"/>
                        <a:pt x="964067" y="1403462"/>
                      </a:cubicBezTo>
                      <a:cubicBezTo>
                        <a:pt x="1496485" y="1403462"/>
                        <a:pt x="1928133" y="971814"/>
                        <a:pt x="1928133" y="439395"/>
                      </a:cubicBezTo>
                      <a:cubicBezTo>
                        <a:pt x="1928133" y="281068"/>
                        <a:pt x="1889883" y="131758"/>
                        <a:pt x="1822279" y="0"/>
                      </a:cubicBezTo>
                      <a:lnTo>
                        <a:pt x="1004133" y="818207"/>
                      </a:lnTo>
                      <a:close/>
                    </a:path>
                  </a:pathLst>
                </a:custGeom>
                <a:solidFill>
                  <a:srgbClr val="E7E7E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36" name="Google Shape;1236;p54"/>
                <p:cNvSpPr/>
                <p:nvPr/>
              </p:nvSpPr>
              <p:spPr>
                <a:xfrm>
                  <a:off x="1502998" y="1245821"/>
                  <a:ext cx="579051" cy="443257"/>
                </a:xfrm>
                <a:custGeom>
                  <a:rect b="b" l="l" r="r" t="t"/>
                  <a:pathLst>
                    <a:path extrusionOk="0" h="1222680" w="1597255">
                      <a:moveTo>
                        <a:pt x="798597" y="1222680"/>
                      </a:moveTo>
                      <a:lnTo>
                        <a:pt x="1597255" y="424083"/>
                      </a:lnTo>
                      <a:cubicBezTo>
                        <a:pt x="1423918" y="168193"/>
                        <a:pt x="1130988" y="0"/>
                        <a:pt x="798658" y="0"/>
                      </a:cubicBezTo>
                      <a:cubicBezTo>
                        <a:pt x="466328" y="0"/>
                        <a:pt x="173337" y="168193"/>
                        <a:pt x="0" y="424083"/>
                      </a:cubicBezTo>
                      <a:lnTo>
                        <a:pt x="798597" y="122268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37" name="Google Shape;1237;p54"/>
                <p:cNvSpPr/>
                <p:nvPr/>
              </p:nvSpPr>
              <p:spPr>
                <a:xfrm rot="-5400000">
                  <a:off x="1515110" y="1317899"/>
                  <a:ext cx="554806" cy="554806"/>
                </a:xfrm>
                <a:custGeom>
                  <a:rect b="b" l="l" r="r" t="t"/>
                  <a:pathLst>
                    <a:path extrusionOk="0" h="1530377" w="1530377">
                      <a:moveTo>
                        <a:pt x="1530378" y="765189"/>
                      </a:moveTo>
                      <a:cubicBezTo>
                        <a:pt x="1530378" y="1187791"/>
                        <a:pt x="1187791" y="1530378"/>
                        <a:pt x="765189" y="1530378"/>
                      </a:cubicBezTo>
                      <a:cubicBezTo>
                        <a:pt x="342587" y="1530378"/>
                        <a:pt x="0" y="1187791"/>
                        <a:pt x="0" y="765189"/>
                      </a:cubicBezTo>
                      <a:cubicBezTo>
                        <a:pt x="0" y="342587"/>
                        <a:pt x="342587" y="0"/>
                        <a:pt x="765189" y="0"/>
                      </a:cubicBezTo>
                      <a:cubicBezTo>
                        <a:pt x="1187791" y="0"/>
                        <a:pt x="1530378" y="342587"/>
                        <a:pt x="1530378" y="76518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grpSp>
              <p:nvGrpSpPr>
                <p:cNvPr id="1238" name="Google Shape;1238;p54"/>
                <p:cNvGrpSpPr/>
                <p:nvPr/>
              </p:nvGrpSpPr>
              <p:grpSpPr>
                <a:xfrm>
                  <a:off x="1390067" y="1192856"/>
                  <a:ext cx="829883" cy="804892"/>
                  <a:chOff x="843379" y="1909716"/>
                  <a:chExt cx="2289151" cy="2220215"/>
                </a:xfrm>
              </p:grpSpPr>
              <p:sp>
                <p:nvSpPr>
                  <p:cNvPr id="1239" name="Google Shape;1239;p54"/>
                  <p:cNvSpPr/>
                  <p:nvPr/>
                </p:nvSpPr>
                <p:spPr>
                  <a:xfrm>
                    <a:off x="843379" y="2368760"/>
                    <a:ext cx="2289151" cy="1761171"/>
                  </a:xfrm>
                  <a:custGeom>
                    <a:rect b="b" l="l" r="r" t="t"/>
                    <a:pathLst>
                      <a:path extrusionOk="0" h="1761171" w="2289151">
                        <a:moveTo>
                          <a:pt x="2289151" y="651064"/>
                        </a:moveTo>
                        <a:cubicBezTo>
                          <a:pt x="2289151" y="607366"/>
                          <a:pt x="2257921" y="570871"/>
                          <a:pt x="2216584" y="562700"/>
                        </a:cubicBezTo>
                        <a:cubicBezTo>
                          <a:pt x="2200849" y="363217"/>
                          <a:pt x="2131732" y="172147"/>
                          <a:pt x="2015830" y="9038"/>
                        </a:cubicBezTo>
                        <a:cubicBezTo>
                          <a:pt x="2015407" y="8433"/>
                          <a:pt x="2014862" y="7888"/>
                          <a:pt x="2014317" y="7344"/>
                        </a:cubicBezTo>
                        <a:cubicBezTo>
                          <a:pt x="2014015" y="7041"/>
                          <a:pt x="2013833" y="6617"/>
                          <a:pt x="2013531" y="6315"/>
                        </a:cubicBezTo>
                        <a:cubicBezTo>
                          <a:pt x="2013470" y="6254"/>
                          <a:pt x="2013349" y="6194"/>
                          <a:pt x="2013288" y="6133"/>
                        </a:cubicBezTo>
                        <a:cubicBezTo>
                          <a:pt x="2006268" y="-706"/>
                          <a:pt x="1995253" y="-1856"/>
                          <a:pt x="1986840" y="3712"/>
                        </a:cubicBezTo>
                        <a:lnTo>
                          <a:pt x="1986840" y="3712"/>
                        </a:lnTo>
                        <a:cubicBezTo>
                          <a:pt x="1986840" y="3712"/>
                          <a:pt x="1986477" y="3894"/>
                          <a:pt x="1986356" y="4015"/>
                        </a:cubicBezTo>
                        <a:cubicBezTo>
                          <a:pt x="1985751" y="4439"/>
                          <a:pt x="1985266" y="4983"/>
                          <a:pt x="1984722" y="5407"/>
                        </a:cubicBezTo>
                        <a:cubicBezTo>
                          <a:pt x="1984359" y="5710"/>
                          <a:pt x="1983935" y="5952"/>
                          <a:pt x="1983632" y="6254"/>
                        </a:cubicBezTo>
                        <a:cubicBezTo>
                          <a:pt x="1983572" y="6315"/>
                          <a:pt x="1983511" y="6436"/>
                          <a:pt x="1983390" y="6557"/>
                        </a:cubicBezTo>
                        <a:cubicBezTo>
                          <a:pt x="1982846" y="7102"/>
                          <a:pt x="1982422" y="7767"/>
                          <a:pt x="1981938" y="8373"/>
                        </a:cubicBezTo>
                        <a:cubicBezTo>
                          <a:pt x="1981575" y="8857"/>
                          <a:pt x="1981211" y="9280"/>
                          <a:pt x="1980848" y="9765"/>
                        </a:cubicBezTo>
                        <a:cubicBezTo>
                          <a:pt x="1980364" y="10491"/>
                          <a:pt x="1980062" y="11217"/>
                          <a:pt x="1979638" y="12004"/>
                        </a:cubicBezTo>
                        <a:cubicBezTo>
                          <a:pt x="1979396" y="12488"/>
                          <a:pt x="1979154" y="12972"/>
                          <a:pt x="1978912" y="13456"/>
                        </a:cubicBezTo>
                        <a:cubicBezTo>
                          <a:pt x="1978669" y="14122"/>
                          <a:pt x="1978488" y="14788"/>
                          <a:pt x="1978306" y="15514"/>
                        </a:cubicBezTo>
                        <a:cubicBezTo>
                          <a:pt x="1978125" y="16180"/>
                          <a:pt x="1977883" y="16846"/>
                          <a:pt x="1977762" y="17511"/>
                        </a:cubicBezTo>
                        <a:cubicBezTo>
                          <a:pt x="1977701" y="17996"/>
                          <a:pt x="1977641" y="18419"/>
                          <a:pt x="1977641" y="18904"/>
                        </a:cubicBezTo>
                        <a:cubicBezTo>
                          <a:pt x="1977520" y="19690"/>
                          <a:pt x="1977399" y="20477"/>
                          <a:pt x="1977399" y="21264"/>
                        </a:cubicBezTo>
                        <a:cubicBezTo>
                          <a:pt x="1977399" y="21385"/>
                          <a:pt x="1977399" y="21506"/>
                          <a:pt x="1977399" y="21688"/>
                        </a:cubicBezTo>
                        <a:cubicBezTo>
                          <a:pt x="1977399" y="21990"/>
                          <a:pt x="1977459" y="22293"/>
                          <a:pt x="1977520" y="22595"/>
                        </a:cubicBezTo>
                        <a:cubicBezTo>
                          <a:pt x="1977580" y="23624"/>
                          <a:pt x="1977701" y="24653"/>
                          <a:pt x="1977883" y="25682"/>
                        </a:cubicBezTo>
                        <a:cubicBezTo>
                          <a:pt x="1978004" y="26166"/>
                          <a:pt x="1978185" y="26711"/>
                          <a:pt x="1978367" y="27195"/>
                        </a:cubicBezTo>
                        <a:cubicBezTo>
                          <a:pt x="1978609" y="27982"/>
                          <a:pt x="1978791" y="28769"/>
                          <a:pt x="1979154" y="29556"/>
                        </a:cubicBezTo>
                        <a:cubicBezTo>
                          <a:pt x="1979396" y="30161"/>
                          <a:pt x="1979759" y="30705"/>
                          <a:pt x="1980122" y="31311"/>
                        </a:cubicBezTo>
                        <a:cubicBezTo>
                          <a:pt x="1980485" y="31976"/>
                          <a:pt x="1980788" y="32642"/>
                          <a:pt x="1981211" y="33247"/>
                        </a:cubicBezTo>
                        <a:cubicBezTo>
                          <a:pt x="1981272" y="33368"/>
                          <a:pt x="1981332" y="33429"/>
                          <a:pt x="1981393" y="33550"/>
                        </a:cubicBezTo>
                        <a:cubicBezTo>
                          <a:pt x="2092573" y="190001"/>
                          <a:pt x="2158967" y="373204"/>
                          <a:pt x="2174340" y="564516"/>
                        </a:cubicBezTo>
                        <a:cubicBezTo>
                          <a:pt x="2136694" y="575350"/>
                          <a:pt x="2109036" y="610029"/>
                          <a:pt x="2109036" y="651064"/>
                        </a:cubicBezTo>
                        <a:cubicBezTo>
                          <a:pt x="2109036" y="692098"/>
                          <a:pt x="2136755" y="726898"/>
                          <a:pt x="2174461" y="737672"/>
                        </a:cubicBezTo>
                        <a:cubicBezTo>
                          <a:pt x="2130218" y="1289397"/>
                          <a:pt x="1666433" y="1718806"/>
                          <a:pt x="1110229" y="1718806"/>
                        </a:cubicBezTo>
                        <a:cubicBezTo>
                          <a:pt x="521464" y="1718806"/>
                          <a:pt x="42487" y="1239829"/>
                          <a:pt x="42487" y="651064"/>
                        </a:cubicBezTo>
                        <a:cubicBezTo>
                          <a:pt x="42487" y="428219"/>
                          <a:pt x="110454" y="214695"/>
                          <a:pt x="239065" y="33550"/>
                        </a:cubicBezTo>
                        <a:cubicBezTo>
                          <a:pt x="239125" y="33489"/>
                          <a:pt x="239186" y="33368"/>
                          <a:pt x="239246" y="33247"/>
                        </a:cubicBezTo>
                        <a:cubicBezTo>
                          <a:pt x="239731" y="32582"/>
                          <a:pt x="240033" y="31855"/>
                          <a:pt x="240457" y="31129"/>
                        </a:cubicBezTo>
                        <a:cubicBezTo>
                          <a:pt x="240759" y="30584"/>
                          <a:pt x="241062" y="30100"/>
                          <a:pt x="241304" y="29556"/>
                        </a:cubicBezTo>
                        <a:cubicBezTo>
                          <a:pt x="241667" y="28708"/>
                          <a:pt x="241909" y="27800"/>
                          <a:pt x="242212" y="26893"/>
                        </a:cubicBezTo>
                        <a:cubicBezTo>
                          <a:pt x="242333" y="26529"/>
                          <a:pt x="242515" y="26106"/>
                          <a:pt x="242575" y="25743"/>
                        </a:cubicBezTo>
                        <a:cubicBezTo>
                          <a:pt x="242817" y="24593"/>
                          <a:pt x="242938" y="23443"/>
                          <a:pt x="242999" y="22293"/>
                        </a:cubicBezTo>
                        <a:cubicBezTo>
                          <a:pt x="242999" y="22111"/>
                          <a:pt x="242999" y="21869"/>
                          <a:pt x="243059" y="21688"/>
                        </a:cubicBezTo>
                        <a:cubicBezTo>
                          <a:pt x="243059" y="21567"/>
                          <a:pt x="243059" y="21385"/>
                          <a:pt x="243059" y="21264"/>
                        </a:cubicBezTo>
                        <a:cubicBezTo>
                          <a:pt x="243059" y="20417"/>
                          <a:pt x="242938" y="19569"/>
                          <a:pt x="242817" y="18722"/>
                        </a:cubicBezTo>
                        <a:cubicBezTo>
                          <a:pt x="242817" y="18298"/>
                          <a:pt x="242817" y="17875"/>
                          <a:pt x="242696" y="17451"/>
                        </a:cubicBezTo>
                        <a:cubicBezTo>
                          <a:pt x="242696" y="17330"/>
                          <a:pt x="242696" y="17148"/>
                          <a:pt x="242696" y="17027"/>
                        </a:cubicBezTo>
                        <a:cubicBezTo>
                          <a:pt x="242575" y="16362"/>
                          <a:pt x="242272" y="15756"/>
                          <a:pt x="242091" y="15091"/>
                        </a:cubicBezTo>
                        <a:cubicBezTo>
                          <a:pt x="241909" y="14546"/>
                          <a:pt x="241788" y="13941"/>
                          <a:pt x="241607" y="13396"/>
                        </a:cubicBezTo>
                        <a:cubicBezTo>
                          <a:pt x="241607" y="13275"/>
                          <a:pt x="241607" y="13154"/>
                          <a:pt x="241486" y="13033"/>
                        </a:cubicBezTo>
                        <a:cubicBezTo>
                          <a:pt x="241244" y="12549"/>
                          <a:pt x="240941" y="12064"/>
                          <a:pt x="240699" y="11580"/>
                        </a:cubicBezTo>
                        <a:cubicBezTo>
                          <a:pt x="240396" y="10915"/>
                          <a:pt x="240094" y="10249"/>
                          <a:pt x="239670" y="9644"/>
                        </a:cubicBezTo>
                        <a:cubicBezTo>
                          <a:pt x="239670" y="9583"/>
                          <a:pt x="239609" y="9462"/>
                          <a:pt x="239549" y="9401"/>
                        </a:cubicBezTo>
                        <a:cubicBezTo>
                          <a:pt x="239246" y="8978"/>
                          <a:pt x="238883" y="8615"/>
                          <a:pt x="238581" y="8252"/>
                        </a:cubicBezTo>
                        <a:cubicBezTo>
                          <a:pt x="238096" y="7646"/>
                          <a:pt x="237673" y="6981"/>
                          <a:pt x="237068" y="6436"/>
                        </a:cubicBezTo>
                        <a:cubicBezTo>
                          <a:pt x="237007" y="6375"/>
                          <a:pt x="236946" y="6254"/>
                          <a:pt x="236825" y="6133"/>
                        </a:cubicBezTo>
                        <a:cubicBezTo>
                          <a:pt x="236402" y="5710"/>
                          <a:pt x="235918" y="5407"/>
                          <a:pt x="235494" y="5044"/>
                        </a:cubicBezTo>
                        <a:cubicBezTo>
                          <a:pt x="235010" y="4620"/>
                          <a:pt x="234586" y="4197"/>
                          <a:pt x="234102" y="3833"/>
                        </a:cubicBezTo>
                        <a:cubicBezTo>
                          <a:pt x="233981" y="3773"/>
                          <a:pt x="233860" y="3712"/>
                          <a:pt x="233739" y="3652"/>
                        </a:cubicBezTo>
                        <a:cubicBezTo>
                          <a:pt x="233739" y="3652"/>
                          <a:pt x="233678" y="3591"/>
                          <a:pt x="233618" y="3531"/>
                        </a:cubicBezTo>
                        <a:cubicBezTo>
                          <a:pt x="233376" y="3349"/>
                          <a:pt x="233073" y="3289"/>
                          <a:pt x="232831" y="3107"/>
                        </a:cubicBezTo>
                        <a:cubicBezTo>
                          <a:pt x="229200" y="868"/>
                          <a:pt x="225084" y="-161"/>
                          <a:pt x="221090" y="20"/>
                        </a:cubicBezTo>
                        <a:cubicBezTo>
                          <a:pt x="220847" y="20"/>
                          <a:pt x="220605" y="20"/>
                          <a:pt x="220363" y="20"/>
                        </a:cubicBezTo>
                        <a:cubicBezTo>
                          <a:pt x="218911" y="141"/>
                          <a:pt x="217458" y="384"/>
                          <a:pt x="216066" y="747"/>
                        </a:cubicBezTo>
                        <a:cubicBezTo>
                          <a:pt x="215885" y="747"/>
                          <a:pt x="215642" y="868"/>
                          <a:pt x="215461" y="928"/>
                        </a:cubicBezTo>
                        <a:cubicBezTo>
                          <a:pt x="212374" y="1897"/>
                          <a:pt x="209469" y="3531"/>
                          <a:pt x="207109" y="5891"/>
                        </a:cubicBezTo>
                        <a:cubicBezTo>
                          <a:pt x="207048" y="5952"/>
                          <a:pt x="206927" y="6012"/>
                          <a:pt x="206867" y="6073"/>
                        </a:cubicBezTo>
                        <a:cubicBezTo>
                          <a:pt x="206564" y="6375"/>
                          <a:pt x="206382" y="6738"/>
                          <a:pt x="206080" y="7041"/>
                        </a:cubicBezTo>
                        <a:cubicBezTo>
                          <a:pt x="205535" y="7646"/>
                          <a:pt x="204990" y="8130"/>
                          <a:pt x="204567" y="8796"/>
                        </a:cubicBezTo>
                        <a:cubicBezTo>
                          <a:pt x="70691" y="197385"/>
                          <a:pt x="0" y="419443"/>
                          <a:pt x="0" y="651064"/>
                        </a:cubicBezTo>
                        <a:cubicBezTo>
                          <a:pt x="0" y="1263190"/>
                          <a:pt x="497981" y="1761172"/>
                          <a:pt x="1110108" y="1761172"/>
                        </a:cubicBezTo>
                        <a:cubicBezTo>
                          <a:pt x="1688887" y="1761172"/>
                          <a:pt x="2171434" y="1313848"/>
                          <a:pt x="2216645" y="739427"/>
                        </a:cubicBezTo>
                        <a:cubicBezTo>
                          <a:pt x="2257921" y="731196"/>
                          <a:pt x="2289151" y="694700"/>
                          <a:pt x="2289151" y="651064"/>
                        </a:cubicBezTo>
                        <a:close/>
                        <a:moveTo>
                          <a:pt x="2199033" y="698816"/>
                        </a:moveTo>
                        <a:cubicBezTo>
                          <a:pt x="2172705" y="698816"/>
                          <a:pt x="2151280" y="677391"/>
                          <a:pt x="2151280" y="651064"/>
                        </a:cubicBezTo>
                        <a:cubicBezTo>
                          <a:pt x="2151280" y="624736"/>
                          <a:pt x="2172705" y="603311"/>
                          <a:pt x="2199033" y="603311"/>
                        </a:cubicBezTo>
                        <a:cubicBezTo>
                          <a:pt x="2225360" y="603311"/>
                          <a:pt x="2246785" y="624736"/>
                          <a:pt x="2246785" y="651064"/>
                        </a:cubicBezTo>
                        <a:cubicBezTo>
                          <a:pt x="2246785" y="677391"/>
                          <a:pt x="2225360" y="698816"/>
                          <a:pt x="2199033" y="698816"/>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40" name="Google Shape;1240;p54"/>
                  <p:cNvSpPr/>
                  <p:nvPr/>
                </p:nvSpPr>
                <p:spPr>
                  <a:xfrm>
                    <a:off x="3017839" y="2995251"/>
                    <a:ext cx="49144" cy="49144"/>
                  </a:xfrm>
                  <a:custGeom>
                    <a:rect b="b" l="l" r="r" t="t"/>
                    <a:pathLst>
                      <a:path extrusionOk="0" h="49144" w="49144">
                        <a:moveTo>
                          <a:pt x="49144" y="24572"/>
                        </a:moveTo>
                        <a:cubicBezTo>
                          <a:pt x="49144" y="38143"/>
                          <a:pt x="38143" y="49144"/>
                          <a:pt x="24572" y="49144"/>
                        </a:cubicBezTo>
                        <a:cubicBezTo>
                          <a:pt x="11001" y="49144"/>
                          <a:pt x="0" y="38143"/>
                          <a:pt x="0" y="24572"/>
                        </a:cubicBezTo>
                        <a:cubicBezTo>
                          <a:pt x="0" y="11001"/>
                          <a:pt x="11001" y="0"/>
                          <a:pt x="24572" y="0"/>
                        </a:cubicBezTo>
                        <a:cubicBezTo>
                          <a:pt x="38143" y="0"/>
                          <a:pt x="49144" y="11001"/>
                          <a:pt x="49144" y="24572"/>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41" name="Google Shape;1241;p54"/>
                  <p:cNvSpPr/>
                  <p:nvPr/>
                </p:nvSpPr>
                <p:spPr>
                  <a:xfrm>
                    <a:off x="1285342" y="2122661"/>
                    <a:ext cx="42377" cy="42399"/>
                  </a:xfrm>
                  <a:custGeom>
                    <a:rect b="b" l="l" r="r" t="t"/>
                    <a:pathLst>
                      <a:path extrusionOk="0" h="42399" w="42377">
                        <a:moveTo>
                          <a:pt x="21217" y="42400"/>
                        </a:moveTo>
                        <a:cubicBezTo>
                          <a:pt x="25575" y="42400"/>
                          <a:pt x="29993" y="41008"/>
                          <a:pt x="33806" y="38224"/>
                        </a:cubicBezTo>
                        <a:cubicBezTo>
                          <a:pt x="43187" y="31264"/>
                          <a:pt x="45184" y="18009"/>
                          <a:pt x="38224" y="8628"/>
                        </a:cubicBezTo>
                        <a:cubicBezTo>
                          <a:pt x="31264" y="-813"/>
                          <a:pt x="18009" y="-2811"/>
                          <a:pt x="8628" y="4150"/>
                        </a:cubicBezTo>
                        <a:cubicBezTo>
                          <a:pt x="-813" y="11110"/>
                          <a:pt x="-2811" y="24364"/>
                          <a:pt x="4150" y="33806"/>
                        </a:cubicBezTo>
                        <a:cubicBezTo>
                          <a:pt x="8326" y="39434"/>
                          <a:pt x="14741" y="42400"/>
                          <a:pt x="21217" y="4240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42" name="Google Shape;1242;p54"/>
                  <p:cNvSpPr/>
                  <p:nvPr/>
                </p:nvSpPr>
                <p:spPr>
                  <a:xfrm>
                    <a:off x="1154926" y="2236219"/>
                    <a:ext cx="42375" cy="42382"/>
                  </a:xfrm>
                  <a:custGeom>
                    <a:rect b="b" l="l" r="r" t="t"/>
                    <a:pathLst>
                      <a:path extrusionOk="0" h="42382" w="42375">
                        <a:moveTo>
                          <a:pt x="21146" y="42382"/>
                        </a:moveTo>
                        <a:cubicBezTo>
                          <a:pt x="26593" y="42382"/>
                          <a:pt x="32101" y="40264"/>
                          <a:pt x="36277" y="36027"/>
                        </a:cubicBezTo>
                        <a:lnTo>
                          <a:pt x="36277" y="36027"/>
                        </a:lnTo>
                        <a:cubicBezTo>
                          <a:pt x="44508" y="27675"/>
                          <a:pt x="44387" y="14239"/>
                          <a:pt x="36035" y="6069"/>
                        </a:cubicBezTo>
                        <a:cubicBezTo>
                          <a:pt x="27683" y="-2162"/>
                          <a:pt x="14247" y="-1981"/>
                          <a:pt x="6076" y="6371"/>
                        </a:cubicBezTo>
                        <a:lnTo>
                          <a:pt x="6076" y="6371"/>
                        </a:lnTo>
                        <a:cubicBezTo>
                          <a:pt x="-2155" y="14723"/>
                          <a:pt x="-1974" y="28099"/>
                          <a:pt x="6318" y="36330"/>
                        </a:cubicBezTo>
                        <a:cubicBezTo>
                          <a:pt x="10494" y="40325"/>
                          <a:pt x="15820" y="42382"/>
                          <a:pt x="21207" y="42382"/>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43" name="Google Shape;1243;p54"/>
                  <p:cNvSpPr/>
                  <p:nvPr/>
                </p:nvSpPr>
                <p:spPr>
                  <a:xfrm>
                    <a:off x="2432199" y="2031042"/>
                    <a:ext cx="42409" cy="42387"/>
                  </a:xfrm>
                  <a:custGeom>
                    <a:rect b="b" l="l" r="r" t="t"/>
                    <a:pathLst>
                      <a:path extrusionOk="0" h="42387" w="42409">
                        <a:moveTo>
                          <a:pt x="11460" y="39967"/>
                        </a:moveTo>
                        <a:cubicBezTo>
                          <a:pt x="14608" y="41601"/>
                          <a:pt x="17936" y="42388"/>
                          <a:pt x="21205" y="42388"/>
                        </a:cubicBezTo>
                        <a:cubicBezTo>
                          <a:pt x="28830" y="42388"/>
                          <a:pt x="36275" y="38211"/>
                          <a:pt x="40027" y="30949"/>
                        </a:cubicBezTo>
                        <a:cubicBezTo>
                          <a:pt x="45414" y="20539"/>
                          <a:pt x="41359" y="7708"/>
                          <a:pt x="30949" y="2382"/>
                        </a:cubicBezTo>
                        <a:cubicBezTo>
                          <a:pt x="20539" y="-3005"/>
                          <a:pt x="7768" y="1050"/>
                          <a:pt x="2382" y="11460"/>
                        </a:cubicBezTo>
                        <a:cubicBezTo>
                          <a:pt x="-3005" y="21810"/>
                          <a:pt x="1051" y="34580"/>
                          <a:pt x="11460" y="39967"/>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44" name="Google Shape;1244;p54"/>
                  <p:cNvSpPr/>
                  <p:nvPr/>
                </p:nvSpPr>
                <p:spPr>
                  <a:xfrm>
                    <a:off x="2579011" y="2122492"/>
                    <a:ext cx="42381" cy="42387"/>
                  </a:xfrm>
                  <a:custGeom>
                    <a:rect b="b" l="l" r="r" t="t"/>
                    <a:pathLst>
                      <a:path extrusionOk="0" h="42387" w="42381">
                        <a:moveTo>
                          <a:pt x="8572" y="38271"/>
                        </a:moveTo>
                        <a:cubicBezTo>
                          <a:pt x="12385" y="41056"/>
                          <a:pt x="16803" y="42387"/>
                          <a:pt x="21160" y="42387"/>
                        </a:cubicBezTo>
                        <a:cubicBezTo>
                          <a:pt x="27697" y="42387"/>
                          <a:pt x="34052" y="39421"/>
                          <a:pt x="38228" y="33793"/>
                        </a:cubicBezTo>
                        <a:cubicBezTo>
                          <a:pt x="45188" y="24412"/>
                          <a:pt x="43191" y="11097"/>
                          <a:pt x="33810" y="4197"/>
                        </a:cubicBezTo>
                        <a:cubicBezTo>
                          <a:pt x="24368" y="-2823"/>
                          <a:pt x="11114" y="-826"/>
                          <a:pt x="4153" y="8615"/>
                        </a:cubicBezTo>
                        <a:cubicBezTo>
                          <a:pt x="-2807" y="17996"/>
                          <a:pt x="-809" y="31251"/>
                          <a:pt x="8572" y="3827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45" name="Google Shape;1245;p54"/>
                  <p:cNvSpPr/>
                  <p:nvPr/>
                </p:nvSpPr>
                <p:spPr>
                  <a:xfrm>
                    <a:off x="2709543" y="2236008"/>
                    <a:ext cx="42352" cy="42351"/>
                  </a:xfrm>
                  <a:custGeom>
                    <a:rect b="b" l="l" r="r" t="t"/>
                    <a:pathLst>
                      <a:path extrusionOk="0" h="42351" w="42352">
                        <a:moveTo>
                          <a:pt x="21176" y="42352"/>
                        </a:moveTo>
                        <a:cubicBezTo>
                          <a:pt x="26563" y="42352"/>
                          <a:pt x="31889" y="40354"/>
                          <a:pt x="36005" y="36299"/>
                        </a:cubicBezTo>
                        <a:cubicBezTo>
                          <a:pt x="44357" y="28129"/>
                          <a:pt x="44478" y="14693"/>
                          <a:pt x="36307" y="6340"/>
                        </a:cubicBezTo>
                        <a:cubicBezTo>
                          <a:pt x="28076" y="-2012"/>
                          <a:pt x="14700" y="-2133"/>
                          <a:pt x="6348" y="6098"/>
                        </a:cubicBezTo>
                        <a:cubicBezTo>
                          <a:pt x="-2004" y="14269"/>
                          <a:pt x="-2125" y="27644"/>
                          <a:pt x="6046" y="36057"/>
                        </a:cubicBezTo>
                        <a:cubicBezTo>
                          <a:pt x="10222" y="40233"/>
                          <a:pt x="15669" y="42352"/>
                          <a:pt x="21176" y="42352"/>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46" name="Google Shape;1246;p54"/>
                  <p:cNvSpPr/>
                  <p:nvPr/>
                </p:nvSpPr>
                <p:spPr>
                  <a:xfrm>
                    <a:off x="2104638" y="1923315"/>
                    <a:ext cx="42358" cy="42384"/>
                  </a:xfrm>
                  <a:custGeom>
                    <a:rect b="b" l="l" r="r" t="t"/>
                    <a:pathLst>
                      <a:path extrusionOk="0" h="42384" w="42358">
                        <a:moveTo>
                          <a:pt x="17889" y="42082"/>
                        </a:moveTo>
                        <a:cubicBezTo>
                          <a:pt x="18978" y="42263"/>
                          <a:pt x="20128" y="42384"/>
                          <a:pt x="21217" y="42384"/>
                        </a:cubicBezTo>
                        <a:cubicBezTo>
                          <a:pt x="31446" y="42384"/>
                          <a:pt x="40464" y="34940"/>
                          <a:pt x="42098" y="24530"/>
                        </a:cubicBezTo>
                        <a:cubicBezTo>
                          <a:pt x="43913" y="12970"/>
                          <a:pt x="36045" y="2076"/>
                          <a:pt x="24486" y="260"/>
                        </a:cubicBezTo>
                        <a:cubicBezTo>
                          <a:pt x="12986" y="-1555"/>
                          <a:pt x="2092" y="6313"/>
                          <a:pt x="277" y="17873"/>
                        </a:cubicBezTo>
                        <a:cubicBezTo>
                          <a:pt x="-1600" y="29432"/>
                          <a:pt x="6268" y="40266"/>
                          <a:pt x="17889" y="42082"/>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47" name="Google Shape;1247;p54"/>
                  <p:cNvSpPr/>
                  <p:nvPr/>
                </p:nvSpPr>
                <p:spPr>
                  <a:xfrm>
                    <a:off x="2272689" y="1964011"/>
                    <a:ext cx="42445" cy="42359"/>
                  </a:xfrm>
                  <a:custGeom>
                    <a:rect b="b" l="l" r="r" t="t"/>
                    <a:pathLst>
                      <a:path extrusionOk="0" h="42359" w="42445">
                        <a:moveTo>
                          <a:pt x="14640" y="41331"/>
                        </a:moveTo>
                        <a:cubicBezTo>
                          <a:pt x="16819" y="42057"/>
                          <a:pt x="19058" y="42360"/>
                          <a:pt x="21237" y="42360"/>
                        </a:cubicBezTo>
                        <a:cubicBezTo>
                          <a:pt x="30134" y="42360"/>
                          <a:pt x="38426" y="36731"/>
                          <a:pt x="41391" y="27834"/>
                        </a:cubicBezTo>
                        <a:cubicBezTo>
                          <a:pt x="45023" y="16698"/>
                          <a:pt x="38970" y="4715"/>
                          <a:pt x="27834" y="1083"/>
                        </a:cubicBezTo>
                        <a:lnTo>
                          <a:pt x="27834" y="1083"/>
                        </a:lnTo>
                        <a:cubicBezTo>
                          <a:pt x="16698" y="-2609"/>
                          <a:pt x="4715" y="3444"/>
                          <a:pt x="1083" y="14580"/>
                        </a:cubicBezTo>
                        <a:cubicBezTo>
                          <a:pt x="-2609" y="25716"/>
                          <a:pt x="3444" y="37639"/>
                          <a:pt x="14580" y="4133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48" name="Google Shape;1248;p54"/>
                  <p:cNvSpPr/>
                  <p:nvPr/>
                </p:nvSpPr>
                <p:spPr>
                  <a:xfrm>
                    <a:off x="1432182" y="2031102"/>
                    <a:ext cx="42397" cy="42387"/>
                  </a:xfrm>
                  <a:custGeom>
                    <a:rect b="b" l="l" r="r" t="t"/>
                    <a:pathLst>
                      <a:path extrusionOk="0" h="42387" w="42397">
                        <a:moveTo>
                          <a:pt x="21205" y="42388"/>
                        </a:moveTo>
                        <a:cubicBezTo>
                          <a:pt x="24473" y="42388"/>
                          <a:pt x="27802" y="41601"/>
                          <a:pt x="30949" y="40027"/>
                        </a:cubicBezTo>
                        <a:cubicBezTo>
                          <a:pt x="41298" y="34641"/>
                          <a:pt x="45414" y="21870"/>
                          <a:pt x="40027" y="11460"/>
                        </a:cubicBezTo>
                        <a:cubicBezTo>
                          <a:pt x="34641" y="1050"/>
                          <a:pt x="21870" y="-3005"/>
                          <a:pt x="11460" y="2382"/>
                        </a:cubicBezTo>
                        <a:cubicBezTo>
                          <a:pt x="1050" y="7769"/>
                          <a:pt x="-3005" y="20539"/>
                          <a:pt x="2382" y="30949"/>
                        </a:cubicBezTo>
                        <a:cubicBezTo>
                          <a:pt x="6134" y="38211"/>
                          <a:pt x="13579" y="42388"/>
                          <a:pt x="21205" y="42388"/>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49" name="Google Shape;1249;p54"/>
                  <p:cNvSpPr/>
                  <p:nvPr/>
                </p:nvSpPr>
                <p:spPr>
                  <a:xfrm>
                    <a:off x="1932182" y="1909716"/>
                    <a:ext cx="42365" cy="42426"/>
                  </a:xfrm>
                  <a:custGeom>
                    <a:rect b="b" l="l" r="r" t="t"/>
                    <a:pathLst>
                      <a:path extrusionOk="0" h="42426" w="42365">
                        <a:moveTo>
                          <a:pt x="21183" y="42426"/>
                        </a:moveTo>
                        <a:cubicBezTo>
                          <a:pt x="32864" y="42426"/>
                          <a:pt x="42366" y="32924"/>
                          <a:pt x="42366" y="21183"/>
                        </a:cubicBezTo>
                        <a:cubicBezTo>
                          <a:pt x="42366" y="9442"/>
                          <a:pt x="32864" y="0"/>
                          <a:pt x="21183" y="0"/>
                        </a:cubicBezTo>
                        <a:cubicBezTo>
                          <a:pt x="9502" y="0"/>
                          <a:pt x="0" y="9442"/>
                          <a:pt x="0" y="21122"/>
                        </a:cubicBezTo>
                        <a:cubicBezTo>
                          <a:pt x="0" y="32803"/>
                          <a:pt x="9442" y="42366"/>
                          <a:pt x="21183" y="42366"/>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50" name="Google Shape;1250;p54"/>
                  <p:cNvSpPr/>
                  <p:nvPr/>
                </p:nvSpPr>
                <p:spPr>
                  <a:xfrm>
                    <a:off x="1591627" y="1964071"/>
                    <a:ext cx="42385" cy="42359"/>
                  </a:xfrm>
                  <a:custGeom>
                    <a:rect b="b" l="l" r="r" t="t"/>
                    <a:pathLst>
                      <a:path extrusionOk="0" h="42359" w="42385">
                        <a:moveTo>
                          <a:pt x="21237" y="42360"/>
                        </a:moveTo>
                        <a:cubicBezTo>
                          <a:pt x="23416" y="42360"/>
                          <a:pt x="25595" y="42057"/>
                          <a:pt x="27834" y="41331"/>
                        </a:cubicBezTo>
                        <a:cubicBezTo>
                          <a:pt x="38910" y="37699"/>
                          <a:pt x="44962" y="25716"/>
                          <a:pt x="41331" y="14580"/>
                        </a:cubicBezTo>
                        <a:cubicBezTo>
                          <a:pt x="37639" y="3444"/>
                          <a:pt x="25655" y="-2609"/>
                          <a:pt x="14580" y="1083"/>
                        </a:cubicBezTo>
                        <a:cubicBezTo>
                          <a:pt x="3444" y="4715"/>
                          <a:pt x="-2609" y="16698"/>
                          <a:pt x="1083" y="27834"/>
                        </a:cubicBezTo>
                        <a:cubicBezTo>
                          <a:pt x="3988" y="36731"/>
                          <a:pt x="12280" y="42360"/>
                          <a:pt x="21237" y="4236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51" name="Google Shape;1251;p54"/>
                  <p:cNvSpPr/>
                  <p:nvPr/>
                </p:nvSpPr>
                <p:spPr>
                  <a:xfrm>
                    <a:off x="1759720" y="1923315"/>
                    <a:ext cx="42372" cy="42384"/>
                  </a:xfrm>
                  <a:custGeom>
                    <a:rect b="b" l="l" r="r" t="t"/>
                    <a:pathLst>
                      <a:path extrusionOk="0" h="42384" w="42372">
                        <a:moveTo>
                          <a:pt x="21155" y="42384"/>
                        </a:moveTo>
                        <a:cubicBezTo>
                          <a:pt x="22305" y="42384"/>
                          <a:pt x="23395" y="42384"/>
                          <a:pt x="24545" y="42142"/>
                        </a:cubicBezTo>
                        <a:cubicBezTo>
                          <a:pt x="36104" y="40266"/>
                          <a:pt x="43972" y="29432"/>
                          <a:pt x="42096" y="17873"/>
                        </a:cubicBezTo>
                        <a:cubicBezTo>
                          <a:pt x="40281" y="6313"/>
                          <a:pt x="29447" y="-1555"/>
                          <a:pt x="17827" y="260"/>
                        </a:cubicBezTo>
                        <a:lnTo>
                          <a:pt x="17827" y="260"/>
                        </a:lnTo>
                        <a:cubicBezTo>
                          <a:pt x="6327" y="2137"/>
                          <a:pt x="-1601" y="12970"/>
                          <a:pt x="275" y="24530"/>
                        </a:cubicBezTo>
                        <a:cubicBezTo>
                          <a:pt x="1970" y="34940"/>
                          <a:pt x="10927" y="42384"/>
                          <a:pt x="21155" y="42384"/>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grpSp>
          </p:grpSp>
          <p:sp>
            <p:nvSpPr>
              <p:cNvPr id="1252" name="Google Shape;1252;p54"/>
              <p:cNvSpPr/>
              <p:nvPr/>
            </p:nvSpPr>
            <p:spPr>
              <a:xfrm>
                <a:off x="2133767" y="1781309"/>
                <a:ext cx="4590422" cy="420660"/>
              </a:xfrm>
              <a:prstGeom prst="roundRect">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 Premium Calculation &amp; Payment:</a:t>
                </a:r>
                <a:endParaRPr b="1" i="0" sz="1800" u="none" cap="none" strike="noStrike">
                  <a:solidFill>
                    <a:schemeClr val="lt1"/>
                  </a:solidFill>
                  <a:latin typeface="Arial"/>
                  <a:ea typeface="Arial"/>
                  <a:cs typeface="Arial"/>
                  <a:sym typeface="Arial"/>
                </a:endParaRPr>
              </a:p>
            </p:txBody>
          </p:sp>
        </p:grpSp>
        <p:sp>
          <p:nvSpPr>
            <p:cNvPr id="1253" name="Google Shape;1253;p54"/>
            <p:cNvSpPr txBox="1"/>
            <p:nvPr/>
          </p:nvSpPr>
          <p:spPr>
            <a:xfrm>
              <a:off x="1696720" y="2430716"/>
              <a:ext cx="9957118" cy="260374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chemeClr val="dk1"/>
                  </a:solidFill>
                  <a:latin typeface="Arial"/>
                  <a:ea typeface="Arial"/>
                  <a:cs typeface="Arial"/>
                  <a:sym typeface="Arial"/>
                </a:rPr>
                <a:t>Year-1;  Quarter-2:</a:t>
              </a:r>
              <a:endParaRPr b="0" i="0" sz="1600" u="none" cap="none" strike="noStrike">
                <a:solidFill>
                  <a:schemeClr val="dk1"/>
                </a:solidFill>
                <a:latin typeface="Arial"/>
                <a:ea typeface="Arial"/>
                <a:cs typeface="Arial"/>
                <a:sym typeface="Arial"/>
              </a:endParaRPr>
            </a:p>
            <a:p>
              <a:pPr indent="-285750" lvl="0" marL="285750" marR="0" rtl="0" algn="l">
                <a:lnSpc>
                  <a:spcPct val="12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At the beginning of Quarter-2 of Year-1, The premium for Q2 is calculated as follows:</a:t>
              </a:r>
              <a:endParaRPr b="0" i="0" sz="1600" u="none" cap="none" strike="noStrike">
                <a:solidFill>
                  <a:schemeClr val="dk1"/>
                </a:solidFill>
                <a:latin typeface="Arial"/>
                <a:ea typeface="Arial"/>
                <a:cs typeface="Arial"/>
                <a:sym typeface="Arial"/>
              </a:endParaRPr>
            </a:p>
            <a:p>
              <a:pPr indent="-285750" lvl="0" marL="285750" marR="0" rtl="0" algn="l">
                <a:lnSpc>
                  <a:spcPct val="12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Premium Payment = ($10,000,000 * 2% / 4) = $50,000</a:t>
              </a:r>
              <a:endParaRPr b="0" i="0" sz="1600" u="none" cap="none" strike="noStrike">
                <a:solidFill>
                  <a:schemeClr val="dk1"/>
                </a:solidFill>
                <a:latin typeface="Arial"/>
                <a:ea typeface="Arial"/>
                <a:cs typeface="Arial"/>
                <a:sym typeface="Arial"/>
              </a:endParaRPr>
            </a:p>
            <a:p>
              <a:pPr indent="-285750" lvl="0" marL="285750" marR="0" rtl="0" algn="l">
                <a:lnSpc>
                  <a:spcPct val="12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Party A pays $50,000 to Party B as the premium for Q2.</a:t>
              </a:r>
              <a:endParaRPr b="0" i="0" sz="1600" u="none" cap="none" strike="noStrike">
                <a:solidFill>
                  <a:schemeClr val="dk1"/>
                </a:solidFill>
                <a:latin typeface="Arial"/>
                <a:ea typeface="Arial"/>
                <a:cs typeface="Arial"/>
                <a:sym typeface="Arial"/>
              </a:endParaRPr>
            </a:p>
            <a:p>
              <a:pPr indent="-184150" lvl="0" marL="28575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1" i="0" lang="en-US" sz="1600" u="none" cap="none" strike="noStrike">
                  <a:solidFill>
                    <a:schemeClr val="dk1"/>
                  </a:solidFill>
                  <a:latin typeface="Arial"/>
                  <a:ea typeface="Arial"/>
                  <a:cs typeface="Arial"/>
                  <a:sym typeface="Arial"/>
                </a:rPr>
                <a:t>Year-1; Quarter-3:</a:t>
              </a:r>
              <a:endParaRPr b="0" i="0" sz="1600" u="none" cap="none" strike="noStrike">
                <a:solidFill>
                  <a:schemeClr val="dk1"/>
                </a:solidFill>
                <a:latin typeface="Arial"/>
                <a:ea typeface="Arial"/>
                <a:cs typeface="Arial"/>
                <a:sym typeface="Arial"/>
              </a:endParaRPr>
            </a:p>
            <a:p>
              <a:pPr indent="-285750" lvl="0" marL="285750" marR="0" rtl="0" algn="l">
                <a:lnSpc>
                  <a:spcPct val="12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At the beginning of Quarter-3 of Year-1, The premium for Q3 is calculated as follows: </a:t>
              </a:r>
              <a:endParaRPr b="0" i="0" sz="1600" u="none" cap="none" strike="noStrike">
                <a:solidFill>
                  <a:schemeClr val="dk1"/>
                </a:solidFill>
                <a:latin typeface="Arial"/>
                <a:ea typeface="Arial"/>
                <a:cs typeface="Arial"/>
                <a:sym typeface="Arial"/>
              </a:endParaRPr>
            </a:p>
            <a:p>
              <a:pPr indent="-285750" lvl="0" marL="285750" marR="0" rtl="0" algn="l">
                <a:lnSpc>
                  <a:spcPct val="12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Premium Payment = ($10,000,000 * 2% / 4) = $50,000</a:t>
              </a:r>
              <a:endParaRPr b="0" i="0" sz="1600" u="none" cap="none" strike="noStrike">
                <a:solidFill>
                  <a:schemeClr val="dk1"/>
                </a:solidFill>
                <a:latin typeface="Arial"/>
                <a:ea typeface="Arial"/>
                <a:cs typeface="Arial"/>
                <a:sym typeface="Arial"/>
              </a:endParaRPr>
            </a:p>
            <a:p>
              <a:pPr indent="-285750" lvl="0" marL="285750" marR="0" rtl="0" algn="l">
                <a:lnSpc>
                  <a:spcPct val="12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Party A pays $50,000 to Party B as the premium for Q2.</a:t>
              </a:r>
              <a:endParaRPr b="0" i="0" sz="1600" u="none" cap="none" strike="noStrike">
                <a:solidFill>
                  <a:schemeClr val="accent1"/>
                </a:solidFill>
                <a:latin typeface="Arial"/>
                <a:ea typeface="Arial"/>
                <a:cs typeface="Arial"/>
                <a:sym typeface="Arial"/>
              </a:endParaRPr>
            </a:p>
          </p:txBody>
        </p:sp>
      </p:gr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55"/>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DERIVATIVES - CREDIT DEFAULT SWAPS - EXAMPLE</a:t>
            </a:r>
            <a:endParaRPr/>
          </a:p>
        </p:txBody>
      </p:sp>
      <p:grpSp>
        <p:nvGrpSpPr>
          <p:cNvPr id="1259" name="Google Shape;1259;p55"/>
          <p:cNvGrpSpPr/>
          <p:nvPr/>
        </p:nvGrpSpPr>
        <p:grpSpPr>
          <a:xfrm>
            <a:off x="700088" y="1488376"/>
            <a:ext cx="10953750" cy="4235510"/>
            <a:chOff x="700088" y="1488376"/>
            <a:chExt cx="10953750" cy="4235510"/>
          </a:xfrm>
        </p:grpSpPr>
        <p:grpSp>
          <p:nvGrpSpPr>
            <p:cNvPr id="1260" name="Google Shape;1260;p55"/>
            <p:cNvGrpSpPr/>
            <p:nvPr/>
          </p:nvGrpSpPr>
          <p:grpSpPr>
            <a:xfrm>
              <a:off x="700088" y="1488376"/>
              <a:ext cx="5609272" cy="945567"/>
              <a:chOff x="1114917" y="1518856"/>
              <a:chExt cx="5609272" cy="945567"/>
            </a:xfrm>
          </p:grpSpPr>
          <p:grpSp>
            <p:nvGrpSpPr>
              <p:cNvPr id="1261" name="Google Shape;1261;p55"/>
              <p:cNvGrpSpPr/>
              <p:nvPr/>
            </p:nvGrpSpPr>
            <p:grpSpPr>
              <a:xfrm rot="5400000">
                <a:off x="1099092" y="1534680"/>
                <a:ext cx="945567" cy="913918"/>
                <a:chOff x="1390067" y="1192856"/>
                <a:chExt cx="829883" cy="804892"/>
              </a:xfrm>
            </p:grpSpPr>
            <p:sp>
              <p:nvSpPr>
                <p:cNvPr id="1262" name="Google Shape;1262;p55"/>
                <p:cNvSpPr/>
                <p:nvPr/>
              </p:nvSpPr>
              <p:spPr>
                <a:xfrm>
                  <a:off x="1443011" y="1436008"/>
                  <a:ext cx="699004" cy="508795"/>
                </a:xfrm>
                <a:custGeom>
                  <a:rect b="b" l="l" r="r" t="t"/>
                  <a:pathLst>
                    <a:path extrusionOk="0" h="1403461" w="1928132">
                      <a:moveTo>
                        <a:pt x="1004133" y="818207"/>
                      </a:moveTo>
                      <a:cubicBezTo>
                        <a:pt x="993057" y="829283"/>
                        <a:pt x="978592" y="834790"/>
                        <a:pt x="964127" y="834790"/>
                      </a:cubicBezTo>
                      <a:cubicBezTo>
                        <a:pt x="949662" y="834790"/>
                        <a:pt x="935137" y="829283"/>
                        <a:pt x="924122" y="818207"/>
                      </a:cubicBezTo>
                      <a:lnTo>
                        <a:pt x="105854" y="0"/>
                      </a:lnTo>
                      <a:cubicBezTo>
                        <a:pt x="38250" y="131758"/>
                        <a:pt x="0" y="281128"/>
                        <a:pt x="0" y="439395"/>
                      </a:cubicBezTo>
                      <a:cubicBezTo>
                        <a:pt x="0" y="971814"/>
                        <a:pt x="431648" y="1403462"/>
                        <a:pt x="964067" y="1403462"/>
                      </a:cubicBezTo>
                      <a:cubicBezTo>
                        <a:pt x="1496485" y="1403462"/>
                        <a:pt x="1928133" y="971814"/>
                        <a:pt x="1928133" y="439395"/>
                      </a:cubicBezTo>
                      <a:cubicBezTo>
                        <a:pt x="1928133" y="281068"/>
                        <a:pt x="1889883" y="131758"/>
                        <a:pt x="1822279" y="0"/>
                      </a:cubicBezTo>
                      <a:lnTo>
                        <a:pt x="1004133" y="818207"/>
                      </a:lnTo>
                      <a:close/>
                    </a:path>
                  </a:pathLst>
                </a:custGeom>
                <a:solidFill>
                  <a:srgbClr val="E7E7E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63" name="Google Shape;1263;p55"/>
                <p:cNvSpPr/>
                <p:nvPr/>
              </p:nvSpPr>
              <p:spPr>
                <a:xfrm>
                  <a:off x="1502998" y="1245821"/>
                  <a:ext cx="579051" cy="443257"/>
                </a:xfrm>
                <a:custGeom>
                  <a:rect b="b" l="l" r="r" t="t"/>
                  <a:pathLst>
                    <a:path extrusionOk="0" h="1222680" w="1597255">
                      <a:moveTo>
                        <a:pt x="798597" y="1222680"/>
                      </a:moveTo>
                      <a:lnTo>
                        <a:pt x="1597255" y="424083"/>
                      </a:lnTo>
                      <a:cubicBezTo>
                        <a:pt x="1423918" y="168193"/>
                        <a:pt x="1130988" y="0"/>
                        <a:pt x="798658" y="0"/>
                      </a:cubicBezTo>
                      <a:cubicBezTo>
                        <a:pt x="466328" y="0"/>
                        <a:pt x="173337" y="168193"/>
                        <a:pt x="0" y="424083"/>
                      </a:cubicBezTo>
                      <a:lnTo>
                        <a:pt x="798597" y="122268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64" name="Google Shape;1264;p55"/>
                <p:cNvSpPr/>
                <p:nvPr/>
              </p:nvSpPr>
              <p:spPr>
                <a:xfrm rot="-5400000">
                  <a:off x="1515110" y="1317899"/>
                  <a:ext cx="554806" cy="554806"/>
                </a:xfrm>
                <a:custGeom>
                  <a:rect b="b" l="l" r="r" t="t"/>
                  <a:pathLst>
                    <a:path extrusionOk="0" h="1530377" w="1530377">
                      <a:moveTo>
                        <a:pt x="1530378" y="765189"/>
                      </a:moveTo>
                      <a:cubicBezTo>
                        <a:pt x="1530378" y="1187791"/>
                        <a:pt x="1187791" y="1530378"/>
                        <a:pt x="765189" y="1530378"/>
                      </a:cubicBezTo>
                      <a:cubicBezTo>
                        <a:pt x="342587" y="1530378"/>
                        <a:pt x="0" y="1187791"/>
                        <a:pt x="0" y="765189"/>
                      </a:cubicBezTo>
                      <a:cubicBezTo>
                        <a:pt x="0" y="342587"/>
                        <a:pt x="342587" y="0"/>
                        <a:pt x="765189" y="0"/>
                      </a:cubicBezTo>
                      <a:cubicBezTo>
                        <a:pt x="1187791" y="0"/>
                        <a:pt x="1530378" y="342587"/>
                        <a:pt x="1530378" y="76518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grpSp>
              <p:nvGrpSpPr>
                <p:cNvPr id="1265" name="Google Shape;1265;p55"/>
                <p:cNvGrpSpPr/>
                <p:nvPr/>
              </p:nvGrpSpPr>
              <p:grpSpPr>
                <a:xfrm>
                  <a:off x="1390067" y="1192856"/>
                  <a:ext cx="829883" cy="804892"/>
                  <a:chOff x="843379" y="1909716"/>
                  <a:chExt cx="2289151" cy="2220215"/>
                </a:xfrm>
              </p:grpSpPr>
              <p:sp>
                <p:nvSpPr>
                  <p:cNvPr id="1266" name="Google Shape;1266;p55"/>
                  <p:cNvSpPr/>
                  <p:nvPr/>
                </p:nvSpPr>
                <p:spPr>
                  <a:xfrm>
                    <a:off x="843379" y="2368760"/>
                    <a:ext cx="2289151" cy="1761171"/>
                  </a:xfrm>
                  <a:custGeom>
                    <a:rect b="b" l="l" r="r" t="t"/>
                    <a:pathLst>
                      <a:path extrusionOk="0" h="1761171" w="2289151">
                        <a:moveTo>
                          <a:pt x="2289151" y="651064"/>
                        </a:moveTo>
                        <a:cubicBezTo>
                          <a:pt x="2289151" y="607366"/>
                          <a:pt x="2257921" y="570871"/>
                          <a:pt x="2216584" y="562700"/>
                        </a:cubicBezTo>
                        <a:cubicBezTo>
                          <a:pt x="2200849" y="363217"/>
                          <a:pt x="2131732" y="172147"/>
                          <a:pt x="2015830" y="9038"/>
                        </a:cubicBezTo>
                        <a:cubicBezTo>
                          <a:pt x="2015407" y="8433"/>
                          <a:pt x="2014862" y="7888"/>
                          <a:pt x="2014317" y="7344"/>
                        </a:cubicBezTo>
                        <a:cubicBezTo>
                          <a:pt x="2014015" y="7041"/>
                          <a:pt x="2013833" y="6617"/>
                          <a:pt x="2013531" y="6315"/>
                        </a:cubicBezTo>
                        <a:cubicBezTo>
                          <a:pt x="2013470" y="6254"/>
                          <a:pt x="2013349" y="6194"/>
                          <a:pt x="2013288" y="6133"/>
                        </a:cubicBezTo>
                        <a:cubicBezTo>
                          <a:pt x="2006268" y="-706"/>
                          <a:pt x="1995253" y="-1856"/>
                          <a:pt x="1986840" y="3712"/>
                        </a:cubicBezTo>
                        <a:lnTo>
                          <a:pt x="1986840" y="3712"/>
                        </a:lnTo>
                        <a:cubicBezTo>
                          <a:pt x="1986840" y="3712"/>
                          <a:pt x="1986477" y="3894"/>
                          <a:pt x="1986356" y="4015"/>
                        </a:cubicBezTo>
                        <a:cubicBezTo>
                          <a:pt x="1985751" y="4439"/>
                          <a:pt x="1985266" y="4983"/>
                          <a:pt x="1984722" y="5407"/>
                        </a:cubicBezTo>
                        <a:cubicBezTo>
                          <a:pt x="1984359" y="5710"/>
                          <a:pt x="1983935" y="5952"/>
                          <a:pt x="1983632" y="6254"/>
                        </a:cubicBezTo>
                        <a:cubicBezTo>
                          <a:pt x="1983572" y="6315"/>
                          <a:pt x="1983511" y="6436"/>
                          <a:pt x="1983390" y="6557"/>
                        </a:cubicBezTo>
                        <a:cubicBezTo>
                          <a:pt x="1982846" y="7102"/>
                          <a:pt x="1982422" y="7767"/>
                          <a:pt x="1981938" y="8373"/>
                        </a:cubicBezTo>
                        <a:cubicBezTo>
                          <a:pt x="1981575" y="8857"/>
                          <a:pt x="1981211" y="9280"/>
                          <a:pt x="1980848" y="9765"/>
                        </a:cubicBezTo>
                        <a:cubicBezTo>
                          <a:pt x="1980364" y="10491"/>
                          <a:pt x="1980062" y="11217"/>
                          <a:pt x="1979638" y="12004"/>
                        </a:cubicBezTo>
                        <a:cubicBezTo>
                          <a:pt x="1979396" y="12488"/>
                          <a:pt x="1979154" y="12972"/>
                          <a:pt x="1978912" y="13456"/>
                        </a:cubicBezTo>
                        <a:cubicBezTo>
                          <a:pt x="1978669" y="14122"/>
                          <a:pt x="1978488" y="14788"/>
                          <a:pt x="1978306" y="15514"/>
                        </a:cubicBezTo>
                        <a:cubicBezTo>
                          <a:pt x="1978125" y="16180"/>
                          <a:pt x="1977883" y="16846"/>
                          <a:pt x="1977762" y="17511"/>
                        </a:cubicBezTo>
                        <a:cubicBezTo>
                          <a:pt x="1977701" y="17996"/>
                          <a:pt x="1977641" y="18419"/>
                          <a:pt x="1977641" y="18904"/>
                        </a:cubicBezTo>
                        <a:cubicBezTo>
                          <a:pt x="1977520" y="19690"/>
                          <a:pt x="1977399" y="20477"/>
                          <a:pt x="1977399" y="21264"/>
                        </a:cubicBezTo>
                        <a:cubicBezTo>
                          <a:pt x="1977399" y="21385"/>
                          <a:pt x="1977399" y="21506"/>
                          <a:pt x="1977399" y="21688"/>
                        </a:cubicBezTo>
                        <a:cubicBezTo>
                          <a:pt x="1977399" y="21990"/>
                          <a:pt x="1977459" y="22293"/>
                          <a:pt x="1977520" y="22595"/>
                        </a:cubicBezTo>
                        <a:cubicBezTo>
                          <a:pt x="1977580" y="23624"/>
                          <a:pt x="1977701" y="24653"/>
                          <a:pt x="1977883" y="25682"/>
                        </a:cubicBezTo>
                        <a:cubicBezTo>
                          <a:pt x="1978004" y="26166"/>
                          <a:pt x="1978185" y="26711"/>
                          <a:pt x="1978367" y="27195"/>
                        </a:cubicBezTo>
                        <a:cubicBezTo>
                          <a:pt x="1978609" y="27982"/>
                          <a:pt x="1978791" y="28769"/>
                          <a:pt x="1979154" y="29556"/>
                        </a:cubicBezTo>
                        <a:cubicBezTo>
                          <a:pt x="1979396" y="30161"/>
                          <a:pt x="1979759" y="30705"/>
                          <a:pt x="1980122" y="31311"/>
                        </a:cubicBezTo>
                        <a:cubicBezTo>
                          <a:pt x="1980485" y="31976"/>
                          <a:pt x="1980788" y="32642"/>
                          <a:pt x="1981211" y="33247"/>
                        </a:cubicBezTo>
                        <a:cubicBezTo>
                          <a:pt x="1981272" y="33368"/>
                          <a:pt x="1981332" y="33429"/>
                          <a:pt x="1981393" y="33550"/>
                        </a:cubicBezTo>
                        <a:cubicBezTo>
                          <a:pt x="2092573" y="190001"/>
                          <a:pt x="2158967" y="373204"/>
                          <a:pt x="2174340" y="564516"/>
                        </a:cubicBezTo>
                        <a:cubicBezTo>
                          <a:pt x="2136694" y="575350"/>
                          <a:pt x="2109036" y="610029"/>
                          <a:pt x="2109036" y="651064"/>
                        </a:cubicBezTo>
                        <a:cubicBezTo>
                          <a:pt x="2109036" y="692098"/>
                          <a:pt x="2136755" y="726898"/>
                          <a:pt x="2174461" y="737672"/>
                        </a:cubicBezTo>
                        <a:cubicBezTo>
                          <a:pt x="2130218" y="1289397"/>
                          <a:pt x="1666433" y="1718806"/>
                          <a:pt x="1110229" y="1718806"/>
                        </a:cubicBezTo>
                        <a:cubicBezTo>
                          <a:pt x="521464" y="1718806"/>
                          <a:pt x="42487" y="1239829"/>
                          <a:pt x="42487" y="651064"/>
                        </a:cubicBezTo>
                        <a:cubicBezTo>
                          <a:pt x="42487" y="428219"/>
                          <a:pt x="110454" y="214695"/>
                          <a:pt x="239065" y="33550"/>
                        </a:cubicBezTo>
                        <a:cubicBezTo>
                          <a:pt x="239125" y="33489"/>
                          <a:pt x="239186" y="33368"/>
                          <a:pt x="239246" y="33247"/>
                        </a:cubicBezTo>
                        <a:cubicBezTo>
                          <a:pt x="239731" y="32582"/>
                          <a:pt x="240033" y="31855"/>
                          <a:pt x="240457" y="31129"/>
                        </a:cubicBezTo>
                        <a:cubicBezTo>
                          <a:pt x="240759" y="30584"/>
                          <a:pt x="241062" y="30100"/>
                          <a:pt x="241304" y="29556"/>
                        </a:cubicBezTo>
                        <a:cubicBezTo>
                          <a:pt x="241667" y="28708"/>
                          <a:pt x="241909" y="27800"/>
                          <a:pt x="242212" y="26893"/>
                        </a:cubicBezTo>
                        <a:cubicBezTo>
                          <a:pt x="242333" y="26529"/>
                          <a:pt x="242515" y="26106"/>
                          <a:pt x="242575" y="25743"/>
                        </a:cubicBezTo>
                        <a:cubicBezTo>
                          <a:pt x="242817" y="24593"/>
                          <a:pt x="242938" y="23443"/>
                          <a:pt x="242999" y="22293"/>
                        </a:cubicBezTo>
                        <a:cubicBezTo>
                          <a:pt x="242999" y="22111"/>
                          <a:pt x="242999" y="21869"/>
                          <a:pt x="243059" y="21688"/>
                        </a:cubicBezTo>
                        <a:cubicBezTo>
                          <a:pt x="243059" y="21567"/>
                          <a:pt x="243059" y="21385"/>
                          <a:pt x="243059" y="21264"/>
                        </a:cubicBezTo>
                        <a:cubicBezTo>
                          <a:pt x="243059" y="20417"/>
                          <a:pt x="242938" y="19569"/>
                          <a:pt x="242817" y="18722"/>
                        </a:cubicBezTo>
                        <a:cubicBezTo>
                          <a:pt x="242817" y="18298"/>
                          <a:pt x="242817" y="17875"/>
                          <a:pt x="242696" y="17451"/>
                        </a:cubicBezTo>
                        <a:cubicBezTo>
                          <a:pt x="242696" y="17330"/>
                          <a:pt x="242696" y="17148"/>
                          <a:pt x="242696" y="17027"/>
                        </a:cubicBezTo>
                        <a:cubicBezTo>
                          <a:pt x="242575" y="16362"/>
                          <a:pt x="242272" y="15756"/>
                          <a:pt x="242091" y="15091"/>
                        </a:cubicBezTo>
                        <a:cubicBezTo>
                          <a:pt x="241909" y="14546"/>
                          <a:pt x="241788" y="13941"/>
                          <a:pt x="241607" y="13396"/>
                        </a:cubicBezTo>
                        <a:cubicBezTo>
                          <a:pt x="241607" y="13275"/>
                          <a:pt x="241607" y="13154"/>
                          <a:pt x="241486" y="13033"/>
                        </a:cubicBezTo>
                        <a:cubicBezTo>
                          <a:pt x="241244" y="12549"/>
                          <a:pt x="240941" y="12064"/>
                          <a:pt x="240699" y="11580"/>
                        </a:cubicBezTo>
                        <a:cubicBezTo>
                          <a:pt x="240396" y="10915"/>
                          <a:pt x="240094" y="10249"/>
                          <a:pt x="239670" y="9644"/>
                        </a:cubicBezTo>
                        <a:cubicBezTo>
                          <a:pt x="239670" y="9583"/>
                          <a:pt x="239609" y="9462"/>
                          <a:pt x="239549" y="9401"/>
                        </a:cubicBezTo>
                        <a:cubicBezTo>
                          <a:pt x="239246" y="8978"/>
                          <a:pt x="238883" y="8615"/>
                          <a:pt x="238581" y="8252"/>
                        </a:cubicBezTo>
                        <a:cubicBezTo>
                          <a:pt x="238096" y="7646"/>
                          <a:pt x="237673" y="6981"/>
                          <a:pt x="237068" y="6436"/>
                        </a:cubicBezTo>
                        <a:cubicBezTo>
                          <a:pt x="237007" y="6375"/>
                          <a:pt x="236946" y="6254"/>
                          <a:pt x="236825" y="6133"/>
                        </a:cubicBezTo>
                        <a:cubicBezTo>
                          <a:pt x="236402" y="5710"/>
                          <a:pt x="235918" y="5407"/>
                          <a:pt x="235494" y="5044"/>
                        </a:cubicBezTo>
                        <a:cubicBezTo>
                          <a:pt x="235010" y="4620"/>
                          <a:pt x="234586" y="4197"/>
                          <a:pt x="234102" y="3833"/>
                        </a:cubicBezTo>
                        <a:cubicBezTo>
                          <a:pt x="233981" y="3773"/>
                          <a:pt x="233860" y="3712"/>
                          <a:pt x="233739" y="3652"/>
                        </a:cubicBezTo>
                        <a:cubicBezTo>
                          <a:pt x="233739" y="3652"/>
                          <a:pt x="233678" y="3591"/>
                          <a:pt x="233618" y="3531"/>
                        </a:cubicBezTo>
                        <a:cubicBezTo>
                          <a:pt x="233376" y="3349"/>
                          <a:pt x="233073" y="3289"/>
                          <a:pt x="232831" y="3107"/>
                        </a:cubicBezTo>
                        <a:cubicBezTo>
                          <a:pt x="229200" y="868"/>
                          <a:pt x="225084" y="-161"/>
                          <a:pt x="221090" y="20"/>
                        </a:cubicBezTo>
                        <a:cubicBezTo>
                          <a:pt x="220847" y="20"/>
                          <a:pt x="220605" y="20"/>
                          <a:pt x="220363" y="20"/>
                        </a:cubicBezTo>
                        <a:cubicBezTo>
                          <a:pt x="218911" y="141"/>
                          <a:pt x="217458" y="384"/>
                          <a:pt x="216066" y="747"/>
                        </a:cubicBezTo>
                        <a:cubicBezTo>
                          <a:pt x="215885" y="747"/>
                          <a:pt x="215642" y="868"/>
                          <a:pt x="215461" y="928"/>
                        </a:cubicBezTo>
                        <a:cubicBezTo>
                          <a:pt x="212374" y="1897"/>
                          <a:pt x="209469" y="3531"/>
                          <a:pt x="207109" y="5891"/>
                        </a:cubicBezTo>
                        <a:cubicBezTo>
                          <a:pt x="207048" y="5952"/>
                          <a:pt x="206927" y="6012"/>
                          <a:pt x="206867" y="6073"/>
                        </a:cubicBezTo>
                        <a:cubicBezTo>
                          <a:pt x="206564" y="6375"/>
                          <a:pt x="206382" y="6738"/>
                          <a:pt x="206080" y="7041"/>
                        </a:cubicBezTo>
                        <a:cubicBezTo>
                          <a:pt x="205535" y="7646"/>
                          <a:pt x="204990" y="8130"/>
                          <a:pt x="204567" y="8796"/>
                        </a:cubicBezTo>
                        <a:cubicBezTo>
                          <a:pt x="70691" y="197385"/>
                          <a:pt x="0" y="419443"/>
                          <a:pt x="0" y="651064"/>
                        </a:cubicBezTo>
                        <a:cubicBezTo>
                          <a:pt x="0" y="1263190"/>
                          <a:pt x="497981" y="1761172"/>
                          <a:pt x="1110108" y="1761172"/>
                        </a:cubicBezTo>
                        <a:cubicBezTo>
                          <a:pt x="1688887" y="1761172"/>
                          <a:pt x="2171434" y="1313848"/>
                          <a:pt x="2216645" y="739427"/>
                        </a:cubicBezTo>
                        <a:cubicBezTo>
                          <a:pt x="2257921" y="731196"/>
                          <a:pt x="2289151" y="694700"/>
                          <a:pt x="2289151" y="651064"/>
                        </a:cubicBezTo>
                        <a:close/>
                        <a:moveTo>
                          <a:pt x="2199033" y="698816"/>
                        </a:moveTo>
                        <a:cubicBezTo>
                          <a:pt x="2172705" y="698816"/>
                          <a:pt x="2151280" y="677391"/>
                          <a:pt x="2151280" y="651064"/>
                        </a:cubicBezTo>
                        <a:cubicBezTo>
                          <a:pt x="2151280" y="624736"/>
                          <a:pt x="2172705" y="603311"/>
                          <a:pt x="2199033" y="603311"/>
                        </a:cubicBezTo>
                        <a:cubicBezTo>
                          <a:pt x="2225360" y="603311"/>
                          <a:pt x="2246785" y="624736"/>
                          <a:pt x="2246785" y="651064"/>
                        </a:cubicBezTo>
                        <a:cubicBezTo>
                          <a:pt x="2246785" y="677391"/>
                          <a:pt x="2225360" y="698816"/>
                          <a:pt x="2199033" y="698816"/>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67" name="Google Shape;1267;p55"/>
                  <p:cNvSpPr/>
                  <p:nvPr/>
                </p:nvSpPr>
                <p:spPr>
                  <a:xfrm>
                    <a:off x="3017839" y="2995251"/>
                    <a:ext cx="49144" cy="49144"/>
                  </a:xfrm>
                  <a:custGeom>
                    <a:rect b="b" l="l" r="r" t="t"/>
                    <a:pathLst>
                      <a:path extrusionOk="0" h="49144" w="49144">
                        <a:moveTo>
                          <a:pt x="49144" y="24572"/>
                        </a:moveTo>
                        <a:cubicBezTo>
                          <a:pt x="49144" y="38143"/>
                          <a:pt x="38143" y="49144"/>
                          <a:pt x="24572" y="49144"/>
                        </a:cubicBezTo>
                        <a:cubicBezTo>
                          <a:pt x="11001" y="49144"/>
                          <a:pt x="0" y="38143"/>
                          <a:pt x="0" y="24572"/>
                        </a:cubicBezTo>
                        <a:cubicBezTo>
                          <a:pt x="0" y="11001"/>
                          <a:pt x="11001" y="0"/>
                          <a:pt x="24572" y="0"/>
                        </a:cubicBezTo>
                        <a:cubicBezTo>
                          <a:pt x="38143" y="0"/>
                          <a:pt x="49144" y="11001"/>
                          <a:pt x="49144" y="24572"/>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68" name="Google Shape;1268;p55"/>
                  <p:cNvSpPr/>
                  <p:nvPr/>
                </p:nvSpPr>
                <p:spPr>
                  <a:xfrm>
                    <a:off x="1285342" y="2122661"/>
                    <a:ext cx="42377" cy="42399"/>
                  </a:xfrm>
                  <a:custGeom>
                    <a:rect b="b" l="l" r="r" t="t"/>
                    <a:pathLst>
                      <a:path extrusionOk="0" h="42399" w="42377">
                        <a:moveTo>
                          <a:pt x="21217" y="42400"/>
                        </a:moveTo>
                        <a:cubicBezTo>
                          <a:pt x="25575" y="42400"/>
                          <a:pt x="29993" y="41008"/>
                          <a:pt x="33806" y="38224"/>
                        </a:cubicBezTo>
                        <a:cubicBezTo>
                          <a:pt x="43187" y="31264"/>
                          <a:pt x="45184" y="18009"/>
                          <a:pt x="38224" y="8628"/>
                        </a:cubicBezTo>
                        <a:cubicBezTo>
                          <a:pt x="31264" y="-813"/>
                          <a:pt x="18009" y="-2811"/>
                          <a:pt x="8628" y="4150"/>
                        </a:cubicBezTo>
                        <a:cubicBezTo>
                          <a:pt x="-813" y="11110"/>
                          <a:pt x="-2811" y="24364"/>
                          <a:pt x="4150" y="33806"/>
                        </a:cubicBezTo>
                        <a:cubicBezTo>
                          <a:pt x="8326" y="39434"/>
                          <a:pt x="14741" y="42400"/>
                          <a:pt x="21217" y="4240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69" name="Google Shape;1269;p55"/>
                  <p:cNvSpPr/>
                  <p:nvPr/>
                </p:nvSpPr>
                <p:spPr>
                  <a:xfrm>
                    <a:off x="1154926" y="2236219"/>
                    <a:ext cx="42375" cy="42382"/>
                  </a:xfrm>
                  <a:custGeom>
                    <a:rect b="b" l="l" r="r" t="t"/>
                    <a:pathLst>
                      <a:path extrusionOk="0" h="42382" w="42375">
                        <a:moveTo>
                          <a:pt x="21146" y="42382"/>
                        </a:moveTo>
                        <a:cubicBezTo>
                          <a:pt x="26593" y="42382"/>
                          <a:pt x="32101" y="40264"/>
                          <a:pt x="36277" y="36027"/>
                        </a:cubicBezTo>
                        <a:lnTo>
                          <a:pt x="36277" y="36027"/>
                        </a:lnTo>
                        <a:cubicBezTo>
                          <a:pt x="44508" y="27675"/>
                          <a:pt x="44387" y="14239"/>
                          <a:pt x="36035" y="6069"/>
                        </a:cubicBezTo>
                        <a:cubicBezTo>
                          <a:pt x="27683" y="-2162"/>
                          <a:pt x="14247" y="-1981"/>
                          <a:pt x="6076" y="6371"/>
                        </a:cubicBezTo>
                        <a:lnTo>
                          <a:pt x="6076" y="6371"/>
                        </a:lnTo>
                        <a:cubicBezTo>
                          <a:pt x="-2155" y="14723"/>
                          <a:pt x="-1974" y="28099"/>
                          <a:pt x="6318" y="36330"/>
                        </a:cubicBezTo>
                        <a:cubicBezTo>
                          <a:pt x="10494" y="40325"/>
                          <a:pt x="15820" y="42382"/>
                          <a:pt x="21207" y="42382"/>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70" name="Google Shape;1270;p55"/>
                  <p:cNvSpPr/>
                  <p:nvPr/>
                </p:nvSpPr>
                <p:spPr>
                  <a:xfrm>
                    <a:off x="2432199" y="2031042"/>
                    <a:ext cx="42409" cy="42387"/>
                  </a:xfrm>
                  <a:custGeom>
                    <a:rect b="b" l="l" r="r" t="t"/>
                    <a:pathLst>
                      <a:path extrusionOk="0" h="42387" w="42409">
                        <a:moveTo>
                          <a:pt x="11460" y="39967"/>
                        </a:moveTo>
                        <a:cubicBezTo>
                          <a:pt x="14608" y="41601"/>
                          <a:pt x="17936" y="42388"/>
                          <a:pt x="21205" y="42388"/>
                        </a:cubicBezTo>
                        <a:cubicBezTo>
                          <a:pt x="28830" y="42388"/>
                          <a:pt x="36275" y="38211"/>
                          <a:pt x="40027" y="30949"/>
                        </a:cubicBezTo>
                        <a:cubicBezTo>
                          <a:pt x="45414" y="20539"/>
                          <a:pt x="41359" y="7708"/>
                          <a:pt x="30949" y="2382"/>
                        </a:cubicBezTo>
                        <a:cubicBezTo>
                          <a:pt x="20539" y="-3005"/>
                          <a:pt x="7768" y="1050"/>
                          <a:pt x="2382" y="11460"/>
                        </a:cubicBezTo>
                        <a:cubicBezTo>
                          <a:pt x="-3005" y="21810"/>
                          <a:pt x="1051" y="34580"/>
                          <a:pt x="11460" y="39967"/>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71" name="Google Shape;1271;p55"/>
                  <p:cNvSpPr/>
                  <p:nvPr/>
                </p:nvSpPr>
                <p:spPr>
                  <a:xfrm>
                    <a:off x="2579011" y="2122492"/>
                    <a:ext cx="42381" cy="42387"/>
                  </a:xfrm>
                  <a:custGeom>
                    <a:rect b="b" l="l" r="r" t="t"/>
                    <a:pathLst>
                      <a:path extrusionOk="0" h="42387" w="42381">
                        <a:moveTo>
                          <a:pt x="8572" y="38271"/>
                        </a:moveTo>
                        <a:cubicBezTo>
                          <a:pt x="12385" y="41056"/>
                          <a:pt x="16803" y="42387"/>
                          <a:pt x="21160" y="42387"/>
                        </a:cubicBezTo>
                        <a:cubicBezTo>
                          <a:pt x="27697" y="42387"/>
                          <a:pt x="34052" y="39421"/>
                          <a:pt x="38228" y="33793"/>
                        </a:cubicBezTo>
                        <a:cubicBezTo>
                          <a:pt x="45188" y="24412"/>
                          <a:pt x="43191" y="11097"/>
                          <a:pt x="33810" y="4197"/>
                        </a:cubicBezTo>
                        <a:cubicBezTo>
                          <a:pt x="24368" y="-2823"/>
                          <a:pt x="11114" y="-826"/>
                          <a:pt x="4153" y="8615"/>
                        </a:cubicBezTo>
                        <a:cubicBezTo>
                          <a:pt x="-2807" y="17996"/>
                          <a:pt x="-809" y="31251"/>
                          <a:pt x="8572" y="3827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72" name="Google Shape;1272;p55"/>
                  <p:cNvSpPr/>
                  <p:nvPr/>
                </p:nvSpPr>
                <p:spPr>
                  <a:xfrm>
                    <a:off x="2709543" y="2236008"/>
                    <a:ext cx="42352" cy="42351"/>
                  </a:xfrm>
                  <a:custGeom>
                    <a:rect b="b" l="l" r="r" t="t"/>
                    <a:pathLst>
                      <a:path extrusionOk="0" h="42351" w="42352">
                        <a:moveTo>
                          <a:pt x="21176" y="42352"/>
                        </a:moveTo>
                        <a:cubicBezTo>
                          <a:pt x="26563" y="42352"/>
                          <a:pt x="31889" y="40354"/>
                          <a:pt x="36005" y="36299"/>
                        </a:cubicBezTo>
                        <a:cubicBezTo>
                          <a:pt x="44357" y="28129"/>
                          <a:pt x="44478" y="14693"/>
                          <a:pt x="36307" y="6340"/>
                        </a:cubicBezTo>
                        <a:cubicBezTo>
                          <a:pt x="28076" y="-2012"/>
                          <a:pt x="14700" y="-2133"/>
                          <a:pt x="6348" y="6098"/>
                        </a:cubicBezTo>
                        <a:cubicBezTo>
                          <a:pt x="-2004" y="14269"/>
                          <a:pt x="-2125" y="27644"/>
                          <a:pt x="6046" y="36057"/>
                        </a:cubicBezTo>
                        <a:cubicBezTo>
                          <a:pt x="10222" y="40233"/>
                          <a:pt x="15669" y="42352"/>
                          <a:pt x="21176" y="42352"/>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73" name="Google Shape;1273;p55"/>
                  <p:cNvSpPr/>
                  <p:nvPr/>
                </p:nvSpPr>
                <p:spPr>
                  <a:xfrm>
                    <a:off x="2104638" y="1923315"/>
                    <a:ext cx="42358" cy="42384"/>
                  </a:xfrm>
                  <a:custGeom>
                    <a:rect b="b" l="l" r="r" t="t"/>
                    <a:pathLst>
                      <a:path extrusionOk="0" h="42384" w="42358">
                        <a:moveTo>
                          <a:pt x="17889" y="42082"/>
                        </a:moveTo>
                        <a:cubicBezTo>
                          <a:pt x="18978" y="42263"/>
                          <a:pt x="20128" y="42384"/>
                          <a:pt x="21217" y="42384"/>
                        </a:cubicBezTo>
                        <a:cubicBezTo>
                          <a:pt x="31446" y="42384"/>
                          <a:pt x="40464" y="34940"/>
                          <a:pt x="42098" y="24530"/>
                        </a:cubicBezTo>
                        <a:cubicBezTo>
                          <a:pt x="43913" y="12970"/>
                          <a:pt x="36045" y="2076"/>
                          <a:pt x="24486" y="260"/>
                        </a:cubicBezTo>
                        <a:cubicBezTo>
                          <a:pt x="12986" y="-1555"/>
                          <a:pt x="2092" y="6313"/>
                          <a:pt x="277" y="17873"/>
                        </a:cubicBezTo>
                        <a:cubicBezTo>
                          <a:pt x="-1600" y="29432"/>
                          <a:pt x="6268" y="40266"/>
                          <a:pt x="17889" y="42082"/>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74" name="Google Shape;1274;p55"/>
                  <p:cNvSpPr/>
                  <p:nvPr/>
                </p:nvSpPr>
                <p:spPr>
                  <a:xfrm>
                    <a:off x="2272689" y="1964011"/>
                    <a:ext cx="42445" cy="42359"/>
                  </a:xfrm>
                  <a:custGeom>
                    <a:rect b="b" l="l" r="r" t="t"/>
                    <a:pathLst>
                      <a:path extrusionOk="0" h="42359" w="42445">
                        <a:moveTo>
                          <a:pt x="14640" y="41331"/>
                        </a:moveTo>
                        <a:cubicBezTo>
                          <a:pt x="16819" y="42057"/>
                          <a:pt x="19058" y="42360"/>
                          <a:pt x="21237" y="42360"/>
                        </a:cubicBezTo>
                        <a:cubicBezTo>
                          <a:pt x="30134" y="42360"/>
                          <a:pt x="38426" y="36731"/>
                          <a:pt x="41391" y="27834"/>
                        </a:cubicBezTo>
                        <a:cubicBezTo>
                          <a:pt x="45023" y="16698"/>
                          <a:pt x="38970" y="4715"/>
                          <a:pt x="27834" y="1083"/>
                        </a:cubicBezTo>
                        <a:lnTo>
                          <a:pt x="27834" y="1083"/>
                        </a:lnTo>
                        <a:cubicBezTo>
                          <a:pt x="16698" y="-2609"/>
                          <a:pt x="4715" y="3444"/>
                          <a:pt x="1083" y="14580"/>
                        </a:cubicBezTo>
                        <a:cubicBezTo>
                          <a:pt x="-2609" y="25716"/>
                          <a:pt x="3444" y="37639"/>
                          <a:pt x="14580" y="4133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75" name="Google Shape;1275;p55"/>
                  <p:cNvSpPr/>
                  <p:nvPr/>
                </p:nvSpPr>
                <p:spPr>
                  <a:xfrm>
                    <a:off x="1432182" y="2031102"/>
                    <a:ext cx="42397" cy="42387"/>
                  </a:xfrm>
                  <a:custGeom>
                    <a:rect b="b" l="l" r="r" t="t"/>
                    <a:pathLst>
                      <a:path extrusionOk="0" h="42387" w="42397">
                        <a:moveTo>
                          <a:pt x="21205" y="42388"/>
                        </a:moveTo>
                        <a:cubicBezTo>
                          <a:pt x="24473" y="42388"/>
                          <a:pt x="27802" y="41601"/>
                          <a:pt x="30949" y="40027"/>
                        </a:cubicBezTo>
                        <a:cubicBezTo>
                          <a:pt x="41298" y="34641"/>
                          <a:pt x="45414" y="21870"/>
                          <a:pt x="40027" y="11460"/>
                        </a:cubicBezTo>
                        <a:cubicBezTo>
                          <a:pt x="34641" y="1050"/>
                          <a:pt x="21870" y="-3005"/>
                          <a:pt x="11460" y="2382"/>
                        </a:cubicBezTo>
                        <a:cubicBezTo>
                          <a:pt x="1050" y="7769"/>
                          <a:pt x="-3005" y="20539"/>
                          <a:pt x="2382" y="30949"/>
                        </a:cubicBezTo>
                        <a:cubicBezTo>
                          <a:pt x="6134" y="38211"/>
                          <a:pt x="13579" y="42388"/>
                          <a:pt x="21205" y="42388"/>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76" name="Google Shape;1276;p55"/>
                  <p:cNvSpPr/>
                  <p:nvPr/>
                </p:nvSpPr>
                <p:spPr>
                  <a:xfrm>
                    <a:off x="1932182" y="1909716"/>
                    <a:ext cx="42365" cy="42426"/>
                  </a:xfrm>
                  <a:custGeom>
                    <a:rect b="b" l="l" r="r" t="t"/>
                    <a:pathLst>
                      <a:path extrusionOk="0" h="42426" w="42365">
                        <a:moveTo>
                          <a:pt x="21183" y="42426"/>
                        </a:moveTo>
                        <a:cubicBezTo>
                          <a:pt x="32864" y="42426"/>
                          <a:pt x="42366" y="32924"/>
                          <a:pt x="42366" y="21183"/>
                        </a:cubicBezTo>
                        <a:cubicBezTo>
                          <a:pt x="42366" y="9442"/>
                          <a:pt x="32864" y="0"/>
                          <a:pt x="21183" y="0"/>
                        </a:cubicBezTo>
                        <a:cubicBezTo>
                          <a:pt x="9502" y="0"/>
                          <a:pt x="0" y="9442"/>
                          <a:pt x="0" y="21122"/>
                        </a:cubicBezTo>
                        <a:cubicBezTo>
                          <a:pt x="0" y="32803"/>
                          <a:pt x="9442" y="42366"/>
                          <a:pt x="21183" y="42366"/>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77" name="Google Shape;1277;p55"/>
                  <p:cNvSpPr/>
                  <p:nvPr/>
                </p:nvSpPr>
                <p:spPr>
                  <a:xfrm>
                    <a:off x="1591627" y="1964071"/>
                    <a:ext cx="42385" cy="42359"/>
                  </a:xfrm>
                  <a:custGeom>
                    <a:rect b="b" l="l" r="r" t="t"/>
                    <a:pathLst>
                      <a:path extrusionOk="0" h="42359" w="42385">
                        <a:moveTo>
                          <a:pt x="21237" y="42360"/>
                        </a:moveTo>
                        <a:cubicBezTo>
                          <a:pt x="23416" y="42360"/>
                          <a:pt x="25595" y="42057"/>
                          <a:pt x="27834" y="41331"/>
                        </a:cubicBezTo>
                        <a:cubicBezTo>
                          <a:pt x="38910" y="37699"/>
                          <a:pt x="44962" y="25716"/>
                          <a:pt x="41331" y="14580"/>
                        </a:cubicBezTo>
                        <a:cubicBezTo>
                          <a:pt x="37639" y="3444"/>
                          <a:pt x="25655" y="-2609"/>
                          <a:pt x="14580" y="1083"/>
                        </a:cubicBezTo>
                        <a:cubicBezTo>
                          <a:pt x="3444" y="4715"/>
                          <a:pt x="-2609" y="16698"/>
                          <a:pt x="1083" y="27834"/>
                        </a:cubicBezTo>
                        <a:cubicBezTo>
                          <a:pt x="3988" y="36731"/>
                          <a:pt x="12280" y="42360"/>
                          <a:pt x="21237" y="4236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78" name="Google Shape;1278;p55"/>
                  <p:cNvSpPr/>
                  <p:nvPr/>
                </p:nvSpPr>
                <p:spPr>
                  <a:xfrm>
                    <a:off x="1759720" y="1923315"/>
                    <a:ext cx="42372" cy="42384"/>
                  </a:xfrm>
                  <a:custGeom>
                    <a:rect b="b" l="l" r="r" t="t"/>
                    <a:pathLst>
                      <a:path extrusionOk="0" h="42384" w="42372">
                        <a:moveTo>
                          <a:pt x="21155" y="42384"/>
                        </a:moveTo>
                        <a:cubicBezTo>
                          <a:pt x="22305" y="42384"/>
                          <a:pt x="23395" y="42384"/>
                          <a:pt x="24545" y="42142"/>
                        </a:cubicBezTo>
                        <a:cubicBezTo>
                          <a:pt x="36104" y="40266"/>
                          <a:pt x="43972" y="29432"/>
                          <a:pt x="42096" y="17873"/>
                        </a:cubicBezTo>
                        <a:cubicBezTo>
                          <a:pt x="40281" y="6313"/>
                          <a:pt x="29447" y="-1555"/>
                          <a:pt x="17827" y="260"/>
                        </a:cubicBezTo>
                        <a:lnTo>
                          <a:pt x="17827" y="260"/>
                        </a:lnTo>
                        <a:cubicBezTo>
                          <a:pt x="6327" y="2137"/>
                          <a:pt x="-1601" y="12970"/>
                          <a:pt x="275" y="24530"/>
                        </a:cubicBezTo>
                        <a:cubicBezTo>
                          <a:pt x="1970" y="34940"/>
                          <a:pt x="10927" y="42384"/>
                          <a:pt x="21155" y="42384"/>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grpSp>
          </p:grpSp>
          <p:sp>
            <p:nvSpPr>
              <p:cNvPr id="1279" name="Google Shape;1279;p55"/>
              <p:cNvSpPr/>
              <p:nvPr/>
            </p:nvSpPr>
            <p:spPr>
              <a:xfrm>
                <a:off x="2133767" y="1781309"/>
                <a:ext cx="4590422" cy="420660"/>
              </a:xfrm>
              <a:prstGeom prst="roundRect">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 Credit Event Occurrence: </a:t>
                </a:r>
                <a:endParaRPr b="1" i="0" sz="1800" u="none" cap="none" strike="noStrike">
                  <a:solidFill>
                    <a:schemeClr val="lt1"/>
                  </a:solidFill>
                  <a:latin typeface="Arial"/>
                  <a:ea typeface="Arial"/>
                  <a:cs typeface="Arial"/>
                  <a:sym typeface="Arial"/>
                </a:endParaRPr>
              </a:p>
            </p:txBody>
          </p:sp>
        </p:grpSp>
        <p:sp>
          <p:nvSpPr>
            <p:cNvPr id="1280" name="Google Shape;1280;p55"/>
            <p:cNvSpPr txBox="1"/>
            <p:nvPr/>
          </p:nvSpPr>
          <p:spPr>
            <a:xfrm>
              <a:off x="1696720" y="2430716"/>
              <a:ext cx="9957118" cy="329316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In Quarter-3, Company XYZ encounters financial difficulties and defaults on its bonds. This event triggers the CDS contract.</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The market value of the bonds is equal to 40% recovery rate, indicating that in the event of default, the bondholders can expect to recover 40% of the face value of the bonds hence there is a financial loss of 60% of Face Value</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Party A, as the protection buyer, experiences a credit event (default) and is entitled to a payout from Party B, the protection seller.</a:t>
              </a:r>
              <a:endParaRPr b="0" i="0" sz="1600" u="none" cap="none" strike="noStrike">
                <a:solidFill>
                  <a:schemeClr val="dk1"/>
                </a:solidFill>
                <a:latin typeface="Arial"/>
                <a:ea typeface="Arial"/>
                <a:cs typeface="Arial"/>
                <a:sym typeface="Arial"/>
              </a:endParaRPr>
            </a:p>
            <a:p>
              <a:pPr indent="-184150" lvl="0" marL="285750" marR="0" rtl="0" algn="l">
                <a:lnSpc>
                  <a:spcPct val="100000"/>
                </a:lnSpc>
                <a:spcBef>
                  <a:spcPts val="0"/>
                </a:spcBef>
                <a:spcAft>
                  <a:spcPts val="0"/>
                </a:spcAft>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The payout to Party A is calculated as follows: Payout = (Notional Principal *(1- Recovery Rate) )= ($10,000,000 * 60%) = $6,000,000</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Party B, the protection seller, must pay $6,000,000 to Party A as compensation for the credit event (Company XYZ's default).</a:t>
              </a:r>
              <a:endParaRPr b="0" i="0" sz="1600" u="none" cap="none" strike="noStrike">
                <a:solidFill>
                  <a:schemeClr val="dk1"/>
                </a:solidFill>
                <a:latin typeface="Arial"/>
                <a:ea typeface="Arial"/>
                <a:cs typeface="Arial"/>
                <a:sym typeface="Arial"/>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4" name="Shape 1284"/>
        <p:cNvGrpSpPr/>
        <p:nvPr/>
      </p:nvGrpSpPr>
      <p:grpSpPr>
        <a:xfrm>
          <a:off x="0" y="0"/>
          <a:ext cx="0" cy="0"/>
          <a:chOff x="0" y="0"/>
          <a:chExt cx="0" cy="0"/>
        </a:xfrm>
      </p:grpSpPr>
      <p:sp>
        <p:nvSpPr>
          <p:cNvPr id="1285" name="Google Shape;1285;p56"/>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DERIVATIVES - CREDIT DEFAULT SWAPS - EXAMPLE</a:t>
            </a:r>
            <a:endParaRPr/>
          </a:p>
        </p:txBody>
      </p:sp>
      <p:grpSp>
        <p:nvGrpSpPr>
          <p:cNvPr id="1286" name="Google Shape;1286;p56"/>
          <p:cNvGrpSpPr/>
          <p:nvPr/>
        </p:nvGrpSpPr>
        <p:grpSpPr>
          <a:xfrm>
            <a:off x="700088" y="1488376"/>
            <a:ext cx="10953750" cy="3002280"/>
            <a:chOff x="700088" y="1488376"/>
            <a:chExt cx="10953750" cy="3002280"/>
          </a:xfrm>
        </p:grpSpPr>
        <p:grpSp>
          <p:nvGrpSpPr>
            <p:cNvPr id="1287" name="Google Shape;1287;p56"/>
            <p:cNvGrpSpPr/>
            <p:nvPr/>
          </p:nvGrpSpPr>
          <p:grpSpPr>
            <a:xfrm>
              <a:off x="700088" y="1488376"/>
              <a:ext cx="5609272" cy="945567"/>
              <a:chOff x="1114917" y="1518856"/>
              <a:chExt cx="5609272" cy="945567"/>
            </a:xfrm>
          </p:grpSpPr>
          <p:grpSp>
            <p:nvGrpSpPr>
              <p:cNvPr id="1288" name="Google Shape;1288;p56"/>
              <p:cNvGrpSpPr/>
              <p:nvPr/>
            </p:nvGrpSpPr>
            <p:grpSpPr>
              <a:xfrm rot="5400000">
                <a:off x="1099092" y="1534680"/>
                <a:ext cx="945567" cy="913918"/>
                <a:chOff x="1390067" y="1192856"/>
                <a:chExt cx="829883" cy="804892"/>
              </a:xfrm>
            </p:grpSpPr>
            <p:sp>
              <p:nvSpPr>
                <p:cNvPr id="1289" name="Google Shape;1289;p56"/>
                <p:cNvSpPr/>
                <p:nvPr/>
              </p:nvSpPr>
              <p:spPr>
                <a:xfrm>
                  <a:off x="1443011" y="1436008"/>
                  <a:ext cx="699004" cy="508795"/>
                </a:xfrm>
                <a:custGeom>
                  <a:rect b="b" l="l" r="r" t="t"/>
                  <a:pathLst>
                    <a:path extrusionOk="0" h="1403461" w="1928132">
                      <a:moveTo>
                        <a:pt x="1004133" y="818207"/>
                      </a:moveTo>
                      <a:cubicBezTo>
                        <a:pt x="993057" y="829283"/>
                        <a:pt x="978592" y="834790"/>
                        <a:pt x="964127" y="834790"/>
                      </a:cubicBezTo>
                      <a:cubicBezTo>
                        <a:pt x="949662" y="834790"/>
                        <a:pt x="935137" y="829283"/>
                        <a:pt x="924122" y="818207"/>
                      </a:cubicBezTo>
                      <a:lnTo>
                        <a:pt x="105854" y="0"/>
                      </a:lnTo>
                      <a:cubicBezTo>
                        <a:pt x="38250" y="131758"/>
                        <a:pt x="0" y="281128"/>
                        <a:pt x="0" y="439395"/>
                      </a:cubicBezTo>
                      <a:cubicBezTo>
                        <a:pt x="0" y="971814"/>
                        <a:pt x="431648" y="1403462"/>
                        <a:pt x="964067" y="1403462"/>
                      </a:cubicBezTo>
                      <a:cubicBezTo>
                        <a:pt x="1496485" y="1403462"/>
                        <a:pt x="1928133" y="971814"/>
                        <a:pt x="1928133" y="439395"/>
                      </a:cubicBezTo>
                      <a:cubicBezTo>
                        <a:pt x="1928133" y="281068"/>
                        <a:pt x="1889883" y="131758"/>
                        <a:pt x="1822279" y="0"/>
                      </a:cubicBezTo>
                      <a:lnTo>
                        <a:pt x="1004133" y="818207"/>
                      </a:lnTo>
                      <a:close/>
                    </a:path>
                  </a:pathLst>
                </a:custGeom>
                <a:solidFill>
                  <a:srgbClr val="E7E7E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90" name="Google Shape;1290;p56"/>
                <p:cNvSpPr/>
                <p:nvPr/>
              </p:nvSpPr>
              <p:spPr>
                <a:xfrm>
                  <a:off x="1502998" y="1245821"/>
                  <a:ext cx="579051" cy="443257"/>
                </a:xfrm>
                <a:custGeom>
                  <a:rect b="b" l="l" r="r" t="t"/>
                  <a:pathLst>
                    <a:path extrusionOk="0" h="1222680" w="1597255">
                      <a:moveTo>
                        <a:pt x="798597" y="1222680"/>
                      </a:moveTo>
                      <a:lnTo>
                        <a:pt x="1597255" y="424083"/>
                      </a:lnTo>
                      <a:cubicBezTo>
                        <a:pt x="1423918" y="168193"/>
                        <a:pt x="1130988" y="0"/>
                        <a:pt x="798658" y="0"/>
                      </a:cubicBezTo>
                      <a:cubicBezTo>
                        <a:pt x="466328" y="0"/>
                        <a:pt x="173337" y="168193"/>
                        <a:pt x="0" y="424083"/>
                      </a:cubicBezTo>
                      <a:lnTo>
                        <a:pt x="798597" y="122268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91" name="Google Shape;1291;p56"/>
                <p:cNvSpPr/>
                <p:nvPr/>
              </p:nvSpPr>
              <p:spPr>
                <a:xfrm rot="-5400000">
                  <a:off x="1515110" y="1317899"/>
                  <a:ext cx="554806" cy="554806"/>
                </a:xfrm>
                <a:custGeom>
                  <a:rect b="b" l="l" r="r" t="t"/>
                  <a:pathLst>
                    <a:path extrusionOk="0" h="1530377" w="1530377">
                      <a:moveTo>
                        <a:pt x="1530378" y="765189"/>
                      </a:moveTo>
                      <a:cubicBezTo>
                        <a:pt x="1530378" y="1187791"/>
                        <a:pt x="1187791" y="1530378"/>
                        <a:pt x="765189" y="1530378"/>
                      </a:cubicBezTo>
                      <a:cubicBezTo>
                        <a:pt x="342587" y="1530378"/>
                        <a:pt x="0" y="1187791"/>
                        <a:pt x="0" y="765189"/>
                      </a:cubicBezTo>
                      <a:cubicBezTo>
                        <a:pt x="0" y="342587"/>
                        <a:pt x="342587" y="0"/>
                        <a:pt x="765189" y="0"/>
                      </a:cubicBezTo>
                      <a:cubicBezTo>
                        <a:pt x="1187791" y="0"/>
                        <a:pt x="1530378" y="342587"/>
                        <a:pt x="1530378" y="76518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grpSp>
              <p:nvGrpSpPr>
                <p:cNvPr id="1292" name="Google Shape;1292;p56"/>
                <p:cNvGrpSpPr/>
                <p:nvPr/>
              </p:nvGrpSpPr>
              <p:grpSpPr>
                <a:xfrm>
                  <a:off x="1390067" y="1192856"/>
                  <a:ext cx="829883" cy="804892"/>
                  <a:chOff x="843379" y="1909716"/>
                  <a:chExt cx="2289151" cy="2220215"/>
                </a:xfrm>
              </p:grpSpPr>
              <p:sp>
                <p:nvSpPr>
                  <p:cNvPr id="1293" name="Google Shape;1293;p56"/>
                  <p:cNvSpPr/>
                  <p:nvPr/>
                </p:nvSpPr>
                <p:spPr>
                  <a:xfrm>
                    <a:off x="843379" y="2368760"/>
                    <a:ext cx="2289151" cy="1761171"/>
                  </a:xfrm>
                  <a:custGeom>
                    <a:rect b="b" l="l" r="r" t="t"/>
                    <a:pathLst>
                      <a:path extrusionOk="0" h="1761171" w="2289151">
                        <a:moveTo>
                          <a:pt x="2289151" y="651064"/>
                        </a:moveTo>
                        <a:cubicBezTo>
                          <a:pt x="2289151" y="607366"/>
                          <a:pt x="2257921" y="570871"/>
                          <a:pt x="2216584" y="562700"/>
                        </a:cubicBezTo>
                        <a:cubicBezTo>
                          <a:pt x="2200849" y="363217"/>
                          <a:pt x="2131732" y="172147"/>
                          <a:pt x="2015830" y="9038"/>
                        </a:cubicBezTo>
                        <a:cubicBezTo>
                          <a:pt x="2015407" y="8433"/>
                          <a:pt x="2014862" y="7888"/>
                          <a:pt x="2014317" y="7344"/>
                        </a:cubicBezTo>
                        <a:cubicBezTo>
                          <a:pt x="2014015" y="7041"/>
                          <a:pt x="2013833" y="6617"/>
                          <a:pt x="2013531" y="6315"/>
                        </a:cubicBezTo>
                        <a:cubicBezTo>
                          <a:pt x="2013470" y="6254"/>
                          <a:pt x="2013349" y="6194"/>
                          <a:pt x="2013288" y="6133"/>
                        </a:cubicBezTo>
                        <a:cubicBezTo>
                          <a:pt x="2006268" y="-706"/>
                          <a:pt x="1995253" y="-1856"/>
                          <a:pt x="1986840" y="3712"/>
                        </a:cubicBezTo>
                        <a:lnTo>
                          <a:pt x="1986840" y="3712"/>
                        </a:lnTo>
                        <a:cubicBezTo>
                          <a:pt x="1986840" y="3712"/>
                          <a:pt x="1986477" y="3894"/>
                          <a:pt x="1986356" y="4015"/>
                        </a:cubicBezTo>
                        <a:cubicBezTo>
                          <a:pt x="1985751" y="4439"/>
                          <a:pt x="1985266" y="4983"/>
                          <a:pt x="1984722" y="5407"/>
                        </a:cubicBezTo>
                        <a:cubicBezTo>
                          <a:pt x="1984359" y="5710"/>
                          <a:pt x="1983935" y="5952"/>
                          <a:pt x="1983632" y="6254"/>
                        </a:cubicBezTo>
                        <a:cubicBezTo>
                          <a:pt x="1983572" y="6315"/>
                          <a:pt x="1983511" y="6436"/>
                          <a:pt x="1983390" y="6557"/>
                        </a:cubicBezTo>
                        <a:cubicBezTo>
                          <a:pt x="1982846" y="7102"/>
                          <a:pt x="1982422" y="7767"/>
                          <a:pt x="1981938" y="8373"/>
                        </a:cubicBezTo>
                        <a:cubicBezTo>
                          <a:pt x="1981575" y="8857"/>
                          <a:pt x="1981211" y="9280"/>
                          <a:pt x="1980848" y="9765"/>
                        </a:cubicBezTo>
                        <a:cubicBezTo>
                          <a:pt x="1980364" y="10491"/>
                          <a:pt x="1980062" y="11217"/>
                          <a:pt x="1979638" y="12004"/>
                        </a:cubicBezTo>
                        <a:cubicBezTo>
                          <a:pt x="1979396" y="12488"/>
                          <a:pt x="1979154" y="12972"/>
                          <a:pt x="1978912" y="13456"/>
                        </a:cubicBezTo>
                        <a:cubicBezTo>
                          <a:pt x="1978669" y="14122"/>
                          <a:pt x="1978488" y="14788"/>
                          <a:pt x="1978306" y="15514"/>
                        </a:cubicBezTo>
                        <a:cubicBezTo>
                          <a:pt x="1978125" y="16180"/>
                          <a:pt x="1977883" y="16846"/>
                          <a:pt x="1977762" y="17511"/>
                        </a:cubicBezTo>
                        <a:cubicBezTo>
                          <a:pt x="1977701" y="17996"/>
                          <a:pt x="1977641" y="18419"/>
                          <a:pt x="1977641" y="18904"/>
                        </a:cubicBezTo>
                        <a:cubicBezTo>
                          <a:pt x="1977520" y="19690"/>
                          <a:pt x="1977399" y="20477"/>
                          <a:pt x="1977399" y="21264"/>
                        </a:cubicBezTo>
                        <a:cubicBezTo>
                          <a:pt x="1977399" y="21385"/>
                          <a:pt x="1977399" y="21506"/>
                          <a:pt x="1977399" y="21688"/>
                        </a:cubicBezTo>
                        <a:cubicBezTo>
                          <a:pt x="1977399" y="21990"/>
                          <a:pt x="1977459" y="22293"/>
                          <a:pt x="1977520" y="22595"/>
                        </a:cubicBezTo>
                        <a:cubicBezTo>
                          <a:pt x="1977580" y="23624"/>
                          <a:pt x="1977701" y="24653"/>
                          <a:pt x="1977883" y="25682"/>
                        </a:cubicBezTo>
                        <a:cubicBezTo>
                          <a:pt x="1978004" y="26166"/>
                          <a:pt x="1978185" y="26711"/>
                          <a:pt x="1978367" y="27195"/>
                        </a:cubicBezTo>
                        <a:cubicBezTo>
                          <a:pt x="1978609" y="27982"/>
                          <a:pt x="1978791" y="28769"/>
                          <a:pt x="1979154" y="29556"/>
                        </a:cubicBezTo>
                        <a:cubicBezTo>
                          <a:pt x="1979396" y="30161"/>
                          <a:pt x="1979759" y="30705"/>
                          <a:pt x="1980122" y="31311"/>
                        </a:cubicBezTo>
                        <a:cubicBezTo>
                          <a:pt x="1980485" y="31976"/>
                          <a:pt x="1980788" y="32642"/>
                          <a:pt x="1981211" y="33247"/>
                        </a:cubicBezTo>
                        <a:cubicBezTo>
                          <a:pt x="1981272" y="33368"/>
                          <a:pt x="1981332" y="33429"/>
                          <a:pt x="1981393" y="33550"/>
                        </a:cubicBezTo>
                        <a:cubicBezTo>
                          <a:pt x="2092573" y="190001"/>
                          <a:pt x="2158967" y="373204"/>
                          <a:pt x="2174340" y="564516"/>
                        </a:cubicBezTo>
                        <a:cubicBezTo>
                          <a:pt x="2136694" y="575350"/>
                          <a:pt x="2109036" y="610029"/>
                          <a:pt x="2109036" y="651064"/>
                        </a:cubicBezTo>
                        <a:cubicBezTo>
                          <a:pt x="2109036" y="692098"/>
                          <a:pt x="2136755" y="726898"/>
                          <a:pt x="2174461" y="737672"/>
                        </a:cubicBezTo>
                        <a:cubicBezTo>
                          <a:pt x="2130218" y="1289397"/>
                          <a:pt x="1666433" y="1718806"/>
                          <a:pt x="1110229" y="1718806"/>
                        </a:cubicBezTo>
                        <a:cubicBezTo>
                          <a:pt x="521464" y="1718806"/>
                          <a:pt x="42487" y="1239829"/>
                          <a:pt x="42487" y="651064"/>
                        </a:cubicBezTo>
                        <a:cubicBezTo>
                          <a:pt x="42487" y="428219"/>
                          <a:pt x="110454" y="214695"/>
                          <a:pt x="239065" y="33550"/>
                        </a:cubicBezTo>
                        <a:cubicBezTo>
                          <a:pt x="239125" y="33489"/>
                          <a:pt x="239186" y="33368"/>
                          <a:pt x="239246" y="33247"/>
                        </a:cubicBezTo>
                        <a:cubicBezTo>
                          <a:pt x="239731" y="32582"/>
                          <a:pt x="240033" y="31855"/>
                          <a:pt x="240457" y="31129"/>
                        </a:cubicBezTo>
                        <a:cubicBezTo>
                          <a:pt x="240759" y="30584"/>
                          <a:pt x="241062" y="30100"/>
                          <a:pt x="241304" y="29556"/>
                        </a:cubicBezTo>
                        <a:cubicBezTo>
                          <a:pt x="241667" y="28708"/>
                          <a:pt x="241909" y="27800"/>
                          <a:pt x="242212" y="26893"/>
                        </a:cubicBezTo>
                        <a:cubicBezTo>
                          <a:pt x="242333" y="26529"/>
                          <a:pt x="242515" y="26106"/>
                          <a:pt x="242575" y="25743"/>
                        </a:cubicBezTo>
                        <a:cubicBezTo>
                          <a:pt x="242817" y="24593"/>
                          <a:pt x="242938" y="23443"/>
                          <a:pt x="242999" y="22293"/>
                        </a:cubicBezTo>
                        <a:cubicBezTo>
                          <a:pt x="242999" y="22111"/>
                          <a:pt x="242999" y="21869"/>
                          <a:pt x="243059" y="21688"/>
                        </a:cubicBezTo>
                        <a:cubicBezTo>
                          <a:pt x="243059" y="21567"/>
                          <a:pt x="243059" y="21385"/>
                          <a:pt x="243059" y="21264"/>
                        </a:cubicBezTo>
                        <a:cubicBezTo>
                          <a:pt x="243059" y="20417"/>
                          <a:pt x="242938" y="19569"/>
                          <a:pt x="242817" y="18722"/>
                        </a:cubicBezTo>
                        <a:cubicBezTo>
                          <a:pt x="242817" y="18298"/>
                          <a:pt x="242817" y="17875"/>
                          <a:pt x="242696" y="17451"/>
                        </a:cubicBezTo>
                        <a:cubicBezTo>
                          <a:pt x="242696" y="17330"/>
                          <a:pt x="242696" y="17148"/>
                          <a:pt x="242696" y="17027"/>
                        </a:cubicBezTo>
                        <a:cubicBezTo>
                          <a:pt x="242575" y="16362"/>
                          <a:pt x="242272" y="15756"/>
                          <a:pt x="242091" y="15091"/>
                        </a:cubicBezTo>
                        <a:cubicBezTo>
                          <a:pt x="241909" y="14546"/>
                          <a:pt x="241788" y="13941"/>
                          <a:pt x="241607" y="13396"/>
                        </a:cubicBezTo>
                        <a:cubicBezTo>
                          <a:pt x="241607" y="13275"/>
                          <a:pt x="241607" y="13154"/>
                          <a:pt x="241486" y="13033"/>
                        </a:cubicBezTo>
                        <a:cubicBezTo>
                          <a:pt x="241244" y="12549"/>
                          <a:pt x="240941" y="12064"/>
                          <a:pt x="240699" y="11580"/>
                        </a:cubicBezTo>
                        <a:cubicBezTo>
                          <a:pt x="240396" y="10915"/>
                          <a:pt x="240094" y="10249"/>
                          <a:pt x="239670" y="9644"/>
                        </a:cubicBezTo>
                        <a:cubicBezTo>
                          <a:pt x="239670" y="9583"/>
                          <a:pt x="239609" y="9462"/>
                          <a:pt x="239549" y="9401"/>
                        </a:cubicBezTo>
                        <a:cubicBezTo>
                          <a:pt x="239246" y="8978"/>
                          <a:pt x="238883" y="8615"/>
                          <a:pt x="238581" y="8252"/>
                        </a:cubicBezTo>
                        <a:cubicBezTo>
                          <a:pt x="238096" y="7646"/>
                          <a:pt x="237673" y="6981"/>
                          <a:pt x="237068" y="6436"/>
                        </a:cubicBezTo>
                        <a:cubicBezTo>
                          <a:pt x="237007" y="6375"/>
                          <a:pt x="236946" y="6254"/>
                          <a:pt x="236825" y="6133"/>
                        </a:cubicBezTo>
                        <a:cubicBezTo>
                          <a:pt x="236402" y="5710"/>
                          <a:pt x="235918" y="5407"/>
                          <a:pt x="235494" y="5044"/>
                        </a:cubicBezTo>
                        <a:cubicBezTo>
                          <a:pt x="235010" y="4620"/>
                          <a:pt x="234586" y="4197"/>
                          <a:pt x="234102" y="3833"/>
                        </a:cubicBezTo>
                        <a:cubicBezTo>
                          <a:pt x="233981" y="3773"/>
                          <a:pt x="233860" y="3712"/>
                          <a:pt x="233739" y="3652"/>
                        </a:cubicBezTo>
                        <a:cubicBezTo>
                          <a:pt x="233739" y="3652"/>
                          <a:pt x="233678" y="3591"/>
                          <a:pt x="233618" y="3531"/>
                        </a:cubicBezTo>
                        <a:cubicBezTo>
                          <a:pt x="233376" y="3349"/>
                          <a:pt x="233073" y="3289"/>
                          <a:pt x="232831" y="3107"/>
                        </a:cubicBezTo>
                        <a:cubicBezTo>
                          <a:pt x="229200" y="868"/>
                          <a:pt x="225084" y="-161"/>
                          <a:pt x="221090" y="20"/>
                        </a:cubicBezTo>
                        <a:cubicBezTo>
                          <a:pt x="220847" y="20"/>
                          <a:pt x="220605" y="20"/>
                          <a:pt x="220363" y="20"/>
                        </a:cubicBezTo>
                        <a:cubicBezTo>
                          <a:pt x="218911" y="141"/>
                          <a:pt x="217458" y="384"/>
                          <a:pt x="216066" y="747"/>
                        </a:cubicBezTo>
                        <a:cubicBezTo>
                          <a:pt x="215885" y="747"/>
                          <a:pt x="215642" y="868"/>
                          <a:pt x="215461" y="928"/>
                        </a:cubicBezTo>
                        <a:cubicBezTo>
                          <a:pt x="212374" y="1897"/>
                          <a:pt x="209469" y="3531"/>
                          <a:pt x="207109" y="5891"/>
                        </a:cubicBezTo>
                        <a:cubicBezTo>
                          <a:pt x="207048" y="5952"/>
                          <a:pt x="206927" y="6012"/>
                          <a:pt x="206867" y="6073"/>
                        </a:cubicBezTo>
                        <a:cubicBezTo>
                          <a:pt x="206564" y="6375"/>
                          <a:pt x="206382" y="6738"/>
                          <a:pt x="206080" y="7041"/>
                        </a:cubicBezTo>
                        <a:cubicBezTo>
                          <a:pt x="205535" y="7646"/>
                          <a:pt x="204990" y="8130"/>
                          <a:pt x="204567" y="8796"/>
                        </a:cubicBezTo>
                        <a:cubicBezTo>
                          <a:pt x="70691" y="197385"/>
                          <a:pt x="0" y="419443"/>
                          <a:pt x="0" y="651064"/>
                        </a:cubicBezTo>
                        <a:cubicBezTo>
                          <a:pt x="0" y="1263190"/>
                          <a:pt x="497981" y="1761172"/>
                          <a:pt x="1110108" y="1761172"/>
                        </a:cubicBezTo>
                        <a:cubicBezTo>
                          <a:pt x="1688887" y="1761172"/>
                          <a:pt x="2171434" y="1313848"/>
                          <a:pt x="2216645" y="739427"/>
                        </a:cubicBezTo>
                        <a:cubicBezTo>
                          <a:pt x="2257921" y="731196"/>
                          <a:pt x="2289151" y="694700"/>
                          <a:pt x="2289151" y="651064"/>
                        </a:cubicBezTo>
                        <a:close/>
                        <a:moveTo>
                          <a:pt x="2199033" y="698816"/>
                        </a:moveTo>
                        <a:cubicBezTo>
                          <a:pt x="2172705" y="698816"/>
                          <a:pt x="2151280" y="677391"/>
                          <a:pt x="2151280" y="651064"/>
                        </a:cubicBezTo>
                        <a:cubicBezTo>
                          <a:pt x="2151280" y="624736"/>
                          <a:pt x="2172705" y="603311"/>
                          <a:pt x="2199033" y="603311"/>
                        </a:cubicBezTo>
                        <a:cubicBezTo>
                          <a:pt x="2225360" y="603311"/>
                          <a:pt x="2246785" y="624736"/>
                          <a:pt x="2246785" y="651064"/>
                        </a:cubicBezTo>
                        <a:cubicBezTo>
                          <a:pt x="2246785" y="677391"/>
                          <a:pt x="2225360" y="698816"/>
                          <a:pt x="2199033" y="698816"/>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94" name="Google Shape;1294;p56"/>
                  <p:cNvSpPr/>
                  <p:nvPr/>
                </p:nvSpPr>
                <p:spPr>
                  <a:xfrm>
                    <a:off x="3017839" y="2995251"/>
                    <a:ext cx="49144" cy="49144"/>
                  </a:xfrm>
                  <a:custGeom>
                    <a:rect b="b" l="l" r="r" t="t"/>
                    <a:pathLst>
                      <a:path extrusionOk="0" h="49144" w="49144">
                        <a:moveTo>
                          <a:pt x="49144" y="24572"/>
                        </a:moveTo>
                        <a:cubicBezTo>
                          <a:pt x="49144" y="38143"/>
                          <a:pt x="38143" y="49144"/>
                          <a:pt x="24572" y="49144"/>
                        </a:cubicBezTo>
                        <a:cubicBezTo>
                          <a:pt x="11001" y="49144"/>
                          <a:pt x="0" y="38143"/>
                          <a:pt x="0" y="24572"/>
                        </a:cubicBezTo>
                        <a:cubicBezTo>
                          <a:pt x="0" y="11001"/>
                          <a:pt x="11001" y="0"/>
                          <a:pt x="24572" y="0"/>
                        </a:cubicBezTo>
                        <a:cubicBezTo>
                          <a:pt x="38143" y="0"/>
                          <a:pt x="49144" y="11001"/>
                          <a:pt x="49144" y="24572"/>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95" name="Google Shape;1295;p56"/>
                  <p:cNvSpPr/>
                  <p:nvPr/>
                </p:nvSpPr>
                <p:spPr>
                  <a:xfrm>
                    <a:off x="1285342" y="2122661"/>
                    <a:ext cx="42377" cy="42399"/>
                  </a:xfrm>
                  <a:custGeom>
                    <a:rect b="b" l="l" r="r" t="t"/>
                    <a:pathLst>
                      <a:path extrusionOk="0" h="42399" w="42377">
                        <a:moveTo>
                          <a:pt x="21217" y="42400"/>
                        </a:moveTo>
                        <a:cubicBezTo>
                          <a:pt x="25575" y="42400"/>
                          <a:pt x="29993" y="41008"/>
                          <a:pt x="33806" y="38224"/>
                        </a:cubicBezTo>
                        <a:cubicBezTo>
                          <a:pt x="43187" y="31264"/>
                          <a:pt x="45184" y="18009"/>
                          <a:pt x="38224" y="8628"/>
                        </a:cubicBezTo>
                        <a:cubicBezTo>
                          <a:pt x="31264" y="-813"/>
                          <a:pt x="18009" y="-2811"/>
                          <a:pt x="8628" y="4150"/>
                        </a:cubicBezTo>
                        <a:cubicBezTo>
                          <a:pt x="-813" y="11110"/>
                          <a:pt x="-2811" y="24364"/>
                          <a:pt x="4150" y="33806"/>
                        </a:cubicBezTo>
                        <a:cubicBezTo>
                          <a:pt x="8326" y="39434"/>
                          <a:pt x="14741" y="42400"/>
                          <a:pt x="21217" y="4240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96" name="Google Shape;1296;p56"/>
                  <p:cNvSpPr/>
                  <p:nvPr/>
                </p:nvSpPr>
                <p:spPr>
                  <a:xfrm>
                    <a:off x="1154926" y="2236219"/>
                    <a:ext cx="42375" cy="42382"/>
                  </a:xfrm>
                  <a:custGeom>
                    <a:rect b="b" l="l" r="r" t="t"/>
                    <a:pathLst>
                      <a:path extrusionOk="0" h="42382" w="42375">
                        <a:moveTo>
                          <a:pt x="21146" y="42382"/>
                        </a:moveTo>
                        <a:cubicBezTo>
                          <a:pt x="26593" y="42382"/>
                          <a:pt x="32101" y="40264"/>
                          <a:pt x="36277" y="36027"/>
                        </a:cubicBezTo>
                        <a:lnTo>
                          <a:pt x="36277" y="36027"/>
                        </a:lnTo>
                        <a:cubicBezTo>
                          <a:pt x="44508" y="27675"/>
                          <a:pt x="44387" y="14239"/>
                          <a:pt x="36035" y="6069"/>
                        </a:cubicBezTo>
                        <a:cubicBezTo>
                          <a:pt x="27683" y="-2162"/>
                          <a:pt x="14247" y="-1981"/>
                          <a:pt x="6076" y="6371"/>
                        </a:cubicBezTo>
                        <a:lnTo>
                          <a:pt x="6076" y="6371"/>
                        </a:lnTo>
                        <a:cubicBezTo>
                          <a:pt x="-2155" y="14723"/>
                          <a:pt x="-1974" y="28099"/>
                          <a:pt x="6318" y="36330"/>
                        </a:cubicBezTo>
                        <a:cubicBezTo>
                          <a:pt x="10494" y="40325"/>
                          <a:pt x="15820" y="42382"/>
                          <a:pt x="21207" y="42382"/>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97" name="Google Shape;1297;p56"/>
                  <p:cNvSpPr/>
                  <p:nvPr/>
                </p:nvSpPr>
                <p:spPr>
                  <a:xfrm>
                    <a:off x="2432199" y="2031042"/>
                    <a:ext cx="42409" cy="42387"/>
                  </a:xfrm>
                  <a:custGeom>
                    <a:rect b="b" l="l" r="r" t="t"/>
                    <a:pathLst>
                      <a:path extrusionOk="0" h="42387" w="42409">
                        <a:moveTo>
                          <a:pt x="11460" y="39967"/>
                        </a:moveTo>
                        <a:cubicBezTo>
                          <a:pt x="14608" y="41601"/>
                          <a:pt x="17936" y="42388"/>
                          <a:pt x="21205" y="42388"/>
                        </a:cubicBezTo>
                        <a:cubicBezTo>
                          <a:pt x="28830" y="42388"/>
                          <a:pt x="36275" y="38211"/>
                          <a:pt x="40027" y="30949"/>
                        </a:cubicBezTo>
                        <a:cubicBezTo>
                          <a:pt x="45414" y="20539"/>
                          <a:pt x="41359" y="7708"/>
                          <a:pt x="30949" y="2382"/>
                        </a:cubicBezTo>
                        <a:cubicBezTo>
                          <a:pt x="20539" y="-3005"/>
                          <a:pt x="7768" y="1050"/>
                          <a:pt x="2382" y="11460"/>
                        </a:cubicBezTo>
                        <a:cubicBezTo>
                          <a:pt x="-3005" y="21810"/>
                          <a:pt x="1051" y="34580"/>
                          <a:pt x="11460" y="39967"/>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98" name="Google Shape;1298;p56"/>
                  <p:cNvSpPr/>
                  <p:nvPr/>
                </p:nvSpPr>
                <p:spPr>
                  <a:xfrm>
                    <a:off x="2579011" y="2122492"/>
                    <a:ext cx="42381" cy="42387"/>
                  </a:xfrm>
                  <a:custGeom>
                    <a:rect b="b" l="l" r="r" t="t"/>
                    <a:pathLst>
                      <a:path extrusionOk="0" h="42387" w="42381">
                        <a:moveTo>
                          <a:pt x="8572" y="38271"/>
                        </a:moveTo>
                        <a:cubicBezTo>
                          <a:pt x="12385" y="41056"/>
                          <a:pt x="16803" y="42387"/>
                          <a:pt x="21160" y="42387"/>
                        </a:cubicBezTo>
                        <a:cubicBezTo>
                          <a:pt x="27697" y="42387"/>
                          <a:pt x="34052" y="39421"/>
                          <a:pt x="38228" y="33793"/>
                        </a:cubicBezTo>
                        <a:cubicBezTo>
                          <a:pt x="45188" y="24412"/>
                          <a:pt x="43191" y="11097"/>
                          <a:pt x="33810" y="4197"/>
                        </a:cubicBezTo>
                        <a:cubicBezTo>
                          <a:pt x="24368" y="-2823"/>
                          <a:pt x="11114" y="-826"/>
                          <a:pt x="4153" y="8615"/>
                        </a:cubicBezTo>
                        <a:cubicBezTo>
                          <a:pt x="-2807" y="17996"/>
                          <a:pt x="-809" y="31251"/>
                          <a:pt x="8572" y="3827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299" name="Google Shape;1299;p56"/>
                  <p:cNvSpPr/>
                  <p:nvPr/>
                </p:nvSpPr>
                <p:spPr>
                  <a:xfrm>
                    <a:off x="2709543" y="2236008"/>
                    <a:ext cx="42352" cy="42351"/>
                  </a:xfrm>
                  <a:custGeom>
                    <a:rect b="b" l="l" r="r" t="t"/>
                    <a:pathLst>
                      <a:path extrusionOk="0" h="42351" w="42352">
                        <a:moveTo>
                          <a:pt x="21176" y="42352"/>
                        </a:moveTo>
                        <a:cubicBezTo>
                          <a:pt x="26563" y="42352"/>
                          <a:pt x="31889" y="40354"/>
                          <a:pt x="36005" y="36299"/>
                        </a:cubicBezTo>
                        <a:cubicBezTo>
                          <a:pt x="44357" y="28129"/>
                          <a:pt x="44478" y="14693"/>
                          <a:pt x="36307" y="6340"/>
                        </a:cubicBezTo>
                        <a:cubicBezTo>
                          <a:pt x="28076" y="-2012"/>
                          <a:pt x="14700" y="-2133"/>
                          <a:pt x="6348" y="6098"/>
                        </a:cubicBezTo>
                        <a:cubicBezTo>
                          <a:pt x="-2004" y="14269"/>
                          <a:pt x="-2125" y="27644"/>
                          <a:pt x="6046" y="36057"/>
                        </a:cubicBezTo>
                        <a:cubicBezTo>
                          <a:pt x="10222" y="40233"/>
                          <a:pt x="15669" y="42352"/>
                          <a:pt x="21176" y="42352"/>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300" name="Google Shape;1300;p56"/>
                  <p:cNvSpPr/>
                  <p:nvPr/>
                </p:nvSpPr>
                <p:spPr>
                  <a:xfrm>
                    <a:off x="2104638" y="1923315"/>
                    <a:ext cx="42358" cy="42384"/>
                  </a:xfrm>
                  <a:custGeom>
                    <a:rect b="b" l="l" r="r" t="t"/>
                    <a:pathLst>
                      <a:path extrusionOk="0" h="42384" w="42358">
                        <a:moveTo>
                          <a:pt x="17889" y="42082"/>
                        </a:moveTo>
                        <a:cubicBezTo>
                          <a:pt x="18978" y="42263"/>
                          <a:pt x="20128" y="42384"/>
                          <a:pt x="21217" y="42384"/>
                        </a:cubicBezTo>
                        <a:cubicBezTo>
                          <a:pt x="31446" y="42384"/>
                          <a:pt x="40464" y="34940"/>
                          <a:pt x="42098" y="24530"/>
                        </a:cubicBezTo>
                        <a:cubicBezTo>
                          <a:pt x="43913" y="12970"/>
                          <a:pt x="36045" y="2076"/>
                          <a:pt x="24486" y="260"/>
                        </a:cubicBezTo>
                        <a:cubicBezTo>
                          <a:pt x="12986" y="-1555"/>
                          <a:pt x="2092" y="6313"/>
                          <a:pt x="277" y="17873"/>
                        </a:cubicBezTo>
                        <a:cubicBezTo>
                          <a:pt x="-1600" y="29432"/>
                          <a:pt x="6268" y="40266"/>
                          <a:pt x="17889" y="42082"/>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301" name="Google Shape;1301;p56"/>
                  <p:cNvSpPr/>
                  <p:nvPr/>
                </p:nvSpPr>
                <p:spPr>
                  <a:xfrm>
                    <a:off x="2272689" y="1964011"/>
                    <a:ext cx="42445" cy="42359"/>
                  </a:xfrm>
                  <a:custGeom>
                    <a:rect b="b" l="l" r="r" t="t"/>
                    <a:pathLst>
                      <a:path extrusionOk="0" h="42359" w="42445">
                        <a:moveTo>
                          <a:pt x="14640" y="41331"/>
                        </a:moveTo>
                        <a:cubicBezTo>
                          <a:pt x="16819" y="42057"/>
                          <a:pt x="19058" y="42360"/>
                          <a:pt x="21237" y="42360"/>
                        </a:cubicBezTo>
                        <a:cubicBezTo>
                          <a:pt x="30134" y="42360"/>
                          <a:pt x="38426" y="36731"/>
                          <a:pt x="41391" y="27834"/>
                        </a:cubicBezTo>
                        <a:cubicBezTo>
                          <a:pt x="45023" y="16698"/>
                          <a:pt x="38970" y="4715"/>
                          <a:pt x="27834" y="1083"/>
                        </a:cubicBezTo>
                        <a:lnTo>
                          <a:pt x="27834" y="1083"/>
                        </a:lnTo>
                        <a:cubicBezTo>
                          <a:pt x="16698" y="-2609"/>
                          <a:pt x="4715" y="3444"/>
                          <a:pt x="1083" y="14580"/>
                        </a:cubicBezTo>
                        <a:cubicBezTo>
                          <a:pt x="-2609" y="25716"/>
                          <a:pt x="3444" y="37639"/>
                          <a:pt x="14580" y="4133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302" name="Google Shape;1302;p56"/>
                  <p:cNvSpPr/>
                  <p:nvPr/>
                </p:nvSpPr>
                <p:spPr>
                  <a:xfrm>
                    <a:off x="1432182" y="2031102"/>
                    <a:ext cx="42397" cy="42387"/>
                  </a:xfrm>
                  <a:custGeom>
                    <a:rect b="b" l="l" r="r" t="t"/>
                    <a:pathLst>
                      <a:path extrusionOk="0" h="42387" w="42397">
                        <a:moveTo>
                          <a:pt x="21205" y="42388"/>
                        </a:moveTo>
                        <a:cubicBezTo>
                          <a:pt x="24473" y="42388"/>
                          <a:pt x="27802" y="41601"/>
                          <a:pt x="30949" y="40027"/>
                        </a:cubicBezTo>
                        <a:cubicBezTo>
                          <a:pt x="41298" y="34641"/>
                          <a:pt x="45414" y="21870"/>
                          <a:pt x="40027" y="11460"/>
                        </a:cubicBezTo>
                        <a:cubicBezTo>
                          <a:pt x="34641" y="1050"/>
                          <a:pt x="21870" y="-3005"/>
                          <a:pt x="11460" y="2382"/>
                        </a:cubicBezTo>
                        <a:cubicBezTo>
                          <a:pt x="1050" y="7769"/>
                          <a:pt x="-3005" y="20539"/>
                          <a:pt x="2382" y="30949"/>
                        </a:cubicBezTo>
                        <a:cubicBezTo>
                          <a:pt x="6134" y="38211"/>
                          <a:pt x="13579" y="42388"/>
                          <a:pt x="21205" y="42388"/>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303" name="Google Shape;1303;p56"/>
                  <p:cNvSpPr/>
                  <p:nvPr/>
                </p:nvSpPr>
                <p:spPr>
                  <a:xfrm>
                    <a:off x="1932182" y="1909716"/>
                    <a:ext cx="42365" cy="42426"/>
                  </a:xfrm>
                  <a:custGeom>
                    <a:rect b="b" l="l" r="r" t="t"/>
                    <a:pathLst>
                      <a:path extrusionOk="0" h="42426" w="42365">
                        <a:moveTo>
                          <a:pt x="21183" y="42426"/>
                        </a:moveTo>
                        <a:cubicBezTo>
                          <a:pt x="32864" y="42426"/>
                          <a:pt x="42366" y="32924"/>
                          <a:pt x="42366" y="21183"/>
                        </a:cubicBezTo>
                        <a:cubicBezTo>
                          <a:pt x="42366" y="9442"/>
                          <a:pt x="32864" y="0"/>
                          <a:pt x="21183" y="0"/>
                        </a:cubicBezTo>
                        <a:cubicBezTo>
                          <a:pt x="9502" y="0"/>
                          <a:pt x="0" y="9442"/>
                          <a:pt x="0" y="21122"/>
                        </a:cubicBezTo>
                        <a:cubicBezTo>
                          <a:pt x="0" y="32803"/>
                          <a:pt x="9442" y="42366"/>
                          <a:pt x="21183" y="42366"/>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304" name="Google Shape;1304;p56"/>
                  <p:cNvSpPr/>
                  <p:nvPr/>
                </p:nvSpPr>
                <p:spPr>
                  <a:xfrm>
                    <a:off x="1591627" y="1964071"/>
                    <a:ext cx="42385" cy="42359"/>
                  </a:xfrm>
                  <a:custGeom>
                    <a:rect b="b" l="l" r="r" t="t"/>
                    <a:pathLst>
                      <a:path extrusionOk="0" h="42359" w="42385">
                        <a:moveTo>
                          <a:pt x="21237" y="42360"/>
                        </a:moveTo>
                        <a:cubicBezTo>
                          <a:pt x="23416" y="42360"/>
                          <a:pt x="25595" y="42057"/>
                          <a:pt x="27834" y="41331"/>
                        </a:cubicBezTo>
                        <a:cubicBezTo>
                          <a:pt x="38910" y="37699"/>
                          <a:pt x="44962" y="25716"/>
                          <a:pt x="41331" y="14580"/>
                        </a:cubicBezTo>
                        <a:cubicBezTo>
                          <a:pt x="37639" y="3444"/>
                          <a:pt x="25655" y="-2609"/>
                          <a:pt x="14580" y="1083"/>
                        </a:cubicBezTo>
                        <a:cubicBezTo>
                          <a:pt x="3444" y="4715"/>
                          <a:pt x="-2609" y="16698"/>
                          <a:pt x="1083" y="27834"/>
                        </a:cubicBezTo>
                        <a:cubicBezTo>
                          <a:pt x="3988" y="36731"/>
                          <a:pt x="12280" y="42360"/>
                          <a:pt x="21237" y="4236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sp>
                <p:nvSpPr>
                  <p:cNvPr id="1305" name="Google Shape;1305;p56"/>
                  <p:cNvSpPr/>
                  <p:nvPr/>
                </p:nvSpPr>
                <p:spPr>
                  <a:xfrm>
                    <a:off x="1759720" y="1923315"/>
                    <a:ext cx="42372" cy="42384"/>
                  </a:xfrm>
                  <a:custGeom>
                    <a:rect b="b" l="l" r="r" t="t"/>
                    <a:pathLst>
                      <a:path extrusionOk="0" h="42384" w="42372">
                        <a:moveTo>
                          <a:pt x="21155" y="42384"/>
                        </a:moveTo>
                        <a:cubicBezTo>
                          <a:pt x="22305" y="42384"/>
                          <a:pt x="23395" y="42384"/>
                          <a:pt x="24545" y="42142"/>
                        </a:cubicBezTo>
                        <a:cubicBezTo>
                          <a:pt x="36104" y="40266"/>
                          <a:pt x="43972" y="29432"/>
                          <a:pt x="42096" y="17873"/>
                        </a:cubicBezTo>
                        <a:cubicBezTo>
                          <a:pt x="40281" y="6313"/>
                          <a:pt x="29447" y="-1555"/>
                          <a:pt x="17827" y="260"/>
                        </a:cubicBezTo>
                        <a:lnTo>
                          <a:pt x="17827" y="260"/>
                        </a:lnTo>
                        <a:cubicBezTo>
                          <a:pt x="6327" y="2137"/>
                          <a:pt x="-1601" y="12970"/>
                          <a:pt x="275" y="24530"/>
                        </a:cubicBezTo>
                        <a:cubicBezTo>
                          <a:pt x="1970" y="34940"/>
                          <a:pt x="10927" y="42384"/>
                          <a:pt x="21155" y="42384"/>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18"/>
                      <a:buFont typeface="Arial"/>
                      <a:buNone/>
                    </a:pPr>
                    <a:r>
                      <a:t/>
                    </a:r>
                    <a:endParaRPr b="0" i="0" sz="820" u="none" cap="none" strike="noStrike">
                      <a:solidFill>
                        <a:schemeClr val="dk1"/>
                      </a:solidFill>
                      <a:latin typeface="Arial"/>
                      <a:ea typeface="Arial"/>
                      <a:cs typeface="Arial"/>
                      <a:sym typeface="Arial"/>
                    </a:endParaRPr>
                  </a:p>
                </p:txBody>
              </p:sp>
            </p:grpSp>
          </p:grpSp>
          <p:sp>
            <p:nvSpPr>
              <p:cNvPr id="1306" name="Google Shape;1306;p56"/>
              <p:cNvSpPr/>
              <p:nvPr/>
            </p:nvSpPr>
            <p:spPr>
              <a:xfrm>
                <a:off x="2133767" y="1781309"/>
                <a:ext cx="4590422" cy="420660"/>
              </a:xfrm>
              <a:prstGeom prst="roundRect">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 Credit Event Occurrence: </a:t>
                </a:r>
                <a:endParaRPr b="1" i="0" sz="1800" u="none" cap="none" strike="noStrike">
                  <a:solidFill>
                    <a:schemeClr val="lt1"/>
                  </a:solidFill>
                  <a:latin typeface="Arial"/>
                  <a:ea typeface="Arial"/>
                  <a:cs typeface="Arial"/>
                  <a:sym typeface="Arial"/>
                </a:endParaRPr>
              </a:p>
            </p:txBody>
          </p:sp>
        </p:grpSp>
        <p:sp>
          <p:nvSpPr>
            <p:cNvPr id="1307" name="Google Shape;1307;p56"/>
            <p:cNvSpPr txBox="1"/>
            <p:nvPr/>
          </p:nvSpPr>
          <p:spPr>
            <a:xfrm>
              <a:off x="1696720" y="2430716"/>
              <a:ext cx="9957118" cy="20599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chemeClr val="dk1"/>
                  </a:solidFill>
                  <a:latin typeface="Arial"/>
                  <a:ea typeface="Arial"/>
                  <a:cs typeface="Arial"/>
                  <a:sym typeface="Arial"/>
                </a:rPr>
                <a:t>Q4 onwards :</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Since the CDS contract has already triggered due to default, no further premium payments are made.</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In this example:</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Party A, the protection buyer, paid premiums to Party B, the protection seller, over the first three quarters of Year-1.</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When Company XYZ defaulted in Quarter-3, the credit event occurred, and Party A received a payout of $6,000,000 from Party B, which is based on the recovery rate of 40% as the Loss is 60%.</a:t>
              </a:r>
              <a:endParaRPr b="0" i="0" sz="1600" u="none" cap="none" strike="noStrike">
                <a:solidFill>
                  <a:schemeClr val="dk1"/>
                </a:solidFill>
                <a:latin typeface="Arial"/>
                <a:ea typeface="Arial"/>
                <a:cs typeface="Arial"/>
                <a:sym typeface="Arial"/>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1" name="Shape 1311"/>
        <p:cNvGrpSpPr/>
        <p:nvPr/>
      </p:nvGrpSpPr>
      <p:grpSpPr>
        <a:xfrm>
          <a:off x="0" y="0"/>
          <a:ext cx="0" cy="0"/>
          <a:chOff x="0" y="0"/>
          <a:chExt cx="0" cy="0"/>
        </a:xfrm>
      </p:grpSpPr>
      <p:sp>
        <p:nvSpPr>
          <p:cNvPr id="1312" name="Google Shape;1312;p57"/>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TYPES OF CREDIT DEFAULT SWAP</a:t>
            </a:r>
            <a:endParaRPr/>
          </a:p>
        </p:txBody>
      </p:sp>
      <p:sp>
        <p:nvSpPr>
          <p:cNvPr id="1313" name="Google Shape;1313;p57"/>
          <p:cNvSpPr/>
          <p:nvPr/>
        </p:nvSpPr>
        <p:spPr>
          <a:xfrm>
            <a:off x="685801" y="1504799"/>
            <a:ext cx="2975978" cy="120028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It considers the debt obligation of only one company as its  reference obligation</a:t>
            </a:r>
            <a:endParaRPr b="0" i="0" sz="1400" u="none" cap="none" strike="noStrike">
              <a:solidFill>
                <a:srgbClr val="000000"/>
              </a:solidFill>
              <a:latin typeface="Arial"/>
              <a:ea typeface="Arial"/>
              <a:cs typeface="Arial"/>
              <a:sym typeface="Arial"/>
            </a:endParaRPr>
          </a:p>
        </p:txBody>
      </p:sp>
      <p:sp>
        <p:nvSpPr>
          <p:cNvPr id="1314" name="Google Shape;1314;p57"/>
          <p:cNvSpPr/>
          <p:nvPr/>
        </p:nvSpPr>
        <p:spPr>
          <a:xfrm>
            <a:off x="3123655" y="5272724"/>
            <a:ext cx="6092329" cy="92328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When the buyer of the protection does not hold the debt obligation. Typically CDS Buyer bets on a reference obligation, which they does not owns, speculation trade.</a:t>
            </a:r>
            <a:endParaRPr b="0" i="0" sz="1800" u="none" cap="none" strike="noStrike">
              <a:solidFill>
                <a:schemeClr val="dk1"/>
              </a:solidFill>
              <a:latin typeface="Arial"/>
              <a:ea typeface="Arial"/>
              <a:cs typeface="Arial"/>
              <a:sym typeface="Arial"/>
            </a:endParaRPr>
          </a:p>
        </p:txBody>
      </p:sp>
      <p:sp>
        <p:nvSpPr>
          <p:cNvPr id="1315" name="Google Shape;1315;p57"/>
          <p:cNvSpPr/>
          <p:nvPr/>
        </p:nvSpPr>
        <p:spPr>
          <a:xfrm>
            <a:off x="8677860" y="1504799"/>
            <a:ext cx="2975978"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It considers the debt obligations of more than one company as its reference obligation.</a:t>
            </a:r>
            <a:endParaRPr b="0" i="0" sz="1400" u="none" cap="none" strike="noStrike">
              <a:solidFill>
                <a:srgbClr val="000000"/>
              </a:solidFill>
              <a:latin typeface="Arial"/>
              <a:ea typeface="Arial"/>
              <a:cs typeface="Arial"/>
              <a:sym typeface="Arial"/>
            </a:endParaRPr>
          </a:p>
        </p:txBody>
      </p:sp>
      <p:grpSp>
        <p:nvGrpSpPr>
          <p:cNvPr id="1316" name="Google Shape;1316;p57"/>
          <p:cNvGrpSpPr/>
          <p:nvPr/>
        </p:nvGrpSpPr>
        <p:grpSpPr>
          <a:xfrm>
            <a:off x="4011392" y="1609955"/>
            <a:ext cx="4316856" cy="3587722"/>
            <a:chOff x="3471268" y="2020143"/>
            <a:chExt cx="4615390" cy="3835832"/>
          </a:xfrm>
        </p:grpSpPr>
        <p:sp>
          <p:nvSpPr>
            <p:cNvPr id="1317" name="Google Shape;1317;p57"/>
            <p:cNvSpPr/>
            <p:nvPr/>
          </p:nvSpPr>
          <p:spPr>
            <a:xfrm>
              <a:off x="4950507" y="2835178"/>
              <a:ext cx="1656912" cy="1387475"/>
            </a:xfrm>
            <a:custGeom>
              <a:rect b="b" l="l" r="r" t="t"/>
              <a:pathLst>
                <a:path extrusionOk="0" h="1387475" w="1817370">
                  <a:moveTo>
                    <a:pt x="1362595" y="0"/>
                  </a:moveTo>
                  <a:lnTo>
                    <a:pt x="453961" y="0"/>
                  </a:lnTo>
                  <a:lnTo>
                    <a:pt x="0" y="693724"/>
                  </a:lnTo>
                  <a:lnTo>
                    <a:pt x="453961" y="1387081"/>
                  </a:lnTo>
                  <a:lnTo>
                    <a:pt x="1362595" y="1387081"/>
                  </a:lnTo>
                  <a:lnTo>
                    <a:pt x="1816925" y="693724"/>
                  </a:lnTo>
                  <a:lnTo>
                    <a:pt x="1362595" y="0"/>
                  </a:lnTo>
                  <a:close/>
                </a:path>
              </a:pathLst>
            </a:custGeom>
            <a:solidFill>
              <a:srgbClr val="F2F2F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18" name="Google Shape;1318;p57"/>
            <p:cNvGrpSpPr/>
            <p:nvPr/>
          </p:nvGrpSpPr>
          <p:grpSpPr>
            <a:xfrm>
              <a:off x="3471268" y="2020143"/>
              <a:ext cx="1656912" cy="1386205"/>
              <a:chOff x="3471268" y="2020143"/>
              <a:chExt cx="1656912" cy="1386205"/>
            </a:xfrm>
          </p:grpSpPr>
          <p:sp>
            <p:nvSpPr>
              <p:cNvPr id="1319" name="Google Shape;1319;p57"/>
              <p:cNvSpPr/>
              <p:nvPr/>
            </p:nvSpPr>
            <p:spPr>
              <a:xfrm>
                <a:off x="3471268" y="2020143"/>
                <a:ext cx="1656912" cy="1386205"/>
              </a:xfrm>
              <a:custGeom>
                <a:rect b="b" l="l" r="r" t="t"/>
                <a:pathLst>
                  <a:path extrusionOk="0" h="1386204" w="1817370">
                    <a:moveTo>
                      <a:pt x="1362240" y="0"/>
                    </a:moveTo>
                    <a:lnTo>
                      <a:pt x="454317" y="0"/>
                    </a:lnTo>
                    <a:lnTo>
                      <a:pt x="0" y="693000"/>
                    </a:lnTo>
                    <a:lnTo>
                      <a:pt x="454317" y="1385646"/>
                    </a:lnTo>
                    <a:lnTo>
                      <a:pt x="1362240" y="1385646"/>
                    </a:lnTo>
                    <a:lnTo>
                      <a:pt x="1816912" y="693000"/>
                    </a:lnTo>
                    <a:lnTo>
                      <a:pt x="1362240" y="0"/>
                    </a:lnTo>
                    <a:close/>
                  </a:path>
                </a:pathLst>
              </a:custGeom>
              <a:solidFill>
                <a:schemeClr val="accent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0" name="Google Shape;1320;p57"/>
              <p:cNvSpPr txBox="1"/>
              <p:nvPr/>
            </p:nvSpPr>
            <p:spPr>
              <a:xfrm>
                <a:off x="3738179" y="2390080"/>
                <a:ext cx="1123091"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Single Name</a:t>
                </a:r>
                <a:endParaRPr b="1" i="0" sz="1800" u="none" cap="none" strike="noStrike">
                  <a:solidFill>
                    <a:schemeClr val="lt1"/>
                  </a:solidFill>
                  <a:latin typeface="Arial"/>
                  <a:ea typeface="Arial"/>
                  <a:cs typeface="Arial"/>
                  <a:sym typeface="Arial"/>
                </a:endParaRPr>
              </a:p>
            </p:txBody>
          </p:sp>
        </p:grpSp>
        <p:grpSp>
          <p:nvGrpSpPr>
            <p:cNvPr id="1321" name="Google Shape;1321;p57"/>
            <p:cNvGrpSpPr/>
            <p:nvPr/>
          </p:nvGrpSpPr>
          <p:grpSpPr>
            <a:xfrm>
              <a:off x="4930701" y="4468500"/>
              <a:ext cx="1656912" cy="1387475"/>
              <a:chOff x="4930701" y="4468500"/>
              <a:chExt cx="1656912" cy="1387475"/>
            </a:xfrm>
          </p:grpSpPr>
          <p:sp>
            <p:nvSpPr>
              <p:cNvPr id="1322" name="Google Shape;1322;p57"/>
              <p:cNvSpPr/>
              <p:nvPr/>
            </p:nvSpPr>
            <p:spPr>
              <a:xfrm>
                <a:off x="4930701" y="4468500"/>
                <a:ext cx="1656912" cy="1387475"/>
              </a:xfrm>
              <a:custGeom>
                <a:rect b="b" l="l" r="r" t="t"/>
                <a:pathLst>
                  <a:path extrusionOk="0" h="1387475" w="1817370">
                    <a:moveTo>
                      <a:pt x="1362595" y="0"/>
                    </a:moveTo>
                    <a:lnTo>
                      <a:pt x="453961" y="0"/>
                    </a:lnTo>
                    <a:lnTo>
                      <a:pt x="0" y="693724"/>
                    </a:lnTo>
                    <a:lnTo>
                      <a:pt x="453961" y="1387081"/>
                    </a:lnTo>
                    <a:lnTo>
                      <a:pt x="1362595" y="1387081"/>
                    </a:lnTo>
                    <a:lnTo>
                      <a:pt x="1816925" y="693724"/>
                    </a:lnTo>
                    <a:lnTo>
                      <a:pt x="1362595" y="0"/>
                    </a:lnTo>
                    <a:close/>
                  </a:path>
                </a:pathLst>
              </a:custGeom>
              <a:solidFill>
                <a:schemeClr val="accent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3" name="Google Shape;1323;p57"/>
              <p:cNvSpPr txBox="1"/>
              <p:nvPr/>
            </p:nvSpPr>
            <p:spPr>
              <a:xfrm>
                <a:off x="5197612" y="4977571"/>
                <a:ext cx="1123091"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Naked</a:t>
                </a:r>
                <a:endParaRPr b="1" i="0" sz="1800" u="none" cap="none" strike="noStrike">
                  <a:solidFill>
                    <a:schemeClr val="lt1"/>
                  </a:solidFill>
                  <a:latin typeface="Arial"/>
                  <a:ea typeface="Arial"/>
                  <a:cs typeface="Arial"/>
                  <a:sym typeface="Arial"/>
                </a:endParaRPr>
              </a:p>
            </p:txBody>
          </p:sp>
        </p:grpSp>
        <p:grpSp>
          <p:nvGrpSpPr>
            <p:cNvPr id="1324" name="Google Shape;1324;p57"/>
            <p:cNvGrpSpPr/>
            <p:nvPr/>
          </p:nvGrpSpPr>
          <p:grpSpPr>
            <a:xfrm>
              <a:off x="6429746" y="2020143"/>
              <a:ext cx="1656912" cy="1386205"/>
              <a:chOff x="6429746" y="2020143"/>
              <a:chExt cx="1656912" cy="1386205"/>
            </a:xfrm>
          </p:grpSpPr>
          <p:sp>
            <p:nvSpPr>
              <p:cNvPr id="1325" name="Google Shape;1325;p57"/>
              <p:cNvSpPr/>
              <p:nvPr/>
            </p:nvSpPr>
            <p:spPr>
              <a:xfrm>
                <a:off x="6429746" y="2020143"/>
                <a:ext cx="1656912" cy="1386205"/>
              </a:xfrm>
              <a:custGeom>
                <a:rect b="b" l="l" r="r" t="t"/>
                <a:pathLst>
                  <a:path extrusionOk="0" h="1386204" w="1817370">
                    <a:moveTo>
                      <a:pt x="1362240" y="0"/>
                    </a:moveTo>
                    <a:lnTo>
                      <a:pt x="454317" y="0"/>
                    </a:lnTo>
                    <a:lnTo>
                      <a:pt x="0" y="693000"/>
                    </a:lnTo>
                    <a:lnTo>
                      <a:pt x="454317" y="1385646"/>
                    </a:lnTo>
                    <a:lnTo>
                      <a:pt x="1362240" y="1385646"/>
                    </a:lnTo>
                    <a:lnTo>
                      <a:pt x="1816912" y="693000"/>
                    </a:lnTo>
                    <a:lnTo>
                      <a:pt x="1362240" y="0"/>
                    </a:lnTo>
                    <a:close/>
                  </a:path>
                </a:pathLst>
              </a:custGeom>
              <a:solidFill>
                <a:schemeClr val="accent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6" name="Google Shape;1326;p57"/>
              <p:cNvSpPr txBox="1"/>
              <p:nvPr/>
            </p:nvSpPr>
            <p:spPr>
              <a:xfrm>
                <a:off x="6696657" y="2528579"/>
                <a:ext cx="1123091"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Basket</a:t>
                </a:r>
                <a:endParaRPr b="1" i="0" sz="1800" u="none" cap="none" strike="noStrike">
                  <a:solidFill>
                    <a:schemeClr val="lt1"/>
                  </a:solidFill>
                  <a:latin typeface="Arial"/>
                  <a:ea typeface="Arial"/>
                  <a:cs typeface="Arial"/>
                  <a:sym typeface="Arial"/>
                </a:endParaRPr>
              </a:p>
            </p:txBody>
          </p:sp>
        </p:grpSp>
        <p:grpSp>
          <p:nvGrpSpPr>
            <p:cNvPr id="1327" name="Google Shape;1327;p57"/>
            <p:cNvGrpSpPr/>
            <p:nvPr/>
          </p:nvGrpSpPr>
          <p:grpSpPr>
            <a:xfrm>
              <a:off x="4913062" y="2901696"/>
              <a:ext cx="1646375" cy="1583944"/>
              <a:chOff x="5040062" y="2901696"/>
              <a:chExt cx="1646375" cy="1583944"/>
            </a:xfrm>
          </p:grpSpPr>
          <p:cxnSp>
            <p:nvCxnSpPr>
              <p:cNvPr id="1328" name="Google Shape;1328;p57"/>
              <p:cNvCxnSpPr/>
              <p:nvPr/>
            </p:nvCxnSpPr>
            <p:spPr>
              <a:xfrm>
                <a:off x="5040062" y="3077454"/>
                <a:ext cx="858078" cy="496669"/>
              </a:xfrm>
              <a:prstGeom prst="straightConnector1">
                <a:avLst/>
              </a:prstGeom>
              <a:noFill/>
              <a:ln cap="flat" cmpd="sng" w="12700">
                <a:solidFill>
                  <a:srgbClr val="BFBFBF"/>
                </a:solidFill>
                <a:prstDash val="dash"/>
                <a:miter lim="800000"/>
                <a:headEnd len="sm" w="sm" type="none"/>
                <a:tailEnd len="sm" w="sm" type="none"/>
              </a:ln>
            </p:spPr>
          </p:cxnSp>
          <p:cxnSp>
            <p:nvCxnSpPr>
              <p:cNvPr id="1329" name="Google Shape;1329;p57"/>
              <p:cNvCxnSpPr/>
              <p:nvPr/>
            </p:nvCxnSpPr>
            <p:spPr>
              <a:xfrm flipH="1" rot="10800000">
                <a:off x="5915607" y="2901696"/>
                <a:ext cx="770830" cy="669689"/>
              </a:xfrm>
              <a:prstGeom prst="straightConnector1">
                <a:avLst/>
              </a:prstGeom>
              <a:noFill/>
              <a:ln cap="flat" cmpd="sng" w="12700">
                <a:solidFill>
                  <a:srgbClr val="BFBFBF"/>
                </a:solidFill>
                <a:prstDash val="dash"/>
                <a:miter lim="800000"/>
                <a:headEnd len="sm" w="sm" type="none"/>
                <a:tailEnd len="sm" w="sm" type="none"/>
              </a:ln>
            </p:spPr>
          </p:cxnSp>
          <p:cxnSp>
            <p:nvCxnSpPr>
              <p:cNvPr id="1330" name="Google Shape;1330;p57"/>
              <p:cNvCxnSpPr/>
              <p:nvPr/>
            </p:nvCxnSpPr>
            <p:spPr>
              <a:xfrm rot="10800000">
                <a:off x="5898140" y="3574125"/>
                <a:ext cx="0" cy="911515"/>
              </a:xfrm>
              <a:prstGeom prst="straightConnector1">
                <a:avLst/>
              </a:prstGeom>
              <a:noFill/>
              <a:ln cap="flat" cmpd="sng" w="12700">
                <a:solidFill>
                  <a:srgbClr val="BFBFBF"/>
                </a:solidFill>
                <a:prstDash val="dash"/>
                <a:miter lim="800000"/>
                <a:headEnd len="sm" w="sm" type="none"/>
                <a:tailEnd len="sm" w="sm" type="none"/>
              </a:ln>
            </p:spPr>
          </p:cxnSp>
        </p:grpSp>
      </p:gr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4" name="Shape 1334"/>
        <p:cNvGrpSpPr/>
        <p:nvPr/>
      </p:nvGrpSpPr>
      <p:grpSpPr>
        <a:xfrm>
          <a:off x="0" y="0"/>
          <a:ext cx="0" cy="0"/>
          <a:chOff x="0" y="0"/>
          <a:chExt cx="0" cy="0"/>
        </a:xfrm>
      </p:grpSpPr>
      <p:sp>
        <p:nvSpPr>
          <p:cNvPr id="1335" name="Google Shape;1335;p58"/>
          <p:cNvSpPr txBox="1"/>
          <p:nvPr>
            <p:ph type="title"/>
          </p:nvPr>
        </p:nvSpPr>
        <p:spPr>
          <a:xfrm>
            <a:off x="700088" y="404869"/>
            <a:ext cx="10515600" cy="716422"/>
          </a:xfrm>
          <a:prstGeom prst="rect">
            <a:avLst/>
          </a:prstGeom>
          <a:noFill/>
          <a:ln>
            <a:noFill/>
          </a:ln>
        </p:spPr>
        <p:txBody>
          <a:bodyPr anchorCtr="0" anchor="ctr" bIns="45700" lIns="0" spcFirstLastPara="1" rIns="91425" wrap="square" tIns="45700">
            <a:normAutofit/>
          </a:bodyPr>
          <a:lstStyle/>
          <a:p>
            <a:pPr indent="0" lvl="0" marL="0" rtl="0" algn="l">
              <a:lnSpc>
                <a:spcPct val="90000"/>
              </a:lnSpc>
              <a:spcBef>
                <a:spcPts val="0"/>
              </a:spcBef>
              <a:spcAft>
                <a:spcPts val="0"/>
              </a:spcAft>
              <a:buClr>
                <a:srgbClr val="323F4F"/>
              </a:buClr>
              <a:buSzPts val="2200"/>
              <a:buFont typeface="Arial"/>
              <a:buNone/>
            </a:pPr>
            <a:r>
              <a:rPr lang="en-US"/>
              <a:t>DERIVATIVES - SWAPS</a:t>
            </a:r>
            <a:endParaRPr/>
          </a:p>
        </p:txBody>
      </p:sp>
      <p:sp>
        <p:nvSpPr>
          <p:cNvPr id="1336" name="Google Shape;1336;p58"/>
          <p:cNvSpPr txBox="1"/>
          <p:nvPr/>
        </p:nvSpPr>
        <p:spPr>
          <a:xfrm>
            <a:off x="977900" y="1485900"/>
            <a:ext cx="10675938" cy="4806745"/>
          </a:xfrm>
          <a:prstGeom prst="rect">
            <a:avLst/>
          </a:prstGeom>
          <a:solidFill>
            <a:srgbClr val="DAF3EB"/>
          </a:solidFill>
          <a:ln>
            <a:noFill/>
          </a:ln>
        </p:spPr>
        <p:txBody>
          <a:bodyPr anchorCtr="0" anchor="ctr" bIns="45700" lIns="180000" spcFirstLastPara="1" rIns="91425" wrap="square" tIns="180000">
            <a:noAutofit/>
          </a:bodyPr>
          <a:lstStyle/>
          <a:p>
            <a:pPr indent="0" lvl="0" marL="0" marR="0" rtl="0" algn="ctr">
              <a:lnSpc>
                <a:spcPct val="9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grpSp>
        <p:nvGrpSpPr>
          <p:cNvPr id="1337" name="Google Shape;1337;p58"/>
          <p:cNvGrpSpPr/>
          <p:nvPr/>
        </p:nvGrpSpPr>
        <p:grpSpPr>
          <a:xfrm>
            <a:off x="685791" y="2716088"/>
            <a:ext cx="2438409" cy="2346368"/>
            <a:chOff x="685791" y="2714258"/>
            <a:chExt cx="2438409" cy="2346368"/>
          </a:xfrm>
        </p:grpSpPr>
        <p:sp>
          <p:nvSpPr>
            <p:cNvPr id="1338" name="Google Shape;1338;p58"/>
            <p:cNvSpPr/>
            <p:nvPr/>
          </p:nvSpPr>
          <p:spPr>
            <a:xfrm>
              <a:off x="685800" y="2714258"/>
              <a:ext cx="292100" cy="197068"/>
            </a:xfrm>
            <a:prstGeom prst="triangle">
              <a:avLst>
                <a:gd fmla="val 100000" name="adj"/>
              </a:avLst>
            </a:prstGeom>
            <a:solidFill>
              <a:srgbClr val="20685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39" name="Google Shape;1339;p58"/>
            <p:cNvSpPr/>
            <p:nvPr/>
          </p:nvSpPr>
          <p:spPr>
            <a:xfrm flipH="1" rot="10800000">
              <a:off x="685800" y="4863558"/>
              <a:ext cx="292100" cy="197068"/>
            </a:xfrm>
            <a:prstGeom prst="triangle">
              <a:avLst>
                <a:gd fmla="val 100000" name="adj"/>
              </a:avLst>
            </a:prstGeom>
            <a:solidFill>
              <a:srgbClr val="20685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40" name="Google Shape;1340;p58"/>
            <p:cNvSpPr/>
            <p:nvPr/>
          </p:nvSpPr>
          <p:spPr>
            <a:xfrm rot="5400000">
              <a:off x="928885" y="2668247"/>
              <a:ext cx="1952231" cy="2438399"/>
            </a:xfrm>
            <a:prstGeom prst="round2SameRect">
              <a:avLst>
                <a:gd fmla="val 16667" name="adj1"/>
                <a:gd fmla="val 0" name="adj2"/>
              </a:avLst>
            </a:prstGeom>
            <a:solidFill>
              <a:schemeClr val="accent3"/>
            </a:solidFill>
            <a:ln cap="flat" cmpd="sng" w="12700">
              <a:solidFill>
                <a:schemeClr val="accent3"/>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1" name="Google Shape;1341;p58"/>
            <p:cNvSpPr txBox="1"/>
            <p:nvPr/>
          </p:nvSpPr>
          <p:spPr>
            <a:xfrm>
              <a:off x="685791" y="3006609"/>
              <a:ext cx="2343099" cy="1761631"/>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Arial"/>
                  <a:ea typeface="Arial"/>
                  <a:cs typeface="Arial"/>
                  <a:sym typeface="Arial"/>
                </a:rPr>
                <a:t>Credit Default</a:t>
              </a:r>
              <a:br>
                <a:rPr b="1" i="0" lang="en-US" sz="1800" u="none" cap="none" strike="noStrike">
                  <a:solidFill>
                    <a:schemeClr val="lt1"/>
                  </a:solidFill>
                  <a:latin typeface="Arial"/>
                  <a:ea typeface="Arial"/>
                  <a:cs typeface="Arial"/>
                  <a:sym typeface="Arial"/>
                </a:rPr>
              </a:br>
              <a:r>
                <a:rPr b="1" i="0" lang="en-US" sz="1800" u="none" cap="none" strike="noStrike">
                  <a:solidFill>
                    <a:schemeClr val="lt1"/>
                  </a:solidFill>
                  <a:latin typeface="Arial"/>
                  <a:ea typeface="Arial"/>
                  <a:cs typeface="Arial"/>
                  <a:sym typeface="Arial"/>
                </a:rPr>
                <a:t>Swaps – Trade Economics</a:t>
              </a:r>
              <a:endParaRPr b="1" i="0" sz="1400" u="none" cap="none" strike="noStrike">
                <a:solidFill>
                  <a:srgbClr val="000000"/>
                </a:solidFill>
                <a:latin typeface="Arial"/>
                <a:ea typeface="Arial"/>
                <a:cs typeface="Arial"/>
                <a:sym typeface="Arial"/>
              </a:endParaRPr>
            </a:p>
          </p:txBody>
        </p:sp>
      </p:grpSp>
      <p:pic>
        <p:nvPicPr>
          <p:cNvPr id="1342" name="Google Shape;1342;p58"/>
          <p:cNvPicPr preferRelativeResize="0"/>
          <p:nvPr/>
        </p:nvPicPr>
        <p:blipFill rotWithShape="1">
          <a:blip r:embed="rId3">
            <a:alphaModFix/>
          </a:blip>
          <a:srcRect b="0" l="0" r="0" t="0"/>
          <a:stretch/>
        </p:blipFill>
        <p:spPr>
          <a:xfrm>
            <a:off x="3573145" y="885825"/>
            <a:ext cx="6153150" cy="553339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6" name="Shape 1346"/>
        <p:cNvGrpSpPr/>
        <p:nvPr/>
      </p:nvGrpSpPr>
      <p:grpSpPr>
        <a:xfrm>
          <a:off x="0" y="0"/>
          <a:ext cx="0" cy="0"/>
          <a:chOff x="0" y="0"/>
          <a:chExt cx="0" cy="0"/>
        </a:xfrm>
      </p:grpSpPr>
      <p:sp>
        <p:nvSpPr>
          <p:cNvPr id="1347" name="Google Shape;1347;p59"/>
          <p:cNvSpPr/>
          <p:nvPr/>
        </p:nvSpPr>
        <p:spPr>
          <a:xfrm>
            <a:off x="0" y="0"/>
            <a:ext cx="12192000" cy="6858000"/>
          </a:xfrm>
          <a:prstGeom prst="roundRect">
            <a:avLst>
              <a:gd fmla="val 0" name="adj"/>
            </a:avLst>
          </a:prstGeom>
          <a:gradFill>
            <a:gsLst>
              <a:gs pos="0">
                <a:schemeClr val="accent3"/>
              </a:gs>
              <a:gs pos="40000">
                <a:schemeClr val="accent4"/>
              </a:gs>
              <a:gs pos="71000">
                <a:schemeClr val="accent5"/>
              </a:gs>
              <a:gs pos="100000">
                <a:srgbClr val="00365E"/>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chemeClr val="dk2"/>
                </a:solidFill>
                <a:latin typeface="Arial"/>
                <a:ea typeface="Arial"/>
                <a:cs typeface="Arial"/>
                <a:sym typeface="Arial"/>
              </a:rPr>
              <a:t>Its time to play KAHOOT Quiz</a:t>
            </a:r>
            <a:endParaRPr b="1" i="0" sz="4800" u="none" cap="none" strike="noStrike">
              <a:solidFill>
                <a:schemeClr val="dk2"/>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800"/>
              <a:buFont typeface="Arial"/>
              <a:buNone/>
            </a:pPr>
            <a:r>
              <a:t/>
            </a:r>
            <a:endParaRPr b="1" i="0" sz="4800" u="none" cap="none" strike="noStrike">
              <a:solidFill>
                <a:schemeClr val="lt2"/>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800"/>
              <a:buFont typeface="Arial"/>
              <a:buNone/>
            </a:pPr>
            <a:r>
              <a:t/>
            </a:r>
            <a:endParaRPr b="1" i="0" sz="4800" u="none" cap="none" strike="noStrike">
              <a:solidFill>
                <a:schemeClr val="lt2"/>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800"/>
              <a:buFont typeface="Arial"/>
              <a:buNone/>
            </a:pPr>
            <a:r>
              <a:t/>
            </a:r>
            <a:endParaRPr b="1" i="0" sz="4800" u="none" cap="none" strike="noStrike">
              <a:solidFill>
                <a:schemeClr val="lt2"/>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800"/>
              <a:buFont typeface="Arial"/>
              <a:buNone/>
            </a:pPr>
            <a:r>
              <a:t/>
            </a:r>
            <a:endParaRPr b="1" i="0" sz="4800" u="none" cap="none" strike="noStrike">
              <a:solidFill>
                <a:schemeClr val="lt2"/>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800"/>
              <a:buFont typeface="Arial"/>
              <a:buNone/>
            </a:pPr>
            <a:r>
              <a:t/>
            </a:r>
            <a:endParaRPr b="1" i="0" sz="4800" u="none" cap="none" strike="noStrike">
              <a:solidFill>
                <a:schemeClr val="lt2"/>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800"/>
              <a:buFont typeface="Arial"/>
              <a:buNone/>
            </a:pPr>
            <a:r>
              <a:t/>
            </a:r>
            <a:endParaRPr b="1" i="0" sz="4800" u="none" cap="none" strike="noStrike">
              <a:solidFill>
                <a:schemeClr val="lt2"/>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800"/>
              <a:buFont typeface="Arial"/>
              <a:buNone/>
            </a:pPr>
            <a:r>
              <a:t/>
            </a:r>
            <a:endParaRPr b="1" i="0" sz="4800" u="none" cap="none" strike="noStrike">
              <a:solidFill>
                <a:schemeClr val="lt2"/>
              </a:solidFill>
              <a:latin typeface="Arial"/>
              <a:ea typeface="Arial"/>
              <a:cs typeface="Arial"/>
              <a:sym typeface="Arial"/>
            </a:endParaRPr>
          </a:p>
        </p:txBody>
      </p:sp>
      <p:sp>
        <p:nvSpPr>
          <p:cNvPr id="1348" name="Google Shape;1348;p59"/>
          <p:cNvSpPr txBox="1"/>
          <p:nvPr/>
        </p:nvSpPr>
        <p:spPr>
          <a:xfrm>
            <a:off x="3799726" y="6082301"/>
            <a:ext cx="4592549"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sng" cap="none" strike="noStrike">
                <a:solidFill>
                  <a:schemeClr val="lt1"/>
                </a:solidFill>
                <a:latin typeface="Arial"/>
                <a:ea typeface="Arial"/>
                <a:cs typeface="Arial"/>
                <a:sym typeface="Arial"/>
                <a:hlinkClick r:id="rId3">
                  <a:extLst>
                    <a:ext uri="{A12FA001-AC4F-418D-AE19-62706E023703}">
                      <ahyp:hlinkClr val="tx"/>
                    </a:ext>
                  </a:extLst>
                </a:hlinkClick>
              </a:rPr>
              <a:t>Click here to start the quiz</a:t>
            </a:r>
            <a:endParaRPr b="1" i="0" sz="1800" u="none" cap="none" strike="noStrike">
              <a:solidFill>
                <a:schemeClr val="lt1"/>
              </a:solidFill>
              <a:latin typeface="Arial"/>
              <a:ea typeface="Arial"/>
              <a:cs typeface="Arial"/>
              <a:sym typeface="Arial"/>
            </a:endParaRPr>
          </a:p>
        </p:txBody>
      </p:sp>
      <p:pic>
        <p:nvPicPr>
          <p:cNvPr id="1349" name="Google Shape;1349;p59"/>
          <p:cNvPicPr preferRelativeResize="0"/>
          <p:nvPr/>
        </p:nvPicPr>
        <p:blipFill rotWithShape="1">
          <a:blip r:embed="rId4">
            <a:alphaModFix/>
          </a:blip>
          <a:srcRect b="0" l="0" r="0" t="0"/>
          <a:stretch/>
        </p:blipFill>
        <p:spPr>
          <a:xfrm>
            <a:off x="3751778" y="2273799"/>
            <a:ext cx="4688444" cy="2637250"/>
          </a:xfrm>
          <a:prstGeom prst="snip2DiagRect">
            <a:avLst>
              <a:gd fmla="val 0" name="adj1"/>
              <a:gd fmla="val 16667" name="adj2"/>
            </a:avLst>
          </a:prstGeom>
          <a:solidFill>
            <a:srgbClr val="ECECEC"/>
          </a:solidFill>
          <a:ln cap="sq" cmpd="sng" w="88900">
            <a:solidFill>
              <a:srgbClr val="7030A0"/>
            </a:solidFill>
            <a:prstDash val="solid"/>
            <a:miter lim="800000"/>
            <a:headEnd len="sm" w="sm" type="none"/>
            <a:tailEnd len="sm" w="sm" type="none"/>
          </a:ln>
          <a:effectLst>
            <a:outerShdw blurRad="88900" rotWithShape="0" algn="tl">
              <a:srgbClr val="000000">
                <a:alpha val="44705"/>
              </a:srgbClr>
            </a:outerShdw>
          </a:effectLst>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grpSp>
        <p:nvGrpSpPr>
          <p:cNvPr id="1354" name="Google Shape;1354;p60"/>
          <p:cNvGrpSpPr/>
          <p:nvPr/>
        </p:nvGrpSpPr>
        <p:grpSpPr>
          <a:xfrm>
            <a:off x="4820748" y="531121"/>
            <a:ext cx="7371252" cy="6326878"/>
            <a:chOff x="4820748" y="531121"/>
            <a:chExt cx="7371252" cy="6326878"/>
          </a:xfrm>
        </p:grpSpPr>
        <p:sp>
          <p:nvSpPr>
            <p:cNvPr id="1355" name="Google Shape;1355;p60"/>
            <p:cNvSpPr/>
            <p:nvPr/>
          </p:nvSpPr>
          <p:spPr>
            <a:xfrm>
              <a:off x="4820748" y="531121"/>
              <a:ext cx="7371252" cy="6326878"/>
            </a:xfrm>
            <a:custGeom>
              <a:rect b="b" l="l" r="r" t="t"/>
              <a:pathLst>
                <a:path extrusionOk="0" h="6326878" w="7371252">
                  <a:moveTo>
                    <a:pt x="4069070" y="0"/>
                  </a:moveTo>
                  <a:cubicBezTo>
                    <a:pt x="5403395" y="0"/>
                    <a:pt x="6587716" y="642250"/>
                    <a:pt x="7329760" y="1634481"/>
                  </a:cubicBezTo>
                  <a:lnTo>
                    <a:pt x="7371252" y="1692828"/>
                  </a:lnTo>
                  <a:lnTo>
                    <a:pt x="7371252" y="6326878"/>
                  </a:lnTo>
                  <a:lnTo>
                    <a:pt x="683876" y="6326878"/>
                  </a:lnTo>
                  <a:lnTo>
                    <a:pt x="589093" y="6179031"/>
                  </a:lnTo>
                  <a:cubicBezTo>
                    <a:pt x="215270" y="5563799"/>
                    <a:pt x="0" y="4841574"/>
                    <a:pt x="0" y="4069070"/>
                  </a:cubicBezTo>
                  <a:cubicBezTo>
                    <a:pt x="0" y="1821785"/>
                    <a:pt x="1821785" y="0"/>
                    <a:pt x="4069070" y="0"/>
                  </a:cubicBezTo>
                  <a:close/>
                </a:path>
              </a:pathLst>
            </a:custGeom>
            <a:solidFill>
              <a:srgbClr val="E0F7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cxnSp>
          <p:nvCxnSpPr>
            <p:cNvPr id="1356" name="Google Shape;1356;p60"/>
            <p:cNvCxnSpPr/>
            <p:nvPr/>
          </p:nvCxnSpPr>
          <p:spPr>
            <a:xfrm>
              <a:off x="11883463" y="4050043"/>
              <a:ext cx="0" cy="1986517"/>
            </a:xfrm>
            <a:prstGeom prst="straightConnector1">
              <a:avLst/>
            </a:prstGeom>
            <a:noFill/>
            <a:ln cap="flat" cmpd="sng" w="9525">
              <a:solidFill>
                <a:srgbClr val="7F7F7F"/>
              </a:solidFill>
              <a:prstDash val="solid"/>
              <a:miter lim="800000"/>
              <a:headEnd len="sm" w="sm" type="none"/>
              <a:tailEnd len="sm" w="sm" type="none"/>
            </a:ln>
          </p:spPr>
        </p:cxnSp>
      </p:grpSp>
      <p:grpSp>
        <p:nvGrpSpPr>
          <p:cNvPr id="1357" name="Google Shape;1357;p60"/>
          <p:cNvGrpSpPr/>
          <p:nvPr/>
        </p:nvGrpSpPr>
        <p:grpSpPr>
          <a:xfrm>
            <a:off x="0" y="0"/>
            <a:ext cx="3264675" cy="3483123"/>
            <a:chOff x="0" y="0"/>
            <a:chExt cx="3264675" cy="3483123"/>
          </a:xfrm>
        </p:grpSpPr>
        <p:sp>
          <p:nvSpPr>
            <p:cNvPr id="1358" name="Google Shape;1358;p60"/>
            <p:cNvSpPr/>
            <p:nvPr/>
          </p:nvSpPr>
          <p:spPr>
            <a:xfrm>
              <a:off x="0" y="0"/>
              <a:ext cx="3264675" cy="3483123"/>
            </a:xfrm>
            <a:custGeom>
              <a:rect b="b" l="l" r="r" t="t"/>
              <a:pathLst>
                <a:path extrusionOk="0" h="3483123" w="3264675">
                  <a:moveTo>
                    <a:pt x="0" y="0"/>
                  </a:moveTo>
                  <a:lnTo>
                    <a:pt x="2576937" y="0"/>
                  </a:lnTo>
                  <a:lnTo>
                    <a:pt x="2683716" y="97048"/>
                  </a:lnTo>
                  <a:cubicBezTo>
                    <a:pt x="3042662" y="455994"/>
                    <a:pt x="3264675" y="951873"/>
                    <a:pt x="3264675" y="1499606"/>
                  </a:cubicBezTo>
                  <a:cubicBezTo>
                    <a:pt x="3264675" y="2595072"/>
                    <a:pt x="2376624" y="3483123"/>
                    <a:pt x="1281158" y="3483123"/>
                  </a:cubicBezTo>
                  <a:cubicBezTo>
                    <a:pt x="801892" y="3483123"/>
                    <a:pt x="362326" y="3313145"/>
                    <a:pt x="19457" y="3030184"/>
                  </a:cubicBezTo>
                  <a:lnTo>
                    <a:pt x="0" y="3012501"/>
                  </a:lnTo>
                  <a:close/>
                </a:path>
              </a:pathLst>
            </a:cu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359" name="Google Shape;1359;p60"/>
            <p:cNvSpPr/>
            <p:nvPr/>
          </p:nvSpPr>
          <p:spPr>
            <a:xfrm>
              <a:off x="0" y="0"/>
              <a:ext cx="3264675" cy="3483123"/>
            </a:xfrm>
            <a:custGeom>
              <a:rect b="b" l="l" r="r" t="t"/>
              <a:pathLst>
                <a:path extrusionOk="0" h="3483123" w="3264675">
                  <a:moveTo>
                    <a:pt x="0" y="0"/>
                  </a:moveTo>
                  <a:lnTo>
                    <a:pt x="2576937" y="0"/>
                  </a:lnTo>
                  <a:lnTo>
                    <a:pt x="2683716" y="97048"/>
                  </a:lnTo>
                  <a:cubicBezTo>
                    <a:pt x="3042662" y="455994"/>
                    <a:pt x="3264675" y="951873"/>
                    <a:pt x="3264675" y="1499606"/>
                  </a:cubicBezTo>
                  <a:cubicBezTo>
                    <a:pt x="3264675" y="2595072"/>
                    <a:pt x="2376624" y="3483123"/>
                    <a:pt x="1281158" y="3483123"/>
                  </a:cubicBezTo>
                  <a:cubicBezTo>
                    <a:pt x="801892" y="3483123"/>
                    <a:pt x="362326" y="3313145"/>
                    <a:pt x="19457" y="3030184"/>
                  </a:cubicBezTo>
                  <a:lnTo>
                    <a:pt x="0" y="3012501"/>
                  </a:lnTo>
                  <a:close/>
                </a:path>
              </a:pathLst>
            </a:custGeom>
            <a:solidFill>
              <a:schemeClr val="accent4">
                <a:alpha val="83529"/>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grpSp>
      <p:sp>
        <p:nvSpPr>
          <p:cNvPr id="1360" name="Google Shape;1360;p60"/>
          <p:cNvSpPr/>
          <p:nvPr/>
        </p:nvSpPr>
        <p:spPr>
          <a:xfrm>
            <a:off x="745108" y="855691"/>
            <a:ext cx="5471182" cy="5471187"/>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descr="A person in a suit shaking hands with another person&#10;&#10;Description automatically generated" id="1361" name="Google Shape;1361;p60"/>
          <p:cNvPicPr preferRelativeResize="0"/>
          <p:nvPr/>
        </p:nvPicPr>
        <p:blipFill rotWithShape="1">
          <a:blip r:embed="rId4">
            <a:alphaModFix/>
          </a:blip>
          <a:srcRect b="949" l="17301" r="17301" t="950"/>
          <a:stretch/>
        </p:blipFill>
        <p:spPr>
          <a:xfrm>
            <a:off x="665986" y="855691"/>
            <a:ext cx="5471182" cy="5471187"/>
          </a:xfrm>
          <a:custGeom>
            <a:rect b="b" l="l" r="r" t="t"/>
            <a:pathLst>
              <a:path extrusionOk="0" h="5471188" w="5471182">
                <a:moveTo>
                  <a:pt x="2735591" y="0"/>
                </a:moveTo>
                <a:cubicBezTo>
                  <a:pt x="4246416" y="0"/>
                  <a:pt x="5471182" y="1224767"/>
                  <a:pt x="5471182" y="2735594"/>
                </a:cubicBezTo>
                <a:cubicBezTo>
                  <a:pt x="5471182" y="4246421"/>
                  <a:pt x="4246416" y="5471188"/>
                  <a:pt x="2735591" y="5471188"/>
                </a:cubicBezTo>
                <a:cubicBezTo>
                  <a:pt x="1224766" y="5471188"/>
                  <a:pt x="0" y="4246421"/>
                  <a:pt x="0" y="2735594"/>
                </a:cubicBezTo>
                <a:cubicBezTo>
                  <a:pt x="0" y="1224767"/>
                  <a:pt x="1224766" y="0"/>
                  <a:pt x="2735591" y="0"/>
                </a:cubicBezTo>
                <a:close/>
              </a:path>
            </a:pathLst>
          </a:custGeom>
          <a:noFill/>
          <a:ln>
            <a:noFill/>
          </a:ln>
        </p:spPr>
      </p:pic>
      <p:sp>
        <p:nvSpPr>
          <p:cNvPr id="1362" name="Google Shape;1362;p60"/>
          <p:cNvSpPr/>
          <p:nvPr/>
        </p:nvSpPr>
        <p:spPr>
          <a:xfrm>
            <a:off x="853414" y="855691"/>
            <a:ext cx="5471183" cy="5471187"/>
          </a:xfrm>
          <a:prstGeom prst="ellipse">
            <a:avLst/>
          </a:prstGeom>
          <a:noFill/>
          <a:ln cap="flat" cmpd="sng" w="1270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363" name="Google Shape;1363;p60"/>
          <p:cNvSpPr txBox="1"/>
          <p:nvPr/>
        </p:nvSpPr>
        <p:spPr>
          <a:xfrm>
            <a:off x="6803154" y="3472867"/>
            <a:ext cx="4885246"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AC6D1"/>
              </a:buClr>
              <a:buSzPts val="4800"/>
              <a:buFont typeface="Arial"/>
              <a:buNone/>
            </a:pPr>
            <a:r>
              <a:rPr b="1" i="0" lang="en-US" sz="4800" u="none" cap="none" strike="noStrike">
                <a:solidFill>
                  <a:srgbClr val="2AC6D1"/>
                </a:solidFill>
                <a:latin typeface="Arial"/>
                <a:ea typeface="Arial"/>
                <a:cs typeface="Arial"/>
                <a:sym typeface="Arial"/>
              </a:rPr>
              <a:t>THANK YOU !!!</a:t>
            </a:r>
            <a:endParaRPr b="1" i="0" sz="20600" u="none" cap="none" strike="noStrike">
              <a:solidFill>
                <a:srgbClr val="2AC6D1"/>
              </a:solidFill>
              <a:latin typeface="Arial"/>
              <a:ea typeface="Arial"/>
              <a:cs typeface="Arial"/>
              <a:sym typeface="Arial"/>
            </a:endParaRPr>
          </a:p>
        </p:txBody>
      </p:sp>
      <p:pic>
        <p:nvPicPr>
          <p:cNvPr descr="Text&#10;&#10;Description automatically generated" id="1364" name="Google Shape;1364;p60"/>
          <p:cNvPicPr preferRelativeResize="0"/>
          <p:nvPr/>
        </p:nvPicPr>
        <p:blipFill rotWithShape="1">
          <a:blip r:embed="rId5">
            <a:alphaModFix/>
          </a:blip>
          <a:srcRect b="8371" l="6879" r="6879" t="8371"/>
          <a:stretch/>
        </p:blipFill>
        <p:spPr>
          <a:xfrm>
            <a:off x="7828034" y="2437493"/>
            <a:ext cx="2835486" cy="830997"/>
          </a:xfrm>
          <a:prstGeom prst="rect">
            <a:avLst/>
          </a:prstGeom>
          <a:noFill/>
          <a:ln>
            <a:noFill/>
          </a:ln>
        </p:spPr>
      </p:pic>
      <p:sp>
        <p:nvSpPr>
          <p:cNvPr id="1365" name="Google Shape;1365;p60"/>
          <p:cNvSpPr txBox="1"/>
          <p:nvPr/>
        </p:nvSpPr>
        <p:spPr>
          <a:xfrm>
            <a:off x="7693241" y="5043301"/>
            <a:ext cx="3197881"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dk2"/>
                </a:solidFill>
                <a:latin typeface="Arial"/>
                <a:ea typeface="Arial"/>
                <a:cs typeface="Arial"/>
                <a:sym typeface="Arial"/>
              </a:rPr>
              <a:t>Contact us today!</a:t>
            </a:r>
            <a:br>
              <a:rPr b="1" i="0" lang="en-US" sz="2000" u="none" cap="none" strike="noStrike">
                <a:solidFill>
                  <a:schemeClr val="dk2"/>
                </a:solidFill>
                <a:latin typeface="Arial"/>
                <a:ea typeface="Arial"/>
                <a:cs typeface="Arial"/>
                <a:sym typeface="Arial"/>
              </a:rPr>
            </a:br>
            <a:r>
              <a:rPr b="0" i="0" lang="en-US" sz="2000" u="sng" cap="none" strike="noStrike">
                <a:solidFill>
                  <a:schemeClr val="dk2"/>
                </a:solidFill>
                <a:latin typeface="Arial"/>
                <a:ea typeface="Arial"/>
                <a:cs typeface="Arial"/>
                <a:sym typeface="Arial"/>
                <a:hlinkClick r:id="rId6">
                  <a:extLst>
                    <a:ext uri="{A12FA001-AC4F-418D-AE19-62706E023703}">
                      <ahyp:hlinkClr val="tx"/>
                    </a:ext>
                  </a:extLst>
                </a:hlinkClick>
              </a:rPr>
              <a:t>https://imarticus.org/</a:t>
            </a:r>
            <a:endParaRPr b="0" i="0" sz="2000" u="none" cap="none" strike="noStrike">
              <a:solidFill>
                <a:schemeClr val="dk2"/>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Imarticus_Elearning">
      <a:dk1>
        <a:srgbClr val="000000"/>
      </a:dk1>
      <a:lt1>
        <a:srgbClr val="FFFFFF"/>
      </a:lt1>
      <a:dk2>
        <a:srgbClr val="44546A"/>
      </a:dk2>
      <a:lt2>
        <a:srgbClr val="E7E6E6"/>
      </a:lt2>
      <a:accent1>
        <a:srgbClr val="E34855"/>
      </a:accent1>
      <a:accent2>
        <a:srgbClr val="F97700"/>
      </a:accent2>
      <a:accent3>
        <a:srgbClr val="4BC7A0"/>
      </a:accent3>
      <a:accent4>
        <a:srgbClr val="2AC6D1"/>
      </a:accent4>
      <a:accent5>
        <a:srgbClr val="5B9BD5"/>
      </a:accent5>
      <a:accent6>
        <a:srgbClr val="DD5148"/>
      </a:accent6>
      <a:hlink>
        <a:srgbClr val="333A45"/>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2025-08-27T18:36:00Z</dcterms:created>
  <dc:creator>Microsoft Office User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206951433E594A6594BFF651E94ADE1D_13</vt:lpwstr>
  </property>
  <property fmtid="{D5CDD505-2E9C-101B-9397-08002B2CF9AE}" pid="3" name="KSOProductBuildVer">
    <vt:lpwstr>1033-12.2.0.23196</vt:lpwstr>
  </property>
</Properties>
</file>