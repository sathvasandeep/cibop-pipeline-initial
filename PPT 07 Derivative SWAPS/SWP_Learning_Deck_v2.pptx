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365760"/>
          </a:xfrm>
          <a:prstGeom prst="rect">
            <a:avLst/>
          </a:prstGeom>
          <a:noFill/>
        </p:spPr>
        <p:txBody>
          <a:bodyPr wrap="square">
            <a:spAutoFit/>
          </a:bodyPr>
          <a:lstStyle/>
          <a:p>
            <a:pPr algn="l"/>
            <a:r>
              <a:rPr sz="900" b="1" i="0">
                <a:solidFill>
                  <a:srgbClr val="8B6914"/>
                </a:solidFill>
                <a:latin typeface="Calibri"/>
              </a:rPr>
              <a:t>CIBOP | CAPITAL MARKETS &amp; INVESTMENT BANKING OPERATIONS PROGRAMME</a:t>
            </a:r>
          </a:p>
        </p:txBody>
      </p:sp>
      <p:sp>
        <p:nvSpPr>
          <p:cNvPr id="4" name="TextBox 3"/>
          <p:cNvSpPr txBox="1"/>
          <p:nvPr/>
        </p:nvSpPr>
        <p:spPr>
          <a:xfrm>
            <a:off x="457200" y="1097280"/>
            <a:ext cx="8229600" cy="1280160"/>
          </a:xfrm>
          <a:prstGeom prst="rect">
            <a:avLst/>
          </a:prstGeom>
          <a:noFill/>
        </p:spPr>
        <p:txBody>
          <a:bodyPr wrap="square">
            <a:spAutoFit/>
          </a:bodyPr>
          <a:lstStyle/>
          <a:p>
            <a:pPr algn="l"/>
            <a:r>
              <a:rPr sz="4000" b="1" i="0">
                <a:solidFill>
                  <a:srgbClr val="FFFFFF"/>
                </a:solidFill>
                <a:latin typeface="Calibri"/>
              </a:rPr>
              <a:t>DERIVATIVES: SWAPS</a:t>
            </a:r>
          </a:p>
        </p:txBody>
      </p:sp>
      <p:sp>
        <p:nvSpPr>
          <p:cNvPr id="5" name="TextBox 4"/>
          <p:cNvSpPr txBox="1"/>
          <p:nvPr/>
        </p:nvSpPr>
        <p:spPr>
          <a:xfrm>
            <a:off x="457200" y="2286000"/>
            <a:ext cx="7772400" cy="640080"/>
          </a:xfrm>
          <a:prstGeom prst="rect">
            <a:avLst/>
          </a:prstGeom>
          <a:noFill/>
        </p:spPr>
        <p:txBody>
          <a:bodyPr wrap="square">
            <a:spAutoFit/>
          </a:bodyPr>
          <a:lstStyle/>
          <a:p>
            <a:pPr algn="l"/>
            <a:r>
              <a:rPr sz="1800" b="0" i="0">
                <a:solidFill>
                  <a:srgbClr val="005F5F"/>
                </a:solidFill>
                <a:latin typeface="Calibri"/>
              </a:rPr>
              <a:t>Module 7 — From Plain Vanilla IRS to Credit Default Swaps</a:t>
            </a:r>
          </a:p>
        </p:txBody>
      </p:sp>
      <p:sp>
        <p:nvSpPr>
          <p:cNvPr id="6" name="Rectangle 5"/>
          <p:cNvSpPr/>
          <p:nvPr/>
        </p:nvSpPr>
        <p:spPr>
          <a:xfrm>
            <a:off x="457200" y="3108960"/>
            <a:ext cx="8229600" cy="201168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200400"/>
            <a:ext cx="7863840" cy="1828800"/>
          </a:xfrm>
          <a:prstGeom prst="rect">
            <a:avLst/>
          </a:prstGeom>
          <a:noFill/>
        </p:spPr>
        <p:txBody>
          <a:bodyPr wrap="square">
            <a:spAutoFit/>
          </a:bodyPr>
          <a:lstStyle/>
          <a:p>
            <a:pPr algn="l"/>
            <a:r>
              <a:rPr sz="1500" b="0" i="1">
                <a:solidFill>
                  <a:srgbClr val="FFFFFF"/>
                </a:solidFill>
                <a:latin typeface="Calibri"/>
              </a:rPr>
              <a:t>"Every day, trillions of dollars in interest rate risk, currency exposure, and credit risk change hands through one instrument that most people have never heard of — the swap. By the end of this module, you will be the person who has."</a:t>
            </a:r>
          </a:p>
        </p:txBody>
      </p:sp>
      <p:sp>
        <p:nvSpPr>
          <p:cNvPr id="8" name="Rectangle 7"/>
          <p:cNvSpPr/>
          <p:nvPr/>
        </p:nvSpPr>
        <p:spPr>
          <a:xfrm>
            <a:off x="0" y="6675120"/>
            <a:ext cx="9144000" cy="1828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09360"/>
            <a:ext cx="8229600" cy="320040"/>
          </a:xfrm>
          <a:prstGeom prst="rect">
            <a:avLst/>
          </a:prstGeom>
          <a:noFill/>
        </p:spPr>
        <p:txBody>
          <a:bodyPr wrap="square">
            <a:spAutoFit/>
          </a:bodyPr>
          <a:lstStyle/>
          <a:p>
            <a:pPr algn="l"/>
            <a:r>
              <a:rPr sz="900" b="0" i="0">
                <a:solidFill>
                  <a:srgbClr val="8B6914"/>
                </a:solidFill>
                <a:latin typeface="Calibri"/>
              </a:rPr>
              <a:t>SWP.1 — SWP.6  |  6 Units of Readiness  |  Interest Rate | Currency | Credit Default Swaps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SWP.1</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What is a Swap?</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300" b="1" i="0">
                <a:solidFill>
                  <a:srgbClr val="005F5F"/>
                </a:solidFill>
                <a:latin typeface="Calibri"/>
              </a:rPr>
              <a:t>Quick Recap — Before we start SWP.1</a:t>
            </a:r>
          </a:p>
        </p:txBody>
      </p:sp>
      <p:sp>
        <p:nvSpPr>
          <p:cNvPr id="6" name="TextBox 5"/>
          <p:cNvSpPr txBox="1"/>
          <p:nvPr/>
        </p:nvSpPr>
        <p:spPr>
          <a:xfrm>
            <a:off x="365760" y="1417320"/>
            <a:ext cx="8412480" cy="320040"/>
          </a:xfrm>
          <a:prstGeom prst="rect">
            <a:avLst/>
          </a:prstGeom>
          <a:noFill/>
        </p:spPr>
        <p:txBody>
          <a:bodyPr wrap="square">
            <a:spAutoFit/>
          </a:bodyPr>
          <a:lstStyle/>
          <a:p>
            <a:pPr algn="l"/>
            <a:r>
              <a:rPr sz="1100" b="0" i="1">
                <a:solidFill>
                  <a:srgbClr val="333333"/>
                </a:solidFill>
                <a:latin typeface="Calibri"/>
              </a:rPr>
              <a:t>Building on: Basics of Derivatives (DV.1–DV.3)</a:t>
            </a:r>
          </a:p>
        </p:txBody>
      </p:sp>
      <p:sp>
        <p:nvSpPr>
          <p:cNvPr id="7" name="TextBox 6"/>
          <p:cNvSpPr txBox="1"/>
          <p:nvPr/>
        </p:nvSpPr>
        <p:spPr>
          <a:xfrm>
            <a:off x="457200" y="1828800"/>
            <a:ext cx="8229600" cy="4114800"/>
          </a:xfrm>
          <a:prstGeom prst="rect">
            <a:avLst/>
          </a:prstGeom>
          <a:noFill/>
        </p:spPr>
        <p:txBody>
          <a:bodyPr wrap="square">
            <a:spAutoFit/>
          </a:bodyPr>
          <a:lstStyle/>
          <a:p>
            <a:pPr algn="l">
              <a:spcBef>
                <a:spcPts val="400"/>
              </a:spcBef>
            </a:pPr>
            <a:r>
              <a:rPr sz="1600">
                <a:solidFill>
                  <a:srgbClr val="333333"/>
                </a:solidFill>
                <a:latin typeface="Calibri"/>
              </a:rPr>
              <a:t>  •  Derivatives derive value from an underlying asset — stocks, rates, currencies, commodities</a:t>
            </a:r>
          </a:p>
          <a:p>
            <a:pPr algn="l">
              <a:spcBef>
                <a:spcPts val="400"/>
              </a:spcBef>
            </a:pPr>
            <a:r>
              <a:rPr sz="1600">
                <a:solidFill>
                  <a:srgbClr val="333333"/>
                </a:solidFill>
                <a:latin typeface="Calibri"/>
              </a:rPr>
              <a:t>  •  Types of derivatives: Forwards, Futures, Options, Swaps</a:t>
            </a:r>
          </a:p>
          <a:p>
            <a:pPr algn="l">
              <a:spcBef>
                <a:spcPts val="400"/>
              </a:spcBef>
            </a:pPr>
            <a:r>
              <a:rPr sz="1600">
                <a:solidFill>
                  <a:srgbClr val="333333"/>
                </a:solidFill>
                <a:latin typeface="Calibri"/>
              </a:rPr>
              <a:t>  •  OTC derivatives are bilateral contracts — not exchange-traded; terms are customisable</a:t>
            </a:r>
          </a:p>
          <a:p>
            <a:pPr algn="l">
              <a:spcBef>
                <a:spcPts val="400"/>
              </a:spcBef>
            </a:pPr>
            <a:r>
              <a:rPr sz="1600">
                <a:solidFill>
                  <a:srgbClr val="333333"/>
                </a:solidFill>
                <a:latin typeface="Calibri"/>
              </a:rPr>
              <a:t>  •  Hedging: reducing existing risk | Speculation: taking on risk for profit</a:t>
            </a:r>
          </a:p>
        </p:txBody>
      </p:sp>
      <p:sp>
        <p:nvSpPr>
          <p:cNvPr id="8" name="Rectangle 7"/>
          <p:cNvSpPr/>
          <p:nvPr/>
        </p:nvSpPr>
        <p:spPr>
          <a:xfrm>
            <a:off x="274320" y="1828800"/>
            <a:ext cx="54864" cy="4114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SWP.1</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What is a Swap?</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Scenario — The Rate Mismatch Problem</a:t>
            </a:r>
          </a:p>
        </p:txBody>
      </p:sp>
      <p:sp>
        <p:nvSpPr>
          <p:cNvPr id="6" name="Rectangle 5"/>
          <p:cNvSpPr/>
          <p:nvPr/>
        </p:nvSpPr>
        <p:spPr>
          <a:xfrm>
            <a:off x="457200" y="1554480"/>
            <a:ext cx="82296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91440" cy="44805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40"/>
            <a:ext cx="7863840" cy="4206240"/>
          </a:xfrm>
          <a:prstGeom prst="rect">
            <a:avLst/>
          </a:prstGeom>
          <a:noFill/>
        </p:spPr>
        <p:txBody>
          <a:bodyPr wrap="square">
            <a:spAutoFit/>
          </a:bodyPr>
          <a:lstStyle/>
          <a:p>
            <a:pPr algn="l"/>
            <a:r>
              <a:rPr sz="1500" b="0" i="0">
                <a:solidFill>
                  <a:srgbClr val="333333"/>
                </a:solidFill>
                <a:latin typeface="Calibri"/>
              </a:rPr>
              <a:t>Infra Corp has borrowed Rs 500 crore at a floating rate (MIBOR + 1%). Their revenue is predictable — toll collections from a highway. Their CFO cannot sleep: "If MIBOR rises 2%, our interest cost jumps Rs 10 crore a year. Our revenue does not move."
Tech Dynamics has the opposite problem. They issued fixed-rate bonds at 8%, but they are in a growth phase — they expect RBI to cut rates significantly. They are locked in at 8% while new borrowers will pay 6%.
Question: Can Infra Corp and Tech Dynamics help each other?
Answer: Yes. Through a swap — an agreement to exchange their cash flow obligations. Each gets what the other has. No loan transfer. No refinancing. Just a contractual exchange of payment streams. This is the founding logic of the $700 trillion global swap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SWP.1</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What is a Swap?</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005F5F"/>
                </a:solidFill>
                <a:latin typeface="Calibri"/>
              </a:rPr>
              <a:t>Key Concept — The Swap as a Cash Flow Exchange</a:t>
            </a:r>
          </a:p>
        </p:txBody>
      </p:sp>
      <p:sp>
        <p:nvSpPr>
          <p:cNvPr id="6" name="Rectangle 5"/>
          <p:cNvSpPr/>
          <p:nvPr/>
        </p:nvSpPr>
        <p:spPr>
          <a:xfrm>
            <a:off x="365760" y="1508760"/>
            <a:ext cx="502920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00200"/>
            <a:ext cx="4800600" cy="4754880"/>
          </a:xfrm>
          <a:prstGeom prst="rect">
            <a:avLst/>
          </a:prstGeom>
          <a:noFill/>
        </p:spPr>
        <p:txBody>
          <a:bodyPr wrap="square">
            <a:spAutoFit/>
          </a:bodyPr>
          <a:lstStyle/>
          <a:p>
            <a:pPr algn="l">
              <a:spcBef>
                <a:spcPts val="400"/>
              </a:spcBef>
            </a:pPr>
            <a:r>
              <a:rPr sz="1500">
                <a:solidFill>
                  <a:srgbClr val="333333"/>
                </a:solidFill>
                <a:latin typeface="Calibri"/>
              </a:rPr>
              <a:t>  •  A swap is an OTC agreement between two parties to exchange a series of cash flows based on different terms over an agreed period</a:t>
            </a:r>
          </a:p>
          <a:p>
            <a:pPr algn="l">
              <a:spcBef>
                <a:spcPts val="400"/>
              </a:spcBef>
            </a:pPr>
            <a:r>
              <a:rPr sz="1500">
                <a:solidFill>
                  <a:srgbClr val="333333"/>
                </a:solidFill>
                <a:latin typeface="Calibri"/>
              </a:rPr>
              <a:t>  •  Two counterparties: Fixed Payer (pays set rate) and Floating Payer (pays MIBOR-based rate)</a:t>
            </a:r>
          </a:p>
          <a:p>
            <a:pPr algn="l">
              <a:spcBef>
                <a:spcPts val="400"/>
              </a:spcBef>
            </a:pPr>
            <a:r>
              <a:rPr sz="1500">
                <a:solidFill>
                  <a:srgbClr val="333333"/>
                </a:solidFill>
                <a:latin typeface="Calibri"/>
              </a:rPr>
              <a:t>  •  Notional principal = reference amount ONLY — never physically exchanged</a:t>
            </a:r>
          </a:p>
          <a:p>
            <a:pPr algn="l">
              <a:spcBef>
                <a:spcPts val="400"/>
              </a:spcBef>
            </a:pPr>
            <a:r>
              <a:rPr sz="1500">
                <a:solidFill>
                  <a:srgbClr val="333333"/>
                </a:solidFill>
                <a:latin typeface="Calibri"/>
              </a:rPr>
              <a:t>  •  Governed by ISDA Master Agreement — bilateral, customisable, not exchange-traded</a:t>
            </a:r>
          </a:p>
          <a:p>
            <a:pPr algn="l">
              <a:spcBef>
                <a:spcPts val="400"/>
              </a:spcBef>
            </a:pPr>
            <a:r>
              <a:rPr sz="1500">
                <a:solidFill>
                  <a:srgbClr val="333333"/>
                </a:solidFill>
                <a:latin typeface="Calibri"/>
              </a:rPr>
              <a:t>  •  Key uses: Hedging rate risk | Speculation on rate direction | Comparative advantage arbitrage</a:t>
            </a:r>
          </a:p>
          <a:p>
            <a:pPr algn="l">
              <a:spcBef>
                <a:spcPts val="400"/>
              </a:spcBef>
            </a:pPr>
            <a:r>
              <a:rPr sz="1500">
                <a:solidFill>
                  <a:srgbClr val="333333"/>
                </a:solidFill>
                <a:latin typeface="Calibri"/>
              </a:rPr>
              <a:t>  •  Economically equivalent to a series of forward rate agreements, one per settlement date</a:t>
            </a:r>
          </a:p>
        </p:txBody>
      </p:sp>
      <p:sp>
        <p:nvSpPr>
          <p:cNvPr id="8" name="Rectangle 7"/>
          <p:cNvSpPr/>
          <p:nvPr/>
        </p:nvSpPr>
        <p:spPr>
          <a:xfrm>
            <a:off x="5577840" y="1508760"/>
            <a:ext cx="3200400" cy="493776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0" y="1600200"/>
            <a:ext cx="3017520" cy="4754880"/>
          </a:xfrm>
          <a:prstGeom prst="rect">
            <a:avLst/>
          </a:prstGeom>
          <a:noFill/>
        </p:spPr>
        <p:txBody>
          <a:bodyPr wrap="square">
            <a:spAutoFit/>
          </a:bodyPr>
          <a:lstStyle/>
          <a:p>
            <a:pPr algn="l"/>
            <a:r>
              <a:rPr sz="1300" b="0" i="0">
                <a:solidFill>
                  <a:srgbClr val="1E3A5F"/>
                </a:solidFill>
                <a:latin typeface="Calibri"/>
              </a:rPr>
              <a:t>[DIAGRAM PLACEHOLDER]
Party A (Fixed Payer)
→ Pays 7% fixed →
← Receives MIBOR ←
Party B (Floating Payer)
Notional: Rs 100 Crore
Tenor: 3 Years
Settlement: Semi-annual
Net: Only difference changes hands
[See Source Slide 3-5 — Swap Structure Diagram]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SWP.1</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What is a Swap?</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Going Deeper — Comparative Advantage — Why Swaps Create Real Value</a:t>
            </a:r>
          </a:p>
        </p:txBody>
      </p:sp>
      <p:sp>
        <p:nvSpPr>
          <p:cNvPr id="6" name="Rectangle 5"/>
          <p:cNvSpPr/>
          <p:nvPr/>
        </p:nvSpPr>
        <p:spPr>
          <a:xfrm>
            <a:off x="365760" y="1508760"/>
            <a:ext cx="841248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73152" cy="49377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8138160" cy="4754880"/>
          </a:xfrm>
          <a:prstGeom prst="rect">
            <a:avLst/>
          </a:prstGeom>
          <a:noFill/>
        </p:spPr>
        <p:txBody>
          <a:bodyPr wrap="square">
            <a:spAutoFit/>
          </a:bodyPr>
          <a:lstStyle/>
          <a:p>
            <a:pPr algn="l">
              <a:spcBef>
                <a:spcPts val="400"/>
              </a:spcBef>
            </a:pPr>
            <a:r>
              <a:rPr sz="1500">
                <a:solidFill>
                  <a:srgbClr val="333333"/>
                </a:solidFill>
                <a:latin typeface="Calibri"/>
              </a:rPr>
              <a:t>  •  Comparative advantage: each party borrows where they are relatively cheapest, then swaps to desired rate type</a:t>
            </a:r>
          </a:p>
          <a:p>
            <a:pPr algn="l">
              <a:spcBef>
                <a:spcPts val="400"/>
              </a:spcBef>
            </a:pPr>
            <a:r>
              <a:rPr sz="1500">
                <a:solidFill>
                  <a:srgbClr val="333333"/>
                </a:solidFill>
                <a:latin typeface="Calibri"/>
              </a:rPr>
              <a:t>  •  Example: Infra Co borrows fixed at 8%; Tech Co at 10%. Infra Co borrows floating at MIBOR+1%; Tech Co at MIBOR+2%</a:t>
            </a:r>
          </a:p>
          <a:p>
            <a:pPr algn="l">
              <a:spcBef>
                <a:spcPts val="400"/>
              </a:spcBef>
            </a:pPr>
            <a:r>
              <a:rPr sz="1500">
                <a:solidFill>
                  <a:srgbClr val="333333"/>
                </a:solidFill>
                <a:latin typeface="Calibri"/>
              </a:rPr>
              <a:t>  •  Infra Co has comparative advantage in fixed markets; Tech Co in floating — difference = 2% spread advantage</a:t>
            </a:r>
          </a:p>
          <a:p>
            <a:pPr algn="l">
              <a:spcBef>
                <a:spcPts val="400"/>
              </a:spcBef>
            </a:pPr>
            <a:r>
              <a:rPr sz="1500">
                <a:solidFill>
                  <a:srgbClr val="333333"/>
                </a:solidFill>
                <a:latin typeface="Calibri"/>
              </a:rPr>
              <a:t>  •  Each borrows where cheapest, then swaps: both end up with preferred rate at LOWER all-in cost than direct borrowing</a:t>
            </a:r>
          </a:p>
          <a:p>
            <a:pPr algn="l">
              <a:spcBef>
                <a:spcPts val="400"/>
              </a:spcBef>
            </a:pPr>
            <a:r>
              <a:rPr sz="1500">
                <a:solidFill>
                  <a:srgbClr val="333333"/>
                </a:solidFill>
                <a:latin typeface="Calibri"/>
              </a:rPr>
              <a:t>  •  Total saving = 2% per annum on notional — divided between parties via swap pricing</a:t>
            </a:r>
          </a:p>
          <a:p>
            <a:pPr algn="l">
              <a:spcBef>
                <a:spcPts val="400"/>
              </a:spcBef>
            </a:pPr>
            <a:r>
              <a:rPr sz="1500">
                <a:solidFill>
                  <a:srgbClr val="333333"/>
                </a:solidFill>
                <a:latin typeface="Calibri"/>
              </a:rPr>
              <a:t>  •  This is not a zero-sum game — it genuinely creates value by arbitraging different credit perceptions in different markets</a:t>
            </a:r>
          </a:p>
          <a:p>
            <a:pPr algn="l">
              <a:spcBef>
                <a:spcPts val="400"/>
              </a:spcBef>
            </a:pPr>
            <a:r>
              <a:rPr sz="1500">
                <a:solidFill>
                  <a:srgbClr val="333333"/>
                </a:solidFill>
                <a:latin typeface="Calibri"/>
              </a:rPr>
              <a:t>  •  Classic example from Salomon Brothers structuring the first currency swap for IBM and World Bank (1981)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SWP.1</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What is a Swap?</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1E3A5F"/>
                </a:solidFill>
                <a:latin typeface="Calibri"/>
              </a:rPr>
              <a:t>Think &amp; Discuss</a:t>
            </a:r>
          </a:p>
        </p:txBody>
      </p:sp>
      <p:sp>
        <p:nvSpPr>
          <p:cNvPr id="6" name="Rectangle 5"/>
          <p:cNvSpPr/>
          <p:nvPr/>
        </p:nvSpPr>
        <p:spPr>
          <a:xfrm>
            <a:off x="365760" y="155448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35712"/>
            <a:ext cx="8046720" cy="1234440"/>
          </a:xfrm>
          <a:prstGeom prst="rect">
            <a:avLst/>
          </a:prstGeom>
          <a:noFill/>
        </p:spPr>
        <p:txBody>
          <a:bodyPr wrap="square">
            <a:spAutoFit/>
          </a:bodyPr>
          <a:lstStyle/>
          <a:p>
            <a:pPr algn="l"/>
            <a:r>
              <a:rPr sz="1400" b="0" i="0">
                <a:solidFill>
                  <a:srgbClr val="333333"/>
                </a:solidFill>
                <a:latin typeface="Calibri"/>
              </a:rPr>
              <a:t>Q1  A friend argues: "Swaps are just gambling — you're betting on which way rates move." How would you respond? Is there a distinction between using swaps for hedging vs speculation, and does that distinction matter morally?</a:t>
            </a:r>
          </a:p>
        </p:txBody>
      </p:sp>
      <p:sp>
        <p:nvSpPr>
          <p:cNvPr id="9" name="Rectangle 8"/>
          <p:cNvSpPr/>
          <p:nvPr/>
        </p:nvSpPr>
        <p:spPr>
          <a:xfrm>
            <a:off x="365760" y="310896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10896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598272"/>
            <a:ext cx="8046720" cy="1234440"/>
          </a:xfrm>
          <a:prstGeom prst="rect">
            <a:avLst/>
          </a:prstGeom>
          <a:noFill/>
        </p:spPr>
        <p:txBody>
          <a:bodyPr wrap="square">
            <a:spAutoFit/>
          </a:bodyPr>
          <a:lstStyle/>
          <a:p>
            <a:pPr algn="l"/>
            <a:r>
              <a:rPr sz="1400" b="0" i="0">
                <a:solidFill>
                  <a:srgbClr val="333333"/>
                </a:solidFill>
                <a:latin typeface="Calibri"/>
              </a:rPr>
              <a:t>Q2  The notional principal is never exchanged in a plain vanilla IRS, yet a swap is described as a "Rs 1,000 crore IRS." Why does the notional matter if it never moves?</a:t>
            </a:r>
          </a:p>
        </p:txBody>
      </p:sp>
      <p:sp>
        <p:nvSpPr>
          <p:cNvPr id="12" name="Rectangle 11"/>
          <p:cNvSpPr/>
          <p:nvPr/>
        </p:nvSpPr>
        <p:spPr>
          <a:xfrm>
            <a:off x="365760" y="466344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466344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360832"/>
            <a:ext cx="8046720" cy="1234440"/>
          </a:xfrm>
          <a:prstGeom prst="rect">
            <a:avLst/>
          </a:prstGeom>
          <a:noFill/>
        </p:spPr>
        <p:txBody>
          <a:bodyPr wrap="square">
            <a:spAutoFit/>
          </a:bodyPr>
          <a:lstStyle/>
          <a:p>
            <a:pPr algn="l"/>
            <a:r>
              <a:rPr sz="1400" b="0" i="0">
                <a:solidFill>
                  <a:srgbClr val="333333"/>
                </a:solidFill>
                <a:latin typeface="Calibri"/>
              </a:rPr>
              <a:t>Q3  If comparative advantage in swaps creates real value for both parties, who is on the other side bearing the cost? Is someone always losing?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SWP.1</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What is a Swap?</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005F5F"/>
                </a:solidFill>
                <a:latin typeface="Calibri"/>
              </a:rPr>
              <a:t>Interview Ready — Q&amp;A</a:t>
            </a:r>
          </a:p>
        </p:txBody>
      </p:sp>
      <p:sp>
        <p:nvSpPr>
          <p:cNvPr id="6" name="Rectangle 5"/>
          <p:cNvSpPr/>
          <p:nvPr/>
        </p:nvSpPr>
        <p:spPr>
          <a:xfrm>
            <a:off x="365760" y="146304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3291840" cy="1097280"/>
          </a:xfrm>
          <a:prstGeom prst="rect">
            <a:avLst/>
          </a:prstGeom>
          <a:noFill/>
        </p:spPr>
        <p:txBody>
          <a:bodyPr wrap="square">
            <a:spAutoFit/>
          </a:bodyPr>
          <a:lstStyle/>
          <a:p>
            <a:pPr algn="l"/>
            <a:r>
              <a:rPr sz="1200" b="1" i="0">
                <a:solidFill>
                  <a:srgbClr val="FFFFFF"/>
                </a:solidFill>
                <a:latin typeface="Calibri"/>
              </a:rPr>
              <a:t>Q: What is a swap and how does it differ from a futures contract?</a:t>
            </a:r>
          </a:p>
        </p:txBody>
      </p:sp>
      <p:sp>
        <p:nvSpPr>
          <p:cNvPr id="8" name="Rectangle 7"/>
          <p:cNvSpPr/>
          <p:nvPr/>
        </p:nvSpPr>
        <p:spPr>
          <a:xfrm>
            <a:off x="4023360" y="146304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554480"/>
            <a:ext cx="4572000" cy="1097280"/>
          </a:xfrm>
          <a:prstGeom prst="rect">
            <a:avLst/>
          </a:prstGeom>
          <a:noFill/>
        </p:spPr>
        <p:txBody>
          <a:bodyPr wrap="square">
            <a:spAutoFit/>
          </a:bodyPr>
          <a:lstStyle/>
          <a:p>
            <a:pPr algn="l"/>
            <a:r>
              <a:rPr sz="1200" b="0" i="0">
                <a:solidFill>
                  <a:srgbClr val="1E3A5F"/>
                </a:solidFill>
                <a:latin typeface="Calibri"/>
              </a:rPr>
              <a:t>A: A swap is an OTC agreement to exchange cash flows over a period — customisable, bilateral, ISDA-governed. Futures are standardised, exchange-traded, marked daily. A swap is like a tailored suit; a future is off-the-rack.</a:t>
            </a:r>
          </a:p>
        </p:txBody>
      </p:sp>
      <p:sp>
        <p:nvSpPr>
          <p:cNvPr id="10" name="Rectangle 9"/>
          <p:cNvSpPr/>
          <p:nvPr/>
        </p:nvSpPr>
        <p:spPr>
          <a:xfrm>
            <a:off x="365760" y="278892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880360"/>
            <a:ext cx="3291840" cy="1097280"/>
          </a:xfrm>
          <a:prstGeom prst="rect">
            <a:avLst/>
          </a:prstGeom>
          <a:noFill/>
        </p:spPr>
        <p:txBody>
          <a:bodyPr wrap="square">
            <a:spAutoFit/>
          </a:bodyPr>
          <a:lstStyle/>
          <a:p>
            <a:pPr algn="l"/>
            <a:r>
              <a:rPr sz="1200" b="1" i="0">
                <a:solidFill>
                  <a:srgbClr val="FFFFFF"/>
                </a:solidFill>
                <a:latin typeface="Calibri"/>
              </a:rPr>
              <a:t>Q: Why is the notional principal never exchanged in an IRS?</a:t>
            </a:r>
          </a:p>
        </p:txBody>
      </p:sp>
      <p:sp>
        <p:nvSpPr>
          <p:cNvPr id="12" name="Rectangle 11"/>
          <p:cNvSpPr/>
          <p:nvPr/>
        </p:nvSpPr>
        <p:spPr>
          <a:xfrm>
            <a:off x="4023360" y="278892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2880360"/>
            <a:ext cx="4572000" cy="1097280"/>
          </a:xfrm>
          <a:prstGeom prst="rect">
            <a:avLst/>
          </a:prstGeom>
          <a:noFill/>
        </p:spPr>
        <p:txBody>
          <a:bodyPr wrap="square">
            <a:spAutoFit/>
          </a:bodyPr>
          <a:lstStyle/>
          <a:p>
            <a:pPr algn="l"/>
            <a:r>
              <a:rPr sz="1200" b="0" i="0">
                <a:solidFill>
                  <a:srgbClr val="1E3A5F"/>
                </a:solidFill>
                <a:latin typeface="Calibri"/>
              </a:rPr>
              <a:t>A: The notional is purely a reference amount to calculate interest. Only the net interest difference flows — this is why a Rs 100 crore swap involves only Rs 0.5–1 crore of actual cash movement per period, not Rs 100 crore.</a:t>
            </a:r>
          </a:p>
        </p:txBody>
      </p:sp>
      <p:sp>
        <p:nvSpPr>
          <p:cNvPr id="14" name="Rectangle 13"/>
          <p:cNvSpPr/>
          <p:nvPr/>
        </p:nvSpPr>
        <p:spPr>
          <a:xfrm>
            <a:off x="365760" y="411480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3291840" cy="1097280"/>
          </a:xfrm>
          <a:prstGeom prst="rect">
            <a:avLst/>
          </a:prstGeom>
          <a:noFill/>
        </p:spPr>
        <p:txBody>
          <a:bodyPr wrap="square">
            <a:spAutoFit/>
          </a:bodyPr>
          <a:lstStyle/>
          <a:p>
            <a:pPr algn="l"/>
            <a:r>
              <a:rPr sz="1200" b="1" i="0">
                <a:solidFill>
                  <a:srgbClr val="FFFFFF"/>
                </a:solidFill>
                <a:latin typeface="Calibri"/>
              </a:rPr>
              <a:t>Q: What is the comparative advantage argument for entering a swap?</a:t>
            </a:r>
          </a:p>
        </p:txBody>
      </p:sp>
      <p:sp>
        <p:nvSpPr>
          <p:cNvPr id="16" name="Rectangle 15"/>
          <p:cNvSpPr/>
          <p:nvPr/>
        </p:nvSpPr>
        <p:spPr>
          <a:xfrm>
            <a:off x="4023360" y="411480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4206240"/>
            <a:ext cx="4572000" cy="1097280"/>
          </a:xfrm>
          <a:prstGeom prst="rect">
            <a:avLst/>
          </a:prstGeom>
          <a:noFill/>
        </p:spPr>
        <p:txBody>
          <a:bodyPr wrap="square">
            <a:spAutoFit/>
          </a:bodyPr>
          <a:lstStyle/>
          <a:p>
            <a:pPr algn="l"/>
            <a:r>
              <a:rPr sz="1200" b="0" i="0">
                <a:solidFill>
                  <a:srgbClr val="1E3A5F"/>
                </a:solidFill>
                <a:latin typeface="Calibri"/>
              </a:rPr>
              <a:t>A: Each party borrows where they have relatively lower cost, then swaps. If Infra Co is better in fixed markets and Tech Co in floating, total borrowing cost is lower than if each borrowed directly in their preferred market.</a:t>
            </a:r>
          </a:p>
        </p:txBody>
      </p:sp>
      <p:sp>
        <p:nvSpPr>
          <p:cNvPr id="18" name="Rectangle 17"/>
          <p:cNvSpPr/>
          <p:nvPr/>
        </p:nvSpPr>
        <p:spPr>
          <a:xfrm>
            <a:off x="365760" y="6217920"/>
            <a:ext cx="841248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236208"/>
            <a:ext cx="8229600" cy="365760"/>
          </a:xfrm>
          <a:prstGeom prst="rect">
            <a:avLst/>
          </a:prstGeom>
          <a:noFill/>
        </p:spPr>
        <p:txBody>
          <a:bodyPr wrap="square">
            <a:spAutoFit/>
          </a:bodyPr>
          <a:lstStyle/>
          <a:p>
            <a:pPr algn="ctr"/>
            <a:r>
              <a:rPr sz="1100" b="1" i="0">
                <a:solidFill>
                  <a:srgbClr val="FFFFFF"/>
                </a:solidFill>
                <a:latin typeface="Calibri"/>
              </a:rPr>
              <a:t>Next Unit: SWP.2 — Interest Rate Swaps (IRS)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SWP.2</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Interest Rate Swaps (IRS)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300" b="1" i="0">
                <a:solidFill>
                  <a:srgbClr val="005F5F"/>
                </a:solidFill>
                <a:latin typeface="Calibri"/>
              </a:rPr>
              <a:t>Quick Recap — Before we start SWP.2</a:t>
            </a:r>
          </a:p>
        </p:txBody>
      </p:sp>
      <p:sp>
        <p:nvSpPr>
          <p:cNvPr id="6" name="TextBox 5"/>
          <p:cNvSpPr txBox="1"/>
          <p:nvPr/>
        </p:nvSpPr>
        <p:spPr>
          <a:xfrm>
            <a:off x="365760" y="1417320"/>
            <a:ext cx="8412480" cy="320040"/>
          </a:xfrm>
          <a:prstGeom prst="rect">
            <a:avLst/>
          </a:prstGeom>
          <a:noFill/>
        </p:spPr>
        <p:txBody>
          <a:bodyPr wrap="square">
            <a:spAutoFit/>
          </a:bodyPr>
          <a:lstStyle/>
          <a:p>
            <a:pPr algn="l"/>
            <a:r>
              <a:rPr sz="1100" b="0" i="1">
                <a:solidFill>
                  <a:srgbClr val="333333"/>
                </a:solidFill>
                <a:latin typeface="Calibri"/>
              </a:rPr>
              <a:t>Building on: SWP.1 — What is a Swap?</a:t>
            </a:r>
          </a:p>
        </p:txBody>
      </p:sp>
      <p:sp>
        <p:nvSpPr>
          <p:cNvPr id="7" name="TextBox 6"/>
          <p:cNvSpPr txBox="1"/>
          <p:nvPr/>
        </p:nvSpPr>
        <p:spPr>
          <a:xfrm>
            <a:off x="457200" y="1828800"/>
            <a:ext cx="8229600" cy="4114800"/>
          </a:xfrm>
          <a:prstGeom prst="rect">
            <a:avLst/>
          </a:prstGeom>
          <a:noFill/>
        </p:spPr>
        <p:txBody>
          <a:bodyPr wrap="square">
            <a:spAutoFit/>
          </a:bodyPr>
          <a:lstStyle/>
          <a:p>
            <a:pPr algn="l">
              <a:spcBef>
                <a:spcPts val="400"/>
              </a:spcBef>
            </a:pPr>
            <a:r>
              <a:rPr sz="1600">
                <a:solidFill>
                  <a:srgbClr val="333333"/>
                </a:solidFill>
                <a:latin typeface="Calibri"/>
              </a:rPr>
              <a:t>  •  A swap = OTC agreement to exchange cash flows based on different terms</a:t>
            </a:r>
          </a:p>
          <a:p>
            <a:pPr algn="l">
              <a:spcBef>
                <a:spcPts val="400"/>
              </a:spcBef>
            </a:pPr>
            <a:r>
              <a:rPr sz="1600">
                <a:solidFill>
                  <a:srgbClr val="333333"/>
                </a:solidFill>
                <a:latin typeface="Calibri"/>
              </a:rPr>
              <a:t>  •  Two parties: fixed payer and floating payer; notional never exchanged</a:t>
            </a:r>
          </a:p>
          <a:p>
            <a:pPr algn="l">
              <a:spcBef>
                <a:spcPts val="400"/>
              </a:spcBef>
            </a:pPr>
            <a:r>
              <a:rPr sz="1600">
                <a:solidFill>
                  <a:srgbClr val="333333"/>
                </a:solidFill>
                <a:latin typeface="Calibri"/>
              </a:rPr>
              <a:t>  •  Uses: hedging interest rate risk, speculation, comparative advantage</a:t>
            </a:r>
          </a:p>
          <a:p>
            <a:pPr algn="l">
              <a:spcBef>
                <a:spcPts val="400"/>
              </a:spcBef>
            </a:pPr>
            <a:r>
              <a:rPr sz="1600">
                <a:solidFill>
                  <a:srgbClr val="333333"/>
                </a:solidFill>
                <a:latin typeface="Calibri"/>
              </a:rPr>
              <a:t>  •  ISDA Master Agreement governs; swap is a series of forward rate agreements</a:t>
            </a:r>
          </a:p>
        </p:txBody>
      </p:sp>
      <p:sp>
        <p:nvSpPr>
          <p:cNvPr id="8" name="Rectangle 7"/>
          <p:cNvSpPr/>
          <p:nvPr/>
        </p:nvSpPr>
        <p:spPr>
          <a:xfrm>
            <a:off x="274320" y="1828800"/>
            <a:ext cx="54864" cy="4114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SWP.2</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Interest Rate Swaps (IRS)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Scenario — The Manufacturing CFO's Rate Nightmare</a:t>
            </a:r>
          </a:p>
        </p:txBody>
      </p:sp>
      <p:sp>
        <p:nvSpPr>
          <p:cNvPr id="6" name="Rectangle 5"/>
          <p:cNvSpPr/>
          <p:nvPr/>
        </p:nvSpPr>
        <p:spPr>
          <a:xfrm>
            <a:off x="457200" y="1554480"/>
            <a:ext cx="82296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91440" cy="44805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40"/>
            <a:ext cx="7863840" cy="4206240"/>
          </a:xfrm>
          <a:prstGeom prst="rect">
            <a:avLst/>
          </a:prstGeom>
          <a:noFill/>
        </p:spPr>
        <p:txBody>
          <a:bodyPr wrap="square">
            <a:spAutoFit/>
          </a:bodyPr>
          <a:lstStyle/>
          <a:p>
            <a:pPr algn="l"/>
            <a:r>
              <a:rPr sz="1500" b="0" i="0">
                <a:solidFill>
                  <a:srgbClr val="333333"/>
                </a:solidFill>
                <a:latin typeface="Calibri"/>
              </a:rPr>
              <a:t>National Manufacturing Ltd borrowed Rs 200 crore from SBI at MIBOR + 1.5%. The loan runs for 5 years. Current MIBOR: 6.5%. All-in cost: 8%.
The CFO builds their capital budget around Rs 16 crore of annual interest. But the RBI is in a hiking cycle. If MIBOR hits 9%, interest jumps to Rs 21 crore. That Rs 5 crore swing is the difference between profit and loss.
Solution: Enter a plain vanilla IRS. Pay fixed 8% to a bank; receive MIBOR from the bank. The bank loan still charges MIBOR + 1.5% — but the IRS receipt of MIBOR cancels that floating component. Net cost: 8% fixed + 1.5% spread = 9.5% total — locked. Certain. Predictable.
The CFO sleeps. The RBI hikes. The swap pays off — MIBOR rises to 9.5%, the IRS generates Rs 3 crore of net receipt, partially offsetting the spread. The hedge works exactly as designed.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SWP.2</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Interest Rate Swaps (IRS)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005F5F"/>
                </a:solidFill>
                <a:latin typeface="Calibri"/>
              </a:rPr>
              <a:t>Key Concept — Plain Vanilla IRS Mechanics</a:t>
            </a:r>
          </a:p>
        </p:txBody>
      </p:sp>
      <p:sp>
        <p:nvSpPr>
          <p:cNvPr id="6" name="Rectangle 5"/>
          <p:cNvSpPr/>
          <p:nvPr/>
        </p:nvSpPr>
        <p:spPr>
          <a:xfrm>
            <a:off x="365760" y="1508760"/>
            <a:ext cx="502920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00200"/>
            <a:ext cx="4800600" cy="4754880"/>
          </a:xfrm>
          <a:prstGeom prst="rect">
            <a:avLst/>
          </a:prstGeom>
          <a:noFill/>
        </p:spPr>
        <p:txBody>
          <a:bodyPr wrap="square">
            <a:spAutoFit/>
          </a:bodyPr>
          <a:lstStyle/>
          <a:p>
            <a:pPr algn="l">
              <a:spcBef>
                <a:spcPts val="400"/>
              </a:spcBef>
            </a:pPr>
            <a:r>
              <a:rPr sz="1500">
                <a:solidFill>
                  <a:srgbClr val="333333"/>
                </a:solidFill>
                <a:latin typeface="Calibri"/>
              </a:rPr>
              <a:t>  •  Fixed payer pays agreed fixed rate; floating payer pays MIBOR (resets each period)</a:t>
            </a:r>
          </a:p>
          <a:p>
            <a:pPr algn="l">
              <a:spcBef>
                <a:spcPts val="400"/>
              </a:spcBef>
            </a:pPr>
            <a:r>
              <a:rPr sz="1500">
                <a:solidFill>
                  <a:srgbClr val="333333"/>
                </a:solidFill>
                <a:latin typeface="Calibri"/>
              </a:rPr>
              <a:t>  •  MIBOR = Mumbai Interbank Offer Rate — Indian equivalent of LIBOR</a:t>
            </a:r>
          </a:p>
          <a:p>
            <a:pPr algn="l">
              <a:spcBef>
                <a:spcPts val="400"/>
              </a:spcBef>
            </a:pPr>
            <a:r>
              <a:rPr sz="1500">
                <a:solidFill>
                  <a:srgbClr val="333333"/>
                </a:solidFill>
                <a:latin typeface="Calibri"/>
              </a:rPr>
              <a:t>  •  Notional: Rs 100 crore | Fixed: 7% p.a. | Semi-annual settlement</a:t>
            </a:r>
          </a:p>
          <a:p>
            <a:pPr algn="l">
              <a:spcBef>
                <a:spcPts val="400"/>
              </a:spcBef>
            </a:pPr>
            <a:r>
              <a:rPr sz="1500">
                <a:solidFill>
                  <a:srgbClr val="333333"/>
                </a:solidFill>
                <a:latin typeface="Calibri"/>
              </a:rPr>
              <a:t>  •  Period calculation: Fixed = 7% × 100Cr × 0.5 = Rs 3.5 Cr per period</a:t>
            </a:r>
          </a:p>
          <a:p>
            <a:pPr algn="l">
              <a:spcBef>
                <a:spcPts val="400"/>
              </a:spcBef>
            </a:pPr>
            <a:r>
              <a:rPr sz="1500">
                <a:solidFill>
                  <a:srgbClr val="333333"/>
                </a:solidFill>
                <a:latin typeface="Calibri"/>
              </a:rPr>
              <a:t>  •  Floating = MIBOR × 100Cr × 0.5 (varies each period)</a:t>
            </a:r>
          </a:p>
          <a:p>
            <a:pPr algn="l">
              <a:spcBef>
                <a:spcPts val="400"/>
              </a:spcBef>
            </a:pPr>
            <a:r>
              <a:rPr sz="1500">
                <a:solidFill>
                  <a:srgbClr val="333333"/>
                </a:solidFill>
                <a:latin typeface="Calibri"/>
              </a:rPr>
              <a:t>  •  Net settlement: only the DIFFERENCE is paid — no gross exchange</a:t>
            </a:r>
          </a:p>
          <a:p>
            <a:pPr algn="l">
              <a:spcBef>
                <a:spcPts val="400"/>
              </a:spcBef>
            </a:pPr>
            <a:r>
              <a:rPr sz="1500">
                <a:solidFill>
                  <a:srgbClr val="333333"/>
                </a:solidFill>
                <a:latin typeface="Calibri"/>
              </a:rPr>
              <a:t>  •  MIBOR 6%: Fixed payer pays Rs 0.5 Cr | MIBOR 8%: Fixed payer receives Rs 0.5 Cr</a:t>
            </a:r>
          </a:p>
        </p:txBody>
      </p:sp>
      <p:sp>
        <p:nvSpPr>
          <p:cNvPr id="8" name="Rectangle 7"/>
          <p:cNvSpPr/>
          <p:nvPr/>
        </p:nvSpPr>
        <p:spPr>
          <a:xfrm>
            <a:off x="5577840" y="1508760"/>
            <a:ext cx="3200400" cy="493776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0" y="1600200"/>
            <a:ext cx="3017520" cy="4754880"/>
          </a:xfrm>
          <a:prstGeom prst="rect">
            <a:avLst/>
          </a:prstGeom>
          <a:noFill/>
        </p:spPr>
        <p:txBody>
          <a:bodyPr wrap="square">
            <a:spAutoFit/>
          </a:bodyPr>
          <a:lstStyle/>
          <a:p>
            <a:pPr algn="l"/>
            <a:r>
              <a:rPr sz="1300" b="0" i="0">
                <a:solidFill>
                  <a:srgbClr val="1E3A5F"/>
                </a:solidFill>
                <a:latin typeface="Calibri"/>
              </a:rPr>
              <a:t>[CALCULATION TABLE]
Notional: Rs 100 Cr
Fixed: 7% p.a., semi-annual
Period 1 (MIBOR=6%):
Fixed: Rs 3.5 Cr
Floating: Rs 3.0 Cr
Net: Fixed pays Rs 0.5 Cr
Period 2 (MIBOR=8%):
Fixed: Rs 3.5 Cr
Floating: Rs 4.0 Cr
Net: Floating pays Rs 0.5 Cr
Period 3 (MIBOR=7%):
Net: Zero
[See Source Slide 8 — IRS Cash Flow Table]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SWP.2</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Interest Rate Swaps (IRS)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Going Deeper — Who Benefits When Rates Move — The Rate Bet Inside Every IRS</a:t>
            </a:r>
          </a:p>
        </p:txBody>
      </p:sp>
      <p:sp>
        <p:nvSpPr>
          <p:cNvPr id="6" name="Rectangle 5"/>
          <p:cNvSpPr/>
          <p:nvPr/>
        </p:nvSpPr>
        <p:spPr>
          <a:xfrm>
            <a:off x="365760" y="1508760"/>
            <a:ext cx="841248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73152" cy="49377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8138160" cy="4754880"/>
          </a:xfrm>
          <a:prstGeom prst="rect">
            <a:avLst/>
          </a:prstGeom>
          <a:noFill/>
        </p:spPr>
        <p:txBody>
          <a:bodyPr wrap="square">
            <a:spAutoFit/>
          </a:bodyPr>
          <a:lstStyle/>
          <a:p>
            <a:pPr algn="l">
              <a:spcBef>
                <a:spcPts val="400"/>
              </a:spcBef>
            </a:pPr>
            <a:r>
              <a:rPr sz="1500">
                <a:solidFill>
                  <a:srgbClr val="333333"/>
                </a:solidFill>
                <a:latin typeface="Calibri"/>
              </a:rPr>
              <a:t>  •  Pay-fixed party benefits when rates RISE above the fixed rate — receive floating income grows, fixed cost stays same</a:t>
            </a:r>
          </a:p>
          <a:p>
            <a:pPr algn="l">
              <a:spcBef>
                <a:spcPts val="400"/>
              </a:spcBef>
            </a:pPr>
            <a:r>
              <a:rPr sz="1500">
                <a:solidFill>
                  <a:srgbClr val="333333"/>
                </a:solidFill>
                <a:latin typeface="Calibri"/>
              </a:rPr>
              <a:t>  •  Pay-floating party benefits when rates FALL below the fixed rate — pay floating falls, fixed receipt stays same</a:t>
            </a:r>
          </a:p>
          <a:p>
            <a:pPr algn="l">
              <a:spcBef>
                <a:spcPts val="400"/>
              </a:spcBef>
            </a:pPr>
            <a:r>
              <a:rPr sz="1500">
                <a:solidFill>
                  <a:srgbClr val="333333"/>
                </a:solidFill>
                <a:latin typeface="Calibri"/>
              </a:rPr>
              <a:t>  •  This makes IRS a natural rate speculation vehicle for macro traders and hedge funds</a:t>
            </a:r>
          </a:p>
          <a:p>
            <a:pPr algn="l">
              <a:spcBef>
                <a:spcPts val="400"/>
              </a:spcBef>
            </a:pPr>
            <a:r>
              <a:rPr sz="1500">
                <a:solidFill>
                  <a:srgbClr val="333333"/>
                </a:solidFill>
                <a:latin typeface="Calibri"/>
              </a:rPr>
              <a:t>  •  RBI hiking cycle → macro fund enters pay-fixed OIS; if MIBOR rises to 8.5% vs fixed 7% → profit on each settlement</a:t>
            </a:r>
          </a:p>
          <a:p>
            <a:pPr algn="l">
              <a:spcBef>
                <a:spcPts val="400"/>
              </a:spcBef>
            </a:pPr>
            <a:r>
              <a:rPr sz="1500">
                <a:solidFill>
                  <a:srgbClr val="333333"/>
                </a:solidFill>
                <a:latin typeface="Calibri"/>
              </a:rPr>
              <a:t>  •  Corporate hedger enters pay-fixed to REMOVE the speculation — they want certainty, not the rate bet</a:t>
            </a:r>
          </a:p>
          <a:p>
            <a:pPr algn="l">
              <a:spcBef>
                <a:spcPts val="400"/>
              </a:spcBef>
            </a:pPr>
            <a:r>
              <a:rPr sz="1500">
                <a:solidFill>
                  <a:srgbClr val="333333"/>
                </a:solidFill>
                <a:latin typeface="Calibri"/>
              </a:rPr>
              <a:t>  •  OIS (Overnight Index Swap) is the most liquid IRS in India — based on MIBOR overnight, not term MIBOR</a:t>
            </a:r>
          </a:p>
          <a:p>
            <a:pPr algn="l">
              <a:spcBef>
                <a:spcPts val="400"/>
              </a:spcBef>
            </a:pPr>
            <a:r>
              <a:rPr sz="1500">
                <a:solidFill>
                  <a:srgbClr val="333333"/>
                </a:solidFill>
                <a:latin typeface="Calibri"/>
              </a:rPr>
              <a:t>  •  India IRS market turnover: over Rs 2 lakh crore daily; most active OTC derivative segment in India (RBI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SWP.2</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Interest Rate Swaps (IRS)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1E3A5F"/>
                </a:solidFill>
                <a:latin typeface="Calibri"/>
              </a:rPr>
              <a:t>Think &amp; Discuss</a:t>
            </a:r>
          </a:p>
        </p:txBody>
      </p:sp>
      <p:sp>
        <p:nvSpPr>
          <p:cNvPr id="6" name="Rectangle 5"/>
          <p:cNvSpPr/>
          <p:nvPr/>
        </p:nvSpPr>
        <p:spPr>
          <a:xfrm>
            <a:off x="365760" y="155448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35712"/>
            <a:ext cx="8046720" cy="1234440"/>
          </a:xfrm>
          <a:prstGeom prst="rect">
            <a:avLst/>
          </a:prstGeom>
          <a:noFill/>
        </p:spPr>
        <p:txBody>
          <a:bodyPr wrap="square">
            <a:spAutoFit/>
          </a:bodyPr>
          <a:lstStyle/>
          <a:p>
            <a:pPr algn="l"/>
            <a:r>
              <a:rPr sz="1400" b="0" i="0">
                <a:solidFill>
                  <a:srgbClr val="333333"/>
                </a:solidFill>
                <a:latin typeface="Calibri"/>
              </a:rPr>
              <a:t>Q1  A corporate CFO says: "We entered a pay-fixed IRS to hedge our floating loan, but now rates have fallen and we're losing money on the swap." Has the hedge failed? How do you explain this to the board?</a:t>
            </a:r>
          </a:p>
        </p:txBody>
      </p:sp>
      <p:sp>
        <p:nvSpPr>
          <p:cNvPr id="9" name="Rectangle 8"/>
          <p:cNvSpPr/>
          <p:nvPr/>
        </p:nvSpPr>
        <p:spPr>
          <a:xfrm>
            <a:off x="365760" y="310896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10896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598272"/>
            <a:ext cx="8046720" cy="1234440"/>
          </a:xfrm>
          <a:prstGeom prst="rect">
            <a:avLst/>
          </a:prstGeom>
          <a:noFill/>
        </p:spPr>
        <p:txBody>
          <a:bodyPr wrap="square">
            <a:spAutoFit/>
          </a:bodyPr>
          <a:lstStyle/>
          <a:p>
            <a:pPr algn="l"/>
            <a:r>
              <a:rPr sz="1400" b="0" i="0">
                <a:solidFill>
                  <a:srgbClr val="333333"/>
                </a:solidFill>
                <a:latin typeface="Calibri"/>
              </a:rPr>
              <a:t>Q2  MIBOR is the floating benchmark in India, but LIBOR was phased out globally in 2021. What challenges do you think arose when trillions of dollars of swap contracts referenced LIBOR as their floating rate?</a:t>
            </a:r>
          </a:p>
        </p:txBody>
      </p:sp>
      <p:sp>
        <p:nvSpPr>
          <p:cNvPr id="12" name="Rectangle 11"/>
          <p:cNvSpPr/>
          <p:nvPr/>
        </p:nvSpPr>
        <p:spPr>
          <a:xfrm>
            <a:off x="365760" y="466344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466344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360832"/>
            <a:ext cx="8046720" cy="1234440"/>
          </a:xfrm>
          <a:prstGeom prst="rect">
            <a:avLst/>
          </a:prstGeom>
          <a:noFill/>
        </p:spPr>
        <p:txBody>
          <a:bodyPr wrap="square">
            <a:spAutoFit/>
          </a:bodyPr>
          <a:lstStyle/>
          <a:p>
            <a:pPr algn="l"/>
            <a:r>
              <a:rPr sz="1400" b="0" i="0">
                <a:solidFill>
                  <a:srgbClr val="333333"/>
                </a:solidFill>
                <a:latin typeface="Calibri"/>
              </a:rPr>
              <a:t>Q3  If a bank can simply pass its interest rate risk to a corporate through a swap, who ultimately absorbs that risk in the system?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SWP.2</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Interest Rate Swaps (IRS)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005F5F"/>
                </a:solidFill>
                <a:latin typeface="Calibri"/>
              </a:rPr>
              <a:t>Interview Ready — Q&amp;A</a:t>
            </a:r>
          </a:p>
        </p:txBody>
      </p:sp>
      <p:sp>
        <p:nvSpPr>
          <p:cNvPr id="6" name="Rectangle 5"/>
          <p:cNvSpPr/>
          <p:nvPr/>
        </p:nvSpPr>
        <p:spPr>
          <a:xfrm>
            <a:off x="365760" y="146304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3291840" cy="1097280"/>
          </a:xfrm>
          <a:prstGeom prst="rect">
            <a:avLst/>
          </a:prstGeom>
          <a:noFill/>
        </p:spPr>
        <p:txBody>
          <a:bodyPr wrap="square">
            <a:spAutoFit/>
          </a:bodyPr>
          <a:lstStyle/>
          <a:p>
            <a:pPr algn="l"/>
            <a:r>
              <a:rPr sz="1200" b="1" i="0">
                <a:solidFill>
                  <a:srgbClr val="FFFFFF"/>
                </a:solidFill>
                <a:latin typeface="Calibri"/>
              </a:rPr>
              <a:t>Q: Walk me through the cash flows of a plain vanilla IRS.</a:t>
            </a:r>
          </a:p>
        </p:txBody>
      </p:sp>
      <p:sp>
        <p:nvSpPr>
          <p:cNvPr id="8" name="Rectangle 7"/>
          <p:cNvSpPr/>
          <p:nvPr/>
        </p:nvSpPr>
        <p:spPr>
          <a:xfrm>
            <a:off x="4023360" y="146304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554480"/>
            <a:ext cx="4572000" cy="1097280"/>
          </a:xfrm>
          <a:prstGeom prst="rect">
            <a:avLst/>
          </a:prstGeom>
          <a:noFill/>
        </p:spPr>
        <p:txBody>
          <a:bodyPr wrap="square">
            <a:spAutoFit/>
          </a:bodyPr>
          <a:lstStyle/>
          <a:p>
            <a:pPr algn="l"/>
            <a:r>
              <a:rPr sz="1200" b="0" i="0">
                <a:solidFill>
                  <a:srgbClr val="1E3A5F"/>
                </a:solidFill>
                <a:latin typeface="Calibri"/>
              </a:rPr>
              <a:t>A: Party A pays 7% fixed on Rs 100 crore semi-annually = Rs 3.5 crore. Party B pays MIBOR on same notional. Net: only the difference flows. If MIBOR is 6%, A pays Rs 0.5 crore. If MIBOR is 8%, B pays Rs 0.5 crore. Notional never moves.</a:t>
            </a:r>
          </a:p>
        </p:txBody>
      </p:sp>
      <p:sp>
        <p:nvSpPr>
          <p:cNvPr id="10" name="Rectangle 9"/>
          <p:cNvSpPr/>
          <p:nvPr/>
        </p:nvSpPr>
        <p:spPr>
          <a:xfrm>
            <a:off x="365760" y="278892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880360"/>
            <a:ext cx="3291840" cy="1097280"/>
          </a:xfrm>
          <a:prstGeom prst="rect">
            <a:avLst/>
          </a:prstGeom>
          <a:noFill/>
        </p:spPr>
        <p:txBody>
          <a:bodyPr wrap="square">
            <a:spAutoFit/>
          </a:bodyPr>
          <a:lstStyle/>
          <a:p>
            <a:pPr algn="l"/>
            <a:r>
              <a:rPr sz="1200" b="1" i="0">
                <a:solidFill>
                  <a:srgbClr val="FFFFFF"/>
                </a:solidFill>
                <a:latin typeface="Calibri"/>
              </a:rPr>
              <a:t>Q: Why do corporates use IRS to hedge floating-rate loans?</a:t>
            </a:r>
          </a:p>
        </p:txBody>
      </p:sp>
      <p:sp>
        <p:nvSpPr>
          <p:cNvPr id="12" name="Rectangle 11"/>
          <p:cNvSpPr/>
          <p:nvPr/>
        </p:nvSpPr>
        <p:spPr>
          <a:xfrm>
            <a:off x="4023360" y="278892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2880360"/>
            <a:ext cx="4572000" cy="1097280"/>
          </a:xfrm>
          <a:prstGeom prst="rect">
            <a:avLst/>
          </a:prstGeom>
          <a:noFill/>
        </p:spPr>
        <p:txBody>
          <a:bodyPr wrap="square">
            <a:spAutoFit/>
          </a:bodyPr>
          <a:lstStyle/>
          <a:p>
            <a:pPr algn="l"/>
            <a:r>
              <a:rPr sz="1200" b="0" i="0">
                <a:solidFill>
                  <a:srgbClr val="1E3A5F"/>
                </a:solidFill>
                <a:latin typeface="Calibri"/>
              </a:rPr>
              <a:t>A: A corporate with floating debt (MIBOR+1.5%) enters pay-fixed IRS at 7%. The MIBOR they receive from the swap offsets the MIBOR they pay on the loan. Net cost becomes fixed at 7% + 1.5% = 8.5% — regardless of where MIBOR goes. Certainty for budgeting.</a:t>
            </a:r>
          </a:p>
        </p:txBody>
      </p:sp>
      <p:sp>
        <p:nvSpPr>
          <p:cNvPr id="14" name="Rectangle 13"/>
          <p:cNvSpPr/>
          <p:nvPr/>
        </p:nvSpPr>
        <p:spPr>
          <a:xfrm>
            <a:off x="365760" y="411480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3291840" cy="1097280"/>
          </a:xfrm>
          <a:prstGeom prst="rect">
            <a:avLst/>
          </a:prstGeom>
          <a:noFill/>
        </p:spPr>
        <p:txBody>
          <a:bodyPr wrap="square">
            <a:spAutoFit/>
          </a:bodyPr>
          <a:lstStyle/>
          <a:p>
            <a:pPr algn="l"/>
            <a:r>
              <a:rPr sz="1200" b="1" i="0">
                <a:solidFill>
                  <a:srgbClr val="FFFFFF"/>
                </a:solidFill>
                <a:latin typeface="Calibri"/>
              </a:rPr>
              <a:t>Q: What is MIBOR and why is it the floating rate benchmark in Indian IRS?</a:t>
            </a:r>
          </a:p>
        </p:txBody>
      </p:sp>
      <p:sp>
        <p:nvSpPr>
          <p:cNvPr id="16" name="Rectangle 15"/>
          <p:cNvSpPr/>
          <p:nvPr/>
        </p:nvSpPr>
        <p:spPr>
          <a:xfrm>
            <a:off x="4023360" y="411480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4206240"/>
            <a:ext cx="4572000" cy="1097280"/>
          </a:xfrm>
          <a:prstGeom prst="rect">
            <a:avLst/>
          </a:prstGeom>
          <a:noFill/>
        </p:spPr>
        <p:txBody>
          <a:bodyPr wrap="square">
            <a:spAutoFit/>
          </a:bodyPr>
          <a:lstStyle/>
          <a:p>
            <a:pPr algn="l"/>
            <a:r>
              <a:rPr sz="1200" b="0" i="0">
                <a:solidFill>
                  <a:srgbClr val="1E3A5F"/>
                </a:solidFill>
                <a:latin typeface="Calibri"/>
              </a:rPr>
              <a:t>A: MIBOR = Mumbai Interbank Offer Rate — the rate Indian banks charge each other for short-term unsecured lending. It reflects RBI policy rate expectations and market liquidity. It resets daily or periodically, making it the natural floating benchmark for Indian OTC derivatives.</a:t>
            </a:r>
          </a:p>
        </p:txBody>
      </p:sp>
      <p:sp>
        <p:nvSpPr>
          <p:cNvPr id="18" name="Rectangle 17"/>
          <p:cNvSpPr/>
          <p:nvPr/>
        </p:nvSpPr>
        <p:spPr>
          <a:xfrm>
            <a:off x="365760" y="6217920"/>
            <a:ext cx="841248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236208"/>
            <a:ext cx="8229600" cy="365760"/>
          </a:xfrm>
          <a:prstGeom prst="rect">
            <a:avLst/>
          </a:prstGeom>
          <a:noFill/>
        </p:spPr>
        <p:txBody>
          <a:bodyPr wrap="square">
            <a:spAutoFit/>
          </a:bodyPr>
          <a:lstStyle/>
          <a:p>
            <a:pPr algn="ctr"/>
            <a:r>
              <a:rPr sz="1100" b="1" i="0">
                <a:solidFill>
                  <a:srgbClr val="FFFFFF"/>
                </a:solidFill>
                <a:latin typeface="Calibri"/>
              </a:rPr>
              <a:t>Next Unit: SWP.3 — Currency Swaps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SWP.3</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Currency Swaps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300" b="1" i="0">
                <a:solidFill>
                  <a:srgbClr val="005F5F"/>
                </a:solidFill>
                <a:latin typeface="Calibri"/>
              </a:rPr>
              <a:t>Quick Recap — Before we start SWP.3</a:t>
            </a:r>
          </a:p>
        </p:txBody>
      </p:sp>
      <p:sp>
        <p:nvSpPr>
          <p:cNvPr id="6" name="TextBox 5"/>
          <p:cNvSpPr txBox="1"/>
          <p:nvPr/>
        </p:nvSpPr>
        <p:spPr>
          <a:xfrm>
            <a:off x="365760" y="1417320"/>
            <a:ext cx="8412480" cy="320040"/>
          </a:xfrm>
          <a:prstGeom prst="rect">
            <a:avLst/>
          </a:prstGeom>
          <a:noFill/>
        </p:spPr>
        <p:txBody>
          <a:bodyPr wrap="square">
            <a:spAutoFit/>
          </a:bodyPr>
          <a:lstStyle/>
          <a:p>
            <a:pPr algn="l"/>
            <a:r>
              <a:rPr sz="1100" b="0" i="1">
                <a:solidFill>
                  <a:srgbClr val="333333"/>
                </a:solidFill>
                <a:latin typeface="Calibri"/>
              </a:rPr>
              <a:t>Building on: SWP.2 — Interest Rate Swaps (IRS)</a:t>
            </a:r>
          </a:p>
        </p:txBody>
      </p:sp>
      <p:sp>
        <p:nvSpPr>
          <p:cNvPr id="7" name="TextBox 6"/>
          <p:cNvSpPr txBox="1"/>
          <p:nvPr/>
        </p:nvSpPr>
        <p:spPr>
          <a:xfrm>
            <a:off x="457200" y="1828800"/>
            <a:ext cx="8229600" cy="4114800"/>
          </a:xfrm>
          <a:prstGeom prst="rect">
            <a:avLst/>
          </a:prstGeom>
          <a:noFill/>
        </p:spPr>
        <p:txBody>
          <a:bodyPr wrap="square">
            <a:spAutoFit/>
          </a:bodyPr>
          <a:lstStyle/>
          <a:p>
            <a:pPr algn="l">
              <a:spcBef>
                <a:spcPts val="400"/>
              </a:spcBef>
            </a:pPr>
            <a:r>
              <a:rPr sz="1600">
                <a:solidFill>
                  <a:srgbClr val="333333"/>
                </a:solidFill>
                <a:latin typeface="Calibri"/>
              </a:rPr>
              <a:t>  •  Plain vanilla IRS: fixed ↔ floating on same currency notional; only net interest flows</a:t>
            </a:r>
          </a:p>
          <a:p>
            <a:pPr algn="l">
              <a:spcBef>
                <a:spcPts val="400"/>
              </a:spcBef>
            </a:pPr>
            <a:r>
              <a:rPr sz="1600">
                <a:solidFill>
                  <a:srgbClr val="333333"/>
                </a:solidFill>
                <a:latin typeface="Calibri"/>
              </a:rPr>
              <a:t>  •  MIBOR is the Indian floating rate benchmark; resets each period</a:t>
            </a:r>
          </a:p>
          <a:p>
            <a:pPr algn="l">
              <a:spcBef>
                <a:spcPts val="400"/>
              </a:spcBef>
            </a:pPr>
            <a:r>
              <a:rPr sz="1600">
                <a:solidFill>
                  <a:srgbClr val="333333"/>
                </a:solidFill>
                <a:latin typeface="Calibri"/>
              </a:rPr>
              <a:t>  •  Pay-fixed party benefits when rates rise; pay-floating benefits when rates fall</a:t>
            </a:r>
          </a:p>
          <a:p>
            <a:pPr algn="l">
              <a:spcBef>
                <a:spcPts val="400"/>
              </a:spcBef>
            </a:pPr>
            <a:r>
              <a:rPr sz="1600">
                <a:solidFill>
                  <a:srgbClr val="333333"/>
                </a:solidFill>
                <a:latin typeface="Calibri"/>
              </a:rPr>
              <a:t>  •  Corporates use IRS to convert floating debt to fixed — locking predictable costs</a:t>
            </a:r>
          </a:p>
        </p:txBody>
      </p:sp>
      <p:sp>
        <p:nvSpPr>
          <p:cNvPr id="8" name="Rectangle 7"/>
          <p:cNvSpPr/>
          <p:nvPr/>
        </p:nvSpPr>
        <p:spPr>
          <a:xfrm>
            <a:off x="274320" y="1828800"/>
            <a:ext cx="54864" cy="4114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SWP.3</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Currency Swaps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Scenario — Indian IT Company's Dollar Dilemma</a:t>
            </a:r>
          </a:p>
        </p:txBody>
      </p:sp>
      <p:sp>
        <p:nvSpPr>
          <p:cNvPr id="6" name="Rectangle 5"/>
          <p:cNvSpPr/>
          <p:nvPr/>
        </p:nvSpPr>
        <p:spPr>
          <a:xfrm>
            <a:off x="457200" y="1554480"/>
            <a:ext cx="82296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91440" cy="44805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40"/>
            <a:ext cx="7863840" cy="4206240"/>
          </a:xfrm>
          <a:prstGeom prst="rect">
            <a:avLst/>
          </a:prstGeom>
          <a:noFill/>
        </p:spPr>
        <p:txBody>
          <a:bodyPr wrap="square">
            <a:spAutoFit/>
          </a:bodyPr>
          <a:lstStyle/>
          <a:p>
            <a:pPr algn="l"/>
            <a:r>
              <a:rPr sz="1500" b="0" i="0">
                <a:solidFill>
                  <a:srgbClr val="333333"/>
                </a:solidFill>
                <a:latin typeface="Calibri"/>
              </a:rPr>
              <a:t>TechSoft India Ltd needs $100 million to fund a US acquisition. Options:
1. Borrow in India at 9% in INR, then convert — but INR loan is expensive and FX risk on repayment remains.
2. Issue dollar bonds in the US at 4% (US investors trust investment-grade Indian IT) — but then service a $4M annual dollar coupon from INR revenues, bearing full FX risk.
3. Do option 2, then enter a currency swap: receive $100M, pay INR equivalent (Rs 700 crore at 70 $/INR). Pay 7% INR interest to swap counterparty. Receive 4% USD interest from counterparty — exactly offsetting the dollar bond coupon.
Result: TechSoft accesses $100M at effectively 7% INR cost — cheaper than domestic 9% — with NO currency mismatch. The acquisition is funded. The CFO's FX exposure is eliminated. The currency swap did the heavy lifting.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SWP.3</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Currency Swaps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005F5F"/>
                </a:solidFill>
                <a:latin typeface="Calibri"/>
              </a:rPr>
              <a:t>Key Concept — Currency Swap Structure — Three Phases</a:t>
            </a:r>
          </a:p>
        </p:txBody>
      </p:sp>
      <p:sp>
        <p:nvSpPr>
          <p:cNvPr id="6" name="Rectangle 5"/>
          <p:cNvSpPr/>
          <p:nvPr/>
        </p:nvSpPr>
        <p:spPr>
          <a:xfrm>
            <a:off x="365760" y="1508760"/>
            <a:ext cx="502920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00200"/>
            <a:ext cx="4800600" cy="4754880"/>
          </a:xfrm>
          <a:prstGeom prst="rect">
            <a:avLst/>
          </a:prstGeom>
          <a:noFill/>
        </p:spPr>
        <p:txBody>
          <a:bodyPr wrap="square">
            <a:spAutoFit/>
          </a:bodyPr>
          <a:lstStyle/>
          <a:p>
            <a:pPr algn="l">
              <a:spcBef>
                <a:spcPts val="400"/>
              </a:spcBef>
            </a:pPr>
            <a:r>
              <a:rPr sz="1500">
                <a:solidFill>
                  <a:srgbClr val="333333"/>
                </a:solidFill>
                <a:latin typeface="Calibri"/>
              </a:rPr>
              <a:t>  •  Phase 1 — Inception: Principal exchanged at current spot rate (Rs 700 Cr ↔ $100M at 70)</a:t>
            </a:r>
          </a:p>
          <a:p>
            <a:pPr algn="l">
              <a:spcBef>
                <a:spcPts val="400"/>
              </a:spcBef>
            </a:pPr>
            <a:r>
              <a:rPr sz="1500">
                <a:solidFill>
                  <a:srgbClr val="333333"/>
                </a:solidFill>
                <a:latin typeface="Calibri"/>
              </a:rPr>
              <a:t>  •  Phase 2 — Periodic: Each party pays interest in the RECEIVED currency</a:t>
            </a:r>
          </a:p>
          <a:p>
            <a:pPr algn="l">
              <a:spcBef>
                <a:spcPts val="400"/>
              </a:spcBef>
            </a:pPr>
            <a:r>
              <a:rPr sz="1500">
                <a:solidFill>
                  <a:srgbClr val="333333"/>
                </a:solidFill>
                <a:latin typeface="Calibri"/>
              </a:rPr>
              <a:t>  •    Party A pays USD 4% on $100M = $4M annually to counterparty</a:t>
            </a:r>
          </a:p>
          <a:p>
            <a:pPr algn="l">
              <a:spcBef>
                <a:spcPts val="400"/>
              </a:spcBef>
            </a:pPr>
            <a:r>
              <a:rPr sz="1500">
                <a:solidFill>
                  <a:srgbClr val="333333"/>
                </a:solidFill>
                <a:latin typeface="Calibri"/>
              </a:rPr>
              <a:t>  •    Party B pays INR 7% on Rs 700 Cr = Rs 49 Cr annually to Party A</a:t>
            </a:r>
          </a:p>
          <a:p>
            <a:pPr algn="l">
              <a:spcBef>
                <a:spcPts val="400"/>
              </a:spcBef>
            </a:pPr>
            <a:r>
              <a:rPr sz="1500">
                <a:solidFill>
                  <a:srgbClr val="333333"/>
                </a:solidFill>
                <a:latin typeface="Calibri"/>
              </a:rPr>
              <a:t>  •  Phase 3 — Maturity: Principals returned at the ORIGINAL rate of 70 — regardless of spot</a:t>
            </a:r>
          </a:p>
          <a:p>
            <a:pPr algn="l">
              <a:spcBef>
                <a:spcPts val="400"/>
              </a:spcBef>
            </a:pPr>
            <a:r>
              <a:rPr sz="1500">
                <a:solidFill>
                  <a:srgbClr val="333333"/>
                </a:solidFill>
                <a:latin typeface="Calibri"/>
              </a:rPr>
              <a:t>  •  FX risk on principal: ELIMINATED (original rate locks the exchange permanently)</a:t>
            </a:r>
          </a:p>
          <a:p>
            <a:pPr algn="l">
              <a:spcBef>
                <a:spcPts val="400"/>
              </a:spcBef>
            </a:pPr>
            <a:r>
              <a:rPr sz="1500">
                <a:solidFill>
                  <a:srgbClr val="333333"/>
                </a:solidFill>
                <a:latin typeface="Calibri"/>
              </a:rPr>
              <a:t>  •  Key difference from IRS: Principal IS physically exchanged — creating larger counterparty exposure</a:t>
            </a:r>
          </a:p>
        </p:txBody>
      </p:sp>
      <p:sp>
        <p:nvSpPr>
          <p:cNvPr id="8" name="Rectangle 7"/>
          <p:cNvSpPr/>
          <p:nvPr/>
        </p:nvSpPr>
        <p:spPr>
          <a:xfrm>
            <a:off x="5577840" y="1508760"/>
            <a:ext cx="3200400" cy="493776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0" y="1600200"/>
            <a:ext cx="3017520" cy="4754880"/>
          </a:xfrm>
          <a:prstGeom prst="rect">
            <a:avLst/>
          </a:prstGeom>
          <a:noFill/>
        </p:spPr>
        <p:txBody>
          <a:bodyPr wrap="square">
            <a:spAutoFit/>
          </a:bodyPr>
          <a:lstStyle/>
          <a:p>
            <a:pPr algn="l"/>
            <a:r>
              <a:rPr sz="1300" b="0" i="0">
                <a:solidFill>
                  <a:srgbClr val="1E3A5F"/>
                </a:solidFill>
                <a:latin typeface="Calibri"/>
              </a:rPr>
              <a:t>[DIAGRAM PLACEHOLDER]
Inception:
Party A → Rs 700 Cr → Party B
Party B → $100M → Party A
Periodic:
Party A → $4M → Party B
Party B → Rs 49 Cr → Party A
Maturity:
Party A → $100M → Party B
Party B → Rs 700 Cr → Party A
(at ORIGINAL rate of 70)
[See Source Slide 15 — Currency Swap Flow]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SWP.3</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Currency Swaps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Going Deeper — Central Bank Currency Swaps and Sovereign Applications</a:t>
            </a:r>
          </a:p>
        </p:txBody>
      </p:sp>
      <p:sp>
        <p:nvSpPr>
          <p:cNvPr id="6" name="Rectangle 5"/>
          <p:cNvSpPr/>
          <p:nvPr/>
        </p:nvSpPr>
        <p:spPr>
          <a:xfrm>
            <a:off x="365760" y="1508760"/>
            <a:ext cx="841248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73152" cy="49377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8138160" cy="4754880"/>
          </a:xfrm>
          <a:prstGeom prst="rect">
            <a:avLst/>
          </a:prstGeom>
          <a:noFill/>
        </p:spPr>
        <p:txBody>
          <a:bodyPr wrap="square">
            <a:spAutoFit/>
          </a:bodyPr>
          <a:lstStyle/>
          <a:p>
            <a:pPr algn="l">
              <a:spcBef>
                <a:spcPts val="400"/>
              </a:spcBef>
            </a:pPr>
            <a:r>
              <a:rPr sz="1500">
                <a:solidFill>
                  <a:srgbClr val="333333"/>
                </a:solidFill>
                <a:latin typeface="Calibri"/>
              </a:rPr>
              <a:t>  •  RBI uses bilateral currency swap lines with Bank of Japan (USD 75 billion SAARC swap) and others</a:t>
            </a:r>
          </a:p>
          <a:p>
            <a:pPr algn="l">
              <a:spcBef>
                <a:spcPts val="400"/>
              </a:spcBef>
            </a:pPr>
            <a:r>
              <a:rPr sz="1500">
                <a:solidFill>
                  <a:srgbClr val="333333"/>
                </a:solidFill>
                <a:latin typeface="Calibri"/>
              </a:rPr>
              <a:t>  •  Purpose: shore up FX reserves during stress without selling existing reserves</a:t>
            </a:r>
          </a:p>
          <a:p>
            <a:pPr algn="l">
              <a:spcBef>
                <a:spcPts val="400"/>
              </a:spcBef>
            </a:pPr>
            <a:r>
              <a:rPr sz="1500">
                <a:solidFill>
                  <a:srgbClr val="333333"/>
                </a:solidFill>
                <a:latin typeface="Calibri"/>
              </a:rPr>
              <a:t>  •  During COVID-19, RBI drew on these lines to provide dollar liquidity to Indian banks</a:t>
            </a:r>
          </a:p>
          <a:p>
            <a:pPr algn="l">
              <a:spcBef>
                <a:spcPts val="400"/>
              </a:spcBef>
            </a:pPr>
            <a:r>
              <a:rPr sz="1500">
                <a:solidFill>
                  <a:srgbClr val="333333"/>
                </a:solidFill>
                <a:latin typeface="Calibri"/>
              </a:rPr>
              <a:t>  •  World Bank and IBM executed the first currency swap in 1981 — IBM had DM/CHF debt it wanted in USD</a:t>
            </a:r>
          </a:p>
          <a:p>
            <a:pPr algn="l">
              <a:spcBef>
                <a:spcPts val="400"/>
              </a:spcBef>
            </a:pPr>
            <a:r>
              <a:rPr sz="1500">
                <a:solidFill>
                  <a:srgbClr val="333333"/>
                </a:solidFill>
                <a:latin typeface="Calibri"/>
              </a:rPr>
              <a:t>  •  Currency swap maturity risk: principal exchange at maturity creates settlement risk across two settlement systems</a:t>
            </a:r>
          </a:p>
          <a:p>
            <a:pPr algn="l">
              <a:spcBef>
                <a:spcPts val="400"/>
              </a:spcBef>
            </a:pPr>
            <a:r>
              <a:rPr sz="1500">
                <a:solidFill>
                  <a:srgbClr val="333333"/>
                </a:solidFill>
                <a:latin typeface="Calibri"/>
              </a:rPr>
              <a:t>  •  ISDA/CSA collateral frameworks: because principal is exchanged, variation margin may not fully cover exposure</a:t>
            </a:r>
          </a:p>
          <a:p>
            <a:pPr algn="l">
              <a:spcBef>
                <a:spcPts val="400"/>
              </a:spcBef>
            </a:pPr>
            <a:r>
              <a:rPr sz="1500">
                <a:solidFill>
                  <a:srgbClr val="333333"/>
                </a:solidFill>
                <a:latin typeface="Calibri"/>
              </a:rPr>
              <a:t>  •  Post-trade: currency swaps must be reported to CCIL trade repository; central clearing for standardised tenors is developing in India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SWP.3</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Currency Swaps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1E3A5F"/>
                </a:solidFill>
                <a:latin typeface="Calibri"/>
              </a:rPr>
              <a:t>Think &amp; Discuss</a:t>
            </a:r>
          </a:p>
        </p:txBody>
      </p:sp>
      <p:sp>
        <p:nvSpPr>
          <p:cNvPr id="6" name="Rectangle 5"/>
          <p:cNvSpPr/>
          <p:nvPr/>
        </p:nvSpPr>
        <p:spPr>
          <a:xfrm>
            <a:off x="365760" y="155448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35712"/>
            <a:ext cx="8046720" cy="1234440"/>
          </a:xfrm>
          <a:prstGeom prst="rect">
            <a:avLst/>
          </a:prstGeom>
          <a:noFill/>
        </p:spPr>
        <p:txBody>
          <a:bodyPr wrap="square">
            <a:spAutoFit/>
          </a:bodyPr>
          <a:lstStyle/>
          <a:p>
            <a:pPr algn="l"/>
            <a:r>
              <a:rPr sz="1400" b="0" i="0">
                <a:solidFill>
                  <a:srgbClr val="333333"/>
                </a:solidFill>
                <a:latin typeface="Calibri"/>
              </a:rPr>
              <a:t>Q1  A CFO says: "Our currency swap eliminates all our FX risk." Is this entirely accurate? What residual risks remain even after a well-structured currency swap?</a:t>
            </a:r>
          </a:p>
        </p:txBody>
      </p:sp>
      <p:sp>
        <p:nvSpPr>
          <p:cNvPr id="9" name="Rectangle 8"/>
          <p:cNvSpPr/>
          <p:nvPr/>
        </p:nvSpPr>
        <p:spPr>
          <a:xfrm>
            <a:off x="365760" y="310896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10896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598272"/>
            <a:ext cx="8046720" cy="1234440"/>
          </a:xfrm>
          <a:prstGeom prst="rect">
            <a:avLst/>
          </a:prstGeom>
          <a:noFill/>
        </p:spPr>
        <p:txBody>
          <a:bodyPr wrap="square">
            <a:spAutoFit/>
          </a:bodyPr>
          <a:lstStyle/>
          <a:p>
            <a:pPr algn="l"/>
            <a:r>
              <a:rPr sz="1400" b="0" i="0">
                <a:solidFill>
                  <a:srgbClr val="333333"/>
                </a:solidFill>
                <a:latin typeface="Calibri"/>
              </a:rPr>
              <a:t>Q2  The original exchange rate is locked at maturity in a currency swap, regardless of where spot USD/INR is then. If the rupee depreciates sharply, who benefits and who bears the cost in a bilateral currency swap?</a:t>
            </a:r>
          </a:p>
        </p:txBody>
      </p:sp>
      <p:sp>
        <p:nvSpPr>
          <p:cNvPr id="12" name="Rectangle 11"/>
          <p:cNvSpPr/>
          <p:nvPr/>
        </p:nvSpPr>
        <p:spPr>
          <a:xfrm>
            <a:off x="365760" y="466344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466344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360832"/>
            <a:ext cx="8046720" cy="1234440"/>
          </a:xfrm>
          <a:prstGeom prst="rect">
            <a:avLst/>
          </a:prstGeom>
          <a:noFill/>
        </p:spPr>
        <p:txBody>
          <a:bodyPr wrap="square">
            <a:spAutoFit/>
          </a:bodyPr>
          <a:lstStyle/>
          <a:p>
            <a:pPr algn="l"/>
            <a:r>
              <a:rPr sz="1400" b="0" i="0">
                <a:solidFill>
                  <a:srgbClr val="333333"/>
                </a:solidFill>
                <a:latin typeface="Calibri"/>
              </a:rPr>
              <a:t>Q3  Why might a central bank prefer a currency swap line with another central bank over simply buying foreign currency in the spot market?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SWP.3</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Currency Swaps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005F5F"/>
                </a:solidFill>
                <a:latin typeface="Calibri"/>
              </a:rPr>
              <a:t>Interview Ready — Q&amp;A</a:t>
            </a:r>
          </a:p>
        </p:txBody>
      </p:sp>
      <p:sp>
        <p:nvSpPr>
          <p:cNvPr id="6" name="Rectangle 5"/>
          <p:cNvSpPr/>
          <p:nvPr/>
        </p:nvSpPr>
        <p:spPr>
          <a:xfrm>
            <a:off x="365760" y="146304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3291840" cy="1097280"/>
          </a:xfrm>
          <a:prstGeom prst="rect">
            <a:avLst/>
          </a:prstGeom>
          <a:noFill/>
        </p:spPr>
        <p:txBody>
          <a:bodyPr wrap="square">
            <a:spAutoFit/>
          </a:bodyPr>
          <a:lstStyle/>
          <a:p>
            <a:pPr algn="l"/>
            <a:r>
              <a:rPr sz="1200" b="1" i="0">
                <a:solidFill>
                  <a:srgbClr val="FFFFFF"/>
                </a:solidFill>
                <a:latin typeface="Calibri"/>
              </a:rPr>
              <a:t>Q: How does a currency swap differ from an interest rate swap?</a:t>
            </a:r>
          </a:p>
        </p:txBody>
      </p:sp>
      <p:sp>
        <p:nvSpPr>
          <p:cNvPr id="8" name="Rectangle 7"/>
          <p:cNvSpPr/>
          <p:nvPr/>
        </p:nvSpPr>
        <p:spPr>
          <a:xfrm>
            <a:off x="4023360" y="146304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554480"/>
            <a:ext cx="4572000" cy="1097280"/>
          </a:xfrm>
          <a:prstGeom prst="rect">
            <a:avLst/>
          </a:prstGeom>
          <a:noFill/>
        </p:spPr>
        <p:txBody>
          <a:bodyPr wrap="square">
            <a:spAutoFit/>
          </a:bodyPr>
          <a:lstStyle/>
          <a:p>
            <a:pPr algn="l"/>
            <a:r>
              <a:rPr sz="1200" b="0" i="0">
                <a:solidFill>
                  <a:srgbClr val="1E3A5F"/>
                </a:solidFill>
                <a:latin typeface="Calibri"/>
              </a:rPr>
              <a:t>A: IRS: same currency, no principal exchange, only net interest flows. Currency swap: two currencies, principal IS exchanged at inception and maturity at the original rate. Currency swap hedges both interest rate AND FX risk simultaneously.</a:t>
            </a:r>
          </a:p>
        </p:txBody>
      </p:sp>
      <p:sp>
        <p:nvSpPr>
          <p:cNvPr id="10" name="Rectangle 9"/>
          <p:cNvSpPr/>
          <p:nvPr/>
        </p:nvSpPr>
        <p:spPr>
          <a:xfrm>
            <a:off x="365760" y="278892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880360"/>
            <a:ext cx="3291840" cy="1097280"/>
          </a:xfrm>
          <a:prstGeom prst="rect">
            <a:avLst/>
          </a:prstGeom>
          <a:noFill/>
        </p:spPr>
        <p:txBody>
          <a:bodyPr wrap="square">
            <a:spAutoFit/>
          </a:bodyPr>
          <a:lstStyle/>
          <a:p>
            <a:pPr algn="l"/>
            <a:r>
              <a:rPr sz="1200" b="1" i="0">
                <a:solidFill>
                  <a:srgbClr val="FFFFFF"/>
                </a:solidFill>
                <a:latin typeface="Calibri"/>
              </a:rPr>
              <a:t>Q: Why is principal exchanged in a currency swap but not in an IRS?</a:t>
            </a:r>
          </a:p>
        </p:txBody>
      </p:sp>
      <p:sp>
        <p:nvSpPr>
          <p:cNvPr id="12" name="Rectangle 11"/>
          <p:cNvSpPr/>
          <p:nvPr/>
        </p:nvSpPr>
        <p:spPr>
          <a:xfrm>
            <a:off x="4023360" y="278892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2880360"/>
            <a:ext cx="4572000" cy="1097280"/>
          </a:xfrm>
          <a:prstGeom prst="rect">
            <a:avLst/>
          </a:prstGeom>
          <a:noFill/>
        </p:spPr>
        <p:txBody>
          <a:bodyPr wrap="square">
            <a:spAutoFit/>
          </a:bodyPr>
          <a:lstStyle/>
          <a:p>
            <a:pPr algn="l"/>
            <a:r>
              <a:rPr sz="1200" b="0" i="0">
                <a:solidFill>
                  <a:srgbClr val="1E3A5F"/>
                </a:solidFill>
                <a:latin typeface="Calibri"/>
              </a:rPr>
              <a:t>A: Because the two parties need the other's currency to service their obligations. An Indian company that issued USD bonds needs to pay dollars — so it physically receives dollars via the swap. The principal exchange is functional, not just notional.</a:t>
            </a:r>
          </a:p>
        </p:txBody>
      </p:sp>
      <p:sp>
        <p:nvSpPr>
          <p:cNvPr id="14" name="Rectangle 13"/>
          <p:cNvSpPr/>
          <p:nvPr/>
        </p:nvSpPr>
        <p:spPr>
          <a:xfrm>
            <a:off x="365760" y="411480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3291840" cy="1097280"/>
          </a:xfrm>
          <a:prstGeom prst="rect">
            <a:avLst/>
          </a:prstGeom>
          <a:noFill/>
        </p:spPr>
        <p:txBody>
          <a:bodyPr wrap="square">
            <a:spAutoFit/>
          </a:bodyPr>
          <a:lstStyle/>
          <a:p>
            <a:pPr algn="l"/>
            <a:r>
              <a:rPr sz="1200" b="1" i="0">
                <a:solidFill>
                  <a:srgbClr val="FFFFFF"/>
                </a:solidFill>
                <a:latin typeface="Calibri"/>
              </a:rPr>
              <a:t>Q: What risk does a currency swap NOT eliminate?</a:t>
            </a:r>
          </a:p>
        </p:txBody>
      </p:sp>
      <p:sp>
        <p:nvSpPr>
          <p:cNvPr id="16" name="Rectangle 15"/>
          <p:cNvSpPr/>
          <p:nvPr/>
        </p:nvSpPr>
        <p:spPr>
          <a:xfrm>
            <a:off x="4023360" y="411480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4206240"/>
            <a:ext cx="4572000" cy="1097280"/>
          </a:xfrm>
          <a:prstGeom prst="rect">
            <a:avLst/>
          </a:prstGeom>
          <a:noFill/>
        </p:spPr>
        <p:txBody>
          <a:bodyPr wrap="square">
            <a:spAutoFit/>
          </a:bodyPr>
          <a:lstStyle/>
          <a:p>
            <a:pPr algn="l"/>
            <a:r>
              <a:rPr sz="1200" b="0" i="0">
                <a:solidFill>
                  <a:srgbClr val="1E3A5F"/>
                </a:solidFill>
                <a:latin typeface="Calibri"/>
              </a:rPr>
              <a:t>A: Counterparty risk — because principal is physically exchanged, if the counterparty defaults after you have delivered your currency but before maturity, you may not recover the other currency. FX risk on the principal is eliminated; credit risk is amplified.</a:t>
            </a:r>
          </a:p>
        </p:txBody>
      </p:sp>
      <p:sp>
        <p:nvSpPr>
          <p:cNvPr id="18" name="Rectangle 17"/>
          <p:cNvSpPr/>
          <p:nvPr/>
        </p:nvSpPr>
        <p:spPr>
          <a:xfrm>
            <a:off x="365760" y="6217920"/>
            <a:ext cx="841248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236208"/>
            <a:ext cx="8229600" cy="365760"/>
          </a:xfrm>
          <a:prstGeom prst="rect">
            <a:avLst/>
          </a:prstGeom>
          <a:noFill/>
        </p:spPr>
        <p:txBody>
          <a:bodyPr wrap="square">
            <a:spAutoFit/>
          </a:bodyPr>
          <a:lstStyle/>
          <a:p>
            <a:pPr algn="ctr"/>
            <a:r>
              <a:rPr sz="1100" b="1" i="0">
                <a:solidFill>
                  <a:srgbClr val="FFFFFF"/>
                </a:solidFill>
                <a:latin typeface="Calibri"/>
              </a:rPr>
              <a:t>Next Unit: SWP.4 — Credit Default Swaps (CDS)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SWP.4</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Credit Default Swaps (CDS)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300" b="1" i="0">
                <a:solidFill>
                  <a:srgbClr val="005F5F"/>
                </a:solidFill>
                <a:latin typeface="Calibri"/>
              </a:rPr>
              <a:t>Quick Recap — Before we start SWP.4</a:t>
            </a:r>
          </a:p>
        </p:txBody>
      </p:sp>
      <p:sp>
        <p:nvSpPr>
          <p:cNvPr id="6" name="TextBox 5"/>
          <p:cNvSpPr txBox="1"/>
          <p:nvPr/>
        </p:nvSpPr>
        <p:spPr>
          <a:xfrm>
            <a:off x="365760" y="1417320"/>
            <a:ext cx="8412480" cy="320040"/>
          </a:xfrm>
          <a:prstGeom prst="rect">
            <a:avLst/>
          </a:prstGeom>
          <a:noFill/>
        </p:spPr>
        <p:txBody>
          <a:bodyPr wrap="square">
            <a:spAutoFit/>
          </a:bodyPr>
          <a:lstStyle/>
          <a:p>
            <a:pPr algn="l"/>
            <a:r>
              <a:rPr sz="1100" b="0" i="1">
                <a:solidFill>
                  <a:srgbClr val="333333"/>
                </a:solidFill>
                <a:latin typeface="Calibri"/>
              </a:rPr>
              <a:t>Building on: SWP.3 — Currency Swaps</a:t>
            </a:r>
          </a:p>
        </p:txBody>
      </p:sp>
      <p:sp>
        <p:nvSpPr>
          <p:cNvPr id="7" name="TextBox 6"/>
          <p:cNvSpPr txBox="1"/>
          <p:nvPr/>
        </p:nvSpPr>
        <p:spPr>
          <a:xfrm>
            <a:off x="457200" y="1828800"/>
            <a:ext cx="8229600" cy="4114800"/>
          </a:xfrm>
          <a:prstGeom prst="rect">
            <a:avLst/>
          </a:prstGeom>
          <a:noFill/>
        </p:spPr>
        <p:txBody>
          <a:bodyPr wrap="square">
            <a:spAutoFit/>
          </a:bodyPr>
          <a:lstStyle/>
          <a:p>
            <a:pPr algn="l">
              <a:spcBef>
                <a:spcPts val="400"/>
              </a:spcBef>
            </a:pPr>
            <a:r>
              <a:rPr sz="1600">
                <a:solidFill>
                  <a:srgbClr val="333333"/>
                </a:solidFill>
                <a:latin typeface="Calibri"/>
              </a:rPr>
              <a:t>  •  Currency swap: exchanges principal in two currencies at inception and maturity at original rate</a:t>
            </a:r>
          </a:p>
          <a:p>
            <a:pPr algn="l">
              <a:spcBef>
                <a:spcPts val="400"/>
              </a:spcBef>
            </a:pPr>
            <a:r>
              <a:rPr sz="1600">
                <a:solidFill>
                  <a:srgbClr val="333333"/>
                </a:solidFill>
                <a:latin typeface="Calibri"/>
              </a:rPr>
              <a:t>  •  Eliminates FX risk on principal; periodic interest paid in received currency</a:t>
            </a:r>
          </a:p>
          <a:p>
            <a:pPr algn="l">
              <a:spcBef>
                <a:spcPts val="400"/>
              </a:spcBef>
            </a:pPr>
            <a:r>
              <a:rPr sz="1600">
                <a:solidFill>
                  <a:srgbClr val="333333"/>
                </a:solidFill>
                <a:latin typeface="Calibri"/>
              </a:rPr>
              <a:t>  •  Corporate application: access cheap foreign capital; swap to domestic currency obligations</a:t>
            </a:r>
          </a:p>
          <a:p>
            <a:pPr algn="l">
              <a:spcBef>
                <a:spcPts val="400"/>
              </a:spcBef>
            </a:pPr>
            <a:r>
              <a:rPr sz="1600">
                <a:solidFill>
                  <a:srgbClr val="333333"/>
                </a:solidFill>
                <a:latin typeface="Calibri"/>
              </a:rPr>
              <a:t>  •  Larger counterparty risk than IRS because principal physically moves</a:t>
            </a:r>
          </a:p>
        </p:txBody>
      </p:sp>
      <p:sp>
        <p:nvSpPr>
          <p:cNvPr id="8" name="Rectangle 7"/>
          <p:cNvSpPr/>
          <p:nvPr/>
        </p:nvSpPr>
        <p:spPr>
          <a:xfrm>
            <a:off x="274320" y="1828800"/>
            <a:ext cx="54864" cy="4114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SWP.4</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Credit Default Swaps (CDS)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Scenario — The Bond Holder's Insurance Question</a:t>
            </a:r>
          </a:p>
        </p:txBody>
      </p:sp>
      <p:sp>
        <p:nvSpPr>
          <p:cNvPr id="6" name="Rectangle 5"/>
          <p:cNvSpPr/>
          <p:nvPr/>
        </p:nvSpPr>
        <p:spPr>
          <a:xfrm>
            <a:off x="457200" y="1554480"/>
            <a:ext cx="82296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91440" cy="44805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40"/>
            <a:ext cx="7863840" cy="4206240"/>
          </a:xfrm>
          <a:prstGeom prst="rect">
            <a:avLst/>
          </a:prstGeom>
          <a:noFill/>
        </p:spPr>
        <p:txBody>
          <a:bodyPr wrap="square">
            <a:spAutoFit/>
          </a:bodyPr>
          <a:lstStyle/>
          <a:p>
            <a:pPr algn="l"/>
            <a:r>
              <a:rPr sz="1500" b="0" i="0">
                <a:solidFill>
                  <a:srgbClr val="333333"/>
                </a:solidFill>
                <a:latin typeface="Calibri"/>
              </a:rPr>
              <a:t>HDFC Bank holds Rs 500 crore of Yes Bank bonds in its trading book. Year is 2019. Yes Bank is under stress — governance concerns, NPA disclosures, promoter pledging. HDFC's credit analysts are worried: "What if Yes Bank defaults?"
Option 1: Sell the bonds. But selling Rs 500 crore of distressed bonds in a thin market will move prices badly. HDFC takes a mark-to-market loss AND signals to the market that they are exiting.
Option 2: Buy CDS protection. Pay, say, 300 basis points per annum (Rs 15 crore annually) to a protection seller. If Yes Bank triggers a credit event — bankruptcy, payment failure, restructuring — the protection seller pays HDFC the face value of the bonds.
HDFC keeps the bonds (no market impact), pays the insurance premium (Rs 15 Cr/year), and sleeps knowing the downside is capped. This is CDS in its legitimate, intended use: transferring credit risk without disturbing the underlying market.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SWP.4</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Credit Default Swaps (CDS)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005F5F"/>
                </a:solidFill>
                <a:latin typeface="Calibri"/>
              </a:rPr>
              <a:t>Key Concept — CDS Structure — Insurance on a Bond</a:t>
            </a:r>
          </a:p>
        </p:txBody>
      </p:sp>
      <p:sp>
        <p:nvSpPr>
          <p:cNvPr id="6" name="Rectangle 5"/>
          <p:cNvSpPr/>
          <p:nvPr/>
        </p:nvSpPr>
        <p:spPr>
          <a:xfrm>
            <a:off x="365760" y="1508760"/>
            <a:ext cx="502920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00200"/>
            <a:ext cx="4800600" cy="4754880"/>
          </a:xfrm>
          <a:prstGeom prst="rect">
            <a:avLst/>
          </a:prstGeom>
          <a:noFill/>
        </p:spPr>
        <p:txBody>
          <a:bodyPr wrap="square">
            <a:spAutoFit/>
          </a:bodyPr>
          <a:lstStyle/>
          <a:p>
            <a:pPr algn="l">
              <a:spcBef>
                <a:spcPts val="400"/>
              </a:spcBef>
            </a:pPr>
            <a:r>
              <a:rPr sz="1500">
                <a:solidFill>
                  <a:srgbClr val="333333"/>
                </a:solidFill>
                <a:latin typeface="Calibri"/>
              </a:rPr>
              <a:t>  •  Protection Buyer: pays CDS spread (e.g. 150 bps p.a.) quarterly — like an insurance premium</a:t>
            </a:r>
          </a:p>
          <a:p>
            <a:pPr algn="l">
              <a:spcBef>
                <a:spcPts val="400"/>
              </a:spcBef>
            </a:pPr>
            <a:r>
              <a:rPr sz="1500">
                <a:solidFill>
                  <a:srgbClr val="333333"/>
                </a:solidFill>
                <a:latin typeface="Calibri"/>
              </a:rPr>
              <a:t>  •  Protection Seller: collects premium; pays face value of bond if credit event occurs</a:t>
            </a:r>
          </a:p>
          <a:p>
            <a:pPr algn="l">
              <a:spcBef>
                <a:spcPts val="400"/>
              </a:spcBef>
            </a:pPr>
            <a:r>
              <a:rPr sz="1500">
                <a:solidFill>
                  <a:srgbClr val="333333"/>
                </a:solidFill>
                <a:latin typeface="Calibri"/>
              </a:rPr>
              <a:t>  •  Reference Entity: the company/sovereign whose credit risk is being transferred</a:t>
            </a:r>
          </a:p>
          <a:p>
            <a:pPr algn="l">
              <a:spcBef>
                <a:spcPts val="400"/>
              </a:spcBef>
            </a:pPr>
            <a:r>
              <a:rPr sz="1500">
                <a:solidFill>
                  <a:srgbClr val="333333"/>
                </a:solidFill>
                <a:latin typeface="Calibri"/>
              </a:rPr>
              <a:t>  •  Credit Events (ISDA-defined): Bankruptcy, Failure to Pay, Debt Restructuring, Repudiation/Moratorium</a:t>
            </a:r>
          </a:p>
          <a:p>
            <a:pPr algn="l">
              <a:spcBef>
                <a:spcPts val="400"/>
              </a:spcBef>
            </a:pPr>
            <a:r>
              <a:rPr sz="1500">
                <a:solidFill>
                  <a:srgbClr val="333333"/>
                </a:solidFill>
                <a:latin typeface="Calibri"/>
              </a:rPr>
              <a:t>  •  Settlement: Physical (deliver defaulted bond, receive face value) or Cash (pay recovery-adjusted difference)</a:t>
            </a:r>
          </a:p>
          <a:p>
            <a:pPr algn="l">
              <a:spcBef>
                <a:spcPts val="400"/>
              </a:spcBef>
            </a:pPr>
            <a:r>
              <a:rPr sz="1500">
                <a:solidFill>
                  <a:srgbClr val="333333"/>
                </a:solidFill>
                <a:latin typeface="Calibri"/>
              </a:rPr>
              <a:t>  •  CDS Spread = market's real-time price of default probability and severity</a:t>
            </a:r>
          </a:p>
          <a:p>
            <a:pPr algn="l">
              <a:spcBef>
                <a:spcPts val="400"/>
              </a:spcBef>
            </a:pPr>
            <a:r>
              <a:rPr sz="1500">
                <a:solidFill>
                  <a:srgbClr val="333333"/>
                </a:solidFill>
                <a:latin typeface="Calibri"/>
              </a:rPr>
              <a:t>  •  Higher spread = higher default risk priced in (AA-rated: 20–50 bps; distressed: 500+ bps)</a:t>
            </a:r>
          </a:p>
        </p:txBody>
      </p:sp>
      <p:sp>
        <p:nvSpPr>
          <p:cNvPr id="8" name="Rectangle 7"/>
          <p:cNvSpPr/>
          <p:nvPr/>
        </p:nvSpPr>
        <p:spPr>
          <a:xfrm>
            <a:off x="5577840" y="1508760"/>
            <a:ext cx="3200400" cy="493776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0" y="1600200"/>
            <a:ext cx="3017520" cy="4754880"/>
          </a:xfrm>
          <a:prstGeom prst="rect">
            <a:avLst/>
          </a:prstGeom>
          <a:noFill/>
        </p:spPr>
        <p:txBody>
          <a:bodyPr wrap="square">
            <a:spAutoFit/>
          </a:bodyPr>
          <a:lstStyle/>
          <a:p>
            <a:pPr algn="l"/>
            <a:r>
              <a:rPr sz="1300" b="0" i="0">
                <a:solidFill>
                  <a:srgbClr val="1E3A5F"/>
                </a:solidFill>
                <a:latin typeface="Calibri"/>
              </a:rPr>
              <a:t>[DIAGRAM PLACEHOLDER]
Protection BUYER
→ pays 150 bps p.a. quarterly →
← receives face value on default ←
Protection SELLER
Reference Entity:
[Company / Sovereign]
Credit Event Examples:
• Bankruptcy filing
• Missed coupon payment
• Forced debt restructuring
• Sovereign moratorium
CDS Spread timeline:
Normal: 80 bps
Stress: 400 bps
Pre-default: 1500 bps
[See Source Slide 20 — CDS Structure]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SWP.4</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Credit Default Swaps (CDS)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Going Deeper — CDS and the 2008 Crisis — From Hedge to Weapon</a:t>
            </a:r>
          </a:p>
        </p:txBody>
      </p:sp>
      <p:sp>
        <p:nvSpPr>
          <p:cNvPr id="6" name="Rectangle 5"/>
          <p:cNvSpPr/>
          <p:nvPr/>
        </p:nvSpPr>
        <p:spPr>
          <a:xfrm>
            <a:off x="365760" y="1508760"/>
            <a:ext cx="841248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73152" cy="49377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8138160" cy="4754880"/>
          </a:xfrm>
          <a:prstGeom prst="rect">
            <a:avLst/>
          </a:prstGeom>
          <a:noFill/>
        </p:spPr>
        <p:txBody>
          <a:bodyPr wrap="square">
            <a:spAutoFit/>
          </a:bodyPr>
          <a:lstStyle/>
          <a:p>
            <a:pPr algn="l">
              <a:spcBef>
                <a:spcPts val="400"/>
              </a:spcBef>
            </a:pPr>
            <a:r>
              <a:rPr sz="1500">
                <a:solidFill>
                  <a:srgbClr val="333333"/>
                </a:solidFill>
                <a:latin typeface="Calibri"/>
              </a:rPr>
              <a:t>  •  AIG Financial Products sold $500 billion+ in CDS protection on CDOs backed by US subprime mortgages</a:t>
            </a:r>
          </a:p>
          <a:p>
            <a:pPr algn="l">
              <a:spcBef>
                <a:spcPts val="400"/>
              </a:spcBef>
            </a:pPr>
            <a:r>
              <a:rPr sz="1500">
                <a:solidFill>
                  <a:srgbClr val="333333"/>
                </a:solidFill>
                <a:latin typeface="Calibri"/>
              </a:rPr>
              <a:t>  •  Implicit assumption: US housing prices would never fall broadly — correlation was underestimated</a:t>
            </a:r>
          </a:p>
          <a:p>
            <a:pPr algn="l">
              <a:spcBef>
                <a:spcPts val="400"/>
              </a:spcBef>
            </a:pPr>
            <a:r>
              <a:rPr sz="1500">
                <a:solidFill>
                  <a:srgbClr val="333333"/>
                </a:solidFill>
                <a:latin typeface="Calibri"/>
              </a:rPr>
              <a:t>  •  When housing fell, ALL CDS triggered simultaneously — correlated defaults, not independent events</a:t>
            </a:r>
          </a:p>
          <a:p>
            <a:pPr algn="l">
              <a:spcBef>
                <a:spcPts val="400"/>
              </a:spcBef>
            </a:pPr>
            <a:r>
              <a:rPr sz="1500">
                <a:solidFill>
                  <a:srgbClr val="333333"/>
                </a:solidFill>
                <a:latin typeface="Calibri"/>
              </a:rPr>
              <a:t>  •  "Naked" CDS: buyers held no underlying bonds — pure speculation on default; amplified systemic pressure on Lehman, Bear Stearns</a:t>
            </a:r>
          </a:p>
          <a:p>
            <a:pPr algn="l">
              <a:spcBef>
                <a:spcPts val="400"/>
              </a:spcBef>
            </a:pPr>
            <a:r>
              <a:rPr sz="1500">
                <a:solidFill>
                  <a:srgbClr val="333333"/>
                </a:solidFill>
                <a:latin typeface="Calibri"/>
              </a:rPr>
              <a:t>  •  AIG could not post collateral as CDO values fell; US government $182B bailout to prevent AIG collapse from triggering cascade</a:t>
            </a:r>
          </a:p>
          <a:p>
            <a:pPr algn="l">
              <a:spcBef>
                <a:spcPts val="400"/>
              </a:spcBef>
            </a:pPr>
            <a:r>
              <a:rPr sz="1500">
                <a:solidFill>
                  <a:srgbClr val="333333"/>
                </a:solidFill>
                <a:latin typeface="Calibri"/>
              </a:rPr>
              <a:t>  •  Post-2008 reforms: Dodd-Frank/EMIR mandated central clearing for standardised CDS; ISDA Determinations Committee formalised</a:t>
            </a:r>
          </a:p>
          <a:p>
            <a:pPr algn="l">
              <a:spcBef>
                <a:spcPts val="400"/>
              </a:spcBef>
            </a:pPr>
            <a:r>
              <a:rPr sz="1500">
                <a:solidFill>
                  <a:srgbClr val="333333"/>
                </a:solidFill>
                <a:latin typeface="Calibri"/>
              </a:rPr>
              <a:t>  •  EU banned naked sovereign CDS in 2012; ongoing debate about whether CDS can destabilise sovereign bond markets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SWP.4</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Credit Default Swaps (CDS)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1E3A5F"/>
                </a:solidFill>
                <a:latin typeface="Calibri"/>
              </a:rPr>
              <a:t>Think &amp; Discuss</a:t>
            </a:r>
          </a:p>
        </p:txBody>
      </p:sp>
      <p:sp>
        <p:nvSpPr>
          <p:cNvPr id="6" name="Rectangle 5"/>
          <p:cNvSpPr/>
          <p:nvPr/>
        </p:nvSpPr>
        <p:spPr>
          <a:xfrm>
            <a:off x="365760" y="155448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35712"/>
            <a:ext cx="8046720" cy="1234440"/>
          </a:xfrm>
          <a:prstGeom prst="rect">
            <a:avLst/>
          </a:prstGeom>
          <a:noFill/>
        </p:spPr>
        <p:txBody>
          <a:bodyPr wrap="square">
            <a:spAutoFit/>
          </a:bodyPr>
          <a:lstStyle/>
          <a:p>
            <a:pPr algn="l"/>
            <a:r>
              <a:rPr sz="1400" b="0" i="0">
                <a:solidFill>
                  <a:srgbClr val="333333"/>
                </a:solidFill>
                <a:latin typeface="Calibri"/>
              </a:rPr>
              <a:t>Q1  AIG sold CDS protection without sufficient capital reserves. What risk management failure does this represent? How should a CDS seller manage their exposure?</a:t>
            </a:r>
          </a:p>
        </p:txBody>
      </p:sp>
      <p:sp>
        <p:nvSpPr>
          <p:cNvPr id="9" name="Rectangle 8"/>
          <p:cNvSpPr/>
          <p:nvPr/>
        </p:nvSpPr>
        <p:spPr>
          <a:xfrm>
            <a:off x="365760" y="310896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10896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598272"/>
            <a:ext cx="8046720" cy="1234440"/>
          </a:xfrm>
          <a:prstGeom prst="rect">
            <a:avLst/>
          </a:prstGeom>
          <a:noFill/>
        </p:spPr>
        <p:txBody>
          <a:bodyPr wrap="square">
            <a:spAutoFit/>
          </a:bodyPr>
          <a:lstStyle/>
          <a:p>
            <a:pPr algn="l"/>
            <a:r>
              <a:rPr sz="1400" b="0" i="0">
                <a:solidFill>
                  <a:srgbClr val="333333"/>
                </a:solidFill>
                <a:latin typeface="Calibri"/>
              </a:rPr>
              <a:t>Q2  "Naked CDS is like buying fire insurance on your neighbour's house — you have an incentive for it to burn." Do you agree? Should naked CDS be banned globally?</a:t>
            </a:r>
          </a:p>
        </p:txBody>
      </p:sp>
      <p:sp>
        <p:nvSpPr>
          <p:cNvPr id="12" name="Rectangle 11"/>
          <p:cNvSpPr/>
          <p:nvPr/>
        </p:nvSpPr>
        <p:spPr>
          <a:xfrm>
            <a:off x="365760" y="466344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466344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360832"/>
            <a:ext cx="8046720" cy="1234440"/>
          </a:xfrm>
          <a:prstGeom prst="rect">
            <a:avLst/>
          </a:prstGeom>
          <a:noFill/>
        </p:spPr>
        <p:txBody>
          <a:bodyPr wrap="square">
            <a:spAutoFit/>
          </a:bodyPr>
          <a:lstStyle/>
          <a:p>
            <a:pPr algn="l"/>
            <a:r>
              <a:rPr sz="1400" b="0" i="0">
                <a:solidFill>
                  <a:srgbClr val="333333"/>
                </a:solidFill>
                <a:latin typeface="Calibri"/>
              </a:rPr>
              <a:t>Q3  The CDS spread on a sovereign bond is often described as more informative than credit ratings. Why might market-implied spreads be more accurate than agency ratings in predicting default?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SWP.4</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Credit Default Swaps (CDS)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005F5F"/>
                </a:solidFill>
                <a:latin typeface="Calibri"/>
              </a:rPr>
              <a:t>Interview Ready — Q&amp;A</a:t>
            </a:r>
          </a:p>
        </p:txBody>
      </p:sp>
      <p:sp>
        <p:nvSpPr>
          <p:cNvPr id="6" name="Rectangle 5"/>
          <p:cNvSpPr/>
          <p:nvPr/>
        </p:nvSpPr>
        <p:spPr>
          <a:xfrm>
            <a:off x="365760" y="146304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3291840" cy="1097280"/>
          </a:xfrm>
          <a:prstGeom prst="rect">
            <a:avLst/>
          </a:prstGeom>
          <a:noFill/>
        </p:spPr>
        <p:txBody>
          <a:bodyPr wrap="square">
            <a:spAutoFit/>
          </a:bodyPr>
          <a:lstStyle/>
          <a:p>
            <a:pPr algn="l"/>
            <a:r>
              <a:rPr sz="1200" b="1" i="0">
                <a:solidFill>
                  <a:srgbClr val="FFFFFF"/>
                </a:solidFill>
                <a:latin typeface="Calibri"/>
              </a:rPr>
              <a:t>Q: What is a Credit Default Swap and how does it work?</a:t>
            </a:r>
          </a:p>
        </p:txBody>
      </p:sp>
      <p:sp>
        <p:nvSpPr>
          <p:cNvPr id="8" name="Rectangle 7"/>
          <p:cNvSpPr/>
          <p:nvPr/>
        </p:nvSpPr>
        <p:spPr>
          <a:xfrm>
            <a:off x="4023360" y="146304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554480"/>
            <a:ext cx="4572000" cy="1097280"/>
          </a:xfrm>
          <a:prstGeom prst="rect">
            <a:avLst/>
          </a:prstGeom>
          <a:noFill/>
        </p:spPr>
        <p:txBody>
          <a:bodyPr wrap="square">
            <a:spAutoFit/>
          </a:bodyPr>
          <a:lstStyle/>
          <a:p>
            <a:pPr algn="l"/>
            <a:r>
              <a:rPr sz="1200" b="0" i="0">
                <a:solidFill>
                  <a:srgbClr val="1E3A5F"/>
                </a:solidFill>
                <a:latin typeface="Calibri"/>
              </a:rPr>
              <a:t>A: CDS = insurance on a bond. Protection buyer pays regular spread (premium). Protection seller pays face value if a credit event (bankruptcy, payment failure, restructuring) occurs. The spread reflects the market's view of default probability.</a:t>
            </a:r>
          </a:p>
        </p:txBody>
      </p:sp>
      <p:sp>
        <p:nvSpPr>
          <p:cNvPr id="10" name="Rectangle 9"/>
          <p:cNvSpPr/>
          <p:nvPr/>
        </p:nvSpPr>
        <p:spPr>
          <a:xfrm>
            <a:off x="365760" y="278892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880360"/>
            <a:ext cx="3291840" cy="1097280"/>
          </a:xfrm>
          <a:prstGeom prst="rect">
            <a:avLst/>
          </a:prstGeom>
          <a:noFill/>
        </p:spPr>
        <p:txBody>
          <a:bodyPr wrap="square">
            <a:spAutoFit/>
          </a:bodyPr>
          <a:lstStyle/>
          <a:p>
            <a:pPr algn="l"/>
            <a:r>
              <a:rPr sz="1200" b="1" i="0">
                <a:solidFill>
                  <a:srgbClr val="FFFFFF"/>
                </a:solidFill>
                <a:latin typeface="Calibri"/>
              </a:rPr>
              <a:t>Q: What triggered the 2008 financial crisis in the context of CDS?</a:t>
            </a:r>
          </a:p>
        </p:txBody>
      </p:sp>
      <p:sp>
        <p:nvSpPr>
          <p:cNvPr id="12" name="Rectangle 11"/>
          <p:cNvSpPr/>
          <p:nvPr/>
        </p:nvSpPr>
        <p:spPr>
          <a:xfrm>
            <a:off x="4023360" y="278892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2880360"/>
            <a:ext cx="4572000" cy="1097280"/>
          </a:xfrm>
          <a:prstGeom prst="rect">
            <a:avLst/>
          </a:prstGeom>
          <a:noFill/>
        </p:spPr>
        <p:txBody>
          <a:bodyPr wrap="square">
            <a:spAutoFit/>
          </a:bodyPr>
          <a:lstStyle/>
          <a:p>
            <a:pPr algn="l"/>
            <a:r>
              <a:rPr sz="1200" b="0" i="0">
                <a:solidFill>
                  <a:srgbClr val="1E3A5F"/>
                </a:solidFill>
                <a:latin typeface="Calibri"/>
              </a:rPr>
              <a:t>A: AIG sold massive CDS protection on CDOs (bundled subprime mortgages) without adequate capital. When US housing fell broadly, all CDOs defaulted simultaneously. AIG could not pay — $182B government bailout was required. Naked CDS amplified panic around Lehman and Bear Stearns.</a:t>
            </a:r>
          </a:p>
        </p:txBody>
      </p:sp>
      <p:sp>
        <p:nvSpPr>
          <p:cNvPr id="14" name="Rectangle 13"/>
          <p:cNvSpPr/>
          <p:nvPr/>
        </p:nvSpPr>
        <p:spPr>
          <a:xfrm>
            <a:off x="365760" y="411480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3291840" cy="1097280"/>
          </a:xfrm>
          <a:prstGeom prst="rect">
            <a:avLst/>
          </a:prstGeom>
          <a:noFill/>
        </p:spPr>
        <p:txBody>
          <a:bodyPr wrap="square">
            <a:spAutoFit/>
          </a:bodyPr>
          <a:lstStyle/>
          <a:p>
            <a:pPr algn="l"/>
            <a:r>
              <a:rPr sz="1200" b="1" i="0">
                <a:solidFill>
                  <a:srgbClr val="FFFFFF"/>
                </a:solidFill>
                <a:latin typeface="Calibri"/>
              </a:rPr>
              <a:t>Q: What is the difference between a naked CDS and a hedging CDS?</a:t>
            </a:r>
          </a:p>
        </p:txBody>
      </p:sp>
      <p:sp>
        <p:nvSpPr>
          <p:cNvPr id="16" name="Rectangle 15"/>
          <p:cNvSpPr/>
          <p:nvPr/>
        </p:nvSpPr>
        <p:spPr>
          <a:xfrm>
            <a:off x="4023360" y="411480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4206240"/>
            <a:ext cx="4572000" cy="1097280"/>
          </a:xfrm>
          <a:prstGeom prst="rect">
            <a:avLst/>
          </a:prstGeom>
          <a:noFill/>
        </p:spPr>
        <p:txBody>
          <a:bodyPr wrap="square">
            <a:spAutoFit/>
          </a:bodyPr>
          <a:lstStyle/>
          <a:p>
            <a:pPr algn="l"/>
            <a:r>
              <a:rPr sz="1200" b="0" i="0">
                <a:solidFill>
                  <a:srgbClr val="1E3A5F"/>
                </a:solidFill>
                <a:latin typeface="Calibri"/>
              </a:rPr>
              <a:t>A: Hedging CDS: buyer owns the underlying bond and uses CDS to cap downside — legitimate risk transfer. Naked CDS: buyer has no underlying exposure — pure speculation on default. Same instrument, entirely different economic function and systemic risk implications.</a:t>
            </a:r>
          </a:p>
        </p:txBody>
      </p:sp>
      <p:sp>
        <p:nvSpPr>
          <p:cNvPr id="18" name="Rectangle 17"/>
          <p:cNvSpPr/>
          <p:nvPr/>
        </p:nvSpPr>
        <p:spPr>
          <a:xfrm>
            <a:off x="365760" y="6217920"/>
            <a:ext cx="841248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236208"/>
            <a:ext cx="8229600" cy="365760"/>
          </a:xfrm>
          <a:prstGeom prst="rect">
            <a:avLst/>
          </a:prstGeom>
          <a:noFill/>
        </p:spPr>
        <p:txBody>
          <a:bodyPr wrap="square">
            <a:spAutoFit/>
          </a:bodyPr>
          <a:lstStyle/>
          <a:p>
            <a:pPr algn="ctr"/>
            <a:r>
              <a:rPr sz="1100" b="1" i="0">
                <a:solidFill>
                  <a:srgbClr val="FFFFFF"/>
                </a:solidFill>
                <a:latin typeface="Calibri"/>
              </a:rPr>
              <a:t>Next Unit: SWP.5 — Swap Pricing &amp; Valuation Basics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SWP.5</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Pricing &amp; Valuation Basics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300" b="1" i="0">
                <a:solidFill>
                  <a:srgbClr val="005F5F"/>
                </a:solidFill>
                <a:latin typeface="Calibri"/>
              </a:rPr>
              <a:t>Quick Recap — Before we start SWP.5</a:t>
            </a:r>
          </a:p>
        </p:txBody>
      </p:sp>
      <p:sp>
        <p:nvSpPr>
          <p:cNvPr id="6" name="TextBox 5"/>
          <p:cNvSpPr txBox="1"/>
          <p:nvPr/>
        </p:nvSpPr>
        <p:spPr>
          <a:xfrm>
            <a:off x="365760" y="1417320"/>
            <a:ext cx="8412480" cy="320040"/>
          </a:xfrm>
          <a:prstGeom prst="rect">
            <a:avLst/>
          </a:prstGeom>
          <a:noFill/>
        </p:spPr>
        <p:txBody>
          <a:bodyPr wrap="square">
            <a:spAutoFit/>
          </a:bodyPr>
          <a:lstStyle/>
          <a:p>
            <a:pPr algn="l"/>
            <a:r>
              <a:rPr sz="1100" b="0" i="1">
                <a:solidFill>
                  <a:srgbClr val="333333"/>
                </a:solidFill>
                <a:latin typeface="Calibri"/>
              </a:rPr>
              <a:t>Building on: SWP.4 — Credit Default Swaps (CDS)</a:t>
            </a:r>
          </a:p>
        </p:txBody>
      </p:sp>
      <p:sp>
        <p:nvSpPr>
          <p:cNvPr id="7" name="TextBox 6"/>
          <p:cNvSpPr txBox="1"/>
          <p:nvPr/>
        </p:nvSpPr>
        <p:spPr>
          <a:xfrm>
            <a:off x="457200" y="1828800"/>
            <a:ext cx="8229600" cy="4114800"/>
          </a:xfrm>
          <a:prstGeom prst="rect">
            <a:avLst/>
          </a:prstGeom>
          <a:noFill/>
        </p:spPr>
        <p:txBody>
          <a:bodyPr wrap="square">
            <a:spAutoFit/>
          </a:bodyPr>
          <a:lstStyle/>
          <a:p>
            <a:pPr algn="l">
              <a:spcBef>
                <a:spcPts val="400"/>
              </a:spcBef>
            </a:pPr>
            <a:r>
              <a:rPr sz="1600">
                <a:solidFill>
                  <a:srgbClr val="333333"/>
                </a:solidFill>
                <a:latin typeface="Calibri"/>
              </a:rPr>
              <a:t>  •  CDS = insurance on a bond; protection buyer pays spread; seller pays on credit event</a:t>
            </a:r>
          </a:p>
          <a:p>
            <a:pPr algn="l">
              <a:spcBef>
                <a:spcPts val="400"/>
              </a:spcBef>
            </a:pPr>
            <a:r>
              <a:rPr sz="1600">
                <a:solidFill>
                  <a:srgbClr val="333333"/>
                </a:solidFill>
                <a:latin typeface="Calibri"/>
              </a:rPr>
              <a:t>  •  CDS spread = market's real-time price of default probability</a:t>
            </a:r>
          </a:p>
          <a:p>
            <a:pPr algn="l">
              <a:spcBef>
                <a:spcPts val="400"/>
              </a:spcBef>
            </a:pPr>
            <a:r>
              <a:rPr sz="1600">
                <a:solidFill>
                  <a:srgbClr val="333333"/>
                </a:solidFill>
                <a:latin typeface="Calibri"/>
              </a:rPr>
              <a:t>  •  2008 crisis: AIG sold unhedged CDS; correlated defaults; systemic failure</a:t>
            </a:r>
          </a:p>
          <a:p>
            <a:pPr algn="l">
              <a:spcBef>
                <a:spcPts val="400"/>
              </a:spcBef>
            </a:pPr>
            <a:r>
              <a:rPr sz="1600">
                <a:solidFill>
                  <a:srgbClr val="333333"/>
                </a:solidFill>
                <a:latin typeface="Calibri"/>
              </a:rPr>
              <a:t>  •  Post-2008: central clearing, ISDA determinations committee, EU ban on naked sovereign CDS</a:t>
            </a:r>
          </a:p>
        </p:txBody>
      </p:sp>
      <p:sp>
        <p:nvSpPr>
          <p:cNvPr id="8" name="Rectangle 7"/>
          <p:cNvSpPr/>
          <p:nvPr/>
        </p:nvSpPr>
        <p:spPr>
          <a:xfrm>
            <a:off x="274320" y="1828800"/>
            <a:ext cx="54864" cy="4114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SWP.5</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Pricing &amp; Valuation Basics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Scenario — The Swap Book Manager's Daily Reality</a:t>
            </a:r>
          </a:p>
        </p:txBody>
      </p:sp>
      <p:sp>
        <p:nvSpPr>
          <p:cNvPr id="6" name="Rectangle 5"/>
          <p:cNvSpPr/>
          <p:nvPr/>
        </p:nvSpPr>
        <p:spPr>
          <a:xfrm>
            <a:off x="457200" y="1554480"/>
            <a:ext cx="82296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91440" cy="44805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40"/>
            <a:ext cx="7863840" cy="4206240"/>
          </a:xfrm>
          <a:prstGeom prst="rect">
            <a:avLst/>
          </a:prstGeom>
          <a:noFill/>
        </p:spPr>
        <p:txBody>
          <a:bodyPr wrap="square">
            <a:spAutoFit/>
          </a:bodyPr>
          <a:lstStyle/>
          <a:p>
            <a:pPr algn="l"/>
            <a:r>
              <a:rPr sz="1500" b="0" i="0">
                <a:solidFill>
                  <a:srgbClr val="333333"/>
                </a:solidFill>
                <a:latin typeface="Calibri"/>
              </a:rPr>
              <a:t>Priya runs the interest rate derivatives desk at a large Indian bank. She has 150 swap positions on her book. Every morning, she gets a report: each swap's mark-to-market value, the net MTM across the book, and the collateral calls that result.
Today, RBI surprised the market with a 50 bps rate cut. Priya's pay-fixed swaps (swaps where she pays fixed, receives floating) are now showing negative MTM — she agreed to receive MIBOR, which just fell 50 bps, but she still pays the same fixed rate.
Her team needs to answer: How much negative value has been generated? How much variation margin must she post to CCPs today? Which positions should she hedge with offsetting trades?
All of these questions require swap valuation — the ability to calculate the present value of remaining cash flows, adjusted for the new rate environment. This is swap pricing in practice.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SWP.5</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Pricing &amp; Valuation Basics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005F5F"/>
                </a:solidFill>
                <a:latin typeface="Calibri"/>
              </a:rPr>
              <a:t>Key Concept — Zero Value at Inception — and How That Changes</a:t>
            </a:r>
          </a:p>
        </p:txBody>
      </p:sp>
      <p:sp>
        <p:nvSpPr>
          <p:cNvPr id="6" name="Rectangle 5"/>
          <p:cNvSpPr/>
          <p:nvPr/>
        </p:nvSpPr>
        <p:spPr>
          <a:xfrm>
            <a:off x="365760" y="1508760"/>
            <a:ext cx="502920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00200"/>
            <a:ext cx="4800600" cy="4754880"/>
          </a:xfrm>
          <a:prstGeom prst="rect">
            <a:avLst/>
          </a:prstGeom>
          <a:noFill/>
        </p:spPr>
        <p:txBody>
          <a:bodyPr wrap="square">
            <a:spAutoFit/>
          </a:bodyPr>
          <a:lstStyle/>
          <a:p>
            <a:pPr algn="l">
              <a:spcBef>
                <a:spcPts val="400"/>
              </a:spcBef>
            </a:pPr>
            <a:r>
              <a:rPr sz="1500">
                <a:solidFill>
                  <a:srgbClr val="333333"/>
                </a:solidFill>
                <a:latin typeface="Calibri"/>
              </a:rPr>
              <a:t>  •  At inception: swap has ZERO value — swap rate set so PV(fixed) = PV(floating)</a:t>
            </a:r>
          </a:p>
          <a:p>
            <a:pPr algn="l">
              <a:spcBef>
                <a:spcPts val="400"/>
              </a:spcBef>
            </a:pPr>
            <a:r>
              <a:rPr sz="1500">
                <a:solidFill>
                  <a:srgbClr val="333333"/>
                </a:solidFill>
                <a:latin typeface="Calibri"/>
              </a:rPr>
              <a:t>  •  Swap rate derived from yield curve — the fixed rate that makes the trade "fair"</a:t>
            </a:r>
          </a:p>
          <a:p>
            <a:pPr algn="l">
              <a:spcBef>
                <a:spcPts val="400"/>
              </a:spcBef>
            </a:pPr>
            <a:r>
              <a:rPr sz="1500">
                <a:solidFill>
                  <a:srgbClr val="333333"/>
                </a:solidFill>
                <a:latin typeface="Calibri"/>
              </a:rPr>
              <a:t>  •  In India: OIS curve (overnight index swap) used to derive discount factors</a:t>
            </a:r>
          </a:p>
          <a:p>
            <a:pPr algn="l">
              <a:spcBef>
                <a:spcPts val="400"/>
              </a:spcBef>
            </a:pPr>
            <a:r>
              <a:rPr sz="1500">
                <a:solidFill>
                  <a:srgbClr val="333333"/>
                </a:solidFill>
                <a:latin typeface="Calibri"/>
              </a:rPr>
              <a:t>  •  After execution: value changes every time rates move, curve shifts, or time passes</a:t>
            </a:r>
          </a:p>
          <a:p>
            <a:pPr algn="l">
              <a:spcBef>
                <a:spcPts val="400"/>
              </a:spcBef>
            </a:pPr>
            <a:r>
              <a:rPr sz="1500">
                <a:solidFill>
                  <a:srgbClr val="333333"/>
                </a:solidFill>
                <a:latin typeface="Calibri"/>
              </a:rPr>
              <a:t>  •  MTM (Mark-to-Market) = PV(remaining floating cash flows) - PV(remaining fixed cash flows)</a:t>
            </a:r>
          </a:p>
          <a:p>
            <a:pPr algn="l">
              <a:spcBef>
                <a:spcPts val="400"/>
              </a:spcBef>
            </a:pPr>
            <a:r>
              <a:rPr sz="1500">
                <a:solidFill>
                  <a:srgbClr val="333333"/>
                </a:solidFill>
                <a:latin typeface="Calibri"/>
              </a:rPr>
              <a:t>  •  Rates rise → positive MTM for pay-fixed party (fixed payment below market)</a:t>
            </a:r>
          </a:p>
          <a:p>
            <a:pPr algn="l">
              <a:spcBef>
                <a:spcPts val="400"/>
              </a:spcBef>
            </a:pPr>
            <a:r>
              <a:rPr sz="1500">
                <a:solidFill>
                  <a:srgbClr val="333333"/>
                </a:solidFill>
                <a:latin typeface="Calibri"/>
              </a:rPr>
              <a:t>  •  Rates fall → negative MTM for pay-fixed party (fixed payment above market)</a:t>
            </a:r>
          </a:p>
        </p:txBody>
      </p:sp>
      <p:sp>
        <p:nvSpPr>
          <p:cNvPr id="8" name="Rectangle 7"/>
          <p:cNvSpPr/>
          <p:nvPr/>
        </p:nvSpPr>
        <p:spPr>
          <a:xfrm>
            <a:off x="5577840" y="1508760"/>
            <a:ext cx="3200400" cy="493776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0" y="1600200"/>
            <a:ext cx="3017520" cy="4754880"/>
          </a:xfrm>
          <a:prstGeom prst="rect">
            <a:avLst/>
          </a:prstGeom>
          <a:noFill/>
        </p:spPr>
        <p:txBody>
          <a:bodyPr wrap="square">
            <a:spAutoFit/>
          </a:bodyPr>
          <a:lstStyle/>
          <a:p>
            <a:pPr algn="l"/>
            <a:r>
              <a:rPr sz="1300" b="0" i="0">
                <a:solidFill>
                  <a:srgbClr val="1E3A5F"/>
                </a:solidFill>
                <a:latin typeface="Calibri"/>
              </a:rPr>
              <a:t>[VALUATION DIAGRAM]
At inception:
PV(fixed leg) = PV(floating leg)
Swap value = 0
After rates rise 1%:
PV(floating) increases
Pay-fixed MTM = positive
After rates fall 1%:
PV(floating) decreases
Pay-fixed MTM = negative
MTM drivers:
1. Rate level change
2. Yield curve shape
3. Time passage
4. Counterparty credit
[See Source Slide 24 — Swap Valuation]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SWP.5</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Pricing &amp; Valuation Basics</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Going Deeper — CVA, DVA and the Three Ways to Exit a Swap</a:t>
            </a:r>
          </a:p>
        </p:txBody>
      </p:sp>
      <p:sp>
        <p:nvSpPr>
          <p:cNvPr id="6" name="Rectangle 5"/>
          <p:cNvSpPr/>
          <p:nvPr/>
        </p:nvSpPr>
        <p:spPr>
          <a:xfrm>
            <a:off x="365760" y="1508760"/>
            <a:ext cx="841248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73152" cy="49377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8138160" cy="4754880"/>
          </a:xfrm>
          <a:prstGeom prst="rect">
            <a:avLst/>
          </a:prstGeom>
          <a:noFill/>
        </p:spPr>
        <p:txBody>
          <a:bodyPr wrap="square">
            <a:spAutoFit/>
          </a:bodyPr>
          <a:lstStyle/>
          <a:p>
            <a:pPr algn="l">
              <a:spcBef>
                <a:spcPts val="400"/>
              </a:spcBef>
            </a:pPr>
            <a:r>
              <a:rPr sz="1500">
                <a:solidFill>
                  <a:srgbClr val="333333"/>
                </a:solidFill>
                <a:latin typeface="Calibri"/>
              </a:rPr>
              <a:t>  •  CVA (Credit Valuation Adjustment): discounts swap MTM for probability that YOUR COUNTERPARTY defaults before maturity</a:t>
            </a:r>
          </a:p>
          <a:p>
            <a:pPr algn="l">
              <a:spcBef>
                <a:spcPts val="400"/>
              </a:spcBef>
            </a:pPr>
            <a:r>
              <a:rPr sz="1500">
                <a:solidFill>
                  <a:srgbClr val="333333"/>
                </a:solidFill>
                <a:latin typeface="Calibri"/>
              </a:rPr>
              <a:t>  •  DVA (Debt Valuation Adjustment): adjustment for your OWN default probability — creates perverse P&amp;L when your credit worsens</a:t>
            </a:r>
          </a:p>
          <a:p>
            <a:pPr algn="l">
              <a:spcBef>
                <a:spcPts val="400"/>
              </a:spcBef>
            </a:pPr>
            <a:r>
              <a:rPr sz="1500">
                <a:solidFill>
                  <a:srgbClr val="333333"/>
                </a:solidFill>
                <a:latin typeface="Calibri"/>
              </a:rPr>
              <a:t>  •  Banks must calculate CVA/DVA on all OTC derivative books — significant capital charge under Basel III</a:t>
            </a:r>
          </a:p>
          <a:p>
            <a:pPr algn="l">
              <a:spcBef>
                <a:spcPts val="400"/>
              </a:spcBef>
            </a:pPr>
            <a:r>
              <a:rPr sz="1500">
                <a:solidFill>
                  <a:srgbClr val="333333"/>
                </a:solidFill>
                <a:latin typeface="Calibri"/>
              </a:rPr>
              <a:t>  •  Exit Option 1: Offsetting swap — enter reverse position (pay floating, receive fixed); neutralises P&amp;L without closing original</a:t>
            </a:r>
          </a:p>
          <a:p>
            <a:pPr algn="l">
              <a:spcBef>
                <a:spcPts val="400"/>
              </a:spcBef>
            </a:pPr>
            <a:r>
              <a:rPr sz="1500">
                <a:solidFill>
                  <a:srgbClr val="333333"/>
                </a:solidFill>
                <a:latin typeface="Calibri"/>
              </a:rPr>
              <a:t>  •  Exit Option 2: Early termination — mutually agree to cancel; pay/receive current MTM as cash settlement</a:t>
            </a:r>
          </a:p>
          <a:p>
            <a:pPr algn="l">
              <a:spcBef>
                <a:spcPts val="400"/>
              </a:spcBef>
            </a:pPr>
            <a:r>
              <a:rPr sz="1500">
                <a:solidFill>
                  <a:srgbClr val="333333"/>
                </a:solidFill>
                <a:latin typeface="Calibri"/>
              </a:rPr>
              <a:t>  •  Exit Option 3: Novation — assign your swap position to a third party (requires original counterparty consent)</a:t>
            </a:r>
          </a:p>
          <a:p>
            <a:pPr algn="l">
              <a:spcBef>
                <a:spcPts val="400"/>
              </a:spcBef>
            </a:pPr>
            <a:r>
              <a:rPr sz="1500">
                <a:solidFill>
                  <a:srgbClr val="333333"/>
                </a:solidFill>
                <a:latin typeface="Calibri"/>
              </a:rPr>
              <a:t>  •  Central clearing (CCIL): variation margin posted daily = swap value essentially marked daily, reducing credit risk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SWP.5</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Pricing &amp; Valuation Basics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1E3A5F"/>
                </a:solidFill>
                <a:latin typeface="Calibri"/>
              </a:rPr>
              <a:t>Think &amp; Discuss</a:t>
            </a:r>
          </a:p>
        </p:txBody>
      </p:sp>
      <p:sp>
        <p:nvSpPr>
          <p:cNvPr id="6" name="Rectangle 5"/>
          <p:cNvSpPr/>
          <p:nvPr/>
        </p:nvSpPr>
        <p:spPr>
          <a:xfrm>
            <a:off x="365760" y="155448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35712"/>
            <a:ext cx="8046720" cy="1234440"/>
          </a:xfrm>
          <a:prstGeom prst="rect">
            <a:avLst/>
          </a:prstGeom>
          <a:noFill/>
        </p:spPr>
        <p:txBody>
          <a:bodyPr wrap="square">
            <a:spAutoFit/>
          </a:bodyPr>
          <a:lstStyle/>
          <a:p>
            <a:pPr algn="l"/>
            <a:r>
              <a:rPr sz="1400" b="0" i="0">
                <a:solidFill>
                  <a:srgbClr val="333333"/>
                </a:solidFill>
                <a:latin typeface="Calibri"/>
              </a:rPr>
              <a:t>Q1  A new analyst asks: "If the swap is worth zero at inception, how does the bank make money structuring and selling swaps to corporate clients?" How would you explain the bank's economics on swap transactions?</a:t>
            </a:r>
          </a:p>
        </p:txBody>
      </p:sp>
      <p:sp>
        <p:nvSpPr>
          <p:cNvPr id="9" name="Rectangle 8"/>
          <p:cNvSpPr/>
          <p:nvPr/>
        </p:nvSpPr>
        <p:spPr>
          <a:xfrm>
            <a:off x="365760" y="310896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10896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598272"/>
            <a:ext cx="8046720" cy="1234440"/>
          </a:xfrm>
          <a:prstGeom prst="rect">
            <a:avLst/>
          </a:prstGeom>
          <a:noFill/>
        </p:spPr>
        <p:txBody>
          <a:bodyPr wrap="square">
            <a:spAutoFit/>
          </a:bodyPr>
          <a:lstStyle/>
          <a:p>
            <a:pPr algn="l"/>
            <a:r>
              <a:rPr sz="1400" b="0" i="0">
                <a:solidFill>
                  <a:srgbClr val="333333"/>
                </a:solidFill>
                <a:latin typeface="Calibri"/>
              </a:rPr>
              <a:t>Q2  When a pay-fixed IRS shows negative MTM for the corporate (because rates fell), the corporate's CFO says "our swap is losing money — we should terminate it." Should the CFO terminate? What are the arguments for and against?</a:t>
            </a:r>
          </a:p>
        </p:txBody>
      </p:sp>
      <p:sp>
        <p:nvSpPr>
          <p:cNvPr id="12" name="Rectangle 11"/>
          <p:cNvSpPr/>
          <p:nvPr/>
        </p:nvSpPr>
        <p:spPr>
          <a:xfrm>
            <a:off x="365760" y="466344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466344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360832"/>
            <a:ext cx="8046720" cy="1234440"/>
          </a:xfrm>
          <a:prstGeom prst="rect">
            <a:avLst/>
          </a:prstGeom>
          <a:noFill/>
        </p:spPr>
        <p:txBody>
          <a:bodyPr wrap="square">
            <a:spAutoFit/>
          </a:bodyPr>
          <a:lstStyle/>
          <a:p>
            <a:pPr algn="l"/>
            <a:r>
              <a:rPr sz="1400" b="0" i="0">
                <a:solidFill>
                  <a:srgbClr val="333333"/>
                </a:solidFill>
                <a:latin typeface="Calibri"/>
              </a:rPr>
              <a:t>Q3  CVA means that the value of a derivative depends partly on the creditworthiness of the counterparty. Does this mean a derivative with a technically insolvent counterparty has zero value? How do banks manage this?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SWP.5</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Pricing &amp; Valuation Basics</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005F5F"/>
                </a:solidFill>
                <a:latin typeface="Calibri"/>
              </a:rPr>
              <a:t>Interview Ready — Q&amp;A</a:t>
            </a:r>
          </a:p>
        </p:txBody>
      </p:sp>
      <p:sp>
        <p:nvSpPr>
          <p:cNvPr id="6" name="Rectangle 5"/>
          <p:cNvSpPr/>
          <p:nvPr/>
        </p:nvSpPr>
        <p:spPr>
          <a:xfrm>
            <a:off x="365760" y="146304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3291840" cy="1097280"/>
          </a:xfrm>
          <a:prstGeom prst="rect">
            <a:avLst/>
          </a:prstGeom>
          <a:noFill/>
        </p:spPr>
        <p:txBody>
          <a:bodyPr wrap="square">
            <a:spAutoFit/>
          </a:bodyPr>
          <a:lstStyle/>
          <a:p>
            <a:pPr algn="l"/>
            <a:r>
              <a:rPr sz="1200" b="1" i="0">
                <a:solidFill>
                  <a:srgbClr val="FFFFFF"/>
                </a:solidFill>
                <a:latin typeface="Calibri"/>
              </a:rPr>
              <a:t>Q: Why does a swap have zero value at inception?</a:t>
            </a:r>
          </a:p>
        </p:txBody>
      </p:sp>
      <p:sp>
        <p:nvSpPr>
          <p:cNvPr id="8" name="Rectangle 7"/>
          <p:cNvSpPr/>
          <p:nvPr/>
        </p:nvSpPr>
        <p:spPr>
          <a:xfrm>
            <a:off x="4023360" y="146304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554480"/>
            <a:ext cx="4572000" cy="1097280"/>
          </a:xfrm>
          <a:prstGeom prst="rect">
            <a:avLst/>
          </a:prstGeom>
          <a:noFill/>
        </p:spPr>
        <p:txBody>
          <a:bodyPr wrap="square">
            <a:spAutoFit/>
          </a:bodyPr>
          <a:lstStyle/>
          <a:p>
            <a:pPr algn="l"/>
            <a:r>
              <a:rPr sz="1200" b="0" i="0">
                <a:solidFill>
                  <a:srgbClr val="1E3A5F"/>
                </a:solidFill>
                <a:latin typeface="Calibri"/>
              </a:rPr>
              <a:t>A: The swap rate is chosen to make PV(fixed leg) = PV(floating leg), using the current yield curve. Both parties are exchanging equal present values — so neither has an advantage at inception. Zero value = fair price.</a:t>
            </a:r>
          </a:p>
        </p:txBody>
      </p:sp>
      <p:sp>
        <p:nvSpPr>
          <p:cNvPr id="10" name="Rectangle 9"/>
          <p:cNvSpPr/>
          <p:nvPr/>
        </p:nvSpPr>
        <p:spPr>
          <a:xfrm>
            <a:off x="365760" y="278892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880360"/>
            <a:ext cx="3291840" cy="1097280"/>
          </a:xfrm>
          <a:prstGeom prst="rect">
            <a:avLst/>
          </a:prstGeom>
          <a:noFill/>
        </p:spPr>
        <p:txBody>
          <a:bodyPr wrap="square">
            <a:spAutoFit/>
          </a:bodyPr>
          <a:lstStyle/>
          <a:p>
            <a:pPr algn="l"/>
            <a:r>
              <a:rPr sz="1200" b="1" i="0">
                <a:solidFill>
                  <a:srgbClr val="FFFFFF"/>
                </a:solidFill>
                <a:latin typeface="Calibri"/>
              </a:rPr>
              <a:t>Q: How does a swap's MTM value change after inception?</a:t>
            </a:r>
          </a:p>
        </p:txBody>
      </p:sp>
      <p:sp>
        <p:nvSpPr>
          <p:cNvPr id="12" name="Rectangle 11"/>
          <p:cNvSpPr/>
          <p:nvPr/>
        </p:nvSpPr>
        <p:spPr>
          <a:xfrm>
            <a:off x="4023360" y="278892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2880360"/>
            <a:ext cx="4572000" cy="1097280"/>
          </a:xfrm>
          <a:prstGeom prst="rect">
            <a:avLst/>
          </a:prstGeom>
          <a:noFill/>
        </p:spPr>
        <p:txBody>
          <a:bodyPr wrap="square">
            <a:spAutoFit/>
          </a:bodyPr>
          <a:lstStyle/>
          <a:p>
            <a:pPr algn="l"/>
            <a:r>
              <a:rPr sz="1200" b="0" i="0">
                <a:solidFill>
                  <a:srgbClr val="1E3A5F"/>
                </a:solidFill>
                <a:latin typeface="Calibri"/>
              </a:rPr>
              <a:t>A: When market rates rise, the fixed payer's position gains positive MTM — they pay below-market fixed, receive above-market floating. When rates fall, MTM turns negative. Four drivers: rate level, yield curve shape, time decay, counterparty credit quality (CVA).</a:t>
            </a:r>
          </a:p>
        </p:txBody>
      </p:sp>
      <p:sp>
        <p:nvSpPr>
          <p:cNvPr id="14" name="Rectangle 13"/>
          <p:cNvSpPr/>
          <p:nvPr/>
        </p:nvSpPr>
        <p:spPr>
          <a:xfrm>
            <a:off x="365760" y="411480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3291840" cy="1097280"/>
          </a:xfrm>
          <a:prstGeom prst="rect">
            <a:avLst/>
          </a:prstGeom>
          <a:noFill/>
        </p:spPr>
        <p:txBody>
          <a:bodyPr wrap="square">
            <a:spAutoFit/>
          </a:bodyPr>
          <a:lstStyle/>
          <a:p>
            <a:pPr algn="l"/>
            <a:r>
              <a:rPr sz="1200" b="1" i="0">
                <a:solidFill>
                  <a:srgbClr val="FFFFFF"/>
                </a:solidFill>
                <a:latin typeface="Calibri"/>
              </a:rPr>
              <a:t>Q: What is CVA and why does it matter for swap valuation?</a:t>
            </a:r>
          </a:p>
        </p:txBody>
      </p:sp>
      <p:sp>
        <p:nvSpPr>
          <p:cNvPr id="16" name="Rectangle 15"/>
          <p:cNvSpPr/>
          <p:nvPr/>
        </p:nvSpPr>
        <p:spPr>
          <a:xfrm>
            <a:off x="4023360" y="411480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4206240"/>
            <a:ext cx="4572000" cy="1097280"/>
          </a:xfrm>
          <a:prstGeom prst="rect">
            <a:avLst/>
          </a:prstGeom>
          <a:noFill/>
        </p:spPr>
        <p:txBody>
          <a:bodyPr wrap="square">
            <a:spAutoFit/>
          </a:bodyPr>
          <a:lstStyle/>
          <a:p>
            <a:pPr algn="l"/>
            <a:r>
              <a:rPr sz="1200" b="0" i="0">
                <a:solidFill>
                  <a:srgbClr val="1E3A5F"/>
                </a:solidFill>
                <a:latin typeface="Calibri"/>
              </a:rPr>
              <a:t>A: CVA = Credit Valuation Adjustment. It reduces the MTM of a derivative by the probability that the counterparty defaults before maturity. A swap with positive MTM owed by a shaky counterparty is worth less than face value. Basel III requires banks to hold capital against CVA risk.</a:t>
            </a:r>
          </a:p>
        </p:txBody>
      </p:sp>
      <p:sp>
        <p:nvSpPr>
          <p:cNvPr id="18" name="Rectangle 17"/>
          <p:cNvSpPr/>
          <p:nvPr/>
        </p:nvSpPr>
        <p:spPr>
          <a:xfrm>
            <a:off x="365760" y="6217920"/>
            <a:ext cx="8412480" cy="4114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236208"/>
            <a:ext cx="8229600" cy="365760"/>
          </a:xfrm>
          <a:prstGeom prst="rect">
            <a:avLst/>
          </a:prstGeom>
          <a:noFill/>
        </p:spPr>
        <p:txBody>
          <a:bodyPr wrap="square">
            <a:spAutoFit/>
          </a:bodyPr>
          <a:lstStyle/>
          <a:p>
            <a:pPr algn="ctr"/>
            <a:r>
              <a:rPr sz="1100" b="1" i="0">
                <a:solidFill>
                  <a:srgbClr val="FFFFFF"/>
                </a:solidFill>
                <a:latin typeface="Calibri"/>
              </a:rPr>
              <a:t>Next Unit: SWP.6 — Swap Applications &amp; Risk Management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SWP.6</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Applications &amp; Risk Management</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300" b="1" i="0">
                <a:solidFill>
                  <a:srgbClr val="005F5F"/>
                </a:solidFill>
                <a:latin typeface="Calibri"/>
              </a:rPr>
              <a:t>Quick Recap — Before we start SWP.6</a:t>
            </a:r>
          </a:p>
        </p:txBody>
      </p:sp>
      <p:sp>
        <p:nvSpPr>
          <p:cNvPr id="6" name="TextBox 5"/>
          <p:cNvSpPr txBox="1"/>
          <p:nvPr/>
        </p:nvSpPr>
        <p:spPr>
          <a:xfrm>
            <a:off x="365760" y="1417320"/>
            <a:ext cx="8412480" cy="320040"/>
          </a:xfrm>
          <a:prstGeom prst="rect">
            <a:avLst/>
          </a:prstGeom>
          <a:noFill/>
        </p:spPr>
        <p:txBody>
          <a:bodyPr wrap="square">
            <a:spAutoFit/>
          </a:bodyPr>
          <a:lstStyle/>
          <a:p>
            <a:pPr algn="l"/>
            <a:r>
              <a:rPr sz="1100" b="0" i="1">
                <a:solidFill>
                  <a:srgbClr val="333333"/>
                </a:solidFill>
                <a:latin typeface="Calibri"/>
              </a:rPr>
              <a:t>Building on: SWP.5 — Swap Pricing &amp; Valuation Basics</a:t>
            </a:r>
          </a:p>
        </p:txBody>
      </p:sp>
      <p:sp>
        <p:nvSpPr>
          <p:cNvPr id="7" name="TextBox 6"/>
          <p:cNvSpPr txBox="1"/>
          <p:nvPr/>
        </p:nvSpPr>
        <p:spPr>
          <a:xfrm>
            <a:off x="457200" y="1828800"/>
            <a:ext cx="8229600" cy="4114800"/>
          </a:xfrm>
          <a:prstGeom prst="rect">
            <a:avLst/>
          </a:prstGeom>
          <a:noFill/>
        </p:spPr>
        <p:txBody>
          <a:bodyPr wrap="square">
            <a:spAutoFit/>
          </a:bodyPr>
          <a:lstStyle/>
          <a:p>
            <a:pPr algn="l">
              <a:spcBef>
                <a:spcPts val="400"/>
              </a:spcBef>
            </a:pPr>
            <a:r>
              <a:rPr sz="1600">
                <a:solidFill>
                  <a:srgbClr val="333333"/>
                </a:solidFill>
                <a:latin typeface="Calibri"/>
              </a:rPr>
              <a:t>  •  Swap rate makes PV(fixed) = PV(floating) at inception → zero value</a:t>
            </a:r>
          </a:p>
          <a:p>
            <a:pPr algn="l">
              <a:spcBef>
                <a:spcPts val="400"/>
              </a:spcBef>
            </a:pPr>
            <a:r>
              <a:rPr sz="1600">
                <a:solidFill>
                  <a:srgbClr val="333333"/>
                </a:solidFill>
                <a:latin typeface="Calibri"/>
              </a:rPr>
              <a:t>  •  MTM changes as rates move: pay-fixed gains when rates rise, loses when rates fall</a:t>
            </a:r>
          </a:p>
          <a:p>
            <a:pPr algn="l">
              <a:spcBef>
                <a:spcPts val="400"/>
              </a:spcBef>
            </a:pPr>
            <a:r>
              <a:rPr sz="1600">
                <a:solidFill>
                  <a:srgbClr val="333333"/>
                </a:solidFill>
                <a:latin typeface="Calibri"/>
              </a:rPr>
              <a:t>  •  CVA adjusts for counterparty credit risk; DVA for own credit</a:t>
            </a:r>
          </a:p>
          <a:p>
            <a:pPr algn="l">
              <a:spcBef>
                <a:spcPts val="400"/>
              </a:spcBef>
            </a:pPr>
            <a:r>
              <a:rPr sz="1600">
                <a:solidFill>
                  <a:srgbClr val="333333"/>
                </a:solidFill>
                <a:latin typeface="Calibri"/>
              </a:rPr>
              <a:t>  •  Three exit options: offsetting swap, early termination (pay MTM), novation</a:t>
            </a:r>
          </a:p>
        </p:txBody>
      </p:sp>
      <p:sp>
        <p:nvSpPr>
          <p:cNvPr id="8" name="Rectangle 7"/>
          <p:cNvSpPr/>
          <p:nvPr/>
        </p:nvSpPr>
        <p:spPr>
          <a:xfrm>
            <a:off x="274320" y="1828800"/>
            <a:ext cx="54864" cy="4114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SWP.6</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Applications &amp; Risk Management</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Scenario — The Treasury Head's Strategic Swap Decision</a:t>
            </a:r>
          </a:p>
        </p:txBody>
      </p:sp>
      <p:sp>
        <p:nvSpPr>
          <p:cNvPr id="6" name="Rectangle 5"/>
          <p:cNvSpPr/>
          <p:nvPr/>
        </p:nvSpPr>
        <p:spPr>
          <a:xfrm>
            <a:off x="457200" y="1554480"/>
            <a:ext cx="82296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91440" cy="44805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40"/>
            <a:ext cx="7863840" cy="4206240"/>
          </a:xfrm>
          <a:prstGeom prst="rect">
            <a:avLst/>
          </a:prstGeom>
          <a:noFill/>
        </p:spPr>
        <p:txBody>
          <a:bodyPr wrap="square">
            <a:spAutoFit/>
          </a:bodyPr>
          <a:lstStyle/>
          <a:p>
            <a:pPr algn="l"/>
            <a:r>
              <a:rPr sz="1500" b="0" i="0">
                <a:solidFill>
                  <a:srgbClr val="333333"/>
                </a:solidFill>
                <a:latin typeface="Calibri"/>
              </a:rPr>
              <a:t>Axis Bank's treasury head faces a classic ALM (Asset-Liability Management) challenge:
Assets: Rs 10,000 crore of 5-year fixed-rate home loans at 8.5% — long-term, fixed rate
Liabilities: Rs 8,000 crore of 6-month FDs at MIBOR + 0.5% — short-term, floating rate
If RBI hikes rates: deposit costs rise immediately; loan income stays fixed at 8.5% → NIM compressed.
Solution: Enter a receive-fixed IRS. Receive 8% fixed, pay MIBOR floating.
Now: Rising rates hurt deposits (pay more MIBOR on FDs) but the swap generates floating payments TO Axis (MIBOR income from IRS). The hedge offsets the mismatch.
This is textbook Asset-Liability Management using swaps — managing the interest rate sensitivity of the balance sheet without changing the underlying loan or deposit terms.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SWP.6</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Applications &amp; Risk Management</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005F5F"/>
                </a:solidFill>
                <a:latin typeface="Calibri"/>
              </a:rPr>
              <a:t>Key Concept — Swap Applications Across User Types</a:t>
            </a:r>
          </a:p>
        </p:txBody>
      </p:sp>
      <p:sp>
        <p:nvSpPr>
          <p:cNvPr id="6" name="Rectangle 5"/>
          <p:cNvSpPr/>
          <p:nvPr/>
        </p:nvSpPr>
        <p:spPr>
          <a:xfrm>
            <a:off x="365760" y="1508760"/>
            <a:ext cx="502920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600200"/>
            <a:ext cx="4800600" cy="4754880"/>
          </a:xfrm>
          <a:prstGeom prst="rect">
            <a:avLst/>
          </a:prstGeom>
          <a:noFill/>
        </p:spPr>
        <p:txBody>
          <a:bodyPr wrap="square">
            <a:spAutoFit/>
          </a:bodyPr>
          <a:lstStyle/>
          <a:p>
            <a:pPr algn="l">
              <a:spcBef>
                <a:spcPts val="400"/>
              </a:spcBef>
            </a:pPr>
            <a:r>
              <a:rPr sz="1500">
                <a:solidFill>
                  <a:srgbClr val="333333"/>
                </a:solidFill>
                <a:latin typeface="Calibri"/>
              </a:rPr>
              <a:t>  •  Banks (ALM): Receive-fixed IRS hedges fixed-rate loan / floating-rate deposit mismatch</a:t>
            </a:r>
          </a:p>
          <a:p>
            <a:pPr algn="l">
              <a:spcBef>
                <a:spcPts val="400"/>
              </a:spcBef>
            </a:pPr>
            <a:r>
              <a:rPr sz="1500">
                <a:solidFill>
                  <a:srgbClr val="333333"/>
                </a:solidFill>
                <a:latin typeface="Calibri"/>
              </a:rPr>
              <a:t>  •  Corporate (liability management): Pay-fixed converts floating debt to fixed — lock in cost</a:t>
            </a:r>
          </a:p>
          <a:p>
            <a:pPr algn="l">
              <a:spcBef>
                <a:spcPts val="400"/>
              </a:spcBef>
            </a:pPr>
            <a:r>
              <a:rPr sz="1500">
                <a:solidFill>
                  <a:srgbClr val="333333"/>
                </a:solidFill>
                <a:latin typeface="Calibri"/>
              </a:rPr>
              <a:t>  •  Corporate (liability management): Pay-floating converts fixed bonds to floating — benefit from rate cuts</a:t>
            </a:r>
          </a:p>
          <a:p>
            <a:pPr algn="l">
              <a:spcBef>
                <a:spcPts val="400"/>
              </a:spcBef>
            </a:pPr>
            <a:r>
              <a:rPr sz="1500">
                <a:solidFill>
                  <a:srgbClr val="333333"/>
                </a:solidFill>
                <a:latin typeface="Calibri"/>
              </a:rPr>
              <a:t>  •  Macro fund (speculation): Pay-fixed OIS to bet on RBI rate hikes; receive-fixed to bet on cuts</a:t>
            </a:r>
          </a:p>
          <a:p>
            <a:pPr algn="l">
              <a:spcBef>
                <a:spcPts val="400"/>
              </a:spcBef>
            </a:pPr>
            <a:r>
              <a:rPr sz="1500">
                <a:solidFill>
                  <a:srgbClr val="333333"/>
                </a:solidFill>
                <a:latin typeface="Calibri"/>
              </a:rPr>
              <a:t>  •  Currency swap: Indian corporate accesses cheaper USD capital, swaps to INR obligations</a:t>
            </a:r>
          </a:p>
          <a:p>
            <a:pPr algn="l">
              <a:spcBef>
                <a:spcPts val="400"/>
              </a:spcBef>
            </a:pPr>
            <a:r>
              <a:rPr sz="1500">
                <a:solidFill>
                  <a:srgbClr val="333333"/>
                </a:solidFill>
                <a:latin typeface="Calibri"/>
              </a:rPr>
              <a:t>  •  CDS: Bank buys protection to reduce credit exposure on corporate loan book without selling loans</a:t>
            </a:r>
          </a:p>
          <a:p>
            <a:pPr algn="l">
              <a:spcBef>
                <a:spcPts val="400"/>
              </a:spcBef>
            </a:pPr>
            <a:r>
              <a:rPr sz="1500">
                <a:solidFill>
                  <a:srgbClr val="333333"/>
                </a:solidFill>
                <a:latin typeface="Calibri"/>
              </a:rPr>
              <a:t>  •  Cross-currency IRS: Combines currency swap and IRS in one instrument — swaps both currency and rate type</a:t>
            </a:r>
          </a:p>
        </p:txBody>
      </p:sp>
      <p:sp>
        <p:nvSpPr>
          <p:cNvPr id="8" name="Rectangle 7"/>
          <p:cNvSpPr/>
          <p:nvPr/>
        </p:nvSpPr>
        <p:spPr>
          <a:xfrm>
            <a:off x="5577840" y="1508760"/>
            <a:ext cx="3200400" cy="493776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0" y="1600200"/>
            <a:ext cx="3017520" cy="4754880"/>
          </a:xfrm>
          <a:prstGeom prst="rect">
            <a:avLst/>
          </a:prstGeom>
          <a:noFill/>
        </p:spPr>
        <p:txBody>
          <a:bodyPr wrap="square">
            <a:spAutoFit/>
          </a:bodyPr>
          <a:lstStyle/>
          <a:p>
            <a:pPr algn="l"/>
            <a:r>
              <a:rPr sz="1300" b="0" i="0">
                <a:solidFill>
                  <a:srgbClr val="1E3A5F"/>
                </a:solidFill>
                <a:latin typeface="Calibri"/>
              </a:rPr>
              <a:t>[APPLICATION MATRIX]
User | Instrument | Purpose
Bank Treasury | Receive-fixed IRS | ALM / NIM protection
Corporate CFO | Pay-fixed IRS | Hedge floating debt
Corporate CFO | Pay-floating IRS | Liability restructuring
Macro Fund | Pay-fixed OIS | Speculate on rate rise
IT Company | Currency swap | USD bonds → INR obligation
Cred. Bank | CDS (buy) | Reduce loan book exposure
[See Source Slide 30 — Applications Table]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SWP.6</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Applications &amp; Risk Management</a:t>
            </a:r>
          </a:p>
        </p:txBody>
      </p:sp>
      <p:sp>
        <p:nvSpPr>
          <p:cNvPr id="5" name="TextBox 4"/>
          <p:cNvSpPr txBox="1"/>
          <p:nvPr/>
        </p:nvSpPr>
        <p:spPr>
          <a:xfrm>
            <a:off x="365760" y="1005840"/>
            <a:ext cx="8412480" cy="411480"/>
          </a:xfrm>
          <a:prstGeom prst="rect">
            <a:avLst/>
          </a:prstGeom>
          <a:noFill/>
        </p:spPr>
        <p:txBody>
          <a:bodyPr wrap="square">
            <a:spAutoFit/>
          </a:bodyPr>
          <a:lstStyle/>
          <a:p>
            <a:pPr algn="l"/>
            <a:r>
              <a:rPr sz="1300" b="1" i="0">
                <a:solidFill>
                  <a:srgbClr val="1E3A5F"/>
                </a:solidFill>
                <a:latin typeface="Calibri"/>
              </a:rPr>
              <a:t>Going Deeper — Central Clearing, Hedge Accounting and the Full Risk Spectrum</a:t>
            </a:r>
          </a:p>
        </p:txBody>
      </p:sp>
      <p:sp>
        <p:nvSpPr>
          <p:cNvPr id="6" name="Rectangle 5"/>
          <p:cNvSpPr/>
          <p:nvPr/>
        </p:nvSpPr>
        <p:spPr>
          <a:xfrm>
            <a:off x="365760" y="1508760"/>
            <a:ext cx="8412480" cy="4937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08760"/>
            <a:ext cx="73152" cy="493776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8138160" cy="4754880"/>
          </a:xfrm>
          <a:prstGeom prst="rect">
            <a:avLst/>
          </a:prstGeom>
          <a:noFill/>
        </p:spPr>
        <p:txBody>
          <a:bodyPr wrap="square">
            <a:spAutoFit/>
          </a:bodyPr>
          <a:lstStyle/>
          <a:p>
            <a:pPr algn="l">
              <a:spcBef>
                <a:spcPts val="400"/>
              </a:spcBef>
            </a:pPr>
            <a:r>
              <a:rPr sz="1500">
                <a:solidFill>
                  <a:srgbClr val="333333"/>
                </a:solidFill>
                <a:latin typeface="Calibri"/>
              </a:rPr>
              <a:t>  •  CCIL (Clearing Corporation of India) — clears standardised IRS and OIS centrally; eliminates bilateral counterparty risk</a:t>
            </a:r>
          </a:p>
          <a:p>
            <a:pPr algn="l">
              <a:spcBef>
                <a:spcPts val="400"/>
              </a:spcBef>
            </a:pPr>
            <a:r>
              <a:rPr sz="1500">
                <a:solidFill>
                  <a:srgbClr val="333333"/>
                </a:solidFill>
                <a:latin typeface="Calibri"/>
              </a:rPr>
              <a:t>  •  Central clearing mechanics: CCP interposes as buyer/seller; initial margin + daily variation margin required</a:t>
            </a:r>
          </a:p>
          <a:p>
            <a:pPr algn="l">
              <a:spcBef>
                <a:spcPts val="400"/>
              </a:spcBef>
            </a:pPr>
            <a:r>
              <a:rPr sz="1500">
                <a:solidFill>
                  <a:srgbClr val="333333"/>
                </a:solidFill>
                <a:latin typeface="Calibri"/>
              </a:rPr>
              <a:t>  •  Hedge accounting (Ind AS 109/IFRS 9): Cash flow hedge → effective portion to OCI (not P&amp;L); reduces P&amp;L volatility</a:t>
            </a:r>
          </a:p>
          <a:p>
            <a:pPr algn="l">
              <a:spcBef>
                <a:spcPts val="400"/>
              </a:spcBef>
            </a:pPr>
            <a:r>
              <a:rPr sz="1500">
                <a:solidFill>
                  <a:srgbClr val="333333"/>
                </a:solidFill>
                <a:latin typeface="Calibri"/>
              </a:rPr>
              <a:t>  •  Fair value hedge → gains/losses on swap and hedged item both to P&amp;L simultaneously — offset each other</a:t>
            </a:r>
          </a:p>
          <a:p>
            <a:pPr algn="l">
              <a:spcBef>
                <a:spcPts val="400"/>
              </a:spcBef>
            </a:pPr>
            <a:r>
              <a:rPr sz="1500">
                <a:solidFill>
                  <a:srgbClr val="333333"/>
                </a:solidFill>
                <a:latin typeface="Calibri"/>
              </a:rPr>
              <a:t>  •  Swap risks: Market risk (rate/FX changes MTM) | Counterparty risk | Liquidity risk (OTC, harder to exit) | Operational risk</a:t>
            </a:r>
          </a:p>
          <a:p>
            <a:pPr algn="l">
              <a:spcBef>
                <a:spcPts val="400"/>
              </a:spcBef>
            </a:pPr>
            <a:r>
              <a:rPr sz="1500">
                <a:solidFill>
                  <a:srgbClr val="333333"/>
                </a:solidFill>
                <a:latin typeface="Calibri"/>
              </a:rPr>
              <a:t>  •  Counterparty risk larger in long-dated currency swaps — principal physically exchanged over long tenor</a:t>
            </a:r>
          </a:p>
          <a:p>
            <a:pPr algn="l">
              <a:spcBef>
                <a:spcPts val="400"/>
              </a:spcBef>
            </a:pPr>
            <a:r>
              <a:rPr sz="1500">
                <a:solidFill>
                  <a:srgbClr val="333333"/>
                </a:solidFill>
                <a:latin typeface="Calibri"/>
              </a:rPr>
              <a:t>  •  Regulatory capital: Basel III charges capital for counterparty credit risk (CCR) and CVA on uncleared swaps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DF5E0"/>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SWP.6</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Applications &amp; Risk Management</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1E3A5F"/>
                </a:solidFill>
                <a:latin typeface="Calibri"/>
              </a:rPr>
              <a:t>Think &amp; Discuss</a:t>
            </a:r>
          </a:p>
        </p:txBody>
      </p:sp>
      <p:sp>
        <p:nvSpPr>
          <p:cNvPr id="6" name="Rectangle 5"/>
          <p:cNvSpPr/>
          <p:nvPr/>
        </p:nvSpPr>
        <p:spPr>
          <a:xfrm>
            <a:off x="365760" y="155448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55448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35712"/>
            <a:ext cx="8046720" cy="1234440"/>
          </a:xfrm>
          <a:prstGeom prst="rect">
            <a:avLst/>
          </a:prstGeom>
          <a:noFill/>
        </p:spPr>
        <p:txBody>
          <a:bodyPr wrap="square">
            <a:spAutoFit/>
          </a:bodyPr>
          <a:lstStyle/>
          <a:p>
            <a:pPr algn="l"/>
            <a:r>
              <a:rPr sz="1400" b="0" i="0">
                <a:solidFill>
                  <a:srgbClr val="333333"/>
                </a:solidFill>
                <a:latin typeface="Calibri"/>
              </a:rPr>
              <a:t>Q1  A bank's ALM head says: "We don't need to use swaps — we can just match our loan and deposit maturities by changing our product mix." Is this a viable alternative to swap hedging? What are the trade-offs?</a:t>
            </a:r>
          </a:p>
        </p:txBody>
      </p:sp>
      <p:sp>
        <p:nvSpPr>
          <p:cNvPr id="9" name="Rectangle 8"/>
          <p:cNvSpPr/>
          <p:nvPr/>
        </p:nvSpPr>
        <p:spPr>
          <a:xfrm>
            <a:off x="365760" y="310896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10896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598272"/>
            <a:ext cx="8046720" cy="1234440"/>
          </a:xfrm>
          <a:prstGeom prst="rect">
            <a:avLst/>
          </a:prstGeom>
          <a:noFill/>
        </p:spPr>
        <p:txBody>
          <a:bodyPr wrap="square">
            <a:spAutoFit/>
          </a:bodyPr>
          <a:lstStyle/>
          <a:p>
            <a:pPr algn="l"/>
            <a:r>
              <a:rPr sz="1400" b="0" i="0">
                <a:solidFill>
                  <a:srgbClr val="333333"/>
                </a:solidFill>
                <a:latin typeface="Calibri"/>
              </a:rPr>
              <a:t>Q2  Under IFRS 9 hedge accounting, a corporate must document the hedge relationship formally before entering the trade. Why do you think regulators require this documentation? What might go wrong without it?</a:t>
            </a:r>
          </a:p>
        </p:txBody>
      </p:sp>
      <p:sp>
        <p:nvSpPr>
          <p:cNvPr id="12" name="Rectangle 11"/>
          <p:cNvSpPr/>
          <p:nvPr/>
        </p:nvSpPr>
        <p:spPr>
          <a:xfrm>
            <a:off x="365760" y="4663440"/>
            <a:ext cx="8412480"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4663440"/>
            <a:ext cx="91440" cy="13716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360832"/>
            <a:ext cx="8046720" cy="1234440"/>
          </a:xfrm>
          <a:prstGeom prst="rect">
            <a:avLst/>
          </a:prstGeom>
          <a:noFill/>
        </p:spPr>
        <p:txBody>
          <a:bodyPr wrap="square">
            <a:spAutoFit/>
          </a:bodyPr>
          <a:lstStyle/>
          <a:p>
            <a:pPr algn="l"/>
            <a:r>
              <a:rPr sz="1400" b="0" i="0">
                <a:solidFill>
                  <a:srgbClr val="333333"/>
                </a:solidFill>
                <a:latin typeface="Calibri"/>
              </a:rPr>
              <a:t>Q3  Swaps are described as both a risk management tool and a source of systemic risk (as seen in 2008). Can both be true? What structural features determine whether a swap reduces or amplifies systemic risk?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6FB"/>
        </a:solidFill>
        <a:effectLst/>
      </p:bgPr>
    </p:bg>
    <p:spTree>
      <p:nvGrpSpPr>
        <p:cNvPr id="1" name=""/>
        <p:cNvGrpSpPr/>
        <p:nvPr/>
      </p:nvGrpSpPr>
      <p:grpSpPr/>
      <p:sp>
        <p:nvSpPr>
          <p:cNvPr id="2" name="Rectangle 1"/>
          <p:cNvSpPr/>
          <p:nvPr/>
        </p:nvSpPr>
        <p:spPr>
          <a:xfrm>
            <a:off x="0" y="0"/>
            <a:ext cx="9144000" cy="9144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1097280" cy="411480"/>
          </a:xfrm>
          <a:prstGeom prst="rect">
            <a:avLst/>
          </a:prstGeom>
          <a:noFill/>
        </p:spPr>
        <p:txBody>
          <a:bodyPr wrap="square">
            <a:spAutoFit/>
          </a:bodyPr>
          <a:lstStyle/>
          <a:p>
            <a:pPr algn="l"/>
            <a:r>
              <a:rPr sz="1100" b="1" i="0">
                <a:solidFill>
                  <a:srgbClr val="8B6914"/>
                </a:solidFill>
                <a:latin typeface="Calibri"/>
              </a:rPr>
              <a:t>SWP.6</a:t>
            </a:r>
          </a:p>
        </p:txBody>
      </p:sp>
      <p:sp>
        <p:nvSpPr>
          <p:cNvPr id="4" name="TextBox 3"/>
          <p:cNvSpPr txBox="1"/>
          <p:nvPr/>
        </p:nvSpPr>
        <p:spPr>
          <a:xfrm>
            <a:off x="320040" y="411480"/>
            <a:ext cx="8503920" cy="457200"/>
          </a:xfrm>
          <a:prstGeom prst="rect">
            <a:avLst/>
          </a:prstGeom>
          <a:noFill/>
        </p:spPr>
        <p:txBody>
          <a:bodyPr wrap="square">
            <a:spAutoFit/>
          </a:bodyPr>
          <a:lstStyle/>
          <a:p>
            <a:pPr algn="l"/>
            <a:r>
              <a:rPr sz="1900" b="1" i="0">
                <a:solidFill>
                  <a:srgbClr val="FFFFFF"/>
                </a:solidFill>
                <a:latin typeface="Calibri"/>
              </a:rPr>
              <a:t>Swap Applications &amp; Risk Management</a:t>
            </a:r>
          </a:p>
        </p:txBody>
      </p:sp>
      <p:sp>
        <p:nvSpPr>
          <p:cNvPr id="5" name="TextBox 4"/>
          <p:cNvSpPr txBox="1"/>
          <p:nvPr/>
        </p:nvSpPr>
        <p:spPr>
          <a:xfrm>
            <a:off x="365760" y="960120"/>
            <a:ext cx="8412480" cy="411480"/>
          </a:xfrm>
          <a:prstGeom prst="rect">
            <a:avLst/>
          </a:prstGeom>
          <a:noFill/>
        </p:spPr>
        <p:txBody>
          <a:bodyPr wrap="square">
            <a:spAutoFit/>
          </a:bodyPr>
          <a:lstStyle/>
          <a:p>
            <a:pPr algn="l"/>
            <a:r>
              <a:rPr sz="1400" b="1" i="0">
                <a:solidFill>
                  <a:srgbClr val="005F5F"/>
                </a:solidFill>
                <a:latin typeface="Calibri"/>
              </a:rPr>
              <a:t>Interview Ready — Q&amp;A</a:t>
            </a:r>
          </a:p>
        </p:txBody>
      </p:sp>
      <p:sp>
        <p:nvSpPr>
          <p:cNvPr id="6" name="Rectangle 5"/>
          <p:cNvSpPr/>
          <p:nvPr/>
        </p:nvSpPr>
        <p:spPr>
          <a:xfrm>
            <a:off x="365760" y="146304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54480"/>
            <a:ext cx="3291840" cy="1097280"/>
          </a:xfrm>
          <a:prstGeom prst="rect">
            <a:avLst/>
          </a:prstGeom>
          <a:noFill/>
        </p:spPr>
        <p:txBody>
          <a:bodyPr wrap="square">
            <a:spAutoFit/>
          </a:bodyPr>
          <a:lstStyle/>
          <a:p>
            <a:pPr algn="l"/>
            <a:r>
              <a:rPr sz="1200" b="1" i="0">
                <a:solidFill>
                  <a:srgbClr val="FFFFFF"/>
                </a:solidFill>
                <a:latin typeface="Calibri"/>
              </a:rPr>
              <a:t>Q: How do banks use IRS to manage interest rate risk on their balance sheet?</a:t>
            </a:r>
          </a:p>
        </p:txBody>
      </p:sp>
      <p:sp>
        <p:nvSpPr>
          <p:cNvPr id="8" name="Rectangle 7"/>
          <p:cNvSpPr/>
          <p:nvPr/>
        </p:nvSpPr>
        <p:spPr>
          <a:xfrm>
            <a:off x="4023360" y="146304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0" y="1554480"/>
            <a:ext cx="4572000" cy="1097280"/>
          </a:xfrm>
          <a:prstGeom prst="rect">
            <a:avLst/>
          </a:prstGeom>
          <a:noFill/>
        </p:spPr>
        <p:txBody>
          <a:bodyPr wrap="square">
            <a:spAutoFit/>
          </a:bodyPr>
          <a:lstStyle/>
          <a:p>
            <a:pPr algn="l"/>
            <a:r>
              <a:rPr sz="1200" b="0" i="0">
                <a:solidFill>
                  <a:srgbClr val="1E3A5F"/>
                </a:solidFill>
                <a:latin typeface="Calibri"/>
              </a:rPr>
              <a:t>A: Banks have fixed-rate loan assets funded by floating-rate deposits — a structural mismatch. They enter receive-fixed IRS: receive fixed (offsetting fixed loan income), pay floating (matching deposit costs). If rates rise, IRS floating payments increase, offsetting higher deposit costs.</a:t>
            </a:r>
          </a:p>
        </p:txBody>
      </p:sp>
      <p:sp>
        <p:nvSpPr>
          <p:cNvPr id="10" name="Rectangle 9"/>
          <p:cNvSpPr/>
          <p:nvPr/>
        </p:nvSpPr>
        <p:spPr>
          <a:xfrm>
            <a:off x="365760" y="278892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880360"/>
            <a:ext cx="3291840" cy="1097280"/>
          </a:xfrm>
          <a:prstGeom prst="rect">
            <a:avLst/>
          </a:prstGeom>
          <a:noFill/>
        </p:spPr>
        <p:txBody>
          <a:bodyPr wrap="square">
            <a:spAutoFit/>
          </a:bodyPr>
          <a:lstStyle/>
          <a:p>
            <a:pPr algn="l"/>
            <a:r>
              <a:rPr sz="1200" b="1" i="0">
                <a:solidFill>
                  <a:srgbClr val="FFFFFF"/>
                </a:solidFill>
                <a:latin typeface="Calibri"/>
              </a:rPr>
              <a:t>Q: What is the comparative advantage argument for currency swaps?</a:t>
            </a:r>
          </a:p>
        </p:txBody>
      </p:sp>
      <p:sp>
        <p:nvSpPr>
          <p:cNvPr id="12" name="Rectangle 11"/>
          <p:cNvSpPr/>
          <p:nvPr/>
        </p:nvSpPr>
        <p:spPr>
          <a:xfrm>
            <a:off x="4023360" y="278892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0" y="2880360"/>
            <a:ext cx="4572000" cy="1097280"/>
          </a:xfrm>
          <a:prstGeom prst="rect">
            <a:avLst/>
          </a:prstGeom>
          <a:noFill/>
        </p:spPr>
        <p:txBody>
          <a:bodyPr wrap="square">
            <a:spAutoFit/>
          </a:bodyPr>
          <a:lstStyle/>
          <a:p>
            <a:pPr algn="l"/>
            <a:r>
              <a:rPr sz="1200" b="0" i="0">
                <a:solidFill>
                  <a:srgbClr val="1E3A5F"/>
                </a:solidFill>
                <a:latin typeface="Calibri"/>
              </a:rPr>
              <a:t>A: Each party borrows where relatively cheaper and swaps. If Indian co is better in INR markets and US co in USD, each borrows in home market (where they have the edge) and swaps. Total borrowing cost for both is lower than if each borrowed directly in the desired currency.</a:t>
            </a:r>
          </a:p>
        </p:txBody>
      </p:sp>
      <p:sp>
        <p:nvSpPr>
          <p:cNvPr id="14" name="Rectangle 13"/>
          <p:cNvSpPr/>
          <p:nvPr/>
        </p:nvSpPr>
        <p:spPr>
          <a:xfrm>
            <a:off x="365760" y="4114800"/>
            <a:ext cx="3474720" cy="1234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206240"/>
            <a:ext cx="3291840" cy="1097280"/>
          </a:xfrm>
          <a:prstGeom prst="rect">
            <a:avLst/>
          </a:prstGeom>
          <a:noFill/>
        </p:spPr>
        <p:txBody>
          <a:bodyPr wrap="square">
            <a:spAutoFit/>
          </a:bodyPr>
          <a:lstStyle/>
          <a:p>
            <a:pPr algn="l"/>
            <a:r>
              <a:rPr sz="1200" b="1" i="0">
                <a:solidFill>
                  <a:srgbClr val="FFFFFF"/>
                </a:solidFill>
                <a:latin typeface="Calibri"/>
              </a:rPr>
              <a:t>Q: What are the main risks in a swap position?</a:t>
            </a:r>
          </a:p>
        </p:txBody>
      </p:sp>
      <p:sp>
        <p:nvSpPr>
          <p:cNvPr id="16" name="Rectangle 15"/>
          <p:cNvSpPr/>
          <p:nvPr/>
        </p:nvSpPr>
        <p:spPr>
          <a:xfrm>
            <a:off x="4023360" y="4114800"/>
            <a:ext cx="4754880" cy="1234440"/>
          </a:xfrm>
          <a:prstGeom prst="rect">
            <a:avLst/>
          </a:prstGeom>
          <a:solidFill>
            <a:srgbClr val="E0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4206240"/>
            <a:ext cx="4572000" cy="1097280"/>
          </a:xfrm>
          <a:prstGeom prst="rect">
            <a:avLst/>
          </a:prstGeom>
          <a:noFill/>
        </p:spPr>
        <p:txBody>
          <a:bodyPr wrap="square">
            <a:spAutoFit/>
          </a:bodyPr>
          <a:lstStyle/>
          <a:p>
            <a:pPr algn="l"/>
            <a:r>
              <a:rPr sz="1200" b="0" i="0">
                <a:solidFill>
                  <a:srgbClr val="1E3A5F"/>
                </a:solidFill>
                <a:latin typeface="Calibri"/>
              </a:rPr>
              <a:t>A: Market risk (MTM moves with rates/FX), counterparty risk (default before maturity), liquidity risk (OTC = harder to exit than exchange-traded), and operational risk (settlement, documentation). Counterparty risk is largest in long-dated currency swaps where principal is exchanged.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8229600" cy="731520"/>
          </a:xfrm>
          <a:prstGeom prst="rect">
            <a:avLst/>
          </a:prstGeom>
          <a:noFill/>
        </p:spPr>
        <p:txBody>
          <a:bodyPr wrap="square">
            <a:spAutoFit/>
          </a:bodyPr>
          <a:lstStyle/>
          <a:p>
            <a:pPr algn="ctr"/>
            <a:r>
              <a:rPr sz="3200" b="1" i="0">
                <a:solidFill>
                  <a:srgbClr val="FFFFFF"/>
                </a:solidFill>
                <a:latin typeface="Calibri"/>
              </a:rPr>
              <a:t>MODULE COMPLETE</a:t>
            </a:r>
          </a:p>
        </p:txBody>
      </p:sp>
      <p:sp>
        <p:nvSpPr>
          <p:cNvPr id="4" name="TextBox 3"/>
          <p:cNvSpPr txBox="1"/>
          <p:nvPr/>
        </p:nvSpPr>
        <p:spPr>
          <a:xfrm>
            <a:off x="457200" y="2194560"/>
            <a:ext cx="8229600" cy="548640"/>
          </a:xfrm>
          <a:prstGeom prst="rect">
            <a:avLst/>
          </a:prstGeom>
          <a:noFill/>
        </p:spPr>
        <p:txBody>
          <a:bodyPr wrap="square">
            <a:spAutoFit/>
          </a:bodyPr>
          <a:lstStyle/>
          <a:p>
            <a:pPr algn="ctr"/>
            <a:r>
              <a:rPr sz="2000" b="0" i="0">
                <a:solidFill>
                  <a:srgbClr val="8B6914"/>
                </a:solidFill>
                <a:latin typeface="Calibri"/>
              </a:rPr>
              <a:t>DERIVATIVES: SWAPS — SWP.1 to SWP.6</a:t>
            </a:r>
          </a:p>
        </p:txBody>
      </p:sp>
      <p:sp>
        <p:nvSpPr>
          <p:cNvPr id="5" name="TextBox 4"/>
          <p:cNvSpPr txBox="1"/>
          <p:nvPr/>
        </p:nvSpPr>
        <p:spPr>
          <a:xfrm>
            <a:off x="1371600" y="2926080"/>
            <a:ext cx="6858000" cy="457200"/>
          </a:xfrm>
          <a:prstGeom prst="rect">
            <a:avLst/>
          </a:prstGeom>
          <a:noFill/>
        </p:spPr>
        <p:txBody>
          <a:bodyPr wrap="square">
            <a:spAutoFit/>
          </a:bodyPr>
          <a:lstStyle/>
          <a:p>
            <a:pPr algn="l"/>
            <a:r>
              <a:rPr sz="1200" b="0" i="0">
                <a:solidFill>
                  <a:srgbClr val="F2F6FB"/>
                </a:solidFill>
                <a:latin typeface="Calibri"/>
              </a:rPr>
              <a:t>SWP.1  What is a Swap?  —  OTC cash flow exchange, ISDA, fixed/floating parties</a:t>
            </a:r>
          </a:p>
        </p:txBody>
      </p:sp>
      <p:sp>
        <p:nvSpPr>
          <p:cNvPr id="6" name="TextBox 5"/>
          <p:cNvSpPr txBox="1"/>
          <p:nvPr/>
        </p:nvSpPr>
        <p:spPr>
          <a:xfrm>
            <a:off x="1371600" y="3429000"/>
            <a:ext cx="6858000" cy="457200"/>
          </a:xfrm>
          <a:prstGeom prst="rect">
            <a:avLst/>
          </a:prstGeom>
          <a:noFill/>
        </p:spPr>
        <p:txBody>
          <a:bodyPr wrap="square">
            <a:spAutoFit/>
          </a:bodyPr>
          <a:lstStyle/>
          <a:p>
            <a:pPr algn="l"/>
            <a:r>
              <a:rPr sz="1200" b="0" i="0">
                <a:solidFill>
                  <a:srgbClr val="F2F6FB"/>
                </a:solidFill>
                <a:latin typeface="Calibri"/>
              </a:rPr>
              <a:t>SWP.2  Interest Rate Swaps  —  Plain vanilla IRS, MIBOR, net settlement mechanics</a:t>
            </a:r>
          </a:p>
        </p:txBody>
      </p:sp>
      <p:sp>
        <p:nvSpPr>
          <p:cNvPr id="7" name="TextBox 6"/>
          <p:cNvSpPr txBox="1"/>
          <p:nvPr/>
        </p:nvSpPr>
        <p:spPr>
          <a:xfrm>
            <a:off x="1371600" y="3931920"/>
            <a:ext cx="6858000" cy="457200"/>
          </a:xfrm>
          <a:prstGeom prst="rect">
            <a:avLst/>
          </a:prstGeom>
          <a:noFill/>
        </p:spPr>
        <p:txBody>
          <a:bodyPr wrap="square">
            <a:spAutoFit/>
          </a:bodyPr>
          <a:lstStyle/>
          <a:p>
            <a:pPr algn="l"/>
            <a:r>
              <a:rPr sz="1200" b="0" i="0">
                <a:solidFill>
                  <a:srgbClr val="F2F6FB"/>
                </a:solidFill>
                <a:latin typeface="Calibri"/>
              </a:rPr>
              <a:t>SWP.3  Currency Swaps  —  Principal exchange, FX risk elimination, cross-border funding</a:t>
            </a:r>
          </a:p>
        </p:txBody>
      </p:sp>
      <p:sp>
        <p:nvSpPr>
          <p:cNvPr id="8" name="TextBox 7"/>
          <p:cNvSpPr txBox="1"/>
          <p:nvPr/>
        </p:nvSpPr>
        <p:spPr>
          <a:xfrm>
            <a:off x="1371600" y="4434840"/>
            <a:ext cx="6858000" cy="457200"/>
          </a:xfrm>
          <a:prstGeom prst="rect">
            <a:avLst/>
          </a:prstGeom>
          <a:noFill/>
        </p:spPr>
        <p:txBody>
          <a:bodyPr wrap="square">
            <a:spAutoFit/>
          </a:bodyPr>
          <a:lstStyle/>
          <a:p>
            <a:pPr algn="l"/>
            <a:r>
              <a:rPr sz="1200" b="0" i="0">
                <a:solidFill>
                  <a:srgbClr val="F2F6FB"/>
                </a:solidFill>
                <a:latin typeface="Calibri"/>
              </a:rPr>
              <a:t>SWP.4  Credit Default Swaps  —  CDS structure, credit events, 2008 crisis lessons</a:t>
            </a:r>
          </a:p>
        </p:txBody>
      </p:sp>
      <p:sp>
        <p:nvSpPr>
          <p:cNvPr id="9" name="TextBox 8"/>
          <p:cNvSpPr txBox="1"/>
          <p:nvPr/>
        </p:nvSpPr>
        <p:spPr>
          <a:xfrm>
            <a:off x="1371600" y="4937760"/>
            <a:ext cx="6858000" cy="457200"/>
          </a:xfrm>
          <a:prstGeom prst="rect">
            <a:avLst/>
          </a:prstGeom>
          <a:noFill/>
        </p:spPr>
        <p:txBody>
          <a:bodyPr wrap="square">
            <a:spAutoFit/>
          </a:bodyPr>
          <a:lstStyle/>
          <a:p>
            <a:pPr algn="l"/>
            <a:r>
              <a:rPr sz="1200" b="0" i="0">
                <a:solidFill>
                  <a:srgbClr val="F2F6FB"/>
                </a:solidFill>
                <a:latin typeface="Calibri"/>
              </a:rPr>
              <a:t>SWP.5  Swap Pricing &amp; Valuation  —  Zero inception value, MTM, CVA, exit routes</a:t>
            </a:r>
          </a:p>
        </p:txBody>
      </p:sp>
      <p:sp>
        <p:nvSpPr>
          <p:cNvPr id="10" name="TextBox 9"/>
          <p:cNvSpPr txBox="1"/>
          <p:nvPr/>
        </p:nvSpPr>
        <p:spPr>
          <a:xfrm>
            <a:off x="1371600" y="5440680"/>
            <a:ext cx="6858000" cy="457200"/>
          </a:xfrm>
          <a:prstGeom prst="rect">
            <a:avLst/>
          </a:prstGeom>
          <a:noFill/>
        </p:spPr>
        <p:txBody>
          <a:bodyPr wrap="square">
            <a:spAutoFit/>
          </a:bodyPr>
          <a:lstStyle/>
          <a:p>
            <a:pPr algn="l"/>
            <a:r>
              <a:rPr sz="1200" b="0" i="0">
                <a:solidFill>
                  <a:srgbClr val="F2F6FB"/>
                </a:solidFill>
                <a:latin typeface="Calibri"/>
              </a:rPr>
              <a:t>SWP.6  Swap Applications  —  ALM, liability management, speculation, central clearing</a:t>
            </a:r>
          </a:p>
        </p:txBody>
      </p:sp>
      <p:sp>
        <p:nvSpPr>
          <p:cNvPr id="11" name="Rectangle 10"/>
          <p:cNvSpPr/>
          <p:nvPr/>
        </p:nvSpPr>
        <p:spPr>
          <a:xfrm>
            <a:off x="0" y="6675120"/>
            <a:ext cx="9144000" cy="182880"/>
          </a:xfrm>
          <a:prstGeom prst="rect">
            <a:avLst/>
          </a:prstGeom>
          <a:solidFill>
            <a:srgbClr val="8B69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